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handoutMasterIdLst>
    <p:handoutMasterId r:id="rId46"/>
  </p:handoutMasterIdLst>
  <p:sldIdLst>
    <p:sldId id="729" r:id="rId2"/>
    <p:sldId id="730" r:id="rId3"/>
    <p:sldId id="494" r:id="rId4"/>
    <p:sldId id="721" r:id="rId5"/>
    <p:sldId id="722" r:id="rId6"/>
    <p:sldId id="723" r:id="rId7"/>
    <p:sldId id="724" r:id="rId8"/>
    <p:sldId id="725" r:id="rId9"/>
    <p:sldId id="726" r:id="rId10"/>
    <p:sldId id="731" r:id="rId11"/>
    <p:sldId id="738" r:id="rId12"/>
    <p:sldId id="739" r:id="rId13"/>
    <p:sldId id="736" r:id="rId14"/>
    <p:sldId id="737" r:id="rId15"/>
    <p:sldId id="732" r:id="rId16"/>
    <p:sldId id="733" r:id="rId17"/>
    <p:sldId id="741" r:id="rId18"/>
    <p:sldId id="740" r:id="rId19"/>
    <p:sldId id="742" r:id="rId20"/>
    <p:sldId id="743" r:id="rId21"/>
    <p:sldId id="744" r:id="rId22"/>
    <p:sldId id="745" r:id="rId23"/>
    <p:sldId id="746" r:id="rId24"/>
    <p:sldId id="747" r:id="rId25"/>
    <p:sldId id="748" r:id="rId26"/>
    <p:sldId id="749" r:id="rId27"/>
    <p:sldId id="751" r:id="rId28"/>
    <p:sldId id="765" r:id="rId29"/>
    <p:sldId id="752" r:id="rId30"/>
    <p:sldId id="766" r:id="rId31"/>
    <p:sldId id="753" r:id="rId32"/>
    <p:sldId id="755" r:id="rId33"/>
    <p:sldId id="756" r:id="rId34"/>
    <p:sldId id="761" r:id="rId35"/>
    <p:sldId id="754" r:id="rId36"/>
    <p:sldId id="757" r:id="rId37"/>
    <p:sldId id="758" r:id="rId38"/>
    <p:sldId id="759" r:id="rId39"/>
    <p:sldId id="760" r:id="rId40"/>
    <p:sldId id="762" r:id="rId41"/>
    <p:sldId id="763" r:id="rId42"/>
    <p:sldId id="750" r:id="rId43"/>
    <p:sldId id="764" r:id="rId44"/>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Comic Sans MS" charset="0"/>
        <a:ea typeface="+mn-ea"/>
        <a:cs typeface="+mn-cs"/>
      </a:defRPr>
    </a:lvl1pPr>
    <a:lvl2pPr marL="457200" algn="l" rtl="0" fontAlgn="base">
      <a:spcBef>
        <a:spcPct val="0"/>
      </a:spcBef>
      <a:spcAft>
        <a:spcPct val="0"/>
      </a:spcAft>
      <a:defRPr sz="2400" kern="1200">
        <a:solidFill>
          <a:schemeClr val="tx1"/>
        </a:solidFill>
        <a:latin typeface="Comic Sans MS" charset="0"/>
        <a:ea typeface="+mn-ea"/>
        <a:cs typeface="+mn-cs"/>
      </a:defRPr>
    </a:lvl2pPr>
    <a:lvl3pPr marL="914400" algn="l" rtl="0" fontAlgn="base">
      <a:spcBef>
        <a:spcPct val="0"/>
      </a:spcBef>
      <a:spcAft>
        <a:spcPct val="0"/>
      </a:spcAft>
      <a:defRPr sz="2400" kern="1200">
        <a:solidFill>
          <a:schemeClr val="tx1"/>
        </a:solidFill>
        <a:latin typeface="Comic Sans MS" charset="0"/>
        <a:ea typeface="+mn-ea"/>
        <a:cs typeface="+mn-cs"/>
      </a:defRPr>
    </a:lvl3pPr>
    <a:lvl4pPr marL="1371600" algn="l" rtl="0" fontAlgn="base">
      <a:spcBef>
        <a:spcPct val="0"/>
      </a:spcBef>
      <a:spcAft>
        <a:spcPct val="0"/>
      </a:spcAft>
      <a:defRPr sz="2400" kern="1200">
        <a:solidFill>
          <a:schemeClr val="tx1"/>
        </a:solidFill>
        <a:latin typeface="Comic Sans MS" charset="0"/>
        <a:ea typeface="+mn-ea"/>
        <a:cs typeface="+mn-cs"/>
      </a:defRPr>
    </a:lvl4pPr>
    <a:lvl5pPr marL="1828800" algn="l" rtl="0" fontAlgn="base">
      <a:spcBef>
        <a:spcPct val="0"/>
      </a:spcBef>
      <a:spcAft>
        <a:spcPct val="0"/>
      </a:spcAft>
      <a:defRPr sz="2400" kern="1200">
        <a:solidFill>
          <a:schemeClr val="tx1"/>
        </a:solidFill>
        <a:latin typeface="Comic Sans MS" charset="0"/>
        <a:ea typeface="+mn-ea"/>
        <a:cs typeface="+mn-cs"/>
      </a:defRPr>
    </a:lvl5pPr>
    <a:lvl6pPr marL="2286000" algn="l" defTabSz="457200" rtl="0" eaLnBrk="1" latinLnBrk="0" hangingPunct="1">
      <a:defRPr sz="2400" kern="1200">
        <a:solidFill>
          <a:schemeClr val="tx1"/>
        </a:solidFill>
        <a:latin typeface="Comic Sans MS" charset="0"/>
        <a:ea typeface="+mn-ea"/>
        <a:cs typeface="+mn-cs"/>
      </a:defRPr>
    </a:lvl6pPr>
    <a:lvl7pPr marL="2743200" algn="l" defTabSz="457200" rtl="0" eaLnBrk="1" latinLnBrk="0" hangingPunct="1">
      <a:defRPr sz="2400" kern="1200">
        <a:solidFill>
          <a:schemeClr val="tx1"/>
        </a:solidFill>
        <a:latin typeface="Comic Sans MS" charset="0"/>
        <a:ea typeface="+mn-ea"/>
        <a:cs typeface="+mn-cs"/>
      </a:defRPr>
    </a:lvl7pPr>
    <a:lvl8pPr marL="3200400" algn="l" defTabSz="457200" rtl="0" eaLnBrk="1" latinLnBrk="0" hangingPunct="1">
      <a:defRPr sz="2400" kern="1200">
        <a:solidFill>
          <a:schemeClr val="tx1"/>
        </a:solidFill>
        <a:latin typeface="Comic Sans MS" charset="0"/>
        <a:ea typeface="+mn-ea"/>
        <a:cs typeface="+mn-cs"/>
      </a:defRPr>
    </a:lvl8pPr>
    <a:lvl9pPr marL="3657600" algn="l" defTabSz="457200" rtl="0" eaLnBrk="1" latinLnBrk="0" hangingPunct="1">
      <a:defRPr sz="2400" kern="1200">
        <a:solidFill>
          <a:schemeClr val="tx1"/>
        </a:solidFill>
        <a:latin typeface="Comic Sans MS"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E03"/>
    <a:srgbClr val="06FF0E"/>
    <a:srgbClr val="CC14BE"/>
    <a:srgbClr val="FF0000"/>
    <a:srgbClr val="B732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8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handoutMaster" Target="handoutMasters/handoutMaster1.xml"/><Relationship Id="rId47" Type="http://schemas.openxmlformats.org/officeDocument/2006/relationships/printerSettings" Target="printerSettings/printerSettings1.bin"/><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E15E63F-011A-3E43-A312-98E7CA0808B8}" type="datetimeFigureOut">
              <a:rPr lang="en-US" smtClean="0"/>
              <a:pPr/>
              <a:t>3/10/22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54F18CF-6D04-D149-A2BD-325B25DE722B}" type="slidenum">
              <a:rPr lang="en-US" smtClean="0"/>
              <a:pPr/>
              <a:t>‹#›</a:t>
            </a:fld>
            <a:endParaRPr lang="en-US"/>
          </a:p>
        </p:txBody>
      </p:sp>
    </p:spTree>
    <p:extLst>
      <p:ext uri="{BB962C8B-B14F-4D97-AF65-F5344CB8AC3E}">
        <p14:creationId xmlns:p14="http://schemas.microsoft.com/office/powerpoint/2010/main" val="8639829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048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048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8134AB6-D105-B94F-AF6A-AF4BFCAA1F29}" type="slidenum">
              <a:rPr lang="en-US"/>
              <a:pPr>
                <a:defRPr/>
              </a:pPr>
              <a:t>‹#›</a:t>
            </a:fld>
            <a:endParaRPr lang="en-US"/>
          </a:p>
        </p:txBody>
      </p:sp>
    </p:spTree>
    <p:extLst>
      <p:ext uri="{BB962C8B-B14F-4D97-AF65-F5344CB8AC3E}">
        <p14:creationId xmlns:p14="http://schemas.microsoft.com/office/powerpoint/2010/main" val="153075705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omic Sans MS"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omic Sans M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a:t>
            </a:fld>
            <a:endParaRPr lang="en-US"/>
          </a:p>
        </p:txBody>
      </p:sp>
    </p:spTree>
    <p:extLst>
      <p:ext uri="{BB962C8B-B14F-4D97-AF65-F5344CB8AC3E}">
        <p14:creationId xmlns:p14="http://schemas.microsoft.com/office/powerpoint/2010/main" val="1188817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article has some good info on </a:t>
            </a:r>
            <a:r>
              <a:rPr lang="en-US" dirty="0" err="1" smtClean="0"/>
              <a:t>DigiCash</a:t>
            </a:r>
            <a:r>
              <a:rPr lang="en-US" dirty="0" smtClean="0"/>
              <a:t> and pointer</a:t>
            </a:r>
            <a:r>
              <a:rPr lang="en-US" baseline="0" dirty="0" smtClean="0"/>
              <a:t>s for further reading: https://</a:t>
            </a:r>
            <a:r>
              <a:rPr lang="en-US" baseline="0" dirty="0" err="1" smtClean="0"/>
              <a:t>tedium.co</a:t>
            </a:r>
            <a:r>
              <a:rPr lang="en-US" baseline="0" dirty="0" smtClean="0"/>
              <a:t>/2017/11/27/</a:t>
            </a:r>
            <a:r>
              <a:rPr lang="en-US" baseline="0" dirty="0" err="1" smtClean="0"/>
              <a:t>digicash</a:t>
            </a:r>
            <a:r>
              <a:rPr lang="en-US" baseline="0" dirty="0" smtClean="0"/>
              <a:t>-</a:t>
            </a:r>
            <a:r>
              <a:rPr lang="en-US" baseline="0" dirty="0" err="1" smtClean="0"/>
              <a:t>ecash</a:t>
            </a:r>
            <a:r>
              <a:rPr lang="en-US" baseline="0" dirty="0" smtClean="0"/>
              <a:t>-</a:t>
            </a:r>
            <a:r>
              <a:rPr lang="en-US" baseline="0" dirty="0" err="1" smtClean="0"/>
              <a:t>bitcoin</a:t>
            </a:r>
            <a:r>
              <a:rPr lang="en-US" baseline="0" dirty="0" smtClean="0"/>
              <a:t>-history/</a:t>
            </a:r>
          </a:p>
          <a:p>
            <a:r>
              <a:rPr lang="en-US" baseline="0" dirty="0" smtClean="0"/>
              <a:t>With hindsight, it looks like </a:t>
            </a:r>
            <a:r>
              <a:rPr lang="en-US" baseline="0" dirty="0" err="1" smtClean="0"/>
              <a:t>DigiCash</a:t>
            </a:r>
            <a:r>
              <a:rPr lang="en-US" baseline="0" dirty="0" smtClean="0"/>
              <a:t> got a couple of things wrong. First, micropayments never caught on---instead, users “pay” for content by watching all of those horrible advertisements that pollute the Internet. Second, people don’t care nearly as much about anonymity on the Internet as seemed plausible then. There is a quote that comes to mind here: “What Orwell failed to predict is that we’d buy the cameras ourselves, and our biggest fear would be that nobody was watching” (this quote is often attributed to Keith Jensen, but your attentive author heard similar quotes many, many years ago).</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2</a:t>
            </a:fld>
            <a:endParaRPr lang="en-US"/>
          </a:p>
        </p:txBody>
      </p:sp>
    </p:spTree>
    <p:extLst>
      <p:ext uri="{BB962C8B-B14F-4D97-AF65-F5344CB8AC3E}">
        <p14:creationId xmlns:p14="http://schemas.microsoft.com/office/powerpoint/2010/main" val="798653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a:t>
            </a:r>
            <a:r>
              <a:rPr lang="en-US" baseline="0" dirty="0" smtClean="0"/>
              <a:t> a cryptographic</a:t>
            </a:r>
            <a:r>
              <a:rPr lang="en-US" dirty="0" smtClean="0"/>
              <a:t> hash function</a:t>
            </a:r>
            <a:r>
              <a:rPr lang="en-US" baseline="0" dirty="0" smtClean="0"/>
              <a:t> h(x), the output is completely determined by the input. But, any change in input x to y (no matter how small) generates an output h(y) that is uncorrelated to h(x). Therefore, by hashing different inputs, the outputs behave like uniform random numbers. </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4</a:t>
            </a:fld>
            <a:endParaRPr lang="en-US"/>
          </a:p>
        </p:txBody>
      </p:sp>
    </p:spTree>
    <p:extLst>
      <p:ext uri="{BB962C8B-B14F-4D97-AF65-F5344CB8AC3E}">
        <p14:creationId xmlns:p14="http://schemas.microsoft.com/office/powerpoint/2010/main" val="3201890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5</a:t>
            </a:fld>
            <a:endParaRPr lang="en-US"/>
          </a:p>
        </p:txBody>
      </p:sp>
    </p:spTree>
    <p:extLst>
      <p:ext uri="{BB962C8B-B14F-4D97-AF65-F5344CB8AC3E}">
        <p14:creationId xmlns:p14="http://schemas.microsoft.com/office/powerpoint/2010/main" val="3090739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6</a:t>
            </a:fld>
            <a:endParaRPr lang="en-US"/>
          </a:p>
        </p:txBody>
      </p:sp>
    </p:spTree>
    <p:extLst>
      <p:ext uri="{BB962C8B-B14F-4D97-AF65-F5344CB8AC3E}">
        <p14:creationId xmlns:p14="http://schemas.microsoft.com/office/powerpoint/2010/main" val="1146033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7</a:t>
            </a:fld>
            <a:endParaRPr lang="en-US"/>
          </a:p>
        </p:txBody>
      </p:sp>
    </p:spTree>
    <p:extLst>
      <p:ext uri="{BB962C8B-B14F-4D97-AF65-F5344CB8AC3E}">
        <p14:creationId xmlns:p14="http://schemas.microsoft.com/office/powerpoint/2010/main" val="437390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8</a:t>
            </a:fld>
            <a:endParaRPr lang="en-US"/>
          </a:p>
        </p:txBody>
      </p:sp>
    </p:spTree>
    <p:extLst>
      <p:ext uri="{BB962C8B-B14F-4D97-AF65-F5344CB8AC3E}">
        <p14:creationId xmlns:p14="http://schemas.microsoft.com/office/powerpoint/2010/main" val="2962733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any of</a:t>
            </a:r>
            <a:r>
              <a:rPr lang="en-US" baseline="0" dirty="0" smtClean="0"/>
              <a:t> the participants can add entries.</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9</a:t>
            </a:fld>
            <a:endParaRPr lang="en-US"/>
          </a:p>
        </p:txBody>
      </p:sp>
    </p:spTree>
    <p:extLst>
      <p:ext uri="{BB962C8B-B14F-4D97-AF65-F5344CB8AC3E}">
        <p14:creationId xmlns:p14="http://schemas.microsoft.com/office/powerpoint/2010/main" val="227293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10</a:t>
            </a:fld>
            <a:endParaRPr lang="en-US"/>
          </a:p>
        </p:txBody>
      </p:sp>
    </p:spTree>
    <p:extLst>
      <p:ext uri="{BB962C8B-B14F-4D97-AF65-F5344CB8AC3E}">
        <p14:creationId xmlns:p14="http://schemas.microsoft.com/office/powerpoint/2010/main" val="2910457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we are</a:t>
            </a:r>
            <a:r>
              <a:rPr lang="en-US" baseline="0" dirty="0" smtClean="0"/>
              <a:t> using, for example, </a:t>
            </a:r>
            <a:r>
              <a:rPr lang="en-US" dirty="0" smtClean="0"/>
              <a:t>[Bob owes Alice $10]</a:t>
            </a:r>
            <a:r>
              <a:rPr lang="en-US" baseline="-25000" dirty="0" smtClean="0"/>
              <a:t>Bob</a:t>
            </a:r>
            <a:r>
              <a:rPr lang="en-US" dirty="0" smtClean="0"/>
              <a:t> </a:t>
            </a:r>
            <a:r>
              <a:rPr lang="en-US" baseline="0" dirty="0" smtClean="0"/>
              <a:t>as shorthand for (M,[h(M)</a:t>
            </a:r>
            <a:r>
              <a:rPr lang="en-US" dirty="0" smtClean="0"/>
              <a:t> ]</a:t>
            </a:r>
            <a:r>
              <a:rPr lang="en-US" baseline="-25000" dirty="0" smtClean="0"/>
              <a:t>Bob</a:t>
            </a:r>
            <a:r>
              <a:rPr lang="en-US" dirty="0" smtClean="0"/>
              <a:t>)</a:t>
            </a:r>
            <a:r>
              <a:rPr lang="en-US" baseline="0" dirty="0" smtClean="0"/>
              <a:t>, where M=“</a:t>
            </a:r>
            <a:r>
              <a:rPr lang="en-US" dirty="0" smtClean="0"/>
              <a:t>Bob owes Alice $10” </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11</a:t>
            </a:fld>
            <a:endParaRPr lang="en-US"/>
          </a:p>
        </p:txBody>
      </p:sp>
    </p:spTree>
    <p:extLst>
      <p:ext uri="{BB962C8B-B14F-4D97-AF65-F5344CB8AC3E}">
        <p14:creationId xmlns:p14="http://schemas.microsoft.com/office/powerpoint/2010/main" val="2910457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continue to use</a:t>
            </a:r>
            <a:r>
              <a:rPr lang="en-US" baseline="0" dirty="0" smtClean="0"/>
              <a:t> the shorthand </a:t>
            </a:r>
            <a:r>
              <a:rPr lang="en-US" dirty="0" smtClean="0"/>
              <a:t>[Bob owes Alice $10]</a:t>
            </a:r>
            <a:r>
              <a:rPr lang="en-US" baseline="-25000" dirty="0" smtClean="0"/>
              <a:t>Bob</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12</a:t>
            </a:fld>
            <a:endParaRPr lang="en-US"/>
          </a:p>
        </p:txBody>
      </p:sp>
    </p:spTree>
    <p:extLst>
      <p:ext uri="{BB962C8B-B14F-4D97-AF65-F5344CB8AC3E}">
        <p14:creationId xmlns:p14="http://schemas.microsoft.com/office/powerpoint/2010/main" val="2910457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13</a:t>
            </a:fld>
            <a:endParaRPr lang="en-US"/>
          </a:p>
        </p:txBody>
      </p:sp>
    </p:spTree>
    <p:extLst>
      <p:ext uri="{BB962C8B-B14F-4D97-AF65-F5344CB8AC3E}">
        <p14:creationId xmlns:p14="http://schemas.microsoft.com/office/powerpoint/2010/main" val="2910457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Even</a:t>
            </a:r>
            <a:r>
              <a:rPr lang="en-US" baseline="0" dirty="0" smtClean="0"/>
              <a:t> with signatures, and transaction numbers, still relying on honor system for actual payments when we settle accounts at the end of the month.</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14</a:t>
            </a:fld>
            <a:endParaRPr lang="en-US"/>
          </a:p>
        </p:txBody>
      </p:sp>
    </p:spTree>
    <p:extLst>
      <p:ext uri="{BB962C8B-B14F-4D97-AF65-F5344CB8AC3E}">
        <p14:creationId xmlns:p14="http://schemas.microsoft.com/office/powerpoint/2010/main" val="2910457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like a bank account where you put money in, and each transaction is checked to make sure</a:t>
            </a:r>
            <a:r>
              <a:rPr lang="en-US" baseline="0" dirty="0" smtClean="0"/>
              <a:t> that it will not cause you to be overdrawn.</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15</a:t>
            </a:fld>
            <a:endParaRPr lang="en-US"/>
          </a:p>
        </p:txBody>
      </p:sp>
    </p:spTree>
    <p:extLst>
      <p:ext uri="{BB962C8B-B14F-4D97-AF65-F5344CB8AC3E}">
        <p14:creationId xmlns:p14="http://schemas.microsoft.com/office/powerpoint/2010/main" val="1927667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Again,</a:t>
            </a:r>
            <a:r>
              <a:rPr lang="en-US" baseline="0" dirty="0" smtClean="0"/>
              <a:t> this is l</a:t>
            </a:r>
            <a:r>
              <a:rPr lang="en-US" dirty="0" smtClean="0"/>
              <a:t>ike a bank account where a</a:t>
            </a:r>
            <a:r>
              <a:rPr lang="en-US" baseline="0" dirty="0" smtClean="0"/>
              <a:t> person is </a:t>
            </a:r>
            <a:r>
              <a:rPr lang="en-US" dirty="0" smtClean="0"/>
              <a:t>not allowed to be </a:t>
            </a:r>
            <a:r>
              <a:rPr lang="en-US" dirty="0" smtClean="0"/>
              <a:t>overdrawn</a:t>
            </a:r>
            <a:r>
              <a:rPr lang="en-US" baseline="0" dirty="0" smtClean="0"/>
              <a:t> (and every transaction validated in real time).</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16</a:t>
            </a:fld>
            <a:endParaRPr lang="en-US"/>
          </a:p>
        </p:txBody>
      </p:sp>
    </p:spTree>
    <p:extLst>
      <p:ext uri="{BB962C8B-B14F-4D97-AF65-F5344CB8AC3E}">
        <p14:creationId xmlns:p14="http://schemas.microsoft.com/office/powerpoint/2010/main" val="3558239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Of course, we will call this cool new currency (</a:t>
            </a:r>
            <a:r>
              <a:rPr lang="en-US" dirty="0" smtClean="0">
                <a:latin typeface="Arial"/>
                <a:cs typeface="Arial"/>
              </a:rPr>
              <a:t>§</a:t>
            </a:r>
            <a:r>
              <a:rPr lang="en-US" dirty="0" smtClean="0"/>
              <a:t>) </a:t>
            </a:r>
            <a:r>
              <a:rPr lang="en-US" dirty="0" err="1" smtClean="0"/>
              <a:t>Stampcoin</a:t>
            </a:r>
            <a:r>
              <a:rPr lang="mr-IN" dirty="0" smtClean="0"/>
              <a:t>…</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19</a:t>
            </a:fld>
            <a:endParaRPr lang="en-US"/>
          </a:p>
        </p:txBody>
      </p:sp>
    </p:spTree>
    <p:extLst>
      <p:ext uri="{BB962C8B-B14F-4D97-AF65-F5344CB8AC3E}">
        <p14:creationId xmlns:p14="http://schemas.microsoft.com/office/powerpoint/2010/main" val="780126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This is reminiscent of the “anarchy” model</a:t>
            </a:r>
            <a:r>
              <a:rPr lang="en-US" baseline="0" dirty="0" smtClean="0"/>
              <a:t> of a public key infrastructure (PKI).</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Obvious</a:t>
            </a:r>
            <a:r>
              <a:rPr lang="en-US" baseline="0" dirty="0" smtClean="0"/>
              <a:t> concern: </a:t>
            </a:r>
            <a:r>
              <a:rPr lang="en-US" dirty="0" smtClean="0"/>
              <a:t>How can</a:t>
            </a:r>
            <a:r>
              <a:rPr lang="en-US" baseline="0" dirty="0" smtClean="0"/>
              <a:t> everyone</a:t>
            </a:r>
            <a:r>
              <a:rPr lang="en-US" dirty="0" smtClean="0"/>
              <a:t> have consistent view of ledger? </a:t>
            </a:r>
            <a:r>
              <a:rPr lang="en-US" baseline="0" dirty="0" smtClean="0"/>
              <a:t> </a:t>
            </a:r>
            <a:r>
              <a:rPr lang="en-US" dirty="0" smtClean="0"/>
              <a:t>Another concern is what happens if users (like Trudy)</a:t>
            </a:r>
            <a:r>
              <a:rPr lang="en-US" baseline="0" dirty="0" smtClean="0"/>
              <a:t> don’t follow the protocol? We’ll get to both of these issues momentarily.</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21</a:t>
            </a:fld>
            <a:endParaRPr lang="en-US"/>
          </a:p>
        </p:txBody>
      </p:sp>
    </p:spTree>
    <p:extLst>
      <p:ext uri="{BB962C8B-B14F-4D97-AF65-F5344CB8AC3E}">
        <p14:creationId xmlns:p14="http://schemas.microsoft.com/office/powerpoint/2010/main" val="394910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Remember,</a:t>
            </a:r>
            <a:r>
              <a:rPr lang="en-US" baseline="0" dirty="0" smtClean="0"/>
              <a:t> more work is more better, so in case of conflict, just wait for a longer </a:t>
            </a:r>
            <a:r>
              <a:rPr lang="en-US" baseline="0" dirty="0" err="1" smtClean="0"/>
              <a:t>blockchain</a:t>
            </a:r>
            <a:r>
              <a:rPr lang="en-US" baseline="0" dirty="0" smtClean="0"/>
              <a:t> to show up</a:t>
            </a:r>
            <a:r>
              <a:rPr lang="is-IS" baseline="0" dirty="0" smtClean="0"/>
              <a:t>…</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32</a:t>
            </a:fld>
            <a:endParaRPr lang="en-US"/>
          </a:p>
        </p:txBody>
      </p:sp>
    </p:spTree>
    <p:extLst>
      <p:ext uri="{BB962C8B-B14F-4D97-AF65-F5344CB8AC3E}">
        <p14:creationId xmlns:p14="http://schemas.microsoft.com/office/powerpoint/2010/main" val="2177180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Trudy</a:t>
            </a:r>
            <a:r>
              <a:rPr lang="en-US" baseline="0" dirty="0" smtClean="0"/>
              <a:t> has violated the protocol, as she is supposed to send transactions and blocks to everybody. But, that’s just the kind of person that Trudy is</a:t>
            </a:r>
            <a:r>
              <a:rPr lang="is-IS" baseline="0" dirty="0" smtClean="0"/>
              <a:t>…</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35</a:t>
            </a:fld>
            <a:endParaRPr lang="en-US"/>
          </a:p>
        </p:txBody>
      </p:sp>
    </p:spTree>
    <p:extLst>
      <p:ext uri="{BB962C8B-B14F-4D97-AF65-F5344CB8AC3E}">
        <p14:creationId xmlns:p14="http://schemas.microsoft.com/office/powerpoint/2010/main" val="3012425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t>
            </a:r>
            <a:r>
              <a:rPr lang="en-US" dirty="0" err="1" smtClean="0"/>
              <a:t>Bitcoin</a:t>
            </a:r>
            <a:r>
              <a:rPr lang="en-US" dirty="0" smtClean="0"/>
              <a:t>, users can (optionally) add transaction fees. This should keep miners happy, even when no more new </a:t>
            </a:r>
            <a:r>
              <a:rPr lang="en-US" dirty="0" err="1" smtClean="0"/>
              <a:t>bitcoins</a:t>
            </a:r>
            <a:r>
              <a:rPr lang="en-US" dirty="0" smtClean="0"/>
              <a:t> are available. </a:t>
            </a:r>
            <a:endParaRPr lang="en-US" dirty="0"/>
          </a:p>
        </p:txBody>
      </p:sp>
      <p:sp>
        <p:nvSpPr>
          <p:cNvPr id="4" name="Slide Number Placeholder 3"/>
          <p:cNvSpPr>
            <a:spLocks noGrp="1"/>
          </p:cNvSpPr>
          <p:nvPr>
            <p:ph type="sldNum" sz="quarter" idx="10"/>
          </p:nvPr>
        </p:nvSpPr>
        <p:spPr/>
        <p:txBody>
          <a:bodyPr/>
          <a:lstStyle/>
          <a:p>
            <a:pPr>
              <a:defRPr/>
            </a:pPr>
            <a:fld id="{38134AB6-D105-B94F-AF6A-AF4BFCAA1F29}" type="slidenum">
              <a:rPr lang="en-US" smtClean="0"/>
              <a:pPr>
                <a:defRPr/>
              </a:pPr>
              <a:t>39</a:t>
            </a:fld>
            <a:endParaRPr lang="en-US"/>
          </a:p>
        </p:txBody>
      </p:sp>
    </p:spTree>
    <p:extLst>
      <p:ext uri="{BB962C8B-B14F-4D97-AF65-F5344CB8AC3E}">
        <p14:creationId xmlns:p14="http://schemas.microsoft.com/office/powerpoint/2010/main" val="23599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smtClean="0"/>
              <a:t>Blockchain                                                                                                                   </a:t>
            </a:r>
            <a:endParaRPr lang="en-US">
              <a:latin typeface="Times New Roman"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8288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685800" y="6248400"/>
            <a:ext cx="7848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r>
              <a:rPr lang="de-DE" smtClean="0"/>
              <a:t>Blockchain                                                                                                                   </a:t>
            </a:r>
            <a:endParaRPr lang="en-US" dirty="0" smtClean="0">
              <a:latin typeface="Times New Roman" charset="0"/>
            </a:endParaRPr>
          </a:p>
        </p:txBody>
      </p:sp>
      <p:sp>
        <p:nvSpPr>
          <p:cNvPr id="2" name="Slide Number Placeholder 1"/>
          <p:cNvSpPr>
            <a:spLocks noGrp="1"/>
          </p:cNvSpPr>
          <p:nvPr>
            <p:ph type="sldNum" sz="quarter" idx="4"/>
          </p:nvPr>
        </p:nvSpPr>
        <p:spPr>
          <a:xfrm>
            <a:off x="6400800" y="624840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2BDD8-E22B-664A-8631-6C777BC494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accent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2pPr>
      <a:lvl3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3pPr>
      <a:lvl4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4pPr>
      <a:lvl5pPr algn="ctr" rtl="0" eaLnBrk="0" fontAlgn="base" hangingPunct="0">
        <a:spcBef>
          <a:spcPct val="0"/>
        </a:spcBef>
        <a:spcAft>
          <a:spcPct val="0"/>
        </a:spcAft>
        <a:defRPr sz="4400">
          <a:solidFill>
            <a:schemeClr val="accent2"/>
          </a:solidFill>
          <a:latin typeface="Comic Sans MS" charset="0"/>
          <a:ea typeface="ＭＳ Ｐゴシック" charset="-128"/>
          <a:cs typeface="ＭＳ Ｐゴシック" charset="-128"/>
        </a:defRPr>
      </a:lvl5pPr>
      <a:lvl6pPr marL="457200" algn="ctr" rtl="0" fontAlgn="base">
        <a:spcBef>
          <a:spcPct val="0"/>
        </a:spcBef>
        <a:spcAft>
          <a:spcPct val="0"/>
        </a:spcAft>
        <a:defRPr sz="4400">
          <a:solidFill>
            <a:schemeClr val="accent2"/>
          </a:solidFill>
          <a:latin typeface="Comic Sans MS" charset="0"/>
        </a:defRPr>
      </a:lvl6pPr>
      <a:lvl7pPr marL="914400" algn="ctr" rtl="0" fontAlgn="base">
        <a:spcBef>
          <a:spcPct val="0"/>
        </a:spcBef>
        <a:spcAft>
          <a:spcPct val="0"/>
        </a:spcAft>
        <a:defRPr sz="4400">
          <a:solidFill>
            <a:schemeClr val="accent2"/>
          </a:solidFill>
          <a:latin typeface="Comic Sans MS" charset="0"/>
        </a:defRPr>
      </a:lvl7pPr>
      <a:lvl8pPr marL="1371600" algn="ctr" rtl="0" fontAlgn="base">
        <a:spcBef>
          <a:spcPct val="0"/>
        </a:spcBef>
        <a:spcAft>
          <a:spcPct val="0"/>
        </a:spcAft>
        <a:defRPr sz="4400">
          <a:solidFill>
            <a:schemeClr val="accent2"/>
          </a:solidFill>
          <a:latin typeface="Comic Sans MS" charset="0"/>
        </a:defRPr>
      </a:lvl8pPr>
      <a:lvl9pPr marL="1828800" algn="ctr" rtl="0" fontAlgn="base">
        <a:spcBef>
          <a:spcPct val="0"/>
        </a:spcBef>
        <a:spcAft>
          <a:spcPct val="0"/>
        </a:spcAft>
        <a:defRPr sz="4400">
          <a:solidFill>
            <a:schemeClr val="accent2"/>
          </a:solidFill>
          <a:latin typeface="Comic Sans MS" charset="0"/>
        </a:defRPr>
      </a:lvl9pPr>
    </p:titleStyle>
    <p:bodyStyle>
      <a:lvl1pPr marL="342900" indent="-342900" algn="l" rtl="0" eaLnBrk="0" fontAlgn="base" hangingPunct="0">
        <a:spcBef>
          <a:spcPct val="20000"/>
        </a:spcBef>
        <a:spcAft>
          <a:spcPct val="0"/>
        </a:spcAft>
        <a:buClr>
          <a:schemeClr val="accent2"/>
        </a:buClr>
        <a:buSzPct val="75000"/>
        <a:buFont typeface="Wingdings" charset="2"/>
        <a:buChar char="q"/>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accent2"/>
        </a:buClr>
        <a:buSzPct val="95000"/>
        <a:buChar char="o"/>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2"/>
        </a:buClr>
        <a:buFont typeface="Wingdings" charset="2"/>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75000"/>
        <a:buFont typeface="Wingdings" charset="2"/>
        <a:buChar char="Ø"/>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2"/>
        </a:buClr>
        <a:buFont typeface="Times" charset="0"/>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tif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bBC-nXj3Ng4" TargetMode="External"/><Relationship Id="rId3" Type="http://schemas.openxmlformats.org/officeDocument/2006/relationships/hyperlink" Target="https://bitcoin.org/bitcoin.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09800"/>
            <a:ext cx="7772400" cy="1143000"/>
          </a:xfrm>
        </p:spPr>
        <p:txBody>
          <a:bodyPr/>
          <a:lstStyle/>
          <a:p>
            <a:r>
              <a:rPr lang="en-US" dirty="0" err="1" smtClean="0"/>
              <a:t>Blockchain</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494816223"/>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Digital Cash is not New</a:t>
            </a:r>
            <a:endParaRPr lang="en-US" dirty="0"/>
          </a:p>
        </p:txBody>
      </p:sp>
      <p:sp>
        <p:nvSpPr>
          <p:cNvPr id="3" name="Content Placeholder 2"/>
          <p:cNvSpPr>
            <a:spLocks noGrp="1"/>
          </p:cNvSpPr>
          <p:nvPr>
            <p:ph idx="1"/>
          </p:nvPr>
        </p:nvSpPr>
        <p:spPr>
          <a:xfrm>
            <a:off x="685800" y="1828800"/>
            <a:ext cx="7772400" cy="4267200"/>
          </a:xfrm>
        </p:spPr>
        <p:txBody>
          <a:bodyPr/>
          <a:lstStyle/>
          <a:p>
            <a:r>
              <a:rPr lang="en-US" dirty="0" err="1" smtClean="0"/>
              <a:t>DigiCash</a:t>
            </a:r>
            <a:r>
              <a:rPr lang="en-US" dirty="0" smtClean="0"/>
              <a:t> Inc., founded in 1989</a:t>
            </a:r>
          </a:p>
          <a:p>
            <a:pPr lvl="1"/>
            <a:r>
              <a:rPr lang="en-US" dirty="0" smtClean="0"/>
              <a:t>Based </a:t>
            </a:r>
            <a:r>
              <a:rPr lang="en-US" dirty="0"/>
              <a:t>on </a:t>
            </a:r>
            <a:r>
              <a:rPr lang="en-US" dirty="0" err="1"/>
              <a:t>Chaum’s</a:t>
            </a:r>
            <a:r>
              <a:rPr lang="en-US" dirty="0"/>
              <a:t> </a:t>
            </a:r>
            <a:r>
              <a:rPr lang="en-US" dirty="0" smtClean="0"/>
              <a:t>“blind signatures”</a:t>
            </a:r>
          </a:p>
          <a:p>
            <a:pPr lvl="1"/>
            <a:r>
              <a:rPr lang="en-US" dirty="0" smtClean="0"/>
              <a:t>Strong crypto that ensures anonymity</a:t>
            </a:r>
            <a:endParaRPr lang="en-US" b="1" dirty="0" smtClean="0"/>
          </a:p>
          <a:p>
            <a:r>
              <a:rPr lang="en-US" dirty="0" smtClean="0"/>
              <a:t>Back then, the “killer app” was thought to be </a:t>
            </a:r>
            <a:r>
              <a:rPr lang="en-US" b="1" i="1" dirty="0" smtClean="0"/>
              <a:t>micropayments</a:t>
            </a:r>
            <a:r>
              <a:rPr lang="en-US" dirty="0" smtClean="0"/>
              <a:t>    </a:t>
            </a:r>
          </a:p>
          <a:p>
            <a:pPr lvl="1"/>
            <a:r>
              <a:rPr lang="en-US" dirty="0"/>
              <a:t>U</a:t>
            </a:r>
            <a:r>
              <a:rPr lang="en-US" dirty="0" smtClean="0"/>
              <a:t>sers on the Internet supposed to pay tiny amount (fraction of cent) for things</a:t>
            </a:r>
          </a:p>
          <a:p>
            <a:r>
              <a:rPr lang="en-US" dirty="0" err="1"/>
              <a:t>DigiCash</a:t>
            </a:r>
            <a:r>
              <a:rPr lang="en-US" dirty="0"/>
              <a:t> </a:t>
            </a:r>
            <a:r>
              <a:rPr lang="en-US" dirty="0" smtClean="0"/>
              <a:t>declared bankruptcy </a:t>
            </a:r>
            <a:r>
              <a:rPr lang="en-US" dirty="0"/>
              <a:t>in 1998</a:t>
            </a:r>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dirty="0">
              <a:latin typeface="Times New Roman" charset="0"/>
            </a:endParaRPr>
          </a:p>
        </p:txBody>
      </p:sp>
    </p:spTree>
    <p:extLst>
      <p:ext uri="{BB962C8B-B14F-4D97-AF65-F5344CB8AC3E}">
        <p14:creationId xmlns:p14="http://schemas.microsoft.com/office/powerpoint/2010/main" val="396314298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p:spPr>
        <p:txBody>
          <a:bodyPr/>
          <a:lstStyle/>
          <a:p>
            <a:r>
              <a:rPr lang="de-DE" smtClean="0"/>
              <a:t>Blockchain                                                                                                                   </a:t>
            </a:r>
            <a:endParaRPr lang="en-US" smtClean="0">
              <a:latin typeface="Times New Roman" charset="0"/>
            </a:endParaRPr>
          </a:p>
        </p:txBody>
      </p:sp>
      <p:sp>
        <p:nvSpPr>
          <p:cNvPr id="200707" name="Rectangle 2"/>
          <p:cNvSpPr>
            <a:spLocks noGrp="1" noChangeArrowheads="1"/>
          </p:cNvSpPr>
          <p:nvPr>
            <p:ph type="title"/>
          </p:nvPr>
        </p:nvSpPr>
        <p:spPr>
          <a:xfrm>
            <a:off x="685800" y="533400"/>
            <a:ext cx="7772400" cy="1143000"/>
          </a:xfrm>
        </p:spPr>
        <p:txBody>
          <a:bodyPr/>
          <a:lstStyle/>
          <a:p>
            <a:pPr eaLnBrk="1" hangingPunct="1"/>
            <a:r>
              <a:rPr lang="en-US" dirty="0" smtClean="0"/>
              <a:t>Digital Currency</a:t>
            </a:r>
            <a:endParaRPr lang="en-US" dirty="0"/>
          </a:p>
        </p:txBody>
      </p:sp>
      <p:sp>
        <p:nvSpPr>
          <p:cNvPr id="200708" name="Rectangle 3"/>
          <p:cNvSpPr>
            <a:spLocks noGrp="1" noChangeArrowheads="1"/>
          </p:cNvSpPr>
          <p:nvPr>
            <p:ph type="body" idx="1"/>
          </p:nvPr>
        </p:nvSpPr>
        <p:spPr>
          <a:xfrm>
            <a:off x="685800" y="1752600"/>
            <a:ext cx="7924800" cy="4343400"/>
          </a:xfrm>
        </p:spPr>
        <p:txBody>
          <a:bodyPr/>
          <a:lstStyle/>
          <a:p>
            <a:pPr eaLnBrk="1" hangingPunct="1">
              <a:lnSpc>
                <a:spcPct val="90000"/>
              </a:lnSpc>
              <a:spcAft>
                <a:spcPts val="600"/>
              </a:spcAft>
            </a:pPr>
            <a:r>
              <a:rPr lang="en-US" dirty="0" smtClean="0"/>
              <a:t>Can we create an all-digital currency?</a:t>
            </a:r>
          </a:p>
          <a:p>
            <a:pPr lvl="1" eaLnBrk="1" hangingPunct="1">
              <a:lnSpc>
                <a:spcPct val="90000"/>
              </a:lnSpc>
              <a:spcAft>
                <a:spcPts val="600"/>
              </a:spcAft>
            </a:pPr>
            <a:r>
              <a:rPr lang="en-US" dirty="0"/>
              <a:t>L</a:t>
            </a:r>
            <a:r>
              <a:rPr lang="en-US" dirty="0" smtClean="0"/>
              <a:t>ike </a:t>
            </a:r>
            <a:r>
              <a:rPr lang="en-US" dirty="0" smtClean="0">
                <a:latin typeface="Arial"/>
                <a:cs typeface="Arial"/>
              </a:rPr>
              <a:t>$</a:t>
            </a:r>
            <a:r>
              <a:rPr lang="en-US" dirty="0" smtClean="0"/>
              <a:t> or </a:t>
            </a:r>
            <a:r>
              <a:rPr lang="en-US" dirty="0" smtClean="0">
                <a:latin typeface="Arial"/>
                <a:cs typeface="Arial"/>
              </a:rPr>
              <a:t>¥ </a:t>
            </a:r>
            <a:r>
              <a:rPr lang="en-US" dirty="0" smtClean="0"/>
              <a:t>or </a:t>
            </a:r>
            <a:r>
              <a:rPr lang="en-US" dirty="0" smtClean="0">
                <a:latin typeface="Arial"/>
                <a:cs typeface="Arial"/>
              </a:rPr>
              <a:t>€</a:t>
            </a:r>
            <a:r>
              <a:rPr lang="en-US" dirty="0" smtClean="0"/>
              <a:t> or </a:t>
            </a:r>
            <a:r>
              <a:rPr lang="is-IS" dirty="0" smtClean="0"/>
              <a:t>…., but</a:t>
            </a:r>
            <a:r>
              <a:rPr lang="en-US" dirty="0" smtClean="0"/>
              <a:t> “better”</a:t>
            </a:r>
          </a:p>
          <a:p>
            <a:pPr eaLnBrk="1" hangingPunct="1">
              <a:lnSpc>
                <a:spcPct val="90000"/>
              </a:lnSpc>
              <a:spcAft>
                <a:spcPts val="600"/>
              </a:spcAft>
            </a:pPr>
            <a:r>
              <a:rPr lang="en-US" dirty="0" smtClean="0"/>
              <a:t>Real cash is (relatively) anonymous</a:t>
            </a:r>
          </a:p>
          <a:p>
            <a:pPr lvl="1" eaLnBrk="1" hangingPunct="1">
              <a:lnSpc>
                <a:spcPct val="90000"/>
              </a:lnSpc>
              <a:spcAft>
                <a:spcPts val="600"/>
              </a:spcAft>
            </a:pPr>
            <a:r>
              <a:rPr lang="en-US" dirty="0" smtClean="0"/>
              <a:t>So digital currency should be too</a:t>
            </a:r>
          </a:p>
          <a:p>
            <a:pPr eaLnBrk="1" hangingPunct="1">
              <a:lnSpc>
                <a:spcPct val="90000"/>
              </a:lnSpc>
              <a:spcAft>
                <a:spcPts val="600"/>
              </a:spcAft>
            </a:pPr>
            <a:r>
              <a:rPr lang="en-US" dirty="0"/>
              <a:t>D</a:t>
            </a:r>
            <a:r>
              <a:rPr lang="en-US" dirty="0" smtClean="0"/>
              <a:t>igital currency is “better” since</a:t>
            </a:r>
            <a:r>
              <a:rPr lang="is-IS" dirty="0" smtClean="0"/>
              <a:t>…</a:t>
            </a:r>
            <a:endParaRPr lang="en-US" dirty="0" smtClean="0"/>
          </a:p>
          <a:p>
            <a:pPr lvl="1" eaLnBrk="1" hangingPunct="1">
              <a:lnSpc>
                <a:spcPct val="90000"/>
              </a:lnSpc>
              <a:spcAft>
                <a:spcPts val="600"/>
              </a:spcAft>
            </a:pPr>
            <a:r>
              <a:rPr lang="en-US" dirty="0" smtClean="0"/>
              <a:t>No central authority (i.e., banks)</a:t>
            </a:r>
          </a:p>
          <a:p>
            <a:pPr lvl="1" eaLnBrk="1" hangingPunct="1">
              <a:lnSpc>
                <a:spcPct val="90000"/>
              </a:lnSpc>
              <a:spcAft>
                <a:spcPts val="600"/>
              </a:spcAft>
            </a:pPr>
            <a:r>
              <a:rPr lang="en-US" dirty="0" smtClean="0"/>
              <a:t>No government to issue currency, etc.</a:t>
            </a:r>
          </a:p>
          <a:p>
            <a:pPr eaLnBrk="1" hangingPunct="1">
              <a:lnSpc>
                <a:spcPct val="90000"/>
              </a:lnSpc>
              <a:spcAft>
                <a:spcPts val="600"/>
              </a:spcAft>
            </a:pP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p:spPr>
        <p:txBody>
          <a:bodyPr/>
          <a:lstStyle/>
          <a:p>
            <a:r>
              <a:rPr lang="de-DE" smtClean="0"/>
              <a:t>Blockchain                                                                                                                   </a:t>
            </a:r>
            <a:endParaRPr lang="en-US" smtClean="0">
              <a:latin typeface="Times New Roman" charset="0"/>
            </a:endParaRPr>
          </a:p>
        </p:txBody>
      </p:sp>
      <p:sp>
        <p:nvSpPr>
          <p:cNvPr id="200707" name="Rectangle 2"/>
          <p:cNvSpPr>
            <a:spLocks noGrp="1" noChangeArrowheads="1"/>
          </p:cNvSpPr>
          <p:nvPr>
            <p:ph type="title"/>
          </p:nvPr>
        </p:nvSpPr>
        <p:spPr>
          <a:xfrm>
            <a:off x="685800" y="533400"/>
            <a:ext cx="7772400" cy="1143000"/>
          </a:xfrm>
        </p:spPr>
        <p:txBody>
          <a:bodyPr/>
          <a:lstStyle/>
          <a:p>
            <a:pPr eaLnBrk="1" hangingPunct="1"/>
            <a:r>
              <a:rPr lang="en-US" dirty="0" smtClean="0"/>
              <a:t>Preliminaries: Work</a:t>
            </a:r>
            <a:endParaRPr lang="en-US" dirty="0"/>
          </a:p>
        </p:txBody>
      </p:sp>
      <p:sp>
        <p:nvSpPr>
          <p:cNvPr id="200708" name="Rectangle 3"/>
          <p:cNvSpPr>
            <a:spLocks noGrp="1" noChangeArrowheads="1"/>
          </p:cNvSpPr>
          <p:nvPr>
            <p:ph type="body" idx="1"/>
          </p:nvPr>
        </p:nvSpPr>
        <p:spPr>
          <a:xfrm>
            <a:off x="685800" y="1752600"/>
            <a:ext cx="7924800" cy="4419600"/>
          </a:xfrm>
        </p:spPr>
        <p:txBody>
          <a:bodyPr/>
          <a:lstStyle/>
          <a:p>
            <a:pPr eaLnBrk="1" hangingPunct="1">
              <a:lnSpc>
                <a:spcPct val="90000"/>
              </a:lnSpc>
              <a:spcAft>
                <a:spcPts val="600"/>
              </a:spcAft>
            </a:pPr>
            <a:r>
              <a:rPr lang="en-US" dirty="0" smtClean="0"/>
              <a:t>How to measure (digital) </a:t>
            </a:r>
            <a:r>
              <a:rPr lang="en-US" b="1" i="1" dirty="0" smtClean="0"/>
              <a:t>work </a:t>
            </a:r>
            <a:r>
              <a:rPr lang="en-US" dirty="0" smtClean="0"/>
              <a:t>?</a:t>
            </a:r>
          </a:p>
          <a:p>
            <a:pPr eaLnBrk="1" hangingPunct="1">
              <a:lnSpc>
                <a:spcPct val="90000"/>
              </a:lnSpc>
              <a:spcAft>
                <a:spcPts val="600"/>
              </a:spcAft>
            </a:pPr>
            <a:r>
              <a:rPr lang="en-US" dirty="0" smtClean="0"/>
              <a:t>Our unit </a:t>
            </a:r>
            <a:r>
              <a:rPr lang="en-US" dirty="0"/>
              <a:t>of work </a:t>
            </a:r>
            <a:r>
              <a:rPr lang="en-US" dirty="0" smtClean="0"/>
              <a:t>will be </a:t>
            </a:r>
            <a:r>
              <a:rPr lang="en-US" dirty="0">
                <a:latin typeface="Arial"/>
                <a:cs typeface="Arial"/>
              </a:rPr>
              <a:t>1</a:t>
            </a:r>
            <a:r>
              <a:rPr lang="en-US" dirty="0"/>
              <a:t> hash</a:t>
            </a:r>
          </a:p>
          <a:p>
            <a:pPr eaLnBrk="1" hangingPunct="1">
              <a:lnSpc>
                <a:spcPct val="90000"/>
              </a:lnSpc>
              <a:spcAft>
                <a:spcPts val="600"/>
              </a:spcAft>
            </a:pPr>
            <a:r>
              <a:rPr lang="en-US" dirty="0"/>
              <a:t>Suppose that we have a hash function </a:t>
            </a:r>
            <a:r>
              <a:rPr lang="en-US" dirty="0" smtClean="0">
                <a:latin typeface="Arial"/>
                <a:cs typeface="Arial"/>
              </a:rPr>
              <a:t>h(x)</a:t>
            </a:r>
            <a:r>
              <a:rPr lang="en-US" dirty="0" smtClean="0"/>
              <a:t> that </a:t>
            </a:r>
            <a:r>
              <a:rPr lang="en-US" dirty="0"/>
              <a:t>generates </a:t>
            </a:r>
            <a:r>
              <a:rPr lang="en-US" dirty="0" smtClean="0"/>
              <a:t>an </a:t>
            </a:r>
            <a:r>
              <a:rPr lang="en-US" dirty="0">
                <a:latin typeface="Arial"/>
                <a:cs typeface="Arial"/>
              </a:rPr>
              <a:t>N</a:t>
            </a:r>
            <a:r>
              <a:rPr lang="en-US" dirty="0" smtClean="0"/>
              <a:t>-bit output</a:t>
            </a:r>
          </a:p>
          <a:p>
            <a:pPr eaLnBrk="1" hangingPunct="1">
              <a:lnSpc>
                <a:spcPct val="90000"/>
              </a:lnSpc>
              <a:spcAft>
                <a:spcPts val="600"/>
              </a:spcAft>
            </a:pPr>
            <a:r>
              <a:rPr lang="en-US" dirty="0" smtClean="0"/>
              <a:t>Then randomly </a:t>
            </a:r>
            <a:r>
              <a:rPr lang="en-US" dirty="0"/>
              <a:t>c</a:t>
            </a:r>
            <a:r>
              <a:rPr lang="en-US" dirty="0" smtClean="0"/>
              <a:t>hosen input generates one of </a:t>
            </a:r>
            <a:r>
              <a:rPr lang="en-US" dirty="0" smtClean="0">
                <a:latin typeface="Arial"/>
                <a:cs typeface="Arial"/>
              </a:rPr>
              <a:t>2</a:t>
            </a:r>
            <a:r>
              <a:rPr lang="en-US" baseline="30000" dirty="0">
                <a:latin typeface="Arial"/>
                <a:cs typeface="Arial"/>
              </a:rPr>
              <a:t>N</a:t>
            </a:r>
            <a:r>
              <a:rPr lang="en-US" dirty="0" smtClean="0"/>
              <a:t> equally likely outputs</a:t>
            </a:r>
          </a:p>
          <a:p>
            <a:pPr lvl="1" eaLnBrk="1" hangingPunct="1">
              <a:lnSpc>
                <a:spcPct val="90000"/>
              </a:lnSpc>
              <a:spcAft>
                <a:spcPts val="600"/>
              </a:spcAft>
            </a:pPr>
            <a:r>
              <a:rPr lang="en-US" dirty="0"/>
              <a:t>For any </a:t>
            </a:r>
            <a:r>
              <a:rPr lang="en-US" dirty="0" smtClean="0"/>
              <a:t>input </a:t>
            </a:r>
            <a:r>
              <a:rPr lang="en-US" dirty="0" smtClean="0">
                <a:latin typeface="Arial"/>
                <a:cs typeface="Arial"/>
              </a:rPr>
              <a:t>R</a:t>
            </a:r>
            <a:r>
              <a:rPr lang="en-US" dirty="0"/>
              <a:t>, </a:t>
            </a:r>
            <a:r>
              <a:rPr lang="en-US" dirty="0" smtClean="0"/>
              <a:t>have, </a:t>
            </a:r>
            <a:r>
              <a:rPr lang="en-US" dirty="0">
                <a:latin typeface="Arial"/>
                <a:cs typeface="Arial"/>
              </a:rPr>
              <a:t>0 ≤ h(R) &lt; 2</a:t>
            </a:r>
            <a:r>
              <a:rPr lang="en-US" baseline="30000" dirty="0">
                <a:latin typeface="Arial"/>
                <a:cs typeface="Arial"/>
              </a:rPr>
              <a:t>N</a:t>
            </a:r>
            <a:r>
              <a:rPr lang="en-US" dirty="0" smtClean="0"/>
              <a:t>   </a:t>
            </a:r>
          </a:p>
          <a:p>
            <a:pPr lvl="1" eaLnBrk="1" hangingPunct="1">
              <a:lnSpc>
                <a:spcPct val="90000"/>
              </a:lnSpc>
              <a:spcAft>
                <a:spcPts val="600"/>
              </a:spcAft>
            </a:pPr>
            <a:r>
              <a:rPr lang="en-US" dirty="0" smtClean="0"/>
              <a:t>Different </a:t>
            </a:r>
            <a:r>
              <a:rPr lang="en-US" dirty="0" smtClean="0">
                <a:latin typeface="Arial"/>
                <a:cs typeface="Arial"/>
              </a:rPr>
              <a:t>R</a:t>
            </a:r>
            <a:r>
              <a:rPr lang="en-US" dirty="0" smtClean="0"/>
              <a:t> yield uncorrelated hashes</a:t>
            </a:r>
            <a:endParaRPr lang="en-US" dirty="0"/>
          </a:p>
          <a:p>
            <a:pPr eaLnBrk="1" hangingPunct="1">
              <a:lnSpc>
                <a:spcPct val="90000"/>
              </a:lnSpc>
              <a:spcAft>
                <a:spcPts val="600"/>
              </a:spcAft>
            </a:pPr>
            <a:endParaRPr lang="en-US" dirty="0" smtClean="0"/>
          </a:p>
        </p:txBody>
      </p:sp>
    </p:spTree>
    <p:extLst>
      <p:ext uri="{BB962C8B-B14F-4D97-AF65-F5344CB8AC3E}">
        <p14:creationId xmlns:p14="http://schemas.microsoft.com/office/powerpoint/2010/main" val="1072288575"/>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p:spPr>
        <p:txBody>
          <a:bodyPr/>
          <a:lstStyle/>
          <a:p>
            <a:r>
              <a:rPr lang="de-DE" smtClean="0"/>
              <a:t>Blockchain                                                                                                                   </a:t>
            </a:r>
            <a:endParaRPr lang="en-US" smtClean="0">
              <a:latin typeface="Times New Roman" charset="0"/>
            </a:endParaRPr>
          </a:p>
        </p:txBody>
      </p:sp>
      <p:sp>
        <p:nvSpPr>
          <p:cNvPr id="200707" name="Rectangle 2"/>
          <p:cNvSpPr>
            <a:spLocks noGrp="1" noChangeArrowheads="1"/>
          </p:cNvSpPr>
          <p:nvPr>
            <p:ph type="title"/>
          </p:nvPr>
        </p:nvSpPr>
        <p:spPr>
          <a:xfrm>
            <a:off x="685800" y="304800"/>
            <a:ext cx="7772400" cy="1143000"/>
          </a:xfrm>
        </p:spPr>
        <p:txBody>
          <a:bodyPr/>
          <a:lstStyle/>
          <a:p>
            <a:pPr eaLnBrk="1" hangingPunct="1"/>
            <a:r>
              <a:rPr lang="en-US" dirty="0" smtClean="0"/>
              <a:t>Hashing to Prove Work</a:t>
            </a:r>
            <a:endParaRPr lang="en-US" dirty="0"/>
          </a:p>
        </p:txBody>
      </p:sp>
      <p:sp>
        <p:nvSpPr>
          <p:cNvPr id="200708" name="Rectangle 3"/>
          <p:cNvSpPr>
            <a:spLocks noGrp="1" noChangeArrowheads="1"/>
          </p:cNvSpPr>
          <p:nvPr>
            <p:ph type="body" idx="1"/>
          </p:nvPr>
        </p:nvSpPr>
        <p:spPr>
          <a:xfrm>
            <a:off x="533400" y="1524000"/>
            <a:ext cx="8229600" cy="4572000"/>
          </a:xfrm>
        </p:spPr>
        <p:txBody>
          <a:bodyPr/>
          <a:lstStyle/>
          <a:p>
            <a:pPr eaLnBrk="1" hangingPunct="1">
              <a:lnSpc>
                <a:spcPct val="90000"/>
              </a:lnSpc>
              <a:spcAft>
                <a:spcPts val="600"/>
              </a:spcAft>
            </a:pPr>
            <a:r>
              <a:rPr lang="en-US" dirty="0" smtClean="0"/>
              <a:t>Suppose we </a:t>
            </a:r>
            <a:r>
              <a:rPr lang="en-US" dirty="0"/>
              <a:t>have a </a:t>
            </a:r>
            <a:r>
              <a:rPr lang="en-US" dirty="0" smtClean="0">
                <a:latin typeface="Arial"/>
                <a:cs typeface="Arial"/>
              </a:rPr>
              <a:t>16</a:t>
            </a:r>
            <a:r>
              <a:rPr lang="en-US" dirty="0" smtClean="0"/>
              <a:t>-bit hash function</a:t>
            </a:r>
          </a:p>
          <a:p>
            <a:pPr eaLnBrk="1" hangingPunct="1">
              <a:lnSpc>
                <a:spcPct val="90000"/>
              </a:lnSpc>
              <a:spcAft>
                <a:spcPts val="600"/>
              </a:spcAft>
            </a:pPr>
            <a:r>
              <a:rPr lang="en-US" dirty="0" smtClean="0"/>
              <a:t>For any </a:t>
            </a:r>
            <a:r>
              <a:rPr lang="en-US" dirty="0" smtClean="0">
                <a:latin typeface="Arial"/>
                <a:cs typeface="Arial"/>
              </a:rPr>
              <a:t>R</a:t>
            </a:r>
            <a:r>
              <a:rPr lang="en-US" dirty="0" smtClean="0"/>
              <a:t>, we have </a:t>
            </a:r>
            <a:r>
              <a:rPr lang="en-US" dirty="0" smtClean="0">
                <a:latin typeface="Arial"/>
                <a:cs typeface="Arial"/>
              </a:rPr>
              <a:t>0 ≤ h(R) &lt; 65,536</a:t>
            </a:r>
            <a:r>
              <a:rPr lang="en-US" dirty="0" smtClean="0"/>
              <a:t>    </a:t>
            </a:r>
          </a:p>
          <a:p>
            <a:pPr eaLnBrk="1" hangingPunct="1">
              <a:lnSpc>
                <a:spcPct val="90000"/>
              </a:lnSpc>
              <a:spcAft>
                <a:spcPts val="600"/>
              </a:spcAft>
            </a:pPr>
            <a:r>
              <a:rPr lang="en-US" dirty="0" smtClean="0"/>
              <a:t>To find</a:t>
            </a:r>
            <a:r>
              <a:rPr lang="en-US" dirty="0" smtClean="0"/>
              <a:t> </a:t>
            </a:r>
            <a:r>
              <a:rPr lang="en-US" dirty="0" smtClean="0">
                <a:latin typeface="Arial"/>
                <a:cs typeface="Arial"/>
              </a:rPr>
              <a:t>R</a:t>
            </a:r>
            <a:r>
              <a:rPr lang="en-US" dirty="0" smtClean="0"/>
              <a:t> so that </a:t>
            </a:r>
            <a:r>
              <a:rPr lang="en-US" dirty="0" smtClean="0">
                <a:latin typeface="Arial"/>
                <a:cs typeface="Arial"/>
              </a:rPr>
              <a:t>h(R) &lt; 64</a:t>
            </a:r>
            <a:r>
              <a:rPr lang="en-US" dirty="0" smtClean="0"/>
              <a:t>, </a:t>
            </a:r>
            <a:r>
              <a:rPr lang="en-US" dirty="0" smtClean="0"/>
              <a:t>how </a:t>
            </a:r>
            <a:r>
              <a:rPr lang="en-US" dirty="0" smtClean="0"/>
              <a:t>many </a:t>
            </a:r>
            <a:r>
              <a:rPr lang="en-US" dirty="0" smtClean="0">
                <a:latin typeface="Arial"/>
                <a:cs typeface="Arial"/>
              </a:rPr>
              <a:t>R</a:t>
            </a:r>
            <a:r>
              <a:rPr lang="en-US" dirty="0" smtClean="0"/>
              <a:t> values do we need to </a:t>
            </a:r>
            <a:r>
              <a:rPr lang="en-US" dirty="0" smtClean="0"/>
              <a:t>hash (on average)? </a:t>
            </a:r>
            <a:endParaRPr lang="en-US" dirty="0" smtClean="0"/>
          </a:p>
          <a:p>
            <a:pPr eaLnBrk="1" hangingPunct="1">
              <a:lnSpc>
                <a:spcPct val="90000"/>
              </a:lnSpc>
              <a:spcAft>
                <a:spcPts val="600"/>
              </a:spcAft>
            </a:pPr>
            <a:r>
              <a:rPr lang="en-US" dirty="0" smtClean="0"/>
              <a:t>Since</a:t>
            </a:r>
          </a:p>
          <a:p>
            <a:pPr marL="0" indent="0" eaLnBrk="1" hangingPunct="1">
              <a:lnSpc>
                <a:spcPct val="90000"/>
              </a:lnSpc>
              <a:spcAft>
                <a:spcPts val="600"/>
              </a:spcAft>
              <a:buNone/>
            </a:pPr>
            <a:r>
              <a:rPr lang="en-US" dirty="0" smtClean="0"/>
              <a:t>   </a:t>
            </a:r>
            <a:r>
              <a:rPr lang="en-US" sz="2800" dirty="0" smtClean="0">
                <a:latin typeface="Arial"/>
                <a:cs typeface="Arial"/>
              </a:rPr>
              <a:t>h(R) = y = (y</a:t>
            </a:r>
            <a:r>
              <a:rPr lang="en-US" sz="2800" baseline="-25000" dirty="0" smtClean="0">
                <a:latin typeface="Arial"/>
                <a:cs typeface="Arial"/>
              </a:rPr>
              <a:t>15</a:t>
            </a:r>
            <a:r>
              <a:rPr lang="en-US" sz="2800" dirty="0" smtClean="0">
                <a:latin typeface="Arial"/>
                <a:cs typeface="Arial"/>
              </a:rPr>
              <a:t>y</a:t>
            </a:r>
            <a:r>
              <a:rPr lang="en-US" sz="2800" baseline="-25000" dirty="0" smtClean="0">
                <a:latin typeface="Arial"/>
                <a:cs typeface="Arial"/>
              </a:rPr>
              <a:t>14</a:t>
            </a:r>
            <a:r>
              <a:rPr lang="en-US" sz="2800" dirty="0" smtClean="0">
                <a:latin typeface="Arial"/>
                <a:cs typeface="Arial"/>
              </a:rPr>
              <a:t>y</a:t>
            </a:r>
            <a:r>
              <a:rPr lang="en-US" sz="2800" baseline="-25000" dirty="0" smtClean="0">
                <a:latin typeface="Arial"/>
                <a:cs typeface="Arial"/>
              </a:rPr>
              <a:t>13</a:t>
            </a:r>
            <a:r>
              <a:rPr lang="en-US" sz="2800" dirty="0" smtClean="0">
                <a:latin typeface="Arial"/>
                <a:cs typeface="Arial"/>
              </a:rPr>
              <a:t>y</a:t>
            </a:r>
            <a:r>
              <a:rPr lang="en-US" sz="2800" baseline="-25000" dirty="0" smtClean="0">
                <a:latin typeface="Arial"/>
                <a:cs typeface="Arial"/>
              </a:rPr>
              <a:t>12</a:t>
            </a:r>
            <a:r>
              <a:rPr lang="en-US" sz="2800" dirty="0" smtClean="0">
                <a:latin typeface="Arial"/>
                <a:cs typeface="Arial"/>
              </a:rPr>
              <a:t>y</a:t>
            </a:r>
            <a:r>
              <a:rPr lang="en-US" sz="2800" baseline="-25000" dirty="0" smtClean="0">
                <a:latin typeface="Arial"/>
                <a:cs typeface="Arial"/>
              </a:rPr>
              <a:t>11</a:t>
            </a:r>
            <a:r>
              <a:rPr lang="en-US" sz="2800" dirty="0" smtClean="0">
                <a:latin typeface="Arial"/>
                <a:cs typeface="Arial"/>
              </a:rPr>
              <a:t>y</a:t>
            </a:r>
            <a:r>
              <a:rPr lang="en-US" sz="2800" baseline="-25000" dirty="0" smtClean="0">
                <a:latin typeface="Arial"/>
                <a:cs typeface="Arial"/>
              </a:rPr>
              <a:t>10</a:t>
            </a:r>
            <a:r>
              <a:rPr lang="en-US" sz="2800" dirty="0" smtClean="0">
                <a:latin typeface="Arial"/>
                <a:cs typeface="Arial"/>
              </a:rPr>
              <a:t>y</a:t>
            </a:r>
            <a:r>
              <a:rPr lang="en-US" sz="2800" baseline="-25000" dirty="0" smtClean="0">
                <a:latin typeface="Arial"/>
                <a:cs typeface="Arial"/>
              </a:rPr>
              <a:t>9</a:t>
            </a:r>
            <a:r>
              <a:rPr lang="en-US" sz="2800" dirty="0" smtClean="0">
                <a:latin typeface="Arial"/>
                <a:cs typeface="Arial"/>
              </a:rPr>
              <a:t>y</a:t>
            </a:r>
            <a:r>
              <a:rPr lang="en-US" sz="2800" baseline="-25000" dirty="0" smtClean="0">
                <a:latin typeface="Arial"/>
                <a:cs typeface="Arial"/>
              </a:rPr>
              <a:t>8</a:t>
            </a:r>
            <a:r>
              <a:rPr lang="en-US" sz="2800" dirty="0" smtClean="0">
                <a:latin typeface="Arial"/>
                <a:cs typeface="Arial"/>
              </a:rPr>
              <a:t>y</a:t>
            </a:r>
            <a:r>
              <a:rPr lang="en-US" sz="2800" baseline="-25000" dirty="0" smtClean="0">
                <a:latin typeface="Arial"/>
                <a:cs typeface="Arial"/>
              </a:rPr>
              <a:t>7</a:t>
            </a:r>
            <a:r>
              <a:rPr lang="en-US" sz="2800" dirty="0" smtClean="0">
                <a:latin typeface="Arial"/>
                <a:cs typeface="Arial"/>
              </a:rPr>
              <a:t>y</a:t>
            </a:r>
            <a:r>
              <a:rPr lang="en-US" sz="2800" baseline="-25000" dirty="0" smtClean="0">
                <a:latin typeface="Arial"/>
                <a:cs typeface="Arial"/>
              </a:rPr>
              <a:t>6</a:t>
            </a:r>
            <a:r>
              <a:rPr lang="en-US" sz="2800" dirty="0" smtClean="0">
                <a:latin typeface="Arial"/>
                <a:cs typeface="Arial"/>
              </a:rPr>
              <a:t>y</a:t>
            </a:r>
            <a:r>
              <a:rPr lang="en-US" sz="2800" baseline="-25000" dirty="0" smtClean="0">
                <a:latin typeface="Arial"/>
                <a:cs typeface="Arial"/>
              </a:rPr>
              <a:t>5</a:t>
            </a:r>
            <a:r>
              <a:rPr lang="en-US" sz="2800" dirty="0" smtClean="0">
                <a:latin typeface="Arial"/>
                <a:cs typeface="Arial"/>
              </a:rPr>
              <a:t>y</a:t>
            </a:r>
            <a:r>
              <a:rPr lang="en-US" sz="2800" baseline="-25000" dirty="0" smtClean="0">
                <a:latin typeface="Arial"/>
                <a:cs typeface="Arial"/>
              </a:rPr>
              <a:t>4</a:t>
            </a:r>
            <a:r>
              <a:rPr lang="en-US" sz="2800" dirty="0" smtClean="0">
                <a:latin typeface="Arial"/>
                <a:cs typeface="Arial"/>
              </a:rPr>
              <a:t>y</a:t>
            </a:r>
            <a:r>
              <a:rPr lang="en-US" sz="2800" baseline="-25000" dirty="0" smtClean="0">
                <a:latin typeface="Arial"/>
                <a:cs typeface="Arial"/>
              </a:rPr>
              <a:t>3</a:t>
            </a:r>
            <a:r>
              <a:rPr lang="en-US" sz="2800" dirty="0" smtClean="0">
                <a:latin typeface="Arial"/>
                <a:cs typeface="Arial"/>
              </a:rPr>
              <a:t>y</a:t>
            </a:r>
            <a:r>
              <a:rPr lang="en-US" sz="2800" baseline="-25000" dirty="0" smtClean="0">
                <a:latin typeface="Arial"/>
                <a:cs typeface="Arial"/>
              </a:rPr>
              <a:t>2</a:t>
            </a:r>
            <a:r>
              <a:rPr lang="en-US" sz="2800" dirty="0" smtClean="0">
                <a:latin typeface="Arial"/>
                <a:cs typeface="Arial"/>
              </a:rPr>
              <a:t>y</a:t>
            </a:r>
            <a:r>
              <a:rPr lang="en-US" sz="2800" baseline="-25000" dirty="0" smtClean="0">
                <a:latin typeface="Arial"/>
                <a:cs typeface="Arial"/>
              </a:rPr>
              <a:t>1</a:t>
            </a:r>
            <a:r>
              <a:rPr lang="en-US" sz="2800" dirty="0" smtClean="0">
                <a:latin typeface="Arial"/>
                <a:cs typeface="Arial"/>
              </a:rPr>
              <a:t>y</a:t>
            </a:r>
            <a:r>
              <a:rPr lang="en-US" sz="2800" baseline="-25000" dirty="0" smtClean="0">
                <a:latin typeface="Arial"/>
                <a:cs typeface="Arial"/>
              </a:rPr>
              <a:t>0</a:t>
            </a:r>
            <a:r>
              <a:rPr lang="en-US" sz="2800" dirty="0" smtClean="0">
                <a:latin typeface="Arial"/>
                <a:cs typeface="Arial"/>
              </a:rPr>
              <a:t>)</a:t>
            </a:r>
            <a:r>
              <a:rPr lang="en-US" dirty="0" smtClean="0"/>
              <a:t>     </a:t>
            </a:r>
          </a:p>
          <a:p>
            <a:pPr marL="0" indent="0" eaLnBrk="1" hangingPunct="1">
              <a:lnSpc>
                <a:spcPct val="90000"/>
              </a:lnSpc>
              <a:spcAft>
                <a:spcPts val="600"/>
              </a:spcAft>
              <a:buNone/>
            </a:pPr>
            <a:r>
              <a:rPr lang="en-US" dirty="0"/>
              <a:t> </a:t>
            </a:r>
            <a:r>
              <a:rPr lang="en-US" dirty="0" smtClean="0"/>
              <a:t>  we want output </a:t>
            </a:r>
            <a:r>
              <a:rPr lang="en-US" dirty="0" smtClean="0"/>
              <a:t>with </a:t>
            </a:r>
            <a:r>
              <a:rPr lang="en-US" dirty="0" smtClean="0"/>
              <a:t>10 </a:t>
            </a:r>
            <a:r>
              <a:rPr lang="en-US" dirty="0" smtClean="0"/>
              <a:t>leading </a:t>
            </a:r>
            <a:r>
              <a:rPr lang="en-US" dirty="0" smtClean="0"/>
              <a:t>0s, i.e.,</a:t>
            </a:r>
            <a:endParaRPr lang="en-US" dirty="0" smtClean="0"/>
          </a:p>
          <a:p>
            <a:pPr marL="0" indent="0" eaLnBrk="1" hangingPunct="1">
              <a:lnSpc>
                <a:spcPct val="90000"/>
              </a:lnSpc>
              <a:spcAft>
                <a:spcPts val="600"/>
              </a:spcAft>
              <a:buNone/>
            </a:pPr>
            <a:r>
              <a:rPr lang="en-US" dirty="0"/>
              <a:t> </a:t>
            </a:r>
            <a:r>
              <a:rPr lang="en-US" dirty="0" smtClean="0"/>
              <a:t>  </a:t>
            </a:r>
            <a:r>
              <a:rPr lang="en-US" sz="2800" dirty="0" smtClean="0">
                <a:latin typeface="Arial"/>
                <a:cs typeface="Arial"/>
              </a:rPr>
              <a:t>h</a:t>
            </a:r>
            <a:r>
              <a:rPr lang="en-US" sz="2800" dirty="0">
                <a:latin typeface="Arial"/>
                <a:cs typeface="Arial"/>
              </a:rPr>
              <a:t>(R) = y = </a:t>
            </a:r>
            <a:r>
              <a:rPr lang="en-US" sz="2800" dirty="0" smtClean="0">
                <a:latin typeface="Arial"/>
                <a:cs typeface="Arial"/>
              </a:rPr>
              <a:t>(0000000000y</a:t>
            </a:r>
            <a:r>
              <a:rPr lang="en-US" sz="2800" baseline="-25000" dirty="0" smtClean="0">
                <a:latin typeface="Arial"/>
                <a:cs typeface="Arial"/>
              </a:rPr>
              <a:t>5</a:t>
            </a:r>
            <a:r>
              <a:rPr lang="en-US" sz="2800" dirty="0" smtClean="0">
                <a:latin typeface="Arial"/>
                <a:cs typeface="Arial"/>
              </a:rPr>
              <a:t>y</a:t>
            </a:r>
            <a:r>
              <a:rPr lang="en-US" sz="2800" baseline="-25000" dirty="0" smtClean="0">
                <a:latin typeface="Arial"/>
                <a:cs typeface="Arial"/>
              </a:rPr>
              <a:t>4</a:t>
            </a:r>
            <a:r>
              <a:rPr lang="en-US" sz="2800" dirty="0" smtClean="0">
                <a:latin typeface="Arial"/>
                <a:cs typeface="Arial"/>
              </a:rPr>
              <a:t>y</a:t>
            </a:r>
            <a:r>
              <a:rPr lang="en-US" sz="2800" baseline="-25000" dirty="0" smtClean="0">
                <a:latin typeface="Arial"/>
                <a:cs typeface="Arial"/>
              </a:rPr>
              <a:t>3</a:t>
            </a:r>
            <a:r>
              <a:rPr lang="en-US" sz="2800" dirty="0" smtClean="0">
                <a:latin typeface="Arial"/>
                <a:cs typeface="Arial"/>
              </a:rPr>
              <a:t>y</a:t>
            </a:r>
            <a:r>
              <a:rPr lang="en-US" sz="2800" baseline="-25000" dirty="0" smtClean="0">
                <a:latin typeface="Arial"/>
                <a:cs typeface="Arial"/>
              </a:rPr>
              <a:t>2</a:t>
            </a:r>
            <a:r>
              <a:rPr lang="en-US" sz="2800" dirty="0" smtClean="0">
                <a:latin typeface="Arial"/>
                <a:cs typeface="Arial"/>
              </a:rPr>
              <a:t>y</a:t>
            </a:r>
            <a:r>
              <a:rPr lang="en-US" sz="2800" baseline="-25000" dirty="0" smtClean="0">
                <a:latin typeface="Arial"/>
                <a:cs typeface="Arial"/>
              </a:rPr>
              <a:t>1</a:t>
            </a:r>
            <a:r>
              <a:rPr lang="en-US" sz="2800" dirty="0" smtClean="0">
                <a:latin typeface="Arial"/>
                <a:cs typeface="Arial"/>
              </a:rPr>
              <a:t>y</a:t>
            </a:r>
            <a:r>
              <a:rPr lang="en-US" sz="2800" baseline="-25000" dirty="0" smtClean="0">
                <a:latin typeface="Arial"/>
                <a:cs typeface="Arial"/>
              </a:rPr>
              <a:t>0</a:t>
            </a:r>
            <a:r>
              <a:rPr lang="en-US" sz="2800" dirty="0">
                <a:latin typeface="Arial"/>
                <a:cs typeface="Arial"/>
              </a:rPr>
              <a:t>)</a:t>
            </a:r>
            <a:endParaRPr lang="en-US" sz="2800" dirty="0"/>
          </a:p>
          <a:p>
            <a:pPr eaLnBrk="1" hangingPunct="1">
              <a:lnSpc>
                <a:spcPct val="90000"/>
              </a:lnSpc>
              <a:spcAft>
                <a:spcPts val="600"/>
              </a:spcAft>
            </a:pPr>
            <a:endParaRPr lang="en-US" dirty="0"/>
          </a:p>
          <a:p>
            <a:pPr eaLnBrk="1" hangingPunct="1">
              <a:lnSpc>
                <a:spcPct val="90000"/>
              </a:lnSpc>
              <a:spcAft>
                <a:spcPts val="600"/>
              </a:spcAft>
            </a:pPr>
            <a:endParaRPr lang="en-US" dirty="0" smtClean="0"/>
          </a:p>
        </p:txBody>
      </p:sp>
    </p:spTree>
    <p:extLst>
      <p:ext uri="{BB962C8B-B14F-4D97-AF65-F5344CB8AC3E}">
        <p14:creationId xmlns:p14="http://schemas.microsoft.com/office/powerpoint/2010/main" val="38081609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r>
              <a:rPr lang="en-US" dirty="0" smtClean="0"/>
              <a:t>Work and Hashing</a:t>
            </a:r>
            <a:endParaRPr lang="en-US" dirty="0"/>
          </a:p>
        </p:txBody>
      </p:sp>
      <p:sp>
        <p:nvSpPr>
          <p:cNvPr id="3" name="Content Placeholder 2"/>
          <p:cNvSpPr>
            <a:spLocks noGrp="1"/>
          </p:cNvSpPr>
          <p:nvPr>
            <p:ph idx="1"/>
          </p:nvPr>
        </p:nvSpPr>
        <p:spPr>
          <a:xfrm>
            <a:off x="685800" y="1447800"/>
            <a:ext cx="7772400" cy="4724400"/>
          </a:xfrm>
        </p:spPr>
        <p:txBody>
          <a:bodyPr/>
          <a:lstStyle/>
          <a:p>
            <a:r>
              <a:rPr lang="en-US" sz="2800" dirty="0" smtClean="0"/>
              <a:t>For </a:t>
            </a:r>
            <a:r>
              <a:rPr lang="en-US" sz="2800" dirty="0" smtClean="0">
                <a:latin typeface="Arial"/>
                <a:cs typeface="Arial"/>
              </a:rPr>
              <a:t>16</a:t>
            </a:r>
            <a:r>
              <a:rPr lang="en-US" sz="2800" dirty="0" smtClean="0"/>
              <a:t>-bit hash, how many hashes until</a:t>
            </a:r>
          </a:p>
          <a:p>
            <a:pPr marL="457200" lvl="1" indent="0">
              <a:buNone/>
            </a:pPr>
            <a:r>
              <a:rPr lang="en-US" dirty="0">
                <a:latin typeface="Arial"/>
                <a:cs typeface="Arial"/>
              </a:rPr>
              <a:t>h(R) = y = (</a:t>
            </a:r>
            <a:r>
              <a:rPr lang="en-US" dirty="0" smtClean="0">
                <a:latin typeface="Arial"/>
                <a:cs typeface="Arial"/>
              </a:rPr>
              <a:t>0000000000y</a:t>
            </a:r>
            <a:r>
              <a:rPr lang="en-US" baseline="-25000" dirty="0">
                <a:latin typeface="Arial"/>
                <a:cs typeface="Arial"/>
              </a:rPr>
              <a:t>5</a:t>
            </a:r>
            <a:r>
              <a:rPr lang="en-US" dirty="0" smtClean="0">
                <a:latin typeface="Arial"/>
                <a:cs typeface="Arial"/>
              </a:rPr>
              <a:t>y</a:t>
            </a:r>
            <a:r>
              <a:rPr lang="en-US" baseline="-25000" dirty="0" smtClean="0">
                <a:latin typeface="Arial"/>
                <a:cs typeface="Arial"/>
              </a:rPr>
              <a:t>4</a:t>
            </a:r>
            <a:r>
              <a:rPr lang="en-US" dirty="0" smtClean="0">
                <a:latin typeface="Arial"/>
                <a:cs typeface="Arial"/>
              </a:rPr>
              <a:t>y</a:t>
            </a:r>
            <a:r>
              <a:rPr lang="en-US" baseline="-25000" dirty="0" smtClean="0">
                <a:latin typeface="Arial"/>
                <a:cs typeface="Arial"/>
              </a:rPr>
              <a:t>3</a:t>
            </a:r>
            <a:r>
              <a:rPr lang="en-US" dirty="0" smtClean="0">
                <a:latin typeface="Arial"/>
                <a:cs typeface="Arial"/>
              </a:rPr>
              <a:t>y</a:t>
            </a:r>
            <a:r>
              <a:rPr lang="en-US" baseline="-25000" dirty="0" smtClean="0">
                <a:latin typeface="Arial"/>
                <a:cs typeface="Arial"/>
              </a:rPr>
              <a:t>2</a:t>
            </a:r>
            <a:r>
              <a:rPr lang="en-US" dirty="0" smtClean="0">
                <a:latin typeface="Arial"/>
                <a:cs typeface="Arial"/>
              </a:rPr>
              <a:t>y</a:t>
            </a:r>
            <a:r>
              <a:rPr lang="en-US" baseline="-25000" dirty="0" smtClean="0">
                <a:latin typeface="Arial"/>
                <a:cs typeface="Arial"/>
              </a:rPr>
              <a:t>1</a:t>
            </a:r>
            <a:r>
              <a:rPr lang="en-US" dirty="0" smtClean="0">
                <a:latin typeface="Arial"/>
                <a:cs typeface="Arial"/>
              </a:rPr>
              <a:t>y</a:t>
            </a:r>
            <a:r>
              <a:rPr lang="en-US" baseline="-25000" dirty="0" smtClean="0">
                <a:latin typeface="Arial"/>
                <a:cs typeface="Arial"/>
              </a:rPr>
              <a:t>0</a:t>
            </a:r>
            <a:r>
              <a:rPr lang="en-US" dirty="0" smtClean="0">
                <a:latin typeface="Arial"/>
                <a:cs typeface="Arial"/>
              </a:rPr>
              <a:t>)</a:t>
            </a:r>
            <a:r>
              <a:rPr lang="en-US" dirty="0" smtClean="0">
                <a:cs typeface="Arial"/>
              </a:rPr>
              <a:t> ?</a:t>
            </a:r>
            <a:endParaRPr lang="en-US" dirty="0" smtClean="0"/>
          </a:p>
          <a:p>
            <a:r>
              <a:rPr lang="en-US" sz="2800" dirty="0" smtClean="0"/>
              <a:t>For random </a:t>
            </a:r>
            <a:r>
              <a:rPr lang="en-US" sz="2800" dirty="0">
                <a:latin typeface="Arial"/>
                <a:cs typeface="Arial"/>
              </a:rPr>
              <a:t>R</a:t>
            </a:r>
            <a:r>
              <a:rPr lang="en-US" sz="2800" dirty="0" smtClean="0"/>
              <a:t>, we have a </a:t>
            </a:r>
            <a:r>
              <a:rPr lang="en-US" sz="2800" dirty="0" smtClean="0">
                <a:latin typeface="Arial"/>
                <a:cs typeface="Arial"/>
              </a:rPr>
              <a:t>1/2</a:t>
            </a:r>
            <a:r>
              <a:rPr lang="en-US" sz="2800" dirty="0" smtClean="0"/>
              <a:t> chance that</a:t>
            </a:r>
          </a:p>
          <a:p>
            <a:pPr marL="457200" lvl="1" indent="0">
              <a:buNone/>
            </a:pPr>
            <a:r>
              <a:rPr lang="en-US" dirty="0" smtClean="0">
                <a:latin typeface="Arial"/>
                <a:cs typeface="Arial"/>
              </a:rPr>
              <a:t>y </a:t>
            </a:r>
            <a:r>
              <a:rPr lang="en-US" dirty="0">
                <a:latin typeface="Arial"/>
                <a:cs typeface="Arial"/>
              </a:rPr>
              <a:t>= </a:t>
            </a:r>
            <a:r>
              <a:rPr lang="en-US" dirty="0" smtClean="0">
                <a:latin typeface="Arial"/>
                <a:cs typeface="Arial"/>
              </a:rPr>
              <a:t>(</a:t>
            </a:r>
            <a:r>
              <a:rPr lang="en-US" dirty="0">
                <a:latin typeface="Arial"/>
                <a:cs typeface="Arial"/>
              </a:rPr>
              <a:t>0</a:t>
            </a:r>
            <a:r>
              <a:rPr lang="en-US" dirty="0" smtClean="0">
                <a:latin typeface="Arial"/>
                <a:cs typeface="Arial"/>
              </a:rPr>
              <a:t>y</a:t>
            </a:r>
            <a:r>
              <a:rPr lang="en-US" baseline="-25000" dirty="0" smtClean="0">
                <a:latin typeface="Arial"/>
                <a:cs typeface="Arial"/>
              </a:rPr>
              <a:t>14</a:t>
            </a:r>
            <a:r>
              <a:rPr lang="en-US" dirty="0" smtClean="0">
                <a:latin typeface="Arial"/>
                <a:cs typeface="Arial"/>
              </a:rPr>
              <a:t>y</a:t>
            </a:r>
            <a:r>
              <a:rPr lang="en-US" baseline="-25000" dirty="0" smtClean="0">
                <a:latin typeface="Arial"/>
                <a:cs typeface="Arial"/>
              </a:rPr>
              <a:t>13</a:t>
            </a:r>
            <a:r>
              <a:rPr lang="en-US" dirty="0" smtClean="0">
                <a:latin typeface="Arial"/>
                <a:cs typeface="Arial"/>
              </a:rPr>
              <a:t>y</a:t>
            </a:r>
            <a:r>
              <a:rPr lang="en-US" baseline="-25000" dirty="0" smtClean="0">
                <a:latin typeface="Arial"/>
                <a:cs typeface="Arial"/>
              </a:rPr>
              <a:t>12</a:t>
            </a:r>
            <a:r>
              <a:rPr lang="en-US" dirty="0" smtClean="0">
                <a:latin typeface="Arial"/>
                <a:cs typeface="Arial"/>
              </a:rPr>
              <a:t>y</a:t>
            </a:r>
            <a:r>
              <a:rPr lang="en-US" baseline="-25000" dirty="0" smtClean="0">
                <a:latin typeface="Arial"/>
                <a:cs typeface="Arial"/>
              </a:rPr>
              <a:t>11</a:t>
            </a:r>
            <a:r>
              <a:rPr lang="en-US" dirty="0" smtClean="0">
                <a:latin typeface="Arial"/>
                <a:cs typeface="Arial"/>
              </a:rPr>
              <a:t>y</a:t>
            </a:r>
            <a:r>
              <a:rPr lang="en-US" baseline="-25000" dirty="0" smtClean="0">
                <a:latin typeface="Arial"/>
                <a:cs typeface="Arial"/>
              </a:rPr>
              <a:t>10</a:t>
            </a:r>
            <a:r>
              <a:rPr lang="en-US" dirty="0" smtClean="0">
                <a:latin typeface="Arial"/>
                <a:cs typeface="Arial"/>
              </a:rPr>
              <a:t>y</a:t>
            </a:r>
            <a:r>
              <a:rPr lang="en-US" baseline="-25000" dirty="0" smtClean="0">
                <a:latin typeface="Arial"/>
                <a:cs typeface="Arial"/>
              </a:rPr>
              <a:t>9</a:t>
            </a:r>
            <a:r>
              <a:rPr lang="en-US" dirty="0" smtClean="0">
                <a:latin typeface="Arial"/>
                <a:cs typeface="Arial"/>
              </a:rPr>
              <a:t>y</a:t>
            </a:r>
            <a:r>
              <a:rPr lang="en-US" baseline="-25000" dirty="0" smtClean="0">
                <a:latin typeface="Arial"/>
                <a:cs typeface="Arial"/>
              </a:rPr>
              <a:t>8</a:t>
            </a:r>
            <a:r>
              <a:rPr lang="en-US" dirty="0" smtClean="0">
                <a:latin typeface="Arial"/>
                <a:cs typeface="Arial"/>
              </a:rPr>
              <a:t>y</a:t>
            </a:r>
            <a:r>
              <a:rPr lang="en-US" baseline="-25000" dirty="0" smtClean="0">
                <a:latin typeface="Arial"/>
                <a:cs typeface="Arial"/>
              </a:rPr>
              <a:t>7</a:t>
            </a:r>
            <a:r>
              <a:rPr lang="en-US" dirty="0" smtClean="0">
                <a:latin typeface="Arial"/>
                <a:cs typeface="Arial"/>
              </a:rPr>
              <a:t>y</a:t>
            </a:r>
            <a:r>
              <a:rPr lang="en-US" baseline="-25000" dirty="0" smtClean="0">
                <a:latin typeface="Arial"/>
                <a:cs typeface="Arial"/>
              </a:rPr>
              <a:t>6</a:t>
            </a:r>
            <a:r>
              <a:rPr lang="en-US" dirty="0" smtClean="0">
                <a:latin typeface="Arial"/>
                <a:cs typeface="Arial"/>
              </a:rPr>
              <a:t>y</a:t>
            </a:r>
            <a:r>
              <a:rPr lang="en-US" baseline="-25000" dirty="0" smtClean="0">
                <a:latin typeface="Arial"/>
                <a:cs typeface="Arial"/>
              </a:rPr>
              <a:t>5</a:t>
            </a:r>
            <a:r>
              <a:rPr lang="en-US" dirty="0" smtClean="0">
                <a:latin typeface="Arial"/>
                <a:cs typeface="Arial"/>
              </a:rPr>
              <a:t>y</a:t>
            </a:r>
            <a:r>
              <a:rPr lang="en-US" baseline="-25000" dirty="0" smtClean="0">
                <a:latin typeface="Arial"/>
                <a:cs typeface="Arial"/>
              </a:rPr>
              <a:t>4</a:t>
            </a:r>
            <a:r>
              <a:rPr lang="en-US" dirty="0" smtClean="0">
                <a:latin typeface="Arial"/>
                <a:cs typeface="Arial"/>
              </a:rPr>
              <a:t>y</a:t>
            </a:r>
            <a:r>
              <a:rPr lang="en-US" baseline="-25000" dirty="0" smtClean="0">
                <a:latin typeface="Arial"/>
                <a:cs typeface="Arial"/>
              </a:rPr>
              <a:t>3</a:t>
            </a:r>
            <a:r>
              <a:rPr lang="en-US" dirty="0" smtClean="0">
                <a:latin typeface="Arial"/>
                <a:cs typeface="Arial"/>
              </a:rPr>
              <a:t>y</a:t>
            </a:r>
            <a:r>
              <a:rPr lang="en-US" baseline="-25000" dirty="0" smtClean="0">
                <a:latin typeface="Arial"/>
                <a:cs typeface="Arial"/>
              </a:rPr>
              <a:t>2</a:t>
            </a:r>
            <a:r>
              <a:rPr lang="en-US" dirty="0" smtClean="0">
                <a:latin typeface="Arial"/>
                <a:cs typeface="Arial"/>
              </a:rPr>
              <a:t>y</a:t>
            </a:r>
            <a:r>
              <a:rPr lang="en-US" baseline="-25000" dirty="0" smtClean="0">
                <a:latin typeface="Arial"/>
                <a:cs typeface="Arial"/>
              </a:rPr>
              <a:t>1</a:t>
            </a:r>
            <a:r>
              <a:rPr lang="en-US" dirty="0" smtClean="0">
                <a:latin typeface="Arial"/>
                <a:cs typeface="Arial"/>
              </a:rPr>
              <a:t>y</a:t>
            </a:r>
            <a:r>
              <a:rPr lang="en-US" baseline="-25000" dirty="0" smtClean="0">
                <a:latin typeface="Arial"/>
                <a:cs typeface="Arial"/>
              </a:rPr>
              <a:t>0</a:t>
            </a:r>
            <a:r>
              <a:rPr lang="en-US" dirty="0">
                <a:latin typeface="Arial"/>
                <a:cs typeface="Arial"/>
              </a:rPr>
              <a:t>)</a:t>
            </a:r>
            <a:endParaRPr lang="en-US" dirty="0" smtClean="0"/>
          </a:p>
          <a:p>
            <a:r>
              <a:rPr lang="en-US" sz="2800" dirty="0"/>
              <a:t>And </a:t>
            </a:r>
            <a:r>
              <a:rPr lang="en-US" sz="2800" dirty="0">
                <a:latin typeface="Arial"/>
                <a:cs typeface="Arial"/>
              </a:rPr>
              <a:t>1/4</a:t>
            </a:r>
            <a:r>
              <a:rPr lang="en-US" sz="2800" dirty="0"/>
              <a:t> chance that</a:t>
            </a:r>
          </a:p>
          <a:p>
            <a:pPr marL="457200" lvl="1" indent="0">
              <a:buNone/>
            </a:pPr>
            <a:r>
              <a:rPr lang="en-US" dirty="0">
                <a:latin typeface="Arial"/>
                <a:cs typeface="Arial"/>
              </a:rPr>
              <a:t>y = (00y</a:t>
            </a:r>
            <a:r>
              <a:rPr lang="en-US" baseline="-25000" dirty="0">
                <a:latin typeface="Arial"/>
                <a:cs typeface="Arial"/>
              </a:rPr>
              <a:t>13</a:t>
            </a:r>
            <a:r>
              <a:rPr lang="en-US" dirty="0">
                <a:latin typeface="Arial"/>
                <a:cs typeface="Arial"/>
              </a:rPr>
              <a:t>y</a:t>
            </a:r>
            <a:r>
              <a:rPr lang="en-US" baseline="-25000" dirty="0">
                <a:latin typeface="Arial"/>
                <a:cs typeface="Arial"/>
              </a:rPr>
              <a:t>12</a:t>
            </a:r>
            <a:r>
              <a:rPr lang="en-US" dirty="0">
                <a:latin typeface="Arial"/>
                <a:cs typeface="Arial"/>
              </a:rPr>
              <a:t>y</a:t>
            </a:r>
            <a:r>
              <a:rPr lang="en-US" baseline="-25000" dirty="0">
                <a:latin typeface="Arial"/>
                <a:cs typeface="Arial"/>
              </a:rPr>
              <a:t>11</a:t>
            </a:r>
            <a:r>
              <a:rPr lang="en-US" dirty="0">
                <a:latin typeface="Arial"/>
                <a:cs typeface="Arial"/>
              </a:rPr>
              <a:t>y</a:t>
            </a:r>
            <a:r>
              <a:rPr lang="en-US" baseline="-25000" dirty="0">
                <a:latin typeface="Arial"/>
                <a:cs typeface="Arial"/>
              </a:rPr>
              <a:t>10</a:t>
            </a:r>
            <a:r>
              <a:rPr lang="en-US" dirty="0">
                <a:latin typeface="Arial"/>
                <a:cs typeface="Arial"/>
              </a:rPr>
              <a:t>y</a:t>
            </a:r>
            <a:r>
              <a:rPr lang="en-US" baseline="-25000" dirty="0">
                <a:latin typeface="Arial"/>
                <a:cs typeface="Arial"/>
              </a:rPr>
              <a:t>9</a:t>
            </a:r>
            <a:r>
              <a:rPr lang="en-US" dirty="0">
                <a:latin typeface="Arial"/>
                <a:cs typeface="Arial"/>
              </a:rPr>
              <a:t>y</a:t>
            </a:r>
            <a:r>
              <a:rPr lang="en-US" baseline="-25000" dirty="0">
                <a:latin typeface="Arial"/>
                <a:cs typeface="Arial"/>
              </a:rPr>
              <a:t>8</a:t>
            </a:r>
            <a:r>
              <a:rPr lang="en-US" dirty="0">
                <a:latin typeface="Arial"/>
                <a:cs typeface="Arial"/>
              </a:rPr>
              <a:t>y</a:t>
            </a:r>
            <a:r>
              <a:rPr lang="en-US" baseline="-25000" dirty="0">
                <a:latin typeface="Arial"/>
                <a:cs typeface="Arial"/>
              </a:rPr>
              <a:t>7</a:t>
            </a:r>
            <a:r>
              <a:rPr lang="en-US" dirty="0">
                <a:latin typeface="Arial"/>
                <a:cs typeface="Arial"/>
              </a:rPr>
              <a:t>y</a:t>
            </a:r>
            <a:r>
              <a:rPr lang="en-US" baseline="-25000" dirty="0">
                <a:latin typeface="Arial"/>
                <a:cs typeface="Arial"/>
              </a:rPr>
              <a:t>6</a:t>
            </a:r>
            <a:r>
              <a:rPr lang="en-US" dirty="0">
                <a:latin typeface="Arial"/>
                <a:cs typeface="Arial"/>
              </a:rPr>
              <a:t>y</a:t>
            </a:r>
            <a:r>
              <a:rPr lang="en-US" baseline="-25000" dirty="0">
                <a:latin typeface="Arial"/>
                <a:cs typeface="Arial"/>
              </a:rPr>
              <a:t>5</a:t>
            </a:r>
            <a:r>
              <a:rPr lang="en-US" dirty="0">
                <a:latin typeface="Arial"/>
                <a:cs typeface="Arial"/>
              </a:rPr>
              <a:t>y</a:t>
            </a:r>
            <a:r>
              <a:rPr lang="en-US" baseline="-25000" dirty="0">
                <a:latin typeface="Arial"/>
                <a:cs typeface="Arial"/>
              </a:rPr>
              <a:t>4</a:t>
            </a:r>
            <a:r>
              <a:rPr lang="en-US" dirty="0">
                <a:latin typeface="Arial"/>
                <a:cs typeface="Arial"/>
              </a:rPr>
              <a:t>y</a:t>
            </a:r>
            <a:r>
              <a:rPr lang="en-US" baseline="-25000" dirty="0">
                <a:latin typeface="Arial"/>
                <a:cs typeface="Arial"/>
              </a:rPr>
              <a:t>3</a:t>
            </a:r>
            <a:r>
              <a:rPr lang="en-US" dirty="0">
                <a:latin typeface="Arial"/>
                <a:cs typeface="Arial"/>
              </a:rPr>
              <a:t>y</a:t>
            </a:r>
            <a:r>
              <a:rPr lang="en-US" baseline="-25000" dirty="0">
                <a:latin typeface="Arial"/>
                <a:cs typeface="Arial"/>
              </a:rPr>
              <a:t>2</a:t>
            </a:r>
            <a:r>
              <a:rPr lang="en-US" dirty="0">
                <a:latin typeface="Arial"/>
                <a:cs typeface="Arial"/>
              </a:rPr>
              <a:t>y</a:t>
            </a:r>
            <a:r>
              <a:rPr lang="en-US" baseline="-25000" dirty="0">
                <a:latin typeface="Arial"/>
                <a:cs typeface="Arial"/>
              </a:rPr>
              <a:t>1</a:t>
            </a:r>
            <a:r>
              <a:rPr lang="en-US" dirty="0">
                <a:latin typeface="Arial"/>
                <a:cs typeface="Arial"/>
              </a:rPr>
              <a:t>y</a:t>
            </a:r>
            <a:r>
              <a:rPr lang="en-US" baseline="-25000" dirty="0">
                <a:latin typeface="Arial"/>
                <a:cs typeface="Arial"/>
              </a:rPr>
              <a:t>0</a:t>
            </a:r>
            <a:r>
              <a:rPr lang="en-US" dirty="0">
                <a:latin typeface="Arial"/>
                <a:cs typeface="Arial"/>
              </a:rPr>
              <a:t>)</a:t>
            </a:r>
            <a:endParaRPr lang="en-US" dirty="0"/>
          </a:p>
          <a:p>
            <a:r>
              <a:rPr lang="en-US" sz="2800" dirty="0"/>
              <a:t>And </a:t>
            </a:r>
            <a:r>
              <a:rPr lang="en-US" sz="2800" dirty="0">
                <a:latin typeface="Arial"/>
                <a:cs typeface="Arial"/>
              </a:rPr>
              <a:t>1/8</a:t>
            </a:r>
            <a:r>
              <a:rPr lang="en-US" sz="2800" dirty="0"/>
              <a:t> chance that</a:t>
            </a:r>
          </a:p>
          <a:p>
            <a:pPr marL="457200" lvl="1" indent="0">
              <a:buNone/>
            </a:pPr>
            <a:r>
              <a:rPr lang="en-US" dirty="0">
                <a:latin typeface="Arial"/>
                <a:cs typeface="Arial"/>
              </a:rPr>
              <a:t>y = (000y</a:t>
            </a:r>
            <a:r>
              <a:rPr lang="en-US" baseline="-25000" dirty="0">
                <a:latin typeface="Arial"/>
                <a:cs typeface="Arial"/>
              </a:rPr>
              <a:t>12</a:t>
            </a:r>
            <a:r>
              <a:rPr lang="en-US" dirty="0">
                <a:latin typeface="Arial"/>
                <a:cs typeface="Arial"/>
              </a:rPr>
              <a:t>y</a:t>
            </a:r>
            <a:r>
              <a:rPr lang="en-US" baseline="-25000" dirty="0">
                <a:latin typeface="Arial"/>
                <a:cs typeface="Arial"/>
              </a:rPr>
              <a:t>11</a:t>
            </a:r>
            <a:r>
              <a:rPr lang="en-US" dirty="0">
                <a:latin typeface="Arial"/>
                <a:cs typeface="Arial"/>
              </a:rPr>
              <a:t>y</a:t>
            </a:r>
            <a:r>
              <a:rPr lang="en-US" baseline="-25000" dirty="0">
                <a:latin typeface="Arial"/>
                <a:cs typeface="Arial"/>
              </a:rPr>
              <a:t>10</a:t>
            </a:r>
            <a:r>
              <a:rPr lang="en-US" dirty="0">
                <a:latin typeface="Arial"/>
                <a:cs typeface="Arial"/>
              </a:rPr>
              <a:t>y</a:t>
            </a:r>
            <a:r>
              <a:rPr lang="en-US" baseline="-25000" dirty="0">
                <a:latin typeface="Arial"/>
                <a:cs typeface="Arial"/>
              </a:rPr>
              <a:t>9</a:t>
            </a:r>
            <a:r>
              <a:rPr lang="en-US" dirty="0">
                <a:latin typeface="Arial"/>
                <a:cs typeface="Arial"/>
              </a:rPr>
              <a:t>y</a:t>
            </a:r>
            <a:r>
              <a:rPr lang="en-US" baseline="-25000" dirty="0">
                <a:latin typeface="Arial"/>
                <a:cs typeface="Arial"/>
              </a:rPr>
              <a:t>8</a:t>
            </a:r>
            <a:r>
              <a:rPr lang="en-US" dirty="0">
                <a:latin typeface="Arial"/>
                <a:cs typeface="Arial"/>
              </a:rPr>
              <a:t>y</a:t>
            </a:r>
            <a:r>
              <a:rPr lang="en-US" baseline="-25000" dirty="0">
                <a:latin typeface="Arial"/>
                <a:cs typeface="Arial"/>
              </a:rPr>
              <a:t>7</a:t>
            </a:r>
            <a:r>
              <a:rPr lang="en-US" dirty="0">
                <a:latin typeface="Arial"/>
                <a:cs typeface="Arial"/>
              </a:rPr>
              <a:t>y</a:t>
            </a:r>
            <a:r>
              <a:rPr lang="en-US" baseline="-25000" dirty="0">
                <a:latin typeface="Arial"/>
                <a:cs typeface="Arial"/>
              </a:rPr>
              <a:t>6</a:t>
            </a:r>
            <a:r>
              <a:rPr lang="en-US" dirty="0">
                <a:latin typeface="Arial"/>
                <a:cs typeface="Arial"/>
              </a:rPr>
              <a:t>y</a:t>
            </a:r>
            <a:r>
              <a:rPr lang="en-US" baseline="-25000" dirty="0">
                <a:latin typeface="Arial"/>
                <a:cs typeface="Arial"/>
              </a:rPr>
              <a:t>5</a:t>
            </a:r>
            <a:r>
              <a:rPr lang="en-US" dirty="0">
                <a:latin typeface="Arial"/>
                <a:cs typeface="Arial"/>
              </a:rPr>
              <a:t>y</a:t>
            </a:r>
            <a:r>
              <a:rPr lang="en-US" baseline="-25000" dirty="0">
                <a:latin typeface="Arial"/>
                <a:cs typeface="Arial"/>
              </a:rPr>
              <a:t>4</a:t>
            </a:r>
            <a:r>
              <a:rPr lang="en-US" dirty="0">
                <a:latin typeface="Arial"/>
                <a:cs typeface="Arial"/>
              </a:rPr>
              <a:t>y</a:t>
            </a:r>
            <a:r>
              <a:rPr lang="en-US" baseline="-25000" dirty="0">
                <a:latin typeface="Arial"/>
                <a:cs typeface="Arial"/>
              </a:rPr>
              <a:t>3</a:t>
            </a:r>
            <a:r>
              <a:rPr lang="en-US" dirty="0">
                <a:latin typeface="Arial"/>
                <a:cs typeface="Arial"/>
              </a:rPr>
              <a:t>y</a:t>
            </a:r>
            <a:r>
              <a:rPr lang="en-US" baseline="-25000" dirty="0">
                <a:latin typeface="Arial"/>
                <a:cs typeface="Arial"/>
              </a:rPr>
              <a:t>2</a:t>
            </a:r>
            <a:r>
              <a:rPr lang="en-US" dirty="0">
                <a:latin typeface="Arial"/>
                <a:cs typeface="Arial"/>
              </a:rPr>
              <a:t>y</a:t>
            </a:r>
            <a:r>
              <a:rPr lang="en-US" baseline="-25000" dirty="0">
                <a:latin typeface="Arial"/>
                <a:cs typeface="Arial"/>
              </a:rPr>
              <a:t>1</a:t>
            </a:r>
            <a:r>
              <a:rPr lang="en-US" dirty="0">
                <a:latin typeface="Arial"/>
                <a:cs typeface="Arial"/>
              </a:rPr>
              <a:t>y</a:t>
            </a:r>
            <a:r>
              <a:rPr lang="en-US" baseline="-25000" dirty="0">
                <a:latin typeface="Arial"/>
                <a:cs typeface="Arial"/>
              </a:rPr>
              <a:t>0</a:t>
            </a:r>
            <a:r>
              <a:rPr lang="en-US" dirty="0">
                <a:latin typeface="Arial"/>
                <a:cs typeface="Arial"/>
              </a:rPr>
              <a:t>)</a:t>
            </a:r>
            <a:endParaRPr lang="en-US" dirty="0"/>
          </a:p>
          <a:p>
            <a:r>
              <a:rPr lang="en-US" sz="2800" dirty="0"/>
              <a:t>And </a:t>
            </a:r>
            <a:r>
              <a:rPr lang="en-US" sz="2800" dirty="0" smtClean="0"/>
              <a:t>so on</a:t>
            </a:r>
            <a:r>
              <a:rPr lang="is-IS" sz="2800" dirty="0" smtClean="0"/>
              <a:t>…</a:t>
            </a:r>
            <a:endParaRPr lang="en-US" sz="2800" dirty="0"/>
          </a:p>
          <a:p>
            <a:pPr marL="0" indent="0">
              <a:buNone/>
            </a:pP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dirty="0">
              <a:latin typeface="Times New Roman" charset="0"/>
            </a:endParaRPr>
          </a:p>
        </p:txBody>
      </p:sp>
    </p:spTree>
    <p:extLst>
      <p:ext uri="{BB962C8B-B14F-4D97-AF65-F5344CB8AC3E}">
        <p14:creationId xmlns:p14="http://schemas.microsoft.com/office/powerpoint/2010/main" val="297224302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and Hashing</a:t>
            </a:r>
            <a:endParaRPr lang="en-US" dirty="0"/>
          </a:p>
        </p:txBody>
      </p:sp>
      <p:sp>
        <p:nvSpPr>
          <p:cNvPr id="3" name="Content Placeholder 2"/>
          <p:cNvSpPr>
            <a:spLocks noGrp="1"/>
          </p:cNvSpPr>
          <p:nvPr>
            <p:ph idx="1"/>
          </p:nvPr>
        </p:nvSpPr>
        <p:spPr>
          <a:xfrm>
            <a:off x="533400" y="1828800"/>
            <a:ext cx="8229600" cy="4191000"/>
          </a:xfrm>
        </p:spPr>
        <p:txBody>
          <a:bodyPr/>
          <a:lstStyle/>
          <a:p>
            <a:r>
              <a:rPr lang="en-US" dirty="0" smtClean="0"/>
              <a:t>For </a:t>
            </a:r>
            <a:r>
              <a:rPr lang="en-US" dirty="0" smtClean="0">
                <a:latin typeface="Arial"/>
                <a:cs typeface="Arial"/>
              </a:rPr>
              <a:t>16</a:t>
            </a:r>
            <a:r>
              <a:rPr lang="en-US" dirty="0" smtClean="0"/>
              <a:t>-bit hash, if someone gives us an </a:t>
            </a:r>
            <a:r>
              <a:rPr lang="en-US" dirty="0" smtClean="0">
                <a:latin typeface="Arial"/>
                <a:cs typeface="Arial"/>
              </a:rPr>
              <a:t>R</a:t>
            </a:r>
            <a:r>
              <a:rPr lang="en-US" dirty="0" smtClean="0"/>
              <a:t> such that </a:t>
            </a:r>
            <a:r>
              <a:rPr lang="en-US" dirty="0" smtClean="0">
                <a:latin typeface="Arial"/>
                <a:cs typeface="Arial"/>
              </a:rPr>
              <a:t>h(R) &lt; 64</a:t>
            </a:r>
            <a:r>
              <a:rPr lang="en-US" dirty="0" smtClean="0"/>
              <a:t> </a:t>
            </a:r>
            <a:r>
              <a:rPr lang="is-IS" dirty="0"/>
              <a:t> </a:t>
            </a:r>
            <a:r>
              <a:rPr lang="is-IS" dirty="0" smtClean="0"/>
              <a:t>  </a:t>
            </a:r>
            <a:endParaRPr lang="en-US" dirty="0" smtClean="0"/>
          </a:p>
          <a:p>
            <a:pPr lvl="1"/>
            <a:r>
              <a:rPr lang="is-IS" dirty="0" smtClean="0"/>
              <a:t>T</a:t>
            </a:r>
            <a:r>
              <a:rPr lang="en-US" dirty="0" smtClean="0"/>
              <a:t>h</a:t>
            </a:r>
            <a:r>
              <a:rPr lang="is-IS" dirty="0" smtClean="0"/>
              <a:t>en </a:t>
            </a:r>
            <a:r>
              <a:rPr lang="en-US" dirty="0" smtClean="0"/>
              <a:t>expected number of hashes computed is </a:t>
            </a:r>
            <a:r>
              <a:rPr lang="en-US" dirty="0" smtClean="0">
                <a:latin typeface="Arial"/>
                <a:cs typeface="Arial"/>
              </a:rPr>
              <a:t>2</a:t>
            </a:r>
            <a:r>
              <a:rPr lang="en-US" baseline="30000" dirty="0" smtClean="0">
                <a:latin typeface="Arial"/>
                <a:cs typeface="Arial"/>
              </a:rPr>
              <a:t>10</a:t>
            </a:r>
            <a:r>
              <a:rPr lang="en-US" dirty="0" smtClean="0"/>
              <a:t> (“expected” means </a:t>
            </a:r>
            <a:r>
              <a:rPr lang="en-US" dirty="0" smtClean="0"/>
              <a:t>“average case”)</a:t>
            </a:r>
            <a:endParaRPr lang="en-US" dirty="0" smtClean="0"/>
          </a:p>
          <a:p>
            <a:pPr lvl="1"/>
            <a:r>
              <a:rPr lang="en-US" dirty="0" smtClean="0"/>
              <a:t>That is, they have done </a:t>
            </a:r>
            <a:r>
              <a:rPr lang="en-US" dirty="0" smtClean="0">
                <a:latin typeface="Arial"/>
                <a:cs typeface="Arial"/>
              </a:rPr>
              <a:t>1,000</a:t>
            </a:r>
            <a:r>
              <a:rPr lang="en-US" dirty="0" smtClean="0"/>
              <a:t> units of work</a:t>
            </a:r>
          </a:p>
          <a:p>
            <a:r>
              <a:rPr lang="en-US" dirty="0" smtClean="0"/>
              <a:t>We use hashing to show work was done</a:t>
            </a:r>
          </a:p>
          <a:p>
            <a:r>
              <a:rPr lang="en-US" dirty="0" smtClean="0"/>
              <a:t>Why this obsession with work?</a:t>
            </a:r>
          </a:p>
          <a:p>
            <a:pPr lvl="1"/>
            <a:r>
              <a:rPr lang="en-US" dirty="0" smtClean="0"/>
              <a:t>This </a:t>
            </a:r>
            <a:r>
              <a:rPr lang="en-US" dirty="0" smtClean="0"/>
              <a:t>should</a:t>
            </a:r>
            <a:r>
              <a:rPr lang="en-US" dirty="0" smtClean="0"/>
              <a:t> </a:t>
            </a:r>
            <a:r>
              <a:rPr lang="en-US" dirty="0" smtClean="0"/>
              <a:t>become clear </a:t>
            </a:r>
            <a:r>
              <a:rPr lang="en-US" dirty="0" smtClean="0"/>
              <a:t>later</a:t>
            </a:r>
            <a:r>
              <a:rPr lang="is-IS" dirty="0" smtClean="0"/>
              <a:t>…</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4248711043"/>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and Hashing</a:t>
            </a:r>
            <a:endParaRPr lang="en-US" dirty="0"/>
          </a:p>
        </p:txBody>
      </p:sp>
      <p:sp>
        <p:nvSpPr>
          <p:cNvPr id="3" name="Content Placeholder 2"/>
          <p:cNvSpPr>
            <a:spLocks noGrp="1"/>
          </p:cNvSpPr>
          <p:nvPr>
            <p:ph idx="1"/>
          </p:nvPr>
        </p:nvSpPr>
        <p:spPr/>
        <p:txBody>
          <a:bodyPr/>
          <a:lstStyle/>
          <a:p>
            <a:r>
              <a:rPr lang="en-US" dirty="0"/>
              <a:t>W</a:t>
            </a:r>
            <a:r>
              <a:rPr lang="en-US" dirty="0" smtClean="0"/>
              <a:t>e can adjust parameter so more (or less) work is required</a:t>
            </a:r>
          </a:p>
          <a:p>
            <a:pPr lvl="1"/>
            <a:r>
              <a:rPr lang="en-US" dirty="0" smtClean="0"/>
              <a:t>For </a:t>
            </a:r>
            <a:r>
              <a:rPr lang="en-US" dirty="0" smtClean="0">
                <a:latin typeface="Arial"/>
                <a:cs typeface="Arial"/>
              </a:rPr>
              <a:t>N</a:t>
            </a:r>
            <a:r>
              <a:rPr lang="en-US" dirty="0" smtClean="0"/>
              <a:t>-bit hash, if we require </a:t>
            </a:r>
            <a:r>
              <a:rPr lang="en-US" dirty="0" smtClean="0">
                <a:latin typeface="Arial"/>
                <a:cs typeface="Arial"/>
              </a:rPr>
              <a:t>h(R) &lt; 2</a:t>
            </a:r>
            <a:r>
              <a:rPr lang="en-US" baseline="30000" dirty="0" smtClean="0">
                <a:latin typeface="Arial"/>
                <a:cs typeface="Arial"/>
              </a:rPr>
              <a:t>n</a:t>
            </a:r>
            <a:r>
              <a:rPr lang="en-US" dirty="0" smtClean="0"/>
              <a:t> then expected work is </a:t>
            </a:r>
            <a:r>
              <a:rPr lang="en-US" dirty="0" smtClean="0">
                <a:latin typeface="Arial"/>
                <a:cs typeface="Arial"/>
              </a:rPr>
              <a:t>2</a:t>
            </a:r>
            <a:r>
              <a:rPr lang="en-US" baseline="30000" dirty="0" smtClean="0">
                <a:latin typeface="Arial"/>
                <a:cs typeface="Arial"/>
              </a:rPr>
              <a:t>N-n</a:t>
            </a:r>
            <a:r>
              <a:rPr lang="en-US" dirty="0" smtClean="0"/>
              <a:t> hashes</a:t>
            </a:r>
            <a:endParaRPr lang="en-US" dirty="0"/>
          </a:p>
          <a:p>
            <a:r>
              <a:rPr lang="is-IS" b="1" i="1" dirty="0" smtClean="0"/>
              <a:t>Note</a:t>
            </a:r>
            <a:r>
              <a:rPr lang="is-IS" dirty="0" smtClean="0"/>
              <a:t>: We can easily verify that the expected amount of work was done</a:t>
            </a:r>
          </a:p>
          <a:p>
            <a:pPr lvl="1"/>
            <a:r>
              <a:rPr lang="is-IS" dirty="0" smtClean="0"/>
              <a:t>Only requires a single hash...</a:t>
            </a:r>
          </a:p>
          <a:p>
            <a:pPr lvl="1"/>
            <a:r>
              <a:rPr lang="is-IS" dirty="0" smtClean="0"/>
              <a:t>...no matter how much work to find </a:t>
            </a:r>
            <a:r>
              <a:rPr lang="en-US" dirty="0">
                <a:latin typeface="Arial"/>
                <a:cs typeface="Arial"/>
              </a:rPr>
              <a:t>R</a:t>
            </a:r>
            <a:r>
              <a:rPr lang="is-IS" dirty="0" smtClean="0"/>
              <a:t> </a:t>
            </a:r>
            <a:endParaRPr lang="is-IS" dirty="0"/>
          </a:p>
          <a:p>
            <a:pPr lvl="1"/>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19258778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Preliminaries: Ledgers</a:t>
            </a:r>
            <a:endParaRPr lang="en-US" dirty="0"/>
          </a:p>
        </p:txBody>
      </p:sp>
      <p:sp>
        <p:nvSpPr>
          <p:cNvPr id="3" name="Content Placeholder 2"/>
          <p:cNvSpPr>
            <a:spLocks noGrp="1"/>
          </p:cNvSpPr>
          <p:nvPr>
            <p:ph idx="1"/>
          </p:nvPr>
        </p:nvSpPr>
        <p:spPr>
          <a:xfrm>
            <a:off x="533400" y="1828800"/>
            <a:ext cx="8229600" cy="4191000"/>
          </a:xfrm>
        </p:spPr>
        <p:txBody>
          <a:bodyPr/>
          <a:lstStyle/>
          <a:p>
            <a:r>
              <a:rPr lang="en-US" b="1" i="1" dirty="0" smtClean="0"/>
              <a:t>Ledger</a:t>
            </a:r>
            <a:r>
              <a:rPr lang="en-US" dirty="0" smtClean="0"/>
              <a:t> is a book of financial accounts</a:t>
            </a:r>
          </a:p>
          <a:p>
            <a:r>
              <a:rPr lang="en-US" dirty="0" smtClean="0"/>
              <a:t>Suppose Alice, Bob, Charlie, Trudy play a weekly poker game online</a:t>
            </a:r>
          </a:p>
          <a:p>
            <a:r>
              <a:rPr lang="en-US" dirty="0" smtClean="0"/>
              <a:t>They all insert ledger entries such as, </a:t>
            </a:r>
          </a:p>
          <a:p>
            <a:pPr marL="457200" lvl="1" indent="0">
              <a:buNone/>
            </a:pPr>
            <a:r>
              <a:rPr lang="en-US" dirty="0" smtClean="0"/>
              <a:t>“Bob owes Alice $10”, “Charlie owes Trudy $30”, “Trudy owes Alice $25”, and so on </a:t>
            </a:r>
            <a:endParaRPr lang="is-IS" dirty="0" smtClean="0"/>
          </a:p>
          <a:p>
            <a:r>
              <a:rPr lang="is-IS" dirty="0" smtClean="0"/>
              <a:t>Once a month, they meet and settle up</a:t>
            </a:r>
          </a:p>
          <a:p>
            <a:r>
              <a:rPr lang="is-IS" dirty="0" smtClean="0"/>
              <a:t>Any possible problems here?</a:t>
            </a:r>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26805269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Signed Ledger Entries</a:t>
            </a:r>
            <a:endParaRPr lang="en-US" dirty="0"/>
          </a:p>
        </p:txBody>
      </p:sp>
      <p:sp>
        <p:nvSpPr>
          <p:cNvPr id="3" name="Content Placeholder 2"/>
          <p:cNvSpPr>
            <a:spLocks noGrp="1"/>
          </p:cNvSpPr>
          <p:nvPr>
            <p:ph idx="1"/>
          </p:nvPr>
        </p:nvSpPr>
        <p:spPr/>
        <p:txBody>
          <a:bodyPr/>
          <a:lstStyle/>
          <a:p>
            <a:r>
              <a:rPr lang="en-US" dirty="0" smtClean="0"/>
              <a:t>How to prevent Trudy from inserting, say, “Bob owes Trudy $1M” ?</a:t>
            </a:r>
          </a:p>
          <a:p>
            <a:r>
              <a:rPr lang="en-US" dirty="0"/>
              <a:t>L</a:t>
            </a:r>
            <a:r>
              <a:rPr lang="en-US" dirty="0" smtClean="0"/>
              <a:t>et’s require </a:t>
            </a:r>
            <a:r>
              <a:rPr lang="en-US" b="1" dirty="0" smtClean="0"/>
              <a:t>digital </a:t>
            </a:r>
            <a:r>
              <a:rPr lang="en-US" b="1" i="1" dirty="0" smtClean="0"/>
              <a:t>signatures</a:t>
            </a:r>
            <a:r>
              <a:rPr lang="en-US" dirty="0" smtClean="0"/>
              <a:t>   </a:t>
            </a:r>
          </a:p>
          <a:p>
            <a:pPr lvl="1"/>
            <a:r>
              <a:rPr lang="en-US" dirty="0" smtClean="0"/>
              <a:t>For </a:t>
            </a:r>
            <a:r>
              <a:rPr lang="en-US" dirty="0"/>
              <a:t>ledger entry to be </a:t>
            </a:r>
            <a:r>
              <a:rPr lang="en-US" dirty="0" smtClean="0"/>
              <a:t>valid, Bob must sign “</a:t>
            </a:r>
            <a:r>
              <a:rPr lang="en-US" dirty="0"/>
              <a:t>Bob owes Alice $</a:t>
            </a:r>
            <a:r>
              <a:rPr lang="en-US" dirty="0" smtClean="0"/>
              <a:t>10”, Trudy must sign “</a:t>
            </a:r>
            <a:r>
              <a:rPr lang="en-US" dirty="0"/>
              <a:t>Trudy owes Alice $25</a:t>
            </a:r>
            <a:r>
              <a:rPr lang="en-US" dirty="0" smtClean="0"/>
              <a:t>”, and so on </a:t>
            </a:r>
            <a:r>
              <a:rPr lang="is-IS" dirty="0" smtClean="0"/>
              <a:t>…</a:t>
            </a:r>
            <a:endParaRPr lang="en-US" dirty="0" smtClean="0"/>
          </a:p>
          <a:p>
            <a:r>
              <a:rPr lang="en-US" dirty="0" smtClean="0"/>
              <a:t>Then we know ledger entries are valid</a:t>
            </a:r>
          </a:p>
          <a:p>
            <a:pPr lvl="1"/>
            <a:r>
              <a:rPr lang="en-US" dirty="0" smtClean="0"/>
              <a:t>That is, the payer agrees to pay</a:t>
            </a:r>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472478050"/>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Signed Ledger</a:t>
            </a:r>
            <a:endParaRPr lang="en-US" dirty="0"/>
          </a:p>
        </p:txBody>
      </p:sp>
      <p:sp>
        <p:nvSpPr>
          <p:cNvPr id="3" name="Content Placeholder 2"/>
          <p:cNvSpPr>
            <a:spLocks noGrp="1"/>
          </p:cNvSpPr>
          <p:nvPr>
            <p:ph idx="1"/>
          </p:nvPr>
        </p:nvSpPr>
        <p:spPr/>
        <p:txBody>
          <a:bodyPr/>
          <a:lstStyle/>
          <a:p>
            <a:r>
              <a:rPr lang="en-US" dirty="0" smtClean="0"/>
              <a:t>Ledger now looks like</a:t>
            </a:r>
          </a:p>
          <a:p>
            <a:pPr lvl="1"/>
            <a:r>
              <a:rPr lang="en-US" dirty="0" smtClean="0"/>
              <a:t>[Bob </a:t>
            </a:r>
            <a:r>
              <a:rPr lang="en-US" dirty="0"/>
              <a:t>owes Alice $</a:t>
            </a:r>
            <a:r>
              <a:rPr lang="en-US" dirty="0" smtClean="0"/>
              <a:t>10]</a:t>
            </a:r>
            <a:r>
              <a:rPr lang="en-US" baseline="-25000" dirty="0" smtClean="0"/>
              <a:t>Bob</a:t>
            </a:r>
            <a:r>
              <a:rPr lang="en-US" dirty="0" smtClean="0"/>
              <a:t>     </a:t>
            </a:r>
          </a:p>
          <a:p>
            <a:pPr lvl="1"/>
            <a:r>
              <a:rPr lang="en-US" dirty="0" smtClean="0"/>
              <a:t>[Charlie </a:t>
            </a:r>
            <a:r>
              <a:rPr lang="en-US" dirty="0"/>
              <a:t>owes </a:t>
            </a:r>
            <a:r>
              <a:rPr lang="en-US" dirty="0" smtClean="0"/>
              <a:t>Trudy </a:t>
            </a:r>
            <a:r>
              <a:rPr lang="en-US" dirty="0"/>
              <a:t>$</a:t>
            </a:r>
            <a:r>
              <a:rPr lang="en-US" dirty="0" smtClean="0"/>
              <a:t>30]</a:t>
            </a:r>
            <a:r>
              <a:rPr lang="en-US" baseline="-25000" dirty="0" smtClean="0"/>
              <a:t>Charlie</a:t>
            </a:r>
            <a:r>
              <a:rPr lang="en-US" dirty="0" smtClean="0"/>
              <a:t>     </a:t>
            </a:r>
          </a:p>
          <a:p>
            <a:pPr lvl="1"/>
            <a:r>
              <a:rPr lang="en-US" dirty="0" smtClean="0"/>
              <a:t>[Trudy </a:t>
            </a:r>
            <a:r>
              <a:rPr lang="en-US" dirty="0"/>
              <a:t>owes Alice $</a:t>
            </a:r>
            <a:r>
              <a:rPr lang="en-US" dirty="0" smtClean="0"/>
              <a:t>25]</a:t>
            </a:r>
            <a:r>
              <a:rPr lang="en-US" baseline="-25000" dirty="0" smtClean="0"/>
              <a:t>Trudy</a:t>
            </a:r>
            <a:r>
              <a:rPr lang="en-US" dirty="0" smtClean="0"/>
              <a:t>     </a:t>
            </a:r>
            <a:endParaRPr lang="en-US" dirty="0"/>
          </a:p>
          <a:p>
            <a:pPr lvl="1"/>
            <a:r>
              <a:rPr lang="en-US" dirty="0" smtClean="0"/>
              <a:t>and so on </a:t>
            </a:r>
            <a:r>
              <a:rPr lang="is-IS" dirty="0" smtClean="0"/>
              <a:t>…</a:t>
            </a:r>
            <a:endParaRPr lang="en-US" dirty="0" smtClean="0"/>
          </a:p>
          <a:p>
            <a:r>
              <a:rPr lang="en-US" dirty="0" smtClean="0"/>
              <a:t>And we know ledger entries are valid</a:t>
            </a:r>
          </a:p>
          <a:p>
            <a:r>
              <a:rPr lang="en-US" dirty="0" smtClean="0"/>
              <a:t>But, still some problems here</a:t>
            </a:r>
            <a:r>
              <a:rPr lang="is-IS" dirty="0" smtClean="0"/>
              <a:t>…</a:t>
            </a:r>
            <a:endParaRPr lang="en-US" dirty="0" smtClean="0"/>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63779048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Signed Ledger in Detail</a:t>
            </a:r>
            <a:endParaRPr lang="en-US" dirty="0"/>
          </a:p>
        </p:txBody>
      </p:sp>
      <p:sp>
        <p:nvSpPr>
          <p:cNvPr id="3" name="Content Placeholder 2"/>
          <p:cNvSpPr>
            <a:spLocks noGrp="1"/>
          </p:cNvSpPr>
          <p:nvPr>
            <p:ph idx="1"/>
          </p:nvPr>
        </p:nvSpPr>
        <p:spPr>
          <a:xfrm>
            <a:off x="457200" y="1828800"/>
            <a:ext cx="8229600" cy="3962400"/>
          </a:xfrm>
        </p:spPr>
        <p:txBody>
          <a:bodyPr/>
          <a:lstStyle/>
          <a:p>
            <a:r>
              <a:rPr lang="en-US" dirty="0" smtClean="0"/>
              <a:t>As an aside, note that signatures on previous slide really look like</a:t>
            </a:r>
          </a:p>
          <a:p>
            <a:pPr lvl="1"/>
            <a:r>
              <a:rPr lang="en-US" sz="2400" dirty="0" smtClean="0">
                <a:latin typeface="Arial"/>
                <a:cs typeface="Arial"/>
              </a:rPr>
              <a:t>(M</a:t>
            </a:r>
            <a:r>
              <a:rPr lang="en-US" sz="2400" baseline="-25000" dirty="0" smtClean="0">
                <a:latin typeface="Arial"/>
                <a:cs typeface="Arial"/>
              </a:rPr>
              <a:t>1</a:t>
            </a:r>
            <a:r>
              <a:rPr lang="en-US" sz="2400" dirty="0" smtClean="0">
                <a:latin typeface="Arial"/>
                <a:cs typeface="Arial"/>
              </a:rPr>
              <a:t>,[h(M</a:t>
            </a:r>
            <a:r>
              <a:rPr lang="en-US" sz="2400" baseline="-25000" dirty="0" smtClean="0">
                <a:latin typeface="Arial"/>
                <a:cs typeface="Arial"/>
              </a:rPr>
              <a:t>1</a:t>
            </a:r>
            <a:r>
              <a:rPr lang="en-US" sz="2400" dirty="0" smtClean="0">
                <a:latin typeface="Arial"/>
                <a:cs typeface="Arial"/>
              </a:rPr>
              <a:t>)]</a:t>
            </a:r>
            <a:r>
              <a:rPr lang="en-US" sz="2400" baseline="-25000" dirty="0" smtClean="0">
                <a:latin typeface="Arial"/>
                <a:cs typeface="Arial"/>
              </a:rPr>
              <a:t>Bob</a:t>
            </a:r>
            <a:r>
              <a:rPr lang="en-US" sz="2400" dirty="0" smtClean="0">
                <a:latin typeface="Arial"/>
                <a:cs typeface="Arial"/>
              </a:rPr>
              <a:t>)</a:t>
            </a:r>
            <a:r>
              <a:rPr lang="en-US" sz="2400" dirty="0" smtClean="0"/>
              <a:t>, where </a:t>
            </a:r>
            <a:r>
              <a:rPr lang="en-US" sz="2400" dirty="0" smtClean="0">
                <a:latin typeface="Arial"/>
                <a:cs typeface="Arial"/>
              </a:rPr>
              <a:t>M</a:t>
            </a:r>
            <a:r>
              <a:rPr lang="en-US" sz="2400" baseline="-25000" dirty="0" smtClean="0">
                <a:latin typeface="Arial"/>
                <a:cs typeface="Arial"/>
              </a:rPr>
              <a:t>1</a:t>
            </a:r>
            <a:r>
              <a:rPr lang="en-US" sz="2400" dirty="0" smtClean="0">
                <a:latin typeface="Arial"/>
                <a:cs typeface="Arial"/>
              </a:rPr>
              <a:t>=“Bob </a:t>
            </a:r>
            <a:r>
              <a:rPr lang="en-US" sz="2400" dirty="0">
                <a:latin typeface="Arial"/>
                <a:cs typeface="Arial"/>
              </a:rPr>
              <a:t>owes Alice $</a:t>
            </a:r>
            <a:r>
              <a:rPr lang="en-US" sz="2400" dirty="0" smtClean="0">
                <a:latin typeface="Arial"/>
                <a:cs typeface="Arial"/>
              </a:rPr>
              <a:t>10”       </a:t>
            </a:r>
          </a:p>
          <a:p>
            <a:pPr lvl="1"/>
            <a:r>
              <a:rPr lang="en-US" sz="2400" dirty="0">
                <a:latin typeface="Arial"/>
                <a:cs typeface="Arial"/>
              </a:rPr>
              <a:t>(</a:t>
            </a:r>
            <a:r>
              <a:rPr lang="en-US" sz="2400" dirty="0" smtClean="0">
                <a:latin typeface="Arial"/>
                <a:cs typeface="Arial"/>
              </a:rPr>
              <a:t>M</a:t>
            </a:r>
            <a:r>
              <a:rPr lang="en-US" sz="2400" baseline="-25000" dirty="0" smtClean="0">
                <a:latin typeface="Arial"/>
                <a:cs typeface="Arial"/>
              </a:rPr>
              <a:t>2</a:t>
            </a:r>
            <a:r>
              <a:rPr lang="en-US" sz="2400" dirty="0" smtClean="0">
                <a:latin typeface="Arial"/>
                <a:cs typeface="Arial"/>
              </a:rPr>
              <a:t>,</a:t>
            </a:r>
            <a:r>
              <a:rPr lang="en-US" sz="2400" dirty="0">
                <a:latin typeface="Arial"/>
                <a:cs typeface="Arial"/>
              </a:rPr>
              <a:t>[h(</a:t>
            </a:r>
            <a:r>
              <a:rPr lang="en-US" sz="2400" dirty="0" smtClean="0">
                <a:latin typeface="Arial"/>
                <a:cs typeface="Arial"/>
              </a:rPr>
              <a:t>M</a:t>
            </a:r>
            <a:r>
              <a:rPr lang="en-US" sz="2400" baseline="-25000" dirty="0" smtClean="0">
                <a:latin typeface="Arial"/>
                <a:cs typeface="Arial"/>
              </a:rPr>
              <a:t>2</a:t>
            </a:r>
            <a:r>
              <a:rPr lang="en-US" sz="2400" dirty="0" smtClean="0">
                <a:latin typeface="Arial"/>
                <a:cs typeface="Arial"/>
              </a:rPr>
              <a:t>)]</a:t>
            </a:r>
            <a:r>
              <a:rPr lang="en-US" sz="2400" baseline="-25000" dirty="0" smtClean="0">
                <a:latin typeface="Arial"/>
                <a:cs typeface="Arial"/>
              </a:rPr>
              <a:t>Charlie</a:t>
            </a:r>
            <a:r>
              <a:rPr lang="en-US" sz="2400" dirty="0" smtClean="0">
                <a:latin typeface="Arial"/>
                <a:cs typeface="Arial"/>
              </a:rPr>
              <a:t>)</a:t>
            </a:r>
            <a:r>
              <a:rPr lang="en-US" sz="2400" dirty="0"/>
              <a:t>, </a:t>
            </a:r>
            <a:r>
              <a:rPr lang="en-US" sz="2400" dirty="0" smtClean="0">
                <a:latin typeface="Arial"/>
                <a:cs typeface="Arial"/>
              </a:rPr>
              <a:t>M</a:t>
            </a:r>
            <a:r>
              <a:rPr lang="en-US" sz="2400" baseline="-25000" dirty="0" smtClean="0">
                <a:latin typeface="Arial"/>
                <a:cs typeface="Arial"/>
              </a:rPr>
              <a:t>2</a:t>
            </a:r>
            <a:r>
              <a:rPr lang="en-US" sz="2400" dirty="0" smtClean="0">
                <a:latin typeface="Arial"/>
                <a:cs typeface="Arial"/>
              </a:rPr>
              <a:t>=“Charlie </a:t>
            </a:r>
            <a:r>
              <a:rPr lang="en-US" sz="2400" dirty="0">
                <a:latin typeface="Arial"/>
                <a:cs typeface="Arial"/>
              </a:rPr>
              <a:t>owes </a:t>
            </a:r>
            <a:r>
              <a:rPr lang="en-US" sz="2400" dirty="0" smtClean="0">
                <a:latin typeface="Arial"/>
                <a:cs typeface="Arial"/>
              </a:rPr>
              <a:t>Trudy </a:t>
            </a:r>
            <a:r>
              <a:rPr lang="en-US" sz="2400" dirty="0">
                <a:latin typeface="Arial"/>
                <a:cs typeface="Arial"/>
              </a:rPr>
              <a:t>$</a:t>
            </a:r>
            <a:r>
              <a:rPr lang="en-US" sz="2400" dirty="0" smtClean="0">
                <a:latin typeface="Arial"/>
                <a:cs typeface="Arial"/>
              </a:rPr>
              <a:t>30”     </a:t>
            </a:r>
          </a:p>
          <a:p>
            <a:pPr lvl="1"/>
            <a:r>
              <a:rPr lang="en-US" sz="2400" dirty="0">
                <a:latin typeface="Arial"/>
                <a:cs typeface="Arial"/>
              </a:rPr>
              <a:t>(</a:t>
            </a:r>
            <a:r>
              <a:rPr lang="en-US" sz="2400" dirty="0" smtClean="0">
                <a:latin typeface="Arial"/>
                <a:cs typeface="Arial"/>
              </a:rPr>
              <a:t>M</a:t>
            </a:r>
            <a:r>
              <a:rPr lang="en-US" sz="2400" baseline="-25000" dirty="0" smtClean="0">
                <a:latin typeface="Arial"/>
                <a:cs typeface="Arial"/>
              </a:rPr>
              <a:t>3</a:t>
            </a:r>
            <a:r>
              <a:rPr lang="en-US" sz="2400" dirty="0" smtClean="0">
                <a:latin typeface="Arial"/>
                <a:cs typeface="Arial"/>
              </a:rPr>
              <a:t>,</a:t>
            </a:r>
            <a:r>
              <a:rPr lang="en-US" sz="2400" dirty="0">
                <a:latin typeface="Arial"/>
                <a:cs typeface="Arial"/>
              </a:rPr>
              <a:t>[h(</a:t>
            </a:r>
            <a:r>
              <a:rPr lang="en-US" sz="2400" dirty="0" smtClean="0">
                <a:latin typeface="Arial"/>
                <a:cs typeface="Arial"/>
              </a:rPr>
              <a:t>M</a:t>
            </a:r>
            <a:r>
              <a:rPr lang="en-US" sz="2400" baseline="-25000" dirty="0" smtClean="0">
                <a:latin typeface="Arial"/>
                <a:cs typeface="Arial"/>
              </a:rPr>
              <a:t>3</a:t>
            </a:r>
            <a:r>
              <a:rPr lang="en-US" sz="2400" dirty="0" smtClean="0">
                <a:latin typeface="Arial"/>
                <a:cs typeface="Arial"/>
              </a:rPr>
              <a:t>)]</a:t>
            </a:r>
            <a:r>
              <a:rPr lang="en-US" sz="2400" baseline="-25000" dirty="0" smtClean="0">
                <a:latin typeface="Arial"/>
                <a:cs typeface="Arial"/>
              </a:rPr>
              <a:t>Trudy</a:t>
            </a:r>
            <a:r>
              <a:rPr lang="en-US" sz="2400" dirty="0" smtClean="0">
                <a:latin typeface="Arial"/>
                <a:cs typeface="Arial"/>
              </a:rPr>
              <a:t>)</a:t>
            </a:r>
            <a:r>
              <a:rPr lang="en-US" sz="2400" dirty="0"/>
              <a:t>, </a:t>
            </a:r>
            <a:r>
              <a:rPr lang="en-US" sz="2400" dirty="0" smtClean="0">
                <a:latin typeface="Arial"/>
                <a:cs typeface="Arial"/>
              </a:rPr>
              <a:t>M</a:t>
            </a:r>
            <a:r>
              <a:rPr lang="en-US" sz="2400" baseline="-25000" dirty="0" smtClean="0">
                <a:latin typeface="Arial"/>
                <a:cs typeface="Arial"/>
              </a:rPr>
              <a:t>3</a:t>
            </a:r>
            <a:r>
              <a:rPr lang="en-US" sz="2400" dirty="0" smtClean="0">
                <a:latin typeface="Arial"/>
                <a:cs typeface="Arial"/>
              </a:rPr>
              <a:t>=“Trudy </a:t>
            </a:r>
            <a:r>
              <a:rPr lang="en-US" sz="2400" dirty="0">
                <a:latin typeface="Arial"/>
                <a:cs typeface="Arial"/>
              </a:rPr>
              <a:t>owes Alice $</a:t>
            </a:r>
            <a:r>
              <a:rPr lang="en-US" sz="2400" dirty="0" smtClean="0">
                <a:latin typeface="Arial"/>
                <a:cs typeface="Arial"/>
              </a:rPr>
              <a:t>25”</a:t>
            </a:r>
            <a:r>
              <a:rPr lang="en-US" sz="2400" dirty="0" smtClean="0"/>
              <a:t>    </a:t>
            </a:r>
            <a:endParaRPr lang="en-US" sz="2400" dirty="0"/>
          </a:p>
          <a:p>
            <a:pPr lvl="1"/>
            <a:r>
              <a:rPr lang="en-US" sz="2400" dirty="0"/>
              <a:t>A</a:t>
            </a:r>
            <a:r>
              <a:rPr lang="en-US" sz="2400" dirty="0" smtClean="0"/>
              <a:t>nd so on </a:t>
            </a:r>
            <a:r>
              <a:rPr lang="is-IS" sz="2400" dirty="0" smtClean="0"/>
              <a:t>…</a:t>
            </a:r>
            <a:endParaRPr lang="en-US" sz="2400" dirty="0" smtClean="0"/>
          </a:p>
          <a:p>
            <a:r>
              <a:rPr lang="en-US" dirty="0"/>
              <a:t>W</a:t>
            </a:r>
            <a:r>
              <a:rPr lang="en-US" dirty="0" smtClean="0"/>
              <a:t>e’ll continue to </a:t>
            </a:r>
            <a:r>
              <a:rPr lang="en-US" dirty="0" smtClean="0"/>
              <a:t>use </a:t>
            </a:r>
            <a:r>
              <a:rPr lang="en-US" dirty="0" smtClean="0"/>
              <a:t>shorthand </a:t>
            </a:r>
            <a:r>
              <a:rPr lang="en-US" dirty="0" smtClean="0"/>
              <a:t>(i.e., not show the hashes) on subsequent </a:t>
            </a:r>
            <a:r>
              <a:rPr lang="en-US" dirty="0" smtClean="0"/>
              <a:t>slide</a:t>
            </a:r>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39805545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Ledger Duplication</a:t>
            </a:r>
            <a:endParaRPr lang="en-US" dirty="0"/>
          </a:p>
        </p:txBody>
      </p:sp>
      <p:sp>
        <p:nvSpPr>
          <p:cNvPr id="3" name="Content Placeholder 2"/>
          <p:cNvSpPr>
            <a:spLocks noGrp="1"/>
          </p:cNvSpPr>
          <p:nvPr>
            <p:ph idx="1"/>
          </p:nvPr>
        </p:nvSpPr>
        <p:spPr>
          <a:xfrm>
            <a:off x="685800" y="1752600"/>
            <a:ext cx="7848600" cy="4267200"/>
          </a:xfrm>
        </p:spPr>
        <p:txBody>
          <a:bodyPr/>
          <a:lstStyle/>
          <a:p>
            <a:r>
              <a:rPr lang="en-US" dirty="0" smtClean="0"/>
              <a:t>But, there is nothing to prevent </a:t>
            </a:r>
            <a:r>
              <a:rPr lang="en-US" dirty="0" smtClean="0"/>
              <a:t>“bad guy” </a:t>
            </a:r>
            <a:r>
              <a:rPr lang="en-US" dirty="0" smtClean="0"/>
              <a:t>Trudy from duplicating</a:t>
            </a:r>
            <a:r>
              <a:rPr lang="en-US" dirty="0"/>
              <a:t> </a:t>
            </a:r>
            <a:r>
              <a:rPr lang="en-US" dirty="0" smtClean="0"/>
              <a:t>a line</a:t>
            </a:r>
            <a:r>
              <a:rPr lang="is-IS" dirty="0" smtClean="0"/>
              <a:t>…</a:t>
            </a:r>
            <a:endParaRPr lang="en-US" dirty="0" smtClean="0"/>
          </a:p>
          <a:p>
            <a:pPr lvl="1"/>
            <a:r>
              <a:rPr lang="en-US" dirty="0" smtClean="0"/>
              <a:t>[Bob </a:t>
            </a:r>
            <a:r>
              <a:rPr lang="en-US" dirty="0"/>
              <a:t>owes Alice $</a:t>
            </a:r>
            <a:r>
              <a:rPr lang="en-US" dirty="0" smtClean="0"/>
              <a:t>10]</a:t>
            </a:r>
            <a:r>
              <a:rPr lang="en-US" baseline="-25000" dirty="0" smtClean="0"/>
              <a:t>Bob</a:t>
            </a:r>
            <a:r>
              <a:rPr lang="en-US" dirty="0" smtClean="0"/>
              <a:t>     </a:t>
            </a:r>
          </a:p>
          <a:p>
            <a:pPr lvl="1"/>
            <a:r>
              <a:rPr lang="en-US" dirty="0" smtClean="0"/>
              <a:t>[Charlie </a:t>
            </a:r>
            <a:r>
              <a:rPr lang="en-US" dirty="0"/>
              <a:t>owes </a:t>
            </a:r>
            <a:r>
              <a:rPr lang="en-US" dirty="0" smtClean="0"/>
              <a:t>Trudy </a:t>
            </a:r>
            <a:r>
              <a:rPr lang="en-US" dirty="0"/>
              <a:t>$</a:t>
            </a:r>
            <a:r>
              <a:rPr lang="en-US" dirty="0" smtClean="0"/>
              <a:t>30]</a:t>
            </a:r>
            <a:r>
              <a:rPr lang="en-US" baseline="-25000" dirty="0" smtClean="0"/>
              <a:t>Charlie</a:t>
            </a:r>
            <a:r>
              <a:rPr lang="en-US" dirty="0" smtClean="0"/>
              <a:t>     </a:t>
            </a:r>
          </a:p>
          <a:p>
            <a:pPr lvl="1"/>
            <a:r>
              <a:rPr lang="en-US" dirty="0" smtClean="0"/>
              <a:t>[Trudy </a:t>
            </a:r>
            <a:r>
              <a:rPr lang="en-US" dirty="0"/>
              <a:t>owes Alice $</a:t>
            </a:r>
            <a:r>
              <a:rPr lang="en-US" dirty="0" smtClean="0"/>
              <a:t>25]</a:t>
            </a:r>
            <a:r>
              <a:rPr lang="en-US" baseline="-25000" dirty="0" smtClean="0"/>
              <a:t>Trudy</a:t>
            </a:r>
            <a:r>
              <a:rPr lang="en-US" dirty="0" smtClean="0"/>
              <a:t>     </a:t>
            </a:r>
            <a:endParaRPr lang="en-US" dirty="0"/>
          </a:p>
          <a:p>
            <a:pPr lvl="1"/>
            <a:r>
              <a:rPr lang="en-US" dirty="0">
                <a:solidFill>
                  <a:srgbClr val="FF0000"/>
                </a:solidFill>
              </a:rPr>
              <a:t>[Charlie owes Trudy $30]</a:t>
            </a:r>
            <a:r>
              <a:rPr lang="en-US" baseline="-25000" dirty="0">
                <a:solidFill>
                  <a:srgbClr val="FF0000"/>
                </a:solidFill>
              </a:rPr>
              <a:t>Charlie</a:t>
            </a:r>
            <a:r>
              <a:rPr lang="en-US" dirty="0"/>
              <a:t>     </a:t>
            </a:r>
            <a:endParaRPr lang="en-US" dirty="0" smtClean="0"/>
          </a:p>
          <a:p>
            <a:r>
              <a:rPr lang="en-US" dirty="0" smtClean="0"/>
              <a:t>These signatures are all valid </a:t>
            </a:r>
          </a:p>
          <a:p>
            <a:r>
              <a:rPr lang="en-US" dirty="0" smtClean="0"/>
              <a:t>How to prevent this attack?</a:t>
            </a:r>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75444434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Unique Ledger Entries</a:t>
            </a:r>
            <a:endParaRPr lang="en-US" dirty="0"/>
          </a:p>
        </p:txBody>
      </p:sp>
      <p:sp>
        <p:nvSpPr>
          <p:cNvPr id="3" name="Content Placeholder 2"/>
          <p:cNvSpPr>
            <a:spLocks noGrp="1"/>
          </p:cNvSpPr>
          <p:nvPr>
            <p:ph idx="1"/>
          </p:nvPr>
        </p:nvSpPr>
        <p:spPr>
          <a:xfrm>
            <a:off x="685800" y="1676400"/>
            <a:ext cx="7848600" cy="4343400"/>
          </a:xfrm>
        </p:spPr>
        <p:txBody>
          <a:bodyPr/>
          <a:lstStyle/>
          <a:p>
            <a:r>
              <a:rPr lang="en-US" dirty="0" smtClean="0"/>
              <a:t>Include unique transaction numbers</a:t>
            </a:r>
          </a:p>
          <a:p>
            <a:pPr lvl="1"/>
            <a:r>
              <a:rPr lang="en-US" dirty="0" smtClean="0"/>
              <a:t>[1, Bob </a:t>
            </a:r>
            <a:r>
              <a:rPr lang="en-US" dirty="0"/>
              <a:t>owes Alice $</a:t>
            </a:r>
            <a:r>
              <a:rPr lang="en-US" dirty="0" smtClean="0"/>
              <a:t>10]</a:t>
            </a:r>
            <a:r>
              <a:rPr lang="en-US" baseline="-25000" dirty="0" smtClean="0"/>
              <a:t>Bob</a:t>
            </a:r>
            <a:r>
              <a:rPr lang="en-US" dirty="0" smtClean="0"/>
              <a:t>     </a:t>
            </a:r>
          </a:p>
          <a:p>
            <a:pPr lvl="1"/>
            <a:r>
              <a:rPr lang="en-US" dirty="0" smtClean="0"/>
              <a:t>[2, Charlie </a:t>
            </a:r>
            <a:r>
              <a:rPr lang="en-US" dirty="0"/>
              <a:t>owes </a:t>
            </a:r>
            <a:r>
              <a:rPr lang="en-US" dirty="0" smtClean="0"/>
              <a:t>Trudy </a:t>
            </a:r>
            <a:r>
              <a:rPr lang="en-US" dirty="0"/>
              <a:t>$</a:t>
            </a:r>
            <a:r>
              <a:rPr lang="en-US" dirty="0" smtClean="0"/>
              <a:t>30]</a:t>
            </a:r>
            <a:r>
              <a:rPr lang="en-US" baseline="-25000" dirty="0" smtClean="0"/>
              <a:t>Charlie</a:t>
            </a:r>
            <a:r>
              <a:rPr lang="en-US" dirty="0" smtClean="0"/>
              <a:t>     </a:t>
            </a:r>
          </a:p>
          <a:p>
            <a:pPr lvl="1"/>
            <a:r>
              <a:rPr lang="en-US" dirty="0" smtClean="0"/>
              <a:t>[3, Trudy </a:t>
            </a:r>
            <a:r>
              <a:rPr lang="en-US" dirty="0"/>
              <a:t>owes Alice </a:t>
            </a:r>
            <a:r>
              <a:rPr lang="en-US" dirty="0" smtClean="0"/>
              <a:t>$25]</a:t>
            </a:r>
            <a:r>
              <a:rPr lang="en-US" baseline="-25000" dirty="0" smtClean="0"/>
              <a:t>Trudy</a:t>
            </a:r>
            <a:r>
              <a:rPr lang="en-US" dirty="0" smtClean="0"/>
              <a:t>     </a:t>
            </a:r>
          </a:p>
          <a:p>
            <a:pPr lvl="1"/>
            <a:r>
              <a:rPr lang="en-US" dirty="0" smtClean="0"/>
              <a:t>And so on</a:t>
            </a:r>
            <a:r>
              <a:rPr lang="is-IS" dirty="0" smtClean="0"/>
              <a:t>…</a:t>
            </a:r>
            <a:endParaRPr lang="en-US" dirty="0"/>
          </a:p>
          <a:p>
            <a:r>
              <a:rPr lang="en-US" dirty="0" smtClean="0"/>
              <a:t>Why does this help?</a:t>
            </a:r>
          </a:p>
          <a:p>
            <a:r>
              <a:rPr lang="en-US" dirty="0" smtClean="0"/>
              <a:t>We will never have an exact duplicate</a:t>
            </a:r>
          </a:p>
          <a:p>
            <a:pPr lvl="1"/>
            <a:r>
              <a:rPr lang="en-US" dirty="0" smtClean="0"/>
              <a:t>So any duplicate is known to be invalid</a:t>
            </a:r>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32498448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077200" cy="1143000"/>
          </a:xfrm>
        </p:spPr>
        <p:txBody>
          <a:bodyPr/>
          <a:lstStyle/>
          <a:p>
            <a:r>
              <a:rPr lang="en-US" dirty="0" smtClean="0"/>
              <a:t>Ledger Prepayment</a:t>
            </a:r>
            <a:endParaRPr lang="en-US" dirty="0"/>
          </a:p>
        </p:txBody>
      </p:sp>
      <p:sp>
        <p:nvSpPr>
          <p:cNvPr id="3" name="Content Placeholder 2"/>
          <p:cNvSpPr>
            <a:spLocks noGrp="1"/>
          </p:cNvSpPr>
          <p:nvPr>
            <p:ph idx="1"/>
          </p:nvPr>
        </p:nvSpPr>
        <p:spPr/>
        <p:txBody>
          <a:bodyPr/>
          <a:lstStyle/>
          <a:p>
            <a:r>
              <a:rPr lang="en-US" dirty="0" smtClean="0"/>
              <a:t>How to be sure participants pay up?</a:t>
            </a:r>
          </a:p>
          <a:p>
            <a:r>
              <a:rPr lang="en-US" dirty="0" smtClean="0"/>
              <a:t>Can start with Alice, Bob, Charlie, and Trudy all putting money into the pot</a:t>
            </a:r>
          </a:p>
          <a:p>
            <a:r>
              <a:rPr lang="en-US" dirty="0" smtClean="0"/>
              <a:t>And don’t allow any transaction that would result in a negative balance</a:t>
            </a:r>
          </a:p>
          <a:p>
            <a:r>
              <a:rPr lang="en-US" dirty="0" smtClean="0"/>
              <a:t>Transaction must still be signed and </a:t>
            </a:r>
            <a:r>
              <a:rPr lang="is-IS" dirty="0" smtClean="0"/>
              <a:t>…</a:t>
            </a:r>
            <a:endParaRPr lang="en-US" dirty="0" smtClean="0"/>
          </a:p>
          <a:p>
            <a:r>
              <a:rPr lang="is-IS" dirty="0" smtClean="0"/>
              <a:t>… now,</a:t>
            </a:r>
            <a:r>
              <a:rPr lang="en-US" dirty="0" smtClean="0"/>
              <a:t> nobody can “overdraw” account</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12379043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077200" cy="1143000"/>
          </a:xfrm>
        </p:spPr>
        <p:txBody>
          <a:bodyPr/>
          <a:lstStyle/>
          <a:p>
            <a:r>
              <a:rPr lang="en-US" dirty="0" smtClean="0"/>
              <a:t>Ledger Prepayment Example</a:t>
            </a:r>
            <a:endParaRPr lang="en-US" dirty="0"/>
          </a:p>
        </p:txBody>
      </p:sp>
      <p:sp>
        <p:nvSpPr>
          <p:cNvPr id="3" name="Content Placeholder 2"/>
          <p:cNvSpPr>
            <a:spLocks noGrp="1"/>
          </p:cNvSpPr>
          <p:nvPr>
            <p:ph idx="1"/>
          </p:nvPr>
        </p:nvSpPr>
        <p:spPr>
          <a:xfrm>
            <a:off x="685800" y="1447800"/>
            <a:ext cx="7848600" cy="4724400"/>
          </a:xfrm>
        </p:spPr>
        <p:txBody>
          <a:bodyPr/>
          <a:lstStyle/>
          <a:p>
            <a:r>
              <a:rPr lang="en-US" dirty="0" smtClean="0"/>
              <a:t>Ledger example</a:t>
            </a:r>
            <a:r>
              <a:rPr lang="is-IS" dirty="0" smtClean="0"/>
              <a:t>…</a:t>
            </a:r>
          </a:p>
          <a:p>
            <a:pPr lvl="1"/>
            <a:r>
              <a:rPr lang="is-IS" dirty="0" smtClean="0"/>
              <a:t>Alice has $100 </a:t>
            </a:r>
            <a:r>
              <a:rPr lang="is-IS" dirty="0" smtClean="0">
                <a:latin typeface="Arial"/>
                <a:cs typeface="Arial"/>
              </a:rPr>
              <a:t>//</a:t>
            </a:r>
            <a:r>
              <a:rPr lang="is-IS" dirty="0" smtClean="0"/>
              <a:t> Alice’s initial stake</a:t>
            </a:r>
          </a:p>
          <a:p>
            <a:pPr lvl="1"/>
            <a:r>
              <a:rPr lang="is-IS" dirty="0" smtClean="0"/>
              <a:t>Bob has $100 </a:t>
            </a:r>
            <a:r>
              <a:rPr lang="is-IS" dirty="0">
                <a:latin typeface="Arial"/>
                <a:cs typeface="Arial"/>
              </a:rPr>
              <a:t>//</a:t>
            </a:r>
            <a:r>
              <a:rPr lang="is-IS" dirty="0" smtClean="0"/>
              <a:t> Bob’s intial stake</a:t>
            </a:r>
          </a:p>
          <a:p>
            <a:pPr lvl="1"/>
            <a:r>
              <a:rPr lang="is-IS" dirty="0" smtClean="0"/>
              <a:t>Charlie has $100 </a:t>
            </a:r>
            <a:r>
              <a:rPr lang="is-IS" dirty="0" smtClean="0">
                <a:latin typeface="Arial"/>
                <a:cs typeface="Arial"/>
              </a:rPr>
              <a:t>/</a:t>
            </a:r>
            <a:r>
              <a:rPr lang="is-IS" dirty="0">
                <a:latin typeface="Arial"/>
                <a:cs typeface="Arial"/>
              </a:rPr>
              <a:t>/</a:t>
            </a:r>
            <a:r>
              <a:rPr lang="is-IS" dirty="0" smtClean="0"/>
              <a:t> Charlie’s initial stake</a:t>
            </a:r>
          </a:p>
          <a:p>
            <a:pPr lvl="1"/>
            <a:r>
              <a:rPr lang="is-IS" dirty="0" smtClean="0"/>
              <a:t>Trudy has $100 </a:t>
            </a:r>
            <a:r>
              <a:rPr lang="is-IS" dirty="0">
                <a:latin typeface="Arial"/>
                <a:cs typeface="Arial"/>
              </a:rPr>
              <a:t>//</a:t>
            </a:r>
            <a:r>
              <a:rPr lang="is-IS" dirty="0" smtClean="0"/>
              <a:t> Trudy’s initial stake</a:t>
            </a:r>
          </a:p>
          <a:p>
            <a:pPr lvl="1"/>
            <a:r>
              <a:rPr lang="en-US" dirty="0" smtClean="0">
                <a:solidFill>
                  <a:srgbClr val="3366FF"/>
                </a:solidFill>
              </a:rPr>
              <a:t>[1, Bob </a:t>
            </a:r>
            <a:r>
              <a:rPr lang="en-US" dirty="0">
                <a:solidFill>
                  <a:srgbClr val="3366FF"/>
                </a:solidFill>
              </a:rPr>
              <a:t>owes Alice $</a:t>
            </a:r>
            <a:r>
              <a:rPr lang="en-US" dirty="0" smtClean="0">
                <a:solidFill>
                  <a:srgbClr val="3366FF"/>
                </a:solidFill>
              </a:rPr>
              <a:t>10]</a:t>
            </a:r>
            <a:r>
              <a:rPr lang="en-US" baseline="-25000" dirty="0" smtClean="0">
                <a:solidFill>
                  <a:srgbClr val="3366FF"/>
                </a:solidFill>
              </a:rPr>
              <a:t>Bob</a:t>
            </a:r>
            <a:r>
              <a:rPr lang="en-US" dirty="0" smtClean="0"/>
              <a:t> </a:t>
            </a:r>
            <a:r>
              <a:rPr lang="is-IS" dirty="0">
                <a:solidFill>
                  <a:srgbClr val="3366FF"/>
                </a:solidFill>
                <a:latin typeface="Arial"/>
                <a:cs typeface="Arial"/>
              </a:rPr>
              <a:t>//</a:t>
            </a:r>
            <a:r>
              <a:rPr lang="en-US" dirty="0" smtClean="0">
                <a:solidFill>
                  <a:srgbClr val="3366FF"/>
                </a:solidFill>
              </a:rPr>
              <a:t> </a:t>
            </a:r>
            <a:r>
              <a:rPr lang="en-US" b="1" dirty="0" smtClean="0">
                <a:solidFill>
                  <a:srgbClr val="3366FF"/>
                </a:solidFill>
              </a:rPr>
              <a:t>valid</a:t>
            </a:r>
            <a:r>
              <a:rPr lang="en-US" dirty="0" smtClean="0">
                <a:solidFill>
                  <a:srgbClr val="3366FF"/>
                </a:solidFill>
              </a:rPr>
              <a:t>     </a:t>
            </a:r>
          </a:p>
          <a:p>
            <a:pPr lvl="1"/>
            <a:r>
              <a:rPr lang="en-US" dirty="0" smtClean="0">
                <a:solidFill>
                  <a:srgbClr val="3366FF"/>
                </a:solidFill>
              </a:rPr>
              <a:t>[2, Charlie </a:t>
            </a:r>
            <a:r>
              <a:rPr lang="en-US" dirty="0">
                <a:solidFill>
                  <a:srgbClr val="3366FF"/>
                </a:solidFill>
              </a:rPr>
              <a:t>owes </a:t>
            </a:r>
            <a:r>
              <a:rPr lang="en-US" dirty="0" smtClean="0">
                <a:solidFill>
                  <a:srgbClr val="3366FF"/>
                </a:solidFill>
              </a:rPr>
              <a:t>Trudy </a:t>
            </a:r>
            <a:r>
              <a:rPr lang="en-US" dirty="0">
                <a:solidFill>
                  <a:srgbClr val="3366FF"/>
                </a:solidFill>
              </a:rPr>
              <a:t>$</a:t>
            </a:r>
            <a:r>
              <a:rPr lang="en-US" dirty="0" smtClean="0">
                <a:solidFill>
                  <a:srgbClr val="3366FF"/>
                </a:solidFill>
              </a:rPr>
              <a:t>30]</a:t>
            </a:r>
            <a:r>
              <a:rPr lang="en-US" baseline="-25000" dirty="0" smtClean="0">
                <a:solidFill>
                  <a:srgbClr val="3366FF"/>
                </a:solidFill>
              </a:rPr>
              <a:t>Charlie</a:t>
            </a:r>
            <a:r>
              <a:rPr lang="en-US" dirty="0" smtClean="0"/>
              <a:t> </a:t>
            </a:r>
            <a:r>
              <a:rPr lang="is-IS" dirty="0">
                <a:solidFill>
                  <a:srgbClr val="3366FF"/>
                </a:solidFill>
                <a:latin typeface="Arial"/>
                <a:cs typeface="Arial"/>
              </a:rPr>
              <a:t>//</a:t>
            </a:r>
            <a:r>
              <a:rPr lang="en-US" dirty="0" smtClean="0">
                <a:solidFill>
                  <a:srgbClr val="3366FF"/>
                </a:solidFill>
              </a:rPr>
              <a:t> </a:t>
            </a:r>
            <a:r>
              <a:rPr lang="en-US" b="1" dirty="0" smtClean="0">
                <a:solidFill>
                  <a:srgbClr val="3366FF"/>
                </a:solidFill>
              </a:rPr>
              <a:t>valid</a:t>
            </a:r>
            <a:r>
              <a:rPr lang="en-US" dirty="0" smtClean="0">
                <a:solidFill>
                  <a:srgbClr val="3366FF"/>
                </a:solidFill>
              </a:rPr>
              <a:t>     </a:t>
            </a:r>
          </a:p>
          <a:p>
            <a:pPr lvl="1"/>
            <a:r>
              <a:rPr lang="en-US" dirty="0" smtClean="0">
                <a:solidFill>
                  <a:srgbClr val="3366FF"/>
                </a:solidFill>
              </a:rPr>
              <a:t>[3, Trudy </a:t>
            </a:r>
            <a:r>
              <a:rPr lang="en-US" dirty="0">
                <a:solidFill>
                  <a:srgbClr val="3366FF"/>
                </a:solidFill>
              </a:rPr>
              <a:t>owes Alice </a:t>
            </a:r>
            <a:r>
              <a:rPr lang="en-US" dirty="0" smtClean="0">
                <a:solidFill>
                  <a:srgbClr val="3366FF"/>
                </a:solidFill>
              </a:rPr>
              <a:t>$25]</a:t>
            </a:r>
            <a:r>
              <a:rPr lang="en-US" baseline="-25000" dirty="0" smtClean="0">
                <a:solidFill>
                  <a:srgbClr val="3366FF"/>
                </a:solidFill>
              </a:rPr>
              <a:t>Trudy</a:t>
            </a:r>
            <a:r>
              <a:rPr lang="en-US" dirty="0" smtClean="0"/>
              <a:t> </a:t>
            </a:r>
            <a:r>
              <a:rPr lang="is-IS" dirty="0">
                <a:solidFill>
                  <a:srgbClr val="3366FF"/>
                </a:solidFill>
                <a:latin typeface="Arial"/>
                <a:cs typeface="Arial"/>
              </a:rPr>
              <a:t>//</a:t>
            </a:r>
            <a:r>
              <a:rPr lang="en-US" dirty="0" smtClean="0">
                <a:solidFill>
                  <a:srgbClr val="3366FF"/>
                </a:solidFill>
              </a:rPr>
              <a:t> </a:t>
            </a:r>
            <a:r>
              <a:rPr lang="en-US" b="1" dirty="0" smtClean="0">
                <a:solidFill>
                  <a:srgbClr val="3366FF"/>
                </a:solidFill>
              </a:rPr>
              <a:t>valid</a:t>
            </a:r>
            <a:r>
              <a:rPr lang="en-US" dirty="0" smtClean="0">
                <a:solidFill>
                  <a:srgbClr val="3366FF"/>
                </a:solidFill>
              </a:rPr>
              <a:t>     </a:t>
            </a:r>
          </a:p>
          <a:p>
            <a:pPr lvl="1"/>
            <a:r>
              <a:rPr lang="en-US" dirty="0" smtClean="0">
                <a:solidFill>
                  <a:srgbClr val="FF0000"/>
                </a:solidFill>
              </a:rPr>
              <a:t>[4, Trudy </a:t>
            </a:r>
            <a:r>
              <a:rPr lang="en-US" dirty="0">
                <a:solidFill>
                  <a:srgbClr val="FF0000"/>
                </a:solidFill>
              </a:rPr>
              <a:t>owes </a:t>
            </a:r>
            <a:r>
              <a:rPr lang="en-US" dirty="0" smtClean="0">
                <a:solidFill>
                  <a:srgbClr val="FF0000"/>
                </a:solidFill>
              </a:rPr>
              <a:t>Bob $1</a:t>
            </a:r>
            <a:r>
              <a:rPr lang="en-US" dirty="0">
                <a:solidFill>
                  <a:srgbClr val="FF0000"/>
                </a:solidFill>
              </a:rPr>
              <a:t>2</a:t>
            </a:r>
            <a:r>
              <a:rPr lang="en-US" dirty="0" smtClean="0">
                <a:solidFill>
                  <a:srgbClr val="FF0000"/>
                </a:solidFill>
              </a:rPr>
              <a:t>0]</a:t>
            </a:r>
            <a:r>
              <a:rPr lang="en-US" baseline="-25000" dirty="0">
                <a:solidFill>
                  <a:srgbClr val="FF0000"/>
                </a:solidFill>
              </a:rPr>
              <a:t>Trudy</a:t>
            </a:r>
            <a:r>
              <a:rPr lang="en-US" dirty="0"/>
              <a:t> </a:t>
            </a:r>
            <a:r>
              <a:rPr lang="is-IS" dirty="0">
                <a:solidFill>
                  <a:srgbClr val="FF0000"/>
                </a:solidFill>
                <a:latin typeface="Arial"/>
                <a:cs typeface="Arial"/>
              </a:rPr>
              <a:t>//</a:t>
            </a:r>
            <a:r>
              <a:rPr lang="en-US" dirty="0" smtClean="0">
                <a:solidFill>
                  <a:srgbClr val="FF0000"/>
                </a:solidFill>
              </a:rPr>
              <a:t> </a:t>
            </a:r>
            <a:r>
              <a:rPr lang="en-US" b="1" dirty="0" smtClean="0">
                <a:solidFill>
                  <a:srgbClr val="FF0000"/>
                </a:solidFill>
              </a:rPr>
              <a:t>invalid</a:t>
            </a:r>
            <a:r>
              <a:rPr lang="en-US" dirty="0" smtClean="0">
                <a:solidFill>
                  <a:srgbClr val="FF0000"/>
                </a:solidFill>
              </a:rPr>
              <a:t> </a:t>
            </a:r>
            <a:endParaRPr lang="is-IS" dirty="0" smtClean="0">
              <a:solidFill>
                <a:srgbClr val="FF0000"/>
              </a:solidFill>
            </a:endParaRPr>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99180776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Ledger Prepayment</a:t>
            </a:r>
            <a:endParaRPr lang="en-US" dirty="0"/>
          </a:p>
        </p:txBody>
      </p:sp>
      <p:sp>
        <p:nvSpPr>
          <p:cNvPr id="3" name="Content Placeholder 2"/>
          <p:cNvSpPr>
            <a:spLocks noGrp="1"/>
          </p:cNvSpPr>
          <p:nvPr>
            <p:ph idx="1"/>
          </p:nvPr>
        </p:nvSpPr>
        <p:spPr/>
        <p:txBody>
          <a:bodyPr/>
          <a:lstStyle/>
          <a:p>
            <a:r>
              <a:rPr lang="en-US" dirty="0" smtClean="0"/>
              <a:t>Note that we must know the </a:t>
            </a:r>
            <a:r>
              <a:rPr lang="en-US" b="1" i="1" dirty="0" smtClean="0"/>
              <a:t>entire</a:t>
            </a:r>
            <a:r>
              <a:rPr lang="en-US" dirty="0" smtClean="0"/>
              <a:t> transaction history</a:t>
            </a:r>
          </a:p>
          <a:p>
            <a:pPr lvl="1"/>
            <a:r>
              <a:rPr lang="en-US" dirty="0" smtClean="0"/>
              <a:t>So that we can know current balances</a:t>
            </a:r>
          </a:p>
          <a:p>
            <a:pPr lvl="1"/>
            <a:r>
              <a:rPr lang="en-US" dirty="0" smtClean="0"/>
              <a:t>Then we can be sure a given transaction does not cause user to be overdrawn</a:t>
            </a:r>
          </a:p>
          <a:p>
            <a:r>
              <a:rPr lang="en-US" dirty="0" smtClean="0"/>
              <a:t>This seems like kind of a hassle</a:t>
            </a:r>
            <a:r>
              <a:rPr lang="is-IS" dirty="0" smtClean="0"/>
              <a:t>, but some big benefits come from it</a:t>
            </a:r>
          </a:p>
          <a:p>
            <a:pPr lvl="1"/>
            <a:r>
              <a:rPr lang="is-IS" dirty="0" smtClean="0"/>
              <a:t>As we will soon see...</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65401167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Eternal Ledger?</a:t>
            </a:r>
            <a:endParaRPr lang="en-US" dirty="0"/>
          </a:p>
        </p:txBody>
      </p:sp>
      <p:sp>
        <p:nvSpPr>
          <p:cNvPr id="3" name="Content Placeholder 2"/>
          <p:cNvSpPr>
            <a:spLocks noGrp="1"/>
          </p:cNvSpPr>
          <p:nvPr>
            <p:ph idx="1"/>
          </p:nvPr>
        </p:nvSpPr>
        <p:spPr>
          <a:xfrm>
            <a:off x="685800" y="1828800"/>
            <a:ext cx="8001000" cy="4191000"/>
          </a:xfrm>
        </p:spPr>
        <p:txBody>
          <a:bodyPr/>
          <a:lstStyle/>
          <a:p>
            <a:r>
              <a:rPr lang="en-US" dirty="0" smtClean="0"/>
              <a:t>Alice, Bob, Charlie, and Trudy could continue to settle accounts each month </a:t>
            </a:r>
          </a:p>
          <a:p>
            <a:r>
              <a:rPr lang="en-US" dirty="0" smtClean="0"/>
              <a:t>But, as the ledger currently stands, settling accounts is not necessary!</a:t>
            </a:r>
          </a:p>
          <a:p>
            <a:r>
              <a:rPr lang="en-US" dirty="0" smtClean="0"/>
              <a:t>We know the current balances, and no risk of anyone being “overdrawn”</a:t>
            </a:r>
          </a:p>
          <a:p>
            <a:r>
              <a:rPr lang="en-US" dirty="0" smtClean="0"/>
              <a:t>So, could play poker for months, years, or forever, without settling accounts</a:t>
            </a:r>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42640372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Ledger as Currency</a:t>
            </a:r>
            <a:endParaRPr lang="en-US" dirty="0"/>
          </a:p>
        </p:txBody>
      </p:sp>
      <p:sp>
        <p:nvSpPr>
          <p:cNvPr id="3" name="Content Placeholder 2"/>
          <p:cNvSpPr>
            <a:spLocks noGrp="1"/>
          </p:cNvSpPr>
          <p:nvPr>
            <p:ph idx="1"/>
          </p:nvPr>
        </p:nvSpPr>
        <p:spPr>
          <a:xfrm>
            <a:off x="609600" y="1828800"/>
            <a:ext cx="8077200" cy="4038600"/>
          </a:xfrm>
        </p:spPr>
        <p:txBody>
          <a:bodyPr/>
          <a:lstStyle/>
          <a:p>
            <a:r>
              <a:rPr lang="en-US" dirty="0" smtClean="0"/>
              <a:t>Such a ledger can act as </a:t>
            </a:r>
            <a:r>
              <a:rPr lang="en-US" dirty="0"/>
              <a:t>a</a:t>
            </a:r>
            <a:r>
              <a:rPr lang="en-US" dirty="0" smtClean="0"/>
              <a:t> currency!</a:t>
            </a:r>
          </a:p>
          <a:p>
            <a:pPr lvl="1"/>
            <a:r>
              <a:rPr lang="en-US" dirty="0" smtClean="0"/>
              <a:t>Need a cool symbol, let’s use </a:t>
            </a:r>
            <a:r>
              <a:rPr lang="en-US" dirty="0"/>
              <a:t>“</a:t>
            </a:r>
            <a:r>
              <a:rPr lang="en-US" dirty="0" smtClean="0">
                <a:latin typeface="Arial"/>
                <a:cs typeface="Arial"/>
              </a:rPr>
              <a:t>§</a:t>
            </a:r>
            <a:r>
              <a:rPr lang="en-US" dirty="0" smtClean="0"/>
              <a:t>” </a:t>
            </a:r>
          </a:p>
          <a:p>
            <a:r>
              <a:rPr lang="en-US" dirty="0" smtClean="0"/>
              <a:t>Transactions </a:t>
            </a:r>
            <a:r>
              <a:rPr lang="en-US" b="1" i="1" dirty="0" smtClean="0"/>
              <a:t>within</a:t>
            </a:r>
            <a:r>
              <a:rPr lang="en-US" dirty="0" smtClean="0"/>
              <a:t> ledger are all in terms of </a:t>
            </a:r>
            <a:r>
              <a:rPr lang="en-US" dirty="0">
                <a:latin typeface="Arial"/>
                <a:cs typeface="Arial"/>
              </a:rPr>
              <a:t>§</a:t>
            </a:r>
            <a:r>
              <a:rPr lang="en-US" dirty="0" smtClean="0"/>
              <a:t> currency protocol </a:t>
            </a:r>
          </a:p>
          <a:p>
            <a:r>
              <a:rPr lang="en-US" dirty="0" smtClean="0"/>
              <a:t>Anyone can exchanged ledger currency (i.e., </a:t>
            </a:r>
            <a:r>
              <a:rPr lang="en-US" dirty="0">
                <a:latin typeface="Arial"/>
                <a:cs typeface="Arial"/>
              </a:rPr>
              <a:t>§</a:t>
            </a:r>
            <a:r>
              <a:rPr lang="en-US" dirty="0" smtClean="0"/>
              <a:t>) for </a:t>
            </a:r>
            <a:r>
              <a:rPr lang="en-US" dirty="0">
                <a:latin typeface="Arial"/>
                <a:cs typeface="Arial"/>
              </a:rPr>
              <a:t>$</a:t>
            </a:r>
            <a:r>
              <a:rPr lang="en-US" dirty="0"/>
              <a:t> or </a:t>
            </a:r>
            <a:r>
              <a:rPr lang="en-US" dirty="0">
                <a:latin typeface="Arial"/>
                <a:cs typeface="Arial"/>
              </a:rPr>
              <a:t>¥ </a:t>
            </a:r>
            <a:r>
              <a:rPr lang="en-US" dirty="0"/>
              <a:t>or </a:t>
            </a:r>
            <a:r>
              <a:rPr lang="en-US" dirty="0">
                <a:latin typeface="Arial"/>
                <a:cs typeface="Arial"/>
              </a:rPr>
              <a:t>€</a:t>
            </a:r>
            <a:r>
              <a:rPr lang="en-US" dirty="0"/>
              <a:t> </a:t>
            </a:r>
            <a:r>
              <a:rPr lang="en-US" dirty="0" smtClean="0"/>
              <a:t>or </a:t>
            </a:r>
            <a:r>
              <a:rPr lang="is-IS" dirty="0" smtClean="0"/>
              <a:t>…</a:t>
            </a:r>
            <a:endParaRPr lang="en-US" dirty="0" smtClean="0"/>
          </a:p>
          <a:p>
            <a:pPr lvl="1"/>
            <a:r>
              <a:rPr lang="en-US" dirty="0" smtClean="0"/>
              <a:t>But, such exchanges occur </a:t>
            </a:r>
            <a:r>
              <a:rPr lang="en-US" b="1" i="1" dirty="0" smtClean="0"/>
              <a:t>outside</a:t>
            </a:r>
            <a:r>
              <a:rPr lang="en-US" dirty="0" smtClean="0"/>
              <a:t> the ledger currency protocol</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986917369"/>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Ledger Currency</a:t>
            </a:r>
            <a:endParaRPr lang="en-US" dirty="0"/>
          </a:p>
        </p:txBody>
      </p:sp>
      <p:sp>
        <p:nvSpPr>
          <p:cNvPr id="3" name="Content Placeholder 2"/>
          <p:cNvSpPr>
            <a:spLocks noGrp="1"/>
          </p:cNvSpPr>
          <p:nvPr>
            <p:ph idx="1"/>
          </p:nvPr>
        </p:nvSpPr>
        <p:spPr>
          <a:xfrm>
            <a:off x="609600" y="1752600"/>
            <a:ext cx="8001000" cy="4191000"/>
          </a:xfrm>
        </p:spPr>
        <p:txBody>
          <a:bodyPr/>
          <a:lstStyle/>
          <a:p>
            <a:r>
              <a:rPr lang="en-US" dirty="0" smtClean="0"/>
              <a:t>For example, Alice could pay Bob $10 in real world dollars for, say, </a:t>
            </a:r>
            <a:r>
              <a:rPr lang="en-US" dirty="0">
                <a:latin typeface="Arial"/>
                <a:cs typeface="Arial"/>
              </a:rPr>
              <a:t>§</a:t>
            </a:r>
            <a:r>
              <a:rPr lang="en-US" dirty="0" smtClean="0"/>
              <a:t>5 of currency in the ledger system</a:t>
            </a:r>
          </a:p>
          <a:p>
            <a:r>
              <a:rPr lang="en-US" dirty="0" smtClean="0"/>
              <a:t>Comparable to exchanging, say, </a:t>
            </a:r>
            <a:r>
              <a:rPr lang="en-US" dirty="0">
                <a:latin typeface="Arial"/>
                <a:cs typeface="Arial"/>
              </a:rPr>
              <a:t>$</a:t>
            </a:r>
            <a:r>
              <a:rPr lang="en-US" dirty="0"/>
              <a:t> </a:t>
            </a:r>
            <a:r>
              <a:rPr lang="en-US" dirty="0" smtClean="0"/>
              <a:t>for </a:t>
            </a:r>
            <a:r>
              <a:rPr lang="en-US" dirty="0">
                <a:latin typeface="Arial"/>
                <a:cs typeface="Arial"/>
              </a:rPr>
              <a:t>¥ </a:t>
            </a:r>
            <a:endParaRPr lang="en-US" dirty="0" smtClean="0"/>
          </a:p>
          <a:p>
            <a:r>
              <a:rPr lang="en-US" dirty="0" smtClean="0"/>
              <a:t>The ledger is a history of transactions </a:t>
            </a:r>
            <a:r>
              <a:rPr lang="en-US" b="1" i="1" dirty="0" smtClean="0"/>
              <a:t>within</a:t>
            </a:r>
            <a:r>
              <a:rPr lang="en-US" dirty="0" smtClean="0"/>
              <a:t> the ledger currency system </a:t>
            </a:r>
          </a:p>
          <a:p>
            <a:r>
              <a:rPr lang="en-US" dirty="0" smtClean="0"/>
              <a:t>In fact, </a:t>
            </a:r>
            <a:r>
              <a:rPr lang="en-US" b="1" i="1" dirty="0" smtClean="0">
                <a:solidFill>
                  <a:srgbClr val="3366FF"/>
                </a:solidFill>
              </a:rPr>
              <a:t>the ledger is the currency</a:t>
            </a:r>
            <a:endParaRPr lang="en-US" dirty="0" smtClean="0"/>
          </a:p>
          <a:p>
            <a:pPr lvl="1"/>
            <a:r>
              <a:rPr lang="en-US" dirty="0" smtClean="0"/>
              <a:t>This is </a:t>
            </a:r>
            <a:r>
              <a:rPr lang="en-US" b="1" i="1" dirty="0" smtClean="0"/>
              <a:t>the</a:t>
            </a:r>
            <a:r>
              <a:rPr lang="en-US" dirty="0" smtClean="0"/>
              <a:t> key insight of </a:t>
            </a:r>
            <a:r>
              <a:rPr lang="en-US" dirty="0" err="1" smtClean="0"/>
              <a:t>cryptocurrency</a:t>
            </a:r>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474136067"/>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r>
              <a:rPr lang="en-US" dirty="0" smtClean="0"/>
              <a:t>Distributed Ledger</a:t>
            </a:r>
            <a:endParaRPr lang="en-US" dirty="0"/>
          </a:p>
        </p:txBody>
      </p:sp>
      <p:sp>
        <p:nvSpPr>
          <p:cNvPr id="3" name="Content Placeholder 2"/>
          <p:cNvSpPr>
            <a:spLocks noGrp="1"/>
          </p:cNvSpPr>
          <p:nvPr>
            <p:ph idx="1"/>
          </p:nvPr>
        </p:nvSpPr>
        <p:spPr>
          <a:xfrm>
            <a:off x="685800" y="1447800"/>
            <a:ext cx="8153400" cy="4648200"/>
          </a:xfrm>
        </p:spPr>
        <p:txBody>
          <a:bodyPr/>
          <a:lstStyle/>
          <a:p>
            <a:r>
              <a:rPr lang="en-US" dirty="0" smtClean="0"/>
              <a:t>The ledger is the currency</a:t>
            </a:r>
          </a:p>
          <a:p>
            <a:pPr lvl="1"/>
            <a:r>
              <a:rPr lang="en-US" dirty="0"/>
              <a:t>S</a:t>
            </a:r>
            <a:r>
              <a:rPr lang="en-US" dirty="0" smtClean="0"/>
              <a:t>o who is in charge of the ledger?</a:t>
            </a:r>
          </a:p>
          <a:p>
            <a:pPr lvl="1"/>
            <a:r>
              <a:rPr lang="en-US" dirty="0" smtClean="0"/>
              <a:t>A </a:t>
            </a:r>
            <a:r>
              <a:rPr lang="en-US" dirty="0" err="1" smtClean="0"/>
              <a:t>govt</a:t>
            </a:r>
            <a:r>
              <a:rPr lang="en-US" dirty="0" smtClean="0"/>
              <a:t>? The UN? A bank? An individual?</a:t>
            </a:r>
          </a:p>
          <a:p>
            <a:r>
              <a:rPr lang="en-US" dirty="0" smtClean="0"/>
              <a:t>We don’t trust anybody, so let’s put </a:t>
            </a:r>
            <a:r>
              <a:rPr lang="en-US" b="1" i="1" dirty="0" smtClean="0"/>
              <a:t>everybody</a:t>
            </a:r>
            <a:r>
              <a:rPr lang="en-US" dirty="0" smtClean="0"/>
              <a:t> in charge of the ledger</a:t>
            </a:r>
          </a:p>
          <a:p>
            <a:pPr lvl="1"/>
            <a:r>
              <a:rPr lang="en-US" dirty="0" smtClean="0"/>
              <a:t>Everybody can have copy of ledger, anyone can add entries (there is a protocol</a:t>
            </a:r>
            <a:r>
              <a:rPr lang="is-IS" dirty="0" smtClean="0"/>
              <a:t>…</a:t>
            </a:r>
            <a:r>
              <a:rPr lang="en-US" dirty="0" smtClean="0"/>
              <a:t>) </a:t>
            </a:r>
          </a:p>
          <a:p>
            <a:pPr lvl="1"/>
            <a:r>
              <a:rPr lang="en-US" dirty="0" smtClean="0"/>
              <a:t>This </a:t>
            </a:r>
            <a:r>
              <a:rPr lang="en-US" dirty="0"/>
              <a:t>p</a:t>
            </a:r>
            <a:r>
              <a:rPr lang="en-US" dirty="0" smtClean="0"/>
              <a:t>rotocol </a:t>
            </a:r>
            <a:r>
              <a:rPr lang="en-US" dirty="0" smtClean="0"/>
              <a:t>has</a:t>
            </a:r>
            <a:r>
              <a:rPr lang="en-US" dirty="0" smtClean="0"/>
              <a:t> </a:t>
            </a:r>
            <a:r>
              <a:rPr lang="en-US" dirty="0" smtClean="0"/>
              <a:t>no central authority</a:t>
            </a:r>
          </a:p>
          <a:p>
            <a:r>
              <a:rPr lang="en-US" dirty="0" smtClean="0"/>
              <a:t>What problem(s) do you foresee?</a:t>
            </a:r>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39096801"/>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Ledger</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Transactions must be signed</a:t>
            </a:r>
          </a:p>
          <a:p>
            <a:pPr marL="514350" indent="-514350">
              <a:buFont typeface="+mj-lt"/>
              <a:buAutoNum type="arabicPeriod"/>
            </a:pPr>
            <a:r>
              <a:rPr lang="en-US" dirty="0" smtClean="0"/>
              <a:t>Nobody can be overdrawn</a:t>
            </a:r>
          </a:p>
          <a:p>
            <a:pPr marL="514350" indent="-514350">
              <a:buFont typeface="+mj-lt"/>
              <a:buAutoNum type="arabicPeriod"/>
            </a:pPr>
            <a:r>
              <a:rPr lang="en-US" dirty="0"/>
              <a:t>Transactions broadcast to </a:t>
            </a:r>
            <a:r>
              <a:rPr lang="en-US" dirty="0" smtClean="0"/>
              <a:t>everybody</a:t>
            </a:r>
          </a:p>
          <a:p>
            <a:pPr lvl="1"/>
            <a:r>
              <a:rPr lang="en-US" dirty="0"/>
              <a:t>H</a:t>
            </a:r>
            <a:r>
              <a:rPr lang="en-US" dirty="0" smtClean="0"/>
              <a:t>ow to have a consistent view of this distributed ledger?</a:t>
            </a:r>
          </a:p>
          <a:p>
            <a:pPr lvl="1"/>
            <a:r>
              <a:rPr lang="en-US" dirty="0" smtClean="0"/>
              <a:t>Multiple ledgers exist at any time</a:t>
            </a:r>
            <a:endParaRPr lang="en-US" dirty="0"/>
          </a:p>
          <a:p>
            <a:pPr lvl="1"/>
            <a:r>
              <a:rPr lang="en-US" dirty="0" smtClean="0"/>
              <a:t>This is the heart of the issue for a distributed </a:t>
            </a:r>
            <a:r>
              <a:rPr lang="en-US" dirty="0" err="1" smtClean="0"/>
              <a:t>cryptocurrency</a:t>
            </a:r>
            <a:r>
              <a:rPr lang="en-US" dirty="0"/>
              <a:t> </a:t>
            </a:r>
            <a:r>
              <a:rPr lang="en-US" dirty="0" smtClean="0"/>
              <a:t>(e.g. </a:t>
            </a:r>
            <a:r>
              <a:rPr lang="en-US" dirty="0" err="1" smtClean="0"/>
              <a:t>Bitcoin</a:t>
            </a:r>
            <a:r>
              <a:rPr lang="en-US" dirty="0" smtClean="0"/>
              <a:t>)</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30328731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7924800" cy="1143000"/>
          </a:xfrm>
        </p:spPr>
        <p:txBody>
          <a:bodyPr/>
          <a:lstStyle/>
          <a:p>
            <a:r>
              <a:rPr lang="en-US" dirty="0" smtClean="0"/>
              <a:t>Distributed Ledger and Work</a:t>
            </a:r>
            <a:endParaRPr lang="en-US" dirty="0"/>
          </a:p>
        </p:txBody>
      </p:sp>
      <p:sp>
        <p:nvSpPr>
          <p:cNvPr id="3" name="Content Placeholder 2"/>
          <p:cNvSpPr>
            <a:spLocks noGrp="1"/>
          </p:cNvSpPr>
          <p:nvPr>
            <p:ph idx="1"/>
          </p:nvPr>
        </p:nvSpPr>
        <p:spPr/>
        <p:txBody>
          <a:bodyPr/>
          <a:lstStyle/>
          <a:p>
            <a:r>
              <a:rPr lang="en-US" dirty="0" smtClean="0"/>
              <a:t>Every ledger will have some amount of work </a:t>
            </a:r>
            <a:r>
              <a:rPr lang="en-US" dirty="0" smtClean="0"/>
              <a:t>(hashes) associated </a:t>
            </a:r>
            <a:r>
              <a:rPr lang="en-US" dirty="0" smtClean="0"/>
              <a:t>with it</a:t>
            </a:r>
          </a:p>
          <a:p>
            <a:r>
              <a:rPr lang="en-US" dirty="0" smtClean="0"/>
              <a:t>And, ledger with most work “wins”</a:t>
            </a:r>
          </a:p>
          <a:p>
            <a:pPr lvl="1"/>
            <a:r>
              <a:rPr lang="en-US" dirty="0" smtClean="0"/>
              <a:t>That is, everyone accepts ledger that has had the most work put into it </a:t>
            </a:r>
          </a:p>
          <a:p>
            <a:pPr marL="342900" lvl="1" indent="-342900">
              <a:buSzPct val="75000"/>
              <a:buFont typeface="Wingdings" charset="2"/>
              <a:buChar char="q"/>
            </a:pPr>
            <a:r>
              <a:rPr lang="en-US" sz="3200" dirty="0" smtClean="0"/>
              <a:t>Remember, </a:t>
            </a:r>
            <a:r>
              <a:rPr lang="en-US" sz="3200" dirty="0"/>
              <a:t>work </a:t>
            </a:r>
            <a:r>
              <a:rPr lang="en-US" sz="3200" dirty="0" smtClean="0"/>
              <a:t>measured </a:t>
            </a:r>
            <a:r>
              <a:rPr lang="en-US" sz="3200" dirty="0"/>
              <a:t>in </a:t>
            </a:r>
            <a:r>
              <a:rPr lang="en-US" sz="3200" dirty="0" smtClean="0"/>
              <a:t>hashes</a:t>
            </a:r>
          </a:p>
          <a:p>
            <a:pPr marL="342900" lvl="1" indent="-342900">
              <a:buSzPct val="75000"/>
              <a:buFont typeface="Wingdings" charset="2"/>
              <a:buChar char="q"/>
            </a:pPr>
            <a:r>
              <a:rPr lang="en-US" sz="3200" dirty="0" smtClean="0"/>
              <a:t>So, more hashes is “more better” </a:t>
            </a:r>
          </a:p>
          <a:p>
            <a:pPr marL="342900" lvl="1" indent="-342900">
              <a:buSzPct val="75000"/>
              <a:buFont typeface="Wingdings" charset="2"/>
              <a:buChar char="q"/>
            </a:pPr>
            <a:endParaRPr lang="en-US" sz="3200" dirty="0"/>
          </a:p>
          <a:p>
            <a:endParaRPr lang="is-IS" dirty="0" smtClean="0"/>
          </a:p>
          <a:p>
            <a:pPr lvl="1"/>
            <a:endParaRPr lang="is-IS" dirty="0" smtClean="0"/>
          </a:p>
          <a:p>
            <a:pPr lvl="1"/>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83680529"/>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Blocks and Hashes</a:t>
            </a:r>
            <a:endParaRPr lang="en-US" dirty="0"/>
          </a:p>
        </p:txBody>
      </p:sp>
      <p:sp>
        <p:nvSpPr>
          <p:cNvPr id="3" name="Content Placeholder 2"/>
          <p:cNvSpPr>
            <a:spLocks noGrp="1"/>
          </p:cNvSpPr>
          <p:nvPr>
            <p:ph idx="1"/>
          </p:nvPr>
        </p:nvSpPr>
        <p:spPr>
          <a:xfrm>
            <a:off x="685800" y="1828800"/>
            <a:ext cx="8001000" cy="4267200"/>
          </a:xfrm>
        </p:spPr>
        <p:txBody>
          <a:bodyPr/>
          <a:lstStyle/>
          <a:p>
            <a:r>
              <a:rPr lang="is-IS" dirty="0" smtClean="0"/>
              <a:t>Each transaction is signed</a:t>
            </a:r>
          </a:p>
          <a:p>
            <a:r>
              <a:rPr lang="is-IS" dirty="0"/>
              <a:t>T</a:t>
            </a:r>
            <a:r>
              <a:rPr lang="is-IS" dirty="0" smtClean="0"/>
              <a:t>ransactions grouped into </a:t>
            </a:r>
            <a:r>
              <a:rPr lang="is-IS" b="1" i="1" dirty="0" smtClean="0"/>
              <a:t>blocks</a:t>
            </a:r>
            <a:endParaRPr lang="is-IS" dirty="0" smtClean="0"/>
          </a:p>
          <a:p>
            <a:pPr lvl="1"/>
            <a:r>
              <a:rPr lang="is-IS" dirty="0"/>
              <a:t>L</a:t>
            </a:r>
            <a:r>
              <a:rPr lang="is-IS" dirty="0" smtClean="0"/>
              <a:t>et </a:t>
            </a:r>
            <a:r>
              <a:rPr lang="is-IS" dirty="0" smtClean="0">
                <a:latin typeface="Arial"/>
                <a:cs typeface="Arial"/>
              </a:rPr>
              <a:t>B</a:t>
            </a:r>
            <a:r>
              <a:rPr lang="is-IS" dirty="0" smtClean="0"/>
              <a:t> be one such block</a:t>
            </a:r>
          </a:p>
          <a:p>
            <a:r>
              <a:rPr lang="is-IS" dirty="0" smtClean="0"/>
              <a:t>Find (nonce) </a:t>
            </a:r>
            <a:r>
              <a:rPr lang="is-IS" dirty="0" smtClean="0">
                <a:latin typeface="Arial"/>
                <a:cs typeface="Arial"/>
              </a:rPr>
              <a:t>R</a:t>
            </a:r>
            <a:r>
              <a:rPr lang="is-IS" dirty="0" smtClean="0"/>
              <a:t> so that </a:t>
            </a:r>
            <a:r>
              <a:rPr lang="is-IS" dirty="0" smtClean="0">
                <a:latin typeface="Arial"/>
                <a:cs typeface="Arial"/>
              </a:rPr>
              <a:t>h(B,R) &lt; 2</a:t>
            </a:r>
            <a:r>
              <a:rPr lang="is-IS" baseline="30000" dirty="0" smtClean="0">
                <a:latin typeface="Arial"/>
                <a:cs typeface="Arial"/>
              </a:rPr>
              <a:t>n</a:t>
            </a:r>
            <a:r>
              <a:rPr lang="is-IS" dirty="0" smtClean="0"/>
              <a:t>      </a:t>
            </a:r>
          </a:p>
          <a:p>
            <a:pPr lvl="1"/>
            <a:r>
              <a:rPr lang="is-IS" dirty="0" smtClean="0"/>
              <a:t>Equivalent to saying </a:t>
            </a:r>
            <a:r>
              <a:rPr lang="is-IS" dirty="0">
                <a:latin typeface="Arial"/>
                <a:cs typeface="Arial"/>
              </a:rPr>
              <a:t>h(B,R)</a:t>
            </a:r>
            <a:r>
              <a:rPr lang="is-IS" dirty="0" smtClean="0"/>
              <a:t> starts with a specified number of 0s</a:t>
            </a:r>
          </a:p>
          <a:p>
            <a:r>
              <a:rPr lang="is-IS" dirty="0" smtClean="0"/>
              <a:t>Work required to find </a:t>
            </a:r>
            <a:r>
              <a:rPr lang="is-IS" dirty="0" smtClean="0">
                <a:latin typeface="Arial"/>
                <a:cs typeface="Arial"/>
              </a:rPr>
              <a:t>R</a:t>
            </a:r>
            <a:r>
              <a:rPr lang="is-IS" dirty="0" smtClean="0"/>
              <a:t>?</a:t>
            </a:r>
          </a:p>
          <a:p>
            <a:pPr lvl="1"/>
            <a:r>
              <a:rPr lang="is-IS" dirty="0" smtClean="0"/>
              <a:t>On average </a:t>
            </a:r>
            <a:r>
              <a:rPr lang="is-IS" dirty="0" smtClean="0">
                <a:latin typeface="Arial"/>
                <a:cs typeface="Arial"/>
              </a:rPr>
              <a:t>2</a:t>
            </a:r>
            <a:r>
              <a:rPr lang="is-IS" baseline="30000" dirty="0" smtClean="0">
                <a:latin typeface="Arial"/>
                <a:cs typeface="Arial"/>
              </a:rPr>
              <a:t>N-n</a:t>
            </a:r>
            <a:r>
              <a:rPr lang="is-IS" dirty="0" smtClean="0"/>
              <a:t> hashes for </a:t>
            </a:r>
            <a:r>
              <a:rPr lang="is-IS" dirty="0" smtClean="0">
                <a:latin typeface="Arial"/>
                <a:cs typeface="Arial"/>
              </a:rPr>
              <a:t>N</a:t>
            </a:r>
            <a:r>
              <a:rPr lang="is-IS" dirty="0" smtClean="0"/>
              <a:t>-bit hash</a:t>
            </a:r>
          </a:p>
          <a:p>
            <a:pPr lvl="1"/>
            <a:endParaRPr lang="is-IS" dirty="0" smtClean="0"/>
          </a:p>
          <a:p>
            <a:pPr lvl="1"/>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965507332"/>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a:t>
            </a:r>
            <a:endParaRPr lang="en-US" dirty="0"/>
          </a:p>
        </p:txBody>
      </p:sp>
      <p:sp>
        <p:nvSpPr>
          <p:cNvPr id="3" name="Content Placeholder 2"/>
          <p:cNvSpPr>
            <a:spLocks noGrp="1"/>
          </p:cNvSpPr>
          <p:nvPr>
            <p:ph idx="1"/>
          </p:nvPr>
        </p:nvSpPr>
        <p:spPr/>
        <p:txBody>
          <a:bodyPr/>
          <a:lstStyle/>
          <a:p>
            <a:r>
              <a:rPr lang="en-US" dirty="0" smtClean="0"/>
              <a:t>Don’t want to revalidate each block</a:t>
            </a:r>
            <a:endParaRPr lang="en-US" dirty="0"/>
          </a:p>
          <a:p>
            <a:r>
              <a:rPr lang="en-US" dirty="0" smtClean="0"/>
              <a:t>We’ll </a:t>
            </a:r>
            <a:r>
              <a:rPr lang="en-US" b="1" i="1" dirty="0" smtClean="0"/>
              <a:t>chain</a:t>
            </a:r>
            <a:r>
              <a:rPr lang="en-US" dirty="0" smtClean="0"/>
              <a:t> blocks together</a:t>
            </a:r>
          </a:p>
          <a:p>
            <a:pPr lvl="1"/>
            <a:r>
              <a:rPr lang="en-US" dirty="0" smtClean="0"/>
              <a:t>Put hash of previous block in header of current block before computing hash</a:t>
            </a:r>
          </a:p>
          <a:p>
            <a:r>
              <a:rPr lang="en-US" dirty="0" smtClean="0"/>
              <a:t>So, must find </a:t>
            </a:r>
            <a:r>
              <a:rPr lang="is-IS" dirty="0">
                <a:latin typeface="Arial"/>
                <a:cs typeface="Arial"/>
              </a:rPr>
              <a:t>R</a:t>
            </a:r>
            <a:r>
              <a:rPr lang="en-US" dirty="0" smtClean="0"/>
              <a:t> so that </a:t>
            </a:r>
            <a:r>
              <a:rPr lang="is-IS" dirty="0">
                <a:latin typeface="Arial"/>
                <a:cs typeface="Arial"/>
              </a:rPr>
              <a:t>h</a:t>
            </a:r>
            <a:r>
              <a:rPr lang="is-IS" dirty="0" smtClean="0">
                <a:latin typeface="Arial"/>
                <a:cs typeface="Arial"/>
              </a:rPr>
              <a:t>(Y,B</a:t>
            </a:r>
            <a:r>
              <a:rPr lang="is-IS" dirty="0">
                <a:latin typeface="Arial"/>
                <a:cs typeface="Arial"/>
              </a:rPr>
              <a:t>,R) &lt; 2</a:t>
            </a:r>
            <a:r>
              <a:rPr lang="is-IS" baseline="30000" dirty="0">
                <a:latin typeface="Arial"/>
                <a:cs typeface="Arial"/>
              </a:rPr>
              <a:t>n</a:t>
            </a:r>
            <a:r>
              <a:rPr lang="is-IS" dirty="0"/>
              <a:t> </a:t>
            </a:r>
            <a:r>
              <a:rPr lang="en-US" dirty="0" smtClean="0"/>
              <a:t> </a:t>
            </a:r>
          </a:p>
          <a:p>
            <a:pPr lvl="1"/>
            <a:r>
              <a:rPr lang="en-US" dirty="0" smtClean="0"/>
              <a:t>Where </a:t>
            </a:r>
            <a:r>
              <a:rPr lang="is-IS" dirty="0">
                <a:latin typeface="Arial"/>
                <a:cs typeface="Arial"/>
              </a:rPr>
              <a:t>Y</a:t>
            </a:r>
            <a:r>
              <a:rPr lang="en-US" dirty="0" smtClean="0"/>
              <a:t> is hash of previous block </a:t>
            </a:r>
          </a:p>
          <a:p>
            <a:pPr lvl="1"/>
            <a:r>
              <a:rPr lang="en-US" dirty="0" smtClean="0"/>
              <a:t>Hashing previous hash with new block  </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59268287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dirty="0" err="1" smtClean="0"/>
              <a:t>Blockchain</a:t>
            </a:r>
            <a:endParaRPr lang="en-US" dirty="0"/>
          </a:p>
        </p:txBody>
      </p:sp>
      <p:sp>
        <p:nvSpPr>
          <p:cNvPr id="3" name="Content Placeholder 2"/>
          <p:cNvSpPr>
            <a:spLocks noGrp="1"/>
          </p:cNvSpPr>
          <p:nvPr>
            <p:ph idx="1"/>
          </p:nvPr>
        </p:nvSpPr>
        <p:spPr>
          <a:xfrm>
            <a:off x="609600" y="1600200"/>
            <a:ext cx="8153400" cy="4572000"/>
          </a:xfrm>
        </p:spPr>
        <p:txBody>
          <a:bodyPr/>
          <a:lstStyle/>
          <a:p>
            <a:r>
              <a:rPr lang="en-US" dirty="0" smtClean="0"/>
              <a:t>We now have</a:t>
            </a:r>
          </a:p>
          <a:p>
            <a:pPr marL="0" indent="0">
              <a:buNone/>
            </a:pPr>
            <a:r>
              <a:rPr lang="en-US" dirty="0" smtClean="0">
                <a:latin typeface="Arial"/>
                <a:cs typeface="Arial"/>
              </a:rPr>
              <a:t>	Y</a:t>
            </a:r>
            <a:r>
              <a:rPr lang="is-IS" baseline="-25000" dirty="0" smtClean="0">
                <a:latin typeface="Arial"/>
                <a:cs typeface="Arial"/>
              </a:rPr>
              <a:t>i+1 </a:t>
            </a:r>
            <a:r>
              <a:rPr lang="is-IS" dirty="0" smtClean="0">
                <a:latin typeface="Arial"/>
                <a:cs typeface="Arial"/>
              </a:rPr>
              <a:t>= h</a:t>
            </a:r>
            <a:r>
              <a:rPr lang="is-IS" dirty="0">
                <a:latin typeface="Arial"/>
                <a:cs typeface="Arial"/>
              </a:rPr>
              <a:t>(</a:t>
            </a:r>
            <a:r>
              <a:rPr lang="is-IS" dirty="0" smtClean="0">
                <a:latin typeface="Arial"/>
                <a:cs typeface="Arial"/>
              </a:rPr>
              <a:t>Y</a:t>
            </a:r>
            <a:r>
              <a:rPr lang="is-IS" baseline="-25000" dirty="0" smtClean="0">
                <a:latin typeface="Arial"/>
                <a:cs typeface="Arial"/>
              </a:rPr>
              <a:t>i</a:t>
            </a:r>
            <a:r>
              <a:rPr lang="is-IS" dirty="0" smtClean="0">
                <a:latin typeface="Arial"/>
                <a:cs typeface="Arial"/>
              </a:rPr>
              <a:t>,B</a:t>
            </a:r>
            <a:r>
              <a:rPr lang="is-IS" baseline="-25000" dirty="0" smtClean="0">
                <a:latin typeface="Arial"/>
                <a:cs typeface="Arial"/>
              </a:rPr>
              <a:t>i</a:t>
            </a:r>
            <a:r>
              <a:rPr lang="is-IS" dirty="0" smtClean="0">
                <a:latin typeface="Arial"/>
                <a:cs typeface="Arial"/>
              </a:rPr>
              <a:t>,R</a:t>
            </a:r>
            <a:r>
              <a:rPr lang="is-IS" baseline="-25000" dirty="0" smtClean="0">
                <a:latin typeface="Arial"/>
                <a:cs typeface="Arial"/>
              </a:rPr>
              <a:t>i</a:t>
            </a:r>
            <a:r>
              <a:rPr lang="is-IS" dirty="0" smtClean="0">
                <a:latin typeface="Arial"/>
                <a:cs typeface="Arial"/>
              </a:rPr>
              <a:t>) </a:t>
            </a:r>
            <a:r>
              <a:rPr lang="is-IS" dirty="0">
                <a:latin typeface="Arial"/>
                <a:cs typeface="Arial"/>
              </a:rPr>
              <a:t>&lt; 2</a:t>
            </a:r>
            <a:r>
              <a:rPr lang="is-IS" baseline="30000" dirty="0">
                <a:latin typeface="Arial"/>
                <a:cs typeface="Arial"/>
              </a:rPr>
              <a:t>n</a:t>
            </a:r>
            <a:r>
              <a:rPr lang="is-IS" dirty="0"/>
              <a:t> </a:t>
            </a:r>
            <a:endParaRPr lang="en-US" dirty="0" smtClean="0"/>
          </a:p>
          <a:p>
            <a:pPr marL="0" indent="0">
              <a:buNone/>
            </a:pPr>
            <a:r>
              <a:rPr lang="en-US" dirty="0">
                <a:latin typeface="Arial"/>
                <a:cs typeface="Arial"/>
              </a:rPr>
              <a:t>	Y</a:t>
            </a:r>
            <a:r>
              <a:rPr lang="is-IS" baseline="-25000" dirty="0">
                <a:latin typeface="Arial"/>
                <a:cs typeface="Arial"/>
              </a:rPr>
              <a:t>i</a:t>
            </a:r>
            <a:r>
              <a:rPr lang="is-IS" baseline="-25000" dirty="0" smtClean="0">
                <a:latin typeface="Arial"/>
                <a:cs typeface="Arial"/>
              </a:rPr>
              <a:t>+2 </a:t>
            </a:r>
            <a:r>
              <a:rPr lang="is-IS" dirty="0" smtClean="0">
                <a:latin typeface="Arial"/>
                <a:cs typeface="Arial"/>
              </a:rPr>
              <a:t>= </a:t>
            </a:r>
            <a:r>
              <a:rPr lang="is-IS" dirty="0">
                <a:latin typeface="Arial"/>
                <a:cs typeface="Arial"/>
              </a:rPr>
              <a:t>h(</a:t>
            </a:r>
            <a:r>
              <a:rPr lang="is-IS" dirty="0" smtClean="0">
                <a:latin typeface="Arial"/>
                <a:cs typeface="Arial"/>
              </a:rPr>
              <a:t>Y</a:t>
            </a:r>
            <a:r>
              <a:rPr lang="is-IS" baseline="-25000" dirty="0" smtClean="0">
                <a:latin typeface="Arial"/>
                <a:cs typeface="Arial"/>
              </a:rPr>
              <a:t>i+1</a:t>
            </a:r>
            <a:r>
              <a:rPr lang="is-IS" dirty="0" smtClean="0">
                <a:latin typeface="Arial"/>
                <a:cs typeface="Arial"/>
              </a:rPr>
              <a:t>,B</a:t>
            </a:r>
            <a:r>
              <a:rPr lang="is-IS" baseline="-25000" dirty="0" smtClean="0">
                <a:latin typeface="Arial"/>
                <a:cs typeface="Arial"/>
              </a:rPr>
              <a:t>i+1</a:t>
            </a:r>
            <a:r>
              <a:rPr lang="is-IS" dirty="0" smtClean="0">
                <a:latin typeface="Arial"/>
                <a:cs typeface="Arial"/>
              </a:rPr>
              <a:t>,R</a:t>
            </a:r>
            <a:r>
              <a:rPr lang="is-IS" baseline="-25000" dirty="0" smtClean="0">
                <a:latin typeface="Arial"/>
                <a:cs typeface="Arial"/>
              </a:rPr>
              <a:t>i+1</a:t>
            </a:r>
            <a:r>
              <a:rPr lang="is-IS" dirty="0" smtClean="0">
                <a:latin typeface="Arial"/>
                <a:cs typeface="Arial"/>
              </a:rPr>
              <a:t>) </a:t>
            </a:r>
            <a:r>
              <a:rPr lang="is-IS" dirty="0">
                <a:latin typeface="Arial"/>
                <a:cs typeface="Arial"/>
              </a:rPr>
              <a:t>&lt; 2</a:t>
            </a:r>
            <a:r>
              <a:rPr lang="is-IS" baseline="30000" dirty="0">
                <a:latin typeface="Arial"/>
                <a:cs typeface="Arial"/>
              </a:rPr>
              <a:t>n</a:t>
            </a:r>
            <a:r>
              <a:rPr lang="is-IS" dirty="0"/>
              <a:t> </a:t>
            </a:r>
            <a:endParaRPr lang="en-US" dirty="0" smtClean="0"/>
          </a:p>
          <a:p>
            <a:pPr marL="0" indent="0">
              <a:buNone/>
            </a:pPr>
            <a:r>
              <a:rPr lang="en-US" dirty="0">
                <a:latin typeface="Arial"/>
                <a:cs typeface="Arial"/>
              </a:rPr>
              <a:t>	Y</a:t>
            </a:r>
            <a:r>
              <a:rPr lang="is-IS" baseline="-25000" dirty="0">
                <a:latin typeface="Arial"/>
                <a:cs typeface="Arial"/>
              </a:rPr>
              <a:t>i</a:t>
            </a:r>
            <a:r>
              <a:rPr lang="is-IS" baseline="-25000" dirty="0" smtClean="0">
                <a:latin typeface="Arial"/>
                <a:cs typeface="Arial"/>
              </a:rPr>
              <a:t>+3 </a:t>
            </a:r>
            <a:r>
              <a:rPr lang="is-IS" dirty="0" smtClean="0">
                <a:latin typeface="Arial"/>
                <a:cs typeface="Arial"/>
              </a:rPr>
              <a:t>= </a:t>
            </a:r>
            <a:r>
              <a:rPr lang="is-IS" dirty="0">
                <a:latin typeface="Arial"/>
                <a:cs typeface="Arial"/>
              </a:rPr>
              <a:t>h(</a:t>
            </a:r>
            <a:r>
              <a:rPr lang="is-IS" dirty="0" smtClean="0">
                <a:latin typeface="Arial"/>
                <a:cs typeface="Arial"/>
              </a:rPr>
              <a:t>Y</a:t>
            </a:r>
            <a:r>
              <a:rPr lang="is-IS" baseline="-25000" dirty="0" smtClean="0">
                <a:latin typeface="Arial"/>
                <a:cs typeface="Arial"/>
              </a:rPr>
              <a:t>i+2</a:t>
            </a:r>
            <a:r>
              <a:rPr lang="is-IS" dirty="0" smtClean="0">
                <a:latin typeface="Arial"/>
                <a:cs typeface="Arial"/>
              </a:rPr>
              <a:t>,B</a:t>
            </a:r>
            <a:r>
              <a:rPr lang="is-IS" baseline="-25000" dirty="0" smtClean="0">
                <a:latin typeface="Arial"/>
                <a:cs typeface="Arial"/>
              </a:rPr>
              <a:t>i+2</a:t>
            </a:r>
            <a:r>
              <a:rPr lang="is-IS" dirty="0" smtClean="0">
                <a:latin typeface="Arial"/>
                <a:cs typeface="Arial"/>
              </a:rPr>
              <a:t>,R</a:t>
            </a:r>
            <a:r>
              <a:rPr lang="is-IS" baseline="-25000" dirty="0" smtClean="0">
                <a:latin typeface="Arial"/>
                <a:cs typeface="Arial"/>
              </a:rPr>
              <a:t>i+2</a:t>
            </a:r>
            <a:r>
              <a:rPr lang="is-IS" dirty="0" smtClean="0">
                <a:latin typeface="Arial"/>
                <a:cs typeface="Arial"/>
              </a:rPr>
              <a:t>) </a:t>
            </a:r>
            <a:r>
              <a:rPr lang="is-IS" dirty="0">
                <a:latin typeface="Arial"/>
                <a:cs typeface="Arial"/>
              </a:rPr>
              <a:t>&lt; 2</a:t>
            </a:r>
            <a:r>
              <a:rPr lang="is-IS" baseline="30000" dirty="0">
                <a:latin typeface="Arial"/>
                <a:cs typeface="Arial"/>
              </a:rPr>
              <a:t>n</a:t>
            </a:r>
            <a:r>
              <a:rPr lang="is-IS" dirty="0"/>
              <a:t> </a:t>
            </a:r>
            <a:endParaRPr lang="en-US" dirty="0"/>
          </a:p>
          <a:p>
            <a:r>
              <a:rPr lang="en-US" dirty="0"/>
              <a:t>E</a:t>
            </a:r>
            <a:r>
              <a:rPr lang="en-US" dirty="0" smtClean="0"/>
              <a:t>ach </a:t>
            </a:r>
            <a:r>
              <a:rPr lang="en-US" dirty="0" smtClean="0">
                <a:latin typeface="Arial"/>
                <a:cs typeface="Arial"/>
              </a:rPr>
              <a:t>B</a:t>
            </a:r>
            <a:r>
              <a:rPr lang="en-US" dirty="0" smtClean="0"/>
              <a:t> is a block </a:t>
            </a:r>
            <a:endParaRPr lang="en-US" dirty="0"/>
          </a:p>
          <a:p>
            <a:pPr lvl="1"/>
            <a:r>
              <a:rPr lang="en-US" dirty="0" smtClean="0"/>
              <a:t>Block is a group of signed transactions</a:t>
            </a:r>
          </a:p>
          <a:p>
            <a:r>
              <a:rPr lang="en-US" dirty="0" smtClean="0"/>
              <a:t>Each </a:t>
            </a:r>
            <a:r>
              <a:rPr lang="en-US" dirty="0" smtClean="0">
                <a:latin typeface="Arial"/>
                <a:cs typeface="Arial"/>
              </a:rPr>
              <a:t>R</a:t>
            </a:r>
            <a:r>
              <a:rPr lang="en-US" dirty="0" smtClean="0"/>
              <a:t> is chosen so inequality holds </a:t>
            </a:r>
          </a:p>
          <a:p>
            <a:pPr lvl="1"/>
            <a:r>
              <a:rPr lang="en-US" dirty="0" smtClean="0"/>
              <a:t>Lot of work to find </a:t>
            </a:r>
            <a:r>
              <a:rPr lang="en-US" dirty="0" smtClean="0">
                <a:latin typeface="Arial"/>
                <a:cs typeface="Arial"/>
              </a:rPr>
              <a:t>R</a:t>
            </a:r>
            <a:r>
              <a:rPr lang="en-US" dirty="0" smtClean="0"/>
              <a:t>, easy to verify </a:t>
            </a:r>
            <a:r>
              <a:rPr lang="en-US" dirty="0" smtClean="0">
                <a:latin typeface="Arial"/>
                <a:cs typeface="Arial"/>
              </a:rPr>
              <a:t>Y</a:t>
            </a:r>
            <a:r>
              <a:rPr lang="en-US" dirty="0" smtClean="0"/>
              <a:t> </a:t>
            </a:r>
            <a:r>
              <a:rPr lang="is-IS" dirty="0">
                <a:latin typeface="Arial"/>
                <a:cs typeface="Arial"/>
              </a:rPr>
              <a:t>&lt; 2</a:t>
            </a:r>
            <a:r>
              <a:rPr lang="is-IS" baseline="30000" dirty="0">
                <a:latin typeface="Arial"/>
                <a:cs typeface="Arial"/>
              </a:rPr>
              <a:t>n</a:t>
            </a:r>
            <a:r>
              <a:rPr lang="is-IS" dirty="0"/>
              <a:t> </a:t>
            </a:r>
            <a:endParaRPr lang="en-US" dirty="0"/>
          </a:p>
          <a:p>
            <a:pPr lvl="1"/>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75329560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a:t>
            </a:r>
            <a:endParaRPr lang="en-US" dirty="0"/>
          </a:p>
        </p:txBody>
      </p:sp>
      <p:sp>
        <p:nvSpPr>
          <p:cNvPr id="3" name="Content Placeholder 2"/>
          <p:cNvSpPr>
            <a:spLocks noGrp="1"/>
          </p:cNvSpPr>
          <p:nvPr>
            <p:ph idx="1"/>
          </p:nvPr>
        </p:nvSpPr>
        <p:spPr/>
        <p:txBody>
          <a:bodyPr/>
          <a:lstStyle/>
          <a:p>
            <a:r>
              <a:rPr lang="en-US" dirty="0" smtClean="0"/>
              <a:t>Anyone can create a new block</a:t>
            </a:r>
          </a:p>
          <a:p>
            <a:r>
              <a:rPr lang="en-US" dirty="0" smtClean="0"/>
              <a:t>But lots of work to find a valid hash</a:t>
            </a:r>
          </a:p>
          <a:p>
            <a:r>
              <a:rPr lang="en-US" dirty="0"/>
              <a:t>W</a:t>
            </a:r>
            <a:r>
              <a:rPr lang="en-US" dirty="0" smtClean="0"/>
              <a:t>hat is the incentive to do work?</a:t>
            </a:r>
          </a:p>
          <a:p>
            <a:r>
              <a:rPr lang="en-US" dirty="0" smtClean="0"/>
              <a:t>“Free” money!</a:t>
            </a:r>
          </a:p>
          <a:p>
            <a:pPr lvl="1"/>
            <a:r>
              <a:rPr lang="en-US" dirty="0" smtClean="0"/>
              <a:t>Get (new) money for doing work, say, </a:t>
            </a:r>
            <a:r>
              <a:rPr lang="en-US" dirty="0">
                <a:latin typeface="Arial"/>
                <a:cs typeface="Arial"/>
              </a:rPr>
              <a:t>§1</a:t>
            </a:r>
            <a:r>
              <a:rPr lang="en-US" dirty="0" smtClean="0"/>
              <a:t>    </a:t>
            </a:r>
          </a:p>
          <a:p>
            <a:pPr lvl="1"/>
            <a:r>
              <a:rPr lang="en-US" dirty="0" smtClean="0"/>
              <a:t>Put this info at start of block, does not need to be signed (since new money)</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81812603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Block</a:t>
            </a:r>
            <a:endParaRPr lang="en-US" dirty="0"/>
          </a:p>
        </p:txBody>
      </p:sp>
      <p:sp>
        <p:nvSpPr>
          <p:cNvPr id="3" name="Content Placeholder 2"/>
          <p:cNvSpPr>
            <a:spLocks noGrp="1"/>
          </p:cNvSpPr>
          <p:nvPr>
            <p:ph idx="1"/>
          </p:nvPr>
        </p:nvSpPr>
        <p:spPr>
          <a:xfrm>
            <a:off x="685800" y="1828800"/>
            <a:ext cx="7848600" cy="762000"/>
          </a:xfrm>
        </p:spPr>
        <p:txBody>
          <a:bodyPr/>
          <a:lstStyle/>
          <a:p>
            <a:r>
              <a:rPr lang="en-US" dirty="0" smtClean="0"/>
              <a:t>Block </a:t>
            </a:r>
            <a:r>
              <a:rPr lang="en-US" dirty="0" smtClean="0">
                <a:latin typeface="Arial"/>
                <a:cs typeface="Arial"/>
              </a:rPr>
              <a:t>B</a:t>
            </a:r>
            <a:r>
              <a:rPr lang="en-US" baseline="-25000" dirty="0" smtClean="0">
                <a:latin typeface="Arial"/>
                <a:cs typeface="Arial"/>
              </a:rPr>
              <a:t>i</a:t>
            </a:r>
            <a:r>
              <a:rPr lang="en-US" dirty="0" smtClean="0"/>
              <a:t> looks like</a:t>
            </a:r>
            <a:r>
              <a:rPr lang="is-IS" dirty="0" smtClean="0"/>
              <a:t>…</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pic>
        <p:nvPicPr>
          <p:cNvPr id="6" name="Picture 5" descr="temp.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590800"/>
            <a:ext cx="4025900" cy="3882630"/>
          </a:xfrm>
          <a:prstGeom prst="rect">
            <a:avLst/>
          </a:prstGeom>
        </p:spPr>
      </p:pic>
    </p:spTree>
    <p:extLst>
      <p:ext uri="{BB962C8B-B14F-4D97-AF65-F5344CB8AC3E}">
        <p14:creationId xmlns:p14="http://schemas.microsoft.com/office/powerpoint/2010/main" val="317068128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a:t>
            </a:r>
            <a:endParaRPr lang="en-US" dirty="0"/>
          </a:p>
        </p:txBody>
      </p:sp>
      <p:sp>
        <p:nvSpPr>
          <p:cNvPr id="3" name="Content Placeholder 2"/>
          <p:cNvSpPr>
            <a:spLocks noGrp="1"/>
          </p:cNvSpPr>
          <p:nvPr>
            <p:ph idx="1"/>
          </p:nvPr>
        </p:nvSpPr>
        <p:spPr/>
        <p:txBody>
          <a:bodyPr/>
          <a:lstStyle/>
          <a:p>
            <a:r>
              <a:rPr lang="en-US" dirty="0" smtClean="0"/>
              <a:t>Free money, so miners are in a </a:t>
            </a:r>
            <a:r>
              <a:rPr lang="en-US" b="1" i="1" dirty="0" smtClean="0"/>
              <a:t>race</a:t>
            </a:r>
            <a:r>
              <a:rPr lang="en-US" dirty="0" smtClean="0"/>
              <a:t> to find hashes that yield valid blocks</a:t>
            </a:r>
          </a:p>
          <a:p>
            <a:r>
              <a:rPr lang="en-US" dirty="0" smtClean="0"/>
              <a:t>The more computing power a miner has, the better chance to win race</a:t>
            </a:r>
          </a:p>
          <a:p>
            <a:r>
              <a:rPr lang="en-US" dirty="0" smtClean="0"/>
              <a:t>Once a valid hash is found, miner sends the block out to everybody</a:t>
            </a:r>
          </a:p>
          <a:p>
            <a:r>
              <a:rPr lang="en-US" dirty="0" smtClean="0"/>
              <a:t>Again, easy to verify that any hash satisfies the </a:t>
            </a:r>
            <a:r>
              <a:rPr lang="en-US" dirty="0" smtClean="0"/>
              <a:t>necessary</a:t>
            </a:r>
            <a:r>
              <a:rPr lang="en-US" dirty="0" smtClean="0"/>
              <a:t> condition</a:t>
            </a:r>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8296511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Blockchain</a:t>
            </a:r>
            <a:endParaRPr lang="en-US" dirty="0"/>
          </a:p>
        </p:txBody>
      </p:sp>
      <p:sp>
        <p:nvSpPr>
          <p:cNvPr id="3" name="Content Placeholder 2"/>
          <p:cNvSpPr>
            <a:spLocks noGrp="1"/>
          </p:cNvSpPr>
          <p:nvPr>
            <p:ph idx="1"/>
          </p:nvPr>
        </p:nvSpPr>
        <p:spPr>
          <a:xfrm>
            <a:off x="685800" y="1828800"/>
            <a:ext cx="7848600" cy="3962400"/>
          </a:xfrm>
        </p:spPr>
        <p:txBody>
          <a:bodyPr/>
          <a:lstStyle/>
          <a:p>
            <a:r>
              <a:rPr lang="en-US" dirty="0" err="1" smtClean="0"/>
              <a:t>Blockchain</a:t>
            </a:r>
            <a:r>
              <a:rPr lang="en-US" dirty="0" smtClean="0"/>
              <a:t> looks like</a:t>
            </a:r>
            <a:r>
              <a:rPr lang="is-IS" dirty="0" smtClean="0"/>
              <a:t>…</a:t>
            </a:r>
          </a:p>
          <a:p>
            <a:endParaRPr lang="is-IS" dirty="0"/>
          </a:p>
          <a:p>
            <a:endParaRPr lang="is-IS" dirty="0" smtClean="0"/>
          </a:p>
          <a:p>
            <a:endParaRPr lang="is-IS" dirty="0"/>
          </a:p>
          <a:p>
            <a:endParaRPr lang="is-IS" dirty="0" smtClean="0"/>
          </a:p>
          <a:p>
            <a:r>
              <a:rPr lang="is-IS" dirty="0" smtClean="0"/>
              <a:t>Require that </a:t>
            </a:r>
            <a:r>
              <a:rPr lang="is-IS" dirty="0" smtClean="0">
                <a:latin typeface="Arial"/>
                <a:cs typeface="Arial"/>
              </a:rPr>
              <a:t>h(Y</a:t>
            </a:r>
            <a:r>
              <a:rPr lang="is-IS" baseline="-25000" dirty="0" smtClean="0">
                <a:latin typeface="Arial"/>
                <a:cs typeface="Arial"/>
              </a:rPr>
              <a:t>i</a:t>
            </a:r>
            <a:r>
              <a:rPr lang="is-IS" dirty="0" smtClean="0">
                <a:latin typeface="Arial"/>
                <a:cs typeface="Arial"/>
              </a:rPr>
              <a:t>,B</a:t>
            </a:r>
            <a:r>
              <a:rPr lang="is-IS" baseline="-25000" dirty="0" smtClean="0">
                <a:latin typeface="Arial"/>
                <a:cs typeface="Arial"/>
              </a:rPr>
              <a:t>i</a:t>
            </a:r>
            <a:r>
              <a:rPr lang="is-IS" dirty="0" smtClean="0">
                <a:latin typeface="Arial"/>
                <a:cs typeface="Arial"/>
              </a:rPr>
              <a:t>,R</a:t>
            </a:r>
            <a:r>
              <a:rPr lang="is-IS" baseline="-25000" dirty="0" smtClean="0">
                <a:latin typeface="Arial"/>
                <a:cs typeface="Arial"/>
              </a:rPr>
              <a:t>i</a:t>
            </a:r>
            <a:r>
              <a:rPr lang="is-IS" dirty="0" smtClean="0">
                <a:latin typeface="Arial"/>
                <a:cs typeface="Arial"/>
              </a:rPr>
              <a:t>) &lt; 2</a:t>
            </a:r>
            <a:r>
              <a:rPr lang="is-IS" baseline="30000" dirty="0" smtClean="0">
                <a:latin typeface="Arial"/>
                <a:cs typeface="Arial"/>
              </a:rPr>
              <a:t>n</a:t>
            </a:r>
            <a:r>
              <a:rPr lang="is-IS" dirty="0" smtClean="0">
                <a:latin typeface="Arial"/>
                <a:cs typeface="Arial"/>
              </a:rPr>
              <a:t> </a:t>
            </a:r>
            <a:r>
              <a:rPr lang="is-IS" dirty="0" smtClean="0"/>
              <a:t>for all </a:t>
            </a:r>
            <a:r>
              <a:rPr lang="is-IS" dirty="0" smtClean="0">
                <a:latin typeface="Arial"/>
                <a:cs typeface="Arial"/>
              </a:rPr>
              <a:t>i</a:t>
            </a:r>
            <a:r>
              <a:rPr lang="is-IS" dirty="0" smtClean="0"/>
              <a:t>       </a:t>
            </a:r>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pic>
        <p:nvPicPr>
          <p:cNvPr id="6" name="Picture 5" descr="temp.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00" y="2768600"/>
            <a:ext cx="8674100" cy="1727200"/>
          </a:xfrm>
          <a:prstGeom prst="rect">
            <a:avLst/>
          </a:prstGeom>
        </p:spPr>
      </p:pic>
    </p:spTree>
    <p:extLst>
      <p:ext uri="{BB962C8B-B14F-4D97-AF65-F5344CB8AC3E}">
        <p14:creationId xmlns:p14="http://schemas.microsoft.com/office/powerpoint/2010/main" val="2672761100"/>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a:t>
            </a:r>
            <a:endParaRPr lang="en-US" dirty="0"/>
          </a:p>
        </p:txBody>
      </p:sp>
      <p:sp>
        <p:nvSpPr>
          <p:cNvPr id="3" name="Content Placeholder 2"/>
          <p:cNvSpPr>
            <a:spLocks noGrp="1"/>
          </p:cNvSpPr>
          <p:nvPr>
            <p:ph idx="1"/>
          </p:nvPr>
        </p:nvSpPr>
        <p:spPr/>
        <p:txBody>
          <a:bodyPr/>
          <a:lstStyle/>
          <a:p>
            <a:r>
              <a:rPr lang="en-US" dirty="0"/>
              <a:t>W</a:t>
            </a:r>
            <a:r>
              <a:rPr lang="en-US" dirty="0" smtClean="0"/>
              <a:t>hy is “mining” called mining ?</a:t>
            </a:r>
          </a:p>
          <a:p>
            <a:pPr lvl="1"/>
            <a:r>
              <a:rPr lang="en-US" dirty="0" smtClean="0"/>
              <a:t>Really, just finding a valid block hash</a:t>
            </a:r>
          </a:p>
          <a:p>
            <a:r>
              <a:rPr lang="en-US" dirty="0" smtClean="0"/>
              <a:t>Miner is doing work, and creating new money that did not previously exist</a:t>
            </a:r>
          </a:p>
          <a:p>
            <a:pPr lvl="1"/>
            <a:r>
              <a:rPr lang="en-US" dirty="0" smtClean="0"/>
              <a:t>In a sense, this is comparable to mining gold or silver (for example)</a:t>
            </a:r>
            <a:endParaRPr lang="is-IS" dirty="0" smtClean="0"/>
          </a:p>
          <a:p>
            <a:r>
              <a:rPr lang="is-IS" dirty="0"/>
              <a:t>T</a:t>
            </a:r>
            <a:r>
              <a:rPr lang="is-IS" dirty="0" smtClean="0"/>
              <a:t>his may be the most misunderstood part of cryptocurrency protocols</a:t>
            </a:r>
          </a:p>
          <a:p>
            <a:endParaRPr lang="is-IS" dirty="0" smtClean="0"/>
          </a:p>
          <a:p>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250121111"/>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dirty="0" smtClean="0"/>
              <a:t>Non-Miners</a:t>
            </a:r>
            <a:endParaRPr lang="en-US" dirty="0"/>
          </a:p>
        </p:txBody>
      </p:sp>
      <p:sp>
        <p:nvSpPr>
          <p:cNvPr id="3" name="Content Placeholder 2"/>
          <p:cNvSpPr>
            <a:spLocks noGrp="1"/>
          </p:cNvSpPr>
          <p:nvPr>
            <p:ph idx="1"/>
          </p:nvPr>
        </p:nvSpPr>
        <p:spPr>
          <a:xfrm>
            <a:off x="685800" y="1676400"/>
            <a:ext cx="8001000" cy="4343400"/>
          </a:xfrm>
        </p:spPr>
        <p:txBody>
          <a:bodyPr/>
          <a:lstStyle/>
          <a:p>
            <a:r>
              <a:rPr lang="is-IS" dirty="0"/>
              <a:t>U</a:t>
            </a:r>
            <a:r>
              <a:rPr lang="is-IS" dirty="0" smtClean="0"/>
              <a:t>sers do not have to be miners</a:t>
            </a:r>
          </a:p>
          <a:p>
            <a:r>
              <a:rPr lang="is-IS" dirty="0" smtClean="0"/>
              <a:t>Non-miner just wants blockchain</a:t>
            </a:r>
          </a:p>
          <a:p>
            <a:pPr lvl="1"/>
            <a:r>
              <a:rPr lang="is-IS" dirty="0" smtClean="0"/>
              <a:t>Needed to know how much </a:t>
            </a:r>
            <a:r>
              <a:rPr lang="en-US" dirty="0" smtClean="0">
                <a:latin typeface="Arial"/>
                <a:cs typeface="Arial"/>
              </a:rPr>
              <a:t>§</a:t>
            </a:r>
            <a:r>
              <a:rPr lang="is-IS" dirty="0" smtClean="0"/>
              <a:t> others have</a:t>
            </a:r>
          </a:p>
          <a:p>
            <a:r>
              <a:rPr lang="is-IS" dirty="0" smtClean="0"/>
              <a:t>Also, non-miner sends out transactions for others to make blocks (and mine)</a:t>
            </a:r>
          </a:p>
          <a:p>
            <a:r>
              <a:rPr lang="is-IS" dirty="0" smtClean="0"/>
              <a:t>User might see conflicting blockchains</a:t>
            </a:r>
          </a:p>
          <a:p>
            <a:pPr lvl="1"/>
            <a:r>
              <a:rPr lang="is-IS" dirty="0" smtClean="0"/>
              <a:t>What to do in such cases???</a:t>
            </a:r>
          </a:p>
          <a:p>
            <a:r>
              <a:rPr lang="is-IS" dirty="0" smtClean="0"/>
              <a:t>More work is “more better”!</a:t>
            </a:r>
          </a:p>
          <a:p>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523362480"/>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Work</a:t>
            </a:r>
            <a:endParaRPr lang="en-US" dirty="0"/>
          </a:p>
        </p:txBody>
      </p:sp>
      <p:sp>
        <p:nvSpPr>
          <p:cNvPr id="3" name="Content Placeholder 2"/>
          <p:cNvSpPr>
            <a:spLocks noGrp="1"/>
          </p:cNvSpPr>
          <p:nvPr>
            <p:ph idx="1"/>
          </p:nvPr>
        </p:nvSpPr>
        <p:spPr/>
        <p:txBody>
          <a:bodyPr/>
          <a:lstStyle/>
          <a:p>
            <a:r>
              <a:rPr lang="en-US" dirty="0" smtClean="0"/>
              <a:t>If conflicting </a:t>
            </a:r>
            <a:r>
              <a:rPr lang="en-US" dirty="0" err="1" smtClean="0"/>
              <a:t>blockchains</a:t>
            </a:r>
            <a:r>
              <a:rPr lang="en-US" dirty="0" smtClean="0"/>
              <a:t>, how to know which represents more work?</a:t>
            </a:r>
          </a:p>
          <a:p>
            <a:r>
              <a:rPr lang="en-US" dirty="0" smtClean="0"/>
              <a:t>Each block </a:t>
            </a:r>
            <a:r>
              <a:rPr lang="en-US" dirty="0"/>
              <a:t>i</a:t>
            </a:r>
            <a:r>
              <a:rPr lang="en-US" dirty="0" smtClean="0"/>
              <a:t>s a fixed amount of work</a:t>
            </a:r>
          </a:p>
          <a:p>
            <a:pPr lvl="1"/>
            <a:r>
              <a:rPr lang="en-US" dirty="0" smtClean="0"/>
              <a:t>In terms of </a:t>
            </a:r>
            <a:r>
              <a:rPr lang="en-US" b="1" dirty="0" smtClean="0"/>
              <a:t>expected</a:t>
            </a:r>
            <a:r>
              <a:rPr lang="en-US" dirty="0" smtClean="0"/>
              <a:t> number of hashes</a:t>
            </a:r>
          </a:p>
          <a:p>
            <a:r>
              <a:rPr lang="en-US" dirty="0" smtClean="0"/>
              <a:t>So, longer block chain </a:t>
            </a:r>
            <a:r>
              <a:rPr lang="en-US" dirty="0" smtClean="0">
                <a:latin typeface="Arial"/>
                <a:cs typeface="Arial"/>
              </a:rPr>
              <a:t>==</a:t>
            </a:r>
            <a:r>
              <a:rPr lang="en-US" dirty="0" smtClean="0"/>
              <a:t> more work</a:t>
            </a:r>
          </a:p>
          <a:p>
            <a:r>
              <a:rPr lang="en-US" dirty="0" smtClean="0"/>
              <a:t>Thus, </a:t>
            </a:r>
            <a:r>
              <a:rPr lang="en-US" b="1" i="1" dirty="0"/>
              <a:t>longer</a:t>
            </a:r>
            <a:r>
              <a:rPr lang="en-US" dirty="0"/>
              <a:t> block chain always wins</a:t>
            </a:r>
          </a:p>
          <a:p>
            <a:pPr lvl="1"/>
            <a:r>
              <a:rPr lang="en-US" dirty="0"/>
              <a:t>If it’s a tie, wait until one is </a:t>
            </a:r>
            <a:r>
              <a:rPr lang="en-US" dirty="0" smtClean="0"/>
              <a:t>longer</a:t>
            </a:r>
          </a:p>
          <a:p>
            <a:endParaRPr lang="en-US" dirty="0"/>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513043976"/>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dirty="0" smtClean="0"/>
              <a:t>Summary of Protocol</a:t>
            </a:r>
            <a:endParaRPr lang="en-US" dirty="0"/>
          </a:p>
        </p:txBody>
      </p:sp>
      <p:sp>
        <p:nvSpPr>
          <p:cNvPr id="3" name="Content Placeholder 2"/>
          <p:cNvSpPr>
            <a:spLocks noGrp="1"/>
          </p:cNvSpPr>
          <p:nvPr>
            <p:ph idx="1"/>
          </p:nvPr>
        </p:nvSpPr>
        <p:spPr>
          <a:xfrm>
            <a:off x="609600" y="1676400"/>
            <a:ext cx="8153400" cy="4419600"/>
          </a:xfrm>
        </p:spPr>
        <p:txBody>
          <a:bodyPr/>
          <a:lstStyle/>
          <a:p>
            <a:pPr marL="514350" indent="-514350">
              <a:buFont typeface="+mj-lt"/>
              <a:buAutoNum type="arabicPeriod"/>
            </a:pPr>
            <a:r>
              <a:rPr lang="en-US" dirty="0" smtClean="0"/>
              <a:t>New transactions broadcast </a:t>
            </a:r>
          </a:p>
          <a:p>
            <a:pPr marL="514350" indent="-514350">
              <a:buFont typeface="+mj-lt"/>
              <a:buAutoNum type="arabicPeriod"/>
            </a:pPr>
            <a:r>
              <a:rPr lang="en-US" dirty="0" smtClean="0"/>
              <a:t>Miners collect transactions into blocks</a:t>
            </a:r>
          </a:p>
          <a:p>
            <a:pPr marL="514350" indent="-514350">
              <a:buFont typeface="+mj-lt"/>
              <a:buAutoNum type="arabicPeriod"/>
            </a:pPr>
            <a:r>
              <a:rPr lang="en-US" dirty="0" smtClean="0"/>
              <a:t>Miners race to find valid block hash</a:t>
            </a:r>
          </a:p>
          <a:p>
            <a:pPr marL="514350" indent="-514350">
              <a:buFont typeface="+mj-lt"/>
              <a:buAutoNum type="arabicPeriod"/>
            </a:pPr>
            <a:r>
              <a:rPr lang="en-US" dirty="0" smtClean="0"/>
              <a:t>When miner finds hash, broadcast it</a:t>
            </a:r>
          </a:p>
          <a:p>
            <a:pPr marL="514350" indent="-514350">
              <a:buFont typeface="+mj-lt"/>
              <a:buAutoNum type="arabicPeriod"/>
            </a:pPr>
            <a:r>
              <a:rPr lang="en-US" dirty="0" smtClean="0"/>
              <a:t>Block accepted if all transactions signed, no overdraft, &amp; block hash valid</a:t>
            </a:r>
          </a:p>
          <a:p>
            <a:pPr marL="514350" indent="-514350">
              <a:buFont typeface="+mj-lt"/>
              <a:buAutoNum type="arabicPeriod"/>
            </a:pPr>
            <a:r>
              <a:rPr lang="en-US" dirty="0"/>
              <a:t>N</a:t>
            </a:r>
            <a:r>
              <a:rPr lang="en-US" dirty="0" smtClean="0"/>
              <a:t>ew block extends the </a:t>
            </a:r>
            <a:r>
              <a:rPr lang="en-US" dirty="0" err="1" smtClean="0"/>
              <a:t>blockchain</a:t>
            </a:r>
            <a:r>
              <a:rPr lang="en-US" dirty="0" smtClean="0"/>
              <a:t> </a:t>
            </a:r>
          </a:p>
          <a:p>
            <a:pPr lvl="1"/>
            <a:r>
              <a:rPr lang="en-US" dirty="0" smtClean="0"/>
              <a:t>Miners use hash of new block in next block</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7487943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dirty="0" smtClean="0"/>
              <a:t>Attack Scenario</a:t>
            </a:r>
            <a:endParaRPr lang="en-US" dirty="0"/>
          </a:p>
        </p:txBody>
      </p:sp>
      <p:sp>
        <p:nvSpPr>
          <p:cNvPr id="3" name="Content Placeholder 2"/>
          <p:cNvSpPr>
            <a:spLocks noGrp="1"/>
          </p:cNvSpPr>
          <p:nvPr>
            <p:ph idx="1"/>
          </p:nvPr>
        </p:nvSpPr>
        <p:spPr>
          <a:xfrm>
            <a:off x="685800" y="1676400"/>
            <a:ext cx="7772400" cy="4419600"/>
          </a:xfrm>
        </p:spPr>
        <p:txBody>
          <a:bodyPr/>
          <a:lstStyle/>
          <a:p>
            <a:r>
              <a:rPr lang="en-US" dirty="0" smtClean="0"/>
              <a:t>Suppose Trudy makes a block </a:t>
            </a:r>
            <a:r>
              <a:rPr lang="en-US" dirty="0" smtClean="0">
                <a:latin typeface="Arial"/>
                <a:cs typeface="Arial"/>
              </a:rPr>
              <a:t>B</a:t>
            </a:r>
            <a:r>
              <a:rPr lang="en-US" b="1" dirty="0" smtClean="0"/>
              <a:t> </a:t>
            </a:r>
            <a:r>
              <a:rPr lang="en-US" dirty="0" smtClean="0"/>
              <a:t>that includes transaction</a:t>
            </a:r>
          </a:p>
          <a:p>
            <a:pPr lvl="1"/>
            <a:r>
              <a:rPr lang="en-US" dirty="0" smtClean="0"/>
              <a:t>[Trudy pays Alice </a:t>
            </a:r>
            <a:r>
              <a:rPr lang="en-US" dirty="0">
                <a:latin typeface="Arial"/>
                <a:cs typeface="Arial"/>
              </a:rPr>
              <a:t>§</a:t>
            </a:r>
            <a:r>
              <a:rPr lang="en-US" dirty="0" smtClean="0"/>
              <a:t>100]</a:t>
            </a:r>
            <a:r>
              <a:rPr lang="en-US" baseline="-25000" dirty="0" smtClean="0"/>
              <a:t>Trudy</a:t>
            </a:r>
            <a:endParaRPr lang="en-US" dirty="0" smtClean="0"/>
          </a:p>
          <a:p>
            <a:pPr lvl="1"/>
            <a:r>
              <a:rPr lang="en-US" dirty="0" smtClean="0"/>
              <a:t>Trudy sends </a:t>
            </a:r>
            <a:r>
              <a:rPr lang="en-US" dirty="0">
                <a:latin typeface="Arial"/>
                <a:cs typeface="Arial"/>
              </a:rPr>
              <a:t>B</a:t>
            </a:r>
            <a:r>
              <a:rPr lang="en-US" dirty="0" smtClean="0"/>
              <a:t> to Alice </a:t>
            </a:r>
            <a:r>
              <a:rPr lang="en-US" b="1" i="1" dirty="0" smtClean="0"/>
              <a:t>only</a:t>
            </a:r>
            <a:r>
              <a:rPr lang="en-US" dirty="0" smtClean="0"/>
              <a:t>, nobody else</a:t>
            </a:r>
          </a:p>
          <a:p>
            <a:r>
              <a:rPr lang="en-US" b="1" dirty="0" smtClean="0">
                <a:solidFill>
                  <a:srgbClr val="3366FF"/>
                </a:solidFill>
              </a:rPr>
              <a:t>Q</a:t>
            </a:r>
            <a:r>
              <a:rPr lang="en-US" dirty="0" smtClean="0"/>
              <a:t>: Why would Trudy do this?</a:t>
            </a:r>
          </a:p>
          <a:p>
            <a:r>
              <a:rPr lang="en-US" b="1" dirty="0" smtClean="0">
                <a:solidFill>
                  <a:srgbClr val="FF0000"/>
                </a:solidFill>
              </a:rPr>
              <a:t>A</a:t>
            </a:r>
            <a:r>
              <a:rPr lang="en-US" dirty="0" smtClean="0"/>
              <a:t>: So she can spend that </a:t>
            </a:r>
            <a:r>
              <a:rPr lang="en-US" dirty="0">
                <a:latin typeface="Arial"/>
                <a:cs typeface="Arial"/>
              </a:rPr>
              <a:t>§100</a:t>
            </a:r>
            <a:r>
              <a:rPr lang="en-US" dirty="0" smtClean="0"/>
              <a:t> again</a:t>
            </a:r>
          </a:p>
          <a:p>
            <a:pPr lvl="1"/>
            <a:r>
              <a:rPr lang="en-US" dirty="0" smtClean="0"/>
              <a:t>Trudy likes double spending!</a:t>
            </a:r>
          </a:p>
          <a:p>
            <a:pPr lvl="1"/>
            <a:r>
              <a:rPr lang="en-US" dirty="0" smtClean="0"/>
              <a:t>This would be free money for Trudy!</a:t>
            </a:r>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4406183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r>
              <a:rPr lang="en-US" dirty="0" smtClean="0"/>
              <a:t>Double Spending</a:t>
            </a:r>
            <a:endParaRPr lang="en-US" dirty="0"/>
          </a:p>
        </p:txBody>
      </p:sp>
      <p:sp>
        <p:nvSpPr>
          <p:cNvPr id="3" name="Content Placeholder 2"/>
          <p:cNvSpPr>
            <a:spLocks noGrp="1"/>
          </p:cNvSpPr>
          <p:nvPr>
            <p:ph idx="1"/>
          </p:nvPr>
        </p:nvSpPr>
        <p:spPr>
          <a:xfrm>
            <a:off x="685800" y="1447800"/>
            <a:ext cx="8077200" cy="4724400"/>
          </a:xfrm>
        </p:spPr>
        <p:txBody>
          <a:bodyPr/>
          <a:lstStyle/>
          <a:p>
            <a:r>
              <a:rPr lang="en-US" dirty="0" smtClean="0"/>
              <a:t>For Trudy’s double spending attack to work, she must compute valid hash</a:t>
            </a:r>
          </a:p>
          <a:p>
            <a:pPr lvl="1"/>
            <a:r>
              <a:rPr lang="en-US" dirty="0" smtClean="0"/>
              <a:t>That is, find </a:t>
            </a:r>
            <a:r>
              <a:rPr lang="en-US" dirty="0" smtClean="0">
                <a:latin typeface="Arial"/>
                <a:cs typeface="Arial"/>
              </a:rPr>
              <a:t>R</a:t>
            </a:r>
            <a:r>
              <a:rPr lang="en-US" dirty="0" smtClean="0"/>
              <a:t>, so that </a:t>
            </a:r>
            <a:r>
              <a:rPr lang="is-IS" dirty="0">
                <a:latin typeface="Arial"/>
                <a:cs typeface="Arial"/>
              </a:rPr>
              <a:t>h(</a:t>
            </a:r>
            <a:r>
              <a:rPr lang="is-IS" dirty="0" smtClean="0">
                <a:latin typeface="Arial"/>
                <a:cs typeface="Arial"/>
              </a:rPr>
              <a:t>Y,B,R) </a:t>
            </a:r>
            <a:r>
              <a:rPr lang="is-IS" dirty="0">
                <a:latin typeface="Arial"/>
                <a:cs typeface="Arial"/>
              </a:rPr>
              <a:t>&lt; 2</a:t>
            </a:r>
            <a:r>
              <a:rPr lang="is-IS" baseline="30000" dirty="0">
                <a:latin typeface="Arial"/>
                <a:cs typeface="Arial"/>
              </a:rPr>
              <a:t>n</a:t>
            </a:r>
            <a:r>
              <a:rPr lang="is-IS" dirty="0"/>
              <a:t> </a:t>
            </a:r>
            <a:r>
              <a:rPr lang="en-US" dirty="0" smtClean="0"/>
              <a:t>   </a:t>
            </a:r>
          </a:p>
          <a:p>
            <a:r>
              <a:rPr lang="en-US" dirty="0" smtClean="0"/>
              <a:t>And send chain with block </a:t>
            </a:r>
            <a:r>
              <a:rPr lang="is-IS" dirty="0" smtClean="0">
                <a:latin typeface="Arial"/>
                <a:cs typeface="Arial"/>
              </a:rPr>
              <a:t>B </a:t>
            </a:r>
            <a:r>
              <a:rPr lang="en-US" dirty="0" smtClean="0"/>
              <a:t>to Alice </a:t>
            </a:r>
          </a:p>
          <a:p>
            <a:r>
              <a:rPr lang="en-US" dirty="0" smtClean="0"/>
              <a:t>But, nobody else knows about </a:t>
            </a:r>
            <a:r>
              <a:rPr lang="is-IS" dirty="0">
                <a:latin typeface="Arial"/>
                <a:cs typeface="Arial"/>
              </a:rPr>
              <a:t>B</a:t>
            </a:r>
            <a:r>
              <a:rPr lang="en-US" dirty="0" smtClean="0"/>
              <a:t>, or the chain that contains it</a:t>
            </a:r>
          </a:p>
          <a:p>
            <a:pPr lvl="1"/>
            <a:r>
              <a:rPr lang="en-US" dirty="0"/>
              <a:t>A</a:t>
            </a:r>
            <a:r>
              <a:rPr lang="en-US" dirty="0" smtClean="0"/>
              <a:t>ll other miners working on other chains</a:t>
            </a:r>
          </a:p>
          <a:p>
            <a:pPr lvl="1"/>
            <a:r>
              <a:rPr lang="en-US" dirty="0"/>
              <a:t>T</a:t>
            </a:r>
            <a:r>
              <a:rPr lang="en-US" dirty="0" smtClean="0"/>
              <a:t>hose other chains can (and will) grow</a:t>
            </a:r>
          </a:p>
          <a:p>
            <a:pPr lvl="1"/>
            <a:r>
              <a:rPr lang="en-US" dirty="0" smtClean="0"/>
              <a:t>Trudy is in ongoing race with </a:t>
            </a:r>
            <a:r>
              <a:rPr lang="en-US" b="1" i="1" dirty="0" smtClean="0"/>
              <a:t>all miners</a:t>
            </a:r>
            <a:r>
              <a:rPr lang="en-US" dirty="0" smtClean="0"/>
              <a:t> </a:t>
            </a:r>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2282285460"/>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772400" cy="1143000"/>
          </a:xfrm>
        </p:spPr>
        <p:txBody>
          <a:bodyPr/>
          <a:lstStyle/>
          <a:p>
            <a:r>
              <a:rPr lang="en-US" dirty="0" smtClean="0"/>
              <a:t>Double Spending Attack</a:t>
            </a:r>
            <a:endParaRPr lang="en-US" dirty="0"/>
          </a:p>
        </p:txBody>
      </p:sp>
      <p:sp>
        <p:nvSpPr>
          <p:cNvPr id="3" name="Content Placeholder 2"/>
          <p:cNvSpPr>
            <a:spLocks noGrp="1"/>
          </p:cNvSpPr>
          <p:nvPr>
            <p:ph idx="1"/>
          </p:nvPr>
        </p:nvSpPr>
        <p:spPr>
          <a:xfrm>
            <a:off x="685800" y="1752600"/>
            <a:ext cx="7848600" cy="4191000"/>
          </a:xfrm>
        </p:spPr>
        <p:txBody>
          <a:bodyPr/>
          <a:lstStyle/>
          <a:p>
            <a:r>
              <a:rPr lang="en-US" dirty="0" smtClean="0"/>
              <a:t>Assuming she waits, Alice will reject Trudy’s chain if longer chain appears</a:t>
            </a:r>
          </a:p>
          <a:p>
            <a:r>
              <a:rPr lang="en-US" dirty="0" smtClean="0"/>
              <a:t>Trudy would need majority of compute power in network to win consistently</a:t>
            </a:r>
          </a:p>
          <a:p>
            <a:pPr lvl="1"/>
            <a:r>
              <a:rPr lang="en-US" dirty="0" smtClean="0"/>
              <a:t>Trudy </a:t>
            </a:r>
            <a:r>
              <a:rPr lang="en-US" dirty="0" smtClean="0"/>
              <a:t>needs </a:t>
            </a:r>
            <a:r>
              <a:rPr lang="en-US" dirty="0" smtClean="0"/>
              <a:t>to win a lot!</a:t>
            </a:r>
          </a:p>
          <a:p>
            <a:r>
              <a:rPr lang="en-US" dirty="0" smtClean="0"/>
              <a:t>Or, miners </a:t>
            </a:r>
            <a:r>
              <a:rPr lang="en-US" dirty="0" smtClean="0"/>
              <a:t>(with sufficient computing power) must </a:t>
            </a:r>
            <a:r>
              <a:rPr lang="en-US" dirty="0" smtClean="0"/>
              <a:t>collude with Trudy</a:t>
            </a:r>
          </a:p>
          <a:p>
            <a:pPr lvl="1"/>
            <a:r>
              <a:rPr lang="en-US" dirty="0" smtClean="0"/>
              <a:t>But is it in their interest to do so?</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4273138278"/>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Blockchain</a:t>
            </a:r>
            <a:endParaRPr lang="en-US" dirty="0"/>
          </a:p>
        </p:txBody>
      </p:sp>
      <p:sp>
        <p:nvSpPr>
          <p:cNvPr id="3" name="Content Placeholder 2"/>
          <p:cNvSpPr>
            <a:spLocks noGrp="1"/>
          </p:cNvSpPr>
          <p:nvPr>
            <p:ph idx="1"/>
          </p:nvPr>
        </p:nvSpPr>
        <p:spPr/>
        <p:txBody>
          <a:bodyPr/>
          <a:lstStyle/>
          <a:p>
            <a:r>
              <a:rPr lang="en-US" dirty="0" smtClean="0"/>
              <a:t>From users perspective</a:t>
            </a:r>
            <a:r>
              <a:rPr lang="is-IS" dirty="0" smtClean="0"/>
              <a:t>…</a:t>
            </a:r>
          </a:p>
          <a:p>
            <a:pPr lvl="1"/>
            <a:r>
              <a:rPr lang="is-IS" dirty="0" smtClean="0"/>
              <a:t>Transaction in last block might not be entirely trustworthy</a:t>
            </a:r>
          </a:p>
          <a:p>
            <a:pPr lvl="1"/>
            <a:r>
              <a:rPr lang="is-IS" dirty="0" smtClean="0"/>
              <a:t>Possibility of double spending attack</a:t>
            </a:r>
          </a:p>
          <a:p>
            <a:pPr lvl="1"/>
            <a:r>
              <a:rPr lang="is-IS" dirty="0" smtClean="0"/>
              <a:t>But, the more blocks that follow, the more certain that a transaction is valid</a:t>
            </a:r>
          </a:p>
          <a:p>
            <a:r>
              <a:rPr lang="is-IS" dirty="0"/>
              <a:t>W</a:t>
            </a:r>
            <a:r>
              <a:rPr lang="is-IS" dirty="0" smtClean="0"/>
              <a:t>ait until a few more blocks are added before accepting a transaction!</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100191907"/>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Refinements</a:t>
            </a:r>
            <a:endParaRPr lang="en-US" dirty="0"/>
          </a:p>
        </p:txBody>
      </p:sp>
      <p:sp>
        <p:nvSpPr>
          <p:cNvPr id="3" name="Content Placeholder 2"/>
          <p:cNvSpPr>
            <a:spLocks noGrp="1"/>
          </p:cNvSpPr>
          <p:nvPr>
            <p:ph idx="1"/>
          </p:nvPr>
        </p:nvSpPr>
        <p:spPr>
          <a:xfrm>
            <a:off x="685800" y="1828800"/>
            <a:ext cx="8001000" cy="4191000"/>
          </a:xfrm>
        </p:spPr>
        <p:txBody>
          <a:bodyPr/>
          <a:lstStyle/>
          <a:p>
            <a:r>
              <a:rPr lang="en-US" dirty="0" smtClean="0"/>
              <a:t>Computing power in network increases?</a:t>
            </a:r>
          </a:p>
          <a:p>
            <a:pPr lvl="1"/>
            <a:r>
              <a:rPr lang="en-US" dirty="0" smtClean="0"/>
              <a:t>Number of (expected) hashes can change to adjust (expected) time</a:t>
            </a:r>
          </a:p>
          <a:p>
            <a:pPr lvl="1"/>
            <a:r>
              <a:rPr lang="en-US" dirty="0" smtClean="0"/>
              <a:t>In </a:t>
            </a:r>
            <a:r>
              <a:rPr lang="en-US" dirty="0" err="1" smtClean="0"/>
              <a:t>Bitcoin</a:t>
            </a:r>
            <a:r>
              <a:rPr lang="en-US" dirty="0" smtClean="0"/>
              <a:t>, new block every 10 minutes </a:t>
            </a:r>
          </a:p>
          <a:p>
            <a:r>
              <a:rPr lang="en-US" dirty="0" smtClean="0"/>
              <a:t>Can decrease mining reward so money supply does not grow forever</a:t>
            </a:r>
          </a:p>
          <a:p>
            <a:pPr lvl="1"/>
            <a:r>
              <a:rPr lang="en-US" dirty="0" smtClean="0"/>
              <a:t>E.g., maximum of </a:t>
            </a:r>
            <a:r>
              <a:rPr lang="en-US" dirty="0" smtClean="0">
                <a:latin typeface="Arial"/>
                <a:cs typeface="Arial"/>
              </a:rPr>
              <a:t>21,000,000</a:t>
            </a:r>
            <a:r>
              <a:rPr lang="en-US" dirty="0" smtClean="0"/>
              <a:t> </a:t>
            </a:r>
            <a:r>
              <a:rPr lang="en-US" dirty="0" err="1" smtClean="0"/>
              <a:t>bitcoins</a:t>
            </a:r>
            <a:endParaRPr lang="en-US" dirty="0" smtClean="0"/>
          </a:p>
          <a:p>
            <a:pPr lvl="1"/>
            <a:r>
              <a:rPr lang="en-US" dirty="0" smtClean="0"/>
              <a:t>Then what will be incentive for miners?</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385291707"/>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dirty="0" smtClean="0"/>
              <a:t>Refinements</a:t>
            </a:r>
            <a:endParaRPr lang="en-US" dirty="0"/>
          </a:p>
        </p:txBody>
      </p:sp>
      <p:sp>
        <p:nvSpPr>
          <p:cNvPr id="3" name="Content Placeholder 2"/>
          <p:cNvSpPr>
            <a:spLocks noGrp="1"/>
          </p:cNvSpPr>
          <p:nvPr>
            <p:ph idx="1"/>
          </p:nvPr>
        </p:nvSpPr>
        <p:spPr>
          <a:xfrm>
            <a:off x="533400" y="1752600"/>
            <a:ext cx="8153400" cy="4267200"/>
          </a:xfrm>
        </p:spPr>
        <p:txBody>
          <a:bodyPr/>
          <a:lstStyle/>
          <a:p>
            <a:r>
              <a:rPr lang="en-US" b="1" i="1" dirty="0" err="1" smtClean="0"/>
              <a:t>Merkle</a:t>
            </a:r>
            <a:r>
              <a:rPr lang="en-US" b="1" i="1" dirty="0" smtClean="0"/>
              <a:t> tree</a:t>
            </a:r>
            <a:r>
              <a:rPr lang="en-US" dirty="0" smtClean="0"/>
              <a:t> can be used to reduce storage requirements</a:t>
            </a:r>
          </a:p>
          <a:p>
            <a:pPr lvl="1"/>
            <a:r>
              <a:rPr lang="en-US" dirty="0" smtClean="0"/>
              <a:t>Transactions in a block hashed in a tree, only the root is needed in block hash</a:t>
            </a:r>
          </a:p>
          <a:p>
            <a:r>
              <a:rPr lang="en-US" dirty="0" smtClean="0"/>
              <a:t>Simplified payment verification</a:t>
            </a:r>
          </a:p>
          <a:p>
            <a:pPr lvl="1"/>
            <a:r>
              <a:rPr lang="en-US" dirty="0" smtClean="0"/>
              <a:t>In effect, rely on others to verify for you</a:t>
            </a:r>
          </a:p>
          <a:p>
            <a:r>
              <a:rPr lang="en-US" dirty="0" smtClean="0"/>
              <a:t>Combining and splitting value</a:t>
            </a:r>
          </a:p>
          <a:p>
            <a:pPr lvl="1"/>
            <a:r>
              <a:rPr lang="en-US" dirty="0" smtClean="0"/>
              <a:t>Transaction can have multiple input/output</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77604980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Privacy?</a:t>
            </a:r>
            <a:endParaRPr lang="en-US" dirty="0"/>
          </a:p>
        </p:txBody>
      </p:sp>
      <p:sp>
        <p:nvSpPr>
          <p:cNvPr id="3" name="Content Placeholder 2"/>
          <p:cNvSpPr>
            <a:spLocks noGrp="1"/>
          </p:cNvSpPr>
          <p:nvPr>
            <p:ph idx="1"/>
          </p:nvPr>
        </p:nvSpPr>
        <p:spPr>
          <a:xfrm>
            <a:off x="685800" y="1828800"/>
            <a:ext cx="7848600" cy="4191000"/>
          </a:xfrm>
        </p:spPr>
        <p:txBody>
          <a:bodyPr/>
          <a:lstStyle/>
          <a:p>
            <a:r>
              <a:rPr lang="en-US" dirty="0" smtClean="0"/>
              <a:t>Can use </a:t>
            </a:r>
            <a:r>
              <a:rPr lang="en-US" dirty="0" smtClean="0"/>
              <a:t>a pseudonym </a:t>
            </a:r>
            <a:r>
              <a:rPr lang="en-US" dirty="0" smtClean="0"/>
              <a:t>in public key</a:t>
            </a:r>
          </a:p>
          <a:p>
            <a:r>
              <a:rPr lang="en-US" dirty="0" smtClean="0"/>
              <a:t>But, </a:t>
            </a:r>
            <a:r>
              <a:rPr lang="en-US" dirty="0" smtClean="0"/>
              <a:t>police (for example) can </a:t>
            </a:r>
            <a:r>
              <a:rPr lang="en-US" dirty="0" smtClean="0"/>
              <a:t>connect transactions to a specific public key</a:t>
            </a:r>
          </a:p>
          <a:p>
            <a:pPr lvl="1"/>
            <a:r>
              <a:rPr lang="en-US" dirty="0" smtClean="0"/>
              <a:t>Might be able to tie public key to an individual based on transactions</a:t>
            </a:r>
          </a:p>
          <a:p>
            <a:pPr lvl="1"/>
            <a:r>
              <a:rPr lang="en-US" dirty="0" smtClean="0"/>
              <a:t>We’ll see examples like this later</a:t>
            </a:r>
            <a:r>
              <a:rPr lang="is-IS" dirty="0" smtClean="0"/>
              <a:t>…</a:t>
            </a:r>
            <a:endParaRPr lang="en-US" dirty="0" smtClean="0"/>
          </a:p>
          <a:p>
            <a:r>
              <a:rPr lang="en-US" dirty="0" smtClean="0"/>
              <a:t>Not a strong form of anonymity</a:t>
            </a:r>
          </a:p>
          <a:p>
            <a:r>
              <a:rPr lang="en-US" dirty="0" err="1" smtClean="0"/>
              <a:t>Bitcoin</a:t>
            </a:r>
            <a:r>
              <a:rPr lang="en-US" dirty="0" smtClean="0"/>
              <a:t> is said to be “pseudonymous”</a:t>
            </a:r>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1482538775"/>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of </a:t>
            </a:r>
            <a:r>
              <a:rPr lang="en-US" dirty="0" err="1" smtClean="0"/>
              <a:t>Blockchain</a:t>
            </a:r>
            <a:r>
              <a:rPr lang="en-US" dirty="0" smtClean="0"/>
              <a:t>?</a:t>
            </a:r>
            <a:endParaRPr lang="en-US" dirty="0"/>
          </a:p>
        </p:txBody>
      </p:sp>
      <p:sp>
        <p:nvSpPr>
          <p:cNvPr id="3" name="Content Placeholder 2"/>
          <p:cNvSpPr>
            <a:spLocks noGrp="1"/>
          </p:cNvSpPr>
          <p:nvPr>
            <p:ph idx="1"/>
          </p:nvPr>
        </p:nvSpPr>
        <p:spPr/>
        <p:txBody>
          <a:bodyPr/>
          <a:lstStyle/>
          <a:p>
            <a:r>
              <a:rPr lang="en-US" dirty="0" err="1" smtClean="0"/>
              <a:t>Blockchain</a:t>
            </a:r>
            <a:r>
              <a:rPr lang="en-US" dirty="0" smtClean="0"/>
              <a:t> can be viewed as a way to implement a distributed ledger</a:t>
            </a:r>
          </a:p>
          <a:p>
            <a:r>
              <a:rPr lang="en-US" dirty="0" smtClean="0"/>
              <a:t>Useful for </a:t>
            </a:r>
            <a:r>
              <a:rPr lang="en-US" dirty="0" err="1" smtClean="0"/>
              <a:t>cryptocurrency</a:t>
            </a:r>
            <a:r>
              <a:rPr lang="en-US" dirty="0" smtClean="0"/>
              <a:t>, but many other possible applications too</a:t>
            </a:r>
          </a:p>
          <a:p>
            <a:r>
              <a:rPr lang="en-US" dirty="0" err="1" smtClean="0"/>
              <a:t>Blockchain</a:t>
            </a:r>
            <a:r>
              <a:rPr lang="en-US" dirty="0" smtClean="0"/>
              <a:t> said to be a “foundational” and/or “disruptive” technology</a:t>
            </a:r>
          </a:p>
          <a:p>
            <a:r>
              <a:rPr lang="en-US" dirty="0" smtClean="0"/>
              <a:t>Perhaps, but your skeptical author is not completely convinced</a:t>
            </a:r>
            <a:r>
              <a:rPr lang="is-IS" dirty="0" smtClean="0"/>
              <a:t>…</a:t>
            </a:r>
            <a:endParaRPr lang="en-US" dirty="0" smtClean="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690721022"/>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a:t>Excellent video: </a:t>
            </a:r>
            <a:r>
              <a:rPr lang="en-US" dirty="0">
                <a:hlinkClick r:id="rId2"/>
              </a:rPr>
              <a:t>https://www.youtube.com/watch?v=bBC-</a:t>
            </a:r>
            <a:r>
              <a:rPr lang="en-US" dirty="0" smtClean="0">
                <a:hlinkClick r:id="rId2"/>
              </a:rPr>
              <a:t>nXj3Ng4</a:t>
            </a:r>
            <a:endParaRPr lang="en-US" dirty="0" smtClean="0"/>
          </a:p>
          <a:p>
            <a:r>
              <a:rPr lang="en-US" dirty="0" smtClean="0"/>
              <a:t>Original </a:t>
            </a:r>
            <a:r>
              <a:rPr lang="en-US" dirty="0" err="1" smtClean="0"/>
              <a:t>bitcoin</a:t>
            </a:r>
            <a:r>
              <a:rPr lang="en-US" dirty="0" smtClean="0"/>
              <a:t> paper (surprisingly easy to read): </a:t>
            </a:r>
            <a:r>
              <a:rPr lang="en-US" dirty="0" err="1" smtClean="0"/>
              <a:t>Bitcoin</a:t>
            </a:r>
            <a:r>
              <a:rPr lang="en-US" dirty="0" smtClean="0"/>
              <a:t>: A peer-to-peer electronic cash system, Satoshi </a:t>
            </a:r>
            <a:r>
              <a:rPr lang="en-US" dirty="0" err="1" smtClean="0"/>
              <a:t>Nakamoto</a:t>
            </a:r>
            <a:r>
              <a:rPr lang="en-US" dirty="0"/>
              <a:t>, </a:t>
            </a:r>
            <a:r>
              <a:rPr lang="en-US" dirty="0">
                <a:hlinkClick r:id="rId3"/>
              </a:rPr>
              <a:t>https://bitcoin.org/</a:t>
            </a:r>
            <a:r>
              <a:rPr lang="en-US" dirty="0" smtClean="0">
                <a:hlinkClick r:id="rId3"/>
              </a:rPr>
              <a:t>bitcoin.pdf</a:t>
            </a:r>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de-DE" smtClean="0"/>
              <a:t>Blockchain                                                                                                                   </a:t>
            </a:r>
            <a:endParaRPr lang="en-US">
              <a:latin typeface="Times New Roman" charset="0"/>
            </a:endParaRPr>
          </a:p>
        </p:txBody>
      </p:sp>
    </p:spTree>
    <p:extLst>
      <p:ext uri="{BB962C8B-B14F-4D97-AF65-F5344CB8AC3E}">
        <p14:creationId xmlns:p14="http://schemas.microsoft.com/office/powerpoint/2010/main" val="3534077632"/>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5437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15021</TotalTime>
  <Words>3069</Words>
  <Application>Microsoft Macintosh PowerPoint</Application>
  <PresentationFormat>On-screen Show (4:3)</PresentationFormat>
  <Paragraphs>373</Paragraphs>
  <Slides>43</Slides>
  <Notes>20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Default Design</vt:lpstr>
      <vt:lpstr>Blockchain</vt:lpstr>
      <vt:lpstr>Digital Cash is not New</vt:lpstr>
      <vt:lpstr>Digital Currency</vt:lpstr>
      <vt:lpstr>Preliminaries: Work</vt:lpstr>
      <vt:lpstr>Hashing to Prove Work</vt:lpstr>
      <vt:lpstr>Work and Hashing</vt:lpstr>
      <vt:lpstr>Work and Hashing</vt:lpstr>
      <vt:lpstr>Work and Hashing</vt:lpstr>
      <vt:lpstr>Preliminaries: Ledgers</vt:lpstr>
      <vt:lpstr>Signed Ledger Entries</vt:lpstr>
      <vt:lpstr>Signed Ledger</vt:lpstr>
      <vt:lpstr>Signed Ledger in Detail</vt:lpstr>
      <vt:lpstr>Ledger Duplication</vt:lpstr>
      <vt:lpstr>Unique Ledger Entries</vt:lpstr>
      <vt:lpstr>Ledger Prepayment</vt:lpstr>
      <vt:lpstr>Ledger Prepayment Example</vt:lpstr>
      <vt:lpstr>Ledger Prepayment</vt:lpstr>
      <vt:lpstr>Eternal Ledger?</vt:lpstr>
      <vt:lpstr>Ledger as Currency</vt:lpstr>
      <vt:lpstr>Ledger Currency</vt:lpstr>
      <vt:lpstr>Distributed Ledger</vt:lpstr>
      <vt:lpstr>Distributed Ledger</vt:lpstr>
      <vt:lpstr>Distributed Ledger and Work</vt:lpstr>
      <vt:lpstr>Blocks and Hashes</vt:lpstr>
      <vt:lpstr>Chain</vt:lpstr>
      <vt:lpstr>Blockchain</vt:lpstr>
      <vt:lpstr>Mining?</vt:lpstr>
      <vt:lpstr>One Block</vt:lpstr>
      <vt:lpstr>Mining</vt:lpstr>
      <vt:lpstr>Blockchain</vt:lpstr>
      <vt:lpstr>Mining</vt:lpstr>
      <vt:lpstr>Non-Miners</vt:lpstr>
      <vt:lpstr>More Work</vt:lpstr>
      <vt:lpstr>Summary of Protocol</vt:lpstr>
      <vt:lpstr>Attack Scenario</vt:lpstr>
      <vt:lpstr>Double Spending</vt:lpstr>
      <vt:lpstr>Double Spending Attack</vt:lpstr>
      <vt:lpstr>Blockchain</vt:lpstr>
      <vt:lpstr>Refinements</vt:lpstr>
      <vt:lpstr>Refinements</vt:lpstr>
      <vt:lpstr>Privacy?</vt:lpstr>
      <vt:lpstr>Future of Blockchain?</vt:lpstr>
      <vt:lpstr>References</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dc:title>
  <dc:subject/>
  <dc:creator>Mark Stamp</dc:creator>
  <cp:keywords/>
  <dc:description/>
  <cp:lastModifiedBy>Mark Stamp</cp:lastModifiedBy>
  <cp:revision>1469</cp:revision>
  <cp:lastPrinted>2004-12-25T16:50:47Z</cp:lastPrinted>
  <dcterms:created xsi:type="dcterms:W3CDTF">2015-09-22T02:43:33Z</dcterms:created>
  <dcterms:modified xsi:type="dcterms:W3CDTF">2022-03-10T14:24:42Z</dcterms:modified>
  <cp:category/>
</cp:coreProperties>
</file>