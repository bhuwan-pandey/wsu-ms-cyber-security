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eg"/>
  <Default Extension="emf" ContentType="image/x-emf"/>
  <Default Extension="rels" ContentType="application/vnd.openxmlformats-package.relationships+xml"/>
  <Default Extension="vml" ContentType="application/vnd.openxmlformats-officedocument.vmlDrawing"/>
  <Default Extension="gif" ContentType="image/gif"/>
  <Default Extension="wdp" ContentType="image/vnd.ms-photo"/>
  <Default Extension="bin" ContentType="application/vnd.openxmlformats-officedocument.presentationml.printerSettings"/>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9"/>
  </p:notesMasterIdLst>
  <p:sldIdLst>
    <p:sldId id="256" r:id="rId2"/>
    <p:sldId id="343" r:id="rId3"/>
    <p:sldId id="336" r:id="rId4"/>
    <p:sldId id="335" r:id="rId5"/>
    <p:sldId id="339" r:id="rId6"/>
    <p:sldId id="340" r:id="rId7"/>
    <p:sldId id="341" r:id="rId8"/>
    <p:sldId id="346" r:id="rId9"/>
    <p:sldId id="344" r:id="rId10"/>
    <p:sldId id="345" r:id="rId11"/>
    <p:sldId id="347" r:id="rId12"/>
    <p:sldId id="257" r:id="rId13"/>
    <p:sldId id="258" r:id="rId14"/>
    <p:sldId id="259" r:id="rId15"/>
    <p:sldId id="260" r:id="rId16"/>
    <p:sldId id="261" r:id="rId17"/>
    <p:sldId id="262" r:id="rId18"/>
    <p:sldId id="286" r:id="rId19"/>
    <p:sldId id="287" r:id="rId20"/>
    <p:sldId id="288" r:id="rId21"/>
    <p:sldId id="289" r:id="rId22"/>
    <p:sldId id="291" r:id="rId23"/>
    <p:sldId id="292" r:id="rId24"/>
    <p:sldId id="294" r:id="rId25"/>
    <p:sldId id="295" r:id="rId26"/>
    <p:sldId id="348"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96" r:id="rId50"/>
    <p:sldId id="297" r:id="rId51"/>
    <p:sldId id="298" r:id="rId52"/>
    <p:sldId id="299" r:id="rId53"/>
    <p:sldId id="317" r:id="rId54"/>
    <p:sldId id="318" r:id="rId55"/>
    <p:sldId id="300" r:id="rId56"/>
    <p:sldId id="301" r:id="rId57"/>
    <p:sldId id="302" r:id="rId58"/>
    <p:sldId id="315" r:id="rId59"/>
    <p:sldId id="316" r:id="rId60"/>
    <p:sldId id="303" r:id="rId61"/>
    <p:sldId id="304" r:id="rId62"/>
    <p:sldId id="305" r:id="rId63"/>
    <p:sldId id="308" r:id="rId64"/>
    <p:sldId id="309" r:id="rId65"/>
    <p:sldId id="310" r:id="rId66"/>
    <p:sldId id="311" r:id="rId67"/>
    <p:sldId id="313" r:id="rId68"/>
    <p:sldId id="314"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49" r:id="rId84"/>
    <p:sldId id="350" r:id="rId85"/>
    <p:sldId id="351" r:id="rId86"/>
    <p:sldId id="352" r:id="rId87"/>
    <p:sldId id="353" r:id="rId88"/>
    <p:sldId id="354" r:id="rId89"/>
    <p:sldId id="355" r:id="rId90"/>
    <p:sldId id="356" r:id="rId91"/>
    <p:sldId id="357" r:id="rId92"/>
    <p:sldId id="358" r:id="rId93"/>
    <p:sldId id="359" r:id="rId94"/>
    <p:sldId id="360" r:id="rId95"/>
    <p:sldId id="361" r:id="rId96"/>
    <p:sldId id="362" r:id="rId97"/>
    <p:sldId id="363" r:id="rId98"/>
    <p:sldId id="364" r:id="rId99"/>
    <p:sldId id="365" r:id="rId100"/>
    <p:sldId id="366" r:id="rId101"/>
    <p:sldId id="367" r:id="rId102"/>
    <p:sldId id="368" r:id="rId103"/>
    <p:sldId id="369" r:id="rId104"/>
    <p:sldId id="370" r:id="rId105"/>
    <p:sldId id="371" r:id="rId106"/>
    <p:sldId id="372" r:id="rId107"/>
    <p:sldId id="373" r:id="rId10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3" d="100"/>
          <a:sy n="103" d="100"/>
        </p:scale>
        <p:origin x="-1240"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8" Type="http://schemas.openxmlformats.org/officeDocument/2006/relationships/slide" Target="slides/slide107.xml"/><Relationship Id="rId109" Type="http://schemas.openxmlformats.org/officeDocument/2006/relationships/notesMaster" Target="notesMasters/notes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10" Type="http://schemas.openxmlformats.org/officeDocument/2006/relationships/printerSettings" Target="printerSettings/printerSettings1.bin"/><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11" Type="http://schemas.openxmlformats.org/officeDocument/2006/relationships/presProps" Target="presProps.xml"/><Relationship Id="rId112" Type="http://schemas.openxmlformats.org/officeDocument/2006/relationships/viewProps" Target="viewProps.xml"/><Relationship Id="rId113" Type="http://schemas.openxmlformats.org/officeDocument/2006/relationships/theme" Target="theme/theme1.xml"/><Relationship Id="rId114"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00" Type="http://schemas.openxmlformats.org/officeDocument/2006/relationships/slide" Target="slides/slide99.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junjie:Work:Research:Job2011:presentation:Symantec:figures:step.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v># of hosts after each component</c:v>
          </c:tx>
          <c:dLbls>
            <c:dLbl>
              <c:idx val="0"/>
              <c:layout>
                <c:manualLayout>
                  <c:x val="0.00178111574138873"/>
                  <c:y val="-0.0316080482552855"/>
                </c:manualLayout>
              </c:layout>
              <c:tx>
                <c:rich>
                  <a:bodyPr/>
                  <a:lstStyle/>
                  <a:p>
                    <a:r>
                      <a:rPr lang="en-US" dirty="0" smtClean="0"/>
                      <a:t>953 hosts,</a:t>
                    </a:r>
                  </a:p>
                  <a:p>
                    <a:r>
                      <a:rPr lang="en-US" dirty="0" smtClean="0"/>
                      <a:t>&gt;=80 M</a:t>
                    </a:r>
                    <a:r>
                      <a:rPr lang="en-US" baseline="0" dirty="0" smtClean="0"/>
                      <a:t> flows</a:t>
                    </a:r>
                    <a:endParaRPr lang="en-US" dirty="0"/>
                  </a:p>
                </c:rich>
              </c:tx>
              <c:dLblPos val="r"/>
              <c:showLegendKey val="0"/>
              <c:showVal val="1"/>
              <c:showCatName val="0"/>
              <c:showSerName val="0"/>
              <c:showPercent val="0"/>
              <c:showBubbleSize val="0"/>
            </c:dLbl>
            <c:dLbl>
              <c:idx val="1"/>
              <c:layout/>
              <c:tx>
                <c:rich>
                  <a:bodyPr/>
                  <a:lstStyle/>
                  <a:p>
                    <a:r>
                      <a:rPr lang="en-US" dirty="0" smtClean="0"/>
                      <a:t>316 hosts</a:t>
                    </a:r>
                    <a:endParaRPr lang="en-US" dirty="0"/>
                  </a:p>
                </c:rich>
              </c:tx>
              <c:dLblPos val="t"/>
              <c:showLegendKey val="0"/>
              <c:showVal val="1"/>
              <c:showCatName val="0"/>
              <c:showSerName val="0"/>
              <c:showPercent val="0"/>
              <c:showBubbleSize val="0"/>
            </c:dLbl>
            <c:dLbl>
              <c:idx val="2"/>
              <c:layout/>
              <c:tx>
                <c:rich>
                  <a:bodyPr/>
                  <a:lstStyle/>
                  <a:p>
                    <a:r>
                      <a:rPr lang="en-US" dirty="0" smtClean="0"/>
                      <a:t>34 hosts</a:t>
                    </a:r>
                    <a:endParaRPr lang="en-US" dirty="0"/>
                  </a:p>
                </c:rich>
              </c:tx>
              <c:dLblPos val="t"/>
              <c:showLegendKey val="0"/>
              <c:showVal val="1"/>
              <c:showCatName val="0"/>
              <c:showSerName val="0"/>
              <c:showPercent val="0"/>
              <c:showBubbleSize val="0"/>
            </c:dLbl>
            <c:dLbl>
              <c:idx val="3"/>
              <c:layout/>
              <c:tx>
                <c:rich>
                  <a:bodyPr/>
                  <a:lstStyle/>
                  <a:p>
                    <a:r>
                      <a:rPr lang="en-US" dirty="0" smtClean="0"/>
                      <a:t>31 hosts</a:t>
                    </a:r>
                    <a:endParaRPr lang="en-US" dirty="0"/>
                  </a:p>
                </c:rich>
              </c:tx>
              <c:dLblPos val="t"/>
              <c:showLegendKey val="0"/>
              <c:showVal val="1"/>
              <c:showCatName val="0"/>
              <c:showSerName val="0"/>
              <c:showPercent val="0"/>
              <c:showBubbleSize val="0"/>
            </c:dLbl>
            <c:dLbl>
              <c:idx val="4"/>
              <c:layout/>
              <c:tx>
                <c:rich>
                  <a:bodyPr/>
                  <a:lstStyle/>
                  <a:p>
                    <a:r>
                      <a:rPr lang="en-US" dirty="0" smtClean="0"/>
                      <a:t>18 hosts</a:t>
                    </a:r>
                    <a:endParaRPr lang="en-US" dirty="0"/>
                  </a:p>
                </c:rich>
              </c:tx>
              <c:dLblPos val="t"/>
              <c:showLegendKey val="0"/>
              <c:showVal val="1"/>
              <c:showCatName val="0"/>
              <c:showSerName val="0"/>
              <c:showPercent val="0"/>
              <c:showBubbleSize val="0"/>
            </c:dLbl>
            <c:showLegendKey val="0"/>
            <c:showVal val="0"/>
            <c:showCatName val="0"/>
            <c:showSerName val="0"/>
            <c:showPercent val="0"/>
            <c:showBubbleSize val="0"/>
          </c:dLbls>
          <c:cat>
            <c:strRef>
              <c:f>Sheet1!$A$19:$A$23</c:f>
              <c:strCache>
                <c:ptCount val="5"/>
                <c:pt idx="0">
                  <c:v>Total</c:v>
                </c:pt>
                <c:pt idx="1">
                  <c:v>Traffic Filter</c:v>
                </c:pt>
                <c:pt idx="2">
                  <c:v>P2P Clients</c:v>
                </c:pt>
                <c:pt idx="3">
                  <c:v>Persistent P2P Clients</c:v>
                </c:pt>
                <c:pt idx="4">
                  <c:v>P2P Bots</c:v>
                </c:pt>
              </c:strCache>
            </c:strRef>
          </c:cat>
          <c:val>
            <c:numRef>
              <c:f>Sheet1!$C$19:$C$23</c:f>
              <c:numCache>
                <c:formatCode>General</c:formatCode>
                <c:ptCount val="5"/>
                <c:pt idx="0">
                  <c:v>953.0</c:v>
                </c:pt>
                <c:pt idx="1">
                  <c:v>316.0</c:v>
                </c:pt>
                <c:pt idx="2">
                  <c:v>34.0</c:v>
                </c:pt>
                <c:pt idx="3">
                  <c:v>31.0</c:v>
                </c:pt>
                <c:pt idx="4">
                  <c:v>18.0</c:v>
                </c:pt>
              </c:numCache>
            </c:numRef>
          </c:val>
          <c:smooth val="0"/>
        </c:ser>
        <c:dLbls>
          <c:showLegendKey val="0"/>
          <c:showVal val="0"/>
          <c:showCatName val="0"/>
          <c:showSerName val="0"/>
          <c:showPercent val="0"/>
          <c:showBubbleSize val="0"/>
        </c:dLbls>
        <c:marker val="1"/>
        <c:smooth val="0"/>
        <c:axId val="-2075385000"/>
        <c:axId val="-2075382120"/>
      </c:lineChart>
      <c:catAx>
        <c:axId val="-2075385000"/>
        <c:scaling>
          <c:orientation val="minMax"/>
        </c:scaling>
        <c:delete val="0"/>
        <c:axPos val="b"/>
        <c:majorTickMark val="out"/>
        <c:minorTickMark val="none"/>
        <c:tickLblPos val="nextTo"/>
        <c:crossAx val="-2075382120"/>
        <c:crosses val="autoZero"/>
        <c:auto val="1"/>
        <c:lblAlgn val="ctr"/>
        <c:lblOffset val="100"/>
        <c:noMultiLvlLbl val="0"/>
      </c:catAx>
      <c:valAx>
        <c:axId val="-2075382120"/>
        <c:scaling>
          <c:orientation val="minMax"/>
        </c:scaling>
        <c:delete val="1"/>
        <c:axPos val="l"/>
        <c:majorGridlines/>
        <c:numFmt formatCode="General" sourceLinked="1"/>
        <c:majorTickMark val="out"/>
        <c:minorTickMark val="none"/>
        <c:tickLblPos val="nextTo"/>
        <c:crossAx val="-2075385000"/>
        <c:crosses val="autoZero"/>
        <c:crossBetween val="between"/>
      </c:valAx>
    </c:plotArea>
    <c:plotVisOnly val="1"/>
    <c:dispBlanksAs val="zero"/>
    <c:showDLblsOverMax val="0"/>
  </c:chart>
  <c:txPr>
    <a:bodyPr/>
    <a:lstStyle/>
    <a:p>
      <a:pPr>
        <a:defRPr sz="1600"/>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079896-7D34-5643-8128-0BB082FD6B04}" type="datetimeFigureOut">
              <a:rPr lang="en-US" smtClean="0"/>
              <a:t>10/15/15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A4D7BD-D02A-0742-83EA-07B8B7E18E02}" type="slidenum">
              <a:rPr lang="en-US" smtClean="0"/>
              <a:t>‹#›</a:t>
            </a:fld>
            <a:endParaRPr lang="en-US"/>
          </a:p>
        </p:txBody>
      </p:sp>
    </p:spTree>
    <p:extLst>
      <p:ext uri="{BB962C8B-B14F-4D97-AF65-F5344CB8AC3E}">
        <p14:creationId xmlns:p14="http://schemas.microsoft.com/office/powerpoint/2010/main" val="249216517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dirty="0" smtClean="0"/>
              <a:t>Alters normal code with “infected” version</a:t>
            </a:r>
          </a:p>
          <a:p>
            <a:endParaRPr lang="en-US" dirty="0"/>
          </a:p>
        </p:txBody>
      </p:sp>
      <p:sp>
        <p:nvSpPr>
          <p:cNvPr id="4" name="Slide Number Placeholder 3"/>
          <p:cNvSpPr>
            <a:spLocks noGrp="1"/>
          </p:cNvSpPr>
          <p:nvPr>
            <p:ph type="sldNum" sz="quarter" idx="10"/>
          </p:nvPr>
        </p:nvSpPr>
        <p:spPr/>
        <p:txBody>
          <a:bodyPr/>
          <a:lstStyle/>
          <a:p>
            <a:fld id="{B4A46738-F67D-9348-A24E-F8B8D697BD23}" type="slidenum">
              <a:rPr lang="en-US" smtClean="0"/>
              <a:t>5</a:t>
            </a:fld>
            <a:endParaRPr lang="en-US"/>
          </a:p>
        </p:txBody>
      </p:sp>
    </p:spTree>
    <p:extLst>
      <p:ext uri="{BB962C8B-B14F-4D97-AF65-F5344CB8AC3E}">
        <p14:creationId xmlns:p14="http://schemas.microsoft.com/office/powerpoint/2010/main" val="388613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Probably I need to describe</a:t>
            </a:r>
            <a:r>
              <a:rPr lang="en-US" baseline="0" dirty="0" smtClean="0"/>
              <a:t> the scanning attacks.</a:t>
            </a:r>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14</a:t>
            </a:fld>
            <a:endParaRPr lang="en-US"/>
          </a:p>
        </p:txBody>
      </p:sp>
    </p:spTree>
    <p:extLst>
      <p:ext uri="{BB962C8B-B14F-4D97-AF65-F5344CB8AC3E}">
        <p14:creationId xmlns:p14="http://schemas.microsoft.com/office/powerpoint/2010/main" val="2188424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1" indent="-342900">
              <a:buFont typeface="Arial"/>
              <a:buChar char="•"/>
            </a:pPr>
            <a:r>
              <a:rPr lang="en-US" sz="3200" dirty="0" smtClean="0"/>
              <a:t>Resulted in </a:t>
            </a:r>
          </a:p>
          <a:p>
            <a:pPr marL="742950" lvl="2" indent="-342900"/>
            <a:r>
              <a:rPr lang="en-US" dirty="0" smtClean="0"/>
              <a:t>Outages in 13,000 </a:t>
            </a:r>
            <a:r>
              <a:rPr lang="en-US" dirty="0" err="1" smtClean="0"/>
              <a:t>BofA</a:t>
            </a:r>
            <a:r>
              <a:rPr lang="en-US" dirty="0" smtClean="0"/>
              <a:t> ATMs</a:t>
            </a:r>
          </a:p>
          <a:p>
            <a:pPr marL="742950" lvl="2" indent="-342900"/>
            <a:r>
              <a:rPr lang="en-US" dirty="0" smtClean="0"/>
              <a:t>Cancel of flights</a:t>
            </a:r>
          </a:p>
          <a:p>
            <a:endParaRPr lang="en-US" dirty="0"/>
          </a:p>
        </p:txBody>
      </p:sp>
      <p:sp>
        <p:nvSpPr>
          <p:cNvPr id="4" name="Slide Number Placeholder 3"/>
          <p:cNvSpPr>
            <a:spLocks noGrp="1"/>
          </p:cNvSpPr>
          <p:nvPr>
            <p:ph type="sldNum" sz="quarter" idx="10"/>
          </p:nvPr>
        </p:nvSpPr>
        <p:spPr/>
        <p:txBody>
          <a:bodyPr/>
          <a:lstStyle/>
          <a:p>
            <a:fld id="{23A4D7BD-D02A-0742-83EA-07B8B7E18E02}" type="slidenum">
              <a:rPr lang="en-US" smtClean="0"/>
              <a:t>24</a:t>
            </a:fld>
            <a:endParaRPr lang="en-US"/>
          </a:p>
        </p:txBody>
      </p:sp>
    </p:spTree>
    <p:extLst>
      <p:ext uri="{BB962C8B-B14F-4D97-AF65-F5344CB8AC3E}">
        <p14:creationId xmlns:p14="http://schemas.microsoft.com/office/powerpoint/2010/main" val="17956180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5E13BC-B5A7-2947-818D-D5C36FD10E0F}" type="slidenum">
              <a:rPr lang="en-US"/>
              <a:pPr/>
              <a:t>25</a:t>
            </a:fld>
            <a:endParaRPr lang="en-US"/>
          </a:p>
        </p:txBody>
      </p:sp>
      <p:sp>
        <p:nvSpPr>
          <p:cNvPr id="9574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957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272AAF-84CE-E944-BD93-29ADD6A10039}" type="slidenum">
              <a:rPr lang="en-US"/>
              <a:pPr/>
              <a:t>26</a:t>
            </a:fld>
            <a:endParaRPr lang="en-US"/>
          </a:p>
        </p:txBody>
      </p:sp>
      <p:sp>
        <p:nvSpPr>
          <p:cNvPr id="1341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val="1"/>
            </a:ext>
          </a:extLst>
        </p:spPr>
      </p:sp>
      <p:sp>
        <p:nvSpPr>
          <p:cNvPr id="134147" name="Rectangle 3"/>
          <p:cNvSpPr>
            <a:spLocks noGrp="1" noChangeArrowheads="1"/>
          </p:cNvSpPr>
          <p:nvPr>
            <p:ph type="body" idx="1"/>
          </p:nvPr>
        </p:nvSpPr>
        <p:spPr>
          <a:xfrm>
            <a:off x="914400" y="4343400"/>
            <a:ext cx="5029200" cy="4114800"/>
          </a:xfrm>
        </p:spPr>
        <p:txBody>
          <a:bodyPr/>
          <a:lstStyle/>
          <a:p>
            <a:r>
              <a:rPr lang="en-US"/>
              <a:t>(( Simple epidemic model simulation parameter is : I_0=1; N=1e6; beta0 = 1.8/N))</a:t>
            </a:r>
          </a:p>
          <a:p>
            <a:endParaRPr lang="en-US"/>
          </a:p>
          <a:p>
            <a:r>
              <a:rPr lang="en-US">
                <a:cs typeface="Times New Roman" charset="0"/>
              </a:rPr>
              <a:t>	The simplest model in epidemic area is called </a:t>
            </a:r>
            <a:r>
              <a:rPr lang="ja-JP" altLang="en-US">
                <a:latin typeface="Arial"/>
                <a:cs typeface="Times New Roman" charset="0"/>
              </a:rPr>
              <a:t>“</a:t>
            </a:r>
            <a:r>
              <a:rPr lang="en-US">
                <a:cs typeface="Times New Roman" charset="0"/>
              </a:rPr>
              <a:t>simple epidemic model</a:t>
            </a:r>
            <a:r>
              <a:rPr lang="ja-JP" altLang="en-US">
                <a:latin typeface="Arial"/>
                <a:cs typeface="Times New Roman" charset="0"/>
              </a:rPr>
              <a:t>”</a:t>
            </a:r>
            <a:r>
              <a:rPr lang="en-US">
                <a:cs typeface="Times New Roman" charset="0"/>
              </a:rPr>
              <a:t>.  It only considers two states and only one state transition.  Suppose for a fixed population system with N hosts, S(t) is the number of susceptible hosts; I(t) is the infectious hosts. Then the dynamic of the system is described by this differential equation. It can be derived from previous homogeneous assumption.</a:t>
            </a:r>
          </a:p>
          <a:p>
            <a:r>
              <a:rPr lang="en-US">
                <a:cs typeface="Times New Roman" charset="0"/>
              </a:rPr>
              <a:t> </a:t>
            </a:r>
          </a:p>
          <a:p>
            <a:r>
              <a:rPr lang="en-US">
                <a:cs typeface="Times New Roman" charset="0"/>
              </a:rPr>
              <a:t>	This is the dynamic curve of the number of infectious hosts I(t). X axis is the time t. In the beginning only several hosts are infected. In the end all hosts are infected. From the equation, we can see that I(t) and S(t) are symmetric. It means that the shape of this increasing part at beginning is identical to the shape of this slowing down part at the end. </a:t>
            </a:r>
          </a:p>
          <a:p>
            <a:r>
              <a:rPr lang="en-US">
                <a:cs typeface="Times New Roman" charset="0"/>
              </a:rPr>
              <a:t>	The simple epidemic model is a simplified ideal case. It has some problems. The infection rate </a:t>
            </a:r>
            <a:r>
              <a:rPr lang="en-US">
                <a:cs typeface="Times New Roman" charset="0"/>
                <a:sym typeface="Symbol" charset="0"/>
              </a:rPr>
              <a:t></a:t>
            </a:r>
            <a:r>
              <a:rPr lang="en-US">
                <a:cs typeface="Times New Roman" charset="0"/>
              </a:rPr>
              <a:t> is fixed. And more important is that it has no </a:t>
            </a:r>
            <a:r>
              <a:rPr lang="ja-JP" altLang="en-US">
                <a:latin typeface="Arial"/>
                <a:cs typeface="Times New Roman" charset="0"/>
              </a:rPr>
              <a:t>“</a:t>
            </a:r>
            <a:r>
              <a:rPr lang="en-US">
                <a:cs typeface="Times New Roman" charset="0"/>
              </a:rPr>
              <a:t>removed</a:t>
            </a:r>
            <a:r>
              <a:rPr lang="ja-JP" altLang="en-US">
                <a:latin typeface="Arial"/>
                <a:cs typeface="Times New Roman" charset="0"/>
              </a:rPr>
              <a:t>”</a:t>
            </a:r>
            <a:r>
              <a:rPr lang="en-US">
                <a:cs typeface="Times New Roman" charset="0"/>
              </a:rPr>
              <a:t> state.</a:t>
            </a:r>
          </a:p>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The spread of three simulated worms in a population of 300,000 vulnerable machines: </a:t>
            </a:r>
            <a:r>
              <a:rPr lang="en-US" sz="1200" i="1" kern="1200" dirty="0" smtClean="0">
                <a:solidFill>
                  <a:schemeClr val="tx1"/>
                </a:solidFill>
                <a:latin typeface="+mn-lt"/>
                <a:ea typeface="+mn-ea"/>
                <a:cs typeface="+mn-cs"/>
              </a:rPr>
              <a:t>(</a:t>
            </a:r>
            <a:r>
              <a:rPr lang="en-US" sz="1200" i="1" kern="1200" dirty="0" err="1" smtClean="0">
                <a:solidFill>
                  <a:schemeClr val="tx1"/>
                </a:solidFill>
                <a:latin typeface="+mn-lt"/>
                <a:ea typeface="+mn-ea"/>
                <a:cs typeface="+mn-cs"/>
              </a:rPr>
              <a:t>i</a:t>
            </a:r>
            <a:r>
              <a:rPr lang="en-US" sz="1200" i="1" kern="1200" dirty="0" smtClean="0">
                <a:solidFill>
                  <a:schemeClr val="tx1"/>
                </a:solidFill>
                <a:latin typeface="+mn-lt"/>
                <a:ea typeface="+mn-ea"/>
                <a:cs typeface="+mn-cs"/>
              </a:rPr>
              <a:t>)</a:t>
            </a:r>
            <a:r>
              <a:rPr lang="en-US" sz="1200" i="0" kern="1200" dirty="0" smtClean="0">
                <a:solidFill>
                  <a:schemeClr val="tx1"/>
                </a:solidFill>
                <a:latin typeface="+mn-lt"/>
                <a:ea typeface="+mn-ea"/>
                <a:cs typeface="+mn-cs"/>
              </a:rPr>
              <a:t> a Code Red-like worm capable of 10 scans/second, </a:t>
            </a:r>
            <a:r>
              <a:rPr lang="en-US" sz="1200" i="1" kern="1200" dirty="0" smtClean="0">
                <a:solidFill>
                  <a:schemeClr val="tx1"/>
                </a:solidFill>
                <a:latin typeface="+mn-lt"/>
                <a:ea typeface="+mn-ea"/>
                <a:cs typeface="+mn-cs"/>
              </a:rPr>
              <a:t>(ii)</a:t>
            </a:r>
            <a:r>
              <a:rPr lang="en-US" sz="1200" i="0" kern="1200" dirty="0" smtClean="0">
                <a:solidFill>
                  <a:schemeClr val="tx1"/>
                </a:solidFill>
                <a:latin typeface="+mn-lt"/>
                <a:ea typeface="+mn-ea"/>
                <a:cs typeface="+mn-cs"/>
              </a:rPr>
              <a:t> a faster scanning worm capable of 100 scans/second, and </a:t>
            </a:r>
            <a:r>
              <a:rPr lang="en-US" sz="1200" i="1" kern="1200" dirty="0" smtClean="0">
                <a:solidFill>
                  <a:schemeClr val="tx1"/>
                </a:solidFill>
                <a:latin typeface="+mn-lt"/>
                <a:ea typeface="+mn-ea"/>
                <a:cs typeface="+mn-cs"/>
              </a:rPr>
              <a:t>(iii)</a:t>
            </a:r>
            <a:r>
              <a:rPr lang="en-US" sz="1200" i="0" kern="1200" dirty="0" smtClean="0">
                <a:solidFill>
                  <a:schemeClr val="tx1"/>
                </a:solidFill>
                <a:latin typeface="+mn-lt"/>
                <a:ea typeface="+mn-ea"/>
                <a:cs typeface="+mn-cs"/>
              </a:rPr>
              <a:t> a Warhol worm, capable of 100 scans/second, using a 10,000 entry hit-list and permutation scanning which gives up when 2 infected machines are discovered without finding a new target. All graphs stop at 99.99% infection of the simulated address space.</a:t>
            </a:r>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45</a:t>
            </a:fld>
            <a:endParaRPr lang="en-US"/>
          </a:p>
        </p:txBody>
      </p:sp>
    </p:spTree>
    <p:extLst>
      <p:ext uri="{BB962C8B-B14F-4D97-AF65-F5344CB8AC3E}">
        <p14:creationId xmlns:p14="http://schemas.microsoft.com/office/powerpoint/2010/main" val="2127501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C&amp;C channel</a:t>
            </a:r>
            <a:r>
              <a:rPr lang="en-US" baseline="0" dirty="0" smtClean="0"/>
              <a:t> is essential to a botnet. Without C&amp;C, a botnet will be degraded into small groups of individual and isolated worms. </a:t>
            </a:r>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50</a:t>
            </a:fld>
            <a:endParaRPr lang="en-US"/>
          </a:p>
        </p:txBody>
      </p:sp>
    </p:spTree>
    <p:extLst>
      <p:ext uri="{BB962C8B-B14F-4D97-AF65-F5344CB8AC3E}">
        <p14:creationId xmlns:p14="http://schemas.microsoft.com/office/powerpoint/2010/main" val="2624250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law enforce</a:t>
            </a:r>
            <a:r>
              <a:rPr lang="en-US" baseline="0" dirty="0" smtClean="0"/>
              <a:t> department does not have access to every sub network such as enterprise network. </a:t>
            </a:r>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53</a:t>
            </a:fld>
            <a:endParaRPr lang="en-US"/>
          </a:p>
        </p:txBody>
      </p:sp>
    </p:spTree>
    <p:extLst>
      <p:ext uri="{BB962C8B-B14F-4D97-AF65-F5344CB8AC3E}">
        <p14:creationId xmlns:p14="http://schemas.microsoft.com/office/powerpoint/2010/main" val="8132008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law enforce</a:t>
            </a:r>
            <a:r>
              <a:rPr lang="en-US" baseline="0" dirty="0" smtClean="0"/>
              <a:t> department does not have access to every sub network such as </a:t>
            </a:r>
            <a:r>
              <a:rPr lang="en-US" baseline="0" smtClean="0"/>
              <a:t>enterprise network. </a:t>
            </a:r>
            <a:endParaRPr lang="en-US"/>
          </a:p>
        </p:txBody>
      </p:sp>
      <p:sp>
        <p:nvSpPr>
          <p:cNvPr id="4" name="Slide Number Placeholder 3"/>
          <p:cNvSpPr>
            <a:spLocks noGrp="1"/>
          </p:cNvSpPr>
          <p:nvPr>
            <p:ph type="sldNum" sz="quarter" idx="10"/>
          </p:nvPr>
        </p:nvSpPr>
        <p:spPr/>
        <p:txBody>
          <a:bodyPr/>
          <a:lstStyle/>
          <a:p>
            <a:fld id="{DF53C5C6-1586-944C-B8CA-E66F27D1B173}" type="slidenum">
              <a:rPr lang="en-US" smtClean="0"/>
              <a:t>54</a:t>
            </a:fld>
            <a:endParaRPr lang="en-US"/>
          </a:p>
        </p:txBody>
      </p:sp>
    </p:spTree>
    <p:extLst>
      <p:ext uri="{BB962C8B-B14F-4D97-AF65-F5344CB8AC3E}">
        <p14:creationId xmlns:p14="http://schemas.microsoft.com/office/powerpoint/2010/main" val="813200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you do not</a:t>
            </a:r>
            <a:r>
              <a:rPr lang="en-US" baseline="0" dirty="0" smtClean="0"/>
              <a:t> have the capability to reverse engineering the bot binary, this approach is very effective. </a:t>
            </a:r>
            <a:endParaRPr lang="en-US" dirty="0"/>
          </a:p>
        </p:txBody>
      </p:sp>
      <p:sp>
        <p:nvSpPr>
          <p:cNvPr id="4" name="Slide Number Placeholder 3"/>
          <p:cNvSpPr>
            <a:spLocks noGrp="1"/>
          </p:cNvSpPr>
          <p:nvPr>
            <p:ph type="sldNum" sz="quarter" idx="10"/>
          </p:nvPr>
        </p:nvSpPr>
        <p:spPr/>
        <p:txBody>
          <a:bodyPr/>
          <a:lstStyle/>
          <a:p>
            <a:fld id="{DF53C5C6-1586-944C-B8CA-E66F27D1B173}" type="slidenum">
              <a:rPr lang="en-US" smtClean="0"/>
              <a:t>66</a:t>
            </a:fld>
            <a:endParaRPr lang="en-US"/>
          </a:p>
        </p:txBody>
      </p:sp>
    </p:spTree>
    <p:extLst>
      <p:ext uri="{BB962C8B-B14F-4D97-AF65-F5344CB8AC3E}">
        <p14:creationId xmlns:p14="http://schemas.microsoft.com/office/powerpoint/2010/main" val="2882041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Message</a:t>
            </a:r>
            <a:r>
              <a:rPr lang="en-US" baseline="0" dirty="0" smtClean="0"/>
              <a:t> Response.</a:t>
            </a:r>
            <a:endParaRPr lang="en-US" dirty="0"/>
          </a:p>
        </p:txBody>
      </p:sp>
      <p:sp>
        <p:nvSpPr>
          <p:cNvPr id="4" name="Slide Number Placeholder 3"/>
          <p:cNvSpPr>
            <a:spLocks noGrp="1"/>
          </p:cNvSpPr>
          <p:nvPr>
            <p:ph type="sldNum" sz="quarter" idx="10"/>
          </p:nvPr>
        </p:nvSpPr>
        <p:spPr/>
        <p:txBody>
          <a:bodyPr/>
          <a:lstStyle/>
          <a:p>
            <a:fld id="{23A4D7BD-D02A-0742-83EA-07B8B7E18E02}" type="slidenum">
              <a:rPr lang="en-US" smtClean="0"/>
              <a:t>75</a:t>
            </a:fld>
            <a:endParaRPr lang="en-US"/>
          </a:p>
        </p:txBody>
      </p:sp>
    </p:spTree>
    <p:extLst>
      <p:ext uri="{BB962C8B-B14F-4D97-AF65-F5344CB8AC3E}">
        <p14:creationId xmlns:p14="http://schemas.microsoft.com/office/powerpoint/2010/main" val="1714977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P2P </a:t>
            </a:r>
            <a:r>
              <a:rPr lang="en-US" dirty="0" err="1" smtClean="0"/>
              <a:t>botnet</a:t>
            </a:r>
            <a:r>
              <a:rPr lang="en-US" baseline="0" dirty="0" smtClean="0"/>
              <a:t> is a collection of bots which form a P2P overlay network for </a:t>
            </a:r>
            <a:r>
              <a:rPr lang="en-US" baseline="0" dirty="0" err="1" smtClean="0"/>
              <a:t>C&amp;Cs</a:t>
            </a:r>
            <a:r>
              <a:rPr lang="en-US" baseline="0" dirty="0" smtClean="0"/>
              <a:t>, where </a:t>
            </a:r>
            <a:r>
              <a:rPr lang="en-US" baseline="0" dirty="0" err="1" smtClean="0"/>
              <a:t>bot</a:t>
            </a:r>
            <a:r>
              <a:rPr lang="en-US" baseline="0" dirty="0" smtClean="0"/>
              <a:t> each can serve as both a client and server. The </a:t>
            </a:r>
            <a:r>
              <a:rPr lang="en-US" baseline="0" dirty="0" err="1" smtClean="0"/>
              <a:t>botmaster</a:t>
            </a:r>
            <a:r>
              <a:rPr lang="en-US" baseline="0" dirty="0" smtClean="0"/>
              <a:t> can drop the command in any bot. Other bots can then seek the command and get it executed. </a:t>
            </a:r>
          </a:p>
          <a:p>
            <a:endParaRPr lang="en-US" baseline="0" dirty="0" smtClean="0"/>
          </a:p>
          <a:p>
            <a:r>
              <a:rPr lang="en-US" baseline="0" dirty="0" smtClean="0"/>
              <a:t>Compared to the the </a:t>
            </a:r>
            <a:r>
              <a:rPr lang="en-US" baseline="0" dirty="0" err="1" smtClean="0"/>
              <a:t>botnets</a:t>
            </a:r>
            <a:r>
              <a:rPr lang="en-US" baseline="0" dirty="0" smtClean="0"/>
              <a:t> with centralized architecture, P2P </a:t>
            </a:r>
            <a:r>
              <a:rPr lang="en-US" baseline="0" dirty="0" err="1" smtClean="0"/>
              <a:t>botnets</a:t>
            </a:r>
            <a:r>
              <a:rPr lang="en-US" baseline="0" dirty="0" smtClean="0"/>
              <a:t> do not suffer from single-point-of-failure. Even portion of the peers are taken down, the rest of them can still function well. And therefore, they serve as a much more robust infrastructure. </a:t>
            </a:r>
          </a:p>
          <a:p>
            <a:endParaRPr lang="en-US" baseline="0" dirty="0" smtClean="0"/>
          </a:p>
          <a:p>
            <a:r>
              <a:rPr lang="en-US" baseline="0" dirty="0" smtClean="0"/>
              <a:t>Several P2P </a:t>
            </a:r>
            <a:r>
              <a:rPr lang="en-US" baseline="0" dirty="0" err="1" smtClean="0"/>
              <a:t>botnets</a:t>
            </a:r>
            <a:r>
              <a:rPr lang="en-US" baseline="0" dirty="0" smtClean="0"/>
              <a:t> have emerged such as XXX, XXX, XXX, XXX. Since the P2P </a:t>
            </a:r>
            <a:r>
              <a:rPr lang="en-US" baseline="0" dirty="0" err="1" smtClean="0"/>
              <a:t>botnets</a:t>
            </a:r>
            <a:r>
              <a:rPr lang="en-US" baseline="0" dirty="0" smtClean="0"/>
              <a:t> do not have single point of failure, it would be extremely challenging to take them down. So it is of great demanding to detect bots in the monitored networks. </a:t>
            </a:r>
            <a:endParaRPr lang="en-US" dirty="0"/>
          </a:p>
        </p:txBody>
      </p:sp>
      <p:sp>
        <p:nvSpPr>
          <p:cNvPr id="4" name="Slide Number Placeholder 3"/>
          <p:cNvSpPr>
            <a:spLocks noGrp="1"/>
          </p:cNvSpPr>
          <p:nvPr>
            <p:ph type="sldNum" sz="quarter" idx="10"/>
          </p:nvPr>
        </p:nvSpPr>
        <p:spPr/>
        <p:txBody>
          <a:bodyPr/>
          <a:lstStyle/>
          <a:p>
            <a:fld id="{FA4679D8-7FF0-004C-878C-B08D8C35A324}" type="slidenum">
              <a:rPr lang="en-US" smtClean="0"/>
              <a:pPr/>
              <a:t>83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However, it</a:t>
            </a:r>
            <a:r>
              <a:rPr lang="en-US" baseline="0" dirty="0" smtClean="0"/>
              <a:t> is very challenging to detect P2P </a:t>
            </a:r>
            <a:r>
              <a:rPr lang="en-US" baseline="0" dirty="0" err="1" smtClean="0"/>
              <a:t>botnets</a:t>
            </a:r>
            <a:r>
              <a:rPr lang="en-US" baseline="0" dirty="0" smtClean="0"/>
              <a:t> which can work in practice. </a:t>
            </a:r>
          </a:p>
          <a:p>
            <a:endParaRPr lang="en-US" baseline="0" dirty="0" smtClean="0"/>
          </a:p>
          <a:p>
            <a:r>
              <a:rPr lang="en-US" baseline="0" dirty="0" smtClean="0"/>
              <a:t>First, stealthy. …. The existing approach, such as </a:t>
            </a:r>
            <a:r>
              <a:rPr lang="en-US" baseline="0" dirty="0" err="1" smtClean="0"/>
              <a:t>botminer</a:t>
            </a:r>
            <a:r>
              <a:rPr lang="en-US" baseline="0" dirty="0" smtClean="0"/>
              <a:t>, which depend on malicious activity information, fail. </a:t>
            </a:r>
          </a:p>
          <a:p>
            <a:endParaRPr lang="en-US" baseline="0" dirty="0" smtClean="0"/>
          </a:p>
          <a:p>
            <a:r>
              <a:rPr lang="en-US" baseline="0" dirty="0" smtClean="0"/>
              <a:t>Second, as a practical solution, the detection method may only has the visibility of the local enterprise networks or the ISP networks, instead of a global overview of the Internet topology. So any approach, which depends on a global overview of the Internet topology, may not work in practice. </a:t>
            </a:r>
          </a:p>
          <a:p>
            <a:endParaRPr lang="en-US" baseline="0" dirty="0" smtClean="0"/>
          </a:p>
          <a:p>
            <a:r>
              <a:rPr lang="en-US" baseline="0" dirty="0" smtClean="0"/>
              <a:t>Third, due to the popularity of P2P software, a </a:t>
            </a:r>
            <a:r>
              <a:rPr lang="en-US" baseline="0" dirty="0" err="1" smtClean="0"/>
              <a:t>bot</a:t>
            </a:r>
            <a:r>
              <a:rPr lang="en-US" baseline="0" dirty="0" smtClean="0"/>
              <a:t>-compromised host may also run legitimate P2P software such as the filing sharing software. In this case, any effort to distinguish the </a:t>
            </a:r>
            <a:r>
              <a:rPr lang="en-US" baseline="0" dirty="0" err="1" smtClean="0"/>
              <a:t>bot</a:t>
            </a:r>
            <a:r>
              <a:rPr lang="en-US" baseline="0" dirty="0" smtClean="0"/>
              <a:t>-compromised host from legitimate P2P applications may fail to work, such as a P2P </a:t>
            </a:r>
            <a:r>
              <a:rPr lang="en-US" baseline="0" dirty="0" err="1" smtClean="0"/>
              <a:t>botnet</a:t>
            </a:r>
            <a:r>
              <a:rPr lang="en-US" baseline="0" dirty="0" smtClean="0"/>
              <a:t> detection approach proposed in ICDCS. </a:t>
            </a:r>
          </a:p>
          <a:p>
            <a:endParaRPr lang="en-US" baseline="0" dirty="0" smtClean="0"/>
          </a:p>
          <a:p>
            <a:r>
              <a:rPr lang="en-US" baseline="0" dirty="0" smtClean="0"/>
              <a:t>So we need a new P2P </a:t>
            </a:r>
            <a:r>
              <a:rPr lang="en-US" baseline="0" dirty="0" err="1" smtClean="0"/>
              <a:t>botnet</a:t>
            </a:r>
            <a:r>
              <a:rPr lang="en-US" baseline="0" dirty="0" smtClean="0"/>
              <a:t> detection system, the system should be:</a:t>
            </a:r>
          </a:p>
          <a:p>
            <a:endParaRPr lang="en-US" baseline="0" dirty="0" smtClean="0"/>
          </a:p>
          <a:p>
            <a:pPr marL="228600" indent="-228600">
              <a:buAutoNum type="arabicPeriod"/>
            </a:pPr>
            <a:r>
              <a:rPr lang="en-US" baseline="0" dirty="0" smtClean="0"/>
              <a:t>Does not rely on attack </a:t>
            </a:r>
            <a:r>
              <a:rPr lang="en-US" baseline="0" dirty="0" err="1" smtClean="0"/>
              <a:t>informaiton</a:t>
            </a:r>
            <a:r>
              <a:rPr lang="en-US" baseline="0" dirty="0" smtClean="0"/>
              <a:t>, only rely on C&amp;C information, which is the essential part of a </a:t>
            </a:r>
            <a:r>
              <a:rPr lang="en-US" baseline="0" dirty="0" err="1" smtClean="0"/>
              <a:t>botnet</a:t>
            </a:r>
            <a:r>
              <a:rPr lang="en-US" baseline="0" dirty="0" smtClean="0"/>
              <a:t>. </a:t>
            </a:r>
          </a:p>
          <a:p>
            <a:pPr marL="228600" indent="-228600">
              <a:buAutoNum type="arabicPeriod"/>
            </a:pPr>
            <a:r>
              <a:rPr lang="en-US" baseline="0" dirty="0" smtClean="0"/>
              <a:t>Does not need global overview, which can be practically deployed in enterprise networks and ISP networks. </a:t>
            </a:r>
          </a:p>
          <a:p>
            <a:pPr marL="228600" indent="-228600">
              <a:buAutoNum type="arabicPeriod"/>
            </a:pPr>
            <a:r>
              <a:rPr lang="en-US" baseline="0" dirty="0" smtClean="0"/>
              <a:t>Is capable of detecting P2P bots even if the </a:t>
            </a:r>
            <a:r>
              <a:rPr lang="en-US" baseline="0" dirty="0" err="1" smtClean="0"/>
              <a:t>bot</a:t>
            </a:r>
            <a:r>
              <a:rPr lang="en-US" baseline="0" dirty="0" smtClean="0"/>
              <a:t>-compromised hosts are running legitimate P2P applications. </a:t>
            </a:r>
          </a:p>
          <a:p>
            <a:pPr marL="228600" indent="-228600">
              <a:buAutoNum type="arabicPeriod"/>
            </a:pPr>
            <a:endParaRPr lang="en-US" baseline="0" dirty="0" smtClean="0"/>
          </a:p>
          <a:p>
            <a:pPr marL="228600" indent="-228600">
              <a:buAutoNum type="arabicPeriod"/>
            </a:pPr>
            <a:endParaRPr lang="en-US" baseline="0" dirty="0" smtClean="0"/>
          </a:p>
          <a:p>
            <a:pPr marL="514350" indent="-514350">
              <a:buFont typeface="Arial"/>
              <a:buChar char="•"/>
            </a:pPr>
            <a:r>
              <a:rPr lang="en-US" sz="1200" dirty="0" smtClean="0">
                <a:solidFill>
                  <a:schemeClr val="tx1"/>
                </a:solidFill>
              </a:rPr>
              <a:t>Only relies on </a:t>
            </a:r>
            <a:r>
              <a:rPr lang="en-US" sz="1200" dirty="0" err="1" smtClean="0">
                <a:solidFill>
                  <a:schemeClr val="tx1"/>
                </a:solidFill>
              </a:rPr>
              <a:t>C&amp;Cs</a:t>
            </a:r>
            <a:r>
              <a:rPr lang="en-US" sz="1200" dirty="0" smtClean="0">
                <a:solidFill>
                  <a:schemeClr val="tx1"/>
                </a:solidFill>
              </a:rPr>
              <a:t> to detect </a:t>
            </a:r>
            <a:r>
              <a:rPr lang="en-US" sz="1200" dirty="0" err="1" smtClean="0">
                <a:solidFill>
                  <a:schemeClr val="tx1"/>
                </a:solidFill>
              </a:rPr>
              <a:t>botnets</a:t>
            </a:r>
            <a:endParaRPr lang="en-US" sz="1200" dirty="0" smtClean="0">
              <a:solidFill>
                <a:schemeClr val="tx1"/>
              </a:solidFill>
            </a:endParaRPr>
          </a:p>
          <a:p>
            <a:pPr marL="514350" indent="-514350">
              <a:buFont typeface="Arial"/>
              <a:buChar char="•"/>
            </a:pPr>
            <a:r>
              <a:rPr lang="en-US" sz="1200" dirty="0" smtClean="0">
                <a:solidFill>
                  <a:schemeClr val="tx1"/>
                </a:solidFill>
              </a:rPr>
              <a:t>Does not require network topology info</a:t>
            </a:r>
          </a:p>
          <a:p>
            <a:pPr marL="514350" indent="-514350">
              <a:buFont typeface="Arial"/>
              <a:buChar char="•"/>
            </a:pPr>
            <a:r>
              <a:rPr lang="en-US" sz="1200" dirty="0" smtClean="0">
                <a:solidFill>
                  <a:schemeClr val="tx1"/>
                </a:solidFill>
              </a:rPr>
              <a:t>Detects P2P bots even they are running legitimate P2P applications</a:t>
            </a:r>
          </a:p>
          <a:p>
            <a:pPr marL="228600" indent="-228600">
              <a:buAutoNum type="arabicPeriod"/>
            </a:pPr>
            <a:endParaRPr lang="en-US" baseline="0" dirty="0" smtClean="0"/>
          </a:p>
          <a:p>
            <a:pPr marL="228600" indent="-228600">
              <a:buNone/>
            </a:pPr>
            <a:endParaRPr lang="en-US" baseline="0" dirty="0" smtClean="0"/>
          </a:p>
          <a:p>
            <a:pPr marL="228600" indent="-228600">
              <a:buNone/>
            </a:pPr>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85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For flows, say it does</a:t>
            </a:r>
            <a:r>
              <a:rPr lang="en-US" baseline="0" dirty="0" smtClean="0"/>
              <a:t> not rely on packet payload information. </a:t>
            </a:r>
          </a:p>
          <a:p>
            <a:endParaRPr lang="en-US" baseline="0" dirty="0" smtClean="0"/>
          </a:p>
          <a:p>
            <a:r>
              <a:rPr lang="en-US" baseline="0" dirty="0" smtClean="0"/>
              <a:t>Each step will help us closer to the P2P bots</a:t>
            </a:r>
            <a:endParaRPr lang="en-US" dirty="0"/>
          </a:p>
        </p:txBody>
      </p:sp>
      <p:sp>
        <p:nvSpPr>
          <p:cNvPr id="4" name="Slide Number Placeholder 3"/>
          <p:cNvSpPr>
            <a:spLocks noGrp="1"/>
          </p:cNvSpPr>
          <p:nvPr>
            <p:ph type="sldNum" sz="quarter" idx="10"/>
          </p:nvPr>
        </p:nvSpPr>
        <p:spPr/>
        <p:txBody>
          <a:bodyPr/>
          <a:lstStyle/>
          <a:p>
            <a:fld id="{FA4679D8-7FF0-004C-878C-B08D8C35A324}" type="slidenum">
              <a:rPr lang="en-US" smtClean="0"/>
              <a:pPr/>
              <a:t>86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For flows, say it does</a:t>
            </a:r>
            <a:r>
              <a:rPr lang="en-US" baseline="0" dirty="0" smtClean="0"/>
              <a:t> not rely on packet payload information. </a:t>
            </a:r>
          </a:p>
          <a:p>
            <a:endParaRPr lang="en-US" baseline="0" dirty="0" smtClean="0"/>
          </a:p>
          <a:p>
            <a:r>
              <a:rPr lang="en-US" baseline="0" dirty="0" smtClean="0"/>
              <a:t>Each step will help us closer to the P2P bots</a:t>
            </a:r>
            <a:endParaRPr lang="en-US" dirty="0"/>
          </a:p>
        </p:txBody>
      </p:sp>
      <p:sp>
        <p:nvSpPr>
          <p:cNvPr id="4" name="Slide Number Placeholder 3"/>
          <p:cNvSpPr>
            <a:spLocks noGrp="1"/>
          </p:cNvSpPr>
          <p:nvPr>
            <p:ph type="sldNum" sz="quarter" idx="10"/>
          </p:nvPr>
        </p:nvSpPr>
        <p:spPr/>
        <p:txBody>
          <a:bodyPr/>
          <a:lstStyle/>
          <a:p>
            <a:fld id="{FA4679D8-7FF0-004C-878C-B08D8C35A324}" type="slidenum">
              <a:rPr lang="en-US" smtClean="0"/>
              <a:pPr/>
              <a:t>87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However, it</a:t>
            </a:r>
            <a:r>
              <a:rPr lang="en-US" baseline="0" dirty="0" smtClean="0"/>
              <a:t> is very challenging to detect P2P </a:t>
            </a:r>
            <a:r>
              <a:rPr lang="en-US" baseline="0" dirty="0" err="1" smtClean="0"/>
              <a:t>botnets</a:t>
            </a:r>
            <a:r>
              <a:rPr lang="en-US" baseline="0" dirty="0" smtClean="0"/>
              <a:t> which can work in practice. </a:t>
            </a:r>
          </a:p>
          <a:p>
            <a:endParaRPr lang="en-US" baseline="0" dirty="0" smtClean="0"/>
          </a:p>
          <a:p>
            <a:r>
              <a:rPr lang="en-US" baseline="0" dirty="0" smtClean="0"/>
              <a:t>First, stealthy. …. The existing approach, such as </a:t>
            </a:r>
            <a:r>
              <a:rPr lang="en-US" baseline="0" dirty="0" err="1" smtClean="0"/>
              <a:t>botminer</a:t>
            </a:r>
            <a:r>
              <a:rPr lang="en-US" baseline="0" dirty="0" smtClean="0"/>
              <a:t>, which depend on malicious activity information, fail. </a:t>
            </a:r>
          </a:p>
          <a:p>
            <a:endParaRPr lang="en-US" baseline="0" dirty="0" smtClean="0"/>
          </a:p>
          <a:p>
            <a:r>
              <a:rPr lang="en-US" baseline="0" dirty="0" smtClean="0"/>
              <a:t>Second, as a practical solution, the detection method may only has the visibility of the local enterprise networks or the ISP networks, instead of a global overview of the Internet topology. So any approach, which depends on a global overview of the Internet topology, may not work in practice. </a:t>
            </a:r>
          </a:p>
          <a:p>
            <a:endParaRPr lang="en-US" baseline="0" dirty="0" smtClean="0"/>
          </a:p>
          <a:p>
            <a:r>
              <a:rPr lang="en-US" baseline="0" dirty="0" smtClean="0"/>
              <a:t>Third, due to the popularity of P2P software, a </a:t>
            </a:r>
            <a:r>
              <a:rPr lang="en-US" baseline="0" dirty="0" err="1" smtClean="0"/>
              <a:t>bot</a:t>
            </a:r>
            <a:r>
              <a:rPr lang="en-US" baseline="0" dirty="0" smtClean="0"/>
              <a:t>-compromised host may also run legitimate P2P software such as the filing sharing software. In this case, any effort to distinguish the </a:t>
            </a:r>
            <a:r>
              <a:rPr lang="en-US" baseline="0" dirty="0" err="1" smtClean="0"/>
              <a:t>bot</a:t>
            </a:r>
            <a:r>
              <a:rPr lang="en-US" baseline="0" dirty="0" smtClean="0"/>
              <a:t>-compromised host from legitimate P2P applications may fail to work, such as a P2P </a:t>
            </a:r>
            <a:r>
              <a:rPr lang="en-US" baseline="0" dirty="0" err="1" smtClean="0"/>
              <a:t>botnet</a:t>
            </a:r>
            <a:r>
              <a:rPr lang="en-US" baseline="0" dirty="0" smtClean="0"/>
              <a:t> detection approach proposed in ICDCS. </a:t>
            </a:r>
          </a:p>
          <a:p>
            <a:endParaRPr lang="en-US" baseline="0" dirty="0" smtClean="0"/>
          </a:p>
          <a:p>
            <a:r>
              <a:rPr lang="en-US" baseline="0" dirty="0" smtClean="0"/>
              <a:t>So we need a new P2P </a:t>
            </a:r>
            <a:r>
              <a:rPr lang="en-US" baseline="0" dirty="0" err="1" smtClean="0"/>
              <a:t>botnet</a:t>
            </a:r>
            <a:r>
              <a:rPr lang="en-US" baseline="0" dirty="0" smtClean="0"/>
              <a:t> detection system, the system should be:</a:t>
            </a:r>
          </a:p>
          <a:p>
            <a:endParaRPr lang="en-US" baseline="0" dirty="0" smtClean="0"/>
          </a:p>
          <a:p>
            <a:pPr marL="228600" indent="-228600">
              <a:buAutoNum type="arabicPeriod"/>
            </a:pPr>
            <a:r>
              <a:rPr lang="en-US" baseline="0" dirty="0" smtClean="0"/>
              <a:t>Does not rely on attack </a:t>
            </a:r>
            <a:r>
              <a:rPr lang="en-US" baseline="0" dirty="0" err="1" smtClean="0"/>
              <a:t>informaiton</a:t>
            </a:r>
            <a:r>
              <a:rPr lang="en-US" baseline="0" dirty="0" smtClean="0"/>
              <a:t>, only rely on C&amp;C information, which is the essential part of a </a:t>
            </a:r>
            <a:r>
              <a:rPr lang="en-US" baseline="0" dirty="0" err="1" smtClean="0"/>
              <a:t>botnet</a:t>
            </a:r>
            <a:r>
              <a:rPr lang="en-US" baseline="0" dirty="0" smtClean="0"/>
              <a:t>. </a:t>
            </a:r>
          </a:p>
          <a:p>
            <a:pPr marL="228600" indent="-228600">
              <a:buAutoNum type="arabicPeriod"/>
            </a:pPr>
            <a:r>
              <a:rPr lang="en-US" baseline="0" dirty="0" smtClean="0"/>
              <a:t>Does not need global overview, which can be practically deployed in enterprise networks and ISP networks. </a:t>
            </a:r>
          </a:p>
          <a:p>
            <a:pPr marL="228600" indent="-228600">
              <a:buAutoNum type="arabicPeriod"/>
            </a:pPr>
            <a:r>
              <a:rPr lang="en-US" baseline="0" dirty="0" smtClean="0"/>
              <a:t>Is capable of detecting P2P bots even if the </a:t>
            </a:r>
            <a:r>
              <a:rPr lang="en-US" baseline="0" dirty="0" err="1" smtClean="0"/>
              <a:t>bot</a:t>
            </a:r>
            <a:r>
              <a:rPr lang="en-US" baseline="0" dirty="0" smtClean="0"/>
              <a:t>-compromised hosts are running legitimate P2P applications. </a:t>
            </a:r>
          </a:p>
          <a:p>
            <a:pPr marL="228600" indent="-228600">
              <a:buAutoNum type="arabicPeriod"/>
            </a:pPr>
            <a:endParaRPr lang="en-US" baseline="0" dirty="0" smtClean="0"/>
          </a:p>
          <a:p>
            <a:pPr marL="228600" indent="-228600">
              <a:buAutoNum type="arabicPeriod"/>
            </a:pPr>
            <a:endParaRPr lang="en-US" baseline="0" dirty="0" smtClean="0"/>
          </a:p>
          <a:p>
            <a:pPr marL="514350" indent="-514350">
              <a:buFont typeface="Arial"/>
              <a:buChar char="•"/>
            </a:pPr>
            <a:r>
              <a:rPr lang="en-US" sz="1200" dirty="0" smtClean="0">
                <a:solidFill>
                  <a:schemeClr val="tx1"/>
                </a:solidFill>
              </a:rPr>
              <a:t>Only relies on </a:t>
            </a:r>
            <a:r>
              <a:rPr lang="en-US" sz="1200" dirty="0" err="1" smtClean="0">
                <a:solidFill>
                  <a:schemeClr val="tx1"/>
                </a:solidFill>
              </a:rPr>
              <a:t>C&amp;Cs</a:t>
            </a:r>
            <a:r>
              <a:rPr lang="en-US" sz="1200" dirty="0" smtClean="0">
                <a:solidFill>
                  <a:schemeClr val="tx1"/>
                </a:solidFill>
              </a:rPr>
              <a:t> to detect </a:t>
            </a:r>
            <a:r>
              <a:rPr lang="en-US" sz="1200" dirty="0" err="1" smtClean="0">
                <a:solidFill>
                  <a:schemeClr val="tx1"/>
                </a:solidFill>
              </a:rPr>
              <a:t>botnets</a:t>
            </a:r>
            <a:endParaRPr lang="en-US" sz="1200" dirty="0" smtClean="0">
              <a:solidFill>
                <a:schemeClr val="tx1"/>
              </a:solidFill>
            </a:endParaRPr>
          </a:p>
          <a:p>
            <a:pPr marL="514350" indent="-514350">
              <a:buFont typeface="Arial"/>
              <a:buChar char="•"/>
            </a:pPr>
            <a:r>
              <a:rPr lang="en-US" sz="1200" dirty="0" smtClean="0">
                <a:solidFill>
                  <a:schemeClr val="tx1"/>
                </a:solidFill>
              </a:rPr>
              <a:t>Does not require network topology info</a:t>
            </a:r>
          </a:p>
          <a:p>
            <a:pPr marL="514350" indent="-514350">
              <a:buFont typeface="Arial"/>
              <a:buChar char="•"/>
            </a:pPr>
            <a:r>
              <a:rPr lang="en-US" sz="1200" dirty="0" smtClean="0">
                <a:solidFill>
                  <a:schemeClr val="tx1"/>
                </a:solidFill>
              </a:rPr>
              <a:t>Detects P2P bots even they are running legitimate P2P applications</a:t>
            </a:r>
          </a:p>
          <a:p>
            <a:pPr marL="228600" indent="-228600">
              <a:buAutoNum type="arabicPeriod"/>
            </a:pPr>
            <a:endParaRPr lang="en-US" baseline="0" dirty="0" smtClean="0"/>
          </a:p>
          <a:p>
            <a:pPr marL="228600" indent="-228600">
              <a:buNone/>
            </a:pPr>
            <a:endParaRPr lang="en-US" baseline="0" dirty="0" smtClean="0"/>
          </a:p>
          <a:p>
            <a:pPr marL="228600" indent="-228600">
              <a:buNone/>
            </a:pPr>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88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a:t>
            </a:r>
            <a:r>
              <a:rPr lang="en-US" baseline="0" dirty="0" smtClean="0"/>
              <a:t> coarse-grained is good, it is not enough. For example, a </a:t>
            </a:r>
            <a:r>
              <a:rPr lang="en-US" baseline="0" dirty="0" err="1" smtClean="0"/>
              <a:t>mis</a:t>
            </a:r>
            <a:r>
              <a:rPr lang="en-US" baseline="0" dirty="0" smtClean="0"/>
              <a:t>-configured application may initiate a large number of failed connections. </a:t>
            </a:r>
          </a:p>
          <a:p>
            <a:endParaRPr lang="en-US" baseline="0" dirty="0" smtClean="0"/>
          </a:p>
          <a:p>
            <a:r>
              <a:rPr lang="en-US" baseline="0" dirty="0" smtClean="0"/>
              <a:t>So in order to further accurately identify P2P clients, we leverage the control flows of P2P applications for fine-grained analysis. </a:t>
            </a:r>
          </a:p>
          <a:p>
            <a:endParaRPr lang="en-US" baseline="0" dirty="0" smtClean="0"/>
          </a:p>
          <a:p>
            <a:r>
              <a:rPr lang="en-US" baseline="0" dirty="0" smtClean="0"/>
              <a:t>A control flow is a network flow that carries the control message for P2P application. The control messages are those protocol messages used to maintain the functionality of the P2P network. For example, PING/PONG message is used to verify the availability of the peers. Routing update messages are used to keep the routing table fresh.</a:t>
            </a:r>
          </a:p>
          <a:p>
            <a:endParaRPr lang="en-US" baseline="0" dirty="0" smtClean="0"/>
          </a:p>
          <a:p>
            <a:r>
              <a:rPr lang="en-US" baseline="0" dirty="0" smtClean="0"/>
              <a:t>The control flows are essential for P2P applications, since they are used to guarantee proper functionality of the whole P2P overlay networks. P2P Control flows have 4 characteristics that may help us on detection:</a:t>
            </a:r>
          </a:p>
          <a:p>
            <a:endParaRPr lang="en-US" baseline="0" dirty="0" smtClean="0"/>
          </a:p>
          <a:p>
            <a:r>
              <a:rPr lang="en-US" baseline="0" dirty="0" smtClean="0"/>
              <a:t>1. </a:t>
            </a:r>
          </a:p>
          <a:p>
            <a:r>
              <a:rPr lang="en-US" baseline="0" dirty="0" smtClean="0"/>
              <a:t>2. </a:t>
            </a:r>
          </a:p>
          <a:p>
            <a:r>
              <a:rPr lang="en-US" baseline="0" dirty="0" smtClean="0"/>
              <a:t>3. Control flows of different applications have different flow sizes since they have different implementations. </a:t>
            </a:r>
          </a:p>
          <a:p>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89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Here we give one example of a P2P control flow. </a:t>
            </a:r>
          </a:p>
          <a:p>
            <a:endParaRPr lang="en-US" baseline="0" dirty="0" smtClean="0"/>
          </a:p>
          <a:p>
            <a:r>
              <a:rPr lang="en-US" baseline="0" dirty="0" smtClean="0"/>
              <a:t>We start from a typical program used to generate control messages. We take PING/PONG message for example. Other control messages, such as routing update, will have similar program. </a:t>
            </a:r>
          </a:p>
          <a:p>
            <a:endParaRPr lang="en-US" baseline="0" dirty="0" smtClean="0"/>
          </a:p>
          <a:p>
            <a:r>
              <a:rPr lang="en-US" baseline="0" dirty="0" smtClean="0"/>
              <a:t>This function is periodically triggered. And once it is triggered, it will enumerate each peer in the </a:t>
            </a:r>
            <a:r>
              <a:rPr lang="en-US" baseline="0" dirty="0" err="1" smtClean="0"/>
              <a:t>peerlist</a:t>
            </a:r>
            <a:r>
              <a:rPr lang="en-US" baseline="0" dirty="0" smtClean="0"/>
              <a:t>, and then initiate a network session to this peer in order to exchange control message. As we have discussed, this piece of code is corresponding to a network session and we can observe a network flow in the network traffic. And we call this flow as P2P control flow because it is corresponding to a P2P control message. </a:t>
            </a:r>
          </a:p>
          <a:p>
            <a:endParaRPr lang="en-US" baseline="0" dirty="0" smtClean="0"/>
          </a:p>
          <a:p>
            <a:r>
              <a:rPr lang="en-US" baseline="0" dirty="0" smtClean="0"/>
              <a:t>After we introduce the concept of P2P control flow. The question, is this client a P2P client, can be translated to another question, does this client generate any P2P control flows. </a:t>
            </a:r>
          </a:p>
        </p:txBody>
      </p:sp>
      <p:sp>
        <p:nvSpPr>
          <p:cNvPr id="4" name="Slide Number Placeholder 3"/>
          <p:cNvSpPr>
            <a:spLocks noGrp="1"/>
          </p:cNvSpPr>
          <p:nvPr>
            <p:ph type="sldNum" sz="quarter" idx="10"/>
          </p:nvPr>
        </p:nvSpPr>
        <p:spPr/>
        <p:txBody>
          <a:bodyPr/>
          <a:lstStyle/>
          <a:p>
            <a:fld id="{FA4679D8-7FF0-004C-878C-B08D8C35A324}" type="slidenum">
              <a:rPr lang="en-US" smtClean="0"/>
              <a:pPr/>
              <a:t>90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a:t>
            </a:r>
            <a:r>
              <a:rPr lang="en-US" baseline="0" dirty="0" smtClean="0"/>
              <a:t> coarse-grained is good, it is not enough. For example, a </a:t>
            </a:r>
            <a:r>
              <a:rPr lang="en-US" baseline="0" dirty="0" err="1" smtClean="0"/>
              <a:t>mis</a:t>
            </a:r>
            <a:r>
              <a:rPr lang="en-US" baseline="0" dirty="0" smtClean="0"/>
              <a:t>-configured application may initiate a large number of failed connections. </a:t>
            </a:r>
          </a:p>
          <a:p>
            <a:endParaRPr lang="en-US" baseline="0" dirty="0" smtClean="0"/>
          </a:p>
          <a:p>
            <a:r>
              <a:rPr lang="en-US" baseline="0" dirty="0" smtClean="0"/>
              <a:t>So in order to further accurately identify P2P clients, we leverage the control flows of P2P applications for fine-grained analysis. </a:t>
            </a:r>
          </a:p>
          <a:p>
            <a:endParaRPr lang="en-US" baseline="0" dirty="0" smtClean="0"/>
          </a:p>
          <a:p>
            <a:r>
              <a:rPr lang="en-US" baseline="0" dirty="0" smtClean="0"/>
              <a:t>A control flow is a network flow that carries the control message for P2P application. The control messages are those protocol messages used to maintain the functionality of the P2P network. For example, PING/PONG message is used to verify the availability of the peers. Routing update messages are used to keep the routing table fresh.</a:t>
            </a:r>
          </a:p>
          <a:p>
            <a:endParaRPr lang="en-US" baseline="0" dirty="0" smtClean="0"/>
          </a:p>
          <a:p>
            <a:r>
              <a:rPr lang="en-US" baseline="0" dirty="0" smtClean="0"/>
              <a:t>The control flows are essential for P2P applications, since they are used to guarantee proper functionality of the whole P2P overlay networks. P2P Control flows have 4 characteristics that may help us on detection:</a:t>
            </a:r>
          </a:p>
          <a:p>
            <a:endParaRPr lang="en-US" baseline="0" dirty="0" smtClean="0"/>
          </a:p>
          <a:p>
            <a:r>
              <a:rPr lang="en-US" baseline="0" dirty="0" smtClean="0"/>
              <a:t>1. </a:t>
            </a:r>
          </a:p>
          <a:p>
            <a:r>
              <a:rPr lang="en-US" baseline="0" dirty="0" smtClean="0"/>
              <a:t>2. </a:t>
            </a:r>
          </a:p>
          <a:p>
            <a:r>
              <a:rPr lang="en-US" baseline="0" dirty="0" smtClean="0"/>
              <a:t>3. Control flows of different applications have different flow sizes since they have different implementations. </a:t>
            </a:r>
          </a:p>
          <a:p>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91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a:t>
            </a:r>
            <a:r>
              <a:rPr lang="en-US" baseline="0" dirty="0" smtClean="0"/>
              <a:t> coarse-grained is good, it is not enough. For example, a </a:t>
            </a:r>
            <a:r>
              <a:rPr lang="en-US" baseline="0" dirty="0" err="1" smtClean="0"/>
              <a:t>mis</a:t>
            </a:r>
            <a:r>
              <a:rPr lang="en-US" baseline="0" dirty="0" smtClean="0"/>
              <a:t>-configured application may initiate a large number of failed connections. </a:t>
            </a:r>
          </a:p>
          <a:p>
            <a:endParaRPr lang="en-US" baseline="0" dirty="0" smtClean="0"/>
          </a:p>
          <a:p>
            <a:r>
              <a:rPr lang="en-US" baseline="0" dirty="0" smtClean="0"/>
              <a:t>So in order to further accurately identify P2P clients, we leverage the control flows of P2P applications for fine-grained analysis. </a:t>
            </a:r>
          </a:p>
          <a:p>
            <a:endParaRPr lang="en-US" baseline="0" dirty="0" smtClean="0"/>
          </a:p>
          <a:p>
            <a:r>
              <a:rPr lang="en-US" baseline="0" dirty="0" smtClean="0"/>
              <a:t>A control flow is a network flow that carries the control message for P2P application. The control messages are those protocol messages used to maintain the functionality of the P2P network. For example, PING/PONG message is used to verify the availability of the peers. Routing update messages are used to keep the routing table fresh.</a:t>
            </a:r>
          </a:p>
          <a:p>
            <a:endParaRPr lang="en-US" baseline="0" dirty="0" smtClean="0"/>
          </a:p>
          <a:p>
            <a:r>
              <a:rPr lang="en-US" baseline="0" dirty="0" smtClean="0"/>
              <a:t>The control flows are essential for P2P applications, since they are used to guarantee proper functionality of the whole P2P overlay networks. P2P Control flows have 4 characteristics that may help us on detection:</a:t>
            </a:r>
          </a:p>
          <a:p>
            <a:endParaRPr lang="en-US" baseline="0" dirty="0" smtClean="0"/>
          </a:p>
          <a:p>
            <a:r>
              <a:rPr lang="en-US" baseline="0" dirty="0" smtClean="0"/>
              <a:t>1. </a:t>
            </a:r>
          </a:p>
          <a:p>
            <a:r>
              <a:rPr lang="en-US" baseline="0" dirty="0" smtClean="0"/>
              <a:t>2. </a:t>
            </a:r>
          </a:p>
          <a:p>
            <a:r>
              <a:rPr lang="en-US" baseline="0" dirty="0" smtClean="0"/>
              <a:t>3. Control flows of different applications have different flow sizes since they have different implementations. </a:t>
            </a:r>
          </a:p>
          <a:p>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92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a:t>
            </a:r>
            <a:r>
              <a:rPr lang="en-US" baseline="0" dirty="0" smtClean="0"/>
              <a:t> coarse-grained is good, it is not enough. For example, a </a:t>
            </a:r>
            <a:r>
              <a:rPr lang="en-US" baseline="0" dirty="0" err="1" smtClean="0"/>
              <a:t>mis</a:t>
            </a:r>
            <a:r>
              <a:rPr lang="en-US" baseline="0" dirty="0" smtClean="0"/>
              <a:t>-configured application may initiate a large number of failed connections. </a:t>
            </a:r>
          </a:p>
          <a:p>
            <a:endParaRPr lang="en-US" baseline="0" dirty="0" smtClean="0"/>
          </a:p>
          <a:p>
            <a:r>
              <a:rPr lang="en-US" baseline="0" dirty="0" smtClean="0"/>
              <a:t>So in order to further accurately identify P2P clients, we leverage the control flows of P2P applications for fine-grained analysis. </a:t>
            </a:r>
          </a:p>
          <a:p>
            <a:endParaRPr lang="en-US" baseline="0" dirty="0" smtClean="0"/>
          </a:p>
          <a:p>
            <a:r>
              <a:rPr lang="en-US" baseline="0" dirty="0" smtClean="0"/>
              <a:t>A control flow is a network flow that carries the control message for P2P application. The control messages are those protocol messages used to maintain the functionality of the P2P network. For example, PING/PONG message is used to verify the availability of the peers. Routing update messages are used to keep the routing table fresh.</a:t>
            </a:r>
          </a:p>
          <a:p>
            <a:endParaRPr lang="en-US" baseline="0" dirty="0" smtClean="0"/>
          </a:p>
          <a:p>
            <a:r>
              <a:rPr lang="en-US" baseline="0" dirty="0" smtClean="0"/>
              <a:t>The control flows are essential for P2P applications, since they are used to guarantee proper functionality of the whole P2P overlay networks. P2P Control flows have 4 characteristics that may help us on detection:</a:t>
            </a:r>
          </a:p>
          <a:p>
            <a:endParaRPr lang="en-US" baseline="0" dirty="0" smtClean="0"/>
          </a:p>
          <a:p>
            <a:r>
              <a:rPr lang="en-US" baseline="0" dirty="0" smtClean="0"/>
              <a:t>1. </a:t>
            </a:r>
          </a:p>
          <a:p>
            <a:r>
              <a:rPr lang="en-US" baseline="0" dirty="0" smtClean="0"/>
              <a:t>2. </a:t>
            </a:r>
          </a:p>
          <a:p>
            <a:r>
              <a:rPr lang="en-US" baseline="0" dirty="0" smtClean="0"/>
              <a:t>3. Control flows of different applications have different flow sizes since they have different implementations. </a:t>
            </a:r>
          </a:p>
          <a:p>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93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Fourth, the control messages are highly formatted and the control messages of the same type usually variance on the length. Since the length of the message implies the size of the flow, regarding the number of packets and bytes exchanged, the control flows for the same type of control messages will share similar flow size. </a:t>
            </a:r>
          </a:p>
          <a:p>
            <a:endParaRPr lang="en-US" baseline="0" dirty="0" smtClean="0"/>
          </a:p>
          <a:p>
            <a:r>
              <a:rPr lang="en-US" baseline="0" dirty="0" smtClean="0"/>
              <a:t>Control flows of different types follow different implementations, and therefore, they will have different flow sizes. </a:t>
            </a:r>
          </a:p>
          <a:p>
            <a:endParaRPr lang="en-US" baseline="0" dirty="0" smtClean="0"/>
          </a:p>
          <a:p>
            <a:r>
              <a:rPr lang="en-US" baseline="0" dirty="0" smtClean="0"/>
              <a:t>So we come up with the fourth characteristic: for the same type of P2P application, P2P control flows of the same type lf control messages share similar flow size. </a:t>
            </a:r>
          </a:p>
        </p:txBody>
      </p:sp>
      <p:sp>
        <p:nvSpPr>
          <p:cNvPr id="4" name="Slide Number Placeholder 3"/>
          <p:cNvSpPr>
            <a:spLocks noGrp="1"/>
          </p:cNvSpPr>
          <p:nvPr>
            <p:ph type="sldNum" sz="quarter" idx="10"/>
          </p:nvPr>
        </p:nvSpPr>
        <p:spPr/>
        <p:txBody>
          <a:bodyPr/>
          <a:lstStyle/>
          <a:p>
            <a:fld id="{FA4679D8-7FF0-004C-878C-B08D8C35A324}" type="slidenum">
              <a:rPr lang="en-US" smtClean="0"/>
              <a:pPr/>
              <a:t>94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a:t>
            </a:r>
            <a:r>
              <a:rPr lang="en-US" baseline="0" dirty="0" smtClean="0"/>
              <a:t> coarse-grained is good, it is not enough. For example, a </a:t>
            </a:r>
            <a:r>
              <a:rPr lang="en-US" baseline="0" dirty="0" err="1" smtClean="0"/>
              <a:t>mis</a:t>
            </a:r>
            <a:r>
              <a:rPr lang="en-US" baseline="0" dirty="0" smtClean="0"/>
              <a:t>-configured application may initiate a large number of failed connections. </a:t>
            </a:r>
          </a:p>
          <a:p>
            <a:endParaRPr lang="en-US" baseline="0" dirty="0" smtClean="0"/>
          </a:p>
          <a:p>
            <a:r>
              <a:rPr lang="en-US" baseline="0" dirty="0" smtClean="0"/>
              <a:t>So in order to further accurately identify P2P clients, we leverage the control flows of P2P applications for fine-grained analysis. </a:t>
            </a:r>
          </a:p>
          <a:p>
            <a:endParaRPr lang="en-US" baseline="0" dirty="0" smtClean="0"/>
          </a:p>
          <a:p>
            <a:r>
              <a:rPr lang="en-US" baseline="0" dirty="0" smtClean="0"/>
              <a:t>A control flow is a network flow that carries the control message for P2P application. The control messages are those protocol messages used to maintain the functionality of the P2P network. For example, PING/PONG message is used to verify the availability of the peers. Routing update messages are used to keep the routing table fresh.</a:t>
            </a:r>
          </a:p>
          <a:p>
            <a:endParaRPr lang="en-US" baseline="0" dirty="0" smtClean="0"/>
          </a:p>
          <a:p>
            <a:r>
              <a:rPr lang="en-US" baseline="0" dirty="0" smtClean="0"/>
              <a:t>The control flows are essential for P2P applications, since they are used to guarantee proper functionality of the whole P2P overlay networks. P2P Control flows have 4 characteristics that may help us on detection:</a:t>
            </a:r>
          </a:p>
          <a:p>
            <a:endParaRPr lang="en-US" baseline="0" dirty="0" smtClean="0"/>
          </a:p>
          <a:p>
            <a:r>
              <a:rPr lang="en-US" baseline="0" dirty="0" smtClean="0"/>
              <a:t>1. </a:t>
            </a:r>
          </a:p>
          <a:p>
            <a:r>
              <a:rPr lang="en-US" baseline="0" dirty="0" smtClean="0"/>
              <a:t>2. </a:t>
            </a:r>
          </a:p>
          <a:p>
            <a:r>
              <a:rPr lang="en-US" baseline="0" dirty="0" smtClean="0"/>
              <a:t>3. Control flows of different applications have different flow sizes since they have different implementations. </a:t>
            </a:r>
          </a:p>
          <a:p>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95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For flows, say it does</a:t>
            </a:r>
            <a:r>
              <a:rPr lang="en-US" baseline="0" dirty="0" smtClean="0"/>
              <a:t> not rely on packet payload information. </a:t>
            </a:r>
          </a:p>
          <a:p>
            <a:endParaRPr lang="en-US" baseline="0" dirty="0" smtClean="0"/>
          </a:p>
          <a:p>
            <a:r>
              <a:rPr lang="en-US" baseline="0" dirty="0" smtClean="0"/>
              <a:t>Each step will help us closer to the P2P bots</a:t>
            </a:r>
            <a:endParaRPr lang="en-US" dirty="0"/>
          </a:p>
        </p:txBody>
      </p:sp>
      <p:sp>
        <p:nvSpPr>
          <p:cNvPr id="4" name="Slide Number Placeholder 3"/>
          <p:cNvSpPr>
            <a:spLocks noGrp="1"/>
          </p:cNvSpPr>
          <p:nvPr>
            <p:ph type="sldNum" sz="quarter" idx="10"/>
          </p:nvPr>
        </p:nvSpPr>
        <p:spPr/>
        <p:txBody>
          <a:bodyPr/>
          <a:lstStyle/>
          <a:p>
            <a:fld id="{FA4679D8-7FF0-004C-878C-B08D8C35A324}" type="slidenum">
              <a:rPr lang="en-US" smtClean="0"/>
              <a:pPr/>
              <a:t>96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a:t>
            </a:r>
            <a:r>
              <a:rPr lang="en-US" baseline="0" dirty="0" smtClean="0"/>
              <a:t> coarse-grained is good, it is not enough. For example, a </a:t>
            </a:r>
            <a:r>
              <a:rPr lang="en-US" baseline="0" dirty="0" err="1" smtClean="0"/>
              <a:t>mis</a:t>
            </a:r>
            <a:r>
              <a:rPr lang="en-US" baseline="0" dirty="0" smtClean="0"/>
              <a:t>-configured application may initiate a large number of failed connections. </a:t>
            </a:r>
          </a:p>
          <a:p>
            <a:endParaRPr lang="en-US" baseline="0" dirty="0" smtClean="0"/>
          </a:p>
          <a:p>
            <a:r>
              <a:rPr lang="en-US" baseline="0" dirty="0" smtClean="0"/>
              <a:t>So in order to further accurately identify P2P clients, we leverage the control flows of P2P applications for fine-grained analysis. </a:t>
            </a:r>
          </a:p>
          <a:p>
            <a:endParaRPr lang="en-US" baseline="0" dirty="0" smtClean="0"/>
          </a:p>
          <a:p>
            <a:r>
              <a:rPr lang="en-US" baseline="0" dirty="0" smtClean="0"/>
              <a:t>A control flow is a network flow that carries the control message for P2P application. The control messages are those protocol messages used to maintain the functionality of the P2P network. For example, PING/PONG message is used to verify the availability of the peers. Routing update messages are used to keep the routing table fresh.</a:t>
            </a:r>
          </a:p>
          <a:p>
            <a:endParaRPr lang="en-US" baseline="0" dirty="0" smtClean="0"/>
          </a:p>
          <a:p>
            <a:r>
              <a:rPr lang="en-US" baseline="0" dirty="0" smtClean="0"/>
              <a:t>The control flows are essential for P2P applications, since they are used to guarantee proper functionality of the whole P2P overlay networks. P2P Control flows have 4 characteristics that may help us on detection:</a:t>
            </a:r>
          </a:p>
          <a:p>
            <a:endParaRPr lang="en-US" baseline="0" dirty="0" smtClean="0"/>
          </a:p>
          <a:p>
            <a:r>
              <a:rPr lang="en-US" baseline="0" dirty="0" smtClean="0"/>
              <a:t>1. </a:t>
            </a:r>
          </a:p>
          <a:p>
            <a:r>
              <a:rPr lang="en-US" baseline="0" dirty="0" smtClean="0"/>
              <a:t>2. </a:t>
            </a:r>
          </a:p>
          <a:p>
            <a:r>
              <a:rPr lang="en-US" baseline="0" dirty="0" smtClean="0"/>
              <a:t>3. Control flows of different applications have different flow sizes since they have different implementations. </a:t>
            </a:r>
          </a:p>
          <a:p>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97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Although</a:t>
            </a:r>
            <a:r>
              <a:rPr lang="en-US" baseline="0" dirty="0" smtClean="0"/>
              <a:t> coarse-grained is good, it is not enough. For example, a </a:t>
            </a:r>
            <a:r>
              <a:rPr lang="en-US" baseline="0" dirty="0" err="1" smtClean="0"/>
              <a:t>mis</a:t>
            </a:r>
            <a:r>
              <a:rPr lang="en-US" baseline="0" dirty="0" smtClean="0"/>
              <a:t>-configured application may initiate a large number of failed connections. </a:t>
            </a:r>
          </a:p>
          <a:p>
            <a:endParaRPr lang="en-US" baseline="0" dirty="0" smtClean="0"/>
          </a:p>
          <a:p>
            <a:r>
              <a:rPr lang="en-US" baseline="0" dirty="0" smtClean="0"/>
              <a:t>So in order to further accurately identify P2P clients, we leverage the control flows of P2P applications for fine-grained analysis. </a:t>
            </a:r>
          </a:p>
          <a:p>
            <a:endParaRPr lang="en-US" baseline="0" dirty="0" smtClean="0"/>
          </a:p>
          <a:p>
            <a:r>
              <a:rPr lang="en-US" baseline="0" dirty="0" smtClean="0"/>
              <a:t>A control flow is a network flow that carries the control message for P2P application. The control messages are those protocol messages used to maintain the functionality of the P2P network. For example, PING/PONG message is used to verify the availability of the peers. Routing update messages are used to keep the routing table fresh.</a:t>
            </a:r>
          </a:p>
          <a:p>
            <a:endParaRPr lang="en-US" baseline="0" dirty="0" smtClean="0"/>
          </a:p>
          <a:p>
            <a:r>
              <a:rPr lang="en-US" baseline="0" dirty="0" smtClean="0"/>
              <a:t>The control flows are essential for P2P applications, since they are used to guarantee proper functionality of the whole P2P overlay networks. P2P Control flows have 4 characteristics that may help us on detection:</a:t>
            </a:r>
          </a:p>
          <a:p>
            <a:endParaRPr lang="en-US" baseline="0" dirty="0" smtClean="0"/>
          </a:p>
          <a:p>
            <a:r>
              <a:rPr lang="en-US" baseline="0" dirty="0" smtClean="0"/>
              <a:t>1. </a:t>
            </a:r>
          </a:p>
          <a:p>
            <a:r>
              <a:rPr lang="en-US" baseline="0" dirty="0" smtClean="0"/>
              <a:t>2. </a:t>
            </a:r>
          </a:p>
          <a:p>
            <a:r>
              <a:rPr lang="en-US" baseline="0" dirty="0" smtClean="0"/>
              <a:t>3. Control flows of different applications have different flow sizes since they have different implementations. </a:t>
            </a:r>
          </a:p>
          <a:p>
            <a:endParaRPr lang="en-US" baseline="0" dirty="0" smtClean="0"/>
          </a:p>
        </p:txBody>
      </p:sp>
      <p:sp>
        <p:nvSpPr>
          <p:cNvPr id="4" name="Slide Number Placeholder 3"/>
          <p:cNvSpPr>
            <a:spLocks noGrp="1"/>
          </p:cNvSpPr>
          <p:nvPr>
            <p:ph type="sldNum" sz="quarter" idx="10"/>
          </p:nvPr>
        </p:nvSpPr>
        <p:spPr/>
        <p:txBody>
          <a:bodyPr/>
          <a:lstStyle/>
          <a:p>
            <a:fld id="{FA4679D8-7FF0-004C-878C-B08D8C35A324}" type="slidenum">
              <a:rPr lang="en-US" smtClean="0"/>
              <a:pPr/>
              <a:t>98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For flows, say it does</a:t>
            </a:r>
            <a:r>
              <a:rPr lang="en-US" baseline="0" dirty="0" smtClean="0"/>
              <a:t> not rely on packet payload information. </a:t>
            </a:r>
          </a:p>
          <a:p>
            <a:endParaRPr lang="en-US" baseline="0" dirty="0" smtClean="0"/>
          </a:p>
          <a:p>
            <a:r>
              <a:rPr lang="en-US" baseline="0" dirty="0" smtClean="0"/>
              <a:t>Each step will help us closer to the P2P bots</a:t>
            </a:r>
            <a:endParaRPr lang="en-US" dirty="0"/>
          </a:p>
        </p:txBody>
      </p:sp>
      <p:sp>
        <p:nvSpPr>
          <p:cNvPr id="4" name="Slide Number Placeholder 3"/>
          <p:cNvSpPr>
            <a:spLocks noGrp="1"/>
          </p:cNvSpPr>
          <p:nvPr>
            <p:ph type="sldNum" sz="quarter" idx="10"/>
          </p:nvPr>
        </p:nvSpPr>
        <p:spPr/>
        <p:txBody>
          <a:bodyPr/>
          <a:lstStyle/>
          <a:p>
            <a:fld id="{FA4679D8-7FF0-004C-878C-B08D8C35A324}" type="slidenum">
              <a:rPr lang="en-US" smtClean="0"/>
              <a:pPr/>
              <a:t>99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Add</a:t>
            </a:r>
            <a:r>
              <a:rPr lang="en-US" baseline="0" dirty="0" smtClean="0"/>
              <a:t> some numbers here. </a:t>
            </a:r>
            <a:endParaRPr lang="en-US" dirty="0"/>
          </a:p>
        </p:txBody>
      </p:sp>
      <p:sp>
        <p:nvSpPr>
          <p:cNvPr id="4" name="Slide Number Placeholder 3"/>
          <p:cNvSpPr>
            <a:spLocks noGrp="1"/>
          </p:cNvSpPr>
          <p:nvPr>
            <p:ph type="sldNum" sz="quarter" idx="10"/>
          </p:nvPr>
        </p:nvSpPr>
        <p:spPr/>
        <p:txBody>
          <a:bodyPr/>
          <a:lstStyle/>
          <a:p>
            <a:fld id="{FA4679D8-7FF0-004C-878C-B08D8C35A324}" type="slidenum">
              <a:rPr lang="en-US" smtClean="0"/>
              <a:pPr/>
              <a:t>106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25071A4-16D7-CD4D-852F-C334EF453C03}" type="datetimeFigureOut">
              <a:rPr lang="en-US" smtClean="0"/>
              <a:t>10/15/15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2694945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5071A4-16D7-CD4D-852F-C334EF453C03}" type="datetimeFigureOut">
              <a:rPr lang="en-US" smtClean="0"/>
              <a:t>10/15/15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1809569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25071A4-16D7-CD4D-852F-C334EF453C03}" type="datetimeFigureOut">
              <a:rPr lang="en-US" smtClean="0"/>
              <a:t>10/15/15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4020347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25071A4-16D7-CD4D-852F-C334EF453C03}" type="datetimeFigureOut">
              <a:rPr lang="en-US" smtClean="0"/>
              <a:t>10/15/15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388213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25071A4-16D7-CD4D-852F-C334EF453C03}" type="datetimeFigureOut">
              <a:rPr lang="en-US" smtClean="0"/>
              <a:t>10/15/15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2871394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5071A4-16D7-CD4D-852F-C334EF453C03}" type="datetimeFigureOut">
              <a:rPr lang="en-US" smtClean="0"/>
              <a:t>10/15/15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946376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5071A4-16D7-CD4D-852F-C334EF453C03}" type="datetimeFigureOut">
              <a:rPr lang="en-US" smtClean="0"/>
              <a:t>10/15/15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4091894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071A4-16D7-CD4D-852F-C334EF453C03}" type="datetimeFigureOut">
              <a:rPr lang="en-US" smtClean="0"/>
              <a:t>10/15/15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4220882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071A4-16D7-CD4D-852F-C334EF453C03}" type="datetimeFigureOut">
              <a:rPr lang="en-US" smtClean="0"/>
              <a:t>10/15/15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396997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5071A4-16D7-CD4D-852F-C334EF453C03}" type="datetimeFigureOut">
              <a:rPr lang="en-US" smtClean="0"/>
              <a:t>10/15/15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4029932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5071A4-16D7-CD4D-852F-C334EF453C03}" type="datetimeFigureOut">
              <a:rPr lang="en-US" smtClean="0"/>
              <a:t>10/15/15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258C63-A321-0F49-BA60-CF3640ECD4C9}" type="slidenum">
              <a:rPr lang="en-US" smtClean="0"/>
              <a:t>‹#›</a:t>
            </a:fld>
            <a:endParaRPr lang="en-US"/>
          </a:p>
        </p:txBody>
      </p:sp>
    </p:spTree>
    <p:extLst>
      <p:ext uri="{BB962C8B-B14F-4D97-AF65-F5344CB8AC3E}">
        <p14:creationId xmlns:p14="http://schemas.microsoft.com/office/powerpoint/2010/main" val="259308325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5071A4-16D7-CD4D-852F-C334EF453C03}" type="datetimeFigureOut">
              <a:rPr lang="en-US" smtClean="0"/>
              <a:t>10/15/15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258C63-A321-0F49-BA60-CF3640ECD4C9}" type="slidenum">
              <a:rPr lang="en-US" smtClean="0"/>
              <a:t>‹#›</a:t>
            </a:fld>
            <a:endParaRPr lang="en-US"/>
          </a:p>
        </p:txBody>
      </p:sp>
    </p:spTree>
    <p:extLst>
      <p:ext uri="{BB962C8B-B14F-4D97-AF65-F5344CB8AC3E}">
        <p14:creationId xmlns:p14="http://schemas.microsoft.com/office/powerpoint/2010/main" val="2626476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4" Type="http://schemas.openxmlformats.org/officeDocument/2006/relationships/image" Target="../media/image5.jpeg"/><Relationship Id="rId5" Type="http://schemas.openxmlformats.org/officeDocument/2006/relationships/image" Target="../media/image6.jpg"/><Relationship Id="rId1" Type="http://schemas.openxmlformats.org/officeDocument/2006/relationships/slideLayout" Target="../slideLayouts/slideLayout2.xml"/><Relationship Id="rId2"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6.xml.rels><?xml version="1.0" encoding="UTF-8" standalone="yes"?>
<Relationships xmlns="http://schemas.openxmlformats.org/package/2006/relationships"><Relationship Id="rId3" Type="http://schemas.openxmlformats.org/officeDocument/2006/relationships/image" Target="../media/image8.wmf"/><Relationship Id="rId4" Type="http://schemas.openxmlformats.org/officeDocument/2006/relationships/hyperlink" Target="http://tennis.ecs.umass.edu/~czou/research/codered/codered.ppt" TargetMode="External"/><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4" Type="http://schemas.microsoft.com/office/2007/relationships/hdphoto" Target="../media/hdphoto1.wdp"/><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5" Type="http://schemas.microsoft.com/office/2007/relationships/hdphoto" Target="../media/hdphoto2.wdp"/><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5" Type="http://schemas.microsoft.com/office/2007/relationships/hdphoto" Target="../media/hdphoto2.wdp"/><Relationship Id="rId6" Type="http://schemas.openxmlformats.org/officeDocument/2006/relationships/image" Target="../media/image17.png"/><Relationship Id="rId7" Type="http://schemas.microsoft.com/office/2007/relationships/hdphoto" Target="../media/hdphoto3.wdp"/><Relationship Id="rId8" Type="http://schemas.microsoft.com/office/2007/relationships/hdphoto" Target="../media/hdphoto4.wdp"/><Relationship Id="rId9" Type="http://schemas.microsoft.com/office/2007/relationships/hdphoto" Target="../media/hdphoto5.wdp"/><Relationship Id="rId10" Type="http://schemas.microsoft.com/office/2007/relationships/hdphoto" Target="../media/hdphoto6.wdp"/><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jpeg"/><Relationship Id="rId3" Type="http://schemas.openxmlformats.org/officeDocument/2006/relationships/image" Target="../media/image19.png"/></Relationships>
</file>

<file path=ppt/slides/_rels/slide57.xml.rels><?xml version="1.0" encoding="UTF-8" standalone="yes"?>
<Relationships xmlns="http://schemas.openxmlformats.org/package/2006/relationships"><Relationship Id="rId3" Type="http://schemas.openxmlformats.org/officeDocument/2006/relationships/image" Target="../media/image21.jpeg"/><Relationship Id="rId4" Type="http://schemas.openxmlformats.org/officeDocument/2006/relationships/image" Target="../media/image22.gif"/><Relationship Id="rId1" Type="http://schemas.openxmlformats.org/officeDocument/2006/relationships/slideLayout" Target="../slideLayouts/slideLayout2.xml"/><Relationship Id="rId2" Type="http://schemas.openxmlformats.org/officeDocument/2006/relationships/image" Target="../media/image20.jpeg"/></Relationships>
</file>

<file path=ppt/slides/_rels/slide58.xml.rels><?xml version="1.0" encoding="UTF-8" standalone="yes"?>
<Relationships xmlns="http://schemas.openxmlformats.org/package/2006/relationships"><Relationship Id="rId3" Type="http://schemas.openxmlformats.org/officeDocument/2006/relationships/image" Target="../media/image21.jpeg"/><Relationship Id="rId4"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image" Target="../media/image20.jpeg"/></Relationships>
</file>

<file path=ppt/slides/_rels/slide59.xml.rels><?xml version="1.0" encoding="UTF-8" standalone="yes"?>
<Relationships xmlns="http://schemas.openxmlformats.org/package/2006/relationships"><Relationship Id="rId3" Type="http://schemas.openxmlformats.org/officeDocument/2006/relationships/image" Target="../media/image25.jpeg"/><Relationship Id="rId4" Type="http://schemas.openxmlformats.org/officeDocument/2006/relationships/image" Target="../media/image26.jpeg"/><Relationship Id="rId1" Type="http://schemas.openxmlformats.org/officeDocument/2006/relationships/slideLayout" Target="../slideLayouts/slideLayout2.xml"/><Relationship Id="rId2" Type="http://schemas.openxmlformats.org/officeDocument/2006/relationships/image" Target="../media/image24.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2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13.png"/></Relationships>
</file>

<file path=ppt/slides/_rels/slide69.xml.rels><?xml version="1.0" encoding="UTF-8" standalone="yes"?>
<Relationships xmlns="http://schemas.openxmlformats.org/package/2006/relationships"><Relationship Id="rId3" Type="http://schemas.openxmlformats.org/officeDocument/2006/relationships/image" Target="../media/image30.jpeg"/><Relationship Id="rId4" Type="http://schemas.openxmlformats.org/officeDocument/2006/relationships/image" Target="../media/image31.wmf"/><Relationship Id="rId5" Type="http://schemas.openxmlformats.org/officeDocument/2006/relationships/image" Target="../media/image32.jpeg"/><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3.png"/><Relationship Id="rId5" Type="http://schemas.openxmlformats.org/officeDocument/2006/relationships/image" Target="../media/image33.jpg"/><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3.png"/><Relationship Id="rId5" Type="http://schemas.openxmlformats.org/officeDocument/2006/relationships/image" Target="../media/image34.emf"/><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4" Type="http://schemas.openxmlformats.org/officeDocument/2006/relationships/image" Target="../media/image17.png"/><Relationship Id="rId5" Type="http://schemas.microsoft.com/office/2007/relationships/hdphoto" Target="../media/hdphoto7.wdp"/><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76.xml.rels><?xml version="1.0" encoding="UTF-8" standalone="yes"?>
<Relationships xmlns="http://schemas.openxmlformats.org/package/2006/relationships"><Relationship Id="rId3" Type="http://schemas.openxmlformats.org/officeDocument/2006/relationships/image" Target="../media/image17.png"/><Relationship Id="rId4" Type="http://schemas.microsoft.com/office/2007/relationships/hdphoto" Target="../media/hdphoto7.wdp"/><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77.xml.rels><?xml version="1.0" encoding="UTF-8" standalone="yes"?>
<Relationships xmlns="http://schemas.openxmlformats.org/package/2006/relationships"><Relationship Id="rId3" Type="http://schemas.openxmlformats.org/officeDocument/2006/relationships/image" Target="../media/image17.png"/><Relationship Id="rId4" Type="http://schemas.microsoft.com/office/2007/relationships/hdphoto" Target="../media/hdphoto7.wdp"/><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png"/></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bin"/><Relationship Id="rId4" Type="http://schemas.openxmlformats.org/officeDocument/2006/relationships/image" Target="../media/image36.png"/><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2.bin"/><Relationship Id="rId4" Type="http://schemas.openxmlformats.org/officeDocument/2006/relationships/image" Target="../media/image37.png"/><Relationship Id="rId1" Type="http://schemas.openxmlformats.org/officeDocument/2006/relationships/vmlDrawing" Target="../drawings/vmlDrawing2.vml"/><Relationship Id="rId2"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3.bin"/><Relationship Id="rId4" Type="http://schemas.openxmlformats.org/officeDocument/2006/relationships/image" Target="../media/image38.png"/><Relationship Id="rId1" Type="http://schemas.openxmlformats.org/officeDocument/2006/relationships/vmlDrawing" Target="../drawings/vmlDrawing3.vml"/><Relationship Id="rId2"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3.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84.xml.rels><?xml version="1.0" encoding="UTF-8" standalone="yes"?>
<Relationships xmlns="http://schemas.openxmlformats.org/package/2006/relationships"><Relationship Id="rId3" Type="http://schemas.openxmlformats.org/officeDocument/2006/relationships/image" Target="../media/image30.jpeg"/><Relationship Id="rId4" Type="http://schemas.openxmlformats.org/officeDocument/2006/relationships/image" Target="../media/image31.wmf"/><Relationship Id="rId5" Type="http://schemas.openxmlformats.org/officeDocument/2006/relationships/image" Target="../media/image32.jpeg"/><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85.xml.rels><?xml version="1.0" encoding="UTF-8" standalone="yes"?>
<Relationships xmlns="http://schemas.openxmlformats.org/package/2006/relationships"><Relationship Id="rId3" Type="http://schemas.openxmlformats.org/officeDocument/2006/relationships/image" Target="../media/image39.jpeg"/><Relationship Id="rId4" Type="http://schemas.openxmlformats.org/officeDocument/2006/relationships/image" Target="../media/image30.jpeg"/><Relationship Id="rId5" Type="http://schemas.openxmlformats.org/officeDocument/2006/relationships/image" Target="../media/image14.png"/><Relationship Id="rId6" Type="http://schemas.openxmlformats.org/officeDocument/2006/relationships/image" Target="../media/image40.jpeg"/><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4.jpe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5.e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em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Malicious Applications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911594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Malware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Insider Attacks</a:t>
            </a:r>
          </a:p>
          <a:p>
            <a:pPr lvl="1"/>
            <a:r>
              <a:rPr lang="en-US" dirty="0" smtClean="0"/>
              <a:t>Backdoors/trapdoors</a:t>
            </a:r>
          </a:p>
          <a:p>
            <a:pPr lvl="1"/>
            <a:r>
              <a:rPr lang="en-US" dirty="0" smtClean="0"/>
              <a:t>Logic Bombs</a:t>
            </a:r>
          </a:p>
          <a:p>
            <a:r>
              <a:rPr lang="en-US" dirty="0" smtClean="0"/>
              <a:t>Virus</a:t>
            </a:r>
          </a:p>
          <a:p>
            <a:pPr lvl="1"/>
            <a:r>
              <a:rPr lang="en-US" dirty="0" smtClean="0"/>
              <a:t>Polymorphic and Metamorphic Virus</a:t>
            </a:r>
          </a:p>
          <a:p>
            <a:r>
              <a:rPr lang="en-US" dirty="0" smtClean="0"/>
              <a:t>Trojan Horses</a:t>
            </a:r>
          </a:p>
          <a:p>
            <a:r>
              <a:rPr lang="en-US" dirty="0" smtClean="0"/>
              <a:t>Privacy-Invasive Software</a:t>
            </a:r>
          </a:p>
          <a:p>
            <a:pPr lvl="1"/>
            <a:r>
              <a:rPr lang="en-US" dirty="0" smtClean="0"/>
              <a:t>Adware/Spyware</a:t>
            </a:r>
          </a:p>
          <a:p>
            <a:r>
              <a:rPr lang="en-US" dirty="0" smtClean="0"/>
              <a:t>Worm</a:t>
            </a:r>
          </a:p>
          <a:p>
            <a:r>
              <a:rPr lang="en-US" dirty="0" smtClean="0"/>
              <a:t>Botnet</a:t>
            </a:r>
          </a:p>
          <a:p>
            <a:endParaRPr lang="en-US" dirty="0"/>
          </a:p>
        </p:txBody>
      </p:sp>
    </p:spTree>
    <p:extLst>
      <p:ext uri="{BB962C8B-B14F-4D97-AF65-F5344CB8AC3E}">
        <p14:creationId xmlns:p14="http://schemas.microsoft.com/office/powerpoint/2010/main" val="2978424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Backdoor/Trapdoor</a:t>
            </a:r>
            <a:endParaRPr lang="en-US" dirty="0"/>
          </a:p>
        </p:txBody>
      </p:sp>
      <p:sp>
        <p:nvSpPr>
          <p:cNvPr id="3" name="Content Placeholder 2"/>
          <p:cNvSpPr>
            <a:spLocks noGrp="1"/>
          </p:cNvSpPr>
          <p:nvPr>
            <p:ph idx="1"/>
          </p:nvPr>
        </p:nvSpPr>
        <p:spPr/>
        <p:txBody>
          <a:bodyPr/>
          <a:lstStyle/>
          <a:p>
            <a:r>
              <a:rPr lang="en-US" dirty="0" smtClean="0"/>
              <a:t>Secret entry point into a system</a:t>
            </a:r>
          </a:p>
          <a:p>
            <a:pPr lvl="1"/>
            <a:r>
              <a:rPr lang="en-US" dirty="0" smtClean="0"/>
              <a:t>Specific user identifier or password that circumvents normal security procedures</a:t>
            </a:r>
          </a:p>
          <a:p>
            <a:pPr lvl="1"/>
            <a:endParaRPr lang="en-US" dirty="0" smtClean="0"/>
          </a:p>
          <a:p>
            <a:r>
              <a:rPr lang="en-US" dirty="0" smtClean="0"/>
              <a:t>Commonly used by developers</a:t>
            </a:r>
          </a:p>
          <a:p>
            <a:pPr lvl="1"/>
            <a:r>
              <a:rPr lang="en-US" dirty="0" smtClean="0"/>
              <a:t>Could be included in a compiler</a:t>
            </a:r>
          </a:p>
          <a:p>
            <a:endParaRPr lang="en-US" dirty="0"/>
          </a:p>
        </p:txBody>
      </p:sp>
      <p:pic>
        <p:nvPicPr>
          <p:cNvPr id="4" name="Picture 3" descr="XcodeGhost-Featured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4062" y="4837249"/>
            <a:ext cx="4208720" cy="1418155"/>
          </a:xfrm>
          <a:prstGeom prst="rect">
            <a:avLst/>
          </a:prstGeom>
        </p:spPr>
      </p:pic>
    </p:spTree>
    <p:extLst>
      <p:ext uri="{BB962C8B-B14F-4D97-AF65-F5344CB8AC3E}">
        <p14:creationId xmlns:p14="http://schemas.microsoft.com/office/powerpoint/2010/main" val="425302374"/>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 Bomb</a:t>
            </a:r>
            <a:endParaRPr lang="en-US" dirty="0"/>
          </a:p>
        </p:txBody>
      </p:sp>
      <p:sp>
        <p:nvSpPr>
          <p:cNvPr id="3" name="Content Placeholder 2"/>
          <p:cNvSpPr>
            <a:spLocks noGrp="1"/>
          </p:cNvSpPr>
          <p:nvPr>
            <p:ph idx="1"/>
          </p:nvPr>
        </p:nvSpPr>
        <p:spPr/>
        <p:txBody>
          <a:bodyPr>
            <a:normAutofit lnSpcReduction="10000"/>
          </a:bodyPr>
          <a:lstStyle/>
          <a:p>
            <a:r>
              <a:rPr lang="en-US" dirty="0" smtClean="0"/>
              <a:t>A logic bomb is a class of malicious code that is activated when a specific condition occurs.</a:t>
            </a:r>
          </a:p>
          <a:p>
            <a:pPr lvl="1"/>
            <a:r>
              <a:rPr lang="en-US" dirty="0" smtClean="0"/>
              <a:t>Certain file is created</a:t>
            </a:r>
          </a:p>
          <a:p>
            <a:pPr lvl="1"/>
            <a:r>
              <a:rPr lang="en-US" dirty="0" smtClean="0"/>
              <a:t>Certain time is reached</a:t>
            </a:r>
          </a:p>
          <a:p>
            <a:pPr lvl="1"/>
            <a:r>
              <a:rPr lang="en-US" dirty="0" smtClean="0"/>
              <a:t>Certain user logins into the system</a:t>
            </a:r>
          </a:p>
          <a:p>
            <a:pPr lvl="1"/>
            <a:r>
              <a:rPr lang="en-US" dirty="0" smtClean="0"/>
              <a:t>……</a:t>
            </a:r>
          </a:p>
          <a:p>
            <a:r>
              <a:rPr lang="en-US" dirty="0" smtClean="0"/>
              <a:t>A logic bomb could represent </a:t>
            </a:r>
          </a:p>
          <a:p>
            <a:pPr lvl="1"/>
            <a:r>
              <a:rPr lang="en-US" dirty="0" smtClean="0"/>
              <a:t>an “insider” threat</a:t>
            </a:r>
          </a:p>
          <a:p>
            <a:pPr lvl="1"/>
            <a:r>
              <a:rPr lang="en-US" dirty="0" smtClean="0"/>
              <a:t>inherently malicious code</a:t>
            </a:r>
          </a:p>
          <a:p>
            <a:endParaRPr lang="en-US" dirty="0"/>
          </a:p>
        </p:txBody>
      </p:sp>
    </p:spTree>
    <p:extLst>
      <p:ext uri="{BB962C8B-B14F-4D97-AF65-F5344CB8AC3E}">
        <p14:creationId xmlns:p14="http://schemas.microsoft.com/office/powerpoint/2010/main" val="1475765414"/>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Virus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Self-replicating code</a:t>
            </a:r>
          </a:p>
          <a:p>
            <a:pPr lvl="1"/>
            <a:r>
              <a:rPr lang="en-US" dirty="0" smtClean="0"/>
              <a:t>Malicious functions + self-replicating (with users’ involvement)</a:t>
            </a:r>
          </a:p>
          <a:p>
            <a:pPr lvl="1"/>
            <a:r>
              <a:rPr lang="en-US" dirty="0" smtClean="0"/>
              <a:t>“Normal Code” =&gt; “Normal Code + Malicious Code”</a:t>
            </a:r>
          </a:p>
          <a:p>
            <a:r>
              <a:rPr lang="en-US" dirty="0" smtClean="0"/>
              <a:t>Stealthy</a:t>
            </a:r>
          </a:p>
          <a:p>
            <a:pPr lvl="1"/>
            <a:r>
              <a:rPr lang="en-US" dirty="0" smtClean="0"/>
              <a:t>Attempts to evade detection</a:t>
            </a:r>
          </a:p>
          <a:p>
            <a:r>
              <a:rPr lang="en-US" dirty="0" smtClean="0"/>
              <a:t>Operates when infected code executed</a:t>
            </a:r>
          </a:p>
          <a:p>
            <a:pPr lvl="1"/>
            <a:r>
              <a:rPr lang="en-US" dirty="0" smtClean="0"/>
              <a:t>Propagates</a:t>
            </a:r>
          </a:p>
          <a:p>
            <a:pPr lvl="1"/>
            <a:r>
              <a:rPr lang="en-US" dirty="0" smtClean="0"/>
              <a:t>Performs malicious actions</a:t>
            </a:r>
          </a:p>
          <a:p>
            <a:pPr lvl="1"/>
            <a:r>
              <a:rPr lang="en-US" dirty="0" smtClean="0"/>
              <a:t>Redirect to the normal code</a:t>
            </a:r>
            <a:endParaRPr lang="en-US" dirty="0"/>
          </a:p>
        </p:txBody>
      </p:sp>
    </p:spTree>
    <p:extLst>
      <p:ext uri="{BB962C8B-B14F-4D97-AF65-F5344CB8AC3E}">
        <p14:creationId xmlns:p14="http://schemas.microsoft.com/office/powerpoint/2010/main" val="2568996890"/>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Virus Infection Vectors</a:t>
            </a:r>
            <a:endParaRPr lang="en-US" dirty="0"/>
          </a:p>
        </p:txBody>
      </p:sp>
      <p:sp>
        <p:nvSpPr>
          <p:cNvPr id="3" name="Content Placeholder 2"/>
          <p:cNvSpPr>
            <a:spLocks noGrp="1"/>
          </p:cNvSpPr>
          <p:nvPr>
            <p:ph idx="1"/>
          </p:nvPr>
        </p:nvSpPr>
        <p:spPr/>
        <p:txBody>
          <a:bodyPr/>
          <a:lstStyle/>
          <a:p>
            <a:r>
              <a:rPr lang="en-US" dirty="0" smtClean="0"/>
              <a:t>Boot Sector</a:t>
            </a:r>
          </a:p>
          <a:p>
            <a:pPr lvl="1"/>
            <a:r>
              <a:rPr lang="en-US" dirty="0" smtClean="0"/>
              <a:t>Loaded when the system is booted</a:t>
            </a:r>
          </a:p>
          <a:p>
            <a:r>
              <a:rPr lang="en-US" dirty="0" smtClean="0"/>
              <a:t>Executable</a:t>
            </a:r>
          </a:p>
          <a:p>
            <a:pPr lvl="1"/>
            <a:r>
              <a:rPr lang="en-US" dirty="0" smtClean="0"/>
              <a:t>Activated when an executable file is activated</a:t>
            </a:r>
          </a:p>
          <a:p>
            <a:r>
              <a:rPr lang="en-US" dirty="0" smtClean="0"/>
              <a:t>Macro files</a:t>
            </a:r>
          </a:p>
          <a:p>
            <a:pPr lvl="1"/>
            <a:r>
              <a:rPr lang="en-US" dirty="0" smtClean="0"/>
              <a:t>Triggered when a document is loaded</a:t>
            </a:r>
            <a:endParaRPr lang="en-US" dirty="0"/>
          </a:p>
        </p:txBody>
      </p:sp>
    </p:spTree>
    <p:extLst>
      <p:ext uri="{BB962C8B-B14F-4D97-AF65-F5344CB8AC3E}">
        <p14:creationId xmlns:p14="http://schemas.microsoft.com/office/powerpoint/2010/main" val="961730371"/>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Virus Characteristics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Terminate and Stay Resident</a:t>
            </a:r>
          </a:p>
          <a:p>
            <a:pPr lvl="1"/>
            <a:r>
              <a:rPr lang="en-US" dirty="0" smtClean="0"/>
              <a:t>Stays active in memory after application completes</a:t>
            </a:r>
          </a:p>
          <a:p>
            <a:pPr lvl="1"/>
            <a:r>
              <a:rPr lang="en-US" dirty="0" smtClean="0"/>
              <a:t>Allow infection of previously unknown files</a:t>
            </a:r>
          </a:p>
          <a:p>
            <a:pPr lvl="2"/>
            <a:r>
              <a:rPr lang="en-US" dirty="0" smtClean="0"/>
              <a:t>Traps calls that execute a program</a:t>
            </a:r>
          </a:p>
          <a:p>
            <a:r>
              <a:rPr lang="en-US" dirty="0" smtClean="0"/>
              <a:t>Stealthy</a:t>
            </a:r>
          </a:p>
          <a:p>
            <a:pPr lvl="1"/>
            <a:r>
              <a:rPr lang="en-US" dirty="0" smtClean="0"/>
              <a:t>Conceal Infection</a:t>
            </a:r>
          </a:p>
          <a:p>
            <a:pPr lvl="2"/>
            <a:r>
              <a:rPr lang="en-US" dirty="0" smtClean="0"/>
              <a:t>Trap read and disinfect</a:t>
            </a:r>
          </a:p>
          <a:p>
            <a:pPr lvl="2"/>
            <a:r>
              <a:rPr lang="en-US" dirty="0" smtClean="0"/>
              <a:t>Let executable call infected file</a:t>
            </a:r>
          </a:p>
          <a:p>
            <a:pPr lvl="1"/>
            <a:r>
              <a:rPr lang="en-US" dirty="0" smtClean="0"/>
              <a:t>Polymorphic/Metamorphic Virus</a:t>
            </a:r>
          </a:p>
          <a:p>
            <a:pPr lvl="2"/>
            <a:r>
              <a:rPr lang="en-US" dirty="0" smtClean="0"/>
              <a:t>Change virus code to circumvent misuse detection</a:t>
            </a:r>
          </a:p>
        </p:txBody>
      </p:sp>
    </p:spTree>
    <p:extLst>
      <p:ext uri="{BB962C8B-B14F-4D97-AF65-F5344CB8AC3E}">
        <p14:creationId xmlns:p14="http://schemas.microsoft.com/office/powerpoint/2010/main" val="95246585"/>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Polymorphic/Metamorphic Virus</a:t>
            </a:r>
            <a:endParaRPr lang="en-US" dirty="0"/>
          </a:p>
        </p:txBody>
      </p:sp>
      <p:pic>
        <p:nvPicPr>
          <p:cNvPr id="4" name="Picture 3" descr="5555.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1194" y="1587380"/>
            <a:ext cx="6985000" cy="4241800"/>
          </a:xfrm>
          <a:prstGeom prst="rect">
            <a:avLst/>
          </a:prstGeom>
        </p:spPr>
      </p:pic>
    </p:spTree>
    <p:extLst>
      <p:ext uri="{BB962C8B-B14F-4D97-AF65-F5344CB8AC3E}">
        <p14:creationId xmlns:p14="http://schemas.microsoft.com/office/powerpoint/2010/main" val="701223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Trojan Horse</a:t>
            </a:r>
            <a:endParaRPr lang="en-US" dirty="0"/>
          </a:p>
        </p:txBody>
      </p:sp>
      <p:sp>
        <p:nvSpPr>
          <p:cNvPr id="3" name="Content Placeholder 2"/>
          <p:cNvSpPr>
            <a:spLocks noGrp="1"/>
          </p:cNvSpPr>
          <p:nvPr>
            <p:ph idx="1"/>
          </p:nvPr>
        </p:nvSpPr>
        <p:spPr>
          <a:xfrm>
            <a:off x="457200" y="1738387"/>
            <a:ext cx="8229600" cy="4387776"/>
          </a:xfrm>
        </p:spPr>
        <p:txBody>
          <a:bodyPr/>
          <a:lstStyle/>
          <a:p>
            <a:r>
              <a:rPr lang="en-US" dirty="0" smtClean="0"/>
              <a:t>A Trojan Horse is a malicious program that is disguised as legitimate software</a:t>
            </a:r>
          </a:p>
          <a:p>
            <a:endParaRPr lang="en-US" dirty="0"/>
          </a:p>
          <a:p>
            <a:r>
              <a:rPr lang="en-US" dirty="0" smtClean="0"/>
              <a:t>The gift horse left outside the gate of Troy by the Greeks</a:t>
            </a:r>
          </a:p>
          <a:p>
            <a:pPr lvl="1"/>
            <a:r>
              <a:rPr lang="en-US" dirty="0" smtClean="0"/>
              <a:t>Appear to be interesting and innocent </a:t>
            </a:r>
          </a:p>
          <a:p>
            <a:pPr lvl="1"/>
            <a:r>
              <a:rPr lang="en-US" dirty="0" smtClean="0"/>
              <a:t>Actually harmful</a:t>
            </a:r>
            <a:endParaRPr lang="en-US" dirty="0"/>
          </a:p>
        </p:txBody>
      </p:sp>
      <p:pic>
        <p:nvPicPr>
          <p:cNvPr id="4" name="Picture 3" descr="trojanhorse3.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9488" y="274638"/>
            <a:ext cx="2117312" cy="1595235"/>
          </a:xfrm>
          <a:prstGeom prst="rect">
            <a:avLst/>
          </a:prstGeom>
        </p:spPr>
      </p:pic>
    </p:spTree>
    <p:extLst>
      <p:ext uri="{BB962C8B-B14F-4D97-AF65-F5344CB8AC3E}">
        <p14:creationId xmlns:p14="http://schemas.microsoft.com/office/powerpoint/2010/main" val="1598100210"/>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Trojan Horse</a:t>
            </a:r>
            <a:endParaRPr lang="en-US" dirty="0"/>
          </a:p>
        </p:txBody>
      </p:sp>
      <p:sp>
        <p:nvSpPr>
          <p:cNvPr id="3" name="Content Placeholder 2"/>
          <p:cNvSpPr>
            <a:spLocks noGrp="1"/>
          </p:cNvSpPr>
          <p:nvPr>
            <p:ph idx="1"/>
          </p:nvPr>
        </p:nvSpPr>
        <p:spPr>
          <a:xfrm>
            <a:off x="457200" y="1738387"/>
            <a:ext cx="8229600" cy="4387776"/>
          </a:xfrm>
        </p:spPr>
        <p:txBody>
          <a:bodyPr/>
          <a:lstStyle/>
          <a:p>
            <a:r>
              <a:rPr lang="en-US" dirty="0" smtClean="0"/>
              <a:t>A Trojan Horse is a malicious program that is disguised as legitimate software</a:t>
            </a:r>
          </a:p>
          <a:p>
            <a:endParaRPr lang="en-US" dirty="0"/>
          </a:p>
          <a:p>
            <a:r>
              <a:rPr lang="en-US" dirty="0" smtClean="0"/>
              <a:t>The gift horse left outside the gate of Troy by the Greeks</a:t>
            </a:r>
          </a:p>
          <a:p>
            <a:pPr lvl="1"/>
            <a:r>
              <a:rPr lang="en-US" dirty="0" smtClean="0"/>
              <a:t>Appear to be interesting and innocent </a:t>
            </a:r>
          </a:p>
          <a:p>
            <a:pPr lvl="1"/>
            <a:r>
              <a:rPr lang="en-US" dirty="0" smtClean="0"/>
              <a:t>Actually harmful</a:t>
            </a:r>
            <a:endParaRPr lang="en-US" dirty="0"/>
          </a:p>
        </p:txBody>
      </p:sp>
      <p:pic>
        <p:nvPicPr>
          <p:cNvPr id="4" name="Picture 3" descr="trojanhorse3.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9488" y="274638"/>
            <a:ext cx="2117312" cy="1595235"/>
          </a:xfrm>
          <a:prstGeom prst="rect">
            <a:avLst/>
          </a:prstGeom>
        </p:spPr>
      </p:pic>
      <p:pic>
        <p:nvPicPr>
          <p:cNvPr id="5" name="Picture 4" descr="You are missing a plugin to play videos virus.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387" y="1003139"/>
            <a:ext cx="4596574" cy="3849631"/>
          </a:xfrm>
          <a:prstGeom prst="rect">
            <a:avLst/>
          </a:prstGeom>
        </p:spPr>
      </p:pic>
      <p:pic>
        <p:nvPicPr>
          <p:cNvPr id="6" name="Picture 5" descr="Keygen_software_license_key_generator-130207-1.jpe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96845" y="1869873"/>
            <a:ext cx="3095685" cy="1757970"/>
          </a:xfrm>
          <a:prstGeom prst="rect">
            <a:avLst/>
          </a:prstGeom>
        </p:spPr>
      </p:pic>
      <p:pic>
        <p:nvPicPr>
          <p:cNvPr id="7" name="Picture 6" descr="Fake-Antivirus-Pro-Security.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9301" y="3800019"/>
            <a:ext cx="3837499" cy="2574732"/>
          </a:xfrm>
          <a:prstGeom prst="rect">
            <a:avLst/>
          </a:prstGeom>
        </p:spPr>
      </p:pic>
    </p:spTree>
    <p:extLst>
      <p:ext uri="{BB962C8B-B14F-4D97-AF65-F5344CB8AC3E}">
        <p14:creationId xmlns:p14="http://schemas.microsoft.com/office/powerpoint/2010/main" val="269047987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Privacy-Invasive Software</a:t>
            </a:r>
            <a:endParaRPr lang="en-US" dirty="0"/>
          </a:p>
        </p:txBody>
      </p:sp>
      <p:sp>
        <p:nvSpPr>
          <p:cNvPr id="3" name="Content Placeholder 2"/>
          <p:cNvSpPr>
            <a:spLocks noGrp="1"/>
          </p:cNvSpPr>
          <p:nvPr>
            <p:ph idx="1"/>
          </p:nvPr>
        </p:nvSpPr>
        <p:spPr/>
        <p:txBody>
          <a:bodyPr/>
          <a:lstStyle/>
          <a:p>
            <a:r>
              <a:rPr lang="en-US" dirty="0" smtClean="0"/>
              <a:t>Malware with specific malicious objectives</a:t>
            </a:r>
          </a:p>
          <a:p>
            <a:pPr lvl="1"/>
            <a:r>
              <a:rPr lang="en-US" dirty="0" smtClean="0"/>
              <a:t>Adware</a:t>
            </a:r>
          </a:p>
          <a:p>
            <a:pPr lvl="2"/>
            <a:r>
              <a:rPr lang="en-US" dirty="0" smtClean="0"/>
              <a:t>Pop up advertisements</a:t>
            </a:r>
          </a:p>
          <a:p>
            <a:endParaRPr lang="en-US" dirty="0"/>
          </a:p>
          <a:p>
            <a:pPr lvl="1"/>
            <a:r>
              <a:rPr lang="en-US" dirty="0" smtClean="0"/>
              <a:t>Spyware</a:t>
            </a:r>
          </a:p>
          <a:p>
            <a:pPr lvl="2"/>
            <a:r>
              <a:rPr lang="en-US" dirty="0" smtClean="0"/>
              <a:t>Key logging, screen capturing</a:t>
            </a:r>
            <a:endParaRPr lang="en-US" dirty="0"/>
          </a:p>
        </p:txBody>
      </p:sp>
    </p:spTree>
    <p:extLst>
      <p:ext uri="{BB962C8B-B14F-4D97-AF65-F5344CB8AC3E}">
        <p14:creationId xmlns:p14="http://schemas.microsoft.com/office/powerpoint/2010/main" val="3861890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Worms</a:t>
            </a:r>
            <a:endParaRPr lang="en-US" dirty="0"/>
          </a:p>
        </p:txBody>
      </p:sp>
      <p:sp>
        <p:nvSpPr>
          <p:cNvPr id="3" name="Content Placeholder 2"/>
          <p:cNvSpPr>
            <a:spLocks noGrp="1"/>
          </p:cNvSpPr>
          <p:nvPr>
            <p:ph idx="1"/>
          </p:nvPr>
        </p:nvSpPr>
        <p:spPr/>
        <p:txBody>
          <a:bodyPr/>
          <a:lstStyle/>
          <a:p>
            <a:r>
              <a:rPr lang="en-US" dirty="0" smtClean="0"/>
              <a:t>Definition: </a:t>
            </a:r>
            <a:r>
              <a:rPr lang="en-US" dirty="0"/>
              <a:t>Programs that self-propagate across the internet by exploiting security flaws in widely used </a:t>
            </a:r>
            <a:r>
              <a:rPr lang="en-US" dirty="0" smtClean="0"/>
              <a:t>services</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12</a:t>
            </a:fld>
            <a:endParaRPr lang="en-US"/>
          </a:p>
        </p:txBody>
      </p:sp>
    </p:spTree>
    <p:extLst>
      <p:ext uri="{BB962C8B-B14F-4D97-AF65-F5344CB8AC3E}">
        <p14:creationId xmlns:p14="http://schemas.microsoft.com/office/powerpoint/2010/main" val="2006744091"/>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Virus </a:t>
            </a:r>
            <a:r>
              <a:rPr lang="en-US" dirty="0" err="1" smtClean="0"/>
              <a:t>v.s</a:t>
            </a:r>
            <a:r>
              <a:rPr lang="en-US" dirty="0" smtClean="0"/>
              <a:t>. Worms</a:t>
            </a:r>
            <a:endParaRPr lang="en-US" dirty="0"/>
          </a:p>
        </p:txBody>
      </p:sp>
      <p:sp>
        <p:nvSpPr>
          <p:cNvPr id="5" name="Content Placeholder 4"/>
          <p:cNvSpPr>
            <a:spLocks noGrp="1"/>
          </p:cNvSpPr>
          <p:nvPr>
            <p:ph sz="half" idx="1"/>
          </p:nvPr>
        </p:nvSpPr>
        <p:spPr/>
        <p:txBody>
          <a:bodyPr/>
          <a:lstStyle/>
          <a:p>
            <a:r>
              <a:rPr lang="en-US" dirty="0" smtClean="0"/>
              <a:t>Virus</a:t>
            </a:r>
          </a:p>
          <a:p>
            <a:pPr lvl="1"/>
            <a:r>
              <a:rPr lang="en-US" dirty="0" smtClean="0"/>
              <a:t>A </a:t>
            </a:r>
            <a:r>
              <a:rPr lang="en-US" dirty="0"/>
              <a:t>m</a:t>
            </a:r>
            <a:r>
              <a:rPr lang="en-US" dirty="0" smtClean="0"/>
              <a:t>alicious program</a:t>
            </a:r>
          </a:p>
          <a:p>
            <a:pPr lvl="1"/>
            <a:r>
              <a:rPr lang="en-US" dirty="0" smtClean="0"/>
              <a:t>Propagates depending on the user intervention</a:t>
            </a:r>
          </a:p>
          <a:p>
            <a:pPr lvl="2"/>
            <a:r>
              <a:rPr lang="en-US" dirty="0" smtClean="0"/>
              <a:t>File sharing</a:t>
            </a:r>
          </a:p>
          <a:p>
            <a:pPr lvl="2"/>
            <a:r>
              <a:rPr lang="en-US" dirty="0" smtClean="0"/>
              <a:t>Execute an infected file</a:t>
            </a:r>
            <a:endParaRPr lang="en-US" dirty="0"/>
          </a:p>
        </p:txBody>
      </p:sp>
      <p:sp>
        <p:nvSpPr>
          <p:cNvPr id="6" name="Content Placeholder 5"/>
          <p:cNvSpPr>
            <a:spLocks noGrp="1"/>
          </p:cNvSpPr>
          <p:nvPr>
            <p:ph sz="half" idx="2"/>
          </p:nvPr>
        </p:nvSpPr>
        <p:spPr/>
        <p:txBody>
          <a:bodyPr/>
          <a:lstStyle/>
          <a:p>
            <a:r>
              <a:rPr lang="en-US" dirty="0" smtClean="0"/>
              <a:t>Worm</a:t>
            </a:r>
          </a:p>
          <a:p>
            <a:pPr lvl="1"/>
            <a:r>
              <a:rPr lang="en-US" dirty="0" smtClean="0"/>
              <a:t>A malicious program</a:t>
            </a:r>
          </a:p>
          <a:p>
            <a:pPr lvl="1"/>
            <a:r>
              <a:rPr lang="en-US" dirty="0" smtClean="0"/>
              <a:t>Propagates </a:t>
            </a:r>
            <a:r>
              <a:rPr lang="en-US" dirty="0" smtClean="0">
                <a:solidFill>
                  <a:srgbClr val="FF0000"/>
                </a:solidFill>
              </a:rPr>
              <a:t>automatously </a:t>
            </a:r>
          </a:p>
          <a:p>
            <a:pPr lvl="2"/>
            <a:r>
              <a:rPr lang="en-US" dirty="0" smtClean="0"/>
              <a:t>Self-replicate</a:t>
            </a:r>
            <a:endParaRPr lang="en-US" dirty="0"/>
          </a:p>
          <a:p>
            <a:pPr lvl="2"/>
            <a:r>
              <a:rPr lang="en-US" dirty="0" smtClean="0"/>
              <a:t>No user intervention is required</a:t>
            </a:r>
          </a:p>
        </p:txBody>
      </p:sp>
      <p:sp>
        <p:nvSpPr>
          <p:cNvPr id="4" name="Slide Number Placeholder 3"/>
          <p:cNvSpPr>
            <a:spLocks noGrp="1"/>
          </p:cNvSpPr>
          <p:nvPr>
            <p:ph type="sldNum" sz="quarter" idx="12"/>
          </p:nvPr>
        </p:nvSpPr>
        <p:spPr/>
        <p:txBody>
          <a:bodyPr/>
          <a:lstStyle/>
          <a:p>
            <a:fld id="{47E8BE15-7F0B-0840-A9A0-04D3C81E96AD}" type="slidenum">
              <a:rPr lang="en-US" smtClean="0"/>
              <a:t>13</a:t>
            </a:fld>
            <a:endParaRPr lang="en-US"/>
          </a:p>
        </p:txBody>
      </p:sp>
    </p:spTree>
    <p:extLst>
      <p:ext uri="{BB962C8B-B14F-4D97-AF65-F5344CB8AC3E}">
        <p14:creationId xmlns:p14="http://schemas.microsoft.com/office/powerpoint/2010/main" val="3693707860"/>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Abstract Worm Model</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14</a:t>
            </a:fld>
            <a:endParaRPr lang="en-US"/>
          </a:p>
        </p:txBody>
      </p:sp>
      <p:sp>
        <p:nvSpPr>
          <p:cNvPr id="5" name="Rectangle 4"/>
          <p:cNvSpPr/>
          <p:nvPr/>
        </p:nvSpPr>
        <p:spPr>
          <a:xfrm>
            <a:off x="3742795" y="1627082"/>
            <a:ext cx="1835716" cy="6790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Infected Host</a:t>
            </a:r>
            <a:endParaRPr lang="en-US" dirty="0"/>
          </a:p>
        </p:txBody>
      </p:sp>
      <p:sp>
        <p:nvSpPr>
          <p:cNvPr id="6" name="Rectangle 5"/>
          <p:cNvSpPr/>
          <p:nvPr/>
        </p:nvSpPr>
        <p:spPr>
          <a:xfrm>
            <a:off x="3742795" y="2722596"/>
            <a:ext cx="1835716" cy="86616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Acquiring Targets (e.g., scanning)</a:t>
            </a:r>
            <a:endParaRPr lang="en-US" dirty="0"/>
          </a:p>
        </p:txBody>
      </p:sp>
      <p:sp>
        <p:nvSpPr>
          <p:cNvPr id="7" name="Rectangle 6"/>
          <p:cNvSpPr/>
          <p:nvPr/>
        </p:nvSpPr>
        <p:spPr>
          <a:xfrm>
            <a:off x="3742795" y="4057034"/>
            <a:ext cx="1835716" cy="81992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Compromise</a:t>
            </a:r>
          </a:p>
          <a:p>
            <a:pPr algn="ctr"/>
            <a:r>
              <a:rPr lang="en-US" dirty="0" smtClean="0"/>
              <a:t>(e.g., exploits)</a:t>
            </a:r>
            <a:endParaRPr lang="en-US" dirty="0"/>
          </a:p>
        </p:txBody>
      </p:sp>
      <p:sp>
        <p:nvSpPr>
          <p:cNvPr id="8" name="Rectangle 7"/>
          <p:cNvSpPr/>
          <p:nvPr/>
        </p:nvSpPr>
        <p:spPr>
          <a:xfrm>
            <a:off x="3742795" y="5265724"/>
            <a:ext cx="1835716" cy="57543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Deliver worm binary</a:t>
            </a:r>
            <a:endParaRPr lang="en-US" dirty="0"/>
          </a:p>
        </p:txBody>
      </p:sp>
      <p:cxnSp>
        <p:nvCxnSpPr>
          <p:cNvPr id="10" name="Straight Arrow Connector 9"/>
          <p:cNvCxnSpPr>
            <a:stCxn id="5" idx="2"/>
            <a:endCxn id="6" idx="0"/>
          </p:cNvCxnSpPr>
          <p:nvPr/>
        </p:nvCxnSpPr>
        <p:spPr>
          <a:xfrm>
            <a:off x="4660653" y="2306123"/>
            <a:ext cx="0" cy="41647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a:off x="4660653" y="3588757"/>
            <a:ext cx="0" cy="41647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7" idx="2"/>
            <a:endCxn id="8" idx="0"/>
          </p:cNvCxnSpPr>
          <p:nvPr/>
        </p:nvCxnSpPr>
        <p:spPr>
          <a:xfrm>
            <a:off x="4660653" y="4876960"/>
            <a:ext cx="0" cy="38876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Elbow Connector 13"/>
          <p:cNvCxnSpPr>
            <a:stCxn id="8" idx="1"/>
            <a:endCxn id="5" idx="1"/>
          </p:cNvCxnSpPr>
          <p:nvPr/>
        </p:nvCxnSpPr>
        <p:spPr>
          <a:xfrm rot="10800000">
            <a:off x="3742795" y="1966603"/>
            <a:ext cx="12700" cy="3586840"/>
          </a:xfrm>
          <a:prstGeom prst="bentConnector3">
            <a:avLst>
              <a:gd name="adj1" fmla="val 3483055"/>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8260678"/>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600200"/>
            <a:ext cx="8229600" cy="1655703"/>
          </a:xfrm>
        </p:spPr>
        <p:txBody>
          <a:bodyPr>
            <a:normAutofit/>
          </a:bodyPr>
          <a:lstStyle/>
          <a:p>
            <a:r>
              <a:rPr lang="en-US" dirty="0" smtClean="0"/>
              <a:t>Scanning</a:t>
            </a:r>
          </a:p>
          <a:p>
            <a:pPr lvl="1"/>
            <a:r>
              <a:rPr lang="en-US" dirty="0" smtClean="0"/>
              <a:t>Does this host provide such service?</a:t>
            </a:r>
          </a:p>
          <a:p>
            <a:pPr lvl="2"/>
            <a:r>
              <a:rPr lang="en-US" dirty="0" smtClean="0"/>
              <a:t>E.g., HTTP service (TCP, Port 80)</a:t>
            </a:r>
          </a:p>
          <a:p>
            <a:pPr lvl="1"/>
            <a:endParaRPr lang="en-US" dirty="0" smtClean="0"/>
          </a:p>
          <a:p>
            <a:pPr lvl="1"/>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15</a:t>
            </a:fld>
            <a:endParaRPr lang="en-US"/>
          </a:p>
        </p:txBody>
      </p:sp>
      <p:sp>
        <p:nvSpPr>
          <p:cNvPr id="5" name="Explosion 2 4"/>
          <p:cNvSpPr/>
          <p:nvPr/>
        </p:nvSpPr>
        <p:spPr>
          <a:xfrm>
            <a:off x="1090263" y="4239823"/>
            <a:ext cx="1721989" cy="1001756"/>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600" dirty="0" smtClean="0"/>
              <a:t>Worm</a:t>
            </a:r>
            <a:endParaRPr lang="en-US" sz="1600" dirty="0"/>
          </a:p>
        </p:txBody>
      </p:sp>
      <p:sp>
        <p:nvSpPr>
          <p:cNvPr id="6" name="Rounded Rectangle 5"/>
          <p:cNvSpPr/>
          <p:nvPr/>
        </p:nvSpPr>
        <p:spPr>
          <a:xfrm>
            <a:off x="7147769" y="4281028"/>
            <a:ext cx="661767" cy="7155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6918184" y="3843471"/>
            <a:ext cx="1104389" cy="369332"/>
          </a:xfrm>
          <a:prstGeom prst="rect">
            <a:avLst/>
          </a:prstGeom>
          <a:noFill/>
        </p:spPr>
        <p:txBody>
          <a:bodyPr wrap="none" rtlCol="0">
            <a:spAutoFit/>
          </a:bodyPr>
          <a:lstStyle/>
          <a:p>
            <a:r>
              <a:rPr lang="en-US" dirty="0" smtClean="0"/>
              <a:t>Host (IP2)</a:t>
            </a:r>
            <a:endParaRPr lang="en-US" dirty="0"/>
          </a:p>
        </p:txBody>
      </p:sp>
      <p:sp>
        <p:nvSpPr>
          <p:cNvPr id="8" name="TextBox 7"/>
          <p:cNvSpPr txBox="1"/>
          <p:nvPr/>
        </p:nvSpPr>
        <p:spPr>
          <a:xfrm>
            <a:off x="820030" y="3870491"/>
            <a:ext cx="1888746" cy="369332"/>
          </a:xfrm>
          <a:prstGeom prst="rect">
            <a:avLst/>
          </a:prstGeom>
          <a:noFill/>
        </p:spPr>
        <p:txBody>
          <a:bodyPr wrap="none" rtlCol="0">
            <a:spAutoFit/>
          </a:bodyPr>
          <a:lstStyle/>
          <a:p>
            <a:r>
              <a:rPr lang="en-US" dirty="0" smtClean="0"/>
              <a:t>Worm (IP1, Port1)</a:t>
            </a:r>
            <a:endParaRPr lang="en-US" dirty="0"/>
          </a:p>
        </p:txBody>
      </p:sp>
      <p:cxnSp>
        <p:nvCxnSpPr>
          <p:cNvPr id="10" name="Straight Arrow Connector 9"/>
          <p:cNvCxnSpPr/>
          <p:nvPr/>
        </p:nvCxnSpPr>
        <p:spPr>
          <a:xfrm>
            <a:off x="3094165" y="4512331"/>
            <a:ext cx="33103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flipH="1">
            <a:off x="3094165" y="4782530"/>
            <a:ext cx="3310351"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476371" y="3580067"/>
            <a:ext cx="2527931" cy="923330"/>
          </a:xfrm>
          <a:prstGeom prst="rect">
            <a:avLst/>
          </a:prstGeom>
          <a:noFill/>
        </p:spPr>
        <p:txBody>
          <a:bodyPr wrap="none" rtlCol="0">
            <a:spAutoFit/>
          </a:bodyPr>
          <a:lstStyle/>
          <a:p>
            <a:r>
              <a:rPr lang="en-US" dirty="0" err="1" smtClean="0"/>
              <a:t>SrcIP</a:t>
            </a:r>
            <a:r>
              <a:rPr lang="en-US" dirty="0" smtClean="0"/>
              <a:t>: IP1, </a:t>
            </a:r>
            <a:r>
              <a:rPr lang="en-US" dirty="0" err="1" smtClean="0"/>
              <a:t>SrcPort</a:t>
            </a:r>
            <a:r>
              <a:rPr lang="en-US" dirty="0" smtClean="0"/>
              <a:t>: Port1</a:t>
            </a:r>
          </a:p>
          <a:p>
            <a:r>
              <a:rPr lang="en-US" dirty="0" err="1" smtClean="0"/>
              <a:t>DstIP</a:t>
            </a:r>
            <a:r>
              <a:rPr lang="en-US" dirty="0" smtClean="0"/>
              <a:t>: IP2, </a:t>
            </a:r>
            <a:r>
              <a:rPr lang="en-US" dirty="0" err="1" smtClean="0"/>
              <a:t>DstPort</a:t>
            </a:r>
            <a:r>
              <a:rPr lang="en-US" dirty="0" smtClean="0"/>
              <a:t>: 80</a:t>
            </a:r>
          </a:p>
          <a:p>
            <a:r>
              <a:rPr lang="en-US" dirty="0" smtClean="0"/>
              <a:t>TCP, SYN</a:t>
            </a:r>
            <a:endParaRPr lang="en-US" dirty="0"/>
          </a:p>
        </p:txBody>
      </p:sp>
      <p:sp>
        <p:nvSpPr>
          <p:cNvPr id="18" name="TextBox 17"/>
          <p:cNvSpPr txBox="1"/>
          <p:nvPr/>
        </p:nvSpPr>
        <p:spPr>
          <a:xfrm>
            <a:off x="3939547" y="4839356"/>
            <a:ext cx="1393380" cy="369332"/>
          </a:xfrm>
          <a:prstGeom prst="rect">
            <a:avLst/>
          </a:prstGeom>
          <a:noFill/>
        </p:spPr>
        <p:txBody>
          <a:bodyPr wrap="none" rtlCol="0">
            <a:spAutoFit/>
          </a:bodyPr>
          <a:lstStyle/>
          <a:p>
            <a:r>
              <a:rPr lang="en-US" dirty="0" smtClean="0"/>
              <a:t>TCP, SYNACK</a:t>
            </a:r>
            <a:endParaRPr lang="en-US" dirty="0"/>
          </a:p>
        </p:txBody>
      </p:sp>
    </p:spTree>
    <p:extLst>
      <p:ext uri="{BB962C8B-B14F-4D97-AF65-F5344CB8AC3E}">
        <p14:creationId xmlns:p14="http://schemas.microsoft.com/office/powerpoint/2010/main" val="1856853634"/>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600200"/>
            <a:ext cx="8229600" cy="1655703"/>
          </a:xfrm>
        </p:spPr>
        <p:txBody>
          <a:bodyPr>
            <a:normAutofit/>
          </a:bodyPr>
          <a:lstStyle/>
          <a:p>
            <a:r>
              <a:rPr lang="en-US" dirty="0" smtClean="0"/>
              <a:t>Exploiting</a:t>
            </a:r>
          </a:p>
          <a:p>
            <a:pPr lvl="1"/>
            <a:r>
              <a:rPr lang="en-US" dirty="0" smtClean="0"/>
              <a:t>Get access to the remote host</a:t>
            </a:r>
          </a:p>
          <a:p>
            <a:pPr lvl="2"/>
            <a:r>
              <a:rPr lang="en-US" dirty="0" smtClean="0"/>
              <a:t>E.g., buffer overflow attack</a:t>
            </a:r>
          </a:p>
          <a:p>
            <a:pPr lvl="1"/>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16</a:t>
            </a:fld>
            <a:endParaRPr lang="en-US"/>
          </a:p>
        </p:txBody>
      </p:sp>
      <p:sp>
        <p:nvSpPr>
          <p:cNvPr id="15" name="Explosion 2 14"/>
          <p:cNvSpPr/>
          <p:nvPr/>
        </p:nvSpPr>
        <p:spPr>
          <a:xfrm>
            <a:off x="1090263" y="4239823"/>
            <a:ext cx="1721989" cy="1001756"/>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600" dirty="0" smtClean="0"/>
              <a:t>Worm</a:t>
            </a:r>
            <a:endParaRPr lang="en-US" sz="1600" dirty="0"/>
          </a:p>
        </p:txBody>
      </p:sp>
      <p:sp>
        <p:nvSpPr>
          <p:cNvPr id="16" name="Rounded Rectangle 15"/>
          <p:cNvSpPr/>
          <p:nvPr/>
        </p:nvSpPr>
        <p:spPr>
          <a:xfrm>
            <a:off x="7147769" y="4281028"/>
            <a:ext cx="661767" cy="7155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p:nvSpPr>
        <p:spPr>
          <a:xfrm>
            <a:off x="6918184" y="3843471"/>
            <a:ext cx="1104389" cy="369332"/>
          </a:xfrm>
          <a:prstGeom prst="rect">
            <a:avLst/>
          </a:prstGeom>
          <a:noFill/>
        </p:spPr>
        <p:txBody>
          <a:bodyPr wrap="none" rtlCol="0">
            <a:spAutoFit/>
          </a:bodyPr>
          <a:lstStyle/>
          <a:p>
            <a:r>
              <a:rPr lang="en-US" dirty="0" smtClean="0"/>
              <a:t>Host (IP2)</a:t>
            </a:r>
            <a:endParaRPr lang="en-US" dirty="0"/>
          </a:p>
        </p:txBody>
      </p:sp>
      <p:sp>
        <p:nvSpPr>
          <p:cNvPr id="20" name="TextBox 19"/>
          <p:cNvSpPr txBox="1"/>
          <p:nvPr/>
        </p:nvSpPr>
        <p:spPr>
          <a:xfrm>
            <a:off x="820030" y="3870491"/>
            <a:ext cx="1888746" cy="369332"/>
          </a:xfrm>
          <a:prstGeom prst="rect">
            <a:avLst/>
          </a:prstGeom>
          <a:noFill/>
        </p:spPr>
        <p:txBody>
          <a:bodyPr wrap="none" rtlCol="0">
            <a:spAutoFit/>
          </a:bodyPr>
          <a:lstStyle/>
          <a:p>
            <a:r>
              <a:rPr lang="en-US" dirty="0" smtClean="0"/>
              <a:t>Worm (IP1, Port1)</a:t>
            </a:r>
            <a:endParaRPr lang="en-US" dirty="0"/>
          </a:p>
        </p:txBody>
      </p:sp>
      <p:cxnSp>
        <p:nvCxnSpPr>
          <p:cNvPr id="21" name="Straight Arrow Connector 20"/>
          <p:cNvCxnSpPr/>
          <p:nvPr/>
        </p:nvCxnSpPr>
        <p:spPr>
          <a:xfrm>
            <a:off x="3094165" y="4512331"/>
            <a:ext cx="331035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a:off x="3094165" y="4782530"/>
            <a:ext cx="3310351"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476371" y="3580067"/>
            <a:ext cx="2527931" cy="923330"/>
          </a:xfrm>
          <a:prstGeom prst="rect">
            <a:avLst/>
          </a:prstGeom>
          <a:noFill/>
        </p:spPr>
        <p:txBody>
          <a:bodyPr wrap="none" rtlCol="0">
            <a:spAutoFit/>
          </a:bodyPr>
          <a:lstStyle/>
          <a:p>
            <a:r>
              <a:rPr lang="en-US" dirty="0" err="1" smtClean="0"/>
              <a:t>SrcIP</a:t>
            </a:r>
            <a:r>
              <a:rPr lang="en-US" dirty="0" smtClean="0"/>
              <a:t>: IP1, </a:t>
            </a:r>
            <a:r>
              <a:rPr lang="en-US" dirty="0" err="1" smtClean="0"/>
              <a:t>SrcPort</a:t>
            </a:r>
            <a:r>
              <a:rPr lang="en-US" dirty="0" smtClean="0"/>
              <a:t>: Port1</a:t>
            </a:r>
          </a:p>
          <a:p>
            <a:r>
              <a:rPr lang="en-US" dirty="0" err="1" smtClean="0"/>
              <a:t>DstIP</a:t>
            </a:r>
            <a:r>
              <a:rPr lang="en-US" dirty="0" smtClean="0"/>
              <a:t>: IP2, </a:t>
            </a:r>
            <a:r>
              <a:rPr lang="en-US" dirty="0" err="1" smtClean="0"/>
              <a:t>DstPort</a:t>
            </a:r>
            <a:r>
              <a:rPr lang="en-US" dirty="0" smtClean="0"/>
              <a:t>: 80</a:t>
            </a:r>
          </a:p>
          <a:p>
            <a:r>
              <a:rPr lang="en-US" dirty="0" smtClean="0"/>
              <a:t>TCP, SYN</a:t>
            </a:r>
            <a:endParaRPr lang="en-US" dirty="0"/>
          </a:p>
        </p:txBody>
      </p:sp>
      <p:sp>
        <p:nvSpPr>
          <p:cNvPr id="24" name="TextBox 23"/>
          <p:cNvSpPr txBox="1"/>
          <p:nvPr/>
        </p:nvSpPr>
        <p:spPr>
          <a:xfrm>
            <a:off x="3939547" y="4839356"/>
            <a:ext cx="1393380" cy="369332"/>
          </a:xfrm>
          <a:prstGeom prst="rect">
            <a:avLst/>
          </a:prstGeom>
          <a:noFill/>
        </p:spPr>
        <p:txBody>
          <a:bodyPr wrap="none" rtlCol="0">
            <a:spAutoFit/>
          </a:bodyPr>
          <a:lstStyle/>
          <a:p>
            <a:r>
              <a:rPr lang="en-US" dirty="0" smtClean="0"/>
              <a:t>TCP, SYNACK</a:t>
            </a:r>
            <a:endParaRPr lang="en-US" dirty="0"/>
          </a:p>
        </p:txBody>
      </p:sp>
      <p:cxnSp>
        <p:nvCxnSpPr>
          <p:cNvPr id="25" name="Straight Arrow Connector 24"/>
          <p:cNvCxnSpPr/>
          <p:nvPr/>
        </p:nvCxnSpPr>
        <p:spPr>
          <a:xfrm>
            <a:off x="3107678" y="5475329"/>
            <a:ext cx="3310350" cy="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281227" y="5478115"/>
            <a:ext cx="2961357" cy="923330"/>
          </a:xfrm>
          <a:prstGeom prst="rect">
            <a:avLst/>
          </a:prstGeom>
          <a:noFill/>
        </p:spPr>
        <p:txBody>
          <a:bodyPr wrap="square" rtlCol="0">
            <a:spAutoFit/>
          </a:bodyPr>
          <a:lstStyle/>
          <a:p>
            <a:r>
              <a:rPr lang="en-US" dirty="0" err="1" smtClean="0"/>
              <a:t>Shellcode</a:t>
            </a:r>
            <a:r>
              <a:rPr lang="en-US" dirty="0"/>
              <a:t> </a:t>
            </a:r>
            <a:r>
              <a:rPr lang="en-US" dirty="0" smtClean="0"/>
              <a:t>(e.g., download and execute an executable from IP1, Port-X)</a:t>
            </a:r>
            <a:endParaRPr lang="en-US" dirty="0"/>
          </a:p>
        </p:txBody>
      </p:sp>
    </p:spTree>
    <p:extLst>
      <p:ext uri="{BB962C8B-B14F-4D97-AF65-F5344CB8AC3E}">
        <p14:creationId xmlns:p14="http://schemas.microsoft.com/office/powerpoint/2010/main" val="3750170347"/>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a:xfrm>
            <a:off x="457200" y="1600201"/>
            <a:ext cx="8229600" cy="1236894"/>
          </a:xfrm>
        </p:spPr>
        <p:txBody>
          <a:bodyPr>
            <a:normAutofit/>
          </a:bodyPr>
          <a:lstStyle/>
          <a:p>
            <a:r>
              <a:rPr lang="en-US" dirty="0" smtClean="0"/>
              <a:t>Deliver Worm Executable</a:t>
            </a:r>
          </a:p>
          <a:p>
            <a:pPr lvl="1"/>
            <a:r>
              <a:rPr lang="en-US" dirty="0" smtClean="0"/>
              <a:t>Obtain and execute the worm executable</a:t>
            </a:r>
          </a:p>
          <a:p>
            <a:pPr lvl="1"/>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17</a:t>
            </a:fld>
            <a:endParaRPr lang="en-US"/>
          </a:p>
        </p:txBody>
      </p:sp>
      <p:sp>
        <p:nvSpPr>
          <p:cNvPr id="15" name="Explosion 2 14"/>
          <p:cNvSpPr/>
          <p:nvPr/>
        </p:nvSpPr>
        <p:spPr>
          <a:xfrm>
            <a:off x="1090263" y="4239823"/>
            <a:ext cx="1721989" cy="1001756"/>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600" dirty="0" smtClean="0"/>
              <a:t>Worm</a:t>
            </a:r>
            <a:endParaRPr lang="en-US" sz="1600" dirty="0"/>
          </a:p>
        </p:txBody>
      </p:sp>
      <p:sp>
        <p:nvSpPr>
          <p:cNvPr id="16" name="Rounded Rectangle 15"/>
          <p:cNvSpPr/>
          <p:nvPr/>
        </p:nvSpPr>
        <p:spPr>
          <a:xfrm>
            <a:off x="7147769" y="4281028"/>
            <a:ext cx="661767" cy="7155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p:nvSpPr>
        <p:spPr>
          <a:xfrm>
            <a:off x="6918184" y="3843471"/>
            <a:ext cx="1104389" cy="369332"/>
          </a:xfrm>
          <a:prstGeom prst="rect">
            <a:avLst/>
          </a:prstGeom>
          <a:noFill/>
        </p:spPr>
        <p:txBody>
          <a:bodyPr wrap="none" rtlCol="0">
            <a:spAutoFit/>
          </a:bodyPr>
          <a:lstStyle/>
          <a:p>
            <a:r>
              <a:rPr lang="en-US" dirty="0" smtClean="0"/>
              <a:t>Host (IP2)</a:t>
            </a:r>
            <a:endParaRPr lang="en-US" dirty="0"/>
          </a:p>
        </p:txBody>
      </p:sp>
      <p:sp>
        <p:nvSpPr>
          <p:cNvPr id="20" name="TextBox 19"/>
          <p:cNvSpPr txBox="1"/>
          <p:nvPr/>
        </p:nvSpPr>
        <p:spPr>
          <a:xfrm>
            <a:off x="820030" y="3870491"/>
            <a:ext cx="1888746" cy="369332"/>
          </a:xfrm>
          <a:prstGeom prst="rect">
            <a:avLst/>
          </a:prstGeom>
          <a:noFill/>
        </p:spPr>
        <p:txBody>
          <a:bodyPr wrap="none" rtlCol="0">
            <a:spAutoFit/>
          </a:bodyPr>
          <a:lstStyle/>
          <a:p>
            <a:r>
              <a:rPr lang="en-US" dirty="0" smtClean="0"/>
              <a:t>Worm (IP1, Port1)</a:t>
            </a:r>
            <a:endParaRPr lang="en-US" dirty="0"/>
          </a:p>
        </p:txBody>
      </p:sp>
      <p:sp>
        <p:nvSpPr>
          <p:cNvPr id="5" name="Right Arrow 4"/>
          <p:cNvSpPr/>
          <p:nvPr/>
        </p:nvSpPr>
        <p:spPr>
          <a:xfrm>
            <a:off x="3377909" y="4593391"/>
            <a:ext cx="2932025" cy="270199"/>
          </a:xfrm>
          <a:prstGeom prst="rightArrow">
            <a:avLst/>
          </a:prstGeom>
          <a:gradFill>
            <a:gsLst>
              <a:gs pos="0">
                <a:schemeClr val="accent1">
                  <a:tint val="100000"/>
                  <a:shade val="100000"/>
                  <a:satMod val="130000"/>
                </a:schemeClr>
              </a:gs>
              <a:gs pos="100000">
                <a:srgbClr val="FF0000"/>
              </a:gs>
            </a:gsLst>
            <a:lin ang="213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Explosion 2 16"/>
          <p:cNvSpPr/>
          <p:nvPr/>
        </p:nvSpPr>
        <p:spPr>
          <a:xfrm>
            <a:off x="1094031" y="4243613"/>
            <a:ext cx="1721989" cy="1001756"/>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600" dirty="0" smtClean="0"/>
              <a:t>Worm</a:t>
            </a:r>
            <a:endParaRPr lang="en-US" sz="1600" dirty="0"/>
          </a:p>
        </p:txBody>
      </p:sp>
    </p:spTree>
    <p:extLst>
      <p:ext uri="{BB962C8B-B14F-4D97-AF65-F5344CB8AC3E}">
        <p14:creationId xmlns:p14="http://schemas.microsoft.com/office/powerpoint/2010/main" val="843631918"/>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Brief History of Worms</a:t>
            </a:r>
            <a:endParaRPr lang="en-US" dirty="0"/>
          </a:p>
        </p:txBody>
      </p:sp>
      <p:sp>
        <p:nvSpPr>
          <p:cNvPr id="3" name="Content Placeholder 2"/>
          <p:cNvSpPr>
            <a:spLocks noGrp="1"/>
          </p:cNvSpPr>
          <p:nvPr>
            <p:ph idx="1"/>
          </p:nvPr>
        </p:nvSpPr>
        <p:spPr/>
        <p:txBody>
          <a:bodyPr>
            <a:normAutofit/>
          </a:bodyPr>
          <a:lstStyle/>
          <a:p>
            <a:r>
              <a:rPr lang="en-US" dirty="0" smtClean="0"/>
              <a:t>Worms that affect the operation of the whole Internet</a:t>
            </a:r>
          </a:p>
          <a:p>
            <a:pPr lvl="1"/>
            <a:r>
              <a:rPr lang="en-US" dirty="0" smtClean="0"/>
              <a:t>Morris Worm (1988)</a:t>
            </a:r>
          </a:p>
          <a:p>
            <a:pPr lvl="1"/>
            <a:r>
              <a:rPr lang="en-US" dirty="0" smtClean="0"/>
              <a:t>Code Red (2001)</a:t>
            </a:r>
          </a:p>
          <a:p>
            <a:pPr lvl="1"/>
            <a:r>
              <a:rPr lang="en-US" dirty="0" err="1" smtClean="0"/>
              <a:t>Nimda</a:t>
            </a:r>
            <a:r>
              <a:rPr lang="en-US" dirty="0" smtClean="0"/>
              <a:t> (2001)</a:t>
            </a:r>
          </a:p>
          <a:p>
            <a:pPr lvl="1"/>
            <a:r>
              <a:rPr lang="en-US" dirty="0" smtClean="0"/>
              <a:t>Blaster (2003)</a:t>
            </a:r>
          </a:p>
          <a:p>
            <a:pPr lvl="1"/>
            <a:r>
              <a:rPr lang="en-US" dirty="0" smtClean="0"/>
              <a:t>SQL Slammer (2003)</a:t>
            </a:r>
          </a:p>
        </p:txBody>
      </p:sp>
      <p:sp>
        <p:nvSpPr>
          <p:cNvPr id="4" name="Slide Number Placeholder 3"/>
          <p:cNvSpPr>
            <a:spLocks noGrp="1"/>
          </p:cNvSpPr>
          <p:nvPr>
            <p:ph type="sldNum" sz="quarter" idx="12"/>
          </p:nvPr>
        </p:nvSpPr>
        <p:spPr/>
        <p:txBody>
          <a:bodyPr/>
          <a:lstStyle/>
          <a:p>
            <a:fld id="{47E8BE15-7F0B-0840-A9A0-04D3C81E96AD}" type="slidenum">
              <a:rPr lang="en-US" smtClean="0"/>
              <a:t>18</a:t>
            </a:fld>
            <a:endParaRPr lang="en-US"/>
          </a:p>
        </p:txBody>
      </p:sp>
    </p:spTree>
    <p:extLst>
      <p:ext uri="{BB962C8B-B14F-4D97-AF65-F5344CB8AC3E}">
        <p14:creationId xmlns:p14="http://schemas.microsoft.com/office/powerpoint/2010/main" val="4177176366"/>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Morris Worm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 program of only 99 lines</a:t>
            </a:r>
          </a:p>
          <a:p>
            <a:r>
              <a:rPr lang="en-US" dirty="0" smtClean="0"/>
              <a:t>6000 </a:t>
            </a:r>
            <a:r>
              <a:rPr lang="en-US" dirty="0"/>
              <a:t>computers in just few </a:t>
            </a:r>
            <a:r>
              <a:rPr lang="en-US" dirty="0" smtClean="0"/>
              <a:t>hours</a:t>
            </a:r>
          </a:p>
          <a:p>
            <a:r>
              <a:rPr lang="en-US" dirty="0" smtClean="0"/>
              <a:t>Disrupted the Internet at that time</a:t>
            </a:r>
          </a:p>
          <a:p>
            <a:r>
              <a:rPr lang="en-US" dirty="0" smtClean="0"/>
              <a:t>Was not really “malicious” (only propagate, no damage to the data)</a:t>
            </a:r>
          </a:p>
          <a:p>
            <a:r>
              <a:rPr lang="en-US" dirty="0" smtClean="0"/>
              <a:t>Exploits</a:t>
            </a:r>
          </a:p>
          <a:p>
            <a:pPr lvl="1"/>
            <a:r>
              <a:rPr lang="en-US" dirty="0" smtClean="0"/>
              <a:t>BOF in </a:t>
            </a:r>
            <a:r>
              <a:rPr lang="en-US" dirty="0" err="1" smtClean="0"/>
              <a:t>Fingerd</a:t>
            </a:r>
            <a:endParaRPr lang="en-US" dirty="0" smtClean="0"/>
          </a:p>
          <a:p>
            <a:pPr lvl="1"/>
            <a:r>
              <a:rPr lang="en-US" dirty="0" smtClean="0"/>
              <a:t>Vulnerability in </a:t>
            </a:r>
            <a:r>
              <a:rPr lang="en-US" dirty="0" err="1" smtClean="0"/>
              <a:t>sendmail</a:t>
            </a:r>
            <a:r>
              <a:rPr lang="en-US" dirty="0" smtClean="0"/>
              <a:t>, which allows the execution of arbitrary commands</a:t>
            </a:r>
          </a:p>
          <a:p>
            <a:pPr lvl="1"/>
            <a:r>
              <a:rPr lang="en-US" dirty="0" smtClean="0"/>
              <a:t>Brute force attacks to login (432 frequently used passwords)</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19</a:t>
            </a:fld>
            <a:endParaRPr lang="en-US"/>
          </a:p>
        </p:txBody>
      </p:sp>
      <p:pic>
        <p:nvPicPr>
          <p:cNvPr id="6" name="Picture 5" descr="robert_morris_worm_author.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3200" y="488937"/>
            <a:ext cx="1933036" cy="1817474"/>
          </a:xfrm>
          <a:prstGeom prst="rect">
            <a:avLst/>
          </a:prstGeom>
        </p:spPr>
      </p:pic>
    </p:spTree>
    <p:extLst>
      <p:ext uri="{BB962C8B-B14F-4D97-AF65-F5344CB8AC3E}">
        <p14:creationId xmlns:p14="http://schemas.microsoft.com/office/powerpoint/2010/main" val="800378611"/>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Morris Worm</a:t>
            </a:r>
            <a:endParaRPr lang="en-US" dirty="0"/>
          </a:p>
        </p:txBody>
      </p:sp>
      <p:sp>
        <p:nvSpPr>
          <p:cNvPr id="3" name="Content Placeholder 2"/>
          <p:cNvSpPr>
            <a:spLocks noGrp="1"/>
          </p:cNvSpPr>
          <p:nvPr>
            <p:ph idx="1"/>
          </p:nvPr>
        </p:nvSpPr>
        <p:spPr/>
        <p:txBody>
          <a:bodyPr/>
          <a:lstStyle/>
          <a:p>
            <a:r>
              <a:rPr lang="en-US" dirty="0" smtClean="0"/>
              <a:t>The positive impacts</a:t>
            </a:r>
          </a:p>
          <a:p>
            <a:pPr lvl="1"/>
            <a:r>
              <a:rPr lang="en-US" dirty="0"/>
              <a:t>Computer Emergency Response Team (CERT) </a:t>
            </a:r>
            <a:endParaRPr lang="en-US" dirty="0" smtClean="0"/>
          </a:p>
          <a:p>
            <a:pPr lvl="2"/>
            <a:r>
              <a:rPr lang="en-US" dirty="0" smtClean="0"/>
              <a:t>Reacted to the </a:t>
            </a:r>
            <a:r>
              <a:rPr lang="en-US" dirty="0"/>
              <a:t>damage and disruption caused by Morris </a:t>
            </a:r>
            <a:r>
              <a:rPr lang="en-US" dirty="0" smtClean="0"/>
              <a:t>worm</a:t>
            </a:r>
          </a:p>
          <a:p>
            <a:pPr lvl="2"/>
            <a:r>
              <a:rPr lang="en-US" dirty="0" smtClean="0"/>
              <a:t>Becomes a </a:t>
            </a:r>
            <a:r>
              <a:rPr lang="en-US" dirty="0"/>
              <a:t>leading center </a:t>
            </a:r>
            <a:r>
              <a:rPr lang="en-US" dirty="0" smtClean="0"/>
              <a:t>on information sharing with respect to software </a:t>
            </a:r>
            <a:r>
              <a:rPr lang="en-US" dirty="0"/>
              <a:t>vulnerability </a:t>
            </a:r>
            <a:r>
              <a:rPr lang="en-US" dirty="0" smtClean="0"/>
              <a:t>and malware</a:t>
            </a:r>
          </a:p>
          <a:p>
            <a:pPr lvl="1"/>
            <a:r>
              <a:rPr lang="en-US" dirty="0" smtClean="0"/>
              <a:t>Raise attentions to cyber-security</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20</a:t>
            </a:fld>
            <a:endParaRPr lang="en-US"/>
          </a:p>
        </p:txBody>
      </p:sp>
    </p:spTree>
    <p:extLst>
      <p:ext uri="{BB962C8B-B14F-4D97-AF65-F5344CB8AC3E}">
        <p14:creationId xmlns:p14="http://schemas.microsoft.com/office/powerpoint/2010/main" val="852221334"/>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Code Red Worm</a:t>
            </a:r>
            <a:endParaRPr lang="en-US" dirty="0"/>
          </a:p>
        </p:txBody>
      </p:sp>
      <p:sp>
        <p:nvSpPr>
          <p:cNvPr id="3" name="Content Placeholder 2"/>
          <p:cNvSpPr>
            <a:spLocks noGrp="1"/>
          </p:cNvSpPr>
          <p:nvPr>
            <p:ph idx="1"/>
          </p:nvPr>
        </p:nvSpPr>
        <p:spPr/>
        <p:txBody>
          <a:bodyPr>
            <a:normAutofit/>
          </a:bodyPr>
          <a:lstStyle/>
          <a:p>
            <a:r>
              <a:rPr lang="en-US" dirty="0" smtClean="0"/>
              <a:t>Rapid propagation</a:t>
            </a:r>
          </a:p>
          <a:p>
            <a:pPr lvl="1"/>
            <a:r>
              <a:rPr lang="en-US" dirty="0" smtClean="0"/>
              <a:t>&gt; 2,000 hosts/min</a:t>
            </a:r>
          </a:p>
          <a:p>
            <a:pPr lvl="1"/>
            <a:r>
              <a:rPr lang="en-US" dirty="0" smtClean="0"/>
              <a:t>Code Red II Took about 14 hours to fully propagate</a:t>
            </a:r>
          </a:p>
          <a:p>
            <a:r>
              <a:rPr lang="en-US" dirty="0" smtClean="0"/>
              <a:t>359,000 hosts are infected</a:t>
            </a:r>
          </a:p>
          <a:p>
            <a:r>
              <a:rPr lang="en-US" dirty="0" smtClean="0"/>
              <a:t>Exploits</a:t>
            </a:r>
          </a:p>
          <a:p>
            <a:pPr lvl="1">
              <a:lnSpc>
                <a:spcPct val="90000"/>
              </a:lnSpc>
            </a:pPr>
            <a:r>
              <a:rPr lang="en-US" dirty="0" smtClean="0"/>
              <a:t>BOF in Microsoft </a:t>
            </a:r>
            <a:r>
              <a:rPr lang="en-US" dirty="0"/>
              <a:t>IIS web </a:t>
            </a:r>
            <a:r>
              <a:rPr lang="en-US" dirty="0" smtClean="0"/>
              <a:t>server (enabled by default)</a:t>
            </a:r>
          </a:p>
          <a:p>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21</a:t>
            </a:fld>
            <a:endParaRPr lang="en-US"/>
          </a:p>
        </p:txBody>
      </p:sp>
    </p:spTree>
    <p:extLst>
      <p:ext uri="{BB962C8B-B14F-4D97-AF65-F5344CB8AC3E}">
        <p14:creationId xmlns:p14="http://schemas.microsoft.com/office/powerpoint/2010/main" val="800076339"/>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Nimda</a:t>
            </a:r>
            <a:r>
              <a:rPr lang="en-US" dirty="0" smtClean="0"/>
              <a:t> Worm</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Rapid Propagation</a:t>
            </a:r>
          </a:p>
          <a:p>
            <a:pPr lvl="1"/>
            <a:r>
              <a:rPr lang="en-US" dirty="0" smtClean="0"/>
              <a:t>Became the Internet’s most widespread worm within 22 minutes</a:t>
            </a:r>
          </a:p>
          <a:p>
            <a:r>
              <a:rPr lang="en-US" dirty="0" smtClean="0"/>
              <a:t>Exploits</a:t>
            </a:r>
          </a:p>
          <a:p>
            <a:pPr lvl="1"/>
            <a:r>
              <a:rPr lang="en-US" dirty="0" smtClean="0"/>
              <a:t>MS IIS vulnerability (CVE-2000-0884)</a:t>
            </a:r>
          </a:p>
          <a:p>
            <a:pPr lvl="1"/>
            <a:r>
              <a:rPr lang="en-US" dirty="0" smtClean="0"/>
              <a:t>Email itself as attachment based on email addresses harvested from the infected machine</a:t>
            </a:r>
          </a:p>
          <a:p>
            <a:pPr lvl="1"/>
            <a:r>
              <a:rPr lang="en-US" dirty="0" smtClean="0"/>
              <a:t>Copy itself across open network shares</a:t>
            </a:r>
          </a:p>
          <a:p>
            <a:pPr lvl="1"/>
            <a:r>
              <a:rPr lang="en-US" dirty="0" smtClean="0"/>
              <a:t>Add exploit code to web pages on compromised servers in order to infect clients that browse the pages</a:t>
            </a:r>
          </a:p>
          <a:p>
            <a:pPr lvl="1"/>
            <a:r>
              <a:rPr lang="en-US" dirty="0" smtClean="0"/>
              <a:t>Leverage the backdoors left behind by Code Red II. </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22</a:t>
            </a:fld>
            <a:endParaRPr lang="en-US"/>
          </a:p>
        </p:txBody>
      </p:sp>
    </p:spTree>
    <p:extLst>
      <p:ext uri="{BB962C8B-B14F-4D97-AF65-F5344CB8AC3E}">
        <p14:creationId xmlns:p14="http://schemas.microsoft.com/office/powerpoint/2010/main" val="2159521066"/>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Blaster Worm</a:t>
            </a:r>
            <a:endParaRPr lang="en-US" dirty="0"/>
          </a:p>
        </p:txBody>
      </p:sp>
      <p:sp>
        <p:nvSpPr>
          <p:cNvPr id="3" name="Content Placeholder 2"/>
          <p:cNvSpPr>
            <a:spLocks noGrp="1"/>
          </p:cNvSpPr>
          <p:nvPr>
            <p:ph idx="1"/>
          </p:nvPr>
        </p:nvSpPr>
        <p:spPr/>
        <p:txBody>
          <a:bodyPr>
            <a:normAutofit/>
          </a:bodyPr>
          <a:lstStyle/>
          <a:p>
            <a:pPr>
              <a:lnSpc>
                <a:spcPct val="90000"/>
              </a:lnSpc>
            </a:pPr>
            <a:r>
              <a:rPr lang="en-US" sz="2800" dirty="0" smtClean="0"/>
              <a:t>Exploits </a:t>
            </a:r>
            <a:endParaRPr lang="en-US" sz="2800" dirty="0"/>
          </a:p>
          <a:p>
            <a:pPr lvl="1">
              <a:lnSpc>
                <a:spcPct val="90000"/>
              </a:lnSpc>
            </a:pPr>
            <a:r>
              <a:rPr lang="en-US" sz="2400" dirty="0" smtClean="0"/>
              <a:t>BOF in MS OS</a:t>
            </a:r>
            <a:endParaRPr lang="en-US" sz="2400" dirty="0"/>
          </a:p>
          <a:p>
            <a:pPr lvl="1">
              <a:lnSpc>
                <a:spcPct val="90000"/>
              </a:lnSpc>
            </a:pPr>
            <a:r>
              <a:rPr lang="en-US" sz="2400" dirty="0" smtClean="0">
                <a:solidFill>
                  <a:srgbClr val="FF0000"/>
                </a:solidFill>
              </a:rPr>
              <a:t>The patch had been released one month earlier than the incident</a:t>
            </a:r>
          </a:p>
          <a:p>
            <a:pPr lvl="2">
              <a:lnSpc>
                <a:spcPct val="90000"/>
              </a:lnSpc>
            </a:pPr>
            <a:r>
              <a:rPr lang="en-US" sz="2000" dirty="0" smtClean="0"/>
              <a:t>“The </a:t>
            </a:r>
            <a:r>
              <a:rPr lang="en-US" sz="2000" dirty="0"/>
              <a:t>original Blaster was created after a Chinese cracking collective called </a:t>
            </a:r>
            <a:r>
              <a:rPr lang="en-US" sz="2000" dirty="0" err="1"/>
              <a:t>Xfocus</a:t>
            </a:r>
            <a:r>
              <a:rPr lang="en-US" sz="2000" dirty="0"/>
              <a:t> reverse engineered the original Microsoft patch that allowed for execution of the </a:t>
            </a:r>
            <a:r>
              <a:rPr lang="en-US" sz="2000" dirty="0" smtClean="0"/>
              <a:t>attack” from wiki</a:t>
            </a:r>
          </a:p>
          <a:p>
            <a:pPr>
              <a:lnSpc>
                <a:spcPct val="90000"/>
              </a:lnSpc>
            </a:pPr>
            <a:r>
              <a:rPr lang="en-US" dirty="0" smtClean="0"/>
              <a:t>Attack</a:t>
            </a:r>
          </a:p>
          <a:p>
            <a:pPr lvl="1">
              <a:lnSpc>
                <a:spcPct val="90000"/>
              </a:lnSpc>
            </a:pPr>
            <a:r>
              <a:rPr lang="en-US" dirty="0" smtClean="0"/>
              <a:t>Launched </a:t>
            </a:r>
            <a:r>
              <a:rPr lang="en-US" dirty="0" err="1"/>
              <a:t>DDoS</a:t>
            </a:r>
            <a:r>
              <a:rPr lang="en-US" dirty="0"/>
              <a:t> attacks against </a:t>
            </a:r>
            <a:r>
              <a:rPr lang="en-US" dirty="0" err="1" smtClean="0"/>
              <a:t>windowsupdate.com</a:t>
            </a:r>
            <a:endParaRPr lang="en-US" dirty="0" smtClean="0"/>
          </a:p>
          <a:p>
            <a:pPr lvl="1">
              <a:lnSpc>
                <a:spcPct val="90000"/>
              </a:lnSpc>
            </a:pPr>
            <a:endParaRPr lang="en-US" sz="2400" dirty="0"/>
          </a:p>
          <a:p>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23</a:t>
            </a:fld>
            <a:endParaRPr lang="en-US"/>
          </a:p>
        </p:txBody>
      </p:sp>
    </p:spTree>
    <p:extLst>
      <p:ext uri="{BB962C8B-B14F-4D97-AF65-F5344CB8AC3E}">
        <p14:creationId xmlns:p14="http://schemas.microsoft.com/office/powerpoint/2010/main" val="3547841062"/>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SQL Slammer Worm</a:t>
            </a:r>
            <a:endParaRPr lang="en-US" dirty="0"/>
          </a:p>
        </p:txBody>
      </p:sp>
      <p:sp>
        <p:nvSpPr>
          <p:cNvPr id="3" name="Content Placeholder 2"/>
          <p:cNvSpPr>
            <a:spLocks noGrp="1"/>
          </p:cNvSpPr>
          <p:nvPr>
            <p:ph idx="1"/>
          </p:nvPr>
        </p:nvSpPr>
        <p:spPr/>
        <p:txBody>
          <a:bodyPr/>
          <a:lstStyle/>
          <a:p>
            <a:pPr marL="342900" lvl="1" indent="-342900">
              <a:buFont typeface="Arial"/>
              <a:buChar char="•"/>
            </a:pPr>
            <a:r>
              <a:rPr lang="en-US" sz="3200" dirty="0"/>
              <a:t>Rapid </a:t>
            </a:r>
            <a:r>
              <a:rPr lang="en-US" sz="3200" dirty="0" smtClean="0"/>
              <a:t>Propagation</a:t>
            </a:r>
          </a:p>
          <a:p>
            <a:pPr marL="742950" lvl="2" indent="-342900"/>
            <a:r>
              <a:rPr lang="en-US" dirty="0" smtClean="0"/>
              <a:t>Leverage UDP, which is connectionless</a:t>
            </a:r>
          </a:p>
          <a:p>
            <a:pPr marL="742950" lvl="2" indent="-342900"/>
            <a:r>
              <a:rPr lang="en-US" dirty="0"/>
              <a:t>Infected 75,000, 90% </a:t>
            </a:r>
            <a:r>
              <a:rPr lang="en-US" dirty="0" smtClean="0"/>
              <a:t>within 10 minutes</a:t>
            </a:r>
            <a:endParaRPr lang="en-US" dirty="0"/>
          </a:p>
          <a:p>
            <a:r>
              <a:rPr lang="en-US" dirty="0" smtClean="0"/>
              <a:t>Exploits</a:t>
            </a:r>
          </a:p>
          <a:p>
            <a:pPr lvl="1"/>
            <a:r>
              <a:rPr lang="en-US" dirty="0" smtClean="0"/>
              <a:t>BOF in MS SQL server</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24</a:t>
            </a:fld>
            <a:endParaRPr lang="en-US"/>
          </a:p>
        </p:txBody>
      </p:sp>
    </p:spTree>
    <p:extLst>
      <p:ext uri="{BB962C8B-B14F-4D97-AF65-F5344CB8AC3E}">
        <p14:creationId xmlns:p14="http://schemas.microsoft.com/office/powerpoint/2010/main" val="37806466"/>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6418" name="Rectangle 2"/>
          <p:cNvSpPr>
            <a:spLocks noGrp="1" noChangeArrowheads="1"/>
          </p:cNvSpPr>
          <p:nvPr>
            <p:ph type="title"/>
          </p:nvPr>
        </p:nvSpPr>
        <p:spPr/>
        <p:txBody>
          <a:bodyPr/>
          <a:lstStyle/>
          <a:p>
            <a:r>
              <a:rPr lang="en-US"/>
              <a:t>5.2.6. SQL Slammer Worm</a:t>
            </a:r>
          </a:p>
        </p:txBody>
      </p:sp>
      <p:sp>
        <p:nvSpPr>
          <p:cNvPr id="956419" name="Rectangle 3"/>
          <p:cNvSpPr>
            <a:spLocks noGrp="1" noChangeArrowheads="1"/>
          </p:cNvSpPr>
          <p:nvPr>
            <p:ph type="body" idx="1"/>
          </p:nvPr>
        </p:nvSpPr>
        <p:spPr>
          <a:xfrm>
            <a:off x="457200" y="1981200"/>
            <a:ext cx="8229600" cy="4876800"/>
          </a:xfrm>
        </p:spPr>
        <p:txBody>
          <a:bodyPr/>
          <a:lstStyle/>
          <a:p>
            <a:pPr>
              <a:lnSpc>
                <a:spcPct val="80000"/>
              </a:lnSpc>
            </a:pPr>
            <a:r>
              <a:rPr lang="en-US" sz="2800" dirty="0"/>
              <a:t>Exploited another buffer overflow</a:t>
            </a:r>
          </a:p>
          <a:p>
            <a:pPr lvl="1">
              <a:lnSpc>
                <a:spcPct val="80000"/>
              </a:lnSpc>
            </a:pPr>
            <a:r>
              <a:rPr lang="en-US" sz="2400" dirty="0"/>
              <a:t>Took a single 376-byte UDP packet</a:t>
            </a:r>
          </a:p>
          <a:p>
            <a:pPr lvl="1">
              <a:lnSpc>
                <a:spcPct val="80000"/>
              </a:lnSpc>
            </a:pPr>
            <a:r>
              <a:rPr lang="en-US" sz="2400" dirty="0"/>
              <a:t>UDP connectionless -&gt; spread quickly</a:t>
            </a:r>
          </a:p>
          <a:p>
            <a:pPr lvl="1">
              <a:lnSpc>
                <a:spcPct val="80000"/>
              </a:lnSpc>
            </a:pPr>
            <a:r>
              <a:rPr lang="en-US" sz="2400" dirty="0"/>
              <a:t>Infected 75,000, 90% w/in 10 </a:t>
            </a:r>
            <a:r>
              <a:rPr lang="en-US" sz="2400" dirty="0" err="1"/>
              <a:t>mins</a:t>
            </a:r>
            <a:r>
              <a:rPr lang="en-US" sz="2400" dirty="0"/>
              <a:t>.</a:t>
            </a:r>
          </a:p>
          <a:p>
            <a:pPr lvl="1">
              <a:lnSpc>
                <a:spcPct val="80000"/>
              </a:lnSpc>
            </a:pPr>
            <a:endParaRPr lang="en-US" sz="2400" dirty="0"/>
          </a:p>
          <a:p>
            <a:pPr>
              <a:lnSpc>
                <a:spcPct val="80000"/>
              </a:lnSpc>
            </a:pPr>
            <a:r>
              <a:rPr lang="en-US" sz="2800" dirty="0"/>
              <a:t>Attacked Microsoft SQL Server DB App</a:t>
            </a:r>
          </a:p>
          <a:p>
            <a:pPr>
              <a:lnSpc>
                <a:spcPct val="80000"/>
              </a:lnSpc>
            </a:pPr>
            <a:r>
              <a:rPr lang="en-US" sz="2800" dirty="0"/>
              <a:t>Disabled server, scanned random IPs to infect</a:t>
            </a:r>
          </a:p>
          <a:p>
            <a:pPr>
              <a:lnSpc>
                <a:spcPct val="80000"/>
              </a:lnSpc>
            </a:pPr>
            <a:endParaRPr lang="en-US" sz="2800" dirty="0"/>
          </a:p>
          <a:p>
            <a:pPr>
              <a:lnSpc>
                <a:spcPct val="80000"/>
              </a:lnSpc>
            </a:pPr>
            <a:r>
              <a:rPr lang="en-US" sz="2800" dirty="0"/>
              <a:t>Impact</a:t>
            </a:r>
          </a:p>
          <a:p>
            <a:pPr lvl="1">
              <a:lnSpc>
                <a:spcPct val="80000"/>
              </a:lnSpc>
            </a:pPr>
            <a:r>
              <a:rPr lang="en-US" sz="2400" dirty="0"/>
              <a:t>Excessive traffic due to the worm propagating caused outages in 13,000 </a:t>
            </a:r>
            <a:r>
              <a:rPr lang="en-US" sz="2400" dirty="0" err="1"/>
              <a:t>BofA</a:t>
            </a:r>
            <a:r>
              <a:rPr lang="en-US" sz="2400" dirty="0"/>
              <a:t> ATMs</a:t>
            </a:r>
          </a:p>
          <a:p>
            <a:pPr lvl="1">
              <a:lnSpc>
                <a:spcPct val="80000"/>
              </a:lnSpc>
            </a:pPr>
            <a:r>
              <a:rPr lang="en-US" sz="2400" dirty="0"/>
              <a:t>Airlines were cancelled &amp; delayed</a:t>
            </a:r>
          </a:p>
        </p:txBody>
      </p:sp>
    </p:spTree>
    <p:extLst>
      <p:ext uri="{BB962C8B-B14F-4D97-AF65-F5344CB8AC3E}">
        <p14:creationId xmlns:p14="http://schemas.microsoft.com/office/powerpoint/2010/main" val="2864645382"/>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p:txBody>
          <a:bodyPr/>
          <a:lstStyle/>
          <a:p>
            <a:r>
              <a:rPr lang="en-US" sz="2600"/>
              <a:t>Deterministic epidemic models </a:t>
            </a:r>
            <a:r>
              <a:rPr lang="en-US" sz="2600">
                <a:cs typeface="Tahoma" charset="0"/>
              </a:rPr>
              <a:t>—</a:t>
            </a:r>
            <a:r>
              <a:rPr lang="en-US" sz="2600"/>
              <a:t> Simple epidemic model</a:t>
            </a:r>
          </a:p>
        </p:txBody>
      </p:sp>
      <p:sp>
        <p:nvSpPr>
          <p:cNvPr id="133123" name="Rectangle 3"/>
          <p:cNvSpPr>
            <a:spLocks noGrp="1" noChangeArrowheads="1"/>
          </p:cNvSpPr>
          <p:nvPr>
            <p:ph type="body" idx="1"/>
          </p:nvPr>
        </p:nvSpPr>
        <p:spPr>
          <a:xfrm>
            <a:off x="1370013" y="1827213"/>
            <a:ext cx="7256462" cy="1782762"/>
          </a:xfrm>
        </p:spPr>
        <p:txBody>
          <a:bodyPr>
            <a:normAutofit lnSpcReduction="10000"/>
          </a:bodyPr>
          <a:lstStyle/>
          <a:p>
            <a:pPr>
              <a:lnSpc>
                <a:spcPct val="110000"/>
              </a:lnSpc>
            </a:pPr>
            <a:r>
              <a:rPr lang="en-US" sz="2100"/>
              <a:t>State transition:</a:t>
            </a:r>
            <a:endParaRPr lang="en-US" sz="2100" i="1">
              <a:sym typeface="Symbol" charset="0"/>
            </a:endParaRPr>
          </a:p>
          <a:p>
            <a:pPr>
              <a:lnSpc>
                <a:spcPct val="110000"/>
              </a:lnSpc>
              <a:buFont typeface="Wingdings" charset="0"/>
              <a:buNone/>
            </a:pPr>
            <a:r>
              <a:rPr lang="en-US" sz="2200">
                <a:sym typeface="Symbol" charset="0"/>
              </a:rPr>
              <a:t>	 </a:t>
            </a:r>
            <a:r>
              <a:rPr lang="en-US" sz="2100">
                <a:sym typeface="Symbol" charset="0"/>
              </a:rPr>
              <a:t>N: population;</a:t>
            </a:r>
            <a:r>
              <a:rPr lang="en-US" sz="2200">
                <a:sym typeface="Symbol" charset="0"/>
              </a:rPr>
              <a:t> </a:t>
            </a:r>
            <a:r>
              <a:rPr lang="en-US" sz="2100">
                <a:sym typeface="Symbol" charset="0"/>
              </a:rPr>
              <a:t>S(t): susceptible hosts; I(t): infectious hosts </a:t>
            </a:r>
            <a:endParaRPr lang="en-US"/>
          </a:p>
          <a:p>
            <a:pPr lvl="3">
              <a:buFont typeface="Wingdings" charset="0"/>
              <a:buNone/>
            </a:pPr>
            <a:r>
              <a:rPr lang="en-US" sz="2500"/>
              <a:t>dI(t)/dt = </a:t>
            </a:r>
            <a:r>
              <a:rPr lang="en-US" sz="2500">
                <a:sym typeface="Symbol" charset="0"/>
              </a:rPr>
              <a:t> S(t) I(t) </a:t>
            </a:r>
          </a:p>
          <a:p>
            <a:pPr lvl="3">
              <a:buFont typeface="Wingdings" charset="0"/>
              <a:buNone/>
            </a:pPr>
            <a:r>
              <a:rPr lang="en-US" sz="2500">
                <a:sym typeface="Symbol" charset="0"/>
              </a:rPr>
              <a:t>    S(t) + I(t) = N</a:t>
            </a:r>
          </a:p>
          <a:p>
            <a:pPr lvl="1">
              <a:buFont typeface="Wingdings" charset="0"/>
              <a:buNone/>
            </a:pPr>
            <a:endParaRPr lang="en-US" sz="2300">
              <a:sym typeface="Symbol" charset="0"/>
            </a:endParaRPr>
          </a:p>
          <a:p>
            <a:endParaRPr lang="en-US" sz="2100"/>
          </a:p>
        </p:txBody>
      </p:sp>
      <p:grpSp>
        <p:nvGrpSpPr>
          <p:cNvPr id="133125" name="Group 5"/>
          <p:cNvGrpSpPr>
            <a:grpSpLocks/>
          </p:cNvGrpSpPr>
          <p:nvPr/>
        </p:nvGrpSpPr>
        <p:grpSpPr bwMode="auto">
          <a:xfrm>
            <a:off x="4678363" y="1630363"/>
            <a:ext cx="3584575" cy="677862"/>
            <a:chOff x="2947" y="1027"/>
            <a:chExt cx="2258" cy="427"/>
          </a:xfrm>
        </p:grpSpPr>
        <p:grpSp>
          <p:nvGrpSpPr>
            <p:cNvPr id="133126" name="Group 6"/>
            <p:cNvGrpSpPr>
              <a:grpSpLocks/>
            </p:cNvGrpSpPr>
            <p:nvPr/>
          </p:nvGrpSpPr>
          <p:grpSpPr bwMode="auto">
            <a:xfrm>
              <a:off x="2947" y="1027"/>
              <a:ext cx="942" cy="421"/>
              <a:chOff x="1425" y="3529"/>
              <a:chExt cx="942" cy="421"/>
            </a:xfrm>
          </p:grpSpPr>
          <p:sp>
            <p:nvSpPr>
              <p:cNvPr id="133127" name="Oval 7"/>
              <p:cNvSpPr>
                <a:spLocks noChangeArrowheads="1"/>
              </p:cNvSpPr>
              <p:nvPr/>
            </p:nvSpPr>
            <p:spPr bwMode="auto">
              <a:xfrm>
                <a:off x="1425" y="3529"/>
                <a:ext cx="942" cy="421"/>
              </a:xfrm>
              <a:prstGeom prst="ellipse">
                <a:avLst/>
              </a:prstGeom>
              <a:noFill/>
              <a:ln w="28575">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128" name="Text Box 8"/>
              <p:cNvSpPr txBox="1">
                <a:spLocks noChangeArrowheads="1"/>
              </p:cNvSpPr>
              <p:nvPr/>
            </p:nvSpPr>
            <p:spPr bwMode="auto">
              <a:xfrm>
                <a:off x="1460" y="3615"/>
                <a:ext cx="89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sz="2000">
                    <a:solidFill>
                      <a:srgbClr val="009900"/>
                    </a:solidFill>
                    <a:latin typeface="Tahoma" charset="0"/>
                  </a:rPr>
                  <a:t>susceptible</a:t>
                </a:r>
              </a:p>
            </p:txBody>
          </p:sp>
        </p:grpSp>
        <p:grpSp>
          <p:nvGrpSpPr>
            <p:cNvPr id="133129" name="Group 9"/>
            <p:cNvGrpSpPr>
              <a:grpSpLocks/>
            </p:cNvGrpSpPr>
            <p:nvPr/>
          </p:nvGrpSpPr>
          <p:grpSpPr bwMode="auto">
            <a:xfrm>
              <a:off x="4263" y="1033"/>
              <a:ext cx="942" cy="421"/>
              <a:chOff x="2457" y="2857"/>
              <a:chExt cx="942" cy="421"/>
            </a:xfrm>
          </p:grpSpPr>
          <p:sp>
            <p:nvSpPr>
              <p:cNvPr id="133130" name="Oval 10"/>
              <p:cNvSpPr>
                <a:spLocks noChangeArrowheads="1"/>
              </p:cNvSpPr>
              <p:nvPr/>
            </p:nvSpPr>
            <p:spPr bwMode="auto">
              <a:xfrm>
                <a:off x="2457" y="2857"/>
                <a:ext cx="942" cy="421"/>
              </a:xfrm>
              <a:prstGeom prst="ellipse">
                <a:avLst/>
              </a:prstGeom>
              <a:noFill/>
              <a:ln w="28575">
                <a:solidFill>
                  <a:schemeClr val="hlink"/>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133131" name="Text Box 11"/>
              <p:cNvSpPr txBox="1">
                <a:spLocks noChangeArrowheads="1"/>
              </p:cNvSpPr>
              <p:nvPr/>
            </p:nvSpPr>
            <p:spPr bwMode="auto">
              <a:xfrm>
                <a:off x="2522" y="2943"/>
                <a:ext cx="78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1" hangingPunct="1"/>
                <a:r>
                  <a:rPr lang="en-US" sz="2000">
                    <a:solidFill>
                      <a:schemeClr val="hlink"/>
                    </a:solidFill>
                    <a:latin typeface="Tahoma" charset="0"/>
                  </a:rPr>
                  <a:t>infectious</a:t>
                </a:r>
              </a:p>
            </p:txBody>
          </p:sp>
        </p:grpSp>
        <p:sp>
          <p:nvSpPr>
            <p:cNvPr id="133132" name="Line 12"/>
            <p:cNvSpPr>
              <a:spLocks noChangeShapeType="1"/>
            </p:cNvSpPr>
            <p:nvPr/>
          </p:nvSpPr>
          <p:spPr bwMode="auto">
            <a:xfrm flipV="1">
              <a:off x="3892" y="1233"/>
              <a:ext cx="357" cy="1"/>
            </a:xfrm>
            <a:prstGeom prst="line">
              <a:avLst/>
            </a:prstGeom>
            <a:noFill/>
            <a:ln w="2857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endParaRPr lang="en-US"/>
            </a:p>
          </p:txBody>
        </p:sp>
      </p:grpSp>
      <p:grpSp>
        <p:nvGrpSpPr>
          <p:cNvPr id="133133" name="Group 13"/>
          <p:cNvGrpSpPr>
            <a:grpSpLocks/>
          </p:cNvGrpSpPr>
          <p:nvPr/>
        </p:nvGrpSpPr>
        <p:grpSpPr bwMode="auto">
          <a:xfrm>
            <a:off x="2269736" y="3609975"/>
            <a:ext cx="4035425" cy="2749550"/>
            <a:chOff x="98" y="2247"/>
            <a:chExt cx="2642" cy="2087"/>
          </a:xfrm>
        </p:grpSpPr>
        <p:pic>
          <p:nvPicPr>
            <p:cNvPr id="13313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 y="2247"/>
              <a:ext cx="2594" cy="1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33135" name="Text Box 15"/>
            <p:cNvSpPr txBox="1">
              <a:spLocks noChangeArrowheads="1"/>
            </p:cNvSpPr>
            <p:nvPr/>
          </p:nvSpPr>
          <p:spPr bwMode="auto">
            <a:xfrm>
              <a:off x="1374" y="4033"/>
              <a:ext cx="210"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pPr>
              <a:r>
                <a:rPr lang="en-US" sz="2000">
                  <a:latin typeface="Tahoma" charset="0"/>
                </a:rPr>
                <a:t>t</a:t>
              </a:r>
            </a:p>
          </p:txBody>
        </p:sp>
        <p:sp>
          <p:nvSpPr>
            <p:cNvPr id="133136" name="Text Box 16"/>
            <p:cNvSpPr txBox="1">
              <a:spLocks noChangeArrowheads="1"/>
            </p:cNvSpPr>
            <p:nvPr/>
          </p:nvSpPr>
          <p:spPr bwMode="auto">
            <a:xfrm>
              <a:off x="98" y="3072"/>
              <a:ext cx="430"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eaLnBrk="1" hangingPunct="1">
                <a:spcBef>
                  <a:spcPct val="50000"/>
                </a:spcBef>
              </a:pPr>
              <a:r>
                <a:rPr lang="en-US" sz="2000">
                  <a:latin typeface="Tahoma" charset="0"/>
                </a:rPr>
                <a:t>I(t)</a:t>
              </a:r>
            </a:p>
          </p:txBody>
        </p:sp>
      </p:grpSp>
      <p:sp>
        <p:nvSpPr>
          <p:cNvPr id="133137" name="Rectangle 17"/>
          <p:cNvSpPr>
            <a:spLocks noChangeArrowheads="1"/>
          </p:cNvSpPr>
          <p:nvPr/>
        </p:nvSpPr>
        <p:spPr bwMode="auto">
          <a:xfrm>
            <a:off x="0" y="6491288"/>
            <a:ext cx="9144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eaLnBrk="1" hangingPunct="1"/>
            <a:r>
              <a:rPr lang="en-US">
                <a:hlinkClick r:id="rId4"/>
              </a:rPr>
              <a:t>Code Red Worm Propagation Modeling and Analysis</a:t>
            </a:r>
            <a:r>
              <a:rPr lang="en-US"/>
              <a:t> – Cliff Zou</a:t>
            </a:r>
          </a:p>
        </p:txBody>
      </p:sp>
    </p:spTree>
    <p:extLst>
      <p:ext uri="{BB962C8B-B14F-4D97-AF65-F5344CB8AC3E}">
        <p14:creationId xmlns:p14="http://schemas.microsoft.com/office/powerpoint/2010/main" val="3317364230"/>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Build “Better” Worms</a:t>
            </a:r>
            <a:endParaRPr lang="en-US" dirty="0"/>
          </a:p>
        </p:txBody>
      </p:sp>
      <p:sp>
        <p:nvSpPr>
          <p:cNvPr id="7" name="Content Placeholder 6"/>
          <p:cNvSpPr>
            <a:spLocks noGrp="1"/>
          </p:cNvSpPr>
          <p:nvPr>
            <p:ph idx="1"/>
          </p:nvPr>
        </p:nvSpPr>
        <p:spPr>
          <a:xfrm>
            <a:off x="457200" y="1850633"/>
            <a:ext cx="8229600" cy="2567818"/>
          </a:xfrm>
        </p:spPr>
        <p:txBody>
          <a:bodyPr/>
          <a:lstStyle/>
          <a:p>
            <a:r>
              <a:rPr lang="en-US" dirty="0" smtClean="0"/>
              <a:t>“Better”</a:t>
            </a:r>
          </a:p>
          <a:p>
            <a:pPr lvl="1"/>
            <a:r>
              <a:rPr lang="en-US" b="1" i="1" dirty="0" smtClean="0"/>
              <a:t>Faster: so fast that the deployed detectors do not have enough time to respond</a:t>
            </a:r>
          </a:p>
          <a:p>
            <a:pPr lvl="1"/>
            <a:r>
              <a:rPr lang="en-US" dirty="0" smtClean="0"/>
              <a:t>Stealthier: so stealthy that the worms can circumvent the detectors</a:t>
            </a:r>
          </a:p>
        </p:txBody>
      </p:sp>
      <p:sp>
        <p:nvSpPr>
          <p:cNvPr id="5" name="Slide Number Placeholder 4"/>
          <p:cNvSpPr>
            <a:spLocks noGrp="1"/>
          </p:cNvSpPr>
          <p:nvPr>
            <p:ph type="sldNum" sz="quarter" idx="12"/>
          </p:nvPr>
        </p:nvSpPr>
        <p:spPr/>
        <p:txBody>
          <a:bodyPr/>
          <a:lstStyle/>
          <a:p>
            <a:fld id="{47E8BE15-7F0B-0840-A9A0-04D3C81E96AD}" type="slidenum">
              <a:rPr lang="en-US" smtClean="0"/>
              <a:t>27</a:t>
            </a:fld>
            <a:endParaRPr lang="en-US"/>
          </a:p>
        </p:txBody>
      </p:sp>
      <p:sp>
        <p:nvSpPr>
          <p:cNvPr id="8" name="Content Placeholder 2"/>
          <p:cNvSpPr txBox="1">
            <a:spLocks/>
          </p:cNvSpPr>
          <p:nvPr/>
        </p:nvSpPr>
        <p:spPr>
          <a:xfrm>
            <a:off x="475086" y="4777701"/>
            <a:ext cx="8229600" cy="1034573"/>
          </a:xfrm>
          <a:prstGeom prst="rect">
            <a:avLst/>
          </a:prstGeom>
        </p:spPr>
        <p:txBody>
          <a:bodyPr vert="horz" lIns="91440" tIns="45720" rIns="91440" bIns="45720" rtlCol="0">
            <a:normAutofit fontScale="925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smtClean="0"/>
              <a:t>S. </a:t>
            </a:r>
            <a:r>
              <a:rPr lang="en-US" dirty="0" err="1" smtClean="0"/>
              <a:t>Staniford</a:t>
            </a:r>
            <a:r>
              <a:rPr lang="en-US" dirty="0" smtClean="0"/>
              <a:t>, V. </a:t>
            </a:r>
            <a:r>
              <a:rPr lang="en-US" dirty="0" err="1" smtClean="0"/>
              <a:t>Paxson</a:t>
            </a:r>
            <a:r>
              <a:rPr lang="en-US" dirty="0" smtClean="0"/>
              <a:t>, and N Weaver, “</a:t>
            </a:r>
            <a:r>
              <a:rPr lang="en-US" i="1" dirty="0" smtClean="0"/>
              <a:t>How to 0wn the Internet in Your Spare Time</a:t>
            </a:r>
            <a:r>
              <a:rPr lang="en-US" dirty="0" smtClean="0"/>
              <a:t>”, </a:t>
            </a:r>
            <a:r>
              <a:rPr lang="en-US" dirty="0" err="1" smtClean="0"/>
              <a:t>Usenix</a:t>
            </a:r>
            <a:r>
              <a:rPr lang="en-US" dirty="0" smtClean="0"/>
              <a:t> </a:t>
            </a:r>
            <a:r>
              <a:rPr lang="en-US" dirty="0" smtClean="0">
                <a:solidFill>
                  <a:srgbClr val="FF0000"/>
                </a:solidFill>
              </a:rPr>
              <a:t>2002</a:t>
            </a:r>
            <a:r>
              <a:rPr lang="en-US" dirty="0" smtClean="0"/>
              <a:t>.</a:t>
            </a:r>
          </a:p>
        </p:txBody>
      </p:sp>
    </p:spTree>
    <p:extLst>
      <p:ext uri="{BB962C8B-B14F-4D97-AF65-F5344CB8AC3E}">
        <p14:creationId xmlns:p14="http://schemas.microsoft.com/office/powerpoint/2010/main" val="880260000"/>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Roadmap</a:t>
            </a:r>
            <a:endParaRPr lang="en-US" dirty="0"/>
          </a:p>
        </p:txBody>
      </p:sp>
      <p:sp>
        <p:nvSpPr>
          <p:cNvPr id="5" name="Text Placeholder 4"/>
          <p:cNvSpPr>
            <a:spLocks noGrp="1"/>
          </p:cNvSpPr>
          <p:nvPr>
            <p:ph type="body" idx="1"/>
          </p:nvPr>
        </p:nvSpPr>
        <p:spPr/>
        <p:txBody>
          <a:bodyPr/>
          <a:lstStyle/>
          <a:p>
            <a:r>
              <a:rPr lang="en-US" dirty="0" smtClean="0"/>
              <a:t>Timeline</a:t>
            </a:r>
            <a:endParaRPr lang="en-US" dirty="0"/>
          </a:p>
        </p:txBody>
      </p:sp>
      <p:sp>
        <p:nvSpPr>
          <p:cNvPr id="6" name="Content Placeholder 5"/>
          <p:cNvSpPr>
            <a:spLocks noGrp="1"/>
          </p:cNvSpPr>
          <p:nvPr>
            <p:ph sz="half" idx="2"/>
          </p:nvPr>
        </p:nvSpPr>
        <p:spPr/>
        <p:txBody>
          <a:bodyPr/>
          <a:lstStyle/>
          <a:p>
            <a:r>
              <a:rPr lang="en-US" dirty="0"/>
              <a:t>Morris Worm (1988)</a:t>
            </a:r>
          </a:p>
          <a:p>
            <a:r>
              <a:rPr lang="en-US" dirty="0"/>
              <a:t>Code Red </a:t>
            </a:r>
            <a:r>
              <a:rPr lang="en-US" dirty="0" smtClean="0"/>
              <a:t>I (</a:t>
            </a:r>
            <a:r>
              <a:rPr lang="en-US" dirty="0"/>
              <a:t>2001</a:t>
            </a:r>
            <a:r>
              <a:rPr lang="en-US" dirty="0" smtClean="0"/>
              <a:t>)</a:t>
            </a:r>
          </a:p>
          <a:p>
            <a:r>
              <a:rPr lang="en-US" dirty="0" smtClean="0"/>
              <a:t>Code Red II (2001)</a:t>
            </a:r>
            <a:endParaRPr lang="en-US" dirty="0"/>
          </a:p>
          <a:p>
            <a:r>
              <a:rPr lang="en-US" dirty="0" err="1"/>
              <a:t>Nimda</a:t>
            </a:r>
            <a:r>
              <a:rPr lang="en-US" dirty="0"/>
              <a:t> (2001</a:t>
            </a:r>
            <a:r>
              <a:rPr lang="en-US" dirty="0" smtClean="0"/>
              <a:t>)</a:t>
            </a:r>
          </a:p>
          <a:p>
            <a:r>
              <a:rPr lang="en-US" dirty="0">
                <a:solidFill>
                  <a:srgbClr val="FF0000"/>
                </a:solidFill>
              </a:rPr>
              <a:t>“</a:t>
            </a:r>
            <a:r>
              <a:rPr lang="en-US" i="1" dirty="0">
                <a:solidFill>
                  <a:srgbClr val="FF0000"/>
                </a:solidFill>
              </a:rPr>
              <a:t>How to 0wn the Internet in Your Spare Time</a:t>
            </a:r>
            <a:r>
              <a:rPr lang="en-US" dirty="0" smtClean="0">
                <a:solidFill>
                  <a:srgbClr val="FF0000"/>
                </a:solidFill>
              </a:rPr>
              <a:t>” (2002)</a:t>
            </a:r>
            <a:endParaRPr lang="en-US" dirty="0">
              <a:solidFill>
                <a:srgbClr val="FF0000"/>
              </a:solidFill>
            </a:endParaRPr>
          </a:p>
          <a:p>
            <a:r>
              <a:rPr lang="en-US" dirty="0"/>
              <a:t>Blaster (2003)</a:t>
            </a:r>
          </a:p>
          <a:p>
            <a:r>
              <a:rPr lang="en-US" dirty="0"/>
              <a:t>SQL Slammer (2003)</a:t>
            </a:r>
          </a:p>
          <a:p>
            <a:endParaRPr lang="en-US" dirty="0"/>
          </a:p>
        </p:txBody>
      </p:sp>
      <p:sp>
        <p:nvSpPr>
          <p:cNvPr id="7" name="Text Placeholder 6"/>
          <p:cNvSpPr>
            <a:spLocks noGrp="1"/>
          </p:cNvSpPr>
          <p:nvPr>
            <p:ph type="body" sz="quarter" idx="3"/>
          </p:nvPr>
        </p:nvSpPr>
        <p:spPr/>
        <p:txBody>
          <a:bodyPr/>
          <a:lstStyle/>
          <a:p>
            <a:r>
              <a:rPr lang="en-US" dirty="0" smtClean="0"/>
              <a:t>Structure</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28</a:t>
            </a:fld>
            <a:endParaRPr lang="en-US"/>
          </a:p>
        </p:txBody>
      </p:sp>
      <p:sp>
        <p:nvSpPr>
          <p:cNvPr id="9" name="Rectangle 8"/>
          <p:cNvSpPr/>
          <p:nvPr/>
        </p:nvSpPr>
        <p:spPr>
          <a:xfrm>
            <a:off x="5622087" y="2381903"/>
            <a:ext cx="1985290" cy="59784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Code Red I</a:t>
            </a:r>
            <a:endParaRPr lang="en-US" dirty="0"/>
          </a:p>
        </p:txBody>
      </p:sp>
      <p:sp>
        <p:nvSpPr>
          <p:cNvPr id="10" name="Rectangle 9"/>
          <p:cNvSpPr/>
          <p:nvPr/>
        </p:nvSpPr>
        <p:spPr>
          <a:xfrm>
            <a:off x="5622087" y="3546688"/>
            <a:ext cx="1985290" cy="94631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Strategies to build better worms</a:t>
            </a:r>
            <a:endParaRPr lang="en-US" dirty="0"/>
          </a:p>
        </p:txBody>
      </p:sp>
      <p:sp>
        <p:nvSpPr>
          <p:cNvPr id="11" name="Rectangle 10"/>
          <p:cNvSpPr/>
          <p:nvPr/>
        </p:nvSpPr>
        <p:spPr>
          <a:xfrm>
            <a:off x="4323724" y="4502894"/>
            <a:ext cx="2229476" cy="94631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Practice: Code Red II and </a:t>
            </a:r>
            <a:r>
              <a:rPr lang="en-US" dirty="0" err="1" smtClean="0"/>
              <a:t>Nimda</a:t>
            </a:r>
            <a:endParaRPr lang="en-US" dirty="0"/>
          </a:p>
        </p:txBody>
      </p:sp>
      <p:sp>
        <p:nvSpPr>
          <p:cNvPr id="12" name="Rectangle 11"/>
          <p:cNvSpPr/>
          <p:nvPr/>
        </p:nvSpPr>
        <p:spPr>
          <a:xfrm>
            <a:off x="6553200" y="4505736"/>
            <a:ext cx="1985290" cy="94631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Theory: Warhol Worm</a:t>
            </a:r>
            <a:endParaRPr lang="en-US" dirty="0"/>
          </a:p>
        </p:txBody>
      </p:sp>
      <p:cxnSp>
        <p:nvCxnSpPr>
          <p:cNvPr id="14" name="Straight Arrow Connector 13"/>
          <p:cNvCxnSpPr>
            <a:stCxn id="9" idx="2"/>
            <a:endCxn id="10" idx="0"/>
          </p:cNvCxnSpPr>
          <p:nvPr/>
        </p:nvCxnSpPr>
        <p:spPr>
          <a:xfrm>
            <a:off x="6614732" y="2979744"/>
            <a:ext cx="0" cy="56694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739143" y="3053933"/>
            <a:ext cx="2076410" cy="369332"/>
          </a:xfrm>
          <a:prstGeom prst="rect">
            <a:avLst/>
          </a:prstGeom>
          <a:noFill/>
        </p:spPr>
        <p:txBody>
          <a:bodyPr wrap="none" rtlCol="0">
            <a:spAutoFit/>
          </a:bodyPr>
          <a:lstStyle/>
          <a:p>
            <a:r>
              <a:rPr lang="en-US" dirty="0" smtClean="0"/>
              <a:t>Any Improvements?</a:t>
            </a:r>
            <a:endParaRPr lang="en-US" dirty="0"/>
          </a:p>
        </p:txBody>
      </p:sp>
      <p:sp>
        <p:nvSpPr>
          <p:cNvPr id="23" name="TextBox 22"/>
          <p:cNvSpPr txBox="1"/>
          <p:nvPr/>
        </p:nvSpPr>
        <p:spPr>
          <a:xfrm>
            <a:off x="3970442" y="5467917"/>
            <a:ext cx="2582758" cy="369332"/>
          </a:xfrm>
          <a:prstGeom prst="rect">
            <a:avLst/>
          </a:prstGeom>
          <a:noFill/>
        </p:spPr>
        <p:txBody>
          <a:bodyPr wrap="none" rtlCol="0">
            <a:spAutoFit/>
          </a:bodyPr>
          <a:lstStyle/>
          <a:p>
            <a:r>
              <a:rPr lang="en-US" dirty="0" smtClean="0"/>
              <a:t>Analyzing Existing Worms</a:t>
            </a:r>
            <a:endParaRPr lang="en-US" dirty="0"/>
          </a:p>
        </p:txBody>
      </p:sp>
      <p:sp>
        <p:nvSpPr>
          <p:cNvPr id="24" name="TextBox 23"/>
          <p:cNvSpPr txBox="1"/>
          <p:nvPr/>
        </p:nvSpPr>
        <p:spPr>
          <a:xfrm>
            <a:off x="6678653" y="5470269"/>
            <a:ext cx="2048683" cy="369332"/>
          </a:xfrm>
          <a:prstGeom prst="rect">
            <a:avLst/>
          </a:prstGeom>
          <a:noFill/>
        </p:spPr>
        <p:txBody>
          <a:bodyPr wrap="none" rtlCol="0">
            <a:spAutoFit/>
          </a:bodyPr>
          <a:lstStyle/>
          <a:p>
            <a:r>
              <a:rPr lang="en-US" dirty="0" smtClean="0"/>
              <a:t>Theoretical Analysis</a:t>
            </a:r>
            <a:endParaRPr lang="en-US" dirty="0"/>
          </a:p>
        </p:txBody>
      </p:sp>
    </p:spTree>
    <p:extLst>
      <p:ext uri="{BB962C8B-B14F-4D97-AF65-F5344CB8AC3E}">
        <p14:creationId xmlns:p14="http://schemas.microsoft.com/office/powerpoint/2010/main" val="1298784309"/>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The Code Red I</a:t>
            </a:r>
            <a:endParaRPr lang="en-US" dirty="0"/>
          </a:p>
        </p:txBody>
      </p:sp>
      <p:sp>
        <p:nvSpPr>
          <p:cNvPr id="9" name="Content Placeholder 8"/>
          <p:cNvSpPr>
            <a:spLocks noGrp="1"/>
          </p:cNvSpPr>
          <p:nvPr>
            <p:ph idx="1"/>
          </p:nvPr>
        </p:nvSpPr>
        <p:spPr>
          <a:xfrm>
            <a:off x="457200" y="1600200"/>
            <a:ext cx="8229600" cy="2871601"/>
          </a:xfrm>
        </p:spPr>
        <p:txBody>
          <a:bodyPr>
            <a:normAutofit fontScale="92500" lnSpcReduction="10000"/>
          </a:bodyPr>
          <a:lstStyle/>
          <a:p>
            <a:r>
              <a:rPr lang="en-US" dirty="0"/>
              <a:t>On July 19, 2001 more than 359,000 computers were infected with the </a:t>
            </a:r>
            <a:r>
              <a:rPr lang="en-US" dirty="0" smtClean="0"/>
              <a:t>Code Red I Version 2 </a:t>
            </a:r>
            <a:r>
              <a:rPr lang="en-US" dirty="0"/>
              <a:t>(CRv2) worm in less than 14 hours. </a:t>
            </a:r>
            <a:endParaRPr lang="en-US" dirty="0" smtClean="0"/>
          </a:p>
          <a:p>
            <a:pPr lvl="1"/>
            <a:r>
              <a:rPr lang="en-US" dirty="0" smtClean="0"/>
              <a:t>43</a:t>
            </a:r>
            <a:r>
              <a:rPr lang="en-US" dirty="0"/>
              <a:t>% of all infected hosts were in the United States</a:t>
            </a:r>
            <a:r>
              <a:rPr lang="en-US" dirty="0" smtClean="0"/>
              <a:t>,</a:t>
            </a:r>
          </a:p>
          <a:p>
            <a:pPr lvl="1"/>
            <a:r>
              <a:rPr lang="en-US" dirty="0" smtClean="0"/>
              <a:t>11</a:t>
            </a:r>
            <a:r>
              <a:rPr lang="en-US" dirty="0"/>
              <a:t>% originated in Korea followed </a:t>
            </a:r>
          </a:p>
          <a:p>
            <a:pPr lvl="1"/>
            <a:r>
              <a:rPr lang="en-US" dirty="0" smtClean="0"/>
              <a:t>5</a:t>
            </a:r>
            <a:r>
              <a:rPr lang="en-US" dirty="0"/>
              <a:t>% in </a:t>
            </a:r>
            <a:r>
              <a:rPr lang="en-US" dirty="0" smtClean="0"/>
              <a:t>China</a:t>
            </a:r>
            <a:endParaRPr lang="en-US" dirty="0"/>
          </a:p>
        </p:txBody>
      </p:sp>
      <p:sp>
        <p:nvSpPr>
          <p:cNvPr id="7" name="Slide Number Placeholder 6"/>
          <p:cNvSpPr>
            <a:spLocks noGrp="1"/>
          </p:cNvSpPr>
          <p:nvPr>
            <p:ph type="sldNum" sz="quarter" idx="12"/>
          </p:nvPr>
        </p:nvSpPr>
        <p:spPr/>
        <p:txBody>
          <a:bodyPr/>
          <a:lstStyle/>
          <a:p>
            <a:fld id="{47E8BE15-7F0B-0840-A9A0-04D3C81E96AD}" type="slidenum">
              <a:rPr lang="en-US" smtClean="0"/>
              <a:t>29</a:t>
            </a:fld>
            <a:endParaRPr lang="en-US"/>
          </a:p>
        </p:txBody>
      </p:sp>
      <p:sp>
        <p:nvSpPr>
          <p:cNvPr id="10" name="Content Placeholder 8"/>
          <p:cNvSpPr txBox="1">
            <a:spLocks/>
          </p:cNvSpPr>
          <p:nvPr/>
        </p:nvSpPr>
        <p:spPr>
          <a:xfrm>
            <a:off x="457200" y="4620412"/>
            <a:ext cx="8229600" cy="152662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3000" dirty="0" smtClean="0"/>
              <a:t>There is a bug in the initial version of Code Red I Version 1 (CRv1). </a:t>
            </a:r>
            <a:endParaRPr lang="en-US" sz="3000" dirty="0"/>
          </a:p>
        </p:txBody>
      </p:sp>
      <p:pic>
        <p:nvPicPr>
          <p:cNvPr id="11" name="Picture 10" descr="未命名.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1539" y="5153812"/>
            <a:ext cx="1030747" cy="1202538"/>
          </a:xfrm>
          <a:prstGeom prst="rect">
            <a:avLst/>
          </a:prstGeom>
        </p:spPr>
      </p:pic>
    </p:spTree>
    <p:extLst>
      <p:ext uri="{BB962C8B-B14F-4D97-AF65-F5344CB8AC3E}">
        <p14:creationId xmlns:p14="http://schemas.microsoft.com/office/powerpoint/2010/main" val="423290540"/>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Code Red I</a:t>
            </a:r>
            <a:endParaRPr lang="en-US" dirty="0"/>
          </a:p>
        </p:txBody>
      </p:sp>
      <p:pic>
        <p:nvPicPr>
          <p:cNvPr id="5" name="Content Placeholder 4" descr="code-red-colored-large-1.png"/>
          <p:cNvPicPr>
            <a:picLocks noGrp="1" noChangeAspect="1"/>
          </p:cNvPicPr>
          <p:nvPr>
            <p:ph idx="1"/>
          </p:nvPr>
        </p:nvPicPr>
        <p:blipFill>
          <a:blip r:embed="rId2">
            <a:extLst>
              <a:ext uri="{28A0092B-C50C-407E-A947-70E740481C1C}">
                <a14:useLocalDpi xmlns:a14="http://schemas.microsoft.com/office/drawing/2010/main" val="0"/>
              </a:ext>
            </a:extLst>
          </a:blip>
          <a:srcRect l="11193" r="11193"/>
          <a:stretch>
            <a:fillRect/>
          </a:stretch>
        </p:blipFill>
        <p:spPr/>
      </p:pic>
      <p:sp>
        <p:nvSpPr>
          <p:cNvPr id="4" name="Slide Number Placeholder 3"/>
          <p:cNvSpPr>
            <a:spLocks noGrp="1"/>
          </p:cNvSpPr>
          <p:nvPr>
            <p:ph type="sldNum" sz="quarter" idx="12"/>
          </p:nvPr>
        </p:nvSpPr>
        <p:spPr/>
        <p:txBody>
          <a:bodyPr/>
          <a:lstStyle/>
          <a:p>
            <a:fld id="{47E8BE15-7F0B-0840-A9A0-04D3C81E96AD}" type="slidenum">
              <a:rPr lang="en-US" smtClean="0"/>
              <a:t>30</a:t>
            </a:fld>
            <a:endParaRPr lang="en-US"/>
          </a:p>
        </p:txBody>
      </p:sp>
    </p:spTree>
    <p:extLst>
      <p:ext uri="{BB962C8B-B14F-4D97-AF65-F5344CB8AC3E}">
        <p14:creationId xmlns:p14="http://schemas.microsoft.com/office/powerpoint/2010/main" val="2399159320"/>
      </p:ext>
    </p:extLst>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Code Red I</a:t>
            </a:r>
            <a:endParaRPr lang="en-US" dirty="0"/>
          </a:p>
        </p:txBody>
      </p:sp>
      <p:sp>
        <p:nvSpPr>
          <p:cNvPr id="3" name="Content Placeholder 2"/>
          <p:cNvSpPr>
            <a:spLocks noGrp="1"/>
          </p:cNvSpPr>
          <p:nvPr>
            <p:ph idx="1"/>
          </p:nvPr>
        </p:nvSpPr>
        <p:spPr/>
        <p:txBody>
          <a:bodyPr>
            <a:normAutofit lnSpcReduction="10000"/>
          </a:bodyPr>
          <a:lstStyle/>
          <a:p>
            <a:r>
              <a:rPr lang="en-US" dirty="0" smtClean="0"/>
              <a:t>Its Scanning Strategy</a:t>
            </a:r>
          </a:p>
          <a:p>
            <a:endParaRPr lang="en-US" dirty="0" smtClean="0"/>
          </a:p>
          <a:p>
            <a:pPr lvl="1"/>
            <a:r>
              <a:rPr lang="en-US" dirty="0" smtClean="0"/>
              <a:t>Launch 99 threads and each thread generated </a:t>
            </a:r>
            <a:r>
              <a:rPr lang="en-US" dirty="0" smtClean="0">
                <a:solidFill>
                  <a:srgbClr val="FF0000"/>
                </a:solidFill>
              </a:rPr>
              <a:t>random</a:t>
            </a:r>
            <a:r>
              <a:rPr lang="en-US" dirty="0" smtClean="0"/>
              <a:t> IP addresses </a:t>
            </a:r>
            <a:r>
              <a:rPr lang="en-US" dirty="0" smtClean="0">
                <a:solidFill>
                  <a:srgbClr val="FF0000"/>
                </a:solidFill>
              </a:rPr>
              <a:t>in the whole IP space </a:t>
            </a:r>
            <a:r>
              <a:rPr lang="en-US" dirty="0" smtClean="0"/>
              <a:t>(2^32)</a:t>
            </a:r>
          </a:p>
          <a:p>
            <a:pPr marL="457200" lvl="1" indent="0">
              <a:buNone/>
            </a:pPr>
            <a:endParaRPr lang="en-US" dirty="0" smtClean="0"/>
          </a:p>
          <a:p>
            <a:pPr lvl="1"/>
            <a:r>
              <a:rPr lang="en-US" dirty="0" smtClean="0"/>
              <a:t>Probe each IP to determine whether the vulnerable service is available on the host. </a:t>
            </a:r>
          </a:p>
          <a:p>
            <a:pPr lvl="1"/>
            <a:endParaRPr lang="en-US" dirty="0"/>
          </a:p>
          <a:p>
            <a:pPr lvl="1"/>
            <a:r>
              <a:rPr lang="en-US" dirty="0" smtClean="0"/>
              <a:t>If so, infect the host. </a:t>
            </a:r>
          </a:p>
          <a:p>
            <a:pPr lvl="1"/>
            <a:endParaRPr lang="en-US" dirty="0" smtClean="0"/>
          </a:p>
          <a:p>
            <a:pPr lvl="1"/>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31</a:t>
            </a:fld>
            <a:endParaRPr lang="en-US"/>
          </a:p>
        </p:txBody>
      </p:sp>
    </p:spTree>
    <p:extLst>
      <p:ext uri="{BB962C8B-B14F-4D97-AF65-F5344CB8AC3E}">
        <p14:creationId xmlns:p14="http://schemas.microsoft.com/office/powerpoint/2010/main" val="2593574556"/>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 “Better” Worms - Practice</a:t>
            </a:r>
          </a:p>
        </p:txBody>
      </p:sp>
      <p:sp>
        <p:nvSpPr>
          <p:cNvPr id="3" name="Content Placeholder 2"/>
          <p:cNvSpPr>
            <a:spLocks noGrp="1"/>
          </p:cNvSpPr>
          <p:nvPr>
            <p:ph idx="1"/>
          </p:nvPr>
        </p:nvSpPr>
        <p:spPr/>
        <p:txBody>
          <a:bodyPr/>
          <a:lstStyle/>
          <a:p>
            <a:r>
              <a:rPr lang="en-US" dirty="0" smtClean="0"/>
              <a:t>Code Red II</a:t>
            </a:r>
          </a:p>
          <a:p>
            <a:r>
              <a:rPr lang="en-US" dirty="0" err="1" smtClean="0"/>
              <a:t>Nimda</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32</a:t>
            </a:fld>
            <a:endParaRPr lang="en-US"/>
          </a:p>
        </p:txBody>
      </p:sp>
    </p:spTree>
    <p:extLst>
      <p:ext uri="{BB962C8B-B14F-4D97-AF65-F5344CB8AC3E}">
        <p14:creationId xmlns:p14="http://schemas.microsoft.com/office/powerpoint/2010/main" val="1860124789"/>
      </p:ext>
    </p:extLst>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Red II</a:t>
            </a:r>
            <a:endParaRPr lang="en-US" dirty="0"/>
          </a:p>
        </p:txBody>
      </p:sp>
      <p:sp>
        <p:nvSpPr>
          <p:cNvPr id="3" name="Content Placeholder 2"/>
          <p:cNvSpPr>
            <a:spLocks noGrp="1"/>
          </p:cNvSpPr>
          <p:nvPr>
            <p:ph idx="1"/>
          </p:nvPr>
        </p:nvSpPr>
        <p:spPr/>
        <p:txBody>
          <a:bodyPr>
            <a:normAutofit fontScale="92500"/>
          </a:bodyPr>
          <a:lstStyle/>
          <a:p>
            <a:r>
              <a:rPr lang="en-US" dirty="0" smtClean="0"/>
              <a:t>Code Red II</a:t>
            </a:r>
          </a:p>
          <a:p>
            <a:pPr lvl="1"/>
            <a:r>
              <a:rPr lang="en-US" dirty="0" smtClean="0"/>
              <a:t>CRII was released on August 4</a:t>
            </a:r>
            <a:r>
              <a:rPr lang="en-US" baseline="30000" dirty="0" smtClean="0"/>
              <a:t>th</a:t>
            </a:r>
            <a:r>
              <a:rPr lang="en-US" dirty="0" smtClean="0"/>
              <a:t>, 2001. </a:t>
            </a:r>
          </a:p>
          <a:p>
            <a:pPr lvl="1"/>
            <a:r>
              <a:rPr lang="en-US" dirty="0" smtClean="0"/>
              <a:t>Died by design on October 1th, 2001.</a:t>
            </a:r>
          </a:p>
          <a:p>
            <a:endParaRPr lang="en-US" dirty="0" smtClean="0"/>
          </a:p>
          <a:p>
            <a:r>
              <a:rPr lang="en-US" dirty="0" smtClean="0"/>
              <a:t>Localized Scanning Strategy</a:t>
            </a:r>
          </a:p>
          <a:p>
            <a:pPr lvl="1"/>
            <a:r>
              <a:rPr lang="en-US" dirty="0" smtClean="0"/>
              <a:t>3/8 probability: a random IP from the B (/16 network) address space of the infected machine</a:t>
            </a:r>
          </a:p>
          <a:p>
            <a:pPr lvl="1"/>
            <a:r>
              <a:rPr lang="en-US" dirty="0" smtClean="0"/>
              <a:t>½ probability: … from the A (/8 network) address….</a:t>
            </a:r>
          </a:p>
          <a:p>
            <a:pPr lvl="1"/>
            <a:r>
              <a:rPr lang="en-US" dirty="0" smtClean="0"/>
              <a:t>1/8 probability: … from the whole Internet</a:t>
            </a:r>
          </a:p>
          <a:p>
            <a:pPr lvl="1"/>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33</a:t>
            </a:fld>
            <a:endParaRPr lang="en-US"/>
          </a:p>
        </p:txBody>
      </p:sp>
    </p:spTree>
    <p:extLst>
      <p:ext uri="{BB962C8B-B14F-4D97-AF65-F5344CB8AC3E}">
        <p14:creationId xmlns:p14="http://schemas.microsoft.com/office/powerpoint/2010/main" val="175220334"/>
      </p:ext>
    </p:extLst>
  </p:cSld>
  <p:clrMapOvr>
    <a:masterClrMapping/>
  </p:clrMapOvr>
  <p:timing>
    <p:tnLst>
      <p:par>
        <p:cTn xmlns:p14="http://schemas.microsoft.com/office/powerpoint/2010/mai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Red II</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Advantages of Localized Scanning</a:t>
            </a:r>
          </a:p>
          <a:p>
            <a:pPr lvl="1"/>
            <a:r>
              <a:rPr lang="en-US" dirty="0" smtClean="0"/>
              <a:t>Facilitate propagation within certain internal networks</a:t>
            </a:r>
          </a:p>
          <a:p>
            <a:pPr lvl="2"/>
            <a:r>
              <a:rPr lang="en-US" dirty="0" smtClean="0"/>
              <a:t>Firewall</a:t>
            </a:r>
          </a:p>
          <a:p>
            <a:pPr lvl="2"/>
            <a:r>
              <a:rPr lang="en-US" dirty="0" smtClean="0"/>
              <a:t>NAT</a:t>
            </a:r>
          </a:p>
          <a:p>
            <a:pPr lvl="2"/>
            <a:endParaRPr lang="en-US" dirty="0" smtClean="0"/>
          </a:p>
          <a:p>
            <a:pPr lvl="1"/>
            <a:r>
              <a:rPr lang="en-US" dirty="0" smtClean="0"/>
              <a:t>Expedite propagation</a:t>
            </a:r>
          </a:p>
          <a:p>
            <a:pPr lvl="2"/>
            <a:r>
              <a:rPr lang="en-US" dirty="0" smtClean="0"/>
              <a:t>Host with similar IP addresses imply a small network topological distance</a:t>
            </a:r>
          </a:p>
          <a:p>
            <a:r>
              <a:rPr lang="en-US" dirty="0" smtClean="0"/>
              <a:t>Consequence</a:t>
            </a:r>
          </a:p>
          <a:p>
            <a:pPr lvl="1"/>
            <a:r>
              <a:rPr lang="en-US" dirty="0" smtClean="0"/>
              <a:t>Rapid infection</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34</a:t>
            </a:fld>
            <a:endParaRPr lang="en-US"/>
          </a:p>
        </p:txBody>
      </p:sp>
    </p:spTree>
    <p:extLst>
      <p:ext uri="{BB962C8B-B14F-4D97-AF65-F5344CB8AC3E}">
        <p14:creationId xmlns:p14="http://schemas.microsoft.com/office/powerpoint/2010/main" val="409265299"/>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Nimda</a:t>
            </a:r>
            <a:endParaRPr lang="en-US" dirty="0"/>
          </a:p>
        </p:txBody>
      </p:sp>
      <p:sp>
        <p:nvSpPr>
          <p:cNvPr id="3" name="Content Placeholder 2"/>
          <p:cNvSpPr>
            <a:spLocks noGrp="1"/>
          </p:cNvSpPr>
          <p:nvPr>
            <p:ph idx="1"/>
          </p:nvPr>
        </p:nvSpPr>
        <p:spPr/>
        <p:txBody>
          <a:bodyPr>
            <a:normAutofit fontScale="85000" lnSpcReduction="10000"/>
          </a:bodyPr>
          <a:lstStyle/>
          <a:p>
            <a:r>
              <a:rPr lang="en-US" dirty="0" err="1" smtClean="0"/>
              <a:t>Nimda</a:t>
            </a:r>
            <a:endParaRPr lang="en-US" dirty="0" smtClean="0"/>
          </a:p>
          <a:p>
            <a:pPr lvl="1"/>
            <a:r>
              <a:rPr lang="en-US" dirty="0" err="1" smtClean="0"/>
              <a:t>Nimda</a:t>
            </a:r>
            <a:r>
              <a:rPr lang="en-US" dirty="0" smtClean="0"/>
              <a:t> began on September 18</a:t>
            </a:r>
            <a:r>
              <a:rPr lang="en-US" baseline="30000" dirty="0" smtClean="0"/>
              <a:t>th</a:t>
            </a:r>
            <a:r>
              <a:rPr lang="en-US" dirty="0" smtClean="0"/>
              <a:t>, 2001.</a:t>
            </a:r>
          </a:p>
          <a:p>
            <a:pPr lvl="1"/>
            <a:r>
              <a:rPr lang="en-US" dirty="0" smtClean="0"/>
              <a:t>It maintained itself on the Internet for months after it started</a:t>
            </a:r>
          </a:p>
          <a:p>
            <a:r>
              <a:rPr lang="en-US" dirty="0" smtClean="0"/>
              <a:t>Multi-vector infection</a:t>
            </a:r>
          </a:p>
          <a:p>
            <a:pPr lvl="1"/>
            <a:r>
              <a:rPr lang="en-US" dirty="0" smtClean="0"/>
              <a:t>Web server vulnerability (similar to the Code Red)</a:t>
            </a:r>
          </a:p>
          <a:p>
            <a:pPr lvl="1"/>
            <a:r>
              <a:rPr lang="en-US" dirty="0" smtClean="0"/>
              <a:t>Bulk emailing of itself as an attachment</a:t>
            </a:r>
          </a:p>
          <a:p>
            <a:pPr lvl="1"/>
            <a:r>
              <a:rPr lang="en-US" dirty="0" smtClean="0"/>
              <a:t>Copying itself across open network shares</a:t>
            </a:r>
          </a:p>
          <a:p>
            <a:pPr lvl="1"/>
            <a:r>
              <a:rPr lang="en-US" dirty="0" smtClean="0"/>
              <a:t>Adding exploit code to Web pages on compromised servers in order to infect clients which browse the page</a:t>
            </a:r>
          </a:p>
          <a:p>
            <a:pPr lvl="1"/>
            <a:r>
              <a:rPr lang="en-US" dirty="0" smtClean="0"/>
              <a:t>By using the backdoors left behind by Code Red II</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35</a:t>
            </a:fld>
            <a:endParaRPr lang="en-US"/>
          </a:p>
        </p:txBody>
      </p:sp>
    </p:spTree>
    <p:extLst>
      <p:ext uri="{BB962C8B-B14F-4D97-AF65-F5344CB8AC3E}">
        <p14:creationId xmlns:p14="http://schemas.microsoft.com/office/powerpoint/2010/main" val="351152635"/>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Nimda</a:t>
            </a:r>
            <a:endParaRPr lang="en-US" dirty="0"/>
          </a:p>
        </p:txBody>
      </p:sp>
      <p:sp>
        <p:nvSpPr>
          <p:cNvPr id="3" name="Content Placeholder 2"/>
          <p:cNvSpPr>
            <a:spLocks noGrp="1"/>
          </p:cNvSpPr>
          <p:nvPr>
            <p:ph idx="1"/>
          </p:nvPr>
        </p:nvSpPr>
        <p:spPr/>
        <p:txBody>
          <a:bodyPr>
            <a:normAutofit/>
          </a:bodyPr>
          <a:lstStyle/>
          <a:p>
            <a:r>
              <a:rPr lang="en-US" dirty="0" smtClean="0"/>
              <a:t>Enable </a:t>
            </a:r>
            <a:r>
              <a:rPr lang="en-US" dirty="0"/>
              <a:t>propagation within </a:t>
            </a:r>
            <a:r>
              <a:rPr lang="en-US" dirty="0" smtClean="0"/>
              <a:t>internal networks (behind firewall or NATs)</a:t>
            </a:r>
          </a:p>
          <a:p>
            <a:pPr lvl="2"/>
            <a:r>
              <a:rPr lang="en-US" dirty="0" smtClean="0"/>
              <a:t>Email</a:t>
            </a:r>
          </a:p>
          <a:p>
            <a:pPr lvl="2"/>
            <a:r>
              <a:rPr lang="en-US" dirty="0" smtClean="0"/>
              <a:t>Network share</a:t>
            </a:r>
          </a:p>
          <a:p>
            <a:pPr lvl="2"/>
            <a:r>
              <a:rPr lang="en-US" dirty="0" smtClean="0"/>
              <a:t>Exploit code in the compromised server</a:t>
            </a:r>
          </a:p>
          <a:p>
            <a:r>
              <a:rPr lang="en-US" dirty="0" smtClean="0"/>
              <a:t>Magnify the effectiveness using multiple ways</a:t>
            </a:r>
          </a:p>
          <a:p>
            <a:r>
              <a:rPr lang="en-US" dirty="0" smtClean="0"/>
              <a:t>Results</a:t>
            </a:r>
          </a:p>
          <a:p>
            <a:pPr lvl="1"/>
            <a:r>
              <a:rPr lang="en-US" dirty="0"/>
              <a:t>Became the Internet’s most widespread worm with in 22 </a:t>
            </a:r>
            <a:r>
              <a:rPr lang="en-US" dirty="0" smtClean="0"/>
              <a:t>minutes</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36</a:t>
            </a:fld>
            <a:endParaRPr lang="en-US"/>
          </a:p>
        </p:txBody>
      </p:sp>
    </p:spTree>
    <p:extLst>
      <p:ext uri="{BB962C8B-B14F-4D97-AF65-F5344CB8AC3E}">
        <p14:creationId xmlns:p14="http://schemas.microsoft.com/office/powerpoint/2010/main" val="174682599"/>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 “Better” Worms - </a:t>
            </a:r>
            <a:r>
              <a:rPr lang="en-US" dirty="0" smtClean="0"/>
              <a:t>Theory</a:t>
            </a:r>
            <a:endParaRPr lang="en-US" dirty="0"/>
          </a:p>
        </p:txBody>
      </p:sp>
      <p:sp>
        <p:nvSpPr>
          <p:cNvPr id="3" name="Content Placeholder 2"/>
          <p:cNvSpPr>
            <a:spLocks noGrp="1"/>
          </p:cNvSpPr>
          <p:nvPr>
            <p:ph idx="1"/>
          </p:nvPr>
        </p:nvSpPr>
        <p:spPr/>
        <p:txBody>
          <a:bodyPr>
            <a:normAutofit/>
          </a:bodyPr>
          <a:lstStyle/>
          <a:p>
            <a:r>
              <a:rPr lang="en-US" dirty="0" smtClean="0"/>
              <a:t>Hit-list scanning</a:t>
            </a:r>
          </a:p>
          <a:p>
            <a:r>
              <a:rPr lang="en-US" dirty="0" smtClean="0"/>
              <a:t>Permutation scanning</a:t>
            </a:r>
          </a:p>
          <a:p>
            <a:r>
              <a:rPr lang="en-US" dirty="0" smtClean="0"/>
              <a:t>Topological aware worms</a:t>
            </a:r>
          </a:p>
          <a:p>
            <a:r>
              <a:rPr lang="en-US" dirty="0" smtClean="0"/>
              <a:t>Internet scale hit-lists</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37</a:t>
            </a:fld>
            <a:endParaRPr lang="en-US"/>
          </a:p>
        </p:txBody>
      </p:sp>
    </p:spTree>
    <p:extLst>
      <p:ext uri="{BB962C8B-B14F-4D97-AF65-F5344CB8AC3E}">
        <p14:creationId xmlns:p14="http://schemas.microsoft.com/office/powerpoint/2010/main" val="2273064825"/>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Hit-list </a:t>
            </a:r>
            <a:r>
              <a:rPr lang="en-US" dirty="0" smtClean="0"/>
              <a:t>scanning</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time needed to infect say the first 10,000 hosts dominates the infection time.”</a:t>
            </a:r>
          </a:p>
          <a:p>
            <a:endParaRPr lang="en-US" dirty="0"/>
          </a:p>
          <a:p>
            <a:r>
              <a:rPr lang="en-US" dirty="0" smtClean="0"/>
              <a:t>Hit-list scanning</a:t>
            </a:r>
          </a:p>
          <a:p>
            <a:pPr lvl="1"/>
            <a:r>
              <a:rPr lang="en-US" dirty="0"/>
              <a:t>B</a:t>
            </a:r>
            <a:r>
              <a:rPr lang="en-US" dirty="0" smtClean="0"/>
              <a:t>efore the worm is released, the worm author collects a list of say 10,000 to 50,000 potentially vulnerable machines</a:t>
            </a:r>
          </a:p>
          <a:p>
            <a:pPr lvl="1"/>
            <a:r>
              <a:rPr lang="en-US" dirty="0" smtClean="0"/>
              <a:t>The initial worm focuses on infecting hosts on the list</a:t>
            </a:r>
          </a:p>
          <a:p>
            <a:pPr lvl="1"/>
            <a:r>
              <a:rPr lang="en-US" dirty="0" smtClean="0"/>
              <a:t>When it infects a machine, it divides the hit-list in half, communicating half to the recipient worm, keeping the other half</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38</a:t>
            </a:fld>
            <a:endParaRPr lang="en-US"/>
          </a:p>
        </p:txBody>
      </p:sp>
    </p:spTree>
    <p:extLst>
      <p:ext uri="{BB962C8B-B14F-4D97-AF65-F5344CB8AC3E}">
        <p14:creationId xmlns:p14="http://schemas.microsoft.com/office/powerpoint/2010/main" val="1715456910"/>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Hit-list </a:t>
            </a:r>
            <a:r>
              <a:rPr lang="en-US" dirty="0" smtClean="0"/>
              <a:t>scanning</a:t>
            </a:r>
            <a:endParaRPr lang="en-US" dirty="0"/>
          </a:p>
        </p:txBody>
      </p:sp>
      <p:sp>
        <p:nvSpPr>
          <p:cNvPr id="3" name="Content Placeholder 2"/>
          <p:cNvSpPr>
            <a:spLocks noGrp="1"/>
          </p:cNvSpPr>
          <p:nvPr>
            <p:ph idx="1"/>
          </p:nvPr>
        </p:nvSpPr>
        <p:spPr/>
        <p:txBody>
          <a:bodyPr>
            <a:normAutofit/>
          </a:bodyPr>
          <a:lstStyle/>
          <a:p>
            <a:r>
              <a:rPr lang="en-US" dirty="0" smtClean="0"/>
              <a:t>How to collect hit-list in practice?</a:t>
            </a:r>
          </a:p>
          <a:p>
            <a:pPr lvl="1"/>
            <a:r>
              <a:rPr lang="en-US" dirty="0" smtClean="0"/>
              <a:t>Stealthy scans</a:t>
            </a:r>
          </a:p>
          <a:p>
            <a:pPr lvl="1"/>
            <a:r>
              <a:rPr lang="en-US" dirty="0" smtClean="0"/>
              <a:t>Distributed scanning</a:t>
            </a:r>
          </a:p>
          <a:p>
            <a:pPr lvl="1"/>
            <a:r>
              <a:rPr lang="en-US" dirty="0" smtClean="0"/>
              <a:t>DNS searches</a:t>
            </a:r>
          </a:p>
          <a:p>
            <a:pPr lvl="1"/>
            <a:r>
              <a:rPr lang="en-US" dirty="0" smtClean="0"/>
              <a:t>Spiders</a:t>
            </a:r>
          </a:p>
          <a:p>
            <a:pPr lvl="2"/>
            <a:r>
              <a:rPr lang="en-US" dirty="0" smtClean="0"/>
              <a:t>33% of automated search engine queries are looking for vulnerable Internet services. </a:t>
            </a:r>
          </a:p>
          <a:p>
            <a:pPr lvl="1"/>
            <a:r>
              <a:rPr lang="en-US" dirty="0" smtClean="0"/>
              <a:t>Public surveys</a:t>
            </a:r>
          </a:p>
          <a:p>
            <a:pPr lvl="1"/>
            <a:r>
              <a:rPr lang="en-US" dirty="0" smtClean="0"/>
              <a:t>Just listen</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39</a:t>
            </a:fld>
            <a:endParaRPr lang="en-US"/>
          </a:p>
        </p:txBody>
      </p:sp>
    </p:spTree>
    <p:extLst>
      <p:ext uri="{BB962C8B-B14F-4D97-AF65-F5344CB8AC3E}">
        <p14:creationId xmlns:p14="http://schemas.microsoft.com/office/powerpoint/2010/main" val="2338318193"/>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Permutation Scanning</a:t>
            </a:r>
            <a:endParaRPr lang="en-US" dirty="0"/>
          </a:p>
        </p:txBody>
      </p:sp>
      <p:sp>
        <p:nvSpPr>
          <p:cNvPr id="3" name="Content Placeholder 2"/>
          <p:cNvSpPr>
            <a:spLocks noGrp="1"/>
          </p:cNvSpPr>
          <p:nvPr>
            <p:ph idx="1"/>
          </p:nvPr>
        </p:nvSpPr>
        <p:spPr/>
        <p:txBody>
          <a:bodyPr>
            <a:normAutofit fontScale="85000" lnSpcReduction="10000"/>
          </a:bodyPr>
          <a:lstStyle/>
          <a:p>
            <a:r>
              <a:rPr lang="en-US" dirty="0"/>
              <a:t>R</a:t>
            </a:r>
            <a:r>
              <a:rPr lang="en-US" dirty="0" smtClean="0"/>
              <a:t>andom scanning</a:t>
            </a:r>
          </a:p>
          <a:p>
            <a:pPr lvl="1"/>
            <a:r>
              <a:rPr lang="en-US" dirty="0" smtClean="0"/>
              <a:t>The Code Red I is a salient example to use random scanning</a:t>
            </a:r>
          </a:p>
          <a:p>
            <a:pPr lvl="1"/>
            <a:r>
              <a:rPr lang="en-US" dirty="0" smtClean="0"/>
              <a:t>Disadvantage: many addresses are probed multiple times</a:t>
            </a:r>
          </a:p>
          <a:p>
            <a:endParaRPr lang="en-US" dirty="0"/>
          </a:p>
          <a:p>
            <a:r>
              <a:rPr lang="en-US" dirty="0" smtClean="0"/>
              <a:t>Permutation Scanning</a:t>
            </a:r>
          </a:p>
          <a:p>
            <a:pPr lvl="1"/>
            <a:r>
              <a:rPr lang="en-US" dirty="0" smtClean="0"/>
              <a:t>Objective: provide a self-coordinated, comprehensive scan while maintaining the benefits of random probing</a:t>
            </a:r>
          </a:p>
          <a:p>
            <a:pPr lvl="1"/>
            <a:r>
              <a:rPr lang="en-US" dirty="0" smtClean="0"/>
              <a:t>Assumption: a worm can detect that a particular target is already infected</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40</a:t>
            </a:fld>
            <a:endParaRPr lang="en-US"/>
          </a:p>
        </p:txBody>
      </p:sp>
    </p:spTree>
    <p:extLst>
      <p:ext uri="{BB962C8B-B14F-4D97-AF65-F5344CB8AC3E}">
        <p14:creationId xmlns:p14="http://schemas.microsoft.com/office/powerpoint/2010/main" val="3498508194"/>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Permutation Scanning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All worms share a common pseudo random permutation of the IP address space</a:t>
            </a:r>
          </a:p>
          <a:p>
            <a:endParaRPr lang="en-US" dirty="0" smtClean="0"/>
          </a:p>
          <a:p>
            <a:r>
              <a:rPr lang="en-US" dirty="0" smtClean="0"/>
              <a:t>Any machine infected during the hit-list phase (or local subnet scanning) starts scanning after its point in the permutation</a:t>
            </a:r>
          </a:p>
          <a:p>
            <a:endParaRPr lang="en-US" dirty="0" smtClean="0"/>
          </a:p>
          <a:p>
            <a:r>
              <a:rPr lang="en-US" dirty="0" smtClean="0"/>
              <a:t>Whenever the worm sees an already infected machine, it chooses a new, random start point and proceeds from there </a:t>
            </a:r>
          </a:p>
          <a:p>
            <a:endParaRPr lang="en-US" dirty="0" smtClean="0"/>
          </a:p>
          <a:p>
            <a:r>
              <a:rPr lang="en-US" dirty="0" smtClean="0"/>
              <a:t>Worms infected by permutation scanning would start at a random point</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41</a:t>
            </a:fld>
            <a:endParaRPr lang="en-US"/>
          </a:p>
        </p:txBody>
      </p:sp>
    </p:spTree>
    <p:extLst>
      <p:ext uri="{BB962C8B-B14F-4D97-AF65-F5344CB8AC3E}">
        <p14:creationId xmlns:p14="http://schemas.microsoft.com/office/powerpoint/2010/main" val="1782392411"/>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Permutation Scanning</a:t>
            </a:r>
            <a:endParaRPr lang="en-US" dirty="0"/>
          </a:p>
        </p:txBody>
      </p:sp>
      <p:sp>
        <p:nvSpPr>
          <p:cNvPr id="3" name="Content Placeholder 2"/>
          <p:cNvSpPr>
            <a:spLocks noGrp="1"/>
          </p:cNvSpPr>
          <p:nvPr>
            <p:ph idx="1"/>
          </p:nvPr>
        </p:nvSpPr>
        <p:spPr>
          <a:xfrm>
            <a:off x="457200" y="1600201"/>
            <a:ext cx="8229600" cy="642456"/>
          </a:xfrm>
        </p:spPr>
        <p:txBody>
          <a:bodyPr>
            <a:normAutofit fontScale="85000" lnSpcReduction="10000"/>
          </a:bodyPr>
          <a:lstStyle/>
          <a:p>
            <a:r>
              <a:rPr lang="en-US" dirty="0" smtClean="0"/>
              <a:t>A Pseudo Random Permutation of the IP </a:t>
            </a:r>
            <a:r>
              <a:rPr lang="en-US" dirty="0"/>
              <a:t>A</a:t>
            </a:r>
            <a:r>
              <a:rPr lang="en-US" dirty="0" smtClean="0"/>
              <a:t>ddress Space</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42</a:t>
            </a:fld>
            <a:endParaRPr lang="en-US"/>
          </a:p>
        </p:txBody>
      </p:sp>
      <p:sp>
        <p:nvSpPr>
          <p:cNvPr id="5" name="Rectangle 4"/>
          <p:cNvSpPr/>
          <p:nvPr/>
        </p:nvSpPr>
        <p:spPr>
          <a:xfrm>
            <a:off x="1148488" y="2580405"/>
            <a:ext cx="1378188" cy="35801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1459250" y="2765071"/>
            <a:ext cx="301660" cy="369332"/>
          </a:xfrm>
          <a:prstGeom prst="rect">
            <a:avLst/>
          </a:prstGeom>
          <a:noFill/>
        </p:spPr>
        <p:txBody>
          <a:bodyPr wrap="none" rtlCol="0">
            <a:spAutoFit/>
          </a:bodyPr>
          <a:lstStyle/>
          <a:p>
            <a:r>
              <a:rPr lang="en-US" dirty="0" smtClean="0"/>
              <a:t>0</a:t>
            </a:r>
            <a:endParaRPr lang="en-US" dirty="0"/>
          </a:p>
        </p:txBody>
      </p:sp>
      <p:sp>
        <p:nvSpPr>
          <p:cNvPr id="8" name="TextBox 7"/>
          <p:cNvSpPr txBox="1"/>
          <p:nvPr/>
        </p:nvSpPr>
        <p:spPr>
          <a:xfrm>
            <a:off x="1423117" y="5655522"/>
            <a:ext cx="890463" cy="369332"/>
          </a:xfrm>
          <a:prstGeom prst="rect">
            <a:avLst/>
          </a:prstGeom>
          <a:noFill/>
        </p:spPr>
        <p:txBody>
          <a:bodyPr wrap="none" rtlCol="0">
            <a:spAutoFit/>
          </a:bodyPr>
          <a:lstStyle/>
          <a:p>
            <a:r>
              <a:rPr lang="en-US" dirty="0" smtClean="0"/>
              <a:t>2^32 -1</a:t>
            </a:r>
            <a:endParaRPr lang="en-US" dirty="0"/>
          </a:p>
        </p:txBody>
      </p:sp>
      <p:sp>
        <p:nvSpPr>
          <p:cNvPr id="9" name="Rectangle 8"/>
          <p:cNvSpPr/>
          <p:nvPr/>
        </p:nvSpPr>
        <p:spPr>
          <a:xfrm>
            <a:off x="6286682" y="2580405"/>
            <a:ext cx="1378188" cy="35801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6553200" y="4588918"/>
            <a:ext cx="301660" cy="369332"/>
          </a:xfrm>
          <a:prstGeom prst="rect">
            <a:avLst/>
          </a:prstGeom>
          <a:noFill/>
        </p:spPr>
        <p:txBody>
          <a:bodyPr wrap="none" rtlCol="0">
            <a:spAutoFit/>
          </a:bodyPr>
          <a:lstStyle/>
          <a:p>
            <a:r>
              <a:rPr lang="en-US" dirty="0" smtClean="0"/>
              <a:t>0</a:t>
            </a:r>
            <a:endParaRPr lang="en-US" dirty="0"/>
          </a:p>
        </p:txBody>
      </p:sp>
      <p:sp>
        <p:nvSpPr>
          <p:cNvPr id="11" name="TextBox 10"/>
          <p:cNvSpPr txBox="1"/>
          <p:nvPr/>
        </p:nvSpPr>
        <p:spPr>
          <a:xfrm>
            <a:off x="6526176" y="3462433"/>
            <a:ext cx="890463" cy="369332"/>
          </a:xfrm>
          <a:prstGeom prst="rect">
            <a:avLst/>
          </a:prstGeom>
          <a:noFill/>
        </p:spPr>
        <p:txBody>
          <a:bodyPr wrap="none" rtlCol="0">
            <a:spAutoFit/>
          </a:bodyPr>
          <a:lstStyle/>
          <a:p>
            <a:r>
              <a:rPr lang="en-US" dirty="0" smtClean="0"/>
              <a:t>2^32 -1</a:t>
            </a:r>
            <a:endParaRPr lang="en-US" dirty="0"/>
          </a:p>
        </p:txBody>
      </p:sp>
      <p:cxnSp>
        <p:nvCxnSpPr>
          <p:cNvPr id="13" name="Straight Arrow Connector 12"/>
          <p:cNvCxnSpPr>
            <a:stCxn id="8" idx="3"/>
          </p:cNvCxnSpPr>
          <p:nvPr/>
        </p:nvCxnSpPr>
        <p:spPr>
          <a:xfrm flipV="1">
            <a:off x="2313580" y="3728753"/>
            <a:ext cx="4212596" cy="211143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a:off x="1760910" y="2958684"/>
            <a:ext cx="4765266" cy="179682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1648420" y="4228622"/>
            <a:ext cx="4877756" cy="126993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3" name="Content Placeholder 2"/>
          <p:cNvSpPr txBox="1">
            <a:spLocks/>
          </p:cNvSpPr>
          <p:nvPr/>
        </p:nvSpPr>
        <p:spPr>
          <a:xfrm>
            <a:off x="3474069" y="2876252"/>
            <a:ext cx="2052192" cy="642456"/>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smtClean="0"/>
              <a:t>Permutation</a:t>
            </a:r>
            <a:endParaRPr lang="en-US" dirty="0"/>
          </a:p>
        </p:txBody>
      </p:sp>
    </p:spTree>
    <p:extLst>
      <p:ext uri="{BB962C8B-B14F-4D97-AF65-F5344CB8AC3E}">
        <p14:creationId xmlns:p14="http://schemas.microsoft.com/office/powerpoint/2010/main" val="4069893272"/>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Permutation Scanning</a:t>
            </a:r>
            <a:endParaRPr lang="en-US" dirty="0"/>
          </a:p>
        </p:txBody>
      </p:sp>
      <p:sp>
        <p:nvSpPr>
          <p:cNvPr id="3" name="Content Placeholder 2"/>
          <p:cNvSpPr>
            <a:spLocks noGrp="1"/>
          </p:cNvSpPr>
          <p:nvPr>
            <p:ph idx="1"/>
          </p:nvPr>
        </p:nvSpPr>
        <p:spPr>
          <a:xfrm>
            <a:off x="457200" y="1600201"/>
            <a:ext cx="8229600" cy="642456"/>
          </a:xfrm>
        </p:spPr>
        <p:txBody>
          <a:bodyPr>
            <a:normAutofit fontScale="85000" lnSpcReduction="10000"/>
          </a:bodyPr>
          <a:lstStyle/>
          <a:p>
            <a:r>
              <a:rPr lang="en-US" dirty="0" smtClean="0"/>
              <a:t>A Pseudo Random Permutation of the IP </a:t>
            </a:r>
            <a:r>
              <a:rPr lang="en-US" dirty="0"/>
              <a:t>A</a:t>
            </a:r>
            <a:r>
              <a:rPr lang="en-US" dirty="0" smtClean="0"/>
              <a:t>ddress Space</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43</a:t>
            </a:fld>
            <a:endParaRPr lang="en-US"/>
          </a:p>
        </p:txBody>
      </p:sp>
      <p:sp>
        <p:nvSpPr>
          <p:cNvPr id="9" name="Rectangle 8"/>
          <p:cNvSpPr/>
          <p:nvPr/>
        </p:nvSpPr>
        <p:spPr>
          <a:xfrm>
            <a:off x="3692441" y="2242657"/>
            <a:ext cx="901509" cy="384940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Content Placeholder 2"/>
          <p:cNvSpPr txBox="1">
            <a:spLocks/>
          </p:cNvSpPr>
          <p:nvPr/>
        </p:nvSpPr>
        <p:spPr>
          <a:xfrm>
            <a:off x="2582413" y="6092060"/>
            <a:ext cx="4024890" cy="642456"/>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smtClean="0"/>
              <a:t>IP address space after permutation, common for all worms</a:t>
            </a:r>
            <a:endParaRPr lang="en-US" dirty="0"/>
          </a:p>
        </p:txBody>
      </p:sp>
      <p:grpSp>
        <p:nvGrpSpPr>
          <p:cNvPr id="58" name="Group 57"/>
          <p:cNvGrpSpPr/>
          <p:nvPr/>
        </p:nvGrpSpPr>
        <p:grpSpPr>
          <a:xfrm>
            <a:off x="679783" y="3938249"/>
            <a:ext cx="1529011" cy="864790"/>
            <a:chOff x="679783" y="3938249"/>
            <a:chExt cx="1529011" cy="864790"/>
          </a:xfrm>
        </p:grpSpPr>
        <p:sp>
          <p:nvSpPr>
            <p:cNvPr id="18" name="Explosion 2 17"/>
            <p:cNvSpPr/>
            <p:nvPr/>
          </p:nvSpPr>
          <p:spPr>
            <a:xfrm>
              <a:off x="913157" y="3938249"/>
              <a:ext cx="531132" cy="445539"/>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600" dirty="0"/>
            </a:p>
          </p:txBody>
        </p:sp>
        <p:sp>
          <p:nvSpPr>
            <p:cNvPr id="46" name="Content Placeholder 2"/>
            <p:cNvSpPr txBox="1">
              <a:spLocks/>
            </p:cNvSpPr>
            <p:nvPr/>
          </p:nvSpPr>
          <p:spPr>
            <a:xfrm>
              <a:off x="679783" y="4447595"/>
              <a:ext cx="1529011" cy="355444"/>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smtClean="0"/>
                <a:t>Worm 1</a:t>
              </a:r>
              <a:endParaRPr lang="en-US" dirty="0"/>
            </a:p>
          </p:txBody>
        </p:sp>
      </p:grpSp>
      <p:grpSp>
        <p:nvGrpSpPr>
          <p:cNvPr id="59" name="Group 58"/>
          <p:cNvGrpSpPr/>
          <p:nvPr/>
        </p:nvGrpSpPr>
        <p:grpSpPr>
          <a:xfrm>
            <a:off x="6871886" y="2924175"/>
            <a:ext cx="1529011" cy="787471"/>
            <a:chOff x="6871886" y="2924175"/>
            <a:chExt cx="1529011" cy="787471"/>
          </a:xfrm>
        </p:grpSpPr>
        <p:sp>
          <p:nvSpPr>
            <p:cNvPr id="45" name="Explosion 2 44"/>
            <p:cNvSpPr/>
            <p:nvPr/>
          </p:nvSpPr>
          <p:spPr>
            <a:xfrm>
              <a:off x="7051212" y="3266107"/>
              <a:ext cx="531132" cy="445539"/>
            </a:xfrm>
            <a:prstGeom prst="irregularSeal2">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sz="1600" dirty="0"/>
            </a:p>
          </p:txBody>
        </p:sp>
        <p:sp>
          <p:nvSpPr>
            <p:cNvPr id="47" name="Content Placeholder 2"/>
            <p:cNvSpPr txBox="1">
              <a:spLocks/>
            </p:cNvSpPr>
            <p:nvPr/>
          </p:nvSpPr>
          <p:spPr>
            <a:xfrm>
              <a:off x="6871886" y="2924175"/>
              <a:ext cx="1529011" cy="355444"/>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dirty="0" smtClean="0"/>
                <a:t>Worm 2</a:t>
              </a:r>
              <a:endParaRPr lang="en-US" dirty="0"/>
            </a:p>
          </p:txBody>
        </p:sp>
      </p:grpSp>
    </p:spTree>
    <p:extLst>
      <p:ext uri="{BB962C8B-B14F-4D97-AF65-F5344CB8AC3E}">
        <p14:creationId xmlns:p14="http://schemas.microsoft.com/office/powerpoint/2010/main" val="30699556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Warhol Worm</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Warhol = hit-list + Permutation</a:t>
            </a:r>
          </a:p>
          <a:p>
            <a:endParaRPr lang="en-US" dirty="0"/>
          </a:p>
          <a:p>
            <a:r>
              <a:rPr lang="en-US" dirty="0" smtClean="0"/>
              <a:t>User simulation to demonstrate its effectiveness</a:t>
            </a:r>
          </a:p>
          <a:p>
            <a:pPr lvl="1"/>
            <a:r>
              <a:rPr lang="en-US" dirty="0" smtClean="0"/>
              <a:t>Assumptions: complete connectivity within 2^32 IP address space</a:t>
            </a:r>
          </a:p>
          <a:p>
            <a:pPr lvl="1"/>
            <a:r>
              <a:rPr lang="en-US" dirty="0" smtClean="0"/>
              <a:t>Parameters</a:t>
            </a:r>
          </a:p>
          <a:p>
            <a:pPr lvl="2"/>
            <a:r>
              <a:rPr lang="en-US" dirty="0" smtClean="0"/>
              <a:t>The number of vulnerable machines</a:t>
            </a:r>
          </a:p>
          <a:p>
            <a:pPr lvl="2"/>
            <a:r>
              <a:rPr lang="en-US" dirty="0" smtClean="0"/>
              <a:t>Scan per second</a:t>
            </a:r>
          </a:p>
          <a:p>
            <a:pPr lvl="2"/>
            <a:r>
              <a:rPr lang="en-US" dirty="0" smtClean="0"/>
              <a:t>The time to infect a machine</a:t>
            </a:r>
          </a:p>
          <a:p>
            <a:pPr lvl="2"/>
            <a:r>
              <a:rPr lang="en-US" dirty="0" smtClean="0"/>
              <a:t>Number infected during the hit-list phase</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44</a:t>
            </a:fld>
            <a:endParaRPr lang="en-US"/>
          </a:p>
        </p:txBody>
      </p:sp>
    </p:spTree>
    <p:extLst>
      <p:ext uri="{BB962C8B-B14F-4D97-AF65-F5344CB8AC3E}">
        <p14:creationId xmlns:p14="http://schemas.microsoft.com/office/powerpoint/2010/main" val="37907992"/>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warhol1web.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2902" y="2048978"/>
            <a:ext cx="5569434" cy="4410477"/>
          </a:xfrm>
          <a:prstGeom prst="rect">
            <a:avLst/>
          </a:prstGeom>
        </p:spPr>
      </p:pic>
      <p:sp>
        <p:nvSpPr>
          <p:cNvPr id="2" name="Title 1"/>
          <p:cNvSpPr>
            <a:spLocks noGrp="1"/>
          </p:cNvSpPr>
          <p:nvPr>
            <p:ph type="title"/>
          </p:nvPr>
        </p:nvSpPr>
        <p:spPr/>
        <p:txBody>
          <a:bodyPr/>
          <a:lstStyle/>
          <a:p>
            <a:r>
              <a:rPr lang="en-US" dirty="0" smtClean="0"/>
              <a:t>Warhol Worm</a:t>
            </a:r>
            <a:endParaRPr lang="en-US" dirty="0"/>
          </a:p>
        </p:txBody>
      </p:sp>
      <p:sp>
        <p:nvSpPr>
          <p:cNvPr id="3" name="Content Placeholder 2"/>
          <p:cNvSpPr>
            <a:spLocks noGrp="1"/>
          </p:cNvSpPr>
          <p:nvPr>
            <p:ph idx="1"/>
          </p:nvPr>
        </p:nvSpPr>
        <p:spPr/>
        <p:txBody>
          <a:bodyPr>
            <a:normAutofit/>
          </a:bodyPr>
          <a:lstStyle/>
          <a:p>
            <a:r>
              <a:rPr lang="en-US" dirty="0" smtClean="0"/>
              <a:t>Simulation Results</a:t>
            </a:r>
          </a:p>
        </p:txBody>
      </p:sp>
      <p:sp>
        <p:nvSpPr>
          <p:cNvPr id="4" name="Slide Number Placeholder 3"/>
          <p:cNvSpPr>
            <a:spLocks noGrp="1"/>
          </p:cNvSpPr>
          <p:nvPr>
            <p:ph type="sldNum" sz="quarter" idx="12"/>
          </p:nvPr>
        </p:nvSpPr>
        <p:spPr/>
        <p:txBody>
          <a:bodyPr/>
          <a:lstStyle/>
          <a:p>
            <a:fld id="{47E8BE15-7F0B-0840-A9A0-04D3C81E96AD}" type="slidenum">
              <a:rPr lang="en-US" smtClean="0"/>
              <a:t>45</a:t>
            </a:fld>
            <a:endParaRPr lang="en-US"/>
          </a:p>
        </p:txBody>
      </p:sp>
    </p:spTree>
    <p:extLst>
      <p:ext uri="{BB962C8B-B14F-4D97-AF65-F5344CB8AC3E}">
        <p14:creationId xmlns:p14="http://schemas.microsoft.com/office/powerpoint/2010/main" val="552150456"/>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Topological Scanning</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Leverage information contained on the victim machine in order to select new targets</a:t>
            </a:r>
          </a:p>
          <a:p>
            <a:endParaRPr lang="en-US" dirty="0" smtClean="0"/>
          </a:p>
          <a:p>
            <a:r>
              <a:rPr lang="en-US" dirty="0" smtClean="0"/>
              <a:t>Very effective when the vulnerable targets exhibit a very sparse address space (compared to the whole address space)</a:t>
            </a:r>
          </a:p>
          <a:p>
            <a:pPr lvl="1"/>
            <a:r>
              <a:rPr lang="en-US" dirty="0" smtClean="0"/>
              <a:t>Email worm</a:t>
            </a:r>
          </a:p>
          <a:p>
            <a:pPr lvl="1"/>
            <a:r>
              <a:rPr lang="en-US" dirty="0" smtClean="0"/>
              <a:t>Perhaps IPv6? (You can investigate it!)</a:t>
            </a:r>
          </a:p>
          <a:p>
            <a:endParaRPr lang="en-US" dirty="0"/>
          </a:p>
          <a:p>
            <a:r>
              <a:rPr lang="en-US" dirty="0" smtClean="0"/>
              <a:t>Examples:</a:t>
            </a:r>
          </a:p>
          <a:p>
            <a:pPr lvl="1"/>
            <a:r>
              <a:rPr lang="en-US" dirty="0" err="1" smtClean="0"/>
              <a:t>Nimda</a:t>
            </a:r>
            <a:endParaRPr lang="en-US" dirty="0" smtClean="0"/>
          </a:p>
          <a:p>
            <a:pPr lvl="1"/>
            <a:r>
              <a:rPr lang="en-US" dirty="0" smtClean="0"/>
              <a:t>A worm attacking flaws of P2P applications</a:t>
            </a:r>
          </a:p>
          <a:p>
            <a:pPr lvl="1"/>
            <a:r>
              <a:rPr lang="en-US" dirty="0" smtClean="0"/>
              <a:t>Use web URLs visited by the compromised machine </a:t>
            </a:r>
          </a:p>
        </p:txBody>
      </p:sp>
      <p:sp>
        <p:nvSpPr>
          <p:cNvPr id="4" name="Slide Number Placeholder 3"/>
          <p:cNvSpPr>
            <a:spLocks noGrp="1"/>
          </p:cNvSpPr>
          <p:nvPr>
            <p:ph type="sldNum" sz="quarter" idx="12"/>
          </p:nvPr>
        </p:nvSpPr>
        <p:spPr/>
        <p:txBody>
          <a:bodyPr/>
          <a:lstStyle/>
          <a:p>
            <a:fld id="{47E8BE15-7F0B-0840-A9A0-04D3C81E96AD}" type="slidenum">
              <a:rPr lang="en-US" smtClean="0"/>
              <a:t>46</a:t>
            </a:fld>
            <a:endParaRPr lang="en-US"/>
          </a:p>
        </p:txBody>
      </p:sp>
    </p:spTree>
    <p:extLst>
      <p:ext uri="{BB962C8B-B14F-4D97-AF65-F5344CB8AC3E}">
        <p14:creationId xmlns:p14="http://schemas.microsoft.com/office/powerpoint/2010/main" val="2286182047"/>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Flash Worm</a:t>
            </a:r>
            <a:endParaRPr lang="en-US" dirty="0"/>
          </a:p>
        </p:txBody>
      </p:sp>
      <p:sp>
        <p:nvSpPr>
          <p:cNvPr id="3" name="Content Placeholder 2"/>
          <p:cNvSpPr>
            <a:spLocks noGrp="1"/>
          </p:cNvSpPr>
          <p:nvPr>
            <p:ph idx="1"/>
          </p:nvPr>
        </p:nvSpPr>
        <p:spPr/>
        <p:txBody>
          <a:bodyPr>
            <a:normAutofit fontScale="92500"/>
          </a:bodyPr>
          <a:lstStyle/>
          <a:p>
            <a:r>
              <a:rPr lang="en-US" dirty="0" smtClean="0"/>
              <a:t>Extend the hit-list worm</a:t>
            </a:r>
          </a:p>
          <a:p>
            <a:pPr lvl="1"/>
            <a:r>
              <a:rPr lang="en-US" dirty="0" smtClean="0"/>
              <a:t>The hit-list contains a list of all or most Internet connected addresses with the relevant service(s) open</a:t>
            </a:r>
          </a:p>
          <a:p>
            <a:pPr lvl="1"/>
            <a:r>
              <a:rPr lang="en-US" dirty="0" smtClean="0"/>
              <a:t>Capable of infecting the Internet in tens of seconds</a:t>
            </a:r>
          </a:p>
          <a:p>
            <a:r>
              <a:rPr lang="en-US" dirty="0" smtClean="0"/>
              <a:t>Two challenges</a:t>
            </a:r>
          </a:p>
          <a:p>
            <a:pPr lvl="1"/>
            <a:r>
              <a:rPr lang="en-US" dirty="0" smtClean="0"/>
              <a:t>A large hit-list (12.6 million web servers =&gt; 48 MB hit-list)</a:t>
            </a:r>
          </a:p>
          <a:p>
            <a:pPr lvl="1"/>
            <a:r>
              <a:rPr lang="en-US" dirty="0" smtClean="0"/>
              <a:t>High-bandwidth link for attackers to identify all hosts providing the service(s)</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47</a:t>
            </a:fld>
            <a:endParaRPr lang="en-US"/>
          </a:p>
        </p:txBody>
      </p:sp>
    </p:spTree>
    <p:extLst>
      <p:ext uri="{BB962C8B-B14F-4D97-AF65-F5344CB8AC3E}">
        <p14:creationId xmlns:p14="http://schemas.microsoft.com/office/powerpoint/2010/main" val="1579854607"/>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Detection</a:t>
            </a:r>
            <a:endParaRPr lang="en-US" dirty="0"/>
          </a:p>
        </p:txBody>
      </p:sp>
      <p:sp>
        <p:nvSpPr>
          <p:cNvPr id="3" name="Content Placeholder 2"/>
          <p:cNvSpPr>
            <a:spLocks noGrp="1"/>
          </p:cNvSpPr>
          <p:nvPr>
            <p:ph idx="1"/>
          </p:nvPr>
        </p:nvSpPr>
        <p:spPr/>
        <p:txBody>
          <a:bodyPr>
            <a:normAutofit fontScale="92500" lnSpcReduction="10000"/>
          </a:bodyPr>
          <a:lstStyle/>
          <a:p>
            <a:pPr>
              <a:lnSpc>
                <a:spcPct val="90000"/>
              </a:lnSpc>
            </a:pPr>
            <a:r>
              <a:rPr lang="en-US" sz="2800" dirty="0">
                <a:latin typeface="Arial" charset="0"/>
              </a:rPr>
              <a:t>Detect via </a:t>
            </a:r>
            <a:r>
              <a:rPr lang="en-US" sz="2800" dirty="0" smtClean="0">
                <a:latin typeface="Arial" charset="0"/>
              </a:rPr>
              <a:t>honeypots </a:t>
            </a:r>
          </a:p>
          <a:p>
            <a:pPr lvl="1">
              <a:lnSpc>
                <a:spcPct val="90000"/>
              </a:lnSpc>
            </a:pPr>
            <a:r>
              <a:rPr lang="en-US" sz="2400" dirty="0">
                <a:latin typeface="Arial" charset="0"/>
              </a:rPr>
              <a:t>Any outbound connection from </a:t>
            </a:r>
            <a:r>
              <a:rPr lang="en-US" sz="2400" dirty="0" err="1">
                <a:latin typeface="Arial" charset="0"/>
              </a:rPr>
              <a:t>honeyfarm</a:t>
            </a:r>
            <a:r>
              <a:rPr lang="en-US" sz="2400" dirty="0">
                <a:latin typeface="Arial" charset="0"/>
              </a:rPr>
              <a:t> = worm.</a:t>
            </a:r>
          </a:p>
          <a:p>
            <a:pPr lvl="1">
              <a:lnSpc>
                <a:spcPct val="90000"/>
              </a:lnSpc>
            </a:pPr>
            <a:r>
              <a:rPr lang="en-US" sz="2400" dirty="0" smtClean="0">
                <a:latin typeface="Arial" charset="0"/>
              </a:rPr>
              <a:t>Extract</a:t>
            </a:r>
            <a:r>
              <a:rPr lang="en-US" sz="2400" i="1" dirty="0" smtClean="0">
                <a:latin typeface="Arial" charset="0"/>
              </a:rPr>
              <a:t> signature</a:t>
            </a:r>
            <a:r>
              <a:rPr lang="en-US" sz="2400" dirty="0" smtClean="0">
                <a:latin typeface="Arial" charset="0"/>
              </a:rPr>
              <a:t> </a:t>
            </a:r>
            <a:r>
              <a:rPr lang="en-US" sz="2400" dirty="0">
                <a:latin typeface="Arial" charset="0"/>
              </a:rPr>
              <a:t>from inbound/outbound traffic</a:t>
            </a:r>
            <a:r>
              <a:rPr lang="en-US" sz="2400" dirty="0" smtClean="0">
                <a:latin typeface="Arial" charset="0"/>
              </a:rPr>
              <a:t>.</a:t>
            </a:r>
          </a:p>
          <a:p>
            <a:pPr lvl="1">
              <a:lnSpc>
                <a:spcPct val="90000"/>
              </a:lnSpc>
            </a:pPr>
            <a:endParaRPr lang="en-US" sz="2400" dirty="0" smtClean="0">
              <a:latin typeface="Arial" charset="0"/>
            </a:endParaRPr>
          </a:p>
          <a:p>
            <a:pPr lvl="1">
              <a:lnSpc>
                <a:spcPct val="90000"/>
              </a:lnSpc>
            </a:pPr>
            <a:endParaRPr lang="en-US" sz="2400" dirty="0">
              <a:latin typeface="Arial" charset="0"/>
            </a:endParaRPr>
          </a:p>
          <a:p>
            <a:pPr>
              <a:lnSpc>
                <a:spcPct val="90000"/>
              </a:lnSpc>
            </a:pPr>
            <a:r>
              <a:rPr lang="en-US" sz="2800" dirty="0" smtClean="0">
                <a:latin typeface="Arial" charset="0"/>
              </a:rPr>
              <a:t>Detect via failed connections</a:t>
            </a:r>
            <a:endParaRPr lang="en-US" sz="2800" dirty="0">
              <a:latin typeface="Arial" charset="0"/>
            </a:endParaRPr>
          </a:p>
          <a:p>
            <a:pPr lvl="1">
              <a:lnSpc>
                <a:spcPct val="90000"/>
              </a:lnSpc>
            </a:pPr>
            <a:r>
              <a:rPr lang="en-US" sz="2400" dirty="0" smtClean="0">
                <a:latin typeface="Arial" charset="0"/>
              </a:rPr>
              <a:t>network </a:t>
            </a:r>
            <a:r>
              <a:rPr lang="en-US" sz="2400" dirty="0">
                <a:latin typeface="Arial" charset="0"/>
              </a:rPr>
              <a:t>elements that </a:t>
            </a:r>
            <a:r>
              <a:rPr lang="en-US" sz="2400" dirty="0" smtClean="0">
                <a:latin typeface="Arial" charset="0"/>
              </a:rPr>
              <a:t>identify the hosts </a:t>
            </a:r>
            <a:r>
              <a:rPr lang="en-US" sz="2400" dirty="0">
                <a:latin typeface="Arial" charset="0"/>
              </a:rPr>
              <a:t>that make failed connection attempts to too many other hosts</a:t>
            </a:r>
            <a:r>
              <a:rPr lang="en-US" sz="2400" dirty="0" smtClean="0">
                <a:latin typeface="Arial" charset="0"/>
              </a:rPr>
              <a:t>.</a:t>
            </a:r>
          </a:p>
          <a:p>
            <a:pPr lvl="1">
              <a:lnSpc>
                <a:spcPct val="90000"/>
              </a:lnSpc>
            </a:pPr>
            <a:endParaRPr lang="en-US" sz="2400" dirty="0">
              <a:latin typeface="Arial" charset="0"/>
            </a:endParaRPr>
          </a:p>
          <a:p>
            <a:pPr>
              <a:lnSpc>
                <a:spcPct val="90000"/>
              </a:lnSpc>
            </a:pPr>
            <a:r>
              <a:rPr lang="en-US" sz="2800" dirty="0">
                <a:latin typeface="Arial" charset="0"/>
              </a:rPr>
              <a:t>Detect via exploit content</a:t>
            </a:r>
          </a:p>
          <a:p>
            <a:pPr lvl="1">
              <a:lnSpc>
                <a:spcPct val="90000"/>
              </a:lnSpc>
            </a:pPr>
            <a:r>
              <a:rPr lang="en-US" sz="2400" dirty="0">
                <a:latin typeface="Arial" charset="0"/>
              </a:rPr>
              <a:t>BOF</a:t>
            </a:r>
          </a:p>
          <a:p>
            <a:pPr lvl="1">
              <a:lnSpc>
                <a:spcPct val="90000"/>
              </a:lnSpc>
            </a:pPr>
            <a:r>
              <a:rPr lang="en-US" sz="2400" dirty="0">
                <a:latin typeface="Arial" charset="0"/>
              </a:rPr>
              <a:t>Spam</a:t>
            </a:r>
          </a:p>
          <a:p>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48</a:t>
            </a:fld>
            <a:endParaRPr lang="en-US"/>
          </a:p>
        </p:txBody>
      </p:sp>
    </p:spTree>
    <p:extLst>
      <p:ext uri="{BB962C8B-B14F-4D97-AF65-F5344CB8AC3E}">
        <p14:creationId xmlns:p14="http://schemas.microsoft.com/office/powerpoint/2010/main" val="3868405297"/>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Worm =&gt; Bot</a:t>
            </a:r>
            <a:endParaRPr lang="en-US" dirty="0"/>
          </a:p>
        </p:txBody>
      </p:sp>
      <p:sp>
        <p:nvSpPr>
          <p:cNvPr id="5" name="Text Placeholder 4"/>
          <p:cNvSpPr>
            <a:spLocks noGrp="1"/>
          </p:cNvSpPr>
          <p:nvPr>
            <p:ph type="body" idx="1"/>
          </p:nvPr>
        </p:nvSpPr>
        <p:spPr>
          <a:xfrm>
            <a:off x="1921870" y="2541945"/>
            <a:ext cx="1099516" cy="639762"/>
          </a:xfrm>
        </p:spPr>
        <p:txBody>
          <a:bodyPr/>
          <a:lstStyle/>
          <a:p>
            <a:r>
              <a:rPr lang="en-US" dirty="0" smtClean="0"/>
              <a:t>Worm</a:t>
            </a:r>
            <a:endParaRPr lang="en-US" dirty="0"/>
          </a:p>
        </p:txBody>
      </p:sp>
      <p:sp>
        <p:nvSpPr>
          <p:cNvPr id="7" name="Text Placeholder 6"/>
          <p:cNvSpPr>
            <a:spLocks noGrp="1"/>
          </p:cNvSpPr>
          <p:nvPr>
            <p:ph type="body" sz="quarter" idx="3"/>
          </p:nvPr>
        </p:nvSpPr>
        <p:spPr>
          <a:xfrm>
            <a:off x="6091109" y="2174875"/>
            <a:ext cx="1144866" cy="639762"/>
          </a:xfrm>
        </p:spPr>
        <p:txBody>
          <a:bodyPr/>
          <a:lstStyle/>
          <a:p>
            <a:r>
              <a:rPr lang="en-US" dirty="0" smtClean="0"/>
              <a:t>Bot</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49</a:t>
            </a:fld>
            <a:endParaRPr lang="en-US"/>
          </a:p>
        </p:txBody>
      </p:sp>
      <p:sp>
        <p:nvSpPr>
          <p:cNvPr id="11" name="Rectangle 10"/>
          <p:cNvSpPr/>
          <p:nvPr/>
        </p:nvSpPr>
        <p:spPr>
          <a:xfrm>
            <a:off x="1498553" y="3985527"/>
            <a:ext cx="2014428" cy="546183"/>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Propagation</a:t>
            </a:r>
            <a:endParaRPr lang="en-US" dirty="0"/>
          </a:p>
        </p:txBody>
      </p:sp>
      <p:sp>
        <p:nvSpPr>
          <p:cNvPr id="14" name="Rectangle 13"/>
          <p:cNvSpPr/>
          <p:nvPr/>
        </p:nvSpPr>
        <p:spPr>
          <a:xfrm>
            <a:off x="1498553" y="3425689"/>
            <a:ext cx="2014428" cy="54618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Attacks</a:t>
            </a:r>
            <a:endParaRPr lang="en-US" dirty="0"/>
          </a:p>
        </p:txBody>
      </p:sp>
      <p:sp>
        <p:nvSpPr>
          <p:cNvPr id="16" name="Rectangle 15"/>
          <p:cNvSpPr/>
          <p:nvPr/>
        </p:nvSpPr>
        <p:spPr>
          <a:xfrm>
            <a:off x="5662100" y="4258219"/>
            <a:ext cx="2014428" cy="546183"/>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Propagation</a:t>
            </a:r>
            <a:endParaRPr lang="en-US" dirty="0"/>
          </a:p>
        </p:txBody>
      </p:sp>
      <p:sp>
        <p:nvSpPr>
          <p:cNvPr id="17" name="Rectangle 16"/>
          <p:cNvSpPr/>
          <p:nvPr/>
        </p:nvSpPr>
        <p:spPr>
          <a:xfrm>
            <a:off x="5662100" y="3698381"/>
            <a:ext cx="2014428" cy="54618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Attacks</a:t>
            </a:r>
            <a:endParaRPr lang="en-US" dirty="0"/>
          </a:p>
        </p:txBody>
      </p:sp>
      <p:sp>
        <p:nvSpPr>
          <p:cNvPr id="18" name="Rectangle 17"/>
          <p:cNvSpPr/>
          <p:nvPr/>
        </p:nvSpPr>
        <p:spPr>
          <a:xfrm>
            <a:off x="5662100" y="3140742"/>
            <a:ext cx="2014428" cy="546183"/>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Communication</a:t>
            </a:r>
            <a:endParaRPr lang="en-US" dirty="0"/>
          </a:p>
        </p:txBody>
      </p:sp>
    </p:spTree>
    <p:extLst>
      <p:ext uri="{BB962C8B-B14F-4D97-AF65-F5344CB8AC3E}">
        <p14:creationId xmlns:p14="http://schemas.microsoft.com/office/powerpoint/2010/main" val="1458889980"/>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Worm =&gt; Bot</a:t>
            </a:r>
            <a:endParaRPr lang="en-US" dirty="0"/>
          </a:p>
        </p:txBody>
      </p:sp>
      <p:sp>
        <p:nvSpPr>
          <p:cNvPr id="5" name="Text Placeholder 4"/>
          <p:cNvSpPr>
            <a:spLocks noGrp="1"/>
          </p:cNvSpPr>
          <p:nvPr>
            <p:ph type="body" idx="1"/>
          </p:nvPr>
        </p:nvSpPr>
        <p:spPr>
          <a:xfrm>
            <a:off x="1853593" y="4792759"/>
            <a:ext cx="1099516" cy="639762"/>
          </a:xfrm>
        </p:spPr>
        <p:txBody>
          <a:bodyPr/>
          <a:lstStyle/>
          <a:p>
            <a:r>
              <a:rPr lang="en-US" dirty="0" smtClean="0"/>
              <a:t>Worm</a:t>
            </a:r>
            <a:endParaRPr lang="en-US" dirty="0"/>
          </a:p>
        </p:txBody>
      </p:sp>
      <p:sp>
        <p:nvSpPr>
          <p:cNvPr id="7" name="Text Placeholder 6"/>
          <p:cNvSpPr>
            <a:spLocks noGrp="1"/>
          </p:cNvSpPr>
          <p:nvPr>
            <p:ph type="body" sz="quarter" idx="3"/>
          </p:nvPr>
        </p:nvSpPr>
        <p:spPr>
          <a:xfrm>
            <a:off x="6014726" y="5003400"/>
            <a:ext cx="1144866" cy="639762"/>
          </a:xfrm>
        </p:spPr>
        <p:txBody>
          <a:bodyPr/>
          <a:lstStyle/>
          <a:p>
            <a:r>
              <a:rPr lang="en-US" dirty="0" smtClean="0"/>
              <a:t>Bot</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50</a:t>
            </a:fld>
            <a:endParaRPr lang="en-US"/>
          </a:p>
        </p:txBody>
      </p:sp>
      <p:grpSp>
        <p:nvGrpSpPr>
          <p:cNvPr id="6" name="Group 5"/>
          <p:cNvGrpSpPr/>
          <p:nvPr/>
        </p:nvGrpSpPr>
        <p:grpSpPr>
          <a:xfrm>
            <a:off x="1430276" y="3568724"/>
            <a:ext cx="2014428" cy="1106021"/>
            <a:chOff x="1498553" y="4531718"/>
            <a:chExt cx="2014428" cy="1106021"/>
          </a:xfrm>
        </p:grpSpPr>
        <p:sp>
          <p:nvSpPr>
            <p:cNvPr id="11" name="Rectangle 10"/>
            <p:cNvSpPr/>
            <p:nvPr/>
          </p:nvSpPr>
          <p:spPr>
            <a:xfrm>
              <a:off x="1498553" y="5091556"/>
              <a:ext cx="2014428" cy="546183"/>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Propagation</a:t>
              </a:r>
              <a:endParaRPr lang="en-US" dirty="0"/>
            </a:p>
          </p:txBody>
        </p:sp>
        <p:sp>
          <p:nvSpPr>
            <p:cNvPr id="14" name="Rectangle 13"/>
            <p:cNvSpPr/>
            <p:nvPr/>
          </p:nvSpPr>
          <p:spPr>
            <a:xfrm>
              <a:off x="1498553" y="4531718"/>
              <a:ext cx="2014428" cy="54618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Attacks</a:t>
              </a:r>
              <a:endParaRPr lang="en-US" dirty="0"/>
            </a:p>
          </p:txBody>
        </p:sp>
      </p:grpSp>
      <p:grpSp>
        <p:nvGrpSpPr>
          <p:cNvPr id="3" name="Group 2"/>
          <p:cNvGrpSpPr/>
          <p:nvPr/>
        </p:nvGrpSpPr>
        <p:grpSpPr>
          <a:xfrm>
            <a:off x="5279535" y="3568724"/>
            <a:ext cx="2014428" cy="1663660"/>
            <a:chOff x="5238795" y="3946370"/>
            <a:chExt cx="2014428" cy="1663660"/>
          </a:xfrm>
        </p:grpSpPr>
        <p:sp>
          <p:nvSpPr>
            <p:cNvPr id="16" name="Rectangle 15"/>
            <p:cNvSpPr/>
            <p:nvPr/>
          </p:nvSpPr>
          <p:spPr>
            <a:xfrm>
              <a:off x="5238795" y="5063847"/>
              <a:ext cx="2014428" cy="546183"/>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smtClean="0"/>
                <a:t>Propagation</a:t>
              </a:r>
              <a:endParaRPr lang="en-US" dirty="0"/>
            </a:p>
          </p:txBody>
        </p:sp>
        <p:sp>
          <p:nvSpPr>
            <p:cNvPr id="17" name="Rectangle 16"/>
            <p:cNvSpPr/>
            <p:nvPr/>
          </p:nvSpPr>
          <p:spPr>
            <a:xfrm>
              <a:off x="5238795" y="4504009"/>
              <a:ext cx="2014428" cy="546183"/>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Attacks</a:t>
              </a:r>
              <a:endParaRPr lang="en-US" dirty="0"/>
            </a:p>
          </p:txBody>
        </p:sp>
        <p:sp>
          <p:nvSpPr>
            <p:cNvPr id="18" name="Rectangle 17"/>
            <p:cNvSpPr/>
            <p:nvPr/>
          </p:nvSpPr>
          <p:spPr>
            <a:xfrm>
              <a:off x="5238795" y="3946370"/>
              <a:ext cx="2014428" cy="546183"/>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Communication</a:t>
              </a:r>
              <a:endParaRPr lang="en-US" dirty="0"/>
            </a:p>
          </p:txBody>
        </p:sp>
      </p:grpSp>
      <p:sp>
        <p:nvSpPr>
          <p:cNvPr id="8" name="Oval 7"/>
          <p:cNvSpPr/>
          <p:nvPr/>
        </p:nvSpPr>
        <p:spPr>
          <a:xfrm>
            <a:off x="6035387" y="2198384"/>
            <a:ext cx="477939" cy="49156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10" name="Straight Arrow Connector 9"/>
          <p:cNvCxnSpPr>
            <a:stCxn id="8" idx="4"/>
            <a:endCxn id="18" idx="0"/>
          </p:cNvCxnSpPr>
          <p:nvPr/>
        </p:nvCxnSpPr>
        <p:spPr>
          <a:xfrm>
            <a:off x="6274357" y="2689948"/>
            <a:ext cx="12392" cy="878776"/>
          </a:xfrm>
          <a:prstGeom prst="straightConnector1">
            <a:avLst/>
          </a:prstGeom>
          <a:ln>
            <a:headEnd type="arrow"/>
            <a:tailEnd type="arrow"/>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69058" y="2102800"/>
            <a:ext cx="1556699" cy="646331"/>
          </a:xfrm>
          <a:prstGeom prst="rect">
            <a:avLst/>
          </a:prstGeom>
          <a:noFill/>
        </p:spPr>
        <p:txBody>
          <a:bodyPr wrap="none" rtlCol="0">
            <a:spAutoFit/>
          </a:bodyPr>
          <a:lstStyle/>
          <a:p>
            <a:r>
              <a:rPr lang="en-US" dirty="0" smtClean="0"/>
              <a:t>Command and </a:t>
            </a:r>
          </a:p>
          <a:p>
            <a:r>
              <a:rPr lang="en-US" dirty="0" smtClean="0"/>
              <a:t>control server</a:t>
            </a:r>
            <a:endParaRPr lang="en-US" dirty="0"/>
          </a:p>
        </p:txBody>
      </p:sp>
      <p:pic>
        <p:nvPicPr>
          <p:cNvPr id="20" name="Picture 19" descr="ap2010cartoon_devil.gif"/>
          <p:cNvPicPr>
            <a:picLocks noChangeAspect="1"/>
          </p:cNvPicPr>
          <p:nvPr/>
        </p:nvPicPr>
        <p:blipFill>
          <a:blip r:embed="rId3">
            <a:extLst>
              <a:ext uri="{BEBA8EAE-BF5A-486C-A8C5-ECC9F3942E4B}">
                <a14:imgProps xmlns:a14="http://schemas.microsoft.com/office/drawing/2010/main">
                  <a14:imgLayer r:embed="rId4">
                    <a14:imgEffect>
                      <a14:backgroundRemoval t="1770" b="96018" l="4000" r="100000"/>
                    </a14:imgEffect>
                  </a14:imgLayer>
                </a14:imgProps>
              </a:ext>
              <a:ext uri="{28A0092B-C50C-407E-A947-70E740481C1C}">
                <a14:useLocalDpi xmlns:a14="http://schemas.microsoft.com/office/drawing/2010/main" val="0"/>
              </a:ext>
            </a:extLst>
          </a:blip>
          <a:stretch>
            <a:fillRect/>
          </a:stretch>
        </p:blipFill>
        <p:spPr>
          <a:xfrm>
            <a:off x="5300429" y="1417638"/>
            <a:ext cx="1027285" cy="928665"/>
          </a:xfrm>
          <a:prstGeom prst="rect">
            <a:avLst/>
          </a:prstGeom>
        </p:spPr>
      </p:pic>
      <p:sp>
        <p:nvSpPr>
          <p:cNvPr id="21" name="TextBox 20"/>
          <p:cNvSpPr txBox="1"/>
          <p:nvPr/>
        </p:nvSpPr>
        <p:spPr>
          <a:xfrm>
            <a:off x="6111588" y="1364331"/>
            <a:ext cx="1167169" cy="369332"/>
          </a:xfrm>
          <a:prstGeom prst="rect">
            <a:avLst/>
          </a:prstGeom>
          <a:noFill/>
        </p:spPr>
        <p:txBody>
          <a:bodyPr wrap="none" rtlCol="0">
            <a:spAutoFit/>
          </a:bodyPr>
          <a:lstStyle/>
          <a:p>
            <a:r>
              <a:rPr lang="en-US" dirty="0" err="1" smtClean="0"/>
              <a:t>Botmaster</a:t>
            </a:r>
            <a:endParaRPr lang="en-US" dirty="0" smtClean="0"/>
          </a:p>
        </p:txBody>
      </p:sp>
      <p:sp>
        <p:nvSpPr>
          <p:cNvPr id="23" name="TextBox 22"/>
          <p:cNvSpPr txBox="1"/>
          <p:nvPr/>
        </p:nvSpPr>
        <p:spPr>
          <a:xfrm>
            <a:off x="4962199" y="5846348"/>
            <a:ext cx="2796409" cy="369332"/>
          </a:xfrm>
          <a:prstGeom prst="rect">
            <a:avLst/>
          </a:prstGeom>
          <a:noFill/>
        </p:spPr>
        <p:txBody>
          <a:bodyPr wrap="none" rtlCol="0">
            <a:spAutoFit/>
          </a:bodyPr>
          <a:lstStyle/>
          <a:p>
            <a:r>
              <a:rPr lang="en-US" dirty="0" smtClean="0">
                <a:solidFill>
                  <a:srgbClr val="FF0000"/>
                </a:solidFill>
              </a:rPr>
              <a:t>Controlled and Coordinated</a:t>
            </a:r>
            <a:endParaRPr lang="en-US" dirty="0">
              <a:solidFill>
                <a:srgbClr val="FF0000"/>
              </a:solidFill>
            </a:endParaRPr>
          </a:p>
        </p:txBody>
      </p:sp>
      <p:sp>
        <p:nvSpPr>
          <p:cNvPr id="24" name="TextBox 23"/>
          <p:cNvSpPr txBox="1"/>
          <p:nvPr/>
        </p:nvSpPr>
        <p:spPr>
          <a:xfrm>
            <a:off x="1687091" y="5843416"/>
            <a:ext cx="1402948" cy="369332"/>
          </a:xfrm>
          <a:prstGeom prst="rect">
            <a:avLst/>
          </a:prstGeom>
          <a:noFill/>
        </p:spPr>
        <p:txBody>
          <a:bodyPr wrap="none" rtlCol="0">
            <a:spAutoFit/>
          </a:bodyPr>
          <a:lstStyle/>
          <a:p>
            <a:r>
              <a:rPr lang="en-US" dirty="0" smtClean="0">
                <a:solidFill>
                  <a:srgbClr val="FF0000"/>
                </a:solidFill>
              </a:rPr>
              <a:t>Autonomous</a:t>
            </a:r>
            <a:endParaRPr lang="en-US" dirty="0">
              <a:solidFill>
                <a:srgbClr val="FF0000"/>
              </a:solidFill>
            </a:endParaRPr>
          </a:p>
        </p:txBody>
      </p:sp>
      <p:sp>
        <p:nvSpPr>
          <p:cNvPr id="22" name="TextBox 21"/>
          <p:cNvSpPr txBox="1"/>
          <p:nvPr/>
        </p:nvSpPr>
        <p:spPr>
          <a:xfrm>
            <a:off x="6252599" y="2873051"/>
            <a:ext cx="1398903" cy="369332"/>
          </a:xfrm>
          <a:prstGeom prst="rect">
            <a:avLst/>
          </a:prstGeom>
          <a:noFill/>
        </p:spPr>
        <p:txBody>
          <a:bodyPr wrap="none" rtlCol="0">
            <a:spAutoFit/>
          </a:bodyPr>
          <a:lstStyle/>
          <a:p>
            <a:r>
              <a:rPr lang="en-US" b="1" dirty="0" smtClean="0">
                <a:solidFill>
                  <a:srgbClr val="0000FF"/>
                </a:solidFill>
              </a:rPr>
              <a:t>C&amp;C channel</a:t>
            </a:r>
            <a:endParaRPr lang="en-US" b="1" dirty="0">
              <a:solidFill>
                <a:srgbClr val="0000FF"/>
              </a:solidFill>
            </a:endParaRPr>
          </a:p>
        </p:txBody>
      </p:sp>
    </p:spTree>
    <p:extLst>
      <p:ext uri="{BB962C8B-B14F-4D97-AF65-F5344CB8AC3E}">
        <p14:creationId xmlns:p14="http://schemas.microsoft.com/office/powerpoint/2010/main" val="2576319602"/>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Worm =&gt; Bot</a:t>
            </a:r>
            <a:endParaRPr lang="en-US" dirty="0"/>
          </a:p>
        </p:txBody>
      </p:sp>
      <p:sp>
        <p:nvSpPr>
          <p:cNvPr id="3" name="Text Placeholder 2"/>
          <p:cNvSpPr>
            <a:spLocks noGrp="1"/>
          </p:cNvSpPr>
          <p:nvPr>
            <p:ph type="body" idx="1"/>
          </p:nvPr>
        </p:nvSpPr>
        <p:spPr>
          <a:xfrm>
            <a:off x="457200" y="1097757"/>
            <a:ext cx="4040188" cy="639762"/>
          </a:xfrm>
        </p:spPr>
        <p:txBody>
          <a:bodyPr>
            <a:normAutofit/>
          </a:bodyPr>
          <a:lstStyle/>
          <a:p>
            <a:r>
              <a:rPr lang="en-US" sz="3200" dirty="0" smtClean="0"/>
              <a:t>worm</a:t>
            </a:r>
            <a:endParaRPr lang="en-US" sz="3200" dirty="0"/>
          </a:p>
        </p:txBody>
      </p:sp>
      <p:sp>
        <p:nvSpPr>
          <p:cNvPr id="4" name="Content Placeholder 3"/>
          <p:cNvSpPr>
            <a:spLocks noGrp="1"/>
          </p:cNvSpPr>
          <p:nvPr>
            <p:ph sz="half" idx="2"/>
          </p:nvPr>
        </p:nvSpPr>
        <p:spPr>
          <a:xfrm>
            <a:off x="457200" y="1737915"/>
            <a:ext cx="3434590" cy="4618434"/>
          </a:xfrm>
        </p:spPr>
        <p:style>
          <a:lnRef idx="2">
            <a:schemeClr val="accent1"/>
          </a:lnRef>
          <a:fillRef idx="1">
            <a:schemeClr val="lt1"/>
          </a:fillRef>
          <a:effectRef idx="0">
            <a:schemeClr val="accent1"/>
          </a:effectRef>
          <a:fontRef idx="minor">
            <a:schemeClr val="dk1"/>
          </a:fontRef>
        </p:style>
        <p:txBody>
          <a:bodyPr anchor="ctr">
            <a:normAutofit/>
          </a:bodyPr>
          <a:lstStyle/>
          <a:p>
            <a:pPr marL="0" indent="0">
              <a:buNone/>
            </a:pPr>
            <a:r>
              <a:rPr lang="en-US" sz="1800" dirty="0">
                <a:latin typeface="Times"/>
                <a:cs typeface="Times"/>
              </a:rPr>
              <a:t>m</a:t>
            </a:r>
            <a:r>
              <a:rPr lang="en-US" sz="1800" dirty="0" smtClean="0">
                <a:latin typeface="Times"/>
                <a:cs typeface="Times"/>
              </a:rPr>
              <a:t>ain(){</a:t>
            </a:r>
          </a:p>
          <a:p>
            <a:pPr marL="0" indent="0">
              <a:buNone/>
            </a:pPr>
            <a:r>
              <a:rPr lang="en-US" sz="1800" dirty="0">
                <a:latin typeface="Times"/>
                <a:cs typeface="Times"/>
              </a:rPr>
              <a:t>	</a:t>
            </a:r>
            <a:r>
              <a:rPr lang="en-US" sz="1800" dirty="0" err="1" smtClean="0">
                <a:latin typeface="Times"/>
                <a:cs typeface="Times"/>
              </a:rPr>
              <a:t>foreach</a:t>
            </a:r>
            <a:r>
              <a:rPr lang="en-US" sz="1800" dirty="0" smtClean="0">
                <a:latin typeface="Times"/>
                <a:cs typeface="Times"/>
              </a:rPr>
              <a:t>(h in </a:t>
            </a:r>
            <a:r>
              <a:rPr lang="en-US" sz="1800" dirty="0" err="1" smtClean="0">
                <a:latin typeface="Times"/>
                <a:cs typeface="Times"/>
              </a:rPr>
              <a:t>ScanList</a:t>
            </a:r>
            <a:r>
              <a:rPr lang="en-US" sz="1800" dirty="0" smtClean="0">
                <a:latin typeface="Times"/>
                <a:cs typeface="Times"/>
              </a:rPr>
              <a:t>){</a:t>
            </a:r>
          </a:p>
          <a:p>
            <a:pPr marL="0" indent="0">
              <a:buNone/>
            </a:pPr>
            <a:r>
              <a:rPr lang="en-US" sz="1800" dirty="0">
                <a:latin typeface="Times"/>
                <a:cs typeface="Times"/>
              </a:rPr>
              <a:t>	</a:t>
            </a:r>
            <a:r>
              <a:rPr lang="en-US" sz="1800" dirty="0" smtClean="0">
                <a:latin typeface="Times"/>
                <a:cs typeface="Times"/>
              </a:rPr>
              <a:t>	infect(h);</a:t>
            </a:r>
          </a:p>
          <a:p>
            <a:pPr marL="0" indent="0">
              <a:buNone/>
            </a:pPr>
            <a:r>
              <a:rPr lang="en-US" sz="1800" dirty="0" smtClean="0">
                <a:latin typeface="Times"/>
                <a:cs typeface="Times"/>
              </a:rPr>
              <a:t>	}</a:t>
            </a:r>
          </a:p>
          <a:p>
            <a:pPr marL="0" indent="0">
              <a:buNone/>
            </a:pPr>
            <a:r>
              <a:rPr lang="en-US" sz="1800" dirty="0">
                <a:latin typeface="Times"/>
                <a:cs typeface="Times"/>
              </a:rPr>
              <a:t>}</a:t>
            </a:r>
          </a:p>
        </p:txBody>
      </p:sp>
      <p:sp>
        <p:nvSpPr>
          <p:cNvPr id="5" name="Text Placeholder 4"/>
          <p:cNvSpPr>
            <a:spLocks noGrp="1"/>
          </p:cNvSpPr>
          <p:nvPr>
            <p:ph type="body" sz="quarter" idx="3"/>
          </p:nvPr>
        </p:nvSpPr>
        <p:spPr>
          <a:xfrm>
            <a:off x="4645025" y="1081643"/>
            <a:ext cx="4041775" cy="639762"/>
          </a:xfrm>
        </p:spPr>
        <p:txBody>
          <a:bodyPr>
            <a:normAutofit/>
          </a:bodyPr>
          <a:lstStyle/>
          <a:p>
            <a:r>
              <a:rPr lang="en-US" sz="3200" dirty="0" smtClean="0"/>
              <a:t>bot</a:t>
            </a:r>
            <a:endParaRPr lang="en-US" sz="3200" dirty="0"/>
          </a:p>
        </p:txBody>
      </p:sp>
      <p:sp>
        <p:nvSpPr>
          <p:cNvPr id="6" name="Content Placeholder 5"/>
          <p:cNvSpPr>
            <a:spLocks noGrp="1"/>
          </p:cNvSpPr>
          <p:nvPr>
            <p:ph sz="quarter" idx="4"/>
          </p:nvPr>
        </p:nvSpPr>
        <p:spPr>
          <a:xfrm>
            <a:off x="4672111" y="1721405"/>
            <a:ext cx="4014689" cy="4618435"/>
          </a:xfrm>
        </p:spPr>
        <p:style>
          <a:lnRef idx="2">
            <a:schemeClr val="accent1"/>
          </a:lnRef>
          <a:fillRef idx="1">
            <a:schemeClr val="lt1"/>
          </a:fillRef>
          <a:effectRef idx="0">
            <a:schemeClr val="accent1"/>
          </a:effectRef>
          <a:fontRef idx="minor">
            <a:schemeClr val="dk1"/>
          </a:fontRef>
        </p:style>
        <p:txBody>
          <a:bodyPr anchor="ctr">
            <a:normAutofit fontScale="85000" lnSpcReduction="20000"/>
          </a:bodyPr>
          <a:lstStyle/>
          <a:p>
            <a:pPr marL="0" indent="0">
              <a:buNone/>
            </a:pPr>
            <a:r>
              <a:rPr lang="en-US" sz="1800" dirty="0">
                <a:latin typeface="Times"/>
                <a:cs typeface="Times"/>
              </a:rPr>
              <a:t>main(</a:t>
            </a:r>
            <a:r>
              <a:rPr lang="en-US" sz="1800" dirty="0" smtClean="0">
                <a:latin typeface="Times"/>
                <a:cs typeface="Times"/>
              </a:rPr>
              <a:t>){</a:t>
            </a:r>
          </a:p>
          <a:p>
            <a:pPr marL="0" indent="0">
              <a:buNone/>
            </a:pPr>
            <a:r>
              <a:rPr lang="en-US" sz="1800" dirty="0" smtClean="0">
                <a:latin typeface="Times"/>
                <a:cs typeface="Times"/>
              </a:rPr>
              <a:t>	</a:t>
            </a:r>
            <a:r>
              <a:rPr lang="en-US" sz="1800" b="1" dirty="0" err="1" smtClean="0">
                <a:solidFill>
                  <a:srgbClr val="3366FF"/>
                </a:solidFill>
                <a:latin typeface="Times"/>
                <a:cs typeface="Times"/>
              </a:rPr>
              <a:t>cnc</a:t>
            </a:r>
            <a:r>
              <a:rPr lang="en-US" sz="1800" b="1" dirty="0" smtClean="0">
                <a:solidFill>
                  <a:srgbClr val="3366FF"/>
                </a:solidFill>
                <a:latin typeface="Times"/>
                <a:cs typeface="Times"/>
              </a:rPr>
              <a:t> = connect(C&amp;C server);</a:t>
            </a:r>
          </a:p>
          <a:p>
            <a:pPr marL="0" indent="0">
              <a:buNone/>
            </a:pPr>
            <a:r>
              <a:rPr lang="en-US" sz="1800" dirty="0">
                <a:latin typeface="Times"/>
                <a:cs typeface="Times"/>
              </a:rPr>
              <a:t> </a:t>
            </a:r>
            <a:r>
              <a:rPr lang="en-US" sz="1800" dirty="0" smtClean="0">
                <a:latin typeface="Times"/>
                <a:cs typeface="Times"/>
              </a:rPr>
              <a:t>      	while(every 5 minutes){</a:t>
            </a:r>
            <a:r>
              <a:rPr lang="en-US" sz="1800" dirty="0">
                <a:latin typeface="Times"/>
                <a:cs typeface="Times"/>
              </a:rPr>
              <a:t>	</a:t>
            </a:r>
            <a:endParaRPr lang="en-US" sz="1800" dirty="0" smtClean="0">
              <a:latin typeface="Times"/>
              <a:cs typeface="Times"/>
            </a:endParaRPr>
          </a:p>
          <a:p>
            <a:pPr marL="0" indent="0">
              <a:buNone/>
            </a:pPr>
            <a:r>
              <a:rPr lang="en-US" sz="1800" dirty="0" smtClean="0">
                <a:latin typeface="Times"/>
                <a:cs typeface="Times"/>
              </a:rPr>
              <a:t>		</a:t>
            </a:r>
            <a:r>
              <a:rPr lang="en-US" sz="1800" dirty="0" err="1" smtClean="0">
                <a:latin typeface="Times"/>
                <a:cs typeface="Times"/>
              </a:rPr>
              <a:t>msg</a:t>
            </a:r>
            <a:r>
              <a:rPr lang="en-US" sz="1800" dirty="0" smtClean="0">
                <a:latin typeface="Times"/>
                <a:cs typeface="Times"/>
              </a:rPr>
              <a:t> = </a:t>
            </a:r>
            <a:r>
              <a:rPr lang="en-US" sz="1800" dirty="0" err="1" smtClean="0">
                <a:latin typeface="Times"/>
                <a:cs typeface="Times"/>
              </a:rPr>
              <a:t>cnc.read</a:t>
            </a:r>
            <a:r>
              <a:rPr lang="en-US" sz="1800" dirty="0" smtClean="0">
                <a:latin typeface="Times"/>
                <a:cs typeface="Times"/>
              </a:rPr>
              <a:t>(); </a:t>
            </a:r>
          </a:p>
          <a:p>
            <a:pPr marL="0" indent="0">
              <a:buNone/>
            </a:pPr>
            <a:r>
              <a:rPr lang="en-US" sz="1800" dirty="0" smtClean="0">
                <a:latin typeface="Times"/>
                <a:cs typeface="Times"/>
              </a:rPr>
              <a:t>		</a:t>
            </a:r>
            <a:r>
              <a:rPr lang="en-US" sz="1800" dirty="0" err="1" smtClean="0">
                <a:latin typeface="Times"/>
                <a:cs typeface="Times"/>
              </a:rPr>
              <a:t>cmd</a:t>
            </a:r>
            <a:r>
              <a:rPr lang="en-US" sz="1800" dirty="0" smtClean="0">
                <a:latin typeface="Times"/>
                <a:cs typeface="Times"/>
              </a:rPr>
              <a:t> = </a:t>
            </a:r>
            <a:r>
              <a:rPr lang="en-US" sz="1800" dirty="0" err="1" smtClean="0">
                <a:latin typeface="Times"/>
                <a:cs typeface="Times"/>
              </a:rPr>
              <a:t>msg.cmd</a:t>
            </a:r>
            <a:r>
              <a:rPr lang="en-US" sz="1800" dirty="0" smtClean="0">
                <a:latin typeface="Times"/>
                <a:cs typeface="Times"/>
              </a:rPr>
              <a:t>;</a:t>
            </a:r>
          </a:p>
          <a:p>
            <a:pPr marL="0" indent="0">
              <a:buNone/>
            </a:pPr>
            <a:r>
              <a:rPr lang="en-US" sz="1800" dirty="0">
                <a:latin typeface="Times"/>
                <a:cs typeface="Times"/>
              </a:rPr>
              <a:t>	</a:t>
            </a:r>
            <a:r>
              <a:rPr lang="en-US" sz="1800" dirty="0" smtClean="0">
                <a:latin typeface="Times"/>
                <a:cs typeface="Times"/>
              </a:rPr>
              <a:t>	par = </a:t>
            </a:r>
            <a:r>
              <a:rPr lang="en-US" sz="1800" dirty="0" err="1" smtClean="0">
                <a:latin typeface="Times"/>
                <a:cs typeface="Times"/>
              </a:rPr>
              <a:t>msg.parameter</a:t>
            </a:r>
            <a:r>
              <a:rPr lang="en-US" sz="1800" dirty="0" smtClean="0">
                <a:latin typeface="Times"/>
                <a:cs typeface="Times"/>
              </a:rPr>
              <a:t>; </a:t>
            </a:r>
          </a:p>
          <a:p>
            <a:pPr marL="0" indent="0">
              <a:buNone/>
            </a:pPr>
            <a:endParaRPr lang="en-US" sz="1800" dirty="0" smtClean="0">
              <a:latin typeface="Times"/>
              <a:cs typeface="Times"/>
            </a:endParaRPr>
          </a:p>
          <a:p>
            <a:pPr marL="0" indent="0">
              <a:buNone/>
            </a:pPr>
            <a:r>
              <a:rPr lang="en-US" sz="1800" dirty="0">
                <a:latin typeface="Times"/>
                <a:cs typeface="Times"/>
              </a:rPr>
              <a:t>	</a:t>
            </a:r>
            <a:r>
              <a:rPr lang="en-US" sz="1800" dirty="0" smtClean="0">
                <a:latin typeface="Times"/>
                <a:cs typeface="Times"/>
              </a:rPr>
              <a:t>	if(</a:t>
            </a:r>
            <a:r>
              <a:rPr lang="en-US" sz="1800" dirty="0" err="1" smtClean="0">
                <a:latin typeface="Times"/>
                <a:cs typeface="Times"/>
              </a:rPr>
              <a:t>cmd.equal</a:t>
            </a:r>
            <a:r>
              <a:rPr lang="en-US" sz="1800" dirty="0" smtClean="0">
                <a:latin typeface="Times"/>
                <a:cs typeface="Times"/>
              </a:rPr>
              <a:t>(“scan”)){</a:t>
            </a:r>
          </a:p>
          <a:p>
            <a:pPr marL="0" indent="0">
              <a:buNone/>
            </a:pPr>
            <a:r>
              <a:rPr lang="en-US" sz="1800" dirty="0">
                <a:latin typeface="Times"/>
                <a:cs typeface="Times"/>
              </a:rPr>
              <a:t>	</a:t>
            </a:r>
            <a:r>
              <a:rPr lang="en-US" sz="1800" dirty="0" smtClean="0">
                <a:latin typeface="Times"/>
                <a:cs typeface="Times"/>
              </a:rPr>
              <a:t>		</a:t>
            </a:r>
            <a:r>
              <a:rPr lang="en-US" sz="1800" dirty="0" err="1" smtClean="0">
                <a:latin typeface="Times"/>
                <a:cs typeface="Times"/>
              </a:rPr>
              <a:t>scanlist</a:t>
            </a:r>
            <a:r>
              <a:rPr lang="en-US" sz="1800" dirty="0" smtClean="0">
                <a:latin typeface="Times"/>
                <a:cs typeface="Times"/>
              </a:rPr>
              <a:t> = par;</a:t>
            </a:r>
          </a:p>
          <a:p>
            <a:pPr marL="0" indent="0">
              <a:buNone/>
            </a:pPr>
            <a:r>
              <a:rPr lang="en-US" sz="1800" dirty="0">
                <a:latin typeface="Times"/>
                <a:cs typeface="Times"/>
              </a:rPr>
              <a:t>	</a:t>
            </a:r>
            <a:r>
              <a:rPr lang="en-US" sz="1800" dirty="0" smtClean="0">
                <a:latin typeface="Times"/>
                <a:cs typeface="Times"/>
              </a:rPr>
              <a:t>		</a:t>
            </a:r>
            <a:r>
              <a:rPr lang="en-US" sz="1800" dirty="0" err="1" smtClean="0">
                <a:latin typeface="Times"/>
                <a:cs typeface="Times"/>
              </a:rPr>
              <a:t>foreach</a:t>
            </a:r>
            <a:r>
              <a:rPr lang="en-US" sz="1800" dirty="0">
                <a:latin typeface="Times"/>
                <a:cs typeface="Times"/>
              </a:rPr>
              <a:t>(h in </a:t>
            </a:r>
            <a:r>
              <a:rPr lang="en-US" sz="1800" dirty="0" err="1">
                <a:latin typeface="Times"/>
                <a:cs typeface="Times"/>
              </a:rPr>
              <a:t>ScanList</a:t>
            </a:r>
            <a:r>
              <a:rPr lang="en-US" sz="1800" dirty="0">
                <a:latin typeface="Times"/>
                <a:cs typeface="Times"/>
              </a:rPr>
              <a:t>){</a:t>
            </a:r>
          </a:p>
          <a:p>
            <a:pPr marL="0" indent="0">
              <a:buNone/>
            </a:pPr>
            <a:r>
              <a:rPr lang="en-US" sz="1800" dirty="0">
                <a:latin typeface="Times"/>
                <a:cs typeface="Times"/>
              </a:rPr>
              <a:t>		</a:t>
            </a:r>
            <a:r>
              <a:rPr lang="en-US" sz="1800" dirty="0" smtClean="0">
                <a:latin typeface="Times"/>
                <a:cs typeface="Times"/>
              </a:rPr>
              <a:t>		infect</a:t>
            </a:r>
            <a:r>
              <a:rPr lang="en-US" sz="1800" dirty="0">
                <a:latin typeface="Times"/>
                <a:cs typeface="Times"/>
              </a:rPr>
              <a:t>(h);</a:t>
            </a:r>
          </a:p>
          <a:p>
            <a:pPr marL="0" indent="0">
              <a:buNone/>
            </a:pPr>
            <a:r>
              <a:rPr lang="en-US" sz="1800" dirty="0">
                <a:latin typeface="Times"/>
                <a:cs typeface="Times"/>
              </a:rPr>
              <a:t>	</a:t>
            </a:r>
            <a:r>
              <a:rPr lang="en-US" sz="1800" dirty="0" smtClean="0">
                <a:latin typeface="Times"/>
                <a:cs typeface="Times"/>
              </a:rPr>
              <a:t>		}</a:t>
            </a:r>
          </a:p>
          <a:p>
            <a:pPr marL="0" indent="0">
              <a:buNone/>
            </a:pPr>
            <a:r>
              <a:rPr lang="en-US" sz="1800" dirty="0" smtClean="0">
                <a:latin typeface="Times"/>
                <a:cs typeface="Times"/>
              </a:rPr>
              <a:t>		}</a:t>
            </a:r>
          </a:p>
          <a:p>
            <a:pPr marL="0" indent="0">
              <a:buNone/>
            </a:pPr>
            <a:r>
              <a:rPr lang="en-US" sz="1800" dirty="0" smtClean="0">
                <a:latin typeface="Times"/>
                <a:cs typeface="Times"/>
              </a:rPr>
              <a:t>		</a:t>
            </a:r>
          </a:p>
          <a:p>
            <a:pPr marL="0" indent="0">
              <a:buNone/>
            </a:pPr>
            <a:r>
              <a:rPr lang="en-US" sz="1800" dirty="0">
                <a:latin typeface="Times"/>
                <a:cs typeface="Times"/>
              </a:rPr>
              <a:t>	</a:t>
            </a:r>
            <a:r>
              <a:rPr lang="en-US" sz="1800" dirty="0" smtClean="0">
                <a:latin typeface="Times"/>
                <a:cs typeface="Times"/>
              </a:rPr>
              <a:t>	if</a:t>
            </a:r>
            <a:r>
              <a:rPr lang="en-US" sz="1800" dirty="0">
                <a:latin typeface="Times"/>
                <a:cs typeface="Times"/>
              </a:rPr>
              <a:t>(</a:t>
            </a:r>
            <a:r>
              <a:rPr lang="en-US" sz="1800" dirty="0" err="1">
                <a:latin typeface="Times"/>
                <a:cs typeface="Times"/>
              </a:rPr>
              <a:t>cmd.equal</a:t>
            </a:r>
            <a:r>
              <a:rPr lang="en-US" sz="1800" dirty="0">
                <a:latin typeface="Times"/>
                <a:cs typeface="Times"/>
              </a:rPr>
              <a:t>(</a:t>
            </a:r>
            <a:r>
              <a:rPr lang="en-US" sz="1800" dirty="0" smtClean="0">
                <a:latin typeface="Times"/>
                <a:cs typeface="Times"/>
              </a:rPr>
              <a:t>“spam”</a:t>
            </a:r>
            <a:r>
              <a:rPr lang="en-US" sz="1800" dirty="0">
                <a:latin typeface="Times"/>
                <a:cs typeface="Times"/>
              </a:rPr>
              <a:t>))</a:t>
            </a:r>
            <a:r>
              <a:rPr lang="en-US" sz="1800" dirty="0" smtClean="0">
                <a:latin typeface="Times"/>
                <a:cs typeface="Times"/>
              </a:rPr>
              <a:t>{</a:t>
            </a:r>
          </a:p>
          <a:p>
            <a:pPr marL="0" indent="0">
              <a:buNone/>
            </a:pPr>
            <a:r>
              <a:rPr lang="en-US" sz="1800" dirty="0">
                <a:latin typeface="Times"/>
                <a:cs typeface="Times"/>
              </a:rPr>
              <a:t>	</a:t>
            </a:r>
            <a:r>
              <a:rPr lang="en-US" sz="1800" dirty="0" smtClean="0">
                <a:latin typeface="Times"/>
                <a:cs typeface="Times"/>
              </a:rPr>
              <a:t>		//send spam…..</a:t>
            </a:r>
          </a:p>
          <a:p>
            <a:pPr marL="0" indent="0">
              <a:buNone/>
            </a:pPr>
            <a:r>
              <a:rPr lang="en-US" sz="1800" dirty="0">
                <a:latin typeface="Times"/>
                <a:cs typeface="Times"/>
              </a:rPr>
              <a:t>	</a:t>
            </a:r>
            <a:r>
              <a:rPr lang="en-US" sz="1800" dirty="0" smtClean="0">
                <a:latin typeface="Times"/>
                <a:cs typeface="Times"/>
              </a:rPr>
              <a:t>	}</a:t>
            </a:r>
          </a:p>
          <a:p>
            <a:pPr marL="0" indent="0">
              <a:buNone/>
            </a:pPr>
            <a:r>
              <a:rPr lang="en-US" sz="1800" dirty="0" smtClean="0">
                <a:latin typeface="Times"/>
                <a:cs typeface="Times"/>
              </a:rPr>
              <a:t>	}</a:t>
            </a:r>
            <a:endParaRPr lang="en-US" sz="1800" dirty="0">
              <a:latin typeface="Times"/>
              <a:cs typeface="Times"/>
            </a:endParaRPr>
          </a:p>
          <a:p>
            <a:pPr marL="0" indent="0">
              <a:buNone/>
            </a:pPr>
            <a:r>
              <a:rPr lang="en-US" sz="1800" dirty="0" smtClean="0">
                <a:latin typeface="Times"/>
                <a:cs typeface="Times"/>
              </a:rPr>
              <a:t>}</a:t>
            </a:r>
            <a:endParaRPr lang="en-US" sz="1800" dirty="0">
              <a:latin typeface="Times"/>
              <a:cs typeface="Times"/>
            </a:endParaRPr>
          </a:p>
        </p:txBody>
      </p:sp>
      <p:sp>
        <p:nvSpPr>
          <p:cNvPr id="7" name="Slide Number Placeholder 6"/>
          <p:cNvSpPr>
            <a:spLocks noGrp="1"/>
          </p:cNvSpPr>
          <p:nvPr>
            <p:ph type="sldNum" sz="quarter" idx="12"/>
          </p:nvPr>
        </p:nvSpPr>
        <p:spPr/>
        <p:txBody>
          <a:bodyPr/>
          <a:lstStyle/>
          <a:p>
            <a:fld id="{47E8BE15-7F0B-0840-A9A0-04D3C81E96AD}" type="slidenum">
              <a:rPr lang="en-US" smtClean="0"/>
              <a:t>51</a:t>
            </a:fld>
            <a:endParaRPr lang="en-US"/>
          </a:p>
        </p:txBody>
      </p:sp>
    </p:spTree>
    <p:extLst>
      <p:ext uri="{BB962C8B-B14F-4D97-AF65-F5344CB8AC3E}">
        <p14:creationId xmlns:p14="http://schemas.microsoft.com/office/powerpoint/2010/main" val="181901143"/>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Botnet</a:t>
            </a:r>
            <a:endParaRPr lang="en-US" dirty="0"/>
          </a:p>
        </p:txBody>
      </p:sp>
      <p:sp>
        <p:nvSpPr>
          <p:cNvPr id="3" name="Content Placeholder 2"/>
          <p:cNvSpPr>
            <a:spLocks noGrp="1"/>
          </p:cNvSpPr>
          <p:nvPr>
            <p:ph idx="1"/>
          </p:nvPr>
        </p:nvSpPr>
        <p:spPr>
          <a:xfrm>
            <a:off x="457200" y="1305891"/>
            <a:ext cx="8229600" cy="1590656"/>
          </a:xfrm>
        </p:spPr>
        <p:txBody>
          <a:bodyPr>
            <a:normAutofit fontScale="92500" lnSpcReduction="20000"/>
          </a:bodyPr>
          <a:lstStyle/>
          <a:p>
            <a:r>
              <a:rPr lang="en-US" dirty="0"/>
              <a:t>A botnet is a collection of </a:t>
            </a:r>
            <a:r>
              <a:rPr lang="en-US" b="1" i="1" dirty="0">
                <a:solidFill>
                  <a:srgbClr val="FF0000"/>
                </a:solidFill>
              </a:rPr>
              <a:t>bot-compromised hosts </a:t>
            </a:r>
            <a:r>
              <a:rPr lang="en-US" b="1" i="1" dirty="0" smtClean="0">
                <a:solidFill>
                  <a:srgbClr val="FF0000"/>
                </a:solidFill>
              </a:rPr>
              <a:t>(bots)</a:t>
            </a:r>
            <a:r>
              <a:rPr lang="en-US" dirty="0" smtClean="0"/>
              <a:t> that </a:t>
            </a:r>
            <a:r>
              <a:rPr lang="en-US" dirty="0"/>
              <a:t>are coordinated via </a:t>
            </a:r>
            <a:r>
              <a:rPr lang="en-US" b="1" i="1" dirty="0">
                <a:solidFill>
                  <a:srgbClr val="FF0000"/>
                </a:solidFill>
              </a:rPr>
              <a:t>a command and control (C&amp;C) channel</a:t>
            </a:r>
            <a:r>
              <a:rPr lang="en-US" b="1" dirty="0"/>
              <a:t> </a:t>
            </a:r>
            <a:r>
              <a:rPr lang="en-US" dirty="0"/>
              <a:t>by an attacker to commit a variety of </a:t>
            </a:r>
            <a:r>
              <a:rPr lang="en-US" dirty="0" smtClean="0"/>
              <a:t>attacks</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52</a:t>
            </a:fld>
            <a:endParaRPr lang="en-US"/>
          </a:p>
        </p:txBody>
      </p:sp>
      <p:grpSp>
        <p:nvGrpSpPr>
          <p:cNvPr id="5" name="Group 112"/>
          <p:cNvGrpSpPr/>
          <p:nvPr/>
        </p:nvGrpSpPr>
        <p:grpSpPr>
          <a:xfrm>
            <a:off x="2589002" y="3510662"/>
            <a:ext cx="4700996" cy="2544230"/>
            <a:chOff x="1951381" y="3327837"/>
            <a:chExt cx="4700996" cy="2544230"/>
          </a:xfrm>
        </p:grpSpPr>
        <p:pic>
          <p:nvPicPr>
            <p:cNvPr id="6" name="Picture 5"/>
            <p:cNvPicPr>
              <a:picLocks noChangeAspect="1"/>
            </p:cNvPicPr>
            <p:nvPr/>
          </p:nvPicPr>
          <p:blipFill>
            <a:blip r:embed="rId2"/>
            <a:stretch>
              <a:fillRect/>
            </a:stretch>
          </p:blipFill>
          <p:spPr>
            <a:xfrm>
              <a:off x="1951381" y="4261993"/>
              <a:ext cx="952500" cy="990600"/>
            </a:xfrm>
            <a:prstGeom prst="rect">
              <a:avLst/>
            </a:prstGeom>
          </p:spPr>
        </p:pic>
        <p:grpSp>
          <p:nvGrpSpPr>
            <p:cNvPr id="7" name="Group 45"/>
            <p:cNvGrpSpPr/>
            <p:nvPr/>
          </p:nvGrpSpPr>
          <p:grpSpPr>
            <a:xfrm>
              <a:off x="3686321" y="3351585"/>
              <a:ext cx="510016" cy="2520482"/>
              <a:chOff x="5720744" y="2904480"/>
              <a:chExt cx="510016" cy="2520482"/>
            </a:xfrm>
          </p:grpSpPr>
          <p:pic>
            <p:nvPicPr>
              <p:cNvPr id="32" name="Picture 31"/>
              <p:cNvPicPr>
                <a:picLocks noChangeAspect="1"/>
              </p:cNvPicPr>
              <p:nvPr/>
            </p:nvPicPr>
            <p:blipFill>
              <a:blip r:embed="rId3"/>
              <a:stretch>
                <a:fillRect/>
              </a:stretch>
            </p:blipFill>
            <p:spPr>
              <a:xfrm>
                <a:off x="5720744" y="2904480"/>
                <a:ext cx="510016" cy="478630"/>
              </a:xfrm>
              <a:prstGeom prst="rect">
                <a:avLst/>
              </a:prstGeom>
              <a:effectLst>
                <a:glow rad="101600">
                  <a:schemeClr val="bg1">
                    <a:alpha val="9000"/>
                  </a:schemeClr>
                </a:glow>
              </a:effectLst>
            </p:spPr>
          </p:pic>
          <p:pic>
            <p:nvPicPr>
              <p:cNvPr id="33" name="Picture 32"/>
              <p:cNvPicPr>
                <a:picLocks noChangeAspect="1"/>
              </p:cNvPicPr>
              <p:nvPr/>
            </p:nvPicPr>
            <p:blipFill>
              <a:blip r:embed="rId3"/>
              <a:stretch>
                <a:fillRect/>
              </a:stretch>
            </p:blipFill>
            <p:spPr>
              <a:xfrm>
                <a:off x="5720744" y="3523954"/>
                <a:ext cx="510016" cy="478630"/>
              </a:xfrm>
              <a:prstGeom prst="rect">
                <a:avLst/>
              </a:prstGeom>
              <a:effectLst>
                <a:glow rad="101600">
                  <a:schemeClr val="bg1">
                    <a:alpha val="9000"/>
                  </a:schemeClr>
                </a:glow>
              </a:effectLst>
            </p:spPr>
          </p:pic>
          <p:pic>
            <p:nvPicPr>
              <p:cNvPr id="34" name="Picture 33"/>
              <p:cNvPicPr>
                <a:picLocks noChangeAspect="1"/>
              </p:cNvPicPr>
              <p:nvPr/>
            </p:nvPicPr>
            <p:blipFill>
              <a:blip r:embed="rId3"/>
              <a:stretch>
                <a:fillRect/>
              </a:stretch>
            </p:blipFill>
            <p:spPr>
              <a:xfrm>
                <a:off x="5720744" y="4310188"/>
                <a:ext cx="510016" cy="478630"/>
              </a:xfrm>
              <a:prstGeom prst="rect">
                <a:avLst/>
              </a:prstGeom>
              <a:effectLst>
                <a:glow rad="101600">
                  <a:schemeClr val="bg1">
                    <a:alpha val="9000"/>
                  </a:schemeClr>
                </a:glow>
              </a:effectLst>
            </p:spPr>
          </p:pic>
          <p:pic>
            <p:nvPicPr>
              <p:cNvPr id="35" name="Picture 34"/>
              <p:cNvPicPr>
                <a:picLocks noChangeAspect="1"/>
              </p:cNvPicPr>
              <p:nvPr/>
            </p:nvPicPr>
            <p:blipFill>
              <a:blip r:embed="rId3"/>
              <a:stretch>
                <a:fillRect/>
              </a:stretch>
            </p:blipFill>
            <p:spPr>
              <a:xfrm>
                <a:off x="5720744" y="4946332"/>
                <a:ext cx="510016" cy="478630"/>
              </a:xfrm>
              <a:prstGeom prst="rect">
                <a:avLst/>
              </a:prstGeom>
              <a:effectLst>
                <a:glow rad="101600">
                  <a:schemeClr val="bg1">
                    <a:alpha val="9000"/>
                  </a:schemeClr>
                </a:glow>
              </a:effectLst>
            </p:spPr>
          </p:pic>
        </p:grpSp>
        <p:grpSp>
          <p:nvGrpSpPr>
            <p:cNvPr id="8" name="Group 51"/>
            <p:cNvGrpSpPr/>
            <p:nvPr/>
          </p:nvGrpSpPr>
          <p:grpSpPr>
            <a:xfrm>
              <a:off x="2903881" y="3656519"/>
              <a:ext cx="877427" cy="1859276"/>
              <a:chOff x="5709035" y="3318826"/>
              <a:chExt cx="877427" cy="1859276"/>
            </a:xfrm>
          </p:grpSpPr>
          <p:cxnSp>
            <p:nvCxnSpPr>
              <p:cNvPr id="28" name="Straight Arrow Connector 27"/>
              <p:cNvCxnSpPr/>
              <p:nvPr/>
            </p:nvCxnSpPr>
            <p:spPr>
              <a:xfrm flipV="1">
                <a:off x="5709035" y="3318826"/>
                <a:ext cx="782440" cy="92707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5815731" y="3840396"/>
                <a:ext cx="770731" cy="479390"/>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5709035" y="4543774"/>
                <a:ext cx="782440" cy="13181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709035" y="4543774"/>
                <a:ext cx="782440" cy="63432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9" name="Rounded Rectangle 8"/>
            <p:cNvSpPr/>
            <p:nvPr/>
          </p:nvSpPr>
          <p:spPr>
            <a:xfrm>
              <a:off x="5102165" y="5404548"/>
              <a:ext cx="1550212" cy="404327"/>
            </a:xfrm>
            <a:prstGeom prst="roundRect">
              <a:avLst/>
            </a:prstGeom>
            <a:gradFill flip="none" rotWithShape="1">
              <a:gsLst>
                <a:gs pos="0">
                  <a:srgbClr val="FF0000">
                    <a:alpha val="66000"/>
                  </a:srgbClr>
                </a:gs>
                <a:gs pos="100000">
                  <a:srgbClr val="FFFFFF"/>
                </a:gs>
              </a:gsLst>
              <a:lin ang="108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Infection</a:t>
              </a:r>
              <a:endParaRPr lang="en-US" dirty="0">
                <a:solidFill>
                  <a:srgbClr val="000000"/>
                </a:solidFill>
              </a:endParaRPr>
            </a:p>
          </p:txBody>
        </p:sp>
        <p:sp>
          <p:nvSpPr>
            <p:cNvPr id="10" name="Rounded Rectangle 9"/>
            <p:cNvSpPr/>
            <p:nvPr/>
          </p:nvSpPr>
          <p:spPr>
            <a:xfrm>
              <a:off x="5102165" y="4966877"/>
              <a:ext cx="1550212" cy="404327"/>
            </a:xfrm>
            <a:prstGeom prst="roundRect">
              <a:avLst/>
            </a:prstGeom>
            <a:gradFill flip="none" rotWithShape="1">
              <a:gsLst>
                <a:gs pos="0">
                  <a:srgbClr val="FF0000">
                    <a:alpha val="66000"/>
                  </a:srgbClr>
                </a:gs>
                <a:gs pos="100000">
                  <a:srgbClr val="FFFFFF"/>
                </a:gs>
              </a:gsLst>
              <a:lin ang="108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Spam</a:t>
              </a:r>
              <a:endParaRPr lang="en-US" dirty="0">
                <a:solidFill>
                  <a:srgbClr val="000000"/>
                </a:solidFill>
              </a:endParaRPr>
            </a:p>
          </p:txBody>
        </p:sp>
        <p:sp>
          <p:nvSpPr>
            <p:cNvPr id="11" name="Rounded Rectangle 10"/>
            <p:cNvSpPr/>
            <p:nvPr/>
          </p:nvSpPr>
          <p:spPr>
            <a:xfrm>
              <a:off x="5102165" y="4516061"/>
              <a:ext cx="1550212" cy="404327"/>
            </a:xfrm>
            <a:prstGeom prst="roundRect">
              <a:avLst/>
            </a:prstGeom>
            <a:gradFill flip="none" rotWithShape="1">
              <a:gsLst>
                <a:gs pos="0">
                  <a:srgbClr val="FF0000">
                    <a:alpha val="66000"/>
                  </a:srgbClr>
                </a:gs>
                <a:gs pos="100000">
                  <a:srgbClr val="FFFFFF"/>
                </a:gs>
              </a:gsLst>
              <a:lin ang="108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solidFill>
                    <a:srgbClr val="000000"/>
                  </a:solidFill>
                </a:rPr>
                <a:t>DDoS</a:t>
              </a:r>
              <a:endParaRPr lang="en-US" dirty="0">
                <a:solidFill>
                  <a:srgbClr val="000000"/>
                </a:solidFill>
              </a:endParaRPr>
            </a:p>
          </p:txBody>
        </p:sp>
        <p:sp>
          <p:nvSpPr>
            <p:cNvPr id="12" name="Rounded Rectangle 11"/>
            <p:cNvSpPr/>
            <p:nvPr/>
          </p:nvSpPr>
          <p:spPr>
            <a:xfrm>
              <a:off x="5102165" y="4053045"/>
              <a:ext cx="1550212" cy="404327"/>
            </a:xfrm>
            <a:prstGeom prst="roundRect">
              <a:avLst/>
            </a:prstGeom>
            <a:gradFill flip="none" rotWithShape="1">
              <a:gsLst>
                <a:gs pos="0">
                  <a:srgbClr val="FF0000">
                    <a:alpha val="66000"/>
                  </a:srgbClr>
                </a:gs>
                <a:gs pos="100000">
                  <a:srgbClr val="FFFFFF"/>
                </a:gs>
              </a:gsLst>
              <a:lin ang="108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Theft</a:t>
              </a:r>
              <a:endParaRPr lang="en-US" dirty="0">
                <a:solidFill>
                  <a:schemeClr val="tx1"/>
                </a:solidFill>
              </a:endParaRPr>
            </a:p>
          </p:txBody>
        </p:sp>
        <p:grpSp>
          <p:nvGrpSpPr>
            <p:cNvPr id="13" name="Group 67"/>
            <p:cNvGrpSpPr/>
            <p:nvPr/>
          </p:nvGrpSpPr>
          <p:grpSpPr>
            <a:xfrm>
              <a:off x="5102165" y="3349632"/>
              <a:ext cx="1550212" cy="648070"/>
              <a:chOff x="7136588" y="2902527"/>
              <a:chExt cx="1550212" cy="648070"/>
            </a:xfrm>
          </p:grpSpPr>
          <p:sp>
            <p:nvSpPr>
              <p:cNvPr id="26" name="Rounded Rectangle 25"/>
              <p:cNvSpPr/>
              <p:nvPr/>
            </p:nvSpPr>
            <p:spPr>
              <a:xfrm>
                <a:off x="7136588" y="2902527"/>
                <a:ext cx="1550212" cy="404327"/>
              </a:xfrm>
              <a:prstGeom prst="roundRect">
                <a:avLst/>
              </a:prstGeom>
              <a:gradFill flip="none" rotWithShape="1">
                <a:gsLst>
                  <a:gs pos="0">
                    <a:srgbClr val="FF0000">
                      <a:alpha val="66000"/>
                    </a:srgbClr>
                  </a:gs>
                  <a:gs pos="100000">
                    <a:srgbClr val="FFFFFF"/>
                  </a:gs>
                </a:gsLst>
                <a:lin ang="10800000" scaled="0"/>
                <a:tileRect/>
              </a:gra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7" name="TextBox 26"/>
              <p:cNvSpPr txBox="1"/>
              <p:nvPr/>
            </p:nvSpPr>
            <p:spPr>
              <a:xfrm>
                <a:off x="7599348" y="3150487"/>
                <a:ext cx="549600" cy="400110"/>
              </a:xfrm>
              <a:prstGeom prst="rect">
                <a:avLst/>
              </a:prstGeom>
              <a:noFill/>
            </p:spPr>
            <p:txBody>
              <a:bodyPr wrap="square" rtlCol="0">
                <a:spAutoFit/>
              </a:bodyPr>
              <a:lstStyle/>
              <a:p>
                <a:r>
                  <a:rPr lang="en-US" sz="2000" b="1" dirty="0" smtClean="0">
                    <a:solidFill>
                      <a:srgbClr val="FF0000"/>
                    </a:solidFill>
                  </a:rPr>
                  <a:t>…</a:t>
                </a:r>
                <a:endParaRPr lang="en-US" sz="2000" b="1" dirty="0">
                  <a:solidFill>
                    <a:srgbClr val="FF0000"/>
                  </a:solidFill>
                </a:endParaRPr>
              </a:p>
            </p:txBody>
          </p:sp>
        </p:grpSp>
        <p:grpSp>
          <p:nvGrpSpPr>
            <p:cNvPr id="14" name="Group 75"/>
            <p:cNvGrpSpPr/>
            <p:nvPr/>
          </p:nvGrpSpPr>
          <p:grpSpPr>
            <a:xfrm>
              <a:off x="3038163" y="3327837"/>
              <a:ext cx="1621308" cy="1860918"/>
              <a:chOff x="5072586" y="2880732"/>
              <a:chExt cx="1621308" cy="1860918"/>
            </a:xfrm>
          </p:grpSpPr>
          <p:grpSp>
            <p:nvGrpSpPr>
              <p:cNvPr id="15" name="Group 51"/>
              <p:cNvGrpSpPr/>
              <p:nvPr/>
            </p:nvGrpSpPr>
            <p:grpSpPr>
              <a:xfrm>
                <a:off x="6230760" y="2912459"/>
                <a:ext cx="463134" cy="1829191"/>
                <a:chOff x="7077476" y="2806335"/>
                <a:chExt cx="463134" cy="1829191"/>
              </a:xfrm>
            </p:grpSpPr>
            <p:cxnSp>
              <p:nvCxnSpPr>
                <p:cNvPr id="17" name="Curved Connector 16"/>
                <p:cNvCxnSpPr/>
                <p:nvPr/>
              </p:nvCxnSpPr>
              <p:spPr>
                <a:xfrm>
                  <a:off x="7077476" y="2806335"/>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8" name="Curved Connector 17"/>
                <p:cNvCxnSpPr/>
                <p:nvPr/>
              </p:nvCxnSpPr>
              <p:spPr>
                <a:xfrm>
                  <a:off x="7077476" y="2955368"/>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9" name="Curved Connector 18"/>
                <p:cNvCxnSpPr/>
                <p:nvPr/>
              </p:nvCxnSpPr>
              <p:spPr>
                <a:xfrm>
                  <a:off x="7101329" y="3108624"/>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0" name="Curved Connector 19"/>
                <p:cNvCxnSpPr/>
                <p:nvPr/>
              </p:nvCxnSpPr>
              <p:spPr>
                <a:xfrm>
                  <a:off x="7090044" y="3510409"/>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1" name="Curved Connector 20"/>
                <p:cNvCxnSpPr/>
                <p:nvPr/>
              </p:nvCxnSpPr>
              <p:spPr>
                <a:xfrm>
                  <a:off x="7090474" y="3648210"/>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2" name="Curved Connector 21"/>
                <p:cNvCxnSpPr/>
                <p:nvPr/>
              </p:nvCxnSpPr>
              <p:spPr>
                <a:xfrm>
                  <a:off x="7101759" y="3793124"/>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3" name="Curved Connector 22"/>
                <p:cNvCxnSpPr/>
                <p:nvPr/>
              </p:nvCxnSpPr>
              <p:spPr>
                <a:xfrm>
                  <a:off x="7093357" y="4351410"/>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4" name="Curved Connector 23"/>
                <p:cNvCxnSpPr/>
                <p:nvPr/>
              </p:nvCxnSpPr>
              <p:spPr>
                <a:xfrm>
                  <a:off x="7108385" y="4489211"/>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25" name="Curved Connector 24"/>
                <p:cNvCxnSpPr/>
                <p:nvPr/>
              </p:nvCxnSpPr>
              <p:spPr>
                <a:xfrm>
                  <a:off x="7119670" y="4634125"/>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
            <p:nvSpPr>
              <p:cNvPr id="16" name="TextBox 15"/>
              <p:cNvSpPr txBox="1"/>
              <p:nvPr/>
            </p:nvSpPr>
            <p:spPr>
              <a:xfrm rot="18633473">
                <a:off x="4677930" y="3275388"/>
                <a:ext cx="1097089" cy="307777"/>
              </a:xfrm>
              <a:prstGeom prst="rect">
                <a:avLst/>
              </a:prstGeom>
              <a:noFill/>
            </p:spPr>
            <p:txBody>
              <a:bodyPr wrap="square" rtlCol="0">
                <a:spAutoFit/>
              </a:bodyPr>
              <a:lstStyle/>
              <a:p>
                <a:r>
                  <a:rPr lang="en-US" sz="1400" b="1" dirty="0" smtClean="0">
                    <a:solidFill>
                      <a:srgbClr val="FF0000"/>
                    </a:solidFill>
                  </a:rPr>
                  <a:t>command</a:t>
                </a:r>
                <a:endParaRPr lang="en-US" sz="1400" b="1" dirty="0">
                  <a:solidFill>
                    <a:srgbClr val="FF0000"/>
                  </a:solidFill>
                </a:endParaRPr>
              </a:p>
            </p:txBody>
          </p:sp>
        </p:grpSp>
      </p:grpSp>
      <p:sp>
        <p:nvSpPr>
          <p:cNvPr id="36" name="Rectangle 35"/>
          <p:cNvSpPr/>
          <p:nvPr/>
        </p:nvSpPr>
        <p:spPr>
          <a:xfrm>
            <a:off x="4442111" y="5966550"/>
            <a:ext cx="612054" cy="369332"/>
          </a:xfrm>
          <a:prstGeom prst="rect">
            <a:avLst/>
          </a:prstGeom>
        </p:spPr>
        <p:txBody>
          <a:bodyPr wrap="none">
            <a:spAutoFit/>
          </a:bodyPr>
          <a:lstStyle/>
          <a:p>
            <a:r>
              <a:rPr lang="en-US" b="1" i="1" dirty="0" smtClean="0"/>
              <a:t>bots</a:t>
            </a:r>
            <a:endParaRPr lang="en-US" dirty="0"/>
          </a:p>
        </p:txBody>
      </p:sp>
      <p:sp>
        <p:nvSpPr>
          <p:cNvPr id="37" name="Rectangle 36"/>
          <p:cNvSpPr/>
          <p:nvPr/>
        </p:nvSpPr>
        <p:spPr>
          <a:xfrm>
            <a:off x="2444957" y="5387255"/>
            <a:ext cx="1233005" cy="369332"/>
          </a:xfrm>
          <a:prstGeom prst="rect">
            <a:avLst/>
          </a:prstGeom>
        </p:spPr>
        <p:txBody>
          <a:bodyPr wrap="none">
            <a:spAutoFit/>
          </a:bodyPr>
          <a:lstStyle/>
          <a:p>
            <a:r>
              <a:rPr lang="en-US" b="1" i="1" dirty="0" err="1" smtClean="0"/>
              <a:t>botmaster</a:t>
            </a:r>
            <a:endParaRPr lang="en-US" b="1" i="1" dirty="0"/>
          </a:p>
        </p:txBody>
      </p:sp>
      <p:cxnSp>
        <p:nvCxnSpPr>
          <p:cNvPr id="38" name="Curved Connector 37"/>
          <p:cNvCxnSpPr/>
          <p:nvPr/>
        </p:nvCxnSpPr>
        <p:spPr>
          <a:xfrm>
            <a:off x="4914651" y="5969814"/>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39" name="Curved Connector 38"/>
          <p:cNvCxnSpPr/>
          <p:nvPr/>
        </p:nvCxnSpPr>
        <p:spPr>
          <a:xfrm>
            <a:off x="4906473" y="5830234"/>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40" name="Curved Connector 39"/>
          <p:cNvCxnSpPr/>
          <p:nvPr/>
        </p:nvCxnSpPr>
        <p:spPr>
          <a:xfrm>
            <a:off x="4898295" y="5734451"/>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1027589"/>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p:cNvSpPr/>
          <p:nvPr/>
        </p:nvSpPr>
        <p:spPr>
          <a:xfrm>
            <a:off x="150209" y="1310837"/>
            <a:ext cx="6226865" cy="541063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8" name="Title 7"/>
          <p:cNvSpPr>
            <a:spLocks noGrp="1"/>
          </p:cNvSpPr>
          <p:nvPr>
            <p:ph type="title"/>
          </p:nvPr>
        </p:nvSpPr>
        <p:spPr/>
        <p:txBody>
          <a:bodyPr/>
          <a:lstStyle/>
          <a:p>
            <a:r>
              <a:rPr lang="en-US" dirty="0" smtClean="0"/>
              <a:t>Botnet</a:t>
            </a:r>
            <a:endParaRPr lang="en-US" dirty="0"/>
          </a:p>
        </p:txBody>
      </p:sp>
      <p:sp>
        <p:nvSpPr>
          <p:cNvPr id="7" name="Slide Number Placeholder 6"/>
          <p:cNvSpPr>
            <a:spLocks noGrp="1"/>
          </p:cNvSpPr>
          <p:nvPr>
            <p:ph type="sldNum" sz="quarter" idx="12"/>
          </p:nvPr>
        </p:nvSpPr>
        <p:spPr/>
        <p:txBody>
          <a:bodyPr/>
          <a:lstStyle/>
          <a:p>
            <a:fld id="{47E8BE15-7F0B-0840-A9A0-04D3C81E96AD}" type="slidenum">
              <a:rPr lang="en-US" smtClean="0"/>
              <a:t>53</a:t>
            </a:fld>
            <a:endParaRPr lang="en-US"/>
          </a:p>
        </p:txBody>
      </p:sp>
      <p:sp>
        <p:nvSpPr>
          <p:cNvPr id="15" name="Cloud 14"/>
          <p:cNvSpPr/>
          <p:nvPr/>
        </p:nvSpPr>
        <p:spPr>
          <a:xfrm>
            <a:off x="6764131" y="866033"/>
            <a:ext cx="2220580" cy="1848800"/>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24" name="Left-Right Arrow 23"/>
          <p:cNvSpPr/>
          <p:nvPr/>
        </p:nvSpPr>
        <p:spPr>
          <a:xfrm rot="1958851">
            <a:off x="3689994" y="2585703"/>
            <a:ext cx="1943720" cy="287627"/>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p:cNvSpPr txBox="1"/>
          <p:nvPr/>
        </p:nvSpPr>
        <p:spPr>
          <a:xfrm>
            <a:off x="887613" y="6311178"/>
            <a:ext cx="4780350" cy="369332"/>
          </a:xfrm>
          <a:prstGeom prst="rect">
            <a:avLst/>
          </a:prstGeom>
          <a:noFill/>
        </p:spPr>
        <p:txBody>
          <a:bodyPr wrap="none" rtlCol="0">
            <a:spAutoFit/>
          </a:bodyPr>
          <a:lstStyle/>
          <a:p>
            <a:pPr algn="ctr"/>
            <a:r>
              <a:rPr lang="en-US" dirty="0" smtClean="0">
                <a:solidFill>
                  <a:srgbClr val="000000"/>
                </a:solidFill>
              </a:rPr>
              <a:t>A large network (e.g., ISP or a country’s network)</a:t>
            </a:r>
            <a:endParaRPr lang="en-US" dirty="0">
              <a:solidFill>
                <a:srgbClr val="000000"/>
              </a:solidFill>
            </a:endParaRPr>
          </a:p>
        </p:txBody>
      </p:sp>
      <p:grpSp>
        <p:nvGrpSpPr>
          <p:cNvPr id="36" name="Group 35"/>
          <p:cNvGrpSpPr/>
          <p:nvPr/>
        </p:nvGrpSpPr>
        <p:grpSpPr>
          <a:xfrm>
            <a:off x="610773" y="1470299"/>
            <a:ext cx="3386804" cy="1750947"/>
            <a:chOff x="413472" y="2307620"/>
            <a:chExt cx="3386804" cy="2007219"/>
          </a:xfrm>
        </p:grpSpPr>
        <p:sp>
          <p:nvSpPr>
            <p:cNvPr id="14" name="Cloud 13"/>
            <p:cNvSpPr/>
            <p:nvPr/>
          </p:nvSpPr>
          <p:spPr>
            <a:xfrm>
              <a:off x="413472" y="2307620"/>
              <a:ext cx="2986179" cy="2007219"/>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23" name="TextBox 22"/>
            <p:cNvSpPr txBox="1"/>
            <p:nvPr/>
          </p:nvSpPr>
          <p:spPr>
            <a:xfrm>
              <a:off x="2969357" y="3159813"/>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pic>
          <p:nvPicPr>
            <p:cNvPr id="31" name="Picture 30"/>
            <p:cNvPicPr>
              <a:picLocks noChangeAspect="1"/>
            </p:cNvPicPr>
            <p:nvPr/>
          </p:nvPicPr>
          <p:blipFill>
            <a:blip r:embed="rId3"/>
            <a:stretch>
              <a:fillRect/>
            </a:stretch>
          </p:blipFill>
          <p:spPr>
            <a:xfrm>
              <a:off x="769002" y="3183695"/>
              <a:ext cx="737787" cy="451844"/>
            </a:xfrm>
            <a:prstGeom prst="rect">
              <a:avLst/>
            </a:prstGeom>
          </p:spPr>
        </p:pic>
        <p:pic>
          <p:nvPicPr>
            <p:cNvPr id="13" name="Picture 12"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2787451" y="2439543"/>
              <a:ext cx="1012825" cy="1012825"/>
            </a:xfrm>
            <a:prstGeom prst="rect">
              <a:avLst/>
            </a:prstGeom>
          </p:spPr>
        </p:pic>
        <p:pic>
          <p:nvPicPr>
            <p:cNvPr id="33" name="Picture 32"/>
            <p:cNvPicPr>
              <a:picLocks noChangeAspect="1"/>
            </p:cNvPicPr>
            <p:nvPr/>
          </p:nvPicPr>
          <p:blipFill>
            <a:blip r:embed="rId3"/>
            <a:stretch>
              <a:fillRect/>
            </a:stretch>
          </p:blipFill>
          <p:spPr>
            <a:xfrm>
              <a:off x="1323099" y="3635539"/>
              <a:ext cx="690736" cy="423028"/>
            </a:xfrm>
            <a:prstGeom prst="rect">
              <a:avLst/>
            </a:prstGeom>
          </p:spPr>
        </p:pic>
      </p:grpSp>
      <p:grpSp>
        <p:nvGrpSpPr>
          <p:cNvPr id="37" name="Group 36"/>
          <p:cNvGrpSpPr/>
          <p:nvPr/>
        </p:nvGrpSpPr>
        <p:grpSpPr>
          <a:xfrm>
            <a:off x="150208" y="3449693"/>
            <a:ext cx="3203147" cy="2007219"/>
            <a:chOff x="413472" y="2307620"/>
            <a:chExt cx="3386804" cy="2007219"/>
          </a:xfrm>
        </p:grpSpPr>
        <p:sp>
          <p:nvSpPr>
            <p:cNvPr id="38" name="Cloud 37"/>
            <p:cNvSpPr/>
            <p:nvPr/>
          </p:nvSpPr>
          <p:spPr>
            <a:xfrm>
              <a:off x="413472" y="2307620"/>
              <a:ext cx="2986179" cy="2007219"/>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39" name="TextBox 38"/>
            <p:cNvSpPr txBox="1"/>
            <p:nvPr/>
          </p:nvSpPr>
          <p:spPr>
            <a:xfrm>
              <a:off x="2969357" y="3159813"/>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pic>
          <p:nvPicPr>
            <p:cNvPr id="40" name="Picture 39"/>
            <p:cNvPicPr>
              <a:picLocks noChangeAspect="1"/>
            </p:cNvPicPr>
            <p:nvPr/>
          </p:nvPicPr>
          <p:blipFill>
            <a:blip r:embed="rId3"/>
            <a:stretch>
              <a:fillRect/>
            </a:stretch>
          </p:blipFill>
          <p:spPr>
            <a:xfrm>
              <a:off x="769002" y="3183695"/>
              <a:ext cx="737787" cy="451844"/>
            </a:xfrm>
            <a:prstGeom prst="rect">
              <a:avLst/>
            </a:prstGeom>
          </p:spPr>
        </p:pic>
        <p:pic>
          <p:nvPicPr>
            <p:cNvPr id="41" name="Picture 40"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2787451" y="2439543"/>
              <a:ext cx="1012825" cy="1012825"/>
            </a:xfrm>
            <a:prstGeom prst="rect">
              <a:avLst/>
            </a:prstGeom>
          </p:spPr>
        </p:pic>
        <p:pic>
          <p:nvPicPr>
            <p:cNvPr id="42" name="Picture 41"/>
            <p:cNvPicPr>
              <a:picLocks noChangeAspect="1"/>
            </p:cNvPicPr>
            <p:nvPr/>
          </p:nvPicPr>
          <p:blipFill>
            <a:blip r:embed="rId3"/>
            <a:stretch>
              <a:fillRect/>
            </a:stretch>
          </p:blipFill>
          <p:spPr>
            <a:xfrm>
              <a:off x="1323099" y="3635539"/>
              <a:ext cx="690736" cy="423028"/>
            </a:xfrm>
            <a:prstGeom prst="rect">
              <a:avLst/>
            </a:prstGeom>
          </p:spPr>
        </p:pic>
      </p:grpSp>
      <p:grpSp>
        <p:nvGrpSpPr>
          <p:cNvPr id="45" name="Group 44"/>
          <p:cNvGrpSpPr/>
          <p:nvPr/>
        </p:nvGrpSpPr>
        <p:grpSpPr>
          <a:xfrm>
            <a:off x="2781883" y="4110185"/>
            <a:ext cx="3154792" cy="2266364"/>
            <a:chOff x="413472" y="2048475"/>
            <a:chExt cx="3154792" cy="2266364"/>
          </a:xfrm>
        </p:grpSpPr>
        <p:sp>
          <p:nvSpPr>
            <p:cNvPr id="46" name="Cloud 45"/>
            <p:cNvSpPr/>
            <p:nvPr/>
          </p:nvSpPr>
          <p:spPr>
            <a:xfrm>
              <a:off x="413472" y="2307620"/>
              <a:ext cx="2986179" cy="2007219"/>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47" name="TextBox 46"/>
            <p:cNvSpPr txBox="1"/>
            <p:nvPr/>
          </p:nvSpPr>
          <p:spPr>
            <a:xfrm>
              <a:off x="2749823" y="2370222"/>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pic>
          <p:nvPicPr>
            <p:cNvPr id="48" name="Picture 47"/>
            <p:cNvPicPr>
              <a:picLocks noChangeAspect="1"/>
            </p:cNvPicPr>
            <p:nvPr/>
          </p:nvPicPr>
          <p:blipFill>
            <a:blip r:embed="rId3"/>
            <a:stretch>
              <a:fillRect/>
            </a:stretch>
          </p:blipFill>
          <p:spPr>
            <a:xfrm>
              <a:off x="769002" y="3183695"/>
              <a:ext cx="737787" cy="451844"/>
            </a:xfrm>
            <a:prstGeom prst="rect">
              <a:avLst/>
            </a:prstGeom>
          </p:spPr>
        </p:pic>
        <p:pic>
          <p:nvPicPr>
            <p:cNvPr id="49" name="Picture 48"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774626" y="2048475"/>
              <a:ext cx="1012825" cy="1012825"/>
            </a:xfrm>
            <a:prstGeom prst="rect">
              <a:avLst/>
            </a:prstGeom>
          </p:spPr>
        </p:pic>
        <p:pic>
          <p:nvPicPr>
            <p:cNvPr id="50" name="Picture 49"/>
            <p:cNvPicPr>
              <a:picLocks noChangeAspect="1"/>
            </p:cNvPicPr>
            <p:nvPr/>
          </p:nvPicPr>
          <p:blipFill>
            <a:blip r:embed="rId3"/>
            <a:stretch>
              <a:fillRect/>
            </a:stretch>
          </p:blipFill>
          <p:spPr>
            <a:xfrm>
              <a:off x="1323099" y="3635539"/>
              <a:ext cx="690736" cy="423028"/>
            </a:xfrm>
            <a:prstGeom prst="rect">
              <a:avLst/>
            </a:prstGeom>
          </p:spPr>
        </p:pic>
      </p:grpSp>
      <p:pic>
        <p:nvPicPr>
          <p:cNvPr id="53" name="Picture 52"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5460323" y="3120350"/>
            <a:ext cx="1012825" cy="1012825"/>
          </a:xfrm>
          <a:prstGeom prst="rect">
            <a:avLst/>
          </a:prstGeom>
        </p:spPr>
      </p:pic>
      <p:sp>
        <p:nvSpPr>
          <p:cNvPr id="54" name="Left-Right Arrow 53"/>
          <p:cNvSpPr/>
          <p:nvPr/>
        </p:nvSpPr>
        <p:spPr>
          <a:xfrm rot="20888318">
            <a:off x="3317622" y="3621272"/>
            <a:ext cx="2144670" cy="203639"/>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Left-Right Arrow 54"/>
          <p:cNvSpPr/>
          <p:nvPr/>
        </p:nvSpPr>
        <p:spPr>
          <a:xfrm rot="19088843">
            <a:off x="4970269" y="4030365"/>
            <a:ext cx="799422" cy="20561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6" name="Picture 55"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6553199" y="1925622"/>
            <a:ext cx="1012825" cy="1012825"/>
          </a:xfrm>
          <a:prstGeom prst="rect">
            <a:avLst/>
          </a:prstGeom>
        </p:spPr>
      </p:pic>
      <p:sp>
        <p:nvSpPr>
          <p:cNvPr id="57" name="Left-Right Arrow 56"/>
          <p:cNvSpPr/>
          <p:nvPr/>
        </p:nvSpPr>
        <p:spPr>
          <a:xfrm rot="18977716">
            <a:off x="6153547" y="2926368"/>
            <a:ext cx="924160" cy="236872"/>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8" name="Picture 57"/>
          <p:cNvPicPr>
            <a:picLocks noChangeAspect="1"/>
          </p:cNvPicPr>
          <p:nvPr/>
        </p:nvPicPr>
        <p:blipFill>
          <a:blip r:embed="rId3"/>
          <a:stretch>
            <a:fillRect/>
          </a:stretch>
        </p:blipFill>
        <p:spPr>
          <a:xfrm>
            <a:off x="7329496" y="1470299"/>
            <a:ext cx="737787" cy="451844"/>
          </a:xfrm>
          <a:prstGeom prst="rect">
            <a:avLst/>
          </a:prstGeom>
        </p:spPr>
      </p:pic>
      <p:sp>
        <p:nvSpPr>
          <p:cNvPr id="60" name="TextBox 59"/>
          <p:cNvSpPr txBox="1"/>
          <p:nvPr/>
        </p:nvSpPr>
        <p:spPr>
          <a:xfrm>
            <a:off x="6755578" y="282018"/>
            <a:ext cx="2298338" cy="646331"/>
          </a:xfrm>
          <a:prstGeom prst="rect">
            <a:avLst/>
          </a:prstGeom>
          <a:noFill/>
        </p:spPr>
        <p:txBody>
          <a:bodyPr wrap="none" rtlCol="0">
            <a:spAutoFit/>
          </a:bodyPr>
          <a:lstStyle/>
          <a:p>
            <a:pPr algn="ctr"/>
            <a:r>
              <a:rPr lang="en-US" dirty="0" smtClean="0">
                <a:solidFill>
                  <a:srgbClr val="000000"/>
                </a:solidFill>
              </a:rPr>
              <a:t>External Network </a:t>
            </a:r>
          </a:p>
          <a:p>
            <a:pPr algn="ctr"/>
            <a:r>
              <a:rPr lang="en-US" dirty="0" smtClean="0">
                <a:solidFill>
                  <a:srgbClr val="000000"/>
                </a:solidFill>
              </a:rPr>
              <a:t>(e.g., another country)</a:t>
            </a:r>
            <a:endParaRPr lang="en-US" dirty="0">
              <a:solidFill>
                <a:srgbClr val="000000"/>
              </a:solidFill>
            </a:endParaRPr>
          </a:p>
        </p:txBody>
      </p:sp>
    </p:spTree>
    <p:extLst>
      <p:ext uri="{BB962C8B-B14F-4D97-AF65-F5344CB8AC3E}">
        <p14:creationId xmlns:p14="http://schemas.microsoft.com/office/powerpoint/2010/main" val="2529280262"/>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ounded Rectangle 58"/>
          <p:cNvSpPr/>
          <p:nvPr/>
        </p:nvSpPr>
        <p:spPr>
          <a:xfrm>
            <a:off x="150209" y="1310837"/>
            <a:ext cx="6226865" cy="541063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8" name="Title 7"/>
          <p:cNvSpPr>
            <a:spLocks noGrp="1"/>
          </p:cNvSpPr>
          <p:nvPr>
            <p:ph type="title"/>
          </p:nvPr>
        </p:nvSpPr>
        <p:spPr/>
        <p:txBody>
          <a:bodyPr/>
          <a:lstStyle/>
          <a:p>
            <a:r>
              <a:rPr lang="en-US" dirty="0" smtClean="0"/>
              <a:t>Botnet</a:t>
            </a:r>
            <a:endParaRPr lang="en-US" dirty="0"/>
          </a:p>
        </p:txBody>
      </p:sp>
      <p:sp>
        <p:nvSpPr>
          <p:cNvPr id="7" name="Slide Number Placeholder 6"/>
          <p:cNvSpPr>
            <a:spLocks noGrp="1"/>
          </p:cNvSpPr>
          <p:nvPr>
            <p:ph type="sldNum" sz="quarter" idx="12"/>
          </p:nvPr>
        </p:nvSpPr>
        <p:spPr/>
        <p:txBody>
          <a:bodyPr/>
          <a:lstStyle/>
          <a:p>
            <a:fld id="{47E8BE15-7F0B-0840-A9A0-04D3C81E96AD}" type="slidenum">
              <a:rPr lang="en-US" smtClean="0"/>
              <a:t>54</a:t>
            </a:fld>
            <a:endParaRPr lang="en-US"/>
          </a:p>
        </p:txBody>
      </p:sp>
      <p:sp>
        <p:nvSpPr>
          <p:cNvPr id="15" name="Cloud 14"/>
          <p:cNvSpPr/>
          <p:nvPr/>
        </p:nvSpPr>
        <p:spPr>
          <a:xfrm>
            <a:off x="6764131" y="866033"/>
            <a:ext cx="2220580" cy="1848800"/>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24" name="Left-Right Arrow 23"/>
          <p:cNvSpPr/>
          <p:nvPr/>
        </p:nvSpPr>
        <p:spPr>
          <a:xfrm rot="1958851">
            <a:off x="3689994" y="2585703"/>
            <a:ext cx="1943720" cy="287627"/>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p:cNvSpPr txBox="1"/>
          <p:nvPr/>
        </p:nvSpPr>
        <p:spPr>
          <a:xfrm>
            <a:off x="887613" y="6311178"/>
            <a:ext cx="4780350" cy="369332"/>
          </a:xfrm>
          <a:prstGeom prst="rect">
            <a:avLst/>
          </a:prstGeom>
          <a:noFill/>
        </p:spPr>
        <p:txBody>
          <a:bodyPr wrap="none" rtlCol="0">
            <a:spAutoFit/>
          </a:bodyPr>
          <a:lstStyle/>
          <a:p>
            <a:pPr algn="ctr"/>
            <a:r>
              <a:rPr lang="en-US" dirty="0" smtClean="0">
                <a:solidFill>
                  <a:srgbClr val="000000"/>
                </a:solidFill>
              </a:rPr>
              <a:t>A large network (e.g., ISP or a country’s network)</a:t>
            </a:r>
            <a:endParaRPr lang="en-US" dirty="0">
              <a:solidFill>
                <a:srgbClr val="000000"/>
              </a:solidFill>
            </a:endParaRPr>
          </a:p>
        </p:txBody>
      </p:sp>
      <p:grpSp>
        <p:nvGrpSpPr>
          <p:cNvPr id="36" name="Group 35"/>
          <p:cNvGrpSpPr/>
          <p:nvPr/>
        </p:nvGrpSpPr>
        <p:grpSpPr>
          <a:xfrm>
            <a:off x="610773" y="1470299"/>
            <a:ext cx="3386804" cy="1750947"/>
            <a:chOff x="413472" y="2307620"/>
            <a:chExt cx="3386804" cy="2007219"/>
          </a:xfrm>
        </p:grpSpPr>
        <p:sp>
          <p:nvSpPr>
            <p:cNvPr id="14" name="Cloud 13"/>
            <p:cNvSpPr/>
            <p:nvPr/>
          </p:nvSpPr>
          <p:spPr>
            <a:xfrm>
              <a:off x="413472" y="2307620"/>
              <a:ext cx="2986179" cy="2007219"/>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23" name="TextBox 22"/>
            <p:cNvSpPr txBox="1"/>
            <p:nvPr/>
          </p:nvSpPr>
          <p:spPr>
            <a:xfrm>
              <a:off x="2969357" y="3159813"/>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pic>
          <p:nvPicPr>
            <p:cNvPr id="31" name="Picture 30"/>
            <p:cNvPicPr>
              <a:picLocks noChangeAspect="1"/>
            </p:cNvPicPr>
            <p:nvPr/>
          </p:nvPicPr>
          <p:blipFill>
            <a:blip r:embed="rId3"/>
            <a:stretch>
              <a:fillRect/>
            </a:stretch>
          </p:blipFill>
          <p:spPr>
            <a:xfrm>
              <a:off x="769002" y="3183695"/>
              <a:ext cx="737787" cy="451844"/>
            </a:xfrm>
            <a:prstGeom prst="rect">
              <a:avLst/>
            </a:prstGeom>
          </p:spPr>
        </p:pic>
        <p:pic>
          <p:nvPicPr>
            <p:cNvPr id="13" name="Picture 12"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2787451" y="2439543"/>
              <a:ext cx="1012825" cy="1012825"/>
            </a:xfrm>
            <a:prstGeom prst="rect">
              <a:avLst/>
            </a:prstGeom>
          </p:spPr>
        </p:pic>
        <p:pic>
          <p:nvPicPr>
            <p:cNvPr id="33" name="Picture 32"/>
            <p:cNvPicPr>
              <a:picLocks noChangeAspect="1"/>
            </p:cNvPicPr>
            <p:nvPr/>
          </p:nvPicPr>
          <p:blipFill>
            <a:blip r:embed="rId3"/>
            <a:stretch>
              <a:fillRect/>
            </a:stretch>
          </p:blipFill>
          <p:spPr>
            <a:xfrm>
              <a:off x="1323099" y="3635539"/>
              <a:ext cx="690736" cy="423028"/>
            </a:xfrm>
            <a:prstGeom prst="rect">
              <a:avLst/>
            </a:prstGeom>
          </p:spPr>
        </p:pic>
      </p:grpSp>
      <p:grpSp>
        <p:nvGrpSpPr>
          <p:cNvPr id="37" name="Group 36"/>
          <p:cNvGrpSpPr/>
          <p:nvPr/>
        </p:nvGrpSpPr>
        <p:grpSpPr>
          <a:xfrm>
            <a:off x="150208" y="3449693"/>
            <a:ext cx="3203147" cy="2007219"/>
            <a:chOff x="413472" y="2307620"/>
            <a:chExt cx="3386804" cy="2007219"/>
          </a:xfrm>
        </p:grpSpPr>
        <p:sp>
          <p:nvSpPr>
            <p:cNvPr id="38" name="Cloud 37"/>
            <p:cNvSpPr/>
            <p:nvPr/>
          </p:nvSpPr>
          <p:spPr>
            <a:xfrm>
              <a:off x="413472" y="2307620"/>
              <a:ext cx="2986179" cy="2007219"/>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39" name="TextBox 38"/>
            <p:cNvSpPr txBox="1"/>
            <p:nvPr/>
          </p:nvSpPr>
          <p:spPr>
            <a:xfrm>
              <a:off x="2969357" y="3159813"/>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pic>
          <p:nvPicPr>
            <p:cNvPr id="40" name="Picture 39"/>
            <p:cNvPicPr>
              <a:picLocks noChangeAspect="1"/>
            </p:cNvPicPr>
            <p:nvPr/>
          </p:nvPicPr>
          <p:blipFill>
            <a:blip r:embed="rId3"/>
            <a:stretch>
              <a:fillRect/>
            </a:stretch>
          </p:blipFill>
          <p:spPr>
            <a:xfrm>
              <a:off x="769002" y="3183695"/>
              <a:ext cx="737787" cy="451844"/>
            </a:xfrm>
            <a:prstGeom prst="rect">
              <a:avLst/>
            </a:prstGeom>
          </p:spPr>
        </p:pic>
        <p:pic>
          <p:nvPicPr>
            <p:cNvPr id="41" name="Picture 40"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2787451" y="2439543"/>
              <a:ext cx="1012825" cy="1012825"/>
            </a:xfrm>
            <a:prstGeom prst="rect">
              <a:avLst/>
            </a:prstGeom>
          </p:spPr>
        </p:pic>
        <p:pic>
          <p:nvPicPr>
            <p:cNvPr id="42" name="Picture 41"/>
            <p:cNvPicPr>
              <a:picLocks noChangeAspect="1"/>
            </p:cNvPicPr>
            <p:nvPr/>
          </p:nvPicPr>
          <p:blipFill>
            <a:blip r:embed="rId3"/>
            <a:stretch>
              <a:fillRect/>
            </a:stretch>
          </p:blipFill>
          <p:spPr>
            <a:xfrm>
              <a:off x="1323099" y="3635539"/>
              <a:ext cx="690736" cy="423028"/>
            </a:xfrm>
            <a:prstGeom prst="rect">
              <a:avLst/>
            </a:prstGeom>
          </p:spPr>
        </p:pic>
      </p:grpSp>
      <p:grpSp>
        <p:nvGrpSpPr>
          <p:cNvPr id="45" name="Group 44"/>
          <p:cNvGrpSpPr/>
          <p:nvPr/>
        </p:nvGrpSpPr>
        <p:grpSpPr>
          <a:xfrm>
            <a:off x="2781883" y="4110185"/>
            <a:ext cx="3154792" cy="2266364"/>
            <a:chOff x="413472" y="2048475"/>
            <a:chExt cx="3154792" cy="2266364"/>
          </a:xfrm>
        </p:grpSpPr>
        <p:sp>
          <p:nvSpPr>
            <p:cNvPr id="46" name="Cloud 45"/>
            <p:cNvSpPr/>
            <p:nvPr/>
          </p:nvSpPr>
          <p:spPr>
            <a:xfrm>
              <a:off x="413472" y="2307620"/>
              <a:ext cx="2986179" cy="2007219"/>
            </a:xfrm>
            <a:prstGeom prst="cloud">
              <a:avLst/>
            </a:prstGeom>
            <a:solidFill>
              <a:schemeClr val="tx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47" name="TextBox 46"/>
            <p:cNvSpPr txBox="1"/>
            <p:nvPr/>
          </p:nvSpPr>
          <p:spPr>
            <a:xfrm>
              <a:off x="2749823" y="2370222"/>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pic>
          <p:nvPicPr>
            <p:cNvPr id="48" name="Picture 47"/>
            <p:cNvPicPr>
              <a:picLocks noChangeAspect="1"/>
            </p:cNvPicPr>
            <p:nvPr/>
          </p:nvPicPr>
          <p:blipFill>
            <a:blip r:embed="rId3"/>
            <a:stretch>
              <a:fillRect/>
            </a:stretch>
          </p:blipFill>
          <p:spPr>
            <a:xfrm>
              <a:off x="769002" y="3183695"/>
              <a:ext cx="737787" cy="451844"/>
            </a:xfrm>
            <a:prstGeom prst="rect">
              <a:avLst/>
            </a:prstGeom>
          </p:spPr>
        </p:pic>
        <p:pic>
          <p:nvPicPr>
            <p:cNvPr id="49" name="Picture 48"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774626" y="2048475"/>
              <a:ext cx="1012825" cy="1012825"/>
            </a:xfrm>
            <a:prstGeom prst="rect">
              <a:avLst/>
            </a:prstGeom>
          </p:spPr>
        </p:pic>
        <p:pic>
          <p:nvPicPr>
            <p:cNvPr id="50" name="Picture 49"/>
            <p:cNvPicPr>
              <a:picLocks noChangeAspect="1"/>
            </p:cNvPicPr>
            <p:nvPr/>
          </p:nvPicPr>
          <p:blipFill>
            <a:blip r:embed="rId3"/>
            <a:stretch>
              <a:fillRect/>
            </a:stretch>
          </p:blipFill>
          <p:spPr>
            <a:xfrm>
              <a:off x="1323099" y="3635539"/>
              <a:ext cx="690736" cy="423028"/>
            </a:xfrm>
            <a:prstGeom prst="rect">
              <a:avLst/>
            </a:prstGeom>
          </p:spPr>
        </p:pic>
      </p:grpSp>
      <p:pic>
        <p:nvPicPr>
          <p:cNvPr id="53" name="Picture 52"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5460323" y="3120350"/>
            <a:ext cx="1012825" cy="1012825"/>
          </a:xfrm>
          <a:prstGeom prst="rect">
            <a:avLst/>
          </a:prstGeom>
        </p:spPr>
      </p:pic>
      <p:sp>
        <p:nvSpPr>
          <p:cNvPr id="54" name="Left-Right Arrow 53"/>
          <p:cNvSpPr/>
          <p:nvPr/>
        </p:nvSpPr>
        <p:spPr>
          <a:xfrm rot="20888318">
            <a:off x="3317622" y="3621272"/>
            <a:ext cx="2144670" cy="203639"/>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Left-Right Arrow 54"/>
          <p:cNvSpPr/>
          <p:nvPr/>
        </p:nvSpPr>
        <p:spPr>
          <a:xfrm rot="19088843">
            <a:off x="4970269" y="4030365"/>
            <a:ext cx="799422" cy="205618"/>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6" name="Picture 55" descr="lrg_Router.png"/>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6553199" y="1925622"/>
            <a:ext cx="1012825" cy="1012825"/>
          </a:xfrm>
          <a:prstGeom prst="rect">
            <a:avLst/>
          </a:prstGeom>
        </p:spPr>
      </p:pic>
      <p:sp>
        <p:nvSpPr>
          <p:cNvPr id="57" name="Left-Right Arrow 56"/>
          <p:cNvSpPr/>
          <p:nvPr/>
        </p:nvSpPr>
        <p:spPr>
          <a:xfrm rot="18977716">
            <a:off x="6153547" y="2926368"/>
            <a:ext cx="924160" cy="236872"/>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8" name="Picture 57"/>
          <p:cNvPicPr>
            <a:picLocks noChangeAspect="1"/>
          </p:cNvPicPr>
          <p:nvPr/>
        </p:nvPicPr>
        <p:blipFill>
          <a:blip r:embed="rId3"/>
          <a:stretch>
            <a:fillRect/>
          </a:stretch>
        </p:blipFill>
        <p:spPr>
          <a:xfrm>
            <a:off x="7329496" y="1470299"/>
            <a:ext cx="737787" cy="451844"/>
          </a:xfrm>
          <a:prstGeom prst="rect">
            <a:avLst/>
          </a:prstGeom>
        </p:spPr>
      </p:pic>
      <p:sp>
        <p:nvSpPr>
          <p:cNvPr id="60" name="TextBox 59"/>
          <p:cNvSpPr txBox="1"/>
          <p:nvPr/>
        </p:nvSpPr>
        <p:spPr>
          <a:xfrm>
            <a:off x="6755578" y="282018"/>
            <a:ext cx="2298338" cy="646331"/>
          </a:xfrm>
          <a:prstGeom prst="rect">
            <a:avLst/>
          </a:prstGeom>
          <a:noFill/>
        </p:spPr>
        <p:txBody>
          <a:bodyPr wrap="none" rtlCol="0">
            <a:spAutoFit/>
          </a:bodyPr>
          <a:lstStyle/>
          <a:p>
            <a:pPr algn="ctr"/>
            <a:r>
              <a:rPr lang="en-US" dirty="0" smtClean="0">
                <a:solidFill>
                  <a:srgbClr val="000000"/>
                </a:solidFill>
              </a:rPr>
              <a:t>External Network </a:t>
            </a:r>
          </a:p>
          <a:p>
            <a:pPr algn="ctr"/>
            <a:r>
              <a:rPr lang="en-US" dirty="0" smtClean="0">
                <a:solidFill>
                  <a:srgbClr val="000000"/>
                </a:solidFill>
              </a:rPr>
              <a:t>(e.g., another country)</a:t>
            </a:r>
            <a:endParaRPr lang="en-US" dirty="0">
              <a:solidFill>
                <a:srgbClr val="000000"/>
              </a:solidFill>
            </a:endParaRPr>
          </a:p>
        </p:txBody>
      </p:sp>
      <p:pic>
        <p:nvPicPr>
          <p:cNvPr id="61" name="Picture 60"/>
          <p:cNvPicPr>
            <a:picLocks noChangeAspect="1"/>
          </p:cNvPicPr>
          <p:nvPr/>
        </p:nvPicPr>
        <p:blipFill>
          <a:blip r:embed="rId6">
            <a:extLst>
              <a:ext uri="{BEBA8EAE-BF5A-486C-A8C5-ECC9F3942E4B}">
                <a14:imgProps xmlns:a14="http://schemas.microsoft.com/office/drawing/2010/main">
                  <a14:imgLayer r:embed="rId7">
                    <a14:imgEffect>
                      <a14:backgroundRemoval t="0" b="100000" l="0" r="100000"/>
                    </a14:imgEffect>
                  </a14:imgLayer>
                </a14:imgProps>
              </a:ext>
            </a:extLst>
          </a:blip>
          <a:stretch>
            <a:fillRect/>
          </a:stretch>
        </p:blipFill>
        <p:spPr>
          <a:xfrm>
            <a:off x="929230" y="2057235"/>
            <a:ext cx="510016" cy="478630"/>
          </a:xfrm>
          <a:prstGeom prst="rect">
            <a:avLst/>
          </a:prstGeom>
          <a:effectLst>
            <a:glow rad="101600">
              <a:schemeClr val="bg1">
                <a:alpha val="9000"/>
              </a:schemeClr>
            </a:glow>
          </a:effectLst>
        </p:spPr>
      </p:pic>
      <p:pic>
        <p:nvPicPr>
          <p:cNvPr id="63" name="Picture 62"/>
          <p:cNvPicPr>
            <a:picLocks noChangeAspect="1"/>
          </p:cNvPicPr>
          <p:nvPr/>
        </p:nvPicPr>
        <p:blipFill>
          <a:blip r:embed="rId6">
            <a:extLst>
              <a:ext uri="{BEBA8EAE-BF5A-486C-A8C5-ECC9F3942E4B}">
                <a14:imgProps xmlns:a14="http://schemas.microsoft.com/office/drawing/2010/main">
                  <a14:imgLayer r:embed="rId8">
                    <a14:imgEffect>
                      <a14:backgroundRemoval t="0" b="100000" l="0" r="100000"/>
                    </a14:imgEffect>
                  </a14:imgLayer>
                </a14:imgProps>
              </a:ext>
            </a:extLst>
          </a:blip>
          <a:stretch>
            <a:fillRect/>
          </a:stretch>
        </p:blipFill>
        <p:spPr>
          <a:xfrm>
            <a:off x="1520400" y="2489172"/>
            <a:ext cx="510016" cy="478630"/>
          </a:xfrm>
          <a:prstGeom prst="rect">
            <a:avLst/>
          </a:prstGeom>
          <a:effectLst>
            <a:glow rad="101600">
              <a:schemeClr val="bg1">
                <a:alpha val="9000"/>
              </a:schemeClr>
            </a:glow>
          </a:effectLst>
        </p:spPr>
      </p:pic>
      <p:pic>
        <p:nvPicPr>
          <p:cNvPr id="64" name="Picture 63"/>
          <p:cNvPicPr>
            <a:picLocks noChangeAspect="1"/>
          </p:cNvPicPr>
          <p:nvPr/>
        </p:nvPicPr>
        <p:blipFill>
          <a:blip r:embed="rId6">
            <a:extLst>
              <a:ext uri="{BEBA8EAE-BF5A-486C-A8C5-ECC9F3942E4B}">
                <a14:imgProps xmlns:a14="http://schemas.microsoft.com/office/drawing/2010/main">
                  <a14:imgLayer r:embed="rId9">
                    <a14:imgEffect>
                      <a14:backgroundRemoval t="0" b="100000" l="0" r="100000"/>
                    </a14:imgEffect>
                  </a14:imgLayer>
                </a14:imgProps>
              </a:ext>
            </a:extLst>
          </a:blip>
          <a:stretch>
            <a:fillRect/>
          </a:stretch>
        </p:blipFill>
        <p:spPr>
          <a:xfrm>
            <a:off x="1194074" y="4682289"/>
            <a:ext cx="510016" cy="478630"/>
          </a:xfrm>
          <a:prstGeom prst="rect">
            <a:avLst/>
          </a:prstGeom>
          <a:effectLst>
            <a:glow rad="101600">
              <a:schemeClr val="bg1">
                <a:alpha val="9000"/>
              </a:schemeClr>
            </a:glow>
          </a:effectLst>
        </p:spPr>
      </p:pic>
      <p:pic>
        <p:nvPicPr>
          <p:cNvPr id="65" name="Picture 64"/>
          <p:cNvPicPr>
            <a:picLocks noChangeAspect="1"/>
          </p:cNvPicPr>
          <p:nvPr/>
        </p:nvPicPr>
        <p:blipFill>
          <a:blip r:embed="rId6">
            <a:extLst>
              <a:ext uri="{BEBA8EAE-BF5A-486C-A8C5-ECC9F3942E4B}">
                <a14:imgProps xmlns:a14="http://schemas.microsoft.com/office/drawing/2010/main">
                  <a14:imgLayer r:embed="rId10">
                    <a14:imgEffect>
                      <a14:backgroundRemoval t="0" b="100000" l="0" r="100000"/>
                    </a14:imgEffect>
                  </a14:imgLayer>
                </a14:imgProps>
              </a:ext>
            </a:extLst>
          </a:blip>
          <a:stretch>
            <a:fillRect/>
          </a:stretch>
        </p:blipFill>
        <p:spPr>
          <a:xfrm>
            <a:off x="3365184" y="5053464"/>
            <a:ext cx="510016" cy="478630"/>
          </a:xfrm>
          <a:prstGeom prst="rect">
            <a:avLst/>
          </a:prstGeom>
          <a:effectLst>
            <a:glow rad="101600">
              <a:schemeClr val="bg1">
                <a:alpha val="9000"/>
              </a:schemeClr>
            </a:glow>
          </a:effectLst>
        </p:spPr>
      </p:pic>
      <p:sp>
        <p:nvSpPr>
          <p:cNvPr id="66" name="TextBox 65"/>
          <p:cNvSpPr txBox="1"/>
          <p:nvPr/>
        </p:nvSpPr>
        <p:spPr>
          <a:xfrm>
            <a:off x="6662131" y="1124288"/>
            <a:ext cx="1964488" cy="369332"/>
          </a:xfrm>
          <a:prstGeom prst="rect">
            <a:avLst/>
          </a:prstGeom>
          <a:noFill/>
        </p:spPr>
        <p:txBody>
          <a:bodyPr wrap="none" rtlCol="0">
            <a:spAutoFit/>
          </a:bodyPr>
          <a:lstStyle/>
          <a:p>
            <a:pPr algn="ctr"/>
            <a:r>
              <a:rPr lang="en-US" b="1" dirty="0" smtClean="0">
                <a:solidFill>
                  <a:srgbClr val="FF0000"/>
                </a:solidFill>
              </a:rPr>
              <a:t>Botnet C&amp;C Server</a:t>
            </a:r>
            <a:endParaRPr lang="en-US" b="1" dirty="0">
              <a:solidFill>
                <a:srgbClr val="FF0000"/>
              </a:solidFill>
            </a:endParaRPr>
          </a:p>
        </p:txBody>
      </p:sp>
      <p:sp>
        <p:nvSpPr>
          <p:cNvPr id="2" name="Freeform 1"/>
          <p:cNvSpPr/>
          <p:nvPr/>
        </p:nvSpPr>
        <p:spPr>
          <a:xfrm>
            <a:off x="1529405" y="1884329"/>
            <a:ext cx="5926446" cy="1408039"/>
          </a:xfrm>
          <a:custGeom>
            <a:avLst/>
            <a:gdLst>
              <a:gd name="connsiteX0" fmla="*/ 0 w 5926446"/>
              <a:gd name="connsiteY0" fmla="*/ 546182 h 1408039"/>
              <a:gd name="connsiteX1" fmla="*/ 1925412 w 5926446"/>
              <a:gd name="connsiteY1" fmla="*/ 286745 h 1408039"/>
              <a:gd name="connsiteX2" fmla="*/ 4260486 w 5926446"/>
              <a:gd name="connsiteY2" fmla="*/ 1406419 h 1408039"/>
              <a:gd name="connsiteX3" fmla="*/ 5926446 w 5926446"/>
              <a:gd name="connsiteY3" fmla="*/ 0 h 1408039"/>
            </a:gdLst>
            <a:ahLst/>
            <a:cxnLst>
              <a:cxn ang="0">
                <a:pos x="connsiteX0" y="connsiteY0"/>
              </a:cxn>
              <a:cxn ang="0">
                <a:pos x="connsiteX1" y="connsiteY1"/>
              </a:cxn>
              <a:cxn ang="0">
                <a:pos x="connsiteX2" y="connsiteY2"/>
              </a:cxn>
              <a:cxn ang="0">
                <a:pos x="connsiteX3" y="connsiteY3"/>
              </a:cxn>
            </a:cxnLst>
            <a:rect l="l" t="t" r="r" b="b"/>
            <a:pathLst>
              <a:path w="5926446" h="1408039">
                <a:moveTo>
                  <a:pt x="0" y="546182"/>
                </a:moveTo>
                <a:cubicBezTo>
                  <a:pt x="607665" y="344777"/>
                  <a:pt x="1215331" y="143372"/>
                  <a:pt x="1925412" y="286745"/>
                </a:cubicBezTo>
                <a:cubicBezTo>
                  <a:pt x="2635493" y="430118"/>
                  <a:pt x="3593647" y="1454210"/>
                  <a:pt x="4260486" y="1406419"/>
                </a:cubicBezTo>
                <a:cubicBezTo>
                  <a:pt x="4927325" y="1358628"/>
                  <a:pt x="5926446" y="0"/>
                  <a:pt x="5926446" y="0"/>
                </a:cubicBezTo>
              </a:path>
            </a:pathLst>
          </a:custGeom>
          <a:ln>
            <a:solidFill>
              <a:srgbClr val="FF0000"/>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3" name="Freeform 2"/>
          <p:cNvSpPr/>
          <p:nvPr/>
        </p:nvSpPr>
        <p:spPr>
          <a:xfrm>
            <a:off x="2034655" y="2075492"/>
            <a:ext cx="5666993" cy="1420549"/>
          </a:xfrm>
          <a:custGeom>
            <a:avLst/>
            <a:gdLst>
              <a:gd name="connsiteX0" fmla="*/ 0 w 5666993"/>
              <a:gd name="connsiteY0" fmla="*/ 669073 h 1420549"/>
              <a:gd name="connsiteX1" fmla="*/ 1351885 w 5666993"/>
              <a:gd name="connsiteY1" fmla="*/ 163855 h 1420549"/>
              <a:gd name="connsiteX2" fmla="*/ 3454817 w 5666993"/>
              <a:gd name="connsiteY2" fmla="*/ 1420074 h 1420549"/>
              <a:gd name="connsiteX3" fmla="*/ 5666993 w 5666993"/>
              <a:gd name="connsiteY3" fmla="*/ 0 h 1420549"/>
            </a:gdLst>
            <a:ahLst/>
            <a:cxnLst>
              <a:cxn ang="0">
                <a:pos x="connsiteX0" y="connsiteY0"/>
              </a:cxn>
              <a:cxn ang="0">
                <a:pos x="connsiteX1" y="connsiteY1"/>
              </a:cxn>
              <a:cxn ang="0">
                <a:pos x="connsiteX2" y="connsiteY2"/>
              </a:cxn>
              <a:cxn ang="0">
                <a:pos x="connsiteX3" y="connsiteY3"/>
              </a:cxn>
            </a:cxnLst>
            <a:rect l="l" t="t" r="r" b="b"/>
            <a:pathLst>
              <a:path w="5666993" h="1420549">
                <a:moveTo>
                  <a:pt x="0" y="669073"/>
                </a:moveTo>
                <a:cubicBezTo>
                  <a:pt x="388041" y="353880"/>
                  <a:pt x="776082" y="38688"/>
                  <a:pt x="1351885" y="163855"/>
                </a:cubicBezTo>
                <a:cubicBezTo>
                  <a:pt x="1927688" y="289022"/>
                  <a:pt x="2735633" y="1447383"/>
                  <a:pt x="3454817" y="1420074"/>
                </a:cubicBezTo>
                <a:cubicBezTo>
                  <a:pt x="4174001" y="1392765"/>
                  <a:pt x="5666993" y="0"/>
                  <a:pt x="5666993" y="0"/>
                </a:cubicBezTo>
              </a:path>
            </a:pathLst>
          </a:custGeom>
          <a:ln>
            <a:solidFill>
              <a:srgbClr val="FF0000"/>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4" name="Freeform 3"/>
          <p:cNvSpPr/>
          <p:nvPr/>
        </p:nvSpPr>
        <p:spPr>
          <a:xfrm>
            <a:off x="1556716" y="2061838"/>
            <a:ext cx="6322452" cy="2799183"/>
          </a:xfrm>
          <a:custGeom>
            <a:avLst/>
            <a:gdLst>
              <a:gd name="connsiteX0" fmla="*/ 0 w 6322452"/>
              <a:gd name="connsiteY0" fmla="*/ 2799183 h 2799183"/>
              <a:gd name="connsiteX1" fmla="*/ 1433818 w 6322452"/>
              <a:gd name="connsiteY1" fmla="*/ 1993565 h 2799183"/>
              <a:gd name="connsiteX2" fmla="*/ 4670148 w 6322452"/>
              <a:gd name="connsiteY2" fmla="*/ 1583928 h 2799183"/>
              <a:gd name="connsiteX3" fmla="*/ 6322452 w 6322452"/>
              <a:gd name="connsiteY3" fmla="*/ 0 h 2799183"/>
            </a:gdLst>
            <a:ahLst/>
            <a:cxnLst>
              <a:cxn ang="0">
                <a:pos x="connsiteX0" y="connsiteY0"/>
              </a:cxn>
              <a:cxn ang="0">
                <a:pos x="connsiteX1" y="connsiteY1"/>
              </a:cxn>
              <a:cxn ang="0">
                <a:pos x="connsiteX2" y="connsiteY2"/>
              </a:cxn>
              <a:cxn ang="0">
                <a:pos x="connsiteX3" y="connsiteY3"/>
              </a:cxn>
            </a:cxnLst>
            <a:rect l="l" t="t" r="r" b="b"/>
            <a:pathLst>
              <a:path w="6322452" h="2799183">
                <a:moveTo>
                  <a:pt x="0" y="2799183"/>
                </a:moveTo>
                <a:cubicBezTo>
                  <a:pt x="327730" y="2497645"/>
                  <a:pt x="655460" y="2196107"/>
                  <a:pt x="1433818" y="1993565"/>
                </a:cubicBezTo>
                <a:cubicBezTo>
                  <a:pt x="2212176" y="1791023"/>
                  <a:pt x="3855376" y="1916189"/>
                  <a:pt x="4670148" y="1583928"/>
                </a:cubicBezTo>
                <a:cubicBezTo>
                  <a:pt x="5484920" y="1251667"/>
                  <a:pt x="6322452" y="0"/>
                  <a:pt x="6322452" y="0"/>
                </a:cubicBezTo>
              </a:path>
            </a:pathLst>
          </a:custGeom>
          <a:ln>
            <a:solidFill>
              <a:srgbClr val="FF0000"/>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
        <p:nvSpPr>
          <p:cNvPr id="5" name="Freeform 4"/>
          <p:cNvSpPr/>
          <p:nvPr/>
        </p:nvSpPr>
        <p:spPr>
          <a:xfrm>
            <a:off x="3659648" y="2130111"/>
            <a:ext cx="4328420" cy="3072274"/>
          </a:xfrm>
          <a:custGeom>
            <a:avLst/>
            <a:gdLst>
              <a:gd name="connsiteX0" fmla="*/ 0 w 4328420"/>
              <a:gd name="connsiteY0" fmla="*/ 3072274 h 3072274"/>
              <a:gd name="connsiteX1" fmla="*/ 2048311 w 4328420"/>
              <a:gd name="connsiteY1" fmla="*/ 1993564 h 3072274"/>
              <a:gd name="connsiteX2" fmla="*/ 4042000 w 4328420"/>
              <a:gd name="connsiteY2" fmla="*/ 846582 h 3072274"/>
              <a:gd name="connsiteX3" fmla="*/ 4315108 w 4328420"/>
              <a:gd name="connsiteY3" fmla="*/ 0 h 3072274"/>
            </a:gdLst>
            <a:ahLst/>
            <a:cxnLst>
              <a:cxn ang="0">
                <a:pos x="connsiteX0" y="connsiteY0"/>
              </a:cxn>
              <a:cxn ang="0">
                <a:pos x="connsiteX1" y="connsiteY1"/>
              </a:cxn>
              <a:cxn ang="0">
                <a:pos x="connsiteX2" y="connsiteY2"/>
              </a:cxn>
              <a:cxn ang="0">
                <a:pos x="connsiteX3" y="connsiteY3"/>
              </a:cxn>
            </a:cxnLst>
            <a:rect l="l" t="t" r="r" b="b"/>
            <a:pathLst>
              <a:path w="4328420" h="3072274">
                <a:moveTo>
                  <a:pt x="0" y="3072274"/>
                </a:moveTo>
                <a:cubicBezTo>
                  <a:pt x="687322" y="2718393"/>
                  <a:pt x="1374644" y="2364513"/>
                  <a:pt x="2048311" y="1993564"/>
                </a:cubicBezTo>
                <a:cubicBezTo>
                  <a:pt x="2721978" y="1622615"/>
                  <a:pt x="3664201" y="1178843"/>
                  <a:pt x="4042000" y="846582"/>
                </a:cubicBezTo>
                <a:cubicBezTo>
                  <a:pt x="4419799" y="514321"/>
                  <a:pt x="4315108" y="0"/>
                  <a:pt x="4315108" y="0"/>
                </a:cubicBezTo>
              </a:path>
            </a:pathLst>
          </a:custGeom>
          <a:ln>
            <a:solidFill>
              <a:srgbClr val="FF0000"/>
            </a:solidFill>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29542042"/>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Botnet</a:t>
            </a:r>
            <a:endParaRPr lang="en-US" dirty="0"/>
          </a:p>
        </p:txBody>
      </p:sp>
      <p:sp>
        <p:nvSpPr>
          <p:cNvPr id="3" name="Content Placeholder 2"/>
          <p:cNvSpPr>
            <a:spLocks noGrp="1"/>
          </p:cNvSpPr>
          <p:nvPr>
            <p:ph idx="1"/>
          </p:nvPr>
        </p:nvSpPr>
        <p:spPr>
          <a:xfrm>
            <a:off x="457200" y="1305890"/>
            <a:ext cx="8229600" cy="4595629"/>
          </a:xfrm>
        </p:spPr>
        <p:txBody>
          <a:bodyPr>
            <a:normAutofit/>
          </a:bodyPr>
          <a:lstStyle/>
          <a:p>
            <a:r>
              <a:rPr lang="en-US" dirty="0" smtClean="0"/>
              <a:t>The infrastructure responsible for a variety of cyber attacks</a:t>
            </a:r>
          </a:p>
          <a:p>
            <a:pPr lvl="1"/>
            <a:r>
              <a:rPr lang="en-US" dirty="0" smtClean="0"/>
              <a:t>Distributed Denial of Service</a:t>
            </a:r>
          </a:p>
          <a:p>
            <a:pPr lvl="1"/>
            <a:r>
              <a:rPr lang="en-US" dirty="0" smtClean="0"/>
              <a:t>Spamming</a:t>
            </a:r>
          </a:p>
          <a:p>
            <a:pPr lvl="1"/>
            <a:r>
              <a:rPr lang="en-US" dirty="0" smtClean="0"/>
              <a:t>Click fraud</a:t>
            </a:r>
          </a:p>
          <a:p>
            <a:pPr lvl="1"/>
            <a:r>
              <a:rPr lang="en-US" dirty="0" smtClean="0"/>
              <a:t>Phishing</a:t>
            </a:r>
          </a:p>
          <a:p>
            <a:pPr lvl="1"/>
            <a:r>
              <a:rPr lang="en-US" dirty="0" smtClean="0"/>
              <a:t>……</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55</a:t>
            </a:fld>
            <a:endParaRPr lang="en-US"/>
          </a:p>
        </p:txBody>
      </p:sp>
    </p:spTree>
    <p:extLst>
      <p:ext uri="{BB962C8B-B14F-4D97-AF65-F5344CB8AC3E}">
        <p14:creationId xmlns:p14="http://schemas.microsoft.com/office/powerpoint/2010/main" val="803561302"/>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Botnet – A Global Problem</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56</a:t>
            </a:fld>
            <a:endParaRPr lang="en-US"/>
          </a:p>
        </p:txBody>
      </p:sp>
      <p:pic>
        <p:nvPicPr>
          <p:cNvPr id="5" name="Picture 4" descr="drones.jpg"/>
          <p:cNvPicPr>
            <a:picLocks noChangeAspect="1"/>
          </p:cNvPicPr>
          <p:nvPr/>
        </p:nvPicPr>
        <p:blipFill>
          <a:blip r:embed="rId2"/>
          <a:stretch>
            <a:fillRect/>
          </a:stretch>
        </p:blipFill>
        <p:spPr>
          <a:xfrm>
            <a:off x="2090942" y="1631565"/>
            <a:ext cx="4856835" cy="3231465"/>
          </a:xfrm>
          <a:prstGeom prst="rect">
            <a:avLst/>
          </a:prstGeom>
        </p:spPr>
      </p:pic>
      <p:pic>
        <p:nvPicPr>
          <p:cNvPr id="6" name="Picture 5"/>
          <p:cNvPicPr>
            <a:picLocks noChangeAspect="1"/>
          </p:cNvPicPr>
          <p:nvPr/>
        </p:nvPicPr>
        <p:blipFill>
          <a:blip r:embed="rId3"/>
          <a:stretch>
            <a:fillRect/>
          </a:stretch>
        </p:blipFill>
        <p:spPr>
          <a:xfrm>
            <a:off x="1457465" y="5275882"/>
            <a:ext cx="6301828" cy="631271"/>
          </a:xfrm>
          <a:prstGeom prst="rect">
            <a:avLst/>
          </a:prstGeom>
        </p:spPr>
      </p:pic>
    </p:spTree>
    <p:extLst>
      <p:ext uri="{BB962C8B-B14F-4D97-AF65-F5344CB8AC3E}">
        <p14:creationId xmlns:p14="http://schemas.microsoft.com/office/powerpoint/2010/main" val="3477693778"/>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Botnet - A Persistent Threat</a:t>
            </a:r>
            <a:endParaRPr lang="en-US" b="1"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A64B996E-896C-8B42-97AF-DF9D242D39BE}" type="slidenum">
              <a:rPr lang="en-US" smtClean="0"/>
              <a:pPr/>
              <a:t>57</a:t>
            </a:fld>
            <a:endParaRPr lang="en-US"/>
          </a:p>
        </p:txBody>
      </p:sp>
      <p:grpSp>
        <p:nvGrpSpPr>
          <p:cNvPr id="19" name="Group 18"/>
          <p:cNvGrpSpPr/>
          <p:nvPr/>
        </p:nvGrpSpPr>
        <p:grpSpPr>
          <a:xfrm>
            <a:off x="2504433" y="1622068"/>
            <a:ext cx="3778568" cy="1255994"/>
            <a:chOff x="2317432" y="1199339"/>
            <a:chExt cx="4454106" cy="1500274"/>
          </a:xfrm>
        </p:grpSpPr>
        <p:pic>
          <p:nvPicPr>
            <p:cNvPr id="11" name="Picture 10" descr="malware2.jpg"/>
            <p:cNvPicPr>
              <a:picLocks noChangeAspect="1"/>
            </p:cNvPicPr>
            <p:nvPr/>
          </p:nvPicPr>
          <p:blipFill>
            <a:blip r:embed="rId2"/>
            <a:stretch>
              <a:fillRect/>
            </a:stretch>
          </p:blipFill>
          <p:spPr>
            <a:xfrm>
              <a:off x="2317432" y="1199339"/>
              <a:ext cx="1500274" cy="1500274"/>
            </a:xfrm>
            <a:prstGeom prst="rect">
              <a:avLst/>
            </a:prstGeom>
          </p:spPr>
        </p:pic>
        <p:pic>
          <p:nvPicPr>
            <p:cNvPr id="15" name="Picture 14" descr="cash.jpg"/>
            <p:cNvPicPr>
              <a:picLocks noChangeAspect="1"/>
            </p:cNvPicPr>
            <p:nvPr/>
          </p:nvPicPr>
          <p:blipFill>
            <a:blip r:embed="rId3"/>
            <a:stretch>
              <a:fillRect/>
            </a:stretch>
          </p:blipFill>
          <p:spPr>
            <a:xfrm>
              <a:off x="5153452" y="1201205"/>
              <a:ext cx="1618086" cy="1474892"/>
            </a:xfrm>
            <a:prstGeom prst="rect">
              <a:avLst/>
            </a:prstGeom>
          </p:spPr>
        </p:pic>
        <p:sp>
          <p:nvSpPr>
            <p:cNvPr id="16" name="Notched Right Arrow 15"/>
            <p:cNvSpPr/>
            <p:nvPr/>
          </p:nvSpPr>
          <p:spPr>
            <a:xfrm>
              <a:off x="3970571" y="1793128"/>
              <a:ext cx="944641" cy="317473"/>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av_industry.gif"/>
          <p:cNvPicPr>
            <a:picLocks noChangeAspect="1"/>
          </p:cNvPicPr>
          <p:nvPr/>
        </p:nvPicPr>
        <p:blipFill>
          <a:blip r:embed="rId4"/>
          <a:stretch>
            <a:fillRect/>
          </a:stretch>
        </p:blipFill>
        <p:spPr>
          <a:xfrm>
            <a:off x="2633343" y="3137775"/>
            <a:ext cx="3784841" cy="2838631"/>
          </a:xfrm>
          <a:prstGeom prst="rect">
            <a:avLst/>
          </a:prstGeom>
        </p:spPr>
      </p:pic>
    </p:spTree>
    <p:extLst>
      <p:ext uri="{BB962C8B-B14F-4D97-AF65-F5344CB8AC3E}">
        <p14:creationId xmlns:p14="http://schemas.microsoft.com/office/powerpoint/2010/main" val="4702026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Botnet - A Persistent Threat</a:t>
            </a:r>
            <a:endParaRPr lang="en-US" b="1"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A64B996E-896C-8B42-97AF-DF9D242D39BE}" type="slidenum">
              <a:rPr lang="en-US" smtClean="0"/>
              <a:pPr/>
              <a:t>58</a:t>
            </a:fld>
            <a:endParaRPr lang="en-US"/>
          </a:p>
        </p:txBody>
      </p:sp>
      <p:grpSp>
        <p:nvGrpSpPr>
          <p:cNvPr id="19" name="Group 18"/>
          <p:cNvGrpSpPr/>
          <p:nvPr/>
        </p:nvGrpSpPr>
        <p:grpSpPr>
          <a:xfrm>
            <a:off x="2991304" y="1901468"/>
            <a:ext cx="3778568" cy="1255994"/>
            <a:chOff x="2317432" y="1199339"/>
            <a:chExt cx="4454106" cy="1500274"/>
          </a:xfrm>
        </p:grpSpPr>
        <p:pic>
          <p:nvPicPr>
            <p:cNvPr id="11" name="Picture 10" descr="malware2.jpg"/>
            <p:cNvPicPr>
              <a:picLocks noChangeAspect="1"/>
            </p:cNvPicPr>
            <p:nvPr/>
          </p:nvPicPr>
          <p:blipFill>
            <a:blip r:embed="rId2"/>
            <a:stretch>
              <a:fillRect/>
            </a:stretch>
          </p:blipFill>
          <p:spPr>
            <a:xfrm>
              <a:off x="2317432" y="1199339"/>
              <a:ext cx="1500274" cy="1500274"/>
            </a:xfrm>
            <a:prstGeom prst="rect">
              <a:avLst/>
            </a:prstGeom>
          </p:spPr>
        </p:pic>
        <p:pic>
          <p:nvPicPr>
            <p:cNvPr id="15" name="Picture 14" descr="cash.jpg"/>
            <p:cNvPicPr>
              <a:picLocks noChangeAspect="1"/>
            </p:cNvPicPr>
            <p:nvPr/>
          </p:nvPicPr>
          <p:blipFill>
            <a:blip r:embed="rId3"/>
            <a:stretch>
              <a:fillRect/>
            </a:stretch>
          </p:blipFill>
          <p:spPr>
            <a:xfrm>
              <a:off x="5153452" y="1201205"/>
              <a:ext cx="1618086" cy="1474892"/>
            </a:xfrm>
            <a:prstGeom prst="rect">
              <a:avLst/>
            </a:prstGeom>
          </p:spPr>
        </p:pic>
        <p:sp>
          <p:nvSpPr>
            <p:cNvPr id="16" name="Notched Right Arrow 15"/>
            <p:cNvSpPr/>
            <p:nvPr/>
          </p:nvSpPr>
          <p:spPr>
            <a:xfrm>
              <a:off x="3970571" y="1793128"/>
              <a:ext cx="944641" cy="317473"/>
            </a:xfrm>
            <a:prstGeom prst="notch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8" name="Picture 27" descr="print_malware-last-10-years_sum_en.png"/>
          <p:cNvPicPr>
            <a:picLocks noChangeAspect="1"/>
          </p:cNvPicPr>
          <p:nvPr/>
        </p:nvPicPr>
        <p:blipFill>
          <a:blip r:embed="rId4"/>
          <a:stretch>
            <a:fillRect/>
          </a:stretch>
        </p:blipFill>
        <p:spPr>
          <a:xfrm>
            <a:off x="2279862" y="1721362"/>
            <a:ext cx="5148072" cy="4053895"/>
          </a:xfrm>
          <a:prstGeom prst="rect">
            <a:avLst/>
          </a:prstGeom>
        </p:spPr>
      </p:pic>
    </p:spTree>
    <p:extLst>
      <p:ext uri="{BB962C8B-B14F-4D97-AF65-F5344CB8AC3E}">
        <p14:creationId xmlns:p14="http://schemas.microsoft.com/office/powerpoint/2010/main" val="3005445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Botnet - A Persistent Threat</a:t>
            </a:r>
            <a:endParaRPr lang="en-US" b="1" dirty="0"/>
          </a:p>
        </p:txBody>
      </p:sp>
      <p:sp>
        <p:nvSpPr>
          <p:cNvPr id="4" name="Slide Number Placeholder 3"/>
          <p:cNvSpPr>
            <a:spLocks noGrp="1"/>
          </p:cNvSpPr>
          <p:nvPr>
            <p:ph type="sldNum" sz="quarter" idx="4294967295"/>
          </p:nvPr>
        </p:nvSpPr>
        <p:spPr>
          <a:xfrm>
            <a:off x="6553200" y="6356350"/>
            <a:ext cx="2133600" cy="365125"/>
          </a:xfrm>
          <a:prstGeom prst="rect">
            <a:avLst/>
          </a:prstGeom>
        </p:spPr>
        <p:txBody>
          <a:bodyPr/>
          <a:lstStyle/>
          <a:p>
            <a:fld id="{A64B996E-896C-8B42-97AF-DF9D242D39BE}" type="slidenum">
              <a:rPr lang="en-US" smtClean="0"/>
              <a:pPr/>
              <a:t>59</a:t>
            </a:fld>
            <a:endParaRPr lang="en-US"/>
          </a:p>
        </p:txBody>
      </p:sp>
      <p:grpSp>
        <p:nvGrpSpPr>
          <p:cNvPr id="29" name="Group 28"/>
          <p:cNvGrpSpPr/>
          <p:nvPr/>
        </p:nvGrpSpPr>
        <p:grpSpPr>
          <a:xfrm>
            <a:off x="1232670" y="2710872"/>
            <a:ext cx="6755630" cy="2071647"/>
            <a:chOff x="356123" y="2927654"/>
            <a:chExt cx="8514781" cy="2834712"/>
          </a:xfrm>
        </p:grpSpPr>
        <p:pic>
          <p:nvPicPr>
            <p:cNvPr id="30" name="Picture 29" descr="S7300.JPG"/>
            <p:cNvPicPr>
              <a:picLocks noChangeAspect="1"/>
            </p:cNvPicPr>
            <p:nvPr/>
          </p:nvPicPr>
          <p:blipFill>
            <a:blip r:embed="rId2"/>
            <a:stretch>
              <a:fillRect/>
            </a:stretch>
          </p:blipFill>
          <p:spPr>
            <a:xfrm>
              <a:off x="6111243" y="2976082"/>
              <a:ext cx="2575557" cy="1600819"/>
            </a:xfrm>
            <a:prstGeom prst="rect">
              <a:avLst/>
            </a:prstGeom>
          </p:spPr>
        </p:pic>
        <p:sp>
          <p:nvSpPr>
            <p:cNvPr id="31" name="Rectangle 30"/>
            <p:cNvSpPr/>
            <p:nvPr/>
          </p:nvSpPr>
          <p:spPr>
            <a:xfrm>
              <a:off x="5945801" y="4625282"/>
              <a:ext cx="2925103" cy="1137084"/>
            </a:xfrm>
            <a:prstGeom prst="rect">
              <a:avLst/>
            </a:prstGeom>
          </p:spPr>
          <p:txBody>
            <a:bodyPr wrap="square">
              <a:spAutoFit/>
            </a:bodyPr>
            <a:lstStyle/>
            <a:p>
              <a:r>
                <a:rPr lang="en-US" sz="1600" dirty="0" smtClean="0"/>
                <a:t>Supervisory control and data acquisition (SCADA) systems</a:t>
              </a:r>
              <a:endParaRPr lang="en-US" sz="1600" dirty="0"/>
            </a:p>
          </p:txBody>
        </p:sp>
        <p:pic>
          <p:nvPicPr>
            <p:cNvPr id="33" name="Picture 32" descr="virus-threats-malware-and-cures-on-smartphone (1).jpg"/>
            <p:cNvPicPr>
              <a:picLocks noChangeAspect="1"/>
            </p:cNvPicPr>
            <p:nvPr/>
          </p:nvPicPr>
          <p:blipFill>
            <a:blip r:embed="rId3"/>
            <a:stretch>
              <a:fillRect/>
            </a:stretch>
          </p:blipFill>
          <p:spPr>
            <a:xfrm>
              <a:off x="3231766" y="2927654"/>
              <a:ext cx="2198996" cy="1649247"/>
            </a:xfrm>
            <a:prstGeom prst="rect">
              <a:avLst/>
            </a:prstGeom>
          </p:spPr>
        </p:pic>
        <p:pic>
          <p:nvPicPr>
            <p:cNvPr id="34" name="Picture 33" descr="desktop01.jpg"/>
            <p:cNvPicPr>
              <a:picLocks noChangeAspect="1"/>
            </p:cNvPicPr>
            <p:nvPr/>
          </p:nvPicPr>
          <p:blipFill>
            <a:blip r:embed="rId4"/>
            <a:stretch>
              <a:fillRect/>
            </a:stretch>
          </p:blipFill>
          <p:spPr>
            <a:xfrm>
              <a:off x="356123" y="2927654"/>
              <a:ext cx="2536976" cy="1512496"/>
            </a:xfrm>
            <a:prstGeom prst="rect">
              <a:avLst/>
            </a:prstGeom>
          </p:spPr>
        </p:pic>
      </p:grpSp>
    </p:spTree>
    <p:extLst>
      <p:ext uri="{BB962C8B-B14F-4D97-AF65-F5344CB8AC3E}">
        <p14:creationId xmlns:p14="http://schemas.microsoft.com/office/powerpoint/2010/main" val="30054459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60</a:t>
            </a:fld>
            <a:endParaRPr lang="en-US"/>
          </a:p>
        </p:txBody>
      </p:sp>
      <p:sp>
        <p:nvSpPr>
          <p:cNvPr id="5" name="Rounded Rectangle 4"/>
          <p:cNvSpPr/>
          <p:nvPr/>
        </p:nvSpPr>
        <p:spPr>
          <a:xfrm>
            <a:off x="3562344" y="1944298"/>
            <a:ext cx="1920570" cy="67405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Botnet C&amp;Cs</a:t>
            </a:r>
            <a:endParaRPr lang="en-US" dirty="0"/>
          </a:p>
        </p:txBody>
      </p:sp>
      <p:sp>
        <p:nvSpPr>
          <p:cNvPr id="7" name="Rounded Rectangle 6"/>
          <p:cNvSpPr/>
          <p:nvPr/>
        </p:nvSpPr>
        <p:spPr>
          <a:xfrm>
            <a:off x="2039510" y="4656763"/>
            <a:ext cx="1920570" cy="67405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Evolution of C&amp;Cs</a:t>
            </a:r>
            <a:endParaRPr lang="en-US" dirty="0"/>
          </a:p>
        </p:txBody>
      </p:sp>
      <p:sp>
        <p:nvSpPr>
          <p:cNvPr id="8" name="Rounded Rectangle 7"/>
          <p:cNvSpPr/>
          <p:nvPr/>
        </p:nvSpPr>
        <p:spPr>
          <a:xfrm>
            <a:off x="5219610" y="4656763"/>
            <a:ext cx="1920570" cy="67405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Botnet Detection</a:t>
            </a:r>
            <a:endParaRPr lang="en-US" dirty="0"/>
          </a:p>
        </p:txBody>
      </p:sp>
      <p:cxnSp>
        <p:nvCxnSpPr>
          <p:cNvPr id="10" name="Straight Arrow Connector 9"/>
          <p:cNvCxnSpPr>
            <a:stCxn id="5" idx="2"/>
            <a:endCxn id="7" idx="0"/>
          </p:cNvCxnSpPr>
          <p:nvPr/>
        </p:nvCxnSpPr>
        <p:spPr>
          <a:xfrm flipH="1">
            <a:off x="2999795" y="2618352"/>
            <a:ext cx="1522834" cy="203841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a:stCxn id="5" idx="2"/>
            <a:endCxn id="8" idx="0"/>
          </p:cNvCxnSpPr>
          <p:nvPr/>
        </p:nvCxnSpPr>
        <p:spPr>
          <a:xfrm>
            <a:off x="4522629" y="2618352"/>
            <a:ext cx="1657266" cy="203841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3701" y="3920901"/>
            <a:ext cx="4352474" cy="369332"/>
          </a:xfrm>
          <a:prstGeom prst="rect">
            <a:avLst/>
          </a:prstGeom>
          <a:noFill/>
        </p:spPr>
        <p:txBody>
          <a:bodyPr wrap="none" rtlCol="0">
            <a:spAutoFit/>
          </a:bodyPr>
          <a:lstStyle/>
          <a:p>
            <a:r>
              <a:rPr lang="en-US" dirty="0" smtClean="0"/>
              <a:t>How to build robust C&amp;C against disruption?</a:t>
            </a:r>
            <a:endParaRPr lang="en-US" dirty="0"/>
          </a:p>
        </p:txBody>
      </p:sp>
      <p:sp>
        <p:nvSpPr>
          <p:cNvPr id="12" name="TextBox 11"/>
          <p:cNvSpPr txBox="1"/>
          <p:nvPr/>
        </p:nvSpPr>
        <p:spPr>
          <a:xfrm>
            <a:off x="5070123" y="2893209"/>
            <a:ext cx="4073877" cy="369332"/>
          </a:xfrm>
          <a:prstGeom prst="rect">
            <a:avLst/>
          </a:prstGeom>
          <a:noFill/>
        </p:spPr>
        <p:txBody>
          <a:bodyPr wrap="none" rtlCol="0">
            <a:spAutoFit/>
          </a:bodyPr>
          <a:lstStyle/>
          <a:p>
            <a:r>
              <a:rPr lang="en-US" dirty="0" smtClean="0"/>
              <a:t>How to detect botnets in network traffic?</a:t>
            </a:r>
            <a:endParaRPr lang="en-US" dirty="0"/>
          </a:p>
        </p:txBody>
      </p:sp>
    </p:spTree>
    <p:extLst>
      <p:ext uri="{BB962C8B-B14F-4D97-AF65-F5344CB8AC3E}">
        <p14:creationId xmlns:p14="http://schemas.microsoft.com/office/powerpoint/2010/main" val="735000948"/>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Botnet C&amp;Cs</a:t>
            </a:r>
            <a:endParaRPr lang="en-US" dirty="0"/>
          </a:p>
        </p:txBody>
      </p:sp>
      <p:sp>
        <p:nvSpPr>
          <p:cNvPr id="3" name="Content Placeholder 2"/>
          <p:cNvSpPr>
            <a:spLocks noGrp="1"/>
          </p:cNvSpPr>
          <p:nvPr>
            <p:ph idx="1"/>
          </p:nvPr>
        </p:nvSpPr>
        <p:spPr>
          <a:xfrm>
            <a:off x="457200" y="1600200"/>
            <a:ext cx="8229600" cy="1567657"/>
          </a:xfrm>
        </p:spPr>
        <p:txBody>
          <a:bodyPr/>
          <a:lstStyle/>
          <a:p>
            <a:r>
              <a:rPr lang="en-US" dirty="0" smtClean="0"/>
              <a:t>C&amp;C channels are essential to botnets</a:t>
            </a:r>
          </a:p>
          <a:p>
            <a:pPr lvl="1"/>
            <a:r>
              <a:rPr lang="en-US" dirty="0" smtClean="0"/>
              <a:t>Without C&amp;C, a botnet will be degraded into individual bots</a:t>
            </a:r>
          </a:p>
        </p:txBody>
      </p:sp>
      <p:sp>
        <p:nvSpPr>
          <p:cNvPr id="4" name="Slide Number Placeholder 3"/>
          <p:cNvSpPr>
            <a:spLocks noGrp="1"/>
          </p:cNvSpPr>
          <p:nvPr>
            <p:ph type="sldNum" sz="quarter" idx="12"/>
          </p:nvPr>
        </p:nvSpPr>
        <p:spPr/>
        <p:txBody>
          <a:bodyPr/>
          <a:lstStyle/>
          <a:p>
            <a:fld id="{47E8BE15-7F0B-0840-A9A0-04D3C81E96AD}" type="slidenum">
              <a:rPr lang="en-US" smtClean="0"/>
              <a:t>61</a:t>
            </a:fld>
            <a:endParaRPr lang="en-US"/>
          </a:p>
        </p:txBody>
      </p:sp>
      <p:pic>
        <p:nvPicPr>
          <p:cNvPr id="6" name="Picture 5"/>
          <p:cNvPicPr>
            <a:picLocks noChangeAspect="1"/>
          </p:cNvPicPr>
          <p:nvPr/>
        </p:nvPicPr>
        <p:blipFill>
          <a:blip r:embed="rId2"/>
          <a:stretch>
            <a:fillRect/>
          </a:stretch>
        </p:blipFill>
        <p:spPr>
          <a:xfrm>
            <a:off x="2247617" y="4399919"/>
            <a:ext cx="952500" cy="990600"/>
          </a:xfrm>
          <a:prstGeom prst="rect">
            <a:avLst/>
          </a:prstGeom>
        </p:spPr>
      </p:pic>
      <p:grpSp>
        <p:nvGrpSpPr>
          <p:cNvPr id="7" name="Group 45"/>
          <p:cNvGrpSpPr/>
          <p:nvPr/>
        </p:nvGrpSpPr>
        <p:grpSpPr>
          <a:xfrm>
            <a:off x="5886705" y="3506181"/>
            <a:ext cx="510016" cy="2520482"/>
            <a:chOff x="5720744" y="2904480"/>
            <a:chExt cx="510016" cy="2520482"/>
          </a:xfrm>
        </p:grpSpPr>
        <p:pic>
          <p:nvPicPr>
            <p:cNvPr id="32" name="Picture 31"/>
            <p:cNvPicPr>
              <a:picLocks noChangeAspect="1"/>
            </p:cNvPicPr>
            <p:nvPr/>
          </p:nvPicPr>
          <p:blipFill>
            <a:blip r:embed="rId3"/>
            <a:stretch>
              <a:fillRect/>
            </a:stretch>
          </p:blipFill>
          <p:spPr>
            <a:xfrm>
              <a:off x="5720744" y="2904480"/>
              <a:ext cx="510016" cy="478630"/>
            </a:xfrm>
            <a:prstGeom prst="rect">
              <a:avLst/>
            </a:prstGeom>
            <a:effectLst>
              <a:glow rad="101600">
                <a:schemeClr val="bg1">
                  <a:alpha val="9000"/>
                </a:schemeClr>
              </a:glow>
            </a:effectLst>
          </p:spPr>
        </p:pic>
        <p:pic>
          <p:nvPicPr>
            <p:cNvPr id="33" name="Picture 32"/>
            <p:cNvPicPr>
              <a:picLocks noChangeAspect="1"/>
            </p:cNvPicPr>
            <p:nvPr/>
          </p:nvPicPr>
          <p:blipFill>
            <a:blip r:embed="rId3"/>
            <a:stretch>
              <a:fillRect/>
            </a:stretch>
          </p:blipFill>
          <p:spPr>
            <a:xfrm>
              <a:off x="5720744" y="3523954"/>
              <a:ext cx="510016" cy="478630"/>
            </a:xfrm>
            <a:prstGeom prst="rect">
              <a:avLst/>
            </a:prstGeom>
            <a:effectLst>
              <a:glow rad="101600">
                <a:schemeClr val="bg1">
                  <a:alpha val="9000"/>
                </a:schemeClr>
              </a:glow>
            </a:effectLst>
          </p:spPr>
        </p:pic>
        <p:pic>
          <p:nvPicPr>
            <p:cNvPr id="34" name="Picture 33"/>
            <p:cNvPicPr>
              <a:picLocks noChangeAspect="1"/>
            </p:cNvPicPr>
            <p:nvPr/>
          </p:nvPicPr>
          <p:blipFill>
            <a:blip r:embed="rId3"/>
            <a:stretch>
              <a:fillRect/>
            </a:stretch>
          </p:blipFill>
          <p:spPr>
            <a:xfrm>
              <a:off x="5720744" y="4310188"/>
              <a:ext cx="510016" cy="478630"/>
            </a:xfrm>
            <a:prstGeom prst="rect">
              <a:avLst/>
            </a:prstGeom>
            <a:effectLst>
              <a:glow rad="101600">
                <a:schemeClr val="bg1">
                  <a:alpha val="9000"/>
                </a:schemeClr>
              </a:glow>
            </a:effectLst>
          </p:spPr>
        </p:pic>
        <p:pic>
          <p:nvPicPr>
            <p:cNvPr id="35" name="Picture 34"/>
            <p:cNvPicPr>
              <a:picLocks noChangeAspect="1"/>
            </p:cNvPicPr>
            <p:nvPr/>
          </p:nvPicPr>
          <p:blipFill>
            <a:blip r:embed="rId3"/>
            <a:stretch>
              <a:fillRect/>
            </a:stretch>
          </p:blipFill>
          <p:spPr>
            <a:xfrm>
              <a:off x="5720744" y="4946332"/>
              <a:ext cx="510016" cy="478630"/>
            </a:xfrm>
            <a:prstGeom prst="rect">
              <a:avLst/>
            </a:prstGeom>
            <a:effectLst>
              <a:glow rad="101600">
                <a:schemeClr val="bg1">
                  <a:alpha val="9000"/>
                </a:schemeClr>
              </a:glow>
            </a:effectLst>
          </p:spPr>
        </p:pic>
      </p:grpSp>
      <p:grpSp>
        <p:nvGrpSpPr>
          <p:cNvPr id="8" name="Group 51"/>
          <p:cNvGrpSpPr/>
          <p:nvPr/>
        </p:nvGrpSpPr>
        <p:grpSpPr>
          <a:xfrm>
            <a:off x="3541502" y="3839344"/>
            <a:ext cx="2345203" cy="1859276"/>
            <a:chOff x="5709035" y="3318826"/>
            <a:chExt cx="877427" cy="1859276"/>
          </a:xfrm>
        </p:grpSpPr>
        <p:cxnSp>
          <p:nvCxnSpPr>
            <p:cNvPr id="28" name="Straight Arrow Connector 27"/>
            <p:cNvCxnSpPr/>
            <p:nvPr/>
          </p:nvCxnSpPr>
          <p:spPr>
            <a:xfrm flipV="1">
              <a:off x="5709035" y="3318826"/>
              <a:ext cx="782440" cy="76494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5709035" y="3840396"/>
              <a:ext cx="877427" cy="479390"/>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a:off x="5709035" y="4543774"/>
              <a:ext cx="782440" cy="13181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a:off x="5709035" y="4870001"/>
              <a:ext cx="782440" cy="30810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16" name="TextBox 15"/>
          <p:cNvSpPr txBox="1"/>
          <p:nvPr/>
        </p:nvSpPr>
        <p:spPr>
          <a:xfrm rot="20286972">
            <a:off x="4000683" y="3801422"/>
            <a:ext cx="1097089" cy="307777"/>
          </a:xfrm>
          <a:prstGeom prst="rect">
            <a:avLst/>
          </a:prstGeom>
          <a:noFill/>
        </p:spPr>
        <p:txBody>
          <a:bodyPr wrap="square" rtlCol="0">
            <a:spAutoFit/>
          </a:bodyPr>
          <a:lstStyle/>
          <a:p>
            <a:r>
              <a:rPr lang="en-US" sz="1400" b="1" dirty="0" smtClean="0">
                <a:solidFill>
                  <a:srgbClr val="FF0000"/>
                </a:solidFill>
              </a:rPr>
              <a:t>C&amp;C</a:t>
            </a:r>
            <a:endParaRPr lang="en-US" sz="1400" b="1" dirty="0">
              <a:solidFill>
                <a:srgbClr val="FF0000"/>
              </a:solidFill>
            </a:endParaRPr>
          </a:p>
        </p:txBody>
      </p:sp>
    </p:spTree>
    <p:extLst>
      <p:ext uri="{BB962C8B-B14F-4D97-AF65-F5344CB8AC3E}">
        <p14:creationId xmlns:p14="http://schemas.microsoft.com/office/powerpoint/2010/main" val="3463208658"/>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War Field</a:t>
            </a:r>
            <a:endParaRPr lang="en-US" dirty="0"/>
          </a:p>
        </p:txBody>
      </p:sp>
      <p:sp>
        <p:nvSpPr>
          <p:cNvPr id="5" name="Text Placeholder 4"/>
          <p:cNvSpPr>
            <a:spLocks noGrp="1"/>
          </p:cNvSpPr>
          <p:nvPr>
            <p:ph type="body" idx="1"/>
          </p:nvPr>
        </p:nvSpPr>
        <p:spPr/>
        <p:txBody>
          <a:bodyPr>
            <a:normAutofit/>
          </a:bodyPr>
          <a:lstStyle/>
          <a:p>
            <a:r>
              <a:rPr lang="en-US" sz="3200" dirty="0" err="1" smtClean="0"/>
              <a:t>Botmasters</a:t>
            </a:r>
            <a:endParaRPr lang="en-US" sz="3200" dirty="0"/>
          </a:p>
        </p:txBody>
      </p:sp>
      <p:sp>
        <p:nvSpPr>
          <p:cNvPr id="6" name="Content Placeholder 5"/>
          <p:cNvSpPr>
            <a:spLocks noGrp="1"/>
          </p:cNvSpPr>
          <p:nvPr>
            <p:ph sz="half" idx="2"/>
          </p:nvPr>
        </p:nvSpPr>
        <p:spPr/>
        <p:style>
          <a:lnRef idx="2">
            <a:schemeClr val="accent1"/>
          </a:lnRef>
          <a:fillRef idx="1">
            <a:schemeClr val="lt1"/>
          </a:fillRef>
          <a:effectRef idx="0">
            <a:schemeClr val="accent1"/>
          </a:effectRef>
          <a:fontRef idx="minor">
            <a:schemeClr val="dk1"/>
          </a:fontRef>
        </p:style>
        <p:txBody>
          <a:bodyPr/>
          <a:lstStyle/>
          <a:p>
            <a:r>
              <a:rPr lang="en-US" dirty="0" smtClean="0"/>
              <a:t>Objective: keep most of their bots operational against disruption efforts</a:t>
            </a:r>
          </a:p>
          <a:p>
            <a:endParaRPr lang="en-US" dirty="0"/>
          </a:p>
          <a:p>
            <a:r>
              <a:rPr lang="en-US" dirty="0" smtClean="0"/>
              <a:t>Resources: access public network resources such as registering domains, setup servers, and etc. </a:t>
            </a:r>
            <a:endParaRPr lang="en-US" dirty="0"/>
          </a:p>
        </p:txBody>
      </p:sp>
      <p:sp>
        <p:nvSpPr>
          <p:cNvPr id="7" name="Text Placeholder 6"/>
          <p:cNvSpPr>
            <a:spLocks noGrp="1"/>
          </p:cNvSpPr>
          <p:nvPr>
            <p:ph type="body" sz="quarter" idx="3"/>
          </p:nvPr>
        </p:nvSpPr>
        <p:spPr/>
        <p:txBody>
          <a:bodyPr>
            <a:noAutofit/>
          </a:bodyPr>
          <a:lstStyle/>
          <a:p>
            <a:r>
              <a:rPr lang="en-US" sz="3200" dirty="0" smtClean="0"/>
              <a:t>Network Operators</a:t>
            </a:r>
            <a:endParaRPr lang="en-US" sz="3200" dirty="0"/>
          </a:p>
        </p:txBody>
      </p:sp>
      <p:sp>
        <p:nvSpPr>
          <p:cNvPr id="8" name="Content Placeholder 7"/>
          <p:cNvSpPr>
            <a:spLocks noGrp="1"/>
          </p:cNvSpPr>
          <p:nvPr>
            <p:ph sz="quarter" idx="4"/>
          </p:nvPr>
        </p:nvSpPr>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r>
              <a:rPr lang="en-US" dirty="0" smtClean="0"/>
              <a:t>Objective: disrupt botnets at scale using affordable costs</a:t>
            </a:r>
          </a:p>
          <a:p>
            <a:endParaRPr lang="en-US" dirty="0"/>
          </a:p>
          <a:p>
            <a:r>
              <a:rPr lang="en-US" dirty="0" smtClean="0"/>
              <a:t>Resources</a:t>
            </a:r>
          </a:p>
          <a:p>
            <a:pPr lvl="1"/>
            <a:r>
              <a:rPr lang="en-US" dirty="0" smtClean="0"/>
              <a:t>Bot binary</a:t>
            </a:r>
          </a:p>
          <a:p>
            <a:pPr lvl="1"/>
            <a:r>
              <a:rPr lang="en-US" dirty="0" smtClean="0"/>
              <a:t>Execute it for a short time (efficient)</a:t>
            </a:r>
          </a:p>
          <a:p>
            <a:pPr lvl="1"/>
            <a:r>
              <a:rPr lang="en-US" dirty="0"/>
              <a:t>C</a:t>
            </a:r>
            <a:r>
              <a:rPr lang="en-US" dirty="0" smtClean="0"/>
              <a:t>apability of reverse engineering (labor-intensive)</a:t>
            </a:r>
          </a:p>
          <a:p>
            <a:pPr lvl="1"/>
            <a:r>
              <a:rPr lang="en-US" dirty="0" smtClean="0"/>
              <a:t>Access public network resources such as DNS</a:t>
            </a:r>
          </a:p>
          <a:p>
            <a:pPr lvl="1"/>
            <a:r>
              <a:rPr lang="en-US" dirty="0" smtClean="0"/>
              <a:t>Limited financial resources </a:t>
            </a:r>
          </a:p>
          <a:p>
            <a:pPr lvl="1"/>
            <a:endParaRPr lang="en-US" dirty="0" smtClean="0"/>
          </a:p>
          <a:p>
            <a:pPr lvl="1"/>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62</a:t>
            </a:fld>
            <a:endParaRPr lang="en-US"/>
          </a:p>
        </p:txBody>
      </p:sp>
    </p:spTree>
    <p:extLst>
      <p:ext uri="{BB962C8B-B14F-4D97-AF65-F5344CB8AC3E}">
        <p14:creationId xmlns:p14="http://schemas.microsoft.com/office/powerpoint/2010/main" val="3449925870"/>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Robust C&amp;Cs – Round 1</a:t>
            </a:r>
            <a:endParaRPr lang="en-US" dirty="0"/>
          </a:p>
        </p:txBody>
      </p:sp>
      <p:sp>
        <p:nvSpPr>
          <p:cNvPr id="5" name="Text Placeholder 4"/>
          <p:cNvSpPr>
            <a:spLocks noGrp="1"/>
          </p:cNvSpPr>
          <p:nvPr>
            <p:ph type="body" idx="1"/>
          </p:nvPr>
        </p:nvSpPr>
        <p:spPr/>
        <p:txBody>
          <a:bodyPr/>
          <a:lstStyle/>
          <a:p>
            <a:r>
              <a:rPr lang="en-US" dirty="0" smtClean="0"/>
              <a:t>A Bot</a:t>
            </a:r>
            <a:endParaRPr lang="en-US" dirty="0"/>
          </a:p>
        </p:txBody>
      </p:sp>
      <p:sp>
        <p:nvSpPr>
          <p:cNvPr id="6" name="Content Placeholder 5"/>
          <p:cNvSpPr>
            <a:spLocks noGrp="1"/>
          </p:cNvSpPr>
          <p:nvPr>
            <p:ph sz="half" idx="2"/>
          </p:nvPr>
        </p:nvSpPr>
        <p:spPr>
          <a:xfrm>
            <a:off x="457200" y="2174875"/>
            <a:ext cx="4040188" cy="1220258"/>
          </a:xfrm>
        </p:spPr>
        <p:txBody>
          <a:bodyPr>
            <a:normAutofit fontScale="85000" lnSpcReduction="10000"/>
          </a:bodyPr>
          <a:lstStyle/>
          <a:p>
            <a:r>
              <a:rPr lang="en-US" dirty="0" smtClean="0"/>
              <a:t>Directly connect to one C&amp;C server or a small number of C&amp;C servers based on IP(s) (i.e., botnet with Centralized C&amp;Cs)</a:t>
            </a:r>
            <a:endParaRPr lang="en-US" dirty="0"/>
          </a:p>
        </p:txBody>
      </p:sp>
      <p:sp>
        <p:nvSpPr>
          <p:cNvPr id="7" name="Text Placeholder 6"/>
          <p:cNvSpPr>
            <a:spLocks noGrp="1"/>
          </p:cNvSpPr>
          <p:nvPr>
            <p:ph type="body" sz="quarter" idx="3"/>
          </p:nvPr>
        </p:nvSpPr>
        <p:spPr/>
        <p:txBody>
          <a:bodyPr/>
          <a:lstStyle/>
          <a:p>
            <a:r>
              <a:rPr lang="en-US" dirty="0" smtClean="0"/>
              <a:t>Disruption Strategy</a:t>
            </a:r>
            <a:endParaRPr lang="en-US" dirty="0"/>
          </a:p>
        </p:txBody>
      </p:sp>
      <p:sp>
        <p:nvSpPr>
          <p:cNvPr id="8" name="Content Placeholder 7"/>
          <p:cNvSpPr>
            <a:spLocks noGrp="1"/>
          </p:cNvSpPr>
          <p:nvPr>
            <p:ph sz="quarter" idx="4"/>
          </p:nvPr>
        </p:nvSpPr>
        <p:spPr/>
        <p:txBody>
          <a:bodyPr>
            <a:normAutofit lnSpcReduction="10000"/>
          </a:bodyPr>
          <a:lstStyle/>
          <a:p>
            <a:r>
              <a:rPr lang="en-US" dirty="0" smtClean="0"/>
              <a:t>Block all connections to the IP address(</a:t>
            </a:r>
            <a:r>
              <a:rPr lang="en-US" dirty="0" err="1" smtClean="0"/>
              <a:t>es</a:t>
            </a:r>
            <a:r>
              <a:rPr lang="en-US" dirty="0" smtClean="0"/>
              <a:t>)</a:t>
            </a:r>
          </a:p>
          <a:p>
            <a:pPr lvl="1"/>
            <a:r>
              <a:rPr lang="en-US" dirty="0" smtClean="0"/>
              <a:t>Network-level</a:t>
            </a:r>
          </a:p>
          <a:p>
            <a:pPr lvl="1"/>
            <a:r>
              <a:rPr lang="en-US" dirty="0" smtClean="0"/>
              <a:t>Efficient</a:t>
            </a:r>
          </a:p>
          <a:p>
            <a:endParaRPr lang="en-US" dirty="0"/>
          </a:p>
          <a:p>
            <a:r>
              <a:rPr lang="en-US" dirty="0" smtClean="0"/>
              <a:t>Take down the server if you are capable of doing it</a:t>
            </a:r>
          </a:p>
          <a:p>
            <a:pPr lvl="1"/>
            <a:r>
              <a:rPr lang="en-US" dirty="0" smtClean="0"/>
              <a:t>You may not be able to do it if the server is out of your control (e.g., in foreign countries)</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63</a:t>
            </a:fld>
            <a:endParaRPr lang="en-US"/>
          </a:p>
        </p:txBody>
      </p:sp>
      <p:sp>
        <p:nvSpPr>
          <p:cNvPr id="9" name="Content Placeholder 5"/>
          <p:cNvSpPr txBox="1">
            <a:spLocks/>
          </p:cNvSpPr>
          <p:nvPr/>
        </p:nvSpPr>
        <p:spPr>
          <a:xfrm>
            <a:off x="533396" y="3395133"/>
            <a:ext cx="3623733" cy="1732442"/>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85000" lnSpcReduction="20000"/>
          </a:bodyPr>
          <a:lstStyle>
            <a:lvl1pPr marL="342900" indent="-342900" algn="l" defTabSz="457200" rtl="0" eaLnBrk="1" latinLnBrk="0" hangingPunct="1">
              <a:spcBef>
                <a:spcPct val="20000"/>
              </a:spcBef>
              <a:buFont typeface="Arial"/>
              <a:buChar char="•"/>
              <a:defRPr sz="24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16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16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16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1600" kern="1200">
                <a:solidFill>
                  <a:schemeClr val="dk1"/>
                </a:solidFill>
                <a:latin typeface="+mn-lt"/>
                <a:ea typeface="+mn-ea"/>
                <a:cs typeface="+mn-cs"/>
              </a:defRPr>
            </a:lvl9pPr>
          </a:lstStyle>
          <a:p>
            <a:pPr marL="0" indent="0">
              <a:buFont typeface="Arial"/>
              <a:buNone/>
            </a:pPr>
            <a:r>
              <a:rPr lang="en-US" sz="1800" dirty="0" smtClean="0">
                <a:latin typeface="Times"/>
                <a:cs typeface="Times"/>
              </a:rPr>
              <a:t>main(){</a:t>
            </a:r>
          </a:p>
          <a:p>
            <a:pPr marL="0" indent="0">
              <a:buFont typeface="Arial"/>
              <a:buNone/>
            </a:pPr>
            <a:r>
              <a:rPr lang="en-US" sz="1800" dirty="0" smtClean="0">
                <a:latin typeface="Times"/>
                <a:cs typeface="Times"/>
              </a:rPr>
              <a:t>	</a:t>
            </a:r>
            <a:r>
              <a:rPr lang="en-US" sz="1800" b="1" dirty="0" err="1" smtClean="0">
                <a:solidFill>
                  <a:srgbClr val="3366FF"/>
                </a:solidFill>
                <a:latin typeface="Times"/>
                <a:cs typeface="Times"/>
              </a:rPr>
              <a:t>cnc</a:t>
            </a:r>
            <a:r>
              <a:rPr lang="en-US" sz="1800" b="1" dirty="0" smtClean="0">
                <a:solidFill>
                  <a:srgbClr val="3366FF"/>
                </a:solidFill>
                <a:latin typeface="Times"/>
                <a:cs typeface="Times"/>
              </a:rPr>
              <a:t> = connect(“111.111.111.111”);</a:t>
            </a:r>
          </a:p>
          <a:p>
            <a:pPr marL="0" indent="0">
              <a:buFont typeface="Arial"/>
              <a:buNone/>
            </a:pPr>
            <a:r>
              <a:rPr lang="en-US" sz="1800" dirty="0" smtClean="0">
                <a:latin typeface="Times"/>
                <a:cs typeface="Times"/>
              </a:rPr>
              <a:t>       	while(every 5 minutes){	</a:t>
            </a:r>
          </a:p>
          <a:p>
            <a:pPr marL="0" indent="0">
              <a:buFont typeface="Arial"/>
              <a:buNone/>
            </a:pPr>
            <a:r>
              <a:rPr lang="en-US" sz="1800" dirty="0" smtClean="0">
                <a:latin typeface="Times"/>
                <a:cs typeface="Times"/>
              </a:rPr>
              <a:t>		</a:t>
            </a:r>
            <a:r>
              <a:rPr lang="en-US" sz="1800" dirty="0" err="1" smtClean="0">
                <a:latin typeface="Times"/>
                <a:cs typeface="Times"/>
              </a:rPr>
              <a:t>msg</a:t>
            </a:r>
            <a:r>
              <a:rPr lang="en-US" sz="1800" dirty="0" smtClean="0">
                <a:latin typeface="Times"/>
                <a:cs typeface="Times"/>
              </a:rPr>
              <a:t> = </a:t>
            </a:r>
            <a:r>
              <a:rPr lang="en-US" sz="1800" dirty="0" err="1" smtClean="0">
                <a:latin typeface="Times"/>
                <a:cs typeface="Times"/>
              </a:rPr>
              <a:t>cnc.read</a:t>
            </a:r>
            <a:r>
              <a:rPr lang="en-US" sz="1800" dirty="0" smtClean="0">
                <a:latin typeface="Times"/>
                <a:cs typeface="Times"/>
              </a:rPr>
              <a:t>(); </a:t>
            </a:r>
          </a:p>
          <a:p>
            <a:pPr marL="0" indent="0">
              <a:buFont typeface="Arial"/>
              <a:buNone/>
            </a:pPr>
            <a:r>
              <a:rPr lang="en-US" sz="1800" dirty="0" smtClean="0">
                <a:latin typeface="Times"/>
                <a:cs typeface="Times"/>
              </a:rPr>
              <a:t>		……</a:t>
            </a:r>
          </a:p>
          <a:p>
            <a:pPr marL="0" indent="0">
              <a:buFont typeface="Arial"/>
              <a:buNone/>
            </a:pPr>
            <a:r>
              <a:rPr lang="en-US" sz="1800" dirty="0" smtClean="0">
                <a:latin typeface="Times"/>
                <a:cs typeface="Times"/>
              </a:rPr>
              <a:t>	}</a:t>
            </a:r>
          </a:p>
          <a:p>
            <a:pPr marL="0" indent="0">
              <a:buFont typeface="Arial"/>
              <a:buNone/>
            </a:pPr>
            <a:r>
              <a:rPr lang="en-US" sz="1800" dirty="0" smtClean="0">
                <a:latin typeface="Times"/>
                <a:cs typeface="Times"/>
              </a:rPr>
              <a:t>}</a:t>
            </a:r>
            <a:endParaRPr lang="en-US" sz="1800" dirty="0">
              <a:latin typeface="Times"/>
              <a:cs typeface="Times"/>
            </a:endParaRPr>
          </a:p>
        </p:txBody>
      </p:sp>
      <p:grpSp>
        <p:nvGrpSpPr>
          <p:cNvPr id="10" name="Group 45"/>
          <p:cNvGrpSpPr/>
          <p:nvPr/>
        </p:nvGrpSpPr>
        <p:grpSpPr>
          <a:xfrm>
            <a:off x="1012974" y="5253107"/>
            <a:ext cx="510016" cy="1451434"/>
            <a:chOff x="5720744" y="3143795"/>
            <a:chExt cx="510016" cy="1451434"/>
          </a:xfrm>
        </p:grpSpPr>
        <p:pic>
          <p:nvPicPr>
            <p:cNvPr id="11" name="Picture 10"/>
            <p:cNvPicPr>
              <a:picLocks noChangeAspect="1"/>
            </p:cNvPicPr>
            <p:nvPr/>
          </p:nvPicPr>
          <p:blipFill>
            <a:blip r:embed="rId2"/>
            <a:stretch>
              <a:fillRect/>
            </a:stretch>
          </p:blipFill>
          <p:spPr>
            <a:xfrm>
              <a:off x="5720744" y="3143795"/>
              <a:ext cx="510016" cy="478630"/>
            </a:xfrm>
            <a:prstGeom prst="rect">
              <a:avLst/>
            </a:prstGeom>
            <a:effectLst>
              <a:glow rad="101600">
                <a:schemeClr val="bg1">
                  <a:alpha val="9000"/>
                </a:schemeClr>
              </a:glow>
            </a:effectLst>
          </p:spPr>
        </p:pic>
        <p:pic>
          <p:nvPicPr>
            <p:cNvPr id="12" name="Picture 11"/>
            <p:cNvPicPr>
              <a:picLocks noChangeAspect="1"/>
            </p:cNvPicPr>
            <p:nvPr/>
          </p:nvPicPr>
          <p:blipFill>
            <a:blip r:embed="rId2"/>
            <a:stretch>
              <a:fillRect/>
            </a:stretch>
          </p:blipFill>
          <p:spPr>
            <a:xfrm>
              <a:off x="5720744" y="3637969"/>
              <a:ext cx="510016" cy="478630"/>
            </a:xfrm>
            <a:prstGeom prst="rect">
              <a:avLst/>
            </a:prstGeom>
            <a:effectLst>
              <a:glow rad="101600">
                <a:schemeClr val="bg1">
                  <a:alpha val="9000"/>
                </a:schemeClr>
              </a:glow>
            </a:effectLst>
          </p:spPr>
        </p:pic>
        <p:pic>
          <p:nvPicPr>
            <p:cNvPr id="14" name="Picture 13"/>
            <p:cNvPicPr>
              <a:picLocks noChangeAspect="1"/>
            </p:cNvPicPr>
            <p:nvPr/>
          </p:nvPicPr>
          <p:blipFill>
            <a:blip r:embed="rId2"/>
            <a:stretch>
              <a:fillRect/>
            </a:stretch>
          </p:blipFill>
          <p:spPr>
            <a:xfrm>
              <a:off x="5720744" y="4116599"/>
              <a:ext cx="510016" cy="478630"/>
            </a:xfrm>
            <a:prstGeom prst="rect">
              <a:avLst/>
            </a:prstGeom>
            <a:effectLst>
              <a:glow rad="101600">
                <a:schemeClr val="bg1">
                  <a:alpha val="9000"/>
                </a:schemeClr>
              </a:glow>
            </a:effectLst>
          </p:spPr>
        </p:pic>
      </p:grpSp>
      <p:pic>
        <p:nvPicPr>
          <p:cNvPr id="3" name="Picture 2" descr="1194983813750083554server_mimooh_.svg.med.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8647" y="5624513"/>
            <a:ext cx="687483" cy="731837"/>
          </a:xfrm>
          <a:prstGeom prst="rect">
            <a:avLst/>
          </a:prstGeom>
        </p:spPr>
      </p:pic>
      <p:sp>
        <p:nvSpPr>
          <p:cNvPr id="15" name="TextBox 14"/>
          <p:cNvSpPr txBox="1"/>
          <p:nvPr/>
        </p:nvSpPr>
        <p:spPr>
          <a:xfrm>
            <a:off x="2549262" y="5271379"/>
            <a:ext cx="1225666" cy="369332"/>
          </a:xfrm>
          <a:prstGeom prst="rect">
            <a:avLst/>
          </a:prstGeom>
          <a:noFill/>
        </p:spPr>
        <p:txBody>
          <a:bodyPr wrap="none" rtlCol="0">
            <a:spAutoFit/>
          </a:bodyPr>
          <a:lstStyle/>
          <a:p>
            <a:r>
              <a:rPr lang="en-US" dirty="0" smtClean="0"/>
              <a:t>C&amp;C server</a:t>
            </a:r>
            <a:endParaRPr lang="en-US" dirty="0"/>
          </a:p>
        </p:txBody>
      </p:sp>
      <p:cxnSp>
        <p:nvCxnSpPr>
          <p:cNvPr id="17" name="Straight Arrow Connector 16"/>
          <p:cNvCxnSpPr>
            <a:stCxn id="11" idx="3"/>
          </p:cNvCxnSpPr>
          <p:nvPr/>
        </p:nvCxnSpPr>
        <p:spPr>
          <a:xfrm>
            <a:off x="1522990" y="5492422"/>
            <a:ext cx="1026272" cy="23931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a:off x="1522990" y="5986596"/>
            <a:ext cx="102627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1522990" y="6225911"/>
            <a:ext cx="1026272" cy="20326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0547123"/>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does DNS work?</a:t>
            </a:r>
            <a:endParaRPr lang="en-US" dirty="0"/>
          </a:p>
        </p:txBody>
      </p:sp>
      <p:pic>
        <p:nvPicPr>
          <p:cNvPr id="4" name="Picture 6" descr="j0195384"/>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74914" y="3134253"/>
            <a:ext cx="767669" cy="94462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808080">
                      <a:alpha val="74998"/>
                    </a:srgbClr>
                  </a:outerShdw>
                </a:effectLst>
              </a14:hiddenEffects>
            </a:ext>
          </a:extLst>
        </p:spPr>
      </p:pic>
      <p:sp>
        <p:nvSpPr>
          <p:cNvPr id="5" name="tower"/>
          <p:cNvSpPr>
            <a:spLocks noEditPoints="1" noChangeArrowheads="1"/>
          </p:cNvSpPr>
          <p:nvPr/>
        </p:nvSpPr>
        <p:spPr bwMode="auto">
          <a:xfrm>
            <a:off x="3297173" y="3212856"/>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7" name="tower"/>
          <p:cNvSpPr>
            <a:spLocks noEditPoints="1" noChangeArrowheads="1"/>
          </p:cNvSpPr>
          <p:nvPr/>
        </p:nvSpPr>
        <p:spPr bwMode="auto">
          <a:xfrm>
            <a:off x="6565318" y="1623542"/>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8" name="tower"/>
          <p:cNvSpPr>
            <a:spLocks noEditPoints="1" noChangeArrowheads="1"/>
          </p:cNvSpPr>
          <p:nvPr/>
        </p:nvSpPr>
        <p:spPr bwMode="auto">
          <a:xfrm>
            <a:off x="6565318" y="3134253"/>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sp>
        <p:nvSpPr>
          <p:cNvPr id="9" name="tower"/>
          <p:cNvSpPr>
            <a:spLocks noEditPoints="1" noChangeArrowheads="1"/>
          </p:cNvSpPr>
          <p:nvPr/>
        </p:nvSpPr>
        <p:spPr bwMode="auto">
          <a:xfrm>
            <a:off x="6565318" y="4744114"/>
            <a:ext cx="541844" cy="866020"/>
          </a:xfrm>
          <a:custGeom>
            <a:avLst/>
            <a:gdLst>
              <a:gd name="T0" fmla="*/ 0 w 21600"/>
              <a:gd name="T1" fmla="*/ 2184 h 21600"/>
              <a:gd name="T2" fmla="*/ 6664 w 21600"/>
              <a:gd name="T3" fmla="*/ 0 h 21600"/>
              <a:gd name="T4" fmla="*/ 10800 w 21600"/>
              <a:gd name="T5" fmla="*/ 0 h 21600"/>
              <a:gd name="T6" fmla="*/ 21600 w 21600"/>
              <a:gd name="T7" fmla="*/ 0 h 21600"/>
              <a:gd name="T8" fmla="*/ 21600 w 21600"/>
              <a:gd name="T9" fmla="*/ 11649 h 21600"/>
              <a:gd name="T10" fmla="*/ 21600 w 21600"/>
              <a:gd name="T11" fmla="*/ 19416 h 21600"/>
              <a:gd name="T12" fmla="*/ 15166 w 21600"/>
              <a:gd name="T13" fmla="*/ 21600 h 21600"/>
              <a:gd name="T14" fmla="*/ 10570 w 21600"/>
              <a:gd name="T15" fmla="*/ 21600 h 21600"/>
              <a:gd name="T16" fmla="*/ 0 w 21600"/>
              <a:gd name="T17" fmla="*/ 21600 h 21600"/>
              <a:gd name="T18" fmla="*/ 0 w 21600"/>
              <a:gd name="T19" fmla="*/ 11528 h 21600"/>
              <a:gd name="T20" fmla="*/ 459 w 21600"/>
              <a:gd name="T21" fmla="*/ 22540 h 21600"/>
              <a:gd name="T22" fmla="*/ 21485 w 21600"/>
              <a:gd name="T23" fmla="*/ 27000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T20" t="T21" r="T22" b="T2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sz="1200" dirty="0"/>
          </a:p>
          <a:p>
            <a:endParaRPr lang="en-US" dirty="0"/>
          </a:p>
        </p:txBody>
      </p:sp>
      <p:cxnSp>
        <p:nvCxnSpPr>
          <p:cNvPr id="11" name="Straight Arrow Connector 10"/>
          <p:cNvCxnSpPr/>
          <p:nvPr/>
        </p:nvCxnSpPr>
        <p:spPr>
          <a:xfrm>
            <a:off x="1753809" y="3580191"/>
            <a:ext cx="128209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flipV="1">
            <a:off x="4010781" y="2068286"/>
            <a:ext cx="2423886" cy="133773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4010781" y="2385182"/>
            <a:ext cx="2252133" cy="11950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flipV="1">
            <a:off x="4010782" y="3580191"/>
            <a:ext cx="2423885" cy="1524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a:off x="4010781" y="3732591"/>
            <a:ext cx="2276325" cy="13788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a:off x="4010782" y="4090971"/>
            <a:ext cx="2423885" cy="86807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H="1" flipV="1">
            <a:off x="3839017" y="4245429"/>
            <a:ext cx="2595650" cy="93066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p:nvPr/>
        </p:nvCxnSpPr>
        <p:spPr>
          <a:xfrm flipH="1">
            <a:off x="1738080" y="3813448"/>
            <a:ext cx="129782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648215" y="3175083"/>
            <a:ext cx="1438577" cy="369332"/>
          </a:xfrm>
          <a:prstGeom prst="rect">
            <a:avLst/>
          </a:prstGeom>
          <a:noFill/>
        </p:spPr>
        <p:txBody>
          <a:bodyPr wrap="none" rtlCol="0">
            <a:spAutoFit/>
          </a:bodyPr>
          <a:lstStyle/>
          <a:p>
            <a:r>
              <a:rPr lang="en-US" dirty="0" err="1" smtClean="0"/>
              <a:t>cash.foo.com</a:t>
            </a:r>
            <a:endParaRPr lang="en-US" dirty="0"/>
          </a:p>
        </p:txBody>
      </p:sp>
      <p:sp>
        <p:nvSpPr>
          <p:cNvPr id="28" name="TextBox 27"/>
          <p:cNvSpPr txBox="1"/>
          <p:nvPr/>
        </p:nvSpPr>
        <p:spPr>
          <a:xfrm>
            <a:off x="3096381" y="2577706"/>
            <a:ext cx="992579" cy="523220"/>
          </a:xfrm>
          <a:prstGeom prst="rect">
            <a:avLst/>
          </a:prstGeom>
          <a:noFill/>
        </p:spPr>
        <p:txBody>
          <a:bodyPr wrap="none" rtlCol="0">
            <a:spAutoFit/>
          </a:bodyPr>
          <a:lstStyle/>
          <a:p>
            <a:r>
              <a:rPr lang="en-US" sz="1400" dirty="0" smtClean="0"/>
              <a:t>Recursive</a:t>
            </a:r>
          </a:p>
          <a:p>
            <a:r>
              <a:rPr lang="en-US" sz="1400" dirty="0" smtClean="0"/>
              <a:t>DNS server</a:t>
            </a:r>
            <a:endParaRPr lang="en-US" sz="1400" dirty="0"/>
          </a:p>
        </p:txBody>
      </p:sp>
      <p:sp>
        <p:nvSpPr>
          <p:cNvPr id="29" name="TextBox 28"/>
          <p:cNvSpPr txBox="1"/>
          <p:nvPr/>
        </p:nvSpPr>
        <p:spPr>
          <a:xfrm>
            <a:off x="7191829" y="1361932"/>
            <a:ext cx="1031051" cy="307777"/>
          </a:xfrm>
          <a:prstGeom prst="rect">
            <a:avLst/>
          </a:prstGeom>
          <a:noFill/>
        </p:spPr>
        <p:txBody>
          <a:bodyPr wrap="none" rtlCol="0">
            <a:spAutoFit/>
          </a:bodyPr>
          <a:lstStyle/>
          <a:p>
            <a:r>
              <a:rPr lang="en-US" sz="1400" dirty="0" smtClean="0"/>
              <a:t>Root server</a:t>
            </a:r>
            <a:endParaRPr lang="en-US" sz="1400" dirty="0"/>
          </a:p>
        </p:txBody>
      </p:sp>
      <p:sp>
        <p:nvSpPr>
          <p:cNvPr id="30" name="TextBox 29"/>
          <p:cNvSpPr txBox="1"/>
          <p:nvPr/>
        </p:nvSpPr>
        <p:spPr>
          <a:xfrm>
            <a:off x="7324877" y="3098242"/>
            <a:ext cx="1018227" cy="307777"/>
          </a:xfrm>
          <a:prstGeom prst="rect">
            <a:avLst/>
          </a:prstGeom>
          <a:noFill/>
        </p:spPr>
        <p:txBody>
          <a:bodyPr wrap="none" rtlCol="0">
            <a:spAutoFit/>
          </a:bodyPr>
          <a:lstStyle/>
          <a:p>
            <a:r>
              <a:rPr lang="en-US" sz="1400" dirty="0" smtClean="0"/>
              <a:t>Com server</a:t>
            </a:r>
            <a:endParaRPr lang="en-US" sz="1400" dirty="0"/>
          </a:p>
        </p:txBody>
      </p:sp>
      <p:sp>
        <p:nvSpPr>
          <p:cNvPr id="31" name="TextBox 30"/>
          <p:cNvSpPr txBox="1"/>
          <p:nvPr/>
        </p:nvSpPr>
        <p:spPr>
          <a:xfrm>
            <a:off x="7324877" y="4805159"/>
            <a:ext cx="928459" cy="307777"/>
          </a:xfrm>
          <a:prstGeom prst="rect">
            <a:avLst/>
          </a:prstGeom>
          <a:noFill/>
        </p:spPr>
        <p:txBody>
          <a:bodyPr wrap="none" rtlCol="0">
            <a:spAutoFit/>
          </a:bodyPr>
          <a:lstStyle/>
          <a:p>
            <a:r>
              <a:rPr lang="en-US" sz="1400" dirty="0"/>
              <a:t>f</a:t>
            </a:r>
            <a:r>
              <a:rPr lang="en-US" sz="1400" dirty="0" smtClean="0"/>
              <a:t>oo server</a:t>
            </a:r>
            <a:endParaRPr lang="en-US" sz="1400" dirty="0"/>
          </a:p>
        </p:txBody>
      </p:sp>
      <p:sp>
        <p:nvSpPr>
          <p:cNvPr id="32" name="TextBox 31"/>
          <p:cNvSpPr txBox="1"/>
          <p:nvPr/>
        </p:nvSpPr>
        <p:spPr>
          <a:xfrm rot="19909190">
            <a:off x="4193216" y="2304895"/>
            <a:ext cx="1813793" cy="369332"/>
          </a:xfrm>
          <a:prstGeom prst="rect">
            <a:avLst/>
          </a:prstGeom>
          <a:noFill/>
        </p:spPr>
        <p:txBody>
          <a:bodyPr wrap="none" rtlCol="0">
            <a:spAutoFit/>
          </a:bodyPr>
          <a:lstStyle/>
          <a:p>
            <a:r>
              <a:rPr lang="en-US" dirty="0" smtClean="0"/>
              <a:t>“.com” server IP?</a:t>
            </a:r>
            <a:endParaRPr lang="en-US" dirty="0"/>
          </a:p>
        </p:txBody>
      </p:sp>
      <p:sp>
        <p:nvSpPr>
          <p:cNvPr id="34" name="TextBox 33"/>
          <p:cNvSpPr txBox="1"/>
          <p:nvPr/>
        </p:nvSpPr>
        <p:spPr>
          <a:xfrm rot="21316650">
            <a:off x="4111149" y="3301241"/>
            <a:ext cx="2185965" cy="369332"/>
          </a:xfrm>
          <a:prstGeom prst="rect">
            <a:avLst/>
          </a:prstGeom>
          <a:noFill/>
        </p:spPr>
        <p:txBody>
          <a:bodyPr wrap="none" rtlCol="0">
            <a:spAutoFit/>
          </a:bodyPr>
          <a:lstStyle/>
          <a:p>
            <a:r>
              <a:rPr lang="en-US" dirty="0" smtClean="0"/>
              <a:t>“.</a:t>
            </a:r>
            <a:r>
              <a:rPr lang="en-US" dirty="0" err="1" smtClean="0"/>
              <a:t>foo.com</a:t>
            </a:r>
            <a:r>
              <a:rPr lang="en-US" dirty="0" smtClean="0"/>
              <a:t>” server IP?</a:t>
            </a:r>
            <a:endParaRPr lang="en-US" dirty="0"/>
          </a:p>
        </p:txBody>
      </p:sp>
      <p:sp>
        <p:nvSpPr>
          <p:cNvPr id="36" name="TextBox 35"/>
          <p:cNvSpPr txBox="1"/>
          <p:nvPr/>
        </p:nvSpPr>
        <p:spPr>
          <a:xfrm rot="1107061">
            <a:off x="4299800" y="4182973"/>
            <a:ext cx="1968320" cy="369332"/>
          </a:xfrm>
          <a:prstGeom prst="rect">
            <a:avLst/>
          </a:prstGeom>
          <a:noFill/>
        </p:spPr>
        <p:txBody>
          <a:bodyPr wrap="none" rtlCol="0">
            <a:spAutoFit/>
          </a:bodyPr>
          <a:lstStyle/>
          <a:p>
            <a:r>
              <a:rPr lang="en-US" dirty="0" smtClean="0"/>
              <a:t>“</a:t>
            </a:r>
            <a:r>
              <a:rPr lang="en-US" dirty="0" err="1" smtClean="0"/>
              <a:t>cash.foo.com</a:t>
            </a:r>
            <a:r>
              <a:rPr lang="en-US" dirty="0" smtClean="0"/>
              <a:t>” IP?</a:t>
            </a:r>
            <a:endParaRPr lang="en-US" dirty="0"/>
          </a:p>
        </p:txBody>
      </p:sp>
      <p:sp>
        <p:nvSpPr>
          <p:cNvPr id="37" name="TextBox 36"/>
          <p:cNvSpPr txBox="1"/>
          <p:nvPr/>
        </p:nvSpPr>
        <p:spPr>
          <a:xfrm rot="1194034">
            <a:off x="3975896" y="4807319"/>
            <a:ext cx="2206591" cy="369332"/>
          </a:xfrm>
          <a:prstGeom prst="rect">
            <a:avLst/>
          </a:prstGeom>
          <a:noFill/>
        </p:spPr>
        <p:txBody>
          <a:bodyPr wrap="none" rtlCol="0">
            <a:spAutoFit/>
          </a:bodyPr>
          <a:lstStyle/>
          <a:p>
            <a:r>
              <a:rPr lang="en-US" dirty="0" err="1" smtClean="0"/>
              <a:t>cash.foo.com</a:t>
            </a:r>
            <a:r>
              <a:rPr lang="en-US" dirty="0" smtClean="0"/>
              <a:t>: X.X.X.X</a:t>
            </a:r>
          </a:p>
        </p:txBody>
      </p:sp>
      <p:sp>
        <p:nvSpPr>
          <p:cNvPr id="38" name="TextBox 37"/>
          <p:cNvSpPr txBox="1"/>
          <p:nvPr/>
        </p:nvSpPr>
        <p:spPr>
          <a:xfrm>
            <a:off x="1167210" y="4069006"/>
            <a:ext cx="2206591" cy="369332"/>
          </a:xfrm>
          <a:prstGeom prst="rect">
            <a:avLst/>
          </a:prstGeom>
          <a:noFill/>
        </p:spPr>
        <p:txBody>
          <a:bodyPr wrap="none" rtlCol="0">
            <a:spAutoFit/>
          </a:bodyPr>
          <a:lstStyle/>
          <a:p>
            <a:r>
              <a:rPr lang="en-US" dirty="0" err="1" smtClean="0"/>
              <a:t>cash.foo.com</a:t>
            </a:r>
            <a:r>
              <a:rPr lang="en-US" dirty="0" smtClean="0"/>
              <a:t>: X.X.X.X</a:t>
            </a:r>
          </a:p>
        </p:txBody>
      </p:sp>
    </p:spTree>
    <p:extLst>
      <p:ext uri="{BB962C8B-B14F-4D97-AF65-F5344CB8AC3E}">
        <p14:creationId xmlns:p14="http://schemas.microsoft.com/office/powerpoint/2010/main" val="2984976448"/>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Robust C&amp;Cs – Round 2</a:t>
            </a:r>
            <a:endParaRPr lang="en-US" dirty="0"/>
          </a:p>
        </p:txBody>
      </p:sp>
      <p:sp>
        <p:nvSpPr>
          <p:cNvPr id="5" name="Text Placeholder 4"/>
          <p:cNvSpPr>
            <a:spLocks noGrp="1"/>
          </p:cNvSpPr>
          <p:nvPr>
            <p:ph type="body" idx="1"/>
          </p:nvPr>
        </p:nvSpPr>
        <p:spPr/>
        <p:txBody>
          <a:bodyPr/>
          <a:lstStyle/>
          <a:p>
            <a:r>
              <a:rPr lang="en-US" dirty="0" smtClean="0"/>
              <a:t>A Bot</a:t>
            </a:r>
            <a:endParaRPr lang="en-US" dirty="0"/>
          </a:p>
        </p:txBody>
      </p:sp>
      <p:sp>
        <p:nvSpPr>
          <p:cNvPr id="6" name="Content Placeholder 5"/>
          <p:cNvSpPr>
            <a:spLocks noGrp="1"/>
          </p:cNvSpPr>
          <p:nvPr>
            <p:ph sz="half" idx="2"/>
          </p:nvPr>
        </p:nvSpPr>
        <p:spPr>
          <a:xfrm>
            <a:off x="457200" y="2174876"/>
            <a:ext cx="4040188" cy="2210590"/>
          </a:xfrm>
        </p:spPr>
        <p:txBody>
          <a:bodyPr>
            <a:normAutofit fontScale="92500" lnSpcReduction="20000"/>
          </a:bodyPr>
          <a:lstStyle/>
          <a:p>
            <a:r>
              <a:rPr lang="en-US" dirty="0" smtClean="0"/>
              <a:t>Use DNS to add more agility to the C&amp;C server</a:t>
            </a:r>
          </a:p>
          <a:p>
            <a:pPr lvl="1"/>
            <a:r>
              <a:rPr lang="en-US" dirty="0" smtClean="0"/>
              <a:t>E.g., give new IP every time when a bot issues the DNS query</a:t>
            </a:r>
          </a:p>
          <a:p>
            <a:pPr lvl="1"/>
            <a:endParaRPr lang="en-US" dirty="0" smtClean="0"/>
          </a:p>
          <a:p>
            <a:r>
              <a:rPr lang="en-US" dirty="0" smtClean="0"/>
              <a:t>Centralized C&amp;C</a:t>
            </a:r>
            <a:endParaRPr lang="en-US" dirty="0"/>
          </a:p>
        </p:txBody>
      </p:sp>
      <p:sp>
        <p:nvSpPr>
          <p:cNvPr id="7" name="Text Placeholder 6"/>
          <p:cNvSpPr>
            <a:spLocks noGrp="1"/>
          </p:cNvSpPr>
          <p:nvPr>
            <p:ph type="body" sz="quarter" idx="3"/>
          </p:nvPr>
        </p:nvSpPr>
        <p:spPr/>
        <p:txBody>
          <a:bodyPr/>
          <a:lstStyle/>
          <a:p>
            <a:r>
              <a:rPr lang="en-US" dirty="0" smtClean="0"/>
              <a:t>Disruption Strategy</a:t>
            </a:r>
            <a:endParaRPr lang="en-US" dirty="0"/>
          </a:p>
        </p:txBody>
      </p:sp>
      <p:sp>
        <p:nvSpPr>
          <p:cNvPr id="8" name="Content Placeholder 7"/>
          <p:cNvSpPr>
            <a:spLocks noGrp="1"/>
          </p:cNvSpPr>
          <p:nvPr>
            <p:ph sz="quarter" idx="4"/>
          </p:nvPr>
        </p:nvSpPr>
        <p:spPr/>
        <p:txBody>
          <a:bodyPr>
            <a:normAutofit fontScale="85000" lnSpcReduction="20000"/>
          </a:bodyPr>
          <a:lstStyle/>
          <a:p>
            <a:r>
              <a:rPr lang="en-US" dirty="0" smtClean="0"/>
              <a:t>IP + firewall may not work well</a:t>
            </a:r>
          </a:p>
          <a:p>
            <a:endParaRPr lang="en-US" dirty="0" smtClean="0"/>
          </a:p>
          <a:p>
            <a:r>
              <a:rPr lang="en-US" dirty="0" smtClean="0"/>
              <a:t>Execute the binary</a:t>
            </a:r>
          </a:p>
          <a:p>
            <a:endParaRPr lang="en-US" dirty="0" smtClean="0"/>
          </a:p>
          <a:p>
            <a:r>
              <a:rPr lang="en-US" dirty="0" smtClean="0"/>
              <a:t>Hijack the malicious domain in your network</a:t>
            </a:r>
          </a:p>
          <a:p>
            <a:endParaRPr lang="en-US" dirty="0"/>
          </a:p>
          <a:p>
            <a:r>
              <a:rPr lang="en-US" dirty="0" smtClean="0"/>
              <a:t>Collaborate with DNS service to disrupt the DNS record</a:t>
            </a:r>
          </a:p>
          <a:p>
            <a:pPr lvl="1"/>
            <a:r>
              <a:rPr lang="en-US" dirty="0" smtClean="0"/>
              <a:t>You may not be able to do it</a:t>
            </a:r>
          </a:p>
          <a:p>
            <a:endParaRPr lang="en-US" dirty="0"/>
          </a:p>
          <a:p>
            <a:r>
              <a:rPr lang="en-US" dirty="0" smtClean="0"/>
              <a:t>Take down the C&amp;C server(s) if you can</a:t>
            </a:r>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65</a:t>
            </a:fld>
            <a:endParaRPr lang="en-US"/>
          </a:p>
        </p:txBody>
      </p:sp>
      <p:sp>
        <p:nvSpPr>
          <p:cNvPr id="9" name="Content Placeholder 5"/>
          <p:cNvSpPr txBox="1">
            <a:spLocks/>
          </p:cNvSpPr>
          <p:nvPr/>
        </p:nvSpPr>
        <p:spPr>
          <a:xfrm>
            <a:off x="533396" y="4629442"/>
            <a:ext cx="3623733" cy="1732442"/>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fontScale="77500" lnSpcReduction="20000"/>
          </a:bodyPr>
          <a:lstStyle>
            <a:lvl1pPr marL="342900" indent="-342900" algn="l" defTabSz="457200" rtl="0" eaLnBrk="1" latinLnBrk="0" hangingPunct="1">
              <a:spcBef>
                <a:spcPct val="20000"/>
              </a:spcBef>
              <a:buFont typeface="Arial"/>
              <a:buChar char="•"/>
              <a:defRPr sz="2400" kern="1200">
                <a:solidFill>
                  <a:schemeClr val="dk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chemeClr val="dk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chemeClr val="dk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dk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dk1"/>
                </a:solidFill>
                <a:latin typeface="+mn-lt"/>
                <a:ea typeface="+mn-ea"/>
                <a:cs typeface="+mn-cs"/>
              </a:defRPr>
            </a:lvl5pPr>
            <a:lvl6pPr marL="2514600" indent="-228600" algn="l" defTabSz="457200" rtl="0" eaLnBrk="1" latinLnBrk="0" hangingPunct="1">
              <a:spcBef>
                <a:spcPct val="20000"/>
              </a:spcBef>
              <a:buFont typeface="Arial"/>
              <a:buChar char="•"/>
              <a:defRPr sz="1600" kern="1200">
                <a:solidFill>
                  <a:schemeClr val="dk1"/>
                </a:solidFill>
                <a:latin typeface="+mn-lt"/>
                <a:ea typeface="+mn-ea"/>
                <a:cs typeface="+mn-cs"/>
              </a:defRPr>
            </a:lvl6pPr>
            <a:lvl7pPr marL="2971800" indent="-228600" algn="l" defTabSz="457200" rtl="0" eaLnBrk="1" latinLnBrk="0" hangingPunct="1">
              <a:spcBef>
                <a:spcPct val="20000"/>
              </a:spcBef>
              <a:buFont typeface="Arial"/>
              <a:buChar char="•"/>
              <a:defRPr sz="1600" kern="1200">
                <a:solidFill>
                  <a:schemeClr val="dk1"/>
                </a:solidFill>
                <a:latin typeface="+mn-lt"/>
                <a:ea typeface="+mn-ea"/>
                <a:cs typeface="+mn-cs"/>
              </a:defRPr>
            </a:lvl7pPr>
            <a:lvl8pPr marL="3429000" indent="-228600" algn="l" defTabSz="457200" rtl="0" eaLnBrk="1" latinLnBrk="0" hangingPunct="1">
              <a:spcBef>
                <a:spcPct val="20000"/>
              </a:spcBef>
              <a:buFont typeface="Arial"/>
              <a:buChar char="•"/>
              <a:defRPr sz="1600" kern="1200">
                <a:solidFill>
                  <a:schemeClr val="dk1"/>
                </a:solidFill>
                <a:latin typeface="+mn-lt"/>
                <a:ea typeface="+mn-ea"/>
                <a:cs typeface="+mn-cs"/>
              </a:defRPr>
            </a:lvl8pPr>
            <a:lvl9pPr marL="3886200" indent="-228600" algn="l" defTabSz="457200" rtl="0" eaLnBrk="1" latinLnBrk="0" hangingPunct="1">
              <a:spcBef>
                <a:spcPct val="20000"/>
              </a:spcBef>
              <a:buFont typeface="Arial"/>
              <a:buChar char="•"/>
              <a:defRPr sz="1600" kern="1200">
                <a:solidFill>
                  <a:schemeClr val="dk1"/>
                </a:solidFill>
                <a:latin typeface="+mn-lt"/>
                <a:ea typeface="+mn-ea"/>
                <a:cs typeface="+mn-cs"/>
              </a:defRPr>
            </a:lvl9pPr>
          </a:lstStyle>
          <a:p>
            <a:pPr marL="0" indent="0">
              <a:buFont typeface="Arial"/>
              <a:buNone/>
            </a:pPr>
            <a:r>
              <a:rPr lang="en-US" sz="1800" dirty="0" smtClean="0">
                <a:latin typeface="Times"/>
                <a:cs typeface="Times"/>
              </a:rPr>
              <a:t>main(){</a:t>
            </a:r>
          </a:p>
          <a:p>
            <a:pPr marL="0" indent="0">
              <a:buFont typeface="Arial"/>
              <a:buNone/>
            </a:pPr>
            <a:r>
              <a:rPr lang="en-US" sz="1800" dirty="0" smtClean="0">
                <a:latin typeface="Times"/>
                <a:cs typeface="Times"/>
              </a:rPr>
              <a:t>	</a:t>
            </a:r>
            <a:r>
              <a:rPr lang="en-US" sz="1800" b="1" dirty="0" err="1" smtClean="0">
                <a:solidFill>
                  <a:srgbClr val="3366FF"/>
                </a:solidFill>
                <a:latin typeface="Times"/>
                <a:cs typeface="Times"/>
              </a:rPr>
              <a:t>cnc</a:t>
            </a:r>
            <a:r>
              <a:rPr lang="en-US" sz="1800" b="1" dirty="0" smtClean="0">
                <a:solidFill>
                  <a:srgbClr val="3366FF"/>
                </a:solidFill>
                <a:latin typeface="Times"/>
                <a:cs typeface="Times"/>
              </a:rPr>
              <a:t> = connect(“</a:t>
            </a:r>
            <a:r>
              <a:rPr lang="en-US" sz="1800" b="1" dirty="0" err="1" smtClean="0">
                <a:solidFill>
                  <a:srgbClr val="3366FF"/>
                </a:solidFill>
                <a:latin typeface="Times"/>
                <a:cs typeface="Times"/>
              </a:rPr>
              <a:t>www.malicious.com</a:t>
            </a:r>
            <a:r>
              <a:rPr lang="en-US" sz="1800" b="1" dirty="0" smtClean="0">
                <a:solidFill>
                  <a:srgbClr val="3366FF"/>
                </a:solidFill>
                <a:latin typeface="Times"/>
                <a:cs typeface="Times"/>
              </a:rPr>
              <a:t>”);</a:t>
            </a:r>
          </a:p>
          <a:p>
            <a:pPr marL="0" indent="0">
              <a:buFont typeface="Arial"/>
              <a:buNone/>
            </a:pPr>
            <a:r>
              <a:rPr lang="en-US" sz="1800" dirty="0" smtClean="0">
                <a:latin typeface="Times"/>
                <a:cs typeface="Times"/>
              </a:rPr>
              <a:t>       	while(every 5 minutes){	</a:t>
            </a:r>
          </a:p>
          <a:p>
            <a:pPr marL="0" indent="0">
              <a:buFont typeface="Arial"/>
              <a:buNone/>
            </a:pPr>
            <a:r>
              <a:rPr lang="en-US" sz="1800" dirty="0" smtClean="0">
                <a:latin typeface="Times"/>
                <a:cs typeface="Times"/>
              </a:rPr>
              <a:t>		</a:t>
            </a:r>
            <a:r>
              <a:rPr lang="en-US" sz="1800" dirty="0" err="1" smtClean="0">
                <a:latin typeface="Times"/>
                <a:cs typeface="Times"/>
              </a:rPr>
              <a:t>msg</a:t>
            </a:r>
            <a:r>
              <a:rPr lang="en-US" sz="1800" dirty="0" smtClean="0">
                <a:latin typeface="Times"/>
                <a:cs typeface="Times"/>
              </a:rPr>
              <a:t> = </a:t>
            </a:r>
            <a:r>
              <a:rPr lang="en-US" sz="1800" dirty="0" err="1" smtClean="0">
                <a:latin typeface="Times"/>
                <a:cs typeface="Times"/>
              </a:rPr>
              <a:t>cnc.read</a:t>
            </a:r>
            <a:r>
              <a:rPr lang="en-US" sz="1800" dirty="0" smtClean="0">
                <a:latin typeface="Times"/>
                <a:cs typeface="Times"/>
              </a:rPr>
              <a:t>(); </a:t>
            </a:r>
          </a:p>
          <a:p>
            <a:pPr marL="0" indent="0">
              <a:buFont typeface="Arial"/>
              <a:buNone/>
            </a:pPr>
            <a:r>
              <a:rPr lang="en-US" sz="1800" dirty="0" smtClean="0">
                <a:latin typeface="Times"/>
                <a:cs typeface="Times"/>
              </a:rPr>
              <a:t>		……</a:t>
            </a:r>
          </a:p>
          <a:p>
            <a:pPr marL="0" indent="0">
              <a:buFont typeface="Arial"/>
              <a:buNone/>
            </a:pPr>
            <a:r>
              <a:rPr lang="en-US" sz="1800" dirty="0" smtClean="0">
                <a:latin typeface="Times"/>
                <a:cs typeface="Times"/>
              </a:rPr>
              <a:t>	}</a:t>
            </a:r>
          </a:p>
          <a:p>
            <a:pPr marL="0" indent="0">
              <a:buFont typeface="Arial"/>
              <a:buNone/>
            </a:pPr>
            <a:r>
              <a:rPr lang="en-US" sz="1800" dirty="0" smtClean="0">
                <a:latin typeface="Times"/>
                <a:cs typeface="Times"/>
              </a:rPr>
              <a:t>}</a:t>
            </a:r>
            <a:endParaRPr lang="en-US" sz="1800" dirty="0">
              <a:latin typeface="Times"/>
              <a:cs typeface="Times"/>
            </a:endParaRPr>
          </a:p>
        </p:txBody>
      </p:sp>
    </p:spTree>
    <p:extLst>
      <p:ext uri="{BB962C8B-B14F-4D97-AF65-F5344CB8AC3E}">
        <p14:creationId xmlns:p14="http://schemas.microsoft.com/office/powerpoint/2010/main" val="2870015529"/>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Robust C&amp;Cs – Round 3</a:t>
            </a:r>
            <a:endParaRPr lang="en-US" dirty="0"/>
          </a:p>
        </p:txBody>
      </p:sp>
      <p:sp>
        <p:nvSpPr>
          <p:cNvPr id="5" name="Text Placeholder 4"/>
          <p:cNvSpPr>
            <a:spLocks noGrp="1"/>
          </p:cNvSpPr>
          <p:nvPr>
            <p:ph type="body" idx="1"/>
          </p:nvPr>
        </p:nvSpPr>
        <p:spPr/>
        <p:txBody>
          <a:bodyPr/>
          <a:lstStyle/>
          <a:p>
            <a:r>
              <a:rPr lang="en-US" dirty="0" smtClean="0"/>
              <a:t>A Bot</a:t>
            </a:r>
            <a:endParaRPr lang="en-US" dirty="0"/>
          </a:p>
        </p:txBody>
      </p:sp>
      <p:sp>
        <p:nvSpPr>
          <p:cNvPr id="6" name="Content Placeholder 5"/>
          <p:cNvSpPr>
            <a:spLocks noGrp="1"/>
          </p:cNvSpPr>
          <p:nvPr>
            <p:ph sz="half" idx="2"/>
          </p:nvPr>
        </p:nvSpPr>
        <p:spPr/>
        <p:txBody>
          <a:bodyPr>
            <a:normAutofit/>
          </a:bodyPr>
          <a:lstStyle/>
          <a:p>
            <a:r>
              <a:rPr lang="en-US" dirty="0" smtClean="0"/>
              <a:t>User automatically generated DNS</a:t>
            </a:r>
          </a:p>
          <a:p>
            <a:pPr lvl="1"/>
            <a:r>
              <a:rPr lang="en-US" dirty="0" smtClean="0"/>
              <a:t>E.g., automatically generate a new domain name every day;</a:t>
            </a:r>
          </a:p>
          <a:p>
            <a:pPr lvl="1"/>
            <a:endParaRPr lang="en-US" dirty="0" smtClean="0"/>
          </a:p>
          <a:p>
            <a:r>
              <a:rPr lang="en-US" dirty="0" smtClean="0"/>
              <a:t>Attacker randomly pick one domain for each day and register the domain</a:t>
            </a:r>
            <a:endParaRPr lang="en-US" dirty="0"/>
          </a:p>
        </p:txBody>
      </p:sp>
      <p:sp>
        <p:nvSpPr>
          <p:cNvPr id="7" name="Text Placeholder 6"/>
          <p:cNvSpPr>
            <a:spLocks noGrp="1"/>
          </p:cNvSpPr>
          <p:nvPr>
            <p:ph type="body" sz="quarter" idx="3"/>
          </p:nvPr>
        </p:nvSpPr>
        <p:spPr/>
        <p:txBody>
          <a:bodyPr/>
          <a:lstStyle/>
          <a:p>
            <a:r>
              <a:rPr lang="en-US" dirty="0" smtClean="0"/>
              <a:t>Disruption Strategy</a:t>
            </a:r>
            <a:endParaRPr lang="en-US" dirty="0"/>
          </a:p>
        </p:txBody>
      </p:sp>
      <p:sp>
        <p:nvSpPr>
          <p:cNvPr id="8" name="Content Placeholder 7"/>
          <p:cNvSpPr>
            <a:spLocks noGrp="1"/>
          </p:cNvSpPr>
          <p:nvPr>
            <p:ph sz="quarter" idx="4"/>
          </p:nvPr>
        </p:nvSpPr>
        <p:spPr/>
        <p:txBody>
          <a:bodyPr/>
          <a:lstStyle/>
          <a:p>
            <a:r>
              <a:rPr lang="en-US" dirty="0" smtClean="0"/>
              <a:t>Reverse engineering the bot executable and discover those automatically generated domains</a:t>
            </a:r>
          </a:p>
          <a:p>
            <a:endParaRPr lang="en-US" dirty="0" smtClean="0"/>
          </a:p>
          <a:p>
            <a:r>
              <a:rPr lang="en-US" dirty="0" smtClean="0"/>
              <a:t>Proactively register all of them (</a:t>
            </a:r>
            <a:r>
              <a:rPr lang="en-US" b="1" i="1" dirty="0" smtClean="0"/>
              <a:t>N</a:t>
            </a:r>
            <a:r>
              <a:rPr lang="en-US" dirty="0" smtClean="0"/>
              <a:t> domain names)</a:t>
            </a:r>
          </a:p>
          <a:p>
            <a:pPr lvl="1"/>
            <a:r>
              <a:rPr lang="en-US" dirty="0" smtClean="0"/>
              <a:t>Cost</a:t>
            </a:r>
            <a:r>
              <a:rPr lang="en-US" dirty="0"/>
              <a:t>: </a:t>
            </a:r>
            <a:r>
              <a:rPr lang="en-US" b="1" i="1" dirty="0"/>
              <a:t>N * </a:t>
            </a:r>
            <a:r>
              <a:rPr lang="en-US" b="1" i="1" dirty="0" smtClean="0"/>
              <a:t>R</a:t>
            </a:r>
          </a:p>
          <a:p>
            <a:pPr lvl="1"/>
            <a:r>
              <a:rPr lang="en-US" b="1" i="1" dirty="0" smtClean="0"/>
              <a:t>R</a:t>
            </a:r>
            <a:r>
              <a:rPr lang="en-US" b="1" i="1" dirty="0"/>
              <a:t>: </a:t>
            </a:r>
            <a:r>
              <a:rPr lang="en-US" dirty="0"/>
              <a:t>the cost to register one domain</a:t>
            </a:r>
          </a:p>
          <a:p>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66</a:t>
            </a:fld>
            <a:endParaRPr lang="en-US"/>
          </a:p>
        </p:txBody>
      </p:sp>
    </p:spTree>
    <p:extLst>
      <p:ext uri="{BB962C8B-B14F-4D97-AF65-F5344CB8AC3E}">
        <p14:creationId xmlns:p14="http://schemas.microsoft.com/office/powerpoint/2010/main" val="1364030379"/>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Robust C&amp;Cs – Round 4.1</a:t>
            </a:r>
            <a:endParaRPr lang="en-US" dirty="0"/>
          </a:p>
        </p:txBody>
      </p:sp>
      <p:sp>
        <p:nvSpPr>
          <p:cNvPr id="5" name="Text Placeholder 4"/>
          <p:cNvSpPr>
            <a:spLocks noGrp="1"/>
          </p:cNvSpPr>
          <p:nvPr>
            <p:ph type="body" idx="1"/>
          </p:nvPr>
        </p:nvSpPr>
        <p:spPr/>
        <p:txBody>
          <a:bodyPr/>
          <a:lstStyle/>
          <a:p>
            <a:r>
              <a:rPr lang="en-US" dirty="0" smtClean="0"/>
              <a:t>A Bot</a:t>
            </a:r>
            <a:endParaRPr lang="en-US" dirty="0"/>
          </a:p>
        </p:txBody>
      </p:sp>
      <p:sp>
        <p:nvSpPr>
          <p:cNvPr id="6" name="Content Placeholder 5"/>
          <p:cNvSpPr>
            <a:spLocks noGrp="1"/>
          </p:cNvSpPr>
          <p:nvPr>
            <p:ph sz="half" idx="2"/>
          </p:nvPr>
        </p:nvSpPr>
        <p:spPr/>
        <p:txBody>
          <a:bodyPr>
            <a:normAutofit fontScale="92500" lnSpcReduction="10000"/>
          </a:bodyPr>
          <a:lstStyle/>
          <a:p>
            <a:r>
              <a:rPr lang="en-US" dirty="0" smtClean="0"/>
              <a:t>User automatically generated DNS</a:t>
            </a:r>
          </a:p>
          <a:p>
            <a:pPr lvl="1"/>
            <a:r>
              <a:rPr lang="en-US" dirty="0" smtClean="0"/>
              <a:t>E.g., automatically generate </a:t>
            </a:r>
            <a:r>
              <a:rPr lang="en-US" sz="2600" b="1" i="1" dirty="0" smtClean="0"/>
              <a:t>a lot</a:t>
            </a:r>
            <a:r>
              <a:rPr lang="en-US" dirty="0" smtClean="0"/>
              <a:t> domain names every day;</a:t>
            </a:r>
          </a:p>
          <a:p>
            <a:pPr lvl="1"/>
            <a:r>
              <a:rPr lang="en-US" dirty="0" smtClean="0"/>
              <a:t>Query all of them;</a:t>
            </a:r>
          </a:p>
          <a:p>
            <a:pPr lvl="1"/>
            <a:r>
              <a:rPr lang="en-US" dirty="0" smtClean="0"/>
              <a:t>Use the IP that is successfully resolved;</a:t>
            </a:r>
          </a:p>
          <a:p>
            <a:pPr lvl="1"/>
            <a:endParaRPr lang="en-US" dirty="0" smtClean="0"/>
          </a:p>
          <a:p>
            <a:r>
              <a:rPr lang="en-US" dirty="0" smtClean="0"/>
              <a:t>Attacker randomly pick one domain for each day and register the domain</a:t>
            </a:r>
            <a:endParaRPr lang="en-US" dirty="0"/>
          </a:p>
        </p:txBody>
      </p:sp>
      <p:sp>
        <p:nvSpPr>
          <p:cNvPr id="7" name="Text Placeholder 6"/>
          <p:cNvSpPr>
            <a:spLocks noGrp="1"/>
          </p:cNvSpPr>
          <p:nvPr>
            <p:ph type="body" sz="quarter" idx="3"/>
          </p:nvPr>
        </p:nvSpPr>
        <p:spPr/>
        <p:txBody>
          <a:bodyPr/>
          <a:lstStyle/>
          <a:p>
            <a:r>
              <a:rPr lang="en-US" dirty="0" smtClean="0"/>
              <a:t>Disruption Strategy</a:t>
            </a:r>
            <a:endParaRPr lang="en-US" dirty="0"/>
          </a:p>
        </p:txBody>
      </p:sp>
      <p:sp>
        <p:nvSpPr>
          <p:cNvPr id="8" name="Content Placeholder 7"/>
          <p:cNvSpPr>
            <a:spLocks noGrp="1"/>
          </p:cNvSpPr>
          <p:nvPr>
            <p:ph sz="quarter" idx="4"/>
          </p:nvPr>
        </p:nvSpPr>
        <p:spPr/>
        <p:txBody>
          <a:bodyPr>
            <a:normAutofit lnSpcReduction="10000"/>
          </a:bodyPr>
          <a:lstStyle/>
          <a:p>
            <a:r>
              <a:rPr lang="en-US" dirty="0" smtClean="0"/>
              <a:t>Reverse engineering the bot executable and discover those automatically generated domains</a:t>
            </a:r>
          </a:p>
          <a:p>
            <a:endParaRPr lang="en-US" dirty="0" smtClean="0"/>
          </a:p>
          <a:p>
            <a:r>
              <a:rPr lang="en-US" dirty="0" smtClean="0"/>
              <a:t>Proactively register all of them (</a:t>
            </a:r>
            <a:r>
              <a:rPr lang="en-US" b="1" i="1" dirty="0" smtClean="0"/>
              <a:t>N</a:t>
            </a:r>
            <a:r>
              <a:rPr lang="en-US" dirty="0" smtClean="0"/>
              <a:t> domain names)</a:t>
            </a:r>
          </a:p>
          <a:p>
            <a:pPr lvl="1"/>
            <a:r>
              <a:rPr lang="en-US" dirty="0" smtClean="0"/>
              <a:t>Cost</a:t>
            </a:r>
            <a:r>
              <a:rPr lang="en-US" dirty="0"/>
              <a:t>: </a:t>
            </a:r>
            <a:r>
              <a:rPr lang="en-US" sz="3200" b="1" i="1" dirty="0"/>
              <a:t>N</a:t>
            </a:r>
            <a:r>
              <a:rPr lang="en-US" b="1" i="1" dirty="0"/>
              <a:t> * </a:t>
            </a:r>
            <a:r>
              <a:rPr lang="en-US" b="1" i="1" dirty="0" smtClean="0"/>
              <a:t>R</a:t>
            </a:r>
          </a:p>
          <a:p>
            <a:pPr lvl="1"/>
            <a:r>
              <a:rPr lang="en-US" b="1" i="1" dirty="0" smtClean="0"/>
              <a:t>R</a:t>
            </a:r>
            <a:r>
              <a:rPr lang="en-US" b="1" i="1" dirty="0"/>
              <a:t>: </a:t>
            </a:r>
            <a:r>
              <a:rPr lang="en-US" dirty="0"/>
              <a:t>the cost to register one domain</a:t>
            </a:r>
          </a:p>
          <a:p>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67</a:t>
            </a:fld>
            <a:endParaRPr lang="en-US"/>
          </a:p>
        </p:txBody>
      </p:sp>
      <p:sp>
        <p:nvSpPr>
          <p:cNvPr id="3" name="Rectangle 2"/>
          <p:cNvSpPr/>
          <p:nvPr/>
        </p:nvSpPr>
        <p:spPr>
          <a:xfrm>
            <a:off x="1286409" y="1254127"/>
            <a:ext cx="6600184" cy="400110"/>
          </a:xfrm>
          <a:prstGeom prst="rect">
            <a:avLst/>
          </a:prstGeom>
          <a:solidFill>
            <a:schemeClr val="bg1">
              <a:alpha val="66000"/>
            </a:schemeClr>
          </a:solidFill>
        </p:spPr>
        <p:txBody>
          <a:bodyPr wrap="none">
            <a:spAutoFit/>
          </a:bodyPr>
          <a:lstStyle/>
          <a:p>
            <a:r>
              <a:rPr lang="en-US" sz="2000" dirty="0" err="1" smtClean="0">
                <a:solidFill>
                  <a:srgbClr val="FF0000"/>
                </a:solidFill>
              </a:rPr>
              <a:t>Conficker</a:t>
            </a:r>
            <a:r>
              <a:rPr lang="en-US" sz="2000" dirty="0" smtClean="0">
                <a:solidFill>
                  <a:srgbClr val="FF0000"/>
                </a:solidFill>
              </a:rPr>
              <a:t> D variant: 50,000 </a:t>
            </a:r>
            <a:r>
              <a:rPr lang="en-US" sz="2000" dirty="0">
                <a:solidFill>
                  <a:srgbClr val="FF0000"/>
                </a:solidFill>
              </a:rPr>
              <a:t>domains across 110 </a:t>
            </a:r>
            <a:r>
              <a:rPr lang="en-US" sz="2000" dirty="0" smtClean="0">
                <a:solidFill>
                  <a:srgbClr val="FF0000"/>
                </a:solidFill>
              </a:rPr>
              <a:t>TLDs per day!</a:t>
            </a:r>
            <a:endParaRPr lang="en-US" sz="2000" dirty="0">
              <a:solidFill>
                <a:srgbClr val="FF0000"/>
              </a:solidFill>
            </a:endParaRPr>
          </a:p>
        </p:txBody>
      </p:sp>
    </p:spTree>
    <p:extLst>
      <p:ext uri="{BB962C8B-B14F-4D97-AF65-F5344CB8AC3E}">
        <p14:creationId xmlns:p14="http://schemas.microsoft.com/office/powerpoint/2010/main" val="152159777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Robust C&amp;Cs – Round 4.2</a:t>
            </a:r>
            <a:endParaRPr lang="en-US" dirty="0"/>
          </a:p>
        </p:txBody>
      </p:sp>
      <p:sp>
        <p:nvSpPr>
          <p:cNvPr id="5" name="Text Placeholder 4"/>
          <p:cNvSpPr>
            <a:spLocks noGrp="1"/>
          </p:cNvSpPr>
          <p:nvPr>
            <p:ph type="body" idx="1"/>
          </p:nvPr>
        </p:nvSpPr>
        <p:spPr/>
        <p:txBody>
          <a:bodyPr/>
          <a:lstStyle/>
          <a:p>
            <a:r>
              <a:rPr lang="en-US" dirty="0" smtClean="0"/>
              <a:t>A Bot</a:t>
            </a:r>
            <a:endParaRPr lang="en-US" dirty="0"/>
          </a:p>
        </p:txBody>
      </p:sp>
      <p:sp>
        <p:nvSpPr>
          <p:cNvPr id="6" name="Content Placeholder 5"/>
          <p:cNvSpPr>
            <a:spLocks noGrp="1"/>
          </p:cNvSpPr>
          <p:nvPr>
            <p:ph sz="half" idx="2"/>
          </p:nvPr>
        </p:nvSpPr>
        <p:spPr>
          <a:xfrm>
            <a:off x="457200" y="2174876"/>
            <a:ext cx="4040188" cy="1680680"/>
          </a:xfrm>
        </p:spPr>
        <p:txBody>
          <a:bodyPr>
            <a:normAutofit fontScale="92500"/>
          </a:bodyPr>
          <a:lstStyle/>
          <a:p>
            <a:r>
              <a:rPr lang="en-US" dirty="0" smtClean="0"/>
              <a:t>Eliminate the centralized C&amp;Cs</a:t>
            </a:r>
          </a:p>
          <a:p>
            <a:endParaRPr lang="en-US" dirty="0"/>
          </a:p>
          <a:p>
            <a:r>
              <a:rPr lang="en-US" dirty="0" smtClean="0"/>
              <a:t>Build a C&amp;C with peer-to-peer structure</a:t>
            </a:r>
            <a:endParaRPr lang="en-US" dirty="0"/>
          </a:p>
        </p:txBody>
      </p:sp>
      <p:sp>
        <p:nvSpPr>
          <p:cNvPr id="7" name="Text Placeholder 6"/>
          <p:cNvSpPr>
            <a:spLocks noGrp="1"/>
          </p:cNvSpPr>
          <p:nvPr>
            <p:ph type="body" sz="quarter" idx="3"/>
          </p:nvPr>
        </p:nvSpPr>
        <p:spPr/>
        <p:txBody>
          <a:bodyPr/>
          <a:lstStyle/>
          <a:p>
            <a:r>
              <a:rPr lang="en-US" dirty="0" smtClean="0"/>
              <a:t>Disruption Strategy</a:t>
            </a:r>
            <a:endParaRPr lang="en-US" dirty="0"/>
          </a:p>
        </p:txBody>
      </p:sp>
      <p:sp>
        <p:nvSpPr>
          <p:cNvPr id="8" name="Content Placeholder 7"/>
          <p:cNvSpPr>
            <a:spLocks noGrp="1"/>
          </p:cNvSpPr>
          <p:nvPr>
            <p:ph sz="quarter" idx="4"/>
          </p:nvPr>
        </p:nvSpPr>
        <p:spPr/>
        <p:txBody>
          <a:bodyPr>
            <a:normAutofit/>
          </a:bodyPr>
          <a:lstStyle/>
          <a:p>
            <a:r>
              <a:rPr lang="en-US" dirty="0" smtClean="0"/>
              <a:t>Identify bots and take them down. But the whole botnet is still functional unless a significantly large portion of peer-to-peer bots are taken down</a:t>
            </a:r>
            <a:endParaRPr lang="en-US" dirty="0"/>
          </a:p>
          <a:p>
            <a:endParaRPr lang="en-US" dirty="0"/>
          </a:p>
        </p:txBody>
      </p:sp>
      <p:sp>
        <p:nvSpPr>
          <p:cNvPr id="4" name="Slide Number Placeholder 3"/>
          <p:cNvSpPr>
            <a:spLocks noGrp="1"/>
          </p:cNvSpPr>
          <p:nvPr>
            <p:ph type="sldNum" sz="quarter" idx="12"/>
          </p:nvPr>
        </p:nvSpPr>
        <p:spPr/>
        <p:txBody>
          <a:bodyPr/>
          <a:lstStyle/>
          <a:p>
            <a:fld id="{47E8BE15-7F0B-0840-A9A0-04D3C81E96AD}" type="slidenum">
              <a:rPr lang="en-US" smtClean="0"/>
              <a:t>68</a:t>
            </a:fld>
            <a:endParaRPr lang="en-US"/>
          </a:p>
        </p:txBody>
      </p:sp>
      <p:grpSp>
        <p:nvGrpSpPr>
          <p:cNvPr id="54" name="Group 53"/>
          <p:cNvGrpSpPr/>
          <p:nvPr/>
        </p:nvGrpSpPr>
        <p:grpSpPr>
          <a:xfrm>
            <a:off x="1680318" y="4077149"/>
            <a:ext cx="2833481" cy="2511873"/>
            <a:chOff x="2374688" y="3437855"/>
            <a:chExt cx="2833481" cy="2511873"/>
          </a:xfrm>
        </p:grpSpPr>
        <p:pic>
          <p:nvPicPr>
            <p:cNvPr id="9" name="Picture 3"/>
            <p:cNvPicPr>
              <a:picLocks noChangeAspect="1"/>
            </p:cNvPicPr>
            <p:nvPr/>
          </p:nvPicPr>
          <p:blipFill>
            <a:blip r:embed="rId2"/>
            <a:stretch>
              <a:fillRect/>
            </a:stretch>
          </p:blipFill>
          <p:spPr>
            <a:xfrm>
              <a:off x="2374688" y="4597946"/>
              <a:ext cx="540940" cy="540704"/>
            </a:xfrm>
            <a:prstGeom prst="rect">
              <a:avLst/>
            </a:prstGeom>
            <a:effectLst>
              <a:glow rad="101600">
                <a:schemeClr val="bg1">
                  <a:alpha val="9000"/>
                </a:schemeClr>
              </a:glow>
            </a:effectLst>
          </p:spPr>
        </p:pic>
        <p:pic>
          <p:nvPicPr>
            <p:cNvPr id="10" name="Picture 9"/>
            <p:cNvPicPr>
              <a:picLocks noChangeAspect="1"/>
            </p:cNvPicPr>
            <p:nvPr/>
          </p:nvPicPr>
          <p:blipFill>
            <a:blip r:embed="rId2"/>
            <a:stretch>
              <a:fillRect/>
            </a:stretch>
          </p:blipFill>
          <p:spPr>
            <a:xfrm>
              <a:off x="3257882" y="5409024"/>
              <a:ext cx="540940" cy="540704"/>
            </a:xfrm>
            <a:prstGeom prst="rect">
              <a:avLst/>
            </a:prstGeom>
            <a:effectLst>
              <a:glow rad="101600">
                <a:schemeClr val="bg1">
                  <a:alpha val="9000"/>
                </a:schemeClr>
              </a:glow>
            </a:effectLst>
          </p:spPr>
        </p:pic>
        <p:pic>
          <p:nvPicPr>
            <p:cNvPr id="11" name="Picture 10"/>
            <p:cNvPicPr>
              <a:picLocks noChangeAspect="1"/>
            </p:cNvPicPr>
            <p:nvPr/>
          </p:nvPicPr>
          <p:blipFill>
            <a:blip r:embed="rId2"/>
            <a:stretch>
              <a:fillRect/>
            </a:stretch>
          </p:blipFill>
          <p:spPr>
            <a:xfrm>
              <a:off x="2967733" y="3437855"/>
              <a:ext cx="540940" cy="540704"/>
            </a:xfrm>
            <a:prstGeom prst="rect">
              <a:avLst/>
            </a:prstGeom>
            <a:effectLst>
              <a:glow rad="101600">
                <a:schemeClr val="bg1">
                  <a:alpha val="9000"/>
                </a:schemeClr>
              </a:glow>
            </a:effectLst>
          </p:spPr>
        </p:pic>
        <p:pic>
          <p:nvPicPr>
            <p:cNvPr id="12" name="Picture 11"/>
            <p:cNvPicPr>
              <a:picLocks noChangeAspect="1"/>
            </p:cNvPicPr>
            <p:nvPr/>
          </p:nvPicPr>
          <p:blipFill>
            <a:blip r:embed="rId2"/>
            <a:stretch>
              <a:fillRect/>
            </a:stretch>
          </p:blipFill>
          <p:spPr>
            <a:xfrm>
              <a:off x="4667229" y="4143727"/>
              <a:ext cx="540940" cy="540704"/>
            </a:xfrm>
            <a:prstGeom prst="rect">
              <a:avLst/>
            </a:prstGeom>
            <a:effectLst>
              <a:glow rad="101600">
                <a:schemeClr val="bg1">
                  <a:alpha val="9000"/>
                </a:schemeClr>
              </a:glow>
            </a:effectLst>
          </p:spPr>
        </p:pic>
        <p:pic>
          <p:nvPicPr>
            <p:cNvPr id="13" name="Picture 12"/>
            <p:cNvPicPr>
              <a:picLocks noChangeAspect="1"/>
            </p:cNvPicPr>
            <p:nvPr/>
          </p:nvPicPr>
          <p:blipFill>
            <a:blip r:embed="rId2"/>
            <a:stretch>
              <a:fillRect/>
            </a:stretch>
          </p:blipFill>
          <p:spPr>
            <a:xfrm>
              <a:off x="4377080" y="5119001"/>
              <a:ext cx="540940" cy="540704"/>
            </a:xfrm>
            <a:prstGeom prst="rect">
              <a:avLst/>
            </a:prstGeom>
            <a:effectLst>
              <a:glow rad="101600">
                <a:schemeClr val="bg1">
                  <a:alpha val="9000"/>
                </a:schemeClr>
              </a:glow>
            </a:effectLst>
          </p:spPr>
        </p:pic>
        <p:pic>
          <p:nvPicPr>
            <p:cNvPr id="14" name="Picture 13"/>
            <p:cNvPicPr>
              <a:picLocks noChangeAspect="1"/>
            </p:cNvPicPr>
            <p:nvPr/>
          </p:nvPicPr>
          <p:blipFill>
            <a:blip r:embed="rId2"/>
            <a:stretch>
              <a:fillRect/>
            </a:stretch>
          </p:blipFill>
          <p:spPr>
            <a:xfrm>
              <a:off x="4128329" y="3437855"/>
              <a:ext cx="540940" cy="540704"/>
            </a:xfrm>
            <a:prstGeom prst="rect">
              <a:avLst/>
            </a:prstGeom>
            <a:effectLst>
              <a:glow rad="101600">
                <a:schemeClr val="bg1">
                  <a:alpha val="9000"/>
                </a:schemeClr>
              </a:glow>
            </a:effectLst>
          </p:spPr>
        </p:pic>
        <p:cxnSp>
          <p:nvCxnSpPr>
            <p:cNvPr id="15" name="Straight Arrow Connector 14"/>
            <p:cNvCxnSpPr/>
            <p:nvPr/>
          </p:nvCxnSpPr>
          <p:spPr>
            <a:xfrm flipH="1">
              <a:off x="4708629" y="4684434"/>
              <a:ext cx="124574" cy="395227"/>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p:nvPr/>
          </p:nvCxnSpPr>
          <p:spPr>
            <a:xfrm>
              <a:off x="4377081" y="3988873"/>
              <a:ext cx="456122" cy="115515"/>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V="1">
              <a:off x="3082461" y="3921902"/>
              <a:ext cx="1045868" cy="762533"/>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flipV="1">
              <a:off x="2954987" y="4848629"/>
              <a:ext cx="740234" cy="52105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p:cNvCxnSpPr/>
            <p:nvPr/>
          </p:nvCxnSpPr>
          <p:spPr>
            <a:xfrm flipH="1">
              <a:off x="2819852" y="3978561"/>
              <a:ext cx="438032" cy="580045"/>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flipV="1">
              <a:off x="3172287" y="4422602"/>
              <a:ext cx="1494942" cy="401096"/>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1" name="Straight Arrow Connector 20"/>
            <p:cNvCxnSpPr/>
            <p:nvPr/>
          </p:nvCxnSpPr>
          <p:spPr>
            <a:xfrm flipV="1">
              <a:off x="3548031" y="3653158"/>
              <a:ext cx="379923" cy="2"/>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3838180" y="5523701"/>
              <a:ext cx="379923" cy="2"/>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23" name="TextBox 22"/>
          <p:cNvSpPr txBox="1"/>
          <p:nvPr/>
        </p:nvSpPr>
        <p:spPr>
          <a:xfrm>
            <a:off x="4645025" y="5215660"/>
            <a:ext cx="2540562" cy="461665"/>
          </a:xfrm>
          <a:prstGeom prst="rect">
            <a:avLst/>
          </a:prstGeom>
          <a:noFill/>
        </p:spPr>
        <p:txBody>
          <a:bodyPr wrap="square" rtlCol="0">
            <a:spAutoFit/>
          </a:bodyPr>
          <a:lstStyle/>
          <a:p>
            <a:r>
              <a:rPr lang="en-US" sz="2400" b="1" dirty="0" smtClean="0"/>
              <a:t>P2P </a:t>
            </a:r>
            <a:r>
              <a:rPr lang="en-US" sz="2400" b="1" dirty="0" err="1" smtClean="0"/>
              <a:t>Botnets</a:t>
            </a:r>
            <a:endParaRPr lang="en-US" sz="2400" b="1" dirty="0"/>
          </a:p>
        </p:txBody>
      </p:sp>
      <p:grpSp>
        <p:nvGrpSpPr>
          <p:cNvPr id="32" name="Group 127"/>
          <p:cNvGrpSpPr/>
          <p:nvPr/>
        </p:nvGrpSpPr>
        <p:grpSpPr>
          <a:xfrm>
            <a:off x="748478" y="4407306"/>
            <a:ext cx="1524885" cy="645478"/>
            <a:chOff x="1911937" y="3148486"/>
            <a:chExt cx="2329125" cy="897426"/>
          </a:xfrm>
        </p:grpSpPr>
        <p:cxnSp>
          <p:nvCxnSpPr>
            <p:cNvPr id="33" name="Straight Arrow Connector 32"/>
            <p:cNvCxnSpPr>
              <a:stCxn id="36" idx="3"/>
            </p:cNvCxnSpPr>
            <p:nvPr/>
          </p:nvCxnSpPr>
          <p:spPr>
            <a:xfrm flipV="1">
              <a:off x="1911937" y="3362439"/>
              <a:ext cx="2329125" cy="683473"/>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048122" y="3148486"/>
              <a:ext cx="1651378" cy="427911"/>
            </a:xfrm>
            <a:prstGeom prst="rect">
              <a:avLst/>
            </a:prstGeom>
            <a:noFill/>
          </p:spPr>
          <p:txBody>
            <a:bodyPr wrap="square" rtlCol="0">
              <a:spAutoFit/>
            </a:bodyPr>
            <a:lstStyle/>
            <a:p>
              <a:r>
                <a:rPr lang="en-US" sz="1400" b="1" dirty="0" smtClean="0">
                  <a:solidFill>
                    <a:srgbClr val="FF0000"/>
                  </a:solidFill>
                </a:rPr>
                <a:t>command</a:t>
              </a:r>
              <a:endParaRPr lang="en-US" sz="1400" b="1" dirty="0">
                <a:solidFill>
                  <a:srgbClr val="FF0000"/>
                </a:solidFill>
              </a:endParaRPr>
            </a:p>
          </p:txBody>
        </p:sp>
      </p:grpSp>
      <p:grpSp>
        <p:nvGrpSpPr>
          <p:cNvPr id="35" name="Group 126"/>
          <p:cNvGrpSpPr/>
          <p:nvPr/>
        </p:nvGrpSpPr>
        <p:grpSpPr>
          <a:xfrm>
            <a:off x="245591" y="4727247"/>
            <a:ext cx="807252" cy="882269"/>
            <a:chOff x="1173838" y="3583018"/>
            <a:chExt cx="1233005" cy="1226641"/>
          </a:xfrm>
        </p:grpSpPr>
        <p:pic>
          <p:nvPicPr>
            <p:cNvPr id="36" name="Picture 35"/>
            <p:cNvPicPr>
              <a:picLocks noChangeAspect="1"/>
            </p:cNvPicPr>
            <p:nvPr/>
          </p:nvPicPr>
          <p:blipFill>
            <a:blip r:embed="rId3"/>
            <a:stretch>
              <a:fillRect/>
            </a:stretch>
          </p:blipFill>
          <p:spPr>
            <a:xfrm>
              <a:off x="1173838" y="3583018"/>
              <a:ext cx="768115" cy="905212"/>
            </a:xfrm>
            <a:prstGeom prst="rect">
              <a:avLst/>
            </a:prstGeom>
          </p:spPr>
        </p:pic>
        <p:sp>
          <p:nvSpPr>
            <p:cNvPr id="37" name="Rectangle 36"/>
            <p:cNvSpPr/>
            <p:nvPr/>
          </p:nvSpPr>
          <p:spPr>
            <a:xfrm>
              <a:off x="1173838" y="4440328"/>
              <a:ext cx="1233005" cy="369331"/>
            </a:xfrm>
            <a:prstGeom prst="rect">
              <a:avLst/>
            </a:prstGeom>
          </p:spPr>
          <p:txBody>
            <a:bodyPr wrap="none">
              <a:spAutoFit/>
            </a:bodyPr>
            <a:lstStyle/>
            <a:p>
              <a:r>
                <a:rPr lang="en-US" b="1" i="1" dirty="0" err="1" smtClean="0"/>
                <a:t>botmaster</a:t>
              </a:r>
              <a:endParaRPr lang="en-US" b="1" i="1" dirty="0"/>
            </a:p>
          </p:txBody>
        </p:sp>
      </p:grpSp>
      <p:sp>
        <p:nvSpPr>
          <p:cNvPr id="56" name="TextBox 55"/>
          <p:cNvSpPr txBox="1"/>
          <p:nvPr/>
        </p:nvSpPr>
        <p:spPr>
          <a:xfrm>
            <a:off x="4601205" y="4815550"/>
            <a:ext cx="4204532" cy="400110"/>
          </a:xfrm>
          <a:prstGeom prst="rect">
            <a:avLst/>
          </a:prstGeom>
          <a:noFill/>
        </p:spPr>
        <p:txBody>
          <a:bodyPr wrap="square" rtlCol="0">
            <a:spAutoFit/>
          </a:bodyPr>
          <a:lstStyle/>
          <a:p>
            <a:r>
              <a:rPr lang="en-US" sz="2000" dirty="0" smtClean="0">
                <a:solidFill>
                  <a:srgbClr val="FF0000"/>
                </a:solidFill>
              </a:rPr>
              <a:t>Examples: Storm, </a:t>
            </a:r>
            <a:r>
              <a:rPr lang="en-US" sz="2000" dirty="0" err="1" smtClean="0">
                <a:solidFill>
                  <a:srgbClr val="FF0000"/>
                </a:solidFill>
              </a:rPr>
              <a:t>Waledac</a:t>
            </a:r>
            <a:r>
              <a:rPr lang="en-US" sz="2000" dirty="0" smtClean="0">
                <a:solidFill>
                  <a:srgbClr val="FF0000"/>
                </a:solidFill>
              </a:rPr>
              <a:t>, </a:t>
            </a:r>
            <a:r>
              <a:rPr lang="en-US" sz="2000" dirty="0" err="1" smtClean="0">
                <a:solidFill>
                  <a:srgbClr val="FF0000"/>
                </a:solidFill>
              </a:rPr>
              <a:t>Conficker</a:t>
            </a:r>
            <a:endParaRPr lang="en-US" sz="2000" dirty="0">
              <a:solidFill>
                <a:srgbClr val="FF0000"/>
              </a:solidFill>
            </a:endParaRPr>
          </a:p>
        </p:txBody>
      </p:sp>
    </p:spTree>
    <p:extLst>
      <p:ext uri="{BB962C8B-B14F-4D97-AF65-F5344CB8AC3E}">
        <p14:creationId xmlns:p14="http://schemas.microsoft.com/office/powerpoint/2010/main" val="3705997446"/>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smtClean="0"/>
              <a:t>Detecting Centralized IRC-Based Botnet</a:t>
            </a:r>
            <a:endParaRPr lang="en-US" dirty="0"/>
          </a:p>
        </p:txBody>
      </p:sp>
      <p:sp>
        <p:nvSpPr>
          <p:cNvPr id="8" name="Content Placeholder 7"/>
          <p:cNvSpPr>
            <a:spLocks noGrp="1"/>
          </p:cNvSpPr>
          <p:nvPr>
            <p:ph idx="1"/>
          </p:nvPr>
        </p:nvSpPr>
        <p:spPr>
          <a:xfrm>
            <a:off x="457200" y="5055351"/>
            <a:ext cx="8229600" cy="1070811"/>
          </a:xfrm>
        </p:spPr>
        <p:txBody>
          <a:bodyPr>
            <a:normAutofit fontScale="77500" lnSpcReduction="20000"/>
          </a:bodyPr>
          <a:lstStyle/>
          <a:p>
            <a:r>
              <a:rPr lang="en-US" dirty="0"/>
              <a:t>G. </a:t>
            </a:r>
            <a:r>
              <a:rPr lang="en-US" dirty="0" err="1"/>
              <a:t>Gu</a:t>
            </a:r>
            <a:r>
              <a:rPr lang="en-US" dirty="0"/>
              <a:t>, J. Zhang, and W. Lee, “</a:t>
            </a:r>
            <a:r>
              <a:rPr lang="en-US" altLang="zh-CN" i="1" dirty="0" err="1"/>
              <a:t>BotSniffer</a:t>
            </a:r>
            <a:r>
              <a:rPr lang="en-US" altLang="zh-CN" i="1" dirty="0"/>
              <a:t>: Detecting Botnet Command and Control Channels in Network Traffic</a:t>
            </a:r>
            <a:r>
              <a:rPr lang="en-US" dirty="0"/>
              <a:t>”, NDSS 2008</a:t>
            </a:r>
          </a:p>
        </p:txBody>
      </p:sp>
      <p:grpSp>
        <p:nvGrpSpPr>
          <p:cNvPr id="9" name="Group 8"/>
          <p:cNvGrpSpPr/>
          <p:nvPr/>
        </p:nvGrpSpPr>
        <p:grpSpPr>
          <a:xfrm>
            <a:off x="496162" y="1625078"/>
            <a:ext cx="8372190" cy="3251583"/>
            <a:chOff x="379553" y="3252649"/>
            <a:chExt cx="8372190" cy="3251583"/>
          </a:xfrm>
        </p:grpSpPr>
        <p:sp>
          <p:nvSpPr>
            <p:cNvPr id="10" name="TextBox 9"/>
            <p:cNvSpPr txBox="1"/>
            <p:nvPr/>
          </p:nvSpPr>
          <p:spPr>
            <a:xfrm>
              <a:off x="720884" y="6134900"/>
              <a:ext cx="2088132" cy="369332"/>
            </a:xfrm>
            <a:prstGeom prst="rect">
              <a:avLst/>
            </a:prstGeom>
            <a:noFill/>
          </p:spPr>
          <p:txBody>
            <a:bodyPr wrap="none" rtlCol="0">
              <a:spAutoFit/>
            </a:bodyPr>
            <a:lstStyle/>
            <a:p>
              <a:pPr algn="ctr"/>
              <a:r>
                <a:rPr lang="en-US" b="1" dirty="0" smtClean="0">
                  <a:solidFill>
                    <a:srgbClr val="000000"/>
                  </a:solidFill>
                </a:rPr>
                <a:t>Monitored Network</a:t>
              </a:r>
              <a:endParaRPr lang="en-US" b="1" dirty="0">
                <a:solidFill>
                  <a:srgbClr val="000000"/>
                </a:solidFill>
              </a:endParaRPr>
            </a:p>
          </p:txBody>
        </p:sp>
        <p:grpSp>
          <p:nvGrpSpPr>
            <p:cNvPr id="11" name="Group 10"/>
            <p:cNvGrpSpPr/>
            <p:nvPr/>
          </p:nvGrpSpPr>
          <p:grpSpPr>
            <a:xfrm>
              <a:off x="379553" y="3252649"/>
              <a:ext cx="8372190" cy="2882251"/>
              <a:chOff x="379553" y="3194253"/>
              <a:chExt cx="8372190" cy="2882251"/>
            </a:xfrm>
          </p:grpSpPr>
          <p:pic>
            <p:nvPicPr>
              <p:cNvPr id="12" name="Picture 11" descr="lrg_Router.png"/>
              <p:cNvPicPr>
                <a:picLocks noChangeAspect="1"/>
              </p:cNvPicPr>
              <p:nvPr/>
            </p:nvPicPr>
            <p:blipFill>
              <a:blip r:embed="rId2"/>
              <a:stretch>
                <a:fillRect/>
              </a:stretch>
            </p:blipFill>
            <p:spPr>
              <a:xfrm>
                <a:off x="3023449" y="4352765"/>
                <a:ext cx="1012825" cy="1012825"/>
              </a:xfrm>
              <a:prstGeom prst="rect">
                <a:avLst/>
              </a:prstGeom>
            </p:spPr>
          </p:pic>
          <p:sp>
            <p:nvSpPr>
              <p:cNvPr id="13" name="Cloud 12"/>
              <p:cNvSpPr/>
              <p:nvPr/>
            </p:nvSpPr>
            <p:spPr>
              <a:xfrm>
                <a:off x="379553" y="3506181"/>
                <a:ext cx="2856459" cy="2570323"/>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14" name="Cloud 13"/>
              <p:cNvSpPr/>
              <p:nvPr/>
            </p:nvSpPr>
            <p:spPr>
              <a:xfrm>
                <a:off x="6226611" y="3652172"/>
                <a:ext cx="2525132" cy="2093366"/>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Internet</a:t>
                </a:r>
                <a:endParaRPr lang="en-US" b="1" dirty="0">
                  <a:solidFill>
                    <a:schemeClr val="tx1"/>
                  </a:solidFill>
                </a:endParaRPr>
              </a:p>
            </p:txBody>
          </p:sp>
          <p:pic>
            <p:nvPicPr>
              <p:cNvPr id="15" name="Picture 14" descr="pc.jpeg"/>
              <p:cNvPicPr>
                <a:picLocks noChangeAspect="1"/>
              </p:cNvPicPr>
              <p:nvPr/>
            </p:nvPicPr>
            <p:blipFill>
              <a:blip r:embed="rId3"/>
              <a:stretch>
                <a:fillRect/>
              </a:stretch>
            </p:blipFill>
            <p:spPr>
              <a:xfrm>
                <a:off x="1319702" y="5365590"/>
                <a:ext cx="532836" cy="535458"/>
              </a:xfrm>
              <a:prstGeom prst="rect">
                <a:avLst/>
              </a:prstGeom>
            </p:spPr>
          </p:pic>
          <p:pic>
            <p:nvPicPr>
              <p:cNvPr id="16" name="Picture 15" descr="pc.jpeg"/>
              <p:cNvPicPr>
                <a:picLocks noChangeAspect="1"/>
              </p:cNvPicPr>
              <p:nvPr/>
            </p:nvPicPr>
            <p:blipFill>
              <a:blip r:embed="rId3"/>
              <a:stretch>
                <a:fillRect/>
              </a:stretch>
            </p:blipFill>
            <p:spPr>
              <a:xfrm>
                <a:off x="1323356" y="3850125"/>
                <a:ext cx="532836" cy="535458"/>
              </a:xfrm>
              <a:prstGeom prst="rect">
                <a:avLst/>
              </a:prstGeom>
            </p:spPr>
          </p:pic>
          <p:cxnSp>
            <p:nvCxnSpPr>
              <p:cNvPr id="17" name="Straight Connector 16"/>
              <p:cNvCxnSpPr/>
              <p:nvPr/>
            </p:nvCxnSpPr>
            <p:spPr>
              <a:xfrm flipV="1">
                <a:off x="1870790" y="4859178"/>
                <a:ext cx="1365222" cy="74453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endCxn id="13" idx="0"/>
              </p:cNvCxnSpPr>
              <p:nvPr/>
            </p:nvCxnSpPr>
            <p:spPr>
              <a:xfrm>
                <a:off x="1856192" y="4156627"/>
                <a:ext cx="1377440" cy="63471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9" name="Group 18"/>
              <p:cNvGrpSpPr/>
              <p:nvPr/>
            </p:nvGrpSpPr>
            <p:grpSpPr>
              <a:xfrm>
                <a:off x="3068659" y="3194253"/>
                <a:ext cx="2767404" cy="918577"/>
                <a:chOff x="3225103" y="3062484"/>
                <a:chExt cx="2767404" cy="918577"/>
              </a:xfrm>
            </p:grpSpPr>
            <p:pic>
              <p:nvPicPr>
                <p:cNvPr id="27" name="Picture 14" descr="MCBD18221_0000[1]"/>
                <p:cNvPicPr>
                  <a:picLocks noChangeAspect="1" noChangeArrowheads="1"/>
                </p:cNvPicPr>
                <p:nvPr/>
              </p:nvPicPr>
              <p:blipFill>
                <a:blip r:embed="rId4"/>
                <a:srcRect/>
                <a:stretch>
                  <a:fillRect/>
                </a:stretch>
              </p:blipFill>
              <p:spPr bwMode="auto">
                <a:xfrm>
                  <a:off x="3937001" y="3504811"/>
                  <a:ext cx="901700" cy="476250"/>
                </a:xfrm>
                <a:prstGeom prst="rect">
                  <a:avLst/>
                </a:prstGeom>
                <a:noFill/>
              </p:spPr>
            </p:pic>
            <p:pic>
              <p:nvPicPr>
                <p:cNvPr id="28" name="Picture 9" descr="snipes"/>
                <p:cNvPicPr>
                  <a:picLocks noChangeAspect="1" noChangeArrowheads="1"/>
                </p:cNvPicPr>
                <p:nvPr/>
              </p:nvPicPr>
              <p:blipFill>
                <a:blip r:embed="rId5"/>
                <a:srcRect/>
                <a:stretch>
                  <a:fillRect/>
                </a:stretch>
              </p:blipFill>
              <p:spPr bwMode="auto">
                <a:xfrm>
                  <a:off x="4400551" y="3673086"/>
                  <a:ext cx="277812" cy="285750"/>
                </a:xfrm>
                <a:prstGeom prst="rect">
                  <a:avLst/>
                </a:prstGeom>
                <a:noFill/>
                <a:ln w="9525">
                  <a:noFill/>
                  <a:miter lim="800000"/>
                  <a:headEnd/>
                  <a:tailEnd/>
                </a:ln>
                <a:effectLst/>
              </p:spPr>
            </p:pic>
            <p:sp>
              <p:nvSpPr>
                <p:cNvPr id="29" name="TextBox 28"/>
                <p:cNvSpPr txBox="1"/>
                <p:nvPr/>
              </p:nvSpPr>
              <p:spPr>
                <a:xfrm>
                  <a:off x="3225103" y="3062484"/>
                  <a:ext cx="2767404" cy="461665"/>
                </a:xfrm>
                <a:prstGeom prst="rect">
                  <a:avLst/>
                </a:prstGeom>
                <a:noFill/>
              </p:spPr>
              <p:txBody>
                <a:bodyPr wrap="none" rtlCol="0">
                  <a:spAutoFit/>
                </a:bodyPr>
                <a:lstStyle/>
                <a:p>
                  <a:r>
                    <a:rPr lang="en-US" sz="2400" b="1" dirty="0" smtClean="0"/>
                    <a:t>Detection System</a:t>
                  </a:r>
                  <a:endParaRPr lang="en-US" sz="2400" b="1" dirty="0"/>
                </a:p>
              </p:txBody>
            </p:sp>
          </p:grpSp>
          <p:pic>
            <p:nvPicPr>
              <p:cNvPr id="20" name="Picture 19" descr="pc.jpeg"/>
              <p:cNvPicPr>
                <a:picLocks noChangeAspect="1"/>
              </p:cNvPicPr>
              <p:nvPr/>
            </p:nvPicPr>
            <p:blipFill>
              <a:blip r:embed="rId3"/>
              <a:stretch>
                <a:fillRect/>
              </a:stretch>
            </p:blipFill>
            <p:spPr>
              <a:xfrm>
                <a:off x="1337954" y="4565718"/>
                <a:ext cx="532836" cy="535458"/>
              </a:xfrm>
              <a:prstGeom prst="rect">
                <a:avLst/>
              </a:prstGeom>
            </p:spPr>
          </p:pic>
          <p:cxnSp>
            <p:nvCxnSpPr>
              <p:cNvPr id="21" name="Straight Connector 20"/>
              <p:cNvCxnSpPr>
                <a:stCxn id="20" idx="3"/>
              </p:cNvCxnSpPr>
              <p:nvPr/>
            </p:nvCxnSpPr>
            <p:spPr>
              <a:xfrm>
                <a:off x="1870790" y="4833447"/>
                <a:ext cx="1365222" cy="257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154213" y="5115775"/>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sp>
            <p:nvSpPr>
              <p:cNvPr id="23" name="Left-Right Arrow 22"/>
              <p:cNvSpPr/>
              <p:nvPr/>
            </p:nvSpPr>
            <p:spPr>
              <a:xfrm>
                <a:off x="3897159" y="4663931"/>
                <a:ext cx="2329452" cy="309833"/>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extBox 23"/>
              <p:cNvSpPr txBox="1"/>
              <p:nvPr/>
            </p:nvSpPr>
            <p:spPr>
              <a:xfrm>
                <a:off x="3994734" y="4196387"/>
                <a:ext cx="1696686" cy="369332"/>
              </a:xfrm>
              <a:prstGeom prst="rect">
                <a:avLst/>
              </a:prstGeom>
              <a:noFill/>
            </p:spPr>
            <p:txBody>
              <a:bodyPr wrap="none" rtlCol="0">
                <a:spAutoFit/>
              </a:bodyPr>
              <a:lstStyle/>
              <a:p>
                <a:pPr algn="ctr"/>
                <a:r>
                  <a:rPr lang="en-US" dirty="0" smtClean="0">
                    <a:solidFill>
                      <a:srgbClr val="000000"/>
                    </a:solidFill>
                  </a:rPr>
                  <a:t>Mirroring Traffic</a:t>
                </a:r>
                <a:endParaRPr lang="en-US" dirty="0">
                  <a:solidFill>
                    <a:srgbClr val="000000"/>
                  </a:solidFill>
                </a:endParaRPr>
              </a:p>
            </p:txBody>
          </p:sp>
          <p:sp>
            <p:nvSpPr>
              <p:cNvPr id="25" name="TextBox 24"/>
              <p:cNvSpPr txBox="1"/>
              <p:nvPr/>
            </p:nvSpPr>
            <p:spPr>
              <a:xfrm>
                <a:off x="4261517" y="4923263"/>
                <a:ext cx="1613956" cy="369332"/>
              </a:xfrm>
              <a:prstGeom prst="rect">
                <a:avLst/>
              </a:prstGeom>
              <a:noFill/>
            </p:spPr>
            <p:txBody>
              <a:bodyPr wrap="none" rtlCol="0">
                <a:spAutoFit/>
              </a:bodyPr>
              <a:lstStyle/>
              <a:p>
                <a:pPr algn="ctr"/>
                <a:r>
                  <a:rPr lang="en-US" dirty="0" smtClean="0">
                    <a:solidFill>
                      <a:srgbClr val="000000"/>
                    </a:solidFill>
                  </a:rPr>
                  <a:t>Network Traffic</a:t>
                </a:r>
                <a:endParaRPr lang="en-US" dirty="0">
                  <a:solidFill>
                    <a:srgbClr val="000000"/>
                  </a:solidFill>
                </a:endParaRPr>
              </a:p>
            </p:txBody>
          </p:sp>
          <p:sp>
            <p:nvSpPr>
              <p:cNvPr id="26" name="Notched Right Arrow 25"/>
              <p:cNvSpPr/>
              <p:nvPr/>
            </p:nvSpPr>
            <p:spPr>
              <a:xfrm rot="18547782">
                <a:off x="3692867" y="4270165"/>
                <a:ext cx="489691" cy="219017"/>
              </a:xfrm>
              <a:prstGeom prst="notchedRightArrow">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992035908"/>
      </p:ext>
    </p:extLst>
  </p:cSld>
  <p:clrMapOvr>
    <a:masterClrMapping/>
  </p:clrMapOvr>
  <p:timing>
    <p:tnLst>
      <p:par>
        <p:cTn xmlns:p14="http://schemas.microsoft.com/office/powerpoint/2010/mai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Detecting C&amp;C Channels</a:t>
            </a:r>
            <a:endParaRPr lang="en-US" dirty="0"/>
          </a:p>
        </p:txBody>
      </p:sp>
      <p:sp>
        <p:nvSpPr>
          <p:cNvPr id="3" name="Content Placeholder 2"/>
          <p:cNvSpPr>
            <a:spLocks noGrp="1"/>
          </p:cNvSpPr>
          <p:nvPr>
            <p:ph idx="1"/>
          </p:nvPr>
        </p:nvSpPr>
        <p:spPr>
          <a:xfrm>
            <a:off x="457200" y="1862667"/>
            <a:ext cx="8229600" cy="4263496"/>
          </a:xfrm>
        </p:spPr>
        <p:txBody>
          <a:bodyPr/>
          <a:lstStyle/>
          <a:p>
            <a:r>
              <a:rPr lang="en-US" sz="2800" dirty="0" smtClean="0"/>
              <a:t>C&amp;C is essential to a botnet</a:t>
            </a:r>
          </a:p>
          <a:p>
            <a:pPr lvl="1"/>
            <a:r>
              <a:rPr lang="en-US" sz="2400" dirty="0" smtClean="0"/>
              <a:t>Without C&amp;C, a botnet will be degraded into individual infections, incapable of launching large-scale and coordinated attacks</a:t>
            </a:r>
          </a:p>
          <a:p>
            <a:pPr lvl="1"/>
            <a:endParaRPr lang="en-US" dirty="0"/>
          </a:p>
          <a:p>
            <a:r>
              <a:rPr lang="en-US" sz="2800" dirty="0" smtClean="0"/>
              <a:t>Detecting C&amp;C is important</a:t>
            </a:r>
          </a:p>
          <a:p>
            <a:pPr lvl="1"/>
            <a:r>
              <a:rPr lang="en-US" sz="2400" dirty="0" smtClean="0"/>
              <a:t>Reveal both C&amp;C servers and bots</a:t>
            </a:r>
          </a:p>
          <a:p>
            <a:pPr lvl="1"/>
            <a:r>
              <a:rPr lang="en-US" sz="2400" dirty="0" smtClean="0"/>
              <a:t>An effective way to mitigate botnet threats</a:t>
            </a:r>
          </a:p>
          <a:p>
            <a:pPr lvl="1"/>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70</a:t>
            </a:fld>
            <a:endParaRPr lang="en-US"/>
          </a:p>
        </p:txBody>
      </p:sp>
    </p:spTree>
    <p:extLst>
      <p:ext uri="{BB962C8B-B14F-4D97-AF65-F5344CB8AC3E}">
        <p14:creationId xmlns:p14="http://schemas.microsoft.com/office/powerpoint/2010/main" val="1174672628"/>
      </p:ext>
    </p:extLst>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 Examples</a:t>
            </a:r>
            <a:endParaRPr lang="en-US" dirty="0"/>
          </a:p>
        </p:txBody>
      </p:sp>
      <p:sp>
        <p:nvSpPr>
          <p:cNvPr id="3" name="Content Placeholder 2"/>
          <p:cNvSpPr>
            <a:spLocks noGrp="1"/>
          </p:cNvSpPr>
          <p:nvPr>
            <p:ph idx="1"/>
          </p:nvPr>
        </p:nvSpPr>
        <p:spPr>
          <a:xfrm>
            <a:off x="465610" y="1707404"/>
            <a:ext cx="8229600" cy="513061"/>
          </a:xfrm>
        </p:spPr>
        <p:txBody>
          <a:bodyPr>
            <a:normAutofit fontScale="92500" lnSpcReduction="10000"/>
          </a:bodyPr>
          <a:lstStyle/>
          <a:p>
            <a:r>
              <a:rPr lang="en-US" dirty="0" smtClean="0"/>
              <a:t>IRC/HTTP-based C&amp;C</a:t>
            </a:r>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71</a:t>
            </a:fld>
            <a:endParaRPr lang="en-US"/>
          </a:p>
        </p:txBody>
      </p:sp>
      <p:pic>
        <p:nvPicPr>
          <p:cNvPr id="10" name="Picture 9"/>
          <p:cNvPicPr>
            <a:picLocks noChangeAspect="1"/>
          </p:cNvPicPr>
          <p:nvPr/>
        </p:nvPicPr>
        <p:blipFill>
          <a:blip r:embed="rId2"/>
          <a:stretch>
            <a:fillRect/>
          </a:stretch>
        </p:blipFill>
        <p:spPr>
          <a:xfrm>
            <a:off x="3677734" y="2891344"/>
            <a:ext cx="449187" cy="434252"/>
          </a:xfrm>
          <a:prstGeom prst="rect">
            <a:avLst/>
          </a:prstGeom>
          <a:effectLst>
            <a:glow rad="101600">
              <a:schemeClr val="bg1">
                <a:alpha val="9000"/>
              </a:schemeClr>
            </a:glow>
          </a:effectLst>
        </p:spPr>
      </p:pic>
      <p:pic>
        <p:nvPicPr>
          <p:cNvPr id="11" name="Picture 10" descr="server.png"/>
          <p:cNvPicPr>
            <a:picLocks noChangeAspect="1"/>
          </p:cNvPicPr>
          <p:nvPr/>
        </p:nvPicPr>
        <p:blipFill>
          <a:blip r:embed="rId3"/>
          <a:stretch>
            <a:fillRect/>
          </a:stretch>
        </p:blipFill>
        <p:spPr>
          <a:xfrm>
            <a:off x="2426830" y="2930466"/>
            <a:ext cx="359642" cy="408471"/>
          </a:xfrm>
          <a:prstGeom prst="rect">
            <a:avLst/>
          </a:prstGeom>
        </p:spPr>
      </p:pic>
      <p:pic>
        <p:nvPicPr>
          <p:cNvPr id="15" name="Picture 14"/>
          <p:cNvPicPr>
            <a:picLocks noChangeAspect="1"/>
          </p:cNvPicPr>
          <p:nvPr/>
        </p:nvPicPr>
        <p:blipFill>
          <a:blip r:embed="rId4"/>
          <a:stretch>
            <a:fillRect/>
          </a:stretch>
        </p:blipFill>
        <p:spPr>
          <a:xfrm>
            <a:off x="641759" y="2671832"/>
            <a:ext cx="756146" cy="677688"/>
          </a:xfrm>
          <a:prstGeom prst="rect">
            <a:avLst/>
          </a:prstGeom>
        </p:spPr>
      </p:pic>
      <p:sp>
        <p:nvSpPr>
          <p:cNvPr id="7" name="Rectangle 6"/>
          <p:cNvSpPr/>
          <p:nvPr/>
        </p:nvSpPr>
        <p:spPr>
          <a:xfrm>
            <a:off x="2026692" y="2456161"/>
            <a:ext cx="1304902" cy="369332"/>
          </a:xfrm>
          <a:prstGeom prst="rect">
            <a:avLst/>
          </a:prstGeom>
        </p:spPr>
        <p:txBody>
          <a:bodyPr wrap="none">
            <a:spAutoFit/>
          </a:bodyPr>
          <a:lstStyle/>
          <a:p>
            <a:r>
              <a:rPr lang="en-US" b="1" dirty="0" smtClean="0"/>
              <a:t>IRC server</a:t>
            </a:r>
            <a:endParaRPr lang="en-US" b="1" dirty="0"/>
          </a:p>
        </p:txBody>
      </p:sp>
      <p:sp>
        <p:nvSpPr>
          <p:cNvPr id="17" name="TextBox 16"/>
          <p:cNvSpPr txBox="1"/>
          <p:nvPr/>
        </p:nvSpPr>
        <p:spPr>
          <a:xfrm>
            <a:off x="2976755" y="3525243"/>
            <a:ext cx="557811" cy="307777"/>
          </a:xfrm>
          <a:prstGeom prst="rect">
            <a:avLst/>
          </a:prstGeom>
          <a:noFill/>
        </p:spPr>
        <p:txBody>
          <a:bodyPr wrap="square" rtlCol="0">
            <a:spAutoFit/>
          </a:bodyPr>
          <a:lstStyle/>
          <a:p>
            <a:r>
              <a:rPr lang="en-US" sz="1400" b="1" dirty="0" smtClean="0"/>
              <a:t>join</a:t>
            </a:r>
            <a:endParaRPr lang="en-US" sz="1400" b="1" dirty="0"/>
          </a:p>
        </p:txBody>
      </p:sp>
      <p:sp>
        <p:nvSpPr>
          <p:cNvPr id="21" name="Rectangle 20"/>
          <p:cNvSpPr/>
          <p:nvPr/>
        </p:nvSpPr>
        <p:spPr>
          <a:xfrm>
            <a:off x="317516" y="2347242"/>
            <a:ext cx="1269299" cy="369332"/>
          </a:xfrm>
          <a:prstGeom prst="rect">
            <a:avLst/>
          </a:prstGeom>
        </p:spPr>
        <p:txBody>
          <a:bodyPr wrap="square">
            <a:spAutoFit/>
          </a:bodyPr>
          <a:lstStyle/>
          <a:p>
            <a:r>
              <a:rPr lang="en-US" b="1" i="1" dirty="0" err="1" smtClean="0"/>
              <a:t>botmaster</a:t>
            </a:r>
            <a:endParaRPr lang="en-US" b="1" i="1" dirty="0"/>
          </a:p>
        </p:txBody>
      </p:sp>
      <p:cxnSp>
        <p:nvCxnSpPr>
          <p:cNvPr id="23" name="Straight Connector 22"/>
          <p:cNvCxnSpPr/>
          <p:nvPr/>
        </p:nvCxnSpPr>
        <p:spPr>
          <a:xfrm>
            <a:off x="994378" y="3444320"/>
            <a:ext cx="2324"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2618055" y="3400069"/>
            <a:ext cx="0"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3913736" y="3338937"/>
            <a:ext cx="0" cy="2054505"/>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a:off x="2618057" y="3852320"/>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996702" y="3521022"/>
            <a:ext cx="161835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586815" y="3234259"/>
            <a:ext cx="557811" cy="307777"/>
          </a:xfrm>
          <a:prstGeom prst="rect">
            <a:avLst/>
          </a:prstGeom>
          <a:noFill/>
        </p:spPr>
        <p:txBody>
          <a:bodyPr wrap="square" rtlCol="0">
            <a:spAutoFit/>
          </a:bodyPr>
          <a:lstStyle/>
          <a:p>
            <a:r>
              <a:rPr lang="en-US" sz="1400" b="1" dirty="0" smtClean="0"/>
              <a:t>join</a:t>
            </a:r>
            <a:endParaRPr lang="en-US" sz="1400" b="1" dirty="0"/>
          </a:p>
        </p:txBody>
      </p:sp>
      <p:cxnSp>
        <p:nvCxnSpPr>
          <p:cNvPr id="31" name="Straight Arrow Connector 30"/>
          <p:cNvCxnSpPr/>
          <p:nvPr/>
        </p:nvCxnSpPr>
        <p:spPr>
          <a:xfrm>
            <a:off x="996702" y="4396756"/>
            <a:ext cx="16099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313300" y="4088979"/>
            <a:ext cx="1019836" cy="307777"/>
          </a:xfrm>
          <a:prstGeom prst="rect">
            <a:avLst/>
          </a:prstGeom>
          <a:noFill/>
        </p:spPr>
        <p:txBody>
          <a:bodyPr wrap="square" rtlCol="0">
            <a:spAutoFit/>
          </a:bodyPr>
          <a:lstStyle/>
          <a:p>
            <a:r>
              <a:rPr lang="en-US" sz="1400" b="1" dirty="0" smtClean="0"/>
              <a:t>command</a:t>
            </a:r>
            <a:endParaRPr lang="en-US" sz="1400" b="1" dirty="0"/>
          </a:p>
        </p:txBody>
      </p:sp>
      <p:cxnSp>
        <p:nvCxnSpPr>
          <p:cNvPr id="33" name="Straight Arrow Connector 32"/>
          <p:cNvCxnSpPr/>
          <p:nvPr/>
        </p:nvCxnSpPr>
        <p:spPr>
          <a:xfrm>
            <a:off x="2618057" y="4447102"/>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758932" y="4131243"/>
            <a:ext cx="1019836" cy="307777"/>
          </a:xfrm>
          <a:prstGeom prst="rect">
            <a:avLst/>
          </a:prstGeom>
          <a:noFill/>
        </p:spPr>
        <p:txBody>
          <a:bodyPr wrap="square" rtlCol="0">
            <a:spAutoFit/>
          </a:bodyPr>
          <a:lstStyle/>
          <a:p>
            <a:r>
              <a:rPr lang="en-US" sz="1400" b="1" dirty="0" smtClean="0"/>
              <a:t>command</a:t>
            </a:r>
            <a:endParaRPr lang="en-US" sz="1400" b="1" dirty="0"/>
          </a:p>
        </p:txBody>
      </p:sp>
      <p:cxnSp>
        <p:nvCxnSpPr>
          <p:cNvPr id="36" name="Straight Arrow Connector 35"/>
          <p:cNvCxnSpPr/>
          <p:nvPr/>
        </p:nvCxnSpPr>
        <p:spPr>
          <a:xfrm flipH="1">
            <a:off x="2618058" y="4844541"/>
            <a:ext cx="129268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844071" y="4486819"/>
            <a:ext cx="767051" cy="276999"/>
          </a:xfrm>
          <a:prstGeom prst="rect">
            <a:avLst/>
          </a:prstGeom>
          <a:noFill/>
        </p:spPr>
        <p:txBody>
          <a:bodyPr wrap="square" rtlCol="0">
            <a:spAutoFit/>
          </a:bodyPr>
          <a:lstStyle/>
          <a:p>
            <a:r>
              <a:rPr lang="en-US" sz="1200" b="1" dirty="0" smtClean="0"/>
              <a:t>Execute</a:t>
            </a:r>
            <a:endParaRPr lang="en-US" sz="1200" b="1" dirty="0"/>
          </a:p>
        </p:txBody>
      </p:sp>
      <p:sp>
        <p:nvSpPr>
          <p:cNvPr id="39" name="TextBox 38"/>
          <p:cNvSpPr txBox="1"/>
          <p:nvPr/>
        </p:nvSpPr>
        <p:spPr>
          <a:xfrm>
            <a:off x="2799005" y="4901396"/>
            <a:ext cx="1019836" cy="307777"/>
          </a:xfrm>
          <a:prstGeom prst="rect">
            <a:avLst/>
          </a:prstGeom>
          <a:noFill/>
        </p:spPr>
        <p:txBody>
          <a:bodyPr wrap="square" rtlCol="0">
            <a:spAutoFit/>
          </a:bodyPr>
          <a:lstStyle/>
          <a:p>
            <a:r>
              <a:rPr lang="en-US" sz="1400" b="1" dirty="0" smtClean="0"/>
              <a:t>Response</a:t>
            </a:r>
            <a:endParaRPr lang="en-US" sz="1400" b="1" dirty="0"/>
          </a:p>
        </p:txBody>
      </p:sp>
      <p:cxnSp>
        <p:nvCxnSpPr>
          <p:cNvPr id="40" name="Straight Arrow Connector 39"/>
          <p:cNvCxnSpPr/>
          <p:nvPr/>
        </p:nvCxnSpPr>
        <p:spPr>
          <a:xfrm flipH="1">
            <a:off x="996702" y="4938066"/>
            <a:ext cx="16099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38745" y="4914319"/>
            <a:ext cx="1019836" cy="307777"/>
          </a:xfrm>
          <a:prstGeom prst="rect">
            <a:avLst/>
          </a:prstGeom>
          <a:noFill/>
        </p:spPr>
        <p:txBody>
          <a:bodyPr wrap="square" rtlCol="0">
            <a:spAutoFit/>
          </a:bodyPr>
          <a:lstStyle/>
          <a:p>
            <a:r>
              <a:rPr lang="en-US" sz="1400" b="1" dirty="0" smtClean="0"/>
              <a:t>Response</a:t>
            </a:r>
            <a:endParaRPr lang="en-US" sz="1400" b="1" dirty="0"/>
          </a:p>
        </p:txBody>
      </p:sp>
      <p:pic>
        <p:nvPicPr>
          <p:cNvPr id="53" name="Picture 52"/>
          <p:cNvPicPr>
            <a:picLocks noChangeAspect="1"/>
          </p:cNvPicPr>
          <p:nvPr/>
        </p:nvPicPr>
        <p:blipFill>
          <a:blip r:embed="rId2"/>
          <a:stretch>
            <a:fillRect/>
          </a:stretch>
        </p:blipFill>
        <p:spPr>
          <a:xfrm>
            <a:off x="7924199" y="2891344"/>
            <a:ext cx="449187" cy="434252"/>
          </a:xfrm>
          <a:prstGeom prst="rect">
            <a:avLst/>
          </a:prstGeom>
          <a:effectLst>
            <a:glow rad="101600">
              <a:schemeClr val="bg1">
                <a:alpha val="9000"/>
              </a:schemeClr>
            </a:glow>
          </a:effectLst>
        </p:spPr>
      </p:pic>
      <p:pic>
        <p:nvPicPr>
          <p:cNvPr id="54" name="Picture 53" descr="server.png"/>
          <p:cNvPicPr>
            <a:picLocks noChangeAspect="1"/>
          </p:cNvPicPr>
          <p:nvPr/>
        </p:nvPicPr>
        <p:blipFill>
          <a:blip r:embed="rId3"/>
          <a:stretch>
            <a:fillRect/>
          </a:stretch>
        </p:blipFill>
        <p:spPr>
          <a:xfrm>
            <a:off x="6673295" y="2930466"/>
            <a:ext cx="359642" cy="408471"/>
          </a:xfrm>
          <a:prstGeom prst="rect">
            <a:avLst/>
          </a:prstGeom>
        </p:spPr>
      </p:pic>
      <p:pic>
        <p:nvPicPr>
          <p:cNvPr id="55" name="Picture 54"/>
          <p:cNvPicPr>
            <a:picLocks noChangeAspect="1"/>
          </p:cNvPicPr>
          <p:nvPr/>
        </p:nvPicPr>
        <p:blipFill>
          <a:blip r:embed="rId4"/>
          <a:stretch>
            <a:fillRect/>
          </a:stretch>
        </p:blipFill>
        <p:spPr>
          <a:xfrm>
            <a:off x="4888224" y="2671832"/>
            <a:ext cx="756146" cy="677688"/>
          </a:xfrm>
          <a:prstGeom prst="rect">
            <a:avLst/>
          </a:prstGeom>
        </p:spPr>
      </p:pic>
      <p:sp>
        <p:nvSpPr>
          <p:cNvPr id="56" name="Rectangle 55"/>
          <p:cNvSpPr/>
          <p:nvPr/>
        </p:nvSpPr>
        <p:spPr>
          <a:xfrm>
            <a:off x="6079727" y="2464572"/>
            <a:ext cx="1524689" cy="369332"/>
          </a:xfrm>
          <a:prstGeom prst="rect">
            <a:avLst/>
          </a:prstGeom>
        </p:spPr>
        <p:txBody>
          <a:bodyPr wrap="none">
            <a:spAutoFit/>
          </a:bodyPr>
          <a:lstStyle/>
          <a:p>
            <a:r>
              <a:rPr lang="en-US" b="1" dirty="0" smtClean="0"/>
              <a:t>HTTP server</a:t>
            </a:r>
            <a:endParaRPr lang="en-US" b="1" dirty="0"/>
          </a:p>
        </p:txBody>
      </p:sp>
      <p:sp>
        <p:nvSpPr>
          <p:cNvPr id="58" name="Rectangle 57"/>
          <p:cNvSpPr/>
          <p:nvPr/>
        </p:nvSpPr>
        <p:spPr>
          <a:xfrm>
            <a:off x="4563981" y="2347242"/>
            <a:ext cx="1269299" cy="369332"/>
          </a:xfrm>
          <a:prstGeom prst="rect">
            <a:avLst/>
          </a:prstGeom>
        </p:spPr>
        <p:txBody>
          <a:bodyPr wrap="square">
            <a:spAutoFit/>
          </a:bodyPr>
          <a:lstStyle/>
          <a:p>
            <a:r>
              <a:rPr lang="en-US" b="1" i="1" dirty="0" err="1" smtClean="0"/>
              <a:t>botmaster</a:t>
            </a:r>
            <a:endParaRPr lang="en-US" b="1" i="1" dirty="0"/>
          </a:p>
        </p:txBody>
      </p:sp>
      <p:cxnSp>
        <p:nvCxnSpPr>
          <p:cNvPr id="59" name="Straight Connector 58"/>
          <p:cNvCxnSpPr/>
          <p:nvPr/>
        </p:nvCxnSpPr>
        <p:spPr>
          <a:xfrm>
            <a:off x="5240843" y="3444320"/>
            <a:ext cx="2324"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6864520" y="3400069"/>
            <a:ext cx="0"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8160201" y="3338937"/>
            <a:ext cx="0" cy="2054505"/>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6867515" y="3550588"/>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a:off x="5243167" y="4396756"/>
            <a:ext cx="16099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559765" y="4088979"/>
            <a:ext cx="1019836" cy="307777"/>
          </a:xfrm>
          <a:prstGeom prst="rect">
            <a:avLst/>
          </a:prstGeom>
          <a:noFill/>
        </p:spPr>
        <p:txBody>
          <a:bodyPr wrap="square" rtlCol="0">
            <a:spAutoFit/>
          </a:bodyPr>
          <a:lstStyle/>
          <a:p>
            <a:r>
              <a:rPr lang="en-US" sz="1400" b="1" dirty="0" smtClean="0"/>
              <a:t>command</a:t>
            </a:r>
            <a:endParaRPr lang="en-US" sz="1400" b="1" dirty="0"/>
          </a:p>
        </p:txBody>
      </p:sp>
      <p:cxnSp>
        <p:nvCxnSpPr>
          <p:cNvPr id="67" name="Straight Arrow Connector 66"/>
          <p:cNvCxnSpPr/>
          <p:nvPr/>
        </p:nvCxnSpPr>
        <p:spPr>
          <a:xfrm>
            <a:off x="6853116" y="3673303"/>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8145802" y="4706041"/>
            <a:ext cx="767051" cy="276999"/>
          </a:xfrm>
          <a:prstGeom prst="rect">
            <a:avLst/>
          </a:prstGeom>
          <a:noFill/>
        </p:spPr>
        <p:txBody>
          <a:bodyPr wrap="square" rtlCol="0">
            <a:spAutoFit/>
          </a:bodyPr>
          <a:lstStyle/>
          <a:p>
            <a:r>
              <a:rPr lang="en-US" sz="1200" b="1" dirty="0" smtClean="0"/>
              <a:t>Execute</a:t>
            </a:r>
            <a:endParaRPr lang="en-US" sz="1200" b="1" dirty="0"/>
          </a:p>
        </p:txBody>
      </p:sp>
      <p:cxnSp>
        <p:nvCxnSpPr>
          <p:cNvPr id="74" name="Straight Arrow Connector 73"/>
          <p:cNvCxnSpPr/>
          <p:nvPr/>
        </p:nvCxnSpPr>
        <p:spPr>
          <a:xfrm flipH="1">
            <a:off x="6867515" y="4014189"/>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6867515" y="4121589"/>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a:off x="6867515" y="4686121"/>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flipH="1">
            <a:off x="6853116" y="4578721"/>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flipH="1">
            <a:off x="6853116" y="5059144"/>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a:off x="6875925" y="5149722"/>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0079" y="3244023"/>
            <a:ext cx="313209" cy="276999"/>
          </a:xfrm>
          <a:prstGeom prst="rect">
            <a:avLst/>
          </a:prstGeom>
          <a:noFill/>
        </p:spPr>
        <p:txBody>
          <a:bodyPr wrap="square" rtlCol="0">
            <a:spAutoFit/>
          </a:bodyPr>
          <a:lstStyle/>
          <a:p>
            <a:r>
              <a:rPr lang="en-US" sz="1200" b="1" dirty="0"/>
              <a:t>?</a:t>
            </a:r>
          </a:p>
        </p:txBody>
      </p:sp>
      <p:sp>
        <p:nvSpPr>
          <p:cNvPr id="82" name="TextBox 81"/>
          <p:cNvSpPr txBox="1"/>
          <p:nvPr/>
        </p:nvSpPr>
        <p:spPr>
          <a:xfrm>
            <a:off x="7274827" y="3583732"/>
            <a:ext cx="405282" cy="276999"/>
          </a:xfrm>
          <a:prstGeom prst="rect">
            <a:avLst/>
          </a:prstGeom>
          <a:noFill/>
        </p:spPr>
        <p:txBody>
          <a:bodyPr wrap="square" rtlCol="0">
            <a:spAutoFit/>
          </a:bodyPr>
          <a:lstStyle/>
          <a:p>
            <a:r>
              <a:rPr lang="en-US" sz="1200" b="1" dirty="0" smtClean="0"/>
              <a:t>No</a:t>
            </a:r>
            <a:endParaRPr lang="en-US" sz="1200" b="1" dirty="0"/>
          </a:p>
        </p:txBody>
      </p:sp>
      <p:sp>
        <p:nvSpPr>
          <p:cNvPr id="83" name="TextBox 82"/>
          <p:cNvSpPr txBox="1"/>
          <p:nvPr/>
        </p:nvSpPr>
        <p:spPr>
          <a:xfrm>
            <a:off x="7368490" y="3778336"/>
            <a:ext cx="313209" cy="276999"/>
          </a:xfrm>
          <a:prstGeom prst="rect">
            <a:avLst/>
          </a:prstGeom>
          <a:noFill/>
        </p:spPr>
        <p:txBody>
          <a:bodyPr wrap="square" rtlCol="0">
            <a:spAutoFit/>
          </a:bodyPr>
          <a:lstStyle/>
          <a:p>
            <a:r>
              <a:rPr lang="en-US" sz="1200" b="1" dirty="0"/>
              <a:t>?</a:t>
            </a:r>
          </a:p>
        </p:txBody>
      </p:sp>
      <p:sp>
        <p:nvSpPr>
          <p:cNvPr id="84" name="TextBox 83"/>
          <p:cNvSpPr txBox="1"/>
          <p:nvPr/>
        </p:nvSpPr>
        <p:spPr>
          <a:xfrm>
            <a:off x="7301648" y="4042346"/>
            <a:ext cx="405282" cy="276999"/>
          </a:xfrm>
          <a:prstGeom prst="rect">
            <a:avLst/>
          </a:prstGeom>
          <a:noFill/>
        </p:spPr>
        <p:txBody>
          <a:bodyPr wrap="square" rtlCol="0">
            <a:spAutoFit/>
          </a:bodyPr>
          <a:lstStyle/>
          <a:p>
            <a:r>
              <a:rPr lang="en-US" sz="1200" b="1" dirty="0" smtClean="0"/>
              <a:t>No</a:t>
            </a:r>
            <a:endParaRPr lang="en-US" sz="1200" b="1" dirty="0"/>
          </a:p>
        </p:txBody>
      </p:sp>
      <p:sp>
        <p:nvSpPr>
          <p:cNvPr id="85" name="TextBox 84"/>
          <p:cNvSpPr txBox="1"/>
          <p:nvPr/>
        </p:nvSpPr>
        <p:spPr>
          <a:xfrm>
            <a:off x="7366899" y="4350657"/>
            <a:ext cx="313209" cy="276999"/>
          </a:xfrm>
          <a:prstGeom prst="rect">
            <a:avLst/>
          </a:prstGeom>
          <a:noFill/>
        </p:spPr>
        <p:txBody>
          <a:bodyPr wrap="square" rtlCol="0">
            <a:spAutoFit/>
          </a:bodyPr>
          <a:lstStyle/>
          <a:p>
            <a:r>
              <a:rPr lang="en-US" sz="1200" b="1" dirty="0"/>
              <a:t>?</a:t>
            </a:r>
          </a:p>
        </p:txBody>
      </p:sp>
      <p:sp>
        <p:nvSpPr>
          <p:cNvPr id="86" name="TextBox 85"/>
          <p:cNvSpPr txBox="1"/>
          <p:nvPr/>
        </p:nvSpPr>
        <p:spPr>
          <a:xfrm>
            <a:off x="7083396" y="4581023"/>
            <a:ext cx="1015629" cy="276999"/>
          </a:xfrm>
          <a:prstGeom prst="rect">
            <a:avLst/>
          </a:prstGeom>
          <a:noFill/>
        </p:spPr>
        <p:txBody>
          <a:bodyPr wrap="square" rtlCol="0">
            <a:spAutoFit/>
          </a:bodyPr>
          <a:lstStyle/>
          <a:p>
            <a:r>
              <a:rPr lang="en-US" sz="1200" b="1" dirty="0" smtClean="0"/>
              <a:t>command</a:t>
            </a:r>
            <a:endParaRPr lang="en-US" sz="1200" b="1" dirty="0"/>
          </a:p>
        </p:txBody>
      </p:sp>
      <p:sp>
        <p:nvSpPr>
          <p:cNvPr id="87" name="TextBox 86"/>
          <p:cNvSpPr txBox="1"/>
          <p:nvPr/>
        </p:nvSpPr>
        <p:spPr>
          <a:xfrm>
            <a:off x="7074987" y="4824799"/>
            <a:ext cx="981988" cy="276999"/>
          </a:xfrm>
          <a:prstGeom prst="rect">
            <a:avLst/>
          </a:prstGeom>
          <a:noFill/>
        </p:spPr>
        <p:txBody>
          <a:bodyPr wrap="square" rtlCol="0">
            <a:spAutoFit/>
          </a:bodyPr>
          <a:lstStyle/>
          <a:p>
            <a:r>
              <a:rPr lang="en-US" sz="1200" b="1" dirty="0" smtClean="0"/>
              <a:t>? + report</a:t>
            </a:r>
            <a:endParaRPr lang="en-US" sz="1200" b="1" dirty="0"/>
          </a:p>
        </p:txBody>
      </p:sp>
      <p:sp>
        <p:nvSpPr>
          <p:cNvPr id="88" name="TextBox 87"/>
          <p:cNvSpPr txBox="1"/>
          <p:nvPr/>
        </p:nvSpPr>
        <p:spPr>
          <a:xfrm>
            <a:off x="7151965" y="5098314"/>
            <a:ext cx="871261" cy="276999"/>
          </a:xfrm>
          <a:prstGeom prst="rect">
            <a:avLst/>
          </a:prstGeom>
          <a:noFill/>
        </p:spPr>
        <p:txBody>
          <a:bodyPr wrap="square" rtlCol="0">
            <a:spAutoFit/>
          </a:bodyPr>
          <a:lstStyle/>
          <a:p>
            <a:r>
              <a:rPr lang="en-US" sz="1200" b="1" dirty="0" smtClean="0"/>
              <a:t>Nothing</a:t>
            </a:r>
            <a:endParaRPr lang="en-US" sz="1200" b="1" dirty="0"/>
          </a:p>
        </p:txBody>
      </p:sp>
    </p:spTree>
    <p:extLst>
      <p:ext uri="{BB962C8B-B14F-4D97-AF65-F5344CB8AC3E}">
        <p14:creationId xmlns:p14="http://schemas.microsoft.com/office/powerpoint/2010/main" val="310239387"/>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 Examples</a:t>
            </a:r>
            <a:endParaRPr lang="en-US" dirty="0"/>
          </a:p>
        </p:txBody>
      </p:sp>
      <p:sp>
        <p:nvSpPr>
          <p:cNvPr id="3" name="Content Placeholder 2"/>
          <p:cNvSpPr>
            <a:spLocks noGrp="1"/>
          </p:cNvSpPr>
          <p:nvPr>
            <p:ph idx="1"/>
          </p:nvPr>
        </p:nvSpPr>
        <p:spPr>
          <a:xfrm>
            <a:off x="465610" y="1707404"/>
            <a:ext cx="8229600" cy="513061"/>
          </a:xfrm>
        </p:spPr>
        <p:txBody>
          <a:bodyPr>
            <a:normAutofit fontScale="92500" lnSpcReduction="10000"/>
          </a:bodyPr>
          <a:lstStyle/>
          <a:p>
            <a:r>
              <a:rPr lang="en-US" dirty="0" smtClean="0"/>
              <a:t>IRC-based C&amp;C</a:t>
            </a:r>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72</a:t>
            </a:fld>
            <a:endParaRPr lang="en-US"/>
          </a:p>
        </p:txBody>
      </p:sp>
      <p:pic>
        <p:nvPicPr>
          <p:cNvPr id="10" name="Picture 9"/>
          <p:cNvPicPr>
            <a:picLocks noChangeAspect="1"/>
          </p:cNvPicPr>
          <p:nvPr/>
        </p:nvPicPr>
        <p:blipFill>
          <a:blip r:embed="rId2"/>
          <a:stretch>
            <a:fillRect/>
          </a:stretch>
        </p:blipFill>
        <p:spPr>
          <a:xfrm>
            <a:off x="3677734" y="2891344"/>
            <a:ext cx="449187" cy="434252"/>
          </a:xfrm>
          <a:prstGeom prst="rect">
            <a:avLst/>
          </a:prstGeom>
          <a:effectLst>
            <a:glow rad="101600">
              <a:schemeClr val="bg1">
                <a:alpha val="9000"/>
              </a:schemeClr>
            </a:glow>
          </a:effectLst>
        </p:spPr>
      </p:pic>
      <p:pic>
        <p:nvPicPr>
          <p:cNvPr id="11" name="Picture 10" descr="server.png"/>
          <p:cNvPicPr>
            <a:picLocks noChangeAspect="1"/>
          </p:cNvPicPr>
          <p:nvPr/>
        </p:nvPicPr>
        <p:blipFill>
          <a:blip r:embed="rId3"/>
          <a:stretch>
            <a:fillRect/>
          </a:stretch>
        </p:blipFill>
        <p:spPr>
          <a:xfrm>
            <a:off x="2426830" y="2930466"/>
            <a:ext cx="359642" cy="408471"/>
          </a:xfrm>
          <a:prstGeom prst="rect">
            <a:avLst/>
          </a:prstGeom>
        </p:spPr>
      </p:pic>
      <p:pic>
        <p:nvPicPr>
          <p:cNvPr id="15" name="Picture 14"/>
          <p:cNvPicPr>
            <a:picLocks noChangeAspect="1"/>
          </p:cNvPicPr>
          <p:nvPr/>
        </p:nvPicPr>
        <p:blipFill>
          <a:blip r:embed="rId4"/>
          <a:stretch>
            <a:fillRect/>
          </a:stretch>
        </p:blipFill>
        <p:spPr>
          <a:xfrm>
            <a:off x="641759" y="2671832"/>
            <a:ext cx="756146" cy="677688"/>
          </a:xfrm>
          <a:prstGeom prst="rect">
            <a:avLst/>
          </a:prstGeom>
        </p:spPr>
      </p:pic>
      <p:sp>
        <p:nvSpPr>
          <p:cNvPr id="7" name="Rectangle 6"/>
          <p:cNvSpPr/>
          <p:nvPr/>
        </p:nvSpPr>
        <p:spPr>
          <a:xfrm>
            <a:off x="2026692" y="2456161"/>
            <a:ext cx="1304902" cy="369332"/>
          </a:xfrm>
          <a:prstGeom prst="rect">
            <a:avLst/>
          </a:prstGeom>
        </p:spPr>
        <p:txBody>
          <a:bodyPr wrap="none">
            <a:spAutoFit/>
          </a:bodyPr>
          <a:lstStyle/>
          <a:p>
            <a:r>
              <a:rPr lang="en-US" b="1" dirty="0" smtClean="0"/>
              <a:t>IRC server</a:t>
            </a:r>
            <a:endParaRPr lang="en-US" b="1" dirty="0"/>
          </a:p>
        </p:txBody>
      </p:sp>
      <p:sp>
        <p:nvSpPr>
          <p:cNvPr id="17" name="TextBox 16"/>
          <p:cNvSpPr txBox="1"/>
          <p:nvPr/>
        </p:nvSpPr>
        <p:spPr>
          <a:xfrm>
            <a:off x="2976755" y="3525243"/>
            <a:ext cx="557811" cy="307777"/>
          </a:xfrm>
          <a:prstGeom prst="rect">
            <a:avLst/>
          </a:prstGeom>
          <a:noFill/>
        </p:spPr>
        <p:txBody>
          <a:bodyPr wrap="square" rtlCol="0">
            <a:spAutoFit/>
          </a:bodyPr>
          <a:lstStyle/>
          <a:p>
            <a:r>
              <a:rPr lang="en-US" sz="1400" b="1" dirty="0" smtClean="0"/>
              <a:t>join</a:t>
            </a:r>
            <a:endParaRPr lang="en-US" sz="1400" b="1" dirty="0"/>
          </a:p>
        </p:txBody>
      </p:sp>
      <p:sp>
        <p:nvSpPr>
          <p:cNvPr id="21" name="Rectangle 20"/>
          <p:cNvSpPr/>
          <p:nvPr/>
        </p:nvSpPr>
        <p:spPr>
          <a:xfrm>
            <a:off x="317516" y="2347242"/>
            <a:ext cx="1269299" cy="369332"/>
          </a:xfrm>
          <a:prstGeom prst="rect">
            <a:avLst/>
          </a:prstGeom>
        </p:spPr>
        <p:txBody>
          <a:bodyPr wrap="square">
            <a:spAutoFit/>
          </a:bodyPr>
          <a:lstStyle/>
          <a:p>
            <a:r>
              <a:rPr lang="en-US" b="1" i="1" dirty="0" err="1" smtClean="0"/>
              <a:t>botmaster</a:t>
            </a:r>
            <a:endParaRPr lang="en-US" b="1" i="1" dirty="0"/>
          </a:p>
        </p:txBody>
      </p:sp>
      <p:cxnSp>
        <p:nvCxnSpPr>
          <p:cNvPr id="23" name="Straight Connector 22"/>
          <p:cNvCxnSpPr/>
          <p:nvPr/>
        </p:nvCxnSpPr>
        <p:spPr>
          <a:xfrm>
            <a:off x="994378" y="3444320"/>
            <a:ext cx="2324"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2618055" y="3400069"/>
            <a:ext cx="0"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3913736" y="3338937"/>
            <a:ext cx="0" cy="2054505"/>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H="1">
            <a:off x="2618057" y="3852320"/>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996702" y="3521022"/>
            <a:ext cx="161835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586815" y="3234259"/>
            <a:ext cx="557811" cy="307777"/>
          </a:xfrm>
          <a:prstGeom prst="rect">
            <a:avLst/>
          </a:prstGeom>
          <a:noFill/>
        </p:spPr>
        <p:txBody>
          <a:bodyPr wrap="square" rtlCol="0">
            <a:spAutoFit/>
          </a:bodyPr>
          <a:lstStyle/>
          <a:p>
            <a:r>
              <a:rPr lang="en-US" sz="1400" b="1" dirty="0" smtClean="0"/>
              <a:t>join</a:t>
            </a:r>
            <a:endParaRPr lang="en-US" sz="1400" b="1" dirty="0"/>
          </a:p>
        </p:txBody>
      </p:sp>
      <p:cxnSp>
        <p:nvCxnSpPr>
          <p:cNvPr id="31" name="Straight Arrow Connector 30"/>
          <p:cNvCxnSpPr/>
          <p:nvPr/>
        </p:nvCxnSpPr>
        <p:spPr>
          <a:xfrm>
            <a:off x="996702" y="4396756"/>
            <a:ext cx="16099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313300" y="4088979"/>
            <a:ext cx="1019836" cy="307777"/>
          </a:xfrm>
          <a:prstGeom prst="rect">
            <a:avLst/>
          </a:prstGeom>
          <a:noFill/>
        </p:spPr>
        <p:txBody>
          <a:bodyPr wrap="square" rtlCol="0">
            <a:spAutoFit/>
          </a:bodyPr>
          <a:lstStyle/>
          <a:p>
            <a:r>
              <a:rPr lang="en-US" sz="1400" b="1" dirty="0" smtClean="0"/>
              <a:t>command</a:t>
            </a:r>
            <a:endParaRPr lang="en-US" sz="1400" b="1" dirty="0"/>
          </a:p>
        </p:txBody>
      </p:sp>
      <p:cxnSp>
        <p:nvCxnSpPr>
          <p:cNvPr id="33" name="Straight Arrow Connector 32"/>
          <p:cNvCxnSpPr/>
          <p:nvPr/>
        </p:nvCxnSpPr>
        <p:spPr>
          <a:xfrm>
            <a:off x="2618057" y="4447102"/>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758932" y="4131243"/>
            <a:ext cx="1019836" cy="307777"/>
          </a:xfrm>
          <a:prstGeom prst="rect">
            <a:avLst/>
          </a:prstGeom>
          <a:noFill/>
        </p:spPr>
        <p:txBody>
          <a:bodyPr wrap="square" rtlCol="0">
            <a:spAutoFit/>
          </a:bodyPr>
          <a:lstStyle/>
          <a:p>
            <a:r>
              <a:rPr lang="en-US" sz="1400" b="1" dirty="0" smtClean="0"/>
              <a:t>command</a:t>
            </a:r>
            <a:endParaRPr lang="en-US" sz="1400" b="1" dirty="0"/>
          </a:p>
        </p:txBody>
      </p:sp>
      <p:cxnSp>
        <p:nvCxnSpPr>
          <p:cNvPr id="36" name="Straight Arrow Connector 35"/>
          <p:cNvCxnSpPr/>
          <p:nvPr/>
        </p:nvCxnSpPr>
        <p:spPr>
          <a:xfrm flipH="1">
            <a:off x="2618058" y="4844541"/>
            <a:ext cx="1292685"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844071" y="4486819"/>
            <a:ext cx="767051" cy="276999"/>
          </a:xfrm>
          <a:prstGeom prst="rect">
            <a:avLst/>
          </a:prstGeom>
          <a:noFill/>
        </p:spPr>
        <p:txBody>
          <a:bodyPr wrap="square" rtlCol="0">
            <a:spAutoFit/>
          </a:bodyPr>
          <a:lstStyle/>
          <a:p>
            <a:r>
              <a:rPr lang="en-US" sz="1200" b="1" dirty="0" smtClean="0"/>
              <a:t>Execute</a:t>
            </a:r>
            <a:endParaRPr lang="en-US" sz="1200" b="1" dirty="0"/>
          </a:p>
        </p:txBody>
      </p:sp>
      <p:sp>
        <p:nvSpPr>
          <p:cNvPr id="39" name="TextBox 38"/>
          <p:cNvSpPr txBox="1"/>
          <p:nvPr/>
        </p:nvSpPr>
        <p:spPr>
          <a:xfrm>
            <a:off x="2799005" y="4901396"/>
            <a:ext cx="1019836" cy="307777"/>
          </a:xfrm>
          <a:prstGeom prst="rect">
            <a:avLst/>
          </a:prstGeom>
          <a:noFill/>
        </p:spPr>
        <p:txBody>
          <a:bodyPr wrap="square" rtlCol="0">
            <a:spAutoFit/>
          </a:bodyPr>
          <a:lstStyle/>
          <a:p>
            <a:r>
              <a:rPr lang="en-US" sz="1400" b="1" dirty="0" smtClean="0"/>
              <a:t>Response</a:t>
            </a:r>
            <a:endParaRPr lang="en-US" sz="1400" b="1" dirty="0"/>
          </a:p>
        </p:txBody>
      </p:sp>
      <p:cxnSp>
        <p:nvCxnSpPr>
          <p:cNvPr id="40" name="Straight Arrow Connector 39"/>
          <p:cNvCxnSpPr/>
          <p:nvPr/>
        </p:nvCxnSpPr>
        <p:spPr>
          <a:xfrm flipH="1">
            <a:off x="996702" y="4938066"/>
            <a:ext cx="16099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1338745" y="4914319"/>
            <a:ext cx="1019836" cy="307777"/>
          </a:xfrm>
          <a:prstGeom prst="rect">
            <a:avLst/>
          </a:prstGeom>
          <a:noFill/>
        </p:spPr>
        <p:txBody>
          <a:bodyPr wrap="square" rtlCol="0">
            <a:spAutoFit/>
          </a:bodyPr>
          <a:lstStyle/>
          <a:p>
            <a:r>
              <a:rPr lang="en-US" sz="1400" b="1" dirty="0" smtClean="0"/>
              <a:t>Response</a:t>
            </a:r>
            <a:endParaRPr lang="en-US" sz="1400" b="1" dirty="0"/>
          </a:p>
        </p:txBody>
      </p:sp>
      <p:pic>
        <p:nvPicPr>
          <p:cNvPr id="53" name="Picture 52"/>
          <p:cNvPicPr>
            <a:picLocks noChangeAspect="1"/>
          </p:cNvPicPr>
          <p:nvPr/>
        </p:nvPicPr>
        <p:blipFill>
          <a:blip r:embed="rId2"/>
          <a:stretch>
            <a:fillRect/>
          </a:stretch>
        </p:blipFill>
        <p:spPr>
          <a:xfrm>
            <a:off x="7924199" y="2891344"/>
            <a:ext cx="449187" cy="434252"/>
          </a:xfrm>
          <a:prstGeom prst="rect">
            <a:avLst/>
          </a:prstGeom>
          <a:effectLst>
            <a:glow rad="101600">
              <a:schemeClr val="bg1">
                <a:alpha val="9000"/>
              </a:schemeClr>
            </a:glow>
          </a:effectLst>
        </p:spPr>
      </p:pic>
      <p:pic>
        <p:nvPicPr>
          <p:cNvPr id="54" name="Picture 53" descr="server.png"/>
          <p:cNvPicPr>
            <a:picLocks noChangeAspect="1"/>
          </p:cNvPicPr>
          <p:nvPr/>
        </p:nvPicPr>
        <p:blipFill>
          <a:blip r:embed="rId3"/>
          <a:stretch>
            <a:fillRect/>
          </a:stretch>
        </p:blipFill>
        <p:spPr>
          <a:xfrm>
            <a:off x="6673295" y="2930466"/>
            <a:ext cx="359642" cy="408471"/>
          </a:xfrm>
          <a:prstGeom prst="rect">
            <a:avLst/>
          </a:prstGeom>
        </p:spPr>
      </p:pic>
      <p:pic>
        <p:nvPicPr>
          <p:cNvPr id="55" name="Picture 54"/>
          <p:cNvPicPr>
            <a:picLocks noChangeAspect="1"/>
          </p:cNvPicPr>
          <p:nvPr/>
        </p:nvPicPr>
        <p:blipFill>
          <a:blip r:embed="rId4"/>
          <a:stretch>
            <a:fillRect/>
          </a:stretch>
        </p:blipFill>
        <p:spPr>
          <a:xfrm>
            <a:off x="4888224" y="2671832"/>
            <a:ext cx="756146" cy="677688"/>
          </a:xfrm>
          <a:prstGeom prst="rect">
            <a:avLst/>
          </a:prstGeom>
        </p:spPr>
      </p:pic>
      <p:sp>
        <p:nvSpPr>
          <p:cNvPr id="56" name="Rectangle 55"/>
          <p:cNvSpPr/>
          <p:nvPr/>
        </p:nvSpPr>
        <p:spPr>
          <a:xfrm>
            <a:off x="6079727" y="2464572"/>
            <a:ext cx="1524689" cy="369332"/>
          </a:xfrm>
          <a:prstGeom prst="rect">
            <a:avLst/>
          </a:prstGeom>
        </p:spPr>
        <p:txBody>
          <a:bodyPr wrap="none">
            <a:spAutoFit/>
          </a:bodyPr>
          <a:lstStyle/>
          <a:p>
            <a:r>
              <a:rPr lang="en-US" b="1" dirty="0" smtClean="0"/>
              <a:t>HTTP server</a:t>
            </a:r>
            <a:endParaRPr lang="en-US" b="1" dirty="0"/>
          </a:p>
        </p:txBody>
      </p:sp>
      <p:sp>
        <p:nvSpPr>
          <p:cNvPr id="58" name="Rectangle 57"/>
          <p:cNvSpPr/>
          <p:nvPr/>
        </p:nvSpPr>
        <p:spPr>
          <a:xfrm>
            <a:off x="4563981" y="2347242"/>
            <a:ext cx="1269299" cy="369332"/>
          </a:xfrm>
          <a:prstGeom prst="rect">
            <a:avLst/>
          </a:prstGeom>
        </p:spPr>
        <p:txBody>
          <a:bodyPr wrap="square">
            <a:spAutoFit/>
          </a:bodyPr>
          <a:lstStyle/>
          <a:p>
            <a:r>
              <a:rPr lang="en-US" b="1" i="1" dirty="0" err="1" smtClean="0"/>
              <a:t>botmaster</a:t>
            </a:r>
            <a:endParaRPr lang="en-US" b="1" i="1" dirty="0"/>
          </a:p>
        </p:txBody>
      </p:sp>
      <p:cxnSp>
        <p:nvCxnSpPr>
          <p:cNvPr id="59" name="Straight Connector 58"/>
          <p:cNvCxnSpPr/>
          <p:nvPr/>
        </p:nvCxnSpPr>
        <p:spPr>
          <a:xfrm>
            <a:off x="5240843" y="3444320"/>
            <a:ext cx="2324"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6864520" y="3400069"/>
            <a:ext cx="0"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8160201" y="3338937"/>
            <a:ext cx="0" cy="2054505"/>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6867515" y="3550588"/>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a:off x="5243167" y="4396756"/>
            <a:ext cx="16099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559765" y="4088979"/>
            <a:ext cx="1019836" cy="307777"/>
          </a:xfrm>
          <a:prstGeom prst="rect">
            <a:avLst/>
          </a:prstGeom>
          <a:noFill/>
        </p:spPr>
        <p:txBody>
          <a:bodyPr wrap="square" rtlCol="0">
            <a:spAutoFit/>
          </a:bodyPr>
          <a:lstStyle/>
          <a:p>
            <a:r>
              <a:rPr lang="en-US" sz="1400" b="1" dirty="0" smtClean="0"/>
              <a:t>command</a:t>
            </a:r>
            <a:endParaRPr lang="en-US" sz="1400" b="1" dirty="0"/>
          </a:p>
        </p:txBody>
      </p:sp>
      <p:cxnSp>
        <p:nvCxnSpPr>
          <p:cNvPr id="67" name="Straight Arrow Connector 66"/>
          <p:cNvCxnSpPr/>
          <p:nvPr/>
        </p:nvCxnSpPr>
        <p:spPr>
          <a:xfrm>
            <a:off x="6853116" y="3673303"/>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8145802" y="4706041"/>
            <a:ext cx="767051" cy="276999"/>
          </a:xfrm>
          <a:prstGeom prst="rect">
            <a:avLst/>
          </a:prstGeom>
          <a:noFill/>
        </p:spPr>
        <p:txBody>
          <a:bodyPr wrap="square" rtlCol="0">
            <a:spAutoFit/>
          </a:bodyPr>
          <a:lstStyle/>
          <a:p>
            <a:r>
              <a:rPr lang="en-US" sz="1200" b="1" dirty="0" smtClean="0"/>
              <a:t>Execute</a:t>
            </a:r>
            <a:endParaRPr lang="en-US" sz="1200" b="1" dirty="0"/>
          </a:p>
        </p:txBody>
      </p:sp>
      <p:cxnSp>
        <p:nvCxnSpPr>
          <p:cNvPr id="74" name="Straight Arrow Connector 73"/>
          <p:cNvCxnSpPr/>
          <p:nvPr/>
        </p:nvCxnSpPr>
        <p:spPr>
          <a:xfrm flipH="1">
            <a:off x="6867515" y="4014189"/>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6867515" y="4121589"/>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a:off x="6867515" y="4686121"/>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flipH="1">
            <a:off x="6853116" y="4578721"/>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flipH="1">
            <a:off x="6853116" y="5059144"/>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a:off x="6875925" y="5149722"/>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0079" y="3244023"/>
            <a:ext cx="313209" cy="276999"/>
          </a:xfrm>
          <a:prstGeom prst="rect">
            <a:avLst/>
          </a:prstGeom>
          <a:noFill/>
        </p:spPr>
        <p:txBody>
          <a:bodyPr wrap="square" rtlCol="0">
            <a:spAutoFit/>
          </a:bodyPr>
          <a:lstStyle/>
          <a:p>
            <a:r>
              <a:rPr lang="en-US" sz="1200" b="1" dirty="0"/>
              <a:t>?</a:t>
            </a:r>
          </a:p>
        </p:txBody>
      </p:sp>
      <p:sp>
        <p:nvSpPr>
          <p:cNvPr id="82" name="TextBox 81"/>
          <p:cNvSpPr txBox="1"/>
          <p:nvPr/>
        </p:nvSpPr>
        <p:spPr>
          <a:xfrm>
            <a:off x="7274827" y="3583732"/>
            <a:ext cx="405282" cy="276999"/>
          </a:xfrm>
          <a:prstGeom prst="rect">
            <a:avLst/>
          </a:prstGeom>
          <a:noFill/>
        </p:spPr>
        <p:txBody>
          <a:bodyPr wrap="square" rtlCol="0">
            <a:spAutoFit/>
          </a:bodyPr>
          <a:lstStyle/>
          <a:p>
            <a:r>
              <a:rPr lang="en-US" sz="1200" b="1" dirty="0" smtClean="0"/>
              <a:t>No</a:t>
            </a:r>
            <a:endParaRPr lang="en-US" sz="1200" b="1" dirty="0"/>
          </a:p>
        </p:txBody>
      </p:sp>
      <p:sp>
        <p:nvSpPr>
          <p:cNvPr id="83" name="TextBox 82"/>
          <p:cNvSpPr txBox="1"/>
          <p:nvPr/>
        </p:nvSpPr>
        <p:spPr>
          <a:xfrm>
            <a:off x="7368490" y="3778336"/>
            <a:ext cx="313209" cy="276999"/>
          </a:xfrm>
          <a:prstGeom prst="rect">
            <a:avLst/>
          </a:prstGeom>
          <a:noFill/>
        </p:spPr>
        <p:txBody>
          <a:bodyPr wrap="square" rtlCol="0">
            <a:spAutoFit/>
          </a:bodyPr>
          <a:lstStyle/>
          <a:p>
            <a:r>
              <a:rPr lang="en-US" sz="1200" b="1" dirty="0"/>
              <a:t>?</a:t>
            </a:r>
          </a:p>
        </p:txBody>
      </p:sp>
      <p:sp>
        <p:nvSpPr>
          <p:cNvPr id="84" name="TextBox 83"/>
          <p:cNvSpPr txBox="1"/>
          <p:nvPr/>
        </p:nvSpPr>
        <p:spPr>
          <a:xfrm>
            <a:off x="7301648" y="4042346"/>
            <a:ext cx="405282" cy="276999"/>
          </a:xfrm>
          <a:prstGeom prst="rect">
            <a:avLst/>
          </a:prstGeom>
          <a:noFill/>
        </p:spPr>
        <p:txBody>
          <a:bodyPr wrap="square" rtlCol="0">
            <a:spAutoFit/>
          </a:bodyPr>
          <a:lstStyle/>
          <a:p>
            <a:r>
              <a:rPr lang="en-US" sz="1200" b="1" dirty="0" smtClean="0"/>
              <a:t>No</a:t>
            </a:r>
            <a:endParaRPr lang="en-US" sz="1200" b="1" dirty="0"/>
          </a:p>
        </p:txBody>
      </p:sp>
      <p:sp>
        <p:nvSpPr>
          <p:cNvPr id="85" name="TextBox 84"/>
          <p:cNvSpPr txBox="1"/>
          <p:nvPr/>
        </p:nvSpPr>
        <p:spPr>
          <a:xfrm>
            <a:off x="7366899" y="4350657"/>
            <a:ext cx="313209" cy="276999"/>
          </a:xfrm>
          <a:prstGeom prst="rect">
            <a:avLst/>
          </a:prstGeom>
          <a:noFill/>
        </p:spPr>
        <p:txBody>
          <a:bodyPr wrap="square" rtlCol="0">
            <a:spAutoFit/>
          </a:bodyPr>
          <a:lstStyle/>
          <a:p>
            <a:r>
              <a:rPr lang="en-US" sz="1200" b="1" dirty="0"/>
              <a:t>?</a:t>
            </a:r>
          </a:p>
        </p:txBody>
      </p:sp>
      <p:sp>
        <p:nvSpPr>
          <p:cNvPr id="86" name="TextBox 85"/>
          <p:cNvSpPr txBox="1"/>
          <p:nvPr/>
        </p:nvSpPr>
        <p:spPr>
          <a:xfrm>
            <a:off x="7083396" y="4581023"/>
            <a:ext cx="1015629" cy="276999"/>
          </a:xfrm>
          <a:prstGeom prst="rect">
            <a:avLst/>
          </a:prstGeom>
          <a:noFill/>
        </p:spPr>
        <p:txBody>
          <a:bodyPr wrap="square" rtlCol="0">
            <a:spAutoFit/>
          </a:bodyPr>
          <a:lstStyle/>
          <a:p>
            <a:r>
              <a:rPr lang="en-US" sz="1200" b="1" dirty="0" smtClean="0"/>
              <a:t>command</a:t>
            </a:r>
            <a:endParaRPr lang="en-US" sz="1200" b="1" dirty="0"/>
          </a:p>
        </p:txBody>
      </p:sp>
      <p:sp>
        <p:nvSpPr>
          <p:cNvPr id="87" name="TextBox 86"/>
          <p:cNvSpPr txBox="1"/>
          <p:nvPr/>
        </p:nvSpPr>
        <p:spPr>
          <a:xfrm>
            <a:off x="7074987" y="4824799"/>
            <a:ext cx="981988" cy="276999"/>
          </a:xfrm>
          <a:prstGeom prst="rect">
            <a:avLst/>
          </a:prstGeom>
          <a:noFill/>
        </p:spPr>
        <p:txBody>
          <a:bodyPr wrap="square" rtlCol="0">
            <a:spAutoFit/>
          </a:bodyPr>
          <a:lstStyle/>
          <a:p>
            <a:r>
              <a:rPr lang="en-US" sz="1200" b="1" dirty="0" smtClean="0"/>
              <a:t>? + report</a:t>
            </a:r>
            <a:endParaRPr lang="en-US" sz="1200" b="1" dirty="0"/>
          </a:p>
        </p:txBody>
      </p:sp>
      <p:sp>
        <p:nvSpPr>
          <p:cNvPr id="88" name="TextBox 87"/>
          <p:cNvSpPr txBox="1"/>
          <p:nvPr/>
        </p:nvSpPr>
        <p:spPr>
          <a:xfrm>
            <a:off x="7151965" y="5098314"/>
            <a:ext cx="871261" cy="276999"/>
          </a:xfrm>
          <a:prstGeom prst="rect">
            <a:avLst/>
          </a:prstGeom>
          <a:noFill/>
        </p:spPr>
        <p:txBody>
          <a:bodyPr wrap="square" rtlCol="0">
            <a:spAutoFit/>
          </a:bodyPr>
          <a:lstStyle/>
          <a:p>
            <a:r>
              <a:rPr lang="en-US" sz="1200" b="1" dirty="0" smtClean="0"/>
              <a:t>Nothing</a:t>
            </a:r>
            <a:endParaRPr lang="en-US" sz="1200" b="1" dirty="0"/>
          </a:p>
        </p:txBody>
      </p:sp>
      <p:pic>
        <p:nvPicPr>
          <p:cNvPr id="89" name="Picture 88" descr="2vskw44.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7913" y="2213393"/>
            <a:ext cx="5010763" cy="3566437"/>
          </a:xfrm>
          <a:prstGeom prst="rect">
            <a:avLst/>
          </a:prstGeom>
        </p:spPr>
      </p:pic>
    </p:spTree>
    <p:extLst>
      <p:ext uri="{BB962C8B-B14F-4D97-AF65-F5344CB8AC3E}">
        <p14:creationId xmlns:p14="http://schemas.microsoft.com/office/powerpoint/2010/main" val="310239387"/>
      </p:ext>
    </p:extLst>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Bot Examples</a:t>
            </a:r>
            <a:endParaRPr lang="en-US" dirty="0"/>
          </a:p>
        </p:txBody>
      </p:sp>
      <p:sp>
        <p:nvSpPr>
          <p:cNvPr id="3" name="Content Placeholder 2"/>
          <p:cNvSpPr>
            <a:spLocks noGrp="1"/>
          </p:cNvSpPr>
          <p:nvPr>
            <p:ph idx="1"/>
          </p:nvPr>
        </p:nvSpPr>
        <p:spPr>
          <a:xfrm>
            <a:off x="465610" y="1707404"/>
            <a:ext cx="8229600" cy="513061"/>
          </a:xfrm>
        </p:spPr>
        <p:txBody>
          <a:bodyPr>
            <a:normAutofit fontScale="92500" lnSpcReduction="10000"/>
          </a:bodyPr>
          <a:lstStyle/>
          <a:p>
            <a:r>
              <a:rPr lang="en-US" dirty="0" smtClean="0"/>
              <a:t>HTTP-based C&amp;C</a:t>
            </a:r>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73</a:t>
            </a:fld>
            <a:endParaRPr lang="en-US"/>
          </a:p>
        </p:txBody>
      </p:sp>
      <p:pic>
        <p:nvPicPr>
          <p:cNvPr id="53" name="Picture 52"/>
          <p:cNvPicPr>
            <a:picLocks noChangeAspect="1"/>
          </p:cNvPicPr>
          <p:nvPr/>
        </p:nvPicPr>
        <p:blipFill>
          <a:blip r:embed="rId2"/>
          <a:stretch>
            <a:fillRect/>
          </a:stretch>
        </p:blipFill>
        <p:spPr>
          <a:xfrm>
            <a:off x="7924199" y="2891344"/>
            <a:ext cx="449187" cy="434252"/>
          </a:xfrm>
          <a:prstGeom prst="rect">
            <a:avLst/>
          </a:prstGeom>
          <a:effectLst>
            <a:glow rad="101600">
              <a:schemeClr val="bg1">
                <a:alpha val="9000"/>
              </a:schemeClr>
            </a:glow>
          </a:effectLst>
        </p:spPr>
      </p:pic>
      <p:pic>
        <p:nvPicPr>
          <p:cNvPr id="54" name="Picture 53" descr="server.png"/>
          <p:cNvPicPr>
            <a:picLocks noChangeAspect="1"/>
          </p:cNvPicPr>
          <p:nvPr/>
        </p:nvPicPr>
        <p:blipFill>
          <a:blip r:embed="rId3"/>
          <a:stretch>
            <a:fillRect/>
          </a:stretch>
        </p:blipFill>
        <p:spPr>
          <a:xfrm>
            <a:off x="6673295" y="2930466"/>
            <a:ext cx="359642" cy="408471"/>
          </a:xfrm>
          <a:prstGeom prst="rect">
            <a:avLst/>
          </a:prstGeom>
        </p:spPr>
      </p:pic>
      <p:pic>
        <p:nvPicPr>
          <p:cNvPr id="55" name="Picture 54"/>
          <p:cNvPicPr>
            <a:picLocks noChangeAspect="1"/>
          </p:cNvPicPr>
          <p:nvPr/>
        </p:nvPicPr>
        <p:blipFill>
          <a:blip r:embed="rId4"/>
          <a:stretch>
            <a:fillRect/>
          </a:stretch>
        </p:blipFill>
        <p:spPr>
          <a:xfrm>
            <a:off x="4888224" y="2671832"/>
            <a:ext cx="756146" cy="677688"/>
          </a:xfrm>
          <a:prstGeom prst="rect">
            <a:avLst/>
          </a:prstGeom>
        </p:spPr>
      </p:pic>
      <p:sp>
        <p:nvSpPr>
          <p:cNvPr id="56" name="Rectangle 55"/>
          <p:cNvSpPr/>
          <p:nvPr/>
        </p:nvSpPr>
        <p:spPr>
          <a:xfrm>
            <a:off x="6079727" y="2464572"/>
            <a:ext cx="1524689" cy="369332"/>
          </a:xfrm>
          <a:prstGeom prst="rect">
            <a:avLst/>
          </a:prstGeom>
        </p:spPr>
        <p:txBody>
          <a:bodyPr wrap="none">
            <a:spAutoFit/>
          </a:bodyPr>
          <a:lstStyle/>
          <a:p>
            <a:r>
              <a:rPr lang="en-US" b="1" dirty="0" smtClean="0"/>
              <a:t>HTTP server</a:t>
            </a:r>
            <a:endParaRPr lang="en-US" b="1" dirty="0"/>
          </a:p>
        </p:txBody>
      </p:sp>
      <p:sp>
        <p:nvSpPr>
          <p:cNvPr id="58" name="Rectangle 57"/>
          <p:cNvSpPr/>
          <p:nvPr/>
        </p:nvSpPr>
        <p:spPr>
          <a:xfrm>
            <a:off x="4563981" y="2347242"/>
            <a:ext cx="1269299" cy="369332"/>
          </a:xfrm>
          <a:prstGeom prst="rect">
            <a:avLst/>
          </a:prstGeom>
        </p:spPr>
        <p:txBody>
          <a:bodyPr wrap="square">
            <a:spAutoFit/>
          </a:bodyPr>
          <a:lstStyle/>
          <a:p>
            <a:r>
              <a:rPr lang="en-US" b="1" i="1" dirty="0" err="1" smtClean="0"/>
              <a:t>botmaster</a:t>
            </a:r>
            <a:endParaRPr lang="en-US" b="1" i="1" dirty="0"/>
          </a:p>
        </p:txBody>
      </p:sp>
      <p:cxnSp>
        <p:nvCxnSpPr>
          <p:cNvPr id="59" name="Straight Connector 58"/>
          <p:cNvCxnSpPr/>
          <p:nvPr/>
        </p:nvCxnSpPr>
        <p:spPr>
          <a:xfrm>
            <a:off x="5240843" y="3444320"/>
            <a:ext cx="2324"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p:cNvCxnSpPr/>
          <p:nvPr/>
        </p:nvCxnSpPr>
        <p:spPr>
          <a:xfrm>
            <a:off x="6864520" y="3400069"/>
            <a:ext cx="0" cy="1993373"/>
          </a:xfrm>
          <a:prstGeom prst="line">
            <a:avLst/>
          </a:prstGeom>
        </p:spPr>
        <p:style>
          <a:lnRef idx="2">
            <a:schemeClr val="accent1"/>
          </a:lnRef>
          <a:fillRef idx="0">
            <a:schemeClr val="accent1"/>
          </a:fillRef>
          <a:effectRef idx="1">
            <a:schemeClr val="accent1"/>
          </a:effectRef>
          <a:fontRef idx="minor">
            <a:schemeClr val="tx1"/>
          </a:fontRef>
        </p:style>
      </p:cxnSp>
      <p:cxnSp>
        <p:nvCxnSpPr>
          <p:cNvPr id="61" name="Straight Connector 60"/>
          <p:cNvCxnSpPr/>
          <p:nvPr/>
        </p:nvCxnSpPr>
        <p:spPr>
          <a:xfrm>
            <a:off x="8160201" y="3338937"/>
            <a:ext cx="0" cy="2054505"/>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Arrow Connector 61"/>
          <p:cNvCxnSpPr/>
          <p:nvPr/>
        </p:nvCxnSpPr>
        <p:spPr>
          <a:xfrm flipH="1">
            <a:off x="6867515" y="3550588"/>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5" name="Straight Arrow Connector 64"/>
          <p:cNvCxnSpPr/>
          <p:nvPr/>
        </p:nvCxnSpPr>
        <p:spPr>
          <a:xfrm>
            <a:off x="5243167" y="4396756"/>
            <a:ext cx="160994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5559765" y="4088979"/>
            <a:ext cx="1019836" cy="307777"/>
          </a:xfrm>
          <a:prstGeom prst="rect">
            <a:avLst/>
          </a:prstGeom>
          <a:noFill/>
        </p:spPr>
        <p:txBody>
          <a:bodyPr wrap="square" rtlCol="0">
            <a:spAutoFit/>
          </a:bodyPr>
          <a:lstStyle/>
          <a:p>
            <a:r>
              <a:rPr lang="en-US" sz="1400" b="1" dirty="0" smtClean="0"/>
              <a:t>command</a:t>
            </a:r>
            <a:endParaRPr lang="en-US" sz="1400" b="1" dirty="0"/>
          </a:p>
        </p:txBody>
      </p:sp>
      <p:cxnSp>
        <p:nvCxnSpPr>
          <p:cNvPr id="67" name="Straight Arrow Connector 66"/>
          <p:cNvCxnSpPr/>
          <p:nvPr/>
        </p:nvCxnSpPr>
        <p:spPr>
          <a:xfrm>
            <a:off x="6853116" y="3673303"/>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8145802" y="4706041"/>
            <a:ext cx="767051" cy="276999"/>
          </a:xfrm>
          <a:prstGeom prst="rect">
            <a:avLst/>
          </a:prstGeom>
          <a:noFill/>
        </p:spPr>
        <p:txBody>
          <a:bodyPr wrap="square" rtlCol="0">
            <a:spAutoFit/>
          </a:bodyPr>
          <a:lstStyle/>
          <a:p>
            <a:r>
              <a:rPr lang="en-US" sz="1200" b="1" dirty="0" smtClean="0"/>
              <a:t>Execute</a:t>
            </a:r>
            <a:endParaRPr lang="en-US" sz="1200" b="1" dirty="0"/>
          </a:p>
        </p:txBody>
      </p:sp>
      <p:cxnSp>
        <p:nvCxnSpPr>
          <p:cNvPr id="74" name="Straight Arrow Connector 73"/>
          <p:cNvCxnSpPr/>
          <p:nvPr/>
        </p:nvCxnSpPr>
        <p:spPr>
          <a:xfrm flipH="1">
            <a:off x="6867515" y="4014189"/>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a:off x="6867515" y="4121589"/>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a:off x="6867515" y="4686121"/>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flipH="1">
            <a:off x="6853116" y="4578721"/>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9" name="Straight Arrow Connector 78"/>
          <p:cNvCxnSpPr/>
          <p:nvPr/>
        </p:nvCxnSpPr>
        <p:spPr>
          <a:xfrm flipH="1">
            <a:off x="6853116" y="5059144"/>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0" name="Straight Arrow Connector 79"/>
          <p:cNvCxnSpPr/>
          <p:nvPr/>
        </p:nvCxnSpPr>
        <p:spPr>
          <a:xfrm>
            <a:off x="6875925" y="5149722"/>
            <a:ext cx="129268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350079" y="3244023"/>
            <a:ext cx="313209" cy="276999"/>
          </a:xfrm>
          <a:prstGeom prst="rect">
            <a:avLst/>
          </a:prstGeom>
          <a:noFill/>
        </p:spPr>
        <p:txBody>
          <a:bodyPr wrap="square" rtlCol="0">
            <a:spAutoFit/>
          </a:bodyPr>
          <a:lstStyle/>
          <a:p>
            <a:r>
              <a:rPr lang="en-US" sz="1200" b="1" dirty="0"/>
              <a:t>?</a:t>
            </a:r>
          </a:p>
        </p:txBody>
      </p:sp>
      <p:sp>
        <p:nvSpPr>
          <p:cNvPr id="82" name="TextBox 81"/>
          <p:cNvSpPr txBox="1"/>
          <p:nvPr/>
        </p:nvSpPr>
        <p:spPr>
          <a:xfrm>
            <a:off x="7274827" y="3583732"/>
            <a:ext cx="405282" cy="276999"/>
          </a:xfrm>
          <a:prstGeom prst="rect">
            <a:avLst/>
          </a:prstGeom>
          <a:noFill/>
        </p:spPr>
        <p:txBody>
          <a:bodyPr wrap="square" rtlCol="0">
            <a:spAutoFit/>
          </a:bodyPr>
          <a:lstStyle/>
          <a:p>
            <a:r>
              <a:rPr lang="en-US" sz="1200" b="1" dirty="0" smtClean="0"/>
              <a:t>No</a:t>
            </a:r>
            <a:endParaRPr lang="en-US" sz="1200" b="1" dirty="0"/>
          </a:p>
        </p:txBody>
      </p:sp>
      <p:sp>
        <p:nvSpPr>
          <p:cNvPr id="83" name="TextBox 82"/>
          <p:cNvSpPr txBox="1"/>
          <p:nvPr/>
        </p:nvSpPr>
        <p:spPr>
          <a:xfrm>
            <a:off x="7368490" y="3778336"/>
            <a:ext cx="313209" cy="276999"/>
          </a:xfrm>
          <a:prstGeom prst="rect">
            <a:avLst/>
          </a:prstGeom>
          <a:noFill/>
        </p:spPr>
        <p:txBody>
          <a:bodyPr wrap="square" rtlCol="0">
            <a:spAutoFit/>
          </a:bodyPr>
          <a:lstStyle/>
          <a:p>
            <a:r>
              <a:rPr lang="en-US" sz="1200" b="1" dirty="0"/>
              <a:t>?</a:t>
            </a:r>
          </a:p>
        </p:txBody>
      </p:sp>
      <p:sp>
        <p:nvSpPr>
          <p:cNvPr id="84" name="TextBox 83"/>
          <p:cNvSpPr txBox="1"/>
          <p:nvPr/>
        </p:nvSpPr>
        <p:spPr>
          <a:xfrm>
            <a:off x="7301648" y="4042346"/>
            <a:ext cx="405282" cy="276999"/>
          </a:xfrm>
          <a:prstGeom prst="rect">
            <a:avLst/>
          </a:prstGeom>
          <a:noFill/>
        </p:spPr>
        <p:txBody>
          <a:bodyPr wrap="square" rtlCol="0">
            <a:spAutoFit/>
          </a:bodyPr>
          <a:lstStyle/>
          <a:p>
            <a:r>
              <a:rPr lang="en-US" sz="1200" b="1" dirty="0" smtClean="0"/>
              <a:t>No</a:t>
            </a:r>
            <a:endParaRPr lang="en-US" sz="1200" b="1" dirty="0"/>
          </a:p>
        </p:txBody>
      </p:sp>
      <p:sp>
        <p:nvSpPr>
          <p:cNvPr id="85" name="TextBox 84"/>
          <p:cNvSpPr txBox="1"/>
          <p:nvPr/>
        </p:nvSpPr>
        <p:spPr>
          <a:xfrm>
            <a:off x="7366899" y="4350657"/>
            <a:ext cx="313209" cy="276999"/>
          </a:xfrm>
          <a:prstGeom prst="rect">
            <a:avLst/>
          </a:prstGeom>
          <a:noFill/>
        </p:spPr>
        <p:txBody>
          <a:bodyPr wrap="square" rtlCol="0">
            <a:spAutoFit/>
          </a:bodyPr>
          <a:lstStyle/>
          <a:p>
            <a:r>
              <a:rPr lang="en-US" sz="1200" b="1" dirty="0"/>
              <a:t>?</a:t>
            </a:r>
          </a:p>
        </p:txBody>
      </p:sp>
      <p:sp>
        <p:nvSpPr>
          <p:cNvPr id="86" name="TextBox 85"/>
          <p:cNvSpPr txBox="1"/>
          <p:nvPr/>
        </p:nvSpPr>
        <p:spPr>
          <a:xfrm>
            <a:off x="7083396" y="4581023"/>
            <a:ext cx="1015629" cy="276999"/>
          </a:xfrm>
          <a:prstGeom prst="rect">
            <a:avLst/>
          </a:prstGeom>
          <a:noFill/>
        </p:spPr>
        <p:txBody>
          <a:bodyPr wrap="square" rtlCol="0">
            <a:spAutoFit/>
          </a:bodyPr>
          <a:lstStyle/>
          <a:p>
            <a:r>
              <a:rPr lang="en-US" sz="1200" b="1" dirty="0" smtClean="0"/>
              <a:t>command</a:t>
            </a:r>
            <a:endParaRPr lang="en-US" sz="1200" b="1" dirty="0"/>
          </a:p>
        </p:txBody>
      </p:sp>
      <p:sp>
        <p:nvSpPr>
          <p:cNvPr id="87" name="TextBox 86"/>
          <p:cNvSpPr txBox="1"/>
          <p:nvPr/>
        </p:nvSpPr>
        <p:spPr>
          <a:xfrm>
            <a:off x="7074987" y="4824799"/>
            <a:ext cx="981988" cy="276999"/>
          </a:xfrm>
          <a:prstGeom prst="rect">
            <a:avLst/>
          </a:prstGeom>
          <a:noFill/>
        </p:spPr>
        <p:txBody>
          <a:bodyPr wrap="square" rtlCol="0">
            <a:spAutoFit/>
          </a:bodyPr>
          <a:lstStyle/>
          <a:p>
            <a:r>
              <a:rPr lang="en-US" sz="1200" b="1" dirty="0" smtClean="0"/>
              <a:t>? + report</a:t>
            </a:r>
            <a:endParaRPr lang="en-US" sz="1200" b="1" dirty="0"/>
          </a:p>
        </p:txBody>
      </p:sp>
      <p:sp>
        <p:nvSpPr>
          <p:cNvPr id="88" name="TextBox 87"/>
          <p:cNvSpPr txBox="1"/>
          <p:nvPr/>
        </p:nvSpPr>
        <p:spPr>
          <a:xfrm>
            <a:off x="7151965" y="5098314"/>
            <a:ext cx="871261" cy="276999"/>
          </a:xfrm>
          <a:prstGeom prst="rect">
            <a:avLst/>
          </a:prstGeom>
          <a:noFill/>
        </p:spPr>
        <p:txBody>
          <a:bodyPr wrap="square" rtlCol="0">
            <a:spAutoFit/>
          </a:bodyPr>
          <a:lstStyle/>
          <a:p>
            <a:r>
              <a:rPr lang="en-US" sz="1200" b="1" dirty="0" smtClean="0"/>
              <a:t>Nothing</a:t>
            </a:r>
            <a:endParaRPr lang="en-US" sz="1200" b="1" dirty="0"/>
          </a:p>
        </p:txBody>
      </p:sp>
      <p:grpSp>
        <p:nvGrpSpPr>
          <p:cNvPr id="95" name="Group 94"/>
          <p:cNvGrpSpPr/>
          <p:nvPr/>
        </p:nvGrpSpPr>
        <p:grpSpPr>
          <a:xfrm>
            <a:off x="1089040" y="2245826"/>
            <a:ext cx="2997200" cy="3813423"/>
            <a:chOff x="5514088" y="2254689"/>
            <a:chExt cx="2997200" cy="3813423"/>
          </a:xfrm>
        </p:grpSpPr>
        <p:pic>
          <p:nvPicPr>
            <p:cNvPr id="93" name="Picture 92"/>
            <p:cNvPicPr>
              <a:picLocks noChangeAspect="1"/>
            </p:cNvPicPr>
            <p:nvPr/>
          </p:nvPicPr>
          <p:blipFill>
            <a:blip r:embed="rId5"/>
            <a:stretch>
              <a:fillRect/>
            </a:stretch>
          </p:blipFill>
          <p:spPr>
            <a:xfrm>
              <a:off x="5514088" y="2254689"/>
              <a:ext cx="2997200" cy="3733800"/>
            </a:xfrm>
            <a:prstGeom prst="rect">
              <a:avLst/>
            </a:prstGeom>
          </p:spPr>
        </p:pic>
        <p:sp>
          <p:nvSpPr>
            <p:cNvPr id="94" name="Rectangle 93"/>
            <p:cNvSpPr/>
            <p:nvPr/>
          </p:nvSpPr>
          <p:spPr>
            <a:xfrm>
              <a:off x="5620005" y="5791113"/>
              <a:ext cx="2825864" cy="276999"/>
            </a:xfrm>
            <a:prstGeom prst="rect">
              <a:avLst/>
            </a:prstGeom>
          </p:spPr>
          <p:txBody>
            <a:bodyPr wrap="none">
              <a:spAutoFit/>
            </a:bodyPr>
            <a:lstStyle/>
            <a:p>
              <a:r>
                <a:rPr lang="en-US" b="1" baseline="30000" dirty="0" smtClean="0"/>
                <a:t>Source: “The </a:t>
              </a:r>
              <a:r>
                <a:rPr lang="en-US" b="1" baseline="30000" dirty="0"/>
                <a:t>Anatomy of </a:t>
              </a:r>
              <a:r>
                <a:rPr lang="en-US" b="1" baseline="30000" dirty="0" err="1" smtClean="0"/>
                <a:t>Clickbot.A</a:t>
              </a:r>
              <a:r>
                <a:rPr lang="en-US" b="1" baseline="30000" dirty="0" smtClean="0"/>
                <a:t>”</a:t>
              </a:r>
              <a:endParaRPr lang="en-US" dirty="0"/>
            </a:p>
          </p:txBody>
        </p:sp>
      </p:grpSp>
    </p:spTree>
    <p:extLst>
      <p:ext uri="{BB962C8B-B14F-4D97-AF65-F5344CB8AC3E}">
        <p14:creationId xmlns:p14="http://schemas.microsoft.com/office/powerpoint/2010/main" val="3665359498"/>
      </p:ext>
    </p:extLst>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Roadmap</a:t>
            </a:r>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74</a:t>
            </a:fld>
            <a:endParaRPr lang="en-US"/>
          </a:p>
        </p:txBody>
      </p:sp>
      <p:sp>
        <p:nvSpPr>
          <p:cNvPr id="22" name="Rounded Rectangle 21"/>
          <p:cNvSpPr/>
          <p:nvPr/>
        </p:nvSpPr>
        <p:spPr>
          <a:xfrm>
            <a:off x="3718329" y="2086893"/>
            <a:ext cx="1732503" cy="77379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Network Traffic</a:t>
            </a:r>
            <a:endParaRPr lang="en-US" dirty="0"/>
          </a:p>
        </p:txBody>
      </p:sp>
      <p:cxnSp>
        <p:nvCxnSpPr>
          <p:cNvPr id="24" name="Straight Arrow Connector 23"/>
          <p:cNvCxnSpPr>
            <a:stCxn id="22" idx="2"/>
            <a:endCxn id="30" idx="0"/>
          </p:cNvCxnSpPr>
          <p:nvPr/>
        </p:nvCxnSpPr>
        <p:spPr>
          <a:xfrm flipH="1">
            <a:off x="2054124" y="2860692"/>
            <a:ext cx="2530457" cy="43786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22" idx="2"/>
            <a:endCxn id="31" idx="0"/>
          </p:cNvCxnSpPr>
          <p:nvPr/>
        </p:nvCxnSpPr>
        <p:spPr>
          <a:xfrm>
            <a:off x="4584581" y="2860692"/>
            <a:ext cx="9428" cy="4294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a:stCxn id="22" idx="2"/>
          </p:cNvCxnSpPr>
          <p:nvPr/>
        </p:nvCxnSpPr>
        <p:spPr>
          <a:xfrm>
            <a:off x="4584581" y="2860692"/>
            <a:ext cx="2396909" cy="42945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187872" y="3298559"/>
            <a:ext cx="1732503" cy="5372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IRC Traffic</a:t>
            </a:r>
            <a:endParaRPr lang="en-US" dirty="0"/>
          </a:p>
        </p:txBody>
      </p:sp>
      <p:sp>
        <p:nvSpPr>
          <p:cNvPr id="31" name="Rounded Rectangle 30"/>
          <p:cNvSpPr/>
          <p:nvPr/>
        </p:nvSpPr>
        <p:spPr>
          <a:xfrm>
            <a:off x="3727757" y="3290148"/>
            <a:ext cx="1732503" cy="545704"/>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HTTP Traffic</a:t>
            </a:r>
            <a:endParaRPr lang="en-US" dirty="0"/>
          </a:p>
        </p:txBody>
      </p:sp>
      <p:sp>
        <p:nvSpPr>
          <p:cNvPr id="33" name="Rounded Rectangle 32"/>
          <p:cNvSpPr/>
          <p:nvPr/>
        </p:nvSpPr>
        <p:spPr>
          <a:xfrm>
            <a:off x="6115238" y="3298559"/>
            <a:ext cx="1732503" cy="54670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Others</a:t>
            </a:r>
            <a:endParaRPr lang="en-US" dirty="0"/>
          </a:p>
        </p:txBody>
      </p:sp>
      <p:sp>
        <p:nvSpPr>
          <p:cNvPr id="42" name="Rounded Rectangle 41"/>
          <p:cNvSpPr/>
          <p:nvPr/>
        </p:nvSpPr>
        <p:spPr>
          <a:xfrm>
            <a:off x="255358" y="4594835"/>
            <a:ext cx="1259499" cy="5372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IRC by bots</a:t>
            </a:r>
            <a:endParaRPr lang="en-US" dirty="0"/>
          </a:p>
        </p:txBody>
      </p:sp>
      <p:sp>
        <p:nvSpPr>
          <p:cNvPr id="43" name="Rounded Rectangle 42"/>
          <p:cNvSpPr/>
          <p:nvPr/>
        </p:nvSpPr>
        <p:spPr>
          <a:xfrm>
            <a:off x="1795442" y="4594835"/>
            <a:ext cx="1259499" cy="5372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Others</a:t>
            </a:r>
            <a:endParaRPr lang="en-US" dirty="0"/>
          </a:p>
        </p:txBody>
      </p:sp>
      <p:sp>
        <p:nvSpPr>
          <p:cNvPr id="44" name="Rounded Rectangle 43"/>
          <p:cNvSpPr/>
          <p:nvPr/>
        </p:nvSpPr>
        <p:spPr>
          <a:xfrm>
            <a:off x="3207341" y="4590440"/>
            <a:ext cx="1259499" cy="5372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HTTP by bots</a:t>
            </a:r>
            <a:endParaRPr lang="en-US" dirty="0"/>
          </a:p>
        </p:txBody>
      </p:sp>
      <p:sp>
        <p:nvSpPr>
          <p:cNvPr id="45" name="Rounded Rectangle 44"/>
          <p:cNvSpPr/>
          <p:nvPr/>
        </p:nvSpPr>
        <p:spPr>
          <a:xfrm>
            <a:off x="4619240" y="4594835"/>
            <a:ext cx="1259499" cy="53729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Others</a:t>
            </a:r>
            <a:endParaRPr lang="en-US" dirty="0"/>
          </a:p>
        </p:txBody>
      </p:sp>
      <p:cxnSp>
        <p:nvCxnSpPr>
          <p:cNvPr id="46" name="Straight Arrow Connector 45"/>
          <p:cNvCxnSpPr>
            <a:endCxn id="42" idx="0"/>
          </p:cNvCxnSpPr>
          <p:nvPr/>
        </p:nvCxnSpPr>
        <p:spPr>
          <a:xfrm flipH="1">
            <a:off x="885108" y="3845265"/>
            <a:ext cx="1169017" cy="74957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stCxn id="30" idx="2"/>
            <a:endCxn id="43" idx="0"/>
          </p:cNvCxnSpPr>
          <p:nvPr/>
        </p:nvCxnSpPr>
        <p:spPr>
          <a:xfrm>
            <a:off x="2054124" y="3835851"/>
            <a:ext cx="371068" cy="75898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a:endCxn id="44" idx="0"/>
          </p:cNvCxnSpPr>
          <p:nvPr/>
        </p:nvCxnSpPr>
        <p:spPr>
          <a:xfrm flipH="1">
            <a:off x="3837091" y="3845265"/>
            <a:ext cx="782150" cy="74517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a:endCxn id="45" idx="0"/>
          </p:cNvCxnSpPr>
          <p:nvPr/>
        </p:nvCxnSpPr>
        <p:spPr>
          <a:xfrm>
            <a:off x="4619241" y="3849660"/>
            <a:ext cx="629749" cy="74517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6273070" y="1947255"/>
            <a:ext cx="2413730" cy="807442"/>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rgbClr val="000000"/>
                </a:solidFill>
              </a:rPr>
              <a:t>Signature Match</a:t>
            </a:r>
          </a:p>
          <a:p>
            <a:r>
              <a:rPr lang="en-US" sz="1200" dirty="0" smtClean="0">
                <a:solidFill>
                  <a:srgbClr val="000000"/>
                </a:solidFill>
              </a:rPr>
              <a:t>IRC: NICK, PRIVMSG…</a:t>
            </a:r>
          </a:p>
          <a:p>
            <a:r>
              <a:rPr lang="en-US" sz="1200" dirty="0" smtClean="0">
                <a:solidFill>
                  <a:srgbClr val="000000"/>
                </a:solidFill>
              </a:rPr>
              <a:t>HTTP: GET, POST…</a:t>
            </a:r>
          </a:p>
          <a:p>
            <a:pPr algn="ctr"/>
            <a:endParaRPr lang="en-US" sz="1400" dirty="0">
              <a:solidFill>
                <a:srgbClr val="000000"/>
              </a:solidFill>
            </a:endParaRPr>
          </a:p>
        </p:txBody>
      </p:sp>
      <p:sp>
        <p:nvSpPr>
          <p:cNvPr id="23" name="Left Arrow 22"/>
          <p:cNvSpPr/>
          <p:nvPr/>
        </p:nvSpPr>
        <p:spPr>
          <a:xfrm>
            <a:off x="2371807" y="4063450"/>
            <a:ext cx="562468" cy="202862"/>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Left Arrow 25"/>
          <p:cNvSpPr/>
          <p:nvPr/>
        </p:nvSpPr>
        <p:spPr>
          <a:xfrm>
            <a:off x="5169598" y="4063450"/>
            <a:ext cx="562468" cy="202862"/>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Left Arrow 26"/>
          <p:cNvSpPr/>
          <p:nvPr/>
        </p:nvSpPr>
        <p:spPr>
          <a:xfrm>
            <a:off x="5552770" y="2347568"/>
            <a:ext cx="562468" cy="202862"/>
          </a:xfrm>
          <a:prstGeom prst="leftArrow">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3008045" y="3835851"/>
            <a:ext cx="398592" cy="646331"/>
          </a:xfrm>
          <a:prstGeom prst="rect">
            <a:avLst/>
          </a:prstGeom>
          <a:noFill/>
        </p:spPr>
        <p:txBody>
          <a:bodyPr wrap="none" rtlCol="0">
            <a:spAutoFit/>
          </a:bodyPr>
          <a:lstStyle/>
          <a:p>
            <a:r>
              <a:rPr lang="en-US" sz="3600" b="1" dirty="0" smtClean="0">
                <a:solidFill>
                  <a:srgbClr val="FF0000"/>
                </a:solidFill>
              </a:rPr>
              <a:t>?</a:t>
            </a:r>
            <a:endParaRPr lang="en-US" sz="3600" b="1" dirty="0">
              <a:solidFill>
                <a:srgbClr val="FF0000"/>
              </a:solidFill>
            </a:endParaRPr>
          </a:p>
        </p:txBody>
      </p:sp>
      <p:sp>
        <p:nvSpPr>
          <p:cNvPr id="29" name="TextBox 28"/>
          <p:cNvSpPr txBox="1"/>
          <p:nvPr/>
        </p:nvSpPr>
        <p:spPr>
          <a:xfrm>
            <a:off x="5744278" y="3818896"/>
            <a:ext cx="398592" cy="646331"/>
          </a:xfrm>
          <a:prstGeom prst="rect">
            <a:avLst/>
          </a:prstGeom>
          <a:noFill/>
        </p:spPr>
        <p:txBody>
          <a:bodyPr wrap="none" rtlCol="0">
            <a:spAutoFit/>
          </a:bodyPr>
          <a:lstStyle/>
          <a:p>
            <a:r>
              <a:rPr lang="en-US" sz="3600" b="1" dirty="0" smtClean="0">
                <a:solidFill>
                  <a:srgbClr val="FF0000"/>
                </a:solidFill>
              </a:rPr>
              <a:t>?</a:t>
            </a:r>
            <a:endParaRPr lang="en-US" sz="3600" b="1" dirty="0">
              <a:solidFill>
                <a:srgbClr val="FF0000"/>
              </a:solidFill>
            </a:endParaRPr>
          </a:p>
        </p:txBody>
      </p:sp>
    </p:spTree>
    <p:extLst>
      <p:ext uri="{BB962C8B-B14F-4D97-AF65-F5344CB8AC3E}">
        <p14:creationId xmlns:p14="http://schemas.microsoft.com/office/powerpoint/2010/main" val="2896178792"/>
      </p:ext>
    </p:extLst>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Intuition</a:t>
            </a:r>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75</a:t>
            </a:fld>
            <a:endParaRPr lang="en-US"/>
          </a:p>
        </p:txBody>
      </p:sp>
      <p:pic>
        <p:nvPicPr>
          <p:cNvPr id="6" name="Picture 5" descr="server.png"/>
          <p:cNvPicPr>
            <a:picLocks noChangeAspect="1"/>
          </p:cNvPicPr>
          <p:nvPr/>
        </p:nvPicPr>
        <p:blipFill>
          <a:blip r:embed="rId3"/>
          <a:stretch>
            <a:fillRect/>
          </a:stretch>
        </p:blipFill>
        <p:spPr>
          <a:xfrm>
            <a:off x="189518" y="3667013"/>
            <a:ext cx="497908" cy="639602"/>
          </a:xfrm>
          <a:prstGeom prst="rect">
            <a:avLst/>
          </a:prstGeom>
        </p:spPr>
      </p:pic>
      <p:pic>
        <p:nvPicPr>
          <p:cNvPr id="5" name="Picture 4"/>
          <p:cNvPicPr>
            <a:picLocks noChangeAspect="1"/>
          </p:cNvPicPr>
          <p:nvPr/>
        </p:nvPicPr>
        <p:blipFill>
          <a:blip r:embed="rId4">
            <a:extLst>
              <a:ext uri="{BEBA8EAE-BF5A-486C-A8C5-ECC9F3942E4B}">
                <a14:imgProps xmlns:a14="http://schemas.microsoft.com/office/drawing/2010/main">
                  <a14:imgLayer r:embed="rId5">
                    <a14:imgEffect>
                      <a14:backgroundRemoval t="0" b="100000" l="0" r="100000"/>
                    </a14:imgEffect>
                  </a14:imgLayer>
                </a14:imgProps>
              </a:ext>
            </a:extLst>
          </a:blip>
          <a:stretch>
            <a:fillRect/>
          </a:stretch>
        </p:blipFill>
        <p:spPr>
          <a:xfrm>
            <a:off x="322566" y="3428460"/>
            <a:ext cx="554922" cy="477105"/>
          </a:xfrm>
          <a:prstGeom prst="rect">
            <a:avLst/>
          </a:prstGeom>
          <a:effectLst>
            <a:glow rad="101600">
              <a:schemeClr val="bg1">
                <a:alpha val="9000"/>
              </a:schemeClr>
            </a:glow>
          </a:effectLst>
        </p:spPr>
      </p:pic>
      <p:sp>
        <p:nvSpPr>
          <p:cNvPr id="10" name="Rounded Rectangle 9"/>
          <p:cNvSpPr/>
          <p:nvPr/>
        </p:nvSpPr>
        <p:spPr>
          <a:xfrm>
            <a:off x="1088572" y="1627017"/>
            <a:ext cx="5521852" cy="49868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t>Establish the C&amp;C connection;</a:t>
            </a:r>
          </a:p>
          <a:p>
            <a:r>
              <a:rPr lang="en-US" sz="1600" dirty="0" smtClean="0"/>
              <a:t>while(</a:t>
            </a:r>
            <a:r>
              <a:rPr lang="en-US" sz="1600" dirty="0" err="1" smtClean="0"/>
              <a:t>cmd</a:t>
            </a:r>
            <a:r>
              <a:rPr lang="en-US" sz="1600" dirty="0" smtClean="0"/>
              <a:t>=receive(server))</a:t>
            </a:r>
          </a:p>
          <a:p>
            <a:r>
              <a:rPr lang="en-US" sz="1600" dirty="0" smtClean="0"/>
              <a:t>{</a:t>
            </a:r>
          </a:p>
          <a:p>
            <a:r>
              <a:rPr lang="en-US" sz="1600" dirty="0" smtClean="0"/>
              <a:t>	If(</a:t>
            </a:r>
            <a:r>
              <a:rPr lang="en-US" sz="1600" dirty="0" err="1" smtClean="0"/>
              <a:t>cmd.match</a:t>
            </a:r>
            <a:r>
              <a:rPr lang="en-US" sz="1600" dirty="0" smtClean="0"/>
              <a:t>(“</a:t>
            </a:r>
            <a:r>
              <a:rPr lang="en-US" sz="1600" dirty="0" err="1" smtClean="0"/>
              <a:t>sys.info</a:t>
            </a:r>
            <a:r>
              <a:rPr lang="en-US" sz="1600" dirty="0" smtClean="0"/>
              <a:t>”))</a:t>
            </a:r>
          </a:p>
          <a:p>
            <a:r>
              <a:rPr lang="en-US" sz="1600" dirty="0" smtClean="0"/>
              <a:t>	{</a:t>
            </a:r>
          </a:p>
          <a:p>
            <a:r>
              <a:rPr lang="en-US" sz="1600" dirty="0" smtClean="0"/>
              <a:t>		</a:t>
            </a:r>
            <a:r>
              <a:rPr lang="en-US" sz="1600" dirty="0" err="1" smtClean="0"/>
              <a:t>mem</a:t>
            </a:r>
            <a:r>
              <a:rPr lang="en-US" sz="1600" dirty="0" smtClean="0"/>
              <a:t> = </a:t>
            </a:r>
            <a:r>
              <a:rPr lang="en-US" sz="1600" dirty="0" err="1" smtClean="0"/>
              <a:t>OS.getMemSize</a:t>
            </a:r>
            <a:r>
              <a:rPr lang="en-US" sz="1600" dirty="0" smtClean="0"/>
              <a:t>();</a:t>
            </a:r>
          </a:p>
          <a:p>
            <a:r>
              <a:rPr lang="en-US" sz="1600" dirty="0" smtClean="0"/>
              <a:t>		disk = </a:t>
            </a:r>
            <a:r>
              <a:rPr lang="en-US" sz="1600" dirty="0" err="1" smtClean="0"/>
              <a:t>OS.getDiskSize</a:t>
            </a:r>
            <a:r>
              <a:rPr lang="en-US" sz="1600" dirty="0" smtClean="0"/>
              <a:t>();</a:t>
            </a:r>
          </a:p>
          <a:p>
            <a:r>
              <a:rPr lang="en-US" sz="1600" dirty="0" smtClean="0"/>
              <a:t>		IP = </a:t>
            </a:r>
            <a:r>
              <a:rPr lang="en-US" sz="1600" dirty="0" err="1" smtClean="0"/>
              <a:t>OS.getIP</a:t>
            </a:r>
            <a:r>
              <a:rPr lang="en-US" sz="1600" dirty="0" smtClean="0"/>
              <a:t>();</a:t>
            </a:r>
          </a:p>
          <a:p>
            <a:r>
              <a:rPr lang="en-US" sz="1600" dirty="0" smtClean="0"/>
              <a:t>		</a:t>
            </a:r>
            <a:r>
              <a:rPr lang="en-US" sz="1400" dirty="0" smtClean="0"/>
              <a:t>send(“ IP: ” + IP + “ </a:t>
            </a:r>
            <a:r>
              <a:rPr lang="en-US" sz="1400" dirty="0" err="1" smtClean="0"/>
              <a:t>Mem</a:t>
            </a:r>
            <a:r>
              <a:rPr lang="en-US" sz="1400" dirty="0" smtClean="0"/>
              <a:t>: ” + </a:t>
            </a:r>
            <a:r>
              <a:rPr lang="en-US" sz="1400" dirty="0" err="1" smtClean="0"/>
              <a:t>mem</a:t>
            </a:r>
            <a:r>
              <a:rPr lang="en-US" sz="1400" dirty="0" smtClean="0"/>
              <a:t> + “ Disk” + disk);</a:t>
            </a:r>
          </a:p>
          <a:p>
            <a:r>
              <a:rPr lang="en-US" sz="1600" dirty="0" smtClean="0"/>
              <a:t>	}</a:t>
            </a:r>
          </a:p>
          <a:p>
            <a:r>
              <a:rPr lang="en-US" sz="1600" dirty="0" smtClean="0"/>
              <a:t>	If(</a:t>
            </a:r>
            <a:r>
              <a:rPr lang="en-US" sz="1600" dirty="0" err="1" smtClean="0"/>
              <a:t>cmd.match</a:t>
            </a:r>
            <a:r>
              <a:rPr lang="en-US" sz="1600" dirty="0" smtClean="0"/>
              <a:t>(“scan”))</a:t>
            </a:r>
          </a:p>
          <a:p>
            <a:r>
              <a:rPr lang="en-US" sz="1600" dirty="0" smtClean="0"/>
              <a:t>	{</a:t>
            </a:r>
          </a:p>
          <a:p>
            <a:r>
              <a:rPr lang="en-US" sz="1600" dirty="0"/>
              <a:t>	</a:t>
            </a:r>
            <a:r>
              <a:rPr lang="en-US" sz="1600" dirty="0" smtClean="0"/>
              <a:t>	n = </a:t>
            </a:r>
            <a:r>
              <a:rPr lang="en-US" sz="1600" dirty="0" err="1" smtClean="0"/>
              <a:t>Attack.scan</a:t>
            </a:r>
            <a:r>
              <a:rPr lang="en-US" sz="1600" dirty="0" smtClean="0"/>
              <a:t>();</a:t>
            </a:r>
          </a:p>
          <a:p>
            <a:r>
              <a:rPr lang="en-US" sz="1600" dirty="0" smtClean="0"/>
              <a:t>		send(“scan done ” + n + “ infected”); </a:t>
            </a:r>
          </a:p>
          <a:p>
            <a:r>
              <a:rPr lang="en-US" sz="1600" dirty="0" smtClean="0"/>
              <a:t>	}</a:t>
            </a:r>
          </a:p>
          <a:p>
            <a:r>
              <a:rPr lang="en-US" sz="1600" dirty="0"/>
              <a:t>}</a:t>
            </a:r>
          </a:p>
        </p:txBody>
      </p:sp>
      <p:grpSp>
        <p:nvGrpSpPr>
          <p:cNvPr id="28" name="Group 27"/>
          <p:cNvGrpSpPr/>
          <p:nvPr/>
        </p:nvGrpSpPr>
        <p:grpSpPr>
          <a:xfrm>
            <a:off x="3447143" y="664863"/>
            <a:ext cx="4890704" cy="1572424"/>
            <a:chOff x="3447143" y="664863"/>
            <a:chExt cx="4890704" cy="1463083"/>
          </a:xfrm>
        </p:grpSpPr>
        <p:grpSp>
          <p:nvGrpSpPr>
            <p:cNvPr id="25" name="Group 24"/>
            <p:cNvGrpSpPr/>
            <p:nvPr/>
          </p:nvGrpSpPr>
          <p:grpSpPr>
            <a:xfrm>
              <a:off x="6960810" y="664863"/>
              <a:ext cx="1377037" cy="810756"/>
              <a:chOff x="6960810" y="664863"/>
              <a:chExt cx="1377037" cy="810756"/>
            </a:xfrm>
          </p:grpSpPr>
          <p:pic>
            <p:nvPicPr>
              <p:cNvPr id="23" name="Picture 22" descr="server.png"/>
              <p:cNvPicPr>
                <a:picLocks noChangeAspect="1"/>
              </p:cNvPicPr>
              <p:nvPr/>
            </p:nvPicPr>
            <p:blipFill>
              <a:blip r:embed="rId3"/>
              <a:stretch>
                <a:fillRect/>
              </a:stretch>
            </p:blipFill>
            <p:spPr>
              <a:xfrm>
                <a:off x="7479126" y="664863"/>
                <a:ext cx="359642" cy="408471"/>
              </a:xfrm>
              <a:prstGeom prst="rect">
                <a:avLst/>
              </a:prstGeom>
            </p:spPr>
          </p:pic>
          <p:sp>
            <p:nvSpPr>
              <p:cNvPr id="24" name="TextBox 23"/>
              <p:cNvSpPr txBox="1"/>
              <p:nvPr/>
            </p:nvSpPr>
            <p:spPr>
              <a:xfrm>
                <a:off x="6960810" y="1106287"/>
                <a:ext cx="1377037" cy="369332"/>
              </a:xfrm>
              <a:prstGeom prst="rect">
                <a:avLst/>
              </a:prstGeom>
              <a:noFill/>
            </p:spPr>
            <p:txBody>
              <a:bodyPr wrap="none" rtlCol="0">
                <a:spAutoFit/>
              </a:bodyPr>
              <a:lstStyle/>
              <a:p>
                <a:r>
                  <a:rPr lang="en-US" dirty="0" smtClean="0"/>
                  <a:t>C&amp;C server</a:t>
                </a:r>
                <a:endParaRPr lang="en-US" dirty="0"/>
              </a:p>
            </p:txBody>
          </p:sp>
        </p:grpSp>
        <p:cxnSp>
          <p:nvCxnSpPr>
            <p:cNvPr id="27" name="Straight Arrow Connector 26"/>
            <p:cNvCxnSpPr/>
            <p:nvPr/>
          </p:nvCxnSpPr>
          <p:spPr>
            <a:xfrm flipH="1">
              <a:off x="3447143" y="1073334"/>
              <a:ext cx="3894668" cy="1054612"/>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
        <p:nvSpPr>
          <p:cNvPr id="31" name="TextBox 30"/>
          <p:cNvSpPr txBox="1"/>
          <p:nvPr/>
        </p:nvSpPr>
        <p:spPr>
          <a:xfrm>
            <a:off x="45799" y="4339581"/>
            <a:ext cx="526970" cy="369332"/>
          </a:xfrm>
          <a:prstGeom prst="rect">
            <a:avLst/>
          </a:prstGeom>
          <a:noFill/>
        </p:spPr>
        <p:txBody>
          <a:bodyPr wrap="none" rtlCol="0">
            <a:spAutoFit/>
          </a:bodyPr>
          <a:lstStyle/>
          <a:p>
            <a:r>
              <a:rPr lang="en-US" dirty="0" smtClean="0"/>
              <a:t>Bot</a:t>
            </a:r>
            <a:endParaRPr lang="en-US" dirty="0"/>
          </a:p>
        </p:txBody>
      </p:sp>
    </p:spTree>
    <p:extLst>
      <p:ext uri="{BB962C8B-B14F-4D97-AF65-F5344CB8AC3E}">
        <p14:creationId xmlns:p14="http://schemas.microsoft.com/office/powerpoint/2010/main" val="899001486"/>
      </p:ext>
    </p:extLst>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198"/>
            <a:ext cx="8229600" cy="1140581"/>
          </a:xfrm>
        </p:spPr>
        <p:txBody>
          <a:bodyPr/>
          <a:lstStyle/>
          <a:p>
            <a:r>
              <a:rPr lang="en-US" dirty="0" smtClean="0"/>
              <a:t>Intuition</a:t>
            </a:r>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76</a:t>
            </a:fld>
            <a:endParaRPr lang="en-US"/>
          </a:p>
        </p:txBody>
      </p:sp>
      <p:pic>
        <p:nvPicPr>
          <p:cNvPr id="6" name="Picture 5" descr="server.png"/>
          <p:cNvPicPr>
            <a:picLocks noChangeAspect="1"/>
          </p:cNvPicPr>
          <p:nvPr/>
        </p:nvPicPr>
        <p:blipFill>
          <a:blip r:embed="rId2"/>
          <a:stretch>
            <a:fillRect/>
          </a:stretch>
        </p:blipFill>
        <p:spPr>
          <a:xfrm>
            <a:off x="189518" y="2663128"/>
            <a:ext cx="497908" cy="639602"/>
          </a:xfrm>
          <a:prstGeom prst="rect">
            <a:avLst/>
          </a:prstGeom>
        </p:spPr>
      </p:pic>
      <p:pic>
        <p:nvPicPr>
          <p:cNvPr id="5" name="Picture 4"/>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imgEffect>
                  </a14:imgLayer>
                </a14:imgProps>
              </a:ext>
            </a:extLst>
          </a:blip>
          <a:stretch>
            <a:fillRect/>
          </a:stretch>
        </p:blipFill>
        <p:spPr>
          <a:xfrm>
            <a:off x="322566" y="2424575"/>
            <a:ext cx="554922" cy="477105"/>
          </a:xfrm>
          <a:prstGeom prst="rect">
            <a:avLst/>
          </a:prstGeom>
          <a:effectLst>
            <a:glow rad="101600">
              <a:schemeClr val="bg1">
                <a:alpha val="9000"/>
              </a:schemeClr>
            </a:glow>
          </a:effectLst>
        </p:spPr>
      </p:pic>
      <p:cxnSp>
        <p:nvCxnSpPr>
          <p:cNvPr id="9" name="Straight Arrow Connector 8"/>
          <p:cNvCxnSpPr/>
          <p:nvPr/>
        </p:nvCxnSpPr>
        <p:spPr>
          <a:xfrm>
            <a:off x="991810" y="2901680"/>
            <a:ext cx="708780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63" name="Group 62"/>
          <p:cNvGrpSpPr/>
          <p:nvPr/>
        </p:nvGrpSpPr>
        <p:grpSpPr>
          <a:xfrm>
            <a:off x="1790100" y="1366772"/>
            <a:ext cx="1415140" cy="1389894"/>
            <a:chOff x="1790100" y="1366772"/>
            <a:chExt cx="1415140" cy="1389894"/>
          </a:xfrm>
        </p:grpSpPr>
        <p:cxnSp>
          <p:nvCxnSpPr>
            <p:cNvPr id="23" name="Straight Arrow Connector 22"/>
            <p:cNvCxnSpPr/>
            <p:nvPr/>
          </p:nvCxnSpPr>
          <p:spPr>
            <a:xfrm flipV="1">
              <a:off x="1843312" y="2248666"/>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790100" y="1366772"/>
              <a:ext cx="1415140" cy="90098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IP: 192.168.1.10, </a:t>
              </a:r>
            </a:p>
            <a:p>
              <a:r>
                <a:rPr lang="en-US" sz="1200" dirty="0" smtClean="0"/>
                <a:t>Memory: 2G, </a:t>
              </a:r>
            </a:p>
            <a:p>
              <a:r>
                <a:rPr lang="en-US" sz="1200" dirty="0" smtClean="0"/>
                <a:t>Disk: 200G.</a:t>
              </a:r>
              <a:endParaRPr lang="en-US" sz="1200" dirty="0"/>
            </a:p>
          </p:txBody>
        </p:sp>
      </p:grpSp>
      <p:sp>
        <p:nvSpPr>
          <p:cNvPr id="28" name="TextBox 27"/>
          <p:cNvSpPr txBox="1"/>
          <p:nvPr/>
        </p:nvSpPr>
        <p:spPr>
          <a:xfrm>
            <a:off x="7830874" y="2918193"/>
            <a:ext cx="641484" cy="369332"/>
          </a:xfrm>
          <a:prstGeom prst="rect">
            <a:avLst/>
          </a:prstGeom>
          <a:noFill/>
        </p:spPr>
        <p:txBody>
          <a:bodyPr wrap="none" rtlCol="0">
            <a:spAutoFit/>
          </a:bodyPr>
          <a:lstStyle/>
          <a:p>
            <a:r>
              <a:rPr lang="en-US" dirty="0" smtClean="0"/>
              <a:t>time</a:t>
            </a:r>
            <a:endParaRPr lang="en-US" dirty="0"/>
          </a:p>
        </p:txBody>
      </p:sp>
      <p:grpSp>
        <p:nvGrpSpPr>
          <p:cNvPr id="64" name="Group 63"/>
          <p:cNvGrpSpPr/>
          <p:nvPr/>
        </p:nvGrpSpPr>
        <p:grpSpPr>
          <a:xfrm>
            <a:off x="4240590" y="1350649"/>
            <a:ext cx="1008738" cy="1406017"/>
            <a:chOff x="4240590" y="1350649"/>
            <a:chExt cx="1008738" cy="1406017"/>
          </a:xfrm>
        </p:grpSpPr>
        <p:cxnSp>
          <p:nvCxnSpPr>
            <p:cNvPr id="30" name="Straight Arrow Connector 29"/>
            <p:cNvCxnSpPr/>
            <p:nvPr/>
          </p:nvCxnSpPr>
          <p:spPr>
            <a:xfrm flipV="1">
              <a:off x="4339780" y="2248666"/>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4240590" y="1350649"/>
              <a:ext cx="1008738" cy="90098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Scan done 0 infected</a:t>
              </a:r>
              <a:endParaRPr lang="en-US" sz="1200" dirty="0"/>
            </a:p>
          </p:txBody>
        </p:sp>
      </p:grpSp>
      <p:sp>
        <p:nvSpPr>
          <p:cNvPr id="32" name="Rounded Rectangle 31"/>
          <p:cNvSpPr/>
          <p:nvPr/>
        </p:nvSpPr>
        <p:spPr>
          <a:xfrm>
            <a:off x="4252685" y="2918193"/>
            <a:ext cx="1008738" cy="539222"/>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dirty="0" smtClean="0"/>
              <a:t>Scanning behavior</a:t>
            </a:r>
            <a:endParaRPr lang="en-US" sz="1400" dirty="0"/>
          </a:p>
        </p:txBody>
      </p:sp>
      <p:grpSp>
        <p:nvGrpSpPr>
          <p:cNvPr id="65" name="Group 64"/>
          <p:cNvGrpSpPr/>
          <p:nvPr/>
        </p:nvGrpSpPr>
        <p:grpSpPr>
          <a:xfrm>
            <a:off x="6894701" y="1359777"/>
            <a:ext cx="1269585" cy="1396889"/>
            <a:chOff x="6894701" y="1359777"/>
            <a:chExt cx="1269585" cy="1396889"/>
          </a:xfrm>
        </p:grpSpPr>
        <p:cxnSp>
          <p:nvCxnSpPr>
            <p:cNvPr id="37" name="Straight Arrow Connector 36"/>
            <p:cNvCxnSpPr/>
            <p:nvPr/>
          </p:nvCxnSpPr>
          <p:spPr>
            <a:xfrm flipV="1">
              <a:off x="6923323" y="2248666"/>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894701" y="1359777"/>
              <a:ext cx="1269585" cy="90098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 of apps: 200</a:t>
              </a:r>
            </a:p>
            <a:p>
              <a:r>
                <a:rPr lang="en-US" sz="1200" dirty="0"/>
                <a:t>u</a:t>
              </a:r>
              <a:r>
                <a:rPr lang="en-US" sz="1200" dirty="0" smtClean="0"/>
                <a:t>sername: </a:t>
              </a:r>
              <a:r>
                <a:rPr lang="en-US" sz="1200" dirty="0" err="1" smtClean="0"/>
                <a:t>xy</a:t>
              </a:r>
              <a:endParaRPr lang="en-US" sz="1200" dirty="0"/>
            </a:p>
          </p:txBody>
        </p:sp>
      </p:grpSp>
      <p:grpSp>
        <p:nvGrpSpPr>
          <p:cNvPr id="74" name="Group 73"/>
          <p:cNvGrpSpPr/>
          <p:nvPr/>
        </p:nvGrpSpPr>
        <p:grpSpPr>
          <a:xfrm>
            <a:off x="5925583" y="1941169"/>
            <a:ext cx="1016361" cy="3701415"/>
            <a:chOff x="5925583" y="1941169"/>
            <a:chExt cx="1016361" cy="3701415"/>
          </a:xfrm>
        </p:grpSpPr>
        <p:grpSp>
          <p:nvGrpSpPr>
            <p:cNvPr id="68" name="Group 67"/>
            <p:cNvGrpSpPr/>
            <p:nvPr/>
          </p:nvGrpSpPr>
          <p:grpSpPr>
            <a:xfrm>
              <a:off x="5925583" y="1941169"/>
              <a:ext cx="1016361" cy="815497"/>
              <a:chOff x="5925583" y="1941169"/>
              <a:chExt cx="1016361" cy="815497"/>
            </a:xfrm>
          </p:grpSpPr>
          <p:cxnSp>
            <p:nvCxnSpPr>
              <p:cNvPr id="21" name="Straight Arrow Connector 20"/>
              <p:cNvCxnSpPr>
                <a:stCxn id="38" idx="2"/>
              </p:cNvCxnSpPr>
              <p:nvPr/>
            </p:nvCxnSpPr>
            <p:spPr>
              <a:xfrm>
                <a:off x="6433764" y="2310501"/>
                <a:ext cx="247645" cy="4461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25583" y="1941169"/>
                <a:ext cx="1016361" cy="369332"/>
              </a:xfrm>
              <a:prstGeom prst="rect">
                <a:avLst/>
              </a:prstGeom>
              <a:noFill/>
            </p:spPr>
            <p:txBody>
              <a:bodyPr wrap="none" rtlCol="0">
                <a:spAutoFit/>
              </a:bodyPr>
              <a:lstStyle/>
              <a:p>
                <a:r>
                  <a:rPr lang="en-US" dirty="0" smtClean="0"/>
                  <a:t>“status”</a:t>
                </a:r>
                <a:endParaRPr lang="en-US" dirty="0"/>
              </a:p>
            </p:txBody>
          </p:sp>
        </p:grpSp>
        <p:cxnSp>
          <p:nvCxnSpPr>
            <p:cNvPr id="45" name="Straight Arrow Connector 44"/>
            <p:cNvCxnSpPr/>
            <p:nvPr/>
          </p:nvCxnSpPr>
          <p:spPr>
            <a:xfrm>
              <a:off x="6337905" y="2424575"/>
              <a:ext cx="343504" cy="32180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pic>
        <p:nvPicPr>
          <p:cNvPr id="40" name="Picture 39" descr="server.png"/>
          <p:cNvPicPr>
            <a:picLocks noChangeAspect="1"/>
          </p:cNvPicPr>
          <p:nvPr/>
        </p:nvPicPr>
        <p:blipFill>
          <a:blip r:embed="rId2"/>
          <a:stretch>
            <a:fillRect/>
          </a:stretch>
        </p:blipFill>
        <p:spPr>
          <a:xfrm>
            <a:off x="189518" y="5549046"/>
            <a:ext cx="497908" cy="639602"/>
          </a:xfrm>
          <a:prstGeom prst="rect">
            <a:avLst/>
          </a:prstGeom>
        </p:spPr>
      </p:pic>
      <p:pic>
        <p:nvPicPr>
          <p:cNvPr id="41" name="Picture 40"/>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imgEffect>
                  </a14:imgLayer>
                </a14:imgProps>
              </a:ext>
            </a:extLst>
          </a:blip>
          <a:stretch>
            <a:fillRect/>
          </a:stretch>
        </p:blipFill>
        <p:spPr>
          <a:xfrm>
            <a:off x="322566" y="5310493"/>
            <a:ext cx="554922" cy="477105"/>
          </a:xfrm>
          <a:prstGeom prst="rect">
            <a:avLst/>
          </a:prstGeom>
          <a:effectLst>
            <a:glow rad="101600">
              <a:schemeClr val="bg1">
                <a:alpha val="9000"/>
              </a:schemeClr>
            </a:glow>
          </a:effectLst>
        </p:spPr>
      </p:pic>
      <p:cxnSp>
        <p:nvCxnSpPr>
          <p:cNvPr id="42" name="Straight Arrow Connector 41"/>
          <p:cNvCxnSpPr/>
          <p:nvPr/>
        </p:nvCxnSpPr>
        <p:spPr>
          <a:xfrm>
            <a:off x="991810" y="5787598"/>
            <a:ext cx="708780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72" name="Group 71"/>
          <p:cNvGrpSpPr/>
          <p:nvPr/>
        </p:nvGrpSpPr>
        <p:grpSpPr>
          <a:xfrm>
            <a:off x="602760" y="1931219"/>
            <a:ext cx="1143950" cy="3723460"/>
            <a:chOff x="602760" y="1931219"/>
            <a:chExt cx="1143950" cy="3723460"/>
          </a:xfrm>
        </p:grpSpPr>
        <p:grpSp>
          <p:nvGrpSpPr>
            <p:cNvPr id="67" name="Group 66"/>
            <p:cNvGrpSpPr/>
            <p:nvPr/>
          </p:nvGrpSpPr>
          <p:grpSpPr>
            <a:xfrm>
              <a:off x="602760" y="1931219"/>
              <a:ext cx="1143950" cy="837542"/>
              <a:chOff x="602760" y="1931219"/>
              <a:chExt cx="1143950" cy="837542"/>
            </a:xfrm>
          </p:grpSpPr>
          <p:cxnSp>
            <p:nvCxnSpPr>
              <p:cNvPr id="15" name="Straight Arrow Connector 14"/>
              <p:cNvCxnSpPr/>
              <p:nvPr/>
            </p:nvCxnSpPr>
            <p:spPr>
              <a:xfrm>
                <a:off x="1197429" y="2424575"/>
                <a:ext cx="399142" cy="3441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2760" y="1931219"/>
                <a:ext cx="1143950" cy="369332"/>
              </a:xfrm>
              <a:prstGeom prst="rect">
                <a:avLst/>
              </a:prstGeom>
              <a:noFill/>
            </p:spPr>
            <p:txBody>
              <a:bodyPr wrap="none" rtlCol="0">
                <a:spAutoFit/>
              </a:bodyPr>
              <a:lstStyle/>
              <a:p>
                <a:r>
                  <a:rPr lang="en-US" dirty="0" smtClean="0"/>
                  <a:t>“</a:t>
                </a:r>
                <a:r>
                  <a:rPr lang="en-US" dirty="0" err="1" smtClean="0"/>
                  <a:t>sysinfo</a:t>
                </a:r>
                <a:r>
                  <a:rPr lang="en-US" dirty="0" smtClean="0"/>
                  <a:t>”</a:t>
                </a:r>
                <a:endParaRPr lang="en-US" dirty="0"/>
              </a:p>
            </p:txBody>
          </p:sp>
        </p:grpSp>
        <p:cxnSp>
          <p:nvCxnSpPr>
            <p:cNvPr id="43" name="Straight Arrow Connector 42"/>
            <p:cNvCxnSpPr/>
            <p:nvPr/>
          </p:nvCxnSpPr>
          <p:spPr>
            <a:xfrm>
              <a:off x="1112762" y="2424575"/>
              <a:ext cx="483809" cy="3230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73" name="Group 72"/>
          <p:cNvGrpSpPr/>
          <p:nvPr/>
        </p:nvGrpSpPr>
        <p:grpSpPr>
          <a:xfrm>
            <a:off x="3426707" y="1946544"/>
            <a:ext cx="888885" cy="3708135"/>
            <a:chOff x="3426707" y="1946544"/>
            <a:chExt cx="888885" cy="3708135"/>
          </a:xfrm>
        </p:grpSpPr>
        <p:grpSp>
          <p:nvGrpSpPr>
            <p:cNvPr id="66" name="Group 65"/>
            <p:cNvGrpSpPr/>
            <p:nvPr/>
          </p:nvGrpSpPr>
          <p:grpSpPr>
            <a:xfrm>
              <a:off x="3426707" y="1946544"/>
              <a:ext cx="888885" cy="822217"/>
              <a:chOff x="3426707" y="1946544"/>
              <a:chExt cx="888885" cy="822217"/>
            </a:xfrm>
          </p:grpSpPr>
          <p:cxnSp>
            <p:nvCxnSpPr>
              <p:cNvPr id="20" name="Straight Arrow Connector 19"/>
              <p:cNvCxnSpPr>
                <a:stCxn id="29" idx="2"/>
              </p:cNvCxnSpPr>
              <p:nvPr/>
            </p:nvCxnSpPr>
            <p:spPr>
              <a:xfrm>
                <a:off x="3871150" y="2315876"/>
                <a:ext cx="163817" cy="45288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426707" y="1946544"/>
                <a:ext cx="888885" cy="369332"/>
              </a:xfrm>
              <a:prstGeom prst="rect">
                <a:avLst/>
              </a:prstGeom>
              <a:noFill/>
            </p:spPr>
            <p:txBody>
              <a:bodyPr wrap="none" rtlCol="0">
                <a:spAutoFit/>
              </a:bodyPr>
              <a:lstStyle/>
              <a:p>
                <a:r>
                  <a:rPr lang="en-US" dirty="0" smtClean="0"/>
                  <a:t>“Scan”</a:t>
                </a:r>
                <a:endParaRPr lang="en-US" dirty="0"/>
              </a:p>
            </p:txBody>
          </p:sp>
        </p:grpSp>
        <p:cxnSp>
          <p:nvCxnSpPr>
            <p:cNvPr id="44" name="Straight Arrow Connector 43"/>
            <p:cNvCxnSpPr/>
            <p:nvPr/>
          </p:nvCxnSpPr>
          <p:spPr>
            <a:xfrm>
              <a:off x="3732921" y="2315876"/>
              <a:ext cx="302046" cy="333880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69" name="Group 68"/>
          <p:cNvGrpSpPr/>
          <p:nvPr/>
        </p:nvGrpSpPr>
        <p:grpSpPr>
          <a:xfrm>
            <a:off x="1790100" y="4252690"/>
            <a:ext cx="1415140" cy="1389894"/>
            <a:chOff x="1790100" y="4252690"/>
            <a:chExt cx="1415140" cy="1389894"/>
          </a:xfrm>
        </p:grpSpPr>
        <p:cxnSp>
          <p:nvCxnSpPr>
            <p:cNvPr id="46" name="Straight Arrow Connector 45"/>
            <p:cNvCxnSpPr/>
            <p:nvPr/>
          </p:nvCxnSpPr>
          <p:spPr>
            <a:xfrm flipV="1">
              <a:off x="1843312" y="5134584"/>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1790100" y="4252690"/>
              <a:ext cx="1415140" cy="90098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IP: 192.168.1.23, </a:t>
              </a:r>
            </a:p>
            <a:p>
              <a:r>
                <a:rPr lang="en-US" sz="1200" dirty="0" smtClean="0"/>
                <a:t>Memory: 1G, </a:t>
              </a:r>
            </a:p>
            <a:p>
              <a:r>
                <a:rPr lang="en-US" sz="1200" dirty="0" smtClean="0"/>
                <a:t>Disk: 100G.</a:t>
              </a:r>
              <a:endParaRPr lang="en-US" sz="1200" dirty="0"/>
            </a:p>
          </p:txBody>
        </p:sp>
      </p:grpSp>
      <p:sp>
        <p:nvSpPr>
          <p:cNvPr id="49" name="TextBox 48"/>
          <p:cNvSpPr txBox="1"/>
          <p:nvPr/>
        </p:nvSpPr>
        <p:spPr>
          <a:xfrm>
            <a:off x="7830874" y="5804111"/>
            <a:ext cx="641484" cy="369332"/>
          </a:xfrm>
          <a:prstGeom prst="rect">
            <a:avLst/>
          </a:prstGeom>
          <a:noFill/>
        </p:spPr>
        <p:txBody>
          <a:bodyPr wrap="none" rtlCol="0">
            <a:spAutoFit/>
          </a:bodyPr>
          <a:lstStyle/>
          <a:p>
            <a:r>
              <a:rPr lang="en-US" dirty="0" smtClean="0"/>
              <a:t>time</a:t>
            </a:r>
            <a:endParaRPr lang="en-US" dirty="0"/>
          </a:p>
        </p:txBody>
      </p:sp>
      <p:grpSp>
        <p:nvGrpSpPr>
          <p:cNvPr id="70" name="Group 69"/>
          <p:cNvGrpSpPr/>
          <p:nvPr/>
        </p:nvGrpSpPr>
        <p:grpSpPr>
          <a:xfrm>
            <a:off x="4240590" y="4236567"/>
            <a:ext cx="1008738" cy="1406017"/>
            <a:chOff x="4240590" y="4236567"/>
            <a:chExt cx="1008738" cy="1406017"/>
          </a:xfrm>
        </p:grpSpPr>
        <p:cxnSp>
          <p:nvCxnSpPr>
            <p:cNvPr id="51" name="Straight Arrow Connector 50"/>
            <p:cNvCxnSpPr/>
            <p:nvPr/>
          </p:nvCxnSpPr>
          <p:spPr>
            <a:xfrm flipV="1">
              <a:off x="4339780" y="5134584"/>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4240590" y="4236567"/>
              <a:ext cx="1008738" cy="90098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Scan done 2 infected</a:t>
              </a:r>
              <a:endParaRPr lang="en-US" sz="1200" dirty="0"/>
            </a:p>
          </p:txBody>
        </p:sp>
      </p:grpSp>
      <p:sp>
        <p:nvSpPr>
          <p:cNvPr id="53" name="Rounded Rectangle 52"/>
          <p:cNvSpPr/>
          <p:nvPr/>
        </p:nvSpPr>
        <p:spPr>
          <a:xfrm>
            <a:off x="4252685" y="5804111"/>
            <a:ext cx="1008738" cy="539222"/>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1400" dirty="0" smtClean="0"/>
              <a:t>Scanning behavior</a:t>
            </a:r>
            <a:endParaRPr lang="en-US" sz="1400" dirty="0"/>
          </a:p>
        </p:txBody>
      </p:sp>
      <p:grpSp>
        <p:nvGrpSpPr>
          <p:cNvPr id="71" name="Group 70"/>
          <p:cNvGrpSpPr/>
          <p:nvPr/>
        </p:nvGrpSpPr>
        <p:grpSpPr>
          <a:xfrm>
            <a:off x="6894701" y="4245695"/>
            <a:ext cx="1269585" cy="1396889"/>
            <a:chOff x="6894701" y="4245695"/>
            <a:chExt cx="1269585" cy="1396889"/>
          </a:xfrm>
        </p:grpSpPr>
        <p:cxnSp>
          <p:nvCxnSpPr>
            <p:cNvPr id="54" name="Straight Arrow Connector 53"/>
            <p:cNvCxnSpPr/>
            <p:nvPr/>
          </p:nvCxnSpPr>
          <p:spPr>
            <a:xfrm flipV="1">
              <a:off x="6923323" y="5134584"/>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6894701" y="4245695"/>
              <a:ext cx="1269585" cy="900984"/>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 of apps: 10</a:t>
              </a:r>
            </a:p>
            <a:p>
              <a:r>
                <a:rPr lang="en-US" sz="1200" dirty="0"/>
                <a:t>u</a:t>
              </a:r>
              <a:r>
                <a:rPr lang="en-US" sz="1200" dirty="0" smtClean="0"/>
                <a:t>sername: </a:t>
              </a:r>
              <a:r>
                <a:rPr lang="en-US" sz="1200" dirty="0" err="1" smtClean="0"/>
                <a:t>mn</a:t>
              </a:r>
              <a:endParaRPr lang="en-US" sz="1200" dirty="0"/>
            </a:p>
          </p:txBody>
        </p:sp>
      </p:grpSp>
      <p:grpSp>
        <p:nvGrpSpPr>
          <p:cNvPr id="77" name="Group 76"/>
          <p:cNvGrpSpPr/>
          <p:nvPr/>
        </p:nvGrpSpPr>
        <p:grpSpPr>
          <a:xfrm>
            <a:off x="2249714" y="2315876"/>
            <a:ext cx="1483207" cy="1920691"/>
            <a:chOff x="2249714" y="2315876"/>
            <a:chExt cx="1483207" cy="1920691"/>
          </a:xfrm>
        </p:grpSpPr>
        <p:sp>
          <p:nvSpPr>
            <p:cNvPr id="75" name="Up-Down Arrow 74"/>
            <p:cNvSpPr/>
            <p:nvPr/>
          </p:nvSpPr>
          <p:spPr>
            <a:xfrm>
              <a:off x="2249714" y="2315876"/>
              <a:ext cx="411238" cy="1920691"/>
            </a:xfrm>
            <a:prstGeom prst="up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extBox 75"/>
            <p:cNvSpPr txBox="1"/>
            <p:nvPr/>
          </p:nvSpPr>
          <p:spPr>
            <a:xfrm>
              <a:off x="2484036" y="2979564"/>
              <a:ext cx="1248885" cy="646331"/>
            </a:xfrm>
            <a:prstGeom prst="rect">
              <a:avLst/>
            </a:prstGeom>
            <a:noFill/>
          </p:spPr>
          <p:txBody>
            <a:bodyPr wrap="none" rtlCol="0">
              <a:spAutoFit/>
            </a:bodyPr>
            <a:lstStyle/>
            <a:p>
              <a:pPr algn="ctr"/>
              <a:r>
                <a:rPr lang="en-US" b="1" dirty="0" smtClean="0"/>
                <a:t>Spatial </a:t>
              </a:r>
            </a:p>
            <a:p>
              <a:pPr algn="ctr"/>
              <a:r>
                <a:rPr lang="en-US" b="1" dirty="0"/>
                <a:t>S</a:t>
              </a:r>
              <a:r>
                <a:rPr lang="en-US" b="1" dirty="0" smtClean="0"/>
                <a:t>imilarity</a:t>
              </a:r>
              <a:endParaRPr lang="en-US" b="1" dirty="0"/>
            </a:p>
          </p:txBody>
        </p:sp>
      </p:grpSp>
      <p:grpSp>
        <p:nvGrpSpPr>
          <p:cNvPr id="80" name="Group 79"/>
          <p:cNvGrpSpPr/>
          <p:nvPr/>
        </p:nvGrpSpPr>
        <p:grpSpPr>
          <a:xfrm>
            <a:off x="2660952" y="3154480"/>
            <a:ext cx="5916993" cy="897425"/>
            <a:chOff x="2660952" y="3154480"/>
            <a:chExt cx="5916993" cy="897425"/>
          </a:xfrm>
        </p:grpSpPr>
        <p:sp>
          <p:nvSpPr>
            <p:cNvPr id="78" name="Right Arrow 77"/>
            <p:cNvSpPr/>
            <p:nvPr/>
          </p:nvSpPr>
          <p:spPr>
            <a:xfrm>
              <a:off x="2660952" y="3625895"/>
              <a:ext cx="5811406" cy="42601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TextBox 78"/>
            <p:cNvSpPr txBox="1"/>
            <p:nvPr/>
          </p:nvSpPr>
          <p:spPr>
            <a:xfrm>
              <a:off x="6623940" y="3154480"/>
              <a:ext cx="1954005" cy="646331"/>
            </a:xfrm>
            <a:prstGeom prst="rect">
              <a:avLst/>
            </a:prstGeom>
            <a:noFill/>
          </p:spPr>
          <p:txBody>
            <a:bodyPr wrap="none" rtlCol="0">
              <a:spAutoFit/>
            </a:bodyPr>
            <a:lstStyle/>
            <a:p>
              <a:pPr algn="ctr"/>
              <a:r>
                <a:rPr lang="en-US" b="1" dirty="0" smtClean="0"/>
                <a:t>Spatial-temporal </a:t>
              </a:r>
            </a:p>
            <a:p>
              <a:pPr algn="ctr"/>
              <a:r>
                <a:rPr lang="en-US" b="1" dirty="0"/>
                <a:t>S</a:t>
              </a:r>
              <a:r>
                <a:rPr lang="en-US" b="1" dirty="0" smtClean="0"/>
                <a:t>imilarity</a:t>
              </a:r>
              <a:endParaRPr lang="en-US" b="1" dirty="0"/>
            </a:p>
          </p:txBody>
        </p:sp>
      </p:grpSp>
      <p:sp>
        <p:nvSpPr>
          <p:cNvPr id="90" name="TextBox 89"/>
          <p:cNvSpPr txBox="1"/>
          <p:nvPr/>
        </p:nvSpPr>
        <p:spPr>
          <a:xfrm>
            <a:off x="172292" y="3263895"/>
            <a:ext cx="642386" cy="369332"/>
          </a:xfrm>
          <a:prstGeom prst="rect">
            <a:avLst/>
          </a:prstGeom>
          <a:noFill/>
        </p:spPr>
        <p:txBody>
          <a:bodyPr wrap="none" rtlCol="0">
            <a:spAutoFit/>
          </a:bodyPr>
          <a:lstStyle/>
          <a:p>
            <a:r>
              <a:rPr lang="en-US" dirty="0" smtClean="0"/>
              <a:t>Bot1</a:t>
            </a:r>
            <a:endParaRPr lang="en-US" dirty="0"/>
          </a:p>
        </p:txBody>
      </p:sp>
      <p:sp>
        <p:nvSpPr>
          <p:cNvPr id="91" name="TextBox 90"/>
          <p:cNvSpPr txBox="1"/>
          <p:nvPr/>
        </p:nvSpPr>
        <p:spPr>
          <a:xfrm>
            <a:off x="133588" y="6098192"/>
            <a:ext cx="642386" cy="369332"/>
          </a:xfrm>
          <a:prstGeom prst="rect">
            <a:avLst/>
          </a:prstGeom>
          <a:noFill/>
        </p:spPr>
        <p:txBody>
          <a:bodyPr wrap="none" rtlCol="0">
            <a:spAutoFit/>
          </a:bodyPr>
          <a:lstStyle/>
          <a:p>
            <a:r>
              <a:rPr lang="en-US" dirty="0" smtClean="0"/>
              <a:t>Bot2</a:t>
            </a:r>
            <a:endParaRPr lang="en-US" dirty="0"/>
          </a:p>
        </p:txBody>
      </p:sp>
      <p:grpSp>
        <p:nvGrpSpPr>
          <p:cNvPr id="55" name="Group 54"/>
          <p:cNvGrpSpPr/>
          <p:nvPr/>
        </p:nvGrpSpPr>
        <p:grpSpPr>
          <a:xfrm>
            <a:off x="602760" y="205749"/>
            <a:ext cx="1666079" cy="1725469"/>
            <a:chOff x="6172689" y="504063"/>
            <a:chExt cx="1666079" cy="1605486"/>
          </a:xfrm>
        </p:grpSpPr>
        <p:grpSp>
          <p:nvGrpSpPr>
            <p:cNvPr id="57" name="Group 56"/>
            <p:cNvGrpSpPr/>
            <p:nvPr/>
          </p:nvGrpSpPr>
          <p:grpSpPr>
            <a:xfrm>
              <a:off x="6172689" y="504063"/>
              <a:ext cx="1666079" cy="569271"/>
              <a:chOff x="6172689" y="504063"/>
              <a:chExt cx="1666079" cy="569271"/>
            </a:xfrm>
          </p:grpSpPr>
          <p:pic>
            <p:nvPicPr>
              <p:cNvPr id="59" name="Picture 58" descr="server.png"/>
              <p:cNvPicPr>
                <a:picLocks noChangeAspect="1"/>
              </p:cNvPicPr>
              <p:nvPr/>
            </p:nvPicPr>
            <p:blipFill>
              <a:blip r:embed="rId2"/>
              <a:stretch>
                <a:fillRect/>
              </a:stretch>
            </p:blipFill>
            <p:spPr>
              <a:xfrm>
                <a:off x="7479126" y="664863"/>
                <a:ext cx="359642" cy="408471"/>
              </a:xfrm>
              <a:prstGeom prst="rect">
                <a:avLst/>
              </a:prstGeom>
            </p:spPr>
          </p:pic>
          <p:sp>
            <p:nvSpPr>
              <p:cNvPr id="60" name="TextBox 59"/>
              <p:cNvSpPr txBox="1"/>
              <p:nvPr/>
            </p:nvSpPr>
            <p:spPr>
              <a:xfrm>
                <a:off x="6172689" y="504063"/>
                <a:ext cx="1377037" cy="369332"/>
              </a:xfrm>
              <a:prstGeom prst="rect">
                <a:avLst/>
              </a:prstGeom>
              <a:noFill/>
            </p:spPr>
            <p:txBody>
              <a:bodyPr wrap="none" rtlCol="0">
                <a:spAutoFit/>
              </a:bodyPr>
              <a:lstStyle/>
              <a:p>
                <a:r>
                  <a:rPr lang="en-US" dirty="0" smtClean="0"/>
                  <a:t>C&amp;C server</a:t>
                </a:r>
                <a:endParaRPr lang="en-US" dirty="0"/>
              </a:p>
            </p:txBody>
          </p:sp>
        </p:grpSp>
        <p:cxnSp>
          <p:nvCxnSpPr>
            <p:cNvPr id="58" name="Straight Arrow Connector 57"/>
            <p:cNvCxnSpPr>
              <a:endCxn id="25" idx="0"/>
            </p:cNvCxnSpPr>
            <p:nvPr/>
          </p:nvCxnSpPr>
          <p:spPr>
            <a:xfrm flipH="1">
              <a:off x="6744664" y="1073334"/>
              <a:ext cx="597147" cy="103621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68851416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5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
            <a:ext cx="8229600" cy="1076476"/>
          </a:xfrm>
        </p:spPr>
        <p:txBody>
          <a:bodyPr/>
          <a:lstStyle/>
          <a:p>
            <a:r>
              <a:rPr lang="en-US" dirty="0" smtClean="0"/>
              <a:t>Intuition</a:t>
            </a:r>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77</a:t>
            </a:fld>
            <a:endParaRPr lang="en-US"/>
          </a:p>
        </p:txBody>
      </p:sp>
      <p:pic>
        <p:nvPicPr>
          <p:cNvPr id="5" name="Picture 4" descr="server.png"/>
          <p:cNvPicPr>
            <a:picLocks noChangeAspect="1"/>
          </p:cNvPicPr>
          <p:nvPr/>
        </p:nvPicPr>
        <p:blipFill>
          <a:blip r:embed="rId2"/>
          <a:stretch>
            <a:fillRect/>
          </a:stretch>
        </p:blipFill>
        <p:spPr>
          <a:xfrm>
            <a:off x="189518" y="2663128"/>
            <a:ext cx="497908" cy="639602"/>
          </a:xfrm>
          <a:prstGeom prst="rect">
            <a:avLst/>
          </a:prstGeom>
        </p:spPr>
      </p:pic>
      <p:pic>
        <p:nvPicPr>
          <p:cNvPr id="6" name="Picture 5"/>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imgEffect>
                  </a14:imgLayer>
                </a14:imgProps>
              </a:ext>
            </a:extLst>
          </a:blip>
          <a:stretch>
            <a:fillRect/>
          </a:stretch>
        </p:blipFill>
        <p:spPr>
          <a:xfrm>
            <a:off x="322566" y="2424575"/>
            <a:ext cx="554922" cy="477105"/>
          </a:xfrm>
          <a:prstGeom prst="rect">
            <a:avLst/>
          </a:prstGeom>
          <a:effectLst>
            <a:glow rad="101600">
              <a:schemeClr val="bg1">
                <a:alpha val="9000"/>
              </a:schemeClr>
            </a:glow>
          </a:effectLst>
        </p:spPr>
      </p:pic>
      <p:cxnSp>
        <p:nvCxnSpPr>
          <p:cNvPr id="7" name="Straight Arrow Connector 6"/>
          <p:cNvCxnSpPr/>
          <p:nvPr/>
        </p:nvCxnSpPr>
        <p:spPr>
          <a:xfrm>
            <a:off x="991810" y="2901680"/>
            <a:ext cx="708780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8" name="Group 7"/>
          <p:cNvGrpSpPr/>
          <p:nvPr/>
        </p:nvGrpSpPr>
        <p:grpSpPr>
          <a:xfrm>
            <a:off x="1790100" y="1931219"/>
            <a:ext cx="870852" cy="825447"/>
            <a:chOff x="1790100" y="1931219"/>
            <a:chExt cx="870852" cy="825447"/>
          </a:xfrm>
        </p:grpSpPr>
        <p:cxnSp>
          <p:nvCxnSpPr>
            <p:cNvPr id="9" name="Straight Arrow Connector 8"/>
            <p:cNvCxnSpPr/>
            <p:nvPr/>
          </p:nvCxnSpPr>
          <p:spPr>
            <a:xfrm flipV="1">
              <a:off x="1843312" y="2248666"/>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790100" y="1931219"/>
              <a:ext cx="870852" cy="336536"/>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hello</a:t>
              </a:r>
              <a:endParaRPr lang="en-US" sz="1200" dirty="0"/>
            </a:p>
          </p:txBody>
        </p:sp>
      </p:grpSp>
      <p:sp>
        <p:nvSpPr>
          <p:cNvPr id="11" name="TextBox 10"/>
          <p:cNvSpPr txBox="1"/>
          <p:nvPr/>
        </p:nvSpPr>
        <p:spPr>
          <a:xfrm>
            <a:off x="7830874" y="2918193"/>
            <a:ext cx="641484" cy="369332"/>
          </a:xfrm>
          <a:prstGeom prst="rect">
            <a:avLst/>
          </a:prstGeom>
          <a:noFill/>
        </p:spPr>
        <p:txBody>
          <a:bodyPr wrap="none" rtlCol="0">
            <a:spAutoFit/>
          </a:bodyPr>
          <a:lstStyle/>
          <a:p>
            <a:r>
              <a:rPr lang="en-US" dirty="0" smtClean="0"/>
              <a:t>time</a:t>
            </a:r>
            <a:endParaRPr lang="en-US" dirty="0"/>
          </a:p>
        </p:txBody>
      </p:sp>
      <p:grpSp>
        <p:nvGrpSpPr>
          <p:cNvPr id="12" name="Group 11"/>
          <p:cNvGrpSpPr/>
          <p:nvPr/>
        </p:nvGrpSpPr>
        <p:grpSpPr>
          <a:xfrm>
            <a:off x="4240589" y="1814285"/>
            <a:ext cx="1335316" cy="942381"/>
            <a:chOff x="4240589" y="1814285"/>
            <a:chExt cx="1335316" cy="942381"/>
          </a:xfrm>
        </p:grpSpPr>
        <p:cxnSp>
          <p:nvCxnSpPr>
            <p:cNvPr id="13" name="Straight Arrow Connector 12"/>
            <p:cNvCxnSpPr/>
            <p:nvPr/>
          </p:nvCxnSpPr>
          <p:spPr>
            <a:xfrm flipV="1">
              <a:off x="4339780" y="2248666"/>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40589" y="1814285"/>
              <a:ext cx="1335316" cy="437347"/>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Nice to see you!</a:t>
              </a:r>
              <a:endParaRPr lang="en-US" sz="1200" dirty="0"/>
            </a:p>
          </p:txBody>
        </p:sp>
      </p:grpSp>
      <p:grpSp>
        <p:nvGrpSpPr>
          <p:cNvPr id="16" name="Group 15"/>
          <p:cNvGrpSpPr/>
          <p:nvPr/>
        </p:nvGrpSpPr>
        <p:grpSpPr>
          <a:xfrm>
            <a:off x="6894701" y="1814285"/>
            <a:ext cx="1269585" cy="942381"/>
            <a:chOff x="6894701" y="1814285"/>
            <a:chExt cx="1269585" cy="942381"/>
          </a:xfrm>
        </p:grpSpPr>
        <p:cxnSp>
          <p:nvCxnSpPr>
            <p:cNvPr id="17" name="Straight Arrow Connector 16"/>
            <p:cNvCxnSpPr/>
            <p:nvPr/>
          </p:nvCxnSpPr>
          <p:spPr>
            <a:xfrm flipV="1">
              <a:off x="6923323" y="2248666"/>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94701" y="1814285"/>
              <a:ext cx="1269585" cy="446476"/>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See u</a:t>
              </a:r>
              <a:endParaRPr lang="en-US" sz="1200" dirty="0"/>
            </a:p>
          </p:txBody>
        </p:sp>
      </p:grpSp>
      <p:grpSp>
        <p:nvGrpSpPr>
          <p:cNvPr id="19" name="Group 18"/>
          <p:cNvGrpSpPr/>
          <p:nvPr/>
        </p:nvGrpSpPr>
        <p:grpSpPr>
          <a:xfrm>
            <a:off x="5925583" y="1941169"/>
            <a:ext cx="791503" cy="3701415"/>
            <a:chOff x="5925583" y="1941169"/>
            <a:chExt cx="791503" cy="3701415"/>
          </a:xfrm>
        </p:grpSpPr>
        <p:grpSp>
          <p:nvGrpSpPr>
            <p:cNvPr id="20" name="Group 19"/>
            <p:cNvGrpSpPr/>
            <p:nvPr/>
          </p:nvGrpSpPr>
          <p:grpSpPr>
            <a:xfrm>
              <a:off x="5925583" y="1941169"/>
              <a:ext cx="791503" cy="815497"/>
              <a:chOff x="5925583" y="1941169"/>
              <a:chExt cx="791503" cy="815497"/>
            </a:xfrm>
          </p:grpSpPr>
          <p:cxnSp>
            <p:nvCxnSpPr>
              <p:cNvPr id="22" name="Straight Arrow Connector 21"/>
              <p:cNvCxnSpPr>
                <a:stCxn id="23" idx="2"/>
              </p:cNvCxnSpPr>
              <p:nvPr/>
            </p:nvCxnSpPr>
            <p:spPr>
              <a:xfrm>
                <a:off x="6321335" y="2310501"/>
                <a:ext cx="360074" cy="446165"/>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25583" y="1941169"/>
                <a:ext cx="791503" cy="369332"/>
              </a:xfrm>
              <a:prstGeom prst="rect">
                <a:avLst/>
              </a:prstGeom>
              <a:noFill/>
            </p:spPr>
            <p:txBody>
              <a:bodyPr wrap="none" rtlCol="0">
                <a:spAutoFit/>
              </a:bodyPr>
              <a:lstStyle/>
              <a:p>
                <a:r>
                  <a:rPr lang="en-US" dirty="0" smtClean="0"/>
                  <a:t>“Bye”</a:t>
                </a:r>
                <a:endParaRPr lang="en-US" dirty="0"/>
              </a:p>
            </p:txBody>
          </p:sp>
        </p:grpSp>
        <p:cxnSp>
          <p:nvCxnSpPr>
            <p:cNvPr id="21" name="Straight Arrow Connector 20"/>
            <p:cNvCxnSpPr/>
            <p:nvPr/>
          </p:nvCxnSpPr>
          <p:spPr>
            <a:xfrm>
              <a:off x="6337905" y="2424575"/>
              <a:ext cx="343504" cy="321800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pic>
        <p:nvPicPr>
          <p:cNvPr id="24" name="Picture 23" descr="server.png"/>
          <p:cNvPicPr>
            <a:picLocks noChangeAspect="1"/>
          </p:cNvPicPr>
          <p:nvPr/>
        </p:nvPicPr>
        <p:blipFill>
          <a:blip r:embed="rId2"/>
          <a:stretch>
            <a:fillRect/>
          </a:stretch>
        </p:blipFill>
        <p:spPr>
          <a:xfrm>
            <a:off x="189518" y="5549046"/>
            <a:ext cx="497908" cy="639602"/>
          </a:xfrm>
          <a:prstGeom prst="rect">
            <a:avLst/>
          </a:prstGeom>
        </p:spPr>
      </p:pic>
      <p:pic>
        <p:nvPicPr>
          <p:cNvPr id="25" name="Picture 24"/>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imgEffect>
                  </a14:imgLayer>
                </a14:imgProps>
              </a:ext>
            </a:extLst>
          </a:blip>
          <a:stretch>
            <a:fillRect/>
          </a:stretch>
        </p:blipFill>
        <p:spPr>
          <a:xfrm>
            <a:off x="322566" y="5310493"/>
            <a:ext cx="554922" cy="477105"/>
          </a:xfrm>
          <a:prstGeom prst="rect">
            <a:avLst/>
          </a:prstGeom>
          <a:effectLst>
            <a:glow rad="101600">
              <a:schemeClr val="bg1">
                <a:alpha val="9000"/>
              </a:schemeClr>
            </a:glow>
          </a:effectLst>
        </p:spPr>
      </p:pic>
      <p:cxnSp>
        <p:nvCxnSpPr>
          <p:cNvPr id="26" name="Straight Arrow Connector 25"/>
          <p:cNvCxnSpPr/>
          <p:nvPr/>
        </p:nvCxnSpPr>
        <p:spPr>
          <a:xfrm>
            <a:off x="991810" y="5787598"/>
            <a:ext cx="7087809"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27" name="Group 26"/>
          <p:cNvGrpSpPr/>
          <p:nvPr/>
        </p:nvGrpSpPr>
        <p:grpSpPr>
          <a:xfrm>
            <a:off x="602760" y="1931219"/>
            <a:ext cx="993811" cy="3723460"/>
            <a:chOff x="602760" y="1931219"/>
            <a:chExt cx="993811" cy="3723460"/>
          </a:xfrm>
        </p:grpSpPr>
        <p:grpSp>
          <p:nvGrpSpPr>
            <p:cNvPr id="28" name="Group 27"/>
            <p:cNvGrpSpPr/>
            <p:nvPr/>
          </p:nvGrpSpPr>
          <p:grpSpPr>
            <a:xfrm>
              <a:off x="602760" y="1931219"/>
              <a:ext cx="993811" cy="837542"/>
              <a:chOff x="602760" y="1931219"/>
              <a:chExt cx="993811" cy="837542"/>
            </a:xfrm>
          </p:grpSpPr>
          <p:cxnSp>
            <p:nvCxnSpPr>
              <p:cNvPr id="30" name="Straight Arrow Connector 29"/>
              <p:cNvCxnSpPr/>
              <p:nvPr/>
            </p:nvCxnSpPr>
            <p:spPr>
              <a:xfrm>
                <a:off x="1197429" y="2424575"/>
                <a:ext cx="399142" cy="344186"/>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2760" y="1931219"/>
                <a:ext cx="617026" cy="369332"/>
              </a:xfrm>
              <a:prstGeom prst="rect">
                <a:avLst/>
              </a:prstGeom>
              <a:noFill/>
            </p:spPr>
            <p:txBody>
              <a:bodyPr wrap="none" rtlCol="0">
                <a:spAutoFit/>
              </a:bodyPr>
              <a:lstStyle/>
              <a:p>
                <a:r>
                  <a:rPr lang="en-US" dirty="0" smtClean="0"/>
                  <a:t>“hi”</a:t>
                </a:r>
                <a:endParaRPr lang="en-US" dirty="0"/>
              </a:p>
            </p:txBody>
          </p:sp>
        </p:grpSp>
        <p:cxnSp>
          <p:nvCxnSpPr>
            <p:cNvPr id="29" name="Straight Arrow Connector 28"/>
            <p:cNvCxnSpPr/>
            <p:nvPr/>
          </p:nvCxnSpPr>
          <p:spPr>
            <a:xfrm>
              <a:off x="1112762" y="2424575"/>
              <a:ext cx="483809" cy="32301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2" name="Group 31"/>
          <p:cNvGrpSpPr/>
          <p:nvPr/>
        </p:nvGrpSpPr>
        <p:grpSpPr>
          <a:xfrm>
            <a:off x="3051762" y="1946544"/>
            <a:ext cx="1368246" cy="3708135"/>
            <a:chOff x="3051762" y="1946544"/>
            <a:chExt cx="1368246" cy="3708135"/>
          </a:xfrm>
        </p:grpSpPr>
        <p:grpSp>
          <p:nvGrpSpPr>
            <p:cNvPr id="33" name="Group 32"/>
            <p:cNvGrpSpPr/>
            <p:nvPr/>
          </p:nvGrpSpPr>
          <p:grpSpPr>
            <a:xfrm>
              <a:off x="3051762" y="1946544"/>
              <a:ext cx="1368246" cy="955136"/>
              <a:chOff x="3051762" y="1946544"/>
              <a:chExt cx="1368246" cy="955136"/>
            </a:xfrm>
          </p:grpSpPr>
          <p:cxnSp>
            <p:nvCxnSpPr>
              <p:cNvPr id="35" name="Straight Arrow Connector 34"/>
              <p:cNvCxnSpPr>
                <a:stCxn id="36" idx="2"/>
              </p:cNvCxnSpPr>
              <p:nvPr/>
            </p:nvCxnSpPr>
            <p:spPr>
              <a:xfrm>
                <a:off x="3735885" y="2315876"/>
                <a:ext cx="400686" cy="58580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051762" y="1946544"/>
                <a:ext cx="1368246" cy="369332"/>
              </a:xfrm>
              <a:prstGeom prst="rect">
                <a:avLst/>
              </a:prstGeom>
              <a:noFill/>
            </p:spPr>
            <p:txBody>
              <a:bodyPr wrap="none" rtlCol="0">
                <a:spAutoFit/>
              </a:bodyPr>
              <a:lstStyle/>
              <a:p>
                <a:r>
                  <a:rPr lang="en-US" dirty="0" smtClean="0"/>
                  <a:t>“I am Sam”</a:t>
                </a:r>
                <a:endParaRPr lang="en-US" dirty="0"/>
              </a:p>
            </p:txBody>
          </p:sp>
        </p:grpSp>
        <p:cxnSp>
          <p:nvCxnSpPr>
            <p:cNvPr id="34" name="Straight Arrow Connector 33"/>
            <p:cNvCxnSpPr/>
            <p:nvPr/>
          </p:nvCxnSpPr>
          <p:spPr>
            <a:xfrm>
              <a:off x="3732921" y="2315876"/>
              <a:ext cx="302046" cy="333880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grpSp>
        <p:nvGrpSpPr>
          <p:cNvPr id="37" name="Group 36"/>
          <p:cNvGrpSpPr/>
          <p:nvPr/>
        </p:nvGrpSpPr>
        <p:grpSpPr>
          <a:xfrm>
            <a:off x="1790100" y="4801809"/>
            <a:ext cx="967614" cy="840775"/>
            <a:chOff x="1790100" y="4801809"/>
            <a:chExt cx="967614" cy="840775"/>
          </a:xfrm>
        </p:grpSpPr>
        <p:cxnSp>
          <p:nvCxnSpPr>
            <p:cNvPr id="38" name="Straight Arrow Connector 37"/>
            <p:cNvCxnSpPr/>
            <p:nvPr/>
          </p:nvCxnSpPr>
          <p:spPr>
            <a:xfrm flipV="1">
              <a:off x="1843312" y="5134584"/>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1790100" y="4801809"/>
              <a:ext cx="967614" cy="351863"/>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hi</a:t>
              </a:r>
              <a:endParaRPr lang="en-US" sz="1200" dirty="0"/>
            </a:p>
          </p:txBody>
        </p:sp>
      </p:grpSp>
      <p:sp>
        <p:nvSpPr>
          <p:cNvPr id="40" name="TextBox 39"/>
          <p:cNvSpPr txBox="1"/>
          <p:nvPr/>
        </p:nvSpPr>
        <p:spPr>
          <a:xfrm>
            <a:off x="7830874" y="5804111"/>
            <a:ext cx="641484" cy="369332"/>
          </a:xfrm>
          <a:prstGeom prst="rect">
            <a:avLst/>
          </a:prstGeom>
          <a:noFill/>
        </p:spPr>
        <p:txBody>
          <a:bodyPr wrap="none" rtlCol="0">
            <a:spAutoFit/>
          </a:bodyPr>
          <a:lstStyle/>
          <a:p>
            <a:r>
              <a:rPr lang="en-US" dirty="0" smtClean="0"/>
              <a:t>time</a:t>
            </a:r>
            <a:endParaRPr lang="en-US" dirty="0"/>
          </a:p>
        </p:txBody>
      </p:sp>
      <p:grpSp>
        <p:nvGrpSpPr>
          <p:cNvPr id="41" name="Group 40"/>
          <p:cNvGrpSpPr/>
          <p:nvPr/>
        </p:nvGrpSpPr>
        <p:grpSpPr>
          <a:xfrm>
            <a:off x="4240590" y="4801809"/>
            <a:ext cx="1008738" cy="840776"/>
            <a:chOff x="4240590" y="4236567"/>
            <a:chExt cx="1008738" cy="1406018"/>
          </a:xfrm>
        </p:grpSpPr>
        <p:cxnSp>
          <p:nvCxnSpPr>
            <p:cNvPr id="42" name="Straight Arrow Connector 41"/>
            <p:cNvCxnSpPr/>
            <p:nvPr/>
          </p:nvCxnSpPr>
          <p:spPr>
            <a:xfrm flipV="1">
              <a:off x="4339780" y="5087234"/>
              <a:ext cx="0" cy="55535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240590" y="4236567"/>
              <a:ext cx="1008738" cy="588418"/>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Go away!</a:t>
              </a:r>
              <a:endParaRPr lang="en-US" sz="1200" dirty="0"/>
            </a:p>
          </p:txBody>
        </p:sp>
      </p:grpSp>
      <p:grpSp>
        <p:nvGrpSpPr>
          <p:cNvPr id="45" name="Group 44"/>
          <p:cNvGrpSpPr/>
          <p:nvPr/>
        </p:nvGrpSpPr>
        <p:grpSpPr>
          <a:xfrm>
            <a:off x="6894701" y="4753432"/>
            <a:ext cx="1269585" cy="889155"/>
            <a:chOff x="6894701" y="4495383"/>
            <a:chExt cx="1269585" cy="1147201"/>
          </a:xfrm>
        </p:grpSpPr>
        <p:cxnSp>
          <p:nvCxnSpPr>
            <p:cNvPr id="46" name="Straight Arrow Connector 45"/>
            <p:cNvCxnSpPr/>
            <p:nvPr/>
          </p:nvCxnSpPr>
          <p:spPr>
            <a:xfrm flipV="1">
              <a:off x="6923323" y="5134584"/>
              <a:ext cx="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6894701" y="4495383"/>
              <a:ext cx="1269585" cy="588876"/>
            </a:xfrm>
            <a:prstGeom prst="roundRect">
              <a:avLst/>
            </a:prstGeom>
          </p:spPr>
          <p:style>
            <a:lnRef idx="1">
              <a:schemeClr val="accent5"/>
            </a:lnRef>
            <a:fillRef idx="3">
              <a:schemeClr val="accent5"/>
            </a:fillRef>
            <a:effectRef idx="2">
              <a:schemeClr val="accent5"/>
            </a:effectRef>
            <a:fontRef idx="minor">
              <a:schemeClr val="lt1"/>
            </a:fontRef>
          </p:style>
          <p:txBody>
            <a:bodyPr rtlCol="0" anchor="ctr"/>
            <a:lstStyle/>
            <a:p>
              <a:r>
                <a:rPr lang="en-US" sz="1200" dirty="0" smtClean="0"/>
                <a:t>great</a:t>
              </a:r>
              <a:endParaRPr lang="en-US" sz="1200" dirty="0"/>
            </a:p>
          </p:txBody>
        </p:sp>
      </p:grpSp>
      <p:sp>
        <p:nvSpPr>
          <p:cNvPr id="54" name="TextBox 53"/>
          <p:cNvSpPr txBox="1"/>
          <p:nvPr/>
        </p:nvSpPr>
        <p:spPr>
          <a:xfrm>
            <a:off x="-35112" y="3302730"/>
            <a:ext cx="1232541" cy="369332"/>
          </a:xfrm>
          <a:prstGeom prst="rect">
            <a:avLst/>
          </a:prstGeom>
          <a:noFill/>
        </p:spPr>
        <p:txBody>
          <a:bodyPr wrap="none" rtlCol="0">
            <a:spAutoFit/>
          </a:bodyPr>
          <a:lstStyle/>
          <a:p>
            <a:r>
              <a:rPr lang="en-US" dirty="0" smtClean="0"/>
              <a:t>IRC User1</a:t>
            </a:r>
            <a:endParaRPr lang="en-US" dirty="0"/>
          </a:p>
        </p:txBody>
      </p:sp>
      <p:sp>
        <p:nvSpPr>
          <p:cNvPr id="55" name="TextBox 54"/>
          <p:cNvSpPr txBox="1"/>
          <p:nvPr/>
        </p:nvSpPr>
        <p:spPr>
          <a:xfrm>
            <a:off x="36286" y="6088289"/>
            <a:ext cx="1232541" cy="369332"/>
          </a:xfrm>
          <a:prstGeom prst="rect">
            <a:avLst/>
          </a:prstGeom>
          <a:noFill/>
        </p:spPr>
        <p:txBody>
          <a:bodyPr wrap="none" rtlCol="0">
            <a:spAutoFit/>
          </a:bodyPr>
          <a:lstStyle/>
          <a:p>
            <a:r>
              <a:rPr lang="en-US" dirty="0" smtClean="0"/>
              <a:t>IRC User2</a:t>
            </a:r>
            <a:endParaRPr lang="en-US" dirty="0"/>
          </a:p>
        </p:txBody>
      </p:sp>
      <p:grpSp>
        <p:nvGrpSpPr>
          <p:cNvPr id="48" name="Group 47"/>
          <p:cNvGrpSpPr/>
          <p:nvPr/>
        </p:nvGrpSpPr>
        <p:grpSpPr>
          <a:xfrm>
            <a:off x="602760" y="205749"/>
            <a:ext cx="1666079" cy="1725469"/>
            <a:chOff x="6172689" y="504063"/>
            <a:chExt cx="1666079" cy="1605486"/>
          </a:xfrm>
        </p:grpSpPr>
        <p:grpSp>
          <p:nvGrpSpPr>
            <p:cNvPr id="49" name="Group 48"/>
            <p:cNvGrpSpPr/>
            <p:nvPr/>
          </p:nvGrpSpPr>
          <p:grpSpPr>
            <a:xfrm>
              <a:off x="6172689" y="504063"/>
              <a:ext cx="1666079" cy="569271"/>
              <a:chOff x="6172689" y="504063"/>
              <a:chExt cx="1666079" cy="569271"/>
            </a:xfrm>
          </p:grpSpPr>
          <p:pic>
            <p:nvPicPr>
              <p:cNvPr id="51" name="Picture 50" descr="server.png"/>
              <p:cNvPicPr>
                <a:picLocks noChangeAspect="1"/>
              </p:cNvPicPr>
              <p:nvPr/>
            </p:nvPicPr>
            <p:blipFill>
              <a:blip r:embed="rId2"/>
              <a:stretch>
                <a:fillRect/>
              </a:stretch>
            </p:blipFill>
            <p:spPr>
              <a:xfrm>
                <a:off x="7479126" y="664863"/>
                <a:ext cx="359642" cy="408471"/>
              </a:xfrm>
              <a:prstGeom prst="rect">
                <a:avLst/>
              </a:prstGeom>
            </p:spPr>
          </p:pic>
          <p:sp>
            <p:nvSpPr>
              <p:cNvPr id="52" name="TextBox 51"/>
              <p:cNvSpPr txBox="1"/>
              <p:nvPr/>
            </p:nvSpPr>
            <p:spPr>
              <a:xfrm>
                <a:off x="6172689" y="504063"/>
                <a:ext cx="1265791" cy="343650"/>
              </a:xfrm>
              <a:prstGeom prst="rect">
                <a:avLst/>
              </a:prstGeom>
              <a:noFill/>
            </p:spPr>
            <p:txBody>
              <a:bodyPr wrap="none" rtlCol="0">
                <a:spAutoFit/>
              </a:bodyPr>
              <a:lstStyle/>
              <a:p>
                <a:r>
                  <a:rPr lang="en-US" dirty="0" smtClean="0"/>
                  <a:t>IRC server</a:t>
                </a:r>
                <a:endParaRPr lang="en-US" dirty="0"/>
              </a:p>
            </p:txBody>
          </p:sp>
        </p:grpSp>
        <p:cxnSp>
          <p:nvCxnSpPr>
            <p:cNvPr id="50" name="Straight Arrow Connector 49"/>
            <p:cNvCxnSpPr/>
            <p:nvPr/>
          </p:nvCxnSpPr>
          <p:spPr>
            <a:xfrm flipH="1">
              <a:off x="6744664" y="1073334"/>
              <a:ext cx="597147" cy="103621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96387245"/>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Intuition</a:t>
            </a:r>
            <a:endParaRPr lang="en-US" dirty="0"/>
          </a:p>
        </p:txBody>
      </p:sp>
      <p:sp>
        <p:nvSpPr>
          <p:cNvPr id="3" name="Content Placeholder 2"/>
          <p:cNvSpPr>
            <a:spLocks noGrp="1"/>
          </p:cNvSpPr>
          <p:nvPr>
            <p:ph idx="1"/>
          </p:nvPr>
        </p:nvSpPr>
        <p:spPr>
          <a:xfrm>
            <a:off x="457200" y="1600201"/>
            <a:ext cx="8229600" cy="1684557"/>
          </a:xfrm>
        </p:spPr>
        <p:txBody>
          <a:bodyPr/>
          <a:lstStyle/>
          <a:p>
            <a:r>
              <a:rPr lang="en-US" sz="2800" dirty="0" smtClean="0"/>
              <a:t>Detection algorithm in a nutshell</a:t>
            </a:r>
          </a:p>
          <a:p>
            <a:pPr lvl="1"/>
            <a:r>
              <a:rPr lang="en-US" sz="2000" dirty="0" smtClean="0"/>
              <a:t>For an IRC server, if the majority of its clients in our monitored network keep responding similar responses to the server, we will label the clients as bots and the server as C&amp;C server</a:t>
            </a:r>
            <a:endParaRPr lang="en-US" sz="2000" dirty="0"/>
          </a:p>
        </p:txBody>
      </p:sp>
      <p:sp>
        <p:nvSpPr>
          <p:cNvPr id="4" name="Slide Number Placeholder 3"/>
          <p:cNvSpPr>
            <a:spLocks noGrp="1"/>
          </p:cNvSpPr>
          <p:nvPr>
            <p:ph type="sldNum" sz="quarter" idx="12"/>
          </p:nvPr>
        </p:nvSpPr>
        <p:spPr/>
        <p:txBody>
          <a:bodyPr/>
          <a:lstStyle/>
          <a:p>
            <a:fld id="{25150EB1-882C-494D-8464-DC21581708D5}" type="slidenum">
              <a:rPr lang="en-US" smtClean="0"/>
              <a:t>78</a:t>
            </a:fld>
            <a:endParaRPr lang="en-US"/>
          </a:p>
        </p:txBody>
      </p:sp>
      <p:sp>
        <p:nvSpPr>
          <p:cNvPr id="5" name="TextBox 4"/>
          <p:cNvSpPr txBox="1"/>
          <p:nvPr/>
        </p:nvSpPr>
        <p:spPr>
          <a:xfrm>
            <a:off x="1448969" y="3632075"/>
            <a:ext cx="6113272" cy="461665"/>
          </a:xfrm>
          <a:prstGeom prst="rect">
            <a:avLst/>
          </a:prstGeom>
          <a:noFill/>
        </p:spPr>
        <p:txBody>
          <a:bodyPr wrap="none" rtlCol="0">
            <a:spAutoFit/>
          </a:bodyPr>
          <a:lstStyle/>
          <a:p>
            <a:r>
              <a:rPr lang="en-US" sz="2400" b="1" dirty="0" smtClean="0">
                <a:solidFill>
                  <a:srgbClr val="008000"/>
                </a:solidFill>
              </a:rPr>
              <a:t>How can we expand our intuition to a system?</a:t>
            </a:r>
            <a:endParaRPr lang="en-US" sz="2400" b="1" dirty="0">
              <a:solidFill>
                <a:srgbClr val="008000"/>
              </a:solidFill>
            </a:endParaRPr>
          </a:p>
        </p:txBody>
      </p:sp>
    </p:spTree>
    <p:extLst>
      <p:ext uri="{BB962C8B-B14F-4D97-AF65-F5344CB8AC3E}">
        <p14:creationId xmlns:p14="http://schemas.microsoft.com/office/powerpoint/2010/main" val="2462230182"/>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Intuition</a:t>
            </a:r>
            <a:endParaRPr lang="en-US" dirty="0"/>
          </a:p>
        </p:txBody>
      </p:sp>
      <p:sp>
        <p:nvSpPr>
          <p:cNvPr id="3" name="Content Placeholder 2"/>
          <p:cNvSpPr>
            <a:spLocks noGrp="1"/>
          </p:cNvSpPr>
          <p:nvPr>
            <p:ph idx="1"/>
          </p:nvPr>
        </p:nvSpPr>
        <p:spPr>
          <a:xfrm>
            <a:off x="457200" y="1600200"/>
            <a:ext cx="8229600" cy="3572475"/>
          </a:xfrm>
        </p:spPr>
        <p:txBody>
          <a:bodyPr/>
          <a:lstStyle/>
          <a:p>
            <a:r>
              <a:rPr lang="en-US" sz="2800" dirty="0" smtClean="0"/>
              <a:t>Detection algorithm in a nutshell</a:t>
            </a:r>
          </a:p>
          <a:p>
            <a:pPr lvl="1"/>
            <a:r>
              <a:rPr lang="en-US" sz="2000" dirty="0" smtClean="0"/>
              <a:t>For an </a:t>
            </a:r>
            <a:r>
              <a:rPr lang="en-US" sz="2000" b="1" i="1" dirty="0" smtClean="0"/>
              <a:t>IRC server</a:t>
            </a:r>
            <a:r>
              <a:rPr lang="en-US" sz="2000" dirty="0" smtClean="0"/>
              <a:t>, if the </a:t>
            </a:r>
            <a:r>
              <a:rPr lang="en-US" sz="2000" b="1" i="1" dirty="0" smtClean="0">
                <a:solidFill>
                  <a:srgbClr val="008000"/>
                </a:solidFill>
              </a:rPr>
              <a:t>majority</a:t>
            </a:r>
            <a:r>
              <a:rPr lang="en-US" sz="2000" dirty="0" smtClean="0"/>
              <a:t> of its clients in our monitored network </a:t>
            </a:r>
            <a:r>
              <a:rPr lang="en-US" sz="2000" b="1" i="1" dirty="0" smtClean="0">
                <a:solidFill>
                  <a:srgbClr val="FF0000"/>
                </a:solidFill>
              </a:rPr>
              <a:t>keep responding </a:t>
            </a:r>
            <a:r>
              <a:rPr lang="en-US" sz="2000" b="1" i="1" dirty="0" smtClean="0">
                <a:solidFill>
                  <a:srgbClr val="3366FF"/>
                </a:solidFill>
              </a:rPr>
              <a:t>similar</a:t>
            </a:r>
            <a:r>
              <a:rPr lang="en-US" sz="2000" dirty="0" smtClean="0"/>
              <a:t> </a:t>
            </a:r>
            <a:r>
              <a:rPr lang="en-US" sz="2000" b="1" i="1" dirty="0" smtClean="0">
                <a:solidFill>
                  <a:srgbClr val="3366FF"/>
                </a:solidFill>
              </a:rPr>
              <a:t>responses</a:t>
            </a:r>
            <a:r>
              <a:rPr lang="en-US" sz="2000" dirty="0" smtClean="0"/>
              <a:t> to the server, we will label the clients as bots and the server as C&amp;C server</a:t>
            </a:r>
          </a:p>
          <a:p>
            <a:pPr lvl="1"/>
            <a:endParaRPr lang="en-US" sz="2000" dirty="0"/>
          </a:p>
        </p:txBody>
      </p:sp>
      <p:sp>
        <p:nvSpPr>
          <p:cNvPr id="4" name="Slide Number Placeholder 3"/>
          <p:cNvSpPr>
            <a:spLocks noGrp="1"/>
          </p:cNvSpPr>
          <p:nvPr>
            <p:ph type="sldNum" sz="quarter" idx="12"/>
          </p:nvPr>
        </p:nvSpPr>
        <p:spPr/>
        <p:txBody>
          <a:bodyPr/>
          <a:lstStyle/>
          <a:p>
            <a:fld id="{25150EB1-882C-494D-8464-DC21581708D5}" type="slidenum">
              <a:rPr lang="en-US" smtClean="0"/>
              <a:t>79</a:t>
            </a:fld>
            <a:endParaRPr lang="en-US"/>
          </a:p>
        </p:txBody>
      </p:sp>
      <p:sp>
        <p:nvSpPr>
          <p:cNvPr id="5" name="TextBox 4"/>
          <p:cNvSpPr txBox="1"/>
          <p:nvPr/>
        </p:nvSpPr>
        <p:spPr>
          <a:xfrm>
            <a:off x="1510652" y="5259187"/>
            <a:ext cx="6110810" cy="923330"/>
          </a:xfrm>
          <a:prstGeom prst="rect">
            <a:avLst/>
          </a:prstGeom>
          <a:noFill/>
        </p:spPr>
        <p:txBody>
          <a:bodyPr wrap="square" rtlCol="0">
            <a:spAutoFit/>
          </a:bodyPr>
          <a:lstStyle/>
          <a:p>
            <a:r>
              <a:rPr lang="en-US" dirty="0" smtClean="0">
                <a:solidFill>
                  <a:srgbClr val="FF0000"/>
                </a:solidFill>
              </a:rPr>
              <a:t>SPRT(Sequential Probability Ratio Testing)</a:t>
            </a:r>
            <a:r>
              <a:rPr lang="en-US" dirty="0" smtClean="0"/>
              <a:t>: calculate an anomaly score by observing a sequence of certain actions (e.g., similar/dissimilar behaviors)</a:t>
            </a:r>
            <a:endParaRPr lang="en-US" dirty="0"/>
          </a:p>
        </p:txBody>
      </p:sp>
      <p:sp>
        <p:nvSpPr>
          <p:cNvPr id="6" name="TextBox 5"/>
          <p:cNvSpPr txBox="1"/>
          <p:nvPr/>
        </p:nvSpPr>
        <p:spPr>
          <a:xfrm>
            <a:off x="1522864" y="3337451"/>
            <a:ext cx="6110810" cy="646331"/>
          </a:xfrm>
          <a:prstGeom prst="rect">
            <a:avLst/>
          </a:prstGeom>
          <a:noFill/>
        </p:spPr>
        <p:txBody>
          <a:bodyPr wrap="square" rtlCol="0">
            <a:spAutoFit/>
          </a:bodyPr>
          <a:lstStyle/>
          <a:p>
            <a:r>
              <a:rPr lang="en-US" dirty="0" smtClean="0">
                <a:solidFill>
                  <a:srgbClr val="3366FF"/>
                </a:solidFill>
              </a:rPr>
              <a:t>Edit Distance</a:t>
            </a:r>
            <a:r>
              <a:rPr lang="en-US" dirty="0" smtClean="0"/>
              <a:t>: Use DICE coefficient to evaluate the similarity between two texts</a:t>
            </a:r>
            <a:endParaRPr lang="en-US" dirty="0"/>
          </a:p>
        </p:txBody>
      </p:sp>
      <p:pic>
        <p:nvPicPr>
          <p:cNvPr id="8"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6473" y="4306896"/>
            <a:ext cx="3896042" cy="54445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4362100" y="4086316"/>
            <a:ext cx="4572000" cy="928459"/>
          </a:xfrm>
          <a:prstGeom prst="rect">
            <a:avLst/>
          </a:prstGeom>
          <a:solidFill>
            <a:schemeClr val="bg1">
              <a:lumMod val="85000"/>
            </a:schemeClr>
          </a:solidFill>
        </p:spPr>
        <p:txBody>
          <a:bodyPr>
            <a:spAutoFit/>
          </a:bodyPr>
          <a:lstStyle/>
          <a:p>
            <a:pPr lvl="1">
              <a:lnSpc>
                <a:spcPct val="90000"/>
              </a:lnSpc>
            </a:pPr>
            <a:r>
              <a:rPr lang="en-US" altLang="zh-CN" sz="2000" dirty="0">
                <a:ea typeface="SimSun" charset="0"/>
                <a:cs typeface="SimSun" charset="0"/>
              </a:rPr>
              <a:t>E.g., </a:t>
            </a:r>
            <a:r>
              <a:rPr lang="en-US" altLang="zh-CN" sz="2000" dirty="0">
                <a:latin typeface="Arial"/>
                <a:ea typeface="SimSun" charset="0"/>
                <a:cs typeface="SimSun" charset="0"/>
              </a:rPr>
              <a:t>“</a:t>
            </a:r>
            <a:r>
              <a:rPr lang="en-US" altLang="zh-CN" sz="2000" dirty="0" err="1">
                <a:ea typeface="SimSun" charset="0"/>
                <a:cs typeface="SimSun" charset="0"/>
              </a:rPr>
              <a:t>abcde</a:t>
            </a:r>
            <a:r>
              <a:rPr lang="en-US" altLang="zh-CN" sz="2000" dirty="0">
                <a:latin typeface="Arial"/>
                <a:ea typeface="SimSun" charset="0"/>
                <a:cs typeface="SimSun" charset="0"/>
              </a:rPr>
              <a:t>”</a:t>
            </a:r>
            <a:r>
              <a:rPr lang="en-US" altLang="zh-CN" sz="2000" dirty="0">
                <a:ea typeface="SimSun" charset="0"/>
                <a:cs typeface="SimSun" charset="0"/>
              </a:rPr>
              <a:t> and </a:t>
            </a:r>
            <a:r>
              <a:rPr lang="en-US" altLang="zh-CN" sz="2000" dirty="0">
                <a:latin typeface="Arial"/>
                <a:ea typeface="SimSun" charset="0"/>
                <a:cs typeface="SimSun" charset="0"/>
              </a:rPr>
              <a:t>“</a:t>
            </a:r>
            <a:r>
              <a:rPr lang="en-US" altLang="zh-CN" sz="2000" dirty="0" err="1">
                <a:ea typeface="SimSun" charset="0"/>
                <a:cs typeface="SimSun" charset="0"/>
              </a:rPr>
              <a:t>bcdef</a:t>
            </a:r>
            <a:r>
              <a:rPr lang="en-US" altLang="zh-CN" sz="2000" dirty="0">
                <a:latin typeface="Arial"/>
                <a:ea typeface="SimSun" charset="0"/>
                <a:cs typeface="SimSun" charset="0"/>
              </a:rPr>
              <a:t>”</a:t>
            </a:r>
            <a:r>
              <a:rPr lang="en-US" altLang="zh-CN" sz="2000" dirty="0">
                <a:ea typeface="SimSun" charset="0"/>
                <a:cs typeface="SimSun" charset="0"/>
              </a:rPr>
              <a:t>, common 2-grams: </a:t>
            </a:r>
            <a:r>
              <a:rPr lang="en-US" altLang="zh-CN" sz="2000" dirty="0">
                <a:latin typeface="Arial"/>
                <a:ea typeface="SimSun" charset="0"/>
                <a:cs typeface="SimSun" charset="0"/>
              </a:rPr>
              <a:t>“</a:t>
            </a:r>
            <a:r>
              <a:rPr lang="en-US" altLang="zh-CN" sz="2000" dirty="0" err="1">
                <a:ea typeface="SimSun" charset="0"/>
                <a:cs typeface="SimSun" charset="0"/>
              </a:rPr>
              <a:t>bc,cd,de</a:t>
            </a:r>
            <a:r>
              <a:rPr lang="en-US" altLang="zh-CN" sz="2000" dirty="0">
                <a:latin typeface="Arial"/>
                <a:ea typeface="SimSun" charset="0"/>
                <a:cs typeface="SimSun" charset="0"/>
              </a:rPr>
              <a:t>”</a:t>
            </a:r>
            <a:r>
              <a:rPr lang="en-US" altLang="zh-CN" sz="2000" dirty="0">
                <a:ea typeface="SimSun" charset="0"/>
                <a:cs typeface="SimSun" charset="0"/>
              </a:rPr>
              <a:t>, DICE distance is 2*3/(4+4)=6/8=0.75</a:t>
            </a:r>
          </a:p>
        </p:txBody>
      </p:sp>
    </p:spTree>
    <p:extLst>
      <p:ext uri="{BB962C8B-B14F-4D97-AF65-F5344CB8AC3E}">
        <p14:creationId xmlns:p14="http://schemas.microsoft.com/office/powerpoint/2010/main" val="2905302179"/>
      </p:ext>
    </p:extLst>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Detection</a:t>
            </a:r>
            <a:endParaRPr lang="en-US" dirty="0"/>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809057058"/>
              </p:ext>
            </p:extLst>
          </p:nvPr>
        </p:nvGraphicFramePr>
        <p:xfrm>
          <a:off x="1892294" y="2064821"/>
          <a:ext cx="7947810" cy="3503393"/>
        </p:xfrm>
        <a:graphic>
          <a:graphicData uri="http://schemas.openxmlformats.org/presentationml/2006/ole">
            <mc:AlternateContent xmlns:mc="http://schemas.openxmlformats.org/markup-compatibility/2006">
              <mc:Choice xmlns:v="urn:schemas-microsoft-com:vml" Requires="v">
                <p:oleObj spid="_x0000_s2105" name="Bitmap Image" r:id="rId3" imgW="7066667" imgH="3115110" progId="Paint.Picture">
                  <p:embed/>
                </p:oleObj>
              </mc:Choice>
              <mc:Fallback>
                <p:oleObj name="Bitmap Image" r:id="rId3" imgW="7066667" imgH="311511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2294" y="2064821"/>
                        <a:ext cx="7947810" cy="3503393"/>
                      </a:xfrm>
                      <a:prstGeom prst="rect">
                        <a:avLst/>
                      </a:prstGeom>
                      <a:noFill/>
                      <a:ln>
                        <a:noFill/>
                      </a:ln>
                      <a:effectLst/>
                      <a:extLst/>
                    </p:spPr>
                  </p:pic>
                </p:oleObj>
              </mc:Fallback>
            </mc:AlternateContent>
          </a:graphicData>
        </a:graphic>
      </p:graphicFrame>
      <p:sp>
        <p:nvSpPr>
          <p:cNvPr id="5" name="Rectangle 4"/>
          <p:cNvSpPr/>
          <p:nvPr/>
        </p:nvSpPr>
        <p:spPr>
          <a:xfrm>
            <a:off x="5843612" y="1538585"/>
            <a:ext cx="4252952" cy="415173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p:nvSpPr>
        <p:spPr>
          <a:xfrm>
            <a:off x="2210184" y="5127455"/>
            <a:ext cx="4252952" cy="58729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18826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Experiments</a:t>
            </a:r>
            <a:endParaRPr lang="en-US" dirty="0"/>
          </a:p>
        </p:txBody>
      </p:sp>
      <p:sp>
        <p:nvSpPr>
          <p:cNvPr id="3" name="Content Placeholder 2"/>
          <p:cNvSpPr>
            <a:spLocks noGrp="1"/>
          </p:cNvSpPr>
          <p:nvPr>
            <p:ph idx="1"/>
          </p:nvPr>
        </p:nvSpPr>
        <p:spPr>
          <a:xfrm>
            <a:off x="457200" y="1600200"/>
            <a:ext cx="8229600" cy="435227"/>
          </a:xfrm>
        </p:spPr>
        <p:txBody>
          <a:bodyPr>
            <a:normAutofit fontScale="85000" lnSpcReduction="20000"/>
          </a:bodyPr>
          <a:lstStyle/>
          <a:p>
            <a:endParaRPr lang="en-US" dirty="0"/>
          </a:p>
        </p:txBody>
      </p:sp>
      <p:sp>
        <p:nvSpPr>
          <p:cNvPr id="4" name="Slide Number Placeholder 3"/>
          <p:cNvSpPr>
            <a:spLocks noGrp="1"/>
          </p:cNvSpPr>
          <p:nvPr>
            <p:ph type="sldNum" sz="quarter" idx="12"/>
          </p:nvPr>
        </p:nvSpPr>
        <p:spPr/>
        <p:txBody>
          <a:bodyPr/>
          <a:lstStyle/>
          <a:p>
            <a:fld id="{25150EB1-882C-494D-8464-DC21581708D5}" type="slidenum">
              <a:rPr lang="en-US" smtClean="0"/>
              <a:t>81</a:t>
            </a:fld>
            <a:endParaRPr lang="en-US"/>
          </a:p>
        </p:txBody>
      </p:sp>
      <p:graphicFrame>
        <p:nvGraphicFramePr>
          <p:cNvPr id="5" name="Object 3"/>
          <p:cNvGraphicFramePr>
            <a:graphicFrameLocks noChangeAspect="1"/>
          </p:cNvGraphicFramePr>
          <p:nvPr>
            <p:extLst>
              <p:ext uri="{D42A27DB-BD31-4B8C-83A1-F6EECF244321}">
                <p14:modId xmlns:p14="http://schemas.microsoft.com/office/powerpoint/2010/main" val="1228125158"/>
              </p:ext>
            </p:extLst>
          </p:nvPr>
        </p:nvGraphicFramePr>
        <p:xfrm>
          <a:off x="191482" y="2067647"/>
          <a:ext cx="8675687" cy="4168775"/>
        </p:xfrm>
        <a:graphic>
          <a:graphicData uri="http://schemas.openxmlformats.org/presentationml/2006/ole">
            <mc:AlternateContent xmlns:mc="http://schemas.openxmlformats.org/markup-compatibility/2006">
              <mc:Choice xmlns:v="urn:schemas-microsoft-com:vml" Requires="v">
                <p:oleObj spid="_x0000_s3128" name="Bitmap Image" r:id="rId3" imgW="5372850" imgH="2580952" progId="Paint.Picture">
                  <p:embed/>
                </p:oleObj>
              </mc:Choice>
              <mc:Fallback>
                <p:oleObj name="Bitmap Image" r:id="rId3" imgW="5372850" imgH="2580952" progId="Paint.Picture">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482" y="2067647"/>
                        <a:ext cx="8675687" cy="416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
        <p:nvSpPr>
          <p:cNvPr id="6" name="AutoShape 4"/>
          <p:cNvSpPr>
            <a:spLocks noChangeArrowheads="1"/>
          </p:cNvSpPr>
          <p:nvPr/>
        </p:nvSpPr>
        <p:spPr bwMode="auto">
          <a:xfrm>
            <a:off x="2756882" y="1497264"/>
            <a:ext cx="2635250" cy="538163"/>
          </a:xfrm>
          <a:prstGeom prst="wedgeRectCallout">
            <a:avLst>
              <a:gd name="adj1" fmla="val -33856"/>
              <a:gd name="adj2" fmla="val 85102"/>
            </a:avLst>
          </a:prstGeom>
          <a:solidFill>
            <a:srgbClr val="66FFCC"/>
          </a:solidFill>
          <a:ln w="9525">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gn="ctr"/>
            <a:r>
              <a:rPr lang="en-US" altLang="zh-CN" sz="1800">
                <a:latin typeface="Arial" charset="0"/>
                <a:ea typeface="SimSun" charset="0"/>
                <a:cs typeface="SimSun" charset="0"/>
              </a:rPr>
              <a:t>189 days’ of IRC traffic</a:t>
            </a:r>
            <a:endParaRPr lang="zh-CN" altLang="en-US" sz="1800">
              <a:latin typeface="Arial" charset="0"/>
              <a:ea typeface="SimSun" charset="0"/>
              <a:cs typeface="SimSun" charset="0"/>
            </a:endParaRPr>
          </a:p>
        </p:txBody>
      </p:sp>
    </p:spTree>
    <p:extLst>
      <p:ext uri="{BB962C8B-B14F-4D97-AF65-F5344CB8AC3E}">
        <p14:creationId xmlns:p14="http://schemas.microsoft.com/office/powerpoint/2010/main" val="3059150555"/>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Experiments</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25150EB1-882C-494D-8464-DC21581708D5}" type="slidenum">
              <a:rPr lang="en-US" smtClean="0"/>
              <a:t>82</a:t>
            </a:fld>
            <a:endParaRPr lang="en-US"/>
          </a:p>
        </p:txBody>
      </p:sp>
      <p:graphicFrame>
        <p:nvGraphicFramePr>
          <p:cNvPr id="5" name="Object 3"/>
          <p:cNvGraphicFramePr>
            <a:graphicFrameLocks noChangeAspect="1"/>
          </p:cNvGraphicFramePr>
          <p:nvPr>
            <p:extLst>
              <p:ext uri="{D42A27DB-BD31-4B8C-83A1-F6EECF244321}">
                <p14:modId xmlns:p14="http://schemas.microsoft.com/office/powerpoint/2010/main" val="829723515"/>
              </p:ext>
            </p:extLst>
          </p:nvPr>
        </p:nvGraphicFramePr>
        <p:xfrm>
          <a:off x="977900" y="2174148"/>
          <a:ext cx="7188200" cy="2757488"/>
        </p:xfrm>
        <a:graphic>
          <a:graphicData uri="http://schemas.openxmlformats.org/presentationml/2006/ole">
            <mc:AlternateContent xmlns:mc="http://schemas.openxmlformats.org/markup-compatibility/2006">
              <mc:Choice xmlns:v="urn:schemas-microsoft-com:vml" Requires="v">
                <p:oleObj spid="_x0000_s4152" name="Bitmap Image" r:id="rId3" imgW="4420217" imgH="1695687" progId="Paint.Picture">
                  <p:embed/>
                </p:oleObj>
              </mc:Choice>
              <mc:Fallback>
                <p:oleObj name="Bitmap Image" r:id="rId3" imgW="4420217" imgH="1695687" progId="Paint.Picture">
                  <p:embed/>
                  <p:pic>
                    <p:nvPicPr>
                      <p:cNvPr id="0" name=""/>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7900" y="2174148"/>
                        <a:ext cx="7188200" cy="2757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oleObj>
              </mc:Fallback>
            </mc:AlternateContent>
          </a:graphicData>
        </a:graphic>
      </p:graphicFrame>
    </p:spTree>
    <p:extLst>
      <p:ext uri="{BB962C8B-B14F-4D97-AF65-F5344CB8AC3E}">
        <p14:creationId xmlns:p14="http://schemas.microsoft.com/office/powerpoint/2010/main" val="932057117"/>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Detecting P2P </a:t>
            </a:r>
            <a:r>
              <a:rPr lang="en-US" b="1" dirty="0" err="1" smtClean="0"/>
              <a:t>Botnets</a:t>
            </a:r>
            <a:endParaRPr lang="en-US" b="1" dirty="0"/>
          </a:p>
        </p:txBody>
      </p:sp>
      <p:sp>
        <p:nvSpPr>
          <p:cNvPr id="67" name="Slide Number Placeholder 66"/>
          <p:cNvSpPr>
            <a:spLocks noGrp="1"/>
          </p:cNvSpPr>
          <p:nvPr>
            <p:ph type="sldNum" sz="quarter" idx="12"/>
          </p:nvPr>
        </p:nvSpPr>
        <p:spPr/>
        <p:txBody>
          <a:bodyPr/>
          <a:lstStyle/>
          <a:p>
            <a:fld id="{92A8EF56-05AC-594A-B4F8-D7320BBA0A9A}" type="slidenum">
              <a:rPr lang="en-US" smtClean="0"/>
              <a:pPr/>
              <a:t>83</a:t>
            </a:fld>
            <a:endParaRPr lang="en-US"/>
          </a:p>
        </p:txBody>
      </p:sp>
      <p:pic>
        <p:nvPicPr>
          <p:cNvPr id="80" name="Picture 3"/>
          <p:cNvPicPr>
            <a:picLocks noChangeAspect="1"/>
          </p:cNvPicPr>
          <p:nvPr/>
        </p:nvPicPr>
        <p:blipFill>
          <a:blip r:embed="rId3"/>
          <a:stretch>
            <a:fillRect/>
          </a:stretch>
        </p:blipFill>
        <p:spPr>
          <a:xfrm>
            <a:off x="3224436" y="3770531"/>
            <a:ext cx="580298" cy="580045"/>
          </a:xfrm>
          <a:prstGeom prst="rect">
            <a:avLst/>
          </a:prstGeom>
          <a:effectLst>
            <a:glow rad="101600">
              <a:schemeClr val="bg1">
                <a:alpha val="9000"/>
              </a:schemeClr>
            </a:glow>
          </a:effectLst>
        </p:spPr>
      </p:pic>
      <p:pic>
        <p:nvPicPr>
          <p:cNvPr id="81" name="Picture 80"/>
          <p:cNvPicPr>
            <a:picLocks noChangeAspect="1"/>
          </p:cNvPicPr>
          <p:nvPr/>
        </p:nvPicPr>
        <p:blipFill>
          <a:blip r:embed="rId3"/>
          <a:stretch>
            <a:fillRect/>
          </a:stretch>
        </p:blipFill>
        <p:spPr>
          <a:xfrm>
            <a:off x="4107630" y="4581609"/>
            <a:ext cx="580298" cy="580045"/>
          </a:xfrm>
          <a:prstGeom prst="rect">
            <a:avLst/>
          </a:prstGeom>
          <a:effectLst>
            <a:glow rad="101600">
              <a:schemeClr val="bg1">
                <a:alpha val="9000"/>
              </a:schemeClr>
            </a:glow>
          </a:effectLst>
        </p:spPr>
      </p:pic>
      <p:pic>
        <p:nvPicPr>
          <p:cNvPr id="82" name="Picture 81"/>
          <p:cNvPicPr>
            <a:picLocks noChangeAspect="1"/>
          </p:cNvPicPr>
          <p:nvPr/>
        </p:nvPicPr>
        <p:blipFill>
          <a:blip r:embed="rId3"/>
          <a:stretch>
            <a:fillRect/>
          </a:stretch>
        </p:blipFill>
        <p:spPr>
          <a:xfrm>
            <a:off x="3817481" y="2610440"/>
            <a:ext cx="580298" cy="580045"/>
          </a:xfrm>
          <a:prstGeom prst="rect">
            <a:avLst/>
          </a:prstGeom>
          <a:effectLst>
            <a:glow rad="101600">
              <a:schemeClr val="bg1">
                <a:alpha val="9000"/>
              </a:schemeClr>
            </a:glow>
          </a:effectLst>
        </p:spPr>
      </p:pic>
      <p:pic>
        <p:nvPicPr>
          <p:cNvPr id="83" name="Picture 82"/>
          <p:cNvPicPr>
            <a:picLocks noChangeAspect="1"/>
          </p:cNvPicPr>
          <p:nvPr/>
        </p:nvPicPr>
        <p:blipFill>
          <a:blip r:embed="rId3"/>
          <a:stretch>
            <a:fillRect/>
          </a:stretch>
        </p:blipFill>
        <p:spPr>
          <a:xfrm>
            <a:off x="5516977" y="3316312"/>
            <a:ext cx="580298" cy="580045"/>
          </a:xfrm>
          <a:prstGeom prst="rect">
            <a:avLst/>
          </a:prstGeom>
          <a:effectLst>
            <a:glow rad="101600">
              <a:schemeClr val="bg1">
                <a:alpha val="9000"/>
              </a:schemeClr>
            </a:glow>
          </a:effectLst>
        </p:spPr>
      </p:pic>
      <p:pic>
        <p:nvPicPr>
          <p:cNvPr id="84" name="Picture 83"/>
          <p:cNvPicPr>
            <a:picLocks noChangeAspect="1"/>
          </p:cNvPicPr>
          <p:nvPr/>
        </p:nvPicPr>
        <p:blipFill>
          <a:blip r:embed="rId3"/>
          <a:stretch>
            <a:fillRect/>
          </a:stretch>
        </p:blipFill>
        <p:spPr>
          <a:xfrm>
            <a:off x="5226828" y="4291586"/>
            <a:ext cx="580298" cy="580045"/>
          </a:xfrm>
          <a:prstGeom prst="rect">
            <a:avLst/>
          </a:prstGeom>
          <a:effectLst>
            <a:glow rad="101600">
              <a:schemeClr val="bg1">
                <a:alpha val="9000"/>
              </a:schemeClr>
            </a:glow>
          </a:effectLst>
        </p:spPr>
      </p:pic>
      <p:pic>
        <p:nvPicPr>
          <p:cNvPr id="85" name="Picture 84"/>
          <p:cNvPicPr>
            <a:picLocks noChangeAspect="1"/>
          </p:cNvPicPr>
          <p:nvPr/>
        </p:nvPicPr>
        <p:blipFill>
          <a:blip r:embed="rId3"/>
          <a:stretch>
            <a:fillRect/>
          </a:stretch>
        </p:blipFill>
        <p:spPr>
          <a:xfrm>
            <a:off x="4978077" y="2610440"/>
            <a:ext cx="580298" cy="580045"/>
          </a:xfrm>
          <a:prstGeom prst="rect">
            <a:avLst/>
          </a:prstGeom>
          <a:effectLst>
            <a:glow rad="101600">
              <a:schemeClr val="bg1">
                <a:alpha val="9000"/>
              </a:schemeClr>
            </a:glow>
          </a:effectLst>
        </p:spPr>
      </p:pic>
      <p:cxnSp>
        <p:nvCxnSpPr>
          <p:cNvPr id="86" name="Straight Arrow Connector 85"/>
          <p:cNvCxnSpPr/>
          <p:nvPr/>
        </p:nvCxnSpPr>
        <p:spPr>
          <a:xfrm rot="5400000">
            <a:off x="5423050" y="4031687"/>
            <a:ext cx="395227" cy="124574"/>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a:off x="5226829" y="3200799"/>
            <a:ext cx="456122" cy="115515"/>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flipV="1">
            <a:off x="3932209" y="3133826"/>
            <a:ext cx="1045868" cy="762533"/>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rot="10800000">
            <a:off x="3804735" y="4060555"/>
            <a:ext cx="740234" cy="52105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rot="5400000">
            <a:off x="3598593" y="3261494"/>
            <a:ext cx="580045" cy="438032"/>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91" name="Straight Arrow Connector 90"/>
          <p:cNvCxnSpPr/>
          <p:nvPr/>
        </p:nvCxnSpPr>
        <p:spPr>
          <a:xfrm flipV="1">
            <a:off x="4022035" y="3634528"/>
            <a:ext cx="1494942" cy="401096"/>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flipV="1">
            <a:off x="4397779" y="2865084"/>
            <a:ext cx="580298" cy="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flipV="1">
            <a:off x="4687928" y="4735627"/>
            <a:ext cx="580298" cy="1"/>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3946807" y="5200326"/>
            <a:ext cx="1753641" cy="461665"/>
          </a:xfrm>
          <a:prstGeom prst="rect">
            <a:avLst/>
          </a:prstGeom>
          <a:noFill/>
        </p:spPr>
        <p:txBody>
          <a:bodyPr wrap="square" rtlCol="0">
            <a:spAutoFit/>
          </a:bodyPr>
          <a:lstStyle/>
          <a:p>
            <a:r>
              <a:rPr lang="en-US" sz="2400" b="1" dirty="0" smtClean="0"/>
              <a:t>P2P </a:t>
            </a:r>
            <a:r>
              <a:rPr lang="en-US" sz="2400" b="1" dirty="0" err="1" smtClean="0"/>
              <a:t>Botnets</a:t>
            </a:r>
            <a:endParaRPr lang="en-US" sz="2400" b="1" dirty="0"/>
          </a:p>
        </p:txBody>
      </p:sp>
      <p:sp>
        <p:nvSpPr>
          <p:cNvPr id="102" name="Content Placeholder 2"/>
          <p:cNvSpPr txBox="1">
            <a:spLocks/>
          </p:cNvSpPr>
          <p:nvPr/>
        </p:nvSpPr>
        <p:spPr>
          <a:xfrm>
            <a:off x="541044" y="1725892"/>
            <a:ext cx="8333504" cy="559430"/>
          </a:xfrm>
          <a:prstGeom prst="rect">
            <a:avLst/>
          </a:prstGeom>
        </p:spPr>
        <p:txBody>
          <a:bodyPr vert="horz" lIns="91440" tIns="45720" rIns="91440" bIns="45720" rtlCol="0">
            <a:noAutofit/>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2200" b="1" i="0" u="none" strike="noStrike" kern="1200" cap="none" spc="0" normalizeH="0" baseline="0" noProof="0" dirty="0" smtClean="0">
                <a:ln>
                  <a:noFill/>
                </a:ln>
                <a:solidFill>
                  <a:schemeClr val="tx1"/>
                </a:solidFill>
                <a:effectLst/>
                <a:uLnTx/>
                <a:uFillTx/>
                <a:latin typeface="+mn-lt"/>
                <a:ea typeface="+mn-ea"/>
                <a:cs typeface="+mn-cs"/>
              </a:rPr>
              <a:t>P2P </a:t>
            </a:r>
            <a:r>
              <a:rPr kumimoji="0" lang="en-US" sz="2200" b="1" i="0" u="none" strike="noStrike" kern="1200" cap="none" spc="0" normalizeH="0" baseline="0" noProof="0" dirty="0" err="1" smtClean="0">
                <a:ln>
                  <a:noFill/>
                </a:ln>
                <a:solidFill>
                  <a:schemeClr val="tx1"/>
                </a:solidFill>
                <a:effectLst/>
                <a:uLnTx/>
                <a:uFillTx/>
                <a:latin typeface="+mn-lt"/>
                <a:ea typeface="+mn-ea"/>
                <a:cs typeface="+mn-cs"/>
              </a:rPr>
              <a:t>Botnet</a:t>
            </a:r>
            <a:r>
              <a:rPr kumimoji="0" lang="en-US" sz="22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200" b="0" i="0" u="none" strike="noStrike" kern="1200" cap="none" spc="0" normalizeH="0" noProof="0" dirty="0" smtClean="0">
                <a:ln>
                  <a:noFill/>
                </a:ln>
                <a:solidFill>
                  <a:schemeClr val="tx1"/>
                </a:solidFill>
                <a:effectLst/>
                <a:uLnTx/>
                <a:uFillTx/>
                <a:latin typeface="+mn-lt"/>
                <a:ea typeface="+mn-ea"/>
                <a:cs typeface="+mn-cs"/>
              </a:rPr>
              <a:t> A </a:t>
            </a:r>
            <a:r>
              <a:rPr lang="en-US" sz="2200" dirty="0" err="1" smtClean="0"/>
              <a:t>b</a:t>
            </a:r>
            <a:r>
              <a:rPr kumimoji="0" lang="en-US" sz="2200" b="0" i="0" u="none" strike="noStrike" kern="1200" cap="none" spc="0" normalizeH="0" noProof="0" dirty="0" err="1" smtClean="0">
                <a:ln>
                  <a:noFill/>
                </a:ln>
                <a:solidFill>
                  <a:schemeClr val="tx1"/>
                </a:solidFill>
                <a:effectLst/>
                <a:uLnTx/>
                <a:uFillTx/>
                <a:latin typeface="+mn-lt"/>
                <a:ea typeface="+mn-ea"/>
                <a:cs typeface="+mn-cs"/>
              </a:rPr>
              <a:t>otnet</a:t>
            </a:r>
            <a:r>
              <a:rPr kumimoji="0" lang="en-US" sz="2200" b="0" i="0" u="none" strike="noStrike" kern="1200" cap="none" spc="0" normalizeH="0" noProof="0" dirty="0" smtClean="0">
                <a:ln>
                  <a:noFill/>
                </a:ln>
                <a:solidFill>
                  <a:schemeClr val="tx1"/>
                </a:solidFill>
                <a:effectLst/>
                <a:uLnTx/>
                <a:uFillTx/>
                <a:latin typeface="+mn-lt"/>
                <a:ea typeface="+mn-ea"/>
                <a:cs typeface="+mn-cs"/>
              </a:rPr>
              <a:t> with a peer-to-peer C&amp;C structure</a:t>
            </a:r>
            <a:endParaRPr kumimoji="0" lang="en-US" sz="2200" b="0" i="0" u="none" strike="noStrike" kern="1200" cap="none" spc="0" normalizeH="0" baseline="0" noProof="0" dirty="0" smtClean="0">
              <a:ln>
                <a:noFill/>
              </a:ln>
              <a:solidFill>
                <a:schemeClr val="tx1"/>
              </a:solidFill>
              <a:effectLst/>
              <a:uLnTx/>
              <a:uFillTx/>
              <a:latin typeface="+mn-lt"/>
              <a:ea typeface="+mn-ea"/>
              <a:cs typeface="+mn-cs"/>
            </a:endParaRPr>
          </a:p>
        </p:txBody>
      </p:sp>
      <p:grpSp>
        <p:nvGrpSpPr>
          <p:cNvPr id="3" name="Group 117"/>
          <p:cNvGrpSpPr/>
          <p:nvPr/>
        </p:nvGrpSpPr>
        <p:grpSpPr>
          <a:xfrm>
            <a:off x="4901997" y="2528240"/>
            <a:ext cx="1271358" cy="1385900"/>
            <a:chOff x="4901997" y="2528240"/>
            <a:chExt cx="1271358" cy="1385900"/>
          </a:xfrm>
        </p:grpSpPr>
        <p:sp>
          <p:nvSpPr>
            <p:cNvPr id="115" name="&quot;No&quot; Symbol 114"/>
            <p:cNvSpPr/>
            <p:nvPr/>
          </p:nvSpPr>
          <p:spPr>
            <a:xfrm>
              <a:off x="4901997" y="2528240"/>
              <a:ext cx="732458" cy="662245"/>
            </a:xfrm>
            <a:prstGeom prst="noSmoking">
              <a:avLst/>
            </a:prstGeom>
            <a:solidFill>
              <a:srgbClr val="FF0000">
                <a:alpha val="6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17" name="&quot;No&quot; Symbol 116"/>
            <p:cNvSpPr/>
            <p:nvPr/>
          </p:nvSpPr>
          <p:spPr>
            <a:xfrm>
              <a:off x="5440897" y="3251895"/>
              <a:ext cx="732458" cy="662245"/>
            </a:xfrm>
            <a:prstGeom prst="noSmoking">
              <a:avLst/>
            </a:prstGeom>
            <a:solidFill>
              <a:srgbClr val="FF0000">
                <a:alpha val="6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grpSp>
        <p:nvGrpSpPr>
          <p:cNvPr id="4" name="Group 122"/>
          <p:cNvGrpSpPr/>
          <p:nvPr/>
        </p:nvGrpSpPr>
        <p:grpSpPr>
          <a:xfrm>
            <a:off x="3085023" y="2589650"/>
            <a:ext cx="2798183" cy="2613103"/>
            <a:chOff x="3085023" y="2589650"/>
            <a:chExt cx="2798183" cy="2613103"/>
          </a:xfrm>
        </p:grpSpPr>
        <p:sp>
          <p:nvSpPr>
            <p:cNvPr id="119" name="&quot;No&quot; Symbol 118"/>
            <p:cNvSpPr/>
            <p:nvPr/>
          </p:nvSpPr>
          <p:spPr>
            <a:xfrm>
              <a:off x="3655806" y="2589650"/>
              <a:ext cx="732458" cy="662245"/>
            </a:xfrm>
            <a:prstGeom prst="noSmoking">
              <a:avLst/>
            </a:prstGeom>
            <a:solidFill>
              <a:srgbClr val="FF0000">
                <a:alpha val="6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20" name="&quot;No&quot; Symbol 119"/>
            <p:cNvSpPr/>
            <p:nvPr/>
          </p:nvSpPr>
          <p:spPr>
            <a:xfrm>
              <a:off x="3085023" y="3770531"/>
              <a:ext cx="732458" cy="662245"/>
            </a:xfrm>
            <a:prstGeom prst="noSmoking">
              <a:avLst/>
            </a:prstGeom>
            <a:solidFill>
              <a:srgbClr val="FF0000">
                <a:alpha val="6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21" name="&quot;No&quot; Symbol 120"/>
            <p:cNvSpPr/>
            <p:nvPr/>
          </p:nvSpPr>
          <p:spPr>
            <a:xfrm>
              <a:off x="4022035" y="4540508"/>
              <a:ext cx="732458" cy="662245"/>
            </a:xfrm>
            <a:prstGeom prst="noSmoking">
              <a:avLst/>
            </a:prstGeom>
            <a:solidFill>
              <a:srgbClr val="FF0000">
                <a:alpha val="6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22" name="&quot;No&quot; Symbol 121"/>
            <p:cNvSpPr/>
            <p:nvPr/>
          </p:nvSpPr>
          <p:spPr>
            <a:xfrm>
              <a:off x="5150748" y="4291586"/>
              <a:ext cx="732458" cy="662245"/>
            </a:xfrm>
            <a:prstGeom prst="noSmoking">
              <a:avLst/>
            </a:prstGeom>
            <a:solidFill>
              <a:srgbClr val="FF0000">
                <a:alpha val="6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grpSp>
      <p:grpSp>
        <p:nvGrpSpPr>
          <p:cNvPr id="5" name="Group 127"/>
          <p:cNvGrpSpPr/>
          <p:nvPr/>
        </p:nvGrpSpPr>
        <p:grpSpPr>
          <a:xfrm>
            <a:off x="1941953" y="4035624"/>
            <a:ext cx="1203259" cy="399995"/>
            <a:chOff x="1941953" y="4035624"/>
            <a:chExt cx="1203259" cy="399995"/>
          </a:xfrm>
        </p:grpSpPr>
        <p:cxnSp>
          <p:nvCxnSpPr>
            <p:cNvPr id="95" name="Straight Arrow Connector 94"/>
            <p:cNvCxnSpPr>
              <a:stCxn id="94" idx="3"/>
            </p:cNvCxnSpPr>
            <p:nvPr/>
          </p:nvCxnSpPr>
          <p:spPr>
            <a:xfrm>
              <a:off x="1941953" y="4035624"/>
              <a:ext cx="1203259" cy="1588"/>
            </a:xfrm>
            <a:prstGeom prst="straightConnector1">
              <a:avLst/>
            </a:prstGeom>
            <a:ln>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2048123" y="4127842"/>
              <a:ext cx="1097089" cy="307777"/>
            </a:xfrm>
            <a:prstGeom prst="rect">
              <a:avLst/>
            </a:prstGeom>
            <a:noFill/>
          </p:spPr>
          <p:txBody>
            <a:bodyPr wrap="square" rtlCol="0">
              <a:spAutoFit/>
            </a:bodyPr>
            <a:lstStyle/>
            <a:p>
              <a:r>
                <a:rPr lang="en-US" sz="1400" b="1" dirty="0" smtClean="0">
                  <a:solidFill>
                    <a:srgbClr val="FF0000"/>
                  </a:solidFill>
                </a:rPr>
                <a:t>command</a:t>
              </a:r>
              <a:endParaRPr lang="en-US" sz="1400" b="1" dirty="0">
                <a:solidFill>
                  <a:srgbClr val="FF0000"/>
                </a:solidFill>
              </a:endParaRPr>
            </a:p>
          </p:txBody>
        </p:sp>
      </p:grpSp>
      <p:grpSp>
        <p:nvGrpSpPr>
          <p:cNvPr id="6" name="Group 126"/>
          <p:cNvGrpSpPr/>
          <p:nvPr/>
        </p:nvGrpSpPr>
        <p:grpSpPr>
          <a:xfrm>
            <a:off x="946500" y="3583018"/>
            <a:ext cx="1233005" cy="1268620"/>
            <a:chOff x="946500" y="3583018"/>
            <a:chExt cx="1233005" cy="1268620"/>
          </a:xfrm>
        </p:grpSpPr>
        <p:pic>
          <p:nvPicPr>
            <p:cNvPr id="94" name="Picture 93"/>
            <p:cNvPicPr>
              <a:picLocks noChangeAspect="1"/>
            </p:cNvPicPr>
            <p:nvPr/>
          </p:nvPicPr>
          <p:blipFill>
            <a:blip r:embed="rId4"/>
            <a:stretch>
              <a:fillRect/>
            </a:stretch>
          </p:blipFill>
          <p:spPr>
            <a:xfrm>
              <a:off x="1173838" y="3583018"/>
              <a:ext cx="768115" cy="905212"/>
            </a:xfrm>
            <a:prstGeom prst="rect">
              <a:avLst/>
            </a:prstGeom>
          </p:spPr>
        </p:pic>
        <p:sp>
          <p:nvSpPr>
            <p:cNvPr id="124" name="Rectangle 123"/>
            <p:cNvSpPr/>
            <p:nvPr/>
          </p:nvSpPr>
          <p:spPr>
            <a:xfrm>
              <a:off x="946500" y="4482306"/>
              <a:ext cx="1233005" cy="369332"/>
            </a:xfrm>
            <a:prstGeom prst="rect">
              <a:avLst/>
            </a:prstGeom>
          </p:spPr>
          <p:txBody>
            <a:bodyPr wrap="none">
              <a:spAutoFit/>
            </a:bodyPr>
            <a:lstStyle/>
            <a:p>
              <a:r>
                <a:rPr lang="en-US" b="1" i="1" dirty="0" err="1" smtClean="0"/>
                <a:t>botmaster</a:t>
              </a:r>
              <a:endParaRPr lang="en-US" b="1" i="1" dirty="0"/>
            </a:p>
          </p:txBody>
        </p:sp>
      </p:grpSp>
    </p:spTree>
    <p:extLst>
      <p:ext uri="{BB962C8B-B14F-4D97-AF65-F5344CB8AC3E}">
        <p14:creationId xmlns:p14="http://schemas.microsoft.com/office/powerpoint/2010/main" val="3326972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lrg_Router.png"/>
          <p:cNvPicPr>
            <a:picLocks noChangeAspect="1"/>
          </p:cNvPicPr>
          <p:nvPr/>
        </p:nvPicPr>
        <p:blipFill>
          <a:blip r:embed="rId2"/>
          <a:stretch>
            <a:fillRect/>
          </a:stretch>
        </p:blipFill>
        <p:spPr>
          <a:xfrm>
            <a:off x="3023449" y="3571758"/>
            <a:ext cx="1012825" cy="1012825"/>
          </a:xfrm>
          <a:prstGeom prst="rect">
            <a:avLst/>
          </a:prstGeom>
        </p:spPr>
      </p:pic>
      <p:sp>
        <p:nvSpPr>
          <p:cNvPr id="2" name="Title 1"/>
          <p:cNvSpPr>
            <a:spLocks noGrp="1"/>
          </p:cNvSpPr>
          <p:nvPr>
            <p:ph type="title"/>
          </p:nvPr>
        </p:nvSpPr>
        <p:spPr/>
        <p:txBody>
          <a:bodyPr/>
          <a:lstStyle/>
          <a:p>
            <a:r>
              <a:rPr lang="en-US" b="1" dirty="0" smtClean="0"/>
              <a:t>Goal</a:t>
            </a:r>
            <a:endParaRPr lang="en-US" b="1" dirty="0"/>
          </a:p>
        </p:txBody>
      </p:sp>
      <p:sp>
        <p:nvSpPr>
          <p:cNvPr id="3" name="Content Placeholder 2"/>
          <p:cNvSpPr>
            <a:spLocks noGrp="1"/>
          </p:cNvSpPr>
          <p:nvPr>
            <p:ph idx="1"/>
          </p:nvPr>
        </p:nvSpPr>
        <p:spPr>
          <a:xfrm>
            <a:off x="457200" y="1438570"/>
            <a:ext cx="8229600" cy="674255"/>
          </a:xfrm>
        </p:spPr>
        <p:txBody>
          <a:bodyPr>
            <a:normAutofit/>
          </a:bodyPr>
          <a:lstStyle/>
          <a:p>
            <a:r>
              <a:rPr lang="en-US" dirty="0" smtClean="0"/>
              <a:t>A network-based P2P-botnet detection system</a:t>
            </a:r>
            <a:endParaRPr lang="en-US" dirty="0"/>
          </a:p>
        </p:txBody>
      </p:sp>
      <p:sp>
        <p:nvSpPr>
          <p:cNvPr id="4" name="Slide Number Placeholder 3"/>
          <p:cNvSpPr>
            <a:spLocks noGrp="1"/>
          </p:cNvSpPr>
          <p:nvPr>
            <p:ph type="sldNum" sz="quarter" idx="12"/>
          </p:nvPr>
        </p:nvSpPr>
        <p:spPr/>
        <p:txBody>
          <a:bodyPr/>
          <a:lstStyle/>
          <a:p>
            <a:fld id="{A64B996E-896C-8B42-97AF-DF9D242D39BE}" type="slidenum">
              <a:rPr lang="en-US" smtClean="0"/>
              <a:pPr/>
              <a:t>84</a:t>
            </a:fld>
            <a:endParaRPr lang="en-US"/>
          </a:p>
        </p:txBody>
      </p:sp>
      <p:sp>
        <p:nvSpPr>
          <p:cNvPr id="5" name="Cloud 4"/>
          <p:cNvSpPr/>
          <p:nvPr/>
        </p:nvSpPr>
        <p:spPr>
          <a:xfrm>
            <a:off x="379553" y="2725174"/>
            <a:ext cx="2856459" cy="2570323"/>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rgbClr val="000000"/>
              </a:solidFill>
            </a:endParaRPr>
          </a:p>
        </p:txBody>
      </p:sp>
      <p:sp>
        <p:nvSpPr>
          <p:cNvPr id="6" name="Cloud 5"/>
          <p:cNvSpPr/>
          <p:nvPr/>
        </p:nvSpPr>
        <p:spPr>
          <a:xfrm>
            <a:off x="6226611" y="2871165"/>
            <a:ext cx="2525132" cy="2093366"/>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Internet</a:t>
            </a:r>
            <a:endParaRPr lang="en-US" b="1" dirty="0">
              <a:solidFill>
                <a:schemeClr val="tx1"/>
              </a:solidFill>
            </a:endParaRPr>
          </a:p>
        </p:txBody>
      </p:sp>
      <p:pic>
        <p:nvPicPr>
          <p:cNvPr id="8" name="Picture 7" descr="pc.jpeg"/>
          <p:cNvPicPr>
            <a:picLocks noChangeAspect="1"/>
          </p:cNvPicPr>
          <p:nvPr/>
        </p:nvPicPr>
        <p:blipFill>
          <a:blip r:embed="rId3"/>
          <a:stretch>
            <a:fillRect/>
          </a:stretch>
        </p:blipFill>
        <p:spPr>
          <a:xfrm>
            <a:off x="1319702" y="4584583"/>
            <a:ext cx="532836" cy="535458"/>
          </a:xfrm>
          <a:prstGeom prst="rect">
            <a:avLst/>
          </a:prstGeom>
        </p:spPr>
      </p:pic>
      <p:pic>
        <p:nvPicPr>
          <p:cNvPr id="14" name="Picture 13" descr="pc.jpeg"/>
          <p:cNvPicPr>
            <a:picLocks noChangeAspect="1"/>
          </p:cNvPicPr>
          <p:nvPr/>
        </p:nvPicPr>
        <p:blipFill>
          <a:blip r:embed="rId3"/>
          <a:stretch>
            <a:fillRect/>
          </a:stretch>
        </p:blipFill>
        <p:spPr>
          <a:xfrm>
            <a:off x="1323356" y="3069118"/>
            <a:ext cx="532836" cy="535458"/>
          </a:xfrm>
          <a:prstGeom prst="rect">
            <a:avLst/>
          </a:prstGeom>
        </p:spPr>
      </p:pic>
      <p:cxnSp>
        <p:nvCxnSpPr>
          <p:cNvPr id="16" name="Straight Connector 15"/>
          <p:cNvCxnSpPr/>
          <p:nvPr/>
        </p:nvCxnSpPr>
        <p:spPr>
          <a:xfrm flipV="1">
            <a:off x="1870790" y="4078171"/>
            <a:ext cx="1365222" cy="74453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endCxn id="5" idx="0"/>
          </p:cNvCxnSpPr>
          <p:nvPr/>
        </p:nvCxnSpPr>
        <p:spPr>
          <a:xfrm>
            <a:off x="1856192" y="3375620"/>
            <a:ext cx="1377440" cy="63471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7" name="Group 26"/>
          <p:cNvGrpSpPr/>
          <p:nvPr/>
        </p:nvGrpSpPr>
        <p:grpSpPr>
          <a:xfrm>
            <a:off x="3068659" y="2413246"/>
            <a:ext cx="2770560" cy="918577"/>
            <a:chOff x="3225103" y="3062484"/>
            <a:chExt cx="2770560" cy="918577"/>
          </a:xfrm>
        </p:grpSpPr>
        <p:pic>
          <p:nvPicPr>
            <p:cNvPr id="24" name="Picture 14" descr="MCBD18221_0000[1]"/>
            <p:cNvPicPr>
              <a:picLocks noChangeAspect="1" noChangeArrowheads="1"/>
            </p:cNvPicPr>
            <p:nvPr/>
          </p:nvPicPr>
          <p:blipFill>
            <a:blip r:embed="rId4"/>
            <a:srcRect/>
            <a:stretch>
              <a:fillRect/>
            </a:stretch>
          </p:blipFill>
          <p:spPr bwMode="auto">
            <a:xfrm>
              <a:off x="3937001" y="3504811"/>
              <a:ext cx="901700" cy="476250"/>
            </a:xfrm>
            <a:prstGeom prst="rect">
              <a:avLst/>
            </a:prstGeom>
            <a:noFill/>
          </p:spPr>
        </p:pic>
        <p:pic>
          <p:nvPicPr>
            <p:cNvPr id="25" name="Picture 9" descr="snipes"/>
            <p:cNvPicPr>
              <a:picLocks noChangeAspect="1" noChangeArrowheads="1"/>
            </p:cNvPicPr>
            <p:nvPr/>
          </p:nvPicPr>
          <p:blipFill>
            <a:blip r:embed="rId5"/>
            <a:srcRect/>
            <a:stretch>
              <a:fillRect/>
            </a:stretch>
          </p:blipFill>
          <p:spPr bwMode="auto">
            <a:xfrm>
              <a:off x="4400551" y="3673086"/>
              <a:ext cx="277812" cy="285750"/>
            </a:xfrm>
            <a:prstGeom prst="rect">
              <a:avLst/>
            </a:prstGeom>
            <a:noFill/>
            <a:ln w="9525">
              <a:noFill/>
              <a:miter lim="800000"/>
              <a:headEnd/>
              <a:tailEnd/>
            </a:ln>
            <a:effectLst/>
          </p:spPr>
        </p:pic>
        <p:sp>
          <p:nvSpPr>
            <p:cNvPr id="26" name="TextBox 25"/>
            <p:cNvSpPr txBox="1"/>
            <p:nvPr/>
          </p:nvSpPr>
          <p:spPr>
            <a:xfrm>
              <a:off x="3225103" y="3062484"/>
              <a:ext cx="2770560" cy="461665"/>
            </a:xfrm>
            <a:prstGeom prst="rect">
              <a:avLst/>
            </a:prstGeom>
            <a:noFill/>
          </p:spPr>
          <p:txBody>
            <a:bodyPr wrap="none" rtlCol="0">
              <a:spAutoFit/>
            </a:bodyPr>
            <a:lstStyle/>
            <a:p>
              <a:r>
                <a:rPr lang="en-US" sz="2400" b="1" dirty="0" smtClean="0"/>
                <a:t>P2P-botnet detector</a:t>
              </a:r>
              <a:endParaRPr lang="en-US" sz="2400" b="1" dirty="0"/>
            </a:p>
          </p:txBody>
        </p:sp>
      </p:grpSp>
      <p:sp>
        <p:nvSpPr>
          <p:cNvPr id="17" name="TextBox 16"/>
          <p:cNvSpPr txBox="1"/>
          <p:nvPr/>
        </p:nvSpPr>
        <p:spPr>
          <a:xfrm>
            <a:off x="720884" y="5353893"/>
            <a:ext cx="2088132" cy="369332"/>
          </a:xfrm>
          <a:prstGeom prst="rect">
            <a:avLst/>
          </a:prstGeom>
          <a:noFill/>
        </p:spPr>
        <p:txBody>
          <a:bodyPr wrap="none" rtlCol="0">
            <a:spAutoFit/>
          </a:bodyPr>
          <a:lstStyle/>
          <a:p>
            <a:pPr algn="ctr"/>
            <a:r>
              <a:rPr lang="en-US" b="1" dirty="0" smtClean="0">
                <a:solidFill>
                  <a:srgbClr val="000000"/>
                </a:solidFill>
              </a:rPr>
              <a:t>Monitored Network</a:t>
            </a:r>
            <a:endParaRPr lang="en-US" b="1" dirty="0">
              <a:solidFill>
                <a:srgbClr val="000000"/>
              </a:solidFill>
            </a:endParaRPr>
          </a:p>
        </p:txBody>
      </p:sp>
      <p:pic>
        <p:nvPicPr>
          <p:cNvPr id="19" name="Picture 18" descr="pc.jpeg"/>
          <p:cNvPicPr>
            <a:picLocks noChangeAspect="1"/>
          </p:cNvPicPr>
          <p:nvPr/>
        </p:nvPicPr>
        <p:blipFill>
          <a:blip r:embed="rId3"/>
          <a:stretch>
            <a:fillRect/>
          </a:stretch>
        </p:blipFill>
        <p:spPr>
          <a:xfrm>
            <a:off x="1337954" y="3784711"/>
            <a:ext cx="532836" cy="535458"/>
          </a:xfrm>
          <a:prstGeom prst="rect">
            <a:avLst/>
          </a:prstGeom>
        </p:spPr>
      </p:pic>
      <p:cxnSp>
        <p:nvCxnSpPr>
          <p:cNvPr id="20" name="Straight Connector 19"/>
          <p:cNvCxnSpPr>
            <a:stCxn id="19" idx="3"/>
          </p:cNvCxnSpPr>
          <p:nvPr/>
        </p:nvCxnSpPr>
        <p:spPr>
          <a:xfrm>
            <a:off x="1870790" y="4052440"/>
            <a:ext cx="1365222" cy="2573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154213" y="4334768"/>
            <a:ext cx="818441" cy="369332"/>
          </a:xfrm>
          <a:prstGeom prst="rect">
            <a:avLst/>
          </a:prstGeom>
          <a:noFill/>
        </p:spPr>
        <p:txBody>
          <a:bodyPr wrap="none" rtlCol="0">
            <a:spAutoFit/>
          </a:bodyPr>
          <a:lstStyle/>
          <a:p>
            <a:pPr algn="ctr"/>
            <a:r>
              <a:rPr lang="en-US" dirty="0" smtClean="0">
                <a:solidFill>
                  <a:srgbClr val="000000"/>
                </a:solidFill>
              </a:rPr>
              <a:t>Router</a:t>
            </a:r>
            <a:endParaRPr lang="en-US" dirty="0">
              <a:solidFill>
                <a:srgbClr val="000000"/>
              </a:solidFill>
            </a:endParaRPr>
          </a:p>
        </p:txBody>
      </p:sp>
      <p:sp>
        <p:nvSpPr>
          <p:cNvPr id="45" name="Left-Right Arrow 44"/>
          <p:cNvSpPr/>
          <p:nvPr/>
        </p:nvSpPr>
        <p:spPr>
          <a:xfrm>
            <a:off x="3897159" y="3882924"/>
            <a:ext cx="2329452" cy="309833"/>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TextBox 52"/>
          <p:cNvSpPr txBox="1"/>
          <p:nvPr/>
        </p:nvSpPr>
        <p:spPr>
          <a:xfrm>
            <a:off x="3994734" y="3415380"/>
            <a:ext cx="1696686" cy="369332"/>
          </a:xfrm>
          <a:prstGeom prst="rect">
            <a:avLst/>
          </a:prstGeom>
          <a:noFill/>
        </p:spPr>
        <p:txBody>
          <a:bodyPr wrap="none" rtlCol="0">
            <a:spAutoFit/>
          </a:bodyPr>
          <a:lstStyle/>
          <a:p>
            <a:pPr algn="ctr"/>
            <a:r>
              <a:rPr lang="en-US" dirty="0" smtClean="0">
                <a:solidFill>
                  <a:srgbClr val="000000"/>
                </a:solidFill>
              </a:rPr>
              <a:t>Mirroring Traffic</a:t>
            </a:r>
            <a:endParaRPr lang="en-US" dirty="0">
              <a:solidFill>
                <a:srgbClr val="000000"/>
              </a:solidFill>
            </a:endParaRPr>
          </a:p>
        </p:txBody>
      </p:sp>
      <p:sp>
        <p:nvSpPr>
          <p:cNvPr id="54" name="TextBox 53"/>
          <p:cNvSpPr txBox="1"/>
          <p:nvPr/>
        </p:nvSpPr>
        <p:spPr>
          <a:xfrm>
            <a:off x="4261517" y="4142256"/>
            <a:ext cx="1613956" cy="369332"/>
          </a:xfrm>
          <a:prstGeom prst="rect">
            <a:avLst/>
          </a:prstGeom>
          <a:noFill/>
        </p:spPr>
        <p:txBody>
          <a:bodyPr wrap="none" rtlCol="0">
            <a:spAutoFit/>
          </a:bodyPr>
          <a:lstStyle/>
          <a:p>
            <a:pPr algn="ctr"/>
            <a:r>
              <a:rPr lang="en-US" dirty="0" smtClean="0">
                <a:solidFill>
                  <a:srgbClr val="000000"/>
                </a:solidFill>
              </a:rPr>
              <a:t>Network Traffic</a:t>
            </a:r>
            <a:endParaRPr lang="en-US" dirty="0">
              <a:solidFill>
                <a:srgbClr val="000000"/>
              </a:solidFill>
            </a:endParaRPr>
          </a:p>
        </p:txBody>
      </p:sp>
      <p:sp>
        <p:nvSpPr>
          <p:cNvPr id="55" name="Notched Right Arrow 54"/>
          <p:cNvSpPr/>
          <p:nvPr/>
        </p:nvSpPr>
        <p:spPr>
          <a:xfrm rot="18547782">
            <a:off x="3692867" y="3489158"/>
            <a:ext cx="489691" cy="219017"/>
          </a:xfrm>
          <a:prstGeom prst="notchedRightArrow">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39534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Challenges</a:t>
            </a:r>
            <a:endParaRPr lang="en-US" b="1" dirty="0"/>
          </a:p>
        </p:txBody>
      </p:sp>
      <p:sp>
        <p:nvSpPr>
          <p:cNvPr id="3" name="Content Placeholder 2"/>
          <p:cNvSpPr>
            <a:spLocks noGrp="1"/>
          </p:cNvSpPr>
          <p:nvPr>
            <p:ph idx="1"/>
          </p:nvPr>
        </p:nvSpPr>
        <p:spPr>
          <a:xfrm>
            <a:off x="466749" y="1346543"/>
            <a:ext cx="8229600" cy="1689785"/>
          </a:xfrm>
        </p:spPr>
        <p:txBody>
          <a:bodyPr>
            <a:normAutofit fontScale="92500" lnSpcReduction="20000"/>
          </a:bodyPr>
          <a:lstStyle/>
          <a:p>
            <a:r>
              <a:rPr lang="en-US" sz="2800" dirty="0" smtClean="0"/>
              <a:t>Stealthy: malicious activities are hard to be observed</a:t>
            </a:r>
          </a:p>
          <a:p>
            <a:pPr lvl="0"/>
            <a:r>
              <a:rPr lang="en-US" sz="2800" dirty="0" smtClean="0"/>
              <a:t>Global view of network topology is unavailable</a:t>
            </a:r>
          </a:p>
          <a:p>
            <a:r>
              <a:rPr lang="en-US" sz="2800" dirty="0" smtClean="0"/>
              <a:t>Legitimate P2P applications run on </a:t>
            </a:r>
            <a:r>
              <a:rPr lang="en-US" sz="2800" dirty="0" err="1" smtClean="0"/>
              <a:t>bot</a:t>
            </a:r>
            <a:r>
              <a:rPr lang="en-US" sz="2800" dirty="0" smtClean="0"/>
              <a:t>-infected hosts</a:t>
            </a:r>
          </a:p>
          <a:p>
            <a:pPr lvl="0"/>
            <a:r>
              <a:rPr lang="en-US" sz="2800" dirty="0" smtClean="0"/>
              <a:t>Scalability</a:t>
            </a:r>
          </a:p>
          <a:p>
            <a:endParaRPr lang="en-US" sz="2800" dirty="0" smtClean="0"/>
          </a:p>
          <a:p>
            <a:pPr lvl="0"/>
            <a:endParaRPr lang="en-US" sz="2800" dirty="0" smtClean="0"/>
          </a:p>
          <a:p>
            <a:pPr lvl="0"/>
            <a:endParaRPr lang="en-US" sz="2800" dirty="0" smtClean="0"/>
          </a:p>
          <a:p>
            <a:endParaRPr lang="en-US" sz="2800" dirty="0" smtClean="0"/>
          </a:p>
        </p:txBody>
      </p:sp>
      <p:sp>
        <p:nvSpPr>
          <p:cNvPr id="59" name="Slide Number Placeholder 58"/>
          <p:cNvSpPr>
            <a:spLocks noGrp="1"/>
          </p:cNvSpPr>
          <p:nvPr>
            <p:ph type="sldNum" sz="quarter" idx="12"/>
          </p:nvPr>
        </p:nvSpPr>
        <p:spPr/>
        <p:txBody>
          <a:bodyPr/>
          <a:lstStyle/>
          <a:p>
            <a:fld id="{92A8EF56-05AC-594A-B4F8-D7320BBA0A9A}" type="slidenum">
              <a:rPr lang="en-US" smtClean="0"/>
              <a:pPr/>
              <a:t>85</a:t>
            </a:fld>
            <a:endParaRPr lang="en-US"/>
          </a:p>
        </p:txBody>
      </p:sp>
      <p:grpSp>
        <p:nvGrpSpPr>
          <p:cNvPr id="82" name="Group 81"/>
          <p:cNvGrpSpPr/>
          <p:nvPr/>
        </p:nvGrpSpPr>
        <p:grpSpPr>
          <a:xfrm>
            <a:off x="457200" y="3703991"/>
            <a:ext cx="7886223" cy="2348409"/>
            <a:chOff x="457200" y="3703991"/>
            <a:chExt cx="7886223" cy="2348409"/>
          </a:xfrm>
        </p:grpSpPr>
        <p:grpSp>
          <p:nvGrpSpPr>
            <p:cNvPr id="50" name="Group 49"/>
            <p:cNvGrpSpPr/>
            <p:nvPr/>
          </p:nvGrpSpPr>
          <p:grpSpPr>
            <a:xfrm>
              <a:off x="457200" y="3703991"/>
              <a:ext cx="7886223" cy="2348409"/>
              <a:chOff x="457200" y="3703991"/>
              <a:chExt cx="7886223" cy="2348409"/>
            </a:xfrm>
          </p:grpSpPr>
          <p:grpSp>
            <p:nvGrpSpPr>
              <p:cNvPr id="7" name="Group 75"/>
              <p:cNvGrpSpPr/>
              <p:nvPr/>
            </p:nvGrpSpPr>
            <p:grpSpPr>
              <a:xfrm>
                <a:off x="457200" y="3777734"/>
                <a:ext cx="2217206" cy="2274666"/>
                <a:chOff x="457200" y="3777734"/>
                <a:chExt cx="2217206" cy="2274666"/>
              </a:xfrm>
            </p:grpSpPr>
            <p:sp>
              <p:nvSpPr>
                <p:cNvPr id="12" name="TextBox 11"/>
                <p:cNvSpPr txBox="1"/>
                <p:nvPr/>
              </p:nvSpPr>
              <p:spPr>
                <a:xfrm>
                  <a:off x="1553987" y="4298801"/>
                  <a:ext cx="1120419" cy="338554"/>
                </a:xfrm>
                <a:prstGeom prst="rect">
                  <a:avLst/>
                </a:prstGeom>
                <a:noFill/>
              </p:spPr>
              <p:txBody>
                <a:bodyPr wrap="none" rtlCol="0">
                  <a:spAutoFit/>
                </a:bodyPr>
                <a:lstStyle/>
                <a:p>
                  <a:r>
                    <a:rPr lang="en-US" sz="1600" dirty="0" smtClean="0"/>
                    <a:t>Correlation</a:t>
                  </a:r>
                  <a:endParaRPr lang="en-US" sz="1600" dirty="0"/>
                </a:p>
              </p:txBody>
            </p:sp>
            <p:grpSp>
              <p:nvGrpSpPr>
                <p:cNvPr id="14" name="Group 74"/>
                <p:cNvGrpSpPr/>
                <p:nvPr/>
              </p:nvGrpSpPr>
              <p:grpSpPr>
                <a:xfrm>
                  <a:off x="457200" y="3777734"/>
                  <a:ext cx="2217206" cy="2274666"/>
                  <a:chOff x="457200" y="3777734"/>
                  <a:chExt cx="2217206" cy="2274666"/>
                </a:xfrm>
              </p:grpSpPr>
              <p:sp>
                <p:nvSpPr>
                  <p:cNvPr id="9" name="TextBox 8"/>
                  <p:cNvSpPr txBox="1"/>
                  <p:nvPr/>
                </p:nvSpPr>
                <p:spPr>
                  <a:xfrm>
                    <a:off x="565755" y="3821158"/>
                    <a:ext cx="798265" cy="369332"/>
                  </a:xfrm>
                  <a:prstGeom prst="rect">
                    <a:avLst/>
                  </a:prstGeom>
                  <a:noFill/>
                </p:spPr>
                <p:txBody>
                  <a:bodyPr wrap="none" rtlCol="0">
                    <a:spAutoFit/>
                  </a:bodyPr>
                  <a:lstStyle/>
                  <a:p>
                    <a:r>
                      <a:rPr lang="en-US" dirty="0" err="1" smtClean="0"/>
                      <a:t>Comm</a:t>
                    </a:r>
                    <a:endParaRPr lang="en-US" dirty="0"/>
                  </a:p>
                </p:txBody>
              </p:sp>
              <p:cxnSp>
                <p:nvCxnSpPr>
                  <p:cNvPr id="13" name="Curved Connector 15"/>
                  <p:cNvCxnSpPr/>
                  <p:nvPr/>
                </p:nvCxnSpPr>
                <p:spPr>
                  <a:xfrm rot="16200000" flipH="1">
                    <a:off x="1326144" y="4070958"/>
                    <a:ext cx="292430" cy="163255"/>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grpSp>
                <p:nvGrpSpPr>
                  <p:cNvPr id="16" name="Group 73"/>
                  <p:cNvGrpSpPr/>
                  <p:nvPr/>
                </p:nvGrpSpPr>
                <p:grpSpPr>
                  <a:xfrm>
                    <a:off x="457200" y="3777734"/>
                    <a:ext cx="2217206" cy="2274666"/>
                    <a:chOff x="457200" y="3777734"/>
                    <a:chExt cx="2217206" cy="2274666"/>
                  </a:xfrm>
                </p:grpSpPr>
                <p:sp>
                  <p:nvSpPr>
                    <p:cNvPr id="6" name="Rounded Rectangle 5"/>
                    <p:cNvSpPr/>
                    <p:nvPr/>
                  </p:nvSpPr>
                  <p:spPr>
                    <a:xfrm>
                      <a:off x="457200" y="3777734"/>
                      <a:ext cx="944387" cy="521067"/>
                    </a:xfrm>
                    <a:prstGeom prst="roundRect">
                      <a:avLst/>
                    </a:prstGeom>
                    <a:noFill/>
                    <a:ln w="34925" cap="flat" cmpd="sng" algn="ctr">
                      <a:solidFill>
                        <a:schemeClr val="accent1">
                          <a:shade val="95000"/>
                          <a:satMod val="105000"/>
                        </a:schemeClr>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ounded Rectangle 7"/>
                    <p:cNvSpPr/>
                    <p:nvPr/>
                  </p:nvSpPr>
                  <p:spPr>
                    <a:xfrm>
                      <a:off x="457200" y="4711735"/>
                      <a:ext cx="944387" cy="521067"/>
                    </a:xfrm>
                    <a:prstGeom prst="roundRect">
                      <a:avLst/>
                    </a:prstGeom>
                    <a:noFill/>
                    <a:ln w="34925" cap="flat" cmpd="sng" algn="ctr">
                      <a:solidFill>
                        <a:schemeClr val="accent1">
                          <a:shade val="95000"/>
                          <a:satMod val="105000"/>
                        </a:schemeClr>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p:cNvSpPr txBox="1"/>
                    <p:nvPr/>
                  </p:nvSpPr>
                  <p:spPr>
                    <a:xfrm>
                      <a:off x="524840" y="4776326"/>
                      <a:ext cx="865892" cy="369332"/>
                    </a:xfrm>
                    <a:prstGeom prst="rect">
                      <a:avLst/>
                    </a:prstGeom>
                    <a:noFill/>
                  </p:spPr>
                  <p:txBody>
                    <a:bodyPr wrap="none" rtlCol="0">
                      <a:spAutoFit/>
                    </a:bodyPr>
                    <a:lstStyle/>
                    <a:p>
                      <a:r>
                        <a:rPr lang="en-US" dirty="0" smtClean="0"/>
                        <a:t>Attacks</a:t>
                      </a:r>
                      <a:endParaRPr lang="en-US" dirty="0"/>
                    </a:p>
                  </p:txBody>
                </p:sp>
                <p:sp>
                  <p:nvSpPr>
                    <p:cNvPr id="11" name="Rounded Rectangle 10"/>
                    <p:cNvSpPr/>
                    <p:nvPr/>
                  </p:nvSpPr>
                  <p:spPr>
                    <a:xfrm>
                      <a:off x="1553987" y="4190490"/>
                      <a:ext cx="1120419" cy="521067"/>
                    </a:xfrm>
                    <a:prstGeom prst="roundRect">
                      <a:avLst/>
                    </a:prstGeom>
                    <a:noFill/>
                    <a:ln w="34925" cap="flat" cmpd="sng" algn="ctr">
                      <a:solidFill>
                        <a:schemeClr val="accent1">
                          <a:shade val="95000"/>
                          <a:satMod val="105000"/>
                        </a:schemeClr>
                      </a:solidFill>
                      <a:prstDash val="solid"/>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Curved Connector 15"/>
                    <p:cNvCxnSpPr>
                      <a:stCxn id="8" idx="3"/>
                    </p:cNvCxnSpPr>
                    <p:nvPr/>
                  </p:nvCxnSpPr>
                  <p:spPr>
                    <a:xfrm flipV="1">
                      <a:off x="1401587" y="4711557"/>
                      <a:ext cx="152400" cy="260712"/>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62626" y="5406069"/>
                      <a:ext cx="1826141" cy="646331"/>
                    </a:xfrm>
                    <a:prstGeom prst="rect">
                      <a:avLst/>
                    </a:prstGeom>
                    <a:noFill/>
                  </p:spPr>
                  <p:txBody>
                    <a:bodyPr wrap="none" rtlCol="0">
                      <a:spAutoFit/>
                    </a:bodyPr>
                    <a:lstStyle/>
                    <a:p>
                      <a:r>
                        <a:rPr lang="en-US" dirty="0" err="1" smtClean="0"/>
                        <a:t>BotMiner</a:t>
                      </a:r>
                      <a:r>
                        <a:rPr lang="en-US" dirty="0" smtClean="0"/>
                        <a:t>: </a:t>
                      </a:r>
                      <a:r>
                        <a:rPr lang="en-US" dirty="0" err="1" smtClean="0"/>
                        <a:t>Usenix</a:t>
                      </a:r>
                      <a:r>
                        <a:rPr lang="en-US" dirty="0" smtClean="0"/>
                        <a:t> </a:t>
                      </a:r>
                    </a:p>
                    <a:p>
                      <a:r>
                        <a:rPr lang="en-US" dirty="0" smtClean="0"/>
                        <a:t>Security 2008</a:t>
                      </a:r>
                      <a:endParaRPr lang="en-US" dirty="0"/>
                    </a:p>
                  </p:txBody>
                </p:sp>
              </p:grpSp>
            </p:grpSp>
          </p:grpSp>
          <p:grpSp>
            <p:nvGrpSpPr>
              <p:cNvPr id="17" name="Group 76"/>
              <p:cNvGrpSpPr/>
              <p:nvPr/>
            </p:nvGrpSpPr>
            <p:grpSpPr>
              <a:xfrm>
                <a:off x="3748248" y="3703991"/>
                <a:ext cx="1503300" cy="2315841"/>
                <a:chOff x="3748248" y="3703991"/>
                <a:chExt cx="1503300" cy="2315841"/>
              </a:xfrm>
            </p:grpSpPr>
            <p:grpSp>
              <p:nvGrpSpPr>
                <p:cNvPr id="27" name="Group 41"/>
                <p:cNvGrpSpPr/>
                <p:nvPr/>
              </p:nvGrpSpPr>
              <p:grpSpPr>
                <a:xfrm>
                  <a:off x="3802402" y="3703991"/>
                  <a:ext cx="1449146" cy="1494065"/>
                  <a:chOff x="3598869" y="3592522"/>
                  <a:chExt cx="1449146" cy="1494065"/>
                </a:xfrm>
              </p:grpSpPr>
              <p:sp>
                <p:nvSpPr>
                  <p:cNvPr id="19" name="Oval 18"/>
                  <p:cNvSpPr/>
                  <p:nvPr/>
                </p:nvSpPr>
                <p:spPr>
                  <a:xfrm>
                    <a:off x="3696134" y="3706840"/>
                    <a:ext cx="249665" cy="228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p:cNvSpPr/>
                  <p:nvPr/>
                </p:nvSpPr>
                <p:spPr>
                  <a:xfrm>
                    <a:off x="4673517" y="3935476"/>
                    <a:ext cx="249665" cy="228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p:cNvSpPr/>
                  <p:nvPr/>
                </p:nvSpPr>
                <p:spPr>
                  <a:xfrm>
                    <a:off x="4798350" y="4408719"/>
                    <a:ext cx="249665" cy="228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p:cNvSpPr/>
                  <p:nvPr/>
                </p:nvSpPr>
                <p:spPr>
                  <a:xfrm>
                    <a:off x="3848534" y="4711557"/>
                    <a:ext cx="249665" cy="228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Oval 22"/>
                  <p:cNvSpPr/>
                  <p:nvPr/>
                </p:nvSpPr>
                <p:spPr>
                  <a:xfrm>
                    <a:off x="4548685" y="4857951"/>
                    <a:ext cx="249665" cy="228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a:off x="3598869" y="4190490"/>
                    <a:ext cx="249665" cy="228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p:cNvSpPr/>
                  <p:nvPr/>
                </p:nvSpPr>
                <p:spPr>
                  <a:xfrm>
                    <a:off x="4223031" y="3592522"/>
                    <a:ext cx="249665" cy="228636"/>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Curved Connector 15"/>
                  <p:cNvCxnSpPr>
                    <a:stCxn id="19" idx="6"/>
                  </p:cNvCxnSpPr>
                  <p:nvPr/>
                </p:nvCxnSpPr>
                <p:spPr>
                  <a:xfrm>
                    <a:off x="3945799" y="3821158"/>
                    <a:ext cx="429631" cy="1"/>
                  </a:xfrm>
                  <a:prstGeom prst="straightConnector1">
                    <a:avLst/>
                  </a:prstGeom>
                  <a:ln>
                    <a:solidFill>
                      <a:srgbClr val="000000"/>
                    </a:solidFill>
                    <a:tailEnd type="none"/>
                  </a:ln>
                </p:spPr>
                <p:style>
                  <a:lnRef idx="2">
                    <a:schemeClr val="accent1"/>
                  </a:lnRef>
                  <a:fillRef idx="0">
                    <a:schemeClr val="accent1"/>
                  </a:fillRef>
                  <a:effectRef idx="1">
                    <a:schemeClr val="accent1"/>
                  </a:effectRef>
                  <a:fontRef idx="minor">
                    <a:schemeClr val="tx1"/>
                  </a:fontRef>
                </p:style>
              </p:cxnSp>
              <p:cxnSp>
                <p:nvCxnSpPr>
                  <p:cNvPr id="28" name="Curved Connector 15"/>
                  <p:cNvCxnSpPr>
                    <a:stCxn id="23" idx="0"/>
                    <a:endCxn id="21" idx="2"/>
                  </p:cNvCxnSpPr>
                  <p:nvPr/>
                </p:nvCxnSpPr>
                <p:spPr>
                  <a:xfrm rot="5400000" flipH="1" flipV="1">
                    <a:off x="4568477" y="4628078"/>
                    <a:ext cx="334914" cy="124832"/>
                  </a:xfrm>
                  <a:prstGeom prst="straightConnector1">
                    <a:avLst/>
                  </a:prstGeom>
                  <a:ln>
                    <a:solidFill>
                      <a:srgbClr val="000000"/>
                    </a:solidFill>
                    <a:tailEnd type="none"/>
                  </a:ln>
                </p:spPr>
                <p:style>
                  <a:lnRef idx="2">
                    <a:schemeClr val="accent1"/>
                  </a:lnRef>
                  <a:fillRef idx="0">
                    <a:schemeClr val="accent1"/>
                  </a:fillRef>
                  <a:effectRef idx="1">
                    <a:schemeClr val="accent1"/>
                  </a:effectRef>
                  <a:fontRef idx="minor">
                    <a:schemeClr val="tx1"/>
                  </a:fontRef>
                </p:style>
              </p:cxnSp>
              <p:cxnSp>
                <p:nvCxnSpPr>
                  <p:cNvPr id="31" name="Curved Connector 15"/>
                  <p:cNvCxnSpPr>
                    <a:stCxn id="22" idx="6"/>
                    <a:endCxn id="20" idx="2"/>
                  </p:cNvCxnSpPr>
                  <p:nvPr/>
                </p:nvCxnSpPr>
                <p:spPr>
                  <a:xfrm flipV="1">
                    <a:off x="4098199" y="4049794"/>
                    <a:ext cx="575318" cy="776081"/>
                  </a:xfrm>
                  <a:prstGeom prst="straightConnector1">
                    <a:avLst/>
                  </a:prstGeom>
                  <a:ln>
                    <a:solidFill>
                      <a:srgbClr val="000000"/>
                    </a:solidFill>
                    <a:tailEnd type="none"/>
                  </a:ln>
                </p:spPr>
                <p:style>
                  <a:lnRef idx="2">
                    <a:schemeClr val="accent1"/>
                  </a:lnRef>
                  <a:fillRef idx="0">
                    <a:schemeClr val="accent1"/>
                  </a:fillRef>
                  <a:effectRef idx="1">
                    <a:schemeClr val="accent1"/>
                  </a:effectRef>
                  <a:fontRef idx="minor">
                    <a:schemeClr val="tx1"/>
                  </a:fontRef>
                </p:style>
              </p:cxnSp>
              <p:cxnSp>
                <p:nvCxnSpPr>
                  <p:cNvPr id="34" name="Curved Connector 15"/>
                  <p:cNvCxnSpPr>
                    <a:stCxn id="21" idx="2"/>
                    <a:endCxn id="24" idx="6"/>
                  </p:cNvCxnSpPr>
                  <p:nvPr/>
                </p:nvCxnSpPr>
                <p:spPr>
                  <a:xfrm rot="10800000">
                    <a:off x="3848534" y="4304809"/>
                    <a:ext cx="949816" cy="218229"/>
                  </a:xfrm>
                  <a:prstGeom prst="straightConnector1">
                    <a:avLst/>
                  </a:prstGeom>
                  <a:ln>
                    <a:solidFill>
                      <a:srgbClr val="000000"/>
                    </a:solidFill>
                    <a:tailEnd type="none"/>
                  </a:ln>
                </p:spPr>
                <p:style>
                  <a:lnRef idx="2">
                    <a:schemeClr val="accent1"/>
                  </a:lnRef>
                  <a:fillRef idx="0">
                    <a:schemeClr val="accent1"/>
                  </a:fillRef>
                  <a:effectRef idx="1">
                    <a:schemeClr val="accent1"/>
                  </a:effectRef>
                  <a:fontRef idx="minor">
                    <a:schemeClr val="tx1"/>
                  </a:fontRef>
                </p:style>
              </p:cxnSp>
              <p:cxnSp>
                <p:nvCxnSpPr>
                  <p:cNvPr id="37" name="Curved Connector 15"/>
                  <p:cNvCxnSpPr>
                    <a:stCxn id="24" idx="7"/>
                    <a:endCxn id="19" idx="5"/>
                  </p:cNvCxnSpPr>
                  <p:nvPr/>
                </p:nvCxnSpPr>
                <p:spPr>
                  <a:xfrm rot="5400000" flipH="1" flipV="1">
                    <a:off x="3699613" y="4014351"/>
                    <a:ext cx="321980" cy="97265"/>
                  </a:xfrm>
                  <a:prstGeom prst="straightConnector1">
                    <a:avLst/>
                  </a:prstGeom>
                  <a:ln>
                    <a:solidFill>
                      <a:srgbClr val="000000"/>
                    </a:solidFill>
                    <a:tailEnd type="none"/>
                  </a:ln>
                </p:spPr>
                <p:style>
                  <a:lnRef idx="2">
                    <a:schemeClr val="accent1"/>
                  </a:lnRef>
                  <a:fillRef idx="0">
                    <a:schemeClr val="accent1"/>
                  </a:fillRef>
                  <a:effectRef idx="1">
                    <a:schemeClr val="accent1"/>
                  </a:effectRef>
                  <a:fontRef idx="minor">
                    <a:schemeClr val="tx1"/>
                  </a:fontRef>
                </p:style>
              </p:cxnSp>
            </p:grpSp>
            <p:sp>
              <p:nvSpPr>
                <p:cNvPr id="43" name="TextBox 42"/>
                <p:cNvSpPr txBox="1"/>
                <p:nvPr/>
              </p:nvSpPr>
              <p:spPr>
                <a:xfrm>
                  <a:off x="3748248" y="5373501"/>
                  <a:ext cx="1459880" cy="646331"/>
                </a:xfrm>
                <a:prstGeom prst="rect">
                  <a:avLst/>
                </a:prstGeom>
                <a:noFill/>
              </p:spPr>
              <p:txBody>
                <a:bodyPr wrap="none" rtlCol="0">
                  <a:spAutoFit/>
                </a:bodyPr>
                <a:lstStyle/>
                <a:p>
                  <a:r>
                    <a:rPr lang="en-US" dirty="0" err="1" smtClean="0"/>
                    <a:t>BotGrep</a:t>
                  </a:r>
                  <a:r>
                    <a:rPr lang="en-US" dirty="0" smtClean="0"/>
                    <a:t>:</a:t>
                  </a:r>
                </a:p>
                <a:p>
                  <a:r>
                    <a:rPr lang="en-US" dirty="0" smtClean="0"/>
                    <a:t>Security 2010</a:t>
                  </a:r>
                  <a:endParaRPr lang="en-US" dirty="0"/>
                </a:p>
              </p:txBody>
            </p:sp>
          </p:grpSp>
          <p:grpSp>
            <p:nvGrpSpPr>
              <p:cNvPr id="29" name="Group 55"/>
              <p:cNvGrpSpPr/>
              <p:nvPr/>
            </p:nvGrpSpPr>
            <p:grpSpPr>
              <a:xfrm>
                <a:off x="6784941" y="3738737"/>
                <a:ext cx="1394460" cy="1364099"/>
                <a:chOff x="7314480" y="735588"/>
                <a:chExt cx="1394460" cy="1364099"/>
              </a:xfrm>
            </p:grpSpPr>
            <p:grpSp>
              <p:nvGrpSpPr>
                <p:cNvPr id="30" name="Group 54"/>
                <p:cNvGrpSpPr/>
                <p:nvPr/>
              </p:nvGrpSpPr>
              <p:grpSpPr>
                <a:xfrm>
                  <a:off x="7314480" y="735588"/>
                  <a:ext cx="1109922" cy="1364099"/>
                  <a:chOff x="7738458" y="3743980"/>
                  <a:chExt cx="1109922" cy="1364099"/>
                </a:xfrm>
              </p:grpSpPr>
              <p:pic>
                <p:nvPicPr>
                  <p:cNvPr id="51" name="Picture 50" descr="emule_logo.jpg"/>
                  <p:cNvPicPr>
                    <a:picLocks noChangeAspect="1"/>
                  </p:cNvPicPr>
                  <p:nvPr/>
                </p:nvPicPr>
                <p:blipFill>
                  <a:blip r:embed="rId3"/>
                  <a:stretch>
                    <a:fillRect/>
                  </a:stretch>
                </p:blipFill>
                <p:spPr>
                  <a:xfrm>
                    <a:off x="7738458" y="3743980"/>
                    <a:ext cx="740219" cy="925274"/>
                  </a:xfrm>
                  <a:prstGeom prst="rect">
                    <a:avLst/>
                  </a:prstGeom>
                </p:spPr>
              </p:pic>
              <p:pic>
                <p:nvPicPr>
                  <p:cNvPr id="48" name="Picture 47" descr="pc.jpeg"/>
                  <p:cNvPicPr>
                    <a:picLocks noChangeAspect="1"/>
                  </p:cNvPicPr>
                  <p:nvPr/>
                </p:nvPicPr>
                <p:blipFill>
                  <a:blip r:embed="rId4"/>
                  <a:stretch>
                    <a:fillRect/>
                  </a:stretch>
                </p:blipFill>
                <p:spPr>
                  <a:xfrm>
                    <a:off x="8108568" y="4364626"/>
                    <a:ext cx="739812" cy="743453"/>
                  </a:xfrm>
                  <a:prstGeom prst="rect">
                    <a:avLst/>
                  </a:prstGeom>
                </p:spPr>
              </p:pic>
            </p:grpSp>
            <p:pic>
              <p:nvPicPr>
                <p:cNvPr id="49" name="Picture 48"/>
                <p:cNvPicPr>
                  <a:picLocks noChangeAspect="1"/>
                </p:cNvPicPr>
                <p:nvPr/>
              </p:nvPicPr>
              <p:blipFill>
                <a:blip r:embed="rId5"/>
                <a:stretch>
                  <a:fillRect/>
                </a:stretch>
              </p:blipFill>
              <p:spPr>
                <a:xfrm>
                  <a:off x="7989342" y="1026101"/>
                  <a:ext cx="719598" cy="634761"/>
                </a:xfrm>
                <a:prstGeom prst="rect">
                  <a:avLst/>
                </a:prstGeom>
                <a:effectLst>
                  <a:glow rad="101600">
                    <a:schemeClr val="bg1">
                      <a:alpha val="9000"/>
                    </a:schemeClr>
                  </a:glow>
                </a:effectLst>
              </p:spPr>
            </p:pic>
          </p:grpSp>
          <p:sp>
            <p:nvSpPr>
              <p:cNvPr id="58" name="TextBox 57"/>
              <p:cNvSpPr txBox="1"/>
              <p:nvPr/>
            </p:nvSpPr>
            <p:spPr>
              <a:xfrm>
                <a:off x="6484771" y="5373447"/>
                <a:ext cx="1858652" cy="646331"/>
              </a:xfrm>
              <a:prstGeom prst="rect">
                <a:avLst/>
              </a:prstGeom>
              <a:noFill/>
            </p:spPr>
            <p:txBody>
              <a:bodyPr wrap="none" rtlCol="0">
                <a:spAutoFit/>
              </a:bodyPr>
              <a:lstStyle/>
              <a:p>
                <a:r>
                  <a:rPr lang="en-US" dirty="0" smtClean="0"/>
                  <a:t>P2P </a:t>
                </a:r>
                <a:r>
                  <a:rPr lang="en-US" dirty="0" err="1" smtClean="0"/>
                  <a:t>bot</a:t>
                </a:r>
                <a:r>
                  <a:rPr lang="en-US" dirty="0" smtClean="0"/>
                  <a:t> detection</a:t>
                </a:r>
              </a:p>
              <a:p>
                <a:r>
                  <a:rPr lang="en-US" dirty="0" smtClean="0"/>
                  <a:t>ICDCS 2010</a:t>
                </a:r>
                <a:endParaRPr lang="en-US" dirty="0"/>
              </a:p>
            </p:txBody>
          </p:sp>
          <p:grpSp>
            <p:nvGrpSpPr>
              <p:cNvPr id="33" name="Group 68"/>
              <p:cNvGrpSpPr/>
              <p:nvPr/>
            </p:nvGrpSpPr>
            <p:grpSpPr>
              <a:xfrm>
                <a:off x="479340" y="4558433"/>
                <a:ext cx="888823" cy="815068"/>
                <a:chOff x="1390732" y="602571"/>
                <a:chExt cx="888823" cy="815068"/>
              </a:xfrm>
            </p:grpSpPr>
            <p:cxnSp>
              <p:nvCxnSpPr>
                <p:cNvPr id="60" name="Curved Connector 15"/>
                <p:cNvCxnSpPr/>
                <p:nvPr/>
              </p:nvCxnSpPr>
              <p:spPr>
                <a:xfrm>
                  <a:off x="1390732" y="602571"/>
                  <a:ext cx="888823" cy="815068"/>
                </a:xfrm>
                <a:prstGeom prst="straightConnector1">
                  <a:avLst/>
                </a:prstGeom>
                <a:ln w="76200" cap="flat" cmpd="sng" algn="ctr">
                  <a:solidFill>
                    <a:srgbClr val="FF000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6" name="Curved Connector 15"/>
                <p:cNvCxnSpPr/>
                <p:nvPr/>
              </p:nvCxnSpPr>
              <p:spPr>
                <a:xfrm flipV="1">
                  <a:off x="1401587" y="602571"/>
                  <a:ext cx="877968" cy="815068"/>
                </a:xfrm>
                <a:prstGeom prst="straightConnector1">
                  <a:avLst/>
                </a:prstGeom>
                <a:ln w="76200" cap="flat" cmpd="sng" algn="ctr">
                  <a:solidFill>
                    <a:srgbClr val="FF000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35" name="Group 69"/>
              <p:cNvGrpSpPr/>
              <p:nvPr/>
            </p:nvGrpSpPr>
            <p:grpSpPr>
              <a:xfrm>
                <a:off x="4015503" y="3933756"/>
                <a:ext cx="888823" cy="815068"/>
                <a:chOff x="1390732" y="602571"/>
                <a:chExt cx="888823" cy="815068"/>
              </a:xfrm>
            </p:grpSpPr>
            <p:cxnSp>
              <p:nvCxnSpPr>
                <p:cNvPr id="71" name="Curved Connector 15"/>
                <p:cNvCxnSpPr/>
                <p:nvPr/>
              </p:nvCxnSpPr>
              <p:spPr>
                <a:xfrm>
                  <a:off x="1390732" y="602571"/>
                  <a:ext cx="888823" cy="815068"/>
                </a:xfrm>
                <a:prstGeom prst="straightConnector1">
                  <a:avLst/>
                </a:prstGeom>
                <a:ln w="76200" cap="flat" cmpd="sng" algn="ctr">
                  <a:solidFill>
                    <a:srgbClr val="FF000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2" name="Curved Connector 15"/>
                <p:cNvCxnSpPr/>
                <p:nvPr/>
              </p:nvCxnSpPr>
              <p:spPr>
                <a:xfrm flipV="1">
                  <a:off x="1401587" y="602571"/>
                  <a:ext cx="877968" cy="815068"/>
                </a:xfrm>
                <a:prstGeom prst="straightConnector1">
                  <a:avLst/>
                </a:prstGeom>
                <a:ln w="76200" cap="flat" cmpd="sng" algn="ctr">
                  <a:solidFill>
                    <a:srgbClr val="FF000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cxnSp>
          <p:nvCxnSpPr>
            <p:cNvPr id="80" name="Curved Connector 15"/>
            <p:cNvCxnSpPr/>
            <p:nvPr/>
          </p:nvCxnSpPr>
          <p:spPr>
            <a:xfrm>
              <a:off x="7075321" y="3927909"/>
              <a:ext cx="888823" cy="815068"/>
            </a:xfrm>
            <a:prstGeom prst="straightConnector1">
              <a:avLst/>
            </a:prstGeom>
            <a:ln w="76200" cap="flat" cmpd="sng" algn="ctr">
              <a:solidFill>
                <a:srgbClr val="FF000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1" name="Curved Connector 15"/>
            <p:cNvCxnSpPr/>
            <p:nvPr/>
          </p:nvCxnSpPr>
          <p:spPr>
            <a:xfrm flipV="1">
              <a:off x="7086176" y="3927909"/>
              <a:ext cx="877968" cy="815068"/>
            </a:xfrm>
            <a:prstGeom prst="straightConnector1">
              <a:avLst/>
            </a:prstGeom>
            <a:ln w="76200" cap="flat" cmpd="sng" algn="ctr">
              <a:solidFill>
                <a:srgbClr val="FF0000"/>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52" name="Group 103"/>
          <p:cNvGrpSpPr/>
          <p:nvPr/>
        </p:nvGrpSpPr>
        <p:grpSpPr>
          <a:xfrm>
            <a:off x="662626" y="3652432"/>
            <a:ext cx="7890961" cy="1964148"/>
            <a:chOff x="457200" y="2960153"/>
            <a:chExt cx="7890961" cy="1964148"/>
          </a:xfrm>
        </p:grpSpPr>
        <p:sp>
          <p:nvSpPr>
            <p:cNvPr id="53" name="Cloud 52"/>
            <p:cNvSpPr/>
            <p:nvPr/>
          </p:nvSpPr>
          <p:spPr>
            <a:xfrm>
              <a:off x="457200" y="2978248"/>
              <a:ext cx="2372779" cy="1475309"/>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sp>
          <p:nvSpPr>
            <p:cNvPr id="54" name="Rectangle 53"/>
            <p:cNvSpPr/>
            <p:nvPr/>
          </p:nvSpPr>
          <p:spPr>
            <a:xfrm>
              <a:off x="597628" y="4554969"/>
              <a:ext cx="2188557" cy="369332"/>
            </a:xfrm>
            <a:prstGeom prst="rect">
              <a:avLst/>
            </a:prstGeom>
          </p:spPr>
          <p:txBody>
            <a:bodyPr wrap="none">
              <a:spAutoFit/>
            </a:bodyPr>
            <a:lstStyle/>
            <a:p>
              <a:pPr algn="ctr"/>
              <a:r>
                <a:rPr lang="en-US" b="1" dirty="0" smtClean="0"/>
                <a:t>Monitored Networks</a:t>
              </a:r>
              <a:endParaRPr lang="en-US" b="1" dirty="0"/>
            </a:p>
          </p:txBody>
        </p:sp>
        <p:pic>
          <p:nvPicPr>
            <p:cNvPr id="55" name="Picture 54"/>
            <p:cNvPicPr>
              <a:picLocks noChangeAspect="1"/>
            </p:cNvPicPr>
            <p:nvPr/>
          </p:nvPicPr>
          <p:blipFill>
            <a:blip r:embed="rId5"/>
            <a:stretch>
              <a:fillRect/>
            </a:stretch>
          </p:blipFill>
          <p:spPr>
            <a:xfrm>
              <a:off x="1309130" y="3463751"/>
              <a:ext cx="510016" cy="478630"/>
            </a:xfrm>
            <a:prstGeom prst="rect">
              <a:avLst/>
            </a:prstGeom>
            <a:effectLst>
              <a:glow rad="101600">
                <a:schemeClr val="bg1">
                  <a:alpha val="9000"/>
                </a:schemeClr>
              </a:glow>
            </a:effectLst>
          </p:spPr>
        </p:pic>
        <p:cxnSp>
          <p:nvCxnSpPr>
            <p:cNvPr id="56" name="Curved Connector 55"/>
            <p:cNvCxnSpPr/>
            <p:nvPr/>
          </p:nvCxnSpPr>
          <p:spPr>
            <a:xfrm>
              <a:off x="2023518" y="3471730"/>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57" name="Curved Connector 56"/>
            <p:cNvCxnSpPr/>
            <p:nvPr/>
          </p:nvCxnSpPr>
          <p:spPr>
            <a:xfrm>
              <a:off x="2023518" y="3620763"/>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61" name="Curved Connector 60"/>
            <p:cNvCxnSpPr/>
            <p:nvPr/>
          </p:nvCxnSpPr>
          <p:spPr>
            <a:xfrm>
              <a:off x="2032773" y="3774019"/>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62" name="Curved Connector 61"/>
            <p:cNvCxnSpPr/>
            <p:nvPr/>
          </p:nvCxnSpPr>
          <p:spPr>
            <a:xfrm>
              <a:off x="2029938" y="3940980"/>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043475" y="2978248"/>
              <a:ext cx="2031325" cy="369332"/>
            </a:xfrm>
            <a:prstGeom prst="rect">
              <a:avLst/>
            </a:prstGeom>
          </p:spPr>
          <p:txBody>
            <a:bodyPr wrap="none">
              <a:spAutoFit/>
            </a:bodyPr>
            <a:lstStyle/>
            <a:p>
              <a:pPr algn="ctr"/>
              <a:r>
                <a:rPr lang="en-US" b="1" dirty="0" smtClean="0">
                  <a:solidFill>
                    <a:srgbClr val="FF0000"/>
                  </a:solidFill>
                </a:rPr>
                <a:t>Massive Spamming</a:t>
              </a:r>
              <a:endParaRPr lang="en-US" b="1" dirty="0">
                <a:solidFill>
                  <a:srgbClr val="FF0000"/>
                </a:solidFill>
              </a:endParaRPr>
            </a:p>
          </p:txBody>
        </p:sp>
        <p:sp>
          <p:nvSpPr>
            <p:cNvPr id="64" name="Cloud 63"/>
            <p:cNvSpPr/>
            <p:nvPr/>
          </p:nvSpPr>
          <p:spPr>
            <a:xfrm>
              <a:off x="3313810" y="2978248"/>
              <a:ext cx="2372779" cy="1475309"/>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solidFill>
                  <a:schemeClr val="tx1"/>
                </a:solidFill>
              </a:endParaRPr>
            </a:p>
          </p:txBody>
        </p:sp>
        <p:pic>
          <p:nvPicPr>
            <p:cNvPr id="65" name="Picture 64"/>
            <p:cNvPicPr>
              <a:picLocks noChangeAspect="1"/>
            </p:cNvPicPr>
            <p:nvPr/>
          </p:nvPicPr>
          <p:blipFill>
            <a:blip r:embed="rId5"/>
            <a:stretch>
              <a:fillRect/>
            </a:stretch>
          </p:blipFill>
          <p:spPr>
            <a:xfrm>
              <a:off x="4233502" y="3462350"/>
              <a:ext cx="510016" cy="478630"/>
            </a:xfrm>
            <a:prstGeom prst="rect">
              <a:avLst/>
            </a:prstGeom>
            <a:effectLst>
              <a:glow rad="101600">
                <a:schemeClr val="bg1">
                  <a:alpha val="9000"/>
                </a:schemeClr>
              </a:glow>
            </a:effectLst>
          </p:spPr>
        </p:pic>
        <p:pic>
          <p:nvPicPr>
            <p:cNvPr id="67" name="Picture 66" descr="gmail-hotmail.jpg"/>
            <p:cNvPicPr>
              <a:picLocks noChangeAspect="1"/>
            </p:cNvPicPr>
            <p:nvPr/>
          </p:nvPicPr>
          <p:blipFill>
            <a:blip r:embed="rId6"/>
            <a:stretch>
              <a:fillRect/>
            </a:stretch>
          </p:blipFill>
          <p:spPr>
            <a:xfrm>
              <a:off x="5982951" y="3300287"/>
              <a:ext cx="1217897" cy="812856"/>
            </a:xfrm>
            <a:prstGeom prst="rect">
              <a:avLst/>
            </a:prstGeom>
          </p:spPr>
        </p:pic>
        <p:cxnSp>
          <p:nvCxnSpPr>
            <p:cNvPr id="68" name="Curved Connector 19"/>
            <p:cNvCxnSpPr/>
            <p:nvPr/>
          </p:nvCxnSpPr>
          <p:spPr>
            <a:xfrm flipV="1">
              <a:off x="5007211" y="3685025"/>
              <a:ext cx="975740" cy="1"/>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69" name="Curved Connector 68"/>
            <p:cNvCxnSpPr/>
            <p:nvPr/>
          </p:nvCxnSpPr>
          <p:spPr>
            <a:xfrm>
              <a:off x="7377477" y="3455768"/>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0" name="Curved Connector 69"/>
            <p:cNvCxnSpPr/>
            <p:nvPr/>
          </p:nvCxnSpPr>
          <p:spPr>
            <a:xfrm>
              <a:off x="7377477" y="3604801"/>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3" name="Curved Connector 72"/>
            <p:cNvCxnSpPr/>
            <p:nvPr/>
          </p:nvCxnSpPr>
          <p:spPr>
            <a:xfrm>
              <a:off x="7386732" y="3758057"/>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74" name="Curved Connector 73"/>
            <p:cNvCxnSpPr/>
            <p:nvPr/>
          </p:nvCxnSpPr>
          <p:spPr>
            <a:xfrm>
              <a:off x="7383897" y="3925018"/>
              <a:ext cx="420940" cy="1401"/>
            </a:xfrm>
            <a:prstGeom prst="curvedConnector3">
              <a:avLst>
                <a:gd name="adj1" fmla="val 50000"/>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7150397" y="2960153"/>
              <a:ext cx="1197764" cy="369332"/>
            </a:xfrm>
            <a:prstGeom prst="rect">
              <a:avLst/>
            </a:prstGeom>
          </p:spPr>
          <p:txBody>
            <a:bodyPr wrap="none">
              <a:spAutoFit/>
            </a:bodyPr>
            <a:lstStyle/>
            <a:p>
              <a:pPr algn="ctr"/>
              <a:r>
                <a:rPr lang="en-US" b="1" dirty="0" smtClean="0">
                  <a:solidFill>
                    <a:srgbClr val="FF0000"/>
                  </a:solidFill>
                </a:rPr>
                <a:t>Spamming</a:t>
              </a:r>
              <a:endParaRPr lang="en-US" b="1" dirty="0">
                <a:solidFill>
                  <a:srgbClr val="FF0000"/>
                </a:solidFill>
              </a:endParaRPr>
            </a:p>
          </p:txBody>
        </p:sp>
        <p:sp>
          <p:nvSpPr>
            <p:cNvPr id="76" name="Rectangle 75"/>
            <p:cNvSpPr/>
            <p:nvPr/>
          </p:nvSpPr>
          <p:spPr>
            <a:xfrm>
              <a:off x="3503584" y="4554969"/>
              <a:ext cx="2188557" cy="369332"/>
            </a:xfrm>
            <a:prstGeom prst="rect">
              <a:avLst/>
            </a:prstGeom>
          </p:spPr>
          <p:txBody>
            <a:bodyPr wrap="none">
              <a:spAutoFit/>
            </a:bodyPr>
            <a:lstStyle/>
            <a:p>
              <a:pPr algn="ctr"/>
              <a:r>
                <a:rPr lang="en-US" b="1" dirty="0" smtClean="0"/>
                <a:t>Monitored Networks</a:t>
              </a:r>
              <a:endParaRPr lang="en-US" b="1" dirty="0"/>
            </a:p>
          </p:txBody>
        </p:sp>
        <p:sp>
          <p:nvSpPr>
            <p:cNvPr id="77" name="Rectangle 76"/>
            <p:cNvSpPr/>
            <p:nvPr/>
          </p:nvSpPr>
          <p:spPr>
            <a:xfrm>
              <a:off x="4772462" y="3236870"/>
              <a:ext cx="1667268" cy="369332"/>
            </a:xfrm>
            <a:prstGeom prst="rect">
              <a:avLst/>
            </a:prstGeom>
          </p:spPr>
          <p:txBody>
            <a:bodyPr wrap="none">
              <a:spAutoFit/>
            </a:bodyPr>
            <a:lstStyle/>
            <a:p>
              <a:pPr algn="ctr"/>
              <a:r>
                <a:rPr lang="en-US" b="1" dirty="0" smtClean="0">
                  <a:solidFill>
                    <a:srgbClr val="FF0000"/>
                  </a:solidFill>
                </a:rPr>
                <a:t>Hijack accounts</a:t>
              </a:r>
              <a:endParaRPr lang="en-US" b="1" dirty="0">
                <a:solidFill>
                  <a:srgbClr val="FF0000"/>
                </a:solidFill>
              </a:endParaRPr>
            </a:p>
          </p:txBody>
        </p:sp>
      </p:grpSp>
    </p:spTree>
    <p:extLst>
      <p:ext uri="{BB962C8B-B14F-4D97-AF65-F5344CB8AC3E}">
        <p14:creationId xmlns:p14="http://schemas.microsoft.com/office/powerpoint/2010/main" val="39387317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5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System Architecture</a:t>
            </a:r>
            <a:endParaRPr lang="en-US"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86</a:t>
            </a:fld>
            <a:endParaRPr lang="en-US"/>
          </a:p>
        </p:txBody>
      </p:sp>
      <p:grpSp>
        <p:nvGrpSpPr>
          <p:cNvPr id="3" name="Group 35"/>
          <p:cNvGrpSpPr/>
          <p:nvPr/>
        </p:nvGrpSpPr>
        <p:grpSpPr>
          <a:xfrm>
            <a:off x="3181429" y="1262438"/>
            <a:ext cx="2644007" cy="4876375"/>
            <a:chOff x="3181429" y="1262438"/>
            <a:chExt cx="2644007" cy="4876375"/>
          </a:xfrm>
        </p:grpSpPr>
        <p:grpSp>
          <p:nvGrpSpPr>
            <p:cNvPr id="8" name="Group 34"/>
            <p:cNvGrpSpPr/>
            <p:nvPr/>
          </p:nvGrpSpPr>
          <p:grpSpPr>
            <a:xfrm>
              <a:off x="3181429" y="1262438"/>
              <a:ext cx="2644007" cy="4100525"/>
              <a:chOff x="3181429" y="1729246"/>
              <a:chExt cx="2644007" cy="4100525"/>
            </a:xfrm>
          </p:grpSpPr>
          <p:sp>
            <p:nvSpPr>
              <p:cNvPr id="5" name="Snip Single Corner Rectangle 4"/>
              <p:cNvSpPr/>
              <p:nvPr/>
            </p:nvSpPr>
            <p:spPr>
              <a:xfrm>
                <a:off x="3181429" y="5187429"/>
                <a:ext cx="1062503" cy="642341"/>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DNS</a:t>
                </a:r>
                <a:endParaRPr lang="en-US" dirty="0">
                  <a:solidFill>
                    <a:srgbClr val="000000"/>
                  </a:solidFill>
                </a:endParaRPr>
              </a:p>
            </p:txBody>
          </p:sp>
          <p:sp>
            <p:nvSpPr>
              <p:cNvPr id="6" name="Snip Single Corner Rectangle 5"/>
              <p:cNvSpPr/>
              <p:nvPr/>
            </p:nvSpPr>
            <p:spPr>
              <a:xfrm>
                <a:off x="4762933" y="5172831"/>
                <a:ext cx="1062503" cy="656940"/>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solidFill>
                      <a:srgbClr val="000000"/>
                    </a:solidFill>
                  </a:rPr>
                  <a:t>NetworkFlows</a:t>
                </a:r>
                <a:endParaRPr lang="en-US" dirty="0">
                  <a:solidFill>
                    <a:srgbClr val="000000"/>
                  </a:solidFill>
                </a:endParaRPr>
              </a:p>
            </p:txBody>
          </p:sp>
          <p:sp>
            <p:nvSpPr>
              <p:cNvPr id="7" name="Rounded Rectangle 6"/>
              <p:cNvSpPr/>
              <p:nvPr/>
            </p:nvSpPr>
            <p:spPr>
              <a:xfrm>
                <a:off x="3603009" y="4051432"/>
                <a:ext cx="1746572" cy="805874"/>
              </a:xfrm>
              <a:prstGeom prst="roundRect">
                <a:avLst>
                  <a:gd name="adj" fmla="val 0"/>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solidFill>
                      <a:srgbClr val="000000"/>
                    </a:solidFill>
                  </a:rPr>
                  <a:t>P2P-Client Detection</a:t>
                </a:r>
                <a:endParaRPr lang="en-US" dirty="0">
                  <a:solidFill>
                    <a:srgbClr val="000000"/>
                  </a:solidFill>
                </a:endParaRPr>
              </a:p>
            </p:txBody>
          </p:sp>
          <p:sp>
            <p:nvSpPr>
              <p:cNvPr id="12" name="Snip Single Corner Rectangle 11"/>
              <p:cNvSpPr/>
              <p:nvPr/>
            </p:nvSpPr>
            <p:spPr>
              <a:xfrm>
                <a:off x="3940362" y="1729246"/>
                <a:ext cx="1062503" cy="406097"/>
              </a:xfrm>
              <a:prstGeom prst="snip1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solidFill>
                      <a:srgbClr val="000000"/>
                    </a:solidFill>
                  </a:rPr>
                  <a:t>Bots</a:t>
                </a:r>
                <a:endParaRPr lang="en-US" dirty="0">
                  <a:solidFill>
                    <a:srgbClr val="000000"/>
                  </a:solidFill>
                </a:endParaRPr>
              </a:p>
            </p:txBody>
          </p:sp>
          <p:sp>
            <p:nvSpPr>
              <p:cNvPr id="16" name="Rounded Rectangle 15"/>
              <p:cNvSpPr/>
              <p:nvPr/>
            </p:nvSpPr>
            <p:spPr>
              <a:xfrm>
                <a:off x="3603009" y="2670267"/>
                <a:ext cx="1746572" cy="749033"/>
              </a:xfrm>
              <a:prstGeom prst="roundRect">
                <a:avLst>
                  <a:gd name="adj" fmla="val 0"/>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solidFill>
                      <a:srgbClr val="000000"/>
                    </a:solidFill>
                  </a:rPr>
                  <a:t>P2P-Bot Detection</a:t>
                </a:r>
                <a:endParaRPr lang="en-US" dirty="0">
                  <a:solidFill>
                    <a:srgbClr val="000000"/>
                  </a:solidFill>
                </a:endParaRPr>
              </a:p>
            </p:txBody>
          </p:sp>
          <p:cxnSp>
            <p:nvCxnSpPr>
              <p:cNvPr id="20" name="Straight Arrow Connector 19"/>
              <p:cNvCxnSpPr>
                <a:stCxn id="5" idx="3"/>
                <a:endCxn id="7" idx="2"/>
              </p:cNvCxnSpPr>
              <p:nvPr/>
            </p:nvCxnSpPr>
            <p:spPr>
              <a:xfrm rot="5400000" flipH="1" flipV="1">
                <a:off x="3929427" y="4640561"/>
                <a:ext cx="330123" cy="763614"/>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2" name="Straight Arrow Connector 21"/>
              <p:cNvCxnSpPr>
                <a:stCxn id="6" idx="3"/>
                <a:endCxn id="7" idx="2"/>
              </p:cNvCxnSpPr>
              <p:nvPr/>
            </p:nvCxnSpPr>
            <p:spPr>
              <a:xfrm rot="16200000" flipV="1">
                <a:off x="4727478" y="4606124"/>
                <a:ext cx="315525" cy="817890"/>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5" name="Straight Arrow Connector 24"/>
              <p:cNvCxnSpPr>
                <a:stCxn id="7" idx="0"/>
                <a:endCxn id="16" idx="2"/>
              </p:cNvCxnSpPr>
              <p:nvPr/>
            </p:nvCxnSpPr>
            <p:spPr>
              <a:xfrm rot="5400000" flipH="1" flipV="1">
                <a:off x="4160229" y="3735366"/>
                <a:ext cx="632132" cy="1588"/>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7" name="Straight Arrow Connector 26"/>
              <p:cNvCxnSpPr>
                <a:stCxn id="16" idx="0"/>
                <a:endCxn id="12" idx="1"/>
              </p:cNvCxnSpPr>
              <p:nvPr/>
            </p:nvCxnSpPr>
            <p:spPr>
              <a:xfrm rot="16200000" flipV="1">
                <a:off x="4206493" y="2400464"/>
                <a:ext cx="534924" cy="4681"/>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26" name="Left-Right Arrow 25"/>
            <p:cNvSpPr/>
            <p:nvPr/>
          </p:nvSpPr>
          <p:spPr>
            <a:xfrm>
              <a:off x="3570444" y="5672024"/>
              <a:ext cx="1997324" cy="466789"/>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Network Traffic</a:t>
              </a:r>
              <a:endParaRPr lang="en-US" dirty="0">
                <a:solidFill>
                  <a:schemeClr val="tx1"/>
                </a:solidFill>
              </a:endParaRPr>
            </a:p>
          </p:txBody>
        </p:sp>
        <p:cxnSp>
          <p:nvCxnSpPr>
            <p:cNvPr id="28" name="Straight Arrow Connector 27"/>
            <p:cNvCxnSpPr>
              <a:stCxn id="26" idx="1"/>
              <a:endCxn id="5" idx="1"/>
            </p:cNvCxnSpPr>
            <p:nvPr/>
          </p:nvCxnSpPr>
          <p:spPr>
            <a:xfrm rot="16200000" flipV="1">
              <a:off x="3928015" y="5147629"/>
              <a:ext cx="425759" cy="856425"/>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31" name="Straight Arrow Connector 30"/>
            <p:cNvCxnSpPr>
              <a:stCxn id="26" idx="1"/>
              <a:endCxn id="6" idx="1"/>
            </p:cNvCxnSpPr>
            <p:nvPr/>
          </p:nvCxnSpPr>
          <p:spPr>
            <a:xfrm rot="5400000" flipH="1" flipV="1">
              <a:off x="4718766" y="5213303"/>
              <a:ext cx="425758" cy="725079"/>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40" name="Cloud 39"/>
          <p:cNvSpPr/>
          <p:nvPr/>
        </p:nvSpPr>
        <p:spPr>
          <a:xfrm>
            <a:off x="1481168" y="5406760"/>
            <a:ext cx="1919231" cy="1183324"/>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Monitored Networks</a:t>
            </a:r>
            <a:endParaRPr lang="en-US" b="1" dirty="0">
              <a:solidFill>
                <a:schemeClr val="tx1"/>
              </a:solidFill>
            </a:endParaRPr>
          </a:p>
        </p:txBody>
      </p:sp>
      <p:sp>
        <p:nvSpPr>
          <p:cNvPr id="41" name="Cloud 40"/>
          <p:cNvSpPr/>
          <p:nvPr/>
        </p:nvSpPr>
        <p:spPr>
          <a:xfrm>
            <a:off x="5706498" y="5362963"/>
            <a:ext cx="1919231" cy="1183324"/>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Internet</a:t>
            </a:r>
            <a:endParaRPr lang="en-US" b="1" dirty="0">
              <a:solidFill>
                <a:schemeClr val="tx1"/>
              </a:solidFill>
            </a:endParaRPr>
          </a:p>
        </p:txBody>
      </p:sp>
      <p:sp>
        <p:nvSpPr>
          <p:cNvPr id="42" name="Rounded Rectangular Callout 41"/>
          <p:cNvSpPr/>
          <p:nvPr/>
        </p:nvSpPr>
        <p:spPr>
          <a:xfrm>
            <a:off x="917365" y="3076967"/>
            <a:ext cx="2264064" cy="1389422"/>
          </a:xfrm>
          <a:prstGeom prst="wedgeRoundRectCallout">
            <a:avLst>
              <a:gd name="adj1" fmla="val 49099"/>
              <a:gd name="adj2" fmla="val 72162"/>
              <a:gd name="adj3" fmla="val 16667"/>
            </a:avLst>
          </a:prstGeom>
          <a:solidFill>
            <a:schemeClr val="bg1"/>
          </a:soli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err="1" smtClean="0"/>
              <a:t>www.google.com</a:t>
            </a:r>
            <a:endParaRPr lang="en-US" dirty="0" smtClean="0"/>
          </a:p>
          <a:p>
            <a:pPr algn="ctr"/>
            <a:r>
              <a:rPr lang="en-US" dirty="0" smtClean="0"/>
              <a:t>74.125.115.103</a:t>
            </a:r>
          </a:p>
          <a:p>
            <a:pPr algn="ctr"/>
            <a:r>
              <a:rPr lang="en-US" dirty="0" smtClean="0"/>
              <a:t>74.125.115.106</a:t>
            </a:r>
          </a:p>
          <a:p>
            <a:pPr algn="ctr"/>
            <a:r>
              <a:rPr lang="en-US" dirty="0" smtClean="0"/>
              <a:t>74.125.115.105</a:t>
            </a:r>
          </a:p>
          <a:p>
            <a:pPr algn="ctr"/>
            <a:endParaRPr lang="en-US" dirty="0"/>
          </a:p>
        </p:txBody>
      </p:sp>
      <p:sp>
        <p:nvSpPr>
          <p:cNvPr id="37" name="TextBox 36"/>
          <p:cNvSpPr txBox="1"/>
          <p:nvPr/>
        </p:nvSpPr>
        <p:spPr>
          <a:xfrm>
            <a:off x="4486243" y="3076967"/>
            <a:ext cx="3417459" cy="369332"/>
          </a:xfrm>
          <a:prstGeom prst="rect">
            <a:avLst/>
          </a:prstGeom>
          <a:noFill/>
        </p:spPr>
        <p:txBody>
          <a:bodyPr wrap="none" rtlCol="0">
            <a:spAutoFit/>
          </a:bodyPr>
          <a:lstStyle/>
          <a:p>
            <a:r>
              <a:rPr lang="en-US" b="1" i="1" dirty="0" smtClean="0">
                <a:solidFill>
                  <a:srgbClr val="0000FF"/>
                </a:solidFill>
              </a:rPr>
              <a:t>Legitimate P2P Clients </a:t>
            </a:r>
            <a:r>
              <a:rPr lang="en-US" b="1" i="1" dirty="0" smtClean="0"/>
              <a:t>+ </a:t>
            </a:r>
            <a:r>
              <a:rPr lang="en-US" b="1" i="1" dirty="0" smtClean="0">
                <a:solidFill>
                  <a:srgbClr val="FF0000"/>
                </a:solidFill>
              </a:rPr>
              <a:t>P2P bots</a:t>
            </a:r>
            <a:endParaRPr lang="en-US" b="1" i="1" dirty="0">
              <a:solidFill>
                <a:srgbClr val="FF0000"/>
              </a:solidFill>
            </a:endParaRPr>
          </a:p>
        </p:txBody>
      </p:sp>
      <p:sp>
        <p:nvSpPr>
          <p:cNvPr id="38" name="TextBox 37"/>
          <p:cNvSpPr txBox="1"/>
          <p:nvPr/>
        </p:nvSpPr>
        <p:spPr>
          <a:xfrm>
            <a:off x="4556532" y="1783827"/>
            <a:ext cx="1070588" cy="369332"/>
          </a:xfrm>
          <a:prstGeom prst="rect">
            <a:avLst/>
          </a:prstGeom>
          <a:noFill/>
        </p:spPr>
        <p:txBody>
          <a:bodyPr wrap="none" rtlCol="0">
            <a:spAutoFit/>
          </a:bodyPr>
          <a:lstStyle/>
          <a:p>
            <a:r>
              <a:rPr lang="en-US" b="1" i="1" dirty="0" smtClean="0">
                <a:solidFill>
                  <a:srgbClr val="FF0000"/>
                </a:solidFill>
              </a:rPr>
              <a:t>P2P bots</a:t>
            </a:r>
            <a:endParaRPr lang="en-US" b="1" i="1" dirty="0">
              <a:solidFill>
                <a:srgbClr val="FF0000"/>
              </a:solidFill>
            </a:endParaRPr>
          </a:p>
        </p:txBody>
      </p:sp>
    </p:spTree>
    <p:extLst>
      <p:ext uri="{BB962C8B-B14F-4D97-AF65-F5344CB8AC3E}">
        <p14:creationId xmlns:p14="http://schemas.microsoft.com/office/powerpoint/2010/main" val="32095412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2"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P2P Client Detection</a:t>
            </a:r>
            <a:endParaRPr lang="en-US"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87</a:t>
            </a:fld>
            <a:endParaRPr lang="en-US"/>
          </a:p>
        </p:txBody>
      </p:sp>
      <p:grpSp>
        <p:nvGrpSpPr>
          <p:cNvPr id="3" name="Group 35"/>
          <p:cNvGrpSpPr/>
          <p:nvPr/>
        </p:nvGrpSpPr>
        <p:grpSpPr>
          <a:xfrm>
            <a:off x="287870" y="1330170"/>
            <a:ext cx="2221515" cy="4876375"/>
            <a:chOff x="3119067" y="1262438"/>
            <a:chExt cx="2727156" cy="4876375"/>
          </a:xfrm>
        </p:grpSpPr>
        <p:grpSp>
          <p:nvGrpSpPr>
            <p:cNvPr id="8" name="Group 34"/>
            <p:cNvGrpSpPr/>
            <p:nvPr/>
          </p:nvGrpSpPr>
          <p:grpSpPr>
            <a:xfrm>
              <a:off x="3119067" y="1262438"/>
              <a:ext cx="2727156" cy="4100525"/>
              <a:chOff x="3119067" y="1729246"/>
              <a:chExt cx="2727156" cy="4100525"/>
            </a:xfrm>
          </p:grpSpPr>
          <p:sp>
            <p:nvSpPr>
              <p:cNvPr id="5" name="Snip Single Corner Rectangle 4"/>
              <p:cNvSpPr/>
              <p:nvPr/>
            </p:nvSpPr>
            <p:spPr>
              <a:xfrm>
                <a:off x="3119067" y="5187429"/>
                <a:ext cx="1289391" cy="642341"/>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DNS</a:t>
                </a:r>
                <a:endParaRPr lang="en-US" dirty="0">
                  <a:solidFill>
                    <a:srgbClr val="000000"/>
                  </a:solidFill>
                </a:endParaRPr>
              </a:p>
            </p:txBody>
          </p:sp>
          <p:sp>
            <p:nvSpPr>
              <p:cNvPr id="6" name="Snip Single Corner Rectangle 5"/>
              <p:cNvSpPr/>
              <p:nvPr/>
            </p:nvSpPr>
            <p:spPr>
              <a:xfrm>
                <a:off x="4524221" y="5172831"/>
                <a:ext cx="1322002" cy="656940"/>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solidFill>
                      <a:srgbClr val="000000"/>
                    </a:solidFill>
                  </a:rPr>
                  <a:t>NetworkFlows</a:t>
                </a:r>
                <a:endParaRPr lang="en-US" dirty="0">
                  <a:solidFill>
                    <a:srgbClr val="000000"/>
                  </a:solidFill>
                </a:endParaRPr>
              </a:p>
            </p:txBody>
          </p:sp>
          <p:sp>
            <p:nvSpPr>
              <p:cNvPr id="7" name="Rounded Rectangle 6"/>
              <p:cNvSpPr/>
              <p:nvPr/>
            </p:nvSpPr>
            <p:spPr>
              <a:xfrm>
                <a:off x="3603009" y="3663733"/>
                <a:ext cx="1746572" cy="1118123"/>
              </a:xfrm>
              <a:prstGeom prst="roundRect">
                <a:avLst>
                  <a:gd name="adj" fmla="val 0"/>
                </a:avLst>
              </a:prstGeom>
              <a:ln w="73025">
                <a:solidFill>
                  <a:srgbClr val="008000"/>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dirty="0" smtClean="0">
                    <a:solidFill>
                      <a:srgbClr val="000000"/>
                    </a:solidFill>
                  </a:rPr>
                  <a:t>P2P-Client Detection</a:t>
                </a:r>
                <a:endParaRPr lang="en-US" sz="2000" b="1" dirty="0">
                  <a:solidFill>
                    <a:srgbClr val="000000"/>
                  </a:solidFill>
                </a:endParaRPr>
              </a:p>
            </p:txBody>
          </p:sp>
          <p:sp>
            <p:nvSpPr>
              <p:cNvPr id="12" name="Snip Single Corner Rectangle 11"/>
              <p:cNvSpPr/>
              <p:nvPr/>
            </p:nvSpPr>
            <p:spPr>
              <a:xfrm>
                <a:off x="3940362" y="1729246"/>
                <a:ext cx="1062503" cy="406097"/>
              </a:xfrm>
              <a:prstGeom prst="snip1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solidFill>
                      <a:srgbClr val="000000"/>
                    </a:solidFill>
                  </a:rPr>
                  <a:t>Bots</a:t>
                </a:r>
                <a:endParaRPr lang="en-US" dirty="0">
                  <a:solidFill>
                    <a:srgbClr val="000000"/>
                  </a:solidFill>
                </a:endParaRPr>
              </a:p>
            </p:txBody>
          </p:sp>
          <p:sp>
            <p:nvSpPr>
              <p:cNvPr id="16" name="Rounded Rectangle 15"/>
              <p:cNvSpPr/>
              <p:nvPr/>
            </p:nvSpPr>
            <p:spPr>
              <a:xfrm>
                <a:off x="3603009" y="2443917"/>
                <a:ext cx="1746572" cy="749033"/>
              </a:xfrm>
              <a:prstGeom prst="roundRect">
                <a:avLst>
                  <a:gd name="adj" fmla="val 0"/>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solidFill>
                      <a:srgbClr val="000000"/>
                    </a:solidFill>
                  </a:rPr>
                  <a:t>P2P-Bot Detection</a:t>
                </a:r>
                <a:endParaRPr lang="en-US" dirty="0">
                  <a:solidFill>
                    <a:srgbClr val="000000"/>
                  </a:solidFill>
                </a:endParaRPr>
              </a:p>
            </p:txBody>
          </p:sp>
          <p:cxnSp>
            <p:nvCxnSpPr>
              <p:cNvPr id="20" name="Straight Arrow Connector 19"/>
              <p:cNvCxnSpPr>
                <a:stCxn id="5" idx="3"/>
                <a:endCxn id="7" idx="2"/>
              </p:cNvCxnSpPr>
              <p:nvPr/>
            </p:nvCxnSpPr>
            <p:spPr>
              <a:xfrm rot="5400000" flipH="1" flipV="1">
                <a:off x="3917243" y="4628377"/>
                <a:ext cx="405573" cy="712532"/>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2" name="Straight Arrow Connector 21"/>
              <p:cNvCxnSpPr>
                <a:stCxn id="6" idx="3"/>
                <a:endCxn id="7" idx="2"/>
              </p:cNvCxnSpPr>
              <p:nvPr/>
            </p:nvCxnSpPr>
            <p:spPr>
              <a:xfrm rot="16200000" flipV="1">
                <a:off x="4635272" y="4622880"/>
                <a:ext cx="390975" cy="708927"/>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5" name="Straight Arrow Connector 24"/>
              <p:cNvCxnSpPr>
                <a:stCxn id="7" idx="0"/>
                <a:endCxn id="16" idx="2"/>
              </p:cNvCxnSpPr>
              <p:nvPr/>
            </p:nvCxnSpPr>
            <p:spPr>
              <a:xfrm rot="5400000" flipH="1" flipV="1">
                <a:off x="4240904" y="3428342"/>
                <a:ext cx="470783" cy="1588"/>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7" name="Straight Arrow Connector 26"/>
              <p:cNvCxnSpPr>
                <a:endCxn id="12" idx="1"/>
              </p:cNvCxnSpPr>
              <p:nvPr/>
            </p:nvCxnSpPr>
            <p:spPr>
              <a:xfrm rot="5400000" flipH="1" flipV="1">
                <a:off x="4323454" y="2283504"/>
                <a:ext cx="296321" cy="1588"/>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26" name="Left-Right Arrow 25"/>
            <p:cNvSpPr/>
            <p:nvPr/>
          </p:nvSpPr>
          <p:spPr>
            <a:xfrm>
              <a:off x="3181429" y="5672024"/>
              <a:ext cx="2644007" cy="466789"/>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Network Traffic</a:t>
              </a:r>
              <a:endParaRPr lang="en-US" dirty="0">
                <a:solidFill>
                  <a:schemeClr val="tx1"/>
                </a:solidFill>
              </a:endParaRPr>
            </a:p>
          </p:txBody>
        </p:sp>
        <p:cxnSp>
          <p:nvCxnSpPr>
            <p:cNvPr id="28" name="Straight Arrow Connector 27"/>
            <p:cNvCxnSpPr>
              <a:stCxn id="26" idx="1"/>
              <a:endCxn id="5" idx="1"/>
            </p:cNvCxnSpPr>
            <p:nvPr/>
          </p:nvCxnSpPr>
          <p:spPr>
            <a:xfrm rot="16200000" flipV="1">
              <a:off x="3920719" y="5206007"/>
              <a:ext cx="425759" cy="739670"/>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31" name="Straight Arrow Connector 30"/>
            <p:cNvCxnSpPr>
              <a:stCxn id="26" idx="1"/>
              <a:endCxn id="6" idx="1"/>
            </p:cNvCxnSpPr>
            <p:nvPr/>
          </p:nvCxnSpPr>
          <p:spPr>
            <a:xfrm rot="5400000" flipH="1" flipV="1">
              <a:off x="4631448" y="5234948"/>
              <a:ext cx="425758" cy="681789"/>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grpSp>
        <p:nvGrpSpPr>
          <p:cNvPr id="125" name="Group 124"/>
          <p:cNvGrpSpPr/>
          <p:nvPr/>
        </p:nvGrpSpPr>
        <p:grpSpPr>
          <a:xfrm>
            <a:off x="3280374" y="1245832"/>
            <a:ext cx="4348730" cy="4635346"/>
            <a:chOff x="3280374" y="1245832"/>
            <a:chExt cx="4348730" cy="4635346"/>
          </a:xfrm>
        </p:grpSpPr>
        <p:grpSp>
          <p:nvGrpSpPr>
            <p:cNvPr id="124" name="Group 123"/>
            <p:cNvGrpSpPr/>
            <p:nvPr/>
          </p:nvGrpSpPr>
          <p:grpSpPr>
            <a:xfrm>
              <a:off x="3280374" y="1245832"/>
              <a:ext cx="4348730" cy="4635346"/>
              <a:chOff x="3280374" y="1245832"/>
              <a:chExt cx="4348730" cy="4635346"/>
            </a:xfrm>
          </p:grpSpPr>
          <p:grpSp>
            <p:nvGrpSpPr>
              <p:cNvPr id="123" name="Group 122"/>
              <p:cNvGrpSpPr/>
              <p:nvPr/>
            </p:nvGrpSpPr>
            <p:grpSpPr>
              <a:xfrm>
                <a:off x="3280374" y="1245832"/>
                <a:ext cx="4348730" cy="4635346"/>
                <a:chOff x="3280374" y="1245832"/>
                <a:chExt cx="4348730" cy="4635346"/>
              </a:xfrm>
            </p:grpSpPr>
            <p:grpSp>
              <p:nvGrpSpPr>
                <p:cNvPr id="122" name="Group 121"/>
                <p:cNvGrpSpPr/>
                <p:nvPr/>
              </p:nvGrpSpPr>
              <p:grpSpPr>
                <a:xfrm>
                  <a:off x="3280374" y="1245832"/>
                  <a:ext cx="4348730" cy="4635346"/>
                  <a:chOff x="3280374" y="1245832"/>
                  <a:chExt cx="4348730" cy="4635346"/>
                </a:xfrm>
              </p:grpSpPr>
              <p:grpSp>
                <p:nvGrpSpPr>
                  <p:cNvPr id="120" name="Group 119"/>
                  <p:cNvGrpSpPr/>
                  <p:nvPr/>
                </p:nvGrpSpPr>
                <p:grpSpPr>
                  <a:xfrm>
                    <a:off x="3280374" y="1245832"/>
                    <a:ext cx="4348730" cy="4635346"/>
                    <a:chOff x="3280374" y="1245832"/>
                    <a:chExt cx="4348730" cy="4635346"/>
                  </a:xfrm>
                </p:grpSpPr>
                <p:sp>
                  <p:nvSpPr>
                    <p:cNvPr id="37" name="Content Placeholder 2"/>
                    <p:cNvSpPr txBox="1">
                      <a:spLocks/>
                    </p:cNvSpPr>
                    <p:nvPr/>
                  </p:nvSpPr>
                  <p:spPr>
                    <a:xfrm>
                      <a:off x="3280374" y="1245832"/>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Host1</a:t>
                      </a:r>
                    </a:p>
                  </p:txBody>
                </p:sp>
                <p:grpSp>
                  <p:nvGrpSpPr>
                    <p:cNvPr id="115" name="Group 114"/>
                    <p:cNvGrpSpPr/>
                    <p:nvPr/>
                  </p:nvGrpSpPr>
                  <p:grpSpPr>
                    <a:xfrm>
                      <a:off x="3743834" y="1620080"/>
                      <a:ext cx="3885270" cy="4261098"/>
                      <a:chOff x="2925740" y="1595356"/>
                      <a:chExt cx="4909840" cy="4261098"/>
                    </a:xfrm>
                  </p:grpSpPr>
                  <p:grpSp>
                    <p:nvGrpSpPr>
                      <p:cNvPr id="66" name="Group 65"/>
                      <p:cNvGrpSpPr/>
                      <p:nvPr/>
                    </p:nvGrpSpPr>
                    <p:grpSpPr>
                      <a:xfrm>
                        <a:off x="2925740" y="1615937"/>
                        <a:ext cx="1316246" cy="1649515"/>
                        <a:chOff x="2925739" y="1615937"/>
                        <a:chExt cx="1594821" cy="1649515"/>
                      </a:xfrm>
                    </p:grpSpPr>
                    <p:sp>
                      <p:nvSpPr>
                        <p:cNvPr id="35" name="Oval 34"/>
                        <p:cNvSpPr/>
                        <p:nvPr/>
                      </p:nvSpPr>
                      <p:spPr>
                        <a:xfrm>
                          <a:off x="2925739" y="1615937"/>
                          <a:ext cx="169372" cy="181817"/>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36" name="Straight Arrow Connector 35"/>
                        <p:cNvCxnSpPr/>
                        <p:nvPr/>
                      </p:nvCxnSpPr>
                      <p:spPr>
                        <a:xfrm rot="16200000" flipH="1">
                          <a:off x="2282745" y="2536977"/>
                          <a:ext cx="1456154" cy="795"/>
                        </a:xfrm>
                        <a:prstGeom prst="straightConnector1">
                          <a:avLst/>
                        </a:prstGeom>
                        <a:ln w="53975" cap="flat" cmpd="sng" algn="ctr">
                          <a:solidFill>
                            <a:schemeClr val="accent1"/>
                          </a:solidFill>
                          <a:prstDash val="solid"/>
                          <a:round/>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3118851" y="192059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3139958" y="2458490"/>
                          <a:ext cx="1378287" cy="1588"/>
                        </a:xfrm>
                        <a:prstGeom prst="straightConnector1">
                          <a:avLst/>
                        </a:prstGeom>
                        <a:ln w="25400" cap="flat" cmpd="sng" algn="ctr">
                          <a:solidFill>
                            <a:schemeClr val="tx1">
                              <a:lumMod val="50000"/>
                              <a:lumOff val="50000"/>
                            </a:schemeClr>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Straight Arrow Connector 52"/>
                        <p:cNvCxnSpPr/>
                        <p:nvPr/>
                      </p:nvCxnSpPr>
                      <p:spPr>
                        <a:xfrm>
                          <a:off x="3132711" y="2301580"/>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a:off x="3142273" y="2610890"/>
                          <a:ext cx="1378287" cy="1588"/>
                        </a:xfrm>
                        <a:prstGeom prst="straightConnector1">
                          <a:avLst/>
                        </a:prstGeom>
                        <a:ln w="25400" cap="flat" cmpd="sng" algn="ctr">
                          <a:solidFill>
                            <a:schemeClr val="tx1">
                              <a:lumMod val="50000"/>
                              <a:lumOff val="50000"/>
                            </a:schemeClr>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6" name="Straight Arrow Connector 55"/>
                        <p:cNvCxnSpPr/>
                        <p:nvPr/>
                      </p:nvCxnSpPr>
                      <p:spPr>
                        <a:xfrm>
                          <a:off x="3142273" y="2904129"/>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9"/>
                        <p:cNvCxnSpPr/>
                        <p:nvPr/>
                      </p:nvCxnSpPr>
                      <p:spPr>
                        <a:xfrm rot="10800000">
                          <a:off x="3495353" y="2976831"/>
                          <a:ext cx="337282" cy="1588"/>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4" name="Straight Arrow Connector 63"/>
                        <p:cNvCxnSpPr/>
                        <p:nvPr/>
                      </p:nvCxnSpPr>
                      <p:spPr>
                        <a:xfrm rot="10800000" flipV="1">
                          <a:off x="3492131" y="3083365"/>
                          <a:ext cx="336487"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p:nvPr/>
                      </p:nvCxnSpPr>
                      <p:spPr>
                        <a:xfrm>
                          <a:off x="3169661" y="275645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9" name="Straight Arrow Connector 48"/>
                        <p:cNvCxnSpPr/>
                        <p:nvPr/>
                      </p:nvCxnSpPr>
                      <p:spPr>
                        <a:xfrm>
                          <a:off x="3141291" y="2122534"/>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67" name="Group 66"/>
                      <p:cNvGrpSpPr/>
                      <p:nvPr/>
                    </p:nvGrpSpPr>
                    <p:grpSpPr>
                      <a:xfrm>
                        <a:off x="4667634" y="1595356"/>
                        <a:ext cx="1596208" cy="1649515"/>
                        <a:chOff x="2925739" y="1615937"/>
                        <a:chExt cx="1934034" cy="1649515"/>
                      </a:xfrm>
                    </p:grpSpPr>
                    <p:sp>
                      <p:nvSpPr>
                        <p:cNvPr id="68" name="Oval 67"/>
                        <p:cNvSpPr/>
                        <p:nvPr/>
                      </p:nvSpPr>
                      <p:spPr>
                        <a:xfrm>
                          <a:off x="2925739" y="1615937"/>
                          <a:ext cx="169372" cy="181817"/>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69" name="Straight Arrow Connector 68"/>
                        <p:cNvCxnSpPr/>
                        <p:nvPr/>
                      </p:nvCxnSpPr>
                      <p:spPr>
                        <a:xfrm rot="16200000" flipH="1">
                          <a:off x="2282745" y="2536977"/>
                          <a:ext cx="1456154" cy="795"/>
                        </a:xfrm>
                        <a:prstGeom prst="straightConnector1">
                          <a:avLst/>
                        </a:prstGeom>
                        <a:ln w="53975" cap="flat" cmpd="sng" algn="ctr">
                          <a:solidFill>
                            <a:schemeClr val="accent1"/>
                          </a:solidFill>
                          <a:prstDash val="solid"/>
                          <a:round/>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Straight Arrow Connector 69"/>
                        <p:cNvCxnSpPr/>
                        <p:nvPr/>
                      </p:nvCxnSpPr>
                      <p:spPr>
                        <a:xfrm>
                          <a:off x="3118851" y="192059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a:off x="3139958" y="2458490"/>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2" name="Straight Arrow Connector 71"/>
                        <p:cNvCxnSpPr/>
                        <p:nvPr/>
                      </p:nvCxnSpPr>
                      <p:spPr>
                        <a:xfrm>
                          <a:off x="3132711" y="2301580"/>
                          <a:ext cx="1652515" cy="1588"/>
                        </a:xfrm>
                        <a:prstGeom prst="straightConnector1">
                          <a:avLst/>
                        </a:prstGeom>
                        <a:ln w="25400" cap="flat" cmpd="sng" algn="ctr">
                          <a:solidFill>
                            <a:schemeClr val="accent6">
                              <a:lumMod val="75000"/>
                            </a:schemeClr>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3" name="Straight Arrow Connector 72"/>
                        <p:cNvCxnSpPr/>
                        <p:nvPr/>
                      </p:nvCxnSpPr>
                      <p:spPr>
                        <a:xfrm>
                          <a:off x="3142273" y="2610890"/>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4" name="Straight Arrow Connector 73"/>
                        <p:cNvCxnSpPr/>
                        <p:nvPr/>
                      </p:nvCxnSpPr>
                      <p:spPr>
                        <a:xfrm>
                          <a:off x="3142271" y="2904129"/>
                          <a:ext cx="1717502" cy="1588"/>
                        </a:xfrm>
                        <a:prstGeom prst="straightConnector1">
                          <a:avLst/>
                        </a:prstGeom>
                        <a:ln w="25400" cap="flat" cmpd="sng" algn="ctr">
                          <a:solidFill>
                            <a:schemeClr val="accent2">
                              <a:lumMod val="50000"/>
                            </a:schemeClr>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5" name="Straight Arrow Connector 74"/>
                        <p:cNvCxnSpPr/>
                        <p:nvPr/>
                      </p:nvCxnSpPr>
                      <p:spPr>
                        <a:xfrm rot="10800000">
                          <a:off x="3495353" y="2976831"/>
                          <a:ext cx="337282" cy="1588"/>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rot="10800000" flipV="1">
                          <a:off x="3492131" y="3083365"/>
                          <a:ext cx="336487"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77" name="Straight Arrow Connector 76"/>
                        <p:cNvCxnSpPr/>
                        <p:nvPr/>
                      </p:nvCxnSpPr>
                      <p:spPr>
                        <a:xfrm>
                          <a:off x="3169661" y="275645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8" name="Straight Arrow Connector 77"/>
                        <p:cNvCxnSpPr/>
                        <p:nvPr/>
                      </p:nvCxnSpPr>
                      <p:spPr>
                        <a:xfrm>
                          <a:off x="3141291" y="2122534"/>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79" name="Group 78"/>
                      <p:cNvGrpSpPr/>
                      <p:nvPr/>
                    </p:nvGrpSpPr>
                    <p:grpSpPr>
                      <a:xfrm>
                        <a:off x="6519334" y="1596218"/>
                        <a:ext cx="1316246" cy="1649515"/>
                        <a:chOff x="2925739" y="1615937"/>
                        <a:chExt cx="1594821" cy="1649515"/>
                      </a:xfrm>
                    </p:grpSpPr>
                    <p:sp>
                      <p:nvSpPr>
                        <p:cNvPr id="80" name="Oval 79"/>
                        <p:cNvSpPr/>
                        <p:nvPr/>
                      </p:nvSpPr>
                      <p:spPr>
                        <a:xfrm>
                          <a:off x="2925739" y="1615937"/>
                          <a:ext cx="169372" cy="181817"/>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81" name="Straight Arrow Connector 80"/>
                        <p:cNvCxnSpPr/>
                        <p:nvPr/>
                      </p:nvCxnSpPr>
                      <p:spPr>
                        <a:xfrm rot="16200000" flipH="1">
                          <a:off x="2282745" y="2536977"/>
                          <a:ext cx="1456154" cy="795"/>
                        </a:xfrm>
                        <a:prstGeom prst="straightConnector1">
                          <a:avLst/>
                        </a:prstGeom>
                        <a:ln w="53975" cap="flat" cmpd="sng" algn="ctr">
                          <a:solidFill>
                            <a:schemeClr val="accent1"/>
                          </a:solidFill>
                          <a:prstDash val="solid"/>
                          <a:round/>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Straight Arrow Connector 81"/>
                        <p:cNvCxnSpPr/>
                        <p:nvPr/>
                      </p:nvCxnSpPr>
                      <p:spPr>
                        <a:xfrm>
                          <a:off x="3118851" y="192059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a:off x="3139958" y="2458490"/>
                          <a:ext cx="355395" cy="726"/>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a:off x="3132711" y="2301580"/>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a:off x="3142273" y="2610890"/>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a:off x="3142273" y="2904129"/>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rot="10800000">
                          <a:off x="3495353" y="2976831"/>
                          <a:ext cx="337282" cy="1588"/>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rot="10800000" flipV="1">
                          <a:off x="3492131" y="3083365"/>
                          <a:ext cx="336487"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flipV="1">
                          <a:off x="3169661" y="2755590"/>
                          <a:ext cx="662975" cy="862"/>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flipV="1">
                          <a:off x="3141291" y="2121672"/>
                          <a:ext cx="823465" cy="862"/>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91" name="Group 90"/>
                      <p:cNvGrpSpPr/>
                      <p:nvPr/>
                    </p:nvGrpSpPr>
                    <p:grpSpPr>
                      <a:xfrm>
                        <a:off x="3734352" y="4206939"/>
                        <a:ext cx="1316246" cy="1649515"/>
                        <a:chOff x="2925739" y="1615937"/>
                        <a:chExt cx="1594821" cy="1649515"/>
                      </a:xfrm>
                    </p:grpSpPr>
                    <p:sp>
                      <p:nvSpPr>
                        <p:cNvPr id="92" name="Oval 91"/>
                        <p:cNvSpPr/>
                        <p:nvPr/>
                      </p:nvSpPr>
                      <p:spPr>
                        <a:xfrm>
                          <a:off x="2925739" y="1615937"/>
                          <a:ext cx="169372" cy="181817"/>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93" name="Straight Arrow Connector 92"/>
                        <p:cNvCxnSpPr/>
                        <p:nvPr/>
                      </p:nvCxnSpPr>
                      <p:spPr>
                        <a:xfrm rot="16200000" flipH="1">
                          <a:off x="2282745" y="2536977"/>
                          <a:ext cx="1456154" cy="795"/>
                        </a:xfrm>
                        <a:prstGeom prst="straightConnector1">
                          <a:avLst/>
                        </a:prstGeom>
                        <a:ln w="53975" cap="flat" cmpd="sng" algn="ctr">
                          <a:solidFill>
                            <a:schemeClr val="accent1"/>
                          </a:solidFill>
                          <a:prstDash val="solid"/>
                          <a:round/>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a:off x="3118851" y="192059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a:off x="3139958" y="2458490"/>
                          <a:ext cx="1378287" cy="1588"/>
                        </a:xfrm>
                        <a:prstGeom prst="straightConnector1">
                          <a:avLst/>
                        </a:prstGeom>
                        <a:ln w="25400" cap="flat" cmpd="sng" algn="ctr">
                          <a:solidFill>
                            <a:schemeClr val="bg2">
                              <a:lumMod val="25000"/>
                            </a:schemeClr>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6" name="Straight Arrow Connector 95"/>
                        <p:cNvCxnSpPr/>
                        <p:nvPr/>
                      </p:nvCxnSpPr>
                      <p:spPr>
                        <a:xfrm>
                          <a:off x="3132711" y="2301580"/>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7" name="Straight Arrow Connector 96"/>
                        <p:cNvCxnSpPr/>
                        <p:nvPr/>
                      </p:nvCxnSpPr>
                      <p:spPr>
                        <a:xfrm>
                          <a:off x="3142273" y="2610890"/>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8" name="Straight Arrow Connector 97"/>
                        <p:cNvCxnSpPr/>
                        <p:nvPr/>
                      </p:nvCxnSpPr>
                      <p:spPr>
                        <a:xfrm>
                          <a:off x="3142273" y="2904129"/>
                          <a:ext cx="1378287" cy="1588"/>
                        </a:xfrm>
                        <a:prstGeom prst="straightConnector1">
                          <a:avLst/>
                        </a:prstGeom>
                        <a:ln w="254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9" name="Straight Arrow Connector 98"/>
                        <p:cNvCxnSpPr/>
                        <p:nvPr/>
                      </p:nvCxnSpPr>
                      <p:spPr>
                        <a:xfrm rot="10800000">
                          <a:off x="3495353" y="2976831"/>
                          <a:ext cx="337282" cy="1588"/>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0" name="Straight Arrow Connector 99"/>
                        <p:cNvCxnSpPr/>
                        <p:nvPr/>
                      </p:nvCxnSpPr>
                      <p:spPr>
                        <a:xfrm rot="10800000" flipV="1">
                          <a:off x="3492131" y="3083365"/>
                          <a:ext cx="336487"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1" name="Straight Arrow Connector 100"/>
                        <p:cNvCxnSpPr/>
                        <p:nvPr/>
                      </p:nvCxnSpPr>
                      <p:spPr>
                        <a:xfrm>
                          <a:off x="3169661" y="275645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3141291" y="2122534"/>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103" name="Group 102"/>
                      <p:cNvGrpSpPr/>
                      <p:nvPr/>
                    </p:nvGrpSpPr>
                    <p:grpSpPr>
                      <a:xfrm>
                        <a:off x="6062525" y="4206938"/>
                        <a:ext cx="1773054" cy="1649515"/>
                        <a:chOff x="2925739" y="1615937"/>
                        <a:chExt cx="2148310" cy="1649515"/>
                      </a:xfrm>
                    </p:grpSpPr>
                    <p:sp>
                      <p:nvSpPr>
                        <p:cNvPr id="104" name="Oval 103"/>
                        <p:cNvSpPr/>
                        <p:nvPr/>
                      </p:nvSpPr>
                      <p:spPr>
                        <a:xfrm>
                          <a:off x="2925739" y="1615937"/>
                          <a:ext cx="169372" cy="181817"/>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05" name="Straight Arrow Connector 104"/>
                        <p:cNvCxnSpPr/>
                        <p:nvPr/>
                      </p:nvCxnSpPr>
                      <p:spPr>
                        <a:xfrm rot="16200000" flipH="1">
                          <a:off x="2282745" y="2536977"/>
                          <a:ext cx="1456154" cy="795"/>
                        </a:xfrm>
                        <a:prstGeom prst="straightConnector1">
                          <a:avLst/>
                        </a:prstGeom>
                        <a:ln w="53975" cap="flat" cmpd="sng" algn="ctr">
                          <a:solidFill>
                            <a:schemeClr val="accent1"/>
                          </a:solidFill>
                          <a:prstDash val="solid"/>
                          <a:round/>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p:nvPr/>
                      </p:nvCxnSpPr>
                      <p:spPr>
                        <a:xfrm>
                          <a:off x="3118851" y="192059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106"/>
                        <p:cNvCxnSpPr/>
                        <p:nvPr/>
                      </p:nvCxnSpPr>
                      <p:spPr>
                        <a:xfrm>
                          <a:off x="3139958" y="2458490"/>
                          <a:ext cx="1934091" cy="1588"/>
                        </a:xfrm>
                        <a:prstGeom prst="straightConnector1">
                          <a:avLst/>
                        </a:prstGeom>
                        <a:ln w="25400" cap="flat" cmpd="sng" algn="ctr">
                          <a:solidFill>
                            <a:srgbClr val="FFFF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a:off x="3132711" y="2301580"/>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108"/>
                        <p:cNvCxnSpPr/>
                        <p:nvPr/>
                      </p:nvCxnSpPr>
                      <p:spPr>
                        <a:xfrm>
                          <a:off x="3142273" y="2610890"/>
                          <a:ext cx="284393"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0" name="Straight Arrow Connector 109"/>
                        <p:cNvCxnSpPr/>
                        <p:nvPr/>
                      </p:nvCxnSpPr>
                      <p:spPr>
                        <a:xfrm>
                          <a:off x="3142273" y="2904129"/>
                          <a:ext cx="1099712" cy="1588"/>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p:nvPr/>
                      </p:nvCxnSpPr>
                      <p:spPr>
                        <a:xfrm rot="10800000">
                          <a:off x="3495353" y="2976831"/>
                          <a:ext cx="337282" cy="1588"/>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p:nvPr/>
                      </p:nvCxnSpPr>
                      <p:spPr>
                        <a:xfrm rot="10800000" flipV="1">
                          <a:off x="3492131" y="3083365"/>
                          <a:ext cx="336487"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3" name="Straight Arrow Connector 112"/>
                        <p:cNvCxnSpPr/>
                        <p:nvPr/>
                      </p:nvCxnSpPr>
                      <p:spPr>
                        <a:xfrm>
                          <a:off x="3169661" y="2756452"/>
                          <a:ext cx="1072324" cy="1588"/>
                        </a:xfrm>
                        <a:prstGeom prst="straightConnector1">
                          <a:avLst/>
                        </a:prstGeom>
                        <a:ln w="25400" cap="flat" cmpd="sng" algn="ctr">
                          <a:solidFill>
                            <a:schemeClr val="tx1">
                              <a:lumMod val="75000"/>
                              <a:lumOff val="25000"/>
                            </a:schemeClr>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4" name="Straight Arrow Connector 113"/>
                        <p:cNvCxnSpPr/>
                        <p:nvPr/>
                      </p:nvCxnSpPr>
                      <p:spPr>
                        <a:xfrm>
                          <a:off x="3141291" y="2122534"/>
                          <a:ext cx="423418"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grpSp>
              <p:sp>
                <p:nvSpPr>
                  <p:cNvPr id="116" name="Content Placeholder 2"/>
                  <p:cNvSpPr txBox="1">
                    <a:spLocks/>
                  </p:cNvSpPr>
                  <p:nvPr/>
                </p:nvSpPr>
                <p:spPr>
                  <a:xfrm>
                    <a:off x="4691394" y="1245832"/>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Host2</a:t>
                    </a:r>
                  </a:p>
                </p:txBody>
              </p:sp>
            </p:grpSp>
            <p:sp>
              <p:nvSpPr>
                <p:cNvPr id="117" name="Content Placeholder 2"/>
                <p:cNvSpPr txBox="1">
                  <a:spLocks/>
                </p:cNvSpPr>
                <p:nvPr/>
              </p:nvSpPr>
              <p:spPr>
                <a:xfrm>
                  <a:off x="6247018" y="1246250"/>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Host3</a:t>
                  </a:r>
                </a:p>
              </p:txBody>
            </p:sp>
          </p:grpSp>
          <p:sp>
            <p:nvSpPr>
              <p:cNvPr id="118" name="Content Placeholder 2"/>
              <p:cNvSpPr txBox="1">
                <a:spLocks/>
              </p:cNvSpPr>
              <p:nvPr/>
            </p:nvSpPr>
            <p:spPr>
              <a:xfrm>
                <a:off x="3903139" y="3888050"/>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err="1" smtClean="0">
                    <a:ln>
                      <a:noFill/>
                    </a:ln>
                    <a:solidFill>
                      <a:srgbClr val="000000"/>
                    </a:solidFill>
                    <a:effectLst/>
                    <a:uLnTx/>
                    <a:uFillTx/>
                    <a:latin typeface="+mn-lt"/>
                    <a:ea typeface="+mn-ea"/>
                    <a:cs typeface="+mn-cs"/>
                  </a:rPr>
                  <a:t>Host_M</a:t>
                </a:r>
                <a:endParaRPr kumimoji="0" lang="en-US" i="0" u="none" strike="noStrike" kern="1200" cap="none" spc="0" normalizeH="0" baseline="0" noProof="0" dirty="0" smtClean="0">
                  <a:ln>
                    <a:noFill/>
                  </a:ln>
                  <a:solidFill>
                    <a:srgbClr val="000000"/>
                  </a:solidFill>
                  <a:effectLst/>
                  <a:uLnTx/>
                  <a:uFillTx/>
                  <a:latin typeface="+mn-lt"/>
                  <a:ea typeface="+mn-ea"/>
                  <a:cs typeface="+mn-cs"/>
                </a:endParaRPr>
              </a:p>
            </p:txBody>
          </p:sp>
        </p:grpSp>
        <p:sp>
          <p:nvSpPr>
            <p:cNvPr id="119" name="Content Placeholder 2"/>
            <p:cNvSpPr txBox="1">
              <a:spLocks/>
            </p:cNvSpPr>
            <p:nvPr/>
          </p:nvSpPr>
          <p:spPr>
            <a:xfrm>
              <a:off x="5832716" y="3902510"/>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err="1" smtClean="0">
                  <a:ln>
                    <a:noFill/>
                  </a:ln>
                  <a:solidFill>
                    <a:srgbClr val="000000"/>
                  </a:solidFill>
                  <a:effectLst/>
                  <a:uLnTx/>
                  <a:uFillTx/>
                  <a:latin typeface="+mn-lt"/>
                  <a:ea typeface="+mn-ea"/>
                  <a:cs typeface="+mn-cs"/>
                </a:rPr>
                <a:t>Host_N</a:t>
              </a:r>
              <a:endParaRPr kumimoji="0" lang="en-US" i="0" u="none" strike="noStrike" kern="1200" cap="none" spc="0" normalizeH="0" baseline="0" noProof="0" dirty="0" smtClean="0">
                <a:ln>
                  <a:noFill/>
                </a:ln>
                <a:solidFill>
                  <a:srgbClr val="000000"/>
                </a:solidFill>
                <a:effectLst/>
                <a:uLnTx/>
                <a:uFillTx/>
                <a:latin typeface="+mn-lt"/>
                <a:ea typeface="+mn-ea"/>
                <a:cs typeface="+mn-cs"/>
              </a:endParaRPr>
            </a:p>
          </p:txBody>
        </p:sp>
      </p:grpSp>
      <p:sp>
        <p:nvSpPr>
          <p:cNvPr id="121" name="Content Placeholder 2"/>
          <p:cNvSpPr txBox="1">
            <a:spLocks/>
          </p:cNvSpPr>
          <p:nvPr/>
        </p:nvSpPr>
        <p:spPr>
          <a:xfrm>
            <a:off x="2377002" y="3425640"/>
            <a:ext cx="6055803" cy="687224"/>
          </a:xfrm>
          <a:prstGeom prst="rect">
            <a:avLst/>
          </a:prstGeom>
        </p:spPr>
        <p:txBody>
          <a:bodyPr vert="horz" lIns="91440" tIns="45720" rIns="91440" bIns="45720" rtlCol="0">
            <a:noAutofit/>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sz="2400" b="1" i="1" u="none" strike="noStrike" kern="1200" cap="none" spc="0" normalizeH="0" baseline="0" noProof="0" dirty="0" smtClean="0">
                <a:ln>
                  <a:noFill/>
                </a:ln>
                <a:solidFill>
                  <a:srgbClr val="000000"/>
                </a:solidFill>
                <a:effectLst/>
                <a:uLnTx/>
                <a:uFillTx/>
                <a:latin typeface="+mn-lt"/>
                <a:ea typeface="+mn-ea"/>
                <a:cs typeface="+mn-cs"/>
              </a:rPr>
              <a:t>Which hosts are P2P Clients</a:t>
            </a:r>
            <a:r>
              <a:rPr lang="en-US" sz="2400" b="1" i="1" dirty="0" smtClean="0">
                <a:solidFill>
                  <a:srgbClr val="000000"/>
                </a:solidFill>
              </a:rPr>
              <a:t>?</a:t>
            </a:r>
            <a:r>
              <a:rPr kumimoji="0" lang="en-US" sz="2400" b="1" i="1" u="none" strike="noStrike" kern="1200" cap="none" spc="0" normalizeH="0" baseline="0" noProof="0" dirty="0" smtClean="0">
                <a:ln>
                  <a:noFill/>
                </a:ln>
                <a:solidFill>
                  <a:srgbClr val="000000"/>
                </a:solidFill>
                <a:effectLst/>
                <a:uLnTx/>
                <a:uFillTx/>
                <a:latin typeface="+mn-lt"/>
                <a:ea typeface="+mn-ea"/>
                <a:cs typeface="+mn-cs"/>
              </a:rPr>
              <a:t> </a:t>
            </a:r>
          </a:p>
        </p:txBody>
      </p:sp>
    </p:spTree>
    <p:extLst>
      <p:ext uri="{BB962C8B-B14F-4D97-AF65-F5344CB8AC3E}">
        <p14:creationId xmlns:p14="http://schemas.microsoft.com/office/powerpoint/2010/main" val="23397176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p:bldLst>
  </p:timing>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000" b="1" dirty="0" smtClean="0"/>
              <a:t>Why Not Using Existing P2P Detection Methods?</a:t>
            </a:r>
            <a:endParaRPr lang="en-US" sz="3000" b="1" dirty="0"/>
          </a:p>
        </p:txBody>
      </p:sp>
      <p:sp>
        <p:nvSpPr>
          <p:cNvPr id="3" name="Content Placeholder 2"/>
          <p:cNvSpPr>
            <a:spLocks noGrp="1"/>
          </p:cNvSpPr>
          <p:nvPr>
            <p:ph idx="1"/>
          </p:nvPr>
        </p:nvSpPr>
        <p:spPr>
          <a:xfrm>
            <a:off x="457200" y="1499074"/>
            <a:ext cx="8229600" cy="4542191"/>
          </a:xfrm>
        </p:spPr>
        <p:txBody>
          <a:bodyPr>
            <a:normAutofit fontScale="85000" lnSpcReduction="10000"/>
          </a:bodyPr>
          <a:lstStyle/>
          <a:p>
            <a:r>
              <a:rPr lang="en-US" dirty="0" smtClean="0"/>
              <a:t>Existing P2P traffic detection Methods</a:t>
            </a:r>
          </a:p>
          <a:p>
            <a:pPr lvl="1"/>
            <a:r>
              <a:rPr lang="en-US" dirty="0" smtClean="0"/>
              <a:t>Content signatures</a:t>
            </a:r>
          </a:p>
          <a:p>
            <a:pPr lvl="1"/>
            <a:r>
              <a:rPr lang="en-US" dirty="0" smtClean="0"/>
              <a:t>Transport layer heuristics (e.g., port number, protocols)</a:t>
            </a:r>
          </a:p>
          <a:p>
            <a:pPr lvl="1"/>
            <a:r>
              <a:rPr lang="en-US" dirty="0" smtClean="0"/>
              <a:t>Learning-based methods</a:t>
            </a:r>
          </a:p>
          <a:p>
            <a:pPr lvl="1"/>
            <a:endParaRPr lang="en-US" sz="2400" dirty="0" smtClean="0"/>
          </a:p>
          <a:p>
            <a:r>
              <a:rPr lang="en-US" dirty="0" smtClean="0"/>
              <a:t>Practical Challenges</a:t>
            </a:r>
          </a:p>
          <a:p>
            <a:pPr lvl="1"/>
            <a:r>
              <a:rPr lang="en-US" dirty="0" smtClean="0"/>
              <a:t>Traffic is encrypted (Skype, Storm)</a:t>
            </a:r>
          </a:p>
          <a:p>
            <a:pPr lvl="1"/>
            <a:r>
              <a:rPr lang="en-US" dirty="0" smtClean="0"/>
              <a:t>Obfuscated protocols</a:t>
            </a:r>
          </a:p>
          <a:p>
            <a:pPr lvl="2"/>
            <a:r>
              <a:rPr lang="en-US" dirty="0" smtClean="0"/>
              <a:t>Port number is dynamically calculated</a:t>
            </a:r>
          </a:p>
          <a:p>
            <a:pPr lvl="2"/>
            <a:r>
              <a:rPr lang="en-US" dirty="0" smtClean="0"/>
              <a:t>Protocol tunnel</a:t>
            </a:r>
          </a:p>
          <a:p>
            <a:pPr lvl="1"/>
            <a:r>
              <a:rPr lang="en-US" dirty="0" smtClean="0"/>
              <a:t>Training data is unavailable</a:t>
            </a:r>
          </a:p>
          <a:p>
            <a:pPr lvl="1"/>
            <a:endParaRPr lang="en-US" dirty="0" smtClean="0"/>
          </a:p>
          <a:p>
            <a:endParaRPr lang="en-US" dirty="0" smtClean="0"/>
          </a:p>
          <a:p>
            <a:endParaRPr lang="en-US" dirty="0" smtClean="0"/>
          </a:p>
        </p:txBody>
      </p:sp>
      <p:sp>
        <p:nvSpPr>
          <p:cNvPr id="59" name="Slide Number Placeholder 58"/>
          <p:cNvSpPr>
            <a:spLocks noGrp="1"/>
          </p:cNvSpPr>
          <p:nvPr>
            <p:ph type="sldNum" sz="quarter" idx="12"/>
          </p:nvPr>
        </p:nvSpPr>
        <p:spPr/>
        <p:txBody>
          <a:bodyPr/>
          <a:lstStyle/>
          <a:p>
            <a:fld id="{92A8EF56-05AC-594A-B4F8-D7320BBA0A9A}" type="slidenum">
              <a:rPr lang="en-US" smtClean="0"/>
              <a:pPr/>
              <a:t>88</a:t>
            </a:fld>
            <a:endParaRPr lang="en-US"/>
          </a:p>
        </p:txBody>
      </p:sp>
    </p:spTree>
    <p:extLst>
      <p:ext uri="{BB962C8B-B14F-4D97-AF65-F5344CB8AC3E}">
        <p14:creationId xmlns:p14="http://schemas.microsoft.com/office/powerpoint/2010/main" val="51249802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P2P</a:t>
            </a:r>
            <a:r>
              <a:rPr lang="en-US" b="1" dirty="0" smtClean="0"/>
              <a:t> </a:t>
            </a:r>
            <a:r>
              <a:rPr lang="en-US" sz="3600" b="1" dirty="0" smtClean="0"/>
              <a:t>Client Detection</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89</a:t>
            </a:fld>
            <a:endParaRPr lang="en-US"/>
          </a:p>
        </p:txBody>
      </p:sp>
      <p:sp>
        <p:nvSpPr>
          <p:cNvPr id="35" name="Oval 34"/>
          <p:cNvSpPr/>
          <p:nvPr/>
        </p:nvSpPr>
        <p:spPr>
          <a:xfrm>
            <a:off x="5354472" y="1709699"/>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p:cNvSpPr/>
          <p:nvPr/>
        </p:nvSpPr>
        <p:spPr>
          <a:xfrm>
            <a:off x="3885358" y="3362370"/>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p:cNvSpPr/>
          <p:nvPr/>
        </p:nvSpPr>
        <p:spPr>
          <a:xfrm>
            <a:off x="4137442" y="1519554"/>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p:cNvSpPr/>
          <p:nvPr/>
        </p:nvSpPr>
        <p:spPr>
          <a:xfrm>
            <a:off x="5606556" y="2289195"/>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p:cNvSpPr/>
          <p:nvPr/>
        </p:nvSpPr>
        <p:spPr>
          <a:xfrm>
            <a:off x="4942035" y="1279743"/>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6" name="Straight Arrow Connector 35"/>
          <p:cNvCxnSpPr>
            <a:stCxn id="30" idx="0"/>
            <a:endCxn id="93" idx="4"/>
          </p:cNvCxnSpPr>
          <p:nvPr/>
        </p:nvCxnSpPr>
        <p:spPr>
          <a:xfrm rot="16200000" flipV="1">
            <a:off x="3128328" y="2479297"/>
            <a:ext cx="1243289" cy="522857"/>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a:stCxn id="31" idx="7"/>
            <a:endCxn id="34" idx="2"/>
          </p:cNvCxnSpPr>
          <p:nvPr/>
        </p:nvCxnSpPr>
        <p:spPr>
          <a:xfrm rot="5400000" flipH="1" flipV="1">
            <a:off x="4569810" y="1182449"/>
            <a:ext cx="155025" cy="589426"/>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a:stCxn id="30" idx="7"/>
            <a:endCxn id="35" idx="3"/>
          </p:cNvCxnSpPr>
          <p:nvPr/>
        </p:nvCxnSpPr>
        <p:spPr>
          <a:xfrm rot="5400000" flipH="1" flipV="1">
            <a:off x="4004407" y="2010508"/>
            <a:ext cx="1483100" cy="1290864"/>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Straight Arrow Connector 41"/>
          <p:cNvCxnSpPr>
            <a:stCxn id="35" idx="1"/>
            <a:endCxn id="31" idx="5"/>
          </p:cNvCxnSpPr>
          <p:nvPr/>
        </p:nvCxnSpPr>
        <p:spPr>
          <a:xfrm rot="16200000" flipV="1">
            <a:off x="4861712" y="1215142"/>
            <a:ext cx="20574" cy="1038780"/>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4" name="Straight Arrow Connector 43"/>
          <p:cNvCxnSpPr>
            <a:stCxn id="32" idx="0"/>
            <a:endCxn id="35" idx="5"/>
          </p:cNvCxnSpPr>
          <p:nvPr/>
        </p:nvCxnSpPr>
        <p:spPr>
          <a:xfrm rot="16200000" flipV="1">
            <a:off x="5463717" y="2020313"/>
            <a:ext cx="374805" cy="162959"/>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a:stCxn id="32" idx="2"/>
            <a:endCxn id="30" idx="6"/>
          </p:cNvCxnSpPr>
          <p:nvPr/>
        </p:nvCxnSpPr>
        <p:spPr>
          <a:xfrm rot="10800000" flipV="1">
            <a:off x="4137442" y="2409100"/>
            <a:ext cx="1469114" cy="1073175"/>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01" name="Content Placeholder 2"/>
          <p:cNvSpPr>
            <a:spLocks noGrp="1"/>
          </p:cNvSpPr>
          <p:nvPr>
            <p:ph idx="1"/>
          </p:nvPr>
        </p:nvSpPr>
        <p:spPr>
          <a:xfrm>
            <a:off x="393773" y="4250827"/>
            <a:ext cx="7743351" cy="1189922"/>
          </a:xfrm>
        </p:spPr>
        <p:txBody>
          <a:bodyPr>
            <a:normAutofit fontScale="62500" lnSpcReduction="20000"/>
          </a:bodyPr>
          <a:lstStyle/>
          <a:p>
            <a:r>
              <a:rPr lang="en-US" dirty="0" smtClean="0">
                <a:solidFill>
                  <a:srgbClr val="000000"/>
                </a:solidFill>
              </a:rPr>
              <a:t>P2P Control Messages</a:t>
            </a:r>
          </a:p>
          <a:p>
            <a:pPr lvl="1"/>
            <a:r>
              <a:rPr lang="en-US" dirty="0" smtClean="0">
                <a:solidFill>
                  <a:srgbClr val="000000"/>
                </a:solidFill>
              </a:rPr>
              <a:t>Used to maintain the functionality of P2P networks</a:t>
            </a:r>
          </a:p>
          <a:p>
            <a:pPr lvl="1"/>
            <a:r>
              <a:rPr lang="en-US" dirty="0" smtClean="0">
                <a:solidFill>
                  <a:srgbClr val="000000"/>
                </a:solidFill>
              </a:rPr>
              <a:t>Essential to any P2P network</a:t>
            </a:r>
          </a:p>
          <a:p>
            <a:pPr lvl="1"/>
            <a:r>
              <a:rPr lang="en-US" dirty="0" smtClean="0">
                <a:solidFill>
                  <a:srgbClr val="000000"/>
                </a:solidFill>
              </a:rPr>
              <a:t>Examples: PING/PONG, Routing Update, Content Publish</a:t>
            </a:r>
          </a:p>
        </p:txBody>
      </p:sp>
      <p:sp>
        <p:nvSpPr>
          <p:cNvPr id="74" name="Oval 73"/>
          <p:cNvSpPr/>
          <p:nvPr/>
        </p:nvSpPr>
        <p:spPr>
          <a:xfrm>
            <a:off x="4919799" y="3362371"/>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3362501" y="1879270"/>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6" name="Straight Arrow Connector 115"/>
          <p:cNvCxnSpPr>
            <a:stCxn id="74" idx="0"/>
            <a:endCxn id="34" idx="4"/>
          </p:cNvCxnSpPr>
          <p:nvPr/>
        </p:nvCxnSpPr>
        <p:spPr>
          <a:xfrm rot="5400000" flipH="1" flipV="1">
            <a:off x="4135551" y="2429845"/>
            <a:ext cx="1842817" cy="22236"/>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9" name="Straight Arrow Connector 118"/>
          <p:cNvCxnSpPr>
            <a:stCxn id="30" idx="7"/>
            <a:endCxn id="31" idx="4"/>
          </p:cNvCxnSpPr>
          <p:nvPr/>
        </p:nvCxnSpPr>
        <p:spPr>
          <a:xfrm rot="5400000" flipH="1" flipV="1">
            <a:off x="3362942" y="2496949"/>
            <a:ext cx="1638125" cy="162959"/>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2" name="Straight Arrow Connector 121"/>
          <p:cNvCxnSpPr>
            <a:stCxn id="74" idx="7"/>
            <a:endCxn id="32" idx="3"/>
          </p:cNvCxnSpPr>
          <p:nvPr/>
        </p:nvCxnSpPr>
        <p:spPr>
          <a:xfrm rot="5400000" flipH="1" flipV="1">
            <a:off x="4937417" y="2691436"/>
            <a:ext cx="903605" cy="508507"/>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4" name="Straight Arrow Connector 123"/>
          <p:cNvCxnSpPr>
            <a:stCxn id="93" idx="7"/>
            <a:endCxn id="31" idx="2"/>
          </p:cNvCxnSpPr>
          <p:nvPr/>
        </p:nvCxnSpPr>
        <p:spPr>
          <a:xfrm rot="5400000" flipH="1" flipV="1">
            <a:off x="3720090" y="1497038"/>
            <a:ext cx="274930" cy="559774"/>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69" name="Straight Connector 168"/>
          <p:cNvCxnSpPr/>
          <p:nvPr/>
        </p:nvCxnSpPr>
        <p:spPr>
          <a:xfrm>
            <a:off x="3362501" y="2987409"/>
            <a:ext cx="3043005" cy="1588"/>
          </a:xfrm>
          <a:prstGeom prst="line">
            <a:avLst/>
          </a:prstGeom>
          <a:ln w="28575" cap="flat" cmpd="sng" algn="ctr">
            <a:solidFill>
              <a:schemeClr val="tx1"/>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73" name="Content Placeholder 2"/>
          <p:cNvSpPr txBox="1">
            <a:spLocks/>
          </p:cNvSpPr>
          <p:nvPr/>
        </p:nvSpPr>
        <p:spPr>
          <a:xfrm>
            <a:off x="5396458" y="3034041"/>
            <a:ext cx="1009048" cy="532412"/>
          </a:xfrm>
          <a:prstGeom prst="rect">
            <a:avLst/>
          </a:prstGeom>
        </p:spPr>
        <p:txBody>
          <a:bodyPr vert="horz" lIns="91440" tIns="45720" rIns="91440" bIns="45720" rtlCol="0">
            <a:normAutofit fontScale="77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Monitored</a:t>
            </a:r>
            <a:endParaRPr lang="en-US" b="1" dirty="0" smtClean="0">
              <a:solidFill>
                <a:srgbClr val="000000"/>
              </a:solidFill>
            </a:endParaRPr>
          </a:p>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noProof="0" dirty="0" smtClean="0">
                <a:ln>
                  <a:noFill/>
                </a:ln>
                <a:solidFill>
                  <a:srgbClr val="000000"/>
                </a:solidFill>
                <a:effectLst/>
                <a:uLnTx/>
                <a:uFillTx/>
                <a:latin typeface="+mn-lt"/>
                <a:ea typeface="+mn-ea"/>
                <a:cs typeface="+mn-cs"/>
              </a:rPr>
              <a:t>Networks</a:t>
            </a:r>
            <a:endParaRPr kumimoji="0" lang="en-US" b="1" i="0" u="none" strike="noStrike" kern="1200" cap="none" spc="0" normalizeH="0" baseline="0" noProof="0" dirty="0" smtClean="0">
              <a:ln>
                <a:noFill/>
              </a:ln>
              <a:solidFill>
                <a:srgbClr val="000000"/>
              </a:solidFill>
              <a:effectLst/>
              <a:uLnTx/>
              <a:uFillTx/>
              <a:latin typeface="+mn-lt"/>
              <a:ea typeface="+mn-ea"/>
              <a:cs typeface="+mn-cs"/>
            </a:endParaRPr>
          </a:p>
        </p:txBody>
      </p:sp>
      <p:sp>
        <p:nvSpPr>
          <p:cNvPr id="174" name="Content Placeholder 2"/>
          <p:cNvSpPr txBox="1">
            <a:spLocks/>
          </p:cNvSpPr>
          <p:nvPr/>
        </p:nvSpPr>
        <p:spPr>
          <a:xfrm>
            <a:off x="5468023" y="2656107"/>
            <a:ext cx="845123" cy="447814"/>
          </a:xfrm>
          <a:prstGeom prst="rect">
            <a:avLst/>
          </a:prstGeom>
        </p:spPr>
        <p:txBody>
          <a:bodyPr vert="horz" lIns="91440" tIns="45720" rIns="91440" bIns="45720" rtlCol="0">
            <a:normAutofit fontScale="850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Internet</a:t>
            </a:r>
          </a:p>
        </p:txBody>
      </p:sp>
      <p:grpSp>
        <p:nvGrpSpPr>
          <p:cNvPr id="185" name="Group 184"/>
          <p:cNvGrpSpPr/>
          <p:nvPr/>
        </p:nvGrpSpPr>
        <p:grpSpPr>
          <a:xfrm>
            <a:off x="3461397" y="1538113"/>
            <a:ext cx="1825211" cy="1577694"/>
            <a:chOff x="438709" y="1658019"/>
            <a:chExt cx="1825211" cy="1577694"/>
          </a:xfrm>
        </p:grpSpPr>
        <p:sp>
          <p:nvSpPr>
            <p:cNvPr id="177" name="AutoShape 10"/>
            <p:cNvSpPr>
              <a:spLocks noChangeArrowheads="1"/>
            </p:cNvSpPr>
            <p:nvPr/>
          </p:nvSpPr>
          <p:spPr bwMode="auto">
            <a:xfrm rot="14627406">
              <a:off x="318262" y="2669816"/>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sp>
          <p:nvSpPr>
            <p:cNvPr id="178" name="AutoShape 10"/>
            <p:cNvSpPr>
              <a:spLocks noChangeArrowheads="1"/>
            </p:cNvSpPr>
            <p:nvPr/>
          </p:nvSpPr>
          <p:spPr bwMode="auto">
            <a:xfrm rot="16465754">
              <a:off x="1680020" y="2891731"/>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sp>
          <p:nvSpPr>
            <p:cNvPr id="179" name="AutoShape 10"/>
            <p:cNvSpPr>
              <a:spLocks noChangeArrowheads="1"/>
            </p:cNvSpPr>
            <p:nvPr/>
          </p:nvSpPr>
          <p:spPr bwMode="auto">
            <a:xfrm rot="16494362">
              <a:off x="841031" y="2616347"/>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sp>
          <p:nvSpPr>
            <p:cNvPr id="180" name="AutoShape 10"/>
            <p:cNvSpPr>
              <a:spLocks noChangeArrowheads="1"/>
            </p:cNvSpPr>
            <p:nvPr/>
          </p:nvSpPr>
          <p:spPr bwMode="auto">
            <a:xfrm rot="153394">
              <a:off x="1541925" y="1888858"/>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sp>
          <p:nvSpPr>
            <p:cNvPr id="181" name="AutoShape 10"/>
            <p:cNvSpPr>
              <a:spLocks noChangeArrowheads="1"/>
            </p:cNvSpPr>
            <p:nvPr/>
          </p:nvSpPr>
          <p:spPr bwMode="auto">
            <a:xfrm rot="4010653">
              <a:off x="561788" y="2617520"/>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sp>
          <p:nvSpPr>
            <p:cNvPr id="182" name="AutoShape 10"/>
            <p:cNvSpPr>
              <a:spLocks noChangeArrowheads="1"/>
            </p:cNvSpPr>
            <p:nvPr/>
          </p:nvSpPr>
          <p:spPr bwMode="auto">
            <a:xfrm rot="5862086">
              <a:off x="1041610" y="2658097"/>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sp>
          <p:nvSpPr>
            <p:cNvPr id="183" name="AutoShape 10"/>
            <p:cNvSpPr>
              <a:spLocks noChangeArrowheads="1"/>
            </p:cNvSpPr>
            <p:nvPr/>
          </p:nvSpPr>
          <p:spPr bwMode="auto">
            <a:xfrm rot="11082579">
              <a:off x="1477568" y="1658019"/>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sp>
          <p:nvSpPr>
            <p:cNvPr id="184" name="AutoShape 10"/>
            <p:cNvSpPr>
              <a:spLocks noChangeArrowheads="1"/>
            </p:cNvSpPr>
            <p:nvPr/>
          </p:nvSpPr>
          <p:spPr bwMode="auto">
            <a:xfrm rot="5400000">
              <a:off x="1950186" y="2921979"/>
              <a:ext cx="434181" cy="193287"/>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6"/>
            </a:solidFill>
            <a:ln>
              <a:solidFill>
                <a:schemeClr val="accent6">
                  <a:lumMod val="50000"/>
                </a:schemeClr>
              </a:solidFill>
              <a:headEnd/>
              <a:tailEnd/>
            </a:ln>
          </p:spPr>
          <p:style>
            <a:lnRef idx="1">
              <a:schemeClr val="accent1"/>
            </a:lnRef>
            <a:fillRef idx="2">
              <a:schemeClr val="accent1"/>
            </a:fillRef>
            <a:effectRef idx="1">
              <a:schemeClr val="accent1"/>
            </a:effectRef>
            <a:fontRef idx="minor">
              <a:schemeClr val="dk1"/>
            </a:fontRef>
          </p:style>
          <p:txBody>
            <a:bodyPr wrap="none" anchor="ctr"/>
            <a:lstStyle/>
            <a:p>
              <a:endParaRPr lang="en-US"/>
            </a:p>
          </p:txBody>
        </p:sp>
      </p:grpSp>
      <p:sp>
        <p:nvSpPr>
          <p:cNvPr id="186" name="Content Placeholder 2"/>
          <p:cNvSpPr txBox="1">
            <a:spLocks/>
          </p:cNvSpPr>
          <p:nvPr/>
        </p:nvSpPr>
        <p:spPr>
          <a:xfrm>
            <a:off x="3496853" y="3586817"/>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Peer-A</a:t>
            </a:r>
          </a:p>
        </p:txBody>
      </p:sp>
      <p:sp>
        <p:nvSpPr>
          <p:cNvPr id="187" name="Content Placeholder 2"/>
          <p:cNvSpPr txBox="1">
            <a:spLocks/>
          </p:cNvSpPr>
          <p:nvPr/>
        </p:nvSpPr>
        <p:spPr>
          <a:xfrm>
            <a:off x="3121047" y="1538189"/>
            <a:ext cx="785475"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Peer-B</a:t>
            </a:r>
          </a:p>
        </p:txBody>
      </p:sp>
      <p:sp>
        <p:nvSpPr>
          <p:cNvPr id="246" name="Content Placeholder 2"/>
          <p:cNvSpPr txBox="1">
            <a:spLocks/>
          </p:cNvSpPr>
          <p:nvPr/>
        </p:nvSpPr>
        <p:spPr>
          <a:xfrm>
            <a:off x="405318" y="5572873"/>
            <a:ext cx="8015524" cy="603941"/>
          </a:xfrm>
          <a:prstGeom prst="rect">
            <a:avLst/>
          </a:prstGeom>
        </p:spPr>
        <p:txBody>
          <a:bodyPr vert="horz" lIns="91440" tIns="45720" rIns="91440" bIns="45720" rtlCol="0">
            <a:normAutofit fontScale="62500" lnSpcReduction="20000"/>
          </a:body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n-US" sz="3200" b="1" i="1" u="none" strike="noStrike" kern="1200" cap="none" spc="0" normalizeH="0" baseline="0" noProof="0" dirty="0" smtClean="0">
                <a:ln>
                  <a:noFill/>
                </a:ln>
                <a:solidFill>
                  <a:srgbClr val="000000"/>
                </a:solidFill>
                <a:effectLst/>
                <a:uLnTx/>
                <a:uFillTx/>
                <a:latin typeface="+mn-lt"/>
                <a:ea typeface="+mn-ea"/>
                <a:cs typeface="+mn-cs"/>
              </a:rPr>
              <a:t>A P2P Control </a:t>
            </a:r>
            <a:r>
              <a:rPr lang="en-US" sz="3200" b="1" i="1" dirty="0" smtClean="0">
                <a:solidFill>
                  <a:srgbClr val="000000"/>
                </a:solidFill>
              </a:rPr>
              <a:t>Flow: </a:t>
            </a:r>
            <a:r>
              <a:rPr lang="en-US" sz="3200" dirty="0" smtClean="0">
                <a:solidFill>
                  <a:srgbClr val="000000"/>
                </a:solidFill>
              </a:rPr>
              <a:t>A network flow corresponding to a network session of control messages</a:t>
            </a:r>
            <a:endParaRPr kumimoji="0" lang="en-US" sz="2800" b="0" i="0" u="none" strike="noStrike" kern="1200" cap="none" spc="0" normalizeH="0" baseline="0" noProof="0" dirty="0" smtClean="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36813704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An Example of A P2P Control </a:t>
            </a:r>
            <a:r>
              <a:rPr lang="en-US" b="1" dirty="0" smtClean="0"/>
              <a:t>Flow</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90</a:t>
            </a:fld>
            <a:endParaRPr lang="en-US"/>
          </a:p>
        </p:txBody>
      </p:sp>
      <p:sp>
        <p:nvSpPr>
          <p:cNvPr id="41" name="TextBox 40"/>
          <p:cNvSpPr txBox="1"/>
          <p:nvPr/>
        </p:nvSpPr>
        <p:spPr>
          <a:xfrm>
            <a:off x="269056" y="1146061"/>
            <a:ext cx="4985720" cy="3970318"/>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b="1" dirty="0" smtClean="0"/>
              <a:t>PING/PONG</a:t>
            </a:r>
          </a:p>
          <a:p>
            <a:pPr algn="ctr"/>
            <a:endParaRPr lang="en-US" b="1" dirty="0" smtClean="0"/>
          </a:p>
          <a:p>
            <a:r>
              <a:rPr lang="en-US" dirty="0" err="1" smtClean="0"/>
              <a:t>while(every</a:t>
            </a:r>
            <a:r>
              <a:rPr lang="en-US" dirty="0" smtClean="0"/>
              <a:t> 3 </a:t>
            </a:r>
            <a:r>
              <a:rPr lang="en-US" dirty="0" err="1" smtClean="0"/>
              <a:t>miniutes</a:t>
            </a:r>
            <a:r>
              <a:rPr lang="en-US" dirty="0" smtClean="0"/>
              <a:t>)</a:t>
            </a:r>
          </a:p>
          <a:p>
            <a:r>
              <a:rPr lang="en-US" dirty="0" smtClean="0"/>
              <a:t>{</a:t>
            </a:r>
          </a:p>
          <a:p>
            <a:r>
              <a:rPr lang="en-US" dirty="0" smtClean="0"/>
              <a:t>	</a:t>
            </a:r>
            <a:r>
              <a:rPr lang="en-US" dirty="0" err="1" smtClean="0"/>
              <a:t>foreach(p</a:t>
            </a:r>
            <a:r>
              <a:rPr lang="en-US" dirty="0" smtClean="0"/>
              <a:t> in </a:t>
            </a:r>
            <a:r>
              <a:rPr lang="en-US" dirty="0" err="1" smtClean="0"/>
              <a:t>PeerList</a:t>
            </a:r>
            <a:r>
              <a:rPr lang="en-US" dirty="0" smtClean="0"/>
              <a:t>)</a:t>
            </a:r>
          </a:p>
          <a:p>
            <a:r>
              <a:rPr lang="en-US" dirty="0" smtClean="0"/>
              <a:t>	{</a:t>
            </a:r>
          </a:p>
          <a:p>
            <a:r>
              <a:rPr lang="en-US" dirty="0" smtClean="0"/>
              <a:t>		</a:t>
            </a:r>
            <a:r>
              <a:rPr lang="en-US" dirty="0" err="1" smtClean="0"/>
              <a:t>var</a:t>
            </a:r>
            <a:r>
              <a:rPr lang="en-US" dirty="0" smtClean="0"/>
              <a:t> </a:t>
            </a:r>
            <a:r>
              <a:rPr lang="en-US" dirty="0" err="1" smtClean="0"/>
              <a:t>s</a:t>
            </a:r>
            <a:r>
              <a:rPr lang="en-US" dirty="0" smtClean="0"/>
              <a:t> = new </a:t>
            </a:r>
            <a:r>
              <a:rPr lang="en-US" dirty="0" err="1" smtClean="0"/>
              <a:t>Connection(p</a:t>
            </a:r>
            <a:r>
              <a:rPr lang="en-US" dirty="0" smtClean="0"/>
              <a:t>);</a:t>
            </a:r>
          </a:p>
          <a:p>
            <a:r>
              <a:rPr lang="en-US" dirty="0" smtClean="0"/>
              <a:t>		</a:t>
            </a:r>
            <a:r>
              <a:rPr lang="en-US" dirty="0" err="1" smtClean="0"/>
              <a:t>s.send(“PING</a:t>
            </a:r>
            <a:r>
              <a:rPr lang="en-US" dirty="0" smtClean="0"/>
              <a:t>” + </a:t>
            </a:r>
            <a:r>
              <a:rPr lang="en-US" dirty="0" err="1" smtClean="0"/>
              <a:t>self.time</a:t>
            </a:r>
            <a:r>
              <a:rPr lang="en-US" dirty="0" smtClean="0"/>
              <a:t>() + </a:t>
            </a:r>
            <a:r>
              <a:rPr lang="en-US" dirty="0" err="1" smtClean="0"/>
              <a:t>self.id</a:t>
            </a:r>
            <a:r>
              <a:rPr lang="en-US" dirty="0" smtClean="0"/>
              <a:t>());	</a:t>
            </a:r>
          </a:p>
          <a:p>
            <a:r>
              <a:rPr lang="en-US" dirty="0" smtClean="0"/>
              <a:t>		</a:t>
            </a:r>
            <a:r>
              <a:rPr lang="en-US" dirty="0" err="1" smtClean="0"/>
              <a:t>var</a:t>
            </a:r>
            <a:r>
              <a:rPr lang="en-US" dirty="0" smtClean="0"/>
              <a:t> data = </a:t>
            </a:r>
            <a:r>
              <a:rPr lang="en-US" dirty="0" err="1" smtClean="0"/>
              <a:t>s.receive</a:t>
            </a:r>
            <a:r>
              <a:rPr lang="en-US" dirty="0" smtClean="0"/>
              <a:t>();	</a:t>
            </a:r>
          </a:p>
          <a:p>
            <a:r>
              <a:rPr lang="en-US" dirty="0" smtClean="0"/>
              <a:t>		</a:t>
            </a:r>
            <a:r>
              <a:rPr lang="en-US" dirty="0" err="1" smtClean="0"/>
              <a:t>s.close</a:t>
            </a:r>
            <a:r>
              <a:rPr lang="en-US" dirty="0" smtClean="0"/>
              <a:t>();</a:t>
            </a:r>
          </a:p>
          <a:p>
            <a:endParaRPr lang="en-US" dirty="0" smtClean="0"/>
          </a:p>
          <a:p>
            <a:r>
              <a:rPr lang="en-US" dirty="0" smtClean="0"/>
              <a:t>		//process data	</a:t>
            </a:r>
          </a:p>
          <a:p>
            <a:r>
              <a:rPr lang="en-US" dirty="0" smtClean="0"/>
              <a:t>	}	</a:t>
            </a:r>
          </a:p>
          <a:p>
            <a:r>
              <a:rPr lang="en-US" dirty="0" smtClean="0"/>
              <a:t>}</a:t>
            </a:r>
          </a:p>
        </p:txBody>
      </p:sp>
      <p:sp>
        <p:nvSpPr>
          <p:cNvPr id="33" name="Rounded Rectangle 32"/>
          <p:cNvSpPr/>
          <p:nvPr/>
        </p:nvSpPr>
        <p:spPr>
          <a:xfrm>
            <a:off x="1117092" y="2763198"/>
            <a:ext cx="3633494" cy="1281650"/>
          </a:xfrm>
          <a:prstGeom prst="roundRect">
            <a:avLst/>
          </a:prstGeom>
          <a:solidFill>
            <a:srgbClr val="FF0000">
              <a:alpha val="22000"/>
            </a:srgbClr>
          </a:solidFill>
          <a:ln>
            <a:gradFill flip="none" rotWithShape="1">
              <a:gsLst>
                <a:gs pos="0">
                  <a:schemeClr val="accent3">
                    <a:shade val="95000"/>
                    <a:satMod val="105000"/>
                    <a:alpha val="3000"/>
                  </a:schemeClr>
                </a:gs>
                <a:gs pos="100000">
                  <a:srgbClr val="FFFFFF"/>
                </a:gs>
              </a:gsLst>
              <a:lin ang="16200000" scaled="0"/>
              <a:tileRect/>
            </a:gra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grpSp>
        <p:nvGrpSpPr>
          <p:cNvPr id="39" name="Group 38"/>
          <p:cNvGrpSpPr/>
          <p:nvPr/>
        </p:nvGrpSpPr>
        <p:grpSpPr>
          <a:xfrm>
            <a:off x="5214185" y="1504804"/>
            <a:ext cx="3753430" cy="3003699"/>
            <a:chOff x="6381821" y="1906093"/>
            <a:chExt cx="3753430" cy="3003699"/>
          </a:xfrm>
        </p:grpSpPr>
        <p:grpSp>
          <p:nvGrpSpPr>
            <p:cNvPr id="37" name="Group 36"/>
            <p:cNvGrpSpPr/>
            <p:nvPr/>
          </p:nvGrpSpPr>
          <p:grpSpPr>
            <a:xfrm>
              <a:off x="6381821" y="1906093"/>
              <a:ext cx="1072813" cy="3003699"/>
              <a:chOff x="6381821" y="1906093"/>
              <a:chExt cx="1072813" cy="3003699"/>
            </a:xfrm>
          </p:grpSpPr>
          <p:grpSp>
            <p:nvGrpSpPr>
              <p:cNvPr id="3" name="Group 21"/>
              <p:cNvGrpSpPr/>
              <p:nvPr/>
            </p:nvGrpSpPr>
            <p:grpSpPr>
              <a:xfrm>
                <a:off x="6744651" y="2273221"/>
                <a:ext cx="252084" cy="2636571"/>
                <a:chOff x="5820509" y="1654553"/>
                <a:chExt cx="252084" cy="2636571"/>
              </a:xfrm>
            </p:grpSpPr>
            <p:sp>
              <p:nvSpPr>
                <p:cNvPr id="23" name="Oval 22"/>
                <p:cNvSpPr/>
                <p:nvPr/>
              </p:nvSpPr>
              <p:spPr>
                <a:xfrm>
                  <a:off x="5820509" y="1654553"/>
                  <a:ext cx="252084" cy="239811"/>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Arrow Connector 23"/>
                <p:cNvCxnSpPr>
                  <a:stCxn id="23" idx="4"/>
                </p:cNvCxnSpPr>
                <p:nvPr/>
              </p:nvCxnSpPr>
              <p:spPr>
                <a:xfrm rot="16200000" flipH="1">
                  <a:off x="4748171" y="3092743"/>
                  <a:ext cx="2396760" cy="1"/>
                </a:xfrm>
                <a:prstGeom prst="straightConnector1">
                  <a:avLst/>
                </a:prstGeom>
                <a:ln w="3810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cxnSp>
            <p:nvCxnSpPr>
              <p:cNvPr id="31" name="Straight Arrow Connector 30"/>
              <p:cNvCxnSpPr/>
              <p:nvPr/>
            </p:nvCxnSpPr>
            <p:spPr>
              <a:xfrm flipV="1">
                <a:off x="6996735" y="3539227"/>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2" name="Content Placeholder 2"/>
              <p:cNvSpPr txBox="1">
                <a:spLocks/>
              </p:cNvSpPr>
              <p:nvPr/>
            </p:nvSpPr>
            <p:spPr>
              <a:xfrm>
                <a:off x="6381821" y="1906093"/>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Peer-A</a:t>
                </a:r>
              </a:p>
            </p:txBody>
          </p:sp>
        </p:grpSp>
        <p:sp>
          <p:nvSpPr>
            <p:cNvPr id="38" name="TextBox 37"/>
            <p:cNvSpPr txBox="1"/>
            <p:nvPr/>
          </p:nvSpPr>
          <p:spPr>
            <a:xfrm>
              <a:off x="6535203" y="3101032"/>
              <a:ext cx="3600048" cy="338554"/>
            </a:xfrm>
            <a:prstGeom prst="rect">
              <a:avLst/>
            </a:prstGeom>
            <a:noFill/>
          </p:spPr>
          <p:txBody>
            <a:bodyPr wrap="square" rtlCol="0">
              <a:spAutoFit/>
            </a:bodyPr>
            <a:lstStyle/>
            <a:p>
              <a:r>
                <a:rPr lang="en-US" sz="1600" b="1" dirty="0" smtClean="0"/>
                <a:t>[t1, Peer-A, Peer-B, UDP, 1, 1, 100, 200]</a:t>
              </a:r>
              <a:endParaRPr lang="en-US" sz="1600" b="1" dirty="0"/>
            </a:p>
          </p:txBody>
        </p:sp>
      </p:grpSp>
      <p:sp>
        <p:nvSpPr>
          <p:cNvPr id="14" name="Content Placeholder 2"/>
          <p:cNvSpPr txBox="1">
            <a:spLocks/>
          </p:cNvSpPr>
          <p:nvPr/>
        </p:nvSpPr>
        <p:spPr>
          <a:xfrm>
            <a:off x="527583" y="5210442"/>
            <a:ext cx="8015524" cy="1239971"/>
          </a:xfrm>
          <a:prstGeom prst="rect">
            <a:avLst/>
          </a:prstGeom>
          <a:solidFill>
            <a:schemeClr val="bg1"/>
          </a:solidFill>
        </p:spPr>
        <p:txBody>
          <a:bodyPr vert="horz" lIns="91440" tIns="45720" rIns="91440" bIns="45720" rtlCol="0" anchor="ctr">
            <a:normAutofit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sz="2400" b="1" i="1" u="none" strike="noStrike" kern="1200" cap="none" spc="0" normalizeH="0" baseline="0" noProof="0" dirty="0" smtClean="0">
                <a:ln>
                  <a:noFill/>
                </a:ln>
                <a:solidFill>
                  <a:srgbClr val="000000"/>
                </a:solidFill>
                <a:effectLst/>
                <a:uLnTx/>
                <a:uFillTx/>
                <a:latin typeface="+mn-lt"/>
                <a:ea typeface="+mn-ea"/>
                <a:cs typeface="+mn-cs"/>
              </a:rPr>
              <a:t>Is this client a P2P client?</a:t>
            </a:r>
          </a:p>
          <a:p>
            <a:pPr marL="342900" marR="0" lvl="0" indent="-342900" algn="ctr" defTabSz="457200" rtl="0" eaLnBrk="1" fontAlgn="auto" latinLnBrk="0" hangingPunct="1">
              <a:lnSpc>
                <a:spcPct val="100000"/>
              </a:lnSpc>
              <a:spcBef>
                <a:spcPct val="20000"/>
              </a:spcBef>
              <a:spcAft>
                <a:spcPts val="0"/>
              </a:spcAft>
              <a:buClrTx/>
              <a:buSzTx/>
              <a:tabLst/>
              <a:defRPr/>
            </a:pPr>
            <a:r>
              <a:rPr lang="en-US" sz="2400" b="1" i="1" dirty="0" smtClean="0">
                <a:solidFill>
                  <a:srgbClr val="000000"/>
                </a:solidFill>
              </a:rPr>
              <a:t>=</a:t>
            </a:r>
          </a:p>
          <a:p>
            <a:pPr marL="342900" marR="0" lvl="0" indent="-342900" algn="ctr" defTabSz="457200" rtl="0" eaLnBrk="1" fontAlgn="auto" latinLnBrk="0" hangingPunct="1">
              <a:lnSpc>
                <a:spcPct val="100000"/>
              </a:lnSpc>
              <a:spcBef>
                <a:spcPct val="20000"/>
              </a:spcBef>
              <a:spcAft>
                <a:spcPts val="0"/>
              </a:spcAft>
              <a:buClrTx/>
              <a:buSzTx/>
              <a:tabLst/>
              <a:defRPr/>
            </a:pPr>
            <a:r>
              <a:rPr kumimoji="0" lang="en-US" sz="2400" b="1" i="1" u="none" strike="noStrike" kern="1200" cap="none" spc="0" normalizeH="0" baseline="0" noProof="0" dirty="0" smtClean="0">
                <a:ln>
                  <a:noFill/>
                </a:ln>
                <a:solidFill>
                  <a:srgbClr val="000000"/>
                </a:solidFill>
                <a:effectLst/>
                <a:uLnTx/>
                <a:uFillTx/>
                <a:latin typeface="+mn-lt"/>
                <a:ea typeface="+mn-ea"/>
                <a:cs typeface="+mn-cs"/>
              </a:rPr>
              <a:t>Does this client generate</a:t>
            </a:r>
            <a:r>
              <a:rPr kumimoji="0" lang="en-US" sz="2400" b="1" i="1" u="none" strike="noStrike" kern="1200" cap="none" spc="0" normalizeH="0" noProof="0" dirty="0" smtClean="0">
                <a:ln>
                  <a:noFill/>
                </a:ln>
                <a:solidFill>
                  <a:srgbClr val="000000"/>
                </a:solidFill>
                <a:effectLst/>
                <a:uLnTx/>
                <a:uFillTx/>
                <a:latin typeface="+mn-lt"/>
                <a:ea typeface="+mn-ea"/>
                <a:cs typeface="+mn-cs"/>
              </a:rPr>
              <a:t> P2P control flows?</a:t>
            </a:r>
            <a:endParaRPr kumimoji="0" lang="en-US" sz="2400" b="0" i="0" u="none" strike="noStrike" kern="1200" cap="none" spc="0" normalizeH="0" baseline="0" noProof="0" dirty="0" smtClean="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2529801536"/>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14"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Characteristics of P2P Control </a:t>
            </a:r>
            <a:r>
              <a:rPr lang="en-US" b="1" dirty="0" smtClean="0"/>
              <a:t>Flows</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91</a:t>
            </a:fld>
            <a:endParaRPr lang="en-US"/>
          </a:p>
        </p:txBody>
      </p:sp>
      <p:sp>
        <p:nvSpPr>
          <p:cNvPr id="201" name="Content Placeholder 2"/>
          <p:cNvSpPr>
            <a:spLocks noGrp="1"/>
          </p:cNvSpPr>
          <p:nvPr>
            <p:ph idx="1"/>
          </p:nvPr>
        </p:nvSpPr>
        <p:spPr>
          <a:xfrm>
            <a:off x="680459" y="5133255"/>
            <a:ext cx="7046683" cy="1412881"/>
          </a:xfrm>
        </p:spPr>
        <p:txBody>
          <a:bodyPr>
            <a:normAutofit fontScale="62500" lnSpcReduction="20000"/>
          </a:bodyPr>
          <a:lstStyle/>
          <a:p>
            <a:pPr marL="514350" indent="-514350">
              <a:buFont typeface="+mj-lt"/>
              <a:buAutoNum type="arabicPeriod"/>
            </a:pPr>
            <a:r>
              <a:rPr lang="en-US" sz="4364" b="1" dirty="0" smtClean="0">
                <a:solidFill>
                  <a:srgbClr val="000000"/>
                </a:solidFill>
              </a:rPr>
              <a:t>Automatically generated</a:t>
            </a:r>
            <a:endParaRPr lang="en-US" sz="4364" dirty="0" smtClean="0">
              <a:solidFill>
                <a:srgbClr val="000000"/>
              </a:solidFill>
            </a:endParaRPr>
          </a:p>
          <a:p>
            <a:pPr marL="514350" indent="-514350">
              <a:buFont typeface="+mj-lt"/>
              <a:buAutoNum type="arabicPeriod"/>
            </a:pPr>
            <a:r>
              <a:rPr lang="en-US" dirty="0" smtClean="0">
                <a:solidFill>
                  <a:srgbClr val="000000"/>
                </a:solidFill>
              </a:rPr>
              <a:t>……</a:t>
            </a:r>
          </a:p>
          <a:p>
            <a:pPr marL="514350" indent="-514350">
              <a:buFont typeface="+mj-lt"/>
              <a:buAutoNum type="arabicPeriod"/>
            </a:pPr>
            <a:r>
              <a:rPr lang="en-US" dirty="0" smtClean="0">
                <a:solidFill>
                  <a:srgbClr val="000000"/>
                </a:solidFill>
              </a:rPr>
              <a:t>……</a:t>
            </a:r>
          </a:p>
          <a:p>
            <a:pPr marL="514350" indent="-514350">
              <a:buFont typeface="+mj-lt"/>
              <a:buAutoNum type="arabicPeriod"/>
            </a:pPr>
            <a:r>
              <a:rPr lang="en-US" dirty="0" smtClean="0">
                <a:solidFill>
                  <a:srgbClr val="000000"/>
                </a:solidFill>
              </a:rPr>
              <a:t>......</a:t>
            </a:r>
          </a:p>
        </p:txBody>
      </p:sp>
      <p:sp>
        <p:nvSpPr>
          <p:cNvPr id="157" name="Right Arrow 156"/>
          <p:cNvSpPr/>
          <p:nvPr/>
        </p:nvSpPr>
        <p:spPr>
          <a:xfrm>
            <a:off x="300073" y="5133255"/>
            <a:ext cx="356235" cy="41592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 name="Group 21"/>
          <p:cNvGrpSpPr/>
          <p:nvPr/>
        </p:nvGrpSpPr>
        <p:grpSpPr>
          <a:xfrm>
            <a:off x="5866244" y="1533516"/>
            <a:ext cx="864601" cy="2636571"/>
            <a:chOff x="5207992" y="1654553"/>
            <a:chExt cx="864601" cy="2636571"/>
          </a:xfrm>
        </p:grpSpPr>
        <p:sp>
          <p:nvSpPr>
            <p:cNvPr id="23" name="Oval 22"/>
            <p:cNvSpPr/>
            <p:nvPr/>
          </p:nvSpPr>
          <p:spPr>
            <a:xfrm>
              <a:off x="5820509" y="1654553"/>
              <a:ext cx="252084" cy="239811"/>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Arrow Connector 23"/>
            <p:cNvCxnSpPr>
              <a:stCxn id="23" idx="4"/>
            </p:cNvCxnSpPr>
            <p:nvPr/>
          </p:nvCxnSpPr>
          <p:spPr>
            <a:xfrm rot="16200000" flipH="1">
              <a:off x="4748171" y="3092743"/>
              <a:ext cx="2396760" cy="1"/>
            </a:xfrm>
            <a:prstGeom prst="straightConnector1">
              <a:avLst/>
            </a:prstGeom>
            <a:ln w="3810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207992" y="3737126"/>
              <a:ext cx="612517" cy="369332"/>
            </a:xfrm>
            <a:prstGeom prst="rect">
              <a:avLst/>
            </a:prstGeom>
            <a:noFill/>
          </p:spPr>
          <p:txBody>
            <a:bodyPr wrap="none" rtlCol="0">
              <a:spAutoFit/>
            </a:bodyPr>
            <a:lstStyle/>
            <a:p>
              <a:r>
                <a:rPr lang="en-US" dirty="0" smtClean="0"/>
                <a:t>time</a:t>
              </a:r>
              <a:endParaRPr lang="en-US" dirty="0"/>
            </a:p>
          </p:txBody>
        </p:sp>
      </p:grpSp>
      <p:cxnSp>
        <p:nvCxnSpPr>
          <p:cNvPr id="26" name="Straight Arrow Connector 25"/>
          <p:cNvCxnSpPr/>
          <p:nvPr/>
        </p:nvCxnSpPr>
        <p:spPr>
          <a:xfrm flipV="1">
            <a:off x="6753553" y="1875057"/>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V="1">
            <a:off x="6762134" y="2324338"/>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flipV="1">
            <a:off x="6762134" y="2589805"/>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9" name="Straight Arrow Connector 28"/>
          <p:cNvCxnSpPr/>
          <p:nvPr/>
        </p:nvCxnSpPr>
        <p:spPr>
          <a:xfrm flipV="1">
            <a:off x="6762134" y="2865851"/>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Straight Arrow Connector 29"/>
          <p:cNvCxnSpPr/>
          <p:nvPr/>
        </p:nvCxnSpPr>
        <p:spPr>
          <a:xfrm flipV="1">
            <a:off x="6762134" y="3148095"/>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30"/>
          <p:cNvCxnSpPr/>
          <p:nvPr/>
        </p:nvCxnSpPr>
        <p:spPr>
          <a:xfrm flipV="1">
            <a:off x="6762134" y="3464399"/>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56308" y="1080631"/>
            <a:ext cx="5209936" cy="4062651"/>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b="1" dirty="0" smtClean="0"/>
              <a:t>PING/PONG</a:t>
            </a:r>
          </a:p>
          <a:p>
            <a:pPr algn="ctr"/>
            <a:endParaRPr lang="en-US" b="1" dirty="0" smtClean="0"/>
          </a:p>
          <a:p>
            <a:r>
              <a:rPr lang="en-US" sz="2400" b="1" i="1" dirty="0" err="1" smtClean="0">
                <a:solidFill>
                  <a:srgbClr val="FF0000"/>
                </a:solidFill>
              </a:rPr>
              <a:t>while</a:t>
            </a:r>
            <a:r>
              <a:rPr lang="en-US" dirty="0" err="1" smtClean="0"/>
              <a:t>(every</a:t>
            </a:r>
            <a:r>
              <a:rPr lang="en-US" dirty="0" smtClean="0"/>
              <a:t> 3 </a:t>
            </a:r>
            <a:r>
              <a:rPr lang="en-US" dirty="0" err="1" smtClean="0"/>
              <a:t>miniutes</a:t>
            </a:r>
            <a:r>
              <a:rPr lang="en-US" dirty="0" smtClean="0"/>
              <a:t>)</a:t>
            </a:r>
          </a:p>
          <a:p>
            <a:r>
              <a:rPr lang="en-US" dirty="0" smtClean="0"/>
              <a:t>{</a:t>
            </a:r>
          </a:p>
          <a:p>
            <a:r>
              <a:rPr lang="en-US" dirty="0" smtClean="0"/>
              <a:t>	</a:t>
            </a:r>
            <a:r>
              <a:rPr lang="en-US" dirty="0" err="1" smtClean="0"/>
              <a:t>foreach(p</a:t>
            </a:r>
            <a:r>
              <a:rPr lang="en-US" dirty="0" smtClean="0"/>
              <a:t> in </a:t>
            </a:r>
            <a:r>
              <a:rPr lang="en-US" dirty="0" err="1" smtClean="0"/>
              <a:t>PeerList</a:t>
            </a:r>
            <a:r>
              <a:rPr lang="en-US" dirty="0" smtClean="0"/>
              <a:t>)</a:t>
            </a:r>
          </a:p>
          <a:p>
            <a:r>
              <a:rPr lang="en-US" dirty="0" smtClean="0"/>
              <a:t>	{</a:t>
            </a:r>
          </a:p>
          <a:p>
            <a:r>
              <a:rPr lang="en-US" dirty="0" smtClean="0"/>
              <a:t>		</a:t>
            </a:r>
            <a:r>
              <a:rPr lang="en-US" dirty="0" err="1" smtClean="0"/>
              <a:t>var</a:t>
            </a:r>
            <a:r>
              <a:rPr lang="en-US" dirty="0" smtClean="0"/>
              <a:t> </a:t>
            </a:r>
            <a:r>
              <a:rPr lang="en-US" dirty="0" err="1" smtClean="0"/>
              <a:t>s</a:t>
            </a:r>
            <a:r>
              <a:rPr lang="en-US" dirty="0" smtClean="0"/>
              <a:t> = </a:t>
            </a:r>
            <a:r>
              <a:rPr lang="en-US" dirty="0" smtClean="0">
                <a:solidFill>
                  <a:srgbClr val="000000"/>
                </a:solidFill>
              </a:rPr>
              <a:t>new </a:t>
            </a:r>
            <a:r>
              <a:rPr lang="en-US" dirty="0" err="1" smtClean="0">
                <a:solidFill>
                  <a:srgbClr val="000000"/>
                </a:solidFill>
              </a:rPr>
              <a:t>Connection(p</a:t>
            </a:r>
            <a:r>
              <a:rPr lang="en-US" dirty="0" smtClean="0">
                <a:solidFill>
                  <a:srgbClr val="000000"/>
                </a:solidFill>
              </a:rPr>
              <a:t>);</a:t>
            </a:r>
          </a:p>
          <a:p>
            <a:r>
              <a:rPr lang="en-US" dirty="0" smtClean="0"/>
              <a:t>		</a:t>
            </a:r>
            <a:r>
              <a:rPr lang="en-US" dirty="0" err="1" smtClean="0"/>
              <a:t>s.send(“PING</a:t>
            </a:r>
            <a:r>
              <a:rPr lang="en-US" dirty="0" smtClean="0"/>
              <a:t>” + </a:t>
            </a:r>
            <a:r>
              <a:rPr lang="en-US" dirty="0" err="1" smtClean="0"/>
              <a:t>self.time</a:t>
            </a:r>
            <a:r>
              <a:rPr lang="en-US" dirty="0" smtClean="0"/>
              <a:t>() + </a:t>
            </a:r>
            <a:r>
              <a:rPr lang="en-US" dirty="0" err="1" smtClean="0"/>
              <a:t>self.id</a:t>
            </a:r>
            <a:r>
              <a:rPr lang="en-US" dirty="0" smtClean="0"/>
              <a:t>());	</a:t>
            </a:r>
          </a:p>
          <a:p>
            <a:r>
              <a:rPr lang="en-US" dirty="0" smtClean="0"/>
              <a:t>		</a:t>
            </a:r>
            <a:r>
              <a:rPr lang="en-US" dirty="0" err="1" smtClean="0"/>
              <a:t>var</a:t>
            </a:r>
            <a:r>
              <a:rPr lang="en-US" dirty="0" smtClean="0"/>
              <a:t> data = </a:t>
            </a:r>
            <a:r>
              <a:rPr lang="en-US" dirty="0" err="1" smtClean="0"/>
              <a:t>s.receive</a:t>
            </a:r>
            <a:r>
              <a:rPr lang="en-US" dirty="0" smtClean="0"/>
              <a:t>();	</a:t>
            </a:r>
          </a:p>
          <a:p>
            <a:r>
              <a:rPr lang="en-US" dirty="0" smtClean="0"/>
              <a:t>		</a:t>
            </a:r>
            <a:r>
              <a:rPr lang="en-US" dirty="0" err="1" smtClean="0"/>
              <a:t>s.close</a:t>
            </a:r>
            <a:r>
              <a:rPr lang="en-US" dirty="0" smtClean="0"/>
              <a:t>();</a:t>
            </a:r>
          </a:p>
          <a:p>
            <a:endParaRPr lang="en-US" dirty="0" smtClean="0"/>
          </a:p>
          <a:p>
            <a:r>
              <a:rPr lang="en-US" dirty="0" smtClean="0"/>
              <a:t>		//process data	</a:t>
            </a:r>
          </a:p>
          <a:p>
            <a:r>
              <a:rPr lang="en-US" dirty="0" smtClean="0"/>
              <a:t>	}	</a:t>
            </a:r>
          </a:p>
          <a:p>
            <a:r>
              <a:rPr lang="en-US" dirty="0" smtClean="0"/>
              <a:t>}</a:t>
            </a:r>
          </a:p>
        </p:txBody>
      </p:sp>
    </p:spTree>
    <p:extLst>
      <p:ext uri="{BB962C8B-B14F-4D97-AF65-F5344CB8AC3E}">
        <p14:creationId xmlns:p14="http://schemas.microsoft.com/office/powerpoint/2010/main" val="19749236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600"/>
                                  </p:stCondLst>
                                  <p:childTnLst>
                                    <p:set>
                                      <p:cBhvr>
                                        <p:cTn id="12" dur="1" fill="hold">
                                          <p:stCondLst>
                                            <p:cond delay="0"/>
                                          </p:stCondLst>
                                        </p:cTn>
                                        <p:tgtEl>
                                          <p:spTgt spid="27"/>
                                        </p:tgtEl>
                                        <p:attrNameLst>
                                          <p:attrName>style.visibility</p:attrName>
                                        </p:attrNameLst>
                                      </p:cBhvr>
                                      <p:to>
                                        <p:strVal val="visible"/>
                                      </p:to>
                                    </p:set>
                                  </p:childTnLst>
                                </p:cTn>
                              </p:par>
                              <p:par>
                                <p:cTn id="13" presetID="1" presetClass="entr" presetSubtype="0" fill="hold" nodeType="withEffect">
                                  <p:stCondLst>
                                    <p:cond delay="80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100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120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140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Characteristics of P2P Control </a:t>
            </a:r>
            <a:r>
              <a:rPr lang="en-US" b="1" dirty="0" smtClean="0"/>
              <a:t>Flows</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92</a:t>
            </a:fld>
            <a:endParaRPr lang="en-US"/>
          </a:p>
        </p:txBody>
      </p:sp>
      <p:grpSp>
        <p:nvGrpSpPr>
          <p:cNvPr id="86" name="Group 85"/>
          <p:cNvGrpSpPr/>
          <p:nvPr/>
        </p:nvGrpSpPr>
        <p:grpSpPr>
          <a:xfrm>
            <a:off x="3948746" y="1251692"/>
            <a:ext cx="4037621" cy="2873744"/>
            <a:chOff x="3948746" y="1251692"/>
            <a:chExt cx="4037621" cy="2873744"/>
          </a:xfrm>
        </p:grpSpPr>
        <p:sp>
          <p:nvSpPr>
            <p:cNvPr id="68" name="Oval 67"/>
            <p:cNvSpPr/>
            <p:nvPr/>
          </p:nvSpPr>
          <p:spPr>
            <a:xfrm>
              <a:off x="4849553" y="1741952"/>
              <a:ext cx="252084" cy="239811"/>
            </a:xfrm>
            <a:prstGeom prst="ellipse">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TextBox 68"/>
            <p:cNvSpPr txBox="1"/>
            <p:nvPr/>
          </p:nvSpPr>
          <p:spPr>
            <a:xfrm>
              <a:off x="4318833" y="1385750"/>
              <a:ext cx="1219016" cy="369332"/>
            </a:xfrm>
            <a:prstGeom prst="rect">
              <a:avLst/>
            </a:prstGeom>
            <a:noFill/>
          </p:spPr>
          <p:txBody>
            <a:bodyPr wrap="none" rtlCol="0">
              <a:spAutoFit/>
            </a:bodyPr>
            <a:lstStyle/>
            <a:p>
              <a:r>
                <a:rPr lang="en-US" dirty="0" smtClean="0"/>
                <a:t>DNS server</a:t>
              </a:r>
              <a:endParaRPr lang="en-US" dirty="0"/>
            </a:p>
          </p:txBody>
        </p:sp>
        <p:cxnSp>
          <p:nvCxnSpPr>
            <p:cNvPr id="70" name="Straight Arrow Connector 69"/>
            <p:cNvCxnSpPr/>
            <p:nvPr/>
          </p:nvCxnSpPr>
          <p:spPr>
            <a:xfrm rot="5400000" flipH="1" flipV="1">
              <a:off x="4434551" y="2441892"/>
              <a:ext cx="941427" cy="158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rot="16200000" flipH="1">
              <a:off x="4790903" y="2166455"/>
              <a:ext cx="931639" cy="562254"/>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948746" y="2689932"/>
              <a:ext cx="1389260" cy="307777"/>
            </a:xfrm>
            <a:prstGeom prst="rect">
              <a:avLst/>
            </a:prstGeom>
            <a:solidFill>
              <a:schemeClr val="bg1"/>
            </a:solidFill>
          </p:spPr>
          <p:txBody>
            <a:bodyPr wrap="none" rtlCol="0">
              <a:spAutoFit/>
            </a:bodyPr>
            <a:lstStyle/>
            <a:p>
              <a:r>
                <a:rPr lang="en-US" sz="1400" dirty="0" err="1" smtClean="0"/>
                <a:t>mail.google.com</a:t>
              </a:r>
              <a:endParaRPr lang="en-US" sz="1400" dirty="0"/>
            </a:p>
          </p:txBody>
        </p:sp>
        <p:sp>
          <p:nvSpPr>
            <p:cNvPr id="73" name="TextBox 72"/>
            <p:cNvSpPr txBox="1"/>
            <p:nvPr/>
          </p:nvSpPr>
          <p:spPr>
            <a:xfrm>
              <a:off x="5031300" y="2110883"/>
              <a:ext cx="1230588" cy="307777"/>
            </a:xfrm>
            <a:prstGeom prst="rect">
              <a:avLst/>
            </a:prstGeom>
            <a:solidFill>
              <a:schemeClr val="bg1"/>
            </a:solidFill>
          </p:spPr>
          <p:txBody>
            <a:bodyPr wrap="none" rtlCol="0">
              <a:spAutoFit/>
            </a:bodyPr>
            <a:lstStyle/>
            <a:p>
              <a:r>
                <a:rPr lang="en-US" sz="1400" dirty="0" smtClean="0"/>
                <a:t>74.125.224.56</a:t>
              </a:r>
              <a:endParaRPr lang="en-US" sz="1400" dirty="0"/>
            </a:p>
          </p:txBody>
        </p:sp>
        <p:cxnSp>
          <p:nvCxnSpPr>
            <p:cNvPr id="76" name="Straight Arrow Connector 75"/>
            <p:cNvCxnSpPr/>
            <p:nvPr/>
          </p:nvCxnSpPr>
          <p:spPr>
            <a:xfrm rot="5400000" flipH="1" flipV="1">
              <a:off x="6229429" y="2072968"/>
              <a:ext cx="913915" cy="731505"/>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6529167" y="1251692"/>
              <a:ext cx="1457200" cy="523220"/>
            </a:xfrm>
            <a:prstGeom prst="rect">
              <a:avLst/>
            </a:prstGeom>
            <a:noFill/>
          </p:spPr>
          <p:txBody>
            <a:bodyPr wrap="none" rtlCol="0">
              <a:spAutoFit/>
            </a:bodyPr>
            <a:lstStyle/>
            <a:p>
              <a:r>
                <a:rPr lang="en-US" sz="1400" dirty="0" smtClean="0"/>
                <a:t>    Gmail Server</a:t>
              </a:r>
            </a:p>
            <a:p>
              <a:r>
                <a:rPr lang="en-US" sz="1400" dirty="0" smtClean="0"/>
                <a:t>IP: 74.125.224.56</a:t>
              </a:r>
              <a:endParaRPr lang="en-US" sz="1400" dirty="0"/>
            </a:p>
          </p:txBody>
        </p:sp>
        <p:sp>
          <p:nvSpPr>
            <p:cNvPr id="78" name="Oval 77"/>
            <p:cNvSpPr/>
            <p:nvPr/>
          </p:nvSpPr>
          <p:spPr>
            <a:xfrm>
              <a:off x="7052139" y="1757610"/>
              <a:ext cx="252084" cy="239811"/>
            </a:xfrm>
            <a:prstGeom prst="ellipse">
              <a:avLst/>
            </a:prstGeom>
            <a:noFill/>
            <a:ln w="381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0" name="Picture 79"/>
            <p:cNvPicPr>
              <a:picLocks noChangeAspect="1"/>
            </p:cNvPicPr>
            <p:nvPr/>
          </p:nvPicPr>
          <p:blipFill>
            <a:blip r:embed="rId3"/>
            <a:stretch>
              <a:fillRect/>
            </a:stretch>
          </p:blipFill>
          <p:spPr>
            <a:xfrm>
              <a:off x="4644744" y="2976217"/>
              <a:ext cx="2659479" cy="697764"/>
            </a:xfrm>
            <a:prstGeom prst="rect">
              <a:avLst/>
            </a:prstGeom>
          </p:spPr>
        </p:pic>
        <p:sp>
          <p:nvSpPr>
            <p:cNvPr id="81" name="TextBox 80"/>
            <p:cNvSpPr txBox="1"/>
            <p:nvPr/>
          </p:nvSpPr>
          <p:spPr>
            <a:xfrm>
              <a:off x="4633199" y="3756104"/>
              <a:ext cx="2781756" cy="369332"/>
            </a:xfrm>
            <a:prstGeom prst="rect">
              <a:avLst/>
            </a:prstGeom>
            <a:noFill/>
          </p:spPr>
          <p:txBody>
            <a:bodyPr wrap="none" rtlCol="0">
              <a:spAutoFit/>
            </a:bodyPr>
            <a:lstStyle/>
            <a:p>
              <a:r>
                <a:rPr lang="en-US" dirty="0" smtClean="0"/>
                <a:t>Browsers/Email-Clients/</a:t>
              </a:r>
              <a:r>
                <a:rPr lang="en-US" dirty="0" err="1" smtClean="0"/>
                <a:t>IMs</a:t>
              </a:r>
              <a:endParaRPr lang="en-US" dirty="0"/>
            </a:p>
          </p:txBody>
        </p:sp>
        <p:sp>
          <p:nvSpPr>
            <p:cNvPr id="83" name="Heptagon 82"/>
            <p:cNvSpPr/>
            <p:nvPr/>
          </p:nvSpPr>
          <p:spPr>
            <a:xfrm>
              <a:off x="4378132" y="2255427"/>
              <a:ext cx="405326" cy="360127"/>
            </a:xfrm>
            <a:prstGeom prst="hept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1</a:t>
              </a:r>
              <a:endParaRPr lang="en-US" dirty="0"/>
            </a:p>
          </p:txBody>
        </p:sp>
        <p:sp>
          <p:nvSpPr>
            <p:cNvPr id="84" name="Heptagon 83"/>
            <p:cNvSpPr/>
            <p:nvPr/>
          </p:nvSpPr>
          <p:spPr>
            <a:xfrm>
              <a:off x="5430366" y="2418660"/>
              <a:ext cx="405326" cy="360127"/>
            </a:xfrm>
            <a:prstGeom prst="hept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2</a:t>
              </a:r>
              <a:endParaRPr lang="en-US" dirty="0"/>
            </a:p>
          </p:txBody>
        </p:sp>
        <p:sp>
          <p:nvSpPr>
            <p:cNvPr id="85" name="Heptagon 84"/>
            <p:cNvSpPr/>
            <p:nvPr/>
          </p:nvSpPr>
          <p:spPr>
            <a:xfrm>
              <a:off x="6646813" y="2390996"/>
              <a:ext cx="405326" cy="360127"/>
            </a:xfrm>
            <a:prstGeom prst="heptagon">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t>3</a:t>
              </a:r>
              <a:endParaRPr lang="en-US" dirty="0"/>
            </a:p>
          </p:txBody>
        </p:sp>
      </p:grpSp>
      <p:grpSp>
        <p:nvGrpSpPr>
          <p:cNvPr id="116" name="Group 115"/>
          <p:cNvGrpSpPr/>
          <p:nvPr/>
        </p:nvGrpSpPr>
        <p:grpSpPr>
          <a:xfrm>
            <a:off x="551145" y="1603695"/>
            <a:ext cx="2551001" cy="2552056"/>
            <a:chOff x="551145" y="1603695"/>
            <a:chExt cx="2551001" cy="2552056"/>
          </a:xfrm>
        </p:grpSpPr>
        <p:cxnSp>
          <p:nvCxnSpPr>
            <p:cNvPr id="91" name="Straight Arrow Connector 90"/>
            <p:cNvCxnSpPr/>
            <p:nvPr/>
          </p:nvCxnSpPr>
          <p:spPr>
            <a:xfrm rot="5400000" flipH="1" flipV="1">
              <a:off x="552690" y="2764876"/>
              <a:ext cx="1129358" cy="7776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pSp>
          <p:nvGrpSpPr>
            <p:cNvPr id="93" name="Group 92"/>
            <p:cNvGrpSpPr/>
            <p:nvPr/>
          </p:nvGrpSpPr>
          <p:grpSpPr>
            <a:xfrm>
              <a:off x="551145" y="1603695"/>
              <a:ext cx="2551001" cy="2552056"/>
              <a:chOff x="2347264" y="1417638"/>
              <a:chExt cx="2551001" cy="2552056"/>
            </a:xfrm>
          </p:grpSpPr>
          <p:sp>
            <p:nvSpPr>
              <p:cNvPr id="94" name="TextBox 93"/>
              <p:cNvSpPr txBox="1"/>
              <p:nvPr/>
            </p:nvSpPr>
            <p:spPr>
              <a:xfrm>
                <a:off x="2376941" y="3600362"/>
                <a:ext cx="806944" cy="369332"/>
              </a:xfrm>
              <a:prstGeom prst="rect">
                <a:avLst/>
              </a:prstGeom>
              <a:noFill/>
            </p:spPr>
            <p:txBody>
              <a:bodyPr wrap="none" rtlCol="0">
                <a:spAutoFit/>
              </a:bodyPr>
              <a:lstStyle/>
              <a:p>
                <a:r>
                  <a:rPr lang="en-US" dirty="0" smtClean="0"/>
                  <a:t>Peer-A</a:t>
                </a:r>
                <a:endParaRPr lang="en-US" dirty="0"/>
              </a:p>
            </p:txBody>
          </p:sp>
          <p:grpSp>
            <p:nvGrpSpPr>
              <p:cNvPr id="97" name="Group 87"/>
              <p:cNvGrpSpPr/>
              <p:nvPr/>
            </p:nvGrpSpPr>
            <p:grpSpPr>
              <a:xfrm>
                <a:off x="2347264" y="1417638"/>
                <a:ext cx="2551001" cy="2169197"/>
                <a:chOff x="2347264" y="1417638"/>
                <a:chExt cx="2551001" cy="2169197"/>
              </a:xfrm>
            </p:grpSpPr>
            <p:sp>
              <p:nvSpPr>
                <p:cNvPr id="98" name="TextBox 97"/>
                <p:cNvSpPr txBox="1"/>
                <p:nvPr/>
              </p:nvSpPr>
              <p:spPr>
                <a:xfrm>
                  <a:off x="2874604" y="1417638"/>
                  <a:ext cx="2023661" cy="369332"/>
                </a:xfrm>
                <a:prstGeom prst="rect">
                  <a:avLst/>
                </a:prstGeom>
                <a:noFill/>
              </p:spPr>
              <p:txBody>
                <a:bodyPr wrap="none" rtlCol="0">
                  <a:spAutoFit/>
                </a:bodyPr>
                <a:lstStyle/>
                <a:p>
                  <a:r>
                    <a:rPr lang="en-US" dirty="0" smtClean="0"/>
                    <a:t>Peer-B: 22.22.22.22</a:t>
                  </a:r>
                  <a:endParaRPr lang="en-US" dirty="0"/>
                </a:p>
              </p:txBody>
            </p:sp>
            <p:grpSp>
              <p:nvGrpSpPr>
                <p:cNvPr id="99" name="Group 86"/>
                <p:cNvGrpSpPr/>
                <p:nvPr/>
              </p:nvGrpSpPr>
              <p:grpSpPr>
                <a:xfrm>
                  <a:off x="2347264" y="1813213"/>
                  <a:ext cx="731151" cy="1773622"/>
                  <a:chOff x="2347264" y="1813213"/>
                  <a:chExt cx="731151" cy="1773622"/>
                </a:xfrm>
              </p:grpSpPr>
              <p:sp>
                <p:nvSpPr>
                  <p:cNvPr id="100" name="Oval 99"/>
                  <p:cNvSpPr/>
                  <p:nvPr/>
                </p:nvSpPr>
                <p:spPr>
                  <a:xfrm>
                    <a:off x="2748562" y="3182382"/>
                    <a:ext cx="252084" cy="239811"/>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Oval 100"/>
                  <p:cNvSpPr/>
                  <p:nvPr/>
                </p:nvSpPr>
                <p:spPr>
                  <a:xfrm>
                    <a:off x="2826331" y="1813213"/>
                    <a:ext cx="252084" cy="239811"/>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TextBox 102"/>
                  <p:cNvSpPr txBox="1"/>
                  <p:nvPr/>
                </p:nvSpPr>
                <p:spPr>
                  <a:xfrm>
                    <a:off x="2347264" y="3217503"/>
                    <a:ext cx="184666" cy="369332"/>
                  </a:xfrm>
                  <a:prstGeom prst="rect">
                    <a:avLst/>
                  </a:prstGeom>
                  <a:noFill/>
                </p:spPr>
                <p:txBody>
                  <a:bodyPr wrap="none" rtlCol="0">
                    <a:spAutoFit/>
                  </a:bodyPr>
                  <a:lstStyle/>
                  <a:p>
                    <a:endParaRPr lang="en-US" dirty="0"/>
                  </a:p>
                </p:txBody>
              </p:sp>
            </p:grpSp>
          </p:grpSp>
        </p:grpSp>
      </p:grpSp>
      <p:sp>
        <p:nvSpPr>
          <p:cNvPr id="119" name="Right Arrow 118"/>
          <p:cNvSpPr/>
          <p:nvPr/>
        </p:nvSpPr>
        <p:spPr>
          <a:xfrm>
            <a:off x="264484" y="5320297"/>
            <a:ext cx="356235" cy="41592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Content Placeholder 2"/>
          <p:cNvSpPr txBox="1">
            <a:spLocks/>
          </p:cNvSpPr>
          <p:nvPr/>
        </p:nvSpPr>
        <p:spPr>
          <a:xfrm>
            <a:off x="551146" y="4880961"/>
            <a:ext cx="8135654" cy="1738171"/>
          </a:xfrm>
          <a:prstGeom prst="rect">
            <a:avLst/>
          </a:prstGeom>
        </p:spPr>
        <p:txBody>
          <a:bodyPr vert="horz" lIns="91440" tIns="45720" rIns="91440" bIns="45720" rtlCol="0">
            <a:normAutofit/>
          </a:bodyPr>
          <a:lstStyle/>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2000" i="0" u="none" strike="noStrike" kern="1200" cap="none" spc="0" normalizeH="0" baseline="0" noProof="0" dirty="0" smtClean="0">
                <a:ln>
                  <a:noFill/>
                </a:ln>
                <a:solidFill>
                  <a:srgbClr val="000000"/>
                </a:solidFill>
                <a:effectLst/>
                <a:uLnTx/>
                <a:uFillTx/>
                <a:latin typeface="+mn-lt"/>
                <a:ea typeface="+mn-ea"/>
                <a:cs typeface="+mn-cs"/>
              </a:rPr>
              <a:t>Automatically generated</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2595" b="1" i="0" u="none" strike="noStrike" kern="1200" cap="none" spc="0" normalizeH="0" baseline="0" noProof="0" dirty="0" smtClean="0">
                <a:ln>
                  <a:noFill/>
                </a:ln>
                <a:solidFill>
                  <a:srgbClr val="000000"/>
                </a:solidFill>
                <a:effectLst/>
                <a:uLnTx/>
                <a:uFillTx/>
                <a:latin typeface="+mn-lt"/>
                <a:ea typeface="+mn-ea"/>
                <a:cs typeface="+mn-cs"/>
              </a:rPr>
              <a:t>DNS</a:t>
            </a:r>
            <a:r>
              <a:rPr lang="en-US" sz="2595" b="1" dirty="0" smtClean="0">
                <a:solidFill>
                  <a:srgbClr val="000000"/>
                </a:solidFill>
              </a:rPr>
              <a:t>-Free, different from popular network applications</a:t>
            </a:r>
            <a:endParaRPr kumimoji="0" lang="en-US" sz="2595" i="0" u="none" strike="noStrike" kern="1200" cap="none" spc="0" normalizeH="0" baseline="0" noProof="0" dirty="0" smtClean="0">
              <a:ln>
                <a:noFill/>
              </a:ln>
              <a:solidFill>
                <a:srgbClr val="000000"/>
              </a:solidFill>
              <a:effectLst/>
              <a:uLnTx/>
              <a:uFillTx/>
              <a:latin typeface="+mn-lt"/>
              <a:ea typeface="+mn-ea"/>
              <a:cs typeface="+mn-cs"/>
            </a:endParaRP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2000" i="0" u="none" strike="noStrike" kern="1200" cap="none" spc="0" normalizeH="0" baseline="0" noProof="0" dirty="0" smtClean="0">
                <a:ln>
                  <a:noFill/>
                </a:ln>
                <a:solidFill>
                  <a:srgbClr val="000000"/>
                </a:solidFill>
                <a:effectLst/>
                <a:uLnTx/>
                <a:uFillTx/>
                <a:latin typeface="+mn-lt"/>
                <a:ea typeface="+mn-ea"/>
                <a:cs typeface="+mn-cs"/>
              </a:rPr>
              <a:t>......</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2000" i="0" u="none" strike="noStrike" kern="1200" cap="none" spc="0" normalizeH="0" baseline="0" noProof="0" dirty="0" smtClean="0">
                <a:ln>
                  <a:noFill/>
                </a:ln>
                <a:solidFill>
                  <a:srgbClr val="000000"/>
                </a:solidFill>
                <a:effectLst/>
                <a:uLnTx/>
                <a:uFillTx/>
                <a:latin typeface="+mn-lt"/>
                <a:ea typeface="+mn-ea"/>
                <a:cs typeface="+mn-cs"/>
              </a:rPr>
              <a:t>……</a:t>
            </a:r>
          </a:p>
        </p:txBody>
      </p:sp>
      <p:sp>
        <p:nvSpPr>
          <p:cNvPr id="35" name="Rectangle 34"/>
          <p:cNvSpPr/>
          <p:nvPr/>
        </p:nvSpPr>
        <p:spPr>
          <a:xfrm>
            <a:off x="2511828" y="4191025"/>
            <a:ext cx="3026021" cy="55930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smtClean="0">
                <a:solidFill>
                  <a:schemeClr val="tx1"/>
                </a:solidFill>
              </a:rPr>
              <a:t>For traffic reduction!</a:t>
            </a:r>
            <a:endParaRPr lang="en-US" b="1" dirty="0">
              <a:solidFill>
                <a:schemeClr val="tx1"/>
              </a:solidFill>
            </a:endParaRPr>
          </a:p>
        </p:txBody>
      </p:sp>
      <p:sp>
        <p:nvSpPr>
          <p:cNvPr id="37" name="TextBox 36"/>
          <p:cNvSpPr txBox="1"/>
          <p:nvPr/>
        </p:nvSpPr>
        <p:spPr>
          <a:xfrm>
            <a:off x="393742" y="1208883"/>
            <a:ext cx="5179384" cy="4062651"/>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b="1" dirty="0" smtClean="0"/>
              <a:t>PING/PONG</a:t>
            </a:r>
          </a:p>
          <a:p>
            <a:pPr algn="ctr"/>
            <a:endParaRPr lang="en-US" b="1" dirty="0" smtClean="0"/>
          </a:p>
          <a:p>
            <a:r>
              <a:rPr lang="en-US" dirty="0" err="1" smtClean="0"/>
              <a:t>while(every</a:t>
            </a:r>
            <a:r>
              <a:rPr lang="en-US" dirty="0" smtClean="0"/>
              <a:t> 3 </a:t>
            </a:r>
            <a:r>
              <a:rPr lang="en-US" dirty="0" err="1" smtClean="0"/>
              <a:t>miniutes</a:t>
            </a:r>
            <a:r>
              <a:rPr lang="en-US" dirty="0" smtClean="0"/>
              <a:t>)</a:t>
            </a:r>
          </a:p>
          <a:p>
            <a:r>
              <a:rPr lang="en-US" dirty="0" smtClean="0"/>
              <a:t>{</a:t>
            </a:r>
          </a:p>
          <a:p>
            <a:r>
              <a:rPr lang="en-US" dirty="0" smtClean="0"/>
              <a:t>	</a:t>
            </a:r>
            <a:r>
              <a:rPr lang="en-US" dirty="0" err="1" smtClean="0"/>
              <a:t>foreach(p</a:t>
            </a:r>
            <a:r>
              <a:rPr lang="en-US" dirty="0" smtClean="0"/>
              <a:t> in </a:t>
            </a:r>
            <a:r>
              <a:rPr lang="en-US" dirty="0" err="1" smtClean="0"/>
              <a:t>PeerList</a:t>
            </a:r>
            <a:r>
              <a:rPr lang="en-US" dirty="0" smtClean="0"/>
              <a:t>)</a:t>
            </a:r>
          </a:p>
          <a:p>
            <a:r>
              <a:rPr lang="en-US" dirty="0" smtClean="0"/>
              <a:t>	{</a:t>
            </a:r>
          </a:p>
          <a:p>
            <a:r>
              <a:rPr lang="en-US" dirty="0" smtClean="0"/>
              <a:t>		</a:t>
            </a:r>
            <a:r>
              <a:rPr lang="en-US" dirty="0" err="1" smtClean="0"/>
              <a:t>var</a:t>
            </a:r>
            <a:r>
              <a:rPr lang="en-US" dirty="0" smtClean="0"/>
              <a:t> </a:t>
            </a:r>
            <a:r>
              <a:rPr lang="en-US" dirty="0" err="1" smtClean="0"/>
              <a:t>s</a:t>
            </a:r>
            <a:r>
              <a:rPr lang="en-US" dirty="0" smtClean="0"/>
              <a:t> = </a:t>
            </a:r>
            <a:r>
              <a:rPr lang="en-US" sz="2400" b="1" i="1" dirty="0" smtClean="0">
                <a:solidFill>
                  <a:srgbClr val="FF0000"/>
                </a:solidFill>
              </a:rPr>
              <a:t>new </a:t>
            </a:r>
            <a:r>
              <a:rPr lang="en-US" sz="2400" b="1" i="1" dirty="0" err="1" smtClean="0">
                <a:solidFill>
                  <a:srgbClr val="FF0000"/>
                </a:solidFill>
              </a:rPr>
              <a:t>Connection(p</a:t>
            </a:r>
            <a:r>
              <a:rPr lang="en-US" sz="2400" b="1" i="1" dirty="0" smtClean="0">
                <a:solidFill>
                  <a:srgbClr val="FF0000"/>
                </a:solidFill>
              </a:rPr>
              <a:t>)</a:t>
            </a:r>
            <a:r>
              <a:rPr lang="en-US" b="1" i="1" dirty="0" smtClean="0">
                <a:solidFill>
                  <a:srgbClr val="FF0000"/>
                </a:solidFill>
              </a:rPr>
              <a:t>;</a:t>
            </a:r>
          </a:p>
          <a:p>
            <a:r>
              <a:rPr lang="en-US" dirty="0" smtClean="0"/>
              <a:t>		</a:t>
            </a:r>
            <a:r>
              <a:rPr lang="en-US" dirty="0" err="1" smtClean="0"/>
              <a:t>s.send(“PING</a:t>
            </a:r>
            <a:r>
              <a:rPr lang="en-US" dirty="0" smtClean="0"/>
              <a:t>” + </a:t>
            </a:r>
            <a:r>
              <a:rPr lang="en-US" dirty="0" err="1" smtClean="0"/>
              <a:t>self.time</a:t>
            </a:r>
            <a:r>
              <a:rPr lang="en-US" dirty="0" smtClean="0"/>
              <a:t>() + </a:t>
            </a:r>
            <a:r>
              <a:rPr lang="en-US" dirty="0" err="1" smtClean="0"/>
              <a:t>self.id</a:t>
            </a:r>
            <a:r>
              <a:rPr lang="en-US" dirty="0" smtClean="0"/>
              <a:t>());	</a:t>
            </a:r>
          </a:p>
          <a:p>
            <a:r>
              <a:rPr lang="en-US" dirty="0" smtClean="0"/>
              <a:t>		</a:t>
            </a:r>
            <a:r>
              <a:rPr lang="en-US" dirty="0" err="1" smtClean="0"/>
              <a:t>var</a:t>
            </a:r>
            <a:r>
              <a:rPr lang="en-US" dirty="0" smtClean="0"/>
              <a:t> data = </a:t>
            </a:r>
            <a:r>
              <a:rPr lang="en-US" dirty="0" err="1" smtClean="0"/>
              <a:t>s.receive</a:t>
            </a:r>
            <a:r>
              <a:rPr lang="en-US" dirty="0" smtClean="0"/>
              <a:t>();	</a:t>
            </a:r>
          </a:p>
          <a:p>
            <a:r>
              <a:rPr lang="en-US" dirty="0" smtClean="0"/>
              <a:t>		</a:t>
            </a:r>
            <a:r>
              <a:rPr lang="en-US" dirty="0" err="1" smtClean="0"/>
              <a:t>s.close</a:t>
            </a:r>
            <a:r>
              <a:rPr lang="en-US" dirty="0" smtClean="0"/>
              <a:t>();</a:t>
            </a:r>
          </a:p>
          <a:p>
            <a:endParaRPr lang="en-US" dirty="0" smtClean="0"/>
          </a:p>
          <a:p>
            <a:r>
              <a:rPr lang="en-US" dirty="0" smtClean="0"/>
              <a:t>		//process data	</a:t>
            </a:r>
          </a:p>
          <a:p>
            <a:r>
              <a:rPr lang="en-US" dirty="0" smtClean="0"/>
              <a:t>	}	</a:t>
            </a:r>
          </a:p>
          <a:p>
            <a:r>
              <a:rPr lang="en-US" dirty="0" smtClean="0"/>
              <a:t>}</a:t>
            </a:r>
          </a:p>
        </p:txBody>
      </p:sp>
    </p:spTree>
    <p:extLst>
      <p:ext uri="{BB962C8B-B14F-4D97-AF65-F5344CB8AC3E}">
        <p14:creationId xmlns:p14="http://schemas.microsoft.com/office/powerpoint/2010/main" val="9018990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Group 101"/>
          <p:cNvGrpSpPr/>
          <p:nvPr/>
        </p:nvGrpSpPr>
        <p:grpSpPr>
          <a:xfrm>
            <a:off x="3033970" y="1281063"/>
            <a:ext cx="2000072" cy="1464703"/>
            <a:chOff x="3175435" y="1078430"/>
            <a:chExt cx="2000072" cy="1464703"/>
          </a:xfrm>
        </p:grpSpPr>
        <p:sp>
          <p:nvSpPr>
            <p:cNvPr id="96" name="Cloud 95"/>
            <p:cNvSpPr/>
            <p:nvPr/>
          </p:nvSpPr>
          <p:spPr>
            <a:xfrm rot="20402468">
              <a:off x="3175435" y="1513743"/>
              <a:ext cx="1729738" cy="1029390"/>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 name="Content Placeholder 2"/>
            <p:cNvSpPr txBox="1">
              <a:spLocks/>
            </p:cNvSpPr>
            <p:nvPr/>
          </p:nvSpPr>
          <p:spPr>
            <a:xfrm>
              <a:off x="3655303" y="1078430"/>
              <a:ext cx="1520204" cy="338686"/>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AT&amp;T</a:t>
              </a:r>
            </a:p>
          </p:txBody>
        </p:sp>
      </p:grpSp>
      <p:grpSp>
        <p:nvGrpSpPr>
          <p:cNvPr id="101" name="Group 100"/>
          <p:cNvGrpSpPr/>
          <p:nvPr/>
        </p:nvGrpSpPr>
        <p:grpSpPr>
          <a:xfrm>
            <a:off x="316859" y="1309006"/>
            <a:ext cx="2376450" cy="1587643"/>
            <a:chOff x="458324" y="1106373"/>
            <a:chExt cx="2376450" cy="1587643"/>
          </a:xfrm>
        </p:grpSpPr>
        <p:sp>
          <p:nvSpPr>
            <p:cNvPr id="95" name="Cloud 94"/>
            <p:cNvSpPr/>
            <p:nvPr/>
          </p:nvSpPr>
          <p:spPr>
            <a:xfrm>
              <a:off x="624952" y="1353338"/>
              <a:ext cx="2209822" cy="1340678"/>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Content Placeholder 2"/>
            <p:cNvSpPr txBox="1">
              <a:spLocks/>
            </p:cNvSpPr>
            <p:nvPr/>
          </p:nvSpPr>
          <p:spPr>
            <a:xfrm>
              <a:off x="458324" y="1106373"/>
              <a:ext cx="1520204" cy="338686"/>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lang="en-US" b="1" dirty="0" smtClean="0">
                  <a:solidFill>
                    <a:srgbClr val="000000"/>
                  </a:solidFill>
                </a:rPr>
                <a:t>Comcast</a:t>
              </a:r>
              <a:endParaRPr kumimoji="0" lang="en-US" b="1" i="0" u="none" strike="noStrike" kern="1200" cap="none" spc="0" normalizeH="0" baseline="0" noProof="0" dirty="0" smtClean="0">
                <a:ln>
                  <a:noFill/>
                </a:ln>
                <a:solidFill>
                  <a:srgbClr val="000000"/>
                </a:solidFill>
                <a:effectLst/>
                <a:uLnTx/>
                <a:uFillTx/>
                <a:latin typeface="+mn-lt"/>
                <a:ea typeface="+mn-ea"/>
                <a:cs typeface="+mn-cs"/>
              </a:endParaRPr>
            </a:p>
          </p:txBody>
        </p:sp>
      </p:grpSp>
      <p:grpSp>
        <p:nvGrpSpPr>
          <p:cNvPr id="103" name="Group 102"/>
          <p:cNvGrpSpPr/>
          <p:nvPr/>
        </p:nvGrpSpPr>
        <p:grpSpPr>
          <a:xfrm>
            <a:off x="3451442" y="2622263"/>
            <a:ext cx="2022914" cy="895645"/>
            <a:chOff x="3592907" y="2419630"/>
            <a:chExt cx="2342702" cy="895645"/>
          </a:xfrm>
        </p:grpSpPr>
        <p:sp>
          <p:nvSpPr>
            <p:cNvPr id="97" name="Cloud 96"/>
            <p:cNvSpPr/>
            <p:nvPr/>
          </p:nvSpPr>
          <p:spPr>
            <a:xfrm rot="412478">
              <a:off x="3592907" y="2556054"/>
              <a:ext cx="1729738" cy="759221"/>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Content Placeholder 2"/>
            <p:cNvSpPr txBox="1">
              <a:spLocks/>
            </p:cNvSpPr>
            <p:nvPr/>
          </p:nvSpPr>
          <p:spPr>
            <a:xfrm>
              <a:off x="4415405" y="2419630"/>
              <a:ext cx="1520204" cy="338686"/>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lang="en-US" b="1" noProof="0" dirty="0" err="1" smtClean="0">
                  <a:solidFill>
                    <a:srgbClr val="000000"/>
                  </a:solidFill>
                </a:rPr>
                <a:t>Chinacom</a:t>
              </a:r>
              <a:endParaRPr kumimoji="0" lang="en-US" b="1" i="0" u="none" strike="noStrike" kern="1200" cap="none" spc="0" normalizeH="0" baseline="0" noProof="0" dirty="0" smtClean="0">
                <a:ln>
                  <a:noFill/>
                </a:ln>
                <a:solidFill>
                  <a:srgbClr val="000000"/>
                </a:solidFill>
                <a:effectLst/>
                <a:uLnTx/>
                <a:uFillTx/>
                <a:latin typeface="+mn-lt"/>
                <a:ea typeface="+mn-ea"/>
                <a:cs typeface="+mn-cs"/>
              </a:endParaRPr>
            </a:p>
          </p:txBody>
        </p:sp>
      </p:grpSp>
      <p:sp>
        <p:nvSpPr>
          <p:cNvPr id="2" name="Title 1"/>
          <p:cNvSpPr>
            <a:spLocks noGrp="1"/>
          </p:cNvSpPr>
          <p:nvPr>
            <p:ph type="title"/>
          </p:nvPr>
        </p:nvSpPr>
        <p:spPr/>
        <p:txBody>
          <a:bodyPr>
            <a:normAutofit/>
          </a:bodyPr>
          <a:lstStyle/>
          <a:p>
            <a:r>
              <a:rPr lang="en-US" sz="3600" b="1" dirty="0" smtClean="0"/>
              <a:t>Characteristics of P2P Control </a:t>
            </a:r>
            <a:r>
              <a:rPr lang="en-US" b="1" dirty="0" smtClean="0"/>
              <a:t>Flows</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93</a:t>
            </a:fld>
            <a:endParaRPr lang="en-US"/>
          </a:p>
        </p:txBody>
      </p:sp>
      <p:grpSp>
        <p:nvGrpSpPr>
          <p:cNvPr id="73" name="Group 72"/>
          <p:cNvGrpSpPr/>
          <p:nvPr/>
        </p:nvGrpSpPr>
        <p:grpSpPr>
          <a:xfrm>
            <a:off x="483486" y="1687481"/>
            <a:ext cx="4584114" cy="2918728"/>
            <a:chOff x="483486" y="1687481"/>
            <a:chExt cx="4584114" cy="2918728"/>
          </a:xfrm>
        </p:grpSpPr>
        <p:grpSp>
          <p:nvGrpSpPr>
            <p:cNvPr id="72" name="Group 71"/>
            <p:cNvGrpSpPr/>
            <p:nvPr/>
          </p:nvGrpSpPr>
          <p:grpSpPr>
            <a:xfrm>
              <a:off x="483486" y="1687481"/>
              <a:ext cx="4036510" cy="2918728"/>
              <a:chOff x="483486" y="1687481"/>
              <a:chExt cx="4036510" cy="2918728"/>
            </a:xfrm>
          </p:grpSpPr>
          <p:grpSp>
            <p:nvGrpSpPr>
              <p:cNvPr id="71" name="Group 70"/>
              <p:cNvGrpSpPr/>
              <p:nvPr/>
            </p:nvGrpSpPr>
            <p:grpSpPr>
              <a:xfrm>
                <a:off x="483486" y="1687481"/>
                <a:ext cx="4036510" cy="2918728"/>
                <a:chOff x="483486" y="1687481"/>
                <a:chExt cx="4036510" cy="2918728"/>
              </a:xfrm>
            </p:grpSpPr>
            <p:grpSp>
              <p:nvGrpSpPr>
                <p:cNvPr id="68" name="Group 67"/>
                <p:cNvGrpSpPr/>
                <p:nvPr/>
              </p:nvGrpSpPr>
              <p:grpSpPr>
                <a:xfrm>
                  <a:off x="483486" y="1851722"/>
                  <a:ext cx="4036510" cy="2754487"/>
                  <a:chOff x="483486" y="1851722"/>
                  <a:chExt cx="4036510" cy="2754487"/>
                </a:xfrm>
              </p:grpSpPr>
              <p:grpSp>
                <p:nvGrpSpPr>
                  <p:cNvPr id="7" name="Group 127"/>
                  <p:cNvGrpSpPr/>
                  <p:nvPr/>
                </p:nvGrpSpPr>
                <p:grpSpPr>
                  <a:xfrm>
                    <a:off x="600534" y="1851722"/>
                    <a:ext cx="3919462" cy="2754487"/>
                    <a:chOff x="3922928" y="2011795"/>
                    <a:chExt cx="3919462" cy="2754487"/>
                  </a:xfrm>
                </p:grpSpPr>
                <p:sp>
                  <p:nvSpPr>
                    <p:cNvPr id="129" name="Oval 128"/>
                    <p:cNvSpPr/>
                    <p:nvPr/>
                  </p:nvSpPr>
                  <p:spPr>
                    <a:xfrm>
                      <a:off x="6621064" y="2545552"/>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0" name="Oval 129"/>
                    <p:cNvSpPr/>
                    <p:nvPr/>
                  </p:nvSpPr>
                  <p:spPr>
                    <a:xfrm>
                      <a:off x="5151950" y="4198223"/>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 name="Oval 130"/>
                    <p:cNvSpPr/>
                    <p:nvPr/>
                  </p:nvSpPr>
                  <p:spPr>
                    <a:xfrm>
                      <a:off x="5404034" y="2355407"/>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 name="Oval 131"/>
                    <p:cNvSpPr/>
                    <p:nvPr/>
                  </p:nvSpPr>
                  <p:spPr>
                    <a:xfrm>
                      <a:off x="6873148" y="3125048"/>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 name="Oval 132"/>
                    <p:cNvSpPr/>
                    <p:nvPr/>
                  </p:nvSpPr>
                  <p:spPr>
                    <a:xfrm>
                      <a:off x="6208627" y="2115596"/>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34" name="Straight Arrow Connector 133"/>
                    <p:cNvCxnSpPr>
                      <a:stCxn id="130" idx="0"/>
                      <a:endCxn id="141" idx="4"/>
                    </p:cNvCxnSpPr>
                    <p:nvPr/>
                  </p:nvCxnSpPr>
                  <p:spPr>
                    <a:xfrm rot="16200000" flipV="1">
                      <a:off x="4394920" y="3315150"/>
                      <a:ext cx="1243289" cy="522857"/>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5" name="Straight Arrow Connector 134"/>
                    <p:cNvCxnSpPr>
                      <a:stCxn id="131" idx="7"/>
                      <a:endCxn id="133" idx="2"/>
                    </p:cNvCxnSpPr>
                    <p:nvPr/>
                  </p:nvCxnSpPr>
                  <p:spPr>
                    <a:xfrm rot="5400000" flipH="1" flipV="1">
                      <a:off x="5836402" y="2018302"/>
                      <a:ext cx="155025" cy="589426"/>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6" name="Straight Arrow Connector 135"/>
                    <p:cNvCxnSpPr>
                      <a:stCxn id="130" idx="7"/>
                      <a:endCxn id="129" idx="3"/>
                    </p:cNvCxnSpPr>
                    <p:nvPr/>
                  </p:nvCxnSpPr>
                  <p:spPr>
                    <a:xfrm rot="5400000" flipH="1" flipV="1">
                      <a:off x="5270999" y="2846361"/>
                      <a:ext cx="1483100" cy="1290864"/>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7" name="Straight Arrow Connector 136"/>
                    <p:cNvCxnSpPr>
                      <a:stCxn id="129" idx="1"/>
                      <a:endCxn id="131" idx="5"/>
                    </p:cNvCxnSpPr>
                    <p:nvPr/>
                  </p:nvCxnSpPr>
                  <p:spPr>
                    <a:xfrm rot="16200000" flipV="1">
                      <a:off x="6128304" y="2050995"/>
                      <a:ext cx="20574" cy="1038780"/>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8" name="Straight Arrow Connector 137"/>
                    <p:cNvCxnSpPr>
                      <a:stCxn id="132" idx="0"/>
                      <a:endCxn id="129" idx="5"/>
                    </p:cNvCxnSpPr>
                    <p:nvPr/>
                  </p:nvCxnSpPr>
                  <p:spPr>
                    <a:xfrm rot="16200000" flipV="1">
                      <a:off x="6730309" y="2856166"/>
                      <a:ext cx="374805" cy="162959"/>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9" name="Straight Arrow Connector 138"/>
                    <p:cNvCxnSpPr>
                      <a:stCxn id="132" idx="2"/>
                      <a:endCxn id="130" idx="6"/>
                    </p:cNvCxnSpPr>
                    <p:nvPr/>
                  </p:nvCxnSpPr>
                  <p:spPr>
                    <a:xfrm rot="10800000" flipV="1">
                      <a:off x="5404034" y="3244953"/>
                      <a:ext cx="1469114" cy="1073175"/>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40" name="Oval 139"/>
                    <p:cNvSpPr/>
                    <p:nvPr/>
                  </p:nvSpPr>
                  <p:spPr>
                    <a:xfrm>
                      <a:off x="6186391" y="4198224"/>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1" name="Oval 140"/>
                    <p:cNvSpPr/>
                    <p:nvPr/>
                  </p:nvSpPr>
                  <p:spPr>
                    <a:xfrm>
                      <a:off x="4629093" y="2715123"/>
                      <a:ext cx="252084" cy="23981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2" name="Straight Arrow Connector 141"/>
                    <p:cNvCxnSpPr>
                      <a:stCxn id="140" idx="0"/>
                      <a:endCxn id="133" idx="4"/>
                    </p:cNvCxnSpPr>
                    <p:nvPr/>
                  </p:nvCxnSpPr>
                  <p:spPr>
                    <a:xfrm rot="5400000" flipH="1" flipV="1">
                      <a:off x="5402143" y="3265698"/>
                      <a:ext cx="1842817" cy="22236"/>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3" name="Straight Arrow Connector 142"/>
                    <p:cNvCxnSpPr>
                      <a:stCxn id="130" idx="7"/>
                      <a:endCxn id="131" idx="4"/>
                    </p:cNvCxnSpPr>
                    <p:nvPr/>
                  </p:nvCxnSpPr>
                  <p:spPr>
                    <a:xfrm rot="5400000" flipH="1" flipV="1">
                      <a:off x="4629534" y="3332802"/>
                      <a:ext cx="1638125" cy="162959"/>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4" name="Straight Arrow Connector 143"/>
                    <p:cNvCxnSpPr>
                      <a:stCxn id="140" idx="7"/>
                      <a:endCxn id="132" idx="3"/>
                    </p:cNvCxnSpPr>
                    <p:nvPr/>
                  </p:nvCxnSpPr>
                  <p:spPr>
                    <a:xfrm rot="5400000" flipH="1" flipV="1">
                      <a:off x="6204009" y="3527289"/>
                      <a:ext cx="903605" cy="508507"/>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5" name="Straight Arrow Connector 144"/>
                    <p:cNvCxnSpPr>
                      <a:stCxn id="141" idx="7"/>
                      <a:endCxn id="131" idx="2"/>
                    </p:cNvCxnSpPr>
                    <p:nvPr/>
                  </p:nvCxnSpPr>
                  <p:spPr>
                    <a:xfrm rot="5400000" flipH="1" flipV="1">
                      <a:off x="4986682" y="2332891"/>
                      <a:ext cx="274930" cy="559774"/>
                    </a:xfrm>
                    <a:prstGeom prst="straightConnector1">
                      <a:avLst/>
                    </a:prstGeom>
                    <a:ln w="19050" cap="flat" cmpd="sng" algn="ctr">
                      <a:solidFill>
                        <a:schemeClr val="accent1"/>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6" name="Straight Connector 145"/>
                    <p:cNvCxnSpPr/>
                    <p:nvPr/>
                  </p:nvCxnSpPr>
                  <p:spPr>
                    <a:xfrm>
                      <a:off x="4629093" y="3823262"/>
                      <a:ext cx="3043005" cy="1588"/>
                    </a:xfrm>
                    <a:prstGeom prst="line">
                      <a:avLst/>
                    </a:prstGeom>
                    <a:ln w="28575" cap="flat" cmpd="sng" algn="ctr">
                      <a:solidFill>
                        <a:schemeClr val="tx1"/>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47" name="Content Placeholder 2"/>
                    <p:cNvSpPr txBox="1">
                      <a:spLocks/>
                    </p:cNvSpPr>
                    <p:nvPr/>
                  </p:nvSpPr>
                  <p:spPr>
                    <a:xfrm>
                      <a:off x="3922928" y="3932019"/>
                      <a:ext cx="1009048" cy="532412"/>
                    </a:xfrm>
                    <a:prstGeom prst="rect">
                      <a:avLst/>
                    </a:prstGeom>
                  </p:spPr>
                  <p:txBody>
                    <a:bodyPr vert="horz" lIns="91440" tIns="45720" rIns="91440" bIns="45720" rtlCol="0">
                      <a:normAutofit fontScale="77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Monitored</a:t>
                      </a:r>
                      <a:endParaRPr lang="en-US" b="1" dirty="0" smtClean="0">
                        <a:solidFill>
                          <a:srgbClr val="000000"/>
                        </a:solidFill>
                      </a:endParaRPr>
                    </a:p>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noProof="0" dirty="0" smtClean="0">
                          <a:ln>
                            <a:noFill/>
                          </a:ln>
                          <a:solidFill>
                            <a:srgbClr val="000000"/>
                          </a:solidFill>
                          <a:effectLst/>
                          <a:uLnTx/>
                          <a:uFillTx/>
                          <a:latin typeface="+mn-lt"/>
                          <a:ea typeface="+mn-ea"/>
                          <a:cs typeface="+mn-cs"/>
                        </a:rPr>
                        <a:t>Networks</a:t>
                      </a:r>
                      <a:endParaRPr kumimoji="0" lang="en-US" b="1" i="0" u="none" strike="noStrike" kern="1200" cap="none" spc="0" normalizeH="0" baseline="0" noProof="0" dirty="0" smtClean="0">
                        <a:ln>
                          <a:noFill/>
                        </a:ln>
                        <a:solidFill>
                          <a:srgbClr val="000000"/>
                        </a:solidFill>
                        <a:effectLst/>
                        <a:uLnTx/>
                        <a:uFillTx/>
                        <a:latin typeface="+mn-lt"/>
                        <a:ea typeface="+mn-ea"/>
                        <a:cs typeface="+mn-cs"/>
                      </a:endParaRPr>
                    </a:p>
                  </p:txBody>
                </p:sp>
                <p:sp>
                  <p:nvSpPr>
                    <p:cNvPr id="148" name="Content Placeholder 2"/>
                    <p:cNvSpPr txBox="1">
                      <a:spLocks/>
                    </p:cNvSpPr>
                    <p:nvPr/>
                  </p:nvSpPr>
                  <p:spPr>
                    <a:xfrm>
                      <a:off x="3998293" y="3375448"/>
                      <a:ext cx="845123" cy="447814"/>
                    </a:xfrm>
                    <a:prstGeom prst="rect">
                      <a:avLst/>
                    </a:prstGeom>
                  </p:spPr>
                  <p:txBody>
                    <a:bodyPr vert="horz" lIns="91440" tIns="45720" rIns="91440" bIns="45720" rtlCol="0">
                      <a:normAutofit fontScale="850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Internet</a:t>
                      </a:r>
                    </a:p>
                  </p:txBody>
                </p:sp>
                <p:sp>
                  <p:nvSpPr>
                    <p:cNvPr id="149" name="Content Placeholder 2"/>
                    <p:cNvSpPr txBox="1">
                      <a:spLocks/>
                    </p:cNvSpPr>
                    <p:nvPr/>
                  </p:nvSpPr>
                  <p:spPr>
                    <a:xfrm>
                      <a:off x="4763445" y="4422670"/>
                      <a:ext cx="1037536"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Peer-A</a:t>
                      </a:r>
                    </a:p>
                  </p:txBody>
                </p:sp>
                <p:sp>
                  <p:nvSpPr>
                    <p:cNvPr id="150" name="Content Placeholder 2"/>
                    <p:cNvSpPr txBox="1">
                      <a:spLocks/>
                    </p:cNvSpPr>
                    <p:nvPr/>
                  </p:nvSpPr>
                  <p:spPr>
                    <a:xfrm>
                      <a:off x="4226009" y="2374042"/>
                      <a:ext cx="785475"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FF0000"/>
                          </a:solidFill>
                          <a:effectLst/>
                          <a:uLnTx/>
                          <a:uFillTx/>
                          <a:latin typeface="+mn-lt"/>
                          <a:ea typeface="+mn-ea"/>
                          <a:cs typeface="+mn-cs"/>
                        </a:rPr>
                        <a:t>Peer-B</a:t>
                      </a:r>
                    </a:p>
                  </p:txBody>
                </p:sp>
                <p:sp>
                  <p:nvSpPr>
                    <p:cNvPr id="151" name="Content Placeholder 2"/>
                    <p:cNvSpPr txBox="1">
                      <a:spLocks/>
                    </p:cNvSpPr>
                    <p:nvPr/>
                  </p:nvSpPr>
                  <p:spPr>
                    <a:xfrm>
                      <a:off x="5137338" y="2011795"/>
                      <a:ext cx="785475"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solidFill>
                            <a:srgbClr val="FF0000"/>
                          </a:solidFill>
                          <a:effectLst/>
                          <a:uLnTx/>
                          <a:uFillTx/>
                          <a:latin typeface="+mn-lt"/>
                          <a:ea typeface="+mn-ea"/>
                          <a:cs typeface="+mn-cs"/>
                        </a:rPr>
                        <a:t>Peer-C</a:t>
                      </a:r>
                    </a:p>
                  </p:txBody>
                </p:sp>
                <p:sp>
                  <p:nvSpPr>
                    <p:cNvPr id="152" name="Content Placeholder 2"/>
                    <p:cNvSpPr txBox="1">
                      <a:spLocks/>
                    </p:cNvSpPr>
                    <p:nvPr/>
                  </p:nvSpPr>
                  <p:spPr>
                    <a:xfrm>
                      <a:off x="6771149" y="2303507"/>
                      <a:ext cx="785475" cy="343612"/>
                    </a:xfrm>
                    <a:prstGeom prst="rect">
                      <a:avLst/>
                    </a:prstGeom>
                  </p:spPr>
                  <p:txBody>
                    <a:bodyPr vert="horz" lIns="91440" tIns="45720" rIns="91440" bIns="45720" rtlCol="0">
                      <a:normAutofit fontScale="850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FF0000"/>
                          </a:solidFill>
                          <a:effectLst/>
                          <a:uLnTx/>
                          <a:uFillTx/>
                          <a:latin typeface="+mn-lt"/>
                          <a:ea typeface="+mn-ea"/>
                          <a:cs typeface="+mn-cs"/>
                        </a:rPr>
                        <a:t>Peer-D</a:t>
                      </a:r>
                    </a:p>
                  </p:txBody>
                </p:sp>
                <p:sp>
                  <p:nvSpPr>
                    <p:cNvPr id="153" name="Content Placeholder 2"/>
                    <p:cNvSpPr txBox="1">
                      <a:spLocks/>
                    </p:cNvSpPr>
                    <p:nvPr/>
                  </p:nvSpPr>
                  <p:spPr>
                    <a:xfrm>
                      <a:off x="7056915" y="2901341"/>
                      <a:ext cx="785475" cy="343612"/>
                    </a:xfrm>
                    <a:prstGeom prst="rect">
                      <a:avLst/>
                    </a:prstGeom>
                  </p:spPr>
                  <p:txBody>
                    <a:bodyPr vert="horz" lIns="91440" tIns="45720" rIns="91440" bIns="45720" rtlCol="0">
                      <a:normAutofit fontScale="92500" lnSpcReduction="1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FF0000"/>
                          </a:solidFill>
                          <a:effectLst/>
                          <a:uLnTx/>
                          <a:uFillTx/>
                          <a:latin typeface="+mn-lt"/>
                          <a:ea typeface="+mn-ea"/>
                          <a:cs typeface="+mn-cs"/>
                        </a:rPr>
                        <a:t>Peer-E</a:t>
                      </a:r>
                    </a:p>
                  </p:txBody>
                </p:sp>
              </p:grpSp>
              <p:sp>
                <p:nvSpPr>
                  <p:cNvPr id="91" name="Content Placeholder 2"/>
                  <p:cNvSpPr txBox="1">
                    <a:spLocks/>
                  </p:cNvSpPr>
                  <p:nvPr/>
                </p:nvSpPr>
                <p:spPr>
                  <a:xfrm>
                    <a:off x="483486" y="2023528"/>
                    <a:ext cx="1037536" cy="343612"/>
                  </a:xfrm>
                  <a:prstGeom prst="rect">
                    <a:avLst/>
                  </a:prstGeom>
                </p:spPr>
                <p:txBody>
                  <a:bodyPr vert="horz" lIns="91440" tIns="45720" rIns="91440" bIns="45720" rtlCol="0">
                    <a:normAutofit fontScale="700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202.117.1.2</a:t>
                    </a:r>
                  </a:p>
                </p:txBody>
              </p:sp>
            </p:grpSp>
            <p:sp>
              <p:nvSpPr>
                <p:cNvPr id="92" name="Content Placeholder 2"/>
                <p:cNvSpPr txBox="1">
                  <a:spLocks/>
                </p:cNvSpPr>
                <p:nvPr/>
              </p:nvSpPr>
              <p:spPr>
                <a:xfrm>
                  <a:off x="1688914" y="1687481"/>
                  <a:ext cx="1037536" cy="343612"/>
                </a:xfrm>
                <a:prstGeom prst="rect">
                  <a:avLst/>
                </a:prstGeom>
              </p:spPr>
              <p:txBody>
                <a:bodyPr vert="horz" lIns="91440" tIns="45720" rIns="91440" bIns="45720" rtlCol="0">
                  <a:normAutofit fontScale="700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202.117.1.7</a:t>
                  </a:r>
                </a:p>
              </p:txBody>
            </p:sp>
          </p:grpSp>
          <p:sp>
            <p:nvSpPr>
              <p:cNvPr id="93" name="Content Placeholder 2"/>
              <p:cNvSpPr txBox="1">
                <a:spLocks/>
              </p:cNvSpPr>
              <p:nvPr/>
            </p:nvSpPr>
            <p:spPr>
              <a:xfrm>
                <a:off x="3587672" y="1955523"/>
                <a:ext cx="932324" cy="291712"/>
              </a:xfrm>
              <a:prstGeom prst="rect">
                <a:avLst/>
              </a:prstGeom>
            </p:spPr>
            <p:txBody>
              <a:bodyPr vert="horz" lIns="91440" tIns="45720" rIns="91440" bIns="45720" rtlCol="0">
                <a:normAutofit fontScale="850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117.1.1.2</a:t>
                </a:r>
              </a:p>
            </p:txBody>
          </p:sp>
        </p:grpSp>
        <p:sp>
          <p:nvSpPr>
            <p:cNvPr id="94" name="Content Placeholder 2"/>
            <p:cNvSpPr txBox="1">
              <a:spLocks/>
            </p:cNvSpPr>
            <p:nvPr/>
          </p:nvSpPr>
          <p:spPr>
            <a:xfrm>
              <a:off x="3904766" y="2960949"/>
              <a:ext cx="1162834" cy="383122"/>
            </a:xfrm>
            <a:prstGeom prst="rect">
              <a:avLst/>
            </a:prstGeom>
          </p:spPr>
          <p:txBody>
            <a:bodyPr vert="horz" lIns="91440" tIns="45720" rIns="91440" bIns="45720" rtlCol="0">
              <a:normAutofit/>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126.2.3.1</a:t>
              </a:r>
            </a:p>
          </p:txBody>
        </p:sp>
      </p:grpSp>
      <p:sp>
        <p:nvSpPr>
          <p:cNvPr id="69" name="Right Arrow 68"/>
          <p:cNvSpPr/>
          <p:nvPr/>
        </p:nvSpPr>
        <p:spPr>
          <a:xfrm>
            <a:off x="264484" y="5568874"/>
            <a:ext cx="356235" cy="41592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Content Placeholder 2"/>
          <p:cNvSpPr txBox="1">
            <a:spLocks/>
          </p:cNvSpPr>
          <p:nvPr/>
        </p:nvSpPr>
        <p:spPr>
          <a:xfrm>
            <a:off x="551146" y="4880961"/>
            <a:ext cx="8135654" cy="1738171"/>
          </a:xfrm>
          <a:prstGeom prst="rect">
            <a:avLst/>
          </a:prstGeom>
        </p:spPr>
        <p:txBody>
          <a:bodyPr vert="horz" lIns="91440" tIns="45720" rIns="91440" bIns="45720" rtlCol="0">
            <a:normAutofit fontScale="85000" lnSpcReduction="20000"/>
          </a:bodyPr>
          <a:lstStyle/>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2581" i="0" u="none" strike="noStrike" kern="1200" cap="none" spc="0" normalizeH="0" baseline="0" noProof="0" dirty="0" smtClean="0">
                <a:ln>
                  <a:noFill/>
                </a:ln>
                <a:solidFill>
                  <a:srgbClr val="000000"/>
                </a:solidFill>
                <a:effectLst/>
                <a:uLnTx/>
                <a:uFillTx/>
                <a:latin typeface="+mn-lt"/>
                <a:ea typeface="+mn-ea"/>
                <a:cs typeface="+mn-cs"/>
              </a:rPr>
              <a:t>Automatically generated</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2581" i="0" u="none" strike="noStrike" kern="1200" cap="none" spc="0" normalizeH="0" baseline="0" noProof="0" dirty="0" smtClean="0">
                <a:ln>
                  <a:noFill/>
                </a:ln>
                <a:solidFill>
                  <a:srgbClr val="000000"/>
                </a:solidFill>
                <a:effectLst/>
                <a:uLnTx/>
                <a:uFillTx/>
                <a:latin typeface="+mn-lt"/>
                <a:ea typeface="+mn-ea"/>
                <a:cs typeface="+mn-cs"/>
              </a:rPr>
              <a:t>DNS</a:t>
            </a:r>
            <a:r>
              <a:rPr lang="en-US" sz="2581" dirty="0" smtClean="0">
                <a:solidFill>
                  <a:srgbClr val="000000"/>
                </a:solidFill>
              </a:rPr>
              <a:t>-Free, different from popular network applications</a:t>
            </a:r>
            <a:endParaRPr kumimoji="0" lang="en-US" sz="2581" i="0" u="none" strike="noStrike" kern="1200" cap="none" spc="0" normalizeH="0" baseline="0" noProof="0" dirty="0" smtClean="0">
              <a:ln>
                <a:noFill/>
              </a:ln>
              <a:solidFill>
                <a:srgbClr val="000000"/>
              </a:solidFill>
              <a:effectLst/>
              <a:uLnTx/>
              <a:uFillTx/>
              <a:latin typeface="+mn-lt"/>
              <a:ea typeface="+mn-ea"/>
              <a:cs typeface="+mn-cs"/>
            </a:endParaRP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3097" b="1" i="0" u="none" strike="noStrike" kern="1200" cap="none" spc="0" normalizeH="0" baseline="0" noProof="0" dirty="0" smtClean="0">
                <a:ln>
                  <a:noFill/>
                </a:ln>
                <a:solidFill>
                  <a:srgbClr val="000000"/>
                </a:solidFill>
                <a:effectLst/>
                <a:uLnTx/>
                <a:uFillTx/>
                <a:latin typeface="+mn-lt"/>
                <a:ea typeface="+mn-ea"/>
                <a:cs typeface="+mn-cs"/>
              </a:rPr>
              <a:t>Sent to a large number of organizations (represented by network</a:t>
            </a:r>
            <a:r>
              <a:rPr kumimoji="0" lang="en-US" sz="3097" b="1" i="0" u="none" strike="noStrike" kern="1200" cap="none" spc="0" normalizeH="0" noProof="0" dirty="0" smtClean="0">
                <a:ln>
                  <a:noFill/>
                </a:ln>
                <a:solidFill>
                  <a:srgbClr val="000000"/>
                </a:solidFill>
                <a:effectLst/>
                <a:uLnTx/>
                <a:uFillTx/>
                <a:latin typeface="+mn-lt"/>
                <a:ea typeface="+mn-ea"/>
                <a:cs typeface="+mn-cs"/>
              </a:rPr>
              <a:t> prefixes</a:t>
            </a:r>
            <a:r>
              <a:rPr kumimoji="0" lang="en-US" sz="3097" b="1" i="0" u="none" strike="noStrike" kern="1200" cap="none" spc="0" normalizeH="0" baseline="0" noProof="0" dirty="0" smtClean="0">
                <a:ln>
                  <a:noFill/>
                </a:ln>
                <a:solidFill>
                  <a:srgbClr val="000000"/>
                </a:solidFill>
                <a:effectLst/>
                <a:uLnTx/>
                <a:uFillTx/>
                <a:latin typeface="+mn-lt"/>
                <a:ea typeface="+mn-ea"/>
                <a:cs typeface="+mn-cs"/>
              </a:rPr>
              <a:t>)</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2000" i="0" u="none" strike="noStrike" kern="1200" cap="none" spc="0" normalizeH="0" baseline="0" noProof="0" dirty="0" smtClean="0">
                <a:ln>
                  <a:noFill/>
                </a:ln>
                <a:solidFill>
                  <a:srgbClr val="000000"/>
                </a:solidFill>
                <a:effectLst/>
                <a:uLnTx/>
                <a:uFillTx/>
                <a:latin typeface="+mn-lt"/>
                <a:ea typeface="+mn-ea"/>
                <a:cs typeface="+mn-cs"/>
              </a:rPr>
              <a:t>……</a:t>
            </a:r>
          </a:p>
        </p:txBody>
      </p:sp>
      <p:sp>
        <p:nvSpPr>
          <p:cNvPr id="74" name="TextBox 73"/>
          <p:cNvSpPr txBox="1"/>
          <p:nvPr/>
        </p:nvSpPr>
        <p:spPr>
          <a:xfrm>
            <a:off x="2148887" y="1120912"/>
            <a:ext cx="4985720" cy="4062651"/>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b="1" dirty="0" smtClean="0"/>
              <a:t>PING/PONG</a:t>
            </a:r>
          </a:p>
          <a:p>
            <a:pPr algn="ctr"/>
            <a:endParaRPr lang="en-US" b="1" dirty="0" smtClean="0"/>
          </a:p>
          <a:p>
            <a:r>
              <a:rPr lang="en-US" dirty="0" err="1" smtClean="0"/>
              <a:t>while(every</a:t>
            </a:r>
            <a:r>
              <a:rPr lang="en-US" dirty="0" smtClean="0"/>
              <a:t> 3 </a:t>
            </a:r>
            <a:r>
              <a:rPr lang="en-US" dirty="0" err="1" smtClean="0"/>
              <a:t>miniutes</a:t>
            </a:r>
            <a:r>
              <a:rPr lang="en-US" dirty="0" smtClean="0"/>
              <a:t>)</a:t>
            </a:r>
          </a:p>
          <a:p>
            <a:r>
              <a:rPr lang="en-US" dirty="0" smtClean="0"/>
              <a:t>{</a:t>
            </a:r>
          </a:p>
          <a:p>
            <a:r>
              <a:rPr lang="en-US" dirty="0" smtClean="0"/>
              <a:t>	</a:t>
            </a:r>
            <a:r>
              <a:rPr lang="en-US" sz="2400" b="1" i="1" dirty="0" err="1" smtClean="0">
                <a:solidFill>
                  <a:srgbClr val="FF0000"/>
                </a:solidFill>
              </a:rPr>
              <a:t>foreach(p</a:t>
            </a:r>
            <a:r>
              <a:rPr lang="en-US" sz="2400" b="1" i="1" dirty="0" smtClean="0">
                <a:solidFill>
                  <a:srgbClr val="FF0000"/>
                </a:solidFill>
              </a:rPr>
              <a:t> in </a:t>
            </a:r>
            <a:r>
              <a:rPr lang="en-US" sz="2400" b="1" i="1" dirty="0" err="1" smtClean="0">
                <a:solidFill>
                  <a:srgbClr val="FF0000"/>
                </a:solidFill>
              </a:rPr>
              <a:t>PeerList</a:t>
            </a:r>
            <a:r>
              <a:rPr lang="en-US" sz="2400" b="1" i="1" dirty="0" smtClean="0">
                <a:solidFill>
                  <a:srgbClr val="FF0000"/>
                </a:solidFill>
              </a:rPr>
              <a:t>)</a:t>
            </a:r>
          </a:p>
          <a:p>
            <a:r>
              <a:rPr lang="en-US" dirty="0" smtClean="0"/>
              <a:t>	{</a:t>
            </a:r>
          </a:p>
          <a:p>
            <a:r>
              <a:rPr lang="en-US" dirty="0" smtClean="0">
                <a:solidFill>
                  <a:schemeClr val="tx1"/>
                </a:solidFill>
              </a:rPr>
              <a:t>		</a:t>
            </a:r>
            <a:r>
              <a:rPr lang="en-US" dirty="0" err="1" smtClean="0">
                <a:solidFill>
                  <a:schemeClr val="tx1"/>
                </a:solidFill>
              </a:rPr>
              <a:t>var</a:t>
            </a:r>
            <a:r>
              <a:rPr lang="en-US" dirty="0" smtClean="0">
                <a:solidFill>
                  <a:schemeClr val="tx1"/>
                </a:solidFill>
              </a:rPr>
              <a:t> </a:t>
            </a:r>
            <a:r>
              <a:rPr lang="en-US" dirty="0" err="1" smtClean="0">
                <a:solidFill>
                  <a:schemeClr val="tx1"/>
                </a:solidFill>
              </a:rPr>
              <a:t>s</a:t>
            </a:r>
            <a:r>
              <a:rPr lang="en-US" dirty="0" smtClean="0">
                <a:solidFill>
                  <a:schemeClr val="tx1"/>
                </a:solidFill>
              </a:rPr>
              <a:t> = new </a:t>
            </a:r>
            <a:r>
              <a:rPr lang="en-US" dirty="0" err="1" smtClean="0">
                <a:solidFill>
                  <a:schemeClr val="tx1"/>
                </a:solidFill>
              </a:rPr>
              <a:t>Connection(p</a:t>
            </a:r>
            <a:r>
              <a:rPr lang="en-US" dirty="0" smtClean="0">
                <a:solidFill>
                  <a:schemeClr val="tx1"/>
                </a:solidFill>
              </a:rPr>
              <a:t>);</a:t>
            </a:r>
          </a:p>
          <a:p>
            <a:r>
              <a:rPr lang="en-US" dirty="0" smtClean="0"/>
              <a:t>		</a:t>
            </a:r>
            <a:r>
              <a:rPr lang="en-US" dirty="0" err="1" smtClean="0"/>
              <a:t>s.send(“PING</a:t>
            </a:r>
            <a:r>
              <a:rPr lang="en-US" dirty="0" smtClean="0"/>
              <a:t>” + </a:t>
            </a:r>
            <a:r>
              <a:rPr lang="en-US" dirty="0" err="1" smtClean="0"/>
              <a:t>self.time</a:t>
            </a:r>
            <a:r>
              <a:rPr lang="en-US" dirty="0" smtClean="0"/>
              <a:t>() + </a:t>
            </a:r>
            <a:r>
              <a:rPr lang="en-US" dirty="0" err="1" smtClean="0"/>
              <a:t>self.id</a:t>
            </a:r>
            <a:r>
              <a:rPr lang="en-US" dirty="0" smtClean="0"/>
              <a:t>());	</a:t>
            </a:r>
          </a:p>
          <a:p>
            <a:r>
              <a:rPr lang="en-US" dirty="0" smtClean="0"/>
              <a:t>		</a:t>
            </a:r>
            <a:r>
              <a:rPr lang="en-US" dirty="0" err="1" smtClean="0"/>
              <a:t>var</a:t>
            </a:r>
            <a:r>
              <a:rPr lang="en-US" dirty="0" smtClean="0"/>
              <a:t> data = </a:t>
            </a:r>
            <a:r>
              <a:rPr lang="en-US" dirty="0" err="1" smtClean="0"/>
              <a:t>s.receive</a:t>
            </a:r>
            <a:r>
              <a:rPr lang="en-US" dirty="0" smtClean="0"/>
              <a:t>();	</a:t>
            </a:r>
          </a:p>
          <a:p>
            <a:r>
              <a:rPr lang="en-US" dirty="0" smtClean="0"/>
              <a:t>		</a:t>
            </a:r>
            <a:r>
              <a:rPr lang="en-US" dirty="0" err="1" smtClean="0"/>
              <a:t>s.close</a:t>
            </a:r>
            <a:r>
              <a:rPr lang="en-US" dirty="0" smtClean="0"/>
              <a:t>();</a:t>
            </a:r>
          </a:p>
          <a:p>
            <a:endParaRPr lang="en-US" dirty="0" smtClean="0"/>
          </a:p>
          <a:p>
            <a:r>
              <a:rPr lang="en-US" dirty="0" smtClean="0"/>
              <a:t>		//process data	</a:t>
            </a:r>
          </a:p>
          <a:p>
            <a:r>
              <a:rPr lang="en-US" dirty="0" smtClean="0"/>
              <a:t>	}	</a:t>
            </a:r>
          </a:p>
          <a:p>
            <a:r>
              <a:rPr lang="en-US" dirty="0" smtClean="0"/>
              <a:t>}</a:t>
            </a:r>
          </a:p>
        </p:txBody>
      </p:sp>
      <p:grpSp>
        <p:nvGrpSpPr>
          <p:cNvPr id="77" name="Group 76"/>
          <p:cNvGrpSpPr/>
          <p:nvPr/>
        </p:nvGrpSpPr>
        <p:grpSpPr>
          <a:xfrm>
            <a:off x="5199149" y="1332772"/>
            <a:ext cx="3798871" cy="2948000"/>
            <a:chOff x="5199149" y="1332772"/>
            <a:chExt cx="3798871" cy="2948000"/>
          </a:xfrm>
        </p:grpSpPr>
        <p:grpSp>
          <p:nvGrpSpPr>
            <p:cNvPr id="65" name="Group 64"/>
            <p:cNvGrpSpPr/>
            <p:nvPr/>
          </p:nvGrpSpPr>
          <p:grpSpPr>
            <a:xfrm>
              <a:off x="5199149" y="1332772"/>
              <a:ext cx="3798871" cy="2948000"/>
              <a:chOff x="5199149" y="1332772"/>
              <a:chExt cx="3798871" cy="2948000"/>
            </a:xfrm>
          </p:grpSpPr>
          <p:sp>
            <p:nvSpPr>
              <p:cNvPr id="45" name="Oval 44"/>
              <p:cNvSpPr/>
              <p:nvPr/>
            </p:nvSpPr>
            <p:spPr>
              <a:xfrm>
                <a:off x="5813659" y="1647692"/>
                <a:ext cx="166428" cy="11628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46" name="Straight Arrow Connector 45"/>
              <p:cNvCxnSpPr/>
              <p:nvPr/>
            </p:nvCxnSpPr>
            <p:spPr>
              <a:xfrm rot="5400000">
                <a:off x="4626978" y="3027780"/>
                <a:ext cx="2504763" cy="1221"/>
              </a:xfrm>
              <a:prstGeom prst="straightConnector1">
                <a:avLst/>
              </a:prstGeom>
              <a:ln w="1905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7" name="Content Placeholder 2"/>
              <p:cNvSpPr txBox="1">
                <a:spLocks/>
              </p:cNvSpPr>
              <p:nvPr/>
            </p:nvSpPr>
            <p:spPr>
              <a:xfrm>
                <a:off x="5199149" y="1332772"/>
                <a:ext cx="1587124" cy="314920"/>
              </a:xfrm>
              <a:prstGeom prst="rect">
                <a:avLst/>
              </a:prstGeom>
            </p:spPr>
            <p:txBody>
              <a:bodyPr vert="horz" lIns="91440" tIns="45720" rIns="91440" bIns="45720" rtlCol="0">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P2P Client</a:t>
                </a:r>
              </a:p>
            </p:txBody>
          </p:sp>
          <p:cxnSp>
            <p:nvCxnSpPr>
              <p:cNvPr id="48" name="Straight Arrow Connector 47"/>
              <p:cNvCxnSpPr/>
              <p:nvPr/>
            </p:nvCxnSpPr>
            <p:spPr>
              <a:xfrm>
                <a:off x="5962085" y="1930646"/>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0" name="Straight Arrow Connector 49"/>
              <p:cNvCxnSpPr/>
              <p:nvPr/>
            </p:nvCxnSpPr>
            <p:spPr>
              <a:xfrm>
                <a:off x="5972737" y="2080901"/>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1" name="Straight Arrow Connector 50"/>
              <p:cNvCxnSpPr/>
              <p:nvPr/>
            </p:nvCxnSpPr>
            <p:spPr>
              <a:xfrm>
                <a:off x="5972737" y="2419492"/>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rot="10800000">
                <a:off x="6251464" y="3364259"/>
                <a:ext cx="259235" cy="1455"/>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7" name="Straight Arrow Connector 56"/>
              <p:cNvCxnSpPr/>
              <p:nvPr/>
            </p:nvCxnSpPr>
            <p:spPr>
              <a:xfrm>
                <a:off x="5980087" y="2589493"/>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57"/>
              <p:cNvCxnSpPr/>
              <p:nvPr/>
            </p:nvCxnSpPr>
            <p:spPr>
              <a:xfrm>
                <a:off x="6001137" y="3162282"/>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64" name="Content Placeholder 2"/>
              <p:cNvSpPr txBox="1">
                <a:spLocks/>
              </p:cNvSpPr>
              <p:nvPr/>
            </p:nvSpPr>
            <p:spPr>
              <a:xfrm>
                <a:off x="7473700" y="1983113"/>
                <a:ext cx="1524320" cy="1920224"/>
              </a:xfrm>
              <a:prstGeom prst="rect">
                <a:avLst/>
              </a:prstGeom>
            </p:spPr>
            <p:txBody>
              <a:bodyPr vert="horz" lIns="91440" tIns="45720" rIns="91440" bIns="45720" rtlCol="0">
                <a:normAutofit/>
              </a:bodyPr>
              <a:lstStyle/>
              <a:p>
                <a:pPr marL="342900" marR="0" lvl="0" indent="-342900" defTabSz="457200" rtl="0" eaLnBrk="1" fontAlgn="auto" latinLnBrk="0" hangingPunct="1">
                  <a:lnSpc>
                    <a:spcPct val="100000"/>
                  </a:lnSpc>
                  <a:spcBef>
                    <a:spcPct val="20000"/>
                  </a:spcBef>
                  <a:spcAft>
                    <a:spcPts val="0"/>
                  </a:spcAft>
                  <a:buClrTx/>
                  <a:buSzTx/>
                  <a:tabLst/>
                  <a:defRPr/>
                </a:pPr>
                <a:r>
                  <a:rPr lang="en-US" b="1" dirty="0" smtClean="0">
                    <a:solidFill>
                      <a:srgbClr val="000000"/>
                    </a:solidFill>
                  </a:rPr>
                  <a:t>Comcast</a:t>
                </a:r>
              </a:p>
              <a:p>
                <a:pPr marL="342900" marR="0" lvl="0" indent="-342900"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AT&amp;T</a:t>
                </a:r>
              </a:p>
              <a:p>
                <a:pPr marL="342900" marR="0" lvl="0" indent="-342900" defTabSz="457200" rtl="0" eaLnBrk="1" fontAlgn="auto" latinLnBrk="0" hangingPunct="1">
                  <a:lnSpc>
                    <a:spcPct val="100000"/>
                  </a:lnSpc>
                  <a:spcBef>
                    <a:spcPct val="20000"/>
                  </a:spcBef>
                  <a:spcAft>
                    <a:spcPts val="0"/>
                  </a:spcAft>
                  <a:buClrTx/>
                  <a:buSzTx/>
                  <a:tabLst/>
                  <a:defRPr/>
                </a:pPr>
                <a:r>
                  <a:rPr lang="en-US" b="1" dirty="0" err="1" smtClean="0">
                    <a:solidFill>
                      <a:srgbClr val="000000"/>
                    </a:solidFill>
                  </a:rPr>
                  <a:t>Chinacom</a:t>
                </a:r>
                <a:endParaRPr lang="en-US" b="1" dirty="0" smtClean="0">
                  <a:solidFill>
                    <a:srgbClr val="000000"/>
                  </a:solidFill>
                </a:endParaRPr>
              </a:p>
              <a:p>
                <a:pPr marL="342900" marR="0" lvl="0" indent="-342900" defTabSz="457200" rtl="0" eaLnBrk="1" fontAlgn="auto" latinLnBrk="0" hangingPunct="1">
                  <a:lnSpc>
                    <a:spcPct val="100000"/>
                  </a:lnSpc>
                  <a:spcBef>
                    <a:spcPct val="20000"/>
                  </a:spcBef>
                  <a:spcAft>
                    <a:spcPts val="0"/>
                  </a:spcAft>
                  <a:buClrTx/>
                  <a:buSzTx/>
                  <a:tabLst/>
                  <a:defRPr/>
                </a:pPr>
                <a:r>
                  <a:rPr lang="en-US" b="1" noProof="0" dirty="0" err="1" smtClean="0">
                    <a:solidFill>
                      <a:srgbClr val="000000"/>
                    </a:solidFill>
                  </a:rPr>
                  <a:t>Eurocom</a:t>
                </a:r>
                <a:endParaRPr lang="en-US" b="1" dirty="0" smtClean="0">
                  <a:solidFill>
                    <a:srgbClr val="000000"/>
                  </a:solidFill>
                </a:endParaRPr>
              </a:p>
              <a:p>
                <a:pPr marL="342900" marR="0" lvl="0" indent="-342900"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a:t>
                </a:r>
              </a:p>
            </p:txBody>
          </p:sp>
        </p:grpSp>
        <p:sp>
          <p:nvSpPr>
            <p:cNvPr id="66" name="Oval 65"/>
            <p:cNvSpPr/>
            <p:nvPr/>
          </p:nvSpPr>
          <p:spPr>
            <a:xfrm>
              <a:off x="6611096" y="1526773"/>
              <a:ext cx="711323" cy="2553866"/>
            </a:xfrm>
            <a:prstGeom prst="ellipse">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5" name="Straight Arrow Connector 74"/>
            <p:cNvCxnSpPr/>
            <p:nvPr/>
          </p:nvCxnSpPr>
          <p:spPr>
            <a:xfrm>
              <a:off x="5972737" y="2895194"/>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6" name="Straight Arrow Connector 75"/>
            <p:cNvCxnSpPr/>
            <p:nvPr/>
          </p:nvCxnSpPr>
          <p:spPr>
            <a:xfrm>
              <a:off x="5980087" y="2231846"/>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303408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ontent Placeholder 2"/>
          <p:cNvSpPr txBox="1">
            <a:spLocks/>
          </p:cNvSpPr>
          <p:nvPr/>
        </p:nvSpPr>
        <p:spPr>
          <a:xfrm>
            <a:off x="584408" y="4864618"/>
            <a:ext cx="8375554" cy="1738171"/>
          </a:xfrm>
          <a:prstGeom prst="rect">
            <a:avLst/>
          </a:prstGeom>
        </p:spPr>
        <p:txBody>
          <a:bodyPr vert="horz" lIns="91440" tIns="45720" rIns="91440" bIns="45720" rtlCol="0">
            <a:normAutofit/>
          </a:bodyPr>
          <a:lstStyle/>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600" i="0" u="none" strike="noStrike" kern="1200" cap="none" spc="0" normalizeH="0" baseline="0" noProof="0" dirty="0" smtClean="0">
                <a:ln>
                  <a:noFill/>
                </a:ln>
                <a:solidFill>
                  <a:srgbClr val="000000"/>
                </a:solidFill>
                <a:effectLst/>
                <a:uLnTx/>
                <a:uFillTx/>
                <a:latin typeface="+mn-lt"/>
                <a:ea typeface="+mn-ea"/>
                <a:cs typeface="+mn-cs"/>
              </a:rPr>
              <a:t>Automatically generated</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600" i="0" u="none" strike="noStrike" kern="1200" cap="none" spc="0" normalizeH="0" baseline="0" noProof="0" dirty="0" smtClean="0">
                <a:ln>
                  <a:noFill/>
                </a:ln>
                <a:solidFill>
                  <a:srgbClr val="000000"/>
                </a:solidFill>
                <a:effectLst/>
                <a:uLnTx/>
                <a:uFillTx/>
                <a:latin typeface="+mn-lt"/>
                <a:ea typeface="+mn-ea"/>
                <a:cs typeface="+mn-cs"/>
              </a:rPr>
              <a:t>DNS</a:t>
            </a:r>
            <a:r>
              <a:rPr lang="en-US" sz="1600" dirty="0" smtClean="0">
                <a:solidFill>
                  <a:srgbClr val="000000"/>
                </a:solidFill>
              </a:rPr>
              <a:t>-Free, different from popular network applications</a:t>
            </a:r>
            <a:endParaRPr kumimoji="0" lang="en-US" sz="1600" i="0" u="none" strike="noStrike" kern="1200" cap="none" spc="0" normalizeH="0" baseline="0" noProof="0" dirty="0" smtClean="0">
              <a:ln>
                <a:noFill/>
              </a:ln>
              <a:solidFill>
                <a:srgbClr val="000000"/>
              </a:solidFill>
              <a:effectLst/>
              <a:uLnTx/>
              <a:uFillTx/>
              <a:latin typeface="+mn-lt"/>
              <a:ea typeface="+mn-ea"/>
              <a:cs typeface="+mn-cs"/>
            </a:endParaRP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kumimoji="0" lang="en-US" sz="1600" i="0" u="none" strike="noStrike" kern="1200" cap="none" spc="0" normalizeH="0" baseline="0" noProof="0" dirty="0" smtClean="0">
                <a:ln>
                  <a:noFill/>
                </a:ln>
                <a:solidFill>
                  <a:srgbClr val="000000"/>
                </a:solidFill>
                <a:effectLst/>
                <a:uLnTx/>
                <a:uFillTx/>
                <a:latin typeface="+mn-lt"/>
                <a:ea typeface="+mn-ea"/>
                <a:cs typeface="+mn-cs"/>
              </a:rPr>
              <a:t>Sent to a large number of organizations</a:t>
            </a:r>
          </a:p>
          <a:p>
            <a:pPr marL="514350" marR="0" lvl="0" indent="-514350" algn="l" defTabSz="457200" rtl="0" eaLnBrk="1" fontAlgn="auto" latinLnBrk="0" hangingPunct="1">
              <a:lnSpc>
                <a:spcPct val="100000"/>
              </a:lnSpc>
              <a:spcBef>
                <a:spcPct val="20000"/>
              </a:spcBef>
              <a:spcAft>
                <a:spcPts val="0"/>
              </a:spcAft>
              <a:buClrTx/>
              <a:buSzTx/>
              <a:buFont typeface="+mj-lt"/>
              <a:buAutoNum type="arabicPeriod"/>
              <a:tabLst/>
              <a:defRPr/>
            </a:pPr>
            <a:r>
              <a:rPr lang="en-US" sz="2400" b="1" dirty="0" smtClean="0">
                <a:solidFill>
                  <a:srgbClr val="000000"/>
                </a:solidFill>
              </a:rPr>
              <a:t>P2P control flows used for the same purpose will share similar flow size regarding the same P2P application</a:t>
            </a:r>
            <a:endParaRPr kumimoji="0" lang="en-US" sz="2400" b="1" i="0" u="none" strike="noStrike" kern="1200" cap="none" spc="0" normalizeH="0" baseline="0" noProof="0" dirty="0" smtClean="0">
              <a:ln>
                <a:noFill/>
              </a:ln>
              <a:solidFill>
                <a:srgbClr val="000000"/>
              </a:solidFill>
              <a:effectLst/>
              <a:uLnTx/>
              <a:uFillTx/>
              <a:latin typeface="+mn-lt"/>
              <a:ea typeface="+mn-ea"/>
              <a:cs typeface="+mn-cs"/>
            </a:endParaRPr>
          </a:p>
        </p:txBody>
      </p:sp>
      <p:sp>
        <p:nvSpPr>
          <p:cNvPr id="31" name="TextBox 30"/>
          <p:cNvSpPr txBox="1"/>
          <p:nvPr/>
        </p:nvSpPr>
        <p:spPr>
          <a:xfrm>
            <a:off x="457200" y="1120912"/>
            <a:ext cx="4985720" cy="4585871"/>
          </a:xfrm>
          <a:prstGeom prst="rect">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b="1" dirty="0" smtClean="0"/>
              <a:t>PING/PONG</a:t>
            </a:r>
          </a:p>
          <a:p>
            <a:pPr algn="ctr"/>
            <a:endParaRPr lang="en-US" b="1" dirty="0" smtClean="0"/>
          </a:p>
          <a:p>
            <a:r>
              <a:rPr lang="en-US" dirty="0" err="1" smtClean="0"/>
              <a:t>while(every</a:t>
            </a:r>
            <a:r>
              <a:rPr lang="en-US" dirty="0" smtClean="0"/>
              <a:t> 3 </a:t>
            </a:r>
            <a:r>
              <a:rPr lang="en-US" dirty="0" err="1" smtClean="0"/>
              <a:t>miniutes</a:t>
            </a:r>
            <a:r>
              <a:rPr lang="en-US" dirty="0" smtClean="0"/>
              <a:t>)</a:t>
            </a:r>
          </a:p>
          <a:p>
            <a:r>
              <a:rPr lang="en-US" dirty="0" smtClean="0"/>
              <a:t>{</a:t>
            </a:r>
          </a:p>
          <a:p>
            <a:r>
              <a:rPr lang="en-US" dirty="0" smtClean="0">
                <a:solidFill>
                  <a:schemeClr val="tx1"/>
                </a:solidFill>
              </a:rPr>
              <a:t>	</a:t>
            </a:r>
            <a:r>
              <a:rPr lang="en-US" dirty="0" err="1" smtClean="0">
                <a:solidFill>
                  <a:schemeClr val="tx1"/>
                </a:solidFill>
              </a:rPr>
              <a:t>foreach(p</a:t>
            </a:r>
            <a:r>
              <a:rPr lang="en-US" dirty="0" smtClean="0">
                <a:solidFill>
                  <a:schemeClr val="tx1"/>
                </a:solidFill>
              </a:rPr>
              <a:t> in </a:t>
            </a:r>
            <a:r>
              <a:rPr lang="en-US" dirty="0" err="1" smtClean="0">
                <a:solidFill>
                  <a:schemeClr val="tx1"/>
                </a:solidFill>
              </a:rPr>
              <a:t>PeerList</a:t>
            </a:r>
            <a:r>
              <a:rPr lang="en-US" dirty="0" smtClean="0">
                <a:solidFill>
                  <a:schemeClr val="tx1"/>
                </a:solidFill>
              </a:rPr>
              <a:t>)</a:t>
            </a:r>
          </a:p>
          <a:p>
            <a:r>
              <a:rPr lang="en-US" dirty="0" smtClean="0"/>
              <a:t>	{</a:t>
            </a:r>
          </a:p>
          <a:p>
            <a:r>
              <a:rPr lang="en-US" dirty="0" smtClean="0">
                <a:solidFill>
                  <a:schemeClr val="tx1"/>
                </a:solidFill>
              </a:rPr>
              <a:t>		</a:t>
            </a:r>
            <a:r>
              <a:rPr lang="en-US" dirty="0" err="1" smtClean="0">
                <a:solidFill>
                  <a:schemeClr val="tx1"/>
                </a:solidFill>
              </a:rPr>
              <a:t>var</a:t>
            </a:r>
            <a:r>
              <a:rPr lang="en-US" dirty="0" smtClean="0">
                <a:solidFill>
                  <a:schemeClr val="tx1"/>
                </a:solidFill>
              </a:rPr>
              <a:t> </a:t>
            </a:r>
            <a:r>
              <a:rPr lang="en-US" dirty="0" err="1" smtClean="0">
                <a:solidFill>
                  <a:schemeClr val="tx1"/>
                </a:solidFill>
              </a:rPr>
              <a:t>s</a:t>
            </a:r>
            <a:r>
              <a:rPr lang="en-US" dirty="0" smtClean="0">
                <a:solidFill>
                  <a:schemeClr val="tx1"/>
                </a:solidFill>
              </a:rPr>
              <a:t> = new </a:t>
            </a:r>
            <a:r>
              <a:rPr lang="en-US" dirty="0" err="1" smtClean="0">
                <a:solidFill>
                  <a:schemeClr val="tx1"/>
                </a:solidFill>
              </a:rPr>
              <a:t>Connection(p</a:t>
            </a:r>
            <a:r>
              <a:rPr lang="en-US" dirty="0" smtClean="0">
                <a:solidFill>
                  <a:schemeClr val="tx1"/>
                </a:solidFill>
              </a:rPr>
              <a:t>);</a:t>
            </a:r>
          </a:p>
          <a:p>
            <a:r>
              <a:rPr lang="en-US" dirty="0" smtClean="0"/>
              <a:t>		</a:t>
            </a:r>
            <a:r>
              <a:rPr lang="en-US" dirty="0" err="1" smtClean="0"/>
              <a:t>s.send(</a:t>
            </a:r>
            <a:r>
              <a:rPr lang="en-US" sz="2200" b="1" i="1" dirty="0" err="1" smtClean="0">
                <a:solidFill>
                  <a:srgbClr val="FF0000"/>
                </a:solidFill>
              </a:rPr>
              <a:t>“PING</a:t>
            </a:r>
            <a:r>
              <a:rPr lang="en-US" sz="2200" b="1" i="1" dirty="0" smtClean="0">
                <a:solidFill>
                  <a:srgbClr val="FF0000"/>
                </a:solidFill>
              </a:rPr>
              <a:t>” + </a:t>
            </a:r>
            <a:r>
              <a:rPr lang="en-US" sz="2200" b="1" i="1" dirty="0" err="1" smtClean="0">
                <a:solidFill>
                  <a:srgbClr val="FF0000"/>
                </a:solidFill>
              </a:rPr>
              <a:t>self.time</a:t>
            </a:r>
            <a:r>
              <a:rPr lang="en-US" sz="2200" b="1" i="1" dirty="0" smtClean="0">
                <a:solidFill>
                  <a:srgbClr val="FF0000"/>
                </a:solidFill>
              </a:rPr>
              <a:t>() + </a:t>
            </a:r>
            <a:r>
              <a:rPr lang="en-US" sz="2200" b="1" i="1" dirty="0" err="1" smtClean="0">
                <a:solidFill>
                  <a:srgbClr val="FF0000"/>
                </a:solidFill>
              </a:rPr>
              <a:t>self.id</a:t>
            </a:r>
            <a:r>
              <a:rPr lang="en-US" sz="2200" b="1" i="1" dirty="0" smtClean="0">
                <a:solidFill>
                  <a:srgbClr val="FF0000"/>
                </a:solidFill>
              </a:rPr>
              <a:t>()</a:t>
            </a:r>
            <a:r>
              <a:rPr lang="en-US" dirty="0" smtClean="0"/>
              <a:t>);	</a:t>
            </a:r>
          </a:p>
          <a:p>
            <a:endParaRPr lang="en-US" dirty="0" smtClean="0"/>
          </a:p>
          <a:p>
            <a:r>
              <a:rPr lang="en-US" dirty="0" smtClean="0"/>
              <a:t>		</a:t>
            </a:r>
            <a:r>
              <a:rPr lang="en-US" dirty="0" err="1" smtClean="0"/>
              <a:t>var</a:t>
            </a:r>
            <a:r>
              <a:rPr lang="en-US" dirty="0" smtClean="0"/>
              <a:t> data = </a:t>
            </a:r>
            <a:r>
              <a:rPr lang="en-US" dirty="0" err="1" smtClean="0"/>
              <a:t>s.receive</a:t>
            </a:r>
            <a:r>
              <a:rPr lang="en-US" dirty="0" smtClean="0"/>
              <a:t>();	</a:t>
            </a:r>
          </a:p>
          <a:p>
            <a:r>
              <a:rPr lang="en-US" dirty="0" smtClean="0"/>
              <a:t>		</a:t>
            </a:r>
            <a:r>
              <a:rPr lang="en-US" dirty="0" err="1" smtClean="0"/>
              <a:t>s.close</a:t>
            </a:r>
            <a:r>
              <a:rPr lang="en-US" dirty="0" smtClean="0"/>
              <a:t>();</a:t>
            </a:r>
          </a:p>
          <a:p>
            <a:endParaRPr lang="en-US" dirty="0" smtClean="0"/>
          </a:p>
          <a:p>
            <a:r>
              <a:rPr lang="en-US" dirty="0" smtClean="0"/>
              <a:t>		//process data	</a:t>
            </a:r>
          </a:p>
          <a:p>
            <a:r>
              <a:rPr lang="en-US" dirty="0" smtClean="0"/>
              <a:t>	}	</a:t>
            </a:r>
          </a:p>
          <a:p>
            <a:r>
              <a:rPr lang="en-US" dirty="0" smtClean="0"/>
              <a:t>}</a:t>
            </a:r>
          </a:p>
        </p:txBody>
      </p:sp>
      <p:sp>
        <p:nvSpPr>
          <p:cNvPr id="2" name="Title 1"/>
          <p:cNvSpPr>
            <a:spLocks noGrp="1"/>
          </p:cNvSpPr>
          <p:nvPr>
            <p:ph type="title"/>
          </p:nvPr>
        </p:nvSpPr>
        <p:spPr/>
        <p:txBody>
          <a:bodyPr>
            <a:normAutofit/>
          </a:bodyPr>
          <a:lstStyle/>
          <a:p>
            <a:r>
              <a:rPr lang="en-US" sz="3600" b="1" dirty="0" smtClean="0"/>
              <a:t>Characteristics of P2P Control </a:t>
            </a:r>
            <a:r>
              <a:rPr lang="en-US" b="1" dirty="0" smtClean="0"/>
              <a:t>Flows</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94</a:t>
            </a:fld>
            <a:endParaRPr lang="en-US"/>
          </a:p>
        </p:txBody>
      </p:sp>
      <p:cxnSp>
        <p:nvCxnSpPr>
          <p:cNvPr id="99" name="Straight Arrow Connector 98"/>
          <p:cNvCxnSpPr/>
          <p:nvPr/>
        </p:nvCxnSpPr>
        <p:spPr>
          <a:xfrm>
            <a:off x="6241949" y="2103425"/>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6" name="Straight Arrow Connector 115"/>
          <p:cNvCxnSpPr/>
          <p:nvPr/>
        </p:nvCxnSpPr>
        <p:spPr>
          <a:xfrm rot="10800000">
            <a:off x="6532747" y="1988379"/>
            <a:ext cx="337282" cy="1588"/>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a:off x="6251511" y="2542912"/>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4" name="Straight Arrow Connector 93"/>
          <p:cNvCxnSpPr/>
          <p:nvPr/>
        </p:nvCxnSpPr>
        <p:spPr>
          <a:xfrm>
            <a:off x="6241949" y="1842321"/>
            <a:ext cx="1072324" cy="1588"/>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pic>
        <p:nvPicPr>
          <p:cNvPr id="154" name="Picture 153" descr="ruler.png"/>
          <p:cNvPicPr>
            <a:picLocks noChangeAspect="1"/>
          </p:cNvPicPr>
          <p:nvPr/>
        </p:nvPicPr>
        <p:blipFill>
          <a:blip r:embed="rId3"/>
          <a:stretch>
            <a:fillRect/>
          </a:stretch>
        </p:blipFill>
        <p:spPr>
          <a:xfrm>
            <a:off x="6213039" y="1177707"/>
            <a:ext cx="2326670" cy="418478"/>
          </a:xfrm>
          <a:prstGeom prst="rect">
            <a:avLst/>
          </a:prstGeom>
        </p:spPr>
      </p:pic>
      <p:cxnSp>
        <p:nvCxnSpPr>
          <p:cNvPr id="156" name="Straight Connector 155"/>
          <p:cNvCxnSpPr/>
          <p:nvPr/>
        </p:nvCxnSpPr>
        <p:spPr>
          <a:xfrm rot="5400000">
            <a:off x="6800589" y="2134566"/>
            <a:ext cx="1110800" cy="1588"/>
          </a:xfrm>
          <a:prstGeom prst="line">
            <a:avLst/>
          </a:prstGeom>
          <a:ln w="25400" cap="flat" cmpd="sng" algn="ctr">
            <a:solidFill>
              <a:schemeClr val="tx1"/>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60" name="Content Placeholder 2"/>
          <p:cNvSpPr txBox="1">
            <a:spLocks/>
          </p:cNvSpPr>
          <p:nvPr/>
        </p:nvSpPr>
        <p:spPr>
          <a:xfrm>
            <a:off x="5306139" y="1505364"/>
            <a:ext cx="1465485" cy="527513"/>
          </a:xfrm>
          <a:prstGeom prst="rect">
            <a:avLst/>
          </a:prstGeom>
        </p:spPr>
        <p:txBody>
          <a:bodyPr vert="horz" lIns="91440" tIns="45720" rIns="91440" bIns="45720" rtlCol="0">
            <a:normAutofit/>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PING/PONG</a:t>
            </a:r>
          </a:p>
        </p:txBody>
      </p:sp>
      <p:sp>
        <p:nvSpPr>
          <p:cNvPr id="163" name="Right Arrow 162"/>
          <p:cNvSpPr/>
          <p:nvPr/>
        </p:nvSpPr>
        <p:spPr>
          <a:xfrm>
            <a:off x="248745" y="5799539"/>
            <a:ext cx="356235" cy="415927"/>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Curved Up Arrow 70"/>
          <p:cNvSpPr/>
          <p:nvPr/>
        </p:nvSpPr>
        <p:spPr>
          <a:xfrm rot="20347705">
            <a:off x="3391312" y="3168141"/>
            <a:ext cx="3635651" cy="683249"/>
          </a:xfrm>
          <a:prstGeom prst="curvedUpArrow">
            <a:avLst>
              <a:gd name="adj1" fmla="val 25000"/>
              <a:gd name="adj2" fmla="val 50000"/>
              <a:gd name="adj3" fmla="val 25000"/>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3" name="Content Placeholder 2"/>
          <p:cNvSpPr txBox="1">
            <a:spLocks/>
          </p:cNvSpPr>
          <p:nvPr/>
        </p:nvSpPr>
        <p:spPr>
          <a:xfrm>
            <a:off x="5793806" y="2163331"/>
            <a:ext cx="1669314" cy="352380"/>
          </a:xfrm>
          <a:prstGeom prst="rect">
            <a:avLst/>
          </a:prstGeom>
        </p:spPr>
        <p:txBody>
          <a:bodyPr vert="horz" lIns="91440" tIns="45720" rIns="91440" bIns="45720" rtlCol="0">
            <a:noAutofit/>
          </a:bodyPr>
          <a:lstStyle/>
          <a:p>
            <a:pPr marL="342900" marR="0" lvl="0" indent="-342900"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[1, 1,</a:t>
            </a:r>
            <a:r>
              <a:rPr kumimoji="0" lang="en-US" i="0" u="none" strike="noStrike" kern="1200" cap="none" spc="0" normalizeH="0" noProof="0" dirty="0" smtClean="0">
                <a:ln>
                  <a:noFill/>
                </a:ln>
                <a:solidFill>
                  <a:srgbClr val="000000"/>
                </a:solidFill>
                <a:effectLst/>
                <a:uLnTx/>
                <a:uFillTx/>
                <a:latin typeface="+mn-lt"/>
                <a:ea typeface="+mn-ea"/>
                <a:cs typeface="+mn-cs"/>
              </a:rPr>
              <a:t> </a:t>
            </a:r>
            <a:r>
              <a:rPr kumimoji="0" lang="en-US" b="1" i="1" u="none" strike="noStrike" kern="1200" cap="none" spc="0" normalizeH="0" noProof="0" dirty="0" smtClean="0">
                <a:ln>
                  <a:noFill/>
                </a:ln>
                <a:solidFill>
                  <a:srgbClr val="FF0000"/>
                </a:solidFill>
                <a:effectLst/>
                <a:uLnTx/>
                <a:uFillTx/>
                <a:latin typeface="+mn-lt"/>
                <a:ea typeface="+mn-ea"/>
                <a:cs typeface="+mn-cs"/>
              </a:rPr>
              <a:t>100</a:t>
            </a:r>
            <a:r>
              <a:rPr kumimoji="0" lang="en-US" i="0" u="none" strike="noStrike" kern="1200" cap="none" spc="0" normalizeH="0" noProof="0" dirty="0" smtClean="0">
                <a:ln>
                  <a:noFill/>
                </a:ln>
                <a:solidFill>
                  <a:srgbClr val="000000"/>
                </a:solidFill>
                <a:effectLst/>
                <a:uLnTx/>
                <a:uFillTx/>
                <a:latin typeface="+mn-lt"/>
                <a:ea typeface="+mn-ea"/>
                <a:cs typeface="+mn-cs"/>
              </a:rPr>
              <a:t>, 200</a:t>
            </a:r>
            <a:r>
              <a:rPr kumimoji="0" lang="en-US" i="0" u="none" strike="noStrike" kern="1200" cap="none" spc="0" normalizeH="0" baseline="0" noProof="0" dirty="0" smtClean="0">
                <a:ln>
                  <a:noFill/>
                </a:ln>
                <a:solidFill>
                  <a:srgbClr val="000000"/>
                </a:solidFill>
                <a:effectLst/>
                <a:uLnTx/>
                <a:uFillTx/>
                <a:latin typeface="+mn-lt"/>
                <a:ea typeface="+mn-ea"/>
                <a:cs typeface="+mn-cs"/>
              </a:rPr>
              <a:t>]</a:t>
            </a:r>
          </a:p>
        </p:txBody>
      </p:sp>
      <p:sp>
        <p:nvSpPr>
          <p:cNvPr id="44" name="Left Brace 43"/>
          <p:cNvSpPr/>
          <p:nvPr/>
        </p:nvSpPr>
        <p:spPr>
          <a:xfrm rot="16200000">
            <a:off x="3668819" y="2053031"/>
            <a:ext cx="222651" cy="3051993"/>
          </a:xfrm>
          <a:prstGeom prst="leftBrace">
            <a:avLst/>
          </a:prstGeom>
          <a:ln w="3175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34" name="Group 33"/>
          <p:cNvGrpSpPr/>
          <p:nvPr/>
        </p:nvGrpSpPr>
        <p:grpSpPr>
          <a:xfrm>
            <a:off x="4081034" y="1581547"/>
            <a:ext cx="4944332" cy="3283071"/>
            <a:chOff x="4081034" y="1581547"/>
            <a:chExt cx="4944332" cy="3283071"/>
          </a:xfrm>
        </p:grpSpPr>
        <p:grpSp>
          <p:nvGrpSpPr>
            <p:cNvPr id="33" name="Group 32"/>
            <p:cNvGrpSpPr/>
            <p:nvPr/>
          </p:nvGrpSpPr>
          <p:grpSpPr>
            <a:xfrm>
              <a:off x="4081034" y="1581547"/>
              <a:ext cx="4944332" cy="3283071"/>
              <a:chOff x="4081034" y="1581547"/>
              <a:chExt cx="4944332" cy="3283071"/>
            </a:xfrm>
          </p:grpSpPr>
          <p:grpSp>
            <p:nvGrpSpPr>
              <p:cNvPr id="32" name="Group 31"/>
              <p:cNvGrpSpPr/>
              <p:nvPr/>
            </p:nvGrpSpPr>
            <p:grpSpPr>
              <a:xfrm>
                <a:off x="4081034" y="1581547"/>
                <a:ext cx="4944332" cy="3283071"/>
                <a:chOff x="4081034" y="1581547"/>
                <a:chExt cx="4944332" cy="3283071"/>
              </a:xfrm>
            </p:grpSpPr>
            <p:cxnSp>
              <p:nvCxnSpPr>
                <p:cNvPr id="100" name="Straight Arrow Connector 99"/>
                <p:cNvCxnSpPr/>
                <p:nvPr/>
              </p:nvCxnSpPr>
              <p:spPr>
                <a:xfrm>
                  <a:off x="6251511" y="3265302"/>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2" name="Straight Arrow Connector 101"/>
                <p:cNvCxnSpPr/>
                <p:nvPr/>
              </p:nvCxnSpPr>
              <p:spPr>
                <a:xfrm>
                  <a:off x="6229116" y="4162823"/>
                  <a:ext cx="1378287"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8" name="Straight Arrow Connector 127"/>
                <p:cNvCxnSpPr/>
                <p:nvPr/>
              </p:nvCxnSpPr>
              <p:spPr>
                <a:xfrm rot="10800000" flipV="1">
                  <a:off x="7029393" y="3826285"/>
                  <a:ext cx="336487"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95" name="Straight Arrow Connector 94"/>
                <p:cNvCxnSpPr/>
                <p:nvPr/>
              </p:nvCxnSpPr>
              <p:spPr>
                <a:xfrm>
                  <a:off x="6245193" y="3734742"/>
                  <a:ext cx="1362210"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57" name="Straight Connector 156"/>
                <p:cNvCxnSpPr/>
                <p:nvPr/>
              </p:nvCxnSpPr>
              <p:spPr>
                <a:xfrm rot="5400000">
                  <a:off x="6340351" y="2872583"/>
                  <a:ext cx="2583660" cy="1588"/>
                </a:xfrm>
                <a:prstGeom prst="line">
                  <a:avLst/>
                </a:prstGeom>
                <a:ln w="25400" cap="flat" cmpd="sng" algn="ctr">
                  <a:solidFill>
                    <a:schemeClr val="tx1"/>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61" name="Content Placeholder 2"/>
                <p:cNvSpPr txBox="1">
                  <a:spLocks/>
                </p:cNvSpPr>
                <p:nvPr/>
              </p:nvSpPr>
              <p:spPr>
                <a:xfrm>
                  <a:off x="5608533" y="2945841"/>
                  <a:ext cx="1705740" cy="410536"/>
                </a:xfrm>
                <a:prstGeom prst="rect">
                  <a:avLst/>
                </a:prstGeom>
              </p:spPr>
              <p:txBody>
                <a:bodyPr vert="horz" lIns="91440" tIns="45720" rIns="91440" bIns="45720" rtlCol="0">
                  <a:normAutofit/>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Routing</a:t>
                  </a:r>
                  <a:r>
                    <a:rPr kumimoji="0" lang="en-US" i="0" u="none" strike="noStrike" kern="1200" cap="none" spc="0" normalizeH="0" noProof="0" dirty="0" smtClean="0">
                      <a:ln>
                        <a:noFill/>
                      </a:ln>
                      <a:solidFill>
                        <a:srgbClr val="000000"/>
                      </a:solidFill>
                      <a:effectLst/>
                      <a:uLnTx/>
                      <a:uFillTx/>
                      <a:latin typeface="+mn-lt"/>
                      <a:ea typeface="+mn-ea"/>
                      <a:cs typeface="+mn-cs"/>
                    </a:rPr>
                    <a:t> </a:t>
                  </a:r>
                  <a:r>
                    <a:rPr kumimoji="0" lang="en-US" i="0" u="none" strike="noStrike" kern="1200" cap="none" spc="0" normalizeH="0" baseline="0" noProof="0" dirty="0" smtClean="0">
                      <a:ln>
                        <a:noFill/>
                      </a:ln>
                      <a:solidFill>
                        <a:srgbClr val="000000"/>
                      </a:solidFill>
                      <a:effectLst/>
                      <a:uLnTx/>
                      <a:uFillTx/>
                      <a:latin typeface="+mn-lt"/>
                      <a:ea typeface="+mn-ea"/>
                      <a:cs typeface="+mn-cs"/>
                    </a:rPr>
                    <a:t>Update</a:t>
                  </a:r>
                </a:p>
              </p:txBody>
            </p:sp>
            <p:sp>
              <p:nvSpPr>
                <p:cNvPr id="67" name="TextBox 66"/>
                <p:cNvSpPr txBox="1"/>
                <p:nvPr/>
              </p:nvSpPr>
              <p:spPr>
                <a:xfrm>
                  <a:off x="4081034" y="4279842"/>
                  <a:ext cx="4944332" cy="58477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600" b="1" dirty="0" smtClean="0"/>
                    <a:t>Routing Update</a:t>
                  </a:r>
                </a:p>
                <a:p>
                  <a:r>
                    <a:rPr lang="en-US" sz="1600" dirty="0" smtClean="0"/>
                    <a:t>	</a:t>
                  </a:r>
                  <a:r>
                    <a:rPr lang="en-US" sz="1600" dirty="0" err="1" smtClean="0"/>
                    <a:t>s.send(p</a:t>
                  </a:r>
                  <a:r>
                    <a:rPr lang="en-US" sz="1600" dirty="0" smtClean="0"/>
                    <a:t>, </a:t>
                  </a:r>
                  <a:r>
                    <a:rPr lang="en-US" sz="1600" b="1" i="1" dirty="0" smtClean="0">
                      <a:solidFill>
                        <a:srgbClr val="FF6600"/>
                      </a:solidFill>
                    </a:rPr>
                    <a:t>“Routing ” + </a:t>
                  </a:r>
                  <a:r>
                    <a:rPr lang="en-US" sz="1600" b="1" i="1" dirty="0" err="1" smtClean="0">
                      <a:solidFill>
                        <a:srgbClr val="FF6600"/>
                      </a:solidFill>
                    </a:rPr>
                    <a:t>self.RoutingTable</a:t>
                  </a:r>
                  <a:r>
                    <a:rPr lang="en-US" sz="1600" b="1" i="1" dirty="0" smtClean="0">
                      <a:solidFill>
                        <a:srgbClr val="FF6600"/>
                      </a:solidFill>
                    </a:rPr>
                    <a:t>()</a:t>
                  </a:r>
                  <a:r>
                    <a:rPr lang="en-US" sz="1600" dirty="0" smtClean="0"/>
                    <a:t>);</a:t>
                  </a:r>
                </a:p>
              </p:txBody>
            </p:sp>
          </p:grpSp>
          <p:sp>
            <p:nvSpPr>
              <p:cNvPr id="47" name="Content Placeholder 2"/>
              <p:cNvSpPr txBox="1">
                <a:spLocks/>
              </p:cNvSpPr>
              <p:nvPr/>
            </p:nvSpPr>
            <p:spPr>
              <a:xfrm>
                <a:off x="6135643" y="3342266"/>
                <a:ext cx="1669314" cy="352380"/>
              </a:xfrm>
              <a:prstGeom prst="rect">
                <a:avLst/>
              </a:prstGeom>
            </p:spPr>
            <p:txBody>
              <a:bodyPr vert="horz" lIns="91440" tIns="45720" rIns="91440" bIns="45720" rtlCol="0">
                <a:noAutofit/>
              </a:bodyPr>
              <a:lstStyle/>
              <a:p>
                <a:pPr marL="342900" marR="0" lvl="0" indent="-342900"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[1, 1,</a:t>
                </a:r>
                <a:r>
                  <a:rPr kumimoji="0" lang="en-US" i="0" u="none" strike="noStrike" kern="1200" cap="none" spc="0" normalizeH="0" noProof="0" dirty="0" smtClean="0">
                    <a:ln>
                      <a:noFill/>
                    </a:ln>
                    <a:solidFill>
                      <a:srgbClr val="000000"/>
                    </a:solidFill>
                    <a:effectLst/>
                    <a:uLnTx/>
                    <a:uFillTx/>
                    <a:latin typeface="+mn-lt"/>
                    <a:ea typeface="+mn-ea"/>
                    <a:cs typeface="+mn-cs"/>
                  </a:rPr>
                  <a:t> </a:t>
                </a:r>
                <a:r>
                  <a:rPr kumimoji="0" lang="en-US" b="1" i="1" u="none" strike="noStrike" kern="1200" cap="none" spc="0" normalizeH="0" noProof="0" dirty="0" smtClean="0">
                    <a:ln>
                      <a:noFill/>
                    </a:ln>
                    <a:solidFill>
                      <a:srgbClr val="FF6600"/>
                    </a:solidFill>
                    <a:effectLst/>
                    <a:uLnTx/>
                    <a:uFillTx/>
                    <a:latin typeface="+mn-lt"/>
                    <a:ea typeface="+mn-ea"/>
                    <a:cs typeface="+mn-cs"/>
                  </a:rPr>
                  <a:t>300</a:t>
                </a:r>
                <a:r>
                  <a:rPr kumimoji="0" lang="en-US" i="0" u="none" strike="noStrike" kern="1200" cap="none" spc="0" normalizeH="0" noProof="0" dirty="0" smtClean="0">
                    <a:ln>
                      <a:noFill/>
                    </a:ln>
                    <a:solidFill>
                      <a:srgbClr val="000000"/>
                    </a:solidFill>
                    <a:effectLst/>
                    <a:uLnTx/>
                    <a:uFillTx/>
                    <a:latin typeface="+mn-lt"/>
                    <a:ea typeface="+mn-ea"/>
                    <a:cs typeface="+mn-cs"/>
                  </a:rPr>
                  <a:t>, </a:t>
                </a:r>
                <a:r>
                  <a:rPr lang="en-US" dirty="0" smtClean="0">
                    <a:solidFill>
                      <a:srgbClr val="000000"/>
                    </a:solidFill>
                  </a:rPr>
                  <a:t>4</a:t>
                </a:r>
                <a:r>
                  <a:rPr kumimoji="0" lang="en-US" i="0" u="none" strike="noStrike" kern="1200" cap="none" spc="0" normalizeH="0" noProof="0" dirty="0" smtClean="0">
                    <a:ln>
                      <a:noFill/>
                    </a:ln>
                    <a:solidFill>
                      <a:srgbClr val="000000"/>
                    </a:solidFill>
                    <a:effectLst/>
                    <a:uLnTx/>
                    <a:uFillTx/>
                    <a:latin typeface="+mn-lt"/>
                    <a:ea typeface="+mn-ea"/>
                    <a:cs typeface="+mn-cs"/>
                  </a:rPr>
                  <a:t>00</a:t>
                </a:r>
                <a:r>
                  <a:rPr kumimoji="0" lang="en-US" i="0" u="none" strike="noStrike" kern="1200" cap="none" spc="0" normalizeH="0" baseline="0" noProof="0" dirty="0" smtClean="0">
                    <a:ln>
                      <a:noFill/>
                    </a:ln>
                    <a:solidFill>
                      <a:srgbClr val="000000"/>
                    </a:solidFill>
                    <a:effectLst/>
                    <a:uLnTx/>
                    <a:uFillTx/>
                    <a:latin typeface="+mn-lt"/>
                    <a:ea typeface="+mn-ea"/>
                    <a:cs typeface="+mn-cs"/>
                  </a:rPr>
                  <a:t>]</a:t>
                </a:r>
              </a:p>
            </p:txBody>
          </p:sp>
        </p:grpSp>
        <p:sp>
          <p:nvSpPr>
            <p:cNvPr id="48" name="Content Placeholder 2"/>
            <p:cNvSpPr txBox="1">
              <a:spLocks/>
            </p:cNvSpPr>
            <p:nvPr/>
          </p:nvSpPr>
          <p:spPr>
            <a:xfrm>
              <a:off x="6127762" y="3802180"/>
              <a:ext cx="1669314" cy="352380"/>
            </a:xfrm>
            <a:prstGeom prst="rect">
              <a:avLst/>
            </a:prstGeom>
          </p:spPr>
          <p:txBody>
            <a:bodyPr vert="horz" lIns="91440" tIns="45720" rIns="91440" bIns="45720" rtlCol="0">
              <a:noAutofit/>
            </a:bodyPr>
            <a:lstStyle/>
            <a:p>
              <a:pPr marL="342900" marR="0" lvl="0" indent="-342900"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[1, 1,</a:t>
              </a:r>
              <a:r>
                <a:rPr kumimoji="0" lang="en-US" i="0" u="none" strike="noStrike" kern="1200" cap="none" spc="0" normalizeH="0" noProof="0" dirty="0" smtClean="0">
                  <a:ln>
                    <a:noFill/>
                  </a:ln>
                  <a:solidFill>
                    <a:srgbClr val="000000"/>
                  </a:solidFill>
                  <a:effectLst/>
                  <a:uLnTx/>
                  <a:uFillTx/>
                  <a:latin typeface="+mn-lt"/>
                  <a:ea typeface="+mn-ea"/>
                  <a:cs typeface="+mn-cs"/>
                </a:rPr>
                <a:t> </a:t>
              </a:r>
              <a:r>
                <a:rPr kumimoji="0" lang="en-US" b="1" i="1" u="none" strike="noStrike" kern="1200" cap="none" spc="0" normalizeH="0" noProof="0" dirty="0" smtClean="0">
                  <a:ln>
                    <a:noFill/>
                  </a:ln>
                  <a:solidFill>
                    <a:srgbClr val="FF6600"/>
                  </a:solidFill>
                  <a:effectLst/>
                  <a:uLnTx/>
                  <a:uFillTx/>
                  <a:latin typeface="+mn-lt"/>
                  <a:ea typeface="+mn-ea"/>
                  <a:cs typeface="+mn-cs"/>
                </a:rPr>
                <a:t>310</a:t>
              </a:r>
              <a:r>
                <a:rPr kumimoji="0" lang="en-US" i="0" u="none" strike="noStrike" kern="1200" cap="none" spc="0" normalizeH="0" noProof="0" dirty="0" smtClean="0">
                  <a:ln>
                    <a:noFill/>
                  </a:ln>
                  <a:solidFill>
                    <a:srgbClr val="000000"/>
                  </a:solidFill>
                  <a:effectLst/>
                  <a:uLnTx/>
                  <a:uFillTx/>
                  <a:latin typeface="+mn-lt"/>
                  <a:ea typeface="+mn-ea"/>
                  <a:cs typeface="+mn-cs"/>
                </a:rPr>
                <a:t>, </a:t>
              </a:r>
              <a:r>
                <a:rPr lang="en-US" dirty="0" smtClean="0">
                  <a:solidFill>
                    <a:srgbClr val="000000"/>
                  </a:solidFill>
                </a:rPr>
                <a:t>4</a:t>
              </a:r>
              <a:r>
                <a:rPr kumimoji="0" lang="en-US" i="0" u="none" strike="noStrike" kern="1200" cap="none" spc="0" normalizeH="0" noProof="0" dirty="0" smtClean="0">
                  <a:ln>
                    <a:noFill/>
                  </a:ln>
                  <a:solidFill>
                    <a:srgbClr val="000000"/>
                  </a:solidFill>
                  <a:effectLst/>
                  <a:uLnTx/>
                  <a:uFillTx/>
                  <a:latin typeface="+mn-lt"/>
                  <a:ea typeface="+mn-ea"/>
                  <a:cs typeface="+mn-cs"/>
                </a:rPr>
                <a:t>00</a:t>
              </a:r>
              <a:r>
                <a:rPr kumimoji="0" lang="en-US" i="0" u="none" strike="noStrike" kern="1200" cap="none" spc="0" normalizeH="0" baseline="0" noProof="0" dirty="0" smtClean="0">
                  <a:ln>
                    <a:noFill/>
                  </a:ln>
                  <a:solidFill>
                    <a:srgbClr val="000000"/>
                  </a:solidFill>
                  <a:effectLst/>
                  <a:uLnTx/>
                  <a:uFillTx/>
                  <a:latin typeface="+mn-lt"/>
                  <a:ea typeface="+mn-ea"/>
                  <a:cs typeface="+mn-cs"/>
                </a:rPr>
                <a:t>]</a:t>
              </a:r>
            </a:p>
          </p:txBody>
        </p:sp>
      </p:grpSp>
    </p:spTree>
    <p:extLst>
      <p:ext uri="{BB962C8B-B14F-4D97-AF65-F5344CB8AC3E}">
        <p14:creationId xmlns:p14="http://schemas.microsoft.com/office/powerpoint/2010/main" val="331190531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2175974" y="784671"/>
            <a:ext cx="4098442" cy="3418654"/>
            <a:chOff x="2330854" y="1171921"/>
            <a:chExt cx="4098442" cy="3418654"/>
          </a:xfrm>
        </p:grpSpPr>
        <p:pic>
          <p:nvPicPr>
            <p:cNvPr id="46" name="Picture 45"/>
            <p:cNvPicPr>
              <a:picLocks noChangeAspect="1"/>
            </p:cNvPicPr>
            <p:nvPr/>
          </p:nvPicPr>
          <p:blipFill>
            <a:blip r:embed="rId3"/>
            <a:stretch>
              <a:fillRect/>
            </a:stretch>
          </p:blipFill>
          <p:spPr>
            <a:xfrm>
              <a:off x="2330854" y="1171921"/>
              <a:ext cx="4098442" cy="3418654"/>
            </a:xfrm>
            <a:prstGeom prst="rect">
              <a:avLst/>
            </a:prstGeom>
          </p:spPr>
        </p:pic>
        <p:sp>
          <p:nvSpPr>
            <p:cNvPr id="52" name="Rectangle 51"/>
            <p:cNvSpPr/>
            <p:nvPr/>
          </p:nvSpPr>
          <p:spPr>
            <a:xfrm>
              <a:off x="4023591" y="2082114"/>
              <a:ext cx="1660689" cy="371438"/>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rgbClr val="000000"/>
                  </a:solidFill>
                </a:rPr>
                <a:t>Routing update</a:t>
              </a:r>
              <a:endParaRPr lang="en-US" sz="1600" dirty="0">
                <a:solidFill>
                  <a:srgbClr val="000000"/>
                </a:solidFill>
              </a:endParaRPr>
            </a:p>
          </p:txBody>
        </p:sp>
        <p:sp>
          <p:nvSpPr>
            <p:cNvPr id="53" name="Rectangle 52"/>
            <p:cNvSpPr/>
            <p:nvPr/>
          </p:nvSpPr>
          <p:spPr>
            <a:xfrm>
              <a:off x="3611991" y="3749033"/>
              <a:ext cx="1600154" cy="263336"/>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rgbClr val="000000"/>
                  </a:solidFill>
                </a:rPr>
                <a:t>PING/PONG</a:t>
              </a:r>
              <a:endParaRPr lang="en-US" sz="1600" dirty="0">
                <a:solidFill>
                  <a:srgbClr val="000000"/>
                </a:solidFill>
              </a:endParaRPr>
            </a:p>
          </p:txBody>
        </p:sp>
        <p:sp>
          <p:nvSpPr>
            <p:cNvPr id="54" name="Rectangle 53"/>
            <p:cNvSpPr/>
            <p:nvPr/>
          </p:nvSpPr>
          <p:spPr>
            <a:xfrm>
              <a:off x="4188217" y="2439647"/>
              <a:ext cx="1660689" cy="224553"/>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rgbClr val="000000"/>
                  </a:solidFill>
                </a:rPr>
                <a:t>Index update</a:t>
              </a:r>
              <a:endParaRPr lang="en-US" sz="1600" dirty="0">
                <a:solidFill>
                  <a:srgbClr val="000000"/>
                </a:solidFill>
              </a:endParaRPr>
            </a:p>
          </p:txBody>
        </p:sp>
      </p:grpSp>
      <p:sp>
        <p:nvSpPr>
          <p:cNvPr id="2" name="Title 1"/>
          <p:cNvSpPr>
            <a:spLocks noGrp="1"/>
          </p:cNvSpPr>
          <p:nvPr>
            <p:ph type="title"/>
          </p:nvPr>
        </p:nvSpPr>
        <p:spPr/>
        <p:txBody>
          <a:bodyPr>
            <a:normAutofit/>
          </a:bodyPr>
          <a:lstStyle/>
          <a:p>
            <a:r>
              <a:rPr lang="en-US" sz="3600" b="1" dirty="0" smtClean="0"/>
              <a:t>Characteristics of P2P Control </a:t>
            </a:r>
            <a:r>
              <a:rPr lang="en-US" b="1" dirty="0" smtClean="0"/>
              <a:t>Flows</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95</a:t>
            </a:fld>
            <a:endParaRPr lang="en-US"/>
          </a:p>
        </p:txBody>
      </p:sp>
      <p:sp>
        <p:nvSpPr>
          <p:cNvPr id="8" name="Content Placeholder 81"/>
          <p:cNvSpPr>
            <a:spLocks noGrp="1"/>
          </p:cNvSpPr>
          <p:nvPr>
            <p:ph idx="1"/>
          </p:nvPr>
        </p:nvSpPr>
        <p:spPr>
          <a:xfrm>
            <a:off x="287802" y="4485596"/>
            <a:ext cx="8856198" cy="1870754"/>
          </a:xfrm>
        </p:spPr>
        <p:txBody>
          <a:bodyPr>
            <a:normAutofit fontScale="92500" lnSpcReduction="10000"/>
          </a:bodyPr>
          <a:lstStyle/>
          <a:p>
            <a:r>
              <a:rPr lang="en-US" sz="2400" dirty="0" smtClean="0"/>
              <a:t>P2P Control flows for the same purpose (e.g., PING/PONG) share similar flow size</a:t>
            </a:r>
          </a:p>
          <a:p>
            <a:endParaRPr lang="en-US" sz="2400" dirty="0" smtClean="0"/>
          </a:p>
          <a:p>
            <a:r>
              <a:rPr lang="en-US" sz="2400" dirty="0" smtClean="0"/>
              <a:t>P2P Control flows for different purposes (e.g., PING/PONG vs. Routing Update) have different flow sizes</a:t>
            </a:r>
          </a:p>
          <a:p>
            <a:pPr lvl="1"/>
            <a:endParaRPr lang="en-US" sz="2400" dirty="0"/>
          </a:p>
        </p:txBody>
      </p:sp>
    </p:spTree>
    <p:extLst>
      <p:ext uri="{BB962C8B-B14F-4D97-AF65-F5344CB8AC3E}">
        <p14:creationId xmlns:p14="http://schemas.microsoft.com/office/powerpoint/2010/main" val="22228533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P2P Client Detection</a:t>
            </a:r>
            <a:endParaRPr lang="en-US"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96</a:t>
            </a:fld>
            <a:endParaRPr lang="en-US"/>
          </a:p>
        </p:txBody>
      </p:sp>
      <p:grpSp>
        <p:nvGrpSpPr>
          <p:cNvPr id="3" name="Group 35"/>
          <p:cNvGrpSpPr/>
          <p:nvPr/>
        </p:nvGrpSpPr>
        <p:grpSpPr>
          <a:xfrm>
            <a:off x="287870" y="1330170"/>
            <a:ext cx="2221515" cy="4876375"/>
            <a:chOff x="3119067" y="1262438"/>
            <a:chExt cx="2727156" cy="4876375"/>
          </a:xfrm>
        </p:grpSpPr>
        <p:grpSp>
          <p:nvGrpSpPr>
            <p:cNvPr id="8" name="Group 34"/>
            <p:cNvGrpSpPr/>
            <p:nvPr/>
          </p:nvGrpSpPr>
          <p:grpSpPr>
            <a:xfrm>
              <a:off x="3119067" y="1262438"/>
              <a:ext cx="2727156" cy="4100525"/>
              <a:chOff x="3119067" y="1729246"/>
              <a:chExt cx="2727156" cy="4100525"/>
            </a:xfrm>
          </p:grpSpPr>
          <p:sp>
            <p:nvSpPr>
              <p:cNvPr id="5" name="Snip Single Corner Rectangle 4"/>
              <p:cNvSpPr/>
              <p:nvPr/>
            </p:nvSpPr>
            <p:spPr>
              <a:xfrm>
                <a:off x="3119067" y="5187429"/>
                <a:ext cx="1289391" cy="642341"/>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DNS</a:t>
                </a:r>
                <a:endParaRPr lang="en-US" dirty="0">
                  <a:solidFill>
                    <a:srgbClr val="000000"/>
                  </a:solidFill>
                </a:endParaRPr>
              </a:p>
            </p:txBody>
          </p:sp>
          <p:sp>
            <p:nvSpPr>
              <p:cNvPr id="6" name="Snip Single Corner Rectangle 5"/>
              <p:cNvSpPr/>
              <p:nvPr/>
            </p:nvSpPr>
            <p:spPr>
              <a:xfrm>
                <a:off x="4524221" y="5172831"/>
                <a:ext cx="1322002" cy="656940"/>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solidFill>
                      <a:srgbClr val="000000"/>
                    </a:solidFill>
                  </a:rPr>
                  <a:t>NetworkFlows</a:t>
                </a:r>
                <a:endParaRPr lang="en-US" dirty="0">
                  <a:solidFill>
                    <a:srgbClr val="000000"/>
                  </a:solidFill>
                </a:endParaRPr>
              </a:p>
            </p:txBody>
          </p:sp>
          <p:sp>
            <p:nvSpPr>
              <p:cNvPr id="7" name="Rounded Rectangle 6"/>
              <p:cNvSpPr/>
              <p:nvPr/>
            </p:nvSpPr>
            <p:spPr>
              <a:xfrm>
                <a:off x="3603009" y="3663733"/>
                <a:ext cx="1746572" cy="1118123"/>
              </a:xfrm>
              <a:prstGeom prst="roundRect">
                <a:avLst>
                  <a:gd name="adj" fmla="val 0"/>
                </a:avLst>
              </a:prstGeom>
              <a:ln w="73025">
                <a:solidFill>
                  <a:srgbClr val="008000"/>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dirty="0" smtClean="0">
                    <a:solidFill>
                      <a:srgbClr val="000000"/>
                    </a:solidFill>
                  </a:rPr>
                  <a:t>P2P-Client Detection</a:t>
                </a:r>
                <a:endParaRPr lang="en-US" sz="2000" b="1" dirty="0">
                  <a:solidFill>
                    <a:srgbClr val="000000"/>
                  </a:solidFill>
                </a:endParaRPr>
              </a:p>
            </p:txBody>
          </p:sp>
          <p:sp>
            <p:nvSpPr>
              <p:cNvPr id="12" name="Snip Single Corner Rectangle 11"/>
              <p:cNvSpPr/>
              <p:nvPr/>
            </p:nvSpPr>
            <p:spPr>
              <a:xfrm>
                <a:off x="3940362" y="1729246"/>
                <a:ext cx="1062503" cy="406097"/>
              </a:xfrm>
              <a:prstGeom prst="snip1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solidFill>
                      <a:srgbClr val="000000"/>
                    </a:solidFill>
                  </a:rPr>
                  <a:t>Bots</a:t>
                </a:r>
                <a:endParaRPr lang="en-US" dirty="0">
                  <a:solidFill>
                    <a:srgbClr val="000000"/>
                  </a:solidFill>
                </a:endParaRPr>
              </a:p>
            </p:txBody>
          </p:sp>
          <p:sp>
            <p:nvSpPr>
              <p:cNvPr id="16" name="Rounded Rectangle 15"/>
              <p:cNvSpPr/>
              <p:nvPr/>
            </p:nvSpPr>
            <p:spPr>
              <a:xfrm>
                <a:off x="3603009" y="2443917"/>
                <a:ext cx="1746572" cy="749033"/>
              </a:xfrm>
              <a:prstGeom prst="roundRect">
                <a:avLst>
                  <a:gd name="adj" fmla="val 0"/>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smtClean="0">
                    <a:solidFill>
                      <a:srgbClr val="000000"/>
                    </a:solidFill>
                  </a:rPr>
                  <a:t>P2P-Bot Detection</a:t>
                </a:r>
                <a:endParaRPr lang="en-US" dirty="0">
                  <a:solidFill>
                    <a:srgbClr val="000000"/>
                  </a:solidFill>
                </a:endParaRPr>
              </a:p>
            </p:txBody>
          </p:sp>
          <p:cxnSp>
            <p:nvCxnSpPr>
              <p:cNvPr id="20" name="Straight Arrow Connector 19"/>
              <p:cNvCxnSpPr>
                <a:stCxn id="5" idx="3"/>
                <a:endCxn id="7" idx="2"/>
              </p:cNvCxnSpPr>
              <p:nvPr/>
            </p:nvCxnSpPr>
            <p:spPr>
              <a:xfrm rot="5400000" flipH="1" flipV="1">
                <a:off x="3917243" y="4628377"/>
                <a:ext cx="405573" cy="712532"/>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2" name="Straight Arrow Connector 21"/>
              <p:cNvCxnSpPr>
                <a:stCxn id="6" idx="3"/>
                <a:endCxn id="7" idx="2"/>
              </p:cNvCxnSpPr>
              <p:nvPr/>
            </p:nvCxnSpPr>
            <p:spPr>
              <a:xfrm rot="16200000" flipV="1">
                <a:off x="4635272" y="4622880"/>
                <a:ext cx="390975" cy="708927"/>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5" name="Straight Arrow Connector 24"/>
              <p:cNvCxnSpPr>
                <a:stCxn id="7" idx="0"/>
                <a:endCxn id="16" idx="2"/>
              </p:cNvCxnSpPr>
              <p:nvPr/>
            </p:nvCxnSpPr>
            <p:spPr>
              <a:xfrm rot="5400000" flipH="1" flipV="1">
                <a:off x="4240904" y="3428342"/>
                <a:ext cx="470783" cy="1588"/>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7" name="Straight Arrow Connector 26"/>
              <p:cNvCxnSpPr>
                <a:endCxn id="12" idx="1"/>
              </p:cNvCxnSpPr>
              <p:nvPr/>
            </p:nvCxnSpPr>
            <p:spPr>
              <a:xfrm rot="5400000" flipH="1" flipV="1">
                <a:off x="4323454" y="2283504"/>
                <a:ext cx="296321" cy="1588"/>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26" name="Left-Right Arrow 25"/>
            <p:cNvSpPr/>
            <p:nvPr/>
          </p:nvSpPr>
          <p:spPr>
            <a:xfrm>
              <a:off x="3181429" y="5672024"/>
              <a:ext cx="2644007" cy="466789"/>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Network Traffic</a:t>
              </a:r>
              <a:endParaRPr lang="en-US" dirty="0">
                <a:solidFill>
                  <a:schemeClr val="tx1"/>
                </a:solidFill>
              </a:endParaRPr>
            </a:p>
          </p:txBody>
        </p:sp>
        <p:cxnSp>
          <p:nvCxnSpPr>
            <p:cNvPr id="28" name="Straight Arrow Connector 27"/>
            <p:cNvCxnSpPr>
              <a:stCxn id="26" idx="1"/>
              <a:endCxn id="5" idx="1"/>
            </p:cNvCxnSpPr>
            <p:nvPr/>
          </p:nvCxnSpPr>
          <p:spPr>
            <a:xfrm rot="16200000" flipV="1">
              <a:off x="3920719" y="5206007"/>
              <a:ext cx="425759" cy="739670"/>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31" name="Straight Arrow Connector 30"/>
            <p:cNvCxnSpPr>
              <a:stCxn id="26" idx="1"/>
              <a:endCxn id="6" idx="1"/>
            </p:cNvCxnSpPr>
            <p:nvPr/>
          </p:nvCxnSpPr>
          <p:spPr>
            <a:xfrm rot="5400000" flipH="1" flipV="1">
              <a:off x="4631448" y="5234948"/>
              <a:ext cx="425758" cy="681789"/>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91" name="Rounded Rectangle 90"/>
          <p:cNvSpPr/>
          <p:nvPr/>
        </p:nvSpPr>
        <p:spPr>
          <a:xfrm>
            <a:off x="2419279" y="3863292"/>
            <a:ext cx="2886530" cy="504889"/>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US" sz="1600" dirty="0" smtClean="0"/>
              <a:t>DNS-Based Traffic Filtering</a:t>
            </a:r>
            <a:endParaRPr lang="en-US" sz="1600" dirty="0"/>
          </a:p>
        </p:txBody>
      </p:sp>
      <p:sp>
        <p:nvSpPr>
          <p:cNvPr id="103" name="Rounded Rectangle 102"/>
          <p:cNvSpPr/>
          <p:nvPr/>
        </p:nvSpPr>
        <p:spPr>
          <a:xfrm>
            <a:off x="2419278" y="3280849"/>
            <a:ext cx="2886531" cy="502349"/>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US" sz="1600" dirty="0" smtClean="0"/>
              <a:t>Clustering-Based Flow Analysis</a:t>
            </a:r>
            <a:endParaRPr lang="en-US" sz="1600" dirty="0"/>
          </a:p>
        </p:txBody>
      </p:sp>
    </p:spTree>
    <p:extLst>
      <p:ext uri="{BB962C8B-B14F-4D97-AF65-F5344CB8AC3E}">
        <p14:creationId xmlns:p14="http://schemas.microsoft.com/office/powerpoint/2010/main" val="27706926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DNS-Based Traffic Filtering</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97</a:t>
            </a:fld>
            <a:endParaRPr lang="en-US"/>
          </a:p>
        </p:txBody>
      </p:sp>
      <p:sp>
        <p:nvSpPr>
          <p:cNvPr id="82" name="Content Placeholder 81"/>
          <p:cNvSpPr>
            <a:spLocks noGrp="1"/>
          </p:cNvSpPr>
          <p:nvPr>
            <p:ph idx="1"/>
          </p:nvPr>
        </p:nvSpPr>
        <p:spPr>
          <a:xfrm>
            <a:off x="734001" y="1729743"/>
            <a:ext cx="8856198" cy="594978"/>
          </a:xfrm>
        </p:spPr>
        <p:txBody>
          <a:bodyPr>
            <a:normAutofit fontScale="70000" lnSpcReduction="20000"/>
          </a:bodyPr>
          <a:lstStyle/>
          <a:p>
            <a:r>
              <a:rPr lang="en-US" dirty="0" smtClean="0"/>
              <a:t>Discard flows whose destination </a:t>
            </a:r>
            <a:r>
              <a:rPr lang="en-US" dirty="0" err="1" smtClean="0"/>
              <a:t>IPs</a:t>
            </a:r>
            <a:r>
              <a:rPr lang="en-US" dirty="0" smtClean="0"/>
              <a:t> are resolved from DNS queries</a:t>
            </a:r>
          </a:p>
          <a:p>
            <a:pPr lvl="1"/>
            <a:endParaRPr lang="en-US" dirty="0"/>
          </a:p>
        </p:txBody>
      </p:sp>
      <p:sp>
        <p:nvSpPr>
          <p:cNvPr id="227" name="Oval 226"/>
          <p:cNvSpPr/>
          <p:nvPr/>
        </p:nvSpPr>
        <p:spPr>
          <a:xfrm>
            <a:off x="783322" y="2639641"/>
            <a:ext cx="166428" cy="11628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8" name="Straight Arrow Connector 227"/>
          <p:cNvCxnSpPr/>
          <p:nvPr/>
        </p:nvCxnSpPr>
        <p:spPr>
          <a:xfrm rot="5400000">
            <a:off x="-403359" y="4019729"/>
            <a:ext cx="2504763" cy="1221"/>
          </a:xfrm>
          <a:prstGeom prst="straightConnector1">
            <a:avLst/>
          </a:prstGeom>
          <a:ln w="1905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29" name="Content Placeholder 2"/>
          <p:cNvSpPr txBox="1">
            <a:spLocks/>
          </p:cNvSpPr>
          <p:nvPr/>
        </p:nvSpPr>
        <p:spPr>
          <a:xfrm>
            <a:off x="450298" y="2324721"/>
            <a:ext cx="797449" cy="314920"/>
          </a:xfrm>
          <a:prstGeom prst="rect">
            <a:avLst/>
          </a:prstGeom>
        </p:spPr>
        <p:txBody>
          <a:bodyPr vert="horz" lIns="91440" tIns="45720" rIns="91440" bIns="45720" rtlCol="0">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Client</a:t>
            </a:r>
          </a:p>
        </p:txBody>
      </p:sp>
      <p:cxnSp>
        <p:nvCxnSpPr>
          <p:cNvPr id="230" name="Straight Arrow Connector 229"/>
          <p:cNvCxnSpPr/>
          <p:nvPr/>
        </p:nvCxnSpPr>
        <p:spPr>
          <a:xfrm>
            <a:off x="931748" y="2922595"/>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1" name="Straight Arrow Connector 230"/>
          <p:cNvCxnSpPr/>
          <p:nvPr/>
        </p:nvCxnSpPr>
        <p:spPr>
          <a:xfrm>
            <a:off x="947970" y="3694921"/>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p:nvPr/>
        </p:nvCxnSpPr>
        <p:spPr>
          <a:xfrm>
            <a:off x="942400" y="3072850"/>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p:nvPr/>
        </p:nvCxnSpPr>
        <p:spPr>
          <a:xfrm>
            <a:off x="942400" y="3411441"/>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3" name="Straight Arrow Connector 112"/>
          <p:cNvCxnSpPr/>
          <p:nvPr/>
        </p:nvCxnSpPr>
        <p:spPr>
          <a:xfrm>
            <a:off x="949750" y="3834595"/>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4" name="Straight Arrow Connector 113"/>
          <p:cNvCxnSpPr/>
          <p:nvPr/>
        </p:nvCxnSpPr>
        <p:spPr>
          <a:xfrm>
            <a:off x="949750" y="3982728"/>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5" name="Straight Arrow Connector 114"/>
          <p:cNvCxnSpPr/>
          <p:nvPr/>
        </p:nvCxnSpPr>
        <p:spPr>
          <a:xfrm>
            <a:off x="949750" y="4289577"/>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1" name="Straight Arrow Connector 120"/>
          <p:cNvCxnSpPr/>
          <p:nvPr/>
        </p:nvCxnSpPr>
        <p:spPr>
          <a:xfrm rot="10800000">
            <a:off x="1221127" y="4356208"/>
            <a:ext cx="259235" cy="1455"/>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7" name="Straight Arrow Connector 126"/>
          <p:cNvCxnSpPr/>
          <p:nvPr/>
        </p:nvCxnSpPr>
        <p:spPr>
          <a:xfrm rot="10800000" flipV="1">
            <a:off x="1218650" y="4453846"/>
            <a:ext cx="258624"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p:nvPr/>
        </p:nvCxnSpPr>
        <p:spPr>
          <a:xfrm>
            <a:off x="949750" y="3581442"/>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106"/>
          <p:cNvCxnSpPr/>
          <p:nvPr/>
        </p:nvCxnSpPr>
        <p:spPr>
          <a:xfrm>
            <a:off x="970800" y="4154231"/>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a:off x="948995" y="3247346"/>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948995" y="4590369"/>
            <a:ext cx="1397511" cy="1455"/>
          </a:xfrm>
          <a:prstGeom prst="straightConnector1">
            <a:avLst/>
          </a:prstGeom>
          <a:ln w="254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a:off x="970800" y="3506580"/>
            <a:ext cx="1208632" cy="1455"/>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a:off x="958543" y="4746212"/>
            <a:ext cx="1208632" cy="1455"/>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3" name="Straight Arrow Connector 92"/>
          <p:cNvCxnSpPr/>
          <p:nvPr/>
        </p:nvCxnSpPr>
        <p:spPr>
          <a:xfrm>
            <a:off x="942400" y="4884431"/>
            <a:ext cx="1536006" cy="1455"/>
          </a:xfrm>
          <a:prstGeom prst="straightConnector1">
            <a:avLst/>
          </a:prstGeom>
          <a:ln w="25400" cap="flat" cmpd="sng" algn="ctr">
            <a:solidFill>
              <a:srgbClr val="66006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8" name="Content Placeholder 2"/>
          <p:cNvSpPr txBox="1">
            <a:spLocks/>
          </p:cNvSpPr>
          <p:nvPr/>
        </p:nvSpPr>
        <p:spPr>
          <a:xfrm>
            <a:off x="463090" y="5178180"/>
            <a:ext cx="797449" cy="314920"/>
          </a:xfrm>
          <a:prstGeom prst="rect">
            <a:avLst/>
          </a:prstGeom>
        </p:spPr>
        <p:txBody>
          <a:bodyPr vert="horz" lIns="91440" tIns="45720" rIns="91440" bIns="45720" rtlCol="0">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time</a:t>
            </a:r>
          </a:p>
        </p:txBody>
      </p:sp>
      <p:sp>
        <p:nvSpPr>
          <p:cNvPr id="99" name="Content Placeholder 2"/>
          <p:cNvSpPr txBox="1">
            <a:spLocks/>
          </p:cNvSpPr>
          <p:nvPr/>
        </p:nvSpPr>
        <p:spPr>
          <a:xfrm>
            <a:off x="2478406" y="4735509"/>
            <a:ext cx="1624583" cy="343612"/>
          </a:xfrm>
          <a:prstGeom prst="rect">
            <a:avLst/>
          </a:prstGeom>
        </p:spPr>
        <p:txBody>
          <a:bodyPr vert="horz" lIns="91440" tIns="45720" rIns="91440" bIns="45720" rtlCol="0">
            <a:normAutofit fontScale="85000" lnSpcReduction="10000"/>
          </a:bodyPr>
          <a:lstStyle/>
          <a:p>
            <a:pPr marL="342900" lvl="0" indent="-342900" algn="ctr">
              <a:spcBef>
                <a:spcPct val="20000"/>
              </a:spcBef>
            </a:pPr>
            <a:r>
              <a:rPr kumimoji="0" lang="en-US" i="0" u="none" strike="noStrike" kern="1200" cap="none" spc="0" normalizeH="0" baseline="0" noProof="0" dirty="0" smtClean="0">
                <a:ln>
                  <a:noFill/>
                </a:ln>
                <a:solidFill>
                  <a:srgbClr val="000000"/>
                </a:solidFill>
                <a:effectLst/>
                <a:uLnTx/>
                <a:uFillTx/>
                <a:latin typeface="+mn-lt"/>
                <a:ea typeface="+mn-ea"/>
                <a:cs typeface="+mn-cs"/>
              </a:rPr>
              <a:t>IP: </a:t>
            </a:r>
            <a:r>
              <a:rPr lang="en-US" dirty="0" smtClean="0"/>
              <a:t>74.125.224.56</a:t>
            </a:r>
            <a:endParaRPr kumimoji="0" lang="en-US" i="0" u="none" strike="noStrike" kern="1200" cap="none" spc="0" normalizeH="0" baseline="0" noProof="0" dirty="0" smtClean="0">
              <a:ln>
                <a:noFill/>
              </a:ln>
              <a:solidFill>
                <a:srgbClr val="000000"/>
              </a:solidFill>
              <a:effectLst/>
              <a:uLnTx/>
              <a:uFillTx/>
              <a:latin typeface="+mn-lt"/>
              <a:ea typeface="+mn-ea"/>
              <a:cs typeface="+mn-cs"/>
            </a:endParaRPr>
          </a:p>
        </p:txBody>
      </p:sp>
      <p:grpSp>
        <p:nvGrpSpPr>
          <p:cNvPr id="3" name="Group 164"/>
          <p:cNvGrpSpPr/>
          <p:nvPr/>
        </p:nvGrpSpPr>
        <p:grpSpPr>
          <a:xfrm>
            <a:off x="3066113" y="2937297"/>
            <a:ext cx="2732008" cy="1798213"/>
            <a:chOff x="3821192" y="2378593"/>
            <a:chExt cx="2732008" cy="1798213"/>
          </a:xfrm>
        </p:grpSpPr>
        <p:sp>
          <p:nvSpPr>
            <p:cNvPr id="162" name="Rounded Rectangular Callout 161"/>
            <p:cNvSpPr/>
            <p:nvPr/>
          </p:nvSpPr>
          <p:spPr>
            <a:xfrm>
              <a:off x="4289136" y="2378593"/>
              <a:ext cx="2264064" cy="1041802"/>
            </a:xfrm>
            <a:prstGeom prst="wedgeRoundRectCallout">
              <a:avLst>
                <a:gd name="adj1" fmla="val 22250"/>
                <a:gd name="adj2" fmla="val 50286"/>
                <a:gd name="adj3" fmla="val 16667"/>
              </a:avLst>
            </a:prstGeom>
            <a:solidFill>
              <a:schemeClr val="accent1">
                <a:lumMod val="20000"/>
                <a:lumOff val="80000"/>
              </a:schemeClr>
            </a:solidFill>
          </p:spPr>
          <p:style>
            <a:lnRef idx="1">
              <a:schemeClr val="accent1"/>
            </a:lnRef>
            <a:fillRef idx="2">
              <a:schemeClr val="accent1"/>
            </a:fillRef>
            <a:effectRef idx="1">
              <a:schemeClr val="accent1"/>
            </a:effectRef>
            <a:fontRef idx="minor">
              <a:schemeClr val="dk1"/>
            </a:fontRef>
          </p:style>
          <p:txBody>
            <a:bodyPr rtlCol="0" anchor="ctr"/>
            <a:lstStyle/>
            <a:p>
              <a:r>
                <a:rPr lang="en-US" dirty="0" err="1" smtClean="0"/>
                <a:t>www.google.com</a:t>
              </a:r>
              <a:endParaRPr lang="en-US" dirty="0" smtClean="0"/>
            </a:p>
            <a:p>
              <a:r>
                <a:rPr lang="en-US" dirty="0" smtClean="0"/>
                <a:t>74.125.224.55</a:t>
              </a:r>
            </a:p>
            <a:p>
              <a:r>
                <a:rPr lang="en-US" dirty="0" smtClean="0"/>
                <a:t>74.125.224.56</a:t>
              </a:r>
            </a:p>
          </p:txBody>
        </p:sp>
        <p:cxnSp>
          <p:nvCxnSpPr>
            <p:cNvPr id="163" name="Straight Arrow Connector 162"/>
            <p:cNvCxnSpPr/>
            <p:nvPr/>
          </p:nvCxnSpPr>
          <p:spPr>
            <a:xfrm rot="5400000" flipH="1" flipV="1">
              <a:off x="3735940" y="3413396"/>
              <a:ext cx="848662" cy="678157"/>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grpSp>
      <p:pic>
        <p:nvPicPr>
          <p:cNvPr id="29" name="Picture 28" descr="tr.jpg"/>
          <p:cNvPicPr>
            <a:picLocks noChangeAspect="1"/>
          </p:cNvPicPr>
          <p:nvPr/>
        </p:nvPicPr>
        <p:blipFill>
          <a:blip r:embed="rId3"/>
          <a:stretch>
            <a:fillRect/>
          </a:stretch>
        </p:blipFill>
        <p:spPr>
          <a:xfrm>
            <a:off x="6553200" y="3951433"/>
            <a:ext cx="1982719" cy="2147946"/>
          </a:xfrm>
          <a:prstGeom prst="rect">
            <a:avLst/>
          </a:prstGeom>
        </p:spPr>
      </p:pic>
      <p:sp>
        <p:nvSpPr>
          <p:cNvPr id="30" name="Rectangle 29"/>
          <p:cNvSpPr/>
          <p:nvPr/>
        </p:nvSpPr>
        <p:spPr>
          <a:xfrm>
            <a:off x="1059369" y="1324723"/>
            <a:ext cx="6087239" cy="369332"/>
          </a:xfrm>
          <a:prstGeom prst="rect">
            <a:avLst/>
          </a:prstGeom>
        </p:spPr>
        <p:txBody>
          <a:bodyPr wrap="square">
            <a:spAutoFit/>
          </a:bodyPr>
          <a:lstStyle/>
          <a:p>
            <a:r>
              <a:rPr lang="en-US" b="1" dirty="0" smtClean="0">
                <a:solidFill>
                  <a:srgbClr val="FF0000"/>
                </a:solidFill>
              </a:rPr>
              <a:t>Characteristic: Control flows are DNS-free</a:t>
            </a:r>
            <a:endParaRPr lang="en-US" dirty="0">
              <a:solidFill>
                <a:srgbClr val="FF0000"/>
              </a:solidFill>
            </a:endParaRPr>
          </a:p>
        </p:txBody>
      </p:sp>
    </p:spTree>
    <p:extLst>
      <p:ext uri="{BB962C8B-B14F-4D97-AF65-F5344CB8AC3E}">
        <p14:creationId xmlns:p14="http://schemas.microsoft.com/office/powerpoint/2010/main" val="4758772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9"/>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6.08545E-6 8.35766E-6 C 0.10491 -0.12091 0.2098 -0.2416 0.318 -0.23558 C 0.4262 -0.22955 0.59449 -0.0088 0.64971 0.0366 " pathEditMode="relative" ptsTypes="aaA">
                                      <p:cBhvr>
                                        <p:cTn id="20" dur="2000" fill="hold"/>
                                        <p:tgtEl>
                                          <p:spTgt spid="9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P spid="99" grpId="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Clustering-Based Flow Analysis</a:t>
            </a:r>
            <a:endParaRPr lang="en-US" sz="3600"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98</a:t>
            </a:fld>
            <a:endParaRPr lang="en-US"/>
          </a:p>
        </p:txBody>
      </p:sp>
      <p:sp>
        <p:nvSpPr>
          <p:cNvPr id="82" name="Content Placeholder 81"/>
          <p:cNvSpPr>
            <a:spLocks noGrp="1"/>
          </p:cNvSpPr>
          <p:nvPr>
            <p:ph idx="1"/>
          </p:nvPr>
        </p:nvSpPr>
        <p:spPr>
          <a:xfrm>
            <a:off x="256633" y="5038532"/>
            <a:ext cx="8938336" cy="1492750"/>
          </a:xfrm>
        </p:spPr>
        <p:txBody>
          <a:bodyPr>
            <a:normAutofit fontScale="55000" lnSpcReduction="20000"/>
          </a:bodyPr>
          <a:lstStyle/>
          <a:p>
            <a:pPr marL="514350" indent="-514350">
              <a:buFont typeface="+mj-lt"/>
              <a:buAutoNum type="arabicPeriod"/>
            </a:pPr>
            <a:r>
              <a:rPr lang="en-US" dirty="0" smtClean="0"/>
              <a:t>Aggregate flows with similar size into one cluster</a:t>
            </a:r>
          </a:p>
          <a:p>
            <a:pPr marL="514350" indent="-514350">
              <a:buNone/>
            </a:pPr>
            <a:endParaRPr lang="en-US" dirty="0" smtClean="0"/>
          </a:p>
          <a:p>
            <a:pPr marL="514350" indent="-514350">
              <a:buNone/>
            </a:pPr>
            <a:endParaRPr lang="en-US" dirty="0" smtClean="0"/>
          </a:p>
          <a:p>
            <a:pPr marL="514350" indent="-514350">
              <a:buFont typeface="+mj-lt"/>
              <a:buAutoNum type="arabicPeriod"/>
            </a:pPr>
            <a:r>
              <a:rPr lang="en-US" sz="3257" dirty="0" smtClean="0"/>
              <a:t>Define a cluster as a </a:t>
            </a:r>
            <a:r>
              <a:rPr lang="en-US" sz="3257" b="1" i="1" dirty="0" smtClean="0"/>
              <a:t>fingerprint cluster</a:t>
            </a:r>
            <a:r>
              <a:rPr lang="en-US" sz="3257" dirty="0" smtClean="0"/>
              <a:t> if # of unique organizations &gt;= </a:t>
            </a:r>
            <a:r>
              <a:rPr lang="en-US" sz="3257" dirty="0" err="1" smtClean="0"/>
              <a:t>θ</a:t>
            </a:r>
            <a:r>
              <a:rPr lang="en-US" sz="3257" dirty="0" smtClean="0"/>
              <a:t> (=50)</a:t>
            </a:r>
          </a:p>
          <a:p>
            <a:pPr marL="514350" indent="-514350">
              <a:buFont typeface="+mj-lt"/>
              <a:buAutoNum type="arabicPeriod"/>
            </a:pPr>
            <a:r>
              <a:rPr lang="en-US" sz="3257" dirty="0" smtClean="0"/>
              <a:t>Claim a host as a P2P client if it has at least one </a:t>
            </a:r>
            <a:r>
              <a:rPr lang="en-US" sz="3257" b="1" i="1" dirty="0" smtClean="0"/>
              <a:t>fingerprint cluster</a:t>
            </a:r>
          </a:p>
          <a:p>
            <a:pPr marL="971550" lvl="1" indent="-514350">
              <a:buFont typeface="+mj-lt"/>
              <a:buAutoNum type="arabicPeriod"/>
            </a:pPr>
            <a:endParaRPr lang="en-US" sz="2857" dirty="0" smtClean="0"/>
          </a:p>
          <a:p>
            <a:pPr marL="971550" lvl="1" indent="-514350">
              <a:buFont typeface="+mj-lt"/>
              <a:buAutoNum type="arabicPeriod"/>
            </a:pPr>
            <a:endParaRPr lang="en-US" dirty="0"/>
          </a:p>
        </p:txBody>
      </p:sp>
      <p:sp>
        <p:nvSpPr>
          <p:cNvPr id="227" name="Oval 226"/>
          <p:cNvSpPr/>
          <p:nvPr/>
        </p:nvSpPr>
        <p:spPr>
          <a:xfrm>
            <a:off x="441244" y="1600396"/>
            <a:ext cx="166428" cy="11628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28" name="Straight Arrow Connector 227"/>
          <p:cNvCxnSpPr/>
          <p:nvPr/>
        </p:nvCxnSpPr>
        <p:spPr>
          <a:xfrm rot="5400000">
            <a:off x="-745437" y="2980484"/>
            <a:ext cx="2504763" cy="1221"/>
          </a:xfrm>
          <a:prstGeom prst="straightConnector1">
            <a:avLst/>
          </a:prstGeom>
          <a:ln w="1905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29" name="Content Placeholder 2"/>
          <p:cNvSpPr txBox="1">
            <a:spLocks/>
          </p:cNvSpPr>
          <p:nvPr/>
        </p:nvSpPr>
        <p:spPr>
          <a:xfrm>
            <a:off x="108220" y="1285476"/>
            <a:ext cx="797449" cy="314920"/>
          </a:xfrm>
          <a:prstGeom prst="rect">
            <a:avLst/>
          </a:prstGeom>
        </p:spPr>
        <p:txBody>
          <a:bodyPr vert="horz" lIns="91440" tIns="45720" rIns="91440" bIns="45720" rtlCol="0">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Host1</a:t>
            </a:r>
          </a:p>
        </p:txBody>
      </p:sp>
      <p:cxnSp>
        <p:nvCxnSpPr>
          <p:cNvPr id="231" name="Straight Arrow Connector 230"/>
          <p:cNvCxnSpPr/>
          <p:nvPr/>
        </p:nvCxnSpPr>
        <p:spPr>
          <a:xfrm>
            <a:off x="605892" y="2655676"/>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1" name="Straight Arrow Connector 110"/>
          <p:cNvCxnSpPr/>
          <p:nvPr/>
        </p:nvCxnSpPr>
        <p:spPr>
          <a:xfrm>
            <a:off x="600322" y="2033605"/>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2" name="Straight Arrow Connector 111"/>
          <p:cNvCxnSpPr/>
          <p:nvPr/>
        </p:nvCxnSpPr>
        <p:spPr>
          <a:xfrm>
            <a:off x="600322" y="2372196"/>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3" name="Straight Arrow Connector 112"/>
          <p:cNvCxnSpPr/>
          <p:nvPr/>
        </p:nvCxnSpPr>
        <p:spPr>
          <a:xfrm>
            <a:off x="607672" y="2795350"/>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4" name="Straight Arrow Connector 113"/>
          <p:cNvCxnSpPr/>
          <p:nvPr/>
        </p:nvCxnSpPr>
        <p:spPr>
          <a:xfrm>
            <a:off x="607672" y="2943483"/>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15" name="Straight Arrow Connector 114"/>
          <p:cNvCxnSpPr/>
          <p:nvPr/>
        </p:nvCxnSpPr>
        <p:spPr>
          <a:xfrm>
            <a:off x="607672" y="3250332"/>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1" name="Straight Arrow Connector 120"/>
          <p:cNvCxnSpPr/>
          <p:nvPr/>
        </p:nvCxnSpPr>
        <p:spPr>
          <a:xfrm rot="10800000">
            <a:off x="879049" y="3316963"/>
            <a:ext cx="259235" cy="1455"/>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7" name="Straight Arrow Connector 126"/>
          <p:cNvCxnSpPr/>
          <p:nvPr/>
        </p:nvCxnSpPr>
        <p:spPr>
          <a:xfrm rot="10800000" flipV="1">
            <a:off x="876572" y="3414601"/>
            <a:ext cx="258624"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6" name="Straight Arrow Connector 105"/>
          <p:cNvCxnSpPr/>
          <p:nvPr/>
        </p:nvCxnSpPr>
        <p:spPr>
          <a:xfrm>
            <a:off x="607672" y="2542197"/>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106"/>
          <p:cNvCxnSpPr/>
          <p:nvPr/>
        </p:nvCxnSpPr>
        <p:spPr>
          <a:xfrm>
            <a:off x="628722" y="3114986"/>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8" name="Straight Arrow Connector 107"/>
          <p:cNvCxnSpPr/>
          <p:nvPr/>
        </p:nvCxnSpPr>
        <p:spPr>
          <a:xfrm>
            <a:off x="606917" y="2208101"/>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8" name="Straight Arrow Connector 87"/>
          <p:cNvCxnSpPr/>
          <p:nvPr/>
        </p:nvCxnSpPr>
        <p:spPr>
          <a:xfrm>
            <a:off x="606917" y="3551124"/>
            <a:ext cx="1397511" cy="1455"/>
          </a:xfrm>
          <a:prstGeom prst="straightConnector1">
            <a:avLst/>
          </a:prstGeom>
          <a:ln w="254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0" name="Straight Arrow Connector 89"/>
          <p:cNvCxnSpPr/>
          <p:nvPr/>
        </p:nvCxnSpPr>
        <p:spPr>
          <a:xfrm>
            <a:off x="628722" y="2467335"/>
            <a:ext cx="1208632" cy="1455"/>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92" name="Straight Arrow Connector 91"/>
          <p:cNvCxnSpPr/>
          <p:nvPr/>
        </p:nvCxnSpPr>
        <p:spPr>
          <a:xfrm>
            <a:off x="616465" y="3706967"/>
            <a:ext cx="1208632" cy="1455"/>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8" name="Content Placeholder 2"/>
          <p:cNvSpPr txBox="1">
            <a:spLocks/>
          </p:cNvSpPr>
          <p:nvPr/>
        </p:nvSpPr>
        <p:spPr>
          <a:xfrm>
            <a:off x="121012" y="4138935"/>
            <a:ext cx="797449" cy="314920"/>
          </a:xfrm>
          <a:prstGeom prst="rect">
            <a:avLst/>
          </a:prstGeom>
        </p:spPr>
        <p:txBody>
          <a:bodyPr vert="horz" lIns="91440" tIns="45720" rIns="91440" bIns="45720" rtlCol="0">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time</a:t>
            </a:r>
          </a:p>
        </p:txBody>
      </p:sp>
      <p:grpSp>
        <p:nvGrpSpPr>
          <p:cNvPr id="29" name="Group 28"/>
          <p:cNvGrpSpPr/>
          <p:nvPr/>
        </p:nvGrpSpPr>
        <p:grpSpPr>
          <a:xfrm>
            <a:off x="1783816" y="2440471"/>
            <a:ext cx="1146468" cy="538444"/>
            <a:chOff x="3603971" y="2659327"/>
            <a:chExt cx="1146468" cy="538444"/>
          </a:xfrm>
        </p:grpSpPr>
        <p:sp>
          <p:nvSpPr>
            <p:cNvPr id="30" name="Right Arrow 29"/>
            <p:cNvSpPr/>
            <p:nvPr/>
          </p:nvSpPr>
          <p:spPr>
            <a:xfrm>
              <a:off x="3964368" y="2983951"/>
              <a:ext cx="403301" cy="213820"/>
            </a:xfrm>
            <a:prstGeom prst="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p:cNvSpPr txBox="1"/>
            <p:nvPr/>
          </p:nvSpPr>
          <p:spPr>
            <a:xfrm>
              <a:off x="3603971" y="2659327"/>
              <a:ext cx="1146468" cy="369332"/>
            </a:xfrm>
            <a:prstGeom prst="rect">
              <a:avLst/>
            </a:prstGeom>
            <a:noFill/>
          </p:spPr>
          <p:txBody>
            <a:bodyPr wrap="none" rtlCol="0">
              <a:spAutoFit/>
            </a:bodyPr>
            <a:lstStyle/>
            <a:p>
              <a:r>
                <a:rPr lang="en-US" b="1" dirty="0" smtClean="0"/>
                <a:t>Clustering</a:t>
              </a:r>
              <a:endParaRPr lang="en-US" b="1" dirty="0"/>
            </a:p>
          </p:txBody>
        </p:sp>
      </p:grpSp>
      <p:grpSp>
        <p:nvGrpSpPr>
          <p:cNvPr id="32" name="Group 31"/>
          <p:cNvGrpSpPr/>
          <p:nvPr/>
        </p:nvGrpSpPr>
        <p:grpSpPr>
          <a:xfrm>
            <a:off x="2956859" y="1677813"/>
            <a:ext cx="1537155" cy="2776042"/>
            <a:chOff x="4726732" y="1836306"/>
            <a:chExt cx="1537155" cy="2776042"/>
          </a:xfrm>
        </p:grpSpPr>
        <p:cxnSp>
          <p:nvCxnSpPr>
            <p:cNvPr id="33" name="Straight Arrow Connector 32"/>
            <p:cNvCxnSpPr/>
            <p:nvPr/>
          </p:nvCxnSpPr>
          <p:spPr>
            <a:xfrm flipV="1">
              <a:off x="5027600" y="2130990"/>
              <a:ext cx="457899" cy="1"/>
            </a:xfrm>
            <a:prstGeom prst="straightConnector1">
              <a:avLst/>
            </a:prstGeom>
            <a:ln w="25400" cap="flat" cmpd="sng" algn="ctr">
              <a:solidFill>
                <a:srgbClr val="0000FF"/>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4" name="Straight Arrow Connector 33"/>
            <p:cNvCxnSpPr/>
            <p:nvPr/>
          </p:nvCxnSpPr>
          <p:spPr>
            <a:xfrm flipV="1">
              <a:off x="5027600" y="2317713"/>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5" name="Straight Arrow Connector 34"/>
            <p:cNvCxnSpPr/>
            <p:nvPr/>
          </p:nvCxnSpPr>
          <p:spPr>
            <a:xfrm flipV="1">
              <a:off x="5027600" y="2406532"/>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6" name="Straight Arrow Connector 35"/>
            <p:cNvCxnSpPr/>
            <p:nvPr/>
          </p:nvCxnSpPr>
          <p:spPr>
            <a:xfrm flipV="1">
              <a:off x="5027600" y="2011983"/>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7" name="Straight Arrow Connector 36"/>
            <p:cNvCxnSpPr/>
            <p:nvPr/>
          </p:nvCxnSpPr>
          <p:spPr>
            <a:xfrm>
              <a:off x="5027600" y="2727105"/>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8" name="Straight Arrow Connector 37"/>
            <p:cNvCxnSpPr/>
            <p:nvPr/>
          </p:nvCxnSpPr>
          <p:spPr>
            <a:xfrm>
              <a:off x="5027600" y="2864792"/>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p:nvPr/>
          </p:nvCxnSpPr>
          <p:spPr>
            <a:xfrm>
              <a:off x="5027600" y="3002000"/>
              <a:ext cx="580499" cy="1588"/>
            </a:xfrm>
            <a:prstGeom prst="straightConnector1">
              <a:avLst/>
            </a:prstGeom>
            <a:ln w="25400" cap="flat" cmpd="sng" algn="ctr">
              <a:solidFill>
                <a:srgbClr val="008000"/>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Straight Arrow Connector 39"/>
            <p:cNvCxnSpPr/>
            <p:nvPr/>
          </p:nvCxnSpPr>
          <p:spPr>
            <a:xfrm>
              <a:off x="5027600" y="3153278"/>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3" name="Straight Arrow Connector 42"/>
            <p:cNvCxnSpPr/>
            <p:nvPr/>
          </p:nvCxnSpPr>
          <p:spPr>
            <a:xfrm>
              <a:off x="4865076" y="4390297"/>
              <a:ext cx="1152077" cy="1588"/>
            </a:xfrm>
            <a:prstGeom prst="straightConnector1">
              <a:avLst/>
            </a:prstGeom>
            <a:ln w="254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5" name="Straight Arrow Connector 44"/>
            <p:cNvCxnSpPr/>
            <p:nvPr/>
          </p:nvCxnSpPr>
          <p:spPr>
            <a:xfrm>
              <a:off x="4885950" y="3789788"/>
              <a:ext cx="1084687" cy="1588"/>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6" name="Straight Arrow Connector 45"/>
            <p:cNvCxnSpPr/>
            <p:nvPr/>
          </p:nvCxnSpPr>
          <p:spPr>
            <a:xfrm>
              <a:off x="4886702" y="3626557"/>
              <a:ext cx="1084687" cy="1588"/>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4726732" y="3471209"/>
              <a:ext cx="1372334" cy="522737"/>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p:cNvSpPr/>
            <p:nvPr/>
          </p:nvSpPr>
          <p:spPr>
            <a:xfrm>
              <a:off x="4726732" y="2596185"/>
              <a:ext cx="1215829" cy="669751"/>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p:cNvSpPr/>
            <p:nvPr/>
          </p:nvSpPr>
          <p:spPr>
            <a:xfrm>
              <a:off x="4726732" y="4154655"/>
              <a:ext cx="1537155" cy="457693"/>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Oval 49"/>
            <p:cNvSpPr/>
            <p:nvPr/>
          </p:nvSpPr>
          <p:spPr>
            <a:xfrm>
              <a:off x="4743172" y="1836306"/>
              <a:ext cx="1063429" cy="684358"/>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6" name="TextBox 55"/>
          <p:cNvSpPr txBox="1"/>
          <p:nvPr/>
        </p:nvSpPr>
        <p:spPr>
          <a:xfrm>
            <a:off x="3783901" y="1117803"/>
            <a:ext cx="2179614" cy="646331"/>
          </a:xfrm>
          <a:prstGeom prst="rect">
            <a:avLst/>
          </a:prstGeom>
          <a:noFill/>
          <a:ln>
            <a:noFill/>
          </a:ln>
        </p:spPr>
        <p:txBody>
          <a:bodyPr wrap="square" rtlCol="0">
            <a:spAutoFit/>
          </a:bodyPr>
          <a:lstStyle/>
          <a:p>
            <a:pPr algn="ctr"/>
            <a:r>
              <a:rPr lang="en-US" b="1" dirty="0" smtClean="0"/>
              <a:t># of organizations</a:t>
            </a:r>
          </a:p>
          <a:p>
            <a:pPr algn="ctr"/>
            <a:r>
              <a:rPr lang="en-US" b="1" dirty="0" smtClean="0"/>
              <a:t> in a cluster &gt; </a:t>
            </a:r>
            <a:r>
              <a:rPr lang="en-US" b="1" dirty="0" err="1" smtClean="0"/>
              <a:t>θ</a:t>
            </a:r>
            <a:r>
              <a:rPr lang="en-US" b="1" dirty="0" smtClean="0"/>
              <a:t> ?</a:t>
            </a:r>
            <a:endParaRPr lang="en-US" b="1" dirty="0"/>
          </a:p>
        </p:txBody>
      </p:sp>
      <p:grpSp>
        <p:nvGrpSpPr>
          <p:cNvPr id="57" name="Group 56"/>
          <p:cNvGrpSpPr/>
          <p:nvPr/>
        </p:nvGrpSpPr>
        <p:grpSpPr>
          <a:xfrm>
            <a:off x="4534979" y="1736824"/>
            <a:ext cx="553131" cy="2612770"/>
            <a:chOff x="6465944" y="1891179"/>
            <a:chExt cx="553131" cy="2370697"/>
          </a:xfrm>
        </p:grpSpPr>
        <p:sp>
          <p:nvSpPr>
            <p:cNvPr id="58" name="TextBox 57"/>
            <p:cNvSpPr txBox="1"/>
            <p:nvPr/>
          </p:nvSpPr>
          <p:spPr>
            <a:xfrm>
              <a:off x="6465944" y="1891179"/>
              <a:ext cx="524039" cy="335114"/>
            </a:xfrm>
            <a:prstGeom prst="rect">
              <a:avLst/>
            </a:prstGeom>
            <a:noFill/>
          </p:spPr>
          <p:txBody>
            <a:bodyPr wrap="square" rtlCol="0">
              <a:spAutoFit/>
            </a:bodyPr>
            <a:lstStyle/>
            <a:p>
              <a:r>
                <a:rPr lang="en-US" b="1" dirty="0" smtClean="0">
                  <a:solidFill>
                    <a:srgbClr val="FF0000"/>
                  </a:solidFill>
                </a:rPr>
                <a:t>YES</a:t>
              </a:r>
              <a:endParaRPr lang="en-US" b="1" dirty="0">
                <a:solidFill>
                  <a:srgbClr val="FF0000"/>
                </a:solidFill>
              </a:endParaRPr>
            </a:p>
          </p:txBody>
        </p:sp>
        <p:sp>
          <p:nvSpPr>
            <p:cNvPr id="59" name="TextBox 58"/>
            <p:cNvSpPr txBox="1"/>
            <p:nvPr/>
          </p:nvSpPr>
          <p:spPr>
            <a:xfrm>
              <a:off x="6485342" y="2629070"/>
              <a:ext cx="524039" cy="335114"/>
            </a:xfrm>
            <a:prstGeom prst="rect">
              <a:avLst/>
            </a:prstGeom>
            <a:noFill/>
          </p:spPr>
          <p:txBody>
            <a:bodyPr wrap="square" rtlCol="0">
              <a:spAutoFit/>
            </a:bodyPr>
            <a:lstStyle/>
            <a:p>
              <a:r>
                <a:rPr lang="en-US" b="1" dirty="0" smtClean="0">
                  <a:solidFill>
                    <a:srgbClr val="FF0000"/>
                  </a:solidFill>
                </a:rPr>
                <a:t>YES</a:t>
              </a:r>
              <a:endParaRPr lang="en-US" b="1" dirty="0">
                <a:solidFill>
                  <a:srgbClr val="FF0000"/>
                </a:solidFill>
              </a:endParaRPr>
            </a:p>
          </p:txBody>
        </p:sp>
        <p:sp>
          <p:nvSpPr>
            <p:cNvPr id="60" name="TextBox 59"/>
            <p:cNvSpPr txBox="1"/>
            <p:nvPr/>
          </p:nvSpPr>
          <p:spPr>
            <a:xfrm>
              <a:off x="6495036" y="3337999"/>
              <a:ext cx="524039" cy="335114"/>
            </a:xfrm>
            <a:prstGeom prst="rect">
              <a:avLst/>
            </a:prstGeom>
            <a:noFill/>
          </p:spPr>
          <p:txBody>
            <a:bodyPr wrap="square" rtlCol="0">
              <a:spAutoFit/>
            </a:bodyPr>
            <a:lstStyle/>
            <a:p>
              <a:r>
                <a:rPr lang="en-US" b="1" dirty="0" smtClean="0"/>
                <a:t>NO</a:t>
              </a:r>
              <a:endParaRPr lang="en-US" b="1" dirty="0"/>
            </a:p>
          </p:txBody>
        </p:sp>
        <p:sp>
          <p:nvSpPr>
            <p:cNvPr id="61" name="TextBox 60"/>
            <p:cNvSpPr txBox="1"/>
            <p:nvPr/>
          </p:nvSpPr>
          <p:spPr>
            <a:xfrm>
              <a:off x="6514424" y="3926763"/>
              <a:ext cx="492818" cy="335113"/>
            </a:xfrm>
            <a:prstGeom prst="rect">
              <a:avLst/>
            </a:prstGeom>
            <a:noFill/>
          </p:spPr>
          <p:txBody>
            <a:bodyPr wrap="square" rtlCol="0">
              <a:spAutoFit/>
            </a:bodyPr>
            <a:lstStyle/>
            <a:p>
              <a:r>
                <a:rPr lang="en-US" b="1" dirty="0" smtClean="0"/>
                <a:t>NO</a:t>
              </a:r>
              <a:endParaRPr lang="en-US" b="1" dirty="0"/>
            </a:p>
          </p:txBody>
        </p:sp>
      </p:grpSp>
      <p:grpSp>
        <p:nvGrpSpPr>
          <p:cNvPr id="62" name="Group 61"/>
          <p:cNvGrpSpPr/>
          <p:nvPr/>
        </p:nvGrpSpPr>
        <p:grpSpPr>
          <a:xfrm>
            <a:off x="5031676" y="1875743"/>
            <a:ext cx="1359050" cy="1000166"/>
            <a:chOff x="7594078" y="1834297"/>
            <a:chExt cx="1138989" cy="2212094"/>
          </a:xfrm>
        </p:grpSpPr>
        <p:sp>
          <p:nvSpPr>
            <p:cNvPr id="63" name="Right Brace 62"/>
            <p:cNvSpPr/>
            <p:nvPr/>
          </p:nvSpPr>
          <p:spPr>
            <a:xfrm>
              <a:off x="7594078" y="1834297"/>
              <a:ext cx="243368" cy="2212094"/>
            </a:xfrm>
            <a:prstGeom prst="righ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4" name="TextBox 63"/>
            <p:cNvSpPr txBox="1"/>
            <p:nvPr/>
          </p:nvSpPr>
          <p:spPr>
            <a:xfrm>
              <a:off x="7700456" y="2069386"/>
              <a:ext cx="1032611" cy="1293365"/>
            </a:xfrm>
            <a:prstGeom prst="rect">
              <a:avLst/>
            </a:prstGeom>
            <a:noFill/>
          </p:spPr>
          <p:txBody>
            <a:bodyPr wrap="square" rtlCol="0">
              <a:spAutoFit/>
            </a:bodyPr>
            <a:lstStyle/>
            <a:p>
              <a:pPr algn="ctr"/>
              <a:r>
                <a:rPr lang="en-US" sz="1600" b="1" i="1" dirty="0" smtClean="0"/>
                <a:t>Fingerprint</a:t>
              </a:r>
            </a:p>
            <a:p>
              <a:pPr algn="ctr"/>
              <a:r>
                <a:rPr lang="en-US" sz="1600" b="1" i="1" dirty="0" smtClean="0"/>
                <a:t>Clusters</a:t>
              </a:r>
              <a:endParaRPr lang="en-US" sz="1600" b="1" i="1" dirty="0"/>
            </a:p>
          </p:txBody>
        </p:sp>
      </p:grpSp>
      <p:pic>
        <p:nvPicPr>
          <p:cNvPr id="68" name="Picture 67" descr="latex-image-1.pdf"/>
          <p:cNvPicPr>
            <a:picLocks noChangeAspect="1"/>
          </p:cNvPicPr>
          <p:nvPr/>
        </p:nvPicPr>
        <p:blipFill>
          <a:blip r:embed="rId3"/>
          <a:stretch>
            <a:fillRect/>
          </a:stretch>
        </p:blipFill>
        <p:spPr>
          <a:xfrm>
            <a:off x="960134" y="5366693"/>
            <a:ext cx="7188723" cy="409575"/>
          </a:xfrm>
          <a:prstGeom prst="rect">
            <a:avLst/>
          </a:prstGeom>
        </p:spPr>
      </p:pic>
      <p:grpSp>
        <p:nvGrpSpPr>
          <p:cNvPr id="74" name="Group 73"/>
          <p:cNvGrpSpPr/>
          <p:nvPr/>
        </p:nvGrpSpPr>
        <p:grpSpPr>
          <a:xfrm>
            <a:off x="3539006" y="1624912"/>
            <a:ext cx="790187" cy="2874887"/>
            <a:chOff x="4249066" y="1925322"/>
            <a:chExt cx="790187" cy="2874887"/>
          </a:xfrm>
        </p:grpSpPr>
        <p:sp>
          <p:nvSpPr>
            <p:cNvPr id="70" name="Oval 69"/>
            <p:cNvSpPr/>
            <p:nvPr/>
          </p:nvSpPr>
          <p:spPr>
            <a:xfrm>
              <a:off x="4249066" y="1925322"/>
              <a:ext cx="217585" cy="798629"/>
            </a:xfrm>
            <a:prstGeom prst="ellipse">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 name="Oval 70"/>
            <p:cNvSpPr/>
            <p:nvPr/>
          </p:nvSpPr>
          <p:spPr>
            <a:xfrm>
              <a:off x="4385168" y="2682986"/>
              <a:ext cx="217585" cy="798629"/>
            </a:xfrm>
            <a:prstGeom prst="ellipse">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 name="Oval 71"/>
            <p:cNvSpPr/>
            <p:nvPr/>
          </p:nvSpPr>
          <p:spPr>
            <a:xfrm>
              <a:off x="4727843" y="3537496"/>
              <a:ext cx="217585" cy="649470"/>
            </a:xfrm>
            <a:prstGeom prst="ellipse">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Oval 72"/>
            <p:cNvSpPr/>
            <p:nvPr/>
          </p:nvSpPr>
          <p:spPr>
            <a:xfrm>
              <a:off x="4821668" y="4329061"/>
              <a:ext cx="217585" cy="471148"/>
            </a:xfrm>
            <a:prstGeom prst="ellipse">
              <a:avLst/>
            </a:prstGeom>
            <a:noFill/>
            <a:ln w="190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97" name="Group 96"/>
          <p:cNvGrpSpPr/>
          <p:nvPr/>
        </p:nvGrpSpPr>
        <p:grpSpPr>
          <a:xfrm>
            <a:off x="5488662" y="1602132"/>
            <a:ext cx="2900093" cy="2289969"/>
            <a:chOff x="5488662" y="1602132"/>
            <a:chExt cx="2900093" cy="2289969"/>
          </a:xfrm>
        </p:grpSpPr>
        <p:grpSp>
          <p:nvGrpSpPr>
            <p:cNvPr id="75" name="Group 74"/>
            <p:cNvGrpSpPr/>
            <p:nvPr/>
          </p:nvGrpSpPr>
          <p:grpSpPr>
            <a:xfrm>
              <a:off x="6400953" y="1602132"/>
              <a:ext cx="1987802" cy="2289969"/>
              <a:chOff x="2894946" y="1192581"/>
              <a:chExt cx="1987802" cy="2289969"/>
            </a:xfrm>
          </p:grpSpPr>
          <p:sp>
            <p:nvSpPr>
              <p:cNvPr id="76" name="Rounded Rectangle 75"/>
              <p:cNvSpPr/>
              <p:nvPr/>
            </p:nvSpPr>
            <p:spPr>
              <a:xfrm>
                <a:off x="3476052" y="1749670"/>
                <a:ext cx="1406696" cy="1732880"/>
              </a:xfrm>
              <a:prstGeom prst="roundRect">
                <a:avLst/>
              </a:prstGeom>
              <a:solidFill>
                <a:schemeClr val="accent5">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7" name="Group 4"/>
              <p:cNvGrpSpPr/>
              <p:nvPr/>
            </p:nvGrpSpPr>
            <p:grpSpPr>
              <a:xfrm>
                <a:off x="3666919" y="1978223"/>
                <a:ext cx="1215829" cy="1429630"/>
                <a:chOff x="4726732" y="1836306"/>
                <a:chExt cx="1215829" cy="1429630"/>
              </a:xfrm>
            </p:grpSpPr>
            <p:cxnSp>
              <p:nvCxnSpPr>
                <p:cNvPr id="80" name="Straight Arrow Connector 79"/>
                <p:cNvCxnSpPr/>
                <p:nvPr/>
              </p:nvCxnSpPr>
              <p:spPr>
                <a:xfrm flipV="1">
                  <a:off x="5027600" y="2130990"/>
                  <a:ext cx="457899" cy="1"/>
                </a:xfrm>
                <a:prstGeom prst="straightConnector1">
                  <a:avLst/>
                </a:prstGeom>
                <a:ln w="25400" cap="flat" cmpd="sng" algn="ctr">
                  <a:solidFill>
                    <a:srgbClr val="0000FF"/>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1" name="Straight Arrow Connector 80"/>
                <p:cNvCxnSpPr/>
                <p:nvPr/>
              </p:nvCxnSpPr>
              <p:spPr>
                <a:xfrm flipV="1">
                  <a:off x="5027600" y="2317713"/>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3" name="Straight Arrow Connector 82"/>
                <p:cNvCxnSpPr/>
                <p:nvPr/>
              </p:nvCxnSpPr>
              <p:spPr>
                <a:xfrm flipV="1">
                  <a:off x="5027600" y="2406532"/>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4" name="Straight Arrow Connector 83"/>
                <p:cNvCxnSpPr/>
                <p:nvPr/>
              </p:nvCxnSpPr>
              <p:spPr>
                <a:xfrm flipV="1">
                  <a:off x="5027600" y="2011983"/>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5" name="Straight Arrow Connector 84"/>
                <p:cNvCxnSpPr/>
                <p:nvPr/>
              </p:nvCxnSpPr>
              <p:spPr>
                <a:xfrm>
                  <a:off x="5027600" y="2727105"/>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6" name="Straight Arrow Connector 85"/>
                <p:cNvCxnSpPr/>
                <p:nvPr/>
              </p:nvCxnSpPr>
              <p:spPr>
                <a:xfrm>
                  <a:off x="5027600" y="2864792"/>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7" name="Straight Arrow Connector 86"/>
                <p:cNvCxnSpPr/>
                <p:nvPr/>
              </p:nvCxnSpPr>
              <p:spPr>
                <a:xfrm>
                  <a:off x="5027600" y="3002000"/>
                  <a:ext cx="580499" cy="1588"/>
                </a:xfrm>
                <a:prstGeom prst="straightConnector1">
                  <a:avLst/>
                </a:prstGeom>
                <a:ln w="25400" cap="flat" cmpd="sng" algn="ctr">
                  <a:solidFill>
                    <a:srgbClr val="008000"/>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89" name="Straight Arrow Connector 88"/>
                <p:cNvCxnSpPr/>
                <p:nvPr/>
              </p:nvCxnSpPr>
              <p:spPr>
                <a:xfrm>
                  <a:off x="5027600" y="3153278"/>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4726732" y="2596185"/>
                  <a:ext cx="1215829" cy="669751"/>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4743172" y="1836306"/>
                  <a:ext cx="1063429" cy="684358"/>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8" name="Oval 77"/>
              <p:cNvSpPr/>
              <p:nvPr/>
            </p:nvSpPr>
            <p:spPr>
              <a:xfrm>
                <a:off x="3476052" y="1506912"/>
                <a:ext cx="166428" cy="11628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9" name="Content Placeholder 2"/>
              <p:cNvSpPr txBox="1">
                <a:spLocks/>
              </p:cNvSpPr>
              <p:nvPr/>
            </p:nvSpPr>
            <p:spPr>
              <a:xfrm>
                <a:off x="2894946" y="1192581"/>
                <a:ext cx="1851842" cy="300676"/>
              </a:xfrm>
              <a:prstGeom prst="rect">
                <a:avLst/>
              </a:prstGeom>
            </p:spPr>
            <p:txBody>
              <a:bodyPr vert="horz" lIns="91440" tIns="45720" rIns="91440" bIns="45720" rtlCol="0">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Host1 (</a:t>
                </a:r>
                <a:r>
                  <a:rPr kumimoji="0" lang="en-US" b="1" i="0" u="none" strike="noStrike" kern="1200" cap="none" spc="0" normalizeH="0" baseline="0" noProof="0" dirty="0" smtClean="0">
                    <a:ln>
                      <a:noFill/>
                    </a:ln>
                    <a:solidFill>
                      <a:srgbClr val="FF0000"/>
                    </a:solidFill>
                    <a:effectLst/>
                    <a:uLnTx/>
                    <a:uFillTx/>
                    <a:latin typeface="+mn-lt"/>
                    <a:ea typeface="+mn-ea"/>
                    <a:cs typeface="+mn-cs"/>
                  </a:rPr>
                  <a:t>P2P Client</a:t>
                </a:r>
                <a:r>
                  <a:rPr kumimoji="0" lang="en-US" b="1" i="0" u="none" strike="noStrike" kern="1200" cap="none" spc="0" normalizeH="0" baseline="0" noProof="0" dirty="0" smtClean="0">
                    <a:ln>
                      <a:noFill/>
                    </a:ln>
                    <a:solidFill>
                      <a:srgbClr val="000000"/>
                    </a:solidFill>
                    <a:effectLst/>
                    <a:uLnTx/>
                    <a:uFillTx/>
                    <a:latin typeface="+mn-lt"/>
                    <a:ea typeface="+mn-ea"/>
                    <a:cs typeface="+mn-cs"/>
                  </a:rPr>
                  <a:t>)</a:t>
                </a:r>
              </a:p>
            </p:txBody>
          </p:sp>
        </p:grpSp>
        <p:grpSp>
          <p:nvGrpSpPr>
            <p:cNvPr id="94" name="Group 93"/>
            <p:cNvGrpSpPr/>
            <p:nvPr/>
          </p:nvGrpSpPr>
          <p:grpSpPr>
            <a:xfrm>
              <a:off x="5488662" y="2498068"/>
              <a:ext cx="1064108" cy="470169"/>
              <a:chOff x="3603971" y="2659327"/>
              <a:chExt cx="1064108" cy="470169"/>
            </a:xfrm>
          </p:grpSpPr>
          <p:sp>
            <p:nvSpPr>
              <p:cNvPr id="95" name="Right Arrow 94"/>
              <p:cNvSpPr/>
              <p:nvPr/>
            </p:nvSpPr>
            <p:spPr>
              <a:xfrm>
                <a:off x="4264778" y="2915676"/>
                <a:ext cx="403301" cy="213820"/>
              </a:xfrm>
              <a:prstGeom prst="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TextBox 95"/>
              <p:cNvSpPr txBox="1"/>
              <p:nvPr/>
            </p:nvSpPr>
            <p:spPr>
              <a:xfrm>
                <a:off x="3603971" y="2659327"/>
                <a:ext cx="184666" cy="369332"/>
              </a:xfrm>
              <a:prstGeom prst="rect">
                <a:avLst/>
              </a:prstGeom>
              <a:noFill/>
            </p:spPr>
            <p:txBody>
              <a:bodyPr wrap="none" rtlCol="0">
                <a:spAutoFit/>
              </a:bodyPr>
              <a:lstStyle/>
              <a:p>
                <a:endParaRPr lang="en-US" b="1" dirty="0"/>
              </a:p>
            </p:txBody>
          </p:sp>
        </p:grpSp>
      </p:grpSp>
      <p:grpSp>
        <p:nvGrpSpPr>
          <p:cNvPr id="99" name="Group 68"/>
          <p:cNvGrpSpPr/>
          <p:nvPr/>
        </p:nvGrpSpPr>
        <p:grpSpPr>
          <a:xfrm>
            <a:off x="246382" y="2978918"/>
            <a:ext cx="8544970" cy="1884092"/>
            <a:chOff x="-206627" y="4197860"/>
            <a:chExt cx="8544970" cy="1454913"/>
          </a:xfrm>
        </p:grpSpPr>
        <p:sp>
          <p:nvSpPr>
            <p:cNvPr id="100" name="TextBox 99"/>
            <p:cNvSpPr txBox="1"/>
            <p:nvPr/>
          </p:nvSpPr>
          <p:spPr>
            <a:xfrm>
              <a:off x="-206627" y="4630801"/>
              <a:ext cx="8544970" cy="1021972"/>
            </a:xfrm>
            <a:prstGeom prst="rect">
              <a:avLst/>
            </a:prstGeom>
            <a:ln/>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en-US" sz="2000" dirty="0" smtClean="0"/>
                <a:t>Scalable Clustering Analysis</a:t>
              </a:r>
            </a:p>
            <a:p>
              <a:pPr marL="342900" indent="-342900">
                <a:buAutoNum type="arabicPeriod"/>
              </a:pPr>
              <a:r>
                <a:rPr lang="en-US" sz="2000" dirty="0" smtClean="0"/>
                <a:t>Two-level clustering scheme: Streaming Clustering (Birch) + Hierarchical Clustering</a:t>
              </a:r>
            </a:p>
            <a:p>
              <a:pPr marL="342900" indent="-342900">
                <a:buAutoNum type="arabicPeriod"/>
              </a:pPr>
              <a:r>
                <a:rPr lang="en-US" sz="2000" dirty="0" smtClean="0"/>
                <a:t>Distribute the clustering analysis workload</a:t>
              </a:r>
              <a:endParaRPr lang="en-US" sz="2000" dirty="0"/>
            </a:p>
          </p:txBody>
        </p:sp>
        <p:cxnSp>
          <p:nvCxnSpPr>
            <p:cNvPr id="101" name="Straight Connector 100"/>
            <p:cNvCxnSpPr>
              <a:stCxn id="30" idx="2"/>
            </p:cNvCxnSpPr>
            <p:nvPr/>
          </p:nvCxnSpPr>
          <p:spPr>
            <a:xfrm rot="16200000" flipH="1">
              <a:off x="2155826" y="4029628"/>
              <a:ext cx="407230" cy="74369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02" name="Rectangle 101"/>
          <p:cNvSpPr/>
          <p:nvPr/>
        </p:nvSpPr>
        <p:spPr>
          <a:xfrm>
            <a:off x="5002193" y="2821733"/>
            <a:ext cx="3959731" cy="646331"/>
          </a:xfrm>
          <a:prstGeom prst="rect">
            <a:avLst/>
          </a:prstGeom>
        </p:spPr>
        <p:txBody>
          <a:bodyPr wrap="square">
            <a:spAutoFit/>
          </a:bodyPr>
          <a:lstStyle/>
          <a:p>
            <a:r>
              <a:rPr lang="en-US" b="1" dirty="0" smtClean="0">
                <a:solidFill>
                  <a:srgbClr val="FF0000"/>
                </a:solidFill>
              </a:rPr>
              <a:t>Characteristic: Control flows are sent to a large number of organizations </a:t>
            </a:r>
            <a:endParaRPr lang="en-US" dirty="0">
              <a:solidFill>
                <a:srgbClr val="FF0000"/>
              </a:solidFill>
            </a:endParaRPr>
          </a:p>
        </p:txBody>
      </p:sp>
      <p:sp>
        <p:nvSpPr>
          <p:cNvPr id="103" name="Rectangle 102"/>
          <p:cNvSpPr/>
          <p:nvPr/>
        </p:nvSpPr>
        <p:spPr>
          <a:xfrm>
            <a:off x="4595977" y="2175402"/>
            <a:ext cx="3914446" cy="646331"/>
          </a:xfrm>
          <a:prstGeom prst="rect">
            <a:avLst/>
          </a:prstGeom>
        </p:spPr>
        <p:txBody>
          <a:bodyPr wrap="square">
            <a:spAutoFit/>
          </a:bodyPr>
          <a:lstStyle/>
          <a:p>
            <a:r>
              <a:rPr lang="en-US" b="1" dirty="0" smtClean="0">
                <a:solidFill>
                  <a:srgbClr val="FF0000"/>
                </a:solidFill>
              </a:rPr>
              <a:t>Characteristic: Control flows for the same purpose share similar size</a:t>
            </a:r>
            <a:endParaRPr lang="en-US" dirty="0">
              <a:solidFill>
                <a:srgbClr val="FF0000"/>
              </a:solidFill>
            </a:endParaRPr>
          </a:p>
        </p:txBody>
      </p:sp>
    </p:spTree>
    <p:extLst>
      <p:ext uri="{BB962C8B-B14F-4D97-AF65-F5344CB8AC3E}">
        <p14:creationId xmlns:p14="http://schemas.microsoft.com/office/powerpoint/2010/main" val="39247766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0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102"/>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102" grpId="0"/>
      <p:bldP spid="102" grpId="1"/>
      <p:bldP spid="103" grpId="0"/>
      <p:bldP spid="103" grpId="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P2P-Botnet Detection</a:t>
            </a:r>
            <a:endParaRPr lang="en-US" b="1"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99</a:t>
            </a:fld>
            <a:endParaRPr lang="en-US"/>
          </a:p>
        </p:txBody>
      </p:sp>
      <p:grpSp>
        <p:nvGrpSpPr>
          <p:cNvPr id="3" name="Group 35"/>
          <p:cNvGrpSpPr/>
          <p:nvPr/>
        </p:nvGrpSpPr>
        <p:grpSpPr>
          <a:xfrm>
            <a:off x="287870" y="1330170"/>
            <a:ext cx="2221515" cy="4876375"/>
            <a:chOff x="3119067" y="1262438"/>
            <a:chExt cx="2727156" cy="4876375"/>
          </a:xfrm>
        </p:grpSpPr>
        <p:grpSp>
          <p:nvGrpSpPr>
            <p:cNvPr id="8" name="Group 34"/>
            <p:cNvGrpSpPr/>
            <p:nvPr/>
          </p:nvGrpSpPr>
          <p:grpSpPr>
            <a:xfrm>
              <a:off x="3119067" y="1262438"/>
              <a:ext cx="2727156" cy="4100525"/>
              <a:chOff x="3119067" y="1729246"/>
              <a:chExt cx="2727156" cy="4100525"/>
            </a:xfrm>
          </p:grpSpPr>
          <p:sp>
            <p:nvSpPr>
              <p:cNvPr id="5" name="Snip Single Corner Rectangle 4"/>
              <p:cNvSpPr/>
              <p:nvPr/>
            </p:nvSpPr>
            <p:spPr>
              <a:xfrm>
                <a:off x="3119067" y="5187429"/>
                <a:ext cx="1289391" cy="642341"/>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rgbClr val="000000"/>
                    </a:solidFill>
                  </a:rPr>
                  <a:t>DNS</a:t>
                </a:r>
                <a:endParaRPr lang="en-US" dirty="0">
                  <a:solidFill>
                    <a:srgbClr val="000000"/>
                  </a:solidFill>
                </a:endParaRPr>
              </a:p>
            </p:txBody>
          </p:sp>
          <p:sp>
            <p:nvSpPr>
              <p:cNvPr id="6" name="Snip Single Corner Rectangle 5"/>
              <p:cNvSpPr/>
              <p:nvPr/>
            </p:nvSpPr>
            <p:spPr>
              <a:xfrm>
                <a:off x="4524221" y="5172831"/>
                <a:ext cx="1322002" cy="656940"/>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err="1" smtClean="0">
                    <a:solidFill>
                      <a:srgbClr val="000000"/>
                    </a:solidFill>
                  </a:rPr>
                  <a:t>NetworkFlows</a:t>
                </a:r>
                <a:endParaRPr lang="en-US" dirty="0">
                  <a:solidFill>
                    <a:srgbClr val="000000"/>
                  </a:solidFill>
                </a:endParaRPr>
              </a:p>
            </p:txBody>
          </p:sp>
          <p:sp>
            <p:nvSpPr>
              <p:cNvPr id="7" name="Rounded Rectangle 6"/>
              <p:cNvSpPr/>
              <p:nvPr/>
            </p:nvSpPr>
            <p:spPr>
              <a:xfrm>
                <a:off x="3603009" y="3663733"/>
                <a:ext cx="1746572" cy="1118123"/>
              </a:xfrm>
              <a:prstGeom prst="roundRect">
                <a:avLst>
                  <a:gd name="adj" fmla="val 0"/>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dirty="0" smtClean="0">
                    <a:solidFill>
                      <a:srgbClr val="000000"/>
                    </a:solidFill>
                  </a:rPr>
                  <a:t>P2P-Client Detection</a:t>
                </a:r>
                <a:endParaRPr lang="en-US" sz="2000" dirty="0">
                  <a:solidFill>
                    <a:srgbClr val="000000"/>
                  </a:solidFill>
                </a:endParaRPr>
              </a:p>
            </p:txBody>
          </p:sp>
          <p:sp>
            <p:nvSpPr>
              <p:cNvPr id="12" name="Snip Single Corner Rectangle 11"/>
              <p:cNvSpPr/>
              <p:nvPr/>
            </p:nvSpPr>
            <p:spPr>
              <a:xfrm>
                <a:off x="3940362" y="1729246"/>
                <a:ext cx="1062503" cy="406097"/>
              </a:xfrm>
              <a:prstGeom prst="snip1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solidFill>
                      <a:srgbClr val="000000"/>
                    </a:solidFill>
                  </a:rPr>
                  <a:t>Bots</a:t>
                </a:r>
                <a:endParaRPr lang="en-US" dirty="0">
                  <a:solidFill>
                    <a:srgbClr val="000000"/>
                  </a:solidFill>
                </a:endParaRPr>
              </a:p>
            </p:txBody>
          </p:sp>
          <p:sp>
            <p:nvSpPr>
              <p:cNvPr id="16" name="Rounded Rectangle 15"/>
              <p:cNvSpPr/>
              <p:nvPr/>
            </p:nvSpPr>
            <p:spPr>
              <a:xfrm>
                <a:off x="3603009" y="2443917"/>
                <a:ext cx="1746572" cy="749033"/>
              </a:xfrm>
              <a:prstGeom prst="roundRect">
                <a:avLst>
                  <a:gd name="adj" fmla="val 0"/>
                </a:avLst>
              </a:prstGeom>
              <a:ln w="73025">
                <a:solidFill>
                  <a:srgbClr val="008000"/>
                </a:solidFill>
              </a:ln>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2000" b="1" dirty="0" smtClean="0">
                    <a:solidFill>
                      <a:srgbClr val="000000"/>
                    </a:solidFill>
                  </a:rPr>
                  <a:t>P2P-Bot Detection</a:t>
                </a:r>
              </a:p>
            </p:txBody>
          </p:sp>
          <p:cxnSp>
            <p:nvCxnSpPr>
              <p:cNvPr id="20" name="Straight Arrow Connector 19"/>
              <p:cNvCxnSpPr>
                <a:stCxn id="5" idx="3"/>
                <a:endCxn id="7" idx="2"/>
              </p:cNvCxnSpPr>
              <p:nvPr/>
            </p:nvCxnSpPr>
            <p:spPr>
              <a:xfrm rot="5400000" flipH="1" flipV="1">
                <a:off x="3917243" y="4628377"/>
                <a:ext cx="405573" cy="712532"/>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2" name="Straight Arrow Connector 21"/>
              <p:cNvCxnSpPr>
                <a:stCxn id="6" idx="3"/>
                <a:endCxn id="7" idx="2"/>
              </p:cNvCxnSpPr>
              <p:nvPr/>
            </p:nvCxnSpPr>
            <p:spPr>
              <a:xfrm rot="16200000" flipV="1">
                <a:off x="4635272" y="4622880"/>
                <a:ext cx="390975" cy="708927"/>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5" name="Straight Arrow Connector 24"/>
              <p:cNvCxnSpPr>
                <a:stCxn id="7" idx="0"/>
                <a:endCxn id="16" idx="2"/>
              </p:cNvCxnSpPr>
              <p:nvPr/>
            </p:nvCxnSpPr>
            <p:spPr>
              <a:xfrm rot="5400000" flipH="1" flipV="1">
                <a:off x="4240904" y="3428342"/>
                <a:ext cx="470783" cy="1588"/>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7" name="Straight Arrow Connector 26"/>
              <p:cNvCxnSpPr>
                <a:endCxn id="12" idx="1"/>
              </p:cNvCxnSpPr>
              <p:nvPr/>
            </p:nvCxnSpPr>
            <p:spPr>
              <a:xfrm rot="5400000" flipH="1" flipV="1">
                <a:off x="4323454" y="2283504"/>
                <a:ext cx="296321" cy="1588"/>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26" name="Left-Right Arrow 25"/>
            <p:cNvSpPr/>
            <p:nvPr/>
          </p:nvSpPr>
          <p:spPr>
            <a:xfrm>
              <a:off x="3181429" y="5672024"/>
              <a:ext cx="2644007" cy="466789"/>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smtClean="0">
                  <a:solidFill>
                    <a:schemeClr val="tx1"/>
                  </a:solidFill>
                </a:rPr>
                <a:t>Network Traffic</a:t>
              </a:r>
              <a:endParaRPr lang="en-US" dirty="0">
                <a:solidFill>
                  <a:schemeClr val="tx1"/>
                </a:solidFill>
              </a:endParaRPr>
            </a:p>
          </p:txBody>
        </p:sp>
        <p:cxnSp>
          <p:nvCxnSpPr>
            <p:cNvPr id="28" name="Straight Arrow Connector 27"/>
            <p:cNvCxnSpPr>
              <a:stCxn id="26" idx="1"/>
              <a:endCxn id="5" idx="1"/>
            </p:cNvCxnSpPr>
            <p:nvPr/>
          </p:nvCxnSpPr>
          <p:spPr>
            <a:xfrm rot="16200000" flipV="1">
              <a:off x="3920719" y="5206007"/>
              <a:ext cx="425759" cy="739670"/>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31" name="Straight Arrow Connector 30"/>
            <p:cNvCxnSpPr>
              <a:stCxn id="26" idx="1"/>
              <a:endCxn id="6" idx="1"/>
            </p:cNvCxnSpPr>
            <p:nvPr/>
          </p:nvCxnSpPr>
          <p:spPr>
            <a:xfrm rot="5400000" flipH="1" flipV="1">
              <a:off x="4631448" y="5234948"/>
              <a:ext cx="425758" cy="681789"/>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grpSp>
        <p:nvGrpSpPr>
          <p:cNvPr id="98" name="Group 97"/>
          <p:cNvGrpSpPr/>
          <p:nvPr/>
        </p:nvGrpSpPr>
        <p:grpSpPr>
          <a:xfrm>
            <a:off x="2852436" y="1227978"/>
            <a:ext cx="4526099" cy="4801052"/>
            <a:chOff x="2818854" y="1227977"/>
            <a:chExt cx="5678941" cy="6176508"/>
          </a:xfrm>
        </p:grpSpPr>
        <p:sp>
          <p:nvSpPr>
            <p:cNvPr id="121" name="Content Placeholder 2"/>
            <p:cNvSpPr txBox="1">
              <a:spLocks/>
            </p:cNvSpPr>
            <p:nvPr/>
          </p:nvSpPr>
          <p:spPr>
            <a:xfrm>
              <a:off x="2818854" y="6717261"/>
              <a:ext cx="5678941" cy="687224"/>
            </a:xfrm>
            <a:prstGeom prst="rect">
              <a:avLst/>
            </a:prstGeom>
          </p:spPr>
          <p:txBody>
            <a:bodyPr vert="horz" lIns="91440" tIns="45720" rIns="91440" bIns="45720" rtlCol="0">
              <a:noAutofit/>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sz="2400" b="1" i="1" u="none" strike="noStrike" kern="1200" cap="none" spc="0" normalizeH="0" baseline="0" noProof="0" dirty="0" smtClean="0">
                  <a:ln>
                    <a:noFill/>
                  </a:ln>
                  <a:solidFill>
                    <a:srgbClr val="000000"/>
                  </a:solidFill>
                  <a:effectLst/>
                  <a:uLnTx/>
                  <a:uFillTx/>
                  <a:latin typeface="+mn-lt"/>
                  <a:ea typeface="+mn-ea"/>
                  <a:cs typeface="+mn-cs"/>
                </a:rPr>
                <a:t>Which P2P-Clients</a:t>
              </a:r>
              <a:r>
                <a:rPr kumimoji="0" lang="en-US" sz="2400" b="1" i="1" u="none" strike="noStrike" kern="1200" cap="none" spc="0" normalizeH="0" noProof="0" dirty="0" smtClean="0">
                  <a:ln>
                    <a:noFill/>
                  </a:ln>
                  <a:solidFill>
                    <a:srgbClr val="000000"/>
                  </a:solidFill>
                  <a:effectLst/>
                  <a:uLnTx/>
                  <a:uFillTx/>
                  <a:latin typeface="+mn-lt"/>
                  <a:ea typeface="+mn-ea"/>
                  <a:cs typeface="+mn-cs"/>
                </a:rPr>
                <a:t> </a:t>
              </a:r>
              <a:r>
                <a:rPr kumimoji="0" lang="en-US" sz="2400" b="1" i="1" u="none" strike="noStrike" kern="1200" cap="none" spc="0" normalizeH="0" baseline="0" noProof="0" dirty="0" smtClean="0">
                  <a:ln>
                    <a:noFill/>
                  </a:ln>
                  <a:solidFill>
                    <a:srgbClr val="000000"/>
                  </a:solidFill>
                  <a:effectLst/>
                  <a:uLnTx/>
                  <a:uFillTx/>
                  <a:latin typeface="+mn-lt"/>
                  <a:ea typeface="+mn-ea"/>
                  <a:cs typeface="+mn-cs"/>
                </a:rPr>
                <a:t>are P2P-Bots</a:t>
              </a:r>
              <a:r>
                <a:rPr lang="en-US" sz="2400" b="1" i="1" dirty="0" smtClean="0">
                  <a:solidFill>
                    <a:srgbClr val="000000"/>
                  </a:solidFill>
                </a:rPr>
                <a:t>?</a:t>
              </a:r>
              <a:r>
                <a:rPr kumimoji="0" lang="en-US" sz="2400" b="1" i="1" u="none" strike="noStrike" kern="1200" cap="none" spc="0" normalizeH="0" baseline="0" noProof="0" dirty="0" smtClean="0">
                  <a:ln>
                    <a:noFill/>
                  </a:ln>
                  <a:solidFill>
                    <a:srgbClr val="000000"/>
                  </a:solidFill>
                  <a:effectLst/>
                  <a:uLnTx/>
                  <a:uFillTx/>
                  <a:latin typeface="+mn-lt"/>
                  <a:ea typeface="+mn-ea"/>
                  <a:cs typeface="+mn-cs"/>
                </a:rPr>
                <a:t> </a:t>
              </a:r>
            </a:p>
          </p:txBody>
        </p:sp>
        <p:grpSp>
          <p:nvGrpSpPr>
            <p:cNvPr id="91" name="Group 90"/>
            <p:cNvGrpSpPr/>
            <p:nvPr/>
          </p:nvGrpSpPr>
          <p:grpSpPr>
            <a:xfrm>
              <a:off x="3384203" y="1542391"/>
              <a:ext cx="1549159" cy="1885539"/>
              <a:chOff x="1301492" y="2029217"/>
              <a:chExt cx="1549159" cy="1885539"/>
            </a:xfrm>
          </p:grpSpPr>
          <p:sp>
            <p:nvSpPr>
              <p:cNvPr id="103" name="Rounded Rectangle 102"/>
              <p:cNvSpPr/>
              <p:nvPr/>
            </p:nvSpPr>
            <p:spPr>
              <a:xfrm>
                <a:off x="1301492" y="2029217"/>
                <a:ext cx="1549159" cy="1885539"/>
              </a:xfrm>
              <a:prstGeom prst="roundRect">
                <a:avLst/>
              </a:prstGeom>
              <a:solidFill>
                <a:schemeClr val="accent5">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5" name="Straight Arrow Connector 114"/>
              <p:cNvCxnSpPr/>
              <p:nvPr/>
            </p:nvCxnSpPr>
            <p:spPr>
              <a:xfrm flipV="1">
                <a:off x="1773270" y="2570581"/>
                <a:ext cx="457899" cy="1"/>
              </a:xfrm>
              <a:prstGeom prst="straightConnector1">
                <a:avLst/>
              </a:prstGeom>
              <a:ln w="25400" cap="flat" cmpd="sng" algn="ctr">
                <a:solidFill>
                  <a:srgbClr val="0000FF"/>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0" name="Straight Arrow Connector 119"/>
              <p:cNvCxnSpPr/>
              <p:nvPr/>
            </p:nvCxnSpPr>
            <p:spPr>
              <a:xfrm flipV="1">
                <a:off x="1773270" y="2757304"/>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2" name="Straight Arrow Connector 121"/>
              <p:cNvCxnSpPr/>
              <p:nvPr/>
            </p:nvCxnSpPr>
            <p:spPr>
              <a:xfrm flipV="1">
                <a:off x="1773270" y="2846123"/>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3" name="Straight Arrow Connector 122"/>
              <p:cNvCxnSpPr/>
              <p:nvPr/>
            </p:nvCxnSpPr>
            <p:spPr>
              <a:xfrm flipV="1">
                <a:off x="1773270" y="2451574"/>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4" name="Straight Arrow Connector 123"/>
              <p:cNvCxnSpPr/>
              <p:nvPr/>
            </p:nvCxnSpPr>
            <p:spPr>
              <a:xfrm>
                <a:off x="1789710" y="3166696"/>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5" name="Straight Arrow Connector 124"/>
              <p:cNvCxnSpPr/>
              <p:nvPr/>
            </p:nvCxnSpPr>
            <p:spPr>
              <a:xfrm>
                <a:off x="1789710" y="3304383"/>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6" name="Straight Arrow Connector 125"/>
              <p:cNvCxnSpPr/>
              <p:nvPr/>
            </p:nvCxnSpPr>
            <p:spPr>
              <a:xfrm>
                <a:off x="1789710" y="3441591"/>
                <a:ext cx="580499" cy="1588"/>
              </a:xfrm>
              <a:prstGeom prst="straightConnector1">
                <a:avLst/>
              </a:prstGeom>
              <a:ln w="25400" cap="flat" cmpd="sng" algn="ctr">
                <a:solidFill>
                  <a:srgbClr val="008000"/>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7" name="Straight Arrow Connector 126"/>
              <p:cNvCxnSpPr/>
              <p:nvPr/>
            </p:nvCxnSpPr>
            <p:spPr>
              <a:xfrm>
                <a:off x="1789710" y="3592869"/>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1488842" y="3035776"/>
                <a:ext cx="1215829" cy="669751"/>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9" name="Oval 128"/>
              <p:cNvSpPr/>
              <p:nvPr/>
            </p:nvSpPr>
            <p:spPr>
              <a:xfrm>
                <a:off x="1488842" y="2275897"/>
                <a:ext cx="1063429" cy="684358"/>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69" name="Content Placeholder 2"/>
            <p:cNvSpPr txBox="1">
              <a:spLocks/>
            </p:cNvSpPr>
            <p:nvPr/>
          </p:nvSpPr>
          <p:spPr>
            <a:xfrm>
              <a:off x="3743425" y="1227977"/>
              <a:ext cx="1476063" cy="343613"/>
            </a:xfrm>
            <a:prstGeom prst="rect">
              <a:avLst/>
            </a:prstGeom>
          </p:spPr>
          <p:txBody>
            <a:bodyPr vert="horz" lIns="91440" tIns="45720" rIns="91440" bIns="45720" rtlCol="0">
              <a:normAutofit fontScale="77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P2P-Client1</a:t>
              </a:r>
            </a:p>
          </p:txBody>
        </p:sp>
        <p:sp>
          <p:nvSpPr>
            <p:cNvPr id="173" name="Oval 172"/>
            <p:cNvSpPr/>
            <p:nvPr/>
          </p:nvSpPr>
          <p:spPr>
            <a:xfrm>
              <a:off x="3511685" y="1271648"/>
              <a:ext cx="166428" cy="20031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74" name="Group 173"/>
            <p:cNvGrpSpPr/>
            <p:nvPr/>
          </p:nvGrpSpPr>
          <p:grpSpPr>
            <a:xfrm>
              <a:off x="5866208" y="1542391"/>
              <a:ext cx="1549159" cy="1885539"/>
              <a:chOff x="1301492" y="2029217"/>
              <a:chExt cx="1549159" cy="1885539"/>
            </a:xfrm>
          </p:grpSpPr>
          <p:sp>
            <p:nvSpPr>
              <p:cNvPr id="175" name="Rounded Rectangle 174"/>
              <p:cNvSpPr/>
              <p:nvPr/>
            </p:nvSpPr>
            <p:spPr>
              <a:xfrm>
                <a:off x="1301492" y="2029217"/>
                <a:ext cx="1549159" cy="1885539"/>
              </a:xfrm>
              <a:prstGeom prst="roundRect">
                <a:avLst/>
              </a:prstGeom>
              <a:solidFill>
                <a:schemeClr val="accent5">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6" name="Straight Arrow Connector 175"/>
              <p:cNvCxnSpPr/>
              <p:nvPr/>
            </p:nvCxnSpPr>
            <p:spPr>
              <a:xfrm flipV="1">
                <a:off x="1773270" y="2570581"/>
                <a:ext cx="457899" cy="1"/>
              </a:xfrm>
              <a:prstGeom prst="straightConnector1">
                <a:avLst/>
              </a:prstGeom>
              <a:ln w="25400" cap="flat" cmpd="sng" algn="ctr">
                <a:solidFill>
                  <a:srgbClr val="0000FF"/>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7" name="Straight Arrow Connector 176"/>
              <p:cNvCxnSpPr/>
              <p:nvPr/>
            </p:nvCxnSpPr>
            <p:spPr>
              <a:xfrm flipV="1">
                <a:off x="1773270" y="2757304"/>
                <a:ext cx="215214" cy="2"/>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78" name="Straight Arrow Connector 177"/>
              <p:cNvCxnSpPr/>
              <p:nvPr/>
            </p:nvCxnSpPr>
            <p:spPr>
              <a:xfrm>
                <a:off x="1773270" y="2846125"/>
                <a:ext cx="215214" cy="1588"/>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79" name="Straight Arrow Connector 178"/>
              <p:cNvCxnSpPr/>
              <p:nvPr/>
            </p:nvCxnSpPr>
            <p:spPr>
              <a:xfrm flipV="1">
                <a:off x="1773270" y="2451575"/>
                <a:ext cx="215214" cy="2"/>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80" name="Straight Arrow Connector 179"/>
              <p:cNvCxnSpPr/>
              <p:nvPr/>
            </p:nvCxnSpPr>
            <p:spPr>
              <a:xfrm>
                <a:off x="1789710" y="3166696"/>
                <a:ext cx="441459" cy="1588"/>
              </a:xfrm>
              <a:prstGeom prst="straightConnector1">
                <a:avLst/>
              </a:prstGeom>
              <a:ln w="25400" cap="flat" cmpd="sng" algn="ctr">
                <a:solidFill>
                  <a:srgbClr val="66006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81" name="Straight Arrow Connector 180"/>
              <p:cNvCxnSpPr/>
              <p:nvPr/>
            </p:nvCxnSpPr>
            <p:spPr>
              <a:xfrm>
                <a:off x="1789710" y="3304383"/>
                <a:ext cx="441459" cy="1588"/>
              </a:xfrm>
              <a:prstGeom prst="straightConnector1">
                <a:avLst/>
              </a:prstGeom>
              <a:ln w="25400" cap="flat" cmpd="sng" algn="ctr">
                <a:solidFill>
                  <a:srgbClr val="66006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82" name="Straight Arrow Connector 181"/>
              <p:cNvCxnSpPr/>
              <p:nvPr/>
            </p:nvCxnSpPr>
            <p:spPr>
              <a:xfrm>
                <a:off x="1789710" y="3441591"/>
                <a:ext cx="580499" cy="1588"/>
              </a:xfrm>
              <a:prstGeom prst="straightConnector1">
                <a:avLst/>
              </a:prstGeom>
              <a:ln w="25400" cap="flat" cmpd="sng" algn="ctr">
                <a:solidFill>
                  <a:srgbClr val="008000"/>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83" name="Straight Arrow Connector 182"/>
              <p:cNvCxnSpPr/>
              <p:nvPr/>
            </p:nvCxnSpPr>
            <p:spPr>
              <a:xfrm>
                <a:off x="1789710" y="3592869"/>
                <a:ext cx="412263" cy="1588"/>
              </a:xfrm>
              <a:prstGeom prst="straightConnector1">
                <a:avLst/>
              </a:prstGeom>
              <a:ln w="25400" cap="flat" cmpd="sng" algn="ctr">
                <a:solidFill>
                  <a:srgbClr val="66006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84" name="Oval 183"/>
              <p:cNvSpPr/>
              <p:nvPr/>
            </p:nvSpPr>
            <p:spPr>
              <a:xfrm>
                <a:off x="1488842" y="3035776"/>
                <a:ext cx="1215829" cy="669751"/>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 name="Oval 184"/>
              <p:cNvSpPr/>
              <p:nvPr/>
            </p:nvSpPr>
            <p:spPr>
              <a:xfrm>
                <a:off x="1488842" y="2275897"/>
                <a:ext cx="1063429" cy="684358"/>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6" name="Content Placeholder 2"/>
            <p:cNvSpPr txBox="1">
              <a:spLocks/>
            </p:cNvSpPr>
            <p:nvPr/>
          </p:nvSpPr>
          <p:spPr>
            <a:xfrm>
              <a:off x="6225431" y="1227977"/>
              <a:ext cx="1236805" cy="343613"/>
            </a:xfrm>
            <a:prstGeom prst="rect">
              <a:avLst/>
            </a:prstGeom>
          </p:spPr>
          <p:txBody>
            <a:bodyPr vert="horz" lIns="91440" tIns="45720" rIns="91440" bIns="45720" rtlCol="0">
              <a:normAutofit fontScale="700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P2P-Client2</a:t>
              </a:r>
            </a:p>
          </p:txBody>
        </p:sp>
        <p:sp>
          <p:nvSpPr>
            <p:cNvPr id="187" name="Oval 186"/>
            <p:cNvSpPr/>
            <p:nvPr/>
          </p:nvSpPr>
          <p:spPr>
            <a:xfrm>
              <a:off x="5993690" y="1271648"/>
              <a:ext cx="166428" cy="20031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200" name="Group 199"/>
            <p:cNvGrpSpPr/>
            <p:nvPr/>
          </p:nvGrpSpPr>
          <p:grpSpPr>
            <a:xfrm>
              <a:off x="3384203" y="4539991"/>
              <a:ext cx="1549159" cy="1885539"/>
              <a:chOff x="1301492" y="2029217"/>
              <a:chExt cx="1549159" cy="1885539"/>
            </a:xfrm>
          </p:grpSpPr>
          <p:sp>
            <p:nvSpPr>
              <p:cNvPr id="201" name="Rounded Rectangle 200"/>
              <p:cNvSpPr/>
              <p:nvPr/>
            </p:nvSpPr>
            <p:spPr>
              <a:xfrm>
                <a:off x="1301492" y="2029217"/>
                <a:ext cx="1549159" cy="1885539"/>
              </a:xfrm>
              <a:prstGeom prst="roundRect">
                <a:avLst/>
              </a:prstGeom>
              <a:solidFill>
                <a:schemeClr val="accent5">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02" name="Straight Arrow Connector 201"/>
              <p:cNvCxnSpPr/>
              <p:nvPr/>
            </p:nvCxnSpPr>
            <p:spPr>
              <a:xfrm flipV="1">
                <a:off x="1773270" y="2570581"/>
                <a:ext cx="457899" cy="1"/>
              </a:xfrm>
              <a:prstGeom prst="straightConnector1">
                <a:avLst/>
              </a:prstGeom>
              <a:ln w="25400" cap="flat" cmpd="sng" algn="ctr">
                <a:solidFill>
                  <a:srgbClr val="0000FF"/>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3" name="Straight Arrow Connector 202"/>
              <p:cNvCxnSpPr/>
              <p:nvPr/>
            </p:nvCxnSpPr>
            <p:spPr>
              <a:xfrm flipV="1">
                <a:off x="1773270" y="2757304"/>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4" name="Straight Arrow Connector 203"/>
              <p:cNvCxnSpPr/>
              <p:nvPr/>
            </p:nvCxnSpPr>
            <p:spPr>
              <a:xfrm flipV="1">
                <a:off x="1773270" y="2846123"/>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5" name="Straight Arrow Connector 204"/>
              <p:cNvCxnSpPr/>
              <p:nvPr/>
            </p:nvCxnSpPr>
            <p:spPr>
              <a:xfrm flipV="1">
                <a:off x="1773270" y="2451574"/>
                <a:ext cx="457899" cy="1"/>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6" name="Straight Arrow Connector 205"/>
              <p:cNvCxnSpPr/>
              <p:nvPr/>
            </p:nvCxnSpPr>
            <p:spPr>
              <a:xfrm>
                <a:off x="1789710" y="3166696"/>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7" name="Straight Arrow Connector 206"/>
              <p:cNvCxnSpPr/>
              <p:nvPr/>
            </p:nvCxnSpPr>
            <p:spPr>
              <a:xfrm>
                <a:off x="1789710" y="3304383"/>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8" name="Straight Arrow Connector 207"/>
              <p:cNvCxnSpPr/>
              <p:nvPr/>
            </p:nvCxnSpPr>
            <p:spPr>
              <a:xfrm>
                <a:off x="1789710" y="3441591"/>
                <a:ext cx="580499" cy="1588"/>
              </a:xfrm>
              <a:prstGeom prst="straightConnector1">
                <a:avLst/>
              </a:prstGeom>
              <a:ln w="25400" cap="flat" cmpd="sng" algn="ctr">
                <a:solidFill>
                  <a:srgbClr val="008000"/>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9" name="Straight Arrow Connector 208"/>
              <p:cNvCxnSpPr/>
              <p:nvPr/>
            </p:nvCxnSpPr>
            <p:spPr>
              <a:xfrm>
                <a:off x="1789710" y="3592869"/>
                <a:ext cx="580499" cy="1588"/>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10" name="Oval 209"/>
              <p:cNvSpPr/>
              <p:nvPr/>
            </p:nvSpPr>
            <p:spPr>
              <a:xfrm>
                <a:off x="1488842" y="3035776"/>
                <a:ext cx="1215829" cy="669751"/>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1" name="Oval 210"/>
              <p:cNvSpPr/>
              <p:nvPr/>
            </p:nvSpPr>
            <p:spPr>
              <a:xfrm>
                <a:off x="1488842" y="2275897"/>
                <a:ext cx="1063429" cy="684358"/>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12" name="Content Placeholder 2"/>
            <p:cNvSpPr txBox="1">
              <a:spLocks/>
            </p:cNvSpPr>
            <p:nvPr/>
          </p:nvSpPr>
          <p:spPr>
            <a:xfrm>
              <a:off x="3641239" y="4202790"/>
              <a:ext cx="1578249" cy="366402"/>
            </a:xfrm>
            <a:prstGeom prst="rect">
              <a:avLst/>
            </a:prstGeom>
          </p:spPr>
          <p:txBody>
            <a:bodyPr vert="horz" lIns="91440" tIns="45720" rIns="91440" bIns="45720" rtlCol="0">
              <a:normAutofit fontScale="850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P2P-Client_M</a:t>
              </a:r>
            </a:p>
          </p:txBody>
        </p:sp>
        <p:sp>
          <p:nvSpPr>
            <p:cNvPr id="213" name="Oval 212"/>
            <p:cNvSpPr/>
            <p:nvPr/>
          </p:nvSpPr>
          <p:spPr>
            <a:xfrm>
              <a:off x="3511685" y="4269248"/>
              <a:ext cx="166428" cy="20031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214" name="Group 213"/>
            <p:cNvGrpSpPr/>
            <p:nvPr/>
          </p:nvGrpSpPr>
          <p:grpSpPr>
            <a:xfrm>
              <a:off x="5837012" y="4517203"/>
              <a:ext cx="1549159" cy="1885539"/>
              <a:chOff x="1301492" y="2029217"/>
              <a:chExt cx="1549159" cy="1885539"/>
            </a:xfrm>
          </p:grpSpPr>
          <p:sp>
            <p:nvSpPr>
              <p:cNvPr id="215" name="Rounded Rectangle 214"/>
              <p:cNvSpPr/>
              <p:nvPr/>
            </p:nvSpPr>
            <p:spPr>
              <a:xfrm>
                <a:off x="1301492" y="2029217"/>
                <a:ext cx="1549159" cy="1885539"/>
              </a:xfrm>
              <a:prstGeom prst="roundRect">
                <a:avLst/>
              </a:prstGeom>
              <a:solidFill>
                <a:schemeClr val="accent5">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6" name="Straight Arrow Connector 215"/>
              <p:cNvCxnSpPr/>
              <p:nvPr/>
            </p:nvCxnSpPr>
            <p:spPr>
              <a:xfrm flipV="1">
                <a:off x="1773270" y="2570581"/>
                <a:ext cx="457899" cy="1"/>
              </a:xfrm>
              <a:prstGeom prst="straightConnector1">
                <a:avLst/>
              </a:prstGeom>
              <a:ln w="25400" cap="flat" cmpd="sng" algn="ctr">
                <a:solidFill>
                  <a:srgbClr val="0000FF"/>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17" name="Straight Arrow Connector 216"/>
              <p:cNvCxnSpPr/>
              <p:nvPr/>
            </p:nvCxnSpPr>
            <p:spPr>
              <a:xfrm flipV="1">
                <a:off x="1773270" y="2757304"/>
                <a:ext cx="244410" cy="2"/>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8" name="Straight Arrow Connector 217"/>
              <p:cNvCxnSpPr/>
              <p:nvPr/>
            </p:nvCxnSpPr>
            <p:spPr>
              <a:xfrm flipV="1">
                <a:off x="1773270" y="2846124"/>
                <a:ext cx="244410" cy="1"/>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19" name="Straight Arrow Connector 218"/>
              <p:cNvCxnSpPr/>
              <p:nvPr/>
            </p:nvCxnSpPr>
            <p:spPr>
              <a:xfrm flipV="1">
                <a:off x="1773270" y="2451574"/>
                <a:ext cx="244410" cy="2"/>
              </a:xfrm>
              <a:prstGeom prst="straightConnector1">
                <a:avLst/>
              </a:prstGeom>
              <a:ln w="25400" cap="flat" cmpd="sng" algn="ctr">
                <a:solidFill>
                  <a:srgbClr val="FF0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0" name="Straight Arrow Connector 219"/>
              <p:cNvCxnSpPr/>
              <p:nvPr/>
            </p:nvCxnSpPr>
            <p:spPr>
              <a:xfrm>
                <a:off x="1789710" y="3166696"/>
                <a:ext cx="441459" cy="1588"/>
              </a:xfrm>
              <a:prstGeom prst="straightConnector1">
                <a:avLst/>
              </a:prstGeom>
              <a:ln w="25400" cap="flat" cmpd="sng" algn="ctr">
                <a:solidFill>
                  <a:srgbClr val="66006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1" name="Straight Arrow Connector 220"/>
              <p:cNvCxnSpPr/>
              <p:nvPr/>
            </p:nvCxnSpPr>
            <p:spPr>
              <a:xfrm>
                <a:off x="1789710" y="3304383"/>
                <a:ext cx="441459" cy="1588"/>
              </a:xfrm>
              <a:prstGeom prst="straightConnector1">
                <a:avLst/>
              </a:prstGeom>
              <a:ln w="25400" cap="flat" cmpd="sng" algn="ctr">
                <a:solidFill>
                  <a:srgbClr val="66006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2" name="Straight Arrow Connector 221"/>
              <p:cNvCxnSpPr/>
              <p:nvPr/>
            </p:nvCxnSpPr>
            <p:spPr>
              <a:xfrm>
                <a:off x="1789710" y="3441591"/>
                <a:ext cx="580499" cy="1588"/>
              </a:xfrm>
              <a:prstGeom prst="straightConnector1">
                <a:avLst/>
              </a:prstGeom>
              <a:ln w="25400" cap="flat" cmpd="sng" algn="ctr">
                <a:solidFill>
                  <a:srgbClr val="008000"/>
                </a:solidFill>
                <a:prstDash val="dot"/>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23" name="Straight Arrow Connector 222"/>
              <p:cNvCxnSpPr/>
              <p:nvPr/>
            </p:nvCxnSpPr>
            <p:spPr>
              <a:xfrm>
                <a:off x="1789710" y="3592869"/>
                <a:ext cx="441459" cy="1588"/>
              </a:xfrm>
              <a:prstGeom prst="straightConnector1">
                <a:avLst/>
              </a:prstGeom>
              <a:ln w="25400" cap="flat" cmpd="sng" algn="ctr">
                <a:solidFill>
                  <a:srgbClr val="66006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24" name="Oval 223"/>
              <p:cNvSpPr/>
              <p:nvPr/>
            </p:nvSpPr>
            <p:spPr>
              <a:xfrm>
                <a:off x="1488842" y="3035776"/>
                <a:ext cx="1215829" cy="669751"/>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 name="Oval 224"/>
              <p:cNvSpPr/>
              <p:nvPr/>
            </p:nvSpPr>
            <p:spPr>
              <a:xfrm>
                <a:off x="1488842" y="2275897"/>
                <a:ext cx="1063429" cy="684358"/>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26" name="Content Placeholder 2"/>
            <p:cNvSpPr txBox="1">
              <a:spLocks/>
            </p:cNvSpPr>
            <p:nvPr/>
          </p:nvSpPr>
          <p:spPr>
            <a:xfrm>
              <a:off x="6213980" y="4202790"/>
              <a:ext cx="1368188" cy="343613"/>
            </a:xfrm>
            <a:prstGeom prst="rect">
              <a:avLst/>
            </a:prstGeom>
          </p:spPr>
          <p:txBody>
            <a:bodyPr vert="horz" lIns="91440" tIns="45720" rIns="91440" bIns="45720" rtlCol="0">
              <a:normAutofit fontScale="700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b="1" i="0" u="none" strike="noStrike" kern="1200" cap="none" spc="0" normalizeH="0" baseline="0" noProof="0" dirty="0" smtClean="0">
                  <a:ln>
                    <a:noFill/>
                  </a:ln>
                  <a:solidFill>
                    <a:srgbClr val="000000"/>
                  </a:solidFill>
                  <a:effectLst/>
                  <a:uLnTx/>
                  <a:uFillTx/>
                  <a:latin typeface="+mn-lt"/>
                  <a:ea typeface="+mn-ea"/>
                  <a:cs typeface="+mn-cs"/>
                </a:rPr>
                <a:t>P2P-Client_N</a:t>
              </a:r>
            </a:p>
          </p:txBody>
        </p:sp>
        <p:sp>
          <p:nvSpPr>
            <p:cNvPr id="227" name="Oval 226"/>
            <p:cNvSpPr/>
            <p:nvPr/>
          </p:nvSpPr>
          <p:spPr>
            <a:xfrm>
              <a:off x="5964494" y="4246460"/>
              <a:ext cx="166428" cy="20031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273061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P2P Bots </a:t>
            </a:r>
            <a:r>
              <a:rPr lang="en-US" dirty="0" err="1" smtClean="0">
                <a:solidFill>
                  <a:srgbClr val="FF0000"/>
                </a:solidFill>
              </a:rPr>
              <a:t>v.s</a:t>
            </a:r>
            <a:r>
              <a:rPr lang="en-US" dirty="0" smtClean="0">
                <a:solidFill>
                  <a:srgbClr val="FF0000"/>
                </a:solidFill>
              </a:rPr>
              <a:t>. </a:t>
            </a:r>
            <a:r>
              <a:rPr lang="en-US" b="1" dirty="0" smtClean="0"/>
              <a:t>Legitimate P2P Clients</a:t>
            </a:r>
            <a:endParaRPr lang="en-US" b="1" dirty="0"/>
          </a:p>
        </p:txBody>
      </p:sp>
      <p:sp>
        <p:nvSpPr>
          <p:cNvPr id="4" name="Slide Number Placeholder 3"/>
          <p:cNvSpPr>
            <a:spLocks noGrp="1"/>
          </p:cNvSpPr>
          <p:nvPr>
            <p:ph type="sldNum" sz="quarter" idx="12"/>
          </p:nvPr>
        </p:nvSpPr>
        <p:spPr/>
        <p:txBody>
          <a:bodyPr/>
          <a:lstStyle/>
          <a:p>
            <a:fld id="{A64B996E-896C-8B42-97AF-DF9D242D39BE}" type="slidenum">
              <a:rPr lang="en-US" smtClean="0"/>
              <a:pPr/>
              <a:t>100</a:t>
            </a:fld>
            <a:endParaRPr lang="en-US"/>
          </a:p>
        </p:txBody>
      </p:sp>
      <p:graphicFrame>
        <p:nvGraphicFramePr>
          <p:cNvPr id="63" name="Table 62"/>
          <p:cNvGraphicFramePr>
            <a:graphicFrameLocks noGrp="1"/>
          </p:cNvGraphicFramePr>
          <p:nvPr/>
        </p:nvGraphicFramePr>
        <p:xfrm>
          <a:off x="607406" y="1268881"/>
          <a:ext cx="7490244" cy="2526779"/>
        </p:xfrm>
        <a:graphic>
          <a:graphicData uri="http://schemas.openxmlformats.org/drawingml/2006/table">
            <a:tbl>
              <a:tblPr firstRow="1" bandRow="1">
                <a:tableStyleId>{5C22544A-7EE6-4342-B048-85BDC9FD1C3A}</a:tableStyleId>
              </a:tblPr>
              <a:tblGrid>
                <a:gridCol w="1453368"/>
                <a:gridCol w="3087467"/>
                <a:gridCol w="2949409"/>
              </a:tblGrid>
              <a:tr h="720703">
                <a:tc>
                  <a:txBody>
                    <a:bodyPr/>
                    <a:lstStyle/>
                    <a:p>
                      <a:pPr algn="ctr"/>
                      <a:endParaRPr lang="en-US" sz="2000" dirty="0"/>
                    </a:p>
                  </a:txBody>
                  <a:tcPr anchor="ctr"/>
                </a:tc>
                <a:tc>
                  <a:txBody>
                    <a:bodyPr/>
                    <a:lstStyle/>
                    <a:p>
                      <a:pPr algn="ctr"/>
                      <a:r>
                        <a:rPr lang="en-US" sz="2400" dirty="0" smtClean="0"/>
                        <a:t>P2P Bots</a:t>
                      </a:r>
                      <a:endParaRPr lang="en-US" sz="2400" dirty="0"/>
                    </a:p>
                  </a:txBody>
                  <a:tcPr anchor="ctr"/>
                </a:tc>
                <a:tc>
                  <a:txBody>
                    <a:bodyPr/>
                    <a:lstStyle/>
                    <a:p>
                      <a:pPr algn="ctr"/>
                      <a:r>
                        <a:rPr lang="en-US" sz="2400" dirty="0" smtClean="0"/>
                        <a:t>Legitimate</a:t>
                      </a:r>
                      <a:r>
                        <a:rPr lang="en-US" sz="2400" baseline="0" dirty="0" smtClean="0"/>
                        <a:t> P2P Clients</a:t>
                      </a:r>
                      <a:endParaRPr lang="en-US" sz="2400" dirty="0"/>
                    </a:p>
                  </a:txBody>
                  <a:tcPr anchor="ctr"/>
                </a:tc>
              </a:tr>
              <a:tr h="720703">
                <a:tc>
                  <a:txBody>
                    <a:bodyPr/>
                    <a:lstStyle/>
                    <a:p>
                      <a:pPr algn="ctr"/>
                      <a:r>
                        <a:rPr lang="en-US" sz="2400" dirty="0" smtClean="0"/>
                        <a:t>Temporal Feature</a:t>
                      </a:r>
                      <a:endParaRPr lang="en-US" sz="2400" dirty="0"/>
                    </a:p>
                  </a:txBody>
                  <a:tcPr anchor="ctr"/>
                </a:tc>
                <a:tc>
                  <a:txBody>
                    <a:bodyPr/>
                    <a:lstStyle/>
                    <a:p>
                      <a:pPr algn="ctr"/>
                      <a:r>
                        <a:rPr lang="en-US" sz="2000" dirty="0" smtClean="0"/>
                        <a:t>Persistent</a:t>
                      </a:r>
                      <a:endParaRPr lang="en-US" sz="2000" dirty="0"/>
                    </a:p>
                  </a:txBody>
                  <a:tcPr anchor="ctr"/>
                </a:tc>
                <a:tc>
                  <a:txBody>
                    <a:bodyPr/>
                    <a:lstStyle/>
                    <a:p>
                      <a:pPr algn="ctr"/>
                      <a:r>
                        <a:rPr lang="en-US" sz="2000" dirty="0" smtClean="0"/>
                        <a:t>Transient</a:t>
                      </a:r>
                      <a:endParaRPr lang="en-US" sz="2000" dirty="0"/>
                    </a:p>
                  </a:txBody>
                  <a:tcPr anchor="ctr"/>
                </a:tc>
              </a:tr>
              <a:tr h="880859">
                <a:tc>
                  <a:txBody>
                    <a:bodyPr/>
                    <a:lstStyle/>
                    <a:p>
                      <a:pPr algn="ctr"/>
                      <a:r>
                        <a:rPr lang="en-US" sz="2400" dirty="0" smtClean="0"/>
                        <a:t>Spatial</a:t>
                      </a:r>
                    </a:p>
                    <a:p>
                      <a:pPr algn="ctr"/>
                      <a:r>
                        <a:rPr lang="en-US" sz="2400" dirty="0" smtClean="0"/>
                        <a:t>Feature</a:t>
                      </a:r>
                      <a:endParaRPr lang="en-US" sz="2400" dirty="0"/>
                    </a:p>
                  </a:txBody>
                  <a:tcPr anchor="ctr"/>
                </a:tc>
                <a:tc>
                  <a:txBody>
                    <a:bodyPr/>
                    <a:lstStyle/>
                    <a:p>
                      <a:pPr algn="ctr"/>
                      <a:r>
                        <a:rPr lang="en-US" sz="2000" dirty="0" smtClean="0"/>
                        <a:t>Same content</a:t>
                      </a:r>
                      <a:r>
                        <a:rPr lang="en-US" sz="2000" baseline="0" dirty="0" smtClean="0"/>
                        <a:t> (commands)</a:t>
                      </a:r>
                    </a:p>
                    <a:p>
                      <a:pPr algn="ctr"/>
                      <a:r>
                        <a:rPr lang="en-US" sz="2000" baseline="0" dirty="0" smtClean="0"/>
                        <a:t>=&gt; Large overlap of peers</a:t>
                      </a:r>
                      <a:endParaRPr lang="en-US" sz="2000" dirty="0"/>
                    </a:p>
                  </a:txBody>
                  <a:tcPr anchor="ctr"/>
                </a:tc>
                <a:tc>
                  <a:txBody>
                    <a:bodyPr/>
                    <a:lstStyle/>
                    <a:p>
                      <a:pPr algn="ctr"/>
                      <a:r>
                        <a:rPr lang="en-US" sz="2000" dirty="0" smtClean="0"/>
                        <a:t>Different</a:t>
                      </a:r>
                      <a:r>
                        <a:rPr lang="en-US" sz="2000" baseline="0" dirty="0" smtClean="0"/>
                        <a:t> contents</a:t>
                      </a:r>
                    </a:p>
                    <a:p>
                      <a:pPr algn="ctr"/>
                      <a:r>
                        <a:rPr lang="en-US" sz="2000" baseline="0" dirty="0" smtClean="0"/>
                        <a:t>=&gt; Small overlap of peers</a:t>
                      </a:r>
                      <a:endParaRPr lang="en-US" sz="2000" dirty="0"/>
                    </a:p>
                  </a:txBody>
                  <a:tcPr anchor="ctr"/>
                </a:tc>
              </a:tr>
            </a:tbl>
          </a:graphicData>
        </a:graphic>
      </p:graphicFrame>
      <p:grpSp>
        <p:nvGrpSpPr>
          <p:cNvPr id="64" name="Group 63"/>
          <p:cNvGrpSpPr/>
          <p:nvPr/>
        </p:nvGrpSpPr>
        <p:grpSpPr>
          <a:xfrm>
            <a:off x="5241485" y="3951125"/>
            <a:ext cx="2907862" cy="2259310"/>
            <a:chOff x="1482365" y="4300585"/>
            <a:chExt cx="2907862" cy="2259310"/>
          </a:xfrm>
        </p:grpSpPr>
        <p:grpSp>
          <p:nvGrpSpPr>
            <p:cNvPr id="82" name="Group 36"/>
            <p:cNvGrpSpPr/>
            <p:nvPr/>
          </p:nvGrpSpPr>
          <p:grpSpPr>
            <a:xfrm>
              <a:off x="1626545" y="4300585"/>
              <a:ext cx="2621118" cy="1865137"/>
              <a:chOff x="2058648" y="3082808"/>
              <a:chExt cx="2621118" cy="1865137"/>
            </a:xfrm>
          </p:grpSpPr>
          <p:sp useBgFill="1">
            <p:nvSpPr>
              <p:cNvPr id="89" name="Cloud 88"/>
              <p:cNvSpPr/>
              <p:nvPr/>
            </p:nvSpPr>
            <p:spPr>
              <a:xfrm>
                <a:off x="2058648" y="3082808"/>
                <a:ext cx="2621118" cy="1512663"/>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 name="Oval 89"/>
              <p:cNvSpPr/>
              <p:nvPr/>
            </p:nvSpPr>
            <p:spPr>
              <a:xfrm>
                <a:off x="3480891" y="3837008"/>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 name="Oval 90"/>
              <p:cNvSpPr/>
              <p:nvPr/>
            </p:nvSpPr>
            <p:spPr>
              <a:xfrm>
                <a:off x="2541228" y="4803113"/>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Oval 91"/>
              <p:cNvSpPr/>
              <p:nvPr/>
            </p:nvSpPr>
            <p:spPr>
              <a:xfrm>
                <a:off x="2960376" y="4232061"/>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 name="Oval 92"/>
              <p:cNvSpPr/>
              <p:nvPr/>
            </p:nvSpPr>
            <p:spPr>
              <a:xfrm>
                <a:off x="3840878" y="4782623"/>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 name="Oval 93"/>
              <p:cNvSpPr/>
              <p:nvPr/>
            </p:nvSpPr>
            <p:spPr>
              <a:xfrm>
                <a:off x="3033252" y="3839352"/>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 name="Oval 94"/>
              <p:cNvSpPr/>
              <p:nvPr/>
            </p:nvSpPr>
            <p:spPr>
              <a:xfrm>
                <a:off x="3463720" y="4223302"/>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 name="Oval 95"/>
              <p:cNvSpPr/>
              <p:nvPr/>
            </p:nvSpPr>
            <p:spPr>
              <a:xfrm>
                <a:off x="2905018" y="3559893"/>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Oval 96"/>
              <p:cNvSpPr/>
              <p:nvPr/>
            </p:nvSpPr>
            <p:spPr>
              <a:xfrm>
                <a:off x="3618231" y="3542375"/>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3" name="Group 77"/>
            <p:cNvGrpSpPr/>
            <p:nvPr/>
          </p:nvGrpSpPr>
          <p:grpSpPr>
            <a:xfrm>
              <a:off x="2254877" y="4606649"/>
              <a:ext cx="1299650" cy="1416770"/>
              <a:chOff x="2816182" y="3512206"/>
              <a:chExt cx="1299650" cy="1416770"/>
            </a:xfrm>
          </p:grpSpPr>
          <p:sp>
            <p:nvSpPr>
              <p:cNvPr id="87" name="Freeform 86"/>
              <p:cNvSpPr/>
              <p:nvPr/>
            </p:nvSpPr>
            <p:spPr>
              <a:xfrm>
                <a:off x="3645046" y="3547241"/>
                <a:ext cx="470786" cy="1381735"/>
              </a:xfrm>
              <a:custGeom>
                <a:avLst/>
                <a:gdLst>
                  <a:gd name="connsiteX0" fmla="*/ 191230 w 322609"/>
                  <a:gd name="connsiteY0" fmla="*/ 1226207 h 1226207"/>
                  <a:gd name="connsiteX1" fmla="*/ 24816 w 322609"/>
                  <a:gd name="connsiteY1" fmla="*/ 840828 h 1226207"/>
                  <a:gd name="connsiteX2" fmla="*/ 42333 w 322609"/>
                  <a:gd name="connsiteY2" fmla="*/ 455449 h 1226207"/>
                  <a:gd name="connsiteX3" fmla="*/ 182471 w 322609"/>
                  <a:gd name="connsiteY3" fmla="*/ 157656 h 1226207"/>
                  <a:gd name="connsiteX4" fmla="*/ 322609 w 322609"/>
                  <a:gd name="connsiteY4" fmla="*/ 0 h 1226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2609" h="1226207">
                    <a:moveTo>
                      <a:pt x="191230" y="1226207"/>
                    </a:moveTo>
                    <a:cubicBezTo>
                      <a:pt x="120431" y="1097747"/>
                      <a:pt x="49632" y="969288"/>
                      <a:pt x="24816" y="840828"/>
                    </a:cubicBezTo>
                    <a:cubicBezTo>
                      <a:pt x="0" y="712368"/>
                      <a:pt x="16057" y="569311"/>
                      <a:pt x="42333" y="455449"/>
                    </a:cubicBezTo>
                    <a:cubicBezTo>
                      <a:pt x="68609" y="341587"/>
                      <a:pt x="135758" y="233564"/>
                      <a:pt x="182471" y="157656"/>
                    </a:cubicBezTo>
                    <a:cubicBezTo>
                      <a:pt x="229184" y="81748"/>
                      <a:pt x="322609" y="0"/>
                      <a:pt x="322609" y="0"/>
                    </a:cubicBezTo>
                  </a:path>
                </a:pathLst>
              </a:custGeom>
              <a:ln w="38100">
                <a:prstDash val="sysDash"/>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8" name="Freeform 87"/>
              <p:cNvSpPr/>
              <p:nvPr/>
            </p:nvSpPr>
            <p:spPr>
              <a:xfrm>
                <a:off x="2816182" y="3512206"/>
                <a:ext cx="390933" cy="1416769"/>
              </a:xfrm>
              <a:custGeom>
                <a:avLst/>
                <a:gdLst>
                  <a:gd name="connsiteX0" fmla="*/ 61310 w 334287"/>
                  <a:gd name="connsiteY0" fmla="*/ 1270000 h 1270000"/>
                  <a:gd name="connsiteX1" fmla="*/ 271517 w 334287"/>
                  <a:gd name="connsiteY1" fmla="*/ 910896 h 1270000"/>
                  <a:gd name="connsiteX2" fmla="*/ 324069 w 334287"/>
                  <a:gd name="connsiteY2" fmla="*/ 499241 h 1270000"/>
                  <a:gd name="connsiteX3" fmla="*/ 210206 w 334287"/>
                  <a:gd name="connsiteY3" fmla="*/ 218965 h 1270000"/>
                  <a:gd name="connsiteX4" fmla="*/ 0 w 334287"/>
                  <a:gd name="connsiteY4" fmla="*/ 0 h 127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287" h="1270000">
                    <a:moveTo>
                      <a:pt x="61310" y="1270000"/>
                    </a:moveTo>
                    <a:cubicBezTo>
                      <a:pt x="144517" y="1154678"/>
                      <a:pt x="227724" y="1039356"/>
                      <a:pt x="271517" y="910896"/>
                    </a:cubicBezTo>
                    <a:cubicBezTo>
                      <a:pt x="315310" y="782436"/>
                      <a:pt x="334287" y="614563"/>
                      <a:pt x="324069" y="499241"/>
                    </a:cubicBezTo>
                    <a:cubicBezTo>
                      <a:pt x="313851" y="383919"/>
                      <a:pt x="264217" y="302172"/>
                      <a:pt x="210206" y="218965"/>
                    </a:cubicBezTo>
                    <a:cubicBezTo>
                      <a:pt x="156195" y="135758"/>
                      <a:pt x="0" y="0"/>
                      <a:pt x="0" y="0"/>
                    </a:cubicBezTo>
                  </a:path>
                </a:pathLst>
              </a:custGeom>
              <a:ln w="38100">
                <a:prstDash val="sysDash"/>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84" name="Rectangle 83"/>
            <p:cNvSpPr/>
            <p:nvPr/>
          </p:nvSpPr>
          <p:spPr>
            <a:xfrm>
              <a:off x="1482365" y="5610567"/>
              <a:ext cx="1031834" cy="369332"/>
            </a:xfrm>
            <a:prstGeom prst="rect">
              <a:avLst/>
            </a:prstGeom>
          </p:spPr>
          <p:txBody>
            <a:bodyPr wrap="square">
              <a:spAutoFit/>
            </a:bodyPr>
            <a:lstStyle/>
            <a:p>
              <a:r>
                <a:rPr lang="en-US" b="1" dirty="0" smtClean="0"/>
                <a:t>“avatar”</a:t>
              </a:r>
              <a:endParaRPr lang="en-US" b="1" dirty="0"/>
            </a:p>
          </p:txBody>
        </p:sp>
        <p:sp>
          <p:nvSpPr>
            <p:cNvPr id="85" name="Rectangle 84"/>
            <p:cNvSpPr/>
            <p:nvPr/>
          </p:nvSpPr>
          <p:spPr>
            <a:xfrm>
              <a:off x="3331880" y="5601808"/>
              <a:ext cx="915783" cy="369332"/>
            </a:xfrm>
            <a:prstGeom prst="rect">
              <a:avLst/>
            </a:prstGeom>
          </p:spPr>
          <p:txBody>
            <a:bodyPr wrap="square">
              <a:spAutoFit/>
            </a:bodyPr>
            <a:lstStyle/>
            <a:p>
              <a:r>
                <a:rPr lang="en-US" b="1" dirty="0" smtClean="0"/>
                <a:t>“mp3”</a:t>
              </a:r>
              <a:endParaRPr lang="en-US" b="1" dirty="0"/>
            </a:p>
          </p:txBody>
        </p:sp>
        <p:sp>
          <p:nvSpPr>
            <p:cNvPr id="86" name="Rectangle 85"/>
            <p:cNvSpPr/>
            <p:nvPr/>
          </p:nvSpPr>
          <p:spPr>
            <a:xfrm>
              <a:off x="1482365" y="6190563"/>
              <a:ext cx="2907862" cy="369332"/>
            </a:xfrm>
            <a:prstGeom prst="rect">
              <a:avLst/>
            </a:prstGeom>
          </p:spPr>
          <p:txBody>
            <a:bodyPr wrap="square">
              <a:spAutoFit/>
            </a:bodyPr>
            <a:lstStyle/>
            <a:p>
              <a:pPr algn="ctr"/>
              <a:r>
                <a:rPr lang="en-US" b="1" dirty="0" smtClean="0"/>
                <a:t>Legitimate P2P Clients</a:t>
              </a:r>
              <a:endParaRPr lang="en-US" b="1" dirty="0"/>
            </a:p>
          </p:txBody>
        </p:sp>
      </p:grpSp>
      <p:grpSp>
        <p:nvGrpSpPr>
          <p:cNvPr id="98" name="Group 97"/>
          <p:cNvGrpSpPr/>
          <p:nvPr/>
        </p:nvGrpSpPr>
        <p:grpSpPr>
          <a:xfrm>
            <a:off x="2127173" y="3994332"/>
            <a:ext cx="2621118" cy="2231958"/>
            <a:chOff x="4707613" y="4276951"/>
            <a:chExt cx="2621118" cy="2231958"/>
          </a:xfrm>
        </p:grpSpPr>
        <p:grpSp>
          <p:nvGrpSpPr>
            <p:cNvPr id="99" name="Group 59"/>
            <p:cNvGrpSpPr/>
            <p:nvPr/>
          </p:nvGrpSpPr>
          <p:grpSpPr>
            <a:xfrm>
              <a:off x="4707613" y="4276951"/>
              <a:ext cx="2621118" cy="1851769"/>
              <a:chOff x="2058648" y="3082808"/>
              <a:chExt cx="2621118" cy="1851769"/>
            </a:xfrm>
          </p:grpSpPr>
          <p:sp useBgFill="1">
            <p:nvSpPr>
              <p:cNvPr id="106" name="Cloud 105"/>
              <p:cNvSpPr/>
              <p:nvPr/>
            </p:nvSpPr>
            <p:spPr>
              <a:xfrm>
                <a:off x="2058648" y="3082808"/>
                <a:ext cx="2621118" cy="1512663"/>
              </a:xfrm>
              <a:prstGeom prst="cloud">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 name="Oval 106"/>
              <p:cNvSpPr/>
              <p:nvPr/>
            </p:nvSpPr>
            <p:spPr>
              <a:xfrm>
                <a:off x="3480891" y="3837008"/>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Oval 107"/>
              <p:cNvSpPr/>
              <p:nvPr/>
            </p:nvSpPr>
            <p:spPr>
              <a:xfrm>
                <a:off x="2688276" y="4789745"/>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 name="Oval 108"/>
              <p:cNvSpPr/>
              <p:nvPr/>
            </p:nvSpPr>
            <p:spPr>
              <a:xfrm>
                <a:off x="2960376" y="4232061"/>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 name="Oval 109"/>
              <p:cNvSpPr/>
              <p:nvPr/>
            </p:nvSpPr>
            <p:spPr>
              <a:xfrm>
                <a:off x="3733934" y="4782623"/>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 name="Oval 110"/>
              <p:cNvSpPr/>
              <p:nvPr/>
            </p:nvSpPr>
            <p:spPr>
              <a:xfrm>
                <a:off x="3033252" y="3839352"/>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 name="Oval 111"/>
              <p:cNvSpPr/>
              <p:nvPr/>
            </p:nvSpPr>
            <p:spPr>
              <a:xfrm>
                <a:off x="3463720" y="4223302"/>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Oval 112"/>
              <p:cNvSpPr/>
              <p:nvPr/>
            </p:nvSpPr>
            <p:spPr>
              <a:xfrm>
                <a:off x="2905018" y="3559893"/>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 name="Oval 113"/>
              <p:cNvSpPr/>
              <p:nvPr/>
            </p:nvSpPr>
            <p:spPr>
              <a:xfrm>
                <a:off x="3618231" y="3542375"/>
                <a:ext cx="145752" cy="144832"/>
              </a:xfrm>
              <a:prstGeom prst="ellipse">
                <a:avLst/>
              </a:prstGeom>
              <a:noFill/>
              <a:ln w="38100">
                <a:solidFill>
                  <a:schemeClr val="accent6">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0" name="Group 78"/>
            <p:cNvGrpSpPr/>
            <p:nvPr/>
          </p:nvGrpSpPr>
          <p:grpSpPr>
            <a:xfrm>
              <a:off x="5473386" y="4606650"/>
              <a:ext cx="1112345" cy="1377238"/>
              <a:chOff x="6034691" y="3512207"/>
              <a:chExt cx="1112345" cy="1377238"/>
            </a:xfrm>
          </p:grpSpPr>
          <p:sp>
            <p:nvSpPr>
              <p:cNvPr id="104" name="Freeform 103"/>
              <p:cNvSpPr/>
              <p:nvPr/>
            </p:nvSpPr>
            <p:spPr>
              <a:xfrm>
                <a:off x="6723703" y="3512207"/>
                <a:ext cx="423333" cy="1377237"/>
              </a:xfrm>
              <a:custGeom>
                <a:avLst/>
                <a:gdLst>
                  <a:gd name="connsiteX0" fmla="*/ 213126 w 423333"/>
                  <a:gd name="connsiteY0" fmla="*/ 1270000 h 1270000"/>
                  <a:gd name="connsiteX1" fmla="*/ 29195 w 423333"/>
                  <a:gd name="connsiteY1" fmla="*/ 875862 h 1270000"/>
                  <a:gd name="connsiteX2" fmla="*/ 37953 w 423333"/>
                  <a:gd name="connsiteY2" fmla="*/ 437931 h 1270000"/>
                  <a:gd name="connsiteX3" fmla="*/ 178091 w 423333"/>
                  <a:gd name="connsiteY3" fmla="*/ 183931 h 1270000"/>
                  <a:gd name="connsiteX4" fmla="*/ 423333 w 423333"/>
                  <a:gd name="connsiteY4" fmla="*/ 0 h 127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3333" h="1270000">
                    <a:moveTo>
                      <a:pt x="213126" y="1270000"/>
                    </a:moveTo>
                    <a:cubicBezTo>
                      <a:pt x="135758" y="1142270"/>
                      <a:pt x="58390" y="1014540"/>
                      <a:pt x="29195" y="875862"/>
                    </a:cubicBezTo>
                    <a:cubicBezTo>
                      <a:pt x="0" y="737184"/>
                      <a:pt x="13137" y="553253"/>
                      <a:pt x="37953" y="437931"/>
                    </a:cubicBezTo>
                    <a:cubicBezTo>
                      <a:pt x="62769" y="322609"/>
                      <a:pt x="113861" y="256919"/>
                      <a:pt x="178091" y="183931"/>
                    </a:cubicBezTo>
                    <a:cubicBezTo>
                      <a:pt x="242321" y="110943"/>
                      <a:pt x="383919" y="29195"/>
                      <a:pt x="423333" y="0"/>
                    </a:cubicBezTo>
                  </a:path>
                </a:pathLst>
              </a:custGeom>
              <a:ln w="38100">
                <a:prstDash val="sysDash"/>
                <a:tailEnd type="triangl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5" name="Freeform 104"/>
              <p:cNvSpPr/>
              <p:nvPr/>
            </p:nvSpPr>
            <p:spPr>
              <a:xfrm>
                <a:off x="6034691" y="3976415"/>
                <a:ext cx="718207" cy="913030"/>
              </a:xfrm>
              <a:custGeom>
                <a:avLst/>
                <a:gdLst>
                  <a:gd name="connsiteX0" fmla="*/ 0 w 718207"/>
                  <a:gd name="connsiteY0" fmla="*/ 788276 h 788276"/>
                  <a:gd name="connsiteX1" fmla="*/ 218965 w 718207"/>
                  <a:gd name="connsiteY1" fmla="*/ 411655 h 788276"/>
                  <a:gd name="connsiteX2" fmla="*/ 718207 w 718207"/>
                  <a:gd name="connsiteY2" fmla="*/ 0 h 788276"/>
                </a:gdLst>
                <a:ahLst/>
                <a:cxnLst>
                  <a:cxn ang="0">
                    <a:pos x="connsiteX0" y="connsiteY0"/>
                  </a:cxn>
                  <a:cxn ang="0">
                    <a:pos x="connsiteX1" y="connsiteY1"/>
                  </a:cxn>
                  <a:cxn ang="0">
                    <a:pos x="connsiteX2" y="connsiteY2"/>
                  </a:cxn>
                </a:cxnLst>
                <a:rect l="l" t="t" r="r" b="b"/>
                <a:pathLst>
                  <a:path w="718207" h="788276">
                    <a:moveTo>
                      <a:pt x="0" y="788276"/>
                    </a:moveTo>
                    <a:cubicBezTo>
                      <a:pt x="49632" y="665655"/>
                      <a:pt x="99264" y="543034"/>
                      <a:pt x="218965" y="411655"/>
                    </a:cubicBezTo>
                    <a:cubicBezTo>
                      <a:pt x="338666" y="280276"/>
                      <a:pt x="718207" y="0"/>
                      <a:pt x="718207" y="0"/>
                    </a:cubicBezTo>
                  </a:path>
                </a:pathLst>
              </a:custGeom>
              <a:ln w="38100">
                <a:prstDash val="sysDash"/>
                <a:tailEnd type="none"/>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01" name="Rectangle 100"/>
            <p:cNvSpPr/>
            <p:nvPr/>
          </p:nvSpPr>
          <p:spPr>
            <a:xfrm>
              <a:off x="6360393" y="5546380"/>
              <a:ext cx="968337" cy="369332"/>
            </a:xfrm>
            <a:prstGeom prst="rect">
              <a:avLst/>
            </a:prstGeom>
          </p:spPr>
          <p:txBody>
            <a:bodyPr wrap="square">
              <a:spAutoFit/>
            </a:bodyPr>
            <a:lstStyle/>
            <a:p>
              <a:r>
                <a:rPr lang="en-US" b="1" dirty="0" smtClean="0"/>
                <a:t>“</a:t>
              </a:r>
              <a:r>
                <a:rPr lang="en-US" b="1" dirty="0" err="1" smtClean="0"/>
                <a:t>Cmd</a:t>
              </a:r>
              <a:r>
                <a:rPr lang="en-US" b="1" dirty="0" smtClean="0"/>
                <a:t>”</a:t>
              </a:r>
              <a:endParaRPr lang="en-US" b="1" dirty="0"/>
            </a:p>
          </p:txBody>
        </p:sp>
        <p:sp>
          <p:nvSpPr>
            <p:cNvPr id="102" name="Rectangle 101"/>
            <p:cNvSpPr/>
            <p:nvPr/>
          </p:nvSpPr>
          <p:spPr>
            <a:xfrm>
              <a:off x="4707613" y="5607434"/>
              <a:ext cx="901728" cy="369332"/>
            </a:xfrm>
            <a:prstGeom prst="rect">
              <a:avLst/>
            </a:prstGeom>
          </p:spPr>
          <p:txBody>
            <a:bodyPr wrap="square">
              <a:spAutoFit/>
            </a:bodyPr>
            <a:lstStyle/>
            <a:p>
              <a:r>
                <a:rPr lang="en-US" b="1" dirty="0" smtClean="0"/>
                <a:t>“</a:t>
              </a:r>
              <a:r>
                <a:rPr lang="en-US" b="1" dirty="0" err="1" smtClean="0"/>
                <a:t>Cmd</a:t>
              </a:r>
              <a:r>
                <a:rPr lang="en-US" b="1" dirty="0" smtClean="0"/>
                <a:t>”</a:t>
              </a:r>
              <a:endParaRPr lang="en-US" b="1" dirty="0"/>
            </a:p>
          </p:txBody>
        </p:sp>
        <p:sp>
          <p:nvSpPr>
            <p:cNvPr id="103" name="Rectangle 102"/>
            <p:cNvSpPr/>
            <p:nvPr/>
          </p:nvSpPr>
          <p:spPr>
            <a:xfrm>
              <a:off x="5391670" y="6139577"/>
              <a:ext cx="1180693" cy="369332"/>
            </a:xfrm>
            <a:prstGeom prst="rect">
              <a:avLst/>
            </a:prstGeom>
          </p:spPr>
          <p:txBody>
            <a:bodyPr wrap="square">
              <a:spAutoFit/>
            </a:bodyPr>
            <a:lstStyle/>
            <a:p>
              <a:r>
                <a:rPr lang="en-US" b="1" dirty="0" smtClean="0"/>
                <a:t>P2P Bots</a:t>
              </a:r>
              <a:endParaRPr lang="en-US" b="1" dirty="0"/>
            </a:p>
          </p:txBody>
        </p:sp>
      </p:grpSp>
    </p:spTree>
    <p:extLst>
      <p:ext uri="{BB962C8B-B14F-4D97-AF65-F5344CB8AC3E}">
        <p14:creationId xmlns:p14="http://schemas.microsoft.com/office/powerpoint/2010/main" val="30106974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Temporal Feature Based Detection</a:t>
            </a:r>
            <a:endParaRPr lang="en-US" dirty="0"/>
          </a:p>
        </p:txBody>
      </p:sp>
      <p:sp>
        <p:nvSpPr>
          <p:cNvPr id="3" name="Content Placeholder 2"/>
          <p:cNvSpPr>
            <a:spLocks noGrp="1"/>
          </p:cNvSpPr>
          <p:nvPr>
            <p:ph idx="1"/>
          </p:nvPr>
        </p:nvSpPr>
        <p:spPr>
          <a:xfrm>
            <a:off x="470568" y="1292737"/>
            <a:ext cx="8229600" cy="811990"/>
          </a:xfrm>
        </p:spPr>
        <p:txBody>
          <a:bodyPr>
            <a:normAutofit fontScale="77500" lnSpcReduction="20000"/>
          </a:bodyPr>
          <a:lstStyle/>
          <a:p>
            <a:r>
              <a:rPr lang="en-US" dirty="0" smtClean="0"/>
              <a:t>A P2P client is persistent if </a:t>
            </a:r>
          </a:p>
          <a:p>
            <a:pPr>
              <a:buNone/>
            </a:pPr>
            <a:r>
              <a:rPr lang="en-US" dirty="0" smtClean="0"/>
              <a:t>					 T(P2P) / </a:t>
            </a:r>
            <a:r>
              <a:rPr lang="en-US" dirty="0" err="1" smtClean="0"/>
              <a:t>T(Host</a:t>
            </a:r>
            <a:r>
              <a:rPr lang="en-US" dirty="0" smtClean="0"/>
              <a:t>) &gt; 0.5 </a:t>
            </a:r>
            <a:endParaRPr lang="en-US" dirty="0"/>
          </a:p>
        </p:txBody>
      </p:sp>
      <p:sp>
        <p:nvSpPr>
          <p:cNvPr id="4" name="Slide Number Placeholder 3"/>
          <p:cNvSpPr>
            <a:spLocks noGrp="1"/>
          </p:cNvSpPr>
          <p:nvPr>
            <p:ph type="sldNum" sz="quarter" idx="12"/>
          </p:nvPr>
        </p:nvSpPr>
        <p:spPr/>
        <p:txBody>
          <a:bodyPr/>
          <a:lstStyle/>
          <a:p>
            <a:fld id="{A64B996E-896C-8B42-97AF-DF9D242D39BE}" type="slidenum">
              <a:rPr lang="en-US" smtClean="0"/>
              <a:pPr/>
              <a:t>101</a:t>
            </a:fld>
            <a:endParaRPr lang="en-US"/>
          </a:p>
        </p:txBody>
      </p:sp>
      <p:grpSp>
        <p:nvGrpSpPr>
          <p:cNvPr id="52" name="Group 51"/>
          <p:cNvGrpSpPr/>
          <p:nvPr/>
        </p:nvGrpSpPr>
        <p:grpSpPr>
          <a:xfrm>
            <a:off x="1246641" y="2968703"/>
            <a:ext cx="1053663" cy="1481030"/>
            <a:chOff x="1246641" y="2968703"/>
            <a:chExt cx="1053663" cy="1481030"/>
          </a:xfrm>
        </p:grpSpPr>
        <p:cxnSp>
          <p:nvCxnSpPr>
            <p:cNvPr id="12" name="Straight Arrow Connector 11"/>
            <p:cNvCxnSpPr/>
            <p:nvPr/>
          </p:nvCxnSpPr>
          <p:spPr>
            <a:xfrm rot="5400000">
              <a:off x="1558995" y="3708424"/>
              <a:ext cx="1481030" cy="1588"/>
            </a:xfrm>
            <a:prstGeom prst="straightConnector1">
              <a:avLst/>
            </a:prstGeom>
            <a:ln>
              <a:solidFill>
                <a:srgbClr val="FF0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246641" y="3466897"/>
              <a:ext cx="792630" cy="369332"/>
            </a:xfrm>
            <a:prstGeom prst="rect">
              <a:avLst/>
            </a:prstGeom>
          </p:spPr>
          <p:txBody>
            <a:bodyPr wrap="square">
              <a:spAutoFit/>
            </a:bodyPr>
            <a:lstStyle/>
            <a:p>
              <a:r>
                <a:rPr lang="en-US" dirty="0" smtClean="0">
                  <a:solidFill>
                    <a:srgbClr val="FF0000"/>
                  </a:solidFill>
                </a:rPr>
                <a:t>T(P2P)</a:t>
              </a:r>
              <a:endParaRPr lang="en-US" dirty="0">
                <a:solidFill>
                  <a:srgbClr val="FF0000"/>
                </a:solidFill>
              </a:endParaRPr>
            </a:p>
          </p:txBody>
        </p:sp>
      </p:grpSp>
      <p:sp>
        <p:nvSpPr>
          <p:cNvPr id="11" name="Content Placeholder 71"/>
          <p:cNvSpPr txBox="1">
            <a:spLocks/>
          </p:cNvSpPr>
          <p:nvPr/>
        </p:nvSpPr>
        <p:spPr>
          <a:xfrm>
            <a:off x="2101025" y="5744415"/>
            <a:ext cx="4867014" cy="557344"/>
          </a:xfrm>
          <a:prstGeom prst="rect">
            <a:avLst/>
          </a:prstGeom>
        </p:spPr>
        <p:txBody>
          <a:bodyPr vert="horz" lIns="91440" tIns="45720" rIns="91440" bIns="45720" rtlCol="0">
            <a:noAutofit/>
          </a:bodyPr>
          <a:lstStyle/>
          <a:p>
            <a:pPr marL="342900" marR="0" lvl="0" indent="-342900" algn="ctr" defTabSz="457200" rtl="0" eaLnBrk="1" fontAlgn="auto" latinLnBrk="0" hangingPunct="1">
              <a:lnSpc>
                <a:spcPct val="100000"/>
              </a:lnSpc>
              <a:spcBef>
                <a:spcPct val="20000"/>
              </a:spcBef>
              <a:spcAft>
                <a:spcPts val="0"/>
              </a:spcAft>
              <a:buClrTx/>
              <a:buSzTx/>
              <a:buFont typeface="Arial"/>
              <a:buNone/>
              <a:tabLst/>
              <a:defRPr/>
            </a:pPr>
            <a:r>
              <a:rPr lang="en-US" sz="2000" dirty="0" smtClean="0"/>
              <a:t>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(P2P) </a:t>
            </a:r>
            <a:r>
              <a:rPr kumimoji="0" lang="en-US" sz="2000" b="0" i="0" u="none" strike="noStrike" kern="1200" cap="none" spc="0" normalizeH="0" baseline="0" noProof="0" dirty="0" smtClean="0">
                <a:ln>
                  <a:noFill/>
                </a:ln>
                <a:solidFill>
                  <a:schemeClr val="tx1"/>
                </a:solidFill>
                <a:effectLst/>
                <a:uLnTx/>
                <a:uFillTx/>
                <a:latin typeface="ＭＳ ゴシック"/>
                <a:ea typeface="ＭＳ ゴシック"/>
                <a:cs typeface="ＭＳ ゴシック"/>
              </a:rPr>
              <a:t>≅</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MAX(Dur(FC</a:t>
            </a:r>
            <a:r>
              <a:rPr kumimoji="0" lang="en-US" sz="2000" b="0" i="0" u="none" strike="noStrike" kern="1200" cap="none" spc="0" normalizeH="0" baseline="-25000" noProof="0" dirty="0" smtClean="0">
                <a:ln>
                  <a:noFill/>
                </a:ln>
                <a:solidFill>
                  <a:schemeClr val="tx1"/>
                </a:solidFill>
                <a:effectLst/>
                <a:uLnTx/>
                <a:uFillTx/>
                <a:latin typeface="+mn-lt"/>
                <a:ea typeface="+mn-ea"/>
                <a:cs typeface="+mn-cs"/>
              </a:rPr>
              <a:t>1</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 Dur(FC</a:t>
            </a:r>
            <a:r>
              <a:rPr kumimoji="0" lang="en-US" sz="2000" b="0" i="0" u="none" strike="noStrike" kern="1200" cap="none" spc="0" normalizeH="0" baseline="-25000" noProof="0" dirty="0" smtClean="0">
                <a:ln>
                  <a:noFill/>
                </a:ln>
                <a:solidFill>
                  <a:schemeClr val="tx1"/>
                </a:solidFill>
                <a:effectLst/>
                <a:uLnTx/>
                <a:uFillTx/>
                <a:latin typeface="+mn-lt"/>
                <a:ea typeface="+mn-ea"/>
                <a:cs typeface="+mn-cs"/>
              </a:rPr>
              <a:t>2</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r>
              <a:rPr kumimoji="0" lang="en-US" sz="2000" b="0" i="0" u="none" strike="noStrike" kern="1200" cap="none" spc="0" normalizeH="0" baseline="0" noProof="0" dirty="0" err="1" smtClean="0">
                <a:ln>
                  <a:noFill/>
                </a:ln>
                <a:solidFill>
                  <a:schemeClr val="tx1"/>
                </a:solidFill>
                <a:effectLst/>
                <a:uLnTx/>
                <a:uFillTx/>
                <a:latin typeface="+mn-lt"/>
                <a:ea typeface="+mn-ea"/>
                <a:cs typeface="+mn-cs"/>
              </a:rPr>
              <a:t>Dur(FC</a:t>
            </a:r>
            <a:r>
              <a:rPr kumimoji="0" lang="en-US" sz="2000" b="0" i="0" u="none" strike="noStrike" kern="1200" cap="none" spc="0" normalizeH="0" baseline="-25000" noProof="0" dirty="0" err="1" smtClean="0">
                <a:ln>
                  <a:noFill/>
                </a:ln>
                <a:solidFill>
                  <a:schemeClr val="tx1"/>
                </a:solidFill>
                <a:effectLst/>
                <a:uLnTx/>
                <a:uFillTx/>
                <a:latin typeface="+mn-lt"/>
                <a:ea typeface="+mn-ea"/>
                <a:cs typeface="+mn-cs"/>
              </a:rPr>
              <a:t>n</a:t>
            </a:r>
            <a:r>
              <a:rPr kumimoji="0" lang="en-US" sz="2000" b="0" i="0" u="none" strike="noStrike" kern="1200" cap="none" spc="0" normalizeH="0" baseline="0" noProof="0" dirty="0" smtClean="0">
                <a:ln>
                  <a:noFill/>
                </a:ln>
                <a:solidFill>
                  <a:schemeClr val="tx1"/>
                </a:solidFill>
                <a:effectLst/>
                <a:uLnTx/>
                <a:uFillTx/>
                <a:latin typeface="+mn-lt"/>
                <a:ea typeface="+mn-ea"/>
                <a:cs typeface="+mn-cs"/>
              </a:rPr>
              <a:t>))</a:t>
            </a:r>
          </a:p>
          <a:p>
            <a:pPr marL="742950" marR="0" lvl="1" indent="-285750" algn="l" defTabSz="457200" rtl="0" eaLnBrk="1" fontAlgn="auto" latinLnBrk="0" hangingPunct="1">
              <a:lnSpc>
                <a:spcPct val="100000"/>
              </a:lnSpc>
              <a:spcBef>
                <a:spcPct val="20000"/>
              </a:spcBef>
              <a:spcAft>
                <a:spcPts val="0"/>
              </a:spcAft>
              <a:buClrTx/>
              <a:buSzTx/>
              <a:buFont typeface="Arial"/>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grpSp>
        <p:nvGrpSpPr>
          <p:cNvPr id="51" name="Group 50"/>
          <p:cNvGrpSpPr/>
          <p:nvPr/>
        </p:nvGrpSpPr>
        <p:grpSpPr>
          <a:xfrm>
            <a:off x="1188019" y="2969496"/>
            <a:ext cx="915389" cy="2101225"/>
            <a:chOff x="1188019" y="2969496"/>
            <a:chExt cx="915389" cy="2101225"/>
          </a:xfrm>
        </p:grpSpPr>
        <p:cxnSp>
          <p:nvCxnSpPr>
            <p:cNvPr id="47" name="Straight Arrow Connector 46"/>
            <p:cNvCxnSpPr/>
            <p:nvPr/>
          </p:nvCxnSpPr>
          <p:spPr>
            <a:xfrm rot="5400000">
              <a:off x="1052001" y="4019315"/>
              <a:ext cx="2101225" cy="1588"/>
            </a:xfrm>
            <a:prstGeom prst="straightConnector1">
              <a:avLst/>
            </a:prstGeom>
            <a:ln>
              <a:solidFill>
                <a:srgbClr val="000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1188019" y="3856870"/>
              <a:ext cx="859533" cy="369332"/>
            </a:xfrm>
            <a:prstGeom prst="rect">
              <a:avLst/>
            </a:prstGeom>
          </p:spPr>
          <p:txBody>
            <a:bodyPr wrap="square">
              <a:spAutoFit/>
            </a:bodyPr>
            <a:lstStyle/>
            <a:p>
              <a:r>
                <a:rPr lang="en-US" dirty="0" err="1" smtClean="0"/>
                <a:t>T(Host</a:t>
              </a:r>
              <a:r>
                <a:rPr lang="en-US" dirty="0" smtClean="0"/>
                <a:t>)</a:t>
              </a:r>
              <a:endParaRPr lang="en-US" dirty="0"/>
            </a:p>
          </p:txBody>
        </p:sp>
      </p:grpSp>
      <p:grpSp>
        <p:nvGrpSpPr>
          <p:cNvPr id="94" name="Group 93"/>
          <p:cNvGrpSpPr/>
          <p:nvPr/>
        </p:nvGrpSpPr>
        <p:grpSpPr>
          <a:xfrm>
            <a:off x="2047553" y="2721750"/>
            <a:ext cx="1883416" cy="2853459"/>
            <a:chOff x="2047553" y="2721750"/>
            <a:chExt cx="1883416" cy="2853459"/>
          </a:xfrm>
        </p:grpSpPr>
        <p:grpSp>
          <p:nvGrpSpPr>
            <p:cNvPr id="6" name="Group 52"/>
            <p:cNvGrpSpPr/>
            <p:nvPr/>
          </p:nvGrpSpPr>
          <p:grpSpPr>
            <a:xfrm>
              <a:off x="2047553" y="2721750"/>
              <a:ext cx="1883416" cy="2853459"/>
              <a:chOff x="611823" y="2982901"/>
              <a:chExt cx="1883416" cy="2853459"/>
            </a:xfrm>
          </p:grpSpPr>
          <p:sp>
            <p:nvSpPr>
              <p:cNvPr id="28" name="Oval 4"/>
              <p:cNvSpPr/>
              <p:nvPr/>
            </p:nvSpPr>
            <p:spPr>
              <a:xfrm>
                <a:off x="932055" y="2982901"/>
                <a:ext cx="166428" cy="116281"/>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29" name="Straight Arrow Connector 5"/>
              <p:cNvCxnSpPr/>
              <p:nvPr/>
            </p:nvCxnSpPr>
            <p:spPr>
              <a:xfrm rot="5400000">
                <a:off x="-254626" y="4362989"/>
                <a:ext cx="2504763" cy="1221"/>
              </a:xfrm>
              <a:prstGeom prst="straightConnector1">
                <a:avLst/>
              </a:prstGeom>
              <a:ln w="19050" cap="flat" cmpd="sng" algn="ctr">
                <a:solidFill>
                  <a:schemeClr val="accent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Straight Arrow Connector 6"/>
              <p:cNvCxnSpPr/>
              <p:nvPr/>
            </p:nvCxnSpPr>
            <p:spPr>
              <a:xfrm>
                <a:off x="1080481" y="3265855"/>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1" name="Straight Arrow Connector 7"/>
              <p:cNvCxnSpPr/>
              <p:nvPr/>
            </p:nvCxnSpPr>
            <p:spPr>
              <a:xfrm>
                <a:off x="1096703" y="4038181"/>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2" name="Straight Arrow Connector 8"/>
              <p:cNvCxnSpPr/>
              <p:nvPr/>
            </p:nvCxnSpPr>
            <p:spPr>
              <a:xfrm>
                <a:off x="1091133" y="3416110"/>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3" name="Straight Arrow Connector 9"/>
              <p:cNvCxnSpPr/>
              <p:nvPr/>
            </p:nvCxnSpPr>
            <p:spPr>
              <a:xfrm>
                <a:off x="1091133" y="3754701"/>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4" name="Straight Arrow Connector 10"/>
              <p:cNvCxnSpPr/>
              <p:nvPr/>
            </p:nvCxnSpPr>
            <p:spPr>
              <a:xfrm>
                <a:off x="1098483" y="4177855"/>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5" name="Straight Arrow Connector 11"/>
              <p:cNvCxnSpPr/>
              <p:nvPr/>
            </p:nvCxnSpPr>
            <p:spPr>
              <a:xfrm>
                <a:off x="1098483" y="4694673"/>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6" name="Straight Arrow Connector 12"/>
              <p:cNvCxnSpPr/>
              <p:nvPr/>
            </p:nvCxnSpPr>
            <p:spPr>
              <a:xfrm>
                <a:off x="1098483" y="4591872"/>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7" name="Straight Arrow Connector 13"/>
              <p:cNvCxnSpPr/>
              <p:nvPr/>
            </p:nvCxnSpPr>
            <p:spPr>
              <a:xfrm rot="10800000">
                <a:off x="1369860" y="4399058"/>
                <a:ext cx="259235" cy="1455"/>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8" name="Straight Arrow Connector 14"/>
              <p:cNvCxnSpPr/>
              <p:nvPr/>
            </p:nvCxnSpPr>
            <p:spPr>
              <a:xfrm rot="10800000" flipV="1">
                <a:off x="1367383" y="4264561"/>
                <a:ext cx="258624"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9" name="Straight Arrow Connector 15"/>
              <p:cNvCxnSpPr/>
              <p:nvPr/>
            </p:nvCxnSpPr>
            <p:spPr>
              <a:xfrm>
                <a:off x="1098483" y="3924702"/>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0" name="Straight Arrow Connector 16"/>
              <p:cNvCxnSpPr/>
              <p:nvPr/>
            </p:nvCxnSpPr>
            <p:spPr>
              <a:xfrm>
                <a:off x="1119533" y="4511146"/>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1" name="Straight Arrow Connector 17"/>
              <p:cNvCxnSpPr/>
              <p:nvPr/>
            </p:nvCxnSpPr>
            <p:spPr>
              <a:xfrm>
                <a:off x="1097728" y="3590606"/>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2" name="Straight Arrow Connector 18"/>
              <p:cNvCxnSpPr/>
              <p:nvPr/>
            </p:nvCxnSpPr>
            <p:spPr>
              <a:xfrm>
                <a:off x="1097728" y="5329624"/>
                <a:ext cx="1397511" cy="1455"/>
              </a:xfrm>
              <a:prstGeom prst="straightConnector1">
                <a:avLst/>
              </a:prstGeom>
              <a:ln w="25400" cap="flat" cmpd="sng" algn="ctr">
                <a:solidFill>
                  <a:schemeClr val="tx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3" name="Straight Arrow Connector 19"/>
              <p:cNvCxnSpPr/>
              <p:nvPr/>
            </p:nvCxnSpPr>
            <p:spPr>
              <a:xfrm>
                <a:off x="1119533" y="3849840"/>
                <a:ext cx="1208632" cy="1455"/>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44" name="Straight Arrow Connector 20"/>
              <p:cNvCxnSpPr/>
              <p:nvPr/>
            </p:nvCxnSpPr>
            <p:spPr>
              <a:xfrm>
                <a:off x="1107276" y="5157747"/>
                <a:ext cx="1208632" cy="1455"/>
              </a:xfrm>
              <a:prstGeom prst="straightConnector1">
                <a:avLst/>
              </a:prstGeom>
              <a:ln w="25400" cap="flat" cmpd="sng" algn="ctr">
                <a:solidFill>
                  <a:srgbClr val="FF66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5" name="Content Placeholder 2"/>
              <p:cNvSpPr txBox="1">
                <a:spLocks/>
              </p:cNvSpPr>
              <p:nvPr/>
            </p:nvSpPr>
            <p:spPr>
              <a:xfrm>
                <a:off x="611823" y="5521440"/>
                <a:ext cx="797449" cy="314920"/>
              </a:xfrm>
              <a:prstGeom prst="rect">
                <a:avLst/>
              </a:prstGeom>
            </p:spPr>
            <p:txBody>
              <a:bodyPr vert="horz" lIns="91440" tIns="45720" rIns="91440" bIns="45720" rtlCol="0">
                <a:normAutofit fontScale="92500" lnSpcReduction="20000"/>
              </a:bodyPr>
              <a:lstStyle/>
              <a:p>
                <a:pPr marL="342900" marR="0" lvl="0" indent="-342900" algn="ctr" defTabSz="457200" rtl="0" eaLnBrk="1" fontAlgn="auto" latinLnBrk="0" hangingPunct="1">
                  <a:lnSpc>
                    <a:spcPct val="100000"/>
                  </a:lnSpc>
                  <a:spcBef>
                    <a:spcPct val="20000"/>
                  </a:spcBef>
                  <a:spcAft>
                    <a:spcPts val="0"/>
                  </a:spcAft>
                  <a:buClrTx/>
                  <a:buSzTx/>
                  <a:tabLst/>
                  <a:defRPr/>
                </a:pPr>
                <a:r>
                  <a:rPr kumimoji="0" lang="en-US" i="0" u="none" strike="noStrike" kern="1200" cap="none" spc="0" normalizeH="0" baseline="0" noProof="0" dirty="0" smtClean="0">
                    <a:ln>
                      <a:noFill/>
                    </a:ln>
                    <a:solidFill>
                      <a:srgbClr val="000000"/>
                    </a:solidFill>
                    <a:effectLst/>
                    <a:uLnTx/>
                    <a:uFillTx/>
                    <a:latin typeface="+mn-lt"/>
                    <a:ea typeface="+mn-ea"/>
                    <a:cs typeface="+mn-cs"/>
                  </a:rPr>
                  <a:t>time</a:t>
                </a:r>
              </a:p>
            </p:txBody>
          </p:sp>
        </p:grpSp>
        <p:cxnSp>
          <p:nvCxnSpPr>
            <p:cNvPr id="50" name="Straight Arrow Connector 17"/>
            <p:cNvCxnSpPr/>
            <p:nvPr/>
          </p:nvCxnSpPr>
          <p:spPr>
            <a:xfrm>
              <a:off x="2549308" y="3073821"/>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grpSp>
        <p:nvGrpSpPr>
          <p:cNvPr id="126" name="Group 125"/>
          <p:cNvGrpSpPr/>
          <p:nvPr/>
        </p:nvGrpSpPr>
        <p:grpSpPr>
          <a:xfrm>
            <a:off x="4166588" y="2520665"/>
            <a:ext cx="4794852" cy="2739624"/>
            <a:chOff x="4166588" y="2520665"/>
            <a:chExt cx="4794852" cy="2739624"/>
          </a:xfrm>
        </p:grpSpPr>
        <p:sp>
          <p:nvSpPr>
            <p:cNvPr id="7" name="TextBox 6"/>
            <p:cNvSpPr txBox="1"/>
            <p:nvPr/>
          </p:nvSpPr>
          <p:spPr>
            <a:xfrm>
              <a:off x="5082907" y="4860179"/>
              <a:ext cx="2214969" cy="400110"/>
            </a:xfrm>
            <a:prstGeom prst="rect">
              <a:avLst/>
            </a:prstGeom>
            <a:noFill/>
          </p:spPr>
          <p:txBody>
            <a:bodyPr wrap="none" rtlCol="0">
              <a:spAutoFit/>
            </a:bodyPr>
            <a:lstStyle/>
            <a:p>
              <a:r>
                <a:rPr lang="en-US" sz="2000" dirty="0" smtClean="0"/>
                <a:t>Fingerprint Clusters</a:t>
              </a:r>
              <a:endParaRPr lang="en-US" sz="2000" dirty="0"/>
            </a:p>
          </p:txBody>
        </p:sp>
        <p:grpSp>
          <p:nvGrpSpPr>
            <p:cNvPr id="9" name="Group 53"/>
            <p:cNvGrpSpPr/>
            <p:nvPr/>
          </p:nvGrpSpPr>
          <p:grpSpPr>
            <a:xfrm>
              <a:off x="7986321" y="2929030"/>
              <a:ext cx="975119" cy="1414978"/>
              <a:chOff x="6369052" y="2762966"/>
              <a:chExt cx="975119" cy="545960"/>
            </a:xfrm>
          </p:grpSpPr>
          <p:cxnSp>
            <p:nvCxnSpPr>
              <p:cNvPr id="15" name="Straight Arrow Connector 14"/>
              <p:cNvCxnSpPr/>
              <p:nvPr/>
            </p:nvCxnSpPr>
            <p:spPr>
              <a:xfrm rot="5400000">
                <a:off x="6096866" y="3035152"/>
                <a:ext cx="545960" cy="1588"/>
              </a:xfrm>
              <a:prstGeom prst="straightConnector1">
                <a:avLst/>
              </a:prstGeom>
              <a:ln>
                <a:solidFill>
                  <a:srgbClr val="000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370640" y="2875549"/>
                <a:ext cx="973531" cy="142504"/>
              </a:xfrm>
              <a:prstGeom prst="rect">
                <a:avLst/>
              </a:prstGeom>
            </p:spPr>
            <p:txBody>
              <a:bodyPr wrap="square">
                <a:spAutoFit/>
              </a:bodyPr>
              <a:lstStyle/>
              <a:p>
                <a:r>
                  <a:rPr lang="en-US" dirty="0" smtClean="0"/>
                  <a:t>Dur(FC</a:t>
                </a:r>
                <a:r>
                  <a:rPr lang="en-US" baseline="-25000" dirty="0" smtClean="0"/>
                  <a:t>2</a:t>
                </a:r>
                <a:r>
                  <a:rPr lang="en-US" dirty="0" smtClean="0"/>
                  <a:t>)</a:t>
                </a:r>
                <a:endParaRPr lang="en-US" dirty="0"/>
              </a:p>
            </p:txBody>
          </p:sp>
        </p:grpSp>
        <p:grpSp>
          <p:nvGrpSpPr>
            <p:cNvPr id="74" name="Group 73"/>
            <p:cNvGrpSpPr/>
            <p:nvPr/>
          </p:nvGrpSpPr>
          <p:grpSpPr>
            <a:xfrm>
              <a:off x="4258720" y="2986144"/>
              <a:ext cx="863239" cy="1246746"/>
              <a:chOff x="5295669" y="2986144"/>
              <a:chExt cx="863239" cy="1246746"/>
            </a:xfrm>
          </p:grpSpPr>
          <p:cxnSp>
            <p:nvCxnSpPr>
              <p:cNvPr id="56" name="Straight Arrow Connector 6"/>
              <p:cNvCxnSpPr/>
              <p:nvPr/>
            </p:nvCxnSpPr>
            <p:spPr>
              <a:xfrm>
                <a:off x="5295669" y="2986144"/>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Straight Arrow Connector 8"/>
              <p:cNvCxnSpPr/>
              <p:nvPr/>
            </p:nvCxnSpPr>
            <p:spPr>
              <a:xfrm>
                <a:off x="5306321" y="3136399"/>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9" name="Straight Arrow Connector 9"/>
              <p:cNvCxnSpPr/>
              <p:nvPr/>
            </p:nvCxnSpPr>
            <p:spPr>
              <a:xfrm>
                <a:off x="5306321" y="3474990"/>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3" name="Straight Arrow Connector 13"/>
              <p:cNvCxnSpPr/>
              <p:nvPr/>
            </p:nvCxnSpPr>
            <p:spPr>
              <a:xfrm rot="10800000">
                <a:off x="5585048" y="4119347"/>
                <a:ext cx="259235" cy="1455"/>
              </a:xfrm>
              <a:prstGeom prst="straightConnector1">
                <a:avLst/>
              </a:prstGeom>
              <a:ln w="25400" cap="flat" cmpd="sng" algn="ctr">
                <a:solidFill>
                  <a:srgbClr val="0000FF"/>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5" name="Straight Arrow Connector 15"/>
              <p:cNvCxnSpPr/>
              <p:nvPr/>
            </p:nvCxnSpPr>
            <p:spPr>
              <a:xfrm>
                <a:off x="5313671" y="3644991"/>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6" name="Straight Arrow Connector 16"/>
              <p:cNvCxnSpPr/>
              <p:nvPr/>
            </p:nvCxnSpPr>
            <p:spPr>
              <a:xfrm>
                <a:off x="5334721" y="4231435"/>
                <a:ext cx="824187" cy="1455"/>
              </a:xfrm>
              <a:prstGeom prst="straightConnector1">
                <a:avLst/>
              </a:prstGeom>
              <a:ln w="25400" cap="flat" cmpd="sng" algn="ctr">
                <a:solidFill>
                  <a:srgbClr val="0000FF"/>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73" name="Oval 72"/>
            <p:cNvSpPr/>
            <p:nvPr/>
          </p:nvSpPr>
          <p:spPr>
            <a:xfrm>
              <a:off x="4166588" y="2590849"/>
              <a:ext cx="1063429" cy="2009368"/>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8" name="Group 117"/>
            <p:cNvGrpSpPr/>
            <p:nvPr/>
          </p:nvGrpSpPr>
          <p:grpSpPr>
            <a:xfrm>
              <a:off x="6504383" y="2520665"/>
              <a:ext cx="1270945" cy="2111351"/>
              <a:chOff x="6553200" y="2488865"/>
              <a:chExt cx="1270945" cy="2111351"/>
            </a:xfrm>
          </p:grpSpPr>
          <p:grpSp>
            <p:nvGrpSpPr>
              <p:cNvPr id="96" name="Group 95"/>
              <p:cNvGrpSpPr/>
              <p:nvPr/>
            </p:nvGrpSpPr>
            <p:grpSpPr>
              <a:xfrm>
                <a:off x="6672366" y="2951052"/>
                <a:ext cx="1076225" cy="1361156"/>
                <a:chOff x="2532433" y="3073821"/>
                <a:chExt cx="1076225" cy="1361156"/>
              </a:xfrm>
            </p:grpSpPr>
            <p:grpSp>
              <p:nvGrpSpPr>
                <p:cNvPr id="97" name="Group 52"/>
                <p:cNvGrpSpPr/>
                <p:nvPr/>
              </p:nvGrpSpPr>
              <p:grpSpPr>
                <a:xfrm>
                  <a:off x="2532433" y="3329455"/>
                  <a:ext cx="1061130" cy="1105522"/>
                  <a:chOff x="1096703" y="3590606"/>
                  <a:chExt cx="1061130" cy="1105522"/>
                </a:xfrm>
              </p:grpSpPr>
              <p:cxnSp>
                <p:nvCxnSpPr>
                  <p:cNvPr id="102" name="Straight Arrow Connector 7"/>
                  <p:cNvCxnSpPr/>
                  <p:nvPr/>
                </p:nvCxnSpPr>
                <p:spPr>
                  <a:xfrm>
                    <a:off x="1096703" y="4038181"/>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5" name="Straight Arrow Connector 10"/>
                  <p:cNvCxnSpPr/>
                  <p:nvPr/>
                </p:nvCxnSpPr>
                <p:spPr>
                  <a:xfrm>
                    <a:off x="1098483" y="4177855"/>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6" name="Straight Arrow Connector 11"/>
                  <p:cNvCxnSpPr/>
                  <p:nvPr/>
                </p:nvCxnSpPr>
                <p:spPr>
                  <a:xfrm>
                    <a:off x="1098483" y="4694673"/>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7" name="Straight Arrow Connector 12"/>
                  <p:cNvCxnSpPr/>
                  <p:nvPr/>
                </p:nvCxnSpPr>
                <p:spPr>
                  <a:xfrm>
                    <a:off x="1098483" y="4591872"/>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9" name="Straight Arrow Connector 14"/>
                  <p:cNvCxnSpPr/>
                  <p:nvPr/>
                </p:nvCxnSpPr>
                <p:spPr>
                  <a:xfrm rot="10800000" flipV="1">
                    <a:off x="1367383" y="4264561"/>
                    <a:ext cx="258624" cy="1"/>
                  </a:xfrm>
                  <a:prstGeom prst="straightConnector1">
                    <a:avLst/>
                  </a:prstGeom>
                  <a:ln w="25400" cap="flat" cmpd="sng" algn="ctr">
                    <a:solidFill>
                      <a:srgbClr val="008000"/>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12" name="Straight Arrow Connector 17"/>
                  <p:cNvCxnSpPr/>
                  <p:nvPr/>
                </p:nvCxnSpPr>
                <p:spPr>
                  <a:xfrm>
                    <a:off x="1097728" y="3590606"/>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cxnSp>
              <p:nvCxnSpPr>
                <p:cNvPr id="98" name="Straight Arrow Connector 17"/>
                <p:cNvCxnSpPr/>
                <p:nvPr/>
              </p:nvCxnSpPr>
              <p:spPr>
                <a:xfrm>
                  <a:off x="2549308" y="3073821"/>
                  <a:ext cx="1059350" cy="1455"/>
                </a:xfrm>
                <a:prstGeom prst="straightConnector1">
                  <a:avLst/>
                </a:prstGeom>
                <a:ln w="25400" cap="flat" cmpd="sng" algn="ctr">
                  <a:solidFill>
                    <a:srgbClr val="008000"/>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117" name="Oval 116"/>
              <p:cNvSpPr/>
              <p:nvPr/>
            </p:nvSpPr>
            <p:spPr>
              <a:xfrm>
                <a:off x="6553200" y="2488865"/>
                <a:ext cx="1270945" cy="2111351"/>
              </a:xfrm>
              <a:prstGeom prst="ellipse">
                <a:avLst/>
              </a:prstGeom>
              <a:noFill/>
              <a:ln w="127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9" name="Group 53"/>
            <p:cNvGrpSpPr/>
            <p:nvPr/>
          </p:nvGrpSpPr>
          <p:grpSpPr>
            <a:xfrm>
              <a:off x="5339173" y="2987599"/>
              <a:ext cx="973531" cy="1263850"/>
              <a:chOff x="6314292" y="2055774"/>
              <a:chExt cx="973531" cy="448529"/>
            </a:xfrm>
          </p:grpSpPr>
          <p:cxnSp>
            <p:nvCxnSpPr>
              <p:cNvPr id="120" name="Straight Arrow Connector 119"/>
              <p:cNvCxnSpPr/>
              <p:nvPr/>
            </p:nvCxnSpPr>
            <p:spPr>
              <a:xfrm rot="16200000" flipH="1">
                <a:off x="6145582" y="2280038"/>
                <a:ext cx="448529" cy="2"/>
              </a:xfrm>
              <a:prstGeom prst="straightConnector1">
                <a:avLst/>
              </a:prstGeom>
              <a:ln>
                <a:solidFill>
                  <a:srgbClr val="000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6314292" y="2076941"/>
                <a:ext cx="973531" cy="131073"/>
              </a:xfrm>
              <a:prstGeom prst="rect">
                <a:avLst/>
              </a:prstGeom>
            </p:spPr>
            <p:txBody>
              <a:bodyPr wrap="square">
                <a:spAutoFit/>
              </a:bodyPr>
              <a:lstStyle/>
              <a:p>
                <a:r>
                  <a:rPr lang="en-US" dirty="0" smtClean="0"/>
                  <a:t>Dur(FC</a:t>
                </a:r>
                <a:r>
                  <a:rPr lang="en-US" baseline="-25000" dirty="0" smtClean="0"/>
                  <a:t>1</a:t>
                </a:r>
                <a:r>
                  <a:rPr lang="en-US" dirty="0" smtClean="0"/>
                  <a:t>)</a:t>
                </a:r>
                <a:endParaRPr lang="en-US" dirty="0"/>
              </a:p>
            </p:txBody>
          </p:sp>
        </p:grpSp>
      </p:grpSp>
      <p:sp>
        <p:nvSpPr>
          <p:cNvPr id="60" name="Rectangle 59"/>
          <p:cNvSpPr/>
          <p:nvPr/>
        </p:nvSpPr>
        <p:spPr>
          <a:xfrm>
            <a:off x="1504478" y="2151333"/>
            <a:ext cx="6087239" cy="369332"/>
          </a:xfrm>
          <a:prstGeom prst="rect">
            <a:avLst/>
          </a:prstGeom>
        </p:spPr>
        <p:txBody>
          <a:bodyPr wrap="square">
            <a:spAutoFit/>
          </a:bodyPr>
          <a:lstStyle/>
          <a:p>
            <a:r>
              <a:rPr lang="en-US" b="1" dirty="0" smtClean="0">
                <a:solidFill>
                  <a:srgbClr val="FF0000"/>
                </a:solidFill>
              </a:rPr>
              <a:t>Characteristic: Control flows are automatically generated</a:t>
            </a:r>
            <a:endParaRPr lang="en-US" dirty="0">
              <a:solidFill>
                <a:srgbClr val="FF0000"/>
              </a:solidFill>
            </a:endParaRPr>
          </a:p>
        </p:txBody>
      </p:sp>
    </p:spTree>
    <p:extLst>
      <p:ext uri="{BB962C8B-B14F-4D97-AF65-F5344CB8AC3E}">
        <p14:creationId xmlns:p14="http://schemas.microsoft.com/office/powerpoint/2010/main" val="30179837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60"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Spatial Feature Based Detection</a:t>
            </a:r>
            <a:endParaRPr lang="en-US" dirty="0"/>
          </a:p>
        </p:txBody>
      </p:sp>
      <p:sp>
        <p:nvSpPr>
          <p:cNvPr id="4" name="Slide Number Placeholder 3"/>
          <p:cNvSpPr>
            <a:spLocks noGrp="1"/>
          </p:cNvSpPr>
          <p:nvPr>
            <p:ph type="sldNum" sz="quarter" idx="12"/>
          </p:nvPr>
        </p:nvSpPr>
        <p:spPr/>
        <p:txBody>
          <a:bodyPr/>
          <a:lstStyle/>
          <a:p>
            <a:fld id="{A64B996E-896C-8B42-97AF-DF9D242D39BE}" type="slidenum">
              <a:rPr lang="en-US" smtClean="0"/>
              <a:pPr/>
              <a:t>102</a:t>
            </a:fld>
            <a:endParaRPr lang="en-US"/>
          </a:p>
        </p:txBody>
      </p:sp>
      <p:graphicFrame>
        <p:nvGraphicFramePr>
          <p:cNvPr id="6" name="Table 5"/>
          <p:cNvGraphicFramePr>
            <a:graphicFrameLocks noGrp="1"/>
          </p:cNvGraphicFramePr>
          <p:nvPr/>
        </p:nvGraphicFramePr>
        <p:xfrm>
          <a:off x="1300982" y="3085914"/>
          <a:ext cx="6393777" cy="1828800"/>
        </p:xfrm>
        <a:graphic>
          <a:graphicData uri="http://schemas.openxmlformats.org/drawingml/2006/table">
            <a:tbl>
              <a:tblPr firstRow="1" bandRow="1">
                <a:tableStyleId>{5C22544A-7EE6-4342-B048-85BDC9FD1C3A}</a:tableStyleId>
              </a:tblPr>
              <a:tblGrid>
                <a:gridCol w="1771919"/>
                <a:gridCol w="2490599"/>
                <a:gridCol w="2131259"/>
              </a:tblGrid>
              <a:tr h="325389">
                <a:tc>
                  <a:txBody>
                    <a:bodyPr/>
                    <a:lstStyle/>
                    <a:p>
                      <a:pPr algn="ctr"/>
                      <a:r>
                        <a:rPr lang="en-US" dirty="0" err="1" smtClean="0"/>
                        <a:t>H</a:t>
                      </a:r>
                      <a:r>
                        <a:rPr lang="en-US" baseline="-25000" dirty="0" err="1" smtClean="0"/>
                        <a:t>m</a:t>
                      </a:r>
                      <a:endParaRPr lang="en-US" baseline="-25000" dirty="0"/>
                    </a:p>
                  </a:txBody>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dirty="0" err="1" smtClean="0"/>
                        <a:t>H</a:t>
                      </a:r>
                      <a:r>
                        <a:rPr lang="en-US" baseline="-25000" dirty="0" err="1" smtClean="0"/>
                        <a:t>k</a:t>
                      </a:r>
                      <a:endParaRPr lang="en-US" baseline="-25000" dirty="0" smtClean="0"/>
                    </a:p>
                  </a:txBody>
                  <a:tcPr/>
                </a:tc>
                <a:tc>
                  <a:txBody>
                    <a:bodyPr/>
                    <a:lstStyle/>
                    <a:p>
                      <a:pPr algn="ctr"/>
                      <a:r>
                        <a:rPr kumimoji="0" lang="en-US" sz="1800" b="1" i="0" u="none" strike="noStrike" kern="1200" cap="none" spc="0" normalizeH="0" noProof="0" dirty="0" err="1" smtClean="0">
                          <a:ln>
                            <a:noFill/>
                          </a:ln>
                          <a:solidFill>
                            <a:schemeClr val="bg1"/>
                          </a:solidFill>
                          <a:effectLst/>
                          <a:uLnTx/>
                          <a:uFillTx/>
                          <a:latin typeface="+mn-lt"/>
                          <a:ea typeface="+mn-ea"/>
                          <a:cs typeface="+mn-cs"/>
                        </a:rPr>
                        <a:t>Dist</a:t>
                      </a:r>
                      <a:r>
                        <a:rPr kumimoji="0" lang="en-US" sz="1800" b="1" i="0" u="none" strike="noStrike" kern="1200" cap="none" spc="0" normalizeH="0" baseline="-25000" noProof="0" dirty="0" err="1" smtClean="0">
                          <a:ln>
                            <a:noFill/>
                          </a:ln>
                          <a:solidFill>
                            <a:schemeClr val="bg1"/>
                          </a:solidFill>
                          <a:effectLst/>
                          <a:uLnTx/>
                          <a:uFillTx/>
                          <a:latin typeface="+mn-lt"/>
                          <a:ea typeface="+mn-ea"/>
                          <a:cs typeface="+mn-cs"/>
                        </a:rPr>
                        <a:t>H</a:t>
                      </a:r>
                      <a:r>
                        <a:rPr kumimoji="0" lang="en-US" sz="1800" b="1" i="0" u="none" strike="noStrike" kern="1200" cap="none" spc="0" normalizeH="0" noProof="0" dirty="0" err="1" smtClean="0">
                          <a:ln>
                            <a:noFill/>
                          </a:ln>
                          <a:solidFill>
                            <a:schemeClr val="bg1"/>
                          </a:solidFill>
                          <a:effectLst/>
                          <a:uLnTx/>
                          <a:uFillTx/>
                          <a:latin typeface="+mn-lt"/>
                          <a:ea typeface="+mn-ea"/>
                          <a:cs typeface="+mn-cs"/>
                        </a:rPr>
                        <a:t>(H</a:t>
                      </a:r>
                      <a:r>
                        <a:rPr kumimoji="0" lang="en-US" sz="1800" b="1" i="0" u="none" strike="noStrike" kern="1200" cap="none" spc="0" normalizeH="0" baseline="-25000" noProof="0" dirty="0" err="1" smtClean="0">
                          <a:ln>
                            <a:noFill/>
                          </a:ln>
                          <a:solidFill>
                            <a:schemeClr val="bg1"/>
                          </a:solidFill>
                          <a:effectLst/>
                          <a:uLnTx/>
                          <a:uFillTx/>
                          <a:latin typeface="+mn-lt"/>
                          <a:ea typeface="+mn-ea"/>
                          <a:cs typeface="+mn-cs"/>
                        </a:rPr>
                        <a:t>m</a:t>
                      </a:r>
                      <a:r>
                        <a:rPr kumimoji="0" lang="en-US" sz="1800" b="1" i="0" u="none" strike="noStrike" kern="1200" cap="none" spc="0" normalizeH="0" baseline="-25000" noProof="0" dirty="0" smtClean="0">
                          <a:ln>
                            <a:noFill/>
                          </a:ln>
                          <a:solidFill>
                            <a:schemeClr val="bg1"/>
                          </a:solidFill>
                          <a:effectLst/>
                          <a:uLnTx/>
                          <a:uFillTx/>
                          <a:latin typeface="+mn-lt"/>
                          <a:ea typeface="+mn-ea"/>
                          <a:cs typeface="+mn-cs"/>
                        </a:rPr>
                        <a:t> </a:t>
                      </a:r>
                      <a:r>
                        <a:rPr kumimoji="0" lang="en-US" sz="1800" b="1" i="0" u="none" strike="noStrike" kern="1200" cap="none" spc="0" normalizeH="0" noProof="0" dirty="0" smtClean="0">
                          <a:ln>
                            <a:noFill/>
                          </a:ln>
                          <a:solidFill>
                            <a:schemeClr val="bg1"/>
                          </a:solidFill>
                          <a:effectLst/>
                          <a:uLnTx/>
                          <a:uFillTx/>
                          <a:latin typeface="+mn-lt"/>
                          <a:ea typeface="+mn-ea"/>
                          <a:cs typeface="+mn-cs"/>
                        </a:rPr>
                        <a:t>, </a:t>
                      </a:r>
                      <a:r>
                        <a:rPr kumimoji="0" lang="en-US" sz="1800" b="1" i="0" u="none" strike="noStrike" kern="1200" cap="none" spc="0" normalizeH="0" noProof="0" dirty="0" err="1" smtClean="0">
                          <a:ln>
                            <a:noFill/>
                          </a:ln>
                          <a:solidFill>
                            <a:schemeClr val="bg1"/>
                          </a:solidFill>
                          <a:effectLst/>
                          <a:uLnTx/>
                          <a:uFillTx/>
                          <a:latin typeface="+mn-lt"/>
                          <a:ea typeface="+mn-ea"/>
                          <a:cs typeface="+mn-cs"/>
                        </a:rPr>
                        <a:t>H</a:t>
                      </a:r>
                      <a:r>
                        <a:rPr kumimoji="0" lang="en-US" sz="1800" b="1" i="0" u="none" strike="noStrike" kern="1200" cap="none" spc="0" normalizeH="0" baseline="-25000" noProof="0" dirty="0" err="1" smtClean="0">
                          <a:ln>
                            <a:noFill/>
                          </a:ln>
                          <a:solidFill>
                            <a:schemeClr val="bg1"/>
                          </a:solidFill>
                          <a:effectLst/>
                          <a:uLnTx/>
                          <a:uFillTx/>
                          <a:latin typeface="+mn-lt"/>
                          <a:ea typeface="+mn-ea"/>
                          <a:cs typeface="+mn-cs"/>
                        </a:rPr>
                        <a:t>k</a:t>
                      </a:r>
                      <a:r>
                        <a:rPr kumimoji="0" lang="en-US" sz="1800" b="1" i="0" u="none" strike="noStrike" kern="1200" cap="none" spc="0" normalizeH="0" noProof="0" dirty="0" smtClean="0">
                          <a:ln>
                            <a:noFill/>
                          </a:ln>
                          <a:solidFill>
                            <a:schemeClr val="bg1"/>
                          </a:solidFill>
                          <a:effectLst/>
                          <a:uLnTx/>
                          <a:uFillTx/>
                          <a:latin typeface="+mn-lt"/>
                          <a:ea typeface="+mn-ea"/>
                          <a:cs typeface="+mn-cs"/>
                        </a:rPr>
                        <a:t>)</a:t>
                      </a:r>
                      <a:endParaRPr lang="en-US" b="1" i="0" dirty="0">
                        <a:solidFill>
                          <a:schemeClr val="bg1"/>
                        </a:solidFill>
                      </a:endParaRPr>
                    </a:p>
                  </a:txBody>
                  <a:tcPr/>
                </a:tc>
              </a:tr>
              <a:tr h="325389">
                <a:tc>
                  <a:txBody>
                    <a:bodyPr/>
                    <a:lstStyle/>
                    <a:p>
                      <a:pPr algn="ctr"/>
                      <a:r>
                        <a:rPr lang="en-US" b="1" i="1" dirty="0" smtClean="0"/>
                        <a:t>Bot1</a:t>
                      </a:r>
                      <a:endParaRPr lang="en-US" b="1" i="1" dirty="0"/>
                    </a:p>
                  </a:txBody>
                  <a:tcPr anchor="ctr"/>
                </a:tc>
                <a:tc>
                  <a:txBody>
                    <a:bodyPr/>
                    <a:lstStyle/>
                    <a:p>
                      <a:pPr algn="ctr"/>
                      <a:r>
                        <a:rPr lang="en-US" b="1" i="1" dirty="0" smtClean="0"/>
                        <a:t>Bot2</a:t>
                      </a:r>
                      <a:endParaRPr lang="en-US" b="1" i="1" dirty="0"/>
                    </a:p>
                  </a:txBody>
                  <a:tcPr anchor="ctr"/>
                </a:tc>
                <a:tc>
                  <a:txBody>
                    <a:bodyPr/>
                    <a:lstStyle/>
                    <a:p>
                      <a:pPr algn="ctr"/>
                      <a:r>
                        <a:rPr lang="en-US" b="1" i="1" dirty="0" smtClean="0"/>
                        <a:t>Small</a:t>
                      </a:r>
                      <a:endParaRPr lang="en-US" b="1" i="1" dirty="0"/>
                    </a:p>
                  </a:txBody>
                  <a:tcPr anchor="ctr"/>
                </a:tc>
              </a:tr>
              <a:tr h="325389">
                <a:tc>
                  <a:txBody>
                    <a:bodyPr/>
                    <a:lstStyle/>
                    <a:p>
                      <a:pPr algn="ctr"/>
                      <a:r>
                        <a:rPr lang="en-US" b="1" i="1" dirty="0" smtClean="0"/>
                        <a:t>Bot1</a:t>
                      </a:r>
                      <a:endParaRPr lang="en-US" b="1" i="1" dirty="0"/>
                    </a:p>
                  </a:txBody>
                  <a:tcPr anchor="ctr"/>
                </a:tc>
                <a:tc>
                  <a:txBody>
                    <a:bodyPr/>
                    <a:lstStyle/>
                    <a:p>
                      <a:pPr algn="ctr"/>
                      <a:r>
                        <a:rPr lang="en-US" b="1" i="1" dirty="0" smtClean="0"/>
                        <a:t>Bot2 + Emule1</a:t>
                      </a:r>
                      <a:endParaRPr lang="en-US" b="1" i="1" dirty="0"/>
                    </a:p>
                  </a:txBody>
                  <a:tcPr anchor="ctr"/>
                </a:tc>
                <a:tc>
                  <a:txBody>
                    <a:bodyPr/>
                    <a:lstStyle/>
                    <a:p>
                      <a:pPr algn="ctr"/>
                      <a:r>
                        <a:rPr lang="en-US" b="1" i="1" dirty="0" smtClean="0"/>
                        <a:t>Small</a:t>
                      </a:r>
                      <a:endParaRPr lang="en-US" b="1" i="1" dirty="0"/>
                    </a:p>
                  </a:txBody>
                  <a:tcPr anchor="ctr"/>
                </a:tc>
              </a:tr>
              <a:tr h="325389">
                <a:tc>
                  <a:txBody>
                    <a:bodyPr/>
                    <a:lstStyle/>
                    <a:p>
                      <a:pPr algn="ctr"/>
                      <a:r>
                        <a:rPr lang="en-US" dirty="0" smtClean="0"/>
                        <a:t>Emule1</a:t>
                      </a:r>
                      <a:endParaRPr lang="en-US" dirty="0"/>
                    </a:p>
                  </a:txBody>
                  <a:tcPr anchor="ctr"/>
                </a:tc>
                <a:tc>
                  <a:txBody>
                    <a:bodyPr/>
                    <a:lstStyle/>
                    <a:p>
                      <a:pPr algn="ctr"/>
                      <a:r>
                        <a:rPr lang="en-US" dirty="0" smtClean="0"/>
                        <a:t>Emule2</a:t>
                      </a:r>
                      <a:endParaRPr lang="en-US" dirty="0"/>
                    </a:p>
                  </a:txBody>
                  <a:tcPr anchor="ctr"/>
                </a:tc>
                <a:tc>
                  <a:txBody>
                    <a:bodyPr/>
                    <a:lstStyle/>
                    <a:p>
                      <a:pPr algn="ctr"/>
                      <a:r>
                        <a:rPr lang="en-US" dirty="0" smtClean="0"/>
                        <a:t>Large</a:t>
                      </a:r>
                      <a:endParaRPr lang="en-US" dirty="0"/>
                    </a:p>
                  </a:txBody>
                  <a:tcPr anchor="ctr"/>
                </a:tc>
              </a:tr>
              <a:tr h="325389">
                <a:tc>
                  <a:txBody>
                    <a:bodyPr/>
                    <a:lstStyle/>
                    <a:p>
                      <a:pPr algn="ctr"/>
                      <a:r>
                        <a:rPr lang="en-US" dirty="0" smtClean="0"/>
                        <a:t>Bot1</a:t>
                      </a:r>
                      <a:endParaRPr lang="en-US" dirty="0"/>
                    </a:p>
                  </a:txBody>
                  <a:tcPr anchor="ctr"/>
                </a:tc>
                <a:tc>
                  <a:txBody>
                    <a:bodyPr/>
                    <a:lstStyle/>
                    <a:p>
                      <a:pPr algn="ctr"/>
                      <a:r>
                        <a:rPr lang="en-US" dirty="0" smtClean="0"/>
                        <a:t>Emule1</a:t>
                      </a:r>
                      <a:endParaRPr lang="en-US" dirty="0"/>
                    </a:p>
                  </a:txBody>
                  <a:tcPr anchor="ctr"/>
                </a:tc>
                <a:tc>
                  <a:txBody>
                    <a:bodyPr/>
                    <a:lstStyle/>
                    <a:p>
                      <a:pPr algn="ctr"/>
                      <a:r>
                        <a:rPr lang="en-US" dirty="0" smtClean="0"/>
                        <a:t>Large</a:t>
                      </a:r>
                      <a:endParaRPr lang="en-US" dirty="0"/>
                    </a:p>
                  </a:txBody>
                  <a:tcPr anchor="ctr"/>
                </a:tc>
              </a:tr>
            </a:tbl>
          </a:graphicData>
        </a:graphic>
      </p:graphicFrame>
      <p:pic>
        <p:nvPicPr>
          <p:cNvPr id="8" name="Picture 7" descr="latex-image-1.pdf"/>
          <p:cNvPicPr>
            <a:picLocks noChangeAspect="1"/>
          </p:cNvPicPr>
          <p:nvPr/>
        </p:nvPicPr>
        <p:blipFill>
          <a:blip r:embed="rId2"/>
          <a:stretch>
            <a:fillRect/>
          </a:stretch>
        </p:blipFill>
        <p:spPr>
          <a:xfrm>
            <a:off x="1520172" y="1837353"/>
            <a:ext cx="5915142" cy="730894"/>
          </a:xfrm>
          <a:prstGeom prst="rect">
            <a:avLst/>
          </a:prstGeom>
        </p:spPr>
      </p:pic>
    </p:spTree>
    <p:extLst>
      <p:ext uri="{BB962C8B-B14F-4D97-AF65-F5344CB8AC3E}">
        <p14:creationId xmlns:p14="http://schemas.microsoft.com/office/powerpoint/2010/main" val="32854284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Spatial Feature Based Detection</a:t>
            </a:r>
            <a:endParaRPr lang="en-US" b="1" dirty="0"/>
          </a:p>
        </p:txBody>
      </p:sp>
      <p:sp>
        <p:nvSpPr>
          <p:cNvPr id="3" name="Content Placeholder 2"/>
          <p:cNvSpPr>
            <a:spLocks noGrp="1"/>
          </p:cNvSpPr>
          <p:nvPr>
            <p:ph idx="1"/>
          </p:nvPr>
        </p:nvSpPr>
        <p:spPr>
          <a:xfrm>
            <a:off x="407202" y="1390328"/>
            <a:ext cx="8229600" cy="821490"/>
          </a:xfrm>
        </p:spPr>
        <p:txBody>
          <a:bodyPr>
            <a:noAutofit/>
          </a:bodyPr>
          <a:lstStyle/>
          <a:p>
            <a:pPr marL="342900" lvl="1" indent="-342900">
              <a:buFont typeface="Arial"/>
              <a:buChar char="•"/>
            </a:pPr>
            <a:r>
              <a:rPr lang="en-US" sz="2400" dirty="0" smtClean="0">
                <a:solidFill>
                  <a:srgbClr val="000000"/>
                </a:solidFill>
              </a:rPr>
              <a:t>A pair of persistent P2P clients belong to a </a:t>
            </a:r>
            <a:r>
              <a:rPr lang="en-US" sz="2400" b="1" dirty="0" err="1" smtClean="0">
                <a:solidFill>
                  <a:srgbClr val="000000"/>
                </a:solidFill>
              </a:rPr>
              <a:t>botnet</a:t>
            </a:r>
            <a:r>
              <a:rPr lang="en-US" sz="2400" dirty="0" smtClean="0">
                <a:solidFill>
                  <a:srgbClr val="000000"/>
                </a:solidFill>
              </a:rPr>
              <a:t> if they have a small </a:t>
            </a:r>
            <a:r>
              <a:rPr lang="en-US" sz="2400" dirty="0" err="1" smtClean="0">
                <a:solidFill>
                  <a:srgbClr val="000000"/>
                </a:solidFill>
              </a:rPr>
              <a:t>Dist</a:t>
            </a:r>
            <a:r>
              <a:rPr lang="en-US" sz="2400" baseline="-25000" dirty="0" err="1" smtClean="0">
                <a:solidFill>
                  <a:srgbClr val="000000"/>
                </a:solidFill>
              </a:rPr>
              <a:t>H</a:t>
            </a:r>
            <a:r>
              <a:rPr lang="en-US" sz="2400" dirty="0" smtClean="0">
                <a:solidFill>
                  <a:srgbClr val="000000"/>
                </a:solidFill>
              </a:rPr>
              <a:t>(), using hierarchical clustering algorithm</a:t>
            </a:r>
          </a:p>
          <a:p>
            <a:endParaRPr lang="en-US" sz="2400" dirty="0"/>
          </a:p>
        </p:txBody>
      </p:sp>
      <p:sp>
        <p:nvSpPr>
          <p:cNvPr id="4" name="Slide Number Placeholder 3"/>
          <p:cNvSpPr>
            <a:spLocks noGrp="1"/>
          </p:cNvSpPr>
          <p:nvPr>
            <p:ph type="sldNum" sz="quarter" idx="12"/>
          </p:nvPr>
        </p:nvSpPr>
        <p:spPr/>
        <p:txBody>
          <a:bodyPr/>
          <a:lstStyle/>
          <a:p>
            <a:fld id="{A64B996E-896C-8B42-97AF-DF9D242D39BE}" type="slidenum">
              <a:rPr lang="en-US" smtClean="0"/>
              <a:pPr/>
              <a:t>103</a:t>
            </a:fld>
            <a:endParaRPr lang="en-US"/>
          </a:p>
        </p:txBody>
      </p:sp>
      <p:sp>
        <p:nvSpPr>
          <p:cNvPr id="5" name="Oval 4"/>
          <p:cNvSpPr/>
          <p:nvPr/>
        </p:nvSpPr>
        <p:spPr>
          <a:xfrm>
            <a:off x="3692934" y="3274665"/>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p:cNvSpPr/>
          <p:nvPr/>
        </p:nvSpPr>
        <p:spPr>
          <a:xfrm>
            <a:off x="3926898" y="3275602"/>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Oval 6"/>
          <p:cNvSpPr/>
          <p:nvPr/>
        </p:nvSpPr>
        <p:spPr>
          <a:xfrm>
            <a:off x="3810378" y="3473669"/>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p:cNvSpPr/>
          <p:nvPr/>
        </p:nvSpPr>
        <p:spPr>
          <a:xfrm>
            <a:off x="4835754" y="3333857"/>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p:cNvSpPr/>
          <p:nvPr/>
        </p:nvSpPr>
        <p:spPr>
          <a:xfrm>
            <a:off x="5046414" y="3462955"/>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Oval 9"/>
          <p:cNvSpPr/>
          <p:nvPr/>
        </p:nvSpPr>
        <p:spPr>
          <a:xfrm>
            <a:off x="4918242" y="4301122"/>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Oval 10"/>
          <p:cNvSpPr/>
          <p:nvPr/>
        </p:nvSpPr>
        <p:spPr>
          <a:xfrm>
            <a:off x="3692934" y="4344340"/>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p:cNvSpPr/>
          <p:nvPr/>
        </p:nvSpPr>
        <p:spPr>
          <a:xfrm>
            <a:off x="3692934" y="5305465"/>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p:cNvSpPr/>
          <p:nvPr/>
        </p:nvSpPr>
        <p:spPr>
          <a:xfrm>
            <a:off x="5063994" y="5305465"/>
            <a:ext cx="145752" cy="144832"/>
          </a:xfrm>
          <a:prstGeom prst="ellipse">
            <a:avLst/>
          </a:prstGeom>
          <a:noFill/>
          <a:ln w="3810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rot="16200000" flipH="1">
            <a:off x="3420698" y="3490973"/>
            <a:ext cx="343711" cy="200761"/>
          </a:xfrm>
          <a:prstGeom prst="straightConnector1">
            <a:avLst/>
          </a:prstGeom>
          <a:ln>
            <a:solidFill>
              <a:srgbClr val="000000"/>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11" idx="4"/>
            <a:endCxn id="12" idx="0"/>
          </p:cNvCxnSpPr>
          <p:nvPr/>
        </p:nvCxnSpPr>
        <p:spPr>
          <a:xfrm rot="5400000">
            <a:off x="3357664" y="4897318"/>
            <a:ext cx="816293" cy="1588"/>
          </a:xfrm>
          <a:prstGeom prst="straightConnector1">
            <a:avLst/>
          </a:prstGeom>
          <a:ln>
            <a:solidFill>
              <a:srgbClr val="000000"/>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153442" y="3499494"/>
            <a:ext cx="1385678" cy="369332"/>
          </a:xfrm>
          <a:prstGeom prst="rect">
            <a:avLst/>
          </a:prstGeom>
        </p:spPr>
        <p:txBody>
          <a:bodyPr wrap="none">
            <a:spAutoFit/>
          </a:bodyPr>
          <a:lstStyle/>
          <a:p>
            <a:r>
              <a:rPr lang="en-US" dirty="0" err="1" smtClean="0">
                <a:solidFill>
                  <a:srgbClr val="000000"/>
                </a:solidFill>
              </a:rPr>
              <a:t>Dist</a:t>
            </a:r>
            <a:r>
              <a:rPr lang="en-US" baseline="-25000" dirty="0" err="1" smtClean="0">
                <a:solidFill>
                  <a:srgbClr val="000000"/>
                </a:solidFill>
              </a:rPr>
              <a:t>H</a:t>
            </a:r>
            <a:r>
              <a:rPr lang="en-US" dirty="0" smtClean="0">
                <a:solidFill>
                  <a:srgbClr val="000000"/>
                </a:solidFill>
              </a:rPr>
              <a:t>(): small</a:t>
            </a:r>
            <a:endParaRPr lang="en-US" dirty="0"/>
          </a:p>
        </p:txBody>
      </p:sp>
      <p:sp>
        <p:nvSpPr>
          <p:cNvPr id="17" name="Rectangle 16"/>
          <p:cNvSpPr/>
          <p:nvPr/>
        </p:nvSpPr>
        <p:spPr>
          <a:xfrm>
            <a:off x="2276826" y="4466602"/>
            <a:ext cx="1401007" cy="369332"/>
          </a:xfrm>
          <a:prstGeom prst="rect">
            <a:avLst/>
          </a:prstGeom>
        </p:spPr>
        <p:txBody>
          <a:bodyPr wrap="none">
            <a:spAutoFit/>
          </a:bodyPr>
          <a:lstStyle/>
          <a:p>
            <a:r>
              <a:rPr lang="en-US" dirty="0" err="1" smtClean="0">
                <a:solidFill>
                  <a:srgbClr val="000000"/>
                </a:solidFill>
              </a:rPr>
              <a:t>Dist</a:t>
            </a:r>
            <a:r>
              <a:rPr lang="en-US" baseline="-25000" dirty="0" err="1" smtClean="0">
                <a:solidFill>
                  <a:srgbClr val="000000"/>
                </a:solidFill>
              </a:rPr>
              <a:t>H</a:t>
            </a:r>
            <a:r>
              <a:rPr lang="en-US" dirty="0" smtClean="0">
                <a:solidFill>
                  <a:srgbClr val="000000"/>
                </a:solidFill>
              </a:rPr>
              <a:t>(): Large</a:t>
            </a:r>
            <a:endParaRPr lang="en-US" dirty="0"/>
          </a:p>
        </p:txBody>
      </p:sp>
      <p:grpSp>
        <p:nvGrpSpPr>
          <p:cNvPr id="18" name="Group 17"/>
          <p:cNvGrpSpPr/>
          <p:nvPr/>
        </p:nvGrpSpPr>
        <p:grpSpPr>
          <a:xfrm>
            <a:off x="3371588" y="2697578"/>
            <a:ext cx="2027727" cy="1175530"/>
            <a:chOff x="3442446" y="2476252"/>
            <a:chExt cx="2027727" cy="1175530"/>
          </a:xfrm>
        </p:grpSpPr>
        <p:grpSp>
          <p:nvGrpSpPr>
            <p:cNvPr id="19" name="Group 29"/>
            <p:cNvGrpSpPr/>
            <p:nvPr/>
          </p:nvGrpSpPr>
          <p:grpSpPr>
            <a:xfrm>
              <a:off x="3442446" y="2476252"/>
              <a:ext cx="1998987" cy="1175530"/>
              <a:chOff x="3442446" y="2476252"/>
              <a:chExt cx="1998987" cy="1175530"/>
            </a:xfrm>
          </p:grpSpPr>
          <p:grpSp>
            <p:nvGrpSpPr>
              <p:cNvPr id="21" name="Group 28"/>
              <p:cNvGrpSpPr/>
              <p:nvPr/>
            </p:nvGrpSpPr>
            <p:grpSpPr>
              <a:xfrm>
                <a:off x="3738736" y="2713058"/>
                <a:ext cx="1702697" cy="938724"/>
                <a:chOff x="3738736" y="2713058"/>
                <a:chExt cx="1702697" cy="938724"/>
              </a:xfrm>
            </p:grpSpPr>
            <p:sp>
              <p:nvSpPr>
                <p:cNvPr id="23" name="Oval 22"/>
                <p:cNvSpPr/>
                <p:nvPr/>
              </p:nvSpPr>
              <p:spPr>
                <a:xfrm rot="8574811">
                  <a:off x="3738736" y="2713058"/>
                  <a:ext cx="487809" cy="938724"/>
                </a:xfrm>
                <a:prstGeom prst="ellipse">
                  <a:avLst/>
                </a:prstGeom>
                <a:noFill/>
                <a:ln w="25400">
                  <a:solidFill>
                    <a:srgbClr val="000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p:cNvSpPr/>
                <p:nvPr/>
              </p:nvSpPr>
              <p:spPr>
                <a:xfrm rot="8574811">
                  <a:off x="4793113" y="2941373"/>
                  <a:ext cx="648320" cy="621939"/>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2" name="Rectangle 21"/>
              <p:cNvSpPr/>
              <p:nvPr/>
            </p:nvSpPr>
            <p:spPr>
              <a:xfrm>
                <a:off x="3442446" y="2476252"/>
                <a:ext cx="948171" cy="369332"/>
              </a:xfrm>
              <a:prstGeom prst="rect">
                <a:avLst/>
              </a:prstGeom>
            </p:spPr>
            <p:txBody>
              <a:bodyPr wrap="none">
                <a:spAutoFit/>
              </a:bodyPr>
              <a:lstStyle/>
              <a:p>
                <a:r>
                  <a:rPr lang="en-US" b="1" dirty="0" smtClean="0">
                    <a:solidFill>
                      <a:srgbClr val="000000"/>
                    </a:solidFill>
                  </a:rPr>
                  <a:t>botnet1</a:t>
                </a:r>
                <a:endParaRPr lang="en-US" b="1" dirty="0"/>
              </a:p>
            </p:txBody>
          </p:sp>
        </p:grpSp>
        <p:sp>
          <p:nvSpPr>
            <p:cNvPr id="20" name="Rectangle 19"/>
            <p:cNvSpPr/>
            <p:nvPr/>
          </p:nvSpPr>
          <p:spPr>
            <a:xfrm>
              <a:off x="4522002" y="2586496"/>
              <a:ext cx="948171" cy="369332"/>
            </a:xfrm>
            <a:prstGeom prst="rect">
              <a:avLst/>
            </a:prstGeom>
          </p:spPr>
          <p:txBody>
            <a:bodyPr wrap="none">
              <a:spAutoFit/>
            </a:bodyPr>
            <a:lstStyle/>
            <a:p>
              <a:r>
                <a:rPr lang="en-US" b="1" dirty="0" smtClean="0">
                  <a:solidFill>
                    <a:srgbClr val="000000"/>
                  </a:solidFill>
                </a:rPr>
                <a:t>botnet2</a:t>
              </a:r>
              <a:endParaRPr lang="en-US" b="1" dirty="0"/>
            </a:p>
          </p:txBody>
        </p:sp>
      </p:grpSp>
    </p:spTree>
    <p:extLst>
      <p:ext uri="{BB962C8B-B14F-4D97-AF65-F5344CB8AC3E}">
        <p14:creationId xmlns:p14="http://schemas.microsoft.com/office/powerpoint/2010/main" val="3565292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8" grpId="0" animBg="1"/>
      <p:bldP spid="9" grpId="0" animBg="1"/>
      <p:bldP spid="10" grpId="0" animBg="1"/>
      <p:bldP spid="11" grpId="0" animBg="1"/>
      <p:bldP spid="12" grpId="0" animBg="1"/>
      <p:bldP spid="13" grpId="0" animBg="1"/>
      <p:bldP spid="16" grpId="0"/>
      <p:bldP spid="17"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Evaluation</a:t>
            </a:r>
            <a:endParaRPr lang="en-US" dirty="0"/>
          </a:p>
        </p:txBody>
      </p:sp>
      <p:sp>
        <p:nvSpPr>
          <p:cNvPr id="3" name="Content Placeholder 2"/>
          <p:cNvSpPr>
            <a:spLocks noGrp="1"/>
          </p:cNvSpPr>
          <p:nvPr>
            <p:ph idx="1"/>
          </p:nvPr>
        </p:nvSpPr>
        <p:spPr>
          <a:xfrm>
            <a:off x="457200" y="1533360"/>
            <a:ext cx="8229600" cy="4525963"/>
          </a:xfrm>
        </p:spPr>
        <p:txBody>
          <a:bodyPr/>
          <a:lstStyle/>
          <a:p>
            <a:r>
              <a:rPr lang="en-US" dirty="0" smtClean="0"/>
              <a:t>Data</a:t>
            </a:r>
            <a:endParaRPr lang="en-US"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104</a:t>
            </a:fld>
            <a:endParaRPr lang="en-US"/>
          </a:p>
        </p:txBody>
      </p:sp>
      <p:graphicFrame>
        <p:nvGraphicFramePr>
          <p:cNvPr id="5" name="Table 4"/>
          <p:cNvGraphicFramePr>
            <a:graphicFrameLocks noGrp="1"/>
          </p:cNvGraphicFramePr>
          <p:nvPr/>
        </p:nvGraphicFramePr>
        <p:xfrm>
          <a:off x="788317" y="2190596"/>
          <a:ext cx="7809771" cy="3625847"/>
        </p:xfrm>
        <a:graphic>
          <a:graphicData uri="http://schemas.openxmlformats.org/drawingml/2006/table">
            <a:tbl>
              <a:tblPr firstRow="1" bandRow="1">
                <a:tableStyleId>{5C22544A-7EE6-4342-B048-85BDC9FD1C3A}</a:tableStyleId>
              </a:tblPr>
              <a:tblGrid>
                <a:gridCol w="1720851"/>
                <a:gridCol w="3312583"/>
                <a:gridCol w="2776337"/>
              </a:tblGrid>
              <a:tr h="502495">
                <a:tc>
                  <a:txBody>
                    <a:bodyPr/>
                    <a:lstStyle/>
                    <a:p>
                      <a:r>
                        <a:rPr lang="en-US" dirty="0" smtClean="0"/>
                        <a:t>Data</a:t>
                      </a:r>
                      <a:endParaRPr lang="en-US" dirty="0"/>
                    </a:p>
                  </a:txBody>
                  <a:tcPr/>
                </a:tc>
                <a:tc>
                  <a:txBody>
                    <a:bodyPr/>
                    <a:lstStyle/>
                    <a:p>
                      <a:r>
                        <a:rPr lang="en-US" dirty="0" smtClean="0"/>
                        <a:t>#</a:t>
                      </a:r>
                      <a:r>
                        <a:rPr lang="en-US" baseline="0" dirty="0" smtClean="0"/>
                        <a:t> of hosts and clients</a:t>
                      </a:r>
                      <a:endParaRPr lang="en-US" dirty="0"/>
                    </a:p>
                  </a:txBody>
                  <a:tcPr/>
                </a:tc>
                <a:tc>
                  <a:txBody>
                    <a:bodyPr/>
                    <a:lstStyle/>
                    <a:p>
                      <a:r>
                        <a:rPr lang="en-US" dirty="0" smtClean="0"/>
                        <a:t>Summary </a:t>
                      </a:r>
                      <a:endParaRPr lang="en-US" dirty="0"/>
                    </a:p>
                  </a:txBody>
                  <a:tcPr/>
                </a:tc>
              </a:tr>
              <a:tr h="745913">
                <a:tc>
                  <a:txBody>
                    <a:bodyPr/>
                    <a:lstStyle/>
                    <a:p>
                      <a:r>
                        <a:rPr lang="en-US" dirty="0" smtClean="0"/>
                        <a:t>College</a:t>
                      </a:r>
                      <a:r>
                        <a:rPr lang="en-US" baseline="0" dirty="0" smtClean="0"/>
                        <a:t> networks</a:t>
                      </a:r>
                    </a:p>
                  </a:txBody>
                  <a:tcPr/>
                </a:tc>
                <a:tc>
                  <a:txBody>
                    <a:bodyPr/>
                    <a:lstStyle/>
                    <a:p>
                      <a:r>
                        <a:rPr lang="en-US" baseline="0" dirty="0" smtClean="0"/>
                        <a:t>1K hosts</a:t>
                      </a:r>
                    </a:p>
                    <a:p>
                      <a:r>
                        <a:rPr lang="en-US" dirty="0" smtClean="0"/>
                        <a:t>3 </a:t>
                      </a:r>
                      <a:r>
                        <a:rPr lang="en-US" dirty="0" err="1" smtClean="0"/>
                        <a:t>Bittorrent</a:t>
                      </a:r>
                      <a:r>
                        <a:rPr lang="en-US" dirty="0" smtClean="0"/>
                        <a:t> clients</a:t>
                      </a:r>
                    </a:p>
                    <a:p>
                      <a:r>
                        <a:rPr lang="en-US" dirty="0" smtClean="0"/>
                        <a:t>5</a:t>
                      </a:r>
                      <a:r>
                        <a:rPr lang="en-US" baseline="0" dirty="0" smtClean="0"/>
                        <a:t> Skype clients</a:t>
                      </a:r>
                      <a:endParaRPr lang="en-US" dirty="0" smtClean="0"/>
                    </a:p>
                  </a:txBody>
                  <a:tcPr/>
                </a:tc>
                <a:tc rowSpan="3">
                  <a:txBody>
                    <a:bodyPr/>
                    <a:lstStyle/>
                    <a:p>
                      <a:r>
                        <a:rPr lang="en-US" b="1" dirty="0" smtClean="0"/>
                        <a:t>24 hours</a:t>
                      </a:r>
                    </a:p>
                    <a:p>
                      <a:endParaRPr lang="en-US" b="1" dirty="0" smtClean="0"/>
                    </a:p>
                    <a:p>
                      <a:r>
                        <a:rPr lang="en-US" b="1" dirty="0" smtClean="0"/>
                        <a:t>1K</a:t>
                      </a:r>
                      <a:r>
                        <a:rPr lang="en-US" b="1" baseline="0" dirty="0" smtClean="0"/>
                        <a:t> hosts totally</a:t>
                      </a:r>
                    </a:p>
                    <a:p>
                      <a:endParaRPr lang="en-US" b="1" baseline="0" dirty="0" smtClean="0"/>
                    </a:p>
                    <a:p>
                      <a:r>
                        <a:rPr lang="en-US" b="1" baseline="0" dirty="0" smtClean="0"/>
                        <a:t>18 legitimate P2P apps</a:t>
                      </a:r>
                    </a:p>
                    <a:p>
                      <a:endParaRPr lang="en-US" b="1" baseline="0" dirty="0" smtClean="0"/>
                    </a:p>
                    <a:p>
                      <a:r>
                        <a:rPr lang="en-US" b="1" i="1" baseline="0" dirty="0" smtClean="0"/>
                        <a:t>16 Real P2P bots </a:t>
                      </a:r>
                      <a:endParaRPr lang="en-US" b="1" i="1" dirty="0" smtClean="0"/>
                    </a:p>
                    <a:p>
                      <a:endParaRPr lang="en-US" b="1"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b="1" dirty="0" smtClean="0"/>
                        <a:t>80 Million flows</a:t>
                      </a:r>
                    </a:p>
                    <a:p>
                      <a:endParaRPr lang="en-US" dirty="0"/>
                    </a:p>
                  </a:txBody>
                  <a:tcPr/>
                </a:tc>
              </a:tr>
              <a:tr h="745913">
                <a:tc>
                  <a:txBody>
                    <a:bodyPr/>
                    <a:lstStyle/>
                    <a:p>
                      <a:r>
                        <a:rPr lang="en-US" dirty="0" smtClean="0"/>
                        <a:t>Legitimate P2P</a:t>
                      </a:r>
                      <a:r>
                        <a:rPr lang="en-US" baseline="0" dirty="0" smtClean="0"/>
                        <a:t> applications</a:t>
                      </a:r>
                      <a:endParaRPr lang="en-US" dirty="0" smtClean="0"/>
                    </a:p>
                  </a:txBody>
                  <a:tcPr/>
                </a:tc>
                <a:tc>
                  <a:txBody>
                    <a:bodyPr/>
                    <a:lstStyle/>
                    <a:p>
                      <a:r>
                        <a:rPr lang="en-US" dirty="0" smtClean="0"/>
                        <a:t>2 </a:t>
                      </a:r>
                      <a:r>
                        <a:rPr lang="en-US" dirty="0" err="1" smtClean="0"/>
                        <a:t>Bittorrent</a:t>
                      </a:r>
                      <a:r>
                        <a:rPr lang="en-US" dirty="0" smtClean="0"/>
                        <a:t> clients</a:t>
                      </a:r>
                    </a:p>
                    <a:p>
                      <a:r>
                        <a:rPr lang="en-US" dirty="0" smtClean="0"/>
                        <a:t>2 </a:t>
                      </a:r>
                      <a:r>
                        <a:rPr lang="en-US" dirty="0" err="1" smtClean="0"/>
                        <a:t>Emule</a:t>
                      </a:r>
                      <a:r>
                        <a:rPr lang="en-US" dirty="0" smtClean="0"/>
                        <a:t> clients</a:t>
                      </a:r>
                    </a:p>
                    <a:p>
                      <a:r>
                        <a:rPr lang="en-US" dirty="0" smtClean="0"/>
                        <a:t>2 Ares clients</a:t>
                      </a:r>
                    </a:p>
                    <a:p>
                      <a:r>
                        <a:rPr lang="en-US" dirty="0" smtClean="0"/>
                        <a:t>2 Skype clients</a:t>
                      </a:r>
                    </a:p>
                    <a:p>
                      <a:r>
                        <a:rPr lang="en-US" dirty="0" smtClean="0"/>
                        <a:t>2 </a:t>
                      </a:r>
                      <a:r>
                        <a:rPr lang="en-US" dirty="0" err="1" smtClean="0"/>
                        <a:t>Limewire</a:t>
                      </a:r>
                      <a:r>
                        <a:rPr lang="en-US" dirty="0" smtClean="0"/>
                        <a:t> clients</a:t>
                      </a:r>
                      <a:endParaRPr lang="en-US" dirty="0"/>
                    </a:p>
                  </a:txBody>
                  <a:tcPr/>
                </a:tc>
                <a:tc vMerge="1">
                  <a:txBody>
                    <a:bodyPr/>
                    <a:lstStyle/>
                    <a:p>
                      <a:endParaRPr lang="en-US" dirty="0"/>
                    </a:p>
                  </a:txBody>
                  <a:tcPr/>
                </a:tc>
              </a:tr>
              <a:tr h="745913">
                <a:tc>
                  <a:txBody>
                    <a:bodyPr/>
                    <a:lstStyle/>
                    <a:p>
                      <a:r>
                        <a:rPr lang="en-US" baseline="0" dirty="0" smtClean="0"/>
                        <a:t>P2P </a:t>
                      </a:r>
                      <a:r>
                        <a:rPr lang="en-US" baseline="0" dirty="0" err="1" smtClean="0"/>
                        <a:t>botnets</a:t>
                      </a:r>
                      <a:endParaRPr lang="en-US" baseline="0" dirty="0" smtClean="0"/>
                    </a:p>
                  </a:txBody>
                  <a:tcPr/>
                </a:tc>
                <a:tc>
                  <a:txBody>
                    <a:bodyPr/>
                    <a:lstStyle/>
                    <a:p>
                      <a:r>
                        <a:rPr lang="en-US" dirty="0" smtClean="0"/>
                        <a:t>13</a:t>
                      </a:r>
                      <a:r>
                        <a:rPr lang="en-US" baseline="0" dirty="0" smtClean="0"/>
                        <a:t> Storm bots</a:t>
                      </a:r>
                    </a:p>
                    <a:p>
                      <a:r>
                        <a:rPr lang="en-US" baseline="0" dirty="0" smtClean="0"/>
                        <a:t>3 </a:t>
                      </a:r>
                      <a:r>
                        <a:rPr lang="en-US" baseline="0" dirty="0" err="1" smtClean="0"/>
                        <a:t>Waledac</a:t>
                      </a:r>
                      <a:r>
                        <a:rPr lang="en-US" baseline="0" dirty="0" smtClean="0"/>
                        <a:t> bots</a:t>
                      </a:r>
                      <a:endParaRPr lang="en-US" dirty="0"/>
                    </a:p>
                  </a:txBody>
                  <a:tcPr/>
                </a:tc>
                <a:tc vMerge="1">
                  <a:txBody>
                    <a:bodyPr/>
                    <a:lstStyle/>
                    <a:p>
                      <a:endParaRPr lang="en-US" dirty="0"/>
                    </a:p>
                  </a:txBody>
                  <a:tcPr/>
                </a:tc>
              </a:tr>
            </a:tbl>
          </a:graphicData>
        </a:graphic>
      </p:graphicFrame>
    </p:spTree>
    <p:extLst>
      <p:ext uri="{BB962C8B-B14F-4D97-AF65-F5344CB8AC3E}">
        <p14:creationId xmlns:p14="http://schemas.microsoft.com/office/powerpoint/2010/main" val="38710528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hart 9"/>
          <p:cNvGraphicFramePr/>
          <p:nvPr/>
        </p:nvGraphicFramePr>
        <p:xfrm>
          <a:off x="3070087" y="1591532"/>
          <a:ext cx="5698517" cy="3392384"/>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p:cNvSpPr>
            <a:spLocks noGrp="1"/>
          </p:cNvSpPr>
          <p:nvPr>
            <p:ph type="title"/>
          </p:nvPr>
        </p:nvSpPr>
        <p:spPr/>
        <p:txBody>
          <a:bodyPr/>
          <a:lstStyle/>
          <a:p>
            <a:r>
              <a:rPr lang="en-US" b="1" dirty="0" smtClean="0"/>
              <a:t>Evaluation</a:t>
            </a:r>
            <a:endParaRPr lang="en-US" dirty="0"/>
          </a:p>
        </p:txBody>
      </p:sp>
      <p:sp>
        <p:nvSpPr>
          <p:cNvPr id="4" name="Slide Number Placeholder 3"/>
          <p:cNvSpPr>
            <a:spLocks noGrp="1"/>
          </p:cNvSpPr>
          <p:nvPr>
            <p:ph type="sldNum" sz="quarter" idx="12"/>
          </p:nvPr>
        </p:nvSpPr>
        <p:spPr/>
        <p:txBody>
          <a:bodyPr/>
          <a:lstStyle/>
          <a:p>
            <a:fld id="{92A8EF56-05AC-594A-B4F8-D7320BBA0A9A}" type="slidenum">
              <a:rPr lang="en-US" smtClean="0"/>
              <a:pPr/>
              <a:t>105</a:t>
            </a:fld>
            <a:endParaRPr lang="en-US"/>
          </a:p>
        </p:txBody>
      </p:sp>
      <p:grpSp>
        <p:nvGrpSpPr>
          <p:cNvPr id="16" name="Group 15"/>
          <p:cNvGrpSpPr/>
          <p:nvPr/>
        </p:nvGrpSpPr>
        <p:grpSpPr>
          <a:xfrm>
            <a:off x="4486930" y="1591532"/>
            <a:ext cx="3285352" cy="1663898"/>
            <a:chOff x="-679647" y="2522145"/>
            <a:chExt cx="3285352" cy="1663898"/>
          </a:xfrm>
        </p:grpSpPr>
        <p:sp>
          <p:nvSpPr>
            <p:cNvPr id="14" name="Notched Right Arrow 13"/>
            <p:cNvSpPr/>
            <p:nvPr/>
          </p:nvSpPr>
          <p:spPr>
            <a:xfrm rot="1349142">
              <a:off x="-679647" y="3982782"/>
              <a:ext cx="3285352" cy="203261"/>
            </a:xfrm>
            <a:prstGeom prst="notchedRightArrow">
              <a:avLst/>
            </a:prstGeom>
            <a:gradFill flip="none" rotWithShape="1">
              <a:gsLst>
                <a:gs pos="0">
                  <a:schemeClr val="accent6">
                    <a:lumMod val="60000"/>
                    <a:lumOff val="40000"/>
                  </a:schemeClr>
                </a:gs>
                <a:gs pos="100000">
                  <a:srgbClr val="FFFFFF"/>
                </a:gs>
              </a:gsLst>
              <a:lin ang="11340000" scaled="0"/>
              <a:tileRect/>
            </a:gra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solidFill>
                  <a:schemeClr val="dk1"/>
                </a:solidFill>
              </a:endParaRPr>
            </a:p>
          </p:txBody>
        </p:sp>
        <p:sp>
          <p:nvSpPr>
            <p:cNvPr id="15" name="TextBox 14"/>
            <p:cNvSpPr txBox="1"/>
            <p:nvPr/>
          </p:nvSpPr>
          <p:spPr>
            <a:xfrm>
              <a:off x="-164346" y="2522145"/>
              <a:ext cx="2684036" cy="646331"/>
            </a:xfrm>
            <a:prstGeom prst="rect">
              <a:avLst/>
            </a:prstGeom>
            <a:gradFill flip="none" rotWithShape="1">
              <a:gsLst>
                <a:gs pos="0">
                  <a:schemeClr val="accent6">
                    <a:lumMod val="60000"/>
                    <a:lumOff val="40000"/>
                  </a:schemeClr>
                </a:gs>
                <a:gs pos="100000">
                  <a:srgbClr val="FFFFFF"/>
                </a:gs>
              </a:gsLst>
              <a:lin ang="16200000" scaled="0"/>
              <a:tileRect/>
            </a:gradFill>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solidFill>
                    <a:schemeClr val="dk1"/>
                  </a:solidFill>
                </a:rPr>
                <a:t>5 hours on a single server;</a:t>
              </a:r>
            </a:p>
            <a:p>
              <a:pPr algn="ctr"/>
              <a:r>
                <a:rPr lang="en-US" dirty="0" smtClean="0">
                  <a:solidFill>
                    <a:schemeClr val="dk1"/>
                  </a:solidFill>
                </a:rPr>
                <a:t>0.69 hour on 10 servers.</a:t>
              </a:r>
              <a:endParaRPr lang="en-US" dirty="0">
                <a:solidFill>
                  <a:schemeClr val="dk1"/>
                </a:solidFill>
              </a:endParaRPr>
            </a:p>
          </p:txBody>
        </p:sp>
      </p:grpSp>
      <p:grpSp>
        <p:nvGrpSpPr>
          <p:cNvPr id="11" name="Group 35"/>
          <p:cNvGrpSpPr/>
          <p:nvPr/>
        </p:nvGrpSpPr>
        <p:grpSpPr>
          <a:xfrm>
            <a:off x="204488" y="1160836"/>
            <a:ext cx="1536314" cy="4241621"/>
            <a:chOff x="3421931" y="1262438"/>
            <a:chExt cx="2370297" cy="4892336"/>
          </a:xfrm>
        </p:grpSpPr>
        <p:grpSp>
          <p:nvGrpSpPr>
            <p:cNvPr id="12" name="Group 34"/>
            <p:cNvGrpSpPr/>
            <p:nvPr/>
          </p:nvGrpSpPr>
          <p:grpSpPr>
            <a:xfrm>
              <a:off x="3421931" y="1262438"/>
              <a:ext cx="2370297" cy="4100525"/>
              <a:chOff x="3421931" y="1729246"/>
              <a:chExt cx="2370297" cy="4100525"/>
            </a:xfrm>
          </p:grpSpPr>
          <p:sp>
            <p:nvSpPr>
              <p:cNvPr id="19" name="Snip Single Corner Rectangle 18"/>
              <p:cNvSpPr/>
              <p:nvPr/>
            </p:nvSpPr>
            <p:spPr>
              <a:xfrm>
                <a:off x="3421931" y="5400222"/>
                <a:ext cx="1019734" cy="429548"/>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rgbClr val="000000"/>
                    </a:solidFill>
                  </a:rPr>
                  <a:t>DNS</a:t>
                </a:r>
                <a:endParaRPr lang="en-US" sz="1600" dirty="0">
                  <a:solidFill>
                    <a:srgbClr val="000000"/>
                  </a:solidFill>
                </a:endParaRPr>
              </a:p>
            </p:txBody>
          </p:sp>
          <p:sp>
            <p:nvSpPr>
              <p:cNvPr id="20" name="Snip Single Corner Rectangle 19"/>
              <p:cNvSpPr/>
              <p:nvPr/>
            </p:nvSpPr>
            <p:spPr>
              <a:xfrm>
                <a:off x="4491013" y="5400222"/>
                <a:ext cx="1301215" cy="429549"/>
              </a:xfrm>
              <a:prstGeom prst="snip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smtClean="0">
                    <a:solidFill>
                      <a:srgbClr val="000000"/>
                    </a:solidFill>
                  </a:rPr>
                  <a:t>Flows</a:t>
                </a:r>
                <a:endParaRPr lang="en-US" sz="1600" dirty="0">
                  <a:solidFill>
                    <a:srgbClr val="000000"/>
                  </a:solidFill>
                </a:endParaRPr>
              </a:p>
            </p:txBody>
          </p:sp>
          <p:sp>
            <p:nvSpPr>
              <p:cNvPr id="21" name="Rounded Rectangle 20"/>
              <p:cNvSpPr/>
              <p:nvPr/>
            </p:nvSpPr>
            <p:spPr>
              <a:xfrm>
                <a:off x="3612578" y="4027955"/>
                <a:ext cx="1746572" cy="992820"/>
              </a:xfrm>
              <a:prstGeom prst="roundRect">
                <a:avLst>
                  <a:gd name="adj" fmla="val 0"/>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600" dirty="0" smtClean="0">
                    <a:solidFill>
                      <a:srgbClr val="000000"/>
                    </a:solidFill>
                  </a:rPr>
                  <a:t>P2P-Client Detection</a:t>
                </a:r>
                <a:endParaRPr lang="en-US" sz="1600" dirty="0">
                  <a:solidFill>
                    <a:srgbClr val="000000"/>
                  </a:solidFill>
                </a:endParaRPr>
              </a:p>
            </p:txBody>
          </p:sp>
          <p:sp>
            <p:nvSpPr>
              <p:cNvPr id="22" name="Snip Single Corner Rectangle 21"/>
              <p:cNvSpPr/>
              <p:nvPr/>
            </p:nvSpPr>
            <p:spPr>
              <a:xfrm>
                <a:off x="3940362" y="1729246"/>
                <a:ext cx="1062503" cy="406097"/>
              </a:xfrm>
              <a:prstGeom prst="snip1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smtClean="0">
                    <a:solidFill>
                      <a:srgbClr val="000000"/>
                    </a:solidFill>
                  </a:rPr>
                  <a:t>Bots</a:t>
                </a:r>
                <a:endParaRPr lang="en-US" sz="1600" dirty="0">
                  <a:solidFill>
                    <a:srgbClr val="000000"/>
                  </a:solidFill>
                </a:endParaRPr>
              </a:p>
            </p:txBody>
          </p:sp>
          <p:sp>
            <p:nvSpPr>
              <p:cNvPr id="23" name="Rounded Rectangle 22"/>
              <p:cNvSpPr/>
              <p:nvPr/>
            </p:nvSpPr>
            <p:spPr>
              <a:xfrm>
                <a:off x="3597533" y="2500511"/>
                <a:ext cx="1746572" cy="1052678"/>
              </a:xfrm>
              <a:prstGeom prst="roundRect">
                <a:avLst>
                  <a:gd name="adj" fmla="val 0"/>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sz="1600" dirty="0" smtClean="0">
                    <a:solidFill>
                      <a:srgbClr val="000000"/>
                    </a:solidFill>
                  </a:rPr>
                  <a:t>P2P-Bot Detection</a:t>
                </a:r>
                <a:endParaRPr lang="en-US" sz="1600" dirty="0">
                  <a:solidFill>
                    <a:srgbClr val="000000"/>
                  </a:solidFill>
                </a:endParaRPr>
              </a:p>
            </p:txBody>
          </p:sp>
          <p:cxnSp>
            <p:nvCxnSpPr>
              <p:cNvPr id="24" name="Straight Arrow Connector 23"/>
              <p:cNvCxnSpPr>
                <a:stCxn id="19" idx="3"/>
                <a:endCxn id="21" idx="2"/>
              </p:cNvCxnSpPr>
              <p:nvPr/>
            </p:nvCxnSpPr>
            <p:spPr>
              <a:xfrm rot="5400000" flipH="1" flipV="1">
                <a:off x="4019107" y="4933466"/>
                <a:ext cx="379447" cy="554066"/>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5" name="Straight Arrow Connector 24"/>
              <p:cNvCxnSpPr>
                <a:stCxn id="20" idx="3"/>
                <a:endCxn id="21" idx="2"/>
              </p:cNvCxnSpPr>
              <p:nvPr/>
            </p:nvCxnSpPr>
            <p:spPr>
              <a:xfrm rot="16200000" flipV="1">
                <a:off x="4624019" y="4882620"/>
                <a:ext cx="379447" cy="655756"/>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6" name="Straight Arrow Connector 25"/>
              <p:cNvCxnSpPr>
                <a:stCxn id="21" idx="0"/>
                <a:endCxn id="23" idx="2"/>
              </p:cNvCxnSpPr>
              <p:nvPr/>
            </p:nvCxnSpPr>
            <p:spPr>
              <a:xfrm rot="16200000" flipV="1">
                <a:off x="4240960" y="3783049"/>
                <a:ext cx="474766" cy="15044"/>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27" name="Straight Arrow Connector 26"/>
              <p:cNvCxnSpPr>
                <a:stCxn id="23" idx="0"/>
                <a:endCxn id="22" idx="1"/>
              </p:cNvCxnSpPr>
              <p:nvPr/>
            </p:nvCxnSpPr>
            <p:spPr>
              <a:xfrm rot="5400000" flipH="1" flipV="1">
                <a:off x="4288632" y="2317530"/>
                <a:ext cx="365168" cy="793"/>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13" name="Left-Right Arrow 12"/>
            <p:cNvSpPr/>
            <p:nvPr/>
          </p:nvSpPr>
          <p:spPr>
            <a:xfrm>
              <a:off x="3421931" y="5672024"/>
              <a:ext cx="2370297" cy="482750"/>
            </a:xfrm>
            <a:prstGeom prst="lef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smtClean="0">
                  <a:solidFill>
                    <a:schemeClr val="tx1"/>
                  </a:solidFill>
                </a:rPr>
                <a:t>Network Traffic</a:t>
              </a:r>
              <a:endParaRPr lang="en-US" sz="1400" dirty="0">
                <a:solidFill>
                  <a:schemeClr val="tx1"/>
                </a:solidFill>
              </a:endParaRPr>
            </a:p>
          </p:txBody>
        </p:sp>
        <p:cxnSp>
          <p:nvCxnSpPr>
            <p:cNvPr id="17" name="Straight Arrow Connector 16"/>
            <p:cNvCxnSpPr>
              <a:stCxn id="13" idx="1"/>
              <a:endCxn id="19" idx="1"/>
            </p:cNvCxnSpPr>
            <p:nvPr/>
          </p:nvCxnSpPr>
          <p:spPr>
            <a:xfrm rot="16200000" flipV="1">
              <a:off x="4054565" y="5240195"/>
              <a:ext cx="429750" cy="675281"/>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cxnSp>
          <p:nvCxnSpPr>
            <p:cNvPr id="18" name="Straight Arrow Connector 17"/>
            <p:cNvCxnSpPr>
              <a:stCxn id="13" idx="1"/>
              <a:endCxn id="20" idx="1"/>
            </p:cNvCxnSpPr>
            <p:nvPr/>
          </p:nvCxnSpPr>
          <p:spPr>
            <a:xfrm rot="5400000" flipH="1" flipV="1">
              <a:off x="4659476" y="5310567"/>
              <a:ext cx="429749" cy="534541"/>
            </a:xfrm>
            <a:prstGeom prst="straightConnector1">
              <a:avLst/>
            </a:prstGeom>
            <a:ln w="41275" cap="flat" cmpd="sng" algn="ctr">
              <a:solidFill>
                <a:schemeClr val="accent1">
                  <a:shade val="95000"/>
                  <a:satMod val="105000"/>
                </a:schemeClr>
              </a:solidFill>
              <a:prstDash val="solid"/>
              <a:round/>
              <a:headEnd type="none" w="med" len="med"/>
              <a:tailEnd type="triangle" w="med" len="med"/>
            </a:ln>
          </p:spPr>
          <p:style>
            <a:lnRef idx="1">
              <a:schemeClr val="accent1"/>
            </a:lnRef>
            <a:fillRef idx="3">
              <a:schemeClr val="accent1"/>
            </a:fillRef>
            <a:effectRef idx="2">
              <a:schemeClr val="accent1"/>
            </a:effectRef>
            <a:fontRef idx="minor">
              <a:schemeClr val="lt1"/>
            </a:fontRef>
          </p:style>
        </p:cxnSp>
      </p:grpSp>
      <p:sp>
        <p:nvSpPr>
          <p:cNvPr id="28" name="Rounded Rectangle 27"/>
          <p:cNvSpPr/>
          <p:nvPr/>
        </p:nvSpPr>
        <p:spPr>
          <a:xfrm>
            <a:off x="1484759" y="3671405"/>
            <a:ext cx="1388802" cy="387336"/>
          </a:xfrm>
          <a:prstGeom prst="roundRect">
            <a:avLst/>
          </a:prstGeom>
        </p:spPr>
        <p:style>
          <a:lnRef idx="1">
            <a:schemeClr val="accent4"/>
          </a:lnRef>
          <a:fillRef idx="2">
            <a:schemeClr val="accent4"/>
          </a:fillRef>
          <a:effectRef idx="1">
            <a:schemeClr val="accent4"/>
          </a:effectRef>
          <a:fontRef idx="minor">
            <a:schemeClr val="dk1"/>
          </a:fontRef>
        </p:style>
        <p:txBody>
          <a:bodyPr rtlCol="0" anchor="t"/>
          <a:lstStyle/>
          <a:p>
            <a:pPr algn="ctr"/>
            <a:r>
              <a:rPr lang="en-US" sz="1300" dirty="0" smtClean="0"/>
              <a:t>Traffic Filtering</a:t>
            </a:r>
            <a:endParaRPr lang="en-US" sz="1300" dirty="0"/>
          </a:p>
        </p:txBody>
      </p:sp>
      <p:sp>
        <p:nvSpPr>
          <p:cNvPr id="29" name="Rounded Rectangle 28"/>
          <p:cNvSpPr/>
          <p:nvPr/>
        </p:nvSpPr>
        <p:spPr>
          <a:xfrm>
            <a:off x="1484759" y="3136692"/>
            <a:ext cx="1388802" cy="48588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00" dirty="0" smtClean="0"/>
              <a:t>Clustering-Based Analysis</a:t>
            </a:r>
            <a:endParaRPr lang="en-US" sz="1300" dirty="0"/>
          </a:p>
        </p:txBody>
      </p:sp>
      <p:sp>
        <p:nvSpPr>
          <p:cNvPr id="65" name="Rounded Rectangle 64"/>
          <p:cNvSpPr/>
          <p:nvPr/>
        </p:nvSpPr>
        <p:spPr>
          <a:xfrm>
            <a:off x="1481625" y="2324563"/>
            <a:ext cx="1413460" cy="35304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00" dirty="0" smtClean="0"/>
              <a:t>Temporal Feature</a:t>
            </a:r>
            <a:endParaRPr lang="en-US" sz="1300" dirty="0"/>
          </a:p>
        </p:txBody>
      </p:sp>
      <p:sp>
        <p:nvSpPr>
          <p:cNvPr id="70" name="Rounded Rectangle 69"/>
          <p:cNvSpPr/>
          <p:nvPr/>
        </p:nvSpPr>
        <p:spPr>
          <a:xfrm>
            <a:off x="1484759" y="1829518"/>
            <a:ext cx="1388802" cy="42637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300" dirty="0" smtClean="0"/>
              <a:t>Spatial Feature</a:t>
            </a:r>
            <a:endParaRPr lang="en-US" sz="1300" dirty="0"/>
          </a:p>
        </p:txBody>
      </p:sp>
      <p:sp>
        <p:nvSpPr>
          <p:cNvPr id="73" name="Oval 72"/>
          <p:cNvSpPr/>
          <p:nvPr/>
        </p:nvSpPr>
        <p:spPr>
          <a:xfrm>
            <a:off x="157544" y="4272041"/>
            <a:ext cx="1583258" cy="1108892"/>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8" name="Group 77"/>
          <p:cNvGrpSpPr/>
          <p:nvPr/>
        </p:nvGrpSpPr>
        <p:grpSpPr>
          <a:xfrm>
            <a:off x="1372920" y="1825396"/>
            <a:ext cx="6822778" cy="2254869"/>
            <a:chOff x="1372920" y="1825396"/>
            <a:chExt cx="6822778" cy="2254869"/>
          </a:xfrm>
        </p:grpSpPr>
        <p:sp>
          <p:nvSpPr>
            <p:cNvPr id="9" name="Line Callout 2 8"/>
            <p:cNvSpPr/>
            <p:nvPr/>
          </p:nvSpPr>
          <p:spPr>
            <a:xfrm>
              <a:off x="5510176" y="1825396"/>
              <a:ext cx="2685522" cy="865818"/>
            </a:xfrm>
            <a:prstGeom prst="borderCallout2">
              <a:avLst>
                <a:gd name="adj1" fmla="val 18750"/>
                <a:gd name="adj2" fmla="val -8333"/>
                <a:gd name="adj3" fmla="val 18750"/>
                <a:gd name="adj4" fmla="val -16667"/>
                <a:gd name="adj5" fmla="val 152469"/>
                <a:gd name="adj6" fmla="val -26221"/>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66% reduction of hosts.</a:t>
              </a:r>
            </a:p>
            <a:p>
              <a:pPr algn="ctr"/>
              <a:r>
                <a:rPr lang="en-US" dirty="0" smtClean="0"/>
                <a:t>Preserve ≥97% P2P flows</a:t>
              </a:r>
              <a:endParaRPr lang="en-US" dirty="0"/>
            </a:p>
          </p:txBody>
        </p:sp>
        <p:sp>
          <p:nvSpPr>
            <p:cNvPr id="74" name="Oval 73"/>
            <p:cNvSpPr/>
            <p:nvPr/>
          </p:nvSpPr>
          <p:spPr>
            <a:xfrm>
              <a:off x="1372920" y="3644105"/>
              <a:ext cx="1583258" cy="43616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p:cNvGrpSpPr/>
          <p:nvPr/>
        </p:nvGrpSpPr>
        <p:grpSpPr>
          <a:xfrm>
            <a:off x="1383682" y="2255894"/>
            <a:ext cx="6812016" cy="1338482"/>
            <a:chOff x="1383682" y="2255894"/>
            <a:chExt cx="6812016" cy="1338482"/>
          </a:xfrm>
        </p:grpSpPr>
        <p:sp>
          <p:nvSpPr>
            <p:cNvPr id="7" name="Line Callout 2 6"/>
            <p:cNvSpPr/>
            <p:nvPr/>
          </p:nvSpPr>
          <p:spPr>
            <a:xfrm>
              <a:off x="5430727" y="2255894"/>
              <a:ext cx="2764971" cy="637456"/>
            </a:xfrm>
            <a:prstGeom prst="borderCallout2">
              <a:avLst>
                <a:gd name="adj1" fmla="val 100758"/>
                <a:gd name="adj2" fmla="val 51919"/>
                <a:gd name="adj3" fmla="val 167937"/>
                <a:gd name="adj4" fmla="val 31238"/>
                <a:gd name="adj5" fmla="val 239656"/>
                <a:gd name="adj6" fmla="val 1259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All P2P Clients Detected</a:t>
              </a:r>
              <a:endParaRPr lang="en-US" dirty="0"/>
            </a:p>
          </p:txBody>
        </p:sp>
        <p:sp>
          <p:nvSpPr>
            <p:cNvPr id="75" name="Oval 74"/>
            <p:cNvSpPr/>
            <p:nvPr/>
          </p:nvSpPr>
          <p:spPr>
            <a:xfrm>
              <a:off x="1383682" y="3158216"/>
              <a:ext cx="1583258" cy="43616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6" name="Oval 75"/>
          <p:cNvSpPr/>
          <p:nvPr/>
        </p:nvSpPr>
        <p:spPr>
          <a:xfrm>
            <a:off x="1407302" y="2306021"/>
            <a:ext cx="1583258" cy="43616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Line Callout 2 7"/>
          <p:cNvSpPr/>
          <p:nvPr/>
        </p:nvSpPr>
        <p:spPr>
          <a:xfrm>
            <a:off x="6394169" y="2431648"/>
            <a:ext cx="2418402" cy="743441"/>
          </a:xfrm>
          <a:prstGeom prst="borderCallout2">
            <a:avLst>
              <a:gd name="adj1" fmla="val 96027"/>
              <a:gd name="adj2" fmla="val 48696"/>
              <a:gd name="adj3" fmla="val 112865"/>
              <a:gd name="adj4" fmla="val 60272"/>
              <a:gd name="adj5" fmla="val 171478"/>
              <a:gd name="adj6" fmla="val 65492"/>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100% Detection Rate;</a:t>
            </a:r>
          </a:p>
          <a:p>
            <a:pPr algn="ctr"/>
            <a:r>
              <a:rPr lang="en-US" dirty="0" smtClean="0"/>
              <a:t>0.2% False Alarm Rate</a:t>
            </a:r>
            <a:endParaRPr lang="en-US" dirty="0"/>
          </a:p>
        </p:txBody>
      </p:sp>
      <p:sp>
        <p:nvSpPr>
          <p:cNvPr id="77" name="Oval 76"/>
          <p:cNvSpPr/>
          <p:nvPr/>
        </p:nvSpPr>
        <p:spPr>
          <a:xfrm>
            <a:off x="1418064" y="1801703"/>
            <a:ext cx="1583258" cy="436160"/>
          </a:xfrm>
          <a:prstGeom prst="ellipse">
            <a:avLst/>
          </a:prstGeom>
          <a:noFill/>
          <a:ln w="254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31400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7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7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animBg="1"/>
      <p:bldP spid="73" grpId="1" animBg="1"/>
      <p:bldP spid="76" grpId="0" animBg="1"/>
      <p:bldP spid="76" grpId="1" animBg="1"/>
      <p:bldP spid="8" grpId="0" animBg="1"/>
      <p:bldP spid="77" grpId="0" animBg="1"/>
      <p:bldP spid="77" grpId="1"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Conclusion of P2P </a:t>
            </a:r>
            <a:r>
              <a:rPr lang="en-US" b="1" dirty="0" err="1" smtClean="0"/>
              <a:t>Botnet</a:t>
            </a:r>
            <a:r>
              <a:rPr lang="en-US" b="1" dirty="0" smtClean="0"/>
              <a:t> Detection</a:t>
            </a:r>
            <a:endParaRPr lang="en-US" b="1" dirty="0"/>
          </a:p>
        </p:txBody>
      </p:sp>
      <p:sp>
        <p:nvSpPr>
          <p:cNvPr id="3" name="Content Placeholder 2"/>
          <p:cNvSpPr>
            <a:spLocks noGrp="1"/>
          </p:cNvSpPr>
          <p:nvPr>
            <p:ph idx="1"/>
          </p:nvPr>
        </p:nvSpPr>
        <p:spPr>
          <a:xfrm>
            <a:off x="457200" y="1417637"/>
            <a:ext cx="8229600" cy="5089003"/>
          </a:xfrm>
        </p:spPr>
        <p:txBody>
          <a:bodyPr>
            <a:normAutofit fontScale="92500" lnSpcReduction="20000"/>
          </a:bodyPr>
          <a:lstStyle/>
          <a:p>
            <a:r>
              <a:rPr lang="en-US" dirty="0" smtClean="0"/>
              <a:t>A novel method to </a:t>
            </a:r>
            <a:r>
              <a:rPr lang="en-US" b="1" i="1" dirty="0" smtClean="0"/>
              <a:t>detect</a:t>
            </a:r>
            <a:r>
              <a:rPr lang="en-US" dirty="0" smtClean="0"/>
              <a:t> and </a:t>
            </a:r>
            <a:r>
              <a:rPr lang="en-US" b="1" i="1" dirty="0" smtClean="0"/>
              <a:t>profile</a:t>
            </a:r>
            <a:r>
              <a:rPr lang="en-US" dirty="0" smtClean="0"/>
              <a:t> P2P applications</a:t>
            </a:r>
          </a:p>
          <a:p>
            <a:pPr lvl="1"/>
            <a:r>
              <a:rPr lang="en-US" sz="2378" dirty="0" smtClean="0"/>
              <a:t>A novel DNS-based traffic filter</a:t>
            </a:r>
          </a:p>
          <a:p>
            <a:pPr lvl="1"/>
            <a:r>
              <a:rPr lang="en-US" sz="2400" dirty="0" smtClean="0"/>
              <a:t>A Clustering-based flow analysis approach</a:t>
            </a:r>
          </a:p>
          <a:p>
            <a:pPr lvl="1"/>
            <a:endParaRPr lang="en-US" sz="2400" dirty="0" smtClean="0"/>
          </a:p>
          <a:p>
            <a:r>
              <a:rPr lang="en-US" dirty="0" smtClean="0"/>
              <a:t>A novel P2P </a:t>
            </a:r>
            <a:r>
              <a:rPr lang="en-US" dirty="0" err="1" smtClean="0"/>
              <a:t>botnet</a:t>
            </a:r>
            <a:r>
              <a:rPr lang="en-US" dirty="0" smtClean="0"/>
              <a:t> detection method</a:t>
            </a:r>
          </a:p>
          <a:p>
            <a:pPr lvl="1"/>
            <a:r>
              <a:rPr lang="en-US" sz="2400" dirty="0" smtClean="0"/>
              <a:t>Detect bots even if their underlying operating systems are running legitimate P2P applications</a:t>
            </a:r>
          </a:p>
          <a:p>
            <a:pPr lvl="1"/>
            <a:r>
              <a:rPr lang="en-US" sz="2400" dirty="0" smtClean="0"/>
              <a:t>Detect bots even if their malicious activities are not observed</a:t>
            </a:r>
          </a:p>
          <a:p>
            <a:pPr lvl="1"/>
            <a:r>
              <a:rPr lang="en-US" sz="2400" dirty="0" smtClean="0"/>
              <a:t>100% detection rate</a:t>
            </a:r>
          </a:p>
          <a:p>
            <a:pPr lvl="1"/>
            <a:r>
              <a:rPr lang="en-US" sz="2400" dirty="0" smtClean="0"/>
              <a:t>0.2% false alarm rate</a:t>
            </a:r>
          </a:p>
          <a:p>
            <a:pPr lvl="1"/>
            <a:endParaRPr lang="en-US" sz="2400" dirty="0" smtClean="0"/>
          </a:p>
          <a:p>
            <a:r>
              <a:rPr lang="en-US" dirty="0" smtClean="0"/>
              <a:t>A scalable system</a:t>
            </a:r>
          </a:p>
          <a:p>
            <a:pPr lvl="1"/>
            <a:r>
              <a:rPr lang="en-US" sz="2400" dirty="0" smtClean="0"/>
              <a:t>Process 80 million flows in 0.69 hours</a:t>
            </a:r>
          </a:p>
        </p:txBody>
      </p:sp>
      <p:sp>
        <p:nvSpPr>
          <p:cNvPr id="4" name="Slide Number Placeholder 3"/>
          <p:cNvSpPr>
            <a:spLocks noGrp="1"/>
          </p:cNvSpPr>
          <p:nvPr>
            <p:ph type="sldNum" sz="quarter" idx="12"/>
          </p:nvPr>
        </p:nvSpPr>
        <p:spPr/>
        <p:txBody>
          <a:bodyPr/>
          <a:lstStyle/>
          <a:p>
            <a:fld id="{92A8EF56-05AC-594A-B4F8-D7320BBA0A9A}" type="slidenum">
              <a:rPr lang="en-US" smtClean="0"/>
              <a:pPr/>
              <a:t>106</a:t>
            </a:fld>
            <a:endParaRPr lang="en-US"/>
          </a:p>
        </p:txBody>
      </p:sp>
    </p:spTree>
    <p:extLst>
      <p:ext uri="{BB962C8B-B14F-4D97-AF65-F5344CB8AC3E}">
        <p14:creationId xmlns:p14="http://schemas.microsoft.com/office/powerpoint/2010/main" val="27782074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t>Limitations and Future Work</a:t>
            </a:r>
            <a:endParaRPr lang="en-US" sz="4400" dirty="0"/>
          </a:p>
        </p:txBody>
      </p:sp>
      <p:sp>
        <p:nvSpPr>
          <p:cNvPr id="3" name="Content Placeholder 2"/>
          <p:cNvSpPr>
            <a:spLocks noGrp="1"/>
          </p:cNvSpPr>
          <p:nvPr>
            <p:ph idx="1"/>
          </p:nvPr>
        </p:nvSpPr>
        <p:spPr/>
        <p:txBody>
          <a:bodyPr/>
          <a:lstStyle/>
          <a:p>
            <a:r>
              <a:rPr lang="en-US" dirty="0" smtClean="0"/>
              <a:t>Evasion</a:t>
            </a:r>
          </a:p>
          <a:p>
            <a:pPr lvl="1"/>
            <a:r>
              <a:rPr lang="en-US" dirty="0" smtClean="0"/>
              <a:t>Randomize the communication</a:t>
            </a:r>
          </a:p>
          <a:p>
            <a:pPr lvl="1"/>
            <a:r>
              <a:rPr lang="en-US" dirty="0" smtClean="0"/>
              <a:t>Randomize the command</a:t>
            </a:r>
          </a:p>
          <a:p>
            <a:pPr lvl="1"/>
            <a:endParaRPr lang="en-US" dirty="0" smtClean="0"/>
          </a:p>
          <a:p>
            <a:r>
              <a:rPr lang="en-US" dirty="0" smtClean="0"/>
              <a:t>Backbone network</a:t>
            </a:r>
          </a:p>
          <a:p>
            <a:pPr lvl="1"/>
            <a:r>
              <a:rPr lang="en-US" dirty="0" smtClean="0"/>
              <a:t>Network flows are heavily sampled</a:t>
            </a:r>
          </a:p>
          <a:p>
            <a:pPr lvl="1"/>
            <a:endParaRPr lang="en-US" dirty="0" smtClean="0"/>
          </a:p>
          <a:p>
            <a:r>
              <a:rPr lang="en-US" dirty="0" smtClean="0"/>
              <a:t>Online Detection</a:t>
            </a:r>
            <a:endParaRPr lang="en-US" dirty="0"/>
          </a:p>
        </p:txBody>
      </p:sp>
      <p:sp>
        <p:nvSpPr>
          <p:cNvPr id="4" name="Slide Number Placeholder 3"/>
          <p:cNvSpPr>
            <a:spLocks noGrp="1"/>
          </p:cNvSpPr>
          <p:nvPr>
            <p:ph type="sldNum" sz="quarter" idx="12"/>
          </p:nvPr>
        </p:nvSpPr>
        <p:spPr/>
        <p:txBody>
          <a:bodyPr/>
          <a:lstStyle/>
          <a:p>
            <a:fld id="{A64B996E-896C-8B42-97AF-DF9D242D39BE}" type="slidenum">
              <a:rPr lang="en-US" smtClean="0"/>
              <a:pPr/>
              <a:t>107</a:t>
            </a:fld>
            <a:endParaRPr lang="en-US"/>
          </a:p>
        </p:txBody>
      </p:sp>
    </p:spTree>
    <p:extLst>
      <p:ext uri="{BB962C8B-B14F-4D97-AF65-F5344CB8AC3E}">
        <p14:creationId xmlns:p14="http://schemas.microsoft.com/office/powerpoint/2010/main" val="11387719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xmlns:p14="http://schemas.microsoft.com/office/powerpoint/2010/main" spd="slow"/>
    </mc:Fallback>
  </mc:AlternateContent>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154</TotalTime>
  <Words>7153</Words>
  <Application>Microsoft Macintosh PowerPoint</Application>
  <PresentationFormat>On-screen Show (4:3)</PresentationFormat>
  <Paragraphs>1421</Paragraphs>
  <Slides>107</Slides>
  <Notes>28</Notes>
  <HiddenSlides>3</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107</vt:i4>
      </vt:variant>
    </vt:vector>
  </HeadingPairs>
  <TitlesOfParts>
    <vt:vector size="109" baseType="lpstr">
      <vt:lpstr>Office Theme</vt:lpstr>
      <vt:lpstr>Bitmap Image</vt:lpstr>
      <vt:lpstr>Malicious Applications</vt:lpstr>
      <vt:lpstr>Malware</vt:lpstr>
      <vt:lpstr>Backdoor/Trapdoor</vt:lpstr>
      <vt:lpstr>Logic Bomb</vt:lpstr>
      <vt:lpstr>Virus</vt:lpstr>
      <vt:lpstr>Virus Infection Vectors</vt:lpstr>
      <vt:lpstr>Virus Characteristics</vt:lpstr>
      <vt:lpstr>Polymorphic/Metamorphic Virus</vt:lpstr>
      <vt:lpstr>Trojan Horse</vt:lpstr>
      <vt:lpstr>Trojan Horse</vt:lpstr>
      <vt:lpstr>Privacy-Invasive Software</vt:lpstr>
      <vt:lpstr>Worms</vt:lpstr>
      <vt:lpstr>Virus v.s. Worms</vt:lpstr>
      <vt:lpstr>An Abstract Worm Model</vt:lpstr>
      <vt:lpstr>Examples</vt:lpstr>
      <vt:lpstr>Examples</vt:lpstr>
      <vt:lpstr>Examples</vt:lpstr>
      <vt:lpstr>A Brief History of Worms</vt:lpstr>
      <vt:lpstr>Morris Worm</vt:lpstr>
      <vt:lpstr>Morris Worm</vt:lpstr>
      <vt:lpstr>The Code Red Worm</vt:lpstr>
      <vt:lpstr>The Nimda Worm</vt:lpstr>
      <vt:lpstr>Blaster Worm</vt:lpstr>
      <vt:lpstr>SQL Slammer Worm</vt:lpstr>
      <vt:lpstr>5.2.6. SQL Slammer Worm</vt:lpstr>
      <vt:lpstr>Deterministic epidemic models — Simple epidemic model</vt:lpstr>
      <vt:lpstr>Build “Better” Worms</vt:lpstr>
      <vt:lpstr>The Roadmap</vt:lpstr>
      <vt:lpstr>The Code Red I</vt:lpstr>
      <vt:lpstr>The Code Red I</vt:lpstr>
      <vt:lpstr>The Code Red I</vt:lpstr>
      <vt:lpstr>Build “Better” Worms - Practice</vt:lpstr>
      <vt:lpstr>Code Red II</vt:lpstr>
      <vt:lpstr>Code Red II</vt:lpstr>
      <vt:lpstr>Nimda</vt:lpstr>
      <vt:lpstr>Nimda</vt:lpstr>
      <vt:lpstr>Build “Better” Worms - Theory</vt:lpstr>
      <vt:lpstr>Hit-list scanning</vt:lpstr>
      <vt:lpstr>Hit-list scanning</vt:lpstr>
      <vt:lpstr>Permutation Scanning</vt:lpstr>
      <vt:lpstr>Permutation Scanning</vt:lpstr>
      <vt:lpstr>Permutation Scanning</vt:lpstr>
      <vt:lpstr>Permutation Scanning</vt:lpstr>
      <vt:lpstr>Warhol Worm</vt:lpstr>
      <vt:lpstr>Warhol Worm</vt:lpstr>
      <vt:lpstr>Topological Scanning</vt:lpstr>
      <vt:lpstr>Flash Worm</vt:lpstr>
      <vt:lpstr>Detection</vt:lpstr>
      <vt:lpstr>Worm =&gt; Bot</vt:lpstr>
      <vt:lpstr>Worm =&gt; Bot</vt:lpstr>
      <vt:lpstr>Worm =&gt; Bot</vt:lpstr>
      <vt:lpstr>Botnet</vt:lpstr>
      <vt:lpstr>Botnet</vt:lpstr>
      <vt:lpstr>Botnet</vt:lpstr>
      <vt:lpstr>Botnet</vt:lpstr>
      <vt:lpstr>Botnet – A Global Problem</vt:lpstr>
      <vt:lpstr>Botnet - A Persistent Threat</vt:lpstr>
      <vt:lpstr>Botnet - A Persistent Threat</vt:lpstr>
      <vt:lpstr>Botnet - A Persistent Threat</vt:lpstr>
      <vt:lpstr>Roadmap</vt:lpstr>
      <vt:lpstr>Botnet C&amp;Cs</vt:lpstr>
      <vt:lpstr>The War Field</vt:lpstr>
      <vt:lpstr>Build Robust C&amp;Cs – Round 1</vt:lpstr>
      <vt:lpstr>How does DNS work?</vt:lpstr>
      <vt:lpstr>Build Robust C&amp;Cs – Round 2</vt:lpstr>
      <vt:lpstr>Build Robust C&amp;Cs – Round 3</vt:lpstr>
      <vt:lpstr>Build Robust C&amp;Cs – Round 4.1</vt:lpstr>
      <vt:lpstr>Build Robust C&amp;Cs – Round 4.2</vt:lpstr>
      <vt:lpstr>Detecting Centralized IRC-Based Botnet</vt:lpstr>
      <vt:lpstr>Detecting C&amp;C Channels</vt:lpstr>
      <vt:lpstr>Bot Examples</vt:lpstr>
      <vt:lpstr>Bot Examples</vt:lpstr>
      <vt:lpstr>Bot Examples</vt:lpstr>
      <vt:lpstr>Roadmap</vt:lpstr>
      <vt:lpstr>Intuition</vt:lpstr>
      <vt:lpstr>Intuition</vt:lpstr>
      <vt:lpstr>Intuition</vt:lpstr>
      <vt:lpstr>Intuition</vt:lpstr>
      <vt:lpstr>Intuition</vt:lpstr>
      <vt:lpstr>Detection</vt:lpstr>
      <vt:lpstr>Experiments</vt:lpstr>
      <vt:lpstr>Experiments</vt:lpstr>
      <vt:lpstr>Detecting P2P Botnets</vt:lpstr>
      <vt:lpstr>Goal</vt:lpstr>
      <vt:lpstr>Challenges</vt:lpstr>
      <vt:lpstr>System Architecture</vt:lpstr>
      <vt:lpstr>P2P Client Detection</vt:lpstr>
      <vt:lpstr>Why Not Using Existing P2P Detection Methods?</vt:lpstr>
      <vt:lpstr>P2P Client Detection</vt:lpstr>
      <vt:lpstr>An Example of A P2P Control Flow</vt:lpstr>
      <vt:lpstr>Characteristics of P2P Control Flows</vt:lpstr>
      <vt:lpstr>Characteristics of P2P Control Flows</vt:lpstr>
      <vt:lpstr>Characteristics of P2P Control Flows</vt:lpstr>
      <vt:lpstr>Characteristics of P2P Control Flows</vt:lpstr>
      <vt:lpstr>Characteristics of P2P Control Flows</vt:lpstr>
      <vt:lpstr>P2P Client Detection</vt:lpstr>
      <vt:lpstr>DNS-Based Traffic Filtering</vt:lpstr>
      <vt:lpstr>Clustering-Based Flow Analysis</vt:lpstr>
      <vt:lpstr>P2P-Botnet Detection</vt:lpstr>
      <vt:lpstr>P2P Bots v.s. Legitimate P2P Clients</vt:lpstr>
      <vt:lpstr>Temporal Feature Based Detection</vt:lpstr>
      <vt:lpstr>Spatial Feature Based Detection</vt:lpstr>
      <vt:lpstr>Spatial Feature Based Detection</vt:lpstr>
      <vt:lpstr>Evaluation</vt:lpstr>
      <vt:lpstr>Evaluation</vt:lpstr>
      <vt:lpstr>Conclusion of P2P Botnet Detection</vt:lpstr>
      <vt:lpstr>Limitations and Future Work</vt:lpstr>
    </vt:vector>
  </TitlesOfParts>
  <Company>Wright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Malicious Applications</dc:title>
  <dc:creator>Junjie Zhang</dc:creator>
  <cp:lastModifiedBy>Junjie Zhang</cp:lastModifiedBy>
  <cp:revision>124</cp:revision>
  <dcterms:created xsi:type="dcterms:W3CDTF">2014-07-09T02:24:15Z</dcterms:created>
  <dcterms:modified xsi:type="dcterms:W3CDTF">2015-10-15T21:44:10Z</dcterms:modified>
</cp:coreProperties>
</file>