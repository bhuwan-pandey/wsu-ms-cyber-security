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84" r:id="rId2"/>
    <p:sldId id="285" r:id="rId3"/>
    <p:sldId id="286" r:id="rId4"/>
    <p:sldId id="287" r:id="rId5"/>
    <p:sldId id="288" r:id="rId6"/>
    <p:sldId id="290" r:id="rId7"/>
    <p:sldId id="291" r:id="rId8"/>
    <p:sldId id="292" r:id="rId9"/>
    <p:sldId id="293" r:id="rId10"/>
    <p:sldId id="294" r:id="rId11"/>
    <p:sldId id="295" r:id="rId12"/>
    <p:sldId id="319" r:id="rId13"/>
    <p:sldId id="321" r:id="rId14"/>
    <p:sldId id="325" r:id="rId15"/>
    <p:sldId id="326" r:id="rId16"/>
    <p:sldId id="322" r:id="rId17"/>
    <p:sldId id="327" r:id="rId18"/>
    <p:sldId id="329" r:id="rId19"/>
    <p:sldId id="330" r:id="rId20"/>
    <p:sldId id="328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297" r:id="rId29"/>
    <p:sldId id="296" r:id="rId30"/>
    <p:sldId id="351" r:id="rId31"/>
    <p:sldId id="299" r:id="rId32"/>
    <p:sldId id="304" r:id="rId33"/>
    <p:sldId id="302" r:id="rId34"/>
    <p:sldId id="306" r:id="rId35"/>
    <p:sldId id="320" r:id="rId36"/>
    <p:sldId id="307" r:id="rId37"/>
    <p:sldId id="301" r:id="rId38"/>
    <p:sldId id="338" r:id="rId39"/>
    <p:sldId id="350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48" r:id="rId49"/>
    <p:sldId id="352" r:id="rId50"/>
    <p:sldId id="353" r:id="rId51"/>
    <p:sldId id="349" r:id="rId52"/>
    <p:sldId id="354" r:id="rId53"/>
    <p:sldId id="355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6923" autoAdjust="0"/>
  </p:normalViewPr>
  <p:slideViewPr>
    <p:cSldViewPr snapToGrid="0" snapToObjects="1">
      <p:cViewPr varScale="1">
        <p:scale>
          <a:sx n="81" d="100"/>
          <a:sy n="81" d="100"/>
        </p:scale>
        <p:origin x="244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8B87F-11AC-6D46-9BEE-BEA35A6719EA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C6DA2-2425-7640-A467-8DCF2E565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5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Will this packet be sent to the server?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2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Will this packet be sent to the server?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29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Will this packet be sent to the server?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29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Will this packet be sent to the server?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29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Will this packet be sent to the server?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29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Will this packet be sent to the server?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29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Will this packet be sent to the server?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29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Performance</a:t>
            </a:r>
          </a:p>
          <a:p>
            <a:pPr marL="228600" indent="-228600">
              <a:buAutoNum type="arabicPeriod"/>
            </a:pPr>
            <a:r>
              <a:rPr lang="en-US" dirty="0"/>
              <a:t>Failure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02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71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C6DA2-2425-7640-A467-8DCF2E5658D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71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56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6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2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0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0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7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5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5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84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1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A9C1F-E079-8444-B056-7C23D397D3F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7146A-A1AA-BD4E-AF98-B44FFCFC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5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75972"/>
          </a:xfrm>
        </p:spPr>
        <p:txBody>
          <a:bodyPr/>
          <a:lstStyle/>
          <a:p>
            <a:r>
              <a:rPr lang="en-US" dirty="0"/>
              <a:t>An attacker takes over a TCP session between two machines.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4691727" y="3059204"/>
            <a:ext cx="3660576" cy="1881761"/>
            <a:chOff x="-1540" y="1784"/>
            <a:chExt cx="2838" cy="1536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-1540" y="2565"/>
              <a:ext cx="2838" cy="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Server</a:t>
              </a:r>
            </a:p>
            <a:p>
              <a:pPr algn="ctr"/>
              <a:r>
                <a:rPr lang="en-US" dirty="0"/>
                <a:t>trust message from C</a:t>
              </a:r>
            </a:p>
            <a:p>
              <a:pPr algn="ctr"/>
              <a:r>
                <a:rPr lang="en-US" dirty="0"/>
                <a:t>Based on C’s IP address</a:t>
              </a:r>
              <a:endParaRPr lang="en-GB" dirty="0"/>
            </a:p>
          </p:txBody>
        </p:sp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609" y="178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1397824" y="3059204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3379024" y="5347423"/>
            <a:ext cx="1981200" cy="1250693"/>
            <a:chOff x="192" y="1488"/>
            <a:chExt cx="1536" cy="1140"/>
          </a:xfrm>
        </p:grpSpPr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Attacker</a:t>
              </a:r>
            </a:p>
          </p:txBody>
        </p:sp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cxnSp>
        <p:nvCxnSpPr>
          <p:cNvPr id="14" name="Straight Arrow Connector 13"/>
          <p:cNvCxnSpPr/>
          <p:nvPr/>
        </p:nvCxnSpPr>
        <p:spPr>
          <a:xfrm flipV="1">
            <a:off x="3199281" y="3411191"/>
            <a:ext cx="2246823" cy="2442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4257567" y="3598440"/>
            <a:ext cx="1082708" cy="1685242"/>
          </a:xfrm>
          <a:custGeom>
            <a:avLst/>
            <a:gdLst>
              <a:gd name="connsiteX0" fmla="*/ 0 w 1082708"/>
              <a:gd name="connsiteY0" fmla="*/ 1685242 h 1685242"/>
              <a:gd name="connsiteX1" fmla="*/ 203516 w 1082708"/>
              <a:gd name="connsiteY1" fmla="*/ 602454 h 1685242"/>
              <a:gd name="connsiteX2" fmla="*/ 1082708 w 1082708"/>
              <a:gd name="connsiteY2" fmla="*/ 0 h 168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2708" h="1685242">
                <a:moveTo>
                  <a:pt x="0" y="1685242"/>
                </a:moveTo>
                <a:cubicBezTo>
                  <a:pt x="11532" y="1284285"/>
                  <a:pt x="23065" y="883328"/>
                  <a:pt x="203516" y="602454"/>
                </a:cubicBezTo>
                <a:cubicBezTo>
                  <a:pt x="383967" y="321580"/>
                  <a:pt x="1082708" y="0"/>
                  <a:pt x="1082708" y="0"/>
                </a:cubicBezTo>
              </a:path>
            </a:pathLst>
          </a:custGeom>
          <a:ln>
            <a:solidFill>
              <a:schemeClr val="tx1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2276367" y="4684012"/>
            <a:ext cx="1981200" cy="355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93000"/>
              </a:lnSpc>
              <a:spcBef>
                <a:spcPts val="1500"/>
              </a:spcBef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GB" dirty="0">
                <a:latin typeface="Times New Roman" charset="0"/>
              </a:rPr>
              <a:t>Impersonate C</a:t>
            </a:r>
          </a:p>
        </p:txBody>
      </p:sp>
    </p:spTree>
    <p:extLst>
      <p:ext uri="{BB962C8B-B14F-4D97-AF65-F5344CB8AC3E}">
        <p14:creationId xmlns:p14="http://schemas.microsoft.com/office/powerpoint/2010/main" val="3464115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5506431" y="2606822"/>
            <a:ext cx="3660576" cy="2137808"/>
            <a:chOff x="-536" y="1564"/>
            <a:chExt cx="2838" cy="1745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-536" y="2554"/>
              <a:ext cx="2838" cy="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Server</a:t>
              </a:r>
            </a:p>
            <a:p>
              <a:pPr algn="ctr"/>
              <a:r>
                <a:rPr lang="en-US" dirty="0"/>
                <a:t>trust message from C</a:t>
              </a:r>
            </a:p>
            <a:p>
              <a:pPr algn="ctr"/>
              <a:r>
                <a:rPr lang="en-US" dirty="0"/>
                <a:t>Based on C’s IP</a:t>
              </a:r>
              <a:endParaRPr lang="en-GB" dirty="0"/>
            </a:p>
          </p:txBody>
        </p:sp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103241" y="2780493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0" name="Line 3"/>
          <p:cNvSpPr>
            <a:spLocks noChangeShapeType="1"/>
          </p:cNvSpPr>
          <p:nvPr/>
        </p:nvSpPr>
        <p:spPr bwMode="auto">
          <a:xfrm>
            <a:off x="1895564" y="1975613"/>
            <a:ext cx="4254671" cy="48295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>
            <a:off x="1895563" y="3625259"/>
            <a:ext cx="4254671" cy="3003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H="1">
            <a:off x="1895563" y="2780493"/>
            <a:ext cx="4254671" cy="42370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849879" y="1806336"/>
            <a:ext cx="2171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SYN  (</a:t>
            </a:r>
            <a:r>
              <a:rPr lang="en-US" sz="1600" dirty="0" err="1">
                <a:latin typeface="Tahoma" charset="0"/>
              </a:rPr>
              <a:t>seq</a:t>
            </a:r>
            <a:r>
              <a:rPr lang="en-US" sz="1600" dirty="0">
                <a:latin typeface="Tahoma" charset="0"/>
              </a:rPr>
              <a:t>=x)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2631496" y="2550788"/>
            <a:ext cx="27158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SYN  ACK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=x+1 </a:t>
            </a:r>
            <a:r>
              <a:rPr lang="en-US" sz="1600" dirty="0" err="1">
                <a:latin typeface="Tahoma" charset="0"/>
              </a:rPr>
              <a:t>seq</a:t>
            </a:r>
            <a:r>
              <a:rPr lang="en-US" sz="1600" dirty="0">
                <a:latin typeface="Tahoma" charset="0"/>
              </a:rPr>
              <a:t>=y)</a:t>
            </a:r>
            <a:endParaRPr lang="en-US" sz="1600" baseline="-25000" dirty="0">
              <a:latin typeface="Tahoma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2680042" y="3399554"/>
            <a:ext cx="24901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ACK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=y+1,seq=x+1)</a:t>
            </a:r>
            <a:endParaRPr lang="en-US" sz="1600" baseline="-25000" dirty="0">
              <a:latin typeface="Tahoma" charset="0"/>
            </a:endParaRPr>
          </a:p>
        </p:txBody>
      </p:sp>
      <p:sp>
        <p:nvSpPr>
          <p:cNvPr id="16" name="Line 4"/>
          <p:cNvSpPr>
            <a:spLocks noChangeShapeType="1"/>
          </p:cNvSpPr>
          <p:nvPr/>
        </p:nvSpPr>
        <p:spPr bwMode="auto">
          <a:xfrm>
            <a:off x="1943101" y="4499437"/>
            <a:ext cx="4207134" cy="336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1869030" y="4845521"/>
            <a:ext cx="43745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“echo + + &gt; ~/.</a:t>
            </a:r>
            <a:r>
              <a:rPr lang="en-US" sz="1600" dirty="0" err="1">
                <a:latin typeface="Tahoma" charset="0"/>
              </a:rPr>
              <a:t>rhosts</a:t>
            </a:r>
            <a:r>
              <a:rPr lang="en-US" sz="1600" dirty="0">
                <a:latin typeface="Tahoma" charset="0"/>
              </a:rPr>
              <a:t>”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=y+1,seq=x+1)</a:t>
            </a:r>
            <a:endParaRPr lang="en-US" sz="1600" baseline="-25000" dirty="0">
              <a:latin typeface="Tahoma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895564" y="1618168"/>
            <a:ext cx="0" cy="394761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150234" y="1618168"/>
            <a:ext cx="1" cy="394761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42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5506431" y="2606822"/>
            <a:ext cx="3660576" cy="2137808"/>
            <a:chOff x="-536" y="1564"/>
            <a:chExt cx="2838" cy="1745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-536" y="2554"/>
              <a:ext cx="2838" cy="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Server</a:t>
              </a:r>
            </a:p>
            <a:p>
              <a:pPr algn="ctr"/>
              <a:r>
                <a:rPr lang="en-US" dirty="0"/>
                <a:t>trust message from C</a:t>
              </a:r>
            </a:p>
            <a:p>
              <a:pPr algn="ctr"/>
              <a:r>
                <a:rPr lang="en-US" dirty="0"/>
                <a:t>Based on C’s IP</a:t>
              </a:r>
              <a:endParaRPr lang="en-GB" dirty="0"/>
            </a:p>
          </p:txBody>
        </p:sp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0" name="Line 3"/>
          <p:cNvSpPr>
            <a:spLocks noChangeShapeType="1"/>
          </p:cNvSpPr>
          <p:nvPr/>
        </p:nvSpPr>
        <p:spPr bwMode="auto">
          <a:xfrm>
            <a:off x="1895564" y="1975613"/>
            <a:ext cx="4254671" cy="48295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>
            <a:off x="1895563" y="3625259"/>
            <a:ext cx="4254671" cy="3003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H="1">
            <a:off x="1895563" y="2780493"/>
            <a:ext cx="4254671" cy="42370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849879" y="1806336"/>
            <a:ext cx="2171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SYN  (</a:t>
            </a:r>
            <a:r>
              <a:rPr lang="en-US" sz="1600" dirty="0" err="1">
                <a:latin typeface="Tahoma" charset="0"/>
              </a:rPr>
              <a:t>seq</a:t>
            </a:r>
            <a:r>
              <a:rPr lang="en-US" sz="1600" dirty="0">
                <a:latin typeface="Tahoma" charset="0"/>
              </a:rPr>
              <a:t>=x)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2631496" y="2550788"/>
            <a:ext cx="27158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SYN  ACK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=x+1 </a:t>
            </a:r>
            <a:r>
              <a:rPr lang="en-US" sz="1600" dirty="0" err="1">
                <a:latin typeface="Tahoma" charset="0"/>
              </a:rPr>
              <a:t>seq</a:t>
            </a:r>
            <a:r>
              <a:rPr lang="en-US" sz="1600" dirty="0">
                <a:latin typeface="Tahoma" charset="0"/>
              </a:rPr>
              <a:t>=y)</a:t>
            </a:r>
            <a:endParaRPr lang="en-US" sz="1600" baseline="-25000" dirty="0">
              <a:latin typeface="Tahoma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2680042" y="3399554"/>
            <a:ext cx="24901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ACK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=y+1,seq=x+1)</a:t>
            </a:r>
            <a:endParaRPr lang="en-US" sz="1600" baseline="-25000" dirty="0">
              <a:latin typeface="Tahoma" charset="0"/>
            </a:endParaRPr>
          </a:p>
        </p:txBody>
      </p:sp>
      <p:sp>
        <p:nvSpPr>
          <p:cNvPr id="16" name="Line 4"/>
          <p:cNvSpPr>
            <a:spLocks noChangeShapeType="1"/>
          </p:cNvSpPr>
          <p:nvPr/>
        </p:nvSpPr>
        <p:spPr bwMode="auto">
          <a:xfrm>
            <a:off x="1943101" y="4211129"/>
            <a:ext cx="4207134" cy="336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1841016" y="4556024"/>
            <a:ext cx="43745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“echo + + &gt; ~/.</a:t>
            </a:r>
            <a:r>
              <a:rPr lang="en-US" sz="1600" dirty="0" err="1">
                <a:latin typeface="Tahoma" charset="0"/>
              </a:rPr>
              <a:t>rhosts</a:t>
            </a:r>
            <a:r>
              <a:rPr lang="en-US" sz="1600" dirty="0">
                <a:latin typeface="Tahoma" charset="0"/>
              </a:rPr>
              <a:t>” (</a:t>
            </a:r>
            <a:r>
              <a:rPr lang="en-US" sz="1600" dirty="0" err="1">
                <a:latin typeface="Tahoma" charset="0"/>
              </a:rPr>
              <a:t>ack</a:t>
            </a:r>
            <a:r>
              <a:rPr lang="en-US" sz="1600" dirty="0">
                <a:latin typeface="Tahoma" charset="0"/>
              </a:rPr>
              <a:t>=y+1,seq=x+1)</a:t>
            </a:r>
            <a:endParaRPr lang="en-US" sz="1600" baseline="-25000" dirty="0">
              <a:latin typeface="Tahoma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1895563" y="1618168"/>
            <a:ext cx="1" cy="43024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150234" y="1618168"/>
            <a:ext cx="1" cy="43024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7"/>
          <p:cNvGrpSpPr>
            <a:grpSpLocks/>
          </p:cNvGrpSpPr>
          <p:nvPr/>
        </p:nvGrpSpPr>
        <p:grpSpPr bwMode="auto">
          <a:xfrm>
            <a:off x="130423" y="2568984"/>
            <a:ext cx="1981200" cy="1234237"/>
            <a:chOff x="199" y="1488"/>
            <a:chExt cx="1536" cy="1125"/>
          </a:xfrm>
        </p:grpSpPr>
        <p:sp>
          <p:nvSpPr>
            <p:cNvPr id="22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b="1" dirty="0">
                  <a:solidFill>
                    <a:srgbClr val="FF0000"/>
                  </a:solidFill>
                  <a:latin typeface="Times New Roman" charset="0"/>
                </a:rPr>
                <a:t>Attacker</a:t>
              </a:r>
            </a:p>
          </p:txBody>
        </p:sp>
        <p:pic>
          <p:nvPicPr>
            <p:cNvPr id="23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24" name="Line 4"/>
          <p:cNvSpPr>
            <a:spLocks noChangeShapeType="1"/>
          </p:cNvSpPr>
          <p:nvPr/>
        </p:nvSpPr>
        <p:spPr bwMode="auto">
          <a:xfrm flipH="1">
            <a:off x="1841016" y="5173559"/>
            <a:ext cx="4309218" cy="43255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2619267" y="5436838"/>
            <a:ext cx="30181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latin typeface="Tahoma" charset="0"/>
              </a:rPr>
              <a:t>RST</a:t>
            </a:r>
            <a:endParaRPr lang="en-US" sz="1600" baseline="-25000" dirty="0">
              <a:latin typeface="Tahoma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24939" y="4841583"/>
            <a:ext cx="221259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400" dirty="0">
                <a:solidFill>
                  <a:srgbClr val="FF0000"/>
                </a:solidFill>
                <a:latin typeface="Tahoma" charset="0"/>
              </a:rPr>
              <a:t>Ignore the command as this session is not established from C </a:t>
            </a:r>
            <a:endParaRPr lang="en-US" sz="1400" baseline="-25000" dirty="0">
              <a:solidFill>
                <a:srgbClr val="FF0000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85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3336"/>
            <a:ext cx="8229600" cy="594360"/>
          </a:xfrm>
        </p:spPr>
        <p:txBody>
          <a:bodyPr/>
          <a:lstStyle/>
          <a:p>
            <a:r>
              <a:rPr lang="en-US" dirty="0"/>
              <a:t>IP Spoofing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5324682" y="3556670"/>
            <a:ext cx="3660576" cy="2137808"/>
            <a:chOff x="-536" y="1564"/>
            <a:chExt cx="2838" cy="1745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-536" y="2554"/>
              <a:ext cx="2838" cy="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Server</a:t>
              </a:r>
            </a:p>
            <a:p>
              <a:pPr algn="ctr"/>
              <a:r>
                <a:rPr lang="en-US" dirty="0"/>
                <a:t>trust message from C</a:t>
              </a:r>
            </a:p>
            <a:p>
              <a:pPr algn="ctr"/>
              <a:r>
                <a:rPr lang="en-US" dirty="0"/>
                <a:t>Based on C’s IP</a:t>
              </a:r>
              <a:endParaRPr lang="en-GB" dirty="0"/>
            </a:p>
          </p:txBody>
        </p:sp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694067" y="1603836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922793" y="3601419"/>
            <a:ext cx="1981200" cy="1250693"/>
            <a:chOff x="192" y="1488"/>
            <a:chExt cx="1536" cy="1140"/>
          </a:xfrm>
        </p:grpSpPr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Attacker</a:t>
              </a:r>
            </a:p>
          </p:txBody>
        </p:sp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651689"/>
              </p:ext>
            </p:extLst>
          </p:nvPr>
        </p:nvGraphicFramePr>
        <p:xfrm>
          <a:off x="1232356" y="4898807"/>
          <a:ext cx="2880150" cy="609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1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SrcIP</a:t>
                      </a:r>
                      <a:endParaRPr lang="en-US" sz="1400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DstIP</a:t>
                      </a:r>
                      <a:endParaRPr lang="en-US" sz="1400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IP</a:t>
                      </a:r>
                      <a:r>
                        <a:rPr lang="en-US" sz="1400" baseline="0" dirty="0"/>
                        <a:t> Payload</a:t>
                      </a:r>
                      <a:endParaRPr lang="en-US" sz="1400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1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C’s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Server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Line 3"/>
          <p:cNvSpPr>
            <a:spLocks noChangeShapeType="1"/>
          </p:cNvSpPr>
          <p:nvPr/>
        </p:nvSpPr>
        <p:spPr bwMode="auto">
          <a:xfrm>
            <a:off x="2510878" y="3976250"/>
            <a:ext cx="406237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9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694067" y="1603836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360293" y="2892961"/>
            <a:ext cx="3078857" cy="1944241"/>
            <a:chOff x="-277" y="1564"/>
            <a:chExt cx="2387" cy="1587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-277" y="2446"/>
              <a:ext cx="2387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  <a:p>
              <a:pPr algn="ctr"/>
              <a:r>
                <a:rPr lang="en-US" sz="1600" dirty="0"/>
                <a:t>trust message from C</a:t>
              </a:r>
            </a:p>
            <a:p>
              <a:pPr algn="ctr"/>
              <a:r>
                <a:rPr lang="en-US" sz="1600" dirty="0"/>
                <a:t>Based on C’s IP</a:t>
              </a:r>
              <a:endParaRPr lang="en-GB" sz="1600" dirty="0"/>
            </a:p>
          </p:txBody>
        </p:sp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2810662" y="3852908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 flipV="1">
            <a:off x="5179968" y="2115214"/>
            <a:ext cx="1356618" cy="68671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219397" y="347544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87824" y="4550547"/>
            <a:ext cx="1731589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=?,seq=x+1)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810662" y="4949155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2810662" y="3550153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14075" y="3582436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737377" y="3008140"/>
            <a:ext cx="1981200" cy="1234237"/>
            <a:chOff x="199" y="1488"/>
            <a:chExt cx="1536" cy="1125"/>
          </a:xfrm>
        </p:grpSpPr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b="1" dirty="0">
                  <a:solidFill>
                    <a:srgbClr val="FF0000"/>
                  </a:solidFill>
                  <a:latin typeface="Times New Roman" charset="0"/>
                </a:rPr>
                <a:t>Attacker</a:t>
              </a:r>
            </a:p>
          </p:txBody>
        </p:sp>
        <p:pic>
          <p:nvPicPr>
            <p:cNvPr id="3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5645620" y="178163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Server,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C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=x+1 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=y)</a:t>
            </a:r>
            <a:endParaRPr lang="en-US" sz="1200" baseline="-250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38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694067" y="1603836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360293" y="2892961"/>
            <a:ext cx="3078857" cy="1944241"/>
            <a:chOff x="-277" y="1564"/>
            <a:chExt cx="2387" cy="1587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-277" y="2446"/>
              <a:ext cx="2387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  <a:p>
              <a:pPr algn="ctr"/>
              <a:r>
                <a:rPr lang="en-US" sz="1600" dirty="0"/>
                <a:t>trust message from C</a:t>
              </a:r>
            </a:p>
            <a:p>
              <a:pPr algn="ctr"/>
              <a:r>
                <a:rPr lang="en-US" sz="1600" dirty="0"/>
                <a:t>Based on C’s IP</a:t>
              </a:r>
              <a:endParaRPr lang="en-GB" sz="1600" dirty="0"/>
            </a:p>
          </p:txBody>
        </p:sp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2810662" y="3852908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 flipV="1">
            <a:off x="5179968" y="2115214"/>
            <a:ext cx="1356618" cy="68671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219397" y="347544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87824" y="4550547"/>
            <a:ext cx="1731589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=?,seq=x+1)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810662" y="4949155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2810662" y="3550153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14075" y="3582436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737377" y="3008140"/>
            <a:ext cx="1981200" cy="1234237"/>
            <a:chOff x="199" y="1488"/>
            <a:chExt cx="1536" cy="1125"/>
          </a:xfrm>
        </p:grpSpPr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b="1" dirty="0">
                  <a:solidFill>
                    <a:srgbClr val="FF0000"/>
                  </a:solidFill>
                  <a:latin typeface="Times New Roman" charset="0"/>
                </a:rPr>
                <a:t>Attacker</a:t>
              </a:r>
            </a:p>
          </p:txBody>
        </p:sp>
        <p:pic>
          <p:nvPicPr>
            <p:cNvPr id="3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5645620" y="178163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Server,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C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=x+1 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=y)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3" name="Rounded Rectangular Callout 2"/>
          <p:cNvSpPr/>
          <p:nvPr/>
        </p:nvSpPr>
        <p:spPr>
          <a:xfrm>
            <a:off x="6097556" y="5388345"/>
            <a:ext cx="2589244" cy="849809"/>
          </a:xfrm>
          <a:prstGeom prst="wedgeRoundRectCallout">
            <a:avLst>
              <a:gd name="adj1" fmla="val -90175"/>
              <a:gd name="adj2" fmla="val -74862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the attacker can predict “y”, it can complete the establishment of the session </a:t>
            </a:r>
          </a:p>
        </p:txBody>
      </p:sp>
    </p:spTree>
    <p:extLst>
      <p:ext uri="{BB962C8B-B14F-4D97-AF65-F5344CB8AC3E}">
        <p14:creationId xmlns:p14="http://schemas.microsoft.com/office/powerpoint/2010/main" val="676423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 the Initial Sequence Number in Berkeley-Derived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Berkeley-derived kernels</a:t>
            </a:r>
          </a:p>
          <a:p>
            <a:pPr lvl="1"/>
            <a:r>
              <a:rPr lang="en-US" dirty="0"/>
              <a:t>Increment the initial sequence number variable by a constant once per second(e.g., 128,000)</a:t>
            </a:r>
          </a:p>
          <a:p>
            <a:pPr lvl="1"/>
            <a:r>
              <a:rPr lang="en-US" dirty="0"/>
              <a:t>Increment the initial sequence number variable by another constant for each new connection (e.g., 64,000)</a:t>
            </a:r>
          </a:p>
          <a:p>
            <a:r>
              <a:rPr lang="en-US" dirty="0"/>
              <a:t>Attacker can </a:t>
            </a:r>
          </a:p>
          <a:p>
            <a:pPr lvl="1"/>
            <a:r>
              <a:rPr lang="en-US" dirty="0"/>
              <a:t>initiate a legitimate connection and observe the initial sequence number used</a:t>
            </a:r>
          </a:p>
          <a:p>
            <a:pPr lvl="1"/>
            <a:r>
              <a:rPr lang="en-US" dirty="0"/>
              <a:t>then calculate the initial sequence number used for the next connection attempt</a:t>
            </a:r>
          </a:p>
        </p:txBody>
      </p:sp>
    </p:spTree>
    <p:extLst>
      <p:ext uri="{BB962C8B-B14F-4D97-AF65-F5344CB8AC3E}">
        <p14:creationId xmlns:p14="http://schemas.microsoft.com/office/powerpoint/2010/main" val="366532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694067" y="1603836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360293" y="2892961"/>
            <a:ext cx="3078857" cy="1944241"/>
            <a:chOff x="-277" y="1564"/>
            <a:chExt cx="2387" cy="1587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-277" y="2446"/>
              <a:ext cx="2387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  <a:p>
              <a:pPr algn="ctr"/>
              <a:r>
                <a:rPr lang="en-US" sz="1600" dirty="0"/>
                <a:t>trust message from C</a:t>
              </a:r>
            </a:p>
            <a:p>
              <a:pPr algn="ctr"/>
              <a:r>
                <a:rPr lang="en-US" sz="1600" dirty="0"/>
                <a:t>Based on C’s IP</a:t>
              </a:r>
              <a:endParaRPr lang="en-GB" sz="1600" dirty="0"/>
            </a:p>
          </p:txBody>
        </p:sp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2810662" y="3852908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 flipV="1">
            <a:off x="5179968" y="2115214"/>
            <a:ext cx="1356618" cy="68671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219397" y="347544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87824" y="4541208"/>
            <a:ext cx="1731589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</a:t>
            </a:r>
            <a:r>
              <a:rPr lang="en-US" sz="1200" dirty="0" err="1">
                <a:latin typeface="Tahoma" charset="0"/>
              </a:rPr>
              <a:t>y,seq</a:t>
            </a:r>
            <a:r>
              <a:rPr lang="en-US" sz="1200" dirty="0">
                <a:latin typeface="Tahoma" charset="0"/>
              </a:rPr>
              <a:t>=x+1)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810662" y="4949155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2810662" y="3550153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14075" y="3582436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737377" y="3008140"/>
            <a:ext cx="1981200" cy="1234237"/>
            <a:chOff x="199" y="1488"/>
            <a:chExt cx="1536" cy="1125"/>
          </a:xfrm>
        </p:grpSpPr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b="1" dirty="0">
                  <a:solidFill>
                    <a:srgbClr val="FF0000"/>
                  </a:solidFill>
                  <a:latin typeface="Times New Roman" charset="0"/>
                </a:rPr>
                <a:t>Attacker</a:t>
              </a:r>
            </a:p>
          </p:txBody>
        </p:sp>
        <p:pic>
          <p:nvPicPr>
            <p:cNvPr id="3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5645620" y="178163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Server,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C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=x+1 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=y)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3" name="Rounded Rectangular Callout 2"/>
          <p:cNvSpPr/>
          <p:nvPr/>
        </p:nvSpPr>
        <p:spPr>
          <a:xfrm>
            <a:off x="6097556" y="5369670"/>
            <a:ext cx="2341594" cy="438912"/>
          </a:xfrm>
          <a:prstGeom prst="wedgeRoundRectCallout">
            <a:avLst>
              <a:gd name="adj1" fmla="val -85788"/>
              <a:gd name="adj2" fmla="val -83373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attacker predicts “y”</a:t>
            </a:r>
          </a:p>
        </p:txBody>
      </p:sp>
    </p:spTree>
    <p:extLst>
      <p:ext uri="{BB962C8B-B14F-4D97-AF65-F5344CB8AC3E}">
        <p14:creationId xmlns:p14="http://schemas.microsoft.com/office/powerpoint/2010/main" val="22012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694067" y="1603836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360293" y="2892961"/>
            <a:ext cx="3078857" cy="1944241"/>
            <a:chOff x="-277" y="1564"/>
            <a:chExt cx="2387" cy="1587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-277" y="2446"/>
              <a:ext cx="2387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  <a:p>
              <a:pPr algn="ctr"/>
              <a:r>
                <a:rPr lang="en-US" sz="1600" dirty="0"/>
                <a:t>trust message from C</a:t>
              </a:r>
            </a:p>
            <a:p>
              <a:pPr algn="ctr"/>
              <a:r>
                <a:rPr lang="en-US" sz="1600" dirty="0"/>
                <a:t>Based on C’s IP</a:t>
              </a:r>
              <a:endParaRPr lang="en-GB" sz="1600" dirty="0"/>
            </a:p>
          </p:txBody>
        </p:sp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2810662" y="3852908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 flipV="1">
            <a:off x="5179968" y="2115214"/>
            <a:ext cx="1356618" cy="68671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219397" y="347544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87824" y="4541208"/>
            <a:ext cx="1731589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</a:t>
            </a:r>
            <a:r>
              <a:rPr lang="en-US" sz="1200" dirty="0" err="1">
                <a:latin typeface="Tahoma" charset="0"/>
              </a:rPr>
              <a:t>y,seq</a:t>
            </a:r>
            <a:r>
              <a:rPr lang="en-US" sz="1200" dirty="0">
                <a:latin typeface="Tahoma" charset="0"/>
              </a:rPr>
              <a:t>=x+1)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810662" y="4949155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2810662" y="3550153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14075" y="3582436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737377" y="3008140"/>
            <a:ext cx="1981200" cy="1234237"/>
            <a:chOff x="199" y="1488"/>
            <a:chExt cx="1536" cy="1125"/>
          </a:xfrm>
        </p:grpSpPr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b="1" dirty="0">
                  <a:solidFill>
                    <a:srgbClr val="FF0000"/>
                  </a:solidFill>
                  <a:latin typeface="Times New Roman" charset="0"/>
                </a:rPr>
                <a:t>Attacker</a:t>
              </a:r>
            </a:p>
          </p:txBody>
        </p:sp>
        <p:pic>
          <p:nvPicPr>
            <p:cNvPr id="3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5645620" y="178163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Server,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C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=x+1 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=y)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3" name="Rounded Rectangular Callout 2"/>
          <p:cNvSpPr/>
          <p:nvPr/>
        </p:nvSpPr>
        <p:spPr>
          <a:xfrm>
            <a:off x="6097556" y="5369670"/>
            <a:ext cx="2341594" cy="438912"/>
          </a:xfrm>
          <a:prstGeom prst="wedgeRoundRectCallout">
            <a:avLst>
              <a:gd name="adj1" fmla="val -85788"/>
              <a:gd name="adj2" fmla="val -83373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attacker predicts “y”</a:t>
            </a:r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2810662" y="6061001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782648" y="5597144"/>
            <a:ext cx="2930624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“echo + + &gt; ~/.</a:t>
            </a:r>
            <a:r>
              <a:rPr lang="en-US" sz="1200" dirty="0" err="1">
                <a:latin typeface="Tahoma" charset="0"/>
              </a:rPr>
              <a:t>rhosts</a:t>
            </a:r>
            <a:r>
              <a:rPr lang="en-US" sz="1200" dirty="0">
                <a:latin typeface="Tahoma" charset="0"/>
              </a:rPr>
              <a:t>”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=y+1,seq=x+1)</a:t>
            </a:r>
            <a:endParaRPr lang="en-US" sz="1200" baseline="-250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419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694067" y="1603836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360293" y="2892961"/>
            <a:ext cx="3078857" cy="1944241"/>
            <a:chOff x="-277" y="1564"/>
            <a:chExt cx="2387" cy="1587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-277" y="2446"/>
              <a:ext cx="2387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  <a:p>
              <a:pPr algn="ctr"/>
              <a:r>
                <a:rPr lang="en-US" sz="1600" dirty="0"/>
                <a:t>trust message from C</a:t>
              </a:r>
            </a:p>
            <a:p>
              <a:pPr algn="ctr"/>
              <a:r>
                <a:rPr lang="en-US" sz="1600" dirty="0"/>
                <a:t>Based on C’s IP</a:t>
              </a:r>
              <a:endParaRPr lang="en-GB" sz="1600" dirty="0"/>
            </a:p>
          </p:txBody>
        </p:sp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2810662" y="3852908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 flipV="1">
            <a:off x="5179968" y="2115214"/>
            <a:ext cx="1356618" cy="68671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219397" y="347544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87824" y="4541208"/>
            <a:ext cx="1731589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</a:t>
            </a:r>
            <a:r>
              <a:rPr lang="en-US" sz="1200" dirty="0" err="1">
                <a:latin typeface="Tahoma" charset="0"/>
              </a:rPr>
              <a:t>y,seq</a:t>
            </a:r>
            <a:r>
              <a:rPr lang="en-US" sz="1200" dirty="0">
                <a:latin typeface="Tahoma" charset="0"/>
              </a:rPr>
              <a:t>=x+1)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810662" y="4949155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2810662" y="3550153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14075" y="3582436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737377" y="3008140"/>
            <a:ext cx="1981200" cy="1234237"/>
            <a:chOff x="199" y="1488"/>
            <a:chExt cx="1536" cy="1125"/>
          </a:xfrm>
        </p:grpSpPr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b="1" dirty="0">
                  <a:solidFill>
                    <a:srgbClr val="FF0000"/>
                  </a:solidFill>
                  <a:latin typeface="Times New Roman" charset="0"/>
                </a:rPr>
                <a:t>Attacker</a:t>
              </a:r>
            </a:p>
          </p:txBody>
        </p:sp>
        <p:pic>
          <p:nvPicPr>
            <p:cNvPr id="3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5645620" y="178163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Server,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C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=x+1 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=y)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3" name="Rounded Rectangular Callout 2"/>
          <p:cNvSpPr/>
          <p:nvPr/>
        </p:nvSpPr>
        <p:spPr>
          <a:xfrm>
            <a:off x="6097556" y="5369670"/>
            <a:ext cx="2341594" cy="438912"/>
          </a:xfrm>
          <a:prstGeom prst="wedgeRoundRectCallout">
            <a:avLst>
              <a:gd name="adj1" fmla="val -85788"/>
              <a:gd name="adj2" fmla="val -83373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attacker predicts “y”</a:t>
            </a:r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2810662" y="6061001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782648" y="5597144"/>
            <a:ext cx="2930624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“echo + + &gt; ~/.</a:t>
            </a:r>
            <a:r>
              <a:rPr lang="en-US" sz="1200" dirty="0" err="1">
                <a:latin typeface="Tahoma" charset="0"/>
              </a:rPr>
              <a:t>rhosts</a:t>
            </a:r>
            <a:r>
              <a:rPr lang="en-US" sz="1200" dirty="0">
                <a:latin typeface="Tahoma" charset="0"/>
              </a:rPr>
              <a:t>”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=y+1,seq=x+1)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32" name="Line 5"/>
          <p:cNvSpPr>
            <a:spLocks noChangeShapeType="1"/>
          </p:cNvSpPr>
          <p:nvPr/>
        </p:nvSpPr>
        <p:spPr bwMode="auto">
          <a:xfrm>
            <a:off x="5223308" y="2314898"/>
            <a:ext cx="1051484" cy="53963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 rot="1653381">
            <a:off x="5240547" y="2586413"/>
            <a:ext cx="6637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RST</a:t>
            </a:r>
            <a:endParaRPr lang="en-US" sz="1200" baseline="-25000" dirty="0">
              <a:solidFill>
                <a:srgbClr val="FF0000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221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Session Hijacking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694067" y="1603836"/>
            <a:ext cx="1981200" cy="1250693"/>
            <a:chOff x="192" y="1488"/>
            <a:chExt cx="1536" cy="114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360293" y="2892961"/>
            <a:ext cx="3078857" cy="1944241"/>
            <a:chOff x="-277" y="1564"/>
            <a:chExt cx="2387" cy="1587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-277" y="2446"/>
              <a:ext cx="2387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  <a:p>
              <a:pPr algn="ctr"/>
              <a:r>
                <a:rPr lang="en-US" sz="1600" dirty="0"/>
                <a:t>trust message from C</a:t>
              </a:r>
            </a:p>
            <a:p>
              <a:pPr algn="ctr"/>
              <a:r>
                <a:rPr lang="en-US" sz="1600" dirty="0"/>
                <a:t>Based on C’s IP</a:t>
              </a:r>
              <a:endParaRPr lang="en-GB" sz="1600" dirty="0"/>
            </a:p>
          </p:txBody>
        </p:sp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2810662" y="3852908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 flipV="1">
            <a:off x="5179968" y="2115214"/>
            <a:ext cx="1356618" cy="68671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219397" y="347544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(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=x)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87824" y="4541208"/>
            <a:ext cx="1731589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C,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Server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</a:t>
            </a:r>
            <a:r>
              <a:rPr lang="en-US" sz="1200" dirty="0" err="1">
                <a:latin typeface="Tahoma" charset="0"/>
              </a:rPr>
              <a:t>y,seq</a:t>
            </a:r>
            <a:r>
              <a:rPr lang="en-US" sz="1200" dirty="0">
                <a:latin typeface="Tahoma" charset="0"/>
              </a:rPr>
              <a:t>=x+1)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810662" y="4949155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2810662" y="3550153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14075" y="3582436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737377" y="3008140"/>
            <a:ext cx="1981200" cy="1234237"/>
            <a:chOff x="199" y="1488"/>
            <a:chExt cx="1536" cy="1125"/>
          </a:xfrm>
        </p:grpSpPr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b="1" dirty="0">
                  <a:solidFill>
                    <a:srgbClr val="FF0000"/>
                  </a:solidFill>
                  <a:latin typeface="Times New Roman" charset="0"/>
                </a:rPr>
                <a:t>Attacker</a:t>
              </a:r>
            </a:p>
          </p:txBody>
        </p:sp>
        <p:pic>
          <p:nvPicPr>
            <p:cNvPr id="3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5645620" y="1781631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SrcIP</a:t>
            </a:r>
            <a:r>
              <a:rPr lang="en-US" sz="1200" dirty="0">
                <a:latin typeface="Tahoma" charset="0"/>
              </a:rPr>
              <a:t>: Server, </a:t>
            </a:r>
            <a:r>
              <a:rPr lang="en-US" sz="1200" dirty="0" err="1">
                <a:latin typeface="Tahoma" charset="0"/>
              </a:rPr>
              <a:t>DstIP</a:t>
            </a:r>
            <a:r>
              <a:rPr lang="en-US" sz="1200" dirty="0">
                <a:latin typeface="Tahoma" charset="0"/>
              </a:rPr>
              <a:t>: C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SYN  ACK 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=x+1 </a:t>
            </a: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=y)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3" name="Rounded Rectangular Callout 2"/>
          <p:cNvSpPr/>
          <p:nvPr/>
        </p:nvSpPr>
        <p:spPr>
          <a:xfrm>
            <a:off x="6097556" y="5369670"/>
            <a:ext cx="2341594" cy="438912"/>
          </a:xfrm>
          <a:prstGeom prst="wedgeRoundRectCallout">
            <a:avLst>
              <a:gd name="adj1" fmla="val -85788"/>
              <a:gd name="adj2" fmla="val -83373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attacker predicts “y”</a:t>
            </a:r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2810662" y="6061001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782648" y="5597144"/>
            <a:ext cx="2930624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“echo + + &gt; ~/.</a:t>
            </a:r>
            <a:r>
              <a:rPr lang="en-US" sz="1200" dirty="0" err="1">
                <a:latin typeface="Tahoma" charset="0"/>
              </a:rPr>
              <a:t>rhosts</a:t>
            </a:r>
            <a:r>
              <a:rPr lang="en-US" sz="1200" dirty="0">
                <a:latin typeface="Tahoma" charset="0"/>
              </a:rPr>
              <a:t>”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(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=y+1,seq=x+1)</a:t>
            </a:r>
            <a:endParaRPr lang="en-US" sz="1200" baseline="-25000" dirty="0">
              <a:latin typeface="Tahoma" charset="0"/>
            </a:endParaRPr>
          </a:p>
        </p:txBody>
      </p:sp>
      <p:sp>
        <p:nvSpPr>
          <p:cNvPr id="32" name="Line 5"/>
          <p:cNvSpPr>
            <a:spLocks noChangeShapeType="1"/>
          </p:cNvSpPr>
          <p:nvPr/>
        </p:nvSpPr>
        <p:spPr bwMode="auto">
          <a:xfrm>
            <a:off x="5223308" y="2314898"/>
            <a:ext cx="1051484" cy="53963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 rot="1653381">
            <a:off x="5240547" y="2586413"/>
            <a:ext cx="6637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RST</a:t>
            </a:r>
            <a:endParaRPr lang="en-US" sz="1200" baseline="-25000" dirty="0">
              <a:solidFill>
                <a:srgbClr val="FF0000"/>
              </a:solidFill>
              <a:latin typeface="Tahoma" charset="0"/>
            </a:endParaRPr>
          </a:p>
        </p:txBody>
      </p:sp>
      <p:sp>
        <p:nvSpPr>
          <p:cNvPr id="34" name="Line 5"/>
          <p:cNvSpPr>
            <a:spLocks noChangeShapeType="1"/>
          </p:cNvSpPr>
          <p:nvPr/>
        </p:nvSpPr>
        <p:spPr bwMode="auto">
          <a:xfrm flipV="1">
            <a:off x="2498940" y="2280229"/>
            <a:ext cx="870206" cy="45316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5" name="Line 5"/>
          <p:cNvSpPr>
            <a:spLocks noChangeShapeType="1"/>
          </p:cNvSpPr>
          <p:nvPr/>
        </p:nvSpPr>
        <p:spPr bwMode="auto">
          <a:xfrm flipV="1">
            <a:off x="2517618" y="2432629"/>
            <a:ext cx="870206" cy="45316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6" name="Line 5"/>
          <p:cNvSpPr>
            <a:spLocks noChangeShapeType="1"/>
          </p:cNvSpPr>
          <p:nvPr/>
        </p:nvSpPr>
        <p:spPr bwMode="auto">
          <a:xfrm flipV="1">
            <a:off x="2517618" y="2627945"/>
            <a:ext cx="870206" cy="45316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 flipV="1">
            <a:off x="2498940" y="2115214"/>
            <a:ext cx="870206" cy="45316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2010340" y="1944727"/>
            <a:ext cx="1728286" cy="297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93000"/>
              </a:lnSpc>
              <a:spcBef>
                <a:spcPts val="1500"/>
              </a:spcBef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GB" sz="1400" b="1" dirty="0">
                <a:solidFill>
                  <a:srgbClr val="FF0000"/>
                </a:solidFill>
                <a:latin typeface="Times New Roman" charset="0"/>
              </a:rPr>
              <a:t>Flooding</a:t>
            </a:r>
          </a:p>
        </p:txBody>
      </p:sp>
    </p:spTree>
    <p:extLst>
      <p:ext uri="{BB962C8B-B14F-4D97-AF65-F5344CB8AC3E}">
        <p14:creationId xmlns:p14="http://schemas.microsoft.com/office/powerpoint/2010/main" val="3722968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TCP reset basically kills a TCP connection instantly.</a:t>
            </a:r>
          </a:p>
          <a:p>
            <a:pPr lvl="1"/>
            <a:r>
              <a:rPr lang="en-US" dirty="0"/>
              <a:t>If the RST bit is set to 1, it indicates to the receiving computer that the computer should immediately stop using the TCP connection; it should not send any more packets using the connection's identifying numbers, called ports, and discard any further packets it receives with headers indicating they belong to that connection. </a:t>
            </a:r>
          </a:p>
        </p:txBody>
      </p:sp>
    </p:spTree>
    <p:extLst>
      <p:ext uri="{BB962C8B-B14F-4D97-AF65-F5344CB8AC3E}">
        <p14:creationId xmlns:p14="http://schemas.microsoft.com/office/powerpoint/2010/main" val="785799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Malicious Usage: RST Reset</a:t>
            </a:r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516581" y="2641442"/>
            <a:ext cx="1981200" cy="1250693"/>
            <a:chOff x="192" y="1488"/>
            <a:chExt cx="1536" cy="1140"/>
          </a:xfrm>
        </p:grpSpPr>
        <p:sp>
          <p:nvSpPr>
            <p:cNvPr id="5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6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013035" y="5445363"/>
            <a:ext cx="1981200" cy="1241916"/>
            <a:chOff x="140" y="1488"/>
            <a:chExt cx="1536" cy="1132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40" y="2296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Attacker (inline)</a:t>
              </a:r>
            </a:p>
          </p:txBody>
        </p:sp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2508006" y="2267716"/>
            <a:ext cx="33485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SYN  ACK (</a:t>
            </a:r>
            <a:r>
              <a:rPr lang="en-US" sz="2000" dirty="0" err="1">
                <a:latin typeface="Tahoma" charset="0"/>
              </a:rPr>
              <a:t>ack</a:t>
            </a:r>
            <a:r>
              <a:rPr lang="en-US" sz="2000" dirty="0">
                <a:latin typeface="Tahoma" charset="0"/>
              </a:rPr>
              <a:t>=x+1 </a:t>
            </a:r>
            <a:r>
              <a:rPr lang="en-US" sz="2000" dirty="0" err="1">
                <a:latin typeface="Tahoma" charset="0"/>
              </a:rPr>
              <a:t>seq</a:t>
            </a:r>
            <a:r>
              <a:rPr lang="en-US" sz="2000" dirty="0">
                <a:latin typeface="Tahoma" charset="0"/>
              </a:rPr>
              <a:t>=y)</a:t>
            </a:r>
            <a:endParaRPr lang="en-US" sz="2000" baseline="-25000" dirty="0">
              <a:latin typeface="Tahoma" charset="0"/>
            </a:endParaRPr>
          </a:p>
        </p:txBody>
      </p:sp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5728365" y="2467771"/>
            <a:ext cx="3660576" cy="1860934"/>
            <a:chOff x="-536" y="1564"/>
            <a:chExt cx="2838" cy="1519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-536" y="2780"/>
              <a:ext cx="283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Server</a:t>
              </a:r>
            </a:p>
          </p:txBody>
        </p:sp>
        <p:pic>
          <p:nvPicPr>
            <p:cNvPr id="18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9" name="Line 3"/>
          <p:cNvSpPr>
            <a:spLocks noChangeShapeType="1"/>
          </p:cNvSpPr>
          <p:nvPr/>
        </p:nvSpPr>
        <p:spPr bwMode="auto">
          <a:xfrm>
            <a:off x="2346554" y="1984814"/>
            <a:ext cx="3772158" cy="48295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2214396" y="3757492"/>
            <a:ext cx="3868057" cy="26928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>
            <a:off x="2214396" y="3190532"/>
            <a:ext cx="3868057" cy="2343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025237" y="1745165"/>
            <a:ext cx="2171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SYN  (</a:t>
            </a:r>
            <a:r>
              <a:rPr lang="en-US" sz="2000" dirty="0" err="1">
                <a:latin typeface="Tahoma" charset="0"/>
              </a:rPr>
              <a:t>seq</a:t>
            </a:r>
            <a:r>
              <a:rPr lang="en-US" sz="2000" dirty="0">
                <a:latin typeface="Tahoma" charset="0"/>
              </a:rPr>
              <a:t>=x)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2497781" y="2790422"/>
            <a:ext cx="33485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SYN  ACK (</a:t>
            </a:r>
            <a:r>
              <a:rPr lang="en-US" sz="2000" dirty="0" err="1">
                <a:latin typeface="Tahoma" charset="0"/>
              </a:rPr>
              <a:t>ack</a:t>
            </a:r>
            <a:r>
              <a:rPr lang="en-US" sz="2000" dirty="0">
                <a:latin typeface="Tahoma" charset="0"/>
              </a:rPr>
              <a:t>=x+1 </a:t>
            </a:r>
            <a:r>
              <a:rPr lang="en-US" sz="2000" dirty="0" err="1">
                <a:latin typeface="Tahoma" charset="0"/>
              </a:rPr>
              <a:t>seq</a:t>
            </a:r>
            <a:r>
              <a:rPr lang="en-US" sz="2000" dirty="0">
                <a:latin typeface="Tahoma" charset="0"/>
              </a:rPr>
              <a:t>=y)</a:t>
            </a:r>
            <a:endParaRPr lang="en-US" sz="2000" baseline="-25000" dirty="0">
              <a:latin typeface="Tahoma" charset="0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2613162" y="3365816"/>
            <a:ext cx="30505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ACK (</a:t>
            </a:r>
            <a:r>
              <a:rPr lang="en-US" sz="2000" dirty="0" err="1">
                <a:latin typeface="Tahoma" charset="0"/>
              </a:rPr>
              <a:t>ack</a:t>
            </a:r>
            <a:r>
              <a:rPr lang="en-US" sz="2000" dirty="0">
                <a:latin typeface="Tahoma" charset="0"/>
              </a:rPr>
              <a:t>=y+1,seq=x+1)</a:t>
            </a:r>
            <a:endParaRPr lang="en-US" sz="2000" baseline="-25000" dirty="0">
              <a:latin typeface="Tahoma" charset="0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214396" y="3941844"/>
            <a:ext cx="3868057" cy="26928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6" name="Line 4"/>
          <p:cNvSpPr>
            <a:spLocks noChangeShapeType="1"/>
          </p:cNvSpPr>
          <p:nvPr/>
        </p:nvSpPr>
        <p:spPr bwMode="auto">
          <a:xfrm>
            <a:off x="2250655" y="4470936"/>
            <a:ext cx="3868057" cy="26928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" name="Down Arrow 26"/>
          <p:cNvSpPr/>
          <p:nvPr/>
        </p:nvSpPr>
        <p:spPr>
          <a:xfrm>
            <a:off x="3525792" y="4740222"/>
            <a:ext cx="272245" cy="54891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Up Arrow 28"/>
          <p:cNvSpPr/>
          <p:nvPr/>
        </p:nvSpPr>
        <p:spPr>
          <a:xfrm>
            <a:off x="4331744" y="4740222"/>
            <a:ext cx="234264" cy="548914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2214396" y="4776110"/>
            <a:ext cx="13113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Sniff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4545203" y="4776110"/>
            <a:ext cx="13113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Inject</a:t>
            </a:r>
          </a:p>
        </p:txBody>
      </p:sp>
      <p:sp>
        <p:nvSpPr>
          <p:cNvPr id="32" name="Freeform 31"/>
          <p:cNvSpPr/>
          <p:nvPr/>
        </p:nvSpPr>
        <p:spPr>
          <a:xfrm>
            <a:off x="4331745" y="3279511"/>
            <a:ext cx="2326284" cy="2182231"/>
          </a:xfrm>
          <a:custGeom>
            <a:avLst/>
            <a:gdLst>
              <a:gd name="connsiteX0" fmla="*/ 0 w 2145365"/>
              <a:gd name="connsiteY0" fmla="*/ 2182231 h 2182231"/>
              <a:gd name="connsiteX1" fmla="*/ 1146661 w 2145365"/>
              <a:gd name="connsiteY1" fmla="*/ 431515 h 2182231"/>
              <a:gd name="connsiteX2" fmla="*/ 2145365 w 2145365"/>
              <a:gd name="connsiteY2" fmla="*/ 0 h 2182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5365" h="2182231">
                <a:moveTo>
                  <a:pt x="0" y="2182231"/>
                </a:moveTo>
                <a:cubicBezTo>
                  <a:pt x="394550" y="1488725"/>
                  <a:pt x="789100" y="795220"/>
                  <a:pt x="1146661" y="431515"/>
                </a:cubicBezTo>
                <a:cubicBezTo>
                  <a:pt x="1504222" y="67810"/>
                  <a:pt x="2145365" y="0"/>
                  <a:pt x="2145365" y="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2002482" y="3081943"/>
            <a:ext cx="2329262" cy="2367470"/>
          </a:xfrm>
          <a:custGeom>
            <a:avLst/>
            <a:gdLst>
              <a:gd name="connsiteX0" fmla="*/ 1331606 w 1331606"/>
              <a:gd name="connsiteY0" fmla="*/ 2367470 h 2367470"/>
              <a:gd name="connsiteX1" fmla="*/ 1023364 w 1331606"/>
              <a:gd name="connsiteY1" fmla="*/ 370174 h 2367470"/>
              <a:gd name="connsiteX2" fmla="*/ 0 w 1331606"/>
              <a:gd name="connsiteY2" fmla="*/ 304 h 23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1606" h="2367470">
                <a:moveTo>
                  <a:pt x="1331606" y="2367470"/>
                </a:moveTo>
                <a:cubicBezTo>
                  <a:pt x="1288452" y="1566086"/>
                  <a:pt x="1245298" y="764702"/>
                  <a:pt x="1023364" y="370174"/>
                </a:cubicBezTo>
                <a:cubicBezTo>
                  <a:pt x="801430" y="-24354"/>
                  <a:pt x="0" y="304"/>
                  <a:pt x="0" y="304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1528881" y="4211130"/>
            <a:ext cx="2590914" cy="4001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RST (</a:t>
            </a:r>
            <a:r>
              <a:rPr lang="en-US" sz="2000" dirty="0" err="1">
                <a:latin typeface="Tahoma" charset="0"/>
              </a:rPr>
              <a:t>Src</a:t>
            </a:r>
            <a:r>
              <a:rPr lang="en-US" sz="2000" dirty="0">
                <a:latin typeface="Tahoma" charset="0"/>
              </a:rPr>
              <a:t> Server)</a:t>
            </a:r>
          </a:p>
        </p:txBody>
      </p:sp>
      <p:sp>
        <p:nvSpPr>
          <p:cNvPr id="36" name="Text Box 8"/>
          <p:cNvSpPr txBox="1">
            <a:spLocks noChangeArrowheads="1"/>
          </p:cNvSpPr>
          <p:nvPr/>
        </p:nvSpPr>
        <p:spPr bwMode="auto">
          <a:xfrm>
            <a:off x="5200900" y="4218923"/>
            <a:ext cx="2233898" cy="4001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2000" dirty="0">
                <a:latin typeface="Tahoma" charset="0"/>
              </a:rPr>
              <a:t>RST (</a:t>
            </a:r>
            <a:r>
              <a:rPr lang="en-US" sz="2000" dirty="0" err="1">
                <a:latin typeface="Tahoma" charset="0"/>
              </a:rPr>
              <a:t>Src</a:t>
            </a:r>
            <a:r>
              <a:rPr lang="en-US" sz="2000" dirty="0">
                <a:latin typeface="Tahoma" charset="0"/>
              </a:rPr>
              <a:t> Client)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4F54-AFB3-5A4A-A7DF-A12EC70679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2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“Malicious”/Malicious?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278827" y="4199366"/>
            <a:ext cx="1147168" cy="8916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1</a:t>
            </a:r>
          </a:p>
          <a:p>
            <a:pPr algn="ctr"/>
            <a:r>
              <a:rPr lang="en-US" sz="1200" dirty="0"/>
              <a:t>Address: IP1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7711" y="4199366"/>
            <a:ext cx="1147168" cy="8916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2</a:t>
            </a:r>
          </a:p>
          <a:p>
            <a:pPr algn="ctr"/>
            <a:r>
              <a:rPr lang="en-US" sz="1200" dirty="0"/>
              <a:t>Address: IP2</a:t>
            </a:r>
          </a:p>
        </p:txBody>
      </p:sp>
      <p:pic>
        <p:nvPicPr>
          <p:cNvPr id="6" name="Picture 5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998" y="3219821"/>
            <a:ext cx="828188" cy="608719"/>
          </a:xfrm>
          <a:prstGeom prst="rect">
            <a:avLst/>
          </a:prstGeom>
        </p:spPr>
      </p:pic>
      <p:pic>
        <p:nvPicPr>
          <p:cNvPr id="7" name="Picture 6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727" y="2500029"/>
            <a:ext cx="828188" cy="608719"/>
          </a:xfrm>
          <a:prstGeom prst="rect">
            <a:avLst/>
          </a:prstGeom>
        </p:spPr>
      </p:pic>
      <p:pic>
        <p:nvPicPr>
          <p:cNvPr id="8" name="Picture 7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530" y="3258165"/>
            <a:ext cx="828188" cy="608719"/>
          </a:xfrm>
          <a:prstGeom prst="rect">
            <a:avLst/>
          </a:prstGeom>
        </p:spPr>
      </p:pic>
      <p:cxnSp>
        <p:nvCxnSpPr>
          <p:cNvPr id="9" name="Straight Connector 8"/>
          <p:cNvCxnSpPr>
            <a:endCxn id="6" idx="1"/>
          </p:cNvCxnSpPr>
          <p:nvPr/>
        </p:nvCxnSpPr>
        <p:spPr>
          <a:xfrm flipV="1">
            <a:off x="1869323" y="3524181"/>
            <a:ext cx="992675" cy="67518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7" idx="1"/>
          </p:cNvCxnSpPr>
          <p:nvPr/>
        </p:nvCxnSpPr>
        <p:spPr>
          <a:xfrm flipV="1">
            <a:off x="3595037" y="2804389"/>
            <a:ext cx="75869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7" idx="3"/>
          </p:cNvCxnSpPr>
          <p:nvPr/>
        </p:nvCxnSpPr>
        <p:spPr>
          <a:xfrm flipH="1" flipV="1">
            <a:off x="5181915" y="2804389"/>
            <a:ext cx="92498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6758718" y="3679230"/>
            <a:ext cx="92498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31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“Malicious”/Malicious?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“Great Fire Wall” (active now).</a:t>
            </a:r>
          </a:p>
          <a:p>
            <a:r>
              <a:rPr lang="en-US" dirty="0"/>
              <a:t>Comcast’s actions to disrupt P2P connections (around 2007).</a:t>
            </a:r>
          </a:p>
        </p:txBody>
      </p:sp>
      <p:pic>
        <p:nvPicPr>
          <p:cNvPr id="4" name="Picture 3" descr="c6_2b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09" y="3657507"/>
            <a:ext cx="4197676" cy="2468656"/>
          </a:xfrm>
          <a:prstGeom prst="rect">
            <a:avLst/>
          </a:prstGeom>
        </p:spPr>
      </p:pic>
      <p:pic>
        <p:nvPicPr>
          <p:cNvPr id="5" name="Picture 4" descr="270_big0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064" y="3487269"/>
            <a:ext cx="3816972" cy="286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37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9184"/>
            <a:ext cx="8229600" cy="582031"/>
          </a:xfrm>
        </p:spPr>
        <p:txBody>
          <a:bodyPr/>
          <a:lstStyle/>
          <a:p>
            <a:r>
              <a:rPr lang="en-US" dirty="0"/>
              <a:t>Great Firewall (from wiki)</a:t>
            </a:r>
          </a:p>
        </p:txBody>
      </p:sp>
      <p:pic>
        <p:nvPicPr>
          <p:cNvPr id="4" name="Picture 3" descr="600px-Topology.sv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00" y="1980842"/>
            <a:ext cx="6460753" cy="430716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4F54-AFB3-5A4A-A7DF-A12EC70679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20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0790"/>
            <a:ext cx="8229600" cy="1104153"/>
          </a:xfrm>
        </p:spPr>
        <p:txBody>
          <a:bodyPr/>
          <a:lstStyle/>
          <a:p>
            <a:r>
              <a:rPr lang="en-US" dirty="0"/>
              <a:t>“Detecting Forged TCP Reset Packets”, N. Weaver, Robin </a:t>
            </a:r>
            <a:r>
              <a:rPr lang="en-US" dirty="0" err="1"/>
              <a:t>Sommer</a:t>
            </a:r>
            <a:r>
              <a:rPr lang="en-US" dirty="0"/>
              <a:t>, and Vern </a:t>
            </a:r>
            <a:r>
              <a:rPr lang="en-US" dirty="0" err="1"/>
              <a:t>Paxson</a:t>
            </a:r>
            <a:r>
              <a:rPr lang="en-US" dirty="0"/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9298" y="4653142"/>
            <a:ext cx="1147168" cy="8916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1</a:t>
            </a:r>
          </a:p>
          <a:p>
            <a:pPr algn="ctr"/>
            <a:r>
              <a:rPr lang="en-US" sz="1200" dirty="0"/>
              <a:t>Address: IP1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38182" y="4653142"/>
            <a:ext cx="1147168" cy="8916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2</a:t>
            </a:r>
          </a:p>
          <a:p>
            <a:pPr algn="ctr"/>
            <a:r>
              <a:rPr lang="en-US" sz="1200" dirty="0"/>
              <a:t>Address: IP2</a:t>
            </a:r>
          </a:p>
        </p:txBody>
      </p:sp>
      <p:pic>
        <p:nvPicPr>
          <p:cNvPr id="32" name="Picture 31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469" y="3673597"/>
            <a:ext cx="828188" cy="608719"/>
          </a:xfrm>
          <a:prstGeom prst="rect">
            <a:avLst/>
          </a:prstGeom>
        </p:spPr>
      </p:pic>
      <p:pic>
        <p:nvPicPr>
          <p:cNvPr id="33" name="Picture 32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198" y="2953805"/>
            <a:ext cx="828188" cy="608719"/>
          </a:xfrm>
          <a:prstGeom prst="rect">
            <a:avLst/>
          </a:prstGeom>
        </p:spPr>
      </p:pic>
      <p:pic>
        <p:nvPicPr>
          <p:cNvPr id="34" name="Picture 33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001" y="3711941"/>
            <a:ext cx="828188" cy="608719"/>
          </a:xfrm>
          <a:prstGeom prst="rect">
            <a:avLst/>
          </a:prstGeom>
        </p:spPr>
      </p:pic>
      <p:cxnSp>
        <p:nvCxnSpPr>
          <p:cNvPr id="35" name="Straight Connector 34"/>
          <p:cNvCxnSpPr>
            <a:endCxn id="32" idx="1"/>
          </p:cNvCxnSpPr>
          <p:nvPr/>
        </p:nvCxnSpPr>
        <p:spPr>
          <a:xfrm flipV="1">
            <a:off x="1749794" y="3977957"/>
            <a:ext cx="992675" cy="67518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endCxn id="33" idx="1"/>
          </p:cNvCxnSpPr>
          <p:nvPr/>
        </p:nvCxnSpPr>
        <p:spPr>
          <a:xfrm flipV="1">
            <a:off x="3475508" y="3258165"/>
            <a:ext cx="75869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33" idx="3"/>
          </p:cNvCxnSpPr>
          <p:nvPr/>
        </p:nvCxnSpPr>
        <p:spPr>
          <a:xfrm flipH="1" flipV="1">
            <a:off x="5062386" y="3258165"/>
            <a:ext cx="92498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6639189" y="4133006"/>
            <a:ext cx="924980" cy="52013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1538941" y="3778301"/>
            <a:ext cx="767525" cy="54235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3453793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Forged TCP RST</a:t>
            </a:r>
          </a:p>
        </p:txBody>
      </p:sp>
    </p:spTree>
    <p:extLst>
      <p:ext uri="{BB962C8B-B14F-4D97-AF65-F5344CB8AC3E}">
        <p14:creationId xmlns:p14="http://schemas.microsoft.com/office/powerpoint/2010/main" val="3439377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464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Why don’t they design GFW like this (inline interruption) rather than RST-based method (out-of-band interruption)?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7012" y="2946627"/>
            <a:ext cx="3920840" cy="18493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If(c exchanges sensitive content with S)</a:t>
            </a:r>
          </a:p>
          <a:p>
            <a:pPr algn="ctr"/>
            <a:r>
              <a:rPr lang="en-US" dirty="0"/>
              <a:t>{discard all traffic in this session}</a:t>
            </a:r>
          </a:p>
        </p:txBody>
      </p:sp>
      <p:cxnSp>
        <p:nvCxnSpPr>
          <p:cNvPr id="6" name="Straight Arrow Connector 5"/>
          <p:cNvCxnSpPr>
            <a:endCxn id="4" idx="1"/>
          </p:cNvCxnSpPr>
          <p:nvPr/>
        </p:nvCxnSpPr>
        <p:spPr>
          <a:xfrm>
            <a:off x="1479562" y="3871302"/>
            <a:ext cx="7274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3"/>
          </p:cNvCxnSpPr>
          <p:nvPr/>
        </p:nvCxnSpPr>
        <p:spPr>
          <a:xfrm>
            <a:off x="6127852" y="3871302"/>
            <a:ext cx="665800" cy="44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>
            <a:grpSpLocks/>
          </p:cNvGrpSpPr>
          <p:nvPr/>
        </p:nvGrpSpPr>
        <p:grpSpPr bwMode="auto">
          <a:xfrm>
            <a:off x="21282" y="3381182"/>
            <a:ext cx="1981200" cy="1250693"/>
            <a:chOff x="192" y="1488"/>
            <a:chExt cx="1536" cy="1140"/>
          </a:xfrm>
        </p:grpSpPr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192" y="2304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14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grpSp>
        <p:nvGrpSpPr>
          <p:cNvPr id="15" name="Group 4"/>
          <p:cNvGrpSpPr>
            <a:grpSpLocks/>
          </p:cNvGrpSpPr>
          <p:nvPr/>
        </p:nvGrpSpPr>
        <p:grpSpPr bwMode="auto">
          <a:xfrm>
            <a:off x="5728365" y="3158195"/>
            <a:ext cx="3660576" cy="1860934"/>
            <a:chOff x="-536" y="1564"/>
            <a:chExt cx="2838" cy="1519"/>
          </a:xfrm>
        </p:grpSpPr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-536" y="2780"/>
              <a:ext cx="283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Server</a:t>
              </a:r>
            </a:p>
          </p:txBody>
        </p:sp>
        <p:pic>
          <p:nvPicPr>
            <p:cNvPr id="17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4F54-AFB3-5A4A-A7DF-A12EC70679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30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GFW send RST packets to both client and server?</a:t>
            </a:r>
          </a:p>
          <a:p>
            <a:pPr lvl="1"/>
            <a:r>
              <a:rPr lang="en-US" dirty="0"/>
              <a:t>GFW can send RST to only client. It should be enough to terminate the connection.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4F54-AFB3-5A4A-A7DF-A12EC70679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62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Normal Case of RST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464880" y="1563211"/>
            <a:ext cx="3078857" cy="1682068"/>
            <a:chOff x="-277" y="1564"/>
            <a:chExt cx="2387" cy="1373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-277" y="2659"/>
              <a:ext cx="238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</p:txBody>
        </p:sp>
        <p:pic>
          <p:nvPicPr>
            <p:cNvPr id="9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2915249" y="2523159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323984" y="2145692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X,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Y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(</a:t>
            </a:r>
            <a:r>
              <a:rPr lang="en-US" sz="1200" dirty="0" err="1">
                <a:latin typeface="Tahoma" charset="0"/>
              </a:rPr>
              <a:t>pkt</a:t>
            </a:r>
            <a:r>
              <a:rPr lang="en-US" sz="1200" dirty="0">
                <a:latin typeface="Tahoma" charset="0"/>
              </a:rPr>
              <a:t> with len1)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992127" y="4003341"/>
            <a:ext cx="2732163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(X+ Len1),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(Y + Len2) or 0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RST</a:t>
            </a:r>
          </a:p>
        </p:txBody>
      </p:sp>
      <p:sp>
        <p:nvSpPr>
          <p:cNvPr id="14" name="Line 4"/>
          <p:cNvSpPr>
            <a:spLocks noChangeShapeType="1"/>
          </p:cNvSpPr>
          <p:nvPr/>
        </p:nvSpPr>
        <p:spPr bwMode="auto">
          <a:xfrm>
            <a:off x="2915249" y="4366465"/>
            <a:ext cx="3003413" cy="2524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2915249" y="2220404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918662" y="2252687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841964" y="1678391"/>
            <a:ext cx="1981200" cy="1234237"/>
            <a:chOff x="199" y="1488"/>
            <a:chExt cx="1536" cy="1125"/>
          </a:xfrm>
        </p:grpSpPr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19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1" name="Line 4"/>
          <p:cNvSpPr>
            <a:spLocks noChangeShapeType="1"/>
          </p:cNvSpPr>
          <p:nvPr/>
        </p:nvSpPr>
        <p:spPr bwMode="auto">
          <a:xfrm flipH="1">
            <a:off x="2915249" y="3392785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3326974" y="3011199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Y,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(X + Len1)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(</a:t>
            </a:r>
            <a:r>
              <a:rPr lang="en-US" sz="1200" dirty="0" err="1">
                <a:latin typeface="Tahoma" charset="0"/>
              </a:rPr>
              <a:t>pkt</a:t>
            </a:r>
            <a:r>
              <a:rPr lang="en-US" sz="1200" dirty="0">
                <a:latin typeface="Tahoma" charset="0"/>
              </a:rPr>
              <a:t> with len2)</a:t>
            </a:r>
          </a:p>
        </p:txBody>
      </p:sp>
    </p:spTree>
    <p:extLst>
      <p:ext uri="{BB962C8B-B14F-4D97-AF65-F5344CB8AC3E}">
        <p14:creationId xmlns:p14="http://schemas.microsoft.com/office/powerpoint/2010/main" val="1558185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Injection of RST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464880" y="1563211"/>
            <a:ext cx="3078857" cy="1682068"/>
            <a:chOff x="-277" y="1564"/>
            <a:chExt cx="2387" cy="1373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-277" y="2659"/>
              <a:ext cx="238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</p:txBody>
        </p:sp>
        <p:pic>
          <p:nvPicPr>
            <p:cNvPr id="9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2915249" y="2523159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323984" y="2145692"/>
            <a:ext cx="2140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X,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Y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3480729" y="4003341"/>
            <a:ext cx="1754958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solidFill>
                  <a:srgbClr val="FF0000"/>
                </a:solidFill>
                <a:latin typeface="Tahoma" charset="0"/>
              </a:rPr>
              <a:t>Seq</a:t>
            </a: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: (X+ Len1), </a:t>
            </a:r>
            <a:r>
              <a:rPr lang="en-US" sz="1200" dirty="0" err="1">
                <a:solidFill>
                  <a:srgbClr val="FF0000"/>
                </a:solidFill>
                <a:latin typeface="Tahoma" charset="0"/>
              </a:rPr>
              <a:t>Ack</a:t>
            </a: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: 0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RST</a:t>
            </a:r>
          </a:p>
        </p:txBody>
      </p:sp>
      <p:sp>
        <p:nvSpPr>
          <p:cNvPr id="14" name="Line 4"/>
          <p:cNvSpPr>
            <a:spLocks noChangeShapeType="1"/>
          </p:cNvSpPr>
          <p:nvPr/>
        </p:nvSpPr>
        <p:spPr bwMode="auto">
          <a:xfrm>
            <a:off x="2915249" y="4366465"/>
            <a:ext cx="3003413" cy="25241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2915249" y="2220404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918662" y="2252687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841964" y="1678391"/>
            <a:ext cx="1981200" cy="1234237"/>
            <a:chOff x="199" y="1488"/>
            <a:chExt cx="1536" cy="1125"/>
          </a:xfrm>
        </p:grpSpPr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19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1" name="Line 4"/>
          <p:cNvSpPr>
            <a:spLocks noChangeShapeType="1"/>
          </p:cNvSpPr>
          <p:nvPr/>
        </p:nvSpPr>
        <p:spPr bwMode="auto">
          <a:xfrm flipH="1">
            <a:off x="2915249" y="3392785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3371797" y="3175550"/>
            <a:ext cx="21404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Y,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(X + Len1)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828" y="3461026"/>
            <a:ext cx="1865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Attacker: 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299" y="4132607"/>
            <a:ext cx="181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Attacker: sending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5876" y="5661312"/>
            <a:ext cx="2216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the problem?</a:t>
            </a:r>
          </a:p>
        </p:txBody>
      </p:sp>
    </p:spTree>
    <p:extLst>
      <p:ext uri="{BB962C8B-B14F-4D97-AF65-F5344CB8AC3E}">
        <p14:creationId xmlns:p14="http://schemas.microsoft.com/office/powerpoint/2010/main" val="117858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sender can send a few (decided by both congestion control and flow control algorithms) packets with out receiving acknowledgments. </a:t>
            </a:r>
          </a:p>
          <a:p>
            <a:endParaRPr lang="en-US" dirty="0"/>
          </a:p>
          <a:p>
            <a:pPr lvl="1"/>
            <a:r>
              <a:rPr lang="en-US" dirty="0" err="1"/>
              <a:t>Seq</a:t>
            </a:r>
            <a:r>
              <a:rPr lang="en-US" dirty="0"/>
              <a:t> number &lt; Min(window-size, </a:t>
            </a:r>
            <a:r>
              <a:rPr lang="en-US" dirty="0" err="1"/>
              <a:t>rwnd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Window-size for congestion control, decided by the sender of the packet</a:t>
            </a:r>
          </a:p>
          <a:p>
            <a:pPr lvl="2"/>
            <a:r>
              <a:rPr lang="en-US" dirty="0" err="1"/>
              <a:t>rwnd</a:t>
            </a:r>
            <a:r>
              <a:rPr lang="en-US" dirty="0"/>
              <a:t> for flow control, decider by the receiver of the packet. </a:t>
            </a:r>
          </a:p>
        </p:txBody>
      </p:sp>
    </p:spTree>
    <p:extLst>
      <p:ext uri="{BB962C8B-B14F-4D97-AF65-F5344CB8AC3E}">
        <p14:creationId xmlns:p14="http://schemas.microsoft.com/office/powerpoint/2010/main" val="3813604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464880" y="1563211"/>
            <a:ext cx="3078857" cy="1682068"/>
            <a:chOff x="-277" y="1564"/>
            <a:chExt cx="2387" cy="1373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-277" y="2659"/>
              <a:ext cx="238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</p:txBody>
        </p:sp>
        <p:pic>
          <p:nvPicPr>
            <p:cNvPr id="9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2915249" y="2523159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323984" y="2145692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X,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Y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(</a:t>
            </a:r>
            <a:r>
              <a:rPr lang="en-US" sz="1200" dirty="0" err="1">
                <a:latin typeface="Tahoma" charset="0"/>
              </a:rPr>
              <a:t>pkt</a:t>
            </a:r>
            <a:r>
              <a:rPr lang="en-US" sz="1200" dirty="0">
                <a:latin typeface="Tahoma" charset="0"/>
              </a:rPr>
              <a:t> with len1)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3294369" y="4560028"/>
            <a:ext cx="21575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solidFill>
                  <a:srgbClr val="FF0000"/>
                </a:solidFill>
                <a:latin typeface="Tahoma" charset="0"/>
              </a:rPr>
              <a:t>Seq</a:t>
            </a: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: (X+ Len1), </a:t>
            </a:r>
            <a:r>
              <a:rPr lang="en-US" sz="1200" dirty="0" err="1">
                <a:solidFill>
                  <a:srgbClr val="FF0000"/>
                </a:solidFill>
                <a:latin typeface="Tahoma" charset="0"/>
              </a:rPr>
              <a:t>Ack</a:t>
            </a: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: Y+len2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RST</a:t>
            </a:r>
          </a:p>
        </p:txBody>
      </p:sp>
      <p:sp>
        <p:nvSpPr>
          <p:cNvPr id="14" name="Line 4"/>
          <p:cNvSpPr>
            <a:spLocks noChangeShapeType="1"/>
          </p:cNvSpPr>
          <p:nvPr/>
        </p:nvSpPr>
        <p:spPr bwMode="auto">
          <a:xfrm>
            <a:off x="2915249" y="4874465"/>
            <a:ext cx="3003413" cy="25241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2915249" y="2220404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918662" y="2252687"/>
            <a:ext cx="1" cy="3182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841964" y="1678391"/>
            <a:ext cx="1981200" cy="1234237"/>
            <a:chOff x="199" y="1488"/>
            <a:chExt cx="1536" cy="1125"/>
          </a:xfrm>
        </p:grpSpPr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19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1" name="Line 4"/>
          <p:cNvSpPr>
            <a:spLocks noChangeShapeType="1"/>
          </p:cNvSpPr>
          <p:nvPr/>
        </p:nvSpPr>
        <p:spPr bwMode="auto">
          <a:xfrm flipH="1">
            <a:off x="2915249" y="3027234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2941122" y="2831866"/>
            <a:ext cx="2826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Y,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(X + Len1); </a:t>
            </a:r>
            <a:r>
              <a:rPr lang="en-US" sz="1200" dirty="0" err="1">
                <a:latin typeface="Tahoma" charset="0"/>
              </a:rPr>
              <a:t>pkt</a:t>
            </a:r>
            <a:r>
              <a:rPr lang="en-US" sz="1200" dirty="0">
                <a:latin typeface="Tahoma" charset="0"/>
              </a:rPr>
              <a:t> len2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828" y="3101308"/>
            <a:ext cx="1865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Attacker: 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299" y="4689799"/>
            <a:ext cx="181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Attacker: sending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5876" y="5616489"/>
            <a:ext cx="2216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the problem?</a:t>
            </a:r>
          </a:p>
        </p:txBody>
      </p:sp>
      <p:sp>
        <p:nvSpPr>
          <p:cNvPr id="22" name="Line 4"/>
          <p:cNvSpPr>
            <a:spLocks noChangeShapeType="1"/>
          </p:cNvSpPr>
          <p:nvPr/>
        </p:nvSpPr>
        <p:spPr bwMode="auto">
          <a:xfrm>
            <a:off x="2915249" y="4114880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3294101" y="3719142"/>
            <a:ext cx="2188289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(X+len1),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</a:t>
            </a:r>
            <a:r>
              <a:rPr lang="en-US" sz="1200" dirty="0">
                <a:latin typeface="Tahoma" charset="0"/>
                <a:sym typeface="Wingdings"/>
              </a:rPr>
              <a:t> (</a:t>
            </a:r>
            <a:r>
              <a:rPr lang="en-US" sz="1200" dirty="0">
                <a:latin typeface="Tahoma" charset="0"/>
              </a:rPr>
              <a:t>Y+len2)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Pkt</a:t>
            </a:r>
            <a:r>
              <a:rPr lang="en-US" sz="1200" dirty="0">
                <a:latin typeface="Tahoma" charset="0"/>
              </a:rPr>
              <a:t> with len3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763" y="6034843"/>
            <a:ext cx="5110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Objective: X+len1+len3 &lt;= 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 &lt;= X+len1+len3+rwnd </a:t>
            </a:r>
          </a:p>
        </p:txBody>
      </p:sp>
    </p:spTree>
    <p:extLst>
      <p:ext uri="{BB962C8B-B14F-4D97-AF65-F5344CB8AC3E}">
        <p14:creationId xmlns:p14="http://schemas.microsoft.com/office/powerpoint/2010/main" val="53495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464880" y="1563211"/>
            <a:ext cx="3078857" cy="1682068"/>
            <a:chOff x="-277" y="1564"/>
            <a:chExt cx="2387" cy="1373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-277" y="2659"/>
              <a:ext cx="238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/>
                <a:t>Server</a:t>
              </a:r>
            </a:p>
          </p:txBody>
        </p:sp>
        <p:pic>
          <p:nvPicPr>
            <p:cNvPr id="9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564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2915249" y="2523159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323984" y="2145692"/>
            <a:ext cx="214047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X,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Y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latin typeface="Tahoma" charset="0"/>
              </a:rPr>
              <a:t>(</a:t>
            </a:r>
            <a:r>
              <a:rPr lang="en-US" sz="1200" dirty="0" err="1">
                <a:latin typeface="Tahoma" charset="0"/>
              </a:rPr>
              <a:t>pkt</a:t>
            </a:r>
            <a:r>
              <a:rPr lang="en-US" sz="1200" dirty="0">
                <a:latin typeface="Tahoma" charset="0"/>
              </a:rPr>
              <a:t> with len1)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3573327" y="4466351"/>
            <a:ext cx="15996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solidFill>
                  <a:srgbClr val="FF0000"/>
                </a:solidFill>
                <a:latin typeface="Tahoma" charset="0"/>
              </a:rPr>
              <a:t>Seq</a:t>
            </a: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: (X+ Len1), RST</a:t>
            </a:r>
          </a:p>
        </p:txBody>
      </p:sp>
      <p:sp>
        <p:nvSpPr>
          <p:cNvPr id="14" name="Line 4"/>
          <p:cNvSpPr>
            <a:spLocks noChangeShapeType="1"/>
          </p:cNvSpPr>
          <p:nvPr/>
        </p:nvSpPr>
        <p:spPr bwMode="auto">
          <a:xfrm>
            <a:off x="2915249" y="4665291"/>
            <a:ext cx="3003413" cy="25241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2915249" y="2220404"/>
            <a:ext cx="2" cy="381443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918662" y="2252687"/>
            <a:ext cx="0" cy="378215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841964" y="1678391"/>
            <a:ext cx="1981200" cy="1234237"/>
            <a:chOff x="199" y="1488"/>
            <a:chExt cx="1536" cy="1125"/>
          </a:xfrm>
        </p:grpSpPr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199" y="2289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Client (C)</a:t>
              </a:r>
            </a:p>
          </p:txBody>
        </p:sp>
        <p:pic>
          <p:nvPicPr>
            <p:cNvPr id="19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31" name="Line 4"/>
          <p:cNvSpPr>
            <a:spLocks noChangeShapeType="1"/>
          </p:cNvSpPr>
          <p:nvPr/>
        </p:nvSpPr>
        <p:spPr bwMode="auto">
          <a:xfrm flipH="1">
            <a:off x="2915249" y="3027234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2941122" y="2831866"/>
            <a:ext cx="2826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Y,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 (X + Len1); </a:t>
            </a:r>
            <a:r>
              <a:rPr lang="en-US" sz="1200" dirty="0" err="1">
                <a:latin typeface="Tahoma" charset="0"/>
              </a:rPr>
              <a:t>pkt</a:t>
            </a:r>
            <a:r>
              <a:rPr lang="en-US" sz="1200" dirty="0">
                <a:latin typeface="Tahoma" charset="0"/>
              </a:rPr>
              <a:t> len2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828" y="3101308"/>
            <a:ext cx="1865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Attacker: 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299" y="4689799"/>
            <a:ext cx="181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Attacker: sending</a:t>
            </a:r>
          </a:p>
        </p:txBody>
      </p:sp>
      <p:sp>
        <p:nvSpPr>
          <p:cNvPr id="22" name="Line 4"/>
          <p:cNvSpPr>
            <a:spLocks noChangeShapeType="1"/>
          </p:cNvSpPr>
          <p:nvPr/>
        </p:nvSpPr>
        <p:spPr bwMode="auto">
          <a:xfrm>
            <a:off x="2915249" y="4114880"/>
            <a:ext cx="3003413" cy="252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3294101" y="3719142"/>
            <a:ext cx="2188289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Seq</a:t>
            </a:r>
            <a:r>
              <a:rPr lang="en-US" sz="1200" dirty="0">
                <a:latin typeface="Tahoma" charset="0"/>
              </a:rPr>
              <a:t>: (X+len1), </a:t>
            </a:r>
            <a:r>
              <a:rPr lang="en-US" sz="1200" dirty="0" err="1">
                <a:latin typeface="Tahoma" charset="0"/>
              </a:rPr>
              <a:t>Ack</a:t>
            </a:r>
            <a:r>
              <a:rPr lang="en-US" sz="1200" dirty="0">
                <a:latin typeface="Tahoma" charset="0"/>
              </a:rPr>
              <a:t>:</a:t>
            </a:r>
            <a:r>
              <a:rPr lang="en-US" sz="1200" dirty="0">
                <a:latin typeface="Tahoma" charset="0"/>
                <a:sym typeface="Wingdings"/>
              </a:rPr>
              <a:t> (</a:t>
            </a:r>
            <a:r>
              <a:rPr lang="en-US" sz="1200" dirty="0">
                <a:latin typeface="Tahoma" charset="0"/>
              </a:rPr>
              <a:t>Y+len2)</a:t>
            </a: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latin typeface="Tahoma" charset="0"/>
              </a:rPr>
              <a:t>Pkt</a:t>
            </a:r>
            <a:r>
              <a:rPr lang="en-US" sz="1200" dirty="0">
                <a:latin typeface="Tahoma" charset="0"/>
              </a:rPr>
              <a:t> with len3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763" y="6034843"/>
            <a:ext cx="5110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Objective: X+len1+len3 &lt;= 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 &lt;= X+len1+len3+rwnd </a:t>
            </a: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933180" y="5071688"/>
            <a:ext cx="3003413" cy="25241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3537324" y="4895750"/>
            <a:ext cx="1946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solidFill>
                  <a:srgbClr val="FF0000"/>
                </a:solidFill>
                <a:latin typeface="Tahoma" charset="0"/>
              </a:rPr>
              <a:t>Seq</a:t>
            </a: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: (X+ Len1 + W), RST</a:t>
            </a:r>
          </a:p>
        </p:txBody>
      </p:sp>
      <p:sp>
        <p:nvSpPr>
          <p:cNvPr id="27" name="Line 4"/>
          <p:cNvSpPr>
            <a:spLocks noChangeShapeType="1"/>
          </p:cNvSpPr>
          <p:nvPr/>
        </p:nvSpPr>
        <p:spPr bwMode="auto">
          <a:xfrm>
            <a:off x="2915249" y="5364070"/>
            <a:ext cx="3003413" cy="25241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3520337" y="5202457"/>
            <a:ext cx="20313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 err="1">
                <a:solidFill>
                  <a:srgbClr val="FF0000"/>
                </a:solidFill>
                <a:latin typeface="Tahoma" charset="0"/>
              </a:rPr>
              <a:t>Seq</a:t>
            </a:r>
            <a:r>
              <a:rPr lang="en-US" sz="1200" dirty="0">
                <a:solidFill>
                  <a:srgbClr val="FF0000"/>
                </a:solidFill>
                <a:latin typeface="Tahoma" charset="0"/>
              </a:rPr>
              <a:t>: (X+ Len1 + 2W), RST</a:t>
            </a:r>
          </a:p>
        </p:txBody>
      </p:sp>
    </p:spTree>
    <p:extLst>
      <p:ext uri="{BB962C8B-B14F-4D97-AF65-F5344CB8AC3E}">
        <p14:creationId xmlns:p14="http://schemas.microsoft.com/office/powerpoint/2010/main" val="3071855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RST_SEQ_DATA:</a:t>
            </a:r>
          </a:p>
          <a:p>
            <a:pPr lvl="1"/>
            <a:r>
              <a:rPr lang="en-US" dirty="0"/>
              <a:t>The RST packet is “out of sequence”, with the receiver observing a sequence number less than the preceding data packet would suggest.</a:t>
            </a:r>
          </a:p>
          <a:p>
            <a:pPr lvl="1"/>
            <a:r>
              <a:rPr lang="en-US" dirty="0"/>
              <a:t>What doesn’t it happen for normal cases?</a:t>
            </a:r>
          </a:p>
          <a:p>
            <a:r>
              <a:rPr lang="en-US" dirty="0"/>
              <a:t>DATA_SEQ_RST:</a:t>
            </a:r>
          </a:p>
          <a:p>
            <a:pPr lvl="1"/>
            <a:r>
              <a:rPr lang="en-US" dirty="0"/>
              <a:t>The receiver will see further data packets from the sender </a:t>
            </a:r>
            <a:r>
              <a:rPr lang="en-US" i="1" dirty="0"/>
              <a:t>after </a:t>
            </a:r>
            <a:r>
              <a:rPr lang="en-US" dirty="0"/>
              <a:t>it has already received the RST. </a:t>
            </a:r>
          </a:p>
          <a:p>
            <a:pPr lvl="1"/>
            <a:r>
              <a:rPr lang="en-US" dirty="0"/>
              <a:t>What doesn’t it happen for normal cases?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66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RST_SEQ_CHANGE:</a:t>
            </a:r>
          </a:p>
          <a:p>
            <a:pPr lvl="1"/>
            <a:r>
              <a:rPr lang="en-US" dirty="0"/>
              <a:t>Back-to-pack pairs of RSTs in which the second RST has a sequence number higher than the first, and that exceeds the current maximum sequence number. </a:t>
            </a:r>
          </a:p>
          <a:p>
            <a:pPr lvl="1"/>
            <a:r>
              <a:rPr lang="en-US" dirty="0"/>
              <a:t>What doesn’t it happen for normal cases?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126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RST_ACK_CHANGE:</a:t>
            </a:r>
          </a:p>
          <a:p>
            <a:pPr lvl="1"/>
            <a:r>
              <a:rPr lang="en-US" dirty="0"/>
              <a:t>Nonsensical ACK numbers</a:t>
            </a:r>
          </a:p>
          <a:p>
            <a:r>
              <a:rPr lang="en-US" dirty="0"/>
              <a:t>SYN_RST</a:t>
            </a:r>
          </a:p>
          <a:p>
            <a:pPr lvl="1"/>
            <a:r>
              <a:rPr lang="en-US" dirty="0"/>
              <a:t>SYNs immediately followed by RST</a:t>
            </a:r>
          </a:p>
          <a:p>
            <a:r>
              <a:rPr lang="en-US" dirty="0"/>
              <a:t>SYN_ACK_RST</a:t>
            </a:r>
          </a:p>
          <a:p>
            <a:pPr lvl="1"/>
            <a:r>
              <a:rPr lang="en-US" dirty="0"/>
              <a:t>SYN/ACKs immediately followed by RST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701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Application Layer</a:t>
            </a:r>
          </a:p>
          <a:p>
            <a:pPr lvl="1"/>
            <a:r>
              <a:rPr lang="en-US" dirty="0"/>
              <a:t>A variety of protocols</a:t>
            </a:r>
          </a:p>
          <a:p>
            <a:pPr lvl="1"/>
            <a:r>
              <a:rPr lang="en-US" dirty="0"/>
              <a:t>DNS</a:t>
            </a:r>
          </a:p>
        </p:txBody>
      </p:sp>
      <p:pic>
        <p:nvPicPr>
          <p:cNvPr id="4" name="Picture 3" descr="encaps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428" y="3092797"/>
            <a:ext cx="43561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21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(DNS)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Indispensable component for the Internet</a:t>
            </a:r>
          </a:p>
          <a:p>
            <a:pPr lvl="1"/>
            <a:r>
              <a:rPr lang="en-US" dirty="0">
                <a:hlinkClick r:id="rId2"/>
              </a:rPr>
              <a:t>www.google.com</a:t>
            </a:r>
            <a:r>
              <a:rPr lang="en-US" dirty="0"/>
              <a:t> -&gt; 173.194.75.106</a:t>
            </a:r>
          </a:p>
          <a:p>
            <a:endParaRPr lang="en-US" dirty="0"/>
          </a:p>
          <a:p>
            <a:r>
              <a:rPr lang="en-US" dirty="0"/>
              <a:t>Used by a huge percentage of Internet applications</a:t>
            </a:r>
          </a:p>
          <a:p>
            <a:pPr lvl="1"/>
            <a:r>
              <a:rPr lang="en-US" dirty="0"/>
              <a:t>Browsers</a:t>
            </a:r>
          </a:p>
          <a:p>
            <a:pPr lvl="1"/>
            <a:r>
              <a:rPr lang="en-US" dirty="0"/>
              <a:t>FTP</a:t>
            </a:r>
          </a:p>
          <a:p>
            <a:pPr lvl="1"/>
            <a:r>
              <a:rPr lang="en-US" dirty="0"/>
              <a:t>Instant Messengers</a:t>
            </a:r>
          </a:p>
        </p:txBody>
      </p:sp>
    </p:spTree>
    <p:extLst>
      <p:ext uri="{BB962C8B-B14F-4D97-AF65-F5344CB8AC3E}">
        <p14:creationId xmlns:p14="http://schemas.microsoft.com/office/powerpoint/2010/main" val="3757003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DNS Works</a:t>
            </a:r>
          </a:p>
        </p:txBody>
      </p:sp>
      <p:pic>
        <p:nvPicPr>
          <p:cNvPr id="4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914" y="3134253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3297173" y="3212856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6565318" y="162354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6565318" y="313425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8" name="tower"/>
          <p:cNvSpPr>
            <a:spLocks noEditPoints="1" noChangeArrowheads="1"/>
          </p:cNvSpPr>
          <p:nvPr/>
        </p:nvSpPr>
        <p:spPr bwMode="auto">
          <a:xfrm>
            <a:off x="6565318" y="4744114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753809" y="3580191"/>
            <a:ext cx="1282095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010781" y="2068286"/>
            <a:ext cx="2423886" cy="133773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10782" y="2211011"/>
            <a:ext cx="2341008" cy="133340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010782" y="3580191"/>
            <a:ext cx="2423885" cy="1524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010781" y="3732591"/>
            <a:ext cx="2276325" cy="137885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010782" y="4090971"/>
            <a:ext cx="2423885" cy="86807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3839017" y="4245429"/>
            <a:ext cx="2595650" cy="93066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738080" y="3813448"/>
            <a:ext cx="129782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48215" y="3175083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138216" y="2577706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829" y="1361932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Root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8460" y="2980364"/>
            <a:ext cx="100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 server</a:t>
            </a:r>
          </a:p>
          <a:p>
            <a:r>
              <a:rPr lang="en-US" sz="1400" dirty="0"/>
              <a:t>(IP: Y.Y.Y.Y)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8460" y="4592683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22" name="TextBox 21"/>
          <p:cNvSpPr txBox="1"/>
          <p:nvPr/>
        </p:nvSpPr>
        <p:spPr>
          <a:xfrm rot="19909190">
            <a:off x="4367262" y="2346073"/>
            <a:ext cx="1633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“.com” server IP?</a:t>
            </a:r>
          </a:p>
        </p:txBody>
      </p:sp>
      <p:sp>
        <p:nvSpPr>
          <p:cNvPr id="23" name="TextBox 22"/>
          <p:cNvSpPr txBox="1"/>
          <p:nvPr/>
        </p:nvSpPr>
        <p:spPr>
          <a:xfrm rot="21401500">
            <a:off x="4393940" y="3341089"/>
            <a:ext cx="169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foo.com</a:t>
            </a:r>
            <a:r>
              <a:rPr lang="en-US" sz="1400" dirty="0"/>
              <a:t>” server IP?</a:t>
            </a:r>
          </a:p>
        </p:txBody>
      </p:sp>
      <p:sp>
        <p:nvSpPr>
          <p:cNvPr id="24" name="TextBox 23"/>
          <p:cNvSpPr txBox="1"/>
          <p:nvPr/>
        </p:nvSpPr>
        <p:spPr>
          <a:xfrm rot="1107061">
            <a:off x="4497984" y="4213750"/>
            <a:ext cx="157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cash.foo.com</a:t>
            </a:r>
            <a:r>
              <a:rPr lang="en-US" sz="1400" dirty="0"/>
              <a:t>” IP?</a:t>
            </a:r>
          </a:p>
        </p:txBody>
      </p:sp>
      <p:sp>
        <p:nvSpPr>
          <p:cNvPr id="25" name="TextBox 24"/>
          <p:cNvSpPr txBox="1"/>
          <p:nvPr/>
        </p:nvSpPr>
        <p:spPr>
          <a:xfrm rot="1194034">
            <a:off x="4200554" y="4730375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4533" y="3975367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29" name="TextBox 28"/>
          <p:cNvSpPr txBox="1"/>
          <p:nvPr/>
        </p:nvSpPr>
        <p:spPr>
          <a:xfrm rot="19810821">
            <a:off x="5028579" y="2733085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Y.Y.Y.Y</a:t>
            </a:r>
          </a:p>
        </p:txBody>
      </p:sp>
      <p:sp>
        <p:nvSpPr>
          <p:cNvPr id="30" name="TextBox 29"/>
          <p:cNvSpPr txBox="1"/>
          <p:nvPr/>
        </p:nvSpPr>
        <p:spPr>
          <a:xfrm rot="21438475">
            <a:off x="4978966" y="3729140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Z.Z.Z.Z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15145"/>
              </p:ext>
            </p:extLst>
          </p:nvPr>
        </p:nvGraphicFramePr>
        <p:xfrm>
          <a:off x="6402115" y="5758105"/>
          <a:ext cx="2486782" cy="60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cash.foo.com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X.X.X.X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371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DNS Works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201746"/>
              </p:ext>
            </p:extLst>
          </p:nvPr>
        </p:nvGraphicFramePr>
        <p:xfrm>
          <a:off x="4236295" y="1850363"/>
          <a:ext cx="3599516" cy="82295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3072103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307555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3060008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3398762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3398762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3619924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619924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887437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536788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8257" y="2536788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665538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166303"/>
              </p:ext>
            </p:extLst>
          </p:nvPr>
        </p:nvGraphicFramePr>
        <p:xfrm>
          <a:off x="4291831" y="3998589"/>
          <a:ext cx="3260460" cy="103631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z.z.z.z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90509" y="1436000"/>
            <a:ext cx="1173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 UDP Packet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438" y="5146390"/>
            <a:ext cx="1173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 UDP Packet</a:t>
            </a:r>
          </a:p>
        </p:txBody>
      </p:sp>
    </p:spTree>
    <p:extLst>
      <p:ext uri="{BB962C8B-B14F-4D97-AF65-F5344CB8AC3E}">
        <p14:creationId xmlns:p14="http://schemas.microsoft.com/office/powerpoint/2010/main" val="287314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Poisoning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2028"/>
            <a:ext cx="8229600" cy="76245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a recursive server accepts a response from the authoritative server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21554"/>
              </p:ext>
            </p:extLst>
          </p:nvPr>
        </p:nvGraphicFramePr>
        <p:xfrm>
          <a:off x="4236295" y="2449183"/>
          <a:ext cx="3599516" cy="82295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3523328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3526776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3416977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3849987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3849987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4071149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4071149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3338662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988013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2927813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4116763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66244"/>
              </p:ext>
            </p:extLst>
          </p:nvPr>
        </p:nvGraphicFramePr>
        <p:xfrm>
          <a:off x="4303926" y="4451918"/>
          <a:ext cx="3260460" cy="103631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z.z.z.z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33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 flipH="1" flipV="1">
            <a:off x="4010784" y="3586004"/>
            <a:ext cx="1621972" cy="26241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Poisoning Attack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761953"/>
              </p:ext>
            </p:extLst>
          </p:nvPr>
        </p:nvGraphicFramePr>
        <p:xfrm>
          <a:off x="4236295" y="1474999"/>
          <a:ext cx="3599516" cy="82295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3096965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096965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142579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067467"/>
              </p:ext>
            </p:extLst>
          </p:nvPr>
        </p:nvGraphicFramePr>
        <p:xfrm>
          <a:off x="4697797" y="3346869"/>
          <a:ext cx="3260460" cy="103631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z.z.z.z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56" y="5838668"/>
            <a:ext cx="1201160" cy="74294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010623"/>
              </p:ext>
            </p:extLst>
          </p:nvPr>
        </p:nvGraphicFramePr>
        <p:xfrm>
          <a:off x="2243692" y="4802349"/>
          <a:ext cx="3260460" cy="103631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m.m.m.m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z.z.z.z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Freeform 24"/>
          <p:cNvSpPr/>
          <p:nvPr/>
        </p:nvSpPr>
        <p:spPr>
          <a:xfrm>
            <a:off x="644305" y="3679797"/>
            <a:ext cx="4780933" cy="2530341"/>
          </a:xfrm>
          <a:custGeom>
            <a:avLst/>
            <a:gdLst>
              <a:gd name="connsiteX0" fmla="*/ 4780933 w 4780933"/>
              <a:gd name="connsiteY0" fmla="*/ 2418686 h 2530341"/>
              <a:gd name="connsiteX1" fmla="*/ 634968 w 4780933"/>
              <a:gd name="connsiteY1" fmla="*/ 2250592 h 2530341"/>
              <a:gd name="connsiteX2" fmla="*/ 0 w 4780933"/>
              <a:gd name="connsiteY2" fmla="*/ 0 h 2530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80933" h="2530341">
                <a:moveTo>
                  <a:pt x="4780933" y="2418686"/>
                </a:moveTo>
                <a:cubicBezTo>
                  <a:pt x="3106361" y="2536196"/>
                  <a:pt x="1431790" y="2653706"/>
                  <a:pt x="634968" y="2250592"/>
                </a:cubicBezTo>
                <a:cubicBezTo>
                  <a:pt x="-161854" y="1847478"/>
                  <a:pt x="105828" y="373542"/>
                  <a:pt x="0" y="0"/>
                </a:cubicBezTo>
              </a:path>
            </a:pathLst>
          </a:custGeom>
          <a:ln>
            <a:solidFill>
              <a:srgbClr val="FF0000"/>
            </a:solidFill>
            <a:prstDash val="sysDot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4305" y="5838668"/>
            <a:ext cx="883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3560923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 flipH="1" flipV="1">
            <a:off x="4010784" y="3586004"/>
            <a:ext cx="1621972" cy="26241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 for Attackers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035750"/>
              </p:ext>
            </p:extLst>
          </p:nvPr>
        </p:nvGraphicFramePr>
        <p:xfrm>
          <a:off x="4236295" y="1474999"/>
          <a:ext cx="3599516" cy="82295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141436" y="3096965"/>
            <a:ext cx="3091516" cy="72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096965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142579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025689"/>
              </p:ext>
            </p:extLst>
          </p:nvPr>
        </p:nvGraphicFramePr>
        <p:xfrm>
          <a:off x="4697797" y="3346869"/>
          <a:ext cx="3260460" cy="103631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x.x.x.x</a:t>
                      </a:r>
                      <a:endParaRPr lang="en-US" sz="1400" b="0" dirty="0"/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/>
                        <a:t>z.z.z.z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56" y="5838668"/>
            <a:ext cx="1201160" cy="74294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054115"/>
              </p:ext>
            </p:extLst>
          </p:nvPr>
        </p:nvGraphicFramePr>
        <p:xfrm>
          <a:off x="2243692" y="4802349"/>
          <a:ext cx="3260460" cy="103631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4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DstPort</a:t>
                      </a:r>
                      <a:endParaRPr lang="en-US" sz="1400" b="1" dirty="0"/>
                    </a:p>
                    <a:p>
                      <a:pPr algn="ctr"/>
                      <a:r>
                        <a:rPr lang="en-US" sz="1400" b="1" dirty="0"/>
                        <a:t>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ID (16bits)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400" b="0" dirty="0" err="1"/>
                        <a:t>cash.foo.com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m.m.m.m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r>
                        <a:rPr lang="en-US" sz="1400" b="0" dirty="0" err="1"/>
                        <a:t>foo.com</a:t>
                      </a:r>
                      <a:r>
                        <a:rPr lang="en-US" sz="1400" b="0" dirty="0"/>
                        <a:t>: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z.z.z.z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ounded Rectangular Callout 16"/>
          <p:cNvSpPr/>
          <p:nvPr/>
        </p:nvSpPr>
        <p:spPr>
          <a:xfrm>
            <a:off x="5826762" y="4706631"/>
            <a:ext cx="2623910" cy="532297"/>
          </a:xfrm>
          <a:prstGeom prst="wedgeRoundRectCallout">
            <a:avLst>
              <a:gd name="adj1" fmla="val -60671"/>
              <a:gd name="adj2" fmla="val 10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Guess Source Port: 1024 - 65535</a:t>
            </a:r>
          </a:p>
          <a:p>
            <a:r>
              <a:rPr lang="en-US" sz="1400" dirty="0"/>
              <a:t>Guess ID:  0 - 65535</a:t>
            </a:r>
          </a:p>
        </p:txBody>
      </p:sp>
    </p:spTree>
    <p:extLst>
      <p:ext uri="{BB962C8B-B14F-4D97-AF65-F5344CB8AC3E}">
        <p14:creationId xmlns:p14="http://schemas.microsoft.com/office/powerpoint/2010/main" val="1171979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 for Attackers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114544"/>
              </p:ext>
            </p:extLst>
          </p:nvPr>
        </p:nvGraphicFramePr>
        <p:xfrm>
          <a:off x="4236295" y="1474999"/>
          <a:ext cx="3599516" cy="82295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763408" y="3096965"/>
            <a:ext cx="146954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430501" y="3096965"/>
            <a:ext cx="143857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87" y="3142579"/>
            <a:ext cx="198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cash.foo.com</a:t>
            </a:r>
            <a:r>
              <a:rPr lang="en-US" sz="1600" dirty="0"/>
              <a:t>: X.X.X.X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482320" y="4706631"/>
            <a:ext cx="2623910" cy="532297"/>
          </a:xfrm>
          <a:prstGeom prst="wedgeRoundRectCallout">
            <a:avLst>
              <a:gd name="adj1" fmla="val -60671"/>
              <a:gd name="adj2" fmla="val 10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Guess Source Port: 1024 - 65535</a:t>
            </a:r>
          </a:p>
          <a:p>
            <a:r>
              <a:rPr lang="en-US" sz="1400" dirty="0"/>
              <a:t>Guess ID:  0 – 65535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43716" y="3635679"/>
            <a:ext cx="2115766" cy="2624134"/>
            <a:chOff x="3540549" y="3635679"/>
            <a:chExt cx="2115766" cy="2624134"/>
          </a:xfrm>
        </p:grpSpPr>
        <p:cxnSp>
          <p:nvCxnSpPr>
            <p:cNvPr id="22" name="Straight Arrow Connector 21"/>
            <p:cNvCxnSpPr/>
            <p:nvPr/>
          </p:nvCxnSpPr>
          <p:spPr>
            <a:xfrm flipH="1" flipV="1">
              <a:off x="4034343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3868135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 flipV="1">
              <a:off x="3714972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 flipV="1">
              <a:off x="3540549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/>
          <p:cNvCxnSpPr/>
          <p:nvPr/>
        </p:nvCxnSpPr>
        <p:spPr>
          <a:xfrm flipH="1" flipV="1">
            <a:off x="4141436" y="3635679"/>
            <a:ext cx="1621972" cy="26241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602" y="5838668"/>
            <a:ext cx="1201160" cy="7429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21649" y="468072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7834" y="3324490"/>
            <a:ext cx="332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Before the authentic response arrives</a:t>
            </a:r>
          </a:p>
        </p:txBody>
      </p:sp>
    </p:spTree>
    <p:extLst>
      <p:ext uri="{BB962C8B-B14F-4D97-AF65-F5344CB8AC3E}">
        <p14:creationId xmlns:p14="http://schemas.microsoft.com/office/powerpoint/2010/main" val="1905800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Address Challenges?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922647"/>
              </p:ext>
            </p:extLst>
          </p:nvPr>
        </p:nvGraphicFramePr>
        <p:xfrm>
          <a:off x="4236295" y="1474999"/>
          <a:ext cx="3599516" cy="82295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SrcPort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(16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DstIP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DstPort</a:t>
                      </a:r>
                      <a:endParaRPr lang="en-US" sz="1400" b="0" dirty="0"/>
                    </a:p>
                    <a:p>
                      <a:pPr algn="ctr"/>
                      <a:r>
                        <a:rPr lang="en-US" sz="1400" b="0" dirty="0"/>
                        <a:t>(53)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8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ID (16 bits)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Query: </a:t>
                      </a:r>
                      <a:r>
                        <a:rPr lang="en-US" sz="1400" b="0" dirty="0" err="1"/>
                        <a:t>cash.foo.com</a:t>
                      </a:r>
                      <a:endParaRPr lang="en-US" sz="1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079" y="2549144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3468938" y="255259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7564386" y="244279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430500" y="2875803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1434" y="2875803"/>
            <a:ext cx="309151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763408" y="3096965"/>
            <a:ext cx="146954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0500" y="2364478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43716" y="2013829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Recursive</a:t>
            </a:r>
          </a:p>
          <a:p>
            <a:pPr algn="ctr"/>
            <a:r>
              <a:rPr lang="en-US" sz="1400" dirty="0"/>
              <a:t>DNS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17" y="1953629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482320" y="4706631"/>
            <a:ext cx="2623910" cy="532297"/>
          </a:xfrm>
          <a:prstGeom prst="wedgeRoundRectCallout">
            <a:avLst>
              <a:gd name="adj1" fmla="val -60671"/>
              <a:gd name="adj2" fmla="val 10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Guess Source Port: 1024 - 65535</a:t>
            </a:r>
          </a:p>
          <a:p>
            <a:r>
              <a:rPr lang="en-US" sz="1400" dirty="0"/>
              <a:t>Guess ID:  0 – 65535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43716" y="3635679"/>
            <a:ext cx="2115766" cy="2624134"/>
            <a:chOff x="3540549" y="3635679"/>
            <a:chExt cx="2115766" cy="2624134"/>
          </a:xfrm>
        </p:grpSpPr>
        <p:cxnSp>
          <p:nvCxnSpPr>
            <p:cNvPr id="22" name="Straight Arrow Connector 21"/>
            <p:cNvCxnSpPr/>
            <p:nvPr/>
          </p:nvCxnSpPr>
          <p:spPr>
            <a:xfrm flipH="1" flipV="1">
              <a:off x="4034343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3868135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 flipV="1">
              <a:off x="3714972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 flipV="1">
              <a:off x="3540549" y="3635679"/>
              <a:ext cx="1621972" cy="26241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/>
          <p:cNvCxnSpPr/>
          <p:nvPr/>
        </p:nvCxnSpPr>
        <p:spPr>
          <a:xfrm flipH="1" flipV="1">
            <a:off x="4141436" y="3635679"/>
            <a:ext cx="1621972" cy="26241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yber-crime-hacker-270x167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602" y="5838668"/>
            <a:ext cx="1201160" cy="7429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21649" y="468072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7834" y="3324490"/>
            <a:ext cx="332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Before the authentic response arrives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430500" y="3423624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30500" y="2912299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430500" y="3960269"/>
            <a:ext cx="1438577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30500" y="3448944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884459" y="4089478"/>
            <a:ext cx="481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014629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</a:t>
            </a:r>
            <a:r>
              <a:rPr lang="en-US"/>
              <a:t>DNS Injection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“The Collateral Damage of Internet Censorship by DNS Injection”</a:t>
            </a:r>
          </a:p>
          <a:p>
            <a:pPr lvl="1"/>
            <a:r>
              <a:rPr lang="en-US" dirty="0"/>
              <a:t>Sparks, Neo, Tank, Smith, and Dozer, </a:t>
            </a:r>
            <a:r>
              <a:rPr lang="en-US" dirty="0" err="1"/>
              <a:t>Sigcomm</a:t>
            </a:r>
            <a:r>
              <a:rPr lang="en-US" dirty="0"/>
              <a:t> 2012</a:t>
            </a:r>
          </a:p>
        </p:txBody>
      </p:sp>
    </p:spTree>
    <p:extLst>
      <p:ext uri="{BB962C8B-B14F-4D97-AF65-F5344CB8AC3E}">
        <p14:creationId xmlns:p14="http://schemas.microsoft.com/office/powerpoint/2010/main" val="27525658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DNS Works</a:t>
            </a:r>
          </a:p>
        </p:txBody>
      </p:sp>
      <p:pic>
        <p:nvPicPr>
          <p:cNvPr id="4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914" y="3134253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3297173" y="3212856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6565318" y="162354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6565318" y="313425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8" name="tower"/>
          <p:cNvSpPr>
            <a:spLocks noEditPoints="1" noChangeArrowheads="1"/>
          </p:cNvSpPr>
          <p:nvPr/>
        </p:nvSpPr>
        <p:spPr bwMode="auto">
          <a:xfrm>
            <a:off x="6565318" y="4744114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753809" y="3580191"/>
            <a:ext cx="1282095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010781" y="2068286"/>
            <a:ext cx="2423886" cy="133773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10782" y="2211011"/>
            <a:ext cx="2341008" cy="133340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010782" y="3580191"/>
            <a:ext cx="2423885" cy="1524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010781" y="3732591"/>
            <a:ext cx="2276325" cy="137885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010782" y="4090971"/>
            <a:ext cx="2423885" cy="86807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3839017" y="4245429"/>
            <a:ext cx="2595650" cy="93066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738080" y="3813448"/>
            <a:ext cx="129782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48215" y="3175083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138216" y="2577706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829" y="1361932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Root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8460" y="2980364"/>
            <a:ext cx="100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 server</a:t>
            </a:r>
          </a:p>
          <a:p>
            <a:r>
              <a:rPr lang="en-US" sz="1400" dirty="0"/>
              <a:t>(IP: Y.Y.Y.Y)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8460" y="4592683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22" name="TextBox 21"/>
          <p:cNvSpPr txBox="1"/>
          <p:nvPr/>
        </p:nvSpPr>
        <p:spPr>
          <a:xfrm rot="19909190">
            <a:off x="4367262" y="2346073"/>
            <a:ext cx="1633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“.com” server IP?</a:t>
            </a:r>
          </a:p>
        </p:txBody>
      </p:sp>
      <p:sp>
        <p:nvSpPr>
          <p:cNvPr id="23" name="TextBox 22"/>
          <p:cNvSpPr txBox="1"/>
          <p:nvPr/>
        </p:nvSpPr>
        <p:spPr>
          <a:xfrm rot="21401500">
            <a:off x="4393940" y="3341089"/>
            <a:ext cx="169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foo.com</a:t>
            </a:r>
            <a:r>
              <a:rPr lang="en-US" sz="1400" dirty="0"/>
              <a:t>” server IP?</a:t>
            </a:r>
          </a:p>
        </p:txBody>
      </p:sp>
      <p:sp>
        <p:nvSpPr>
          <p:cNvPr id="24" name="TextBox 23"/>
          <p:cNvSpPr txBox="1"/>
          <p:nvPr/>
        </p:nvSpPr>
        <p:spPr>
          <a:xfrm rot="1107061">
            <a:off x="4497984" y="4213750"/>
            <a:ext cx="157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cash.foo.com</a:t>
            </a:r>
            <a:r>
              <a:rPr lang="en-US" sz="1400" dirty="0"/>
              <a:t>” IP?</a:t>
            </a:r>
          </a:p>
        </p:txBody>
      </p:sp>
      <p:sp>
        <p:nvSpPr>
          <p:cNvPr id="25" name="TextBox 24"/>
          <p:cNvSpPr txBox="1"/>
          <p:nvPr/>
        </p:nvSpPr>
        <p:spPr>
          <a:xfrm rot="1194034">
            <a:off x="4200554" y="4730375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4533" y="3975367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29" name="TextBox 28"/>
          <p:cNvSpPr txBox="1"/>
          <p:nvPr/>
        </p:nvSpPr>
        <p:spPr>
          <a:xfrm rot="19810821">
            <a:off x="5028579" y="2733085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Y.Y.Y.Y</a:t>
            </a:r>
          </a:p>
        </p:txBody>
      </p:sp>
      <p:sp>
        <p:nvSpPr>
          <p:cNvPr id="30" name="TextBox 29"/>
          <p:cNvSpPr txBox="1"/>
          <p:nvPr/>
        </p:nvSpPr>
        <p:spPr>
          <a:xfrm rot="21438475">
            <a:off x="4978966" y="3729140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Z.Z.Z.Z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489016"/>
              </p:ext>
            </p:extLst>
          </p:nvPr>
        </p:nvGraphicFramePr>
        <p:xfrm>
          <a:off x="6402115" y="5758105"/>
          <a:ext cx="2486782" cy="60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cash.foo.com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X.X.X.X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506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DNS Injection Works</a:t>
            </a:r>
          </a:p>
        </p:txBody>
      </p:sp>
      <p:pic>
        <p:nvPicPr>
          <p:cNvPr id="4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914" y="3134253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3297173" y="3212856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6565318" y="162354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7" name="tower"/>
          <p:cNvSpPr>
            <a:spLocks noEditPoints="1" noChangeArrowheads="1"/>
          </p:cNvSpPr>
          <p:nvPr/>
        </p:nvSpPr>
        <p:spPr bwMode="auto">
          <a:xfrm>
            <a:off x="6565318" y="313425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8" name="tower"/>
          <p:cNvSpPr>
            <a:spLocks noEditPoints="1" noChangeArrowheads="1"/>
          </p:cNvSpPr>
          <p:nvPr/>
        </p:nvSpPr>
        <p:spPr bwMode="auto">
          <a:xfrm>
            <a:off x="6565318" y="4744114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753809" y="3580191"/>
            <a:ext cx="1282095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010781" y="2068286"/>
            <a:ext cx="2423886" cy="133773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10782" y="2211011"/>
            <a:ext cx="2341008" cy="133340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010782" y="3580191"/>
            <a:ext cx="2423885" cy="1524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010781" y="3732591"/>
            <a:ext cx="2276325" cy="137885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010782" y="4090971"/>
            <a:ext cx="2423885" cy="86807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3839017" y="4245429"/>
            <a:ext cx="2595650" cy="93066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738080" y="3813448"/>
            <a:ext cx="129782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48215" y="3175083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138216" y="2577706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829" y="1361932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Root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8460" y="2980364"/>
            <a:ext cx="100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 server</a:t>
            </a:r>
          </a:p>
          <a:p>
            <a:r>
              <a:rPr lang="en-US" sz="1400" dirty="0"/>
              <a:t>(IP: Y.Y.Y.Y)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8460" y="4592683"/>
            <a:ext cx="992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foo server</a:t>
            </a:r>
          </a:p>
          <a:p>
            <a:r>
              <a:rPr lang="en-US" sz="1400" dirty="0"/>
              <a:t>(IP: Z.Z.Z.Z)</a:t>
            </a:r>
          </a:p>
        </p:txBody>
      </p:sp>
      <p:sp>
        <p:nvSpPr>
          <p:cNvPr id="22" name="TextBox 21"/>
          <p:cNvSpPr txBox="1"/>
          <p:nvPr/>
        </p:nvSpPr>
        <p:spPr>
          <a:xfrm rot="19909190">
            <a:off x="4367262" y="2346073"/>
            <a:ext cx="1633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“.com” server IP?</a:t>
            </a:r>
          </a:p>
        </p:txBody>
      </p:sp>
      <p:sp>
        <p:nvSpPr>
          <p:cNvPr id="23" name="TextBox 22"/>
          <p:cNvSpPr txBox="1"/>
          <p:nvPr/>
        </p:nvSpPr>
        <p:spPr>
          <a:xfrm rot="21401500">
            <a:off x="4393940" y="3341089"/>
            <a:ext cx="169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foo.com</a:t>
            </a:r>
            <a:r>
              <a:rPr lang="en-US" sz="1400" dirty="0"/>
              <a:t>” server IP?</a:t>
            </a:r>
          </a:p>
        </p:txBody>
      </p:sp>
      <p:sp>
        <p:nvSpPr>
          <p:cNvPr id="24" name="TextBox 23"/>
          <p:cNvSpPr txBox="1"/>
          <p:nvPr/>
        </p:nvSpPr>
        <p:spPr>
          <a:xfrm rot="1107061">
            <a:off x="4497984" y="4213750"/>
            <a:ext cx="157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cash.foo.com</a:t>
            </a:r>
            <a:r>
              <a:rPr lang="en-US" sz="1400" dirty="0"/>
              <a:t>” IP?</a:t>
            </a:r>
          </a:p>
        </p:txBody>
      </p:sp>
      <p:sp>
        <p:nvSpPr>
          <p:cNvPr id="25" name="TextBox 24"/>
          <p:cNvSpPr txBox="1"/>
          <p:nvPr/>
        </p:nvSpPr>
        <p:spPr>
          <a:xfrm rot="1194034">
            <a:off x="4200554" y="4730375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4533" y="3975367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29" name="TextBox 28"/>
          <p:cNvSpPr txBox="1"/>
          <p:nvPr/>
        </p:nvSpPr>
        <p:spPr>
          <a:xfrm rot="19810821">
            <a:off x="5028579" y="2733085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Y.Y.Y.Y</a:t>
            </a:r>
          </a:p>
        </p:txBody>
      </p:sp>
      <p:sp>
        <p:nvSpPr>
          <p:cNvPr id="30" name="TextBox 29"/>
          <p:cNvSpPr txBox="1"/>
          <p:nvPr/>
        </p:nvSpPr>
        <p:spPr>
          <a:xfrm rot="21438475">
            <a:off x="4978966" y="3729140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Z.Z.Z.Z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37899"/>
              </p:ext>
            </p:extLst>
          </p:nvPr>
        </p:nvGraphicFramePr>
        <p:xfrm>
          <a:off x="6402115" y="5758105"/>
          <a:ext cx="2486782" cy="60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cash.foo.com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X.X.X.X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2" name="Picture 6" descr="j01953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914" y="3134253"/>
            <a:ext cx="767669" cy="94462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3" name="tower"/>
          <p:cNvSpPr>
            <a:spLocks noEditPoints="1" noChangeArrowheads="1"/>
          </p:cNvSpPr>
          <p:nvPr/>
        </p:nvSpPr>
        <p:spPr bwMode="auto">
          <a:xfrm>
            <a:off x="3297173" y="3212856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34" name="tower"/>
          <p:cNvSpPr>
            <a:spLocks noEditPoints="1" noChangeArrowheads="1"/>
          </p:cNvSpPr>
          <p:nvPr/>
        </p:nvSpPr>
        <p:spPr bwMode="auto">
          <a:xfrm>
            <a:off x="6565318" y="1623542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35" name="tower"/>
          <p:cNvSpPr>
            <a:spLocks noEditPoints="1" noChangeArrowheads="1"/>
          </p:cNvSpPr>
          <p:nvPr/>
        </p:nvSpPr>
        <p:spPr bwMode="auto">
          <a:xfrm>
            <a:off x="6565318" y="3134253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753809" y="3580191"/>
            <a:ext cx="1282095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4010781" y="2068286"/>
            <a:ext cx="2423886" cy="133773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010782" y="2211011"/>
            <a:ext cx="2341008" cy="133340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4010782" y="3580191"/>
            <a:ext cx="2423885" cy="1524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1738080" y="3813448"/>
            <a:ext cx="1297824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648215" y="3175083"/>
            <a:ext cx="143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cash.foo.com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138216" y="2577706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1829" y="1361932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Root server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8460" y="2980364"/>
            <a:ext cx="100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 server</a:t>
            </a:r>
          </a:p>
          <a:p>
            <a:r>
              <a:rPr lang="en-US" sz="1400" dirty="0"/>
              <a:t>(IP: Y.Y.Y.Y)</a:t>
            </a:r>
          </a:p>
        </p:txBody>
      </p:sp>
      <p:sp>
        <p:nvSpPr>
          <p:cNvPr id="45" name="TextBox 44"/>
          <p:cNvSpPr txBox="1"/>
          <p:nvPr/>
        </p:nvSpPr>
        <p:spPr>
          <a:xfrm rot="19909190">
            <a:off x="4367262" y="2346073"/>
            <a:ext cx="1633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“.com” server IP?</a:t>
            </a:r>
          </a:p>
        </p:txBody>
      </p:sp>
      <p:sp>
        <p:nvSpPr>
          <p:cNvPr id="46" name="TextBox 45"/>
          <p:cNvSpPr txBox="1"/>
          <p:nvPr/>
        </p:nvSpPr>
        <p:spPr>
          <a:xfrm rot="21401500">
            <a:off x="4393940" y="3341089"/>
            <a:ext cx="169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foo.com</a:t>
            </a:r>
            <a:r>
              <a:rPr lang="en-US" sz="1400" dirty="0"/>
              <a:t>” server IP?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74533" y="3975367"/>
            <a:ext cx="175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X.X.X.X</a:t>
            </a:r>
          </a:p>
          <a:p>
            <a:r>
              <a:rPr lang="en-US" sz="1400" dirty="0" err="1"/>
              <a:t>foo.com</a:t>
            </a:r>
            <a:r>
              <a:rPr lang="en-US" sz="1400" dirty="0"/>
              <a:t>: Z.Z.Z.Z</a:t>
            </a:r>
          </a:p>
        </p:txBody>
      </p:sp>
      <p:sp>
        <p:nvSpPr>
          <p:cNvPr id="48" name="TextBox 47"/>
          <p:cNvSpPr txBox="1"/>
          <p:nvPr/>
        </p:nvSpPr>
        <p:spPr>
          <a:xfrm rot="19810821">
            <a:off x="5028579" y="2733085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Y.Y.Y.Y</a:t>
            </a:r>
          </a:p>
        </p:txBody>
      </p:sp>
      <p:sp>
        <p:nvSpPr>
          <p:cNvPr id="49" name="TextBox 48"/>
          <p:cNvSpPr txBox="1"/>
          <p:nvPr/>
        </p:nvSpPr>
        <p:spPr>
          <a:xfrm rot="21438475">
            <a:off x="4972556" y="372914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T.T.T.T</a:t>
            </a:r>
          </a:p>
        </p:txBody>
      </p:sp>
      <p:grpSp>
        <p:nvGrpSpPr>
          <p:cNvPr id="50" name="Group 7"/>
          <p:cNvGrpSpPr>
            <a:grpSpLocks/>
          </p:cNvGrpSpPr>
          <p:nvPr/>
        </p:nvGrpSpPr>
        <p:grpSpPr bwMode="auto">
          <a:xfrm>
            <a:off x="5732596" y="4353879"/>
            <a:ext cx="1981200" cy="1241916"/>
            <a:chOff x="140" y="1488"/>
            <a:chExt cx="1536" cy="1132"/>
          </a:xfrm>
        </p:grpSpPr>
        <p:sp>
          <p:nvSpPr>
            <p:cNvPr id="51" name="Text Box 8"/>
            <p:cNvSpPr txBox="1">
              <a:spLocks noChangeArrowheads="1"/>
            </p:cNvSpPr>
            <p:nvPr/>
          </p:nvSpPr>
          <p:spPr bwMode="auto">
            <a:xfrm>
              <a:off x="140" y="2296"/>
              <a:ext cx="153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Times New Roman" charset="0"/>
                <a:buNone/>
              </a:pPr>
              <a:r>
                <a:rPr lang="en-GB" dirty="0">
                  <a:latin typeface="Times New Roman" charset="0"/>
                </a:rPr>
                <a:t>Attacker (inline)</a:t>
              </a:r>
            </a:p>
          </p:txBody>
        </p:sp>
        <p:pic>
          <p:nvPicPr>
            <p:cNvPr id="52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88"/>
              <a:ext cx="912" cy="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</p:grpSp>
      <p:sp>
        <p:nvSpPr>
          <p:cNvPr id="53" name="Freeform 52"/>
          <p:cNvSpPr/>
          <p:nvPr/>
        </p:nvSpPr>
        <p:spPr>
          <a:xfrm rot="21165804">
            <a:off x="4042026" y="3738912"/>
            <a:ext cx="2561659" cy="658052"/>
          </a:xfrm>
          <a:custGeom>
            <a:avLst/>
            <a:gdLst>
              <a:gd name="connsiteX0" fmla="*/ 1331606 w 1331606"/>
              <a:gd name="connsiteY0" fmla="*/ 2367470 h 2367470"/>
              <a:gd name="connsiteX1" fmla="*/ 1023364 w 1331606"/>
              <a:gd name="connsiteY1" fmla="*/ 370174 h 2367470"/>
              <a:gd name="connsiteX2" fmla="*/ 0 w 1331606"/>
              <a:gd name="connsiteY2" fmla="*/ 304 h 23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1606" h="2367470">
                <a:moveTo>
                  <a:pt x="1331606" y="2367470"/>
                </a:moveTo>
                <a:cubicBezTo>
                  <a:pt x="1288452" y="1566086"/>
                  <a:pt x="1245298" y="764702"/>
                  <a:pt x="1023364" y="370174"/>
                </a:cubicBezTo>
                <a:cubicBezTo>
                  <a:pt x="801430" y="-24354"/>
                  <a:pt x="0" y="304"/>
                  <a:pt x="0" y="304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3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it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lists.dns-oarc.net</a:t>
            </a:r>
            <a:r>
              <a:rPr lang="en-US" dirty="0"/>
              <a:t>/</a:t>
            </a:r>
            <a:r>
              <a:rPr lang="en-US" dirty="0" err="1"/>
              <a:t>pipermail</a:t>
            </a:r>
            <a:r>
              <a:rPr lang="en-US" dirty="0"/>
              <a:t>/</a:t>
            </a:r>
            <a:r>
              <a:rPr lang="en-US" dirty="0" err="1"/>
              <a:t>dns</a:t>
            </a:r>
            <a:r>
              <a:rPr lang="en-US" dirty="0"/>
              <a:t>-operations/2010-March/005260.html</a:t>
            </a:r>
          </a:p>
        </p:txBody>
      </p:sp>
    </p:spTree>
    <p:extLst>
      <p:ext uri="{BB962C8B-B14F-4D97-AF65-F5344CB8AC3E}">
        <p14:creationId xmlns:p14="http://schemas.microsoft.com/office/powerpoint/2010/main" val="501833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0"/>
            <a:ext cx="6866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62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Collateral Damage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062383" cy="9145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Collateral damage occurs when a DNS query </a:t>
            </a:r>
            <a:r>
              <a:rPr lang="en-US" dirty="0">
                <a:solidFill>
                  <a:srgbClr val="FF0000"/>
                </a:solidFill>
              </a:rPr>
              <a:t>from a recursive resolver</a:t>
            </a:r>
            <a:r>
              <a:rPr lang="en-US" dirty="0"/>
              <a:t> enters </a:t>
            </a:r>
            <a:r>
              <a:rPr lang="en-US" dirty="0">
                <a:solidFill>
                  <a:srgbClr val="FF0000"/>
                </a:solidFill>
              </a:rPr>
              <a:t>a censored network</a:t>
            </a:r>
            <a:r>
              <a:rPr lang="en-US" dirty="0"/>
              <a:t>, causing the censorship mechanism to react.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2332163"/>
            <a:ext cx="5175250" cy="371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60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ud 31"/>
          <p:cNvSpPr/>
          <p:nvPr/>
        </p:nvSpPr>
        <p:spPr>
          <a:xfrm>
            <a:off x="3142191" y="3502334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Collateral Damage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763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All networks along the path of the query are suspicious</a:t>
            </a:r>
          </a:p>
        </p:txBody>
      </p:sp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884173" y="373259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8" name="tower"/>
          <p:cNvSpPr>
            <a:spLocks noEditPoints="1" noChangeArrowheads="1"/>
          </p:cNvSpPr>
          <p:nvPr/>
        </p:nvSpPr>
        <p:spPr bwMode="auto">
          <a:xfrm>
            <a:off x="7655401" y="373259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606101" y="3972904"/>
            <a:ext cx="5950399" cy="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606101" y="4265042"/>
            <a:ext cx="5950399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2883" y="3100926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7574" y="3124714"/>
            <a:ext cx="24194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Root/TLD/Authoritative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1201" y="3623397"/>
            <a:ext cx="157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cash.foo.com</a:t>
            </a:r>
            <a:r>
              <a:rPr lang="en-US" sz="1400" dirty="0"/>
              <a:t>” IP?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268" y="4290834"/>
            <a:ext cx="1757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FF0000"/>
                </a:solidFill>
              </a:rPr>
              <a:t>X.X.X.X</a:t>
            </a:r>
          </a:p>
        </p:txBody>
      </p:sp>
      <p:sp>
        <p:nvSpPr>
          <p:cNvPr id="33" name="Cloud 32"/>
          <p:cNvSpPr/>
          <p:nvPr/>
        </p:nvSpPr>
        <p:spPr>
          <a:xfrm>
            <a:off x="4682067" y="3502334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</a:t>
            </a:r>
          </a:p>
        </p:txBody>
      </p:sp>
      <p:sp>
        <p:nvSpPr>
          <p:cNvPr id="34" name="Cloud 33"/>
          <p:cNvSpPr/>
          <p:nvPr/>
        </p:nvSpPr>
        <p:spPr>
          <a:xfrm>
            <a:off x="6205484" y="3502334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JP</a:t>
            </a:r>
          </a:p>
        </p:txBody>
      </p:sp>
    </p:spTree>
    <p:extLst>
      <p:ext uri="{BB962C8B-B14F-4D97-AF65-F5344CB8AC3E}">
        <p14:creationId xmlns:p14="http://schemas.microsoft.com/office/powerpoint/2010/main" val="9056928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organization can have a collection of IP addresses</a:t>
            </a:r>
          </a:p>
          <a:p>
            <a:pPr lvl="1"/>
            <a:r>
              <a:rPr lang="en-US" dirty="0"/>
              <a:t>E.g., corresponding to a subnet</a:t>
            </a:r>
          </a:p>
          <a:p>
            <a:r>
              <a:rPr lang="en-US" dirty="0"/>
              <a:t>An IP address can be attributed to an organization</a:t>
            </a:r>
          </a:p>
          <a:p>
            <a:pPr lvl="1"/>
            <a:r>
              <a:rPr lang="en-US" dirty="0"/>
              <a:t>130.108.224.196</a:t>
            </a:r>
          </a:p>
          <a:p>
            <a:pPr lvl="1"/>
            <a:r>
              <a:rPr lang="en-US" dirty="0" err="1"/>
              <a:t>whois</a:t>
            </a:r>
            <a:r>
              <a:rPr lang="en-US" dirty="0"/>
              <a:t> 130.108.224.196 </a:t>
            </a:r>
          </a:p>
          <a:p>
            <a:pPr lvl="1"/>
            <a:r>
              <a:rPr lang="en-US" dirty="0" err="1"/>
              <a:t>whois</a:t>
            </a:r>
            <a:r>
              <a:rPr lang="en-US" dirty="0"/>
              <a:t> -h </a:t>
            </a:r>
            <a:r>
              <a:rPr lang="en-US" dirty="0" err="1"/>
              <a:t>whois.cymru.com</a:t>
            </a:r>
            <a:r>
              <a:rPr lang="en-US" dirty="0"/>
              <a:t> " -v 130.108.224.196"</a:t>
            </a:r>
          </a:p>
        </p:txBody>
      </p:sp>
    </p:spTree>
    <p:extLst>
      <p:ext uri="{BB962C8B-B14F-4D97-AF65-F5344CB8AC3E}">
        <p14:creationId xmlns:p14="http://schemas.microsoft.com/office/powerpoint/2010/main" val="30428572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Traceroute</a:t>
            </a:r>
            <a:endParaRPr lang="en-US" dirty="0"/>
          </a:p>
          <a:p>
            <a:r>
              <a:rPr lang="en-US" dirty="0"/>
              <a:t>Mapping the IP of an router into its ASN/organization</a:t>
            </a:r>
          </a:p>
        </p:txBody>
      </p:sp>
    </p:spTree>
    <p:extLst>
      <p:ext uri="{BB962C8B-B14F-4D97-AF65-F5344CB8AC3E}">
        <p14:creationId xmlns:p14="http://schemas.microsoft.com/office/powerpoint/2010/main" val="1819101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Search for Injected Paths: Honey-Query</a:t>
            </a:r>
          </a:p>
        </p:txBody>
      </p:sp>
      <p:sp>
        <p:nvSpPr>
          <p:cNvPr id="4" name="Cloud 3"/>
          <p:cNvSpPr/>
          <p:nvPr/>
        </p:nvSpPr>
        <p:spPr>
          <a:xfrm>
            <a:off x="3004608" y="2395731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</a:t>
            </a:r>
          </a:p>
        </p:txBody>
      </p:sp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746590" y="2625988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7517818" y="2625988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468518" y="2866301"/>
            <a:ext cx="5950399" cy="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468518" y="3158439"/>
            <a:ext cx="5950399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5300" y="1994323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1" y="2018111"/>
            <a:ext cx="24194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Root/TLD/Authoritative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3618" y="2516794"/>
            <a:ext cx="157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cash.foo.com</a:t>
            </a:r>
            <a:r>
              <a:rPr lang="en-US" sz="1400" dirty="0"/>
              <a:t>” IP?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685" y="3184231"/>
            <a:ext cx="1757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FF0000"/>
                </a:solidFill>
              </a:rPr>
              <a:t>X.X.X.X</a:t>
            </a:r>
          </a:p>
        </p:txBody>
      </p:sp>
      <p:sp>
        <p:nvSpPr>
          <p:cNvPr id="13" name="Cloud 12"/>
          <p:cNvSpPr/>
          <p:nvPr/>
        </p:nvSpPr>
        <p:spPr>
          <a:xfrm>
            <a:off x="4544484" y="2395731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</a:t>
            </a:r>
          </a:p>
        </p:txBody>
      </p:sp>
      <p:sp>
        <p:nvSpPr>
          <p:cNvPr id="14" name="Cloud 13"/>
          <p:cNvSpPr/>
          <p:nvPr/>
        </p:nvSpPr>
        <p:spPr>
          <a:xfrm>
            <a:off x="6067901" y="2395731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262546"/>
              </p:ext>
            </p:extLst>
          </p:nvPr>
        </p:nvGraphicFramePr>
        <p:xfrm>
          <a:off x="1735666" y="422275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Destination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Domain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7552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Search for Injected Paths: Honey-Query</a:t>
            </a:r>
          </a:p>
        </p:txBody>
      </p:sp>
      <p:sp>
        <p:nvSpPr>
          <p:cNvPr id="4" name="Cloud 3"/>
          <p:cNvSpPr/>
          <p:nvPr/>
        </p:nvSpPr>
        <p:spPr>
          <a:xfrm>
            <a:off x="3004608" y="1557324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</a:t>
            </a:r>
          </a:p>
        </p:txBody>
      </p:sp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746590" y="178758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7517818" y="178758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468518" y="2027894"/>
            <a:ext cx="5950399" cy="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468518" y="2320032"/>
            <a:ext cx="5950399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5300" y="1155916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1" y="1179704"/>
            <a:ext cx="24194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Root/TLD/Authoritative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3618" y="1678387"/>
            <a:ext cx="157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cash.foo.com</a:t>
            </a:r>
            <a:r>
              <a:rPr lang="en-US" sz="1400" dirty="0"/>
              <a:t>” IP?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685" y="2345824"/>
            <a:ext cx="1757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FF0000"/>
                </a:solidFill>
              </a:rPr>
              <a:t>X.X.X.X</a:t>
            </a:r>
          </a:p>
        </p:txBody>
      </p:sp>
      <p:sp>
        <p:nvSpPr>
          <p:cNvPr id="13" name="Cloud 12"/>
          <p:cNvSpPr/>
          <p:nvPr/>
        </p:nvSpPr>
        <p:spPr>
          <a:xfrm>
            <a:off x="4544484" y="1557324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</a:t>
            </a:r>
          </a:p>
        </p:txBody>
      </p:sp>
      <p:sp>
        <p:nvSpPr>
          <p:cNvPr id="14" name="Cloud 13"/>
          <p:cNvSpPr/>
          <p:nvPr/>
        </p:nvSpPr>
        <p:spPr>
          <a:xfrm>
            <a:off x="6067901" y="1557324"/>
            <a:ext cx="1449917" cy="122766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871355"/>
              </p:ext>
            </p:extLst>
          </p:nvPr>
        </p:nvGraphicFramePr>
        <p:xfrm>
          <a:off x="1735666" y="3100917"/>
          <a:ext cx="6096000" cy="2748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Destination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Pick</a:t>
                      </a:r>
                      <a:r>
                        <a:rPr lang="en-US" baseline="0" dirty="0"/>
                        <a:t> up an address from /24 network. (how many /24 different networks?)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aseline="0" dirty="0"/>
                        <a:t>This address does not run DNS service. (WHY?)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Domain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/>
                        <a:t>Domains</a:t>
                      </a:r>
                      <a:r>
                        <a:rPr lang="en-US" baseline="0" dirty="0"/>
                        <a:t> that are commonly considered as “sensitive”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6189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Honey-Query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expect after you send out the honey-query?</a:t>
            </a:r>
          </a:p>
          <a:p>
            <a:endParaRPr lang="en-US" dirty="0"/>
          </a:p>
          <a:p>
            <a:pPr lvl="1"/>
            <a:r>
              <a:rPr lang="en-US" dirty="0"/>
              <a:t>Not censored?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Censored?</a:t>
            </a:r>
          </a:p>
        </p:txBody>
      </p:sp>
    </p:spTree>
    <p:extLst>
      <p:ext uri="{BB962C8B-B14F-4D97-AF65-F5344CB8AC3E}">
        <p14:creationId xmlns:p14="http://schemas.microsoft.com/office/powerpoint/2010/main" val="25674323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Honey-Query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expect after you send out the honey-query?</a:t>
            </a:r>
          </a:p>
          <a:p>
            <a:endParaRPr lang="en-US" dirty="0"/>
          </a:p>
          <a:p>
            <a:pPr lvl="1"/>
            <a:r>
              <a:rPr lang="en-US" dirty="0"/>
              <a:t>Not censored?</a:t>
            </a:r>
          </a:p>
          <a:p>
            <a:pPr lvl="2"/>
            <a:r>
              <a:rPr lang="en-US" dirty="0"/>
              <a:t>No DNS response at all. </a:t>
            </a:r>
          </a:p>
          <a:p>
            <a:pPr lvl="1"/>
            <a:r>
              <a:rPr lang="en-US" dirty="0"/>
              <a:t>Censored?</a:t>
            </a:r>
          </a:p>
          <a:p>
            <a:pPr lvl="2"/>
            <a:r>
              <a:rPr lang="en-US" dirty="0"/>
              <a:t>A DNS response</a:t>
            </a:r>
          </a:p>
          <a:p>
            <a:pPr lvl="2"/>
            <a:r>
              <a:rPr lang="en-US" dirty="0"/>
              <a:t>Is the IP address in the response trustable?</a:t>
            </a:r>
          </a:p>
        </p:txBody>
      </p:sp>
    </p:spTree>
    <p:extLst>
      <p:ext uri="{BB962C8B-B14F-4D97-AF65-F5344CB8AC3E}">
        <p14:creationId xmlns:p14="http://schemas.microsoft.com/office/powerpoint/2010/main" val="33286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Injector</a:t>
            </a:r>
          </a:p>
        </p:txBody>
      </p:sp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746590" y="178758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6" name="tower"/>
          <p:cNvSpPr>
            <a:spLocks noEditPoints="1" noChangeArrowheads="1"/>
          </p:cNvSpPr>
          <p:nvPr/>
        </p:nvSpPr>
        <p:spPr bwMode="auto">
          <a:xfrm>
            <a:off x="7517818" y="1787581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468518" y="2027894"/>
            <a:ext cx="5950399" cy="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468518" y="2320032"/>
            <a:ext cx="5950399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1840" y="1339832"/>
            <a:ext cx="606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3618" y="1678387"/>
            <a:ext cx="420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pkt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297685" y="2345824"/>
            <a:ext cx="1277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ICMP response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5" name="Picture 14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998" y="1865154"/>
            <a:ext cx="828188" cy="608719"/>
          </a:xfrm>
          <a:prstGeom prst="rect">
            <a:avLst/>
          </a:prstGeom>
        </p:spPr>
      </p:pic>
      <p:pic>
        <p:nvPicPr>
          <p:cNvPr id="16" name="Picture 15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665" y="1865154"/>
            <a:ext cx="828188" cy="608719"/>
          </a:xfrm>
          <a:prstGeom prst="rect">
            <a:avLst/>
          </a:prstGeom>
        </p:spPr>
      </p:pic>
      <p:pic>
        <p:nvPicPr>
          <p:cNvPr id="17" name="Picture 16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998" y="1865154"/>
            <a:ext cx="828188" cy="608719"/>
          </a:xfrm>
          <a:prstGeom prst="rect">
            <a:avLst/>
          </a:prstGeom>
        </p:spPr>
      </p:pic>
      <p:pic>
        <p:nvPicPr>
          <p:cNvPr id="18" name="Picture 17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915" y="1865154"/>
            <a:ext cx="828188" cy="6087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54959" y="1493721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7526" y="1499424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8193" y="1526295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8276" y="153199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93618"/>
              </p:ext>
            </p:extLst>
          </p:nvPr>
        </p:nvGraphicFramePr>
        <p:xfrm>
          <a:off x="1661583" y="3704167"/>
          <a:ext cx="6096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TTL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IP address of the ICMP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60919" y="1402342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8098369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Injector</a:t>
            </a:r>
          </a:p>
        </p:txBody>
      </p:sp>
      <p:sp>
        <p:nvSpPr>
          <p:cNvPr id="4" name="tower"/>
          <p:cNvSpPr>
            <a:spLocks noEditPoints="1" noChangeArrowheads="1"/>
          </p:cNvSpPr>
          <p:nvPr/>
        </p:nvSpPr>
        <p:spPr bwMode="auto">
          <a:xfrm>
            <a:off x="746590" y="1971498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5" name="tower"/>
          <p:cNvSpPr>
            <a:spLocks noEditPoints="1" noChangeArrowheads="1"/>
          </p:cNvSpPr>
          <p:nvPr/>
        </p:nvSpPr>
        <p:spPr bwMode="auto">
          <a:xfrm>
            <a:off x="7517818" y="1971498"/>
            <a:ext cx="541844" cy="86602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468518" y="2211811"/>
            <a:ext cx="5950399" cy="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468518" y="2503949"/>
            <a:ext cx="5950399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5300" y="1339833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Recursive</a:t>
            </a:r>
          </a:p>
          <a:p>
            <a:r>
              <a:rPr lang="en-US" sz="1400" dirty="0"/>
              <a:t>DNS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3618" y="1862304"/>
            <a:ext cx="157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dirty="0" err="1"/>
              <a:t>cash.foo.com</a:t>
            </a:r>
            <a:r>
              <a:rPr lang="en-US" sz="1400" dirty="0"/>
              <a:t>” IP?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685" y="2529741"/>
            <a:ext cx="1757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cash.foo.com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FF0000"/>
                </a:solidFill>
              </a:rPr>
              <a:t>X.X.X.X</a:t>
            </a:r>
          </a:p>
        </p:txBody>
      </p:sp>
      <p:pic>
        <p:nvPicPr>
          <p:cNvPr id="11" name="Picture 10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998" y="2049071"/>
            <a:ext cx="828188" cy="608719"/>
          </a:xfrm>
          <a:prstGeom prst="rect">
            <a:avLst/>
          </a:prstGeom>
        </p:spPr>
      </p:pic>
      <p:pic>
        <p:nvPicPr>
          <p:cNvPr id="12" name="Picture 11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665" y="2049071"/>
            <a:ext cx="828188" cy="608719"/>
          </a:xfrm>
          <a:prstGeom prst="rect">
            <a:avLst/>
          </a:prstGeom>
        </p:spPr>
      </p:pic>
      <p:pic>
        <p:nvPicPr>
          <p:cNvPr id="13" name="Picture 12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998" y="2049071"/>
            <a:ext cx="828188" cy="608719"/>
          </a:xfrm>
          <a:prstGeom prst="rect">
            <a:avLst/>
          </a:prstGeom>
        </p:spPr>
      </p:pic>
      <p:pic>
        <p:nvPicPr>
          <p:cNvPr id="14" name="Picture 13" descr="11949856431316298822router_joeseph_teed_01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915" y="2049071"/>
            <a:ext cx="828188" cy="6087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54959" y="1677638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7526" y="1683341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8193" y="1710212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8276" y="171591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34851"/>
              </p:ext>
            </p:extLst>
          </p:nvPr>
        </p:nvGraphicFramePr>
        <p:xfrm>
          <a:off x="1661583" y="3566583"/>
          <a:ext cx="6096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TTL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IP address of the ICMP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/>
                        <a:t>R4</a:t>
                      </a:r>
                      <a:r>
                        <a:rPr lang="en-US" strike="noStrike" baseline="0" dirty="0"/>
                        <a:t> + (</a:t>
                      </a:r>
                      <a:r>
                        <a:rPr lang="en-US" strike="noStrike" dirty="0"/>
                        <a:t>A</a:t>
                      </a:r>
                      <a:r>
                        <a:rPr lang="en-US" strike="noStrike" baseline="0" dirty="0"/>
                        <a:t> DNS response</a:t>
                      </a:r>
                      <a:r>
                        <a:rPr lang="en-US" strike="noStrike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1531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Statistics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0"/>
            <a:ext cx="9144000" cy="367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818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not forget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All honey queries are sent from real IP addresses controlled by authors</a:t>
            </a:r>
          </a:p>
          <a:p>
            <a:endParaRPr lang="en-US" dirty="0"/>
          </a:p>
          <a:p>
            <a:r>
              <a:rPr lang="en-US" dirty="0"/>
              <a:t>These IP addresses are unlikely to reside in the censored networks</a:t>
            </a:r>
          </a:p>
          <a:p>
            <a:endParaRPr lang="en-US" dirty="0"/>
          </a:p>
          <a:p>
            <a:r>
              <a:rPr lang="en-US" dirty="0"/>
              <a:t>Censors should actually not censor these IP addresses</a:t>
            </a:r>
          </a:p>
          <a:p>
            <a:endParaRPr lang="en-US" dirty="0"/>
          </a:p>
          <a:p>
            <a:r>
              <a:rPr lang="en-US" dirty="0"/>
              <a:t>But they inject fake DNS responses anyway</a:t>
            </a:r>
          </a:p>
          <a:p>
            <a:pPr lvl="1"/>
            <a:r>
              <a:rPr lang="en-US" dirty="0"/>
              <a:t>“the DNS injector does not consider packet origin when injecting packets”.</a:t>
            </a:r>
          </a:p>
          <a:p>
            <a:pPr lvl="1"/>
            <a:r>
              <a:rPr lang="en-US" dirty="0"/>
              <a:t>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27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</TotalTime>
  <Words>3371</Words>
  <Application>Microsoft Office PowerPoint</Application>
  <PresentationFormat>On-screen Show (4:3)</PresentationFormat>
  <Paragraphs>643</Paragraphs>
  <Slides>53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Tahoma</vt:lpstr>
      <vt:lpstr>Times New Roman</vt:lpstr>
      <vt:lpstr>Office Theme</vt:lpstr>
      <vt:lpstr>TCP Session Hijacking</vt:lpstr>
      <vt:lpstr>TCP Session Hijacking</vt:lpstr>
      <vt:lpstr>TCP Session Hijacking</vt:lpstr>
      <vt:lpstr>TCP Session Hijacking</vt:lpstr>
      <vt:lpstr>TCP Session Hijacking</vt:lpstr>
      <vt:lpstr>TCP Session Hijacking</vt:lpstr>
      <vt:lpstr>Predict the Initial Sequence Number in Berkeley-Derived Systems</vt:lpstr>
      <vt:lpstr>TCP Session Hijacking</vt:lpstr>
      <vt:lpstr>TCP Session Hijacking</vt:lpstr>
      <vt:lpstr>TCP Session Hijacking</vt:lpstr>
      <vt:lpstr>TCP Session Hijacking</vt:lpstr>
      <vt:lpstr>TCP RST</vt:lpstr>
      <vt:lpstr>Malicious Usage: RST Reset</vt:lpstr>
      <vt:lpstr>Who is “Malicious”/Malicious?</vt:lpstr>
      <vt:lpstr>Who is “Malicious”/Malicious?</vt:lpstr>
      <vt:lpstr>RST Reset</vt:lpstr>
      <vt:lpstr>The Paper</vt:lpstr>
      <vt:lpstr>Discussion</vt:lpstr>
      <vt:lpstr>Discussion</vt:lpstr>
      <vt:lpstr>The Normal Case of RST</vt:lpstr>
      <vt:lpstr>The Injection of RST</vt:lpstr>
      <vt:lpstr>Race Condition</vt:lpstr>
      <vt:lpstr>The Challenge</vt:lpstr>
      <vt:lpstr>The Solution</vt:lpstr>
      <vt:lpstr>Detection Rules</vt:lpstr>
      <vt:lpstr>Detection Rules</vt:lpstr>
      <vt:lpstr>Detection Rules</vt:lpstr>
      <vt:lpstr>Application Layer Attacks</vt:lpstr>
      <vt:lpstr>Domain Name System (DNS)</vt:lpstr>
      <vt:lpstr>How DNS Works</vt:lpstr>
      <vt:lpstr>How DNS Works</vt:lpstr>
      <vt:lpstr>DNS Poisoning Attack</vt:lpstr>
      <vt:lpstr>DNS Poisoning Attack</vt:lpstr>
      <vt:lpstr>The Challenges for Attackers</vt:lpstr>
      <vt:lpstr>The Challenges for Attackers</vt:lpstr>
      <vt:lpstr>How to Address Challenges?</vt:lpstr>
      <vt:lpstr>Inline DNS Injection</vt:lpstr>
      <vt:lpstr>How DNS Works</vt:lpstr>
      <vt:lpstr>How DNS Injection Works</vt:lpstr>
      <vt:lpstr>Where does it start</vt:lpstr>
      <vt:lpstr>PowerPoint Presentation</vt:lpstr>
      <vt:lpstr>Collateral Damage</vt:lpstr>
      <vt:lpstr>Collateral Damage</vt:lpstr>
      <vt:lpstr>A Network?</vt:lpstr>
      <vt:lpstr>Example</vt:lpstr>
      <vt:lpstr>Search for Injected Paths: Honey-Query</vt:lpstr>
      <vt:lpstr>Search for Injected Paths: Honey-Query</vt:lpstr>
      <vt:lpstr>Honey-Query</vt:lpstr>
      <vt:lpstr>Honey-Query</vt:lpstr>
      <vt:lpstr>Identify the Injector</vt:lpstr>
      <vt:lpstr>Identify the Injector</vt:lpstr>
      <vt:lpstr>Some Statistics</vt:lpstr>
      <vt:lpstr>Do not forget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 Vulnerabilities</dc:title>
  <dc:creator>Junjie Zhang</dc:creator>
  <cp:lastModifiedBy>Zhang, Junjie</cp:lastModifiedBy>
  <cp:revision>1170</cp:revision>
  <dcterms:created xsi:type="dcterms:W3CDTF">2014-03-10T13:30:50Z</dcterms:created>
  <dcterms:modified xsi:type="dcterms:W3CDTF">2022-09-19T16:12:02Z</dcterms:modified>
</cp:coreProperties>
</file>