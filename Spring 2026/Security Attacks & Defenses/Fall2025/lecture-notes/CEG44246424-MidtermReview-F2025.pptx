
<file path=[Content_Types].xml><?xml version="1.0" encoding="utf-8"?>
<Types xmlns="http://schemas.openxmlformats.org/package/2006/content-types">
  <Default Extension="png" ContentType="image/png"/>
  <Default Extension="bin" ContentType="audio/unknown"/>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63" r:id="rId3"/>
    <p:sldId id="257" r:id="rId4"/>
    <p:sldId id="285" r:id="rId5"/>
    <p:sldId id="272" r:id="rId6"/>
    <p:sldId id="258" r:id="rId7"/>
    <p:sldId id="299" r:id="rId8"/>
    <p:sldId id="456" r:id="rId9"/>
    <p:sldId id="274" r:id="rId10"/>
    <p:sldId id="457" r:id="rId11"/>
    <p:sldId id="458" r:id="rId12"/>
    <p:sldId id="851" r:id="rId13"/>
    <p:sldId id="852" r:id="rId14"/>
    <p:sldId id="854" r:id="rId15"/>
    <p:sldId id="855" r:id="rId16"/>
    <p:sldId id="873" r:id="rId17"/>
    <p:sldId id="859" r:id="rId18"/>
    <p:sldId id="870" r:id="rId19"/>
    <p:sldId id="275" r:id="rId20"/>
    <p:sldId id="276" r:id="rId21"/>
    <p:sldId id="277" r:id="rId22"/>
    <p:sldId id="278" r:id="rId23"/>
    <p:sldId id="293" r:id="rId24"/>
    <p:sldId id="835" r:id="rId25"/>
    <p:sldId id="872" r:id="rId26"/>
    <p:sldId id="826" r:id="rId27"/>
    <p:sldId id="865" r:id="rId28"/>
    <p:sldId id="866" r:id="rId29"/>
    <p:sldId id="871" r:id="rId30"/>
    <p:sldId id="294" r:id="rId31"/>
    <p:sldId id="281" r:id="rId32"/>
    <p:sldId id="282" r:id="rId33"/>
    <p:sldId id="284"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118"/>
    <p:restoredTop sz="91508"/>
  </p:normalViewPr>
  <p:slideViewPr>
    <p:cSldViewPr snapToGrid="0" snapToObjects="1">
      <p:cViewPr varScale="1">
        <p:scale>
          <a:sx n="89" d="100"/>
          <a:sy n="89" d="100"/>
        </p:scale>
        <p:origin x="984" y="8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274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E7BEC-545D-D64E-96EC-FE79BE33ECE6}"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96431F54-E767-4243-8D8B-D3814424A10E}">
      <dgm:prSet phldrT="[Text]"/>
      <dgm:spPr/>
      <dgm:t>
        <a:bodyPr/>
        <a:lstStyle/>
        <a:p>
          <a:r>
            <a:rPr lang="en-US" b="1" i="0" dirty="0">
              <a:effectLst>
                <a:outerShdw blurRad="38100" dist="38100" dir="2700000" algn="tl">
                  <a:srgbClr val="000000">
                    <a:alpha val="43137"/>
                  </a:srgbClr>
                </a:outerShdw>
              </a:effectLst>
            </a:rPr>
            <a:t>There are three modes that make it possible to convert a block cipher into a stream cipher:</a:t>
          </a:r>
        </a:p>
      </dgm:t>
    </dgm:pt>
    <dgm:pt modelId="{222EB2EB-EB41-CF4E-BE7F-DD80A1B607F4}" type="parTrans" cxnId="{0CCAF309-2128-3445-8447-E606527F255A}">
      <dgm:prSet/>
      <dgm:spPr/>
      <dgm:t>
        <a:bodyPr/>
        <a:lstStyle/>
        <a:p>
          <a:endParaRPr lang="en-US"/>
        </a:p>
      </dgm:t>
    </dgm:pt>
    <dgm:pt modelId="{2B8BB445-5489-D644-849A-1A709E7BBF83}" type="sibTrans" cxnId="{0CCAF309-2128-3445-8447-E606527F255A}">
      <dgm:prSet/>
      <dgm:spPr/>
      <dgm:t>
        <a:bodyPr/>
        <a:lstStyle/>
        <a:p>
          <a:endParaRPr lang="en-US"/>
        </a:p>
      </dgm:t>
    </dgm:pt>
    <dgm:pt modelId="{58DD8CBF-0CDA-2F41-A832-938B991D04E2}">
      <dgm:prSet/>
      <dgm:spPr/>
      <dgm:t>
        <a:bodyPr/>
        <a:lstStyle/>
        <a:p>
          <a:r>
            <a:rPr lang="en-US" dirty="0"/>
            <a:t>Cipher feedback (CFB) mode</a:t>
          </a:r>
        </a:p>
      </dgm:t>
    </dgm:pt>
    <dgm:pt modelId="{4A86C97F-E9D6-5E41-9C6B-22CBDA85F866}" type="parTrans" cxnId="{092FD197-9B8E-BE43-885A-CD339F8BEBA3}">
      <dgm:prSet/>
      <dgm:spPr/>
      <dgm:t>
        <a:bodyPr/>
        <a:lstStyle/>
        <a:p>
          <a:endParaRPr lang="en-US"/>
        </a:p>
      </dgm:t>
    </dgm:pt>
    <dgm:pt modelId="{DB86FFFF-B2EF-2649-8D0B-33BAB33541C1}" type="sibTrans" cxnId="{092FD197-9B8E-BE43-885A-CD339F8BEBA3}">
      <dgm:prSet/>
      <dgm:spPr/>
      <dgm:t>
        <a:bodyPr/>
        <a:lstStyle/>
        <a:p>
          <a:endParaRPr lang="en-US"/>
        </a:p>
      </dgm:t>
    </dgm:pt>
    <dgm:pt modelId="{708EB527-8AD5-C840-89A6-88AF5EE9105B}">
      <dgm:prSet/>
      <dgm:spPr/>
      <dgm:t>
        <a:bodyPr/>
        <a:lstStyle/>
        <a:p>
          <a:r>
            <a:rPr lang="en-US" dirty="0"/>
            <a:t>Output feedback (OFB) mode</a:t>
          </a:r>
        </a:p>
      </dgm:t>
    </dgm:pt>
    <dgm:pt modelId="{3EADD320-B312-D443-86BA-21405D0AE39C}" type="parTrans" cxnId="{2708B42F-9165-2745-976A-80D6BB00462C}">
      <dgm:prSet/>
      <dgm:spPr/>
      <dgm:t>
        <a:bodyPr/>
        <a:lstStyle/>
        <a:p>
          <a:endParaRPr lang="en-US"/>
        </a:p>
      </dgm:t>
    </dgm:pt>
    <dgm:pt modelId="{C2AB7DC5-786D-4E4E-92A2-795F6F8871A7}" type="sibTrans" cxnId="{2708B42F-9165-2745-976A-80D6BB00462C}">
      <dgm:prSet/>
      <dgm:spPr/>
      <dgm:t>
        <a:bodyPr/>
        <a:lstStyle/>
        <a:p>
          <a:endParaRPr lang="en-US"/>
        </a:p>
      </dgm:t>
    </dgm:pt>
    <dgm:pt modelId="{DE5FE457-1C66-D84E-8BF1-85EFC0F4B3ED}">
      <dgm:prSet/>
      <dgm:spPr/>
      <dgm:t>
        <a:bodyPr/>
        <a:lstStyle/>
        <a:p>
          <a:r>
            <a:rPr lang="en-US"/>
            <a:t>Counter (CTR) mode</a:t>
          </a:r>
          <a:endParaRPr lang="en-US" dirty="0"/>
        </a:p>
      </dgm:t>
    </dgm:pt>
    <dgm:pt modelId="{0F72127E-7521-1E4E-962F-7378C8E261E1}" type="parTrans" cxnId="{B3DACF62-C4B6-C844-AFE7-D0D5A2695A7A}">
      <dgm:prSet/>
      <dgm:spPr/>
      <dgm:t>
        <a:bodyPr/>
        <a:lstStyle/>
        <a:p>
          <a:endParaRPr lang="en-US"/>
        </a:p>
      </dgm:t>
    </dgm:pt>
    <dgm:pt modelId="{E907E514-6085-DE46-A0F9-A9B7F7A4AD6E}" type="sibTrans" cxnId="{B3DACF62-C4B6-C844-AFE7-D0D5A2695A7A}">
      <dgm:prSet/>
      <dgm:spPr/>
      <dgm:t>
        <a:bodyPr/>
        <a:lstStyle/>
        <a:p>
          <a:endParaRPr lang="en-US"/>
        </a:p>
      </dgm:t>
    </dgm:pt>
    <dgm:pt modelId="{80F64FA5-C481-3543-8044-B7061D04AC23}" type="pres">
      <dgm:prSet presAssocID="{A1BE7BEC-545D-D64E-96EC-FE79BE33ECE6}" presName="diagram" presStyleCnt="0">
        <dgm:presLayoutVars>
          <dgm:chPref val="1"/>
          <dgm:dir/>
          <dgm:animOne val="branch"/>
          <dgm:animLvl val="lvl"/>
          <dgm:resizeHandles/>
        </dgm:presLayoutVars>
      </dgm:prSet>
      <dgm:spPr/>
    </dgm:pt>
    <dgm:pt modelId="{601821D2-68AC-424D-9A0A-86676DF95596}" type="pres">
      <dgm:prSet presAssocID="{96431F54-E767-4243-8D8B-D3814424A10E}" presName="root" presStyleCnt="0"/>
      <dgm:spPr/>
    </dgm:pt>
    <dgm:pt modelId="{EBCA17E4-FBD7-0B42-AD1B-2722B4074462}" type="pres">
      <dgm:prSet presAssocID="{96431F54-E767-4243-8D8B-D3814424A10E}" presName="rootComposite" presStyleCnt="0"/>
      <dgm:spPr/>
    </dgm:pt>
    <dgm:pt modelId="{CF140ED0-2604-B044-A020-DF33CC6F82A1}" type="pres">
      <dgm:prSet presAssocID="{96431F54-E767-4243-8D8B-D3814424A10E}" presName="rootText" presStyleLbl="node1" presStyleIdx="0" presStyleCnt="1"/>
      <dgm:spPr/>
    </dgm:pt>
    <dgm:pt modelId="{B0C7A249-3D26-1940-8E51-4AC8C83A92E5}" type="pres">
      <dgm:prSet presAssocID="{96431F54-E767-4243-8D8B-D3814424A10E}" presName="rootConnector" presStyleLbl="node1" presStyleIdx="0" presStyleCnt="1"/>
      <dgm:spPr/>
    </dgm:pt>
    <dgm:pt modelId="{8EE36E6F-F651-6444-BFE9-5ECE2483AF06}" type="pres">
      <dgm:prSet presAssocID="{96431F54-E767-4243-8D8B-D3814424A10E}" presName="childShape" presStyleCnt="0"/>
      <dgm:spPr/>
    </dgm:pt>
    <dgm:pt modelId="{49DAA590-1612-E647-8ED8-B7F56BBB34EC}" type="pres">
      <dgm:prSet presAssocID="{4A86C97F-E9D6-5E41-9C6B-22CBDA85F866}" presName="Name13" presStyleLbl="parChTrans1D2" presStyleIdx="0" presStyleCnt="3"/>
      <dgm:spPr/>
    </dgm:pt>
    <dgm:pt modelId="{C1BE3AAD-2BE3-1547-9164-66C5DFF33B78}" type="pres">
      <dgm:prSet presAssocID="{58DD8CBF-0CDA-2F41-A832-938B991D04E2}" presName="childText" presStyleLbl="bgAcc1" presStyleIdx="0" presStyleCnt="3">
        <dgm:presLayoutVars>
          <dgm:bulletEnabled val="1"/>
        </dgm:presLayoutVars>
      </dgm:prSet>
      <dgm:spPr/>
    </dgm:pt>
    <dgm:pt modelId="{6F6CB8C7-B4B5-7D47-A868-DAA68895D727}" type="pres">
      <dgm:prSet presAssocID="{3EADD320-B312-D443-86BA-21405D0AE39C}" presName="Name13" presStyleLbl="parChTrans1D2" presStyleIdx="1" presStyleCnt="3"/>
      <dgm:spPr/>
    </dgm:pt>
    <dgm:pt modelId="{C5A15383-9A9A-E74E-B74C-4985D51F9BC1}" type="pres">
      <dgm:prSet presAssocID="{708EB527-8AD5-C840-89A6-88AF5EE9105B}" presName="childText" presStyleLbl="bgAcc1" presStyleIdx="1" presStyleCnt="3">
        <dgm:presLayoutVars>
          <dgm:bulletEnabled val="1"/>
        </dgm:presLayoutVars>
      </dgm:prSet>
      <dgm:spPr/>
    </dgm:pt>
    <dgm:pt modelId="{FA3825C2-9D45-054A-AC04-3945249603C4}" type="pres">
      <dgm:prSet presAssocID="{0F72127E-7521-1E4E-962F-7378C8E261E1}" presName="Name13" presStyleLbl="parChTrans1D2" presStyleIdx="2" presStyleCnt="3"/>
      <dgm:spPr/>
    </dgm:pt>
    <dgm:pt modelId="{BCDA1758-61EC-A349-A07F-7AF5A8B669EC}" type="pres">
      <dgm:prSet presAssocID="{DE5FE457-1C66-D84E-8BF1-85EFC0F4B3ED}" presName="childText" presStyleLbl="bgAcc1" presStyleIdx="2" presStyleCnt="3">
        <dgm:presLayoutVars>
          <dgm:bulletEnabled val="1"/>
        </dgm:presLayoutVars>
      </dgm:prSet>
      <dgm:spPr/>
    </dgm:pt>
  </dgm:ptLst>
  <dgm:cxnLst>
    <dgm:cxn modelId="{0CCAF309-2128-3445-8447-E606527F255A}" srcId="{A1BE7BEC-545D-D64E-96EC-FE79BE33ECE6}" destId="{96431F54-E767-4243-8D8B-D3814424A10E}" srcOrd="0" destOrd="0" parTransId="{222EB2EB-EB41-CF4E-BE7F-DD80A1B607F4}" sibTransId="{2B8BB445-5489-D644-849A-1A709E7BBF83}"/>
    <dgm:cxn modelId="{2708B42F-9165-2745-976A-80D6BB00462C}" srcId="{96431F54-E767-4243-8D8B-D3814424A10E}" destId="{708EB527-8AD5-C840-89A6-88AF5EE9105B}" srcOrd="1" destOrd="0" parTransId="{3EADD320-B312-D443-86BA-21405D0AE39C}" sibTransId="{C2AB7DC5-786D-4E4E-92A2-795F6F8871A7}"/>
    <dgm:cxn modelId="{7FA16660-CEB8-44BA-97DF-1D8F99273DF1}" type="presOf" srcId="{DE5FE457-1C66-D84E-8BF1-85EFC0F4B3ED}" destId="{BCDA1758-61EC-A349-A07F-7AF5A8B669EC}" srcOrd="0" destOrd="0" presId="urn:microsoft.com/office/officeart/2005/8/layout/hierarchy3"/>
    <dgm:cxn modelId="{B3DACF62-C4B6-C844-AFE7-D0D5A2695A7A}" srcId="{96431F54-E767-4243-8D8B-D3814424A10E}" destId="{DE5FE457-1C66-D84E-8BF1-85EFC0F4B3ED}" srcOrd="2" destOrd="0" parTransId="{0F72127E-7521-1E4E-962F-7378C8E261E1}" sibTransId="{E907E514-6085-DE46-A0F9-A9B7F7A4AD6E}"/>
    <dgm:cxn modelId="{6B9DE745-94AB-4470-8DF3-C4FA248E9854}" type="presOf" srcId="{4A86C97F-E9D6-5E41-9C6B-22CBDA85F866}" destId="{49DAA590-1612-E647-8ED8-B7F56BBB34EC}" srcOrd="0" destOrd="0" presId="urn:microsoft.com/office/officeart/2005/8/layout/hierarchy3"/>
    <dgm:cxn modelId="{C729B488-06BD-4761-9D56-1AEEA3EC0F29}" type="presOf" srcId="{96431F54-E767-4243-8D8B-D3814424A10E}" destId="{CF140ED0-2604-B044-A020-DF33CC6F82A1}" srcOrd="0" destOrd="0" presId="urn:microsoft.com/office/officeart/2005/8/layout/hierarchy3"/>
    <dgm:cxn modelId="{092FD197-9B8E-BE43-885A-CD339F8BEBA3}" srcId="{96431F54-E767-4243-8D8B-D3814424A10E}" destId="{58DD8CBF-0CDA-2F41-A832-938B991D04E2}" srcOrd="0" destOrd="0" parTransId="{4A86C97F-E9D6-5E41-9C6B-22CBDA85F866}" sibTransId="{DB86FFFF-B2EF-2649-8D0B-33BAB33541C1}"/>
    <dgm:cxn modelId="{8D5D77A1-C7E0-41AE-AEA8-CC3BF90B19FD}" type="presOf" srcId="{0F72127E-7521-1E4E-962F-7378C8E261E1}" destId="{FA3825C2-9D45-054A-AC04-3945249603C4}" srcOrd="0" destOrd="0" presId="urn:microsoft.com/office/officeart/2005/8/layout/hierarchy3"/>
    <dgm:cxn modelId="{218E4DBE-DEDC-46A7-846E-BED048EF50E9}" type="presOf" srcId="{3EADD320-B312-D443-86BA-21405D0AE39C}" destId="{6F6CB8C7-B4B5-7D47-A868-DAA68895D727}" srcOrd="0" destOrd="0" presId="urn:microsoft.com/office/officeart/2005/8/layout/hierarchy3"/>
    <dgm:cxn modelId="{BA576FC3-5679-4116-8A52-6614A9E6C3B9}" type="presOf" srcId="{58DD8CBF-0CDA-2F41-A832-938B991D04E2}" destId="{C1BE3AAD-2BE3-1547-9164-66C5DFF33B78}" srcOrd="0" destOrd="0" presId="urn:microsoft.com/office/officeart/2005/8/layout/hierarchy3"/>
    <dgm:cxn modelId="{D3EDDECB-F795-4486-9309-BF87AFDA9196}" type="presOf" srcId="{96431F54-E767-4243-8D8B-D3814424A10E}" destId="{B0C7A249-3D26-1940-8E51-4AC8C83A92E5}" srcOrd="1" destOrd="0" presId="urn:microsoft.com/office/officeart/2005/8/layout/hierarchy3"/>
    <dgm:cxn modelId="{96C3A7F6-B346-4593-A6F0-A2AACBAF683C}" type="presOf" srcId="{708EB527-8AD5-C840-89A6-88AF5EE9105B}" destId="{C5A15383-9A9A-E74E-B74C-4985D51F9BC1}" srcOrd="0" destOrd="0" presId="urn:microsoft.com/office/officeart/2005/8/layout/hierarchy3"/>
    <dgm:cxn modelId="{623CE2FE-DBD7-4EC8-B47F-47174B42EC1B}" type="presOf" srcId="{A1BE7BEC-545D-D64E-96EC-FE79BE33ECE6}" destId="{80F64FA5-C481-3543-8044-B7061D04AC23}" srcOrd="0" destOrd="0" presId="urn:microsoft.com/office/officeart/2005/8/layout/hierarchy3"/>
    <dgm:cxn modelId="{075E850E-607A-4F10-97AF-2917C4787536}" type="presParOf" srcId="{80F64FA5-C481-3543-8044-B7061D04AC23}" destId="{601821D2-68AC-424D-9A0A-86676DF95596}" srcOrd="0" destOrd="0" presId="urn:microsoft.com/office/officeart/2005/8/layout/hierarchy3"/>
    <dgm:cxn modelId="{D6FDEFE1-A6DA-4047-BC39-A5B6FEE7DCF3}" type="presParOf" srcId="{601821D2-68AC-424D-9A0A-86676DF95596}" destId="{EBCA17E4-FBD7-0B42-AD1B-2722B4074462}" srcOrd="0" destOrd="0" presId="urn:microsoft.com/office/officeart/2005/8/layout/hierarchy3"/>
    <dgm:cxn modelId="{C8D0E9B2-9BD4-4626-8EE8-8BD73C0BDC61}" type="presParOf" srcId="{EBCA17E4-FBD7-0B42-AD1B-2722B4074462}" destId="{CF140ED0-2604-B044-A020-DF33CC6F82A1}" srcOrd="0" destOrd="0" presId="urn:microsoft.com/office/officeart/2005/8/layout/hierarchy3"/>
    <dgm:cxn modelId="{901A220E-2661-4B12-86A0-524E1B18472A}" type="presParOf" srcId="{EBCA17E4-FBD7-0B42-AD1B-2722B4074462}" destId="{B0C7A249-3D26-1940-8E51-4AC8C83A92E5}" srcOrd="1" destOrd="0" presId="urn:microsoft.com/office/officeart/2005/8/layout/hierarchy3"/>
    <dgm:cxn modelId="{D895A2D0-C9DA-4271-8EDC-B996095A6EB1}" type="presParOf" srcId="{601821D2-68AC-424D-9A0A-86676DF95596}" destId="{8EE36E6F-F651-6444-BFE9-5ECE2483AF06}" srcOrd="1" destOrd="0" presId="urn:microsoft.com/office/officeart/2005/8/layout/hierarchy3"/>
    <dgm:cxn modelId="{8F0F5742-074A-4EAE-B6D8-E9E6E9B9305A}" type="presParOf" srcId="{8EE36E6F-F651-6444-BFE9-5ECE2483AF06}" destId="{49DAA590-1612-E647-8ED8-B7F56BBB34EC}" srcOrd="0" destOrd="0" presId="urn:microsoft.com/office/officeart/2005/8/layout/hierarchy3"/>
    <dgm:cxn modelId="{E9FE0BF4-E111-4683-9F3C-12595BF2FE17}" type="presParOf" srcId="{8EE36E6F-F651-6444-BFE9-5ECE2483AF06}" destId="{C1BE3AAD-2BE3-1547-9164-66C5DFF33B78}" srcOrd="1" destOrd="0" presId="urn:microsoft.com/office/officeart/2005/8/layout/hierarchy3"/>
    <dgm:cxn modelId="{54582F01-A363-4F0B-9DBB-95ACD951E196}" type="presParOf" srcId="{8EE36E6F-F651-6444-BFE9-5ECE2483AF06}" destId="{6F6CB8C7-B4B5-7D47-A868-DAA68895D727}" srcOrd="2" destOrd="0" presId="urn:microsoft.com/office/officeart/2005/8/layout/hierarchy3"/>
    <dgm:cxn modelId="{79169905-FE1E-4A32-86A3-907847335AC3}" type="presParOf" srcId="{8EE36E6F-F651-6444-BFE9-5ECE2483AF06}" destId="{C5A15383-9A9A-E74E-B74C-4985D51F9BC1}" srcOrd="3" destOrd="0" presId="urn:microsoft.com/office/officeart/2005/8/layout/hierarchy3"/>
    <dgm:cxn modelId="{BA2932E5-3749-47F1-87A7-DAA97363D99F}" type="presParOf" srcId="{8EE36E6F-F651-6444-BFE9-5ECE2483AF06}" destId="{FA3825C2-9D45-054A-AC04-3945249603C4}" srcOrd="4" destOrd="0" presId="urn:microsoft.com/office/officeart/2005/8/layout/hierarchy3"/>
    <dgm:cxn modelId="{B1235DE6-6FE7-4B8C-80B4-4725E2B2C2BD}" type="presParOf" srcId="{8EE36E6F-F651-6444-BFE9-5ECE2483AF06}" destId="{BCDA1758-61EC-A349-A07F-7AF5A8B669EC}"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40ED0-2604-B044-A020-DF33CC6F82A1}">
      <dsp:nvSpPr>
        <dsp:cNvPr id="0" name=""/>
        <dsp:cNvSpPr/>
      </dsp:nvSpPr>
      <dsp:spPr>
        <a:xfrm>
          <a:off x="1607120" y="560"/>
          <a:ext cx="2043559" cy="1021779"/>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i="0" kern="1200" dirty="0">
              <a:effectLst>
                <a:outerShdw blurRad="38100" dist="38100" dir="2700000" algn="tl">
                  <a:srgbClr val="000000">
                    <a:alpha val="43137"/>
                  </a:srgbClr>
                </a:outerShdw>
              </a:effectLst>
            </a:rPr>
            <a:t>There are three modes that make it possible to convert a block cipher into a stream cipher:</a:t>
          </a:r>
        </a:p>
      </dsp:txBody>
      <dsp:txXfrm>
        <a:off x="1637047" y="30487"/>
        <a:ext cx="1983705" cy="961925"/>
      </dsp:txXfrm>
    </dsp:sp>
    <dsp:sp modelId="{49DAA590-1612-E647-8ED8-B7F56BBB34EC}">
      <dsp:nvSpPr>
        <dsp:cNvPr id="0" name=""/>
        <dsp:cNvSpPr/>
      </dsp:nvSpPr>
      <dsp:spPr>
        <a:xfrm>
          <a:off x="1811476" y="1022340"/>
          <a:ext cx="204355" cy="766334"/>
        </a:xfrm>
        <a:custGeom>
          <a:avLst/>
          <a:gdLst/>
          <a:ahLst/>
          <a:cxnLst/>
          <a:rect l="0" t="0" r="0" b="0"/>
          <a:pathLst>
            <a:path>
              <a:moveTo>
                <a:pt x="0" y="0"/>
              </a:moveTo>
              <a:lnTo>
                <a:pt x="0" y="766334"/>
              </a:lnTo>
              <a:lnTo>
                <a:pt x="204355" y="766334"/>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BE3AAD-2BE3-1547-9164-66C5DFF33B78}">
      <dsp:nvSpPr>
        <dsp:cNvPr id="0" name=""/>
        <dsp:cNvSpPr/>
      </dsp:nvSpPr>
      <dsp:spPr>
        <a:xfrm>
          <a:off x="2015832" y="1277785"/>
          <a:ext cx="1634847" cy="10217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Cipher feedback (CFB) mode</a:t>
          </a:r>
        </a:p>
      </dsp:txBody>
      <dsp:txXfrm>
        <a:off x="2045759" y="1307712"/>
        <a:ext cx="1574993" cy="961925"/>
      </dsp:txXfrm>
    </dsp:sp>
    <dsp:sp modelId="{6F6CB8C7-B4B5-7D47-A868-DAA68895D727}">
      <dsp:nvSpPr>
        <dsp:cNvPr id="0" name=""/>
        <dsp:cNvSpPr/>
      </dsp:nvSpPr>
      <dsp:spPr>
        <a:xfrm>
          <a:off x="1811476" y="1022340"/>
          <a:ext cx="204355" cy="2043559"/>
        </a:xfrm>
        <a:custGeom>
          <a:avLst/>
          <a:gdLst/>
          <a:ahLst/>
          <a:cxnLst/>
          <a:rect l="0" t="0" r="0" b="0"/>
          <a:pathLst>
            <a:path>
              <a:moveTo>
                <a:pt x="0" y="0"/>
              </a:moveTo>
              <a:lnTo>
                <a:pt x="0" y="2043559"/>
              </a:lnTo>
              <a:lnTo>
                <a:pt x="204355" y="2043559"/>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5A15383-9A9A-E74E-B74C-4985D51F9BC1}">
      <dsp:nvSpPr>
        <dsp:cNvPr id="0" name=""/>
        <dsp:cNvSpPr/>
      </dsp:nvSpPr>
      <dsp:spPr>
        <a:xfrm>
          <a:off x="2015832" y="2555009"/>
          <a:ext cx="1634847" cy="10217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t>Output feedback (OFB) mode</a:t>
          </a:r>
        </a:p>
      </dsp:txBody>
      <dsp:txXfrm>
        <a:off x="2045759" y="2584936"/>
        <a:ext cx="1574993" cy="961925"/>
      </dsp:txXfrm>
    </dsp:sp>
    <dsp:sp modelId="{FA3825C2-9D45-054A-AC04-3945249603C4}">
      <dsp:nvSpPr>
        <dsp:cNvPr id="0" name=""/>
        <dsp:cNvSpPr/>
      </dsp:nvSpPr>
      <dsp:spPr>
        <a:xfrm>
          <a:off x="1811476" y="1022340"/>
          <a:ext cx="204355" cy="3320783"/>
        </a:xfrm>
        <a:custGeom>
          <a:avLst/>
          <a:gdLst/>
          <a:ahLst/>
          <a:cxnLst/>
          <a:rect l="0" t="0" r="0" b="0"/>
          <a:pathLst>
            <a:path>
              <a:moveTo>
                <a:pt x="0" y="0"/>
              </a:moveTo>
              <a:lnTo>
                <a:pt x="0" y="3320783"/>
              </a:lnTo>
              <a:lnTo>
                <a:pt x="204355" y="3320783"/>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CDA1758-61EC-A349-A07F-7AF5A8B669EC}">
      <dsp:nvSpPr>
        <dsp:cNvPr id="0" name=""/>
        <dsp:cNvSpPr/>
      </dsp:nvSpPr>
      <dsp:spPr>
        <a:xfrm>
          <a:off x="2015832" y="3832234"/>
          <a:ext cx="1634847" cy="10217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a:t>Counter (CTR) mode</a:t>
          </a:r>
          <a:endParaRPr lang="en-US" sz="2100" kern="1200" dirty="0"/>
        </a:p>
      </dsp:txBody>
      <dsp:txXfrm>
        <a:off x="2045759" y="3862161"/>
        <a:ext cx="1574993" cy="96192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C4403-5AA5-4500-8BD1-A7840C402EEB}" type="datetimeFigureOut">
              <a:rPr lang="en-US" smtClean="0"/>
              <a:t>10/6/2025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C0BB23-5D12-4A85-BF23-3AFD0CC407DF}" type="slidenum">
              <a:rPr lang="en-US" smtClean="0"/>
              <a:t>‹#›</a:t>
            </a:fld>
            <a:endParaRPr lang="en-US"/>
          </a:p>
        </p:txBody>
      </p:sp>
    </p:spTree>
    <p:extLst>
      <p:ext uri="{BB962C8B-B14F-4D97-AF65-F5344CB8AC3E}">
        <p14:creationId xmlns:p14="http://schemas.microsoft.com/office/powerpoint/2010/main" val="1055173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you design a system, there are security requirements,</a:t>
            </a:r>
            <a:r>
              <a:rPr lang="en-US" sz="1200" b="0" i="0" kern="1200" baseline="0" dirty="0">
                <a:solidFill>
                  <a:schemeClr val="tx1"/>
                </a:solidFill>
                <a:effectLst/>
                <a:latin typeface="+mn-lt"/>
                <a:ea typeface="+mn-ea"/>
                <a:cs typeface="+mn-cs"/>
              </a:rPr>
              <a:t> or the security objectives. </a:t>
            </a:r>
          </a:p>
          <a:p>
            <a:r>
              <a:rPr lang="en-US" sz="1200" b="0" i="0" kern="1200" baseline="0" dirty="0">
                <a:solidFill>
                  <a:schemeClr val="tx1"/>
                </a:solidFill>
                <a:effectLst/>
                <a:latin typeface="+mn-lt"/>
                <a:ea typeface="+mn-ea"/>
                <a:cs typeface="+mn-cs"/>
              </a:rPr>
              <a:t>After the system is in use, the system has security features, or we can say the system provides s</a:t>
            </a:r>
            <a:r>
              <a:rPr lang="en-US" sz="1200" b="0" i="0" kern="1200" dirty="0">
                <a:solidFill>
                  <a:schemeClr val="tx1"/>
                </a:solidFill>
                <a:effectLst/>
                <a:latin typeface="+mn-lt"/>
                <a:ea typeface="+mn-ea"/>
                <a:cs typeface="+mn-cs"/>
              </a:rPr>
              <a:t>ecurity services. </a:t>
            </a:r>
            <a:endParaRPr lang="en-US" dirty="0"/>
          </a:p>
        </p:txBody>
      </p:sp>
      <p:sp>
        <p:nvSpPr>
          <p:cNvPr id="4" name="Slide Number Placeholder 3"/>
          <p:cNvSpPr>
            <a:spLocks noGrp="1"/>
          </p:cNvSpPr>
          <p:nvPr>
            <p:ph type="sldNum" sz="quarter" idx="10"/>
          </p:nvPr>
        </p:nvSpPr>
        <p:spPr/>
        <p:txBody>
          <a:bodyPr/>
          <a:lstStyle/>
          <a:p>
            <a:fld id="{1B9787D6-74B1-B44D-8654-BCEE28471BCE}" type="slidenum">
              <a:rPr lang="en-US" smtClean="0"/>
              <a:t>6</a:t>
            </a:fld>
            <a:endParaRPr lang="en-US"/>
          </a:p>
        </p:txBody>
      </p:sp>
    </p:spTree>
    <p:extLst>
      <p:ext uri="{BB962C8B-B14F-4D97-AF65-F5344CB8AC3E}">
        <p14:creationId xmlns:p14="http://schemas.microsoft.com/office/powerpoint/2010/main" val="1231572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cs typeface="+mn-cs"/>
              </a:rPr>
              <a:t>No write up, no read down</a:t>
            </a:r>
            <a:endParaRPr lang="en-US" dirty="0">
              <a:cs typeface="+mn-cs"/>
            </a:endParaRPr>
          </a:p>
          <a:p>
            <a:endParaRPr lang="en-US" dirty="0"/>
          </a:p>
        </p:txBody>
      </p:sp>
      <p:sp>
        <p:nvSpPr>
          <p:cNvPr id="4" name="Slide Number Placeholder 3"/>
          <p:cNvSpPr>
            <a:spLocks noGrp="1"/>
          </p:cNvSpPr>
          <p:nvPr>
            <p:ph type="sldNum" sz="quarter" idx="5"/>
          </p:nvPr>
        </p:nvSpPr>
        <p:spPr/>
        <p:txBody>
          <a:bodyPr/>
          <a:lstStyle/>
          <a:p>
            <a:fld id="{EEC0BB23-5D12-4A85-BF23-3AFD0CC407DF}" type="slidenum">
              <a:rPr lang="en-US" smtClean="0"/>
              <a:t>8</a:t>
            </a:fld>
            <a:endParaRPr lang="en-US"/>
          </a:p>
        </p:txBody>
      </p:sp>
    </p:spTree>
    <p:extLst>
      <p:ext uri="{BB962C8B-B14F-4D97-AF65-F5344CB8AC3E}">
        <p14:creationId xmlns:p14="http://schemas.microsoft.com/office/powerpoint/2010/main" val="2823570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2A265AB0-96ED-4504-8FCE-BE11F4B4ADC3}"/>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9219" name="Rectangle 7">
            <a:extLst>
              <a:ext uri="{FF2B5EF4-FFF2-40B4-BE49-F238E27FC236}">
                <a16:creationId xmlns:a16="http://schemas.microsoft.com/office/drawing/2014/main" id="{29FFFD37-C1A1-4CBB-B056-488A1FB0E7D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E3A0B43-48A3-4524-BC12-B6D1666267D5}" type="slidenum">
              <a:rPr lang="zh-CN" altLang="en-US"/>
              <a:pPr>
                <a:spcBef>
                  <a:spcPct val="0"/>
                </a:spcBef>
              </a:pPr>
              <a:t>12</a:t>
            </a:fld>
            <a:endParaRPr lang="en-US" altLang="zh-CN"/>
          </a:p>
        </p:txBody>
      </p:sp>
      <p:sp>
        <p:nvSpPr>
          <p:cNvPr id="9220" name="Rectangle 2">
            <a:extLst>
              <a:ext uri="{FF2B5EF4-FFF2-40B4-BE49-F238E27FC236}">
                <a16:creationId xmlns:a16="http://schemas.microsoft.com/office/drawing/2014/main" id="{AC7EE318-539B-442A-AA1D-8847F36FCFF7}"/>
              </a:ext>
            </a:extLst>
          </p:cNvPr>
          <p:cNvSpPr>
            <a:spLocks noGrp="1" noRot="1" noChangeAspect="1" noChangeArrowheads="1" noTextEdit="1"/>
          </p:cNvSpPr>
          <p:nvPr>
            <p:ph type="sldImg"/>
          </p:nvPr>
        </p:nvSpPr>
        <p:spPr>
          <a:ln/>
        </p:spPr>
      </p:sp>
      <p:sp>
        <p:nvSpPr>
          <p:cNvPr id="9221" name="Rectangle 3">
            <a:extLst>
              <a:ext uri="{FF2B5EF4-FFF2-40B4-BE49-F238E27FC236}">
                <a16:creationId xmlns:a16="http://schemas.microsoft.com/office/drawing/2014/main" id="{9BE37418-09A4-41DE-BC39-EBE3A7A70D0A}"/>
              </a:ext>
            </a:extLst>
          </p:cNvPr>
          <p:cNvSpPr>
            <a:spLocks noGrp="1" noChangeArrowheads="1"/>
          </p:cNvSpPr>
          <p:nvPr>
            <p:ph type="body" idx="1"/>
          </p:nvPr>
        </p:nvSpPr>
        <p:spPr>
          <a:xfrm>
            <a:off x="715963" y="4487863"/>
            <a:ext cx="5730875" cy="42529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AU" altLang="en-US" dirty="0">
                <a:latin typeface="Times New Roman" panose="02020603050405020304" pitchFamily="18" charset="0"/>
              </a:rPr>
              <a:t>Block ciphers work on a block at a time, which is some number of bits. All of these bits have to be available before the block can be processed. Stream ciphers work on a bit or byte of the message at a time, hence process it as a “stream”.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9A55860E-36FD-42E8-9485-E95CE9064FED}"/>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0483" name="Rectangle 7">
            <a:extLst>
              <a:ext uri="{FF2B5EF4-FFF2-40B4-BE49-F238E27FC236}">
                <a16:creationId xmlns:a16="http://schemas.microsoft.com/office/drawing/2014/main" id="{C1E3FEB3-5CC9-4ECE-9652-524F49CE1E6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815C95-9891-423F-8BB6-E008E2109C2C}" type="slidenum">
              <a:rPr lang="zh-CN" altLang="en-US"/>
              <a:pPr>
                <a:spcBef>
                  <a:spcPct val="0"/>
                </a:spcBef>
              </a:pPr>
              <a:t>16</a:t>
            </a:fld>
            <a:endParaRPr lang="en-US" altLang="zh-CN"/>
          </a:p>
        </p:txBody>
      </p:sp>
      <p:sp>
        <p:nvSpPr>
          <p:cNvPr id="20484" name="Rectangle 2">
            <a:extLst>
              <a:ext uri="{FF2B5EF4-FFF2-40B4-BE49-F238E27FC236}">
                <a16:creationId xmlns:a16="http://schemas.microsoft.com/office/drawing/2014/main" id="{85B2CD9A-3F94-4D18-8F0F-CF87F695A3D1}"/>
              </a:ext>
            </a:extLst>
          </p:cNvPr>
          <p:cNvSpPr>
            <a:spLocks noChangeArrowheads="1" noTextEdit="1"/>
          </p:cNvSpPr>
          <p:nvPr>
            <p:ph type="sldImg"/>
          </p:nvPr>
        </p:nvSpPr>
        <p:spPr>
          <a:ln/>
        </p:spPr>
      </p:sp>
      <p:sp>
        <p:nvSpPr>
          <p:cNvPr id="20485" name="Rectangle 3">
            <a:extLst>
              <a:ext uri="{FF2B5EF4-FFF2-40B4-BE49-F238E27FC236}">
                <a16:creationId xmlns:a16="http://schemas.microsoft.com/office/drawing/2014/main" id="{9B3EBC2A-7245-4FE0-BD24-B26451ABF91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BAABE9CF-8247-4046-B5BB-6A7309698558}"/>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2531" name="Rectangle 7">
            <a:extLst>
              <a:ext uri="{FF2B5EF4-FFF2-40B4-BE49-F238E27FC236}">
                <a16:creationId xmlns:a16="http://schemas.microsoft.com/office/drawing/2014/main" id="{2E179C2A-A5C9-4ECC-829B-4C9260435B4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593C4A-D3E9-49F7-A98E-4A763C9541F9}" type="slidenum">
              <a:rPr lang="zh-CN" altLang="en-US"/>
              <a:pPr>
                <a:spcBef>
                  <a:spcPct val="0"/>
                </a:spcBef>
              </a:pPr>
              <a:t>17</a:t>
            </a:fld>
            <a:endParaRPr lang="en-US" altLang="zh-CN"/>
          </a:p>
        </p:txBody>
      </p:sp>
      <p:sp>
        <p:nvSpPr>
          <p:cNvPr id="22532" name="Rectangle 2">
            <a:extLst>
              <a:ext uri="{FF2B5EF4-FFF2-40B4-BE49-F238E27FC236}">
                <a16:creationId xmlns:a16="http://schemas.microsoft.com/office/drawing/2014/main" id="{DEB6864E-C71E-4C2D-A655-8ADB0F05C9C6}"/>
              </a:ext>
            </a:extLst>
          </p:cNvPr>
          <p:cNvSpPr>
            <a:spLocks noChangeArrowheads="1" noTextEdit="1"/>
          </p:cNvSpPr>
          <p:nvPr>
            <p:ph type="sldImg"/>
          </p:nvPr>
        </p:nvSpPr>
        <p:spPr>
          <a:xfrm>
            <a:off x="1106488" y="698500"/>
            <a:ext cx="4643437" cy="3484563"/>
          </a:xfrm>
          <a:ln/>
        </p:spPr>
      </p:sp>
      <p:sp>
        <p:nvSpPr>
          <p:cNvPr id="22533" name="Rectangle 3">
            <a:extLst>
              <a:ext uri="{FF2B5EF4-FFF2-40B4-BE49-F238E27FC236}">
                <a16:creationId xmlns:a16="http://schemas.microsoft.com/office/drawing/2014/main" id="{7298F980-A478-4BDB-AF2C-DD6D2ED505B8}"/>
              </a:ext>
            </a:extLst>
          </p:cNvPr>
          <p:cNvSpPr>
            <a:spLocks noGrp="1" noChangeArrowheads="1"/>
          </p:cNvSpPr>
          <p:nvPr>
            <p:ph type="body" idx="1"/>
          </p:nvPr>
        </p:nvSpPr>
        <p:spPr>
          <a:xfrm>
            <a:off x="914400" y="4414838"/>
            <a:ext cx="5029200" cy="41830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EAADD241-A82D-4E2D-A4E9-8D31A369BE19}"/>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4579" name="Rectangle 7">
            <a:extLst>
              <a:ext uri="{FF2B5EF4-FFF2-40B4-BE49-F238E27FC236}">
                <a16:creationId xmlns:a16="http://schemas.microsoft.com/office/drawing/2014/main" id="{759FD7CB-5B46-4159-B64D-0F688D65A50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25513">
              <a:spcBef>
                <a:spcPct val="30000"/>
              </a:spcBef>
              <a:defRPr sz="1200">
                <a:solidFill>
                  <a:schemeClr val="tx1"/>
                </a:solidFill>
                <a:latin typeface="Times New Roman" panose="02020603050405020304" pitchFamily="18" charset="0"/>
              </a:defRPr>
            </a:lvl1pPr>
            <a:lvl2pPr marL="742950" indent="-285750" defTabSz="925513">
              <a:spcBef>
                <a:spcPct val="30000"/>
              </a:spcBef>
              <a:defRPr sz="1200">
                <a:solidFill>
                  <a:schemeClr val="tx1"/>
                </a:solidFill>
                <a:latin typeface="Times New Roman" panose="02020603050405020304" pitchFamily="18" charset="0"/>
              </a:defRPr>
            </a:lvl2pPr>
            <a:lvl3pPr marL="1143000" indent="-228600" defTabSz="925513">
              <a:spcBef>
                <a:spcPct val="30000"/>
              </a:spcBef>
              <a:defRPr sz="1200">
                <a:solidFill>
                  <a:schemeClr val="tx1"/>
                </a:solidFill>
                <a:latin typeface="Times New Roman" panose="02020603050405020304" pitchFamily="18" charset="0"/>
              </a:defRPr>
            </a:lvl3pPr>
            <a:lvl4pPr marL="1600200" indent="-228600" defTabSz="925513">
              <a:spcBef>
                <a:spcPct val="30000"/>
              </a:spcBef>
              <a:defRPr sz="1200">
                <a:solidFill>
                  <a:schemeClr val="tx1"/>
                </a:solidFill>
                <a:latin typeface="Times New Roman" panose="02020603050405020304" pitchFamily="18" charset="0"/>
              </a:defRPr>
            </a:lvl4pPr>
            <a:lvl5pPr marL="2057400" indent="-228600" defTabSz="925513">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E5E799-1546-4B14-96B3-31F3B6AC472A}" type="slidenum">
              <a:rPr lang="zh-CN" altLang="en-US"/>
              <a:pPr>
                <a:spcBef>
                  <a:spcPct val="0"/>
                </a:spcBef>
              </a:pPr>
              <a:t>18</a:t>
            </a:fld>
            <a:endParaRPr lang="en-US" altLang="zh-CN"/>
          </a:p>
        </p:txBody>
      </p:sp>
      <p:sp>
        <p:nvSpPr>
          <p:cNvPr id="24580" name="Rectangle 2">
            <a:extLst>
              <a:ext uri="{FF2B5EF4-FFF2-40B4-BE49-F238E27FC236}">
                <a16:creationId xmlns:a16="http://schemas.microsoft.com/office/drawing/2014/main" id="{E03553B4-4C1D-40DD-9B60-599ECAE5609A}"/>
              </a:ext>
            </a:extLst>
          </p:cNvPr>
          <p:cNvSpPr>
            <a:spLocks noChangeArrowheads="1" noTextEdit="1"/>
          </p:cNvSpPr>
          <p:nvPr>
            <p:ph type="sldImg"/>
          </p:nvPr>
        </p:nvSpPr>
        <p:spPr>
          <a:xfrm>
            <a:off x="1106488" y="698500"/>
            <a:ext cx="4643437" cy="3484563"/>
          </a:xfrm>
          <a:ln/>
        </p:spPr>
      </p:sp>
      <p:sp>
        <p:nvSpPr>
          <p:cNvPr id="24581" name="Rectangle 3">
            <a:extLst>
              <a:ext uri="{FF2B5EF4-FFF2-40B4-BE49-F238E27FC236}">
                <a16:creationId xmlns:a16="http://schemas.microsoft.com/office/drawing/2014/main" id="{20AF3250-77DA-4534-B97B-07242C4B10F1}"/>
              </a:ext>
            </a:extLst>
          </p:cNvPr>
          <p:cNvSpPr>
            <a:spLocks noGrp="1" noChangeArrowheads="1"/>
          </p:cNvSpPr>
          <p:nvPr>
            <p:ph type="body" idx="1"/>
          </p:nvPr>
        </p:nvSpPr>
        <p:spPr>
          <a:xfrm>
            <a:off x="914400" y="4414838"/>
            <a:ext cx="5029200" cy="41830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0483"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849C48-C714-4DCD-A4C2-1837B4505149}" type="slidenum">
              <a:rPr lang="zh-CN" altLang="en-US" smtClean="0"/>
              <a:pPr>
                <a:spcBef>
                  <a:spcPct val="0"/>
                </a:spcBef>
              </a:pPr>
              <a:t>19</a:t>
            </a:fld>
            <a:endParaRPr lang="en-US" altLang="zh-CN"/>
          </a:p>
        </p:txBody>
      </p:sp>
      <p:sp>
        <p:nvSpPr>
          <p:cNvPr id="20484" name="Rectangle 2"/>
          <p:cNvSpPr>
            <a:spLocks noGrp="1" noRot="1" noChangeAspect="1" noChangeArrowheads="1" noTextEdit="1"/>
          </p:cNvSpPr>
          <p:nvPr>
            <p:ph type="sldImg"/>
          </p:nvPr>
        </p:nvSpPr>
        <p:spPr>
          <a:ln/>
        </p:spPr>
      </p:sp>
      <p:sp>
        <p:nvSpPr>
          <p:cNvPr id="20485" name="Rectangle 3"/>
          <p:cNvSpPr>
            <a:spLocks noGrp="1" noChangeArrowheads="1"/>
          </p:cNvSpPr>
          <p:nvPr>
            <p:ph type="body" idx="1"/>
          </p:nvPr>
        </p:nvSpPr>
        <p:spPr>
          <a:xfrm>
            <a:off x="955675" y="4487863"/>
            <a:ext cx="5251450" cy="4252912"/>
          </a:xfrm>
          <a:noFill/>
        </p:spPr>
        <p:txBody>
          <a:bodyPr/>
          <a:lstStyle/>
          <a:p>
            <a:pPr eaLnBrk="1" hangingPunct="1"/>
            <a:r>
              <a:rPr lang="en-US" altLang="en-US" dirty="0"/>
              <a:t>All security policies and mechanisms rest on assumptions; we’ll examine some in later chapters, most notably Chapter 22, Malicious Logic. Here is a taste of the assumptions.</a:t>
            </a:r>
          </a:p>
          <a:p>
            <a:pPr eaLnBrk="1" hangingPunct="1"/>
            <a:r>
              <a:rPr lang="en-US" altLang="en-US" dirty="0"/>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dirty="0"/>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extLst>
      <p:ext uri="{BB962C8B-B14F-4D97-AF65-F5344CB8AC3E}">
        <p14:creationId xmlns:p14="http://schemas.microsoft.com/office/powerpoint/2010/main" val="1753502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2531"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C067F1-131E-46ED-A9D7-4B3CCF04220D}" type="slidenum">
              <a:rPr lang="zh-CN" altLang="en-US" smtClean="0"/>
              <a:pPr>
                <a:spcBef>
                  <a:spcPct val="0"/>
                </a:spcBef>
              </a:pPr>
              <a:t>20</a:t>
            </a:fld>
            <a:endParaRPr lang="en-US" altLang="zh-CN"/>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xfrm>
            <a:off x="955675" y="4487863"/>
            <a:ext cx="5251450" cy="4252912"/>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extLst>
      <p:ext uri="{BB962C8B-B14F-4D97-AF65-F5344CB8AC3E}">
        <p14:creationId xmlns:p14="http://schemas.microsoft.com/office/powerpoint/2010/main" val="2708656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4579"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D6CE40-4FF9-4E00-9CB8-13CE7B5B741A}" type="slidenum">
              <a:rPr lang="zh-CN" altLang="en-US" smtClean="0"/>
              <a:pPr>
                <a:spcBef>
                  <a:spcPct val="0"/>
                </a:spcBef>
              </a:pPr>
              <a:t>21</a:t>
            </a:fld>
            <a:endParaRPr lang="en-US" altLang="zh-CN"/>
          </a:p>
        </p:txBody>
      </p:sp>
      <p:sp>
        <p:nvSpPr>
          <p:cNvPr id="24580" name="Rectangle 2"/>
          <p:cNvSpPr>
            <a:spLocks noGrp="1" noRot="1" noChangeAspect="1" noChangeArrowheads="1" noTextEdit="1"/>
          </p:cNvSpPr>
          <p:nvPr>
            <p:ph type="sldImg"/>
          </p:nvPr>
        </p:nvSpPr>
        <p:spPr>
          <a:ln/>
        </p:spPr>
      </p:sp>
      <p:sp>
        <p:nvSpPr>
          <p:cNvPr id="24581" name="Rectangle 3"/>
          <p:cNvSpPr>
            <a:spLocks noGrp="1" noChangeArrowheads="1"/>
          </p:cNvSpPr>
          <p:nvPr>
            <p:ph type="body" idx="1"/>
          </p:nvPr>
        </p:nvSpPr>
        <p:spPr>
          <a:xfrm>
            <a:off x="955675" y="4487863"/>
            <a:ext cx="5251450" cy="4252912"/>
          </a:xfrm>
          <a:noFill/>
        </p:spPr>
        <p:txBody>
          <a:bodyPr/>
          <a:lstStyle/>
          <a:p>
            <a:pPr eaLnBrk="1" hangingPunct="1"/>
            <a:endParaRPr lang="en-US" altLang="en-US" dirty="0"/>
          </a:p>
        </p:txBody>
      </p:sp>
    </p:spTree>
    <p:extLst>
      <p:ext uri="{BB962C8B-B14F-4D97-AF65-F5344CB8AC3E}">
        <p14:creationId xmlns:p14="http://schemas.microsoft.com/office/powerpoint/2010/main" val="1106743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6627"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79FE044-102A-4C32-94E5-F29887CFE582}" type="slidenum">
              <a:rPr lang="zh-CN" altLang="en-US" smtClean="0"/>
              <a:pPr>
                <a:spcBef>
                  <a:spcPct val="0"/>
                </a:spcBef>
              </a:pPr>
              <a:t>22</a:t>
            </a:fld>
            <a:endParaRPr lang="en-US" altLang="zh-CN"/>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xfrm>
            <a:off x="955675" y="4487863"/>
            <a:ext cx="5251450" cy="4252912"/>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extLst>
      <p:ext uri="{BB962C8B-B14F-4D97-AF65-F5344CB8AC3E}">
        <p14:creationId xmlns:p14="http://schemas.microsoft.com/office/powerpoint/2010/main" val="353630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r>
              <a:rPr lang="en-US" altLang="en-US">
                <a:latin typeface="Arial" panose="020B0604020202020204" pitchFamily="34" charset="0"/>
                <a:ea typeface="MS PGothic" panose="020B0600070205080204" pitchFamily="34" charset="-128"/>
              </a:rPr>
              <a:t> The modes are summarized in Table 6.1 and described in this and the following sections.</a:t>
            </a:r>
          </a:p>
        </p:txBody>
      </p:sp>
      <p:sp>
        <p:nvSpPr>
          <p:cNvPr id="27652" name="Slide Number Placeholder 3"/>
          <p:cNvSpPr>
            <a:spLocks noGrp="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A3F110-01EB-4180-B209-F17A8298D380}" type="slidenum">
              <a:rPr lang="en-AU" altLang="en-US">
                <a:latin typeface="Arial" panose="020B0604020202020204" pitchFamily="34" charset="0"/>
              </a:rPr>
              <a:pPr>
                <a:spcBef>
                  <a:spcPct val="0"/>
                </a:spcBef>
              </a:pPr>
              <a:t>23</a:t>
            </a:fld>
            <a:endParaRPr lang="en-AU" altLang="en-US">
              <a:latin typeface="Arial" panose="020B0604020202020204" pitchFamily="34" charset="0"/>
            </a:endParaRPr>
          </a:p>
        </p:txBody>
      </p:sp>
    </p:spTree>
    <p:extLst>
      <p:ext uri="{BB962C8B-B14F-4D97-AF65-F5344CB8AC3E}">
        <p14:creationId xmlns:p14="http://schemas.microsoft.com/office/powerpoint/2010/main" val="3245075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A35DA8E6-0802-476F-B70E-29A414B49E16}"/>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F08CE51D-2488-4B85-8C5B-DF75E9D91566}"/>
              </a:ext>
            </a:extLst>
          </p:cNvPr>
          <p:cNvSpPr>
            <a:spLocks noGrp="1"/>
          </p:cNvSpPr>
          <p:nvPr>
            <p:ph type="body" idx="1"/>
          </p:nvPr>
        </p:nvSpPr>
        <p:spPr>
          <a:noFill/>
        </p:spPr>
        <p:txBody>
          <a:bodyPr/>
          <a:lstStyle/>
          <a:p>
            <a:r>
              <a:rPr lang="en-US" altLang="en-US">
                <a:latin typeface="Arial" panose="020B0604020202020204" pitchFamily="34" charset="0"/>
                <a:ea typeface="ＭＳ Ｐゴシック" panose="020B0600070205080204" pitchFamily="34" charset="-128"/>
              </a:rPr>
              <a:t>For AES, DES, or any block cipher, encryption is performed on a block of b  bits. In</a:t>
            </a:r>
          </a:p>
          <a:p>
            <a:r>
              <a:rPr lang="en-US" altLang="en-US">
                <a:latin typeface="Arial" panose="020B0604020202020204" pitchFamily="34" charset="0"/>
                <a:ea typeface="ＭＳ Ｐゴシック" panose="020B0600070205080204" pitchFamily="34" charset="-128"/>
              </a:rPr>
              <a:t>the case of DES, b =  64 and in the case of AES, b =  128. However, it is possible</a:t>
            </a:r>
          </a:p>
          <a:p>
            <a:r>
              <a:rPr lang="en-US" altLang="en-US">
                <a:latin typeface="Arial" panose="020B0604020202020204" pitchFamily="34" charset="0"/>
                <a:ea typeface="ＭＳ Ｐゴシック" panose="020B0600070205080204" pitchFamily="34" charset="-128"/>
              </a:rPr>
              <a:t>to convert a block cipher into a stream cipher, using one of the three modes to be</a:t>
            </a:r>
          </a:p>
          <a:p>
            <a:r>
              <a:rPr lang="en-US" altLang="en-US">
                <a:latin typeface="Arial" panose="020B0604020202020204" pitchFamily="34" charset="0"/>
                <a:ea typeface="ＭＳ Ｐゴシック" panose="020B0600070205080204" pitchFamily="34" charset="-128"/>
              </a:rPr>
              <a:t>discussed in this and the next two sections: cipher feedback  (CFB) mode, output</a:t>
            </a:r>
          </a:p>
          <a:p>
            <a:r>
              <a:rPr lang="en-US" altLang="en-US">
                <a:latin typeface="Arial" panose="020B0604020202020204" pitchFamily="34" charset="0"/>
                <a:ea typeface="ＭＳ Ｐゴシック" panose="020B0600070205080204" pitchFamily="34" charset="-128"/>
              </a:rPr>
              <a:t>feedback  (OFB) mode, and counter  (CTR) mode. A stream cipher eliminates the</a:t>
            </a:r>
          </a:p>
          <a:p>
            <a:r>
              <a:rPr lang="en-US" altLang="en-US">
                <a:latin typeface="Arial" panose="020B0604020202020204" pitchFamily="34" charset="0"/>
                <a:ea typeface="ＭＳ Ｐゴシック" panose="020B0600070205080204" pitchFamily="34" charset="-128"/>
              </a:rPr>
              <a:t>need to pad a message to be an integral number of blocks. It also can operate in</a:t>
            </a:r>
          </a:p>
          <a:p>
            <a:r>
              <a:rPr lang="en-US" altLang="en-US">
                <a:latin typeface="Arial" panose="020B0604020202020204" pitchFamily="34" charset="0"/>
                <a:ea typeface="ＭＳ Ｐゴシック" panose="020B0600070205080204" pitchFamily="34" charset="-128"/>
              </a:rPr>
              <a:t>real time. Thus, if a character stream is being transmitted, each character can be</a:t>
            </a:r>
          </a:p>
          <a:p>
            <a:r>
              <a:rPr lang="en-US" altLang="en-US">
                <a:latin typeface="Arial" panose="020B0604020202020204" pitchFamily="34" charset="0"/>
                <a:ea typeface="ＭＳ Ｐゴシック" panose="020B0600070205080204" pitchFamily="34" charset="-128"/>
              </a:rPr>
              <a:t>encrypted and transmitted immediately using a character-oriented stream cipher.</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One desirable property of a stream cipher is that the ciphertext be of the same</a:t>
            </a:r>
          </a:p>
          <a:p>
            <a:r>
              <a:rPr lang="en-US" altLang="en-US">
                <a:latin typeface="Arial" panose="020B0604020202020204" pitchFamily="34" charset="0"/>
                <a:ea typeface="ＭＳ Ｐゴシック" panose="020B0600070205080204" pitchFamily="34" charset="-128"/>
              </a:rPr>
              <a:t>length as the plaintext. Thus, if 8-bit characters are being transmitted, each character</a:t>
            </a:r>
          </a:p>
          <a:p>
            <a:r>
              <a:rPr lang="en-US" altLang="en-US">
                <a:latin typeface="Arial" panose="020B0604020202020204" pitchFamily="34" charset="0"/>
                <a:ea typeface="ＭＳ Ｐゴシック" panose="020B0600070205080204" pitchFamily="34" charset="-128"/>
              </a:rPr>
              <a:t>should be encrypted to produce a ciphertext output of 8 bits. If more than 8 bits</a:t>
            </a:r>
          </a:p>
          <a:p>
            <a:r>
              <a:rPr lang="en-US" altLang="en-US">
                <a:latin typeface="Arial" panose="020B0604020202020204" pitchFamily="34" charset="0"/>
                <a:ea typeface="ＭＳ Ｐゴシック" panose="020B0600070205080204" pitchFamily="34" charset="-128"/>
              </a:rPr>
              <a:t>are produced, transmission capacity is wasted.</a:t>
            </a:r>
          </a:p>
        </p:txBody>
      </p:sp>
      <p:sp>
        <p:nvSpPr>
          <p:cNvPr id="47108" name="Slide Number Placeholder 3">
            <a:extLst>
              <a:ext uri="{FF2B5EF4-FFF2-40B4-BE49-F238E27FC236}">
                <a16:creationId xmlns:a16="http://schemas.microsoft.com/office/drawing/2014/main" id="{6A34D785-044C-49CF-8C8E-020B12CDE724}"/>
              </a:ext>
            </a:extLst>
          </p:cNvPr>
          <p:cNvSpPr>
            <a:spLocks noGrp="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4EFB80C-A7F9-4151-B383-C4CA17262D58}" type="slidenum">
              <a:rPr lang="en-AU" altLang="en-US">
                <a:latin typeface="Arial" panose="020B0604020202020204" pitchFamily="34" charset="0"/>
              </a:rPr>
              <a:pPr>
                <a:spcBef>
                  <a:spcPct val="0"/>
                </a:spcBef>
              </a:pPr>
              <a:t>24</a:t>
            </a:fld>
            <a:endParaRPr lang="en-AU"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EB7F4D9C-46EC-4A71-A465-BFDCA8180FC1}"/>
              </a:ext>
            </a:extLst>
          </p:cNvPr>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9219" name="Rectangle 7">
            <a:extLst>
              <a:ext uri="{FF2B5EF4-FFF2-40B4-BE49-F238E27FC236}">
                <a16:creationId xmlns:a16="http://schemas.microsoft.com/office/drawing/2014/main" id="{D227C5E0-0BBE-49E9-9719-0B5CEF8247DB}"/>
              </a:ext>
            </a:extLst>
          </p:cNvPr>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81B2EBB-5EE1-43B4-9935-44B965B66097}" type="slidenum">
              <a:rPr lang="zh-CN" altLang="en-US"/>
              <a:pPr>
                <a:spcBef>
                  <a:spcPct val="0"/>
                </a:spcBef>
              </a:pPr>
              <a:t>25</a:t>
            </a:fld>
            <a:endParaRPr lang="en-US" altLang="zh-CN"/>
          </a:p>
        </p:txBody>
      </p:sp>
      <p:sp>
        <p:nvSpPr>
          <p:cNvPr id="9220" name="Rectangle 2">
            <a:extLst>
              <a:ext uri="{FF2B5EF4-FFF2-40B4-BE49-F238E27FC236}">
                <a16:creationId xmlns:a16="http://schemas.microsoft.com/office/drawing/2014/main" id="{6C095AA4-86FB-45E2-B0DF-593B9DB9771E}"/>
              </a:ext>
            </a:extLst>
          </p:cNvPr>
          <p:cNvSpPr>
            <a:spLocks noGrp="1" noRot="1" noChangeAspect="1" noChangeArrowheads="1" noTextEdit="1"/>
          </p:cNvSpPr>
          <p:nvPr>
            <p:ph type="sldImg"/>
          </p:nvPr>
        </p:nvSpPr>
        <p:spPr>
          <a:ln/>
        </p:spPr>
      </p:sp>
      <p:sp>
        <p:nvSpPr>
          <p:cNvPr id="9221" name="Rectangle 3">
            <a:extLst>
              <a:ext uri="{FF2B5EF4-FFF2-40B4-BE49-F238E27FC236}">
                <a16:creationId xmlns:a16="http://schemas.microsoft.com/office/drawing/2014/main" id="{E17A3B4E-DC51-49F4-951A-1679A22929B0}"/>
              </a:ext>
            </a:extLst>
          </p:cNvPr>
          <p:cNvSpPr>
            <a:spLocks noGrp="1" noChangeArrowheads="1"/>
          </p:cNvSpPr>
          <p:nvPr>
            <p:ph type="body" idx="1"/>
          </p:nvPr>
        </p:nvSpPr>
        <p:spPr>
          <a:xfrm>
            <a:off x="935038" y="4414838"/>
            <a:ext cx="5140325" cy="4184650"/>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21C82630-258B-4265-AA53-E6469EDE3C63}"/>
              </a:ext>
            </a:extLst>
          </p:cNvPr>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19459" name="Rectangle 7">
            <a:extLst>
              <a:ext uri="{FF2B5EF4-FFF2-40B4-BE49-F238E27FC236}">
                <a16:creationId xmlns:a16="http://schemas.microsoft.com/office/drawing/2014/main" id="{63C9ED4E-4B3E-4E32-A154-35D5B86C2D52}"/>
              </a:ext>
            </a:extLst>
          </p:cNvPr>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D4873E9-AF12-48E2-8780-7F1E4756B446}" type="slidenum">
              <a:rPr lang="zh-CN" altLang="en-US"/>
              <a:pPr>
                <a:spcBef>
                  <a:spcPct val="0"/>
                </a:spcBef>
              </a:pPr>
              <a:t>26</a:t>
            </a:fld>
            <a:endParaRPr lang="en-US" altLang="zh-CN"/>
          </a:p>
        </p:txBody>
      </p:sp>
      <p:sp>
        <p:nvSpPr>
          <p:cNvPr id="19460" name="Rectangle 2">
            <a:extLst>
              <a:ext uri="{FF2B5EF4-FFF2-40B4-BE49-F238E27FC236}">
                <a16:creationId xmlns:a16="http://schemas.microsoft.com/office/drawing/2014/main" id="{228FBA0F-A03E-435E-898F-6369A15254F7}"/>
              </a:ext>
            </a:extLst>
          </p:cNvPr>
          <p:cNvSpPr>
            <a:spLocks noGrp="1" noRot="1" noChangeAspect="1" noChangeArrowheads="1" noTextEdit="1"/>
          </p:cNvSpPr>
          <p:nvPr>
            <p:ph type="sldImg"/>
          </p:nvPr>
        </p:nvSpPr>
        <p:spPr>
          <a:ln/>
        </p:spPr>
      </p:sp>
      <p:sp>
        <p:nvSpPr>
          <p:cNvPr id="19461" name="Rectangle 3">
            <a:extLst>
              <a:ext uri="{FF2B5EF4-FFF2-40B4-BE49-F238E27FC236}">
                <a16:creationId xmlns:a16="http://schemas.microsoft.com/office/drawing/2014/main" id="{0E28ABBE-0B95-43D1-94D7-BDEEC0207E17}"/>
              </a:ext>
            </a:extLst>
          </p:cNvPr>
          <p:cNvSpPr>
            <a:spLocks noGrp="1" noChangeArrowheads="1"/>
          </p:cNvSpPr>
          <p:nvPr>
            <p:ph type="body" idx="1"/>
          </p:nvPr>
        </p:nvSpPr>
        <p:spPr>
          <a:xfrm>
            <a:off x="935038" y="4414838"/>
            <a:ext cx="5140325" cy="4184650"/>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23413296-EF18-4B59-9931-7A3FFFDEDD30}"/>
              </a:ext>
            </a:extLst>
          </p:cNvPr>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50179" name="Rectangle 7">
            <a:extLst>
              <a:ext uri="{FF2B5EF4-FFF2-40B4-BE49-F238E27FC236}">
                <a16:creationId xmlns:a16="http://schemas.microsoft.com/office/drawing/2014/main" id="{B689F190-25E9-4B90-A76F-26BCE612C8E0}"/>
              </a:ext>
            </a:extLst>
          </p:cNvPr>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A40B52-66FA-4E5E-BF42-C06DF110005D}" type="slidenum">
              <a:rPr lang="zh-CN" altLang="en-US"/>
              <a:pPr>
                <a:spcBef>
                  <a:spcPct val="0"/>
                </a:spcBef>
              </a:pPr>
              <a:t>27</a:t>
            </a:fld>
            <a:endParaRPr lang="en-US" altLang="zh-CN"/>
          </a:p>
        </p:txBody>
      </p:sp>
      <p:sp>
        <p:nvSpPr>
          <p:cNvPr id="50180" name="Rectangle 2">
            <a:extLst>
              <a:ext uri="{FF2B5EF4-FFF2-40B4-BE49-F238E27FC236}">
                <a16:creationId xmlns:a16="http://schemas.microsoft.com/office/drawing/2014/main" id="{E44B9811-77F8-4B6B-A52B-3F27E03A514F}"/>
              </a:ext>
            </a:extLst>
          </p:cNvPr>
          <p:cNvSpPr>
            <a:spLocks noGrp="1" noRot="1" noChangeAspect="1" noChangeArrowheads="1" noTextEdit="1"/>
          </p:cNvSpPr>
          <p:nvPr>
            <p:ph type="sldImg"/>
          </p:nvPr>
        </p:nvSpPr>
        <p:spPr>
          <a:ln/>
        </p:spPr>
      </p:sp>
      <p:sp>
        <p:nvSpPr>
          <p:cNvPr id="50181" name="Rectangle 3">
            <a:extLst>
              <a:ext uri="{FF2B5EF4-FFF2-40B4-BE49-F238E27FC236}">
                <a16:creationId xmlns:a16="http://schemas.microsoft.com/office/drawing/2014/main" id="{02B2CA25-F1CE-4AFF-990F-44E11E0259EC}"/>
              </a:ext>
            </a:extLst>
          </p:cNvPr>
          <p:cNvSpPr>
            <a:spLocks noGrp="1" noChangeArrowheads="1"/>
          </p:cNvSpPr>
          <p:nvPr>
            <p:ph type="body" idx="1"/>
          </p:nvPr>
        </p:nvSpPr>
        <p:spPr>
          <a:xfrm>
            <a:off x="935038" y="4414838"/>
            <a:ext cx="5140325" cy="4184650"/>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a:extLst>
              <a:ext uri="{FF2B5EF4-FFF2-40B4-BE49-F238E27FC236}">
                <a16:creationId xmlns:a16="http://schemas.microsoft.com/office/drawing/2014/main" id="{81A4920B-6042-4B72-9924-49305FCF12E1}"/>
              </a:ext>
            </a:extLst>
          </p:cNvPr>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52227" name="Rectangle 7">
            <a:extLst>
              <a:ext uri="{FF2B5EF4-FFF2-40B4-BE49-F238E27FC236}">
                <a16:creationId xmlns:a16="http://schemas.microsoft.com/office/drawing/2014/main" id="{F6E6A73C-C417-4F33-B5E8-2F76BF4390E1}"/>
              </a:ext>
            </a:extLst>
          </p:cNvPr>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966AC7-BDAE-4EA3-A62C-80F5C21AE5E7}" type="slidenum">
              <a:rPr lang="zh-CN" altLang="en-US"/>
              <a:pPr>
                <a:spcBef>
                  <a:spcPct val="0"/>
                </a:spcBef>
              </a:pPr>
              <a:t>28</a:t>
            </a:fld>
            <a:endParaRPr lang="en-US" altLang="zh-CN"/>
          </a:p>
        </p:txBody>
      </p:sp>
      <p:sp>
        <p:nvSpPr>
          <p:cNvPr id="52228" name="Rectangle 2">
            <a:extLst>
              <a:ext uri="{FF2B5EF4-FFF2-40B4-BE49-F238E27FC236}">
                <a16:creationId xmlns:a16="http://schemas.microsoft.com/office/drawing/2014/main" id="{901A6C60-6D27-438B-BB60-FF83E92AD5A3}"/>
              </a:ext>
            </a:extLst>
          </p:cNvPr>
          <p:cNvSpPr>
            <a:spLocks noGrp="1" noRot="1" noChangeAspect="1" noChangeArrowheads="1" noTextEdit="1"/>
          </p:cNvSpPr>
          <p:nvPr>
            <p:ph type="sldImg"/>
          </p:nvPr>
        </p:nvSpPr>
        <p:spPr>
          <a:ln/>
        </p:spPr>
      </p:sp>
      <p:sp>
        <p:nvSpPr>
          <p:cNvPr id="52229" name="Rectangle 3">
            <a:extLst>
              <a:ext uri="{FF2B5EF4-FFF2-40B4-BE49-F238E27FC236}">
                <a16:creationId xmlns:a16="http://schemas.microsoft.com/office/drawing/2014/main" id="{67EFE759-70C2-421A-92C3-C1CAEE1AE625}"/>
              </a:ext>
            </a:extLst>
          </p:cNvPr>
          <p:cNvSpPr>
            <a:spLocks noGrp="1" noChangeArrowheads="1"/>
          </p:cNvSpPr>
          <p:nvPr>
            <p:ph type="body" idx="1"/>
          </p:nvPr>
        </p:nvSpPr>
        <p:spPr>
          <a:xfrm>
            <a:off x="935038" y="4414838"/>
            <a:ext cx="5140325" cy="4184650"/>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a:extLst>
              <a:ext uri="{FF2B5EF4-FFF2-40B4-BE49-F238E27FC236}">
                <a16:creationId xmlns:a16="http://schemas.microsoft.com/office/drawing/2014/main" id="{A7E8768C-C6DA-41BF-9E65-85A90AC7301D}"/>
              </a:ext>
            </a:extLst>
          </p:cNvPr>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54275" name="Rectangle 7">
            <a:extLst>
              <a:ext uri="{FF2B5EF4-FFF2-40B4-BE49-F238E27FC236}">
                <a16:creationId xmlns:a16="http://schemas.microsoft.com/office/drawing/2014/main" id="{35CDB16C-9EA8-4D4E-97AB-F67669A98873}"/>
              </a:ext>
            </a:extLst>
          </p:cNvPr>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A5E35F-A66A-4BE1-8AAE-22D7D1B7224C}" type="slidenum">
              <a:rPr lang="zh-CN" altLang="en-US"/>
              <a:pPr>
                <a:spcBef>
                  <a:spcPct val="0"/>
                </a:spcBef>
              </a:pPr>
              <a:t>29</a:t>
            </a:fld>
            <a:endParaRPr lang="en-US" altLang="zh-CN"/>
          </a:p>
        </p:txBody>
      </p:sp>
      <p:sp>
        <p:nvSpPr>
          <p:cNvPr id="54276" name="Rectangle 2">
            <a:extLst>
              <a:ext uri="{FF2B5EF4-FFF2-40B4-BE49-F238E27FC236}">
                <a16:creationId xmlns:a16="http://schemas.microsoft.com/office/drawing/2014/main" id="{3461A712-E7ED-40B3-9D59-BEEAC95CAE3A}"/>
              </a:ext>
            </a:extLst>
          </p:cNvPr>
          <p:cNvSpPr>
            <a:spLocks noGrp="1" noRot="1" noChangeAspect="1" noChangeArrowheads="1" noTextEdit="1"/>
          </p:cNvSpPr>
          <p:nvPr>
            <p:ph type="sldImg"/>
          </p:nvPr>
        </p:nvSpPr>
        <p:spPr>
          <a:ln/>
        </p:spPr>
      </p:sp>
      <p:sp>
        <p:nvSpPr>
          <p:cNvPr id="54277" name="Rectangle 3">
            <a:extLst>
              <a:ext uri="{FF2B5EF4-FFF2-40B4-BE49-F238E27FC236}">
                <a16:creationId xmlns:a16="http://schemas.microsoft.com/office/drawing/2014/main" id="{3CC794F0-528F-488F-B30E-D4A40C6CEFFB}"/>
              </a:ext>
            </a:extLst>
          </p:cNvPr>
          <p:cNvSpPr>
            <a:spLocks noGrp="1" noChangeArrowheads="1"/>
          </p:cNvSpPr>
          <p:nvPr>
            <p:ph type="body" idx="1"/>
          </p:nvPr>
        </p:nvSpPr>
        <p:spPr>
          <a:xfrm>
            <a:off x="935038" y="4414838"/>
            <a:ext cx="5140325" cy="4184650"/>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p:cNvSpPr>
            <a:spLocks noGrp="1" noChangeArrowheads="1"/>
          </p:cNvSpPr>
          <p:nvPr>
            <p:ph type="ftr" sz="quarter" idx="4"/>
          </p:nvPr>
        </p:nvSpPr>
        <p:spPr>
          <a:noFill/>
        </p:spPr>
        <p:txBody>
          <a:bodyPr/>
          <a:lstStyle>
            <a:lvl1pPr defTabSz="925513">
              <a:spcBef>
                <a:spcPct val="30000"/>
              </a:spcBef>
              <a:defRPr sz="1200">
                <a:solidFill>
                  <a:schemeClr val="tx1"/>
                </a:solidFill>
                <a:latin typeface="Times New Roman" panose="02020603050405020304" pitchFamily="18" charset="0"/>
              </a:defRPr>
            </a:lvl1pPr>
            <a:lvl2pPr marL="725488" indent="-279400" defTabSz="925513">
              <a:spcBef>
                <a:spcPct val="30000"/>
              </a:spcBef>
              <a:defRPr sz="1200">
                <a:solidFill>
                  <a:schemeClr val="tx1"/>
                </a:solidFill>
                <a:latin typeface="Times New Roman" panose="02020603050405020304" pitchFamily="18" charset="0"/>
              </a:defRPr>
            </a:lvl2pPr>
            <a:lvl3pPr marL="1117600" indent="-222250" defTabSz="925513">
              <a:spcBef>
                <a:spcPct val="30000"/>
              </a:spcBef>
              <a:defRPr sz="1200">
                <a:solidFill>
                  <a:schemeClr val="tx1"/>
                </a:solidFill>
                <a:latin typeface="Times New Roman" panose="02020603050405020304" pitchFamily="18" charset="0"/>
              </a:defRPr>
            </a:lvl3pPr>
            <a:lvl4pPr marL="1563688" indent="-222250" defTabSz="925513">
              <a:spcBef>
                <a:spcPct val="30000"/>
              </a:spcBef>
              <a:defRPr sz="1200">
                <a:solidFill>
                  <a:schemeClr val="tx1"/>
                </a:solidFill>
                <a:latin typeface="Times New Roman" panose="02020603050405020304" pitchFamily="18" charset="0"/>
              </a:defRPr>
            </a:lvl4pPr>
            <a:lvl5pPr marL="2011363" indent="-222250" defTabSz="925513">
              <a:spcBef>
                <a:spcPct val="30000"/>
              </a:spcBef>
              <a:defRPr sz="1200">
                <a:solidFill>
                  <a:schemeClr val="tx1"/>
                </a:solidFill>
                <a:latin typeface="Times New Roman" panose="02020603050405020304" pitchFamily="18" charset="0"/>
              </a:defRPr>
            </a:lvl5pPr>
            <a:lvl6pPr marL="2468563" indent="-22225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25763" indent="-22225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382963" indent="-22225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40163" indent="-22225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33795" name="Rectangle 7"/>
          <p:cNvSpPr>
            <a:spLocks noGrp="1" noChangeArrowheads="1"/>
          </p:cNvSpPr>
          <p:nvPr>
            <p:ph type="sldNum" sz="quarter" idx="5"/>
          </p:nvPr>
        </p:nvSpPr>
        <p:spPr>
          <a:noFill/>
        </p:spPr>
        <p:txBody>
          <a:bodyPr/>
          <a:lstStyle>
            <a:lvl1pPr defTabSz="925513">
              <a:spcBef>
                <a:spcPct val="30000"/>
              </a:spcBef>
              <a:defRPr sz="1200">
                <a:solidFill>
                  <a:schemeClr val="tx1"/>
                </a:solidFill>
                <a:latin typeface="Times New Roman" panose="02020603050405020304" pitchFamily="18" charset="0"/>
              </a:defRPr>
            </a:lvl1pPr>
            <a:lvl2pPr marL="725488" indent="-279400" defTabSz="925513">
              <a:spcBef>
                <a:spcPct val="30000"/>
              </a:spcBef>
              <a:defRPr sz="1200">
                <a:solidFill>
                  <a:schemeClr val="tx1"/>
                </a:solidFill>
                <a:latin typeface="Times New Roman" panose="02020603050405020304" pitchFamily="18" charset="0"/>
              </a:defRPr>
            </a:lvl2pPr>
            <a:lvl3pPr marL="1117600" indent="-222250" defTabSz="925513">
              <a:spcBef>
                <a:spcPct val="30000"/>
              </a:spcBef>
              <a:defRPr sz="1200">
                <a:solidFill>
                  <a:schemeClr val="tx1"/>
                </a:solidFill>
                <a:latin typeface="Times New Roman" panose="02020603050405020304" pitchFamily="18" charset="0"/>
              </a:defRPr>
            </a:lvl3pPr>
            <a:lvl4pPr marL="1563688" indent="-222250" defTabSz="925513">
              <a:spcBef>
                <a:spcPct val="30000"/>
              </a:spcBef>
              <a:defRPr sz="1200">
                <a:solidFill>
                  <a:schemeClr val="tx1"/>
                </a:solidFill>
                <a:latin typeface="Times New Roman" panose="02020603050405020304" pitchFamily="18" charset="0"/>
              </a:defRPr>
            </a:lvl4pPr>
            <a:lvl5pPr marL="2011363" indent="-222250" defTabSz="925513">
              <a:spcBef>
                <a:spcPct val="30000"/>
              </a:spcBef>
              <a:defRPr sz="1200">
                <a:solidFill>
                  <a:schemeClr val="tx1"/>
                </a:solidFill>
                <a:latin typeface="Times New Roman" panose="02020603050405020304" pitchFamily="18" charset="0"/>
              </a:defRPr>
            </a:lvl5pPr>
            <a:lvl6pPr marL="2468563" indent="-22225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25763" indent="-22225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382963" indent="-22225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40163" indent="-22225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C2B2971-EEEC-4DB5-A791-F44112FA082C}" type="slidenum">
              <a:rPr lang="zh-CN" altLang="en-US"/>
              <a:pPr>
                <a:spcBef>
                  <a:spcPct val="0"/>
                </a:spcBef>
              </a:pPr>
              <a:t>30</a:t>
            </a:fld>
            <a:endParaRPr lang="en-US" altLang="zh-CN"/>
          </a:p>
        </p:txBody>
      </p:sp>
      <p:sp>
        <p:nvSpPr>
          <p:cNvPr id="33796" name="Rectangle 2"/>
          <p:cNvSpPr>
            <a:spLocks noGrp="1" noRot="1" noChangeAspect="1" noChangeArrowheads="1" noTextEdit="1"/>
          </p:cNvSpPr>
          <p:nvPr>
            <p:ph type="sldImg"/>
          </p:nvPr>
        </p:nvSpPr>
        <p:spPr>
          <a:xfrm>
            <a:off x="1198563" y="693738"/>
            <a:ext cx="4616450" cy="3462337"/>
          </a:xfrm>
          <a:ln/>
        </p:spPr>
      </p:sp>
      <p:sp>
        <p:nvSpPr>
          <p:cNvPr id="33797" name="Rectangle 3"/>
          <p:cNvSpPr>
            <a:spLocks noGrp="1" noChangeArrowheads="1"/>
          </p:cNvSpPr>
          <p:nvPr>
            <p:ph type="body" idx="1"/>
          </p:nvPr>
        </p:nvSpPr>
        <p:spPr>
          <a:xfrm>
            <a:off x="700088" y="4387850"/>
            <a:ext cx="5610225" cy="4156075"/>
          </a:xfrm>
          <a:noFill/>
        </p:spPr>
        <p:txBody>
          <a:bodyPr/>
          <a:lstStyle/>
          <a:p>
            <a:pPr eaLnBrk="1" hangingPunct="1"/>
            <a:r>
              <a:rPr lang="en-AU" altLang="zh-TW">
                <a:cs typeface="PMingLiU"/>
              </a:rPr>
              <a:t>So far all the cryptosystems discussed have been private/secret/single key (symmetric) systems. All classical, and modern block and stream ciphers are of this form. </a:t>
            </a:r>
          </a:p>
        </p:txBody>
      </p:sp>
    </p:spTree>
    <p:extLst>
      <p:ext uri="{BB962C8B-B14F-4D97-AF65-F5344CB8AC3E}">
        <p14:creationId xmlns:p14="http://schemas.microsoft.com/office/powerpoint/2010/main" val="3528365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32771"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6E34B5F-E907-47E5-B479-330378C94481}" type="slidenum">
              <a:rPr lang="zh-CN" altLang="en-US" smtClean="0"/>
              <a:pPr>
                <a:spcBef>
                  <a:spcPct val="0"/>
                </a:spcBef>
              </a:pPr>
              <a:t>31</a:t>
            </a:fld>
            <a:endParaRPr lang="en-US" altLang="zh-CN"/>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xfrm>
            <a:off x="955675" y="4487863"/>
            <a:ext cx="5251450" cy="4252912"/>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extLst>
      <p:ext uri="{BB962C8B-B14F-4D97-AF65-F5344CB8AC3E}">
        <p14:creationId xmlns:p14="http://schemas.microsoft.com/office/powerpoint/2010/main" val="22444766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34819"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2B0AD2-EAAF-4A0B-9243-78EC6A347B3D}" type="slidenum">
              <a:rPr lang="zh-CN" altLang="en-US" smtClean="0"/>
              <a:pPr>
                <a:spcBef>
                  <a:spcPct val="0"/>
                </a:spcBef>
              </a:pPr>
              <a:t>32</a:t>
            </a:fld>
            <a:endParaRPr lang="en-US" altLang="zh-CN"/>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xfrm>
            <a:off x="715963" y="4487863"/>
            <a:ext cx="5730875" cy="4252912"/>
          </a:xfrm>
          <a:noFill/>
        </p:spPr>
        <p:txBody>
          <a:bodyPr/>
          <a:lstStyle/>
          <a:p>
            <a:pPr eaLnBrk="1" hangingPunct="1"/>
            <a:r>
              <a:rPr lang="en-AU" altLang="en-US"/>
              <a:t>These are the specifications for good hash functions. Essentially it must be extremely difficult to find 2 messages with the same hash, and the hash should not be related to the message in any obvious way (ie it should be a complex non-linear function of the message). There are quite a few similarities in the evolution of hash functions &amp; block ciphers, and in the evolution of the design requirements on both. </a:t>
            </a:r>
          </a:p>
        </p:txBody>
      </p:sp>
    </p:spTree>
    <p:extLst>
      <p:ext uri="{BB962C8B-B14F-4D97-AF65-F5344CB8AC3E}">
        <p14:creationId xmlns:p14="http://schemas.microsoft.com/office/powerpoint/2010/main" val="3481278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ftr" sz="quarter" idx="4"/>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38915" name="Rectangle 7"/>
          <p:cNvSpPr>
            <a:spLocks noGrp="1" noChangeArrowheads="1"/>
          </p:cNvSpPr>
          <p:nvPr>
            <p:ph type="sldNum" sz="quarter" idx="5"/>
          </p:nvPr>
        </p:nvSpPr>
        <p:spPr>
          <a:noFill/>
        </p:spPr>
        <p:txBody>
          <a:bodyPr/>
          <a:lstStyle>
            <a:lvl1pPr defTabSz="946150">
              <a:spcBef>
                <a:spcPct val="30000"/>
              </a:spcBef>
              <a:defRPr sz="1200">
                <a:solidFill>
                  <a:schemeClr val="tx1"/>
                </a:solidFill>
                <a:latin typeface="Times New Roman" panose="02020603050405020304" pitchFamily="18" charset="0"/>
              </a:defRPr>
            </a:lvl1pPr>
            <a:lvl2pPr marL="755650" indent="-290513" defTabSz="946150">
              <a:spcBef>
                <a:spcPct val="30000"/>
              </a:spcBef>
              <a:defRPr sz="1200">
                <a:solidFill>
                  <a:schemeClr val="tx1"/>
                </a:solidFill>
                <a:latin typeface="Times New Roman" panose="02020603050405020304" pitchFamily="18" charset="0"/>
              </a:defRPr>
            </a:lvl2pPr>
            <a:lvl3pPr marL="1163638" indent="-231775" defTabSz="946150">
              <a:spcBef>
                <a:spcPct val="30000"/>
              </a:spcBef>
              <a:defRPr sz="1200">
                <a:solidFill>
                  <a:schemeClr val="tx1"/>
                </a:solidFill>
                <a:latin typeface="Times New Roman" panose="02020603050405020304" pitchFamily="18" charset="0"/>
              </a:defRPr>
            </a:lvl3pPr>
            <a:lvl4pPr marL="1628775" indent="-231775" defTabSz="946150">
              <a:spcBef>
                <a:spcPct val="30000"/>
              </a:spcBef>
              <a:defRPr sz="1200">
                <a:solidFill>
                  <a:schemeClr val="tx1"/>
                </a:solidFill>
                <a:latin typeface="Times New Roman" panose="02020603050405020304" pitchFamily="18" charset="0"/>
              </a:defRPr>
            </a:lvl4pPr>
            <a:lvl5pPr marL="2095500" indent="-231775" defTabSz="946150">
              <a:spcBef>
                <a:spcPct val="30000"/>
              </a:spcBef>
              <a:defRPr sz="1200">
                <a:solidFill>
                  <a:schemeClr val="tx1"/>
                </a:solidFill>
                <a:latin typeface="Times New Roman" panose="02020603050405020304" pitchFamily="18" charset="0"/>
              </a:defRPr>
            </a:lvl5pPr>
            <a:lvl6pPr marL="2552700" indent="-231775" defTabSz="946150" eaLnBrk="0" fontAlgn="base" hangingPunct="0">
              <a:spcBef>
                <a:spcPct val="30000"/>
              </a:spcBef>
              <a:spcAft>
                <a:spcPct val="0"/>
              </a:spcAft>
              <a:defRPr sz="1200">
                <a:solidFill>
                  <a:schemeClr val="tx1"/>
                </a:solidFill>
                <a:latin typeface="Times New Roman" panose="02020603050405020304" pitchFamily="18" charset="0"/>
              </a:defRPr>
            </a:lvl6pPr>
            <a:lvl7pPr marL="3009900" indent="-231775" defTabSz="946150" eaLnBrk="0" fontAlgn="base" hangingPunct="0">
              <a:spcBef>
                <a:spcPct val="30000"/>
              </a:spcBef>
              <a:spcAft>
                <a:spcPct val="0"/>
              </a:spcAft>
              <a:defRPr sz="1200">
                <a:solidFill>
                  <a:schemeClr val="tx1"/>
                </a:solidFill>
                <a:latin typeface="Times New Roman" panose="02020603050405020304" pitchFamily="18" charset="0"/>
              </a:defRPr>
            </a:lvl7pPr>
            <a:lvl8pPr marL="3467100" indent="-231775" defTabSz="946150" eaLnBrk="0" fontAlgn="base" hangingPunct="0">
              <a:spcBef>
                <a:spcPct val="30000"/>
              </a:spcBef>
              <a:spcAft>
                <a:spcPct val="0"/>
              </a:spcAft>
              <a:defRPr sz="1200">
                <a:solidFill>
                  <a:schemeClr val="tx1"/>
                </a:solidFill>
                <a:latin typeface="Times New Roman" panose="02020603050405020304" pitchFamily="18" charset="0"/>
              </a:defRPr>
            </a:lvl8pPr>
            <a:lvl9pPr marL="3924300" indent="-231775" defTabSz="94615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0325BF-2230-463D-AAA8-2DAFF1F86E29}" type="slidenum">
              <a:rPr lang="zh-CN" altLang="en-US" smtClean="0"/>
              <a:pPr>
                <a:spcBef>
                  <a:spcPct val="0"/>
                </a:spcBef>
              </a:pPr>
              <a:t>33</a:t>
            </a:fld>
            <a:endParaRPr lang="en-US" altLang="zh-CN"/>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xfrm>
            <a:off x="955675" y="4487863"/>
            <a:ext cx="5251450" cy="4252912"/>
          </a:xfrm>
          <a:noFill/>
        </p:spPr>
        <p:txBody>
          <a:bodyPr/>
          <a:lstStyle/>
          <a:p>
            <a:pPr eaLnBrk="1" hangingPunct="1"/>
            <a:r>
              <a:rPr lang="en-US" altLang="en-US"/>
              <a:t>All security policies and mechanisms rest on assumptions; we’ll examine some in later chapters, most notably Chapter 22, Malicious Logic. Here is a taste of the assumptions.</a:t>
            </a:r>
          </a:p>
          <a:p>
            <a:pPr eaLnBrk="1" hangingPunct="1"/>
            <a:r>
              <a:rPr lang="en-US" altLang="en-US"/>
              <a:t>Policies: as these define security, they have to define security correctly for the particular site. For example, a web site has to be available, but if the security policy does not mention availability, the definition of security is inappropriate for the site. Also, a policy may not specify whether a particular state is “secure” or “non-secure.” This ambiguity causes problems.</a:t>
            </a:r>
          </a:p>
          <a:p>
            <a:pPr eaLnBrk="1" hangingPunct="1"/>
            <a:r>
              <a:rPr lang="en-US" altLang="en-US"/>
              <a:t>Mechanisms: as these enforce policy, they must be appropriate. For example, cryptography does not assure availability, so using cryptography in the above situation won’t work. Further, security mechanisms rely on supporting infrastructure, such as compilers, libraries, the hardware, and networks to work correctly. Ken Thompson’s modified C preprocessor (see the example on p. 615) illustrates this point very well.</a:t>
            </a:r>
          </a:p>
        </p:txBody>
      </p:sp>
    </p:spTree>
    <p:extLst>
      <p:ext uri="{BB962C8B-B14F-4D97-AF65-F5344CB8AC3E}">
        <p14:creationId xmlns:p14="http://schemas.microsoft.com/office/powerpoint/2010/main" val="1609419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A007A39-3074-A34C-A95E-587010642FD0}"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695395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716310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007A39-3074-A34C-A95E-587010642FD0}"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48960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007A39-3074-A34C-A95E-587010642FD0}"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30969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007A39-3074-A34C-A95E-587010642FD0}"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461814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007A39-3074-A34C-A95E-587010642FD0}"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864581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007A39-3074-A34C-A95E-587010642FD0}"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3433966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07A39-3074-A34C-A95E-587010642FD0}"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869955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007A39-3074-A34C-A95E-587010642FD0}"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1502250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266906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007A39-3074-A34C-A95E-587010642FD0}"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5ADB5E-D28B-3444-88F5-97AE990B862E}" type="slidenum">
              <a:rPr lang="en-US" smtClean="0"/>
              <a:t>‹#›</a:t>
            </a:fld>
            <a:endParaRPr lang="en-US"/>
          </a:p>
        </p:txBody>
      </p:sp>
    </p:spTree>
    <p:extLst>
      <p:ext uri="{BB962C8B-B14F-4D97-AF65-F5344CB8AC3E}">
        <p14:creationId xmlns:p14="http://schemas.microsoft.com/office/powerpoint/2010/main" val="7178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007A39-3074-A34C-A95E-587010642FD0}" type="datetimeFigureOut">
              <a:rPr lang="en-US" smtClean="0"/>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ADB5E-D28B-3444-88F5-97AE990B862E}" type="slidenum">
              <a:rPr lang="en-US" smtClean="0"/>
              <a:t>‹#›</a:t>
            </a:fld>
            <a:endParaRPr lang="en-US"/>
          </a:p>
        </p:txBody>
      </p:sp>
    </p:spTree>
    <p:extLst>
      <p:ext uri="{BB962C8B-B14F-4D97-AF65-F5344CB8AC3E}">
        <p14:creationId xmlns:p14="http://schemas.microsoft.com/office/powerpoint/2010/main" val="3707798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CEG 4424/6424 Midterm Review</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95046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Time and Location</a:t>
            </a:r>
          </a:p>
        </p:txBody>
      </p:sp>
      <p:sp>
        <p:nvSpPr>
          <p:cNvPr id="3" name="Content Placeholder 2"/>
          <p:cNvSpPr>
            <a:spLocks noGrp="1"/>
          </p:cNvSpPr>
          <p:nvPr>
            <p:ph idx="1"/>
          </p:nvPr>
        </p:nvSpPr>
        <p:spPr/>
        <p:txBody>
          <a:bodyPr>
            <a:normAutofit/>
          </a:bodyPr>
          <a:lstStyle/>
          <a:p>
            <a:pPr marL="0" indent="0">
              <a:buNone/>
            </a:pPr>
            <a:endParaRPr lang="en-US" dirty="0"/>
          </a:p>
          <a:p>
            <a:r>
              <a:rPr lang="en-US" dirty="0"/>
              <a:t>All students will take the online exam. </a:t>
            </a:r>
          </a:p>
          <a:p>
            <a:pPr lvl="1"/>
            <a:r>
              <a:rPr lang="en-US" dirty="0"/>
              <a:t>the exam will be available Oct. 8th, 2025 (Wed.), 10:00AM  to 10:00PM, EST</a:t>
            </a:r>
          </a:p>
          <a:p>
            <a:pPr lvl="1"/>
            <a:r>
              <a:rPr lang="en-US" b="1" dirty="0"/>
              <a:t>You will have 100 minutes to finish the midterm exam. </a:t>
            </a:r>
          </a:p>
          <a:p>
            <a:pPr lvl="1"/>
            <a:r>
              <a:rPr lang="en-US" b="1" dirty="0"/>
              <a:t>Students registered with the disability office will have 150 minutes.</a:t>
            </a:r>
            <a:endParaRPr lang="en-US" dirty="0"/>
          </a:p>
        </p:txBody>
      </p:sp>
    </p:spTree>
    <p:extLst>
      <p:ext uri="{BB962C8B-B14F-4D97-AF65-F5344CB8AC3E}">
        <p14:creationId xmlns:p14="http://schemas.microsoft.com/office/powerpoint/2010/main" val="3551120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Policy</a:t>
            </a:r>
          </a:p>
        </p:txBody>
      </p:sp>
      <p:sp>
        <p:nvSpPr>
          <p:cNvPr id="3" name="Content Placeholder 2"/>
          <p:cNvSpPr>
            <a:spLocks noGrp="1"/>
          </p:cNvSpPr>
          <p:nvPr>
            <p:ph idx="1"/>
          </p:nvPr>
        </p:nvSpPr>
        <p:spPr/>
        <p:txBody>
          <a:bodyPr>
            <a:normAutofit fontScale="77500" lnSpcReduction="20000"/>
          </a:bodyPr>
          <a:lstStyle/>
          <a:p>
            <a:pPr lvl="0"/>
            <a:r>
              <a:rPr lang="en-US" dirty="0"/>
              <a:t>This is a close-book midterm (you can use a hand-written cheat sheet)</a:t>
            </a:r>
          </a:p>
          <a:p>
            <a:pPr lvl="0"/>
            <a:r>
              <a:rPr lang="en-US" dirty="0"/>
              <a:t>You have totally 100 minutes to finish the midterm exam</a:t>
            </a:r>
          </a:p>
          <a:p>
            <a:pPr lvl="0"/>
            <a:r>
              <a:rPr lang="en-US" dirty="0"/>
              <a:t>You are not allowed to collaborate with other students during the exam</a:t>
            </a:r>
          </a:p>
          <a:p>
            <a:pPr lvl="0"/>
            <a:r>
              <a:rPr lang="en-US" dirty="0"/>
              <a:t>No aid given, received, or observed.</a:t>
            </a:r>
          </a:p>
          <a:p>
            <a:pPr lvl="0"/>
            <a:r>
              <a:rPr lang="en-US" dirty="0"/>
              <a:t>If your answers are not clear, you will lose points for them</a:t>
            </a:r>
          </a:p>
          <a:p>
            <a:pPr lvl="0"/>
            <a:r>
              <a:rPr lang="en-US" dirty="0"/>
              <a:t>You will be given credits only for what appears on your exam.</a:t>
            </a:r>
          </a:p>
          <a:p>
            <a:pPr lvl="0"/>
            <a:r>
              <a:rPr lang="en-US" dirty="0"/>
              <a:t>Students should never share questions or answers of this exam with other students</a:t>
            </a:r>
          </a:p>
        </p:txBody>
      </p:sp>
    </p:spTree>
    <p:extLst>
      <p:ext uri="{BB962C8B-B14F-4D97-AF65-F5344CB8AC3E}">
        <p14:creationId xmlns:p14="http://schemas.microsoft.com/office/powerpoint/2010/main" val="2146284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noChangeArrowheads="1"/>
          </p:cNvSpPr>
          <p:nvPr>
            <p:ph type="title"/>
          </p:nvPr>
        </p:nvSpPr>
        <p:spPr/>
        <p:txBody>
          <a:bodyPr/>
          <a:lstStyle/>
          <a:p>
            <a:r>
              <a:rPr lang="en-US" altLang="en-US" dirty="0">
                <a:solidFill>
                  <a:srgbClr val="C00000"/>
                </a:solidFill>
              </a:rPr>
              <a:t>Questions</a:t>
            </a:r>
          </a:p>
        </p:txBody>
      </p:sp>
      <p:sp>
        <p:nvSpPr>
          <p:cNvPr id="8195" name="Content Placeholder 2"/>
          <p:cNvSpPr>
            <a:spLocks noGrp="1" noChangeArrowheads="1"/>
          </p:cNvSpPr>
          <p:nvPr>
            <p:ph idx="1"/>
          </p:nvPr>
        </p:nvSpPr>
        <p:spPr/>
        <p:txBody>
          <a:bodyPr/>
          <a:lstStyle/>
          <a:p>
            <a:r>
              <a:rPr lang="en-US" altLang="en-US" dirty="0"/>
              <a:t>Questions</a:t>
            </a:r>
          </a:p>
          <a:p>
            <a:pPr lvl="1"/>
            <a:r>
              <a:rPr lang="en-US" altLang="en-US" dirty="0"/>
              <a:t>True/False</a:t>
            </a:r>
          </a:p>
          <a:p>
            <a:pPr lvl="1"/>
            <a:r>
              <a:rPr lang="en-US" altLang="en-US" dirty="0"/>
              <a:t>Filling blanks</a:t>
            </a:r>
          </a:p>
          <a:p>
            <a:pPr lvl="1"/>
            <a:r>
              <a:rPr lang="en-US" altLang="en-US" dirty="0"/>
              <a:t>Multiple choices</a:t>
            </a:r>
          </a:p>
          <a:p>
            <a:pPr lvl="1"/>
            <a:r>
              <a:rPr lang="en-US" altLang="en-US" dirty="0"/>
              <a:t>Short questions</a:t>
            </a:r>
          </a:p>
          <a:p>
            <a:pPr lvl="1"/>
            <a:r>
              <a:rPr lang="en-US" altLang="en-US" dirty="0"/>
              <a:t>Computation questions</a:t>
            </a:r>
          </a:p>
        </p:txBody>
      </p:sp>
    </p:spTree>
    <p:extLst>
      <p:ext uri="{BB962C8B-B14F-4D97-AF65-F5344CB8AC3E}">
        <p14:creationId xmlns:p14="http://schemas.microsoft.com/office/powerpoint/2010/main" val="82729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17C1-E44D-444A-B76D-066BE770AEBC}"/>
              </a:ext>
            </a:extLst>
          </p:cNvPr>
          <p:cNvSpPr>
            <a:spLocks noGrp="1"/>
          </p:cNvSpPr>
          <p:nvPr>
            <p:ph type="title"/>
          </p:nvPr>
        </p:nvSpPr>
        <p:spPr/>
        <p:txBody>
          <a:bodyPr/>
          <a:lstStyle/>
          <a:p>
            <a:r>
              <a:rPr lang="en-US" dirty="0">
                <a:solidFill>
                  <a:srgbClr val="C00000"/>
                </a:solidFill>
              </a:rPr>
              <a:t>Topics</a:t>
            </a:r>
          </a:p>
        </p:txBody>
      </p:sp>
      <p:sp>
        <p:nvSpPr>
          <p:cNvPr id="3" name="Content Placeholder 2">
            <a:extLst>
              <a:ext uri="{FF2B5EF4-FFF2-40B4-BE49-F238E27FC236}">
                <a16:creationId xmlns:a16="http://schemas.microsoft.com/office/drawing/2014/main" id="{6D5F70CF-292E-C848-8970-FC2B927D64B5}"/>
              </a:ext>
            </a:extLst>
          </p:cNvPr>
          <p:cNvSpPr>
            <a:spLocks noGrp="1"/>
          </p:cNvSpPr>
          <p:nvPr>
            <p:ph idx="1"/>
          </p:nvPr>
        </p:nvSpPr>
        <p:spPr>
          <a:xfrm>
            <a:off x="457200" y="1215521"/>
            <a:ext cx="8229600" cy="4525963"/>
          </a:xfrm>
        </p:spPr>
        <p:txBody>
          <a:bodyPr>
            <a:normAutofit fontScale="92500" lnSpcReduction="20000"/>
          </a:bodyPr>
          <a:lstStyle/>
          <a:p>
            <a:r>
              <a:rPr lang="en-US" sz="2600" dirty="0"/>
              <a:t>Basic concepts</a:t>
            </a:r>
          </a:p>
          <a:p>
            <a:pPr lvl="1"/>
            <a:r>
              <a:rPr lang="en-US" sz="2000" dirty="0"/>
              <a:t>CIA triad, Security Objectives, Security Services, Security Features</a:t>
            </a:r>
          </a:p>
          <a:p>
            <a:pPr marL="457200" lvl="1" indent="0">
              <a:buNone/>
            </a:pPr>
            <a:endParaRPr lang="en-US" sz="2000" dirty="0"/>
          </a:p>
          <a:p>
            <a:r>
              <a:rPr lang="en-US" sz="2400" dirty="0"/>
              <a:t>Security Models</a:t>
            </a:r>
          </a:p>
          <a:p>
            <a:r>
              <a:rPr lang="en-US" sz="2600" dirty="0"/>
              <a:t>Design principles</a:t>
            </a:r>
          </a:p>
          <a:p>
            <a:pPr lvl="1"/>
            <a:r>
              <a:rPr lang="en-US" sz="2000" dirty="0"/>
              <a:t>Least privilege</a:t>
            </a:r>
          </a:p>
          <a:p>
            <a:pPr lvl="1"/>
            <a:r>
              <a:rPr lang="en-US" sz="2000" dirty="0"/>
              <a:t>Separation of privilege</a:t>
            </a:r>
          </a:p>
          <a:p>
            <a:pPr lvl="1"/>
            <a:r>
              <a:rPr lang="en-US" dirty="0"/>
              <a:t>……</a:t>
            </a:r>
          </a:p>
          <a:p>
            <a:r>
              <a:rPr lang="en-US" sz="2400" dirty="0"/>
              <a:t>Stream Cipher &amp; Block Cipher</a:t>
            </a:r>
          </a:p>
          <a:p>
            <a:r>
              <a:rPr lang="en-US" sz="2400" dirty="0"/>
              <a:t>AES (Advanced Encryption Standard)</a:t>
            </a:r>
          </a:p>
          <a:p>
            <a:r>
              <a:rPr lang="en-US" sz="2400" dirty="0"/>
              <a:t>Block Cipher Mode of Operations</a:t>
            </a:r>
          </a:p>
          <a:p>
            <a:pPr marL="342900" lvl="1" indent="-342900">
              <a:buFont typeface="Arial"/>
              <a:buChar char="•"/>
            </a:pPr>
            <a:r>
              <a:rPr lang="en-US" altLang="en-US" sz="2400" dirty="0"/>
              <a:t>RSA Algorithm (Key generation, Encryption, Decryption)</a:t>
            </a:r>
          </a:p>
          <a:p>
            <a:pPr marL="342900" lvl="1" indent="-342900">
              <a:buFont typeface="Arial"/>
              <a:buChar char="•"/>
            </a:pPr>
            <a:r>
              <a:rPr lang="en-US" sz="2400" dirty="0"/>
              <a:t>Cryptographic Hash</a:t>
            </a:r>
          </a:p>
          <a:p>
            <a:pPr marL="342900" lvl="1" indent="-342900">
              <a:buFont typeface="Arial"/>
              <a:buChar char="•"/>
            </a:pPr>
            <a:endParaRPr lang="en-US" altLang="en-US" sz="2600" dirty="0"/>
          </a:p>
          <a:p>
            <a:endParaRPr lang="en-US" sz="2400" dirty="0"/>
          </a:p>
          <a:p>
            <a:endParaRPr lang="en-US" sz="2400" dirty="0"/>
          </a:p>
          <a:p>
            <a:endParaRPr lang="en-US" dirty="0"/>
          </a:p>
        </p:txBody>
      </p:sp>
    </p:spTree>
    <p:extLst>
      <p:ext uri="{BB962C8B-B14F-4D97-AF65-F5344CB8AC3E}">
        <p14:creationId xmlns:p14="http://schemas.microsoft.com/office/powerpoint/2010/main" val="4193656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Objectives</a:t>
            </a:r>
          </a:p>
        </p:txBody>
      </p:sp>
      <p:grpSp>
        <p:nvGrpSpPr>
          <p:cNvPr id="3" name="Group 2"/>
          <p:cNvGrpSpPr/>
          <p:nvPr/>
        </p:nvGrpSpPr>
        <p:grpSpPr>
          <a:xfrm>
            <a:off x="3324266" y="3466405"/>
            <a:ext cx="2592705" cy="2775496"/>
            <a:chOff x="3324266" y="2493947"/>
            <a:chExt cx="2592705" cy="2775496"/>
          </a:xfrm>
        </p:grpSpPr>
        <p:sp>
          <p:nvSpPr>
            <p:cNvPr id="5" name="Isosceles Triangle 4"/>
            <p:cNvSpPr/>
            <p:nvPr/>
          </p:nvSpPr>
          <p:spPr>
            <a:xfrm>
              <a:off x="3400323" y="2720257"/>
              <a:ext cx="2400710" cy="1884517"/>
            </a:xfrm>
            <a:prstGeom prst="triangl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Digital Assets</a:t>
              </a:r>
            </a:p>
          </p:txBody>
        </p:sp>
        <p:sp>
          <p:nvSpPr>
            <p:cNvPr id="6" name="Rectangle 5"/>
            <p:cNvSpPr/>
            <p:nvPr/>
          </p:nvSpPr>
          <p:spPr>
            <a:xfrm rot="18171636">
              <a:off x="2802950" y="3541668"/>
              <a:ext cx="2231253"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rot="3492452">
              <a:off x="4146671" y="3539839"/>
              <a:ext cx="2231253"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3361254" y="4604774"/>
              <a:ext cx="2442469"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rot="18304838">
              <a:off x="2646516" y="3184871"/>
              <a:ext cx="1755609" cy="400110"/>
            </a:xfrm>
            <a:prstGeom prst="rect">
              <a:avLst/>
            </a:prstGeom>
            <a:noFill/>
          </p:spPr>
          <p:txBody>
            <a:bodyPr wrap="none" rtlCol="0">
              <a:spAutoFit/>
            </a:bodyPr>
            <a:lstStyle/>
            <a:p>
              <a:r>
                <a:rPr lang="en-US" sz="2000" b="1" dirty="0"/>
                <a:t>Confidentiality</a:t>
              </a:r>
            </a:p>
          </p:txBody>
        </p:sp>
        <p:sp>
          <p:nvSpPr>
            <p:cNvPr id="10" name="TextBox 9"/>
            <p:cNvSpPr txBox="1"/>
            <p:nvPr/>
          </p:nvSpPr>
          <p:spPr>
            <a:xfrm rot="3462918">
              <a:off x="5169330" y="3273494"/>
              <a:ext cx="1095172" cy="400110"/>
            </a:xfrm>
            <a:prstGeom prst="rect">
              <a:avLst/>
            </a:prstGeom>
            <a:noFill/>
          </p:spPr>
          <p:txBody>
            <a:bodyPr wrap="none" rtlCol="0">
              <a:spAutoFit/>
            </a:bodyPr>
            <a:lstStyle/>
            <a:p>
              <a:r>
                <a:rPr lang="en-US" sz="2000" b="1" dirty="0"/>
                <a:t>Integrity</a:t>
              </a:r>
            </a:p>
          </p:txBody>
        </p:sp>
        <p:sp>
          <p:nvSpPr>
            <p:cNvPr id="11" name="TextBox 10"/>
            <p:cNvSpPr txBox="1"/>
            <p:nvPr/>
          </p:nvSpPr>
          <p:spPr>
            <a:xfrm>
              <a:off x="3920026" y="4869333"/>
              <a:ext cx="1390475" cy="400110"/>
            </a:xfrm>
            <a:prstGeom prst="rect">
              <a:avLst/>
            </a:prstGeom>
            <a:noFill/>
          </p:spPr>
          <p:txBody>
            <a:bodyPr wrap="none" rtlCol="0">
              <a:spAutoFit/>
            </a:bodyPr>
            <a:lstStyle/>
            <a:p>
              <a:r>
                <a:rPr lang="en-US" sz="2000" b="1" dirty="0"/>
                <a:t>Availability</a:t>
              </a:r>
            </a:p>
          </p:txBody>
        </p:sp>
        <p:pic>
          <p:nvPicPr>
            <p:cNvPr id="13" name="Picture 12" descr="Treasur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330" y="3293807"/>
              <a:ext cx="879930" cy="571444"/>
            </a:xfrm>
            <a:prstGeom prst="rect">
              <a:avLst/>
            </a:prstGeom>
          </p:spPr>
        </p:pic>
      </p:grpSp>
      <p:sp>
        <p:nvSpPr>
          <p:cNvPr id="4" name="Rectangle 3"/>
          <p:cNvSpPr/>
          <p:nvPr/>
        </p:nvSpPr>
        <p:spPr>
          <a:xfrm>
            <a:off x="831804" y="1335122"/>
            <a:ext cx="2543645" cy="1323439"/>
          </a:xfrm>
          <a:prstGeom prst="rect">
            <a:avLst/>
          </a:prstGeom>
        </p:spPr>
        <p:txBody>
          <a:bodyPr wrap="none">
            <a:spAutoFit/>
          </a:bodyPr>
          <a:lstStyle/>
          <a:p>
            <a:r>
              <a:rPr lang="en-US" sz="2000" dirty="0"/>
              <a:t>Security Requirements</a:t>
            </a:r>
          </a:p>
          <a:p>
            <a:r>
              <a:rPr lang="en-US" sz="2000" dirty="0"/>
              <a:t>Security Objectives</a:t>
            </a:r>
          </a:p>
          <a:p>
            <a:r>
              <a:rPr lang="en-US" sz="2000" dirty="0"/>
              <a:t>Security Features</a:t>
            </a:r>
          </a:p>
          <a:p>
            <a:r>
              <a:rPr lang="en-US" sz="2000" dirty="0"/>
              <a:t>Security Services</a:t>
            </a:r>
          </a:p>
        </p:txBody>
      </p:sp>
    </p:spTree>
    <p:extLst>
      <p:ext uri="{BB962C8B-B14F-4D97-AF65-F5344CB8AC3E}">
        <p14:creationId xmlns:p14="http://schemas.microsoft.com/office/powerpoint/2010/main" val="156844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7A98863-B117-D747-ACC0-A68E46F83E1B}"/>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7F86DFE3-1AFE-124A-AC8E-7D06D18FDA67}" type="slidenum">
              <a:rPr lang="en-US" altLang="en-US" sz="1400">
                <a:latin typeface="Times New Roman" panose="02020603050405020304" pitchFamily="18" charset="0"/>
              </a:rPr>
              <a:pPr eaLnBrk="1" hangingPunct="1"/>
              <a:t>7</a:t>
            </a:fld>
            <a:endParaRPr lang="en-US" altLang="en-US" sz="1400">
              <a:latin typeface="Times New Roman" panose="02020603050405020304" pitchFamily="18" charset="0"/>
            </a:endParaRPr>
          </a:p>
        </p:txBody>
      </p:sp>
      <p:sp>
        <p:nvSpPr>
          <p:cNvPr id="186370" name="Rectangle 2">
            <a:extLst>
              <a:ext uri="{FF2B5EF4-FFF2-40B4-BE49-F238E27FC236}">
                <a16:creationId xmlns:a16="http://schemas.microsoft.com/office/drawing/2014/main" id="{8CC45FAA-85B9-AD48-B0D5-262161A311B0}"/>
              </a:ext>
            </a:extLst>
          </p:cNvPr>
          <p:cNvSpPr>
            <a:spLocks noGrp="1" noChangeArrowheads="1"/>
          </p:cNvSpPr>
          <p:nvPr>
            <p:ph type="title"/>
          </p:nvPr>
        </p:nvSpPr>
        <p:spPr/>
        <p:txBody>
          <a:bodyPr/>
          <a:lstStyle/>
          <a:p>
            <a:pPr eaLnBrk="1" hangingPunct="1">
              <a:defRPr/>
            </a:pPr>
            <a:r>
              <a:rPr lang="en-US">
                <a:cs typeface="+mj-cs"/>
              </a:rPr>
              <a:t>Bell-LaPadula</a:t>
            </a:r>
          </a:p>
        </p:txBody>
      </p:sp>
      <p:sp>
        <p:nvSpPr>
          <p:cNvPr id="186371" name="Rectangle 3">
            <a:extLst>
              <a:ext uri="{FF2B5EF4-FFF2-40B4-BE49-F238E27FC236}">
                <a16:creationId xmlns:a16="http://schemas.microsoft.com/office/drawing/2014/main" id="{A35B7B7D-D809-0545-838B-46A2746E94E8}"/>
              </a:ext>
            </a:extLst>
          </p:cNvPr>
          <p:cNvSpPr>
            <a:spLocks noGrp="1" noChangeArrowheads="1"/>
          </p:cNvSpPr>
          <p:nvPr>
            <p:ph type="body" idx="1"/>
          </p:nvPr>
        </p:nvSpPr>
        <p:spPr/>
        <p:txBody>
          <a:bodyPr/>
          <a:lstStyle/>
          <a:p>
            <a:pPr eaLnBrk="1" hangingPunct="1">
              <a:buFont typeface="Wingdings" charset="0"/>
              <a:buChar char="q"/>
              <a:defRPr/>
            </a:pPr>
            <a:r>
              <a:rPr lang="en-US" dirty="0">
                <a:cs typeface="+mn-cs"/>
              </a:rPr>
              <a:t>BLP consists of</a:t>
            </a:r>
          </a:p>
          <a:p>
            <a:pPr lvl="1" eaLnBrk="1" hangingPunct="1">
              <a:buFontTx/>
              <a:buNone/>
              <a:defRPr/>
            </a:pPr>
            <a:r>
              <a:rPr lang="en-US" b="1" dirty="0">
                <a:solidFill>
                  <a:schemeClr val="hlink"/>
                </a:solidFill>
              </a:rPr>
              <a:t>Simple Security Condition</a:t>
            </a:r>
            <a:r>
              <a:rPr lang="en-US" dirty="0"/>
              <a:t>: </a:t>
            </a:r>
            <a:r>
              <a:rPr lang="en-US" dirty="0">
                <a:latin typeface="Times-Roman" charset="0"/>
              </a:rPr>
              <a:t>S</a:t>
            </a:r>
            <a:r>
              <a:rPr lang="en-US" dirty="0"/>
              <a:t> can read </a:t>
            </a:r>
            <a:r>
              <a:rPr lang="en-US" dirty="0">
                <a:latin typeface="Times-Roman" charset="0"/>
              </a:rPr>
              <a:t>O</a:t>
            </a:r>
            <a:r>
              <a:rPr lang="en-US" dirty="0"/>
              <a:t> if and only if </a:t>
            </a:r>
            <a:r>
              <a:rPr lang="en-US" dirty="0">
                <a:latin typeface="Times-Roman" charset="0"/>
              </a:rPr>
              <a:t>L(O) </a:t>
            </a:r>
            <a:r>
              <a:rPr lang="en-US" dirty="0">
                <a:latin typeface="Times-Roman" charset="0"/>
                <a:sym typeface="Symbol" charset="0"/>
              </a:rPr>
              <a:t> L(S)</a:t>
            </a:r>
            <a:endParaRPr lang="en-US" dirty="0">
              <a:sym typeface="Symbol" charset="0"/>
            </a:endParaRPr>
          </a:p>
          <a:p>
            <a:pPr lvl="1" eaLnBrk="1" hangingPunct="1">
              <a:buFontTx/>
              <a:buNone/>
              <a:defRPr/>
            </a:pPr>
            <a:r>
              <a:rPr lang="en-US" b="1" dirty="0">
                <a:solidFill>
                  <a:schemeClr val="hlink"/>
                </a:solidFill>
                <a:sym typeface="Symbol" charset="0"/>
              </a:rPr>
              <a:t>*-Property</a:t>
            </a:r>
            <a:r>
              <a:rPr lang="en-US" dirty="0">
                <a:sym typeface="Symbol" charset="0"/>
              </a:rPr>
              <a:t> (</a:t>
            </a:r>
            <a:r>
              <a:rPr lang="en-US" b="1" dirty="0">
                <a:sym typeface="Symbol" charset="0"/>
              </a:rPr>
              <a:t>Star Property</a:t>
            </a:r>
            <a:r>
              <a:rPr lang="en-US" dirty="0">
                <a:sym typeface="Symbol" charset="0"/>
              </a:rPr>
              <a:t>): </a:t>
            </a:r>
            <a:r>
              <a:rPr lang="en-US" dirty="0">
                <a:latin typeface="Times-Roman" charset="0"/>
                <a:sym typeface="Symbol" charset="0"/>
              </a:rPr>
              <a:t>S</a:t>
            </a:r>
            <a:r>
              <a:rPr lang="en-US" dirty="0">
                <a:sym typeface="Symbol" charset="0"/>
              </a:rPr>
              <a:t> can write </a:t>
            </a:r>
            <a:r>
              <a:rPr lang="en-US" dirty="0">
                <a:latin typeface="Times-Roman" charset="0"/>
                <a:sym typeface="Symbol" charset="0"/>
              </a:rPr>
              <a:t>O</a:t>
            </a:r>
            <a:r>
              <a:rPr lang="en-US" dirty="0">
                <a:sym typeface="Symbol" charset="0"/>
              </a:rPr>
              <a:t> if and only if </a:t>
            </a:r>
            <a:r>
              <a:rPr lang="en-US" dirty="0">
                <a:latin typeface="Times-Roman" charset="0"/>
                <a:sym typeface="Symbol" charset="0"/>
              </a:rPr>
              <a:t>L(S)  L(O)</a:t>
            </a:r>
            <a:endParaRPr lang="en-US" dirty="0">
              <a:sym typeface="Symbol" charset="0"/>
            </a:endParaRPr>
          </a:p>
          <a:p>
            <a:pPr eaLnBrk="1" hangingPunct="1">
              <a:buFont typeface="Wingdings" charset="0"/>
              <a:buChar char="q"/>
              <a:defRPr/>
            </a:pPr>
            <a:r>
              <a:rPr lang="en-US" b="1" dirty="0">
                <a:solidFill>
                  <a:srgbClr val="FF0000"/>
                </a:solidFill>
                <a:cs typeface="+mn-cs"/>
              </a:rPr>
              <a:t>No read up, no write down</a:t>
            </a:r>
            <a:endParaRPr lang="en-US" dirty="0">
              <a:cs typeface="+mn-cs"/>
            </a:endParaRPr>
          </a:p>
        </p:txBody>
      </p:sp>
    </p:spTree>
    <p:extLst>
      <p:ext uri="{BB962C8B-B14F-4D97-AF65-F5344CB8AC3E}">
        <p14:creationId xmlns:p14="http://schemas.microsoft.com/office/powerpoint/2010/main" val="3811220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box(out)">
                                      <p:cBhvr>
                                        <p:cTn id="7" dur="500"/>
                                        <p:tgtEl>
                                          <p:spTgt spid="1863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86371">
                                            <p:txEl>
                                              <p:pRg st="1" end="1"/>
                                            </p:txEl>
                                          </p:spTgt>
                                        </p:tgtEl>
                                        <p:attrNameLst>
                                          <p:attrName>style.visibility</p:attrName>
                                        </p:attrNameLst>
                                      </p:cBhvr>
                                      <p:to>
                                        <p:strVal val="visible"/>
                                      </p:to>
                                    </p:set>
                                    <p:animEffect transition="in" filter="box(out)">
                                      <p:cBhvr>
                                        <p:cTn id="10" dur="500"/>
                                        <p:tgtEl>
                                          <p:spTgt spid="18637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186371">
                                            <p:txEl>
                                              <p:pRg st="2" end="2"/>
                                            </p:txEl>
                                          </p:spTgt>
                                        </p:tgtEl>
                                        <p:attrNameLst>
                                          <p:attrName>style.visibility</p:attrName>
                                        </p:attrNameLst>
                                      </p:cBhvr>
                                      <p:to>
                                        <p:strVal val="visible"/>
                                      </p:to>
                                    </p:set>
                                    <p:animEffect transition="in" filter="box(out)">
                                      <p:cBhvr>
                                        <p:cTn id="13" dur="500"/>
                                        <p:tgtEl>
                                          <p:spTgt spid="186371">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86371">
                                            <p:txEl>
                                              <p:pRg st="3" end="3"/>
                                            </p:txEl>
                                          </p:spTgt>
                                        </p:tgtEl>
                                        <p:attrNameLst>
                                          <p:attrName>style.visibility</p:attrName>
                                        </p:attrNameLst>
                                      </p:cBhvr>
                                      <p:to>
                                        <p:strVal val="visible"/>
                                      </p:to>
                                    </p:set>
                                    <p:animEffect transition="in" filter="box(out)">
                                      <p:cBhvr>
                                        <p:cTn id="18" dur="500"/>
                                        <p:tgtEl>
                                          <p:spTgt spid="186371">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2D83-55AF-A846-AF6F-9F35DC79AC8C}"/>
              </a:ext>
            </a:extLst>
          </p:cNvPr>
          <p:cNvSpPr>
            <a:spLocks noGrp="1"/>
          </p:cNvSpPr>
          <p:nvPr>
            <p:ph type="title"/>
          </p:nvPr>
        </p:nvSpPr>
        <p:spPr/>
        <p:txBody>
          <a:bodyPr/>
          <a:lstStyle/>
          <a:p>
            <a:pPr eaLnBrk="1" hangingPunct="1"/>
            <a:r>
              <a:rPr lang="en-US" altLang="en-US" sz="4000" dirty="0"/>
              <a:t>Biba’s Model (Strict Integrity Policy)</a:t>
            </a:r>
          </a:p>
        </p:txBody>
      </p:sp>
      <p:sp>
        <p:nvSpPr>
          <p:cNvPr id="3" name="Content Placeholder 2">
            <a:extLst>
              <a:ext uri="{FF2B5EF4-FFF2-40B4-BE49-F238E27FC236}">
                <a16:creationId xmlns:a16="http://schemas.microsoft.com/office/drawing/2014/main" id="{3D31B6F3-FFD4-CD45-846E-406DF4424E3A}"/>
              </a:ext>
            </a:extLst>
          </p:cNvPr>
          <p:cNvSpPr>
            <a:spLocks noGrp="1"/>
          </p:cNvSpPr>
          <p:nvPr>
            <p:ph idx="1"/>
          </p:nvPr>
        </p:nvSpPr>
        <p:spPr>
          <a:xfrm>
            <a:off x="457200" y="1305560"/>
            <a:ext cx="8229600" cy="4525963"/>
          </a:xfrm>
        </p:spPr>
        <p:txBody>
          <a:bodyPr>
            <a:normAutofit fontScale="92500" lnSpcReduction="20000"/>
          </a:bodyPr>
          <a:lstStyle/>
          <a:p>
            <a:pPr eaLnBrk="1" hangingPunct="1">
              <a:lnSpc>
                <a:spcPct val="80000"/>
              </a:lnSpc>
            </a:pPr>
            <a:r>
              <a:rPr lang="en-US" altLang="en-US" sz="2800" dirty="0"/>
              <a:t>Let </a:t>
            </a:r>
            <a:r>
              <a:rPr lang="en-US" altLang="en-US" sz="2800" dirty="0">
                <a:latin typeface="Times-Roman" pitchFamily="2" charset="0"/>
              </a:rPr>
              <a:t>I(O)</a:t>
            </a:r>
            <a:r>
              <a:rPr lang="en-US" altLang="en-US" sz="2800" dirty="0"/>
              <a:t> denote the integrity of object </a:t>
            </a:r>
            <a:r>
              <a:rPr lang="en-US" altLang="en-US" sz="2800" dirty="0">
                <a:latin typeface="Times-Roman" pitchFamily="2" charset="0"/>
              </a:rPr>
              <a:t>O </a:t>
            </a:r>
            <a:r>
              <a:rPr lang="en-US" altLang="en-US" sz="2800" dirty="0"/>
              <a:t>and </a:t>
            </a:r>
            <a:r>
              <a:rPr lang="en-US" altLang="en-US" sz="2800" dirty="0">
                <a:latin typeface="Times-Roman" pitchFamily="2" charset="0"/>
              </a:rPr>
              <a:t>I(S)</a:t>
            </a:r>
            <a:r>
              <a:rPr lang="en-US" altLang="en-US" sz="2800" dirty="0"/>
              <a:t> denote the integrity of subject </a:t>
            </a:r>
            <a:r>
              <a:rPr lang="en-US" altLang="en-US" sz="2800" dirty="0">
                <a:latin typeface="Times-Roman" pitchFamily="2" charset="0"/>
              </a:rPr>
              <a:t>S</a:t>
            </a:r>
          </a:p>
          <a:p>
            <a:pPr eaLnBrk="1" hangingPunct="1">
              <a:lnSpc>
                <a:spcPct val="80000"/>
              </a:lnSpc>
            </a:pPr>
            <a:endParaRPr lang="en-US" altLang="en-US" sz="2800" dirty="0"/>
          </a:p>
          <a:p>
            <a:pPr eaLnBrk="1" hangingPunct="1">
              <a:lnSpc>
                <a:spcPct val="80000"/>
              </a:lnSpc>
            </a:pPr>
            <a:r>
              <a:rPr lang="en-US" altLang="en-US" sz="2800" b="1" dirty="0">
                <a:solidFill>
                  <a:schemeClr val="hlink"/>
                </a:solidFill>
              </a:rPr>
              <a:t>Biba</a:t>
            </a:r>
          </a:p>
          <a:p>
            <a:pPr lvl="1" eaLnBrk="1" hangingPunct="1">
              <a:lnSpc>
                <a:spcPct val="80000"/>
              </a:lnSpc>
            </a:pPr>
            <a:r>
              <a:rPr lang="en-US" altLang="en-US" sz="2400" dirty="0">
                <a:latin typeface="Times-Roman" pitchFamily="2" charset="0"/>
              </a:rPr>
              <a:t>S</a:t>
            </a:r>
            <a:r>
              <a:rPr lang="en-US" altLang="en-US" sz="2400" dirty="0"/>
              <a:t> can write </a:t>
            </a:r>
            <a:r>
              <a:rPr lang="en-US" altLang="en-US" sz="2400" dirty="0">
                <a:latin typeface="Times-Roman" pitchFamily="2" charset="0"/>
              </a:rPr>
              <a:t>O</a:t>
            </a:r>
            <a:r>
              <a:rPr lang="en-US" altLang="en-US" sz="2400" dirty="0"/>
              <a:t> if and only if </a:t>
            </a:r>
            <a:r>
              <a:rPr lang="en-US" altLang="en-US" sz="2400" dirty="0">
                <a:latin typeface="Times-Roman" pitchFamily="2" charset="0"/>
              </a:rPr>
              <a:t>I(O) </a:t>
            </a:r>
            <a:r>
              <a:rPr lang="en-US" altLang="en-US" sz="2400" dirty="0">
                <a:latin typeface="Times-Roman" pitchFamily="2" charset="0"/>
                <a:sym typeface="Symbol" pitchFamily="2" charset="2"/>
              </a:rPr>
              <a:t> I(S) </a:t>
            </a:r>
          </a:p>
          <a:p>
            <a:pPr lvl="2" eaLnBrk="1" hangingPunct="1">
              <a:lnSpc>
                <a:spcPct val="80000"/>
              </a:lnSpc>
            </a:pPr>
            <a:r>
              <a:rPr lang="en-US" altLang="en-US" sz="2000" dirty="0">
                <a:sym typeface="Symbol" pitchFamily="2" charset="2"/>
              </a:rPr>
              <a:t>(if </a:t>
            </a:r>
            <a:r>
              <a:rPr lang="en-US" altLang="en-US" sz="2000" dirty="0">
                <a:latin typeface="Times-Roman" pitchFamily="2" charset="0"/>
                <a:sym typeface="Symbol" pitchFamily="2" charset="2"/>
              </a:rPr>
              <a:t>S</a:t>
            </a:r>
            <a:r>
              <a:rPr lang="en-US" altLang="en-US" sz="2000" dirty="0">
                <a:sym typeface="Symbol" pitchFamily="2" charset="2"/>
              </a:rPr>
              <a:t> writes </a:t>
            </a:r>
            <a:r>
              <a:rPr lang="en-US" altLang="en-US" sz="2000" dirty="0">
                <a:latin typeface="Times-Roman" pitchFamily="2" charset="0"/>
                <a:sym typeface="Symbol" pitchFamily="2" charset="2"/>
              </a:rPr>
              <a:t>O</a:t>
            </a:r>
            <a:r>
              <a:rPr lang="en-US" altLang="en-US" sz="2000" dirty="0">
                <a:sym typeface="Symbol" pitchFamily="2" charset="2"/>
              </a:rPr>
              <a:t>, the integrity of </a:t>
            </a:r>
            <a:r>
              <a:rPr lang="en-US" altLang="en-US" sz="2000" dirty="0">
                <a:latin typeface="Times-Roman" pitchFamily="2" charset="0"/>
                <a:sym typeface="Symbol" pitchFamily="2" charset="2"/>
              </a:rPr>
              <a:t>O</a:t>
            </a:r>
            <a:r>
              <a:rPr lang="en-US" altLang="en-US" sz="2000" dirty="0">
                <a:sym typeface="Symbol" pitchFamily="2" charset="2"/>
              </a:rPr>
              <a:t> </a:t>
            </a:r>
            <a:r>
              <a:rPr lang="en-US" altLang="en-US" sz="2000" dirty="0">
                <a:latin typeface="Times-Roman" pitchFamily="2" charset="0"/>
                <a:sym typeface="Symbol" pitchFamily="2" charset="2"/>
              </a:rPr>
              <a:t></a:t>
            </a:r>
            <a:r>
              <a:rPr lang="en-US" altLang="en-US" sz="2000" dirty="0">
                <a:sym typeface="Symbol" pitchFamily="2" charset="2"/>
              </a:rPr>
              <a:t> that of </a:t>
            </a:r>
            <a:r>
              <a:rPr lang="en-US" altLang="en-US" sz="2000" dirty="0">
                <a:latin typeface="Times-Roman" pitchFamily="2" charset="0"/>
                <a:sym typeface="Symbol" pitchFamily="2" charset="2"/>
              </a:rPr>
              <a:t>S</a:t>
            </a:r>
            <a:r>
              <a:rPr lang="en-US" altLang="en-US" sz="2000" dirty="0">
                <a:sym typeface="Symbol" pitchFamily="2" charset="2"/>
              </a:rPr>
              <a:t>)</a:t>
            </a:r>
          </a:p>
          <a:p>
            <a:pPr lvl="1" eaLnBrk="1" hangingPunct="1">
              <a:lnSpc>
                <a:spcPct val="80000"/>
              </a:lnSpc>
            </a:pPr>
            <a:endParaRPr lang="en-US" altLang="en-US" sz="2400" dirty="0">
              <a:sym typeface="Symbol" pitchFamily="2" charset="2"/>
            </a:endParaRPr>
          </a:p>
          <a:p>
            <a:pPr lvl="1" eaLnBrk="1" hangingPunct="1">
              <a:lnSpc>
                <a:spcPct val="80000"/>
              </a:lnSpc>
            </a:pPr>
            <a:r>
              <a:rPr lang="en-US" altLang="en-US" sz="2400" dirty="0">
                <a:latin typeface="Times-Roman" pitchFamily="2" charset="0"/>
              </a:rPr>
              <a:t>S</a:t>
            </a:r>
            <a:r>
              <a:rPr lang="en-US" altLang="en-US" sz="2400" dirty="0"/>
              <a:t> reads </a:t>
            </a:r>
            <a:r>
              <a:rPr lang="en-US" altLang="en-US" sz="2400" dirty="0">
                <a:latin typeface="Times-Roman" pitchFamily="2" charset="0"/>
              </a:rPr>
              <a:t>O</a:t>
            </a:r>
            <a:r>
              <a:rPr lang="en-US" altLang="en-US" sz="2400" dirty="0"/>
              <a:t> if and only if </a:t>
            </a:r>
            <a:r>
              <a:rPr lang="en-US" altLang="en-US" sz="2400" dirty="0">
                <a:latin typeface="Times-Roman" pitchFamily="2" charset="0"/>
              </a:rPr>
              <a:t>I(O) ≥</a:t>
            </a:r>
            <a:r>
              <a:rPr lang="en-US" altLang="en-US" sz="2400" dirty="0">
                <a:latin typeface="Times-Roman" pitchFamily="2" charset="0"/>
                <a:sym typeface="Symbol" pitchFamily="2" charset="2"/>
              </a:rPr>
              <a:t> I(S)</a:t>
            </a:r>
          </a:p>
          <a:p>
            <a:pPr lvl="2" eaLnBrk="1" hangingPunct="1">
              <a:lnSpc>
                <a:spcPct val="80000"/>
              </a:lnSpc>
            </a:pPr>
            <a:r>
              <a:rPr lang="en-US" altLang="en-US" sz="2000" dirty="0">
                <a:sym typeface="Symbol" pitchFamily="2" charset="2"/>
              </a:rPr>
              <a:t>(if </a:t>
            </a:r>
            <a:r>
              <a:rPr lang="en-US" altLang="en-US" sz="2000" dirty="0">
                <a:latin typeface="Times-Roman" pitchFamily="2" charset="0"/>
                <a:sym typeface="Symbol" pitchFamily="2" charset="2"/>
              </a:rPr>
              <a:t>S</a:t>
            </a:r>
            <a:r>
              <a:rPr lang="en-US" altLang="en-US" sz="2000" dirty="0">
                <a:sym typeface="Symbol" pitchFamily="2" charset="2"/>
              </a:rPr>
              <a:t> reads </a:t>
            </a:r>
            <a:r>
              <a:rPr lang="en-US" altLang="en-US" sz="2000" dirty="0">
                <a:latin typeface="Times-Roman" pitchFamily="2" charset="0"/>
                <a:sym typeface="Symbol" pitchFamily="2" charset="2"/>
              </a:rPr>
              <a:t>O</a:t>
            </a:r>
            <a:r>
              <a:rPr lang="en-US" altLang="en-US" sz="2000" dirty="0">
                <a:sym typeface="Symbol" pitchFamily="2" charset="2"/>
              </a:rPr>
              <a:t>, the integrity of </a:t>
            </a:r>
            <a:r>
              <a:rPr lang="en-US" altLang="en-US" sz="2000" dirty="0">
                <a:latin typeface="Times-Roman" pitchFamily="2" charset="0"/>
                <a:sym typeface="Symbol" pitchFamily="2" charset="2"/>
              </a:rPr>
              <a:t>S</a:t>
            </a:r>
            <a:r>
              <a:rPr lang="en-US" altLang="en-US" sz="2000" dirty="0">
                <a:sym typeface="Symbol" pitchFamily="2" charset="2"/>
              </a:rPr>
              <a:t> must be lower than that of </a:t>
            </a:r>
            <a:r>
              <a:rPr lang="en-US" altLang="en-US" sz="2000" dirty="0">
                <a:latin typeface="Times-Roman" pitchFamily="2" charset="0"/>
                <a:sym typeface="Symbol" pitchFamily="2" charset="2"/>
              </a:rPr>
              <a:t>O</a:t>
            </a:r>
            <a:r>
              <a:rPr lang="en-US" altLang="en-US" sz="2000" dirty="0">
                <a:sym typeface="Symbol" pitchFamily="2" charset="2"/>
              </a:rPr>
              <a:t>)</a:t>
            </a:r>
          </a:p>
          <a:p>
            <a:pPr marL="914400" lvl="2" indent="0" eaLnBrk="1" hangingPunct="1">
              <a:lnSpc>
                <a:spcPct val="80000"/>
              </a:lnSpc>
              <a:buNone/>
            </a:pPr>
            <a:endParaRPr lang="en-US" altLang="en-US" sz="2000" dirty="0">
              <a:sym typeface="Symbol" pitchFamily="2" charset="2"/>
            </a:endParaRPr>
          </a:p>
          <a:p>
            <a:pPr>
              <a:lnSpc>
                <a:spcPct val="80000"/>
              </a:lnSpc>
              <a:spcAft>
                <a:spcPts val="600"/>
              </a:spcAft>
            </a:pPr>
            <a:r>
              <a:rPr lang="en-US" altLang="en-US" sz="2800" dirty="0"/>
              <a:t>Often, replace Biba’s Model with</a:t>
            </a:r>
          </a:p>
          <a:p>
            <a:pPr lvl="1">
              <a:lnSpc>
                <a:spcPct val="80000"/>
              </a:lnSpc>
              <a:spcAft>
                <a:spcPts val="600"/>
              </a:spcAft>
              <a:buNone/>
            </a:pPr>
            <a:r>
              <a:rPr lang="en-US" altLang="en-US" sz="2400" b="1" dirty="0">
                <a:solidFill>
                  <a:schemeClr val="accent2"/>
                </a:solidFill>
              </a:rPr>
              <a:t>Low Water Mark Policy:</a:t>
            </a:r>
            <a:r>
              <a:rPr lang="en-US" altLang="en-US" sz="2400" dirty="0">
                <a:solidFill>
                  <a:schemeClr val="accent2"/>
                </a:solidFill>
              </a:rPr>
              <a:t> </a:t>
            </a:r>
            <a:r>
              <a:rPr lang="en-US" altLang="en-US" sz="2400" dirty="0"/>
              <a:t>If </a:t>
            </a:r>
            <a:r>
              <a:rPr lang="en-US" altLang="en-US" sz="2400" dirty="0">
                <a:latin typeface="Times-Roman"/>
              </a:rPr>
              <a:t>S</a:t>
            </a:r>
            <a:r>
              <a:rPr lang="en-US" altLang="en-US" sz="2400" dirty="0"/>
              <a:t> reads </a:t>
            </a:r>
            <a:r>
              <a:rPr lang="en-US" altLang="en-US" sz="2400" dirty="0">
                <a:latin typeface="Times-Roman"/>
              </a:rPr>
              <a:t>O</a:t>
            </a:r>
            <a:r>
              <a:rPr lang="en-US" altLang="en-US" sz="2400" dirty="0"/>
              <a:t>, then  </a:t>
            </a:r>
            <a:r>
              <a:rPr lang="en-US" altLang="en-US" sz="2400" dirty="0">
                <a:latin typeface="Times-Roman"/>
              </a:rPr>
              <a:t>I(S) = min(I(S), I(O))</a:t>
            </a:r>
          </a:p>
          <a:p>
            <a:pPr lvl="1">
              <a:lnSpc>
                <a:spcPct val="80000"/>
              </a:lnSpc>
              <a:spcAft>
                <a:spcPts val="600"/>
              </a:spcAft>
              <a:buNone/>
            </a:pPr>
            <a:endParaRPr lang="en-US" sz="2600" b="1" dirty="0">
              <a:solidFill>
                <a:srgbClr val="FF0000"/>
              </a:solidFill>
              <a:cs typeface="+mn-cs"/>
            </a:endParaRPr>
          </a:p>
          <a:p>
            <a:pPr lvl="1">
              <a:lnSpc>
                <a:spcPct val="80000"/>
              </a:lnSpc>
              <a:spcAft>
                <a:spcPts val="600"/>
              </a:spcAft>
              <a:buNone/>
            </a:pPr>
            <a:r>
              <a:rPr lang="en-US" sz="2600" b="1" dirty="0">
                <a:solidFill>
                  <a:srgbClr val="FF0000"/>
                </a:solidFill>
                <a:cs typeface="+mn-cs"/>
              </a:rPr>
              <a:t>No write up, no read down</a:t>
            </a:r>
            <a:endParaRPr lang="en-US" sz="2600" dirty="0">
              <a:cs typeface="+mn-cs"/>
            </a:endParaRPr>
          </a:p>
          <a:p>
            <a:pPr lvl="1">
              <a:lnSpc>
                <a:spcPct val="80000"/>
              </a:lnSpc>
              <a:spcAft>
                <a:spcPts val="600"/>
              </a:spcAft>
              <a:buNone/>
            </a:pPr>
            <a:endParaRPr lang="en-US" altLang="en-US" sz="2400" dirty="0">
              <a:latin typeface="Times-Roman"/>
            </a:endParaRPr>
          </a:p>
          <a:p>
            <a:pPr marL="114300" indent="0">
              <a:lnSpc>
                <a:spcPct val="80000"/>
              </a:lnSpc>
              <a:buNone/>
            </a:pPr>
            <a:endParaRPr lang="en-US" altLang="en-US" dirty="0"/>
          </a:p>
        </p:txBody>
      </p:sp>
      <p:sp>
        <p:nvSpPr>
          <p:cNvPr id="4" name="Footer Placeholder 3">
            <a:extLst>
              <a:ext uri="{FF2B5EF4-FFF2-40B4-BE49-F238E27FC236}">
                <a16:creationId xmlns:a16="http://schemas.microsoft.com/office/drawing/2014/main" id="{7E2E4F82-06B1-9A4B-8152-5EF5CBAA34DF}"/>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ED20D28F-0FE9-884F-B5DF-00DF45240F7E}" type="slidenum">
              <a:rPr lang="en-US" altLang="en-US" sz="1400">
                <a:latin typeface="Times New Roman" panose="02020603050405020304" pitchFamily="18" charset="0"/>
              </a:rPr>
              <a:pPr eaLnBrk="1" hangingPunct="1"/>
              <a:t>8</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195173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C57D-60AF-CA44-B985-7B42DC6B02E2}"/>
              </a:ext>
            </a:extLst>
          </p:cNvPr>
          <p:cNvSpPr>
            <a:spLocks noGrp="1"/>
          </p:cNvSpPr>
          <p:nvPr>
            <p:ph type="title"/>
          </p:nvPr>
        </p:nvSpPr>
        <p:spPr/>
        <p:txBody>
          <a:bodyPr/>
          <a:lstStyle/>
          <a:p>
            <a:r>
              <a:rPr lang="en-US" dirty="0"/>
              <a:t>Security Model</a:t>
            </a:r>
          </a:p>
        </p:txBody>
      </p:sp>
      <p:sp>
        <p:nvSpPr>
          <p:cNvPr id="3" name="Content Placeholder 2">
            <a:extLst>
              <a:ext uri="{FF2B5EF4-FFF2-40B4-BE49-F238E27FC236}">
                <a16:creationId xmlns:a16="http://schemas.microsoft.com/office/drawing/2014/main" id="{8EF85775-1F3B-8C4B-B3DD-B7F9ECE70169}"/>
              </a:ext>
            </a:extLst>
          </p:cNvPr>
          <p:cNvSpPr>
            <a:spLocks noGrp="1"/>
          </p:cNvSpPr>
          <p:nvPr>
            <p:ph idx="1"/>
          </p:nvPr>
        </p:nvSpPr>
        <p:spPr/>
        <p:txBody>
          <a:bodyPr/>
          <a:lstStyle/>
          <a:p>
            <a:r>
              <a:rPr lang="en-US" dirty="0"/>
              <a:t>Bell-</a:t>
            </a:r>
            <a:r>
              <a:rPr lang="en-US" dirty="0" err="1"/>
              <a:t>Lapudula</a:t>
            </a:r>
            <a:r>
              <a:rPr lang="en-US" dirty="0"/>
              <a:t> and Biba</a:t>
            </a:r>
          </a:p>
          <a:p>
            <a:pPr lvl="1"/>
            <a:r>
              <a:rPr lang="en-US" dirty="0"/>
              <a:t>Similar to HW1</a:t>
            </a:r>
          </a:p>
        </p:txBody>
      </p:sp>
    </p:spTree>
    <p:extLst>
      <p:ext uri="{BB962C8B-B14F-4D97-AF65-F5344CB8AC3E}">
        <p14:creationId xmlns:p14="http://schemas.microsoft.com/office/powerpoint/2010/main" val="422332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Design Principles</a:t>
            </a:r>
          </a:p>
        </p:txBody>
      </p:sp>
      <p:sp>
        <p:nvSpPr>
          <p:cNvPr id="3" name="Content Placeholder 2"/>
          <p:cNvSpPr>
            <a:spLocks noGrp="1"/>
          </p:cNvSpPr>
          <p:nvPr>
            <p:ph idx="1"/>
          </p:nvPr>
        </p:nvSpPr>
        <p:spPr/>
        <p:txBody>
          <a:bodyPr>
            <a:normAutofit fontScale="40000" lnSpcReduction="20000"/>
          </a:bodyPr>
          <a:lstStyle/>
          <a:p>
            <a:r>
              <a:rPr lang="en-US" sz="3500" dirty="0"/>
              <a:t>Principle of Economy of mechanism, Principle of Fail-safe default, Principle of Complete mediation,   Principle of separation of privileges, Principle of Least Privilege, Principle of Least  Common Mechanism, he principle of Open Design,  Principle of Psychological Acceptability,  Principle of Work Factor, Principle of Compromising Recording, Principle of Isolation,  Principle of Encapsulation,  Principle of Modularity, Principle of Layering,  Principle of Least astonishment. </a:t>
            </a:r>
          </a:p>
          <a:p>
            <a:pPr marL="0" indent="0">
              <a:buNone/>
            </a:pPr>
            <a:r>
              <a:rPr lang="en-US" sz="3500" dirty="0"/>
              <a:t>  </a:t>
            </a:r>
          </a:p>
          <a:p>
            <a:r>
              <a:rPr lang="en-US" sz="3500" dirty="0"/>
              <a:t>Principle of Economy of mechanism:  Security mechanisms should be as simple as possible.</a:t>
            </a:r>
          </a:p>
          <a:p>
            <a:pPr marL="0" indent="0">
              <a:buNone/>
            </a:pPr>
            <a:r>
              <a:rPr lang="en-US" sz="3500" dirty="0"/>
              <a:t> </a:t>
            </a:r>
          </a:p>
          <a:p>
            <a:r>
              <a:rPr lang="en-US" sz="3500" dirty="0"/>
              <a:t>Principle of Fail-safe default: If a system fails, it should reach at safe states by default. </a:t>
            </a:r>
          </a:p>
          <a:p>
            <a:pPr marL="0" indent="0">
              <a:buNone/>
            </a:pPr>
            <a:endParaRPr lang="en-US" sz="3500" dirty="0"/>
          </a:p>
          <a:p>
            <a:r>
              <a:rPr lang="en-US" sz="3500" dirty="0"/>
              <a:t>Principle of Complete mediation: All accesses to objects be checked to ensure that they are allowed.</a:t>
            </a:r>
          </a:p>
          <a:p>
            <a:pPr marL="0" indent="0">
              <a:buNone/>
            </a:pPr>
            <a:r>
              <a:rPr lang="en-US" sz="3500" dirty="0"/>
              <a:t> </a:t>
            </a:r>
          </a:p>
          <a:p>
            <a:r>
              <a:rPr lang="en-US" sz="3500" dirty="0"/>
              <a:t>Principle of separation of privileges: A system should not grant permission based </a:t>
            </a:r>
          </a:p>
          <a:p>
            <a:pPr marL="0" indent="0">
              <a:buNone/>
            </a:pPr>
            <a:r>
              <a:rPr lang="en-US" sz="3500" dirty="0"/>
              <a:t>	on a single condition.</a:t>
            </a:r>
          </a:p>
          <a:p>
            <a:pPr marL="0" indent="0">
              <a:buNone/>
            </a:pPr>
            <a:endParaRPr lang="en-US" sz="3500" dirty="0"/>
          </a:p>
          <a:p>
            <a:r>
              <a:rPr lang="en-US" sz="3500" dirty="0"/>
              <a:t>Principle of Least Privilege: A subject should be given only those privileges that it needs in order to  complete its task.</a:t>
            </a:r>
          </a:p>
          <a:p>
            <a:endParaRPr lang="en-US" sz="3500" dirty="0"/>
          </a:p>
          <a:p>
            <a:r>
              <a:rPr lang="en-US" sz="3500" dirty="0"/>
              <a:t>Principle of Least Common Mechanism: Mechanisms used to access resources should not be shared.</a:t>
            </a:r>
          </a:p>
          <a:p>
            <a:pPr marL="0" indent="0">
              <a:buNone/>
            </a:pPr>
            <a:endParaRPr lang="en-US" dirty="0"/>
          </a:p>
        </p:txBody>
      </p:sp>
    </p:spTree>
    <p:extLst>
      <p:ext uri="{BB962C8B-B14F-4D97-AF65-F5344CB8AC3E}">
        <p14:creationId xmlns:p14="http://schemas.microsoft.com/office/powerpoint/2010/main" val="104451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Design Principles</a:t>
            </a:r>
          </a:p>
        </p:txBody>
      </p:sp>
      <p:sp>
        <p:nvSpPr>
          <p:cNvPr id="3" name="Content Placeholder 2"/>
          <p:cNvSpPr>
            <a:spLocks noGrp="1"/>
          </p:cNvSpPr>
          <p:nvPr>
            <p:ph idx="1"/>
          </p:nvPr>
        </p:nvSpPr>
        <p:spPr>
          <a:xfrm>
            <a:off x="457200" y="1298643"/>
            <a:ext cx="8229600" cy="4525963"/>
          </a:xfrm>
        </p:spPr>
        <p:txBody>
          <a:bodyPr>
            <a:normAutofit fontScale="25000" lnSpcReduction="20000"/>
          </a:bodyPr>
          <a:lstStyle/>
          <a:p>
            <a:r>
              <a:rPr lang="en-US" sz="5600" dirty="0"/>
              <a:t>The principle of Open Design: The security of a mechanism should not depend on </a:t>
            </a:r>
          </a:p>
          <a:p>
            <a:pPr marL="0" indent="0">
              <a:buNone/>
            </a:pPr>
            <a:r>
              <a:rPr lang="en-US" sz="5600" dirty="0"/>
              <a:t>the secrecy of its design or implementation.</a:t>
            </a:r>
          </a:p>
          <a:p>
            <a:pPr marL="0" indent="0">
              <a:buNone/>
            </a:pPr>
            <a:r>
              <a:rPr lang="en-US" sz="5600" dirty="0"/>
              <a:t> </a:t>
            </a:r>
          </a:p>
          <a:p>
            <a:r>
              <a:rPr lang="en-US" sz="5600" dirty="0"/>
              <a:t>Principle of Psychological Acceptability: Security mechanisms should not make the resource more difficult to access than if the security mechanisms were not present. </a:t>
            </a:r>
          </a:p>
          <a:p>
            <a:pPr marL="0" indent="0">
              <a:buNone/>
            </a:pPr>
            <a:r>
              <a:rPr lang="en-US" sz="5600" dirty="0"/>
              <a:t> </a:t>
            </a:r>
          </a:p>
          <a:p>
            <a:r>
              <a:rPr lang="en-US" sz="5600" dirty="0"/>
              <a:t>Principle of Work Factor: have reasonable assumption of attackers.</a:t>
            </a:r>
          </a:p>
          <a:p>
            <a:pPr marL="0" indent="0">
              <a:buNone/>
            </a:pPr>
            <a:r>
              <a:rPr lang="en-US" sz="5600" dirty="0"/>
              <a:t> </a:t>
            </a:r>
          </a:p>
          <a:p>
            <a:r>
              <a:rPr lang="en-US" sz="5600" dirty="0"/>
              <a:t>Principle of Compromising Recording: sometimes it is more desirable to record the details of intrusion that to adopt a more sophisticated measure to prevent it.</a:t>
            </a:r>
          </a:p>
          <a:p>
            <a:pPr marL="0" indent="0">
              <a:buNone/>
            </a:pPr>
            <a:endParaRPr lang="en-US" sz="5600" dirty="0"/>
          </a:p>
          <a:p>
            <a:r>
              <a:rPr lang="en-US" sz="5600" dirty="0"/>
              <a:t>Principle of Isolation: Public access should be isolated from critical resources (no connection between public and critical information); Users files should be isolated from one another (except when desired);  Security mechanism should be isolated (i.e., preventing access to those mechanisms). </a:t>
            </a:r>
          </a:p>
          <a:p>
            <a:pPr marL="0" indent="0">
              <a:buNone/>
            </a:pPr>
            <a:r>
              <a:rPr lang="en-US" sz="5600" dirty="0"/>
              <a:t> </a:t>
            </a:r>
          </a:p>
          <a:p>
            <a:r>
              <a:rPr lang="en-US" sz="5600" dirty="0"/>
              <a:t>Principle of Encapsulation: maintain the interface of the software components and hide the internal implementations of the software components.</a:t>
            </a:r>
          </a:p>
          <a:p>
            <a:endParaRPr lang="en-US" sz="5600" dirty="0"/>
          </a:p>
          <a:p>
            <a:r>
              <a:rPr lang="en-US" sz="5600" dirty="0"/>
              <a:t> Principle of Modularity: following this principle, software modules can be reused. </a:t>
            </a:r>
          </a:p>
          <a:p>
            <a:pPr marL="0" indent="0">
              <a:buNone/>
            </a:pPr>
            <a:r>
              <a:rPr lang="en-US" sz="5600" dirty="0"/>
              <a:t> </a:t>
            </a:r>
          </a:p>
          <a:p>
            <a:r>
              <a:rPr lang="en-US" sz="5600" dirty="0"/>
              <a:t>Principle of Layering: use of multiple, overlapping protection approaches.</a:t>
            </a:r>
          </a:p>
          <a:p>
            <a:pPr marL="0" indent="0">
              <a:buNone/>
            </a:pPr>
            <a:r>
              <a:rPr lang="en-US" sz="5600" dirty="0"/>
              <a:t> </a:t>
            </a:r>
          </a:p>
          <a:p>
            <a:r>
              <a:rPr lang="en-US" sz="5600" dirty="0"/>
              <a:t>Principle of Least astonishment: a program or interface should always respond in a way that is least likely to astonish a user.</a:t>
            </a:r>
          </a:p>
          <a:p>
            <a:pPr marL="0" indent="0">
              <a:buNone/>
            </a:pPr>
            <a:endParaRPr lang="en-US" dirty="0"/>
          </a:p>
        </p:txBody>
      </p:sp>
    </p:spTree>
    <p:extLst>
      <p:ext uri="{BB962C8B-B14F-4D97-AF65-F5344CB8AC3E}">
        <p14:creationId xmlns:p14="http://schemas.microsoft.com/office/powerpoint/2010/main" val="3373455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a:extLst>
              <a:ext uri="{FF2B5EF4-FFF2-40B4-BE49-F238E27FC236}">
                <a16:creationId xmlns:a16="http://schemas.microsoft.com/office/drawing/2014/main" id="{ABC86191-6080-4E03-A8C9-6AFB7206961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8195" name="Slide Number Placeholder 5">
            <a:extLst>
              <a:ext uri="{FF2B5EF4-FFF2-40B4-BE49-F238E27FC236}">
                <a16:creationId xmlns:a16="http://schemas.microsoft.com/office/drawing/2014/main" id="{B3917B84-F45D-495B-B643-366FC87D7C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D0BE2235-F62B-47E5-93B8-5E4CD2A4854F}" type="slidenum">
              <a:rPr lang="zh-CN" altLang="en-US" sz="1400"/>
              <a:pPr>
                <a:lnSpc>
                  <a:spcPct val="100000"/>
                </a:lnSpc>
                <a:spcBef>
                  <a:spcPct val="0"/>
                </a:spcBef>
              </a:pPr>
              <a:t>12</a:t>
            </a:fld>
            <a:endParaRPr lang="en-US" altLang="zh-CN" sz="1400"/>
          </a:p>
        </p:txBody>
      </p:sp>
      <p:sp>
        <p:nvSpPr>
          <p:cNvPr id="8196" name="Rectangle 2">
            <a:extLst>
              <a:ext uri="{FF2B5EF4-FFF2-40B4-BE49-F238E27FC236}">
                <a16:creationId xmlns:a16="http://schemas.microsoft.com/office/drawing/2014/main" id="{24A711FB-0D20-4ABB-B47C-68057C93ED89}"/>
              </a:ext>
            </a:extLst>
          </p:cNvPr>
          <p:cNvSpPr>
            <a:spLocks noGrp="1" noChangeArrowheads="1"/>
          </p:cNvSpPr>
          <p:nvPr>
            <p:ph type="title"/>
          </p:nvPr>
        </p:nvSpPr>
        <p:spPr/>
        <p:txBody>
          <a:bodyPr/>
          <a:lstStyle/>
          <a:p>
            <a:pPr eaLnBrk="1" hangingPunct="1"/>
            <a:r>
              <a:rPr lang="en-US" altLang="en-US"/>
              <a:t>Block vs Stream Ciphers</a:t>
            </a:r>
            <a:endParaRPr lang="en-AU" altLang="en-US"/>
          </a:p>
        </p:txBody>
      </p:sp>
      <p:sp>
        <p:nvSpPr>
          <p:cNvPr id="8197" name="Rectangle 3">
            <a:extLst>
              <a:ext uri="{FF2B5EF4-FFF2-40B4-BE49-F238E27FC236}">
                <a16:creationId xmlns:a16="http://schemas.microsoft.com/office/drawing/2014/main" id="{D806B1D7-E559-422A-AF8A-BA865C329B20}"/>
              </a:ext>
            </a:extLst>
          </p:cNvPr>
          <p:cNvSpPr>
            <a:spLocks noGrp="1" noChangeArrowheads="1"/>
          </p:cNvSpPr>
          <p:nvPr>
            <p:ph type="body" idx="1"/>
          </p:nvPr>
        </p:nvSpPr>
        <p:spPr/>
        <p:txBody>
          <a:bodyPr/>
          <a:lstStyle/>
          <a:p>
            <a:pPr eaLnBrk="1" hangingPunct="1"/>
            <a:r>
              <a:rPr lang="en-AU" altLang="zh-CN" dirty="0">
                <a:ea typeface="宋体" panose="02010600030101010101" pitchFamily="2" charset="-122"/>
              </a:rPr>
              <a:t>B</a:t>
            </a:r>
            <a:r>
              <a:rPr lang="en-AU" altLang="en-US" dirty="0"/>
              <a:t>lock ciphers process messages in blocks, each of which is then </a:t>
            </a:r>
            <a:r>
              <a:rPr lang="en-AU" altLang="en-US" dirty="0" err="1"/>
              <a:t>en</a:t>
            </a:r>
            <a:r>
              <a:rPr lang="en-AU" altLang="en-US" dirty="0"/>
              <a:t>/decrypted </a:t>
            </a:r>
          </a:p>
          <a:p>
            <a:pPr eaLnBrk="1" hangingPunct="1"/>
            <a:r>
              <a:rPr lang="en-AU" altLang="zh-CN" dirty="0">
                <a:ea typeface="宋体" panose="02010600030101010101" pitchFamily="2" charset="-122"/>
              </a:rPr>
              <a:t>L</a:t>
            </a:r>
            <a:r>
              <a:rPr lang="en-AU" altLang="en-US" dirty="0"/>
              <a:t>ike a substitution on very big characters</a:t>
            </a:r>
          </a:p>
          <a:p>
            <a:pPr lvl="1" eaLnBrk="1" hangingPunct="1"/>
            <a:r>
              <a:rPr lang="en-AU" altLang="en-US" dirty="0"/>
              <a:t>64-bits or more </a:t>
            </a:r>
          </a:p>
          <a:p>
            <a:pPr eaLnBrk="1" hangingPunct="1"/>
            <a:r>
              <a:rPr lang="en-US" altLang="zh-CN" dirty="0">
                <a:ea typeface="宋体" panose="02010600030101010101" pitchFamily="2" charset="-122"/>
              </a:rPr>
              <a:t>S</a:t>
            </a:r>
            <a:r>
              <a:rPr lang="en-US" altLang="en-US" dirty="0"/>
              <a:t>tream ciphers </a:t>
            </a:r>
            <a:r>
              <a:rPr lang="en-AU" altLang="en-US" dirty="0"/>
              <a:t>process messages a bit or byte at a time when </a:t>
            </a:r>
            <a:r>
              <a:rPr lang="en-AU" altLang="en-US" dirty="0" err="1"/>
              <a:t>en</a:t>
            </a:r>
            <a:r>
              <a:rPr lang="en-AU" altLang="en-US" dirty="0"/>
              <a:t>/decrypting</a:t>
            </a:r>
          </a:p>
          <a:p>
            <a:pPr eaLnBrk="1" hangingPunct="1"/>
            <a:r>
              <a:rPr lang="en-US" altLang="zh-CN" dirty="0">
                <a:ea typeface="宋体" panose="02010600030101010101" pitchFamily="2" charset="-122"/>
              </a:rPr>
              <a:t>M</a:t>
            </a:r>
            <a:r>
              <a:rPr lang="en-US" altLang="en-US" dirty="0"/>
              <a:t>any </a:t>
            </a:r>
            <a:r>
              <a:rPr lang="en-US" altLang="zh-CN" dirty="0">
                <a:ea typeface="宋体" panose="02010600030101010101" pitchFamily="2" charset="-122"/>
              </a:rPr>
              <a:t>modern</a:t>
            </a:r>
            <a:r>
              <a:rPr lang="en-US" altLang="en-US" dirty="0"/>
              <a:t> ciphers are block ciphers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10ED1E4A-AFA8-4E30-A01C-4B5FBA334E03}"/>
              </a:ext>
            </a:extLst>
          </p:cNvPr>
          <p:cNvSpPr>
            <a:spLocks noGrp="1" noChangeArrowheads="1"/>
          </p:cNvSpPr>
          <p:nvPr>
            <p:ph type="title"/>
          </p:nvPr>
        </p:nvSpPr>
        <p:spPr/>
        <p:txBody>
          <a:bodyPr/>
          <a:lstStyle/>
          <a:p>
            <a:r>
              <a:rPr lang="en-US" altLang="en-US"/>
              <a:t>One-Time Pad</a:t>
            </a:r>
          </a:p>
        </p:txBody>
      </p:sp>
      <p:sp>
        <p:nvSpPr>
          <p:cNvPr id="10243" name="Rectangle 5">
            <a:extLst>
              <a:ext uri="{FF2B5EF4-FFF2-40B4-BE49-F238E27FC236}">
                <a16:creationId xmlns:a16="http://schemas.microsoft.com/office/drawing/2014/main" id="{C31C0B90-CAB7-4D79-A550-B660C0FB56CA}"/>
              </a:ext>
            </a:extLst>
          </p:cNvPr>
          <p:cNvSpPr>
            <a:spLocks noGrp="1" noChangeArrowheads="1"/>
          </p:cNvSpPr>
          <p:nvPr>
            <p:ph type="body" idx="1"/>
          </p:nvPr>
        </p:nvSpPr>
        <p:spPr/>
        <p:txBody>
          <a:bodyPr>
            <a:normAutofit fontScale="77500" lnSpcReduction="20000"/>
          </a:bodyPr>
          <a:lstStyle/>
          <a:p>
            <a:r>
              <a:rPr lang="en-US" altLang="en-US" dirty="0"/>
              <a:t>A block cipher treats a block of plaintext as a whole and encrypts it to produce a ciphertext block of equal length.  </a:t>
            </a:r>
          </a:p>
          <a:p>
            <a:endParaRPr lang="en-US" altLang="en-US" dirty="0"/>
          </a:p>
          <a:p>
            <a:r>
              <a:rPr lang="en-US" altLang="en-US" dirty="0"/>
              <a:t>A stream cipher encrypts digital data one bit at a time, typically by </a:t>
            </a:r>
            <a:r>
              <a:rPr lang="en-US" altLang="en-US" dirty="0" err="1"/>
              <a:t>xoring</a:t>
            </a:r>
            <a:r>
              <a:rPr lang="en-US" altLang="en-US" dirty="0"/>
              <a:t> it bit by bit with a key stream.</a:t>
            </a:r>
          </a:p>
          <a:p>
            <a:endParaRPr lang="en-US" altLang="en-US" dirty="0"/>
          </a:p>
          <a:p>
            <a:pPr eaLnBrk="1" hangingPunct="1">
              <a:lnSpc>
                <a:spcPct val="100000"/>
              </a:lnSpc>
              <a:spcBef>
                <a:spcPct val="0"/>
              </a:spcBef>
            </a:pPr>
            <a:r>
              <a:rPr lang="en-US" altLang="en-US" dirty="0">
                <a:sym typeface="Symbol" panose="05050102010706020507" pitchFamily="18" charset="2"/>
              </a:rPr>
              <a:t>The one-time pad, which is a provably secure cryptosystem,</a:t>
            </a:r>
            <a:br>
              <a:rPr lang="en-US" altLang="en-US" dirty="0">
                <a:sym typeface="Symbol" panose="05050102010706020507" pitchFamily="18" charset="2"/>
              </a:rPr>
            </a:br>
            <a:r>
              <a:rPr lang="en-US" altLang="en-US" dirty="0">
                <a:sym typeface="Symbol" panose="05050102010706020507" pitchFamily="18" charset="2"/>
              </a:rPr>
              <a:t>was developed by Gilbert </a:t>
            </a:r>
            <a:r>
              <a:rPr lang="en-US" altLang="en-US" dirty="0" err="1">
                <a:sym typeface="Symbol" panose="05050102010706020507" pitchFamily="18" charset="2"/>
              </a:rPr>
              <a:t>Vernam</a:t>
            </a:r>
            <a:r>
              <a:rPr lang="en-US" altLang="en-US" dirty="0">
                <a:sym typeface="Symbol" panose="05050102010706020507" pitchFamily="18" charset="2"/>
              </a:rPr>
              <a:t> in 1918.</a:t>
            </a:r>
          </a:p>
          <a:p>
            <a:pPr eaLnBrk="1" hangingPunct="1">
              <a:lnSpc>
                <a:spcPct val="100000"/>
              </a:lnSpc>
              <a:spcBef>
                <a:spcPct val="0"/>
              </a:spcBef>
            </a:pPr>
            <a:endParaRPr lang="en-US" altLang="en-US" dirty="0">
              <a:sym typeface="Symbol" panose="05050102010706020507" pitchFamily="18" charset="2"/>
            </a:endParaRPr>
          </a:p>
          <a:p>
            <a:r>
              <a:rPr lang="en-US" altLang="en-US" dirty="0"/>
              <a:t>The key:</a:t>
            </a:r>
          </a:p>
          <a:p>
            <a:pPr lvl="1"/>
            <a:r>
              <a:rPr lang="en-US" altLang="en-US" sz="2400" dirty="0">
                <a:ea typeface="ＭＳ Ｐゴシック" panose="020B0600070205080204" pitchFamily="34" charset="-128"/>
                <a:sym typeface="Symbol" panose="05050102010706020507" pitchFamily="18" charset="2"/>
              </a:rPr>
              <a:t>Truly random</a:t>
            </a:r>
          </a:p>
          <a:p>
            <a:pPr lvl="1"/>
            <a:r>
              <a:rPr lang="en-US" altLang="en-US" sz="2400" dirty="0">
                <a:ea typeface="ＭＳ Ｐゴシック" panose="020B0600070205080204" pitchFamily="34" charset="-128"/>
                <a:sym typeface="Symbol" panose="05050102010706020507" pitchFamily="18" charset="2"/>
              </a:rPr>
              <a:t>the same length as the message</a:t>
            </a:r>
          </a:p>
          <a:p>
            <a:pPr lvl="1"/>
            <a:r>
              <a:rPr lang="en-US" altLang="en-US" sz="2400" dirty="0">
                <a:ea typeface="ＭＳ Ｐゴシック" panose="020B0600070205080204" pitchFamily="34" charset="-128"/>
                <a:sym typeface="Symbol" panose="05050102010706020507" pitchFamily="18" charset="2"/>
              </a:rPr>
              <a:t>used one time only</a:t>
            </a:r>
          </a:p>
          <a:p>
            <a:pPr lvl="1"/>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2">
            <a:extLst>
              <a:ext uri="{FF2B5EF4-FFF2-40B4-BE49-F238E27FC236}">
                <a16:creationId xmlns:a16="http://schemas.microsoft.com/office/drawing/2014/main" id="{DA12B119-CBF7-4A43-A261-7418780837C4}"/>
              </a:ext>
            </a:extLst>
          </p:cNvPr>
          <p:cNvSpPr>
            <a:spLocks noChangeArrowheads="1"/>
          </p:cNvSpPr>
          <p:nvPr/>
        </p:nvSpPr>
        <p:spPr bwMode="auto">
          <a:xfrm>
            <a:off x="3886200" y="3733800"/>
            <a:ext cx="762000" cy="4572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sym typeface="Symbol" panose="05050102010706020507" pitchFamily="18" charset="2"/>
              </a:rPr>
              <a:t>=</a:t>
            </a:r>
            <a:endParaRPr lang="en-US" altLang="en-US"/>
          </a:p>
        </p:txBody>
      </p:sp>
      <p:sp>
        <p:nvSpPr>
          <p:cNvPr id="13315" name="Rectangle 11">
            <a:extLst>
              <a:ext uri="{FF2B5EF4-FFF2-40B4-BE49-F238E27FC236}">
                <a16:creationId xmlns:a16="http://schemas.microsoft.com/office/drawing/2014/main" id="{2C1781E8-6167-4FBD-80FF-39BD6889FB18}"/>
              </a:ext>
            </a:extLst>
          </p:cNvPr>
          <p:cNvSpPr>
            <a:spLocks noChangeArrowheads="1"/>
          </p:cNvSpPr>
          <p:nvPr/>
        </p:nvSpPr>
        <p:spPr bwMode="auto">
          <a:xfrm>
            <a:off x="3886200" y="2667000"/>
            <a:ext cx="762000" cy="4572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sym typeface="Symbol" panose="05050102010706020507" pitchFamily="18" charset="2"/>
              </a:rPr>
              <a:t></a:t>
            </a:r>
            <a:endParaRPr lang="en-US" altLang="en-US"/>
          </a:p>
        </p:txBody>
      </p:sp>
      <p:sp>
        <p:nvSpPr>
          <p:cNvPr id="13316" name="Rectangle 2">
            <a:extLst>
              <a:ext uri="{FF2B5EF4-FFF2-40B4-BE49-F238E27FC236}">
                <a16:creationId xmlns:a16="http://schemas.microsoft.com/office/drawing/2014/main" id="{A81F33D8-EDF1-4F63-81A0-2EC5208A51AF}"/>
              </a:ext>
            </a:extLst>
          </p:cNvPr>
          <p:cNvSpPr>
            <a:spLocks noGrp="1" noChangeArrowheads="1"/>
          </p:cNvSpPr>
          <p:nvPr>
            <p:ph type="title"/>
          </p:nvPr>
        </p:nvSpPr>
        <p:spPr/>
        <p:txBody>
          <a:bodyPr/>
          <a:lstStyle/>
          <a:p>
            <a:r>
              <a:rPr lang="en-US" altLang="en-US"/>
              <a:t>Example of Stream Encryption</a:t>
            </a:r>
          </a:p>
        </p:txBody>
      </p:sp>
      <p:sp>
        <p:nvSpPr>
          <p:cNvPr id="13317" name="Rectangle 5">
            <a:extLst>
              <a:ext uri="{FF2B5EF4-FFF2-40B4-BE49-F238E27FC236}">
                <a16:creationId xmlns:a16="http://schemas.microsoft.com/office/drawing/2014/main" id="{929175C2-5A65-4CBB-8647-5AEFD125918C}"/>
              </a:ext>
            </a:extLst>
          </p:cNvPr>
          <p:cNvSpPr>
            <a:spLocks noChangeArrowheads="1"/>
          </p:cNvSpPr>
          <p:nvPr/>
        </p:nvSpPr>
        <p:spPr bwMode="auto">
          <a:xfrm>
            <a:off x="1752600" y="41910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Ciphertext</a:t>
            </a:r>
          </a:p>
        </p:txBody>
      </p:sp>
      <p:sp>
        <p:nvSpPr>
          <p:cNvPr id="13318" name="Rectangle 8">
            <a:extLst>
              <a:ext uri="{FF2B5EF4-FFF2-40B4-BE49-F238E27FC236}">
                <a16:creationId xmlns:a16="http://schemas.microsoft.com/office/drawing/2014/main" id="{0F8D3123-D855-46A8-89BC-98D1484803A1}"/>
              </a:ext>
            </a:extLst>
          </p:cNvPr>
          <p:cNvSpPr>
            <a:spLocks noChangeArrowheads="1"/>
          </p:cNvSpPr>
          <p:nvPr/>
        </p:nvSpPr>
        <p:spPr bwMode="auto">
          <a:xfrm>
            <a:off x="1752600" y="20574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Key Stream</a:t>
            </a:r>
          </a:p>
        </p:txBody>
      </p:sp>
      <p:sp>
        <p:nvSpPr>
          <p:cNvPr id="13319" name="Rectangle 9">
            <a:extLst>
              <a:ext uri="{FF2B5EF4-FFF2-40B4-BE49-F238E27FC236}">
                <a16:creationId xmlns:a16="http://schemas.microsoft.com/office/drawing/2014/main" id="{87E25197-4031-4259-B7DE-84D21AEAFAC6}"/>
              </a:ext>
            </a:extLst>
          </p:cNvPr>
          <p:cNvSpPr>
            <a:spLocks noChangeArrowheads="1"/>
          </p:cNvSpPr>
          <p:nvPr/>
        </p:nvSpPr>
        <p:spPr bwMode="auto">
          <a:xfrm>
            <a:off x="1752600" y="31242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Plaintext</a:t>
            </a:r>
          </a:p>
        </p:txBody>
      </p:sp>
      <p:sp>
        <p:nvSpPr>
          <p:cNvPr id="13320" name="TextBox 7">
            <a:extLst>
              <a:ext uri="{FF2B5EF4-FFF2-40B4-BE49-F238E27FC236}">
                <a16:creationId xmlns:a16="http://schemas.microsoft.com/office/drawing/2014/main" id="{460A71F8-E01C-44A9-A0D0-8A49E3B035B1}"/>
              </a:ext>
            </a:extLst>
          </p:cNvPr>
          <p:cNvSpPr txBox="1">
            <a:spLocks noChangeArrowheads="1"/>
          </p:cNvSpPr>
          <p:nvPr/>
        </p:nvSpPr>
        <p:spPr bwMode="auto">
          <a:xfrm>
            <a:off x="2438400" y="1290638"/>
            <a:ext cx="3106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pt-BR" altLang="en-US">
                <a:ea typeface="宋体" panose="02010600030101010101" pitchFamily="2" charset="-122"/>
              </a:rPr>
              <a:t>C = E(K,P) = K</a:t>
            </a:r>
            <a:r>
              <a:rPr lang="pt-BR" altLang="en-US"/>
              <a:t> XOR P</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E47D36A-5D13-4BBC-B6F4-CC66205BD97D}"/>
              </a:ext>
            </a:extLst>
          </p:cNvPr>
          <p:cNvSpPr>
            <a:spLocks noGrp="1" noChangeArrowheads="1"/>
          </p:cNvSpPr>
          <p:nvPr>
            <p:ph type="title"/>
          </p:nvPr>
        </p:nvSpPr>
        <p:spPr/>
        <p:txBody>
          <a:bodyPr/>
          <a:lstStyle/>
          <a:p>
            <a:r>
              <a:rPr lang="en-US" altLang="en-US"/>
              <a:t>Example of Stream Decryption</a:t>
            </a:r>
          </a:p>
        </p:txBody>
      </p:sp>
      <p:sp>
        <p:nvSpPr>
          <p:cNvPr id="14339" name="Rectangle 3">
            <a:extLst>
              <a:ext uri="{FF2B5EF4-FFF2-40B4-BE49-F238E27FC236}">
                <a16:creationId xmlns:a16="http://schemas.microsoft.com/office/drawing/2014/main" id="{377A5153-1CDB-4A74-ABD2-1C89E20986F2}"/>
              </a:ext>
            </a:extLst>
          </p:cNvPr>
          <p:cNvSpPr>
            <a:spLocks noChangeArrowheads="1"/>
          </p:cNvSpPr>
          <p:nvPr/>
        </p:nvSpPr>
        <p:spPr bwMode="auto">
          <a:xfrm>
            <a:off x="3886200" y="3657600"/>
            <a:ext cx="762000" cy="4572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sym typeface="Symbol" panose="05050102010706020507" pitchFamily="18" charset="2"/>
              </a:rPr>
              <a:t>=</a:t>
            </a:r>
            <a:endParaRPr lang="en-US" altLang="en-US"/>
          </a:p>
        </p:txBody>
      </p:sp>
      <p:sp>
        <p:nvSpPr>
          <p:cNvPr id="14340" name="Rectangle 4">
            <a:extLst>
              <a:ext uri="{FF2B5EF4-FFF2-40B4-BE49-F238E27FC236}">
                <a16:creationId xmlns:a16="http://schemas.microsoft.com/office/drawing/2014/main" id="{DB4AA064-E916-4C32-B5A7-63100407CA0B}"/>
              </a:ext>
            </a:extLst>
          </p:cNvPr>
          <p:cNvSpPr>
            <a:spLocks noChangeArrowheads="1"/>
          </p:cNvSpPr>
          <p:nvPr/>
        </p:nvSpPr>
        <p:spPr bwMode="auto">
          <a:xfrm>
            <a:off x="3886200" y="2590800"/>
            <a:ext cx="762000" cy="4572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sym typeface="Symbol" panose="05050102010706020507" pitchFamily="18" charset="2"/>
              </a:rPr>
              <a:t></a:t>
            </a:r>
            <a:endParaRPr lang="en-US" altLang="en-US"/>
          </a:p>
        </p:txBody>
      </p:sp>
      <p:sp>
        <p:nvSpPr>
          <p:cNvPr id="14341" name="Rectangle 6">
            <a:extLst>
              <a:ext uri="{FF2B5EF4-FFF2-40B4-BE49-F238E27FC236}">
                <a16:creationId xmlns:a16="http://schemas.microsoft.com/office/drawing/2014/main" id="{CD13C9A5-4337-48C5-964A-32BA640F3477}"/>
              </a:ext>
            </a:extLst>
          </p:cNvPr>
          <p:cNvSpPr>
            <a:spLocks noChangeArrowheads="1"/>
          </p:cNvSpPr>
          <p:nvPr/>
        </p:nvSpPr>
        <p:spPr bwMode="auto">
          <a:xfrm>
            <a:off x="1752600" y="41148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Plaintext</a:t>
            </a:r>
          </a:p>
        </p:txBody>
      </p:sp>
      <p:sp>
        <p:nvSpPr>
          <p:cNvPr id="14342" name="Rectangle 7">
            <a:extLst>
              <a:ext uri="{FF2B5EF4-FFF2-40B4-BE49-F238E27FC236}">
                <a16:creationId xmlns:a16="http://schemas.microsoft.com/office/drawing/2014/main" id="{E20A0127-7D7E-47A1-88DB-1FF8AD5C3B70}"/>
              </a:ext>
            </a:extLst>
          </p:cNvPr>
          <p:cNvSpPr>
            <a:spLocks noChangeArrowheads="1"/>
          </p:cNvSpPr>
          <p:nvPr/>
        </p:nvSpPr>
        <p:spPr bwMode="auto">
          <a:xfrm>
            <a:off x="1752600" y="19812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Key Stream</a:t>
            </a:r>
          </a:p>
        </p:txBody>
      </p:sp>
      <p:sp>
        <p:nvSpPr>
          <p:cNvPr id="14343" name="Rectangle 8">
            <a:extLst>
              <a:ext uri="{FF2B5EF4-FFF2-40B4-BE49-F238E27FC236}">
                <a16:creationId xmlns:a16="http://schemas.microsoft.com/office/drawing/2014/main" id="{87DAD1C7-3796-4209-ACF6-BA231330E4A1}"/>
              </a:ext>
            </a:extLst>
          </p:cNvPr>
          <p:cNvSpPr>
            <a:spLocks noChangeArrowheads="1"/>
          </p:cNvSpPr>
          <p:nvPr/>
        </p:nvSpPr>
        <p:spPr bwMode="auto">
          <a:xfrm>
            <a:off x="1752600" y="3048000"/>
            <a:ext cx="5029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ctr" eaLnBrk="1" hangingPunct="1">
              <a:lnSpc>
                <a:spcPct val="100000"/>
              </a:lnSpc>
              <a:spcBef>
                <a:spcPct val="50000"/>
              </a:spcBef>
            </a:pPr>
            <a:r>
              <a:rPr lang="en-US" altLang="en-US"/>
              <a:t>Ciphertext</a:t>
            </a:r>
          </a:p>
        </p:txBody>
      </p:sp>
      <p:sp>
        <p:nvSpPr>
          <p:cNvPr id="14344" name="TextBox 1">
            <a:extLst>
              <a:ext uri="{FF2B5EF4-FFF2-40B4-BE49-F238E27FC236}">
                <a16:creationId xmlns:a16="http://schemas.microsoft.com/office/drawing/2014/main" id="{312DAFC9-6E3A-4BBC-96BB-7CAD40CA3C32}"/>
              </a:ext>
            </a:extLst>
          </p:cNvPr>
          <p:cNvSpPr txBox="1">
            <a:spLocks noChangeArrowheads="1"/>
          </p:cNvSpPr>
          <p:nvPr/>
        </p:nvSpPr>
        <p:spPr bwMode="auto">
          <a:xfrm>
            <a:off x="2438400" y="1290638"/>
            <a:ext cx="3163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pt-BR" altLang="en-US">
                <a:ea typeface="宋体" panose="02010600030101010101" pitchFamily="2" charset="-122"/>
              </a:rPr>
              <a:t>P = D(K,C) = K</a:t>
            </a:r>
            <a:r>
              <a:rPr lang="pt-BR" altLang="en-US"/>
              <a:t> XOR C</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a:extLst>
              <a:ext uri="{FF2B5EF4-FFF2-40B4-BE49-F238E27FC236}">
                <a16:creationId xmlns:a16="http://schemas.microsoft.com/office/drawing/2014/main" id="{E1F8006F-C76D-475E-8E3C-285AE7C61A1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19459" name="Slide Number Placeholder 5">
            <a:extLst>
              <a:ext uri="{FF2B5EF4-FFF2-40B4-BE49-F238E27FC236}">
                <a16:creationId xmlns:a16="http://schemas.microsoft.com/office/drawing/2014/main" id="{E371B8EB-4683-4994-902F-BC168C20701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CC65E98C-40F8-4562-A7E6-8260A38D51B6}" type="slidenum">
              <a:rPr lang="zh-CN" altLang="en-US" sz="1400"/>
              <a:pPr>
                <a:lnSpc>
                  <a:spcPct val="100000"/>
                </a:lnSpc>
                <a:spcBef>
                  <a:spcPct val="0"/>
                </a:spcBef>
              </a:pPr>
              <a:t>16</a:t>
            </a:fld>
            <a:endParaRPr lang="en-US" altLang="zh-CN" sz="1400"/>
          </a:p>
        </p:txBody>
      </p:sp>
      <p:sp>
        <p:nvSpPr>
          <p:cNvPr id="19460" name="Rectangle 2">
            <a:extLst>
              <a:ext uri="{FF2B5EF4-FFF2-40B4-BE49-F238E27FC236}">
                <a16:creationId xmlns:a16="http://schemas.microsoft.com/office/drawing/2014/main" id="{0AB357C7-C8D1-4BC0-84E9-9FD53BAAFE70}"/>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Properties of </a:t>
            </a:r>
            <a:r>
              <a:rPr lang="en-US" altLang="en-US" dirty="0"/>
              <a:t>XOR</a:t>
            </a:r>
            <a:r>
              <a:rPr lang="en-US" altLang="zh-CN" dirty="0">
                <a:ea typeface="宋体" panose="02010600030101010101" pitchFamily="2" charset="-122"/>
              </a:rPr>
              <a:t> Operations</a:t>
            </a:r>
            <a:endParaRPr lang="en-US" altLang="en-US" dirty="0"/>
          </a:p>
        </p:txBody>
      </p:sp>
      <p:sp>
        <p:nvSpPr>
          <p:cNvPr id="19461" name="Rectangle 3">
            <a:extLst>
              <a:ext uri="{FF2B5EF4-FFF2-40B4-BE49-F238E27FC236}">
                <a16:creationId xmlns:a16="http://schemas.microsoft.com/office/drawing/2014/main" id="{FF924659-2EE5-4D97-9916-C3DA9A2F27C9}"/>
              </a:ext>
            </a:extLst>
          </p:cNvPr>
          <p:cNvSpPr>
            <a:spLocks noGrp="1" noChangeArrowheads="1"/>
          </p:cNvSpPr>
          <p:nvPr>
            <p:ph type="body" idx="1"/>
          </p:nvPr>
        </p:nvSpPr>
        <p:spPr>
          <a:xfrm>
            <a:off x="629728" y="1524794"/>
            <a:ext cx="8229600" cy="4724400"/>
          </a:xfrm>
        </p:spPr>
        <p:txBody>
          <a:bodyPr>
            <a:normAutofit fontScale="47500" lnSpcReduction="20000"/>
          </a:bodyPr>
          <a:lstStyle/>
          <a:p>
            <a:pPr marL="0" indent="0" eaLnBrk="1" hangingPunct="1">
              <a:buNone/>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Properties of XOR operations: </a:t>
            </a:r>
          </a:p>
          <a:p>
            <a:pPr eaLnBrk="1" hangingPunct="1"/>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Commutativity: X XOR Y = Y XOR X</a:t>
            </a:r>
          </a:p>
          <a:p>
            <a:pPr eaLnBrk="1" hangingPunct="1"/>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Associativity: ( X XOR Y ) XOR Z =  X XOR ( Y  XOR Z ) = (X  XOR Y)  XOR Z </a:t>
            </a:r>
          </a:p>
          <a:p>
            <a:pPr eaLnBrk="1" hangingPunct="1"/>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pt-BR" altLang="en-US" sz="3600" dirty="0">
                <a:latin typeface="Times New Roman" panose="02020603050405020304" pitchFamily="18" charset="0"/>
                <a:cs typeface="Times New Roman" panose="02020603050405020304" pitchFamily="18" charset="0"/>
              </a:rPr>
              <a:t> XOR </a:t>
            </a:r>
            <a:r>
              <a:rPr lang="pt-BR"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pt-BR" altLang="en-US" sz="3600" dirty="0">
                <a:latin typeface="Times New Roman" panose="02020603050405020304" pitchFamily="18" charset="0"/>
                <a:cs typeface="Times New Roman" panose="02020603050405020304" pitchFamily="18" charset="0"/>
              </a:rPr>
              <a:t> = 0</a:t>
            </a:r>
          </a:p>
          <a:p>
            <a:pPr eaLnBrk="1" hangingPunct="1"/>
            <a:r>
              <a:rPr lang="pt-BR" altLang="en-US" sz="3600" dirty="0">
                <a:latin typeface="Times New Roman" panose="02020603050405020304" pitchFamily="18" charset="0"/>
                <a:cs typeface="Times New Roman" panose="02020603050405020304" pitchFamily="18" charset="0"/>
              </a:rPr>
              <a:t>X XOR X’ =1</a:t>
            </a:r>
          </a:p>
          <a:p>
            <a:pPr eaLnBrk="1" hangingPunct="1"/>
            <a:r>
              <a:rPr lang="pt-BR"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pt-BR" altLang="en-US" sz="3600" dirty="0">
                <a:latin typeface="Times New Roman" panose="02020603050405020304" pitchFamily="18" charset="0"/>
                <a:cs typeface="Times New Roman" panose="02020603050405020304" pitchFamily="18" charset="0"/>
              </a:rPr>
              <a:t> XOR 0 = </a:t>
            </a:r>
            <a:r>
              <a:rPr lang="pt-BR" altLang="en-US" sz="3600" dirty="0">
                <a:latin typeface="Times New Roman" panose="02020603050405020304" pitchFamily="18" charset="0"/>
                <a:ea typeface="宋体" panose="02010600030101010101" pitchFamily="2" charset="-122"/>
                <a:cs typeface="Times New Roman" panose="02020603050405020304" pitchFamily="18" charset="0"/>
              </a:rPr>
              <a:t>X</a:t>
            </a:r>
            <a:endParaRPr lang="pt-BR" altLang="en-US" sz="3600" dirty="0">
              <a:latin typeface="Times New Roman" panose="02020603050405020304" pitchFamily="18" charset="0"/>
              <a:cs typeface="Times New Roman" panose="02020603050405020304" pitchFamily="18" charset="0"/>
            </a:endParaRPr>
          </a:p>
          <a:p>
            <a:pPr eaLnBrk="1" hangingPunct="1"/>
            <a:r>
              <a:rPr lang="pt-BR"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pt-BR" altLang="en-US" sz="3600" dirty="0">
                <a:latin typeface="Times New Roman" panose="02020603050405020304" pitchFamily="18" charset="0"/>
                <a:cs typeface="Times New Roman" panose="02020603050405020304" pitchFamily="18" charset="0"/>
              </a:rPr>
              <a:t> XOR 1 = </a:t>
            </a:r>
            <a:r>
              <a:rPr lang="pt-BR"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pt-BR" altLang="zh-CN" sz="36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endParaRPr lang="pt-BR" altLang="zh-CN" sz="36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en-US" sz="3600" dirty="0">
                <a:latin typeface="Times New Roman" panose="02020603050405020304" pitchFamily="18" charset="0"/>
                <a:ea typeface="宋体" panose="02010600030101010101" pitchFamily="2" charset="-122"/>
                <a:cs typeface="Times New Roman" panose="02020603050405020304" pitchFamily="18" charset="0"/>
              </a:rPr>
              <a:t>X</a:t>
            </a:r>
            <a:r>
              <a:rPr lang="en-US" altLang="en-US" sz="3600" b="1" dirty="0">
                <a:solidFill>
                  <a:srgbClr val="000000"/>
                </a:solidFill>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X</a:t>
            </a:r>
            <a:r>
              <a:rPr lang="en-US" altLang="en-US" sz="3600" b="1" dirty="0">
                <a:solidFill>
                  <a:srgbClr val="000000"/>
                </a:solidFill>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X</a:t>
            </a:r>
            <a:r>
              <a:rPr lang="en-US" altLang="en-US" sz="3600" b="1" dirty="0">
                <a:solidFill>
                  <a:srgbClr val="000000"/>
                </a:solidFill>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K) =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X</a:t>
            </a:r>
            <a:r>
              <a:rPr lang="en-US" altLang="en-US" sz="3600" b="1" dirty="0">
                <a:solidFill>
                  <a:srgbClr val="000000"/>
                </a:solidFill>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XOR</a:t>
            </a:r>
            <a:r>
              <a:rPr lang="en-US" altLang="en-US" sz="3600" b="1" dirty="0">
                <a:solidFill>
                  <a:srgbClr val="000000"/>
                </a:solidFill>
                <a:latin typeface="Times New Roman" panose="02020603050405020304" pitchFamily="18" charset="0"/>
                <a:cs typeface="Times New Roman" panose="02020603050405020304" pitchFamily="18" charset="0"/>
              </a:rPr>
              <a:t>  0 = </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X</a:t>
            </a:r>
          </a:p>
          <a:p>
            <a:pPr eaLnBrk="1" hangingPunct="1"/>
            <a:endParaRPr lang="en-US" altLang="zh-CN" sz="36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None/>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X XOR Y’ = (X XOR Y)’, X’XOR Y = (X XOR Y)’</a:t>
            </a:r>
          </a:p>
          <a:p>
            <a:pPr eaLnBrk="1" hangingPunct="1"/>
            <a:endParaRPr lang="en-US" altLang="zh-CN" sz="2000" dirty="0">
              <a:ea typeface="宋体" panose="02010600030101010101" pitchFamily="2" charset="-122"/>
            </a:endParaRPr>
          </a:p>
          <a:p>
            <a:pPr marL="0" indent="0" eaLnBrk="1" hangingPunct="1">
              <a:buNone/>
            </a:pPr>
            <a:r>
              <a:rPr lang="en-US" altLang="zh-CN" sz="2000" dirty="0">
                <a:ea typeface="宋体" panose="02010600030101010101" pitchFamily="2" charset="-122"/>
              </a:rPr>
              <a:t>			</a:t>
            </a:r>
            <a:endParaRPr lang="en-US"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1">
            <a:extLst>
              <a:ext uri="{FF2B5EF4-FFF2-40B4-BE49-F238E27FC236}">
                <a16:creationId xmlns:a16="http://schemas.microsoft.com/office/drawing/2014/main" id="{512F5BF3-0C53-44BC-8B86-23077C43789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1507" name="Slide Number Placeholder 3">
            <a:extLst>
              <a:ext uri="{FF2B5EF4-FFF2-40B4-BE49-F238E27FC236}">
                <a16:creationId xmlns:a16="http://schemas.microsoft.com/office/drawing/2014/main" id="{73FE17CD-F2C5-42F9-9A92-CC54D093B40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021FF1DA-35B6-4AC4-9A43-B1846DE4D7C9}" type="slidenum">
              <a:rPr lang="zh-CN" altLang="en-US" sz="1400"/>
              <a:pPr>
                <a:lnSpc>
                  <a:spcPct val="100000"/>
                </a:lnSpc>
                <a:spcBef>
                  <a:spcPct val="0"/>
                </a:spcBef>
              </a:pPr>
              <a:t>17</a:t>
            </a:fld>
            <a:endParaRPr lang="en-US" altLang="zh-CN" sz="1400"/>
          </a:p>
        </p:txBody>
      </p:sp>
      <p:sp>
        <p:nvSpPr>
          <p:cNvPr id="1452034" name="Text Box 2">
            <a:extLst>
              <a:ext uri="{FF2B5EF4-FFF2-40B4-BE49-F238E27FC236}">
                <a16:creationId xmlns:a16="http://schemas.microsoft.com/office/drawing/2014/main" id="{020AF0EF-276D-44B8-BFD8-958F094E18D1}"/>
              </a:ext>
            </a:extLst>
          </p:cNvPr>
          <p:cNvSpPr txBox="1">
            <a:spLocks noChangeArrowheads="1"/>
          </p:cNvSpPr>
          <p:nvPr/>
        </p:nvSpPr>
        <p:spPr bwMode="auto">
          <a:xfrm>
            <a:off x="838200" y="498475"/>
            <a:ext cx="795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en-US" sz="3600" b="1">
                <a:solidFill>
                  <a:srgbClr val="C60000"/>
                </a:solidFill>
              </a:rPr>
              <a:t>Why</a:t>
            </a:r>
            <a:r>
              <a:rPr lang="en-US" altLang="en-US" sz="3200" b="1"/>
              <a:t> </a:t>
            </a:r>
            <a:r>
              <a:rPr lang="en-US" altLang="en-US" sz="3600" b="1">
                <a:solidFill>
                  <a:srgbClr val="C60000"/>
                </a:solidFill>
              </a:rPr>
              <a:t>One-Time Pad is provably secure?</a:t>
            </a:r>
          </a:p>
        </p:txBody>
      </p:sp>
      <p:sp>
        <p:nvSpPr>
          <p:cNvPr id="1452035" name="Text Box 3">
            <a:extLst>
              <a:ext uri="{FF2B5EF4-FFF2-40B4-BE49-F238E27FC236}">
                <a16:creationId xmlns:a16="http://schemas.microsoft.com/office/drawing/2014/main" id="{55A7EF6F-AFC0-4B4E-959F-73AFAC4972D4}"/>
              </a:ext>
            </a:extLst>
          </p:cNvPr>
          <p:cNvSpPr txBox="1">
            <a:spLocks noChangeArrowheads="1"/>
          </p:cNvSpPr>
          <p:nvPr/>
        </p:nvSpPr>
        <p:spPr bwMode="auto">
          <a:xfrm>
            <a:off x="822325" y="1273175"/>
            <a:ext cx="786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sym typeface="Symbol" panose="05050102010706020507" pitchFamily="18" charset="2"/>
            </a:endParaRPr>
          </a:p>
        </p:txBody>
      </p:sp>
      <p:sp>
        <p:nvSpPr>
          <p:cNvPr id="1452036" name="Text Box 4">
            <a:extLst>
              <a:ext uri="{FF2B5EF4-FFF2-40B4-BE49-F238E27FC236}">
                <a16:creationId xmlns:a16="http://schemas.microsoft.com/office/drawing/2014/main" id="{8A970989-A7B7-4065-9685-FD4BA1CDFB72}"/>
              </a:ext>
            </a:extLst>
          </p:cNvPr>
          <p:cNvSpPr txBox="1">
            <a:spLocks noChangeArrowheads="1"/>
          </p:cNvSpPr>
          <p:nvPr/>
        </p:nvSpPr>
        <p:spPr bwMode="auto">
          <a:xfrm>
            <a:off x="822325" y="1273175"/>
            <a:ext cx="7864475"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nSpc>
                <a:spcPct val="95000"/>
              </a:lnSpc>
              <a:spcBef>
                <a:spcPct val="20000"/>
              </a:spcBef>
              <a:defRPr sz="2400">
                <a:solidFill>
                  <a:schemeClr val="tx1"/>
                </a:solidFill>
                <a:latin typeface="Times New Roman" panose="02020603050405020304" pitchFamily="18" charset="0"/>
              </a:defRPr>
            </a:lvl1pPr>
            <a:lvl2pPr marL="914400" indent="-45720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en-US" b="1">
                <a:sym typeface="Symbol" panose="05050102010706020507" pitchFamily="18" charset="2"/>
              </a:rPr>
              <a:t>Or how can we prove it is unbreakable?</a:t>
            </a:r>
          </a:p>
          <a:p>
            <a:pPr eaLnBrk="1" hangingPunct="1">
              <a:lnSpc>
                <a:spcPct val="100000"/>
              </a:lnSpc>
              <a:spcBef>
                <a:spcPct val="0"/>
              </a:spcBef>
            </a:pPr>
            <a:endParaRPr lang="en-US" altLang="en-US" b="1">
              <a:sym typeface="Symbol" panose="05050102010706020507" pitchFamily="18" charset="2"/>
            </a:endParaRPr>
          </a:p>
          <a:p>
            <a:pPr eaLnBrk="1" hangingPunct="1">
              <a:lnSpc>
                <a:spcPct val="100000"/>
              </a:lnSpc>
              <a:spcBef>
                <a:spcPct val="0"/>
              </a:spcBef>
              <a:buFontTx/>
              <a:buChar char="•"/>
            </a:pPr>
            <a:r>
              <a:rPr lang="en-US" altLang="en-US">
                <a:sym typeface="Symbol" panose="05050102010706020507" pitchFamily="18" charset="2"/>
              </a:rPr>
              <a:t> The security depends on the randomness of the key.</a:t>
            </a:r>
          </a:p>
          <a:p>
            <a:pPr eaLnBrk="1" hangingPunct="1">
              <a:lnSpc>
                <a:spcPct val="100000"/>
              </a:lnSpc>
              <a:spcBef>
                <a:spcPct val="0"/>
              </a:spcBef>
              <a:buFontTx/>
              <a:buChar char="•"/>
            </a:pPr>
            <a:r>
              <a:rPr lang="en-US" altLang="en-US">
                <a:sym typeface="Symbol" panose="05050102010706020507" pitchFamily="18" charset="2"/>
              </a:rPr>
              <a:t> It is hard to define randomness.</a:t>
            </a:r>
          </a:p>
          <a:p>
            <a:pPr eaLnBrk="1" hangingPunct="1">
              <a:lnSpc>
                <a:spcPct val="100000"/>
              </a:lnSpc>
              <a:spcBef>
                <a:spcPct val="0"/>
              </a:spcBef>
              <a:buFontTx/>
              <a:buChar char="•"/>
            </a:pPr>
            <a:r>
              <a:rPr lang="en-US" altLang="en-US">
                <a:sym typeface="Symbol" panose="05050102010706020507" pitchFamily="18" charset="2"/>
              </a:rPr>
              <a:t> In cryptographic context, we seek two fundamental properties in a binary random key sequence:</a:t>
            </a:r>
          </a:p>
          <a:p>
            <a:pPr lvl="1" eaLnBrk="1" hangingPunct="1">
              <a:lnSpc>
                <a:spcPct val="100000"/>
              </a:lnSpc>
              <a:spcBef>
                <a:spcPct val="0"/>
              </a:spcBef>
              <a:buClrTx/>
              <a:buFontTx/>
              <a:buAutoNum type="arabicPeriod"/>
            </a:pPr>
            <a:r>
              <a:rPr lang="en-US" altLang="en-US" sz="2400" i="1">
                <a:sym typeface="Symbol" panose="05050102010706020507" pitchFamily="18" charset="2"/>
              </a:rPr>
              <a:t>Unpredictability:</a:t>
            </a:r>
            <a:r>
              <a:rPr lang="en-US" altLang="en-US" sz="2400">
                <a:sym typeface="Symbol" panose="05050102010706020507" pitchFamily="18" charset="2"/>
              </a:rPr>
              <a:t> Independent of the number of the bits of a sequence observed, the probability of guessing</a:t>
            </a:r>
            <a:br>
              <a:rPr lang="en-US" altLang="en-US" sz="2400">
                <a:sym typeface="Symbol" panose="05050102010706020507" pitchFamily="18" charset="2"/>
              </a:rPr>
            </a:br>
            <a:r>
              <a:rPr lang="en-US" altLang="en-US" sz="2400">
                <a:sym typeface="Symbol" panose="05050102010706020507" pitchFamily="18" charset="2"/>
              </a:rPr>
              <a:t>the next bit is not better than ½. Therefore, the probability of a certain bit being 1 or 0 is exactly equal to ½.</a:t>
            </a:r>
          </a:p>
          <a:p>
            <a:pPr lvl="1" eaLnBrk="1" hangingPunct="1">
              <a:lnSpc>
                <a:spcPct val="100000"/>
              </a:lnSpc>
              <a:spcBef>
                <a:spcPct val="0"/>
              </a:spcBef>
              <a:buClrTx/>
              <a:buFontTx/>
              <a:buAutoNum type="arabicPeriod"/>
            </a:pPr>
            <a:r>
              <a:rPr lang="en-US" altLang="en-US" sz="2400" i="1">
                <a:sym typeface="Symbol" panose="05050102010706020507" pitchFamily="18" charset="2"/>
              </a:rPr>
              <a:t>Balanced (Equal Distribution): </a:t>
            </a:r>
            <a:r>
              <a:rPr lang="en-US" altLang="en-US" sz="2400">
                <a:sym typeface="Symbol" panose="05050102010706020507" pitchFamily="18" charset="2"/>
              </a:rPr>
              <a:t>The number of 1’s and 0’s should be equal.</a:t>
            </a:r>
            <a:br>
              <a:rPr lang="en-US" altLang="en-US" sz="2400">
                <a:sym typeface="Symbol" panose="05050102010706020507" pitchFamily="18" charset="2"/>
              </a:rPr>
            </a:br>
            <a:r>
              <a:rPr lang="en-US" altLang="en-US" sz="2400">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52034"/>
                                        </p:tgtEl>
                                        <p:attrNameLst>
                                          <p:attrName>style.visibility</p:attrName>
                                        </p:attrNameLst>
                                      </p:cBhvr>
                                      <p:to>
                                        <p:strVal val="visible"/>
                                      </p:to>
                                    </p:set>
                                    <p:animEffect transition="in" filter="dissolve">
                                      <p:cBhvr>
                                        <p:cTn id="7" dur="500"/>
                                        <p:tgtEl>
                                          <p:spTgt spid="1452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52035"/>
                                        </p:tgtEl>
                                        <p:attrNameLst>
                                          <p:attrName>style.visibility</p:attrName>
                                        </p:attrNameLst>
                                      </p:cBhvr>
                                      <p:to>
                                        <p:strVal val="visible"/>
                                      </p:to>
                                    </p:set>
                                    <p:animEffect transition="in" filter="dissolve">
                                      <p:cBhvr>
                                        <p:cTn id="12" dur="500"/>
                                        <p:tgtEl>
                                          <p:spTgt spid="1452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52036"/>
                                        </p:tgtEl>
                                        <p:attrNameLst>
                                          <p:attrName>style.visibility</p:attrName>
                                        </p:attrNameLst>
                                      </p:cBhvr>
                                      <p:to>
                                        <p:strVal val="visible"/>
                                      </p:to>
                                    </p:set>
                                    <p:animEffect transition="in" filter="dissolve">
                                      <p:cBhvr>
                                        <p:cTn id="17" dur="500"/>
                                        <p:tgtEl>
                                          <p:spTgt spid="1452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34" grpId="0" autoUpdateAnimBg="0"/>
      <p:bldP spid="1452035" grpId="0" autoUpdateAnimBg="0"/>
      <p:bldP spid="145203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1">
            <a:extLst>
              <a:ext uri="{FF2B5EF4-FFF2-40B4-BE49-F238E27FC236}">
                <a16:creationId xmlns:a16="http://schemas.microsoft.com/office/drawing/2014/main" id="{B96C3AEB-2D08-49E6-A472-15E8C8EA1E4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3555" name="Slide Number Placeholder 3">
            <a:extLst>
              <a:ext uri="{FF2B5EF4-FFF2-40B4-BE49-F238E27FC236}">
                <a16:creationId xmlns:a16="http://schemas.microsoft.com/office/drawing/2014/main" id="{03C7478D-DDCD-4B32-B6E7-53B70352464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7765CD85-6AC2-4440-BEAF-26A5F1EFA65D}" type="slidenum">
              <a:rPr lang="zh-CN" altLang="en-US" sz="1400"/>
              <a:pPr>
                <a:lnSpc>
                  <a:spcPct val="100000"/>
                </a:lnSpc>
                <a:spcBef>
                  <a:spcPct val="0"/>
                </a:spcBef>
              </a:pPr>
              <a:t>18</a:t>
            </a:fld>
            <a:endParaRPr lang="en-US" altLang="zh-CN" sz="1400"/>
          </a:p>
        </p:txBody>
      </p:sp>
      <p:sp>
        <p:nvSpPr>
          <p:cNvPr id="1452034" name="Text Box 2">
            <a:extLst>
              <a:ext uri="{FF2B5EF4-FFF2-40B4-BE49-F238E27FC236}">
                <a16:creationId xmlns:a16="http://schemas.microsoft.com/office/drawing/2014/main" id="{02948E89-43AB-44FE-ACDB-F9AAD41B6EF8}"/>
              </a:ext>
            </a:extLst>
          </p:cNvPr>
          <p:cNvSpPr txBox="1">
            <a:spLocks noChangeArrowheads="1"/>
          </p:cNvSpPr>
          <p:nvPr/>
        </p:nvSpPr>
        <p:spPr bwMode="auto">
          <a:xfrm>
            <a:off x="733425" y="398463"/>
            <a:ext cx="6831013"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en-US" sz="3600" b="1">
                <a:solidFill>
                  <a:srgbClr val="C60000"/>
                </a:solidFill>
              </a:rPr>
              <a:t>The Challenges of One-Time Pad</a:t>
            </a:r>
          </a:p>
        </p:txBody>
      </p:sp>
      <p:sp>
        <p:nvSpPr>
          <p:cNvPr id="1452035" name="Text Box 3">
            <a:extLst>
              <a:ext uri="{FF2B5EF4-FFF2-40B4-BE49-F238E27FC236}">
                <a16:creationId xmlns:a16="http://schemas.microsoft.com/office/drawing/2014/main" id="{AD840858-48E6-4342-AFB5-5A40AEB05988}"/>
              </a:ext>
            </a:extLst>
          </p:cNvPr>
          <p:cNvSpPr txBox="1">
            <a:spLocks noChangeArrowheads="1"/>
          </p:cNvSpPr>
          <p:nvPr/>
        </p:nvSpPr>
        <p:spPr bwMode="auto">
          <a:xfrm>
            <a:off x="822325" y="1273175"/>
            <a:ext cx="786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endParaRPr lang="en-US" altLang="en-US">
              <a:sym typeface="Symbol" panose="05050102010706020507" pitchFamily="18" charset="2"/>
            </a:endParaRPr>
          </a:p>
        </p:txBody>
      </p:sp>
      <p:sp>
        <p:nvSpPr>
          <p:cNvPr id="1452036" name="Text Box 4">
            <a:extLst>
              <a:ext uri="{FF2B5EF4-FFF2-40B4-BE49-F238E27FC236}">
                <a16:creationId xmlns:a16="http://schemas.microsoft.com/office/drawing/2014/main" id="{8632AFD7-DB56-4883-96F3-766497358CCB}"/>
              </a:ext>
            </a:extLst>
          </p:cNvPr>
          <p:cNvSpPr txBox="1">
            <a:spLocks noChangeArrowheads="1"/>
          </p:cNvSpPr>
          <p:nvPr/>
        </p:nvSpPr>
        <p:spPr bwMode="auto">
          <a:xfrm>
            <a:off x="822325" y="1273175"/>
            <a:ext cx="78644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nSpc>
                <a:spcPct val="95000"/>
              </a:lnSpc>
              <a:spcBef>
                <a:spcPct val="20000"/>
              </a:spcBef>
              <a:defRPr sz="2400">
                <a:solidFill>
                  <a:schemeClr val="tx1"/>
                </a:solidFill>
                <a:latin typeface="Times New Roman" panose="02020603050405020304" pitchFamily="18" charset="0"/>
              </a:defRPr>
            </a:lvl1pPr>
            <a:lvl2pPr marL="914400" indent="-45720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lvl="1" eaLnBrk="1" hangingPunct="1">
              <a:lnSpc>
                <a:spcPct val="100000"/>
              </a:lnSpc>
              <a:spcBef>
                <a:spcPct val="0"/>
              </a:spcBef>
              <a:buClrTx/>
              <a:buFontTx/>
              <a:buAutoNum type="arabicPeriod"/>
            </a:pPr>
            <a:r>
              <a:rPr lang="en-US" altLang="en-US" sz="2400" i="1">
                <a:sym typeface="Symbol" panose="05050102010706020507" pitchFamily="18" charset="2"/>
              </a:rPr>
              <a:t>It is challenging to generate large quantities of random keys</a:t>
            </a:r>
            <a:endParaRPr lang="en-US" altLang="en-US" sz="2400">
              <a:sym typeface="Symbol" panose="05050102010706020507" pitchFamily="18" charset="2"/>
            </a:endParaRPr>
          </a:p>
          <a:p>
            <a:pPr lvl="1" eaLnBrk="1" hangingPunct="1">
              <a:lnSpc>
                <a:spcPct val="100000"/>
              </a:lnSpc>
              <a:spcBef>
                <a:spcPct val="0"/>
              </a:spcBef>
              <a:buClrTx/>
              <a:buFontTx/>
              <a:buAutoNum type="arabicPeriod"/>
            </a:pPr>
            <a:r>
              <a:rPr lang="en-US" altLang="en-US" sz="2400" i="1">
                <a:sym typeface="Symbol" panose="05050102010706020507" pitchFamily="18" charset="2"/>
              </a:rPr>
              <a:t>Key distribution and protection is a daunting task </a:t>
            </a:r>
            <a:r>
              <a:rPr lang="en-US" altLang="en-US" sz="2400">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52034"/>
                                        </p:tgtEl>
                                        <p:attrNameLst>
                                          <p:attrName>style.visibility</p:attrName>
                                        </p:attrNameLst>
                                      </p:cBhvr>
                                      <p:to>
                                        <p:strVal val="visible"/>
                                      </p:to>
                                    </p:set>
                                    <p:animEffect transition="in" filter="dissolve">
                                      <p:cBhvr>
                                        <p:cTn id="7" dur="500"/>
                                        <p:tgtEl>
                                          <p:spTgt spid="1452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52035"/>
                                        </p:tgtEl>
                                        <p:attrNameLst>
                                          <p:attrName>style.visibility</p:attrName>
                                        </p:attrNameLst>
                                      </p:cBhvr>
                                      <p:to>
                                        <p:strVal val="visible"/>
                                      </p:to>
                                    </p:set>
                                    <p:animEffect transition="in" filter="dissolve">
                                      <p:cBhvr>
                                        <p:cTn id="12" dur="500"/>
                                        <p:tgtEl>
                                          <p:spTgt spid="1452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52036"/>
                                        </p:tgtEl>
                                        <p:attrNameLst>
                                          <p:attrName>style.visibility</p:attrName>
                                        </p:attrNameLst>
                                      </p:cBhvr>
                                      <p:to>
                                        <p:strVal val="visible"/>
                                      </p:to>
                                    </p:set>
                                    <p:animEffect transition="in" filter="dissolve">
                                      <p:cBhvr>
                                        <p:cTn id="17" dur="500"/>
                                        <p:tgtEl>
                                          <p:spTgt spid="1452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34" grpId="0" autoUpdateAnimBg="0"/>
      <p:bldP spid="1452035" grpId="0" autoUpdateAnimBg="0"/>
      <p:bldP spid="145203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1945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F00A184B-072C-4D7B-B10A-EF340DAA81FA}" type="slidenum">
              <a:rPr lang="zh-CN" altLang="en-US" sz="1400" smtClean="0"/>
              <a:pPr>
                <a:lnSpc>
                  <a:spcPct val="100000"/>
                </a:lnSpc>
                <a:spcBef>
                  <a:spcPct val="0"/>
                </a:spcBef>
              </a:pPr>
              <a:t>19</a:t>
            </a:fld>
            <a:endParaRPr lang="en-US" altLang="zh-CN" sz="1400"/>
          </a:p>
        </p:txBody>
      </p:sp>
      <p:sp>
        <p:nvSpPr>
          <p:cNvPr id="19460" name="Rectangle 2"/>
          <p:cNvSpPr>
            <a:spLocks noGrp="1" noChangeArrowheads="1"/>
          </p:cNvSpPr>
          <p:nvPr>
            <p:ph type="title"/>
          </p:nvPr>
        </p:nvSpPr>
        <p:spPr/>
        <p:txBody>
          <a:bodyPr/>
          <a:lstStyle/>
          <a:p>
            <a:pPr eaLnBrk="1" hangingPunct="1"/>
            <a:r>
              <a:rPr lang="en-US" altLang="zh-CN">
                <a:ea typeface="宋体" panose="02010600030101010101" pitchFamily="2" charset="-122"/>
              </a:rPr>
              <a:t>Advanced Encryption Standard</a:t>
            </a:r>
            <a:endParaRPr lang="en-US" altLang="en-US">
              <a:ea typeface="宋体" panose="02010600030101010101" pitchFamily="2" charset="-122"/>
            </a:endParaRPr>
          </a:p>
        </p:txBody>
      </p:sp>
      <p:sp>
        <p:nvSpPr>
          <p:cNvPr id="19461" name="Rectangle 3"/>
          <p:cNvSpPr>
            <a:spLocks noGrp="1" noChangeArrowheads="1"/>
          </p:cNvSpPr>
          <p:nvPr>
            <p:ph type="body" idx="1"/>
          </p:nvPr>
        </p:nvSpPr>
        <p:spPr/>
        <p:txBody>
          <a:bodyPr/>
          <a:lstStyle/>
          <a:p>
            <a:pPr eaLnBrk="1" hangingPunct="1"/>
            <a:r>
              <a:rPr lang="en-US" altLang="en-US"/>
              <a:t>Also called Rijndael</a:t>
            </a:r>
            <a:r>
              <a:rPr lang="en-US" altLang="zh-CN">
                <a:ea typeface="宋体" panose="02010600030101010101" pitchFamily="2" charset="-122"/>
              </a:rPr>
              <a:t> </a:t>
            </a:r>
            <a:r>
              <a:rPr lang="en-US" altLang="en-US"/>
              <a:t>Algorithm</a:t>
            </a:r>
          </a:p>
          <a:p>
            <a:pPr eaLnBrk="1" hangingPunct="1"/>
            <a:r>
              <a:rPr lang="en-US" altLang="en-US"/>
              <a:t>128 bit blocks, keys:-128, 192,256 bits long</a:t>
            </a:r>
          </a:p>
          <a:p>
            <a:pPr eaLnBrk="1" hangingPunct="1"/>
            <a:r>
              <a:rPr lang="en-US" altLang="en-US"/>
              <a:t>NIST (National Institute of Standards and Technology) estimates that a machine that could crack 56-bit DES in one second (2</a:t>
            </a:r>
            <a:r>
              <a:rPr lang="en-US" altLang="zh-CN">
                <a:ea typeface="宋体" panose="02010600030101010101" pitchFamily="2" charset="-122"/>
              </a:rPr>
              <a:t>^</a:t>
            </a:r>
            <a:r>
              <a:rPr lang="en-US" altLang="en-US"/>
              <a:t>55 keys per second) would take approx. 149 trillion years to crack a 128-bit AES key.</a:t>
            </a:r>
          </a:p>
        </p:txBody>
      </p:sp>
      <p:pic>
        <p:nvPicPr>
          <p:cNvPr id="1946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106863"/>
            <a:ext cx="8077200"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5586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1507"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B14503CD-C7FA-4C5D-B38C-97D68244A1E9}" type="slidenum">
              <a:rPr lang="zh-CN" altLang="en-US" sz="1400" smtClean="0"/>
              <a:pPr>
                <a:lnSpc>
                  <a:spcPct val="100000"/>
                </a:lnSpc>
                <a:spcBef>
                  <a:spcPct val="0"/>
                </a:spcBef>
              </a:pPr>
              <a:t>20</a:t>
            </a:fld>
            <a:endParaRPr lang="en-US" altLang="zh-CN" sz="1400"/>
          </a:p>
        </p:txBody>
      </p:sp>
      <p:sp>
        <p:nvSpPr>
          <p:cNvPr id="21508" name="Rectangle 2"/>
          <p:cNvSpPr>
            <a:spLocks noGrp="1" noChangeArrowheads="1"/>
          </p:cNvSpPr>
          <p:nvPr>
            <p:ph type="title"/>
          </p:nvPr>
        </p:nvSpPr>
        <p:spPr/>
        <p:txBody>
          <a:bodyPr/>
          <a:lstStyle/>
          <a:p>
            <a:pPr eaLnBrk="1" hangingPunct="1"/>
            <a:r>
              <a:rPr lang="en-US" altLang="zh-CN" sz="4000">
                <a:ea typeface="宋体" panose="02010600030101010101" pitchFamily="2" charset="-122"/>
              </a:rPr>
              <a:t>Advanced Encryption Standard</a:t>
            </a:r>
            <a:endParaRPr lang="en-US" altLang="en-US" sz="4000">
              <a:ea typeface="宋体" panose="02010600030101010101" pitchFamily="2" charset="-122"/>
            </a:endParaRPr>
          </a:p>
        </p:txBody>
      </p:sp>
      <p:pic>
        <p:nvPicPr>
          <p:cNvPr id="2150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066800"/>
            <a:ext cx="6492875"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121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3555"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86EEC57D-A3A6-460C-A942-4968FD7A6D3F}" type="slidenum">
              <a:rPr lang="zh-CN" altLang="en-US" sz="1400" smtClean="0"/>
              <a:pPr>
                <a:lnSpc>
                  <a:spcPct val="100000"/>
                </a:lnSpc>
                <a:spcBef>
                  <a:spcPct val="0"/>
                </a:spcBef>
              </a:pPr>
              <a:t>21</a:t>
            </a:fld>
            <a:endParaRPr lang="en-US" altLang="zh-CN" sz="1400"/>
          </a:p>
        </p:txBody>
      </p:sp>
      <p:sp>
        <p:nvSpPr>
          <p:cNvPr id="23556" name="Rectangle 2"/>
          <p:cNvSpPr>
            <a:spLocks noGrp="1" noChangeArrowheads="1"/>
          </p:cNvSpPr>
          <p:nvPr>
            <p:ph type="title"/>
          </p:nvPr>
        </p:nvSpPr>
        <p:spPr/>
        <p:txBody>
          <a:bodyPr/>
          <a:lstStyle/>
          <a:p>
            <a:pPr eaLnBrk="1" hangingPunct="1"/>
            <a:r>
              <a:rPr lang="en-US" altLang="zh-CN" sz="4000">
                <a:ea typeface="宋体" panose="02010600030101010101" pitchFamily="2" charset="-122"/>
              </a:rPr>
              <a:t>Advanced Encryption Standard</a:t>
            </a:r>
            <a:endParaRPr lang="en-US" altLang="en-US" sz="4000">
              <a:ea typeface="宋体" panose="02010600030101010101" pitchFamily="2" charset="-122"/>
            </a:endParaRPr>
          </a:p>
        </p:txBody>
      </p:sp>
      <p:pic>
        <p:nvPicPr>
          <p:cNvPr id="2355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828800"/>
            <a:ext cx="6172200" cy="334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5209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5603"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72564FCE-250D-47DE-A568-BE832922C97F}" type="slidenum">
              <a:rPr lang="zh-CN" altLang="en-US" sz="1400" smtClean="0"/>
              <a:pPr>
                <a:lnSpc>
                  <a:spcPct val="100000"/>
                </a:lnSpc>
                <a:spcBef>
                  <a:spcPct val="0"/>
                </a:spcBef>
              </a:pPr>
              <a:t>22</a:t>
            </a:fld>
            <a:endParaRPr lang="en-US" altLang="zh-CN" sz="1400"/>
          </a:p>
        </p:txBody>
      </p:sp>
      <p:sp>
        <p:nvSpPr>
          <p:cNvPr id="25604" name="Rectangle 2"/>
          <p:cNvSpPr>
            <a:spLocks noGrp="1" noChangeArrowheads="1"/>
          </p:cNvSpPr>
          <p:nvPr>
            <p:ph type="title"/>
          </p:nvPr>
        </p:nvSpPr>
        <p:spPr/>
        <p:txBody>
          <a:bodyPr/>
          <a:lstStyle/>
          <a:p>
            <a:pPr eaLnBrk="1" hangingPunct="1"/>
            <a:r>
              <a:rPr lang="en-US" altLang="zh-CN" sz="4000">
                <a:ea typeface="宋体" panose="02010600030101010101" pitchFamily="2" charset="-122"/>
              </a:rPr>
              <a:t>Advanced Encryption Standard</a:t>
            </a:r>
            <a:endParaRPr lang="en-US" altLang="en-US" sz="4000">
              <a:ea typeface="宋体" panose="02010600030101010101" pitchFamily="2" charset="-122"/>
            </a:endParaRPr>
          </a:p>
        </p:txBody>
      </p:sp>
      <p:pic>
        <p:nvPicPr>
          <p:cNvPr id="2560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752600"/>
            <a:ext cx="5437188"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2647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p:cNvPicPr>
            <a:picLocks noChangeAspect="1"/>
          </p:cNvPicPr>
          <p:nvPr/>
        </p:nvPicPr>
        <p:blipFill>
          <a:blip r:embed="rId3">
            <a:extLst>
              <a:ext uri="{28A0092B-C50C-407E-A947-70E740481C1C}">
                <a14:useLocalDpi xmlns:a14="http://schemas.microsoft.com/office/drawing/2010/main" val="0"/>
              </a:ext>
            </a:extLst>
          </a:blip>
          <a:srcRect r="3020" b="3944"/>
          <a:stretch>
            <a:fillRect/>
          </a:stretch>
        </p:blipFill>
        <p:spPr bwMode="auto">
          <a:xfrm>
            <a:off x="685800" y="746125"/>
            <a:ext cx="7745413" cy="5870575"/>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662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52400"/>
            <a:ext cx="11144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9829886"/>
      </p:ext>
    </p:extLst>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8D1600D9-AA8F-47DC-80BE-D9A373CF75D9}"/>
              </a:ext>
            </a:extLst>
          </p:cNvPr>
          <p:cNvSpPr>
            <a:spLocks noGrp="1"/>
          </p:cNvSpPr>
          <p:nvPr>
            <p:ph type="title"/>
          </p:nvPr>
        </p:nvSpPr>
        <p:spPr>
          <a:xfrm>
            <a:off x="0" y="304800"/>
            <a:ext cx="8839200" cy="762000"/>
          </a:xfrm>
        </p:spPr>
        <p:txBody>
          <a:bodyPr>
            <a:normAutofit fontScale="90000"/>
          </a:bodyPr>
          <a:lstStyle/>
          <a:p>
            <a:pPr eaLnBrk="1" hangingPunct="1"/>
            <a:r>
              <a:rPr lang="en-US" altLang="en-US"/>
              <a:t>Converting Block Cipher to Stream Cipher</a:t>
            </a:r>
          </a:p>
        </p:txBody>
      </p:sp>
      <p:sp>
        <p:nvSpPr>
          <p:cNvPr id="46083" name="Content Placeholder 2">
            <a:extLst>
              <a:ext uri="{FF2B5EF4-FFF2-40B4-BE49-F238E27FC236}">
                <a16:creationId xmlns:a16="http://schemas.microsoft.com/office/drawing/2014/main" id="{C9D99FC2-B7E6-41EC-9B87-F2203C044124}"/>
              </a:ext>
            </a:extLst>
          </p:cNvPr>
          <p:cNvSpPr>
            <a:spLocks noGrp="1"/>
          </p:cNvSpPr>
          <p:nvPr>
            <p:ph sz="half" idx="1"/>
          </p:nvPr>
        </p:nvSpPr>
        <p:spPr>
          <a:xfrm>
            <a:off x="381000" y="2286000"/>
            <a:ext cx="4038600" cy="4303713"/>
          </a:xfrm>
        </p:spPr>
        <p:txBody>
          <a:bodyPr/>
          <a:lstStyle/>
          <a:p>
            <a:pPr marL="0" indent="0" eaLnBrk="1" hangingPunct="1"/>
            <a:r>
              <a:rPr lang="en-US" altLang="en-US"/>
              <a:t>For AES, DES, or any block cipher, encryption is performed on a block of </a:t>
            </a:r>
            <a:r>
              <a:rPr lang="en-US" altLang="en-US" i="1"/>
              <a:t>b </a:t>
            </a:r>
            <a:r>
              <a:rPr lang="en-US" altLang="en-US"/>
              <a:t>bits</a:t>
            </a:r>
          </a:p>
          <a:p>
            <a:pPr lvl="1" eaLnBrk="1" hangingPunct="1"/>
            <a:r>
              <a:rPr lang="en-US" altLang="en-US"/>
              <a:t>In the case of DES </a:t>
            </a:r>
            <a:r>
              <a:rPr lang="en-US" altLang="en-US" i="1"/>
              <a:t>b </a:t>
            </a:r>
            <a:r>
              <a:rPr lang="en-US" altLang="en-US"/>
              <a:t>= 64</a:t>
            </a:r>
          </a:p>
          <a:p>
            <a:pPr lvl="1" eaLnBrk="1" hangingPunct="1"/>
            <a:r>
              <a:rPr lang="en-US" altLang="en-US"/>
              <a:t>In the case of AES </a:t>
            </a:r>
            <a:r>
              <a:rPr lang="en-US" altLang="en-US" i="1"/>
              <a:t>b </a:t>
            </a:r>
            <a:r>
              <a:rPr lang="en-US" altLang="en-US"/>
              <a:t>= 128</a:t>
            </a:r>
          </a:p>
        </p:txBody>
      </p:sp>
      <p:graphicFrame>
        <p:nvGraphicFramePr>
          <p:cNvPr id="5" name="Content Placeholder 4">
            <a:extLst>
              <a:ext uri="{FF2B5EF4-FFF2-40B4-BE49-F238E27FC236}">
                <a16:creationId xmlns:a16="http://schemas.microsoft.com/office/drawing/2014/main" id="{B3EDC8BB-F057-43B6-8789-5F8E31918D42}"/>
              </a:ext>
            </a:extLst>
          </p:cNvPr>
          <p:cNvGraphicFramePr>
            <a:graphicFrameLocks noGrp="1"/>
          </p:cNvGraphicFramePr>
          <p:nvPr>
            <p:ph sz="half" idx="2"/>
          </p:nvPr>
        </p:nvGraphicFramePr>
        <p:xfrm>
          <a:off x="3657600" y="1774825"/>
          <a:ext cx="5257801" cy="4854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a:extLst>
              <a:ext uri="{FF2B5EF4-FFF2-40B4-BE49-F238E27FC236}">
                <a16:creationId xmlns:a16="http://schemas.microsoft.com/office/drawing/2014/main" id="{D45DF8D4-06A9-413C-95AF-36F780384F31}"/>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ea typeface="SimSun" panose="02010600030101010101" pitchFamily="2" charset="-122"/>
              </a:rPr>
              <a:t>CEG 260, Meilin Liu </a:t>
            </a:r>
          </a:p>
        </p:txBody>
      </p:sp>
      <p:sp>
        <p:nvSpPr>
          <p:cNvPr id="8195" name="Slide Number Placeholder 5">
            <a:extLst>
              <a:ext uri="{FF2B5EF4-FFF2-40B4-BE49-F238E27FC236}">
                <a16:creationId xmlns:a16="http://schemas.microsoft.com/office/drawing/2014/main" id="{5AD7A112-52F9-4349-A54F-9BD9E9312350}"/>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C419CE3-7CAE-4E4C-9F59-8A11C7067022}" type="slidenum">
              <a:rPr lang="zh-CN" altLang="en-US" sz="1400"/>
              <a:pPr>
                <a:lnSpc>
                  <a:spcPct val="100000"/>
                </a:lnSpc>
                <a:spcBef>
                  <a:spcPct val="0"/>
                </a:spcBef>
              </a:pPr>
              <a:t>25</a:t>
            </a:fld>
            <a:endParaRPr lang="en-US" altLang="zh-CN" sz="1400"/>
          </a:p>
        </p:txBody>
      </p:sp>
      <p:sp>
        <p:nvSpPr>
          <p:cNvPr id="8196" name="Rectangle 2">
            <a:extLst>
              <a:ext uri="{FF2B5EF4-FFF2-40B4-BE49-F238E27FC236}">
                <a16:creationId xmlns:a16="http://schemas.microsoft.com/office/drawing/2014/main" id="{6CEF418C-8BAB-4150-9978-B05574885763}"/>
              </a:ext>
            </a:extLst>
          </p:cNvPr>
          <p:cNvSpPr>
            <a:spLocks noGrp="1" noChangeArrowheads="1"/>
          </p:cNvSpPr>
          <p:nvPr>
            <p:ph type="title"/>
          </p:nvPr>
        </p:nvSpPr>
        <p:spPr>
          <a:xfrm>
            <a:off x="534838" y="7219"/>
            <a:ext cx="8229600" cy="1143000"/>
          </a:xfrm>
        </p:spPr>
        <p:txBody>
          <a:bodyPr/>
          <a:lstStyle/>
          <a:p>
            <a:pPr eaLnBrk="1" hangingPunct="1"/>
            <a:r>
              <a:rPr lang="en-US" altLang="en-US" dirty="0">
                <a:solidFill>
                  <a:srgbClr val="FF0000"/>
                </a:solidFill>
              </a:rPr>
              <a:t>Modular Arithmetic</a:t>
            </a:r>
          </a:p>
        </p:txBody>
      </p:sp>
      <p:sp>
        <p:nvSpPr>
          <p:cNvPr id="8197" name="Rectangle 3">
            <a:extLst>
              <a:ext uri="{FF2B5EF4-FFF2-40B4-BE49-F238E27FC236}">
                <a16:creationId xmlns:a16="http://schemas.microsoft.com/office/drawing/2014/main" id="{FD3D1EAF-DCF1-477A-A14B-EC3EE34B58F5}"/>
              </a:ext>
            </a:extLst>
          </p:cNvPr>
          <p:cNvSpPr>
            <a:spLocks noGrp="1" noChangeArrowheads="1"/>
          </p:cNvSpPr>
          <p:nvPr>
            <p:ph type="body" idx="1"/>
          </p:nvPr>
        </p:nvSpPr>
        <p:spPr>
          <a:xfrm>
            <a:off x="457200" y="990600"/>
            <a:ext cx="8229600" cy="5334000"/>
          </a:xfrm>
        </p:spPr>
        <p:txBody>
          <a:bodyPr>
            <a:normAutofit lnSpcReduction="10000"/>
          </a:bodyPr>
          <a:lstStyle/>
          <a:p>
            <a:pPr eaLnBrk="1" hangingPunct="1">
              <a:lnSpc>
                <a:spcPct val="75000"/>
              </a:lnSpc>
            </a:pPr>
            <a:r>
              <a:rPr lang="en-US" altLang="zh-CN" sz="2000">
                <a:ea typeface="SimSun" panose="02010600030101010101" pitchFamily="2" charset="-122"/>
              </a:rPr>
              <a:t>In integer arithmetic, if we divide a by n, we can get quotient q and remainder r. The relationship between these four integers can be shown as </a:t>
            </a:r>
          </a:p>
          <a:p>
            <a:pPr eaLnBrk="1" hangingPunct="1">
              <a:lnSpc>
                <a:spcPct val="75000"/>
              </a:lnSpc>
            </a:pPr>
            <a:endParaRPr lang="en-US" altLang="zh-CN" sz="2000">
              <a:ea typeface="SimSun" panose="02010600030101010101" pitchFamily="2" charset="-122"/>
            </a:endParaRPr>
          </a:p>
          <a:p>
            <a:pPr lvl="1" eaLnBrk="1" hangingPunct="1">
              <a:lnSpc>
                <a:spcPct val="70000"/>
              </a:lnSpc>
            </a:pPr>
            <a:r>
              <a:rPr lang="en-US" altLang="zh-CN" sz="2000">
                <a:ea typeface="SimSun" panose="02010600030101010101" pitchFamily="2" charset="-122"/>
              </a:rPr>
              <a:t>a= q*n+r</a:t>
            </a:r>
          </a:p>
          <a:p>
            <a:pPr eaLnBrk="1" hangingPunct="1">
              <a:lnSpc>
                <a:spcPct val="75000"/>
              </a:lnSpc>
            </a:pPr>
            <a:r>
              <a:rPr lang="en-US" altLang="zh-CN" sz="2000">
                <a:ea typeface="SimSun" panose="02010600030101010101" pitchFamily="2" charset="-122"/>
              </a:rPr>
              <a:t>Here, we call a the dividend; n, the divisor; q, the quotient; and r, the remainder. </a:t>
            </a:r>
          </a:p>
          <a:p>
            <a:pPr eaLnBrk="1" hangingPunct="1">
              <a:lnSpc>
                <a:spcPct val="75000"/>
              </a:lnSpc>
            </a:pPr>
            <a:endParaRPr lang="en-US" altLang="zh-CN" sz="2000">
              <a:ea typeface="SimSun" panose="02010600030101010101" pitchFamily="2" charset="-122"/>
            </a:endParaRPr>
          </a:p>
          <a:p>
            <a:pPr eaLnBrk="1" hangingPunct="1">
              <a:lnSpc>
                <a:spcPct val="75000"/>
              </a:lnSpc>
            </a:pPr>
            <a:r>
              <a:rPr lang="en-US" altLang="en-US" sz="2000"/>
              <a:t>Modulo operator for a positive integer n</a:t>
            </a:r>
          </a:p>
          <a:p>
            <a:pPr lvl="1" eaLnBrk="1" hangingPunct="1">
              <a:lnSpc>
                <a:spcPct val="70000"/>
              </a:lnSpc>
            </a:pPr>
            <a:r>
              <a:rPr lang="en-US" altLang="en-US" sz="2000"/>
              <a:t>r = a mod n</a:t>
            </a:r>
          </a:p>
          <a:p>
            <a:pPr eaLnBrk="1" hangingPunct="1">
              <a:lnSpc>
                <a:spcPct val="75000"/>
              </a:lnSpc>
            </a:pPr>
            <a:r>
              <a:rPr lang="en-US" altLang="en-US" sz="2000"/>
              <a:t>equivalent to</a:t>
            </a:r>
          </a:p>
          <a:p>
            <a:pPr lvl="1" eaLnBrk="1" hangingPunct="1">
              <a:lnSpc>
                <a:spcPct val="70000"/>
              </a:lnSpc>
            </a:pPr>
            <a:r>
              <a:rPr lang="en-US" altLang="en-US" sz="2000"/>
              <a:t>a = r + </a:t>
            </a:r>
            <a:r>
              <a:rPr lang="en-US" altLang="zh-CN" sz="2000">
                <a:ea typeface="SimSun" panose="02010600030101010101" pitchFamily="2" charset="-122"/>
              </a:rPr>
              <a:t>q*</a:t>
            </a:r>
            <a:r>
              <a:rPr lang="en-US" altLang="en-US" sz="2000"/>
              <a:t>n</a:t>
            </a:r>
          </a:p>
          <a:p>
            <a:pPr eaLnBrk="1" hangingPunct="1">
              <a:lnSpc>
                <a:spcPct val="75000"/>
              </a:lnSpc>
            </a:pPr>
            <a:endParaRPr lang="en-US" altLang="zh-CN" sz="2000">
              <a:ea typeface="SimSun" panose="02010600030101010101" pitchFamily="2" charset="-122"/>
            </a:endParaRPr>
          </a:p>
          <a:p>
            <a:pPr eaLnBrk="1" hangingPunct="1">
              <a:lnSpc>
                <a:spcPct val="75000"/>
              </a:lnSpc>
            </a:pPr>
            <a:r>
              <a:rPr lang="en-US" altLang="zh-CN" sz="2000">
                <a:ea typeface="SimSun" panose="02010600030101010101" pitchFamily="2" charset="-122"/>
              </a:rPr>
              <a:t>In Cryptograph, we need to impose two restrictions. First, we require that the divisor be a positive integer (n&gt;0). Second, we require that the remainder be a nonnegative integer (r&gt;=0). </a:t>
            </a:r>
          </a:p>
          <a:p>
            <a:pPr eaLnBrk="1" hangingPunct="1">
              <a:lnSpc>
                <a:spcPct val="75000"/>
              </a:lnSpc>
            </a:pPr>
            <a:endParaRPr lang="en-US" altLang="zh-CN" sz="2000">
              <a:ea typeface="SimSun" panose="02010600030101010101" pitchFamily="2" charset="-122"/>
            </a:endParaRPr>
          </a:p>
          <a:p>
            <a:pPr eaLnBrk="1" hangingPunct="1">
              <a:lnSpc>
                <a:spcPct val="75000"/>
              </a:lnSpc>
            </a:pPr>
            <a:r>
              <a:rPr lang="en-US" altLang="en-US" sz="2000"/>
              <a:t>Example:</a:t>
            </a:r>
          </a:p>
          <a:p>
            <a:pPr lvl="1" eaLnBrk="1" hangingPunct="1">
              <a:lnSpc>
                <a:spcPct val="70000"/>
              </a:lnSpc>
            </a:pPr>
            <a:r>
              <a:rPr lang="en-US" altLang="en-US" sz="2000"/>
              <a:t>29 mod 13 = 3 	13 mod 13 = 0 	-1 mod 13 = 12</a:t>
            </a:r>
          </a:p>
          <a:p>
            <a:pPr lvl="1" eaLnBrk="1" hangingPunct="1">
              <a:lnSpc>
                <a:spcPct val="70000"/>
              </a:lnSpc>
            </a:pPr>
            <a:r>
              <a:rPr lang="en-US" altLang="en-US" sz="2000"/>
              <a:t>29 = 3 + 2*13   </a:t>
            </a:r>
            <a:r>
              <a:rPr lang="en-US" altLang="zh-CN" sz="2000">
                <a:ea typeface="SimSun" panose="02010600030101010101" pitchFamily="2" charset="-122"/>
              </a:rPr>
              <a:t>	</a:t>
            </a:r>
            <a:r>
              <a:rPr lang="en-US" altLang="en-US" sz="2000"/>
              <a:t>13 = 0 + 1*13 	12 = -1 + 1*13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a:extLst>
              <a:ext uri="{FF2B5EF4-FFF2-40B4-BE49-F238E27FC236}">
                <a16:creationId xmlns:a16="http://schemas.microsoft.com/office/drawing/2014/main" id="{122828DE-3973-440F-9C5E-6524B4E4554D}"/>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ea typeface="SimSun" panose="02010600030101010101" pitchFamily="2" charset="-122"/>
              </a:rPr>
              <a:t>CEG 260, Meilin Liu </a:t>
            </a:r>
          </a:p>
        </p:txBody>
      </p:sp>
      <p:sp>
        <p:nvSpPr>
          <p:cNvPr id="18435" name="Slide Number Placeholder 5">
            <a:extLst>
              <a:ext uri="{FF2B5EF4-FFF2-40B4-BE49-F238E27FC236}">
                <a16:creationId xmlns:a16="http://schemas.microsoft.com/office/drawing/2014/main" id="{C867C8DF-19FB-4ABC-96E6-2365F1B932CB}"/>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31C404C-8D50-4CD6-88D1-D1D4FC542FDA}" type="slidenum">
              <a:rPr lang="zh-CN" altLang="en-US" sz="1400"/>
              <a:pPr>
                <a:lnSpc>
                  <a:spcPct val="100000"/>
                </a:lnSpc>
                <a:spcBef>
                  <a:spcPct val="0"/>
                </a:spcBef>
              </a:pPr>
              <a:t>26</a:t>
            </a:fld>
            <a:endParaRPr lang="en-US" altLang="zh-CN" sz="1400"/>
          </a:p>
        </p:txBody>
      </p:sp>
      <p:sp>
        <p:nvSpPr>
          <p:cNvPr id="18436" name="Rectangle 2">
            <a:extLst>
              <a:ext uri="{FF2B5EF4-FFF2-40B4-BE49-F238E27FC236}">
                <a16:creationId xmlns:a16="http://schemas.microsoft.com/office/drawing/2014/main" id="{64498567-421F-433C-9A51-A19D7C515D73}"/>
              </a:ext>
            </a:extLst>
          </p:cNvPr>
          <p:cNvSpPr>
            <a:spLocks noGrp="1" noChangeArrowheads="1"/>
          </p:cNvSpPr>
          <p:nvPr>
            <p:ph type="title"/>
          </p:nvPr>
        </p:nvSpPr>
        <p:spPr/>
        <p:txBody>
          <a:bodyPr/>
          <a:lstStyle/>
          <a:p>
            <a:pPr eaLnBrk="1" hangingPunct="1"/>
            <a:r>
              <a:rPr lang="en-US" altLang="en-US"/>
              <a:t>Greatest Common Divisor</a:t>
            </a:r>
          </a:p>
        </p:txBody>
      </p:sp>
      <p:sp>
        <p:nvSpPr>
          <p:cNvPr id="18437" name="Rectangle 3">
            <a:extLst>
              <a:ext uri="{FF2B5EF4-FFF2-40B4-BE49-F238E27FC236}">
                <a16:creationId xmlns:a16="http://schemas.microsoft.com/office/drawing/2014/main" id="{573C4A39-531A-4A6E-8E60-91E2B7C3E0AE}"/>
              </a:ext>
            </a:extLst>
          </p:cNvPr>
          <p:cNvSpPr>
            <a:spLocks noGrp="1" noChangeArrowheads="1"/>
          </p:cNvSpPr>
          <p:nvPr>
            <p:ph type="body" idx="1"/>
          </p:nvPr>
        </p:nvSpPr>
        <p:spPr/>
        <p:txBody>
          <a:bodyPr>
            <a:normAutofit/>
          </a:bodyPr>
          <a:lstStyle/>
          <a:p>
            <a:pPr eaLnBrk="1" hangingPunct="1"/>
            <a:r>
              <a:rPr lang="en-US" altLang="en-US" sz="2000" dirty="0"/>
              <a:t>The greatest common divisor (GCD) of two</a:t>
            </a:r>
            <a:r>
              <a:rPr lang="en-US" altLang="zh-CN" sz="2000" dirty="0">
                <a:ea typeface="SimSun" panose="02010600030101010101" pitchFamily="2" charset="-122"/>
              </a:rPr>
              <a:t> </a:t>
            </a:r>
            <a:r>
              <a:rPr lang="en-US" altLang="en-US" sz="2000" dirty="0"/>
              <a:t>positive integers a and b, denoted </a:t>
            </a:r>
            <a:r>
              <a:rPr lang="en-US" altLang="en-US" sz="2000" dirty="0" err="1"/>
              <a:t>gcd</a:t>
            </a:r>
            <a:r>
              <a:rPr lang="en-US" altLang="en-US" sz="2000" dirty="0"/>
              <a:t>(a, b), is the</a:t>
            </a:r>
            <a:r>
              <a:rPr lang="en-US" altLang="zh-CN" sz="2000" dirty="0">
                <a:ea typeface="SimSun" panose="02010600030101010101" pitchFamily="2" charset="-122"/>
              </a:rPr>
              <a:t> </a:t>
            </a:r>
            <a:r>
              <a:rPr lang="en-US" altLang="en-US" sz="2000" dirty="0"/>
              <a:t>largest positive integer that divides both a and b</a:t>
            </a:r>
          </a:p>
          <a:p>
            <a:pPr eaLnBrk="1" hangingPunct="1"/>
            <a:r>
              <a:rPr lang="en-US" altLang="en-US" sz="2000" dirty="0"/>
              <a:t>The above definition is extended to arbitrary</a:t>
            </a:r>
            <a:r>
              <a:rPr lang="en-US" altLang="zh-CN" sz="2000" dirty="0">
                <a:ea typeface="SimSun" panose="02010600030101010101" pitchFamily="2" charset="-122"/>
              </a:rPr>
              <a:t> </a:t>
            </a:r>
            <a:r>
              <a:rPr lang="en-US" altLang="en-US" sz="2000" dirty="0"/>
              <a:t>integers</a:t>
            </a:r>
          </a:p>
          <a:p>
            <a:pPr eaLnBrk="1" hangingPunct="1"/>
            <a:r>
              <a:rPr lang="en-US" altLang="en-US" sz="2000" dirty="0"/>
              <a:t>Examples:</a:t>
            </a:r>
          </a:p>
          <a:p>
            <a:pPr lvl="1" eaLnBrk="1" hangingPunct="1"/>
            <a:r>
              <a:rPr lang="en-US" altLang="en-US" sz="2000" dirty="0" err="1"/>
              <a:t>gcd</a:t>
            </a:r>
            <a:r>
              <a:rPr lang="en-US" altLang="en-US" sz="2000" dirty="0"/>
              <a:t>(18, 30) = 6  </a:t>
            </a:r>
          </a:p>
          <a:p>
            <a:pPr lvl="1" eaLnBrk="1" hangingPunct="1"/>
            <a:r>
              <a:rPr lang="en-US" altLang="en-US" sz="2000" dirty="0" err="1"/>
              <a:t>gcd</a:t>
            </a:r>
            <a:r>
              <a:rPr lang="en-US" altLang="en-US" sz="2000" dirty="0"/>
              <a:t>(0, 20) = 20</a:t>
            </a:r>
          </a:p>
          <a:p>
            <a:pPr lvl="1" eaLnBrk="1" hangingPunct="1"/>
            <a:r>
              <a:rPr lang="en-US" altLang="en-US" sz="2000" dirty="0" err="1"/>
              <a:t>gcd</a:t>
            </a:r>
            <a:r>
              <a:rPr lang="en-US" altLang="en-US" sz="2000" dirty="0"/>
              <a:t>(-21, 49) = 7</a:t>
            </a:r>
          </a:p>
          <a:p>
            <a:pPr eaLnBrk="1" hangingPunct="1"/>
            <a:r>
              <a:rPr lang="en-US" altLang="en-US" sz="2000" dirty="0"/>
              <a:t>Two integers a and b are said to be relatively</a:t>
            </a:r>
            <a:r>
              <a:rPr lang="en-US" altLang="zh-CN" sz="2000" dirty="0">
                <a:ea typeface="SimSun" panose="02010600030101010101" pitchFamily="2" charset="-122"/>
              </a:rPr>
              <a:t> </a:t>
            </a:r>
            <a:r>
              <a:rPr lang="en-US" altLang="en-US" sz="2000" dirty="0"/>
              <a:t>prime if</a:t>
            </a:r>
          </a:p>
          <a:p>
            <a:pPr lvl="1" eaLnBrk="1" hangingPunct="1"/>
            <a:r>
              <a:rPr lang="en-US" altLang="en-US" sz="2000" dirty="0" err="1"/>
              <a:t>gcd</a:t>
            </a:r>
            <a:r>
              <a:rPr lang="en-US" altLang="en-US" sz="2000" dirty="0"/>
              <a:t>(a, b) = 1</a:t>
            </a:r>
          </a:p>
          <a:p>
            <a:pPr eaLnBrk="1" hangingPunct="1"/>
            <a:r>
              <a:rPr lang="en-US" altLang="en-US" sz="2000" dirty="0"/>
              <a:t>Example:</a:t>
            </a:r>
          </a:p>
          <a:p>
            <a:pPr lvl="1" eaLnBrk="1" hangingPunct="1"/>
            <a:r>
              <a:rPr lang="en-US" altLang="en-US" sz="2000" dirty="0"/>
              <a:t>Integers 15 and 28 are relatively prime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Date Placeholder 3">
            <a:extLst>
              <a:ext uri="{FF2B5EF4-FFF2-40B4-BE49-F238E27FC236}">
                <a16:creationId xmlns:a16="http://schemas.microsoft.com/office/drawing/2014/main" id="{B3EC313A-BDD9-48D6-AE52-9CC5B0E336E1}"/>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ea typeface="SimSun" panose="02010600030101010101" pitchFamily="2" charset="-122"/>
              </a:rPr>
              <a:t>CEG 260, Meilin Liu </a:t>
            </a:r>
          </a:p>
        </p:txBody>
      </p:sp>
      <p:sp>
        <p:nvSpPr>
          <p:cNvPr id="49155" name="Slide Number Placeholder 5">
            <a:extLst>
              <a:ext uri="{FF2B5EF4-FFF2-40B4-BE49-F238E27FC236}">
                <a16:creationId xmlns:a16="http://schemas.microsoft.com/office/drawing/2014/main" id="{DB83E8EC-EF0D-48F4-BAFF-B740843FC1FE}"/>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3DA4737-6A8E-434E-A648-3FC0AF69B755}" type="slidenum">
              <a:rPr lang="zh-CN" altLang="en-US" sz="1400"/>
              <a:pPr>
                <a:lnSpc>
                  <a:spcPct val="100000"/>
                </a:lnSpc>
                <a:spcBef>
                  <a:spcPct val="0"/>
                </a:spcBef>
              </a:pPr>
              <a:t>27</a:t>
            </a:fld>
            <a:endParaRPr lang="en-US" altLang="zh-CN" sz="1400"/>
          </a:p>
        </p:txBody>
      </p:sp>
      <p:sp>
        <p:nvSpPr>
          <p:cNvPr id="49156" name="Rectangle 2">
            <a:extLst>
              <a:ext uri="{FF2B5EF4-FFF2-40B4-BE49-F238E27FC236}">
                <a16:creationId xmlns:a16="http://schemas.microsoft.com/office/drawing/2014/main" id="{893F7A99-47CC-4A76-9F79-DEC7CB167457}"/>
              </a:ext>
            </a:extLst>
          </p:cNvPr>
          <p:cNvSpPr>
            <a:spLocks noGrp="1" noChangeArrowheads="1"/>
          </p:cNvSpPr>
          <p:nvPr>
            <p:ph type="title"/>
          </p:nvPr>
        </p:nvSpPr>
        <p:spPr/>
        <p:txBody>
          <a:bodyPr/>
          <a:lstStyle/>
          <a:p>
            <a:pPr eaLnBrk="1" hangingPunct="1"/>
            <a:r>
              <a:rPr lang="en-US" altLang="en-US"/>
              <a:t>Multiplicative Inverses</a:t>
            </a:r>
          </a:p>
        </p:txBody>
      </p:sp>
      <p:sp>
        <p:nvSpPr>
          <p:cNvPr id="49157" name="Rectangle 4">
            <a:extLst>
              <a:ext uri="{FF2B5EF4-FFF2-40B4-BE49-F238E27FC236}">
                <a16:creationId xmlns:a16="http://schemas.microsoft.com/office/drawing/2014/main" id="{83CBE1A6-3BC2-467F-81F2-C22EC09CA948}"/>
              </a:ext>
            </a:extLst>
          </p:cNvPr>
          <p:cNvSpPr>
            <a:spLocks noChangeArrowheads="1"/>
          </p:cNvSpPr>
          <p:nvPr/>
        </p:nvSpPr>
        <p:spPr bwMode="auto">
          <a:xfrm>
            <a:off x="762000" y="1219200"/>
            <a:ext cx="7315200" cy="600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a:t>The residues modulo a positive integer n are the set</a:t>
            </a:r>
          </a:p>
          <a:p>
            <a:pPr lvl="1" eaLnBrk="1" hangingPunct="1">
              <a:lnSpc>
                <a:spcPct val="100000"/>
              </a:lnSpc>
              <a:spcBef>
                <a:spcPct val="50000"/>
              </a:spcBef>
              <a:buClrTx/>
              <a:buFontTx/>
              <a:buNone/>
            </a:pPr>
            <a:r>
              <a:rPr lang="en-US" altLang="en-US" sz="2400"/>
              <a:t>Zn = {0, 1, 2, …, (n - 1)}</a:t>
            </a:r>
            <a:r>
              <a:rPr lang="en-US" altLang="zh-CN" sz="2400">
                <a:ea typeface="SimSun" panose="02010600030101010101" pitchFamily="2" charset="-122"/>
              </a:rPr>
              <a:t>, i.e.,  </a:t>
            </a:r>
            <a:r>
              <a:rPr lang="en-US" altLang="en-US" sz="2400"/>
              <a:t>Zn = {x| 0≤x ≤ n-1, where x is a positive integer}. </a:t>
            </a:r>
            <a:endParaRPr lang="en-US" altLang="zh-CN" sz="2400">
              <a:ea typeface="SimSun" panose="02010600030101010101" pitchFamily="2" charset="-122"/>
            </a:endParaRPr>
          </a:p>
          <a:p>
            <a:pPr lvl="1" eaLnBrk="1" hangingPunct="1">
              <a:lnSpc>
                <a:spcPct val="100000"/>
              </a:lnSpc>
              <a:spcBef>
                <a:spcPct val="50000"/>
              </a:spcBef>
              <a:buClrTx/>
              <a:buFontTx/>
              <a:buNone/>
            </a:pPr>
            <a:endParaRPr lang="en-US" altLang="en-US" sz="2400"/>
          </a:p>
          <a:p>
            <a:pPr eaLnBrk="1" hangingPunct="1">
              <a:lnSpc>
                <a:spcPct val="100000"/>
              </a:lnSpc>
              <a:spcBef>
                <a:spcPct val="50000"/>
              </a:spcBef>
            </a:pPr>
            <a:r>
              <a:rPr lang="en-US" altLang="en-US"/>
              <a:t>Let Zn* = {x| 1≤x ≤ n-1, where GCD(x, n)=1, and x is a positive integer} </a:t>
            </a:r>
          </a:p>
          <a:p>
            <a:pPr eaLnBrk="1" hangingPunct="1">
              <a:lnSpc>
                <a:spcPct val="100000"/>
              </a:lnSpc>
              <a:spcBef>
                <a:spcPct val="50000"/>
              </a:spcBef>
            </a:pPr>
            <a:r>
              <a:rPr lang="en-US" altLang="zh-CN">
                <a:ea typeface="SimSun" panose="02010600030101010101" pitchFamily="2" charset="-122"/>
              </a:rPr>
              <a:t>Zn* is the subset of elements of Zn relative prime with n or the </a:t>
            </a:r>
            <a:r>
              <a:rPr lang="en-US" altLang="en-US"/>
              <a:t>set of invertible elements in  Zn</a:t>
            </a:r>
            <a:r>
              <a:rPr lang="en-US" altLang="zh-CN">
                <a:ea typeface="SimSun" panose="02010600030101010101" pitchFamily="2" charset="-122"/>
              </a:rPr>
              <a:t>.</a:t>
            </a:r>
          </a:p>
          <a:p>
            <a:pPr eaLnBrk="1" hangingPunct="1">
              <a:lnSpc>
                <a:spcPct val="100000"/>
              </a:lnSpc>
              <a:spcBef>
                <a:spcPct val="50000"/>
              </a:spcBef>
            </a:pPr>
            <a:r>
              <a:rPr lang="en-US" altLang="zh-CN">
                <a:ea typeface="SimSun" panose="02010600030101010101" pitchFamily="2" charset="-122"/>
              </a:rPr>
              <a:t>Examples:   </a:t>
            </a:r>
          </a:p>
          <a:p>
            <a:pPr eaLnBrk="1" hangingPunct="1">
              <a:lnSpc>
                <a:spcPct val="100000"/>
              </a:lnSpc>
              <a:spcBef>
                <a:spcPct val="50000"/>
              </a:spcBef>
            </a:pPr>
            <a:r>
              <a:rPr lang="en-US" altLang="zh-CN">
                <a:ea typeface="SimSun" panose="02010600030101010101" pitchFamily="2" charset="-122"/>
              </a:rPr>
              <a:t>for prime p,  Zp* = {1,2,3,...,p-1}</a:t>
            </a:r>
          </a:p>
          <a:p>
            <a:pPr eaLnBrk="1" hangingPunct="1">
              <a:lnSpc>
                <a:spcPct val="100000"/>
              </a:lnSpc>
              <a:spcBef>
                <a:spcPct val="50000"/>
              </a:spcBef>
            </a:pPr>
            <a:endParaRPr lang="en-US" altLang="zh-CN">
              <a:ea typeface="SimSun" panose="02010600030101010101" pitchFamily="2" charset="-122"/>
            </a:endParaRPr>
          </a:p>
          <a:p>
            <a:pPr eaLnBrk="1" hangingPunct="1">
              <a:lnSpc>
                <a:spcPct val="100000"/>
              </a:lnSpc>
              <a:spcBef>
                <a:spcPct val="50000"/>
              </a:spcBef>
            </a:pP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Date Placeholder 3">
            <a:extLst>
              <a:ext uri="{FF2B5EF4-FFF2-40B4-BE49-F238E27FC236}">
                <a16:creationId xmlns:a16="http://schemas.microsoft.com/office/drawing/2014/main" id="{2CB55CB3-A467-4BE4-A121-7CF091DD3C00}"/>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ea typeface="SimSun" panose="02010600030101010101" pitchFamily="2" charset="-122"/>
              </a:rPr>
              <a:t>CEG 260, Meilin Liu </a:t>
            </a:r>
          </a:p>
        </p:txBody>
      </p:sp>
      <p:sp>
        <p:nvSpPr>
          <p:cNvPr id="51203" name="Slide Number Placeholder 5">
            <a:extLst>
              <a:ext uri="{FF2B5EF4-FFF2-40B4-BE49-F238E27FC236}">
                <a16:creationId xmlns:a16="http://schemas.microsoft.com/office/drawing/2014/main" id="{C001529A-7875-4166-87EB-2871DB185776}"/>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9C9DD998-79F4-45D7-B64D-B5E78AE94F49}" type="slidenum">
              <a:rPr lang="zh-CN" altLang="en-US" sz="1400"/>
              <a:pPr>
                <a:lnSpc>
                  <a:spcPct val="100000"/>
                </a:lnSpc>
                <a:spcBef>
                  <a:spcPct val="0"/>
                </a:spcBef>
              </a:pPr>
              <a:t>28</a:t>
            </a:fld>
            <a:endParaRPr lang="en-US" altLang="zh-CN" sz="1400"/>
          </a:p>
        </p:txBody>
      </p:sp>
      <p:sp>
        <p:nvSpPr>
          <p:cNvPr id="51204" name="Rectangle 2">
            <a:extLst>
              <a:ext uri="{FF2B5EF4-FFF2-40B4-BE49-F238E27FC236}">
                <a16:creationId xmlns:a16="http://schemas.microsoft.com/office/drawing/2014/main" id="{77F78F89-9626-405F-8D47-231290124626}"/>
              </a:ext>
            </a:extLst>
          </p:cNvPr>
          <p:cNvSpPr>
            <a:spLocks noGrp="1" noChangeArrowheads="1"/>
          </p:cNvSpPr>
          <p:nvPr>
            <p:ph type="title"/>
          </p:nvPr>
        </p:nvSpPr>
        <p:spPr>
          <a:xfrm>
            <a:off x="685800" y="0"/>
            <a:ext cx="7772400" cy="762000"/>
          </a:xfrm>
        </p:spPr>
        <p:txBody>
          <a:bodyPr/>
          <a:lstStyle/>
          <a:p>
            <a:pPr eaLnBrk="1" hangingPunct="1"/>
            <a:r>
              <a:rPr lang="en-US" altLang="en-US"/>
              <a:t>Multiplicative Inverses</a:t>
            </a:r>
          </a:p>
        </p:txBody>
      </p:sp>
      <p:sp>
        <p:nvSpPr>
          <p:cNvPr id="51205" name="Rectangle 3">
            <a:extLst>
              <a:ext uri="{FF2B5EF4-FFF2-40B4-BE49-F238E27FC236}">
                <a16:creationId xmlns:a16="http://schemas.microsoft.com/office/drawing/2014/main" id="{EFD77B26-62B6-4F7E-98AD-53758652BCAF}"/>
              </a:ext>
            </a:extLst>
          </p:cNvPr>
          <p:cNvSpPr>
            <a:spLocks noChangeArrowheads="1"/>
          </p:cNvSpPr>
          <p:nvPr/>
        </p:nvSpPr>
        <p:spPr bwMode="auto">
          <a:xfrm>
            <a:off x="457200" y="685800"/>
            <a:ext cx="8382000"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zh-CN">
                <a:ea typeface="SimSun" panose="02010600030101010101" pitchFamily="2" charset="-122"/>
              </a:rPr>
              <a:t>The multiplicative inverse of </a:t>
            </a:r>
            <a:r>
              <a:rPr lang="en-US" altLang="zh-CN" i="1">
                <a:ea typeface="SimSun" panose="02010600030101010101" pitchFamily="2" charset="-122"/>
              </a:rPr>
              <a:t>a</a:t>
            </a:r>
            <a:r>
              <a:rPr lang="en-US" altLang="zh-CN">
                <a:ea typeface="SimSun" panose="02010600030101010101" pitchFamily="2" charset="-122"/>
              </a:rPr>
              <a:t> modulo </a:t>
            </a:r>
            <a:r>
              <a:rPr lang="en-US" altLang="zh-CN" i="1">
                <a:ea typeface="SimSun" panose="02010600030101010101" pitchFamily="2" charset="-122"/>
              </a:rPr>
              <a:t>m</a:t>
            </a:r>
            <a:r>
              <a:rPr lang="en-US" altLang="zh-CN">
                <a:ea typeface="SimSun" panose="02010600030101010101" pitchFamily="2" charset="-122"/>
              </a:rPr>
              <a:t> exists iff </a:t>
            </a:r>
            <a:r>
              <a:rPr lang="en-US" altLang="zh-CN" i="1">
                <a:ea typeface="SimSun" panose="02010600030101010101" pitchFamily="2" charset="-122"/>
              </a:rPr>
              <a:t>a</a:t>
            </a:r>
            <a:r>
              <a:rPr lang="en-US" altLang="zh-CN">
                <a:ea typeface="SimSun" panose="02010600030101010101" pitchFamily="2" charset="-122"/>
              </a:rPr>
              <a:t> and </a:t>
            </a:r>
            <a:r>
              <a:rPr lang="en-US" altLang="zh-CN" i="1">
                <a:ea typeface="SimSun" panose="02010600030101010101" pitchFamily="2" charset="-122"/>
              </a:rPr>
              <a:t>m</a:t>
            </a:r>
            <a:r>
              <a:rPr lang="en-US" altLang="zh-CN">
                <a:ea typeface="SimSun" panose="02010600030101010101" pitchFamily="2" charset="-122"/>
              </a:rPr>
              <a:t> are coprime (i.e., if gcd(</a:t>
            </a:r>
            <a:r>
              <a:rPr lang="en-US" altLang="zh-CN" i="1">
                <a:ea typeface="SimSun" panose="02010600030101010101" pitchFamily="2" charset="-122"/>
              </a:rPr>
              <a:t>a</a:t>
            </a:r>
            <a:r>
              <a:rPr lang="en-US" altLang="zh-CN">
                <a:ea typeface="SimSun" panose="02010600030101010101" pitchFamily="2" charset="-122"/>
              </a:rPr>
              <a:t>, </a:t>
            </a:r>
            <a:r>
              <a:rPr lang="en-US" altLang="zh-CN" i="1">
                <a:ea typeface="SimSun" panose="02010600030101010101" pitchFamily="2" charset="-122"/>
              </a:rPr>
              <a:t>m</a:t>
            </a:r>
            <a:r>
              <a:rPr lang="en-US" altLang="zh-CN">
                <a:ea typeface="SimSun" panose="02010600030101010101" pitchFamily="2" charset="-122"/>
              </a:rPr>
              <a:t>) = 1). </a:t>
            </a:r>
          </a:p>
          <a:p>
            <a:pPr eaLnBrk="1" hangingPunct="1">
              <a:lnSpc>
                <a:spcPct val="100000"/>
              </a:lnSpc>
              <a:spcBef>
                <a:spcPct val="50000"/>
              </a:spcBef>
            </a:pPr>
            <a:r>
              <a:rPr lang="en-US" altLang="zh-CN">
                <a:ea typeface="SimSun" panose="02010600030101010101" pitchFamily="2" charset="-122"/>
              </a:rPr>
              <a:t>The </a:t>
            </a:r>
            <a:r>
              <a:rPr lang="en-US" altLang="zh-CN" b="1">
                <a:ea typeface="SimSun" panose="02010600030101010101" pitchFamily="2" charset="-122"/>
              </a:rPr>
              <a:t>modular multiplicative inverse </a:t>
            </a:r>
            <a:r>
              <a:rPr lang="en-US" altLang="zh-CN">
                <a:ea typeface="SimSun" panose="02010600030101010101" pitchFamily="2" charset="-122"/>
              </a:rPr>
              <a:t>of a modulo m, is an integer x belongs to Zm*, such that a*x =1 (mod m).</a:t>
            </a:r>
          </a:p>
          <a:p>
            <a:pPr eaLnBrk="1" hangingPunct="1">
              <a:lnSpc>
                <a:spcPct val="100000"/>
              </a:lnSpc>
              <a:spcBef>
                <a:spcPct val="50000"/>
              </a:spcBef>
            </a:pPr>
            <a:endParaRPr lang="en-US" altLang="zh-CN">
              <a:ea typeface="SimSun" panose="02010600030101010101" pitchFamily="2" charset="-122"/>
            </a:endParaRPr>
          </a:p>
          <a:p>
            <a:pPr eaLnBrk="1" hangingPunct="1">
              <a:lnSpc>
                <a:spcPct val="100000"/>
              </a:lnSpc>
              <a:spcBef>
                <a:spcPct val="50000"/>
              </a:spcBef>
            </a:pPr>
            <a:r>
              <a:rPr lang="en-US" altLang="zh-CN">
                <a:ea typeface="SimSun" panose="02010600030101010101" pitchFamily="2" charset="-122"/>
              </a:rPr>
              <a:t>If the modular multiplicative inverse of </a:t>
            </a:r>
            <a:r>
              <a:rPr lang="en-US" altLang="zh-CN" i="1">
                <a:ea typeface="SimSun" panose="02010600030101010101" pitchFamily="2" charset="-122"/>
              </a:rPr>
              <a:t>a</a:t>
            </a:r>
            <a:r>
              <a:rPr lang="en-US" altLang="zh-CN">
                <a:ea typeface="SimSun" panose="02010600030101010101" pitchFamily="2" charset="-122"/>
              </a:rPr>
              <a:t> modulo </a:t>
            </a:r>
            <a:r>
              <a:rPr lang="en-US" altLang="zh-CN" i="1">
                <a:ea typeface="SimSun" panose="02010600030101010101" pitchFamily="2" charset="-122"/>
              </a:rPr>
              <a:t>m</a:t>
            </a:r>
            <a:r>
              <a:rPr lang="en-US" altLang="zh-CN">
                <a:ea typeface="SimSun" panose="02010600030101010101" pitchFamily="2" charset="-122"/>
              </a:rPr>
              <a:t> exists</a:t>
            </a:r>
            <a:r>
              <a:rPr lang="en-US" altLang="zh-CN">
                <a:solidFill>
                  <a:srgbClr val="C60000"/>
                </a:solidFill>
                <a:ea typeface="SimSun" panose="02010600030101010101" pitchFamily="2" charset="-122"/>
              </a:rPr>
              <a:t>, the operation of division by </a:t>
            </a:r>
            <a:r>
              <a:rPr lang="en-US" altLang="zh-CN" i="1">
                <a:solidFill>
                  <a:srgbClr val="C60000"/>
                </a:solidFill>
                <a:ea typeface="SimSun" panose="02010600030101010101" pitchFamily="2" charset="-122"/>
              </a:rPr>
              <a:t>a</a:t>
            </a:r>
            <a:r>
              <a:rPr lang="en-US" altLang="zh-CN">
                <a:solidFill>
                  <a:srgbClr val="C60000"/>
                </a:solidFill>
                <a:ea typeface="SimSun" panose="02010600030101010101" pitchFamily="2" charset="-122"/>
              </a:rPr>
              <a:t> modulo </a:t>
            </a:r>
            <a:r>
              <a:rPr lang="en-US" altLang="zh-CN" i="1">
                <a:solidFill>
                  <a:srgbClr val="C60000"/>
                </a:solidFill>
                <a:ea typeface="SimSun" panose="02010600030101010101" pitchFamily="2" charset="-122"/>
              </a:rPr>
              <a:t>m</a:t>
            </a:r>
            <a:r>
              <a:rPr lang="en-US" altLang="zh-CN">
                <a:solidFill>
                  <a:srgbClr val="C60000"/>
                </a:solidFill>
                <a:ea typeface="SimSun" panose="02010600030101010101" pitchFamily="2" charset="-122"/>
              </a:rPr>
              <a:t> can be defined as multiplying by the inverse, i.e., </a:t>
            </a:r>
            <a:r>
              <a:rPr lang="en-US" altLang="zh-CN" u="sng">
                <a:solidFill>
                  <a:srgbClr val="C60000"/>
                </a:solidFill>
                <a:ea typeface="SimSun" panose="02010600030101010101" pitchFamily="2" charset="-122"/>
              </a:rPr>
              <a:t>b/a mod m =b*(a^-1) mod m, Here a^-1 is a’s multiplicative inverse.</a:t>
            </a:r>
            <a:r>
              <a:rPr lang="en-US" altLang="zh-CN">
                <a:ea typeface="SimSun" panose="02010600030101010101" pitchFamily="2" charset="-122"/>
              </a:rPr>
              <a:t> </a:t>
            </a:r>
          </a:p>
          <a:p>
            <a:pPr eaLnBrk="1" hangingPunct="1">
              <a:lnSpc>
                <a:spcPct val="100000"/>
              </a:lnSpc>
              <a:spcBef>
                <a:spcPct val="50000"/>
              </a:spcBef>
            </a:pPr>
            <a:endParaRPr lang="en-US" altLang="zh-CN">
              <a:ea typeface="SimSun"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1A7B5F8D-560A-417B-9564-00BF5E98082A}"/>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ea typeface="SimSun" panose="02010600030101010101" pitchFamily="2" charset="-122"/>
              </a:rPr>
              <a:t>CEG 260, Meilin Liu </a:t>
            </a:r>
          </a:p>
        </p:txBody>
      </p:sp>
      <p:sp>
        <p:nvSpPr>
          <p:cNvPr id="53251" name="Slide Number Placeholder 5">
            <a:extLst>
              <a:ext uri="{FF2B5EF4-FFF2-40B4-BE49-F238E27FC236}">
                <a16:creationId xmlns:a16="http://schemas.microsoft.com/office/drawing/2014/main" id="{7BBEF7CB-29E2-48FA-A19C-CEF0CD3EEC4C}"/>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6AE2D224-E581-4DE8-A19D-B654148A5CC0}" type="slidenum">
              <a:rPr lang="zh-CN" altLang="en-US" sz="1400"/>
              <a:pPr>
                <a:lnSpc>
                  <a:spcPct val="100000"/>
                </a:lnSpc>
                <a:spcBef>
                  <a:spcPct val="0"/>
                </a:spcBef>
              </a:pPr>
              <a:t>29</a:t>
            </a:fld>
            <a:endParaRPr lang="en-US" altLang="zh-CN" sz="1400"/>
          </a:p>
        </p:txBody>
      </p:sp>
      <p:sp>
        <p:nvSpPr>
          <p:cNvPr id="53252" name="Rectangle 2">
            <a:extLst>
              <a:ext uri="{FF2B5EF4-FFF2-40B4-BE49-F238E27FC236}">
                <a16:creationId xmlns:a16="http://schemas.microsoft.com/office/drawing/2014/main" id="{85360390-3C34-47F4-A898-5435FEBCCB44}"/>
              </a:ext>
            </a:extLst>
          </p:cNvPr>
          <p:cNvSpPr>
            <a:spLocks noGrp="1" noChangeArrowheads="1"/>
          </p:cNvSpPr>
          <p:nvPr>
            <p:ph type="title"/>
          </p:nvPr>
        </p:nvSpPr>
        <p:spPr/>
        <p:txBody>
          <a:bodyPr/>
          <a:lstStyle/>
          <a:p>
            <a:pPr eaLnBrk="1" hangingPunct="1"/>
            <a:r>
              <a:rPr lang="en-US" altLang="en-US"/>
              <a:t>Multiplicative Inverses</a:t>
            </a:r>
          </a:p>
        </p:txBody>
      </p:sp>
      <p:sp>
        <p:nvSpPr>
          <p:cNvPr id="53253" name="Rectangle 3">
            <a:extLst>
              <a:ext uri="{FF2B5EF4-FFF2-40B4-BE49-F238E27FC236}">
                <a16:creationId xmlns:a16="http://schemas.microsoft.com/office/drawing/2014/main" id="{3219C711-56BD-49CE-9C8D-7B2FF737A9F0}"/>
              </a:ext>
            </a:extLst>
          </p:cNvPr>
          <p:cNvSpPr>
            <a:spLocks noChangeArrowheads="1"/>
          </p:cNvSpPr>
          <p:nvPr/>
        </p:nvSpPr>
        <p:spPr bwMode="auto">
          <a:xfrm>
            <a:off x="762000" y="1219200"/>
            <a:ext cx="76200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zh-CN">
                <a:solidFill>
                  <a:srgbClr val="C60000"/>
                </a:solidFill>
                <a:ea typeface="SimSun" panose="02010600030101010101" pitchFamily="2" charset="-122"/>
              </a:rPr>
              <a:t>Theorem:</a:t>
            </a:r>
            <a:r>
              <a:rPr lang="en-US" altLang="zh-CN">
                <a:ea typeface="SimSun" panose="02010600030101010101" pitchFamily="2" charset="-122"/>
              </a:rPr>
              <a:t> a has a multiplicative inverse modulo m, if and only if a is relative prime to m, i.e., GCD(a,m)=1.</a:t>
            </a:r>
          </a:p>
          <a:p>
            <a:pPr eaLnBrk="1" hangingPunct="1">
              <a:lnSpc>
                <a:spcPct val="100000"/>
              </a:lnSpc>
              <a:spcBef>
                <a:spcPct val="50000"/>
              </a:spcBef>
            </a:pPr>
            <a:endParaRPr lang="en-US" altLang="zh-CN">
              <a:ea typeface="SimSun" panose="02010600030101010101" pitchFamily="2" charset="-122"/>
            </a:endParaRPr>
          </a:p>
          <a:p>
            <a:pPr eaLnBrk="1" hangingPunct="1">
              <a:lnSpc>
                <a:spcPct val="100000"/>
              </a:lnSpc>
              <a:spcBef>
                <a:spcPct val="50000"/>
              </a:spcBef>
            </a:pPr>
            <a:r>
              <a:rPr lang="en-US" altLang="zh-CN">
                <a:ea typeface="SimSun" panose="02010600030101010101" pitchFamily="2" charset="-122"/>
              </a:rPr>
              <a:t>Example: 3*x=1 mod 7,   x = 1/3  </a:t>
            </a:r>
          </a:p>
          <a:p>
            <a:pPr eaLnBrk="1" hangingPunct="1">
              <a:lnSpc>
                <a:spcPct val="100000"/>
              </a:lnSpc>
              <a:spcBef>
                <a:spcPct val="50000"/>
              </a:spcBef>
            </a:pPr>
            <a:r>
              <a:rPr lang="en-US" altLang="zh-CN">
                <a:ea typeface="SimSun" panose="02010600030101010101" pitchFamily="2" charset="-122"/>
              </a:rPr>
              <a:t>                x=5, 3*5 mod 7 = 15 mod 7=1</a:t>
            </a:r>
          </a:p>
          <a:p>
            <a:pPr eaLnBrk="1" hangingPunct="1">
              <a:lnSpc>
                <a:spcPct val="100000"/>
              </a:lnSpc>
              <a:spcBef>
                <a:spcPct val="50000"/>
              </a:spcBef>
            </a:pPr>
            <a:r>
              <a:rPr lang="en-US" altLang="zh-CN">
                <a:ea typeface="SimSun" panose="02010600030101010101" pitchFamily="2" charset="-122"/>
              </a:rPr>
              <a:t>                1/3 mod 7 =5, since 5*3=1 mod 7     </a:t>
            </a:r>
          </a:p>
          <a:p>
            <a:pPr eaLnBrk="1" hangingPunct="1">
              <a:lnSpc>
                <a:spcPct val="100000"/>
              </a:lnSpc>
              <a:spcBef>
                <a:spcPct val="50000"/>
              </a:spcBef>
            </a:pPr>
            <a:endParaRPr lang="en-US" altLang="zh-CN">
              <a:ea typeface="SimSun" panose="02010600030101010101" pitchFamily="2" charset="-122"/>
            </a:endParaRPr>
          </a:p>
          <a:p>
            <a:pPr eaLnBrk="1" hangingPunct="1">
              <a:lnSpc>
                <a:spcPct val="100000"/>
              </a:lnSpc>
              <a:spcBef>
                <a:spcPct val="50000"/>
              </a:spcBef>
            </a:pP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32771"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1A69057E-7FCB-4521-9AFE-84D390699629}" type="slidenum">
              <a:rPr lang="zh-CN" altLang="en-US" sz="1400"/>
              <a:pPr>
                <a:lnSpc>
                  <a:spcPct val="100000"/>
                </a:lnSpc>
                <a:spcBef>
                  <a:spcPct val="0"/>
                </a:spcBef>
              </a:pPr>
              <a:t>30</a:t>
            </a:fld>
            <a:endParaRPr lang="en-US" altLang="zh-CN" sz="1400"/>
          </a:p>
        </p:txBody>
      </p:sp>
      <p:sp>
        <p:nvSpPr>
          <p:cNvPr id="32772" name="Rectangle 2"/>
          <p:cNvSpPr>
            <a:spLocks noGrp="1" noChangeArrowheads="1"/>
          </p:cNvSpPr>
          <p:nvPr>
            <p:ph type="title"/>
          </p:nvPr>
        </p:nvSpPr>
        <p:spPr>
          <a:xfrm>
            <a:off x="685800" y="-25400"/>
            <a:ext cx="7772400" cy="762000"/>
          </a:xfrm>
        </p:spPr>
        <p:txBody>
          <a:bodyPr/>
          <a:lstStyle/>
          <a:p>
            <a:pPr eaLnBrk="1" hangingPunct="1"/>
            <a:r>
              <a:rPr lang="en-AU" altLang="zh-TW">
                <a:ea typeface="PMingLiU"/>
                <a:cs typeface="PMingLiU"/>
              </a:rPr>
              <a:t>RSA Algorithm</a:t>
            </a:r>
          </a:p>
        </p:txBody>
      </p:sp>
      <p:pic>
        <p:nvPicPr>
          <p:cNvPr id="327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762000"/>
            <a:ext cx="60198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1967321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31747"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26B51673-047F-48FB-8E08-D8E3C46E1358}" type="slidenum">
              <a:rPr lang="zh-CN" altLang="en-US" sz="1400" smtClean="0"/>
              <a:pPr>
                <a:lnSpc>
                  <a:spcPct val="100000"/>
                </a:lnSpc>
                <a:spcBef>
                  <a:spcPct val="0"/>
                </a:spcBef>
              </a:pPr>
              <a:t>31</a:t>
            </a:fld>
            <a:endParaRPr lang="en-US" altLang="zh-CN" sz="1400"/>
          </a:p>
        </p:txBody>
      </p:sp>
      <p:sp>
        <p:nvSpPr>
          <p:cNvPr id="31748" name="Rectangle 2"/>
          <p:cNvSpPr>
            <a:spLocks noGrp="1" noChangeArrowheads="1"/>
          </p:cNvSpPr>
          <p:nvPr>
            <p:ph type="title"/>
          </p:nvPr>
        </p:nvSpPr>
        <p:spPr/>
        <p:txBody>
          <a:bodyPr/>
          <a:lstStyle/>
          <a:p>
            <a:pPr eaLnBrk="1" hangingPunct="1"/>
            <a:r>
              <a:rPr lang="en-US" altLang="en-US"/>
              <a:t>Hash and Message Digest</a:t>
            </a:r>
          </a:p>
        </p:txBody>
      </p:sp>
      <p:pic>
        <p:nvPicPr>
          <p:cNvPr id="31749" name="Picture 5"/>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685800" y="1905000"/>
            <a:ext cx="7620000" cy="2700338"/>
          </a:xfrm>
          <a:noFill/>
        </p:spPr>
      </p:pic>
    </p:spTree>
    <p:extLst>
      <p:ext uri="{BB962C8B-B14F-4D97-AF65-F5344CB8AC3E}">
        <p14:creationId xmlns:p14="http://schemas.microsoft.com/office/powerpoint/2010/main" val="3652194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33795"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21BB62C9-6BB8-499B-98E3-69A7182E8BA5}" type="slidenum">
              <a:rPr lang="zh-CN" altLang="en-US" sz="1400" smtClean="0"/>
              <a:pPr>
                <a:lnSpc>
                  <a:spcPct val="100000"/>
                </a:lnSpc>
                <a:spcBef>
                  <a:spcPct val="0"/>
                </a:spcBef>
              </a:pPr>
              <a:t>32</a:t>
            </a:fld>
            <a:endParaRPr lang="en-US" altLang="zh-CN" sz="1400"/>
          </a:p>
        </p:txBody>
      </p:sp>
      <p:sp>
        <p:nvSpPr>
          <p:cNvPr id="33796" name="Rectangle 2"/>
          <p:cNvSpPr>
            <a:spLocks noGrp="1" noChangeArrowheads="1"/>
          </p:cNvSpPr>
          <p:nvPr>
            <p:ph type="title"/>
          </p:nvPr>
        </p:nvSpPr>
        <p:spPr/>
        <p:txBody>
          <a:bodyPr/>
          <a:lstStyle/>
          <a:p>
            <a:pPr eaLnBrk="1" hangingPunct="1"/>
            <a:r>
              <a:rPr lang="en-US" altLang="en-US" sz="3200"/>
              <a:t>Requirements for Hash Functions</a:t>
            </a:r>
            <a:endParaRPr lang="en-AU" altLang="en-US" sz="3200"/>
          </a:p>
        </p:txBody>
      </p:sp>
      <p:sp>
        <p:nvSpPr>
          <p:cNvPr id="33797" name="Rectangle 3"/>
          <p:cNvSpPr>
            <a:spLocks noGrp="1" noChangeArrowheads="1"/>
          </p:cNvSpPr>
          <p:nvPr>
            <p:ph type="body" idx="1"/>
          </p:nvPr>
        </p:nvSpPr>
        <p:spPr/>
        <p:txBody>
          <a:bodyPr/>
          <a:lstStyle/>
          <a:p>
            <a:pPr marL="609600" indent="-609600" eaLnBrk="1" hangingPunct="1"/>
            <a:r>
              <a:rPr lang="en-US" altLang="en-US" sz="2000"/>
              <a:t>can be applied to any sized message </a:t>
            </a:r>
            <a:r>
              <a:rPr lang="en-US" altLang="en-US" sz="2000">
                <a:latin typeface="Courier New" panose="02070309020205020404" pitchFamily="49" charset="0"/>
              </a:rPr>
              <a:t>M</a:t>
            </a:r>
            <a:endParaRPr lang="en-US" altLang="en-US" sz="2000"/>
          </a:p>
          <a:p>
            <a:pPr marL="609600" indent="-609600" eaLnBrk="1" hangingPunct="1"/>
            <a:r>
              <a:rPr lang="en-US" altLang="en-US" sz="2000"/>
              <a:t>produces fixed-length output </a:t>
            </a:r>
            <a:r>
              <a:rPr lang="en-US" altLang="en-US" sz="2000">
                <a:latin typeface="Courier New" panose="02070309020205020404" pitchFamily="49" charset="0"/>
              </a:rPr>
              <a:t>h</a:t>
            </a:r>
            <a:endParaRPr lang="en-US" altLang="en-US" sz="2000"/>
          </a:p>
          <a:p>
            <a:pPr marL="609600" indent="-609600" eaLnBrk="1" hangingPunct="1"/>
            <a:r>
              <a:rPr lang="en-US" altLang="en-US" sz="2000"/>
              <a:t>is easy to compute </a:t>
            </a:r>
            <a:r>
              <a:rPr lang="en-US" altLang="en-US" sz="2000">
                <a:latin typeface="Courier New" panose="02070309020205020404" pitchFamily="49" charset="0"/>
              </a:rPr>
              <a:t>h=H(M)</a:t>
            </a:r>
            <a:r>
              <a:rPr lang="en-US" altLang="en-US" sz="2000"/>
              <a:t> for any message </a:t>
            </a:r>
            <a:r>
              <a:rPr lang="en-US" altLang="en-US" sz="2000">
                <a:latin typeface="Courier New" panose="02070309020205020404" pitchFamily="49" charset="0"/>
              </a:rPr>
              <a:t>M</a:t>
            </a:r>
          </a:p>
          <a:p>
            <a:pPr marL="609600" indent="-609600" eaLnBrk="1" hangingPunct="1"/>
            <a:r>
              <a:rPr lang="en-US" altLang="en-US" sz="2000"/>
              <a:t>given </a:t>
            </a:r>
            <a:r>
              <a:rPr lang="en-US" altLang="en-US" sz="2000">
                <a:latin typeface="Courier New" panose="02070309020205020404" pitchFamily="49" charset="0"/>
              </a:rPr>
              <a:t>h</a:t>
            </a:r>
            <a:r>
              <a:rPr lang="en-US" altLang="en-US" sz="2000"/>
              <a:t> is infeasible to find </a:t>
            </a:r>
            <a:r>
              <a:rPr lang="en-US" altLang="en-US" sz="2000">
                <a:latin typeface="Courier New" panose="02070309020205020404" pitchFamily="49" charset="0"/>
              </a:rPr>
              <a:t>x</a:t>
            </a:r>
            <a:r>
              <a:rPr lang="en-US" altLang="en-US" sz="2000"/>
              <a:t> s.t. </a:t>
            </a:r>
            <a:r>
              <a:rPr lang="en-US" altLang="en-US" sz="2000">
                <a:latin typeface="Courier New" panose="02070309020205020404" pitchFamily="49" charset="0"/>
              </a:rPr>
              <a:t>H(x)=h</a:t>
            </a:r>
          </a:p>
          <a:p>
            <a:pPr marL="990600" lvl="1" indent="-533400" eaLnBrk="1" hangingPunct="1">
              <a:buFontTx/>
              <a:buChar char="•"/>
            </a:pPr>
            <a:r>
              <a:rPr lang="en-US" altLang="en-US" sz="2000"/>
              <a:t>one-way property</a:t>
            </a:r>
          </a:p>
          <a:p>
            <a:pPr marL="609600" indent="-609600" eaLnBrk="1" hangingPunct="1"/>
            <a:r>
              <a:rPr lang="en-US" altLang="en-US" sz="2000"/>
              <a:t>given </a:t>
            </a:r>
            <a:r>
              <a:rPr lang="en-US" altLang="en-US" sz="2000">
                <a:latin typeface="Courier New" panose="02070309020205020404" pitchFamily="49" charset="0"/>
              </a:rPr>
              <a:t>x</a:t>
            </a:r>
            <a:r>
              <a:rPr lang="en-US" altLang="en-US" sz="2000"/>
              <a:t> is infeasible to find           </a:t>
            </a:r>
            <a:r>
              <a:rPr lang="en-US" altLang="en-US" sz="2000">
                <a:latin typeface="Courier New" panose="02070309020205020404" pitchFamily="49" charset="0"/>
              </a:rPr>
              <a:t>y</a:t>
            </a:r>
            <a:r>
              <a:rPr lang="en-US" altLang="en-US" sz="2000"/>
              <a:t> s.t</a:t>
            </a:r>
            <a:r>
              <a:rPr lang="en-US" altLang="en-US" sz="2000">
                <a:latin typeface="Courier New" panose="02070309020205020404" pitchFamily="49" charset="0"/>
              </a:rPr>
              <a:t>. H(y)=H(x)</a:t>
            </a:r>
          </a:p>
          <a:p>
            <a:pPr marL="990600" lvl="1" indent="-533400" eaLnBrk="1" hangingPunct="1">
              <a:buFontTx/>
              <a:buChar char="•"/>
            </a:pPr>
            <a:r>
              <a:rPr lang="en-US" altLang="en-US" sz="2000"/>
              <a:t>weak collision resistance</a:t>
            </a:r>
          </a:p>
          <a:p>
            <a:pPr marL="609600" indent="-609600" eaLnBrk="1" hangingPunct="1"/>
            <a:r>
              <a:rPr lang="en-US" altLang="en-US" sz="2000"/>
              <a:t>is infeasible to find any </a:t>
            </a:r>
            <a:r>
              <a:rPr lang="en-US" altLang="en-US" sz="2000">
                <a:latin typeface="Courier New" panose="02070309020205020404" pitchFamily="49" charset="0"/>
              </a:rPr>
              <a:t>x,y</a:t>
            </a:r>
            <a:r>
              <a:rPr lang="en-US" altLang="en-US" sz="2000"/>
              <a:t> s.t</a:t>
            </a:r>
            <a:r>
              <a:rPr lang="en-US" altLang="en-US" sz="2000">
                <a:latin typeface="Courier New" panose="02070309020205020404" pitchFamily="49" charset="0"/>
              </a:rPr>
              <a:t>. H(y)=H(x)</a:t>
            </a:r>
          </a:p>
          <a:p>
            <a:pPr marL="990600" lvl="1" indent="-533400" eaLnBrk="1" hangingPunct="1">
              <a:buFontTx/>
              <a:buChar char="•"/>
            </a:pPr>
            <a:r>
              <a:rPr lang="en-US" altLang="en-US" sz="2000"/>
              <a:t>strong collision resistance</a:t>
            </a:r>
          </a:p>
          <a:p>
            <a:pPr marL="990600" lvl="1" indent="-533400" eaLnBrk="1" hangingPunct="1">
              <a:buFontTx/>
              <a:buAutoNum type="arabicPeriod"/>
            </a:pPr>
            <a:endParaRPr lang="en-AU" altLang="en-US" sz="2000"/>
          </a:p>
        </p:txBody>
      </p:sp>
    </p:spTree>
    <p:extLst>
      <p:ext uri="{BB962C8B-B14F-4D97-AF65-F5344CB8AC3E}">
        <p14:creationId xmlns:p14="http://schemas.microsoft.com/office/powerpoint/2010/main" val="2619822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37891"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8EBE4672-3D47-444B-92F9-411409385A4D}" type="slidenum">
              <a:rPr lang="zh-CN" altLang="en-US" sz="1400" smtClean="0"/>
              <a:pPr>
                <a:lnSpc>
                  <a:spcPct val="100000"/>
                </a:lnSpc>
                <a:spcBef>
                  <a:spcPct val="0"/>
                </a:spcBef>
              </a:pPr>
              <a:t>33</a:t>
            </a:fld>
            <a:endParaRPr lang="en-US" altLang="zh-CN" sz="1400"/>
          </a:p>
        </p:txBody>
      </p:sp>
      <p:sp>
        <p:nvSpPr>
          <p:cNvPr id="37892" name="Rectangle 2"/>
          <p:cNvSpPr>
            <a:spLocks noGrp="1" noChangeArrowheads="1"/>
          </p:cNvSpPr>
          <p:nvPr>
            <p:ph type="title"/>
          </p:nvPr>
        </p:nvSpPr>
        <p:spPr/>
        <p:txBody>
          <a:bodyPr/>
          <a:lstStyle/>
          <a:p>
            <a:pPr eaLnBrk="1" hangingPunct="1"/>
            <a:r>
              <a:rPr lang="en-US" altLang="zh-CN">
                <a:ea typeface="宋体" panose="02010600030101010101" pitchFamily="2" charset="-122"/>
              </a:rPr>
              <a:t>Secure Hash Algorithms</a:t>
            </a:r>
            <a:endParaRPr lang="en-US" altLang="en-US"/>
          </a:p>
        </p:txBody>
      </p:sp>
      <p:pic>
        <p:nvPicPr>
          <p:cNvPr id="3789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057400"/>
            <a:ext cx="8523288" cy="327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9774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4070</Words>
  <Application>Microsoft Office PowerPoint</Application>
  <PresentationFormat>On-screen Show (4:3)</PresentationFormat>
  <Paragraphs>359</Paragraphs>
  <Slides>33</Slides>
  <Notes>21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33</vt:i4>
      </vt:variant>
    </vt:vector>
  </HeadingPairs>
  <TitlesOfParts>
    <vt:vector size="49" baseType="lpstr">
      <vt:lpstr>DengXian</vt:lpstr>
      <vt:lpstr>ＭＳ Ｐゴシック</vt:lpstr>
      <vt:lpstr>ＭＳ Ｐゴシック</vt:lpstr>
      <vt:lpstr>PMingLiU</vt:lpstr>
      <vt:lpstr>PMingLiU</vt:lpstr>
      <vt:lpstr>宋体</vt:lpstr>
      <vt:lpstr>宋体</vt:lpstr>
      <vt:lpstr>Arial</vt:lpstr>
      <vt:lpstr>Calibri</vt:lpstr>
      <vt:lpstr>Comic Sans MS</vt:lpstr>
      <vt:lpstr>Courier New</vt:lpstr>
      <vt:lpstr>Symbol</vt:lpstr>
      <vt:lpstr>Times New Roman</vt:lpstr>
      <vt:lpstr>Times-Roman</vt:lpstr>
      <vt:lpstr>Wingdings</vt:lpstr>
      <vt:lpstr>Office Theme</vt:lpstr>
      <vt:lpstr>CEG 4424/6424 Midterm Review</vt:lpstr>
      <vt:lpstr>Time and Location</vt:lpstr>
      <vt:lpstr>Policy</vt:lpstr>
      <vt:lpstr>Questions</vt:lpstr>
      <vt:lpstr>Topics</vt:lpstr>
      <vt:lpstr>Security Objectives</vt:lpstr>
      <vt:lpstr>Bell-LaPadula</vt:lpstr>
      <vt:lpstr>Biba’s Model (Strict Integrity Policy)</vt:lpstr>
      <vt:lpstr>Security Model</vt:lpstr>
      <vt:lpstr>Design Principles</vt:lpstr>
      <vt:lpstr>Design Principles</vt:lpstr>
      <vt:lpstr>Block vs Stream Ciphers</vt:lpstr>
      <vt:lpstr>One-Time Pad</vt:lpstr>
      <vt:lpstr>Example of Stream Encryption</vt:lpstr>
      <vt:lpstr>Example of Stream Decryption</vt:lpstr>
      <vt:lpstr>Properties of XOR Operations</vt:lpstr>
      <vt:lpstr>PowerPoint Presentation</vt:lpstr>
      <vt:lpstr>PowerPoint Presentation</vt:lpstr>
      <vt:lpstr>Advanced Encryption Standard</vt:lpstr>
      <vt:lpstr>Advanced Encryption Standard</vt:lpstr>
      <vt:lpstr>Advanced Encryption Standard</vt:lpstr>
      <vt:lpstr>Advanced Encryption Standard</vt:lpstr>
      <vt:lpstr>PowerPoint Presentation</vt:lpstr>
      <vt:lpstr>Converting Block Cipher to Stream Cipher</vt:lpstr>
      <vt:lpstr>Modular Arithmetic</vt:lpstr>
      <vt:lpstr>Greatest Common Divisor</vt:lpstr>
      <vt:lpstr>Multiplicative Inverses</vt:lpstr>
      <vt:lpstr>Multiplicative Inverses</vt:lpstr>
      <vt:lpstr>Multiplicative Inverses</vt:lpstr>
      <vt:lpstr>RSA Algorithm</vt:lpstr>
      <vt:lpstr>Hash and Message Digest</vt:lpstr>
      <vt:lpstr>Requirements for Hash Functions</vt:lpstr>
      <vt:lpstr>Secure Hash Algorithms</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Junjie Zhang</dc:creator>
  <cp:lastModifiedBy>Meilin</cp:lastModifiedBy>
  <cp:revision>197</cp:revision>
  <dcterms:created xsi:type="dcterms:W3CDTF">2015-10-14T13:10:36Z</dcterms:created>
  <dcterms:modified xsi:type="dcterms:W3CDTF">2025-10-06T19:08:53Z</dcterms:modified>
</cp:coreProperties>
</file>