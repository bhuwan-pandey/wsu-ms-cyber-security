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76" r:id="rId3"/>
    <p:sldId id="271" r:id="rId4"/>
    <p:sldId id="273" r:id="rId5"/>
    <p:sldId id="274" r:id="rId6"/>
    <p:sldId id="277" r:id="rId7"/>
    <p:sldId id="275" r:id="rId8"/>
    <p:sldId id="278" r:id="rId9"/>
    <p:sldId id="279" r:id="rId10"/>
    <p:sldId id="280" r:id="rId11"/>
    <p:sldId id="282" r:id="rId12"/>
    <p:sldId id="283" r:id="rId13"/>
    <p:sldId id="363" r:id="rId14"/>
    <p:sldId id="364" r:id="rId15"/>
    <p:sldId id="365" r:id="rId16"/>
    <p:sldId id="366" r:id="rId17"/>
    <p:sldId id="367" r:id="rId18"/>
    <p:sldId id="319" r:id="rId19"/>
    <p:sldId id="321" r:id="rId20"/>
    <p:sldId id="325" r:id="rId21"/>
    <p:sldId id="326" r:id="rId22"/>
    <p:sldId id="322" r:id="rId23"/>
    <p:sldId id="327" r:id="rId24"/>
    <p:sldId id="297" r:id="rId25"/>
    <p:sldId id="368" r:id="rId26"/>
    <p:sldId id="296" r:id="rId27"/>
    <p:sldId id="369" r:id="rId28"/>
    <p:sldId id="370" r:id="rId29"/>
    <p:sldId id="371" r:id="rId30"/>
    <p:sldId id="351" r:id="rId31"/>
    <p:sldId id="299" r:id="rId32"/>
    <p:sldId id="304" r:id="rId33"/>
    <p:sldId id="302" r:id="rId34"/>
    <p:sldId id="306" r:id="rId35"/>
    <p:sldId id="320" r:id="rId36"/>
    <p:sldId id="307" r:id="rId37"/>
    <p:sldId id="362" r:id="rId38"/>
    <p:sldId id="356" r:id="rId39"/>
    <p:sldId id="357" r:id="rId40"/>
    <p:sldId id="358" r:id="rId41"/>
    <p:sldId id="359" r:id="rId42"/>
    <p:sldId id="360" r:id="rId43"/>
    <p:sldId id="361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76863" autoAdjust="0"/>
  </p:normalViewPr>
  <p:slideViewPr>
    <p:cSldViewPr snapToGrid="0" snapToObjects="1">
      <p:cViewPr varScale="1">
        <p:scale>
          <a:sx n="75" d="100"/>
          <a:sy n="75" d="100"/>
        </p:scale>
        <p:origin x="166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5491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58B87F-11AC-6D46-9BEE-BEA35A6719E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BC6DA2-2425-7640-A467-8DCF2E565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55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Namespace" TargetMode="External"/><Relationship Id="rId3" Type="http://schemas.openxmlformats.org/officeDocument/2006/relationships/hyperlink" Target="https://en.wikipedia.org/wiki/Help:IPA/English" TargetMode="External"/><Relationship Id="rId7" Type="http://schemas.openxmlformats.org/officeDocument/2006/relationships/hyperlink" Target="https://en.wikipedia.org/wiki/Database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Nonprofit_organization" TargetMode="External"/><Relationship Id="rId5" Type="http://schemas.openxmlformats.org/officeDocument/2006/relationships/hyperlink" Target="https://en.wikipedia.org/wiki/Multistakeholder_governance" TargetMode="External"/><Relationship Id="rId4" Type="http://schemas.openxmlformats.org/officeDocument/2006/relationships/hyperlink" Target="https://en.wikipedia.org/wiki/Help:Pronunciation_respelling_key" TargetMode="External"/><Relationship Id="rId9" Type="http://schemas.openxmlformats.org/officeDocument/2006/relationships/hyperlink" Target="https://en.wikipedia.org/wiki/Internet" TargetMode="Externa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</a:t>
            </a:r>
            <a:r>
              <a:rPr lang="en-US" baseline="0" dirty="0"/>
              <a:t> this lecture, we will discuss a number of protocol vulnerabilities. These vulnerabilities are majorly intrinsic to the design of the protocol and independent of the implementation of these protocols.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BC6DA2-2425-7640-A467-8DCF2E5658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134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BC6DA2-2425-7640-A467-8DCF2E5658D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081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u="non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9787D6-74B1-B44D-8654-BCEE28471BC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582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u="non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9787D6-74B1-B44D-8654-BCEE28471BC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5823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Allocate memory for the data structure used</a:t>
            </a:r>
            <a:r>
              <a:rPr lang="en-US" baseline="0" dirty="0"/>
              <a:t> to maintain the state of the connection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BC6DA2-2425-7640-A467-8DCF2E5658D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8225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latin typeface="Arial" charset="0"/>
              </a:rPr>
              <a:t>Timeout period: configurable, like one minute</a:t>
            </a:r>
          </a:p>
          <a:p>
            <a:pPr>
              <a:lnSpc>
                <a:spcPct val="90000"/>
              </a:lnSpc>
            </a:pPr>
            <a:endParaRPr lang="en-US" dirty="0">
              <a:latin typeface="Arial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Arial" charset="0"/>
              </a:rPr>
              <a:t>Attacker sends many connection requests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Arial" charset="0"/>
              </a:rPr>
              <a:t>Spoofed source addresses 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Arial" charset="0"/>
              </a:rPr>
              <a:t>Victim allocates resources for each request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Arial" charset="0"/>
              </a:rPr>
              <a:t>Connection requests exist until timeout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Arial" charset="0"/>
              </a:rPr>
              <a:t>Old implementations have a small and fixed bound on half-open connections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Arial" charset="0"/>
              </a:rPr>
              <a:t>Resources exhausted </a:t>
            </a:r>
            <a:r>
              <a:rPr lang="en-US" dirty="0">
                <a:latin typeface="Arial" charset="0"/>
                <a:sym typeface="Symbol" charset="0"/>
              </a:rPr>
              <a:t> </a:t>
            </a:r>
            <a:r>
              <a:rPr lang="en-US" dirty="0">
                <a:latin typeface="Arial" charset="0"/>
              </a:rPr>
              <a:t>requests rejected</a:t>
            </a:r>
          </a:p>
          <a:p>
            <a:pPr>
              <a:lnSpc>
                <a:spcPct val="90000"/>
              </a:lnSpc>
            </a:pPr>
            <a:endParaRPr lang="en-US" dirty="0">
              <a:latin typeface="Arial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Arial" charset="0"/>
              </a:rPr>
              <a:t>No more effective than other channel capacity-based attack today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BC6DA2-2425-7640-A467-8DCF2E5658D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455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</a:t>
            </a:r>
            <a:r>
              <a:rPr lang="en-US" baseline="0" dirty="0"/>
              <a:t> disadvantages:</a:t>
            </a:r>
          </a:p>
          <a:p>
            <a:endParaRPr lang="en-US" baseline="0" dirty="0"/>
          </a:p>
          <a:p>
            <a:r>
              <a:rPr lang="en-US" baseline="0" dirty="0"/>
              <a:t>IP1 is bad (fixed)</a:t>
            </a:r>
          </a:p>
          <a:p>
            <a:r>
              <a:rPr lang="en-US" baseline="0" dirty="0"/>
              <a:t>Only 2^16 connections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BC6DA2-2425-7640-A467-8DCF2E5658D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71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</a:t>
            </a:r>
            <a:r>
              <a:rPr lang="en-US" baseline="0" dirty="0"/>
              <a:t> disadvantages:</a:t>
            </a:r>
          </a:p>
          <a:p>
            <a:endParaRPr lang="en-US" baseline="0" dirty="0"/>
          </a:p>
          <a:p>
            <a:r>
              <a:rPr lang="en-US" baseline="0" dirty="0"/>
              <a:t>IP address is spoofed, then you the attacker can send 2^48 SYN packets to the server (theoretically, bounded by the attacker’s network bandwidth), to exhaust the memory space of the server.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BC6DA2-2425-7640-A467-8DCF2E5658D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713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Early detection of Denial</a:t>
            </a:r>
            <a:r>
              <a:rPr lang="en-US" baseline="0" dirty="0"/>
              <a:t> of service attack is important. </a:t>
            </a:r>
          </a:p>
          <a:p>
            <a:endParaRPr lang="en-US" baseline="0" dirty="0"/>
          </a:p>
          <a:p>
            <a:r>
              <a:rPr lang="en-US" baseline="0" dirty="0"/>
              <a:t>When a server detects Denial of service attack, the server should scale up the service (Maybe by using the cloud service)</a:t>
            </a:r>
          </a:p>
          <a:p>
            <a:endParaRPr lang="en-US" baseline="0" dirty="0"/>
          </a:p>
          <a:p>
            <a:r>
              <a:rPr lang="en-US" baseline="0" dirty="0"/>
              <a:t>Once a server receives a lot of SYN packets, it should realize that it is under attack.. </a:t>
            </a:r>
          </a:p>
          <a:p>
            <a:endParaRPr lang="en-US" baseline="0" dirty="0"/>
          </a:p>
          <a:p>
            <a:r>
              <a:rPr lang="en-US" baseline="0" dirty="0"/>
              <a:t>Using UDP. UDP does not maintain the state. The application maintains the state.  </a:t>
            </a:r>
          </a:p>
          <a:p>
            <a:endParaRPr lang="en-US" baseline="0" dirty="0"/>
          </a:p>
          <a:p>
            <a:r>
              <a:rPr lang="en-US" baseline="0" dirty="0"/>
              <a:t>TCP/IP is usually implemented by the Operating System.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BC6DA2-2425-7640-A467-8DCF2E5658D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4318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second picture,</a:t>
            </a:r>
            <a:r>
              <a:rPr lang="en-US" baseline="0" dirty="0"/>
              <a:t> an attacker can send send a fake ACK message to the server. </a:t>
            </a:r>
          </a:p>
          <a:p>
            <a:endParaRPr lang="en-US" baseline="0" dirty="0"/>
          </a:p>
          <a:p>
            <a:r>
              <a:rPr lang="en-US" baseline="0" dirty="0"/>
              <a:t>How does the server know: </a:t>
            </a:r>
          </a:p>
          <a:p>
            <a:endParaRPr lang="en-US" baseline="0" dirty="0"/>
          </a:p>
          <a:p>
            <a:pPr marL="228600" indent="-228600">
              <a:buAutoNum type="arabicPeriod"/>
            </a:pPr>
            <a:r>
              <a:rPr lang="en-US" baseline="0" dirty="0"/>
              <a:t>The client has sent the SYN packet in the first place. </a:t>
            </a:r>
          </a:p>
          <a:p>
            <a:pPr marL="228600" indent="-228600">
              <a:buAutoNum type="arabicPeriod"/>
            </a:pPr>
            <a:r>
              <a:rPr lang="en-US" baseline="0" dirty="0"/>
              <a:t>The client has successfully received the SYN-ACK packet?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7958FA-65E4-B947-9637-582B00D33A2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2137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second picture,</a:t>
            </a:r>
            <a:r>
              <a:rPr lang="en-US" baseline="0" dirty="0"/>
              <a:t> an attacker can send send a fake ACK message to the server. </a:t>
            </a:r>
          </a:p>
          <a:p>
            <a:endParaRPr lang="en-US" baseline="0" dirty="0"/>
          </a:p>
          <a:p>
            <a:r>
              <a:rPr lang="en-US" baseline="0" dirty="0"/>
              <a:t>Server sequence number: t mod 32, MSS, </a:t>
            </a:r>
            <a:r>
              <a:rPr lang="en-US" baseline="0" dirty="0" err="1"/>
              <a:t>Syn</a:t>
            </a:r>
            <a:r>
              <a:rPr lang="en-US" baseline="0" dirty="0"/>
              <a:t> cookie. </a:t>
            </a:r>
          </a:p>
          <a:p>
            <a:endParaRPr lang="en-US" baseline="0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0000"/>
                </a:solidFill>
                <a:latin typeface="Courier New" charset="0"/>
              </a:rPr>
              <a:t>Cookie=HMAC(t, N</a:t>
            </a:r>
            <a:r>
              <a:rPr lang="en-GB" sz="1200" baseline="-33000" dirty="0">
                <a:solidFill>
                  <a:srgbClr val="000000"/>
                </a:solidFill>
                <a:latin typeface="Courier New" charset="0"/>
              </a:rPr>
              <a:t>s</a:t>
            </a:r>
            <a:r>
              <a:rPr lang="en-GB" sz="1200" dirty="0">
                <a:solidFill>
                  <a:srgbClr val="000000"/>
                </a:solidFill>
                <a:latin typeface="Courier New" charset="0"/>
              </a:rPr>
              <a:t>, SIP, </a:t>
            </a:r>
            <a:r>
              <a:rPr lang="en-GB" sz="1200" dirty="0" err="1">
                <a:solidFill>
                  <a:srgbClr val="000000"/>
                </a:solidFill>
                <a:latin typeface="Courier New" charset="0"/>
              </a:rPr>
              <a:t>SPort</a:t>
            </a:r>
            <a:r>
              <a:rPr lang="en-GB" sz="1200" dirty="0">
                <a:solidFill>
                  <a:srgbClr val="000000"/>
                </a:solidFill>
                <a:latin typeface="Courier New" charset="0"/>
              </a:rPr>
              <a:t>, DIP, </a:t>
            </a:r>
            <a:r>
              <a:rPr lang="en-GB" sz="1200" dirty="0" err="1">
                <a:solidFill>
                  <a:srgbClr val="000000"/>
                </a:solidFill>
                <a:latin typeface="Courier New" charset="0"/>
              </a:rPr>
              <a:t>DPort</a:t>
            </a:r>
            <a:r>
              <a:rPr lang="en-GB" sz="1200" dirty="0">
                <a:solidFill>
                  <a:srgbClr val="000000"/>
                </a:solidFill>
                <a:latin typeface="Courier New" charset="0"/>
              </a:rPr>
              <a:t>)</a:t>
            </a:r>
          </a:p>
          <a:p>
            <a:endParaRPr lang="en-US" baseline="0" dirty="0"/>
          </a:p>
          <a:p>
            <a:r>
              <a:rPr lang="en-US" baseline="0" dirty="0"/>
              <a:t>Ns: the secret shared by all the connections</a:t>
            </a:r>
          </a:p>
          <a:p>
            <a:endParaRPr lang="en-US" baseline="0" dirty="0"/>
          </a:p>
          <a:p>
            <a:r>
              <a:rPr lang="en-US" baseline="0" dirty="0"/>
              <a:t>How does the server know: </a:t>
            </a:r>
          </a:p>
          <a:p>
            <a:endParaRPr lang="en-US" baseline="0" dirty="0"/>
          </a:p>
          <a:p>
            <a:pPr marL="228600" indent="-228600">
              <a:buAutoNum type="arabicPeriod"/>
            </a:pPr>
            <a:r>
              <a:rPr lang="en-US" baseline="0" dirty="0"/>
              <a:t>The client has sent the SYN packet in the first place. </a:t>
            </a:r>
          </a:p>
          <a:p>
            <a:pPr marL="228600" indent="-228600">
              <a:buAutoNum type="arabicPeriod"/>
            </a:pPr>
            <a:r>
              <a:rPr lang="en-US" baseline="0" dirty="0"/>
              <a:t>The client has successfully received the SYN-ACK packet?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7958FA-65E4-B947-9637-582B00D33A2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0626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second picture,</a:t>
            </a:r>
            <a:r>
              <a:rPr lang="en-US" baseline="0" dirty="0"/>
              <a:t> an attacker can send send a fake ACK message to the server. </a:t>
            </a:r>
          </a:p>
          <a:p>
            <a:endParaRPr lang="en-US" baseline="0" dirty="0"/>
          </a:p>
          <a:p>
            <a:r>
              <a:rPr lang="en-US" baseline="0" dirty="0"/>
              <a:t>How does the server know: </a:t>
            </a:r>
          </a:p>
          <a:p>
            <a:endParaRPr lang="en-US" baseline="0" dirty="0"/>
          </a:p>
          <a:p>
            <a:pPr marL="228600" indent="-228600">
              <a:buAutoNum type="arabicPeriod"/>
            </a:pPr>
            <a:r>
              <a:rPr lang="en-US" baseline="0" dirty="0"/>
              <a:t>The client has sent the SYN packet in the first place. </a:t>
            </a:r>
          </a:p>
          <a:p>
            <a:pPr marL="228600" indent="-228600">
              <a:buAutoNum type="arabicPeriod"/>
            </a:pPr>
            <a:r>
              <a:rPr lang="en-US" baseline="0" dirty="0"/>
              <a:t>The client has successfully received the SYN-</a:t>
            </a:r>
            <a:r>
              <a:rPr lang="en-US" baseline="0"/>
              <a:t>ACK packet?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7958FA-65E4-B947-9637-582B00D33A2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7175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second picture,</a:t>
            </a:r>
            <a:r>
              <a:rPr lang="en-US" baseline="0" dirty="0"/>
              <a:t> an attacker can send send a fake ACK message to the server. </a:t>
            </a:r>
          </a:p>
          <a:p>
            <a:endParaRPr lang="en-US" baseline="0" dirty="0"/>
          </a:p>
          <a:p>
            <a:r>
              <a:rPr lang="en-US" baseline="0" dirty="0"/>
              <a:t>How does the server know: </a:t>
            </a:r>
          </a:p>
          <a:p>
            <a:endParaRPr lang="en-US" baseline="0" dirty="0"/>
          </a:p>
          <a:p>
            <a:pPr marL="228600" indent="-228600">
              <a:buAutoNum type="arabicPeriod"/>
            </a:pPr>
            <a:r>
              <a:rPr lang="en-US" baseline="0" dirty="0"/>
              <a:t>The client has sent the SYN packet in the first place. </a:t>
            </a:r>
          </a:p>
          <a:p>
            <a:pPr marL="228600" indent="-228600">
              <a:buAutoNum type="arabicPeriod"/>
            </a:pPr>
            <a:r>
              <a:rPr lang="en-US" baseline="0" dirty="0"/>
              <a:t>The client has successfully received the SYN-</a:t>
            </a:r>
            <a:r>
              <a:rPr lang="en-US" baseline="0"/>
              <a:t>ACK packet?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7958FA-65E4-B947-9637-582B00D33A2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646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second picture,</a:t>
            </a:r>
            <a:r>
              <a:rPr lang="en-US" baseline="0" dirty="0"/>
              <a:t> an attacker can send send a fake ACK message to the server. </a:t>
            </a:r>
          </a:p>
          <a:p>
            <a:endParaRPr lang="en-US" baseline="0" dirty="0"/>
          </a:p>
          <a:p>
            <a:r>
              <a:rPr lang="en-US" baseline="0" dirty="0"/>
              <a:t>How does the server know: </a:t>
            </a:r>
          </a:p>
          <a:p>
            <a:endParaRPr lang="en-US" baseline="0" dirty="0"/>
          </a:p>
          <a:p>
            <a:pPr marL="228600" indent="-228600">
              <a:buAutoNum type="arabicPeriod"/>
            </a:pPr>
            <a:r>
              <a:rPr lang="en-US" baseline="0" dirty="0"/>
              <a:t>The client has sent the SYN packet in the first place. </a:t>
            </a:r>
          </a:p>
          <a:p>
            <a:pPr marL="228600" indent="-228600">
              <a:buAutoNum type="arabicPeriod"/>
            </a:pPr>
            <a:r>
              <a:rPr lang="en-US" baseline="0" dirty="0"/>
              <a:t>The client has successfully received the SYN-</a:t>
            </a:r>
            <a:r>
              <a:rPr lang="en-US" baseline="0"/>
              <a:t>ACK packet?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7958FA-65E4-B947-9637-582B00D33A2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2425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egress</a:t>
            </a:r>
            <a:r>
              <a:rPr lang="en-US" baseline="0" dirty="0"/>
              <a:t> point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BC6DA2-2425-7640-A467-8DCF2E5658D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5630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Drop packets (a</a:t>
            </a:r>
            <a:r>
              <a:rPr lang="en-US" baseline="0" dirty="0"/>
              <a:t> middle packets </a:t>
            </a:r>
            <a:r>
              <a:rPr lang="en-US" dirty="0"/>
              <a:t>maintaining states of the</a:t>
            </a:r>
            <a:r>
              <a:rPr lang="en-US" baseline="0" dirty="0"/>
              <a:t> packets), that is too expensive.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BC6DA2-2425-7640-A467-8DCF2E5658D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7058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BC6DA2-2425-7640-A467-8DCF2E5658D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7435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Solution:</a:t>
            </a:r>
            <a:r>
              <a:rPr lang="en-US" baseline="0" dirty="0"/>
              <a:t> A </a:t>
            </a:r>
            <a:r>
              <a:rPr lang="en-US" dirty="0"/>
              <a:t>Centralized</a:t>
            </a:r>
            <a:r>
              <a:rPr lang="en-US" baseline="0" dirty="0"/>
              <a:t> Database: DNS system (IP address is public, known to everybody.) What is the problem? How many computers connected to the internet that need to use the DNS service? A huge number of DNS requests. Incoming traffic, outgoing traffic, and DNS queries to the DNS database. Insert of new domain name: time consuming. </a:t>
            </a:r>
          </a:p>
          <a:p>
            <a:endParaRPr lang="en-US" baseline="0" dirty="0"/>
          </a:p>
          <a:p>
            <a:r>
              <a:rPr lang="en-US" baseline="0" dirty="0"/>
              <a:t>Centralized DNS system database: registration, query. </a:t>
            </a:r>
          </a:p>
          <a:p>
            <a:endParaRPr lang="en-US" baseline="0" dirty="0"/>
          </a:p>
          <a:p>
            <a:r>
              <a:rPr lang="en-US" baseline="0" dirty="0"/>
              <a:t>Hierarchy DNS service: tree structure.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BC6DA2-2425-7640-A467-8DCF2E5658D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3314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level domain (.com),</a:t>
            </a:r>
            <a:r>
              <a:rPr lang="en-US" baseline="0" dirty="0"/>
              <a:t> second level domain (.google), third level domain (.mail)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BC6DA2-2425-7640-A467-8DCF2E5658D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3762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ICANN's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mission is to help ensure a stable, secure, and unified global Internet.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Internet Corporation for Assigned Names and Numbers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ICANN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Help:IPA/English"/>
              </a:rPr>
              <a:t>/ˈ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Help:IPA/English"/>
              </a:rPr>
              <a:t>aɪkæn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Help:IPA/English"/>
              </a:rPr>
              <a:t>/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Help:Pronunciation respelling key"/>
              </a:rPr>
              <a:t>EYE-</a:t>
            </a:r>
            <a:r>
              <a:rPr lang="en-U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Help:Pronunciation respelling key"/>
              </a:rPr>
              <a:t>kan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is an American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Multistakeholder governance"/>
              </a:rPr>
              <a:t>multistakeholder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Multistakeholder governance"/>
              </a:rPr>
              <a:t> group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Nonprofit organization"/>
              </a:rPr>
              <a:t>nonprofit organization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responsible for coordinating the maintenance and procedures of several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Database"/>
              </a:rPr>
              <a:t>databases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related to the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 tooltip="Namespace"/>
              </a:rPr>
              <a:t>namespaces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numerical spaces of the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 tooltip="Internet"/>
              </a:rPr>
              <a:t>Internet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ensuring the network's stable and secure operation.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BC6DA2-2425-7640-A467-8DCF2E5658D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8781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DNS service</a:t>
            </a:r>
            <a:r>
              <a:rPr lang="en-US" baseline="0" dirty="0"/>
              <a:t> uses </a:t>
            </a:r>
            <a:r>
              <a:rPr lang="en-US" dirty="0"/>
              <a:t>UDP service.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recursive DNS server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root server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top level domain server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second level domain server (authoritative server, belonging to the owner)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third level domain server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BC6DA2-2425-7640-A467-8DCF2E5658D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8286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Recursive</a:t>
            </a:r>
            <a:r>
              <a:rPr lang="en-US" baseline="0" dirty="0"/>
              <a:t> DNS server: local network (maintain a cache), a proxy. </a:t>
            </a:r>
          </a:p>
          <a:p>
            <a:endParaRPr lang="en-US" baseline="0" dirty="0"/>
          </a:p>
          <a:p>
            <a:r>
              <a:rPr lang="en-US" baseline="0" dirty="0"/>
              <a:t>The other computers in the enterprise network can use the cached IP address for the domain names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BC6DA2-2425-7640-A467-8DCF2E5658D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5179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attacker does not know the port number of the recursive server, and the query ID. </a:t>
            </a:r>
          </a:p>
          <a:p>
            <a:endParaRPr lang="en-US" dirty="0"/>
          </a:p>
          <a:p>
            <a:r>
              <a:rPr lang="en-US" dirty="0"/>
              <a:t>The attacker can send back many fabricated DNS responses.</a:t>
            </a:r>
          </a:p>
          <a:p>
            <a:endParaRPr lang="en-US" dirty="0"/>
          </a:p>
          <a:p>
            <a:r>
              <a:rPr lang="en-US" dirty="0"/>
              <a:t>The recursive DNS server's source port number is incremental.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BC6DA2-2425-7640-A467-8DCF2E5658D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8317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fabricated DNS response: 1/ (2^16 -1024)*2^16 (16 bits of port number – 1024</a:t>
            </a:r>
            <a:r>
              <a:rPr lang="en-US" baseline="0" dirty="0"/>
              <a:t> ports</a:t>
            </a:r>
            <a:r>
              <a:rPr lang="en-US" dirty="0"/>
              <a:t>, 16 bits of ID)</a:t>
            </a:r>
          </a:p>
          <a:p>
            <a:endParaRPr lang="en-US" dirty="0"/>
          </a:p>
          <a:p>
            <a:r>
              <a:rPr lang="en-US" dirty="0"/>
              <a:t>N fabricated DNS response: N / (2^16-1024)</a:t>
            </a:r>
            <a:r>
              <a:rPr lang="en-US" baseline="0" dirty="0"/>
              <a:t> </a:t>
            </a:r>
            <a:r>
              <a:rPr lang="en-US" dirty="0"/>
              <a:t>*2^16</a:t>
            </a:r>
          </a:p>
          <a:p>
            <a:endParaRPr lang="en-US" dirty="0"/>
          </a:p>
          <a:p>
            <a:r>
              <a:rPr lang="en-US" dirty="0"/>
              <a:t>N fabricated DNS response, for M DNS queries for the same domain name: N*M / (2^16-1024) *2^16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BC6DA2-2425-7640-A467-8DCF2E5658D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5719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Fabricated</a:t>
            </a:r>
            <a:r>
              <a:rPr lang="en-US" baseline="0" dirty="0"/>
              <a:t> DNS responses match any of the three DNS requests. </a:t>
            </a:r>
          </a:p>
          <a:p>
            <a:endParaRPr lang="en-US" baseline="0" dirty="0"/>
          </a:p>
          <a:p>
            <a:r>
              <a:rPr lang="en-US" dirty="0"/>
              <a:t>If the client sends out 3 DNS queries, then the recursive DNS server will generate and send out </a:t>
            </a:r>
          </a:p>
          <a:p>
            <a:r>
              <a:rPr lang="en-US" dirty="0"/>
              <a:t>three DNS queries to the DNS server, then the attacker's DNS response has a higher probability to be accepted. </a:t>
            </a:r>
          </a:p>
          <a:p>
            <a:endParaRPr lang="en-US" dirty="0"/>
          </a:p>
          <a:p>
            <a:r>
              <a:rPr lang="en-US" dirty="0"/>
              <a:t>one fabricated DNS response: 1/ (2^16 -1024)*2^16 (16 bits of port number – 1024</a:t>
            </a:r>
            <a:r>
              <a:rPr lang="en-US" baseline="0" dirty="0"/>
              <a:t> ports</a:t>
            </a:r>
            <a:r>
              <a:rPr lang="en-US" dirty="0"/>
              <a:t>, 16 bits of ID)</a:t>
            </a:r>
          </a:p>
          <a:p>
            <a:endParaRPr lang="en-US" dirty="0"/>
          </a:p>
          <a:p>
            <a:r>
              <a:rPr lang="en-US" dirty="0"/>
              <a:t>N fabricated DNS response: N / (2^16-1024)</a:t>
            </a:r>
            <a:r>
              <a:rPr lang="en-US" baseline="0" dirty="0"/>
              <a:t> </a:t>
            </a:r>
            <a:r>
              <a:rPr lang="en-US" dirty="0"/>
              <a:t>*2^16</a:t>
            </a:r>
          </a:p>
          <a:p>
            <a:endParaRPr lang="en-US" dirty="0"/>
          </a:p>
          <a:p>
            <a:r>
              <a:rPr lang="en-US" dirty="0"/>
              <a:t>N fabricated DNS response, for M DNS queries for the same domain name: N*M / (2^16-1024) *2^16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BC6DA2-2425-7640-A467-8DCF2E5658D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5719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www.Microsoft.com vs. www.ibm.com</a:t>
            </a:r>
          </a:p>
          <a:p>
            <a:endParaRPr lang="en-US" dirty="0"/>
          </a:p>
          <a:p>
            <a:r>
              <a:rPr lang="en-US"/>
              <a:t>www.163.com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BC6DA2-2425-7640-A467-8DCF2E5658D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880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A9C1F-E079-8444-B056-7C23D397D3F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7146A-A1AA-BD4E-AF98-B44FFCFC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25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A9C1F-E079-8444-B056-7C23D397D3F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7146A-A1AA-BD4E-AF98-B44FFCFC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356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A9C1F-E079-8444-B056-7C23D397D3F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7146A-A1AA-BD4E-AF98-B44FFCFC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965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A9C1F-E079-8444-B056-7C23D397D3F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7146A-A1AA-BD4E-AF98-B44FFCFC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82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A9C1F-E079-8444-B056-7C23D397D3F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7146A-A1AA-BD4E-AF98-B44FFCFC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10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A9C1F-E079-8444-B056-7C23D397D3F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7146A-A1AA-BD4E-AF98-B44FFCFC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703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A9C1F-E079-8444-B056-7C23D397D3F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7146A-A1AA-BD4E-AF98-B44FFCFC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7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A9C1F-E079-8444-B056-7C23D397D3F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7146A-A1AA-BD4E-AF98-B44FFCFC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654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A9C1F-E079-8444-B056-7C23D397D3F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7146A-A1AA-BD4E-AF98-B44FFCFC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057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A9C1F-E079-8444-B056-7C23D397D3F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7146A-A1AA-BD4E-AF98-B44FFCFC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384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A9C1F-E079-8444-B056-7C23D397D3F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7146A-A1AA-BD4E-AF98-B44FFCFC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617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2A9C1F-E079-8444-B056-7C23D397D3F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27146A-A1AA-BD4E-AF98-B44FFCFC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51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cs.neu.edu/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astrolavos.gatech.edu/articles/increased_dns_resistance.pdf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bm.com/" TargetMode="External"/><Relationship Id="rId2" Type="http://schemas.openxmlformats.org/officeDocument/2006/relationships/hyperlink" Target="http://www.microsoft.com/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123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4025"/>
            <a:ext cx="7772400" cy="1470025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Networking Vulnerabilities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009900"/>
            <a:ext cx="6400800" cy="1752600"/>
          </a:xfrm>
        </p:spPr>
        <p:txBody>
          <a:bodyPr>
            <a:normAutofit fontScale="92500"/>
          </a:bodyPr>
          <a:lstStyle/>
          <a:p>
            <a:pPr algn="l"/>
            <a:r>
              <a:rPr lang="en-US" altLang="en-US" dirty="0">
                <a:solidFill>
                  <a:schemeClr val="tx1"/>
                </a:solidFill>
              </a:rPr>
              <a:t>This lecture is mainly based on the </a:t>
            </a:r>
            <a:r>
              <a:rPr lang="en-US" altLang="en-US" dirty="0" err="1">
                <a:solidFill>
                  <a:schemeClr val="tx1"/>
                </a:solidFill>
              </a:rPr>
              <a:t>powerpoint</a:t>
            </a:r>
            <a:r>
              <a:rPr lang="en-US" altLang="en-US" dirty="0">
                <a:solidFill>
                  <a:schemeClr val="tx1"/>
                </a:solidFill>
              </a:rPr>
              <a:t> slides by Prof. Mark Stamp, Prof. Lawrie Brown,  Dr. </a:t>
            </a:r>
            <a:r>
              <a:rPr lang="en-US" altLang="en-US" dirty="0" err="1">
                <a:solidFill>
                  <a:schemeClr val="tx1"/>
                </a:solidFill>
              </a:rPr>
              <a:t>Junjie</a:t>
            </a:r>
            <a:r>
              <a:rPr lang="en-US" altLang="en-US" dirty="0">
                <a:solidFill>
                  <a:schemeClr val="tx1"/>
                </a:solidFill>
              </a:rPr>
              <a:t> Zhang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343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Spoofing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Network (IP) Layer</a:t>
            </a:r>
          </a:p>
          <a:p>
            <a:pPr lvl="1"/>
            <a:r>
              <a:rPr lang="en-US" dirty="0"/>
              <a:t>Above the Ethernet-layer</a:t>
            </a:r>
          </a:p>
        </p:txBody>
      </p:sp>
      <p:pic>
        <p:nvPicPr>
          <p:cNvPr id="4" name="Picture 3" descr="encaps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8" y="3346797"/>
            <a:ext cx="4356100" cy="2349500"/>
          </a:xfrm>
          <a:prstGeom prst="rect">
            <a:avLst/>
          </a:prstGeom>
        </p:spPr>
      </p:pic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6329363" y="1879600"/>
            <a:ext cx="1898650" cy="3530600"/>
            <a:chOff x="3076" y="888"/>
            <a:chExt cx="1196" cy="2224"/>
          </a:xfrm>
        </p:grpSpPr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080" y="888"/>
              <a:ext cx="1192" cy="2224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3245" y="949"/>
              <a:ext cx="884" cy="19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b="1" dirty="0">
                  <a:solidFill>
                    <a:srgbClr val="C00000"/>
                  </a:solidFill>
                  <a:latin typeface="Arial" charset="0"/>
                </a:rPr>
                <a:t>application</a:t>
              </a:r>
              <a:endParaRPr lang="en-US" dirty="0">
                <a:solidFill>
                  <a:srgbClr val="C00000"/>
                </a:solidFill>
                <a:latin typeface="Arial" charset="0"/>
              </a:endParaRPr>
            </a:p>
            <a:p>
              <a:pPr algn="ctr" eaLnBrk="0" hangingPunct="0"/>
              <a:endParaRPr lang="en-US" dirty="0">
                <a:latin typeface="Arial" charset="0"/>
              </a:endParaRPr>
            </a:p>
            <a:p>
              <a:pPr algn="ctr" eaLnBrk="0" hangingPunct="0"/>
              <a:endParaRPr lang="en-US" b="1" dirty="0">
                <a:solidFill>
                  <a:schemeClr val="accent2"/>
                </a:solidFill>
                <a:latin typeface="Arial" charset="0"/>
              </a:endParaRPr>
            </a:p>
            <a:p>
              <a:pPr algn="ctr" eaLnBrk="0" hangingPunct="0"/>
              <a:r>
                <a:rPr lang="en-US" b="1" dirty="0">
                  <a:solidFill>
                    <a:schemeClr val="tx2"/>
                  </a:solidFill>
                  <a:latin typeface="Arial" charset="0"/>
                </a:rPr>
                <a:t>transport</a:t>
              </a:r>
              <a:endParaRPr lang="en-US" dirty="0">
                <a:solidFill>
                  <a:schemeClr val="tx2"/>
                </a:solidFill>
                <a:latin typeface="Arial" charset="0"/>
              </a:endParaRPr>
            </a:p>
            <a:p>
              <a:pPr algn="ctr" eaLnBrk="0" hangingPunct="0"/>
              <a:endParaRPr lang="en-US" dirty="0">
                <a:solidFill>
                  <a:schemeClr val="tx2"/>
                </a:solidFill>
                <a:latin typeface="Arial" charset="0"/>
              </a:endParaRPr>
            </a:p>
            <a:p>
              <a:pPr algn="ctr" eaLnBrk="0" hangingPunct="0"/>
              <a:r>
                <a:rPr lang="en-US" b="1" dirty="0">
                  <a:solidFill>
                    <a:schemeClr val="tx2"/>
                  </a:solidFill>
                  <a:latin typeface="Arial" charset="0"/>
                </a:rPr>
                <a:t>network</a:t>
              </a:r>
            </a:p>
            <a:p>
              <a:pPr algn="ctr" eaLnBrk="0" hangingPunct="0"/>
              <a:endParaRPr lang="en-US" dirty="0">
                <a:latin typeface="Arial" charset="0"/>
              </a:endParaRPr>
            </a:p>
            <a:p>
              <a:pPr algn="ctr" eaLnBrk="0" hangingPunct="0"/>
              <a:endParaRPr lang="en-US" dirty="0">
                <a:latin typeface="Arial" charset="0"/>
              </a:endParaRPr>
            </a:p>
            <a:p>
              <a:pPr algn="ctr" eaLnBrk="0" hangingPunct="0"/>
              <a:r>
                <a:rPr lang="en-US" dirty="0">
                  <a:latin typeface="Arial" charset="0"/>
                </a:rPr>
                <a:t>Data link</a:t>
              </a:r>
              <a:endParaRPr lang="en-US" dirty="0">
                <a:solidFill>
                  <a:srgbClr val="FF0000"/>
                </a:solidFill>
                <a:latin typeface="Arial" charset="0"/>
              </a:endParaRPr>
            </a:p>
            <a:p>
              <a:pPr algn="ctr" eaLnBrk="0" hangingPunct="0"/>
              <a:endParaRPr lang="en-US" dirty="0">
                <a:latin typeface="Arial" charset="0"/>
              </a:endParaRPr>
            </a:p>
            <a:p>
              <a:pPr algn="ctr" eaLnBrk="0" hangingPunct="0"/>
              <a:r>
                <a:rPr lang="en-US" dirty="0">
                  <a:latin typeface="Arial" charset="0"/>
                </a:rPr>
                <a:t>physical</a:t>
              </a:r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>
              <a:off x="3076" y="1324"/>
              <a:ext cx="11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3076" y="1768"/>
              <a:ext cx="11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3076" y="2216"/>
              <a:ext cx="11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3076" y="2664"/>
              <a:ext cx="11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9811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Spoofing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Sending an IP packet with forged source IP address</a:t>
            </a:r>
          </a:p>
          <a:p>
            <a:endParaRPr lang="en-US" dirty="0"/>
          </a:p>
          <a:p>
            <a:r>
              <a:rPr lang="en-US" dirty="0"/>
              <a:t>To impersonate another host with respect its IP address</a:t>
            </a:r>
          </a:p>
          <a:p>
            <a:endParaRPr lang="en-US" dirty="0"/>
          </a:p>
          <a:p>
            <a:r>
              <a:rPr lang="en-US" dirty="0"/>
              <a:t>Applications</a:t>
            </a:r>
          </a:p>
          <a:p>
            <a:pPr lvl="1"/>
            <a:r>
              <a:rPr lang="en-US" dirty="0"/>
              <a:t>Denial of Service Attacks</a:t>
            </a:r>
          </a:p>
          <a:p>
            <a:pPr lvl="1"/>
            <a:r>
              <a:rPr lang="en-US" dirty="0"/>
              <a:t>Access the IP-based authentication services such as the R services suite (rlogin, </a:t>
            </a:r>
            <a:r>
              <a:rPr lang="en-US" dirty="0" err="1"/>
              <a:t>rsh</a:t>
            </a:r>
            <a:r>
              <a:rPr lang="en-US" dirty="0"/>
              <a:t>, etc.)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251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Spoofing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745" y="1256227"/>
            <a:ext cx="8229600" cy="54651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Send a packet to a networked computer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259293" y="2185604"/>
            <a:ext cx="4574127" cy="3064233"/>
            <a:chOff x="1562841" y="1352090"/>
            <a:chExt cx="5475632" cy="3603450"/>
          </a:xfrm>
        </p:grpSpPr>
        <p:sp>
          <p:nvSpPr>
            <p:cNvPr id="5" name="Rectangle 4"/>
            <p:cNvSpPr/>
            <p:nvPr/>
          </p:nvSpPr>
          <p:spPr>
            <a:xfrm>
              <a:off x="1562841" y="3906995"/>
              <a:ext cx="1373261" cy="104854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Computer 1</a:t>
              </a:r>
            </a:p>
            <a:p>
              <a:pPr algn="ctr"/>
              <a:r>
                <a:rPr lang="en-US" sz="1200" dirty="0"/>
                <a:t>Address: IP1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665212" y="3906995"/>
              <a:ext cx="1373261" cy="104854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Computer 2</a:t>
              </a:r>
            </a:p>
            <a:p>
              <a:pPr algn="ctr"/>
              <a:r>
                <a:rPr lang="en-US" sz="1200" dirty="0"/>
                <a:t>Address: IP2</a:t>
              </a:r>
            </a:p>
          </p:txBody>
        </p:sp>
        <p:sp>
          <p:nvSpPr>
            <p:cNvPr id="7" name="Cloud 6"/>
            <p:cNvSpPr/>
            <p:nvPr/>
          </p:nvSpPr>
          <p:spPr>
            <a:xfrm>
              <a:off x="1917231" y="1352090"/>
              <a:ext cx="4884982" cy="1476824"/>
            </a:xfrm>
            <a:prstGeom prst="cloud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The Internet</a:t>
              </a:r>
            </a:p>
          </p:txBody>
        </p:sp>
        <p:cxnSp>
          <p:nvCxnSpPr>
            <p:cNvPr id="8" name="Curved Connector 7"/>
            <p:cNvCxnSpPr/>
            <p:nvPr/>
          </p:nvCxnSpPr>
          <p:spPr>
            <a:xfrm rot="5400000">
              <a:off x="2214836" y="2978998"/>
              <a:ext cx="1221044" cy="634948"/>
            </a:xfrm>
            <a:prstGeom prst="curvedConnector3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urved Connector 8"/>
            <p:cNvCxnSpPr>
              <a:endCxn id="6" idx="0"/>
            </p:cNvCxnSpPr>
            <p:nvPr/>
          </p:nvCxnSpPr>
          <p:spPr>
            <a:xfrm rot="16200000" flipH="1">
              <a:off x="5412772" y="2967924"/>
              <a:ext cx="1221046" cy="657096"/>
            </a:xfrm>
            <a:prstGeom prst="curvedConnector3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2758907" y="2264908"/>
              <a:ext cx="3174744" cy="1538709"/>
            </a:xfrm>
            <a:custGeom>
              <a:avLst/>
              <a:gdLst>
                <a:gd name="connsiteX0" fmla="*/ 0 w 3174744"/>
                <a:gd name="connsiteY0" fmla="*/ 1538709 h 1538709"/>
                <a:gd name="connsiteX1" fmla="*/ 959807 w 3174744"/>
                <a:gd name="connsiteY1" fmla="*/ 165263 h 1538709"/>
                <a:gd name="connsiteX2" fmla="*/ 2126340 w 3174744"/>
                <a:gd name="connsiteY2" fmla="*/ 76654 h 1538709"/>
                <a:gd name="connsiteX3" fmla="*/ 2820354 w 3174744"/>
                <a:gd name="connsiteY3" fmla="*/ 637847 h 1538709"/>
                <a:gd name="connsiteX4" fmla="*/ 3174744 w 3174744"/>
                <a:gd name="connsiteY4" fmla="*/ 1450100 h 1538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74744" h="1538709">
                  <a:moveTo>
                    <a:pt x="0" y="1538709"/>
                  </a:moveTo>
                  <a:cubicBezTo>
                    <a:pt x="302708" y="973824"/>
                    <a:pt x="605417" y="408939"/>
                    <a:pt x="959807" y="165263"/>
                  </a:cubicBezTo>
                  <a:cubicBezTo>
                    <a:pt x="1314197" y="-78413"/>
                    <a:pt x="1816249" y="-2110"/>
                    <a:pt x="2126340" y="76654"/>
                  </a:cubicBezTo>
                  <a:cubicBezTo>
                    <a:pt x="2436431" y="155418"/>
                    <a:pt x="2645620" y="408939"/>
                    <a:pt x="2820354" y="637847"/>
                  </a:cubicBezTo>
                  <a:cubicBezTo>
                    <a:pt x="2995088" y="866755"/>
                    <a:pt x="3174744" y="1450100"/>
                    <a:pt x="3174744" y="1450100"/>
                  </a:cubicBezTo>
                </a:path>
              </a:pathLst>
            </a:custGeom>
            <a:ln>
              <a:solidFill>
                <a:srgbClr val="FF0000"/>
              </a:solidFill>
              <a:prstDash val="sysDash"/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1499270" y="5399972"/>
            <a:ext cx="3098948" cy="422028"/>
            <a:chOff x="2902449" y="5905287"/>
            <a:chExt cx="3098948" cy="422028"/>
          </a:xfrm>
        </p:grpSpPr>
        <p:grpSp>
          <p:nvGrpSpPr>
            <p:cNvPr id="30" name="Group 29"/>
            <p:cNvGrpSpPr/>
            <p:nvPr/>
          </p:nvGrpSpPr>
          <p:grpSpPr>
            <a:xfrm>
              <a:off x="3554894" y="5906421"/>
              <a:ext cx="2446503" cy="420894"/>
              <a:chOff x="2566147" y="5685553"/>
              <a:chExt cx="2389163" cy="576179"/>
            </a:xfrm>
          </p:grpSpPr>
          <p:sp>
            <p:nvSpPr>
              <p:cNvPr id="32" name="Rectangle 31"/>
              <p:cNvSpPr/>
              <p:nvPr/>
            </p:nvSpPr>
            <p:spPr>
              <a:xfrm>
                <a:off x="2566147" y="5685553"/>
                <a:ext cx="667669" cy="57617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IP2</a:t>
                </a:r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3233815" y="5685553"/>
                <a:ext cx="1721495" cy="57617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payload</a:t>
                </a:r>
              </a:p>
            </p:txBody>
          </p:sp>
        </p:grpSp>
        <p:sp>
          <p:nvSpPr>
            <p:cNvPr id="29" name="Rectangle 28"/>
            <p:cNvSpPr/>
            <p:nvPr/>
          </p:nvSpPr>
          <p:spPr>
            <a:xfrm>
              <a:off x="2902449" y="5905287"/>
              <a:ext cx="652445" cy="42089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IP1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3498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Spoofing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9482"/>
            <a:ext cx="8229600" cy="54651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Send a packet to a networked computer with a forged source IP address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259293" y="2185604"/>
            <a:ext cx="4574127" cy="3064233"/>
            <a:chOff x="1562841" y="1352090"/>
            <a:chExt cx="5475632" cy="3603450"/>
          </a:xfrm>
        </p:grpSpPr>
        <p:sp>
          <p:nvSpPr>
            <p:cNvPr id="5" name="Rectangle 4"/>
            <p:cNvSpPr/>
            <p:nvPr/>
          </p:nvSpPr>
          <p:spPr>
            <a:xfrm>
              <a:off x="1562841" y="3906995"/>
              <a:ext cx="1373261" cy="104854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Computer 1</a:t>
              </a:r>
            </a:p>
            <a:p>
              <a:pPr algn="ctr"/>
              <a:r>
                <a:rPr lang="en-US" sz="1200" dirty="0"/>
                <a:t>Address: IP1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665212" y="3906995"/>
              <a:ext cx="1373261" cy="104854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Computer 2</a:t>
              </a:r>
            </a:p>
            <a:p>
              <a:pPr algn="ctr"/>
              <a:r>
                <a:rPr lang="en-US" sz="1200" dirty="0"/>
                <a:t>Address: IP2</a:t>
              </a:r>
            </a:p>
          </p:txBody>
        </p:sp>
        <p:sp>
          <p:nvSpPr>
            <p:cNvPr id="7" name="Cloud 6"/>
            <p:cNvSpPr/>
            <p:nvPr/>
          </p:nvSpPr>
          <p:spPr>
            <a:xfrm>
              <a:off x="1917231" y="1352090"/>
              <a:ext cx="4884982" cy="1476824"/>
            </a:xfrm>
            <a:prstGeom prst="cloud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The Internet</a:t>
              </a:r>
            </a:p>
          </p:txBody>
        </p:sp>
        <p:cxnSp>
          <p:nvCxnSpPr>
            <p:cNvPr id="8" name="Curved Connector 7"/>
            <p:cNvCxnSpPr/>
            <p:nvPr/>
          </p:nvCxnSpPr>
          <p:spPr>
            <a:xfrm rot="5400000">
              <a:off x="2214836" y="2978998"/>
              <a:ext cx="1221044" cy="634948"/>
            </a:xfrm>
            <a:prstGeom prst="curvedConnector3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urved Connector 8"/>
            <p:cNvCxnSpPr>
              <a:endCxn id="6" idx="0"/>
            </p:cNvCxnSpPr>
            <p:nvPr/>
          </p:nvCxnSpPr>
          <p:spPr>
            <a:xfrm rot="16200000" flipH="1">
              <a:off x="5412772" y="2967924"/>
              <a:ext cx="1221046" cy="657096"/>
            </a:xfrm>
            <a:prstGeom prst="curvedConnector3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2758907" y="2264908"/>
              <a:ext cx="3174744" cy="1538709"/>
            </a:xfrm>
            <a:custGeom>
              <a:avLst/>
              <a:gdLst>
                <a:gd name="connsiteX0" fmla="*/ 0 w 3174744"/>
                <a:gd name="connsiteY0" fmla="*/ 1538709 h 1538709"/>
                <a:gd name="connsiteX1" fmla="*/ 959807 w 3174744"/>
                <a:gd name="connsiteY1" fmla="*/ 165263 h 1538709"/>
                <a:gd name="connsiteX2" fmla="*/ 2126340 w 3174744"/>
                <a:gd name="connsiteY2" fmla="*/ 76654 h 1538709"/>
                <a:gd name="connsiteX3" fmla="*/ 2820354 w 3174744"/>
                <a:gd name="connsiteY3" fmla="*/ 637847 h 1538709"/>
                <a:gd name="connsiteX4" fmla="*/ 3174744 w 3174744"/>
                <a:gd name="connsiteY4" fmla="*/ 1450100 h 1538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74744" h="1538709">
                  <a:moveTo>
                    <a:pt x="0" y="1538709"/>
                  </a:moveTo>
                  <a:cubicBezTo>
                    <a:pt x="302708" y="973824"/>
                    <a:pt x="605417" y="408939"/>
                    <a:pt x="959807" y="165263"/>
                  </a:cubicBezTo>
                  <a:cubicBezTo>
                    <a:pt x="1314197" y="-78413"/>
                    <a:pt x="1816249" y="-2110"/>
                    <a:pt x="2126340" y="76654"/>
                  </a:cubicBezTo>
                  <a:cubicBezTo>
                    <a:pt x="2436431" y="155418"/>
                    <a:pt x="2645620" y="408939"/>
                    <a:pt x="2820354" y="637847"/>
                  </a:cubicBezTo>
                  <a:cubicBezTo>
                    <a:pt x="2995088" y="866755"/>
                    <a:pt x="3174744" y="1450100"/>
                    <a:pt x="3174744" y="1450100"/>
                  </a:cubicBezTo>
                </a:path>
              </a:pathLst>
            </a:custGeom>
            <a:ln>
              <a:solidFill>
                <a:srgbClr val="FF0000"/>
              </a:solidFill>
              <a:prstDash val="sysDash"/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1499270" y="5399972"/>
            <a:ext cx="3098948" cy="422028"/>
            <a:chOff x="2902449" y="5905287"/>
            <a:chExt cx="3098948" cy="422028"/>
          </a:xfrm>
        </p:grpSpPr>
        <p:grpSp>
          <p:nvGrpSpPr>
            <p:cNvPr id="30" name="Group 29"/>
            <p:cNvGrpSpPr/>
            <p:nvPr/>
          </p:nvGrpSpPr>
          <p:grpSpPr>
            <a:xfrm>
              <a:off x="3554894" y="5906421"/>
              <a:ext cx="2446503" cy="420894"/>
              <a:chOff x="2566147" y="5685553"/>
              <a:chExt cx="2389163" cy="576179"/>
            </a:xfrm>
          </p:grpSpPr>
          <p:sp>
            <p:nvSpPr>
              <p:cNvPr id="32" name="Rectangle 31"/>
              <p:cNvSpPr/>
              <p:nvPr/>
            </p:nvSpPr>
            <p:spPr>
              <a:xfrm>
                <a:off x="2566147" y="5685553"/>
                <a:ext cx="667669" cy="57617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IP2</a:t>
                </a:r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3233815" y="5685553"/>
                <a:ext cx="1721495" cy="57617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payload</a:t>
                </a:r>
              </a:p>
            </p:txBody>
          </p:sp>
        </p:grpSp>
        <p:sp>
          <p:nvSpPr>
            <p:cNvPr id="29" name="Rectangle 28"/>
            <p:cNvSpPr/>
            <p:nvPr/>
          </p:nvSpPr>
          <p:spPr>
            <a:xfrm>
              <a:off x="2902449" y="5905287"/>
              <a:ext cx="652445" cy="42089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rgbClr val="FF0000"/>
                  </a:solidFill>
                </a:rPr>
                <a:t>IP3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7436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Layer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Transport Layer</a:t>
            </a:r>
          </a:p>
          <a:p>
            <a:pPr lvl="1"/>
            <a:r>
              <a:rPr lang="en-US" dirty="0"/>
              <a:t>TCP &amp; UDP Protocols</a:t>
            </a:r>
          </a:p>
        </p:txBody>
      </p:sp>
      <p:pic>
        <p:nvPicPr>
          <p:cNvPr id="4" name="Picture 3" descr="encaps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428" y="3092797"/>
            <a:ext cx="4356100" cy="234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616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 Flood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Denial-of-Service (</a:t>
            </a:r>
            <a:r>
              <a:rPr lang="en-US" dirty="0" err="1"/>
              <a:t>DoS</a:t>
            </a:r>
            <a:r>
              <a:rPr lang="en-US" dirty="0"/>
              <a:t>) Attack</a:t>
            </a:r>
          </a:p>
          <a:p>
            <a:pPr lvl="1"/>
            <a:r>
              <a:rPr lang="en-US" dirty="0"/>
              <a:t>An attack used to cause a machine/service unable to perform its essential functionality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SYN flood</a:t>
            </a:r>
          </a:p>
          <a:p>
            <a:pPr lvl="1"/>
            <a:r>
              <a:rPr lang="en-US" dirty="0"/>
              <a:t>A specific type of denial-of-service attack</a:t>
            </a:r>
          </a:p>
          <a:p>
            <a:pPr lvl="1"/>
            <a:r>
              <a:rPr lang="en-US" dirty="0"/>
              <a:t>Targeting at the implementation of the TCP protocol</a:t>
            </a:r>
          </a:p>
        </p:txBody>
      </p:sp>
    </p:spTree>
    <p:extLst>
      <p:ext uri="{BB962C8B-B14F-4D97-AF65-F5344CB8AC3E}">
        <p14:creationId xmlns:p14="http://schemas.microsoft.com/office/powerpoint/2010/main" val="3626193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TCP 3-Way Handshake </a:t>
            </a:r>
          </a:p>
        </p:txBody>
      </p:sp>
      <p:sp>
        <p:nvSpPr>
          <p:cNvPr id="4" name="Line 3"/>
          <p:cNvSpPr>
            <a:spLocks noChangeShapeType="1"/>
          </p:cNvSpPr>
          <p:nvPr/>
        </p:nvSpPr>
        <p:spPr bwMode="auto">
          <a:xfrm>
            <a:off x="1880359" y="2352973"/>
            <a:ext cx="3154927" cy="68957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5" name="Line 4"/>
          <p:cNvSpPr>
            <a:spLocks noChangeShapeType="1"/>
          </p:cNvSpPr>
          <p:nvPr/>
        </p:nvSpPr>
        <p:spPr bwMode="auto">
          <a:xfrm>
            <a:off x="1880359" y="4715173"/>
            <a:ext cx="3154927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 flipH="1">
            <a:off x="1880359" y="3470823"/>
            <a:ext cx="3154927" cy="7871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563421" y="1438573"/>
            <a:ext cx="26323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dirty="0">
                <a:latin typeface="Tahoma" charset="0"/>
              </a:rPr>
              <a:t>Client (IP1, Port1)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4625020" y="1492548"/>
            <a:ext cx="2738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dirty="0">
                <a:latin typeface="Tahoma" charset="0"/>
              </a:rPr>
              <a:t>Server (IP2, Port2)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2433480" y="2311078"/>
            <a:ext cx="21717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600" dirty="0">
                <a:latin typeface="Tahoma" charset="0"/>
              </a:rPr>
              <a:t>SYN  (</a:t>
            </a:r>
            <a:r>
              <a:rPr lang="en-US" sz="1600" dirty="0" err="1">
                <a:latin typeface="Tahoma" charset="0"/>
              </a:rPr>
              <a:t>seq</a:t>
            </a:r>
            <a:r>
              <a:rPr lang="en-US" sz="1600" dirty="0">
                <a:latin typeface="Tahoma" charset="0"/>
              </a:rPr>
              <a:t>=x)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2056678" y="3253524"/>
            <a:ext cx="271580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600" dirty="0">
                <a:latin typeface="Tahoma" charset="0"/>
              </a:rPr>
              <a:t>SYN  ACK (</a:t>
            </a:r>
            <a:r>
              <a:rPr lang="en-US" sz="1600" dirty="0" err="1">
                <a:latin typeface="Tahoma" charset="0"/>
              </a:rPr>
              <a:t>ack</a:t>
            </a:r>
            <a:r>
              <a:rPr lang="en-US" sz="1600" dirty="0">
                <a:latin typeface="Tahoma" charset="0"/>
              </a:rPr>
              <a:t>=x+1 </a:t>
            </a:r>
            <a:r>
              <a:rPr lang="en-US" sz="1600" dirty="0" err="1">
                <a:latin typeface="Tahoma" charset="0"/>
              </a:rPr>
              <a:t>seq</a:t>
            </a:r>
            <a:r>
              <a:rPr lang="en-US" sz="1600" dirty="0">
                <a:latin typeface="Tahoma" charset="0"/>
              </a:rPr>
              <a:t>=y)</a:t>
            </a:r>
            <a:endParaRPr lang="en-US" sz="1600" baseline="-25000" dirty="0">
              <a:latin typeface="Tahoma" charset="0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2056678" y="5231696"/>
            <a:ext cx="249018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600" dirty="0">
                <a:latin typeface="Tahoma" charset="0"/>
              </a:rPr>
              <a:t>ACK (</a:t>
            </a:r>
            <a:r>
              <a:rPr lang="en-US" sz="1600" dirty="0" err="1">
                <a:latin typeface="Tahoma" charset="0"/>
              </a:rPr>
              <a:t>ack</a:t>
            </a:r>
            <a:r>
              <a:rPr lang="en-US" sz="1600" dirty="0">
                <a:latin typeface="Tahoma" charset="0"/>
              </a:rPr>
              <a:t>=y+1,seq=x+1)</a:t>
            </a:r>
            <a:endParaRPr lang="en-US" sz="1600" baseline="-25000" dirty="0">
              <a:latin typeface="Tahoma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1880359" y="1971973"/>
            <a:ext cx="0" cy="4038600"/>
            <a:chOff x="1880359" y="1971973"/>
            <a:chExt cx="0" cy="4038600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1880359" y="2352973"/>
              <a:ext cx="0" cy="1905000"/>
            </a:xfrm>
            <a:prstGeom prst="line">
              <a:avLst/>
            </a:prstGeom>
            <a:noFill/>
            <a:ln w="762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1880359" y="4715173"/>
              <a:ext cx="0" cy="129540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1880359" y="4257973"/>
              <a:ext cx="0" cy="457200"/>
            </a:xfrm>
            <a:prstGeom prst="line">
              <a:avLst/>
            </a:prstGeom>
            <a:noFill/>
            <a:ln w="762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1880359" y="1971973"/>
              <a:ext cx="0" cy="381000"/>
            </a:xfrm>
            <a:prstGeom prst="line">
              <a:avLst/>
            </a:prstGeom>
            <a:noFill/>
            <a:ln w="76200">
              <a:solidFill>
                <a:srgbClr val="B2B2B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5049217" y="1971973"/>
            <a:ext cx="0" cy="3962400"/>
            <a:chOff x="6038022" y="2048173"/>
            <a:chExt cx="0" cy="3962400"/>
          </a:xfrm>
        </p:grpSpPr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6038022" y="3495973"/>
              <a:ext cx="0" cy="1981200"/>
            </a:xfrm>
            <a:prstGeom prst="line">
              <a:avLst/>
            </a:prstGeom>
            <a:noFill/>
            <a:ln w="762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6038022" y="5477173"/>
              <a:ext cx="0" cy="53340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6038022" y="2048173"/>
              <a:ext cx="0" cy="1066800"/>
            </a:xfrm>
            <a:prstGeom prst="line">
              <a:avLst/>
            </a:prstGeom>
            <a:noFill/>
            <a:ln w="76200">
              <a:solidFill>
                <a:srgbClr val="B2B2B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6038022" y="3114973"/>
              <a:ext cx="0" cy="407988"/>
            </a:xfrm>
            <a:prstGeom prst="line">
              <a:avLst/>
            </a:prstGeom>
            <a:noFill/>
            <a:ln w="762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</p:grpSp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5179717" y="2203004"/>
            <a:ext cx="109176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800" dirty="0">
                <a:solidFill>
                  <a:srgbClr val="B2B2B2"/>
                </a:solidFill>
                <a:latin typeface="Tahoma" charset="0"/>
              </a:rPr>
              <a:t>Listening</a:t>
            </a:r>
          </a:p>
        </p:txBody>
      </p:sp>
      <p:sp>
        <p:nvSpPr>
          <p:cNvPr id="21" name="Text Box 20"/>
          <p:cNvSpPr txBox="1">
            <a:spLocks noChangeArrowheads="1"/>
          </p:cNvSpPr>
          <p:nvPr/>
        </p:nvSpPr>
        <p:spPr bwMode="auto">
          <a:xfrm>
            <a:off x="4984333" y="3046914"/>
            <a:ext cx="401955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600" dirty="0">
                <a:solidFill>
                  <a:schemeClr val="hlink"/>
                </a:solidFill>
                <a:latin typeface="Tahoma" charset="0"/>
              </a:rPr>
              <a:t>Initialize a data structure in the memory </a:t>
            </a:r>
          </a:p>
        </p:txBody>
      </p:sp>
      <p:sp>
        <p:nvSpPr>
          <p:cNvPr id="22" name="Text Box 21"/>
          <p:cNvSpPr txBox="1">
            <a:spLocks noChangeArrowheads="1"/>
          </p:cNvSpPr>
          <p:nvPr/>
        </p:nvSpPr>
        <p:spPr bwMode="auto">
          <a:xfrm>
            <a:off x="6483282" y="4181773"/>
            <a:ext cx="790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dirty="0">
                <a:solidFill>
                  <a:srgbClr val="FF9900"/>
                </a:solidFill>
                <a:latin typeface="Tahoma" charset="0"/>
              </a:rPr>
              <a:t>Wait</a:t>
            </a:r>
          </a:p>
        </p:txBody>
      </p:sp>
      <p:sp>
        <p:nvSpPr>
          <p:cNvPr id="23" name="Text Box 22"/>
          <p:cNvSpPr txBox="1">
            <a:spLocks noChangeArrowheads="1"/>
          </p:cNvSpPr>
          <p:nvPr/>
        </p:nvSpPr>
        <p:spPr bwMode="auto">
          <a:xfrm>
            <a:off x="6043687" y="5396145"/>
            <a:ext cx="1603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dirty="0">
                <a:latin typeface="Tahoma" charset="0"/>
              </a:rPr>
              <a:t>Connected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32948" y="3373022"/>
            <a:ext cx="2794952" cy="33939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400" dirty="0">
                <a:solidFill>
                  <a:schemeClr val="hlink"/>
                </a:solidFill>
                <a:latin typeface="Tahoma" charset="0"/>
              </a:rPr>
              <a:t>(IP1, Port1, TCP, </a:t>
            </a:r>
            <a:r>
              <a:rPr lang="en-US" sz="1400" dirty="0" err="1">
                <a:solidFill>
                  <a:schemeClr val="hlink"/>
                </a:solidFill>
                <a:latin typeface="Tahoma" charset="0"/>
              </a:rPr>
              <a:t>Seq</a:t>
            </a:r>
            <a:r>
              <a:rPr lang="en-US" sz="1400" dirty="0">
                <a:solidFill>
                  <a:schemeClr val="hlink"/>
                </a:solidFill>
                <a:latin typeface="Tahoma" charset="0"/>
              </a:rPr>
              <a:t>, </a:t>
            </a:r>
            <a:r>
              <a:rPr lang="en-US" sz="1400" dirty="0" err="1">
                <a:solidFill>
                  <a:schemeClr val="hlink"/>
                </a:solidFill>
                <a:latin typeface="Tahoma" charset="0"/>
              </a:rPr>
              <a:t>AcK</a:t>
            </a:r>
            <a:r>
              <a:rPr lang="en-US" sz="1400" dirty="0">
                <a:solidFill>
                  <a:schemeClr val="hlink"/>
                </a:solidFill>
                <a:latin typeface="Tahoma" charset="0"/>
              </a:rPr>
              <a:t>, …)</a:t>
            </a:r>
          </a:p>
        </p:txBody>
      </p:sp>
      <p:sp>
        <p:nvSpPr>
          <p:cNvPr id="27" name="Text Box 20"/>
          <p:cNvSpPr txBox="1">
            <a:spLocks noChangeArrowheads="1"/>
          </p:cNvSpPr>
          <p:nvPr/>
        </p:nvSpPr>
        <p:spPr bwMode="auto">
          <a:xfrm>
            <a:off x="5179717" y="5868542"/>
            <a:ext cx="355522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600" dirty="0">
                <a:latin typeface="Tahoma" charset="0"/>
              </a:rPr>
              <a:t>Update the data structure</a:t>
            </a:r>
          </a:p>
        </p:txBody>
      </p:sp>
    </p:spTree>
    <p:extLst>
      <p:ext uri="{BB962C8B-B14F-4D97-AF65-F5344CB8AC3E}">
        <p14:creationId xmlns:p14="http://schemas.microsoft.com/office/powerpoint/2010/main" val="1434745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 Incomplete TCP 3-Way Handshake </a:t>
            </a:r>
          </a:p>
        </p:txBody>
      </p:sp>
      <p:sp>
        <p:nvSpPr>
          <p:cNvPr id="4" name="Line 3"/>
          <p:cNvSpPr>
            <a:spLocks noChangeShapeType="1"/>
          </p:cNvSpPr>
          <p:nvPr/>
        </p:nvSpPr>
        <p:spPr bwMode="auto">
          <a:xfrm>
            <a:off x="1880359" y="2352973"/>
            <a:ext cx="3154927" cy="68957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 flipH="1">
            <a:off x="1880359" y="3470823"/>
            <a:ext cx="3154927" cy="7871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563421" y="1438573"/>
            <a:ext cx="26323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dirty="0">
                <a:latin typeface="Tahoma" charset="0"/>
              </a:rPr>
              <a:t>Client (IP1, Port1)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4625020" y="1492548"/>
            <a:ext cx="2738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dirty="0">
                <a:latin typeface="Tahoma" charset="0"/>
              </a:rPr>
              <a:t>Server (IP2, Port2)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2433480" y="2311078"/>
            <a:ext cx="21717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600" dirty="0">
                <a:latin typeface="Tahoma" charset="0"/>
              </a:rPr>
              <a:t>SYN  (</a:t>
            </a:r>
            <a:r>
              <a:rPr lang="en-US" sz="1600" dirty="0" err="1">
                <a:latin typeface="Tahoma" charset="0"/>
              </a:rPr>
              <a:t>seq</a:t>
            </a:r>
            <a:r>
              <a:rPr lang="en-US" sz="1600" dirty="0">
                <a:latin typeface="Tahoma" charset="0"/>
              </a:rPr>
              <a:t>=x)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2056678" y="3253524"/>
            <a:ext cx="271580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600" dirty="0">
                <a:latin typeface="Tahoma" charset="0"/>
              </a:rPr>
              <a:t>SYN  ACK (</a:t>
            </a:r>
            <a:r>
              <a:rPr lang="en-US" sz="1600" dirty="0" err="1">
                <a:latin typeface="Tahoma" charset="0"/>
              </a:rPr>
              <a:t>ack</a:t>
            </a:r>
            <a:r>
              <a:rPr lang="en-US" sz="1600" dirty="0">
                <a:latin typeface="Tahoma" charset="0"/>
              </a:rPr>
              <a:t>=x+1 </a:t>
            </a:r>
            <a:r>
              <a:rPr lang="en-US" sz="1600" dirty="0" err="1">
                <a:latin typeface="Tahoma" charset="0"/>
              </a:rPr>
              <a:t>seq</a:t>
            </a:r>
            <a:r>
              <a:rPr lang="en-US" sz="1600" dirty="0">
                <a:latin typeface="Tahoma" charset="0"/>
              </a:rPr>
              <a:t>=y)</a:t>
            </a:r>
            <a:endParaRPr lang="en-US" sz="1600" baseline="-25000" dirty="0">
              <a:latin typeface="Tahoma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1880359" y="1971973"/>
            <a:ext cx="0" cy="2743200"/>
            <a:chOff x="1880359" y="1971973"/>
            <a:chExt cx="0" cy="2743200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1880359" y="2352973"/>
              <a:ext cx="0" cy="1905000"/>
            </a:xfrm>
            <a:prstGeom prst="line">
              <a:avLst/>
            </a:prstGeom>
            <a:noFill/>
            <a:ln w="762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1880359" y="4257973"/>
              <a:ext cx="0" cy="457200"/>
            </a:xfrm>
            <a:prstGeom prst="line">
              <a:avLst/>
            </a:prstGeom>
            <a:noFill/>
            <a:ln w="762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1880359" y="1971973"/>
              <a:ext cx="0" cy="381000"/>
            </a:xfrm>
            <a:prstGeom prst="line">
              <a:avLst/>
            </a:prstGeom>
            <a:noFill/>
            <a:ln w="76200">
              <a:solidFill>
                <a:srgbClr val="B2B2B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5049217" y="1971973"/>
            <a:ext cx="0" cy="3429000"/>
            <a:chOff x="6038022" y="2048173"/>
            <a:chExt cx="0" cy="3429000"/>
          </a:xfrm>
        </p:grpSpPr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6038022" y="3495973"/>
              <a:ext cx="0" cy="1981200"/>
            </a:xfrm>
            <a:prstGeom prst="line">
              <a:avLst/>
            </a:prstGeom>
            <a:noFill/>
            <a:ln w="762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6038022" y="2048173"/>
              <a:ext cx="0" cy="1066800"/>
            </a:xfrm>
            <a:prstGeom prst="line">
              <a:avLst/>
            </a:prstGeom>
            <a:noFill/>
            <a:ln w="76200">
              <a:solidFill>
                <a:srgbClr val="B2B2B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6038022" y="3114973"/>
              <a:ext cx="0" cy="407988"/>
            </a:xfrm>
            <a:prstGeom prst="line">
              <a:avLst/>
            </a:prstGeom>
            <a:noFill/>
            <a:ln w="762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</p:grpSp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5179717" y="2203004"/>
            <a:ext cx="109176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800" dirty="0">
                <a:solidFill>
                  <a:srgbClr val="B2B2B2"/>
                </a:solidFill>
                <a:latin typeface="Tahoma" charset="0"/>
              </a:rPr>
              <a:t>Listening</a:t>
            </a:r>
          </a:p>
        </p:txBody>
      </p:sp>
      <p:sp>
        <p:nvSpPr>
          <p:cNvPr id="21" name="Text Box 20"/>
          <p:cNvSpPr txBox="1">
            <a:spLocks noChangeArrowheads="1"/>
          </p:cNvSpPr>
          <p:nvPr/>
        </p:nvSpPr>
        <p:spPr bwMode="auto">
          <a:xfrm>
            <a:off x="4984333" y="3046914"/>
            <a:ext cx="401955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600" dirty="0">
                <a:solidFill>
                  <a:schemeClr val="hlink"/>
                </a:solidFill>
                <a:latin typeface="Tahoma" charset="0"/>
              </a:rPr>
              <a:t>Initialize a data structure in the memory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32948" y="3373022"/>
            <a:ext cx="2794952" cy="33939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400" dirty="0">
                <a:solidFill>
                  <a:schemeClr val="hlink"/>
                </a:solidFill>
                <a:latin typeface="Tahoma" charset="0"/>
              </a:rPr>
              <a:t>(IP1, Port1, TCP, </a:t>
            </a:r>
            <a:r>
              <a:rPr lang="en-US" sz="1400" dirty="0" err="1">
                <a:solidFill>
                  <a:schemeClr val="hlink"/>
                </a:solidFill>
                <a:latin typeface="Tahoma" charset="0"/>
              </a:rPr>
              <a:t>Seq</a:t>
            </a:r>
            <a:r>
              <a:rPr lang="en-US" sz="1400" dirty="0">
                <a:solidFill>
                  <a:schemeClr val="hlink"/>
                </a:solidFill>
                <a:latin typeface="Tahoma" charset="0"/>
              </a:rPr>
              <a:t>, </a:t>
            </a:r>
            <a:r>
              <a:rPr lang="en-US" sz="1400" dirty="0" err="1">
                <a:solidFill>
                  <a:schemeClr val="hlink"/>
                </a:solidFill>
                <a:latin typeface="Tahoma" charset="0"/>
              </a:rPr>
              <a:t>AcK</a:t>
            </a:r>
            <a:r>
              <a:rPr lang="en-US" sz="1400" dirty="0">
                <a:solidFill>
                  <a:schemeClr val="hlink"/>
                </a:solidFill>
                <a:latin typeface="Tahoma" charset="0"/>
              </a:rPr>
              <a:t>, …)</a:t>
            </a:r>
          </a:p>
        </p:txBody>
      </p:sp>
      <p:sp>
        <p:nvSpPr>
          <p:cNvPr id="29" name="Line 3"/>
          <p:cNvSpPr>
            <a:spLocks noChangeShapeType="1"/>
          </p:cNvSpPr>
          <p:nvPr/>
        </p:nvSpPr>
        <p:spPr bwMode="auto">
          <a:xfrm>
            <a:off x="6835751" y="3775411"/>
            <a:ext cx="0" cy="142685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30" name="Text Box 20"/>
          <p:cNvSpPr txBox="1">
            <a:spLocks noChangeArrowheads="1"/>
          </p:cNvSpPr>
          <p:nvPr/>
        </p:nvSpPr>
        <p:spPr bwMode="auto">
          <a:xfrm>
            <a:off x="4796910" y="5396145"/>
            <a:ext cx="428000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600" dirty="0">
                <a:solidFill>
                  <a:schemeClr val="hlink"/>
                </a:solidFill>
                <a:latin typeface="Tahoma" charset="0"/>
              </a:rPr>
              <a:t>Release the memory for this data structure</a:t>
            </a:r>
          </a:p>
        </p:txBody>
      </p:sp>
      <p:sp>
        <p:nvSpPr>
          <p:cNvPr id="31" name="Text Box 8"/>
          <p:cNvSpPr txBox="1">
            <a:spLocks noChangeArrowheads="1"/>
          </p:cNvSpPr>
          <p:nvPr/>
        </p:nvSpPr>
        <p:spPr bwMode="auto">
          <a:xfrm>
            <a:off x="6563294" y="4241691"/>
            <a:ext cx="21717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600" dirty="0">
                <a:latin typeface="Tahoma" charset="0"/>
              </a:rPr>
              <a:t>A timeout period</a:t>
            </a:r>
          </a:p>
        </p:txBody>
      </p:sp>
    </p:spTree>
    <p:extLst>
      <p:ext uri="{BB962C8B-B14F-4D97-AF65-F5344CB8AC3E}">
        <p14:creationId xmlns:p14="http://schemas.microsoft.com/office/powerpoint/2010/main" val="1013381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 Flood Attack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018462" y="2360968"/>
            <a:ext cx="1027536" cy="21340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20000"/>
              </a:spcBef>
              <a:buClr>
                <a:schemeClr val="accent2"/>
              </a:buClr>
            </a:pPr>
            <a:endParaRPr lang="en-US" dirty="0">
              <a:solidFill>
                <a:schemeClr val="hlink"/>
              </a:solidFill>
              <a:latin typeface="Tahoma" charset="0"/>
            </a:endParaRPr>
          </a:p>
        </p:txBody>
      </p:sp>
      <p:pic>
        <p:nvPicPr>
          <p:cNvPr id="5" name="Picture 4" descr="images (2).jpe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0342" y="2983542"/>
            <a:ext cx="904401" cy="868857"/>
          </a:xfrm>
          <a:prstGeom prst="rect">
            <a:avLst/>
          </a:prstGeom>
        </p:spPr>
      </p:pic>
      <p:grpSp>
        <p:nvGrpSpPr>
          <p:cNvPr id="30" name="Group 29"/>
          <p:cNvGrpSpPr/>
          <p:nvPr/>
        </p:nvGrpSpPr>
        <p:grpSpPr>
          <a:xfrm>
            <a:off x="1097984" y="2564122"/>
            <a:ext cx="1152321" cy="1401150"/>
            <a:chOff x="1374766" y="2564122"/>
            <a:chExt cx="1152321" cy="1401150"/>
          </a:xfrm>
        </p:grpSpPr>
        <p:pic>
          <p:nvPicPr>
            <p:cNvPr id="6" name="Picture 5" descr="th_laptop-icon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4766" y="2812951"/>
              <a:ext cx="1152321" cy="1152321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1487103" y="2564122"/>
              <a:ext cx="4790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IP1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5990926" y="2514967"/>
            <a:ext cx="870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IP, 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0342" y="3800294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18462" y="4210801"/>
            <a:ext cx="1027536" cy="2841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20000"/>
              </a:spcBef>
              <a:buClr>
                <a:schemeClr val="accent2"/>
              </a:buClr>
            </a:pPr>
            <a:endParaRPr lang="en-US" dirty="0">
              <a:solidFill>
                <a:schemeClr val="hlink"/>
              </a:solidFill>
              <a:latin typeface="Tahoma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18462" y="1873806"/>
            <a:ext cx="987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18462" y="3901245"/>
            <a:ext cx="1027536" cy="2841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20000"/>
              </a:spcBef>
              <a:buClr>
                <a:schemeClr val="accent2"/>
              </a:buClr>
            </a:pPr>
            <a:endParaRPr lang="en-US" dirty="0">
              <a:solidFill>
                <a:schemeClr val="hlink"/>
              </a:solidFill>
              <a:latin typeface="Tahoma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018462" y="3588434"/>
            <a:ext cx="1027536" cy="2841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20000"/>
              </a:spcBef>
              <a:buClr>
                <a:schemeClr val="accent2"/>
              </a:buClr>
            </a:pPr>
            <a:endParaRPr lang="en-US" dirty="0">
              <a:solidFill>
                <a:schemeClr val="hlink"/>
              </a:solidFill>
              <a:latin typeface="Tahoma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018462" y="2933454"/>
            <a:ext cx="1027536" cy="2841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20000"/>
              </a:spcBef>
              <a:buClr>
                <a:schemeClr val="accent2"/>
              </a:buClr>
            </a:pPr>
            <a:endParaRPr lang="en-US" dirty="0">
              <a:solidFill>
                <a:schemeClr val="hlink"/>
              </a:solidFill>
              <a:latin typeface="Tahoma" charset="0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2596872" y="2993852"/>
            <a:ext cx="288179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862638" y="2564122"/>
            <a:ext cx="2379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IP1, port1, IP, Port, SYN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2596872" y="3523088"/>
            <a:ext cx="288179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862638" y="3093358"/>
            <a:ext cx="2379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IP1, port3, IP, Port, SYN</a:t>
            </a: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2596872" y="4064592"/>
            <a:ext cx="288179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862638" y="3634862"/>
            <a:ext cx="2379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IP1, port4, IP, Port, SYN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62638" y="4310307"/>
            <a:ext cx="2398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IP1, ………., IP, Port, SYN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76727" y="3153756"/>
            <a:ext cx="518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438544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 Flood Attack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018462" y="2360968"/>
            <a:ext cx="1027536" cy="21340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20000"/>
              </a:spcBef>
              <a:buClr>
                <a:schemeClr val="accent2"/>
              </a:buClr>
            </a:pPr>
            <a:endParaRPr lang="en-US" dirty="0">
              <a:solidFill>
                <a:schemeClr val="hlink"/>
              </a:solidFill>
              <a:latin typeface="Tahoma" charset="0"/>
            </a:endParaRPr>
          </a:p>
        </p:txBody>
      </p:sp>
      <p:pic>
        <p:nvPicPr>
          <p:cNvPr id="5" name="Picture 4" descr="images (2).jpe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0342" y="2983542"/>
            <a:ext cx="904401" cy="868857"/>
          </a:xfrm>
          <a:prstGeom prst="rect">
            <a:avLst/>
          </a:prstGeom>
        </p:spPr>
      </p:pic>
      <p:grpSp>
        <p:nvGrpSpPr>
          <p:cNvPr id="30" name="Group 29"/>
          <p:cNvGrpSpPr/>
          <p:nvPr/>
        </p:nvGrpSpPr>
        <p:grpSpPr>
          <a:xfrm>
            <a:off x="1097984" y="2564122"/>
            <a:ext cx="1152321" cy="1401150"/>
            <a:chOff x="1374766" y="2564122"/>
            <a:chExt cx="1152321" cy="1401150"/>
          </a:xfrm>
        </p:grpSpPr>
        <p:pic>
          <p:nvPicPr>
            <p:cNvPr id="6" name="Picture 5" descr="th_laptop-icon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4766" y="2812951"/>
              <a:ext cx="1152321" cy="1152321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1487103" y="2564122"/>
              <a:ext cx="4790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IP1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5990926" y="2514967"/>
            <a:ext cx="870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IP, 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0342" y="3800294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18462" y="4210801"/>
            <a:ext cx="1027536" cy="2841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20000"/>
              </a:spcBef>
              <a:buClr>
                <a:schemeClr val="accent2"/>
              </a:buClr>
            </a:pPr>
            <a:endParaRPr lang="en-US" dirty="0">
              <a:solidFill>
                <a:schemeClr val="hlink"/>
              </a:solidFill>
              <a:latin typeface="Tahoma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95145" y="1849381"/>
            <a:ext cx="1938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Memory Filled Up!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18462" y="3901245"/>
            <a:ext cx="1027536" cy="2841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20000"/>
              </a:spcBef>
              <a:buClr>
                <a:schemeClr val="accent2"/>
              </a:buClr>
            </a:pPr>
            <a:endParaRPr lang="en-US" dirty="0">
              <a:solidFill>
                <a:schemeClr val="hlink"/>
              </a:solidFill>
              <a:latin typeface="Tahoma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018462" y="3588434"/>
            <a:ext cx="1027536" cy="2841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20000"/>
              </a:spcBef>
              <a:buClr>
                <a:schemeClr val="accent2"/>
              </a:buClr>
            </a:pPr>
            <a:endParaRPr lang="en-US" dirty="0">
              <a:solidFill>
                <a:schemeClr val="hlink"/>
              </a:solidFill>
              <a:latin typeface="Tahoma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018462" y="2933454"/>
            <a:ext cx="1027536" cy="2841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20000"/>
              </a:spcBef>
              <a:buClr>
                <a:schemeClr val="accent2"/>
              </a:buClr>
            </a:pPr>
            <a:endParaRPr lang="en-US" dirty="0">
              <a:solidFill>
                <a:schemeClr val="hlink"/>
              </a:solidFill>
              <a:latin typeface="Tahoma" charset="0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2596872" y="2993852"/>
            <a:ext cx="288179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862638" y="2564122"/>
            <a:ext cx="2379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IP2, port1, IP, Port, SYN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2596872" y="3523088"/>
            <a:ext cx="288179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862638" y="3093358"/>
            <a:ext cx="2379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IP3, port3, IP, Port, SYN</a:t>
            </a: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2596872" y="4064592"/>
            <a:ext cx="288179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862638" y="3634862"/>
            <a:ext cx="2379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IP4, port4, IP, Port, SYN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62638" y="4310307"/>
            <a:ext cx="2329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IPN, …….., IP, Port, SYN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76727" y="3153756"/>
            <a:ext cx="518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……</a:t>
            </a:r>
          </a:p>
        </p:txBody>
      </p:sp>
      <p:sp>
        <p:nvSpPr>
          <p:cNvPr id="3" name="Rectangle 2"/>
          <p:cNvSpPr/>
          <p:nvPr/>
        </p:nvSpPr>
        <p:spPr>
          <a:xfrm>
            <a:off x="2862638" y="2514966"/>
            <a:ext cx="436958" cy="2164673"/>
          </a:xfrm>
          <a:prstGeom prst="rect">
            <a:avLst/>
          </a:prstGeom>
          <a:solidFill>
            <a:srgbClr val="FF000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ine Callout 1 8"/>
          <p:cNvSpPr/>
          <p:nvPr/>
        </p:nvSpPr>
        <p:spPr>
          <a:xfrm>
            <a:off x="2189838" y="5365095"/>
            <a:ext cx="2434059" cy="374498"/>
          </a:xfrm>
          <a:prstGeom prst="borderCallout1">
            <a:avLst>
              <a:gd name="adj1" fmla="val -7337"/>
              <a:gd name="adj2" fmla="val 49861"/>
              <a:gd name="adj3" fmla="val -161413"/>
              <a:gd name="adj4" fmla="val 38590"/>
            </a:avLst>
          </a:prstGeom>
          <a:solidFill>
            <a:srgbClr val="FF0000">
              <a:alpha val="45000"/>
            </a:srgb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Spoofed Source IP addresses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18462" y="2616723"/>
            <a:ext cx="1027536" cy="2841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20000"/>
              </a:spcBef>
              <a:buClr>
                <a:schemeClr val="accent2"/>
              </a:buClr>
            </a:pPr>
            <a:endParaRPr lang="en-US" dirty="0">
              <a:solidFill>
                <a:schemeClr val="hlink"/>
              </a:solidFill>
              <a:latin typeface="Tahoma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018462" y="2284164"/>
            <a:ext cx="1027536" cy="2841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20000"/>
              </a:spcBef>
              <a:buClr>
                <a:schemeClr val="accent2"/>
              </a:buClr>
            </a:pPr>
            <a:endParaRPr lang="en-US" dirty="0">
              <a:solidFill>
                <a:schemeClr val="hlink"/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914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SYN Flood Attack</a:t>
            </a:r>
          </a:p>
        </p:txBody>
      </p:sp>
      <p:pic>
        <p:nvPicPr>
          <p:cNvPr id="12" name="Picture 11" descr="images (2).jpe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8182" l="2183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6742" y="3545428"/>
            <a:ext cx="724892" cy="696403"/>
          </a:xfrm>
          <a:prstGeom prst="rect">
            <a:avLst/>
          </a:prstGeom>
        </p:spPr>
      </p:pic>
      <p:pic>
        <p:nvPicPr>
          <p:cNvPr id="13" name="Picture 12" descr="th_laptop-icon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403" y="1820849"/>
            <a:ext cx="576160" cy="576160"/>
          </a:xfrm>
          <a:prstGeom prst="rect">
            <a:avLst/>
          </a:prstGeom>
        </p:spPr>
      </p:pic>
      <p:pic>
        <p:nvPicPr>
          <p:cNvPr id="14" name="Picture 13" descr="th_laptop-icon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24" y="1973249"/>
            <a:ext cx="576160" cy="576160"/>
          </a:xfrm>
          <a:prstGeom prst="rect">
            <a:avLst/>
          </a:prstGeom>
        </p:spPr>
      </p:pic>
      <p:pic>
        <p:nvPicPr>
          <p:cNvPr id="15" name="Picture 14" descr="th_laptop-icon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105" y="2514689"/>
            <a:ext cx="576160" cy="576160"/>
          </a:xfrm>
          <a:prstGeom prst="rect">
            <a:avLst/>
          </a:prstGeom>
        </p:spPr>
      </p:pic>
      <p:pic>
        <p:nvPicPr>
          <p:cNvPr id="16" name="Picture 15" descr="th_laptop-icon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099" y="2533717"/>
            <a:ext cx="576160" cy="576160"/>
          </a:xfrm>
          <a:prstGeom prst="rect">
            <a:avLst/>
          </a:prstGeom>
        </p:spPr>
      </p:pic>
      <p:pic>
        <p:nvPicPr>
          <p:cNvPr id="17" name="Picture 16" descr="th_laptop-icon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025" y="4724494"/>
            <a:ext cx="576160" cy="576160"/>
          </a:xfrm>
          <a:prstGeom prst="rect">
            <a:avLst/>
          </a:prstGeom>
        </p:spPr>
      </p:pic>
      <p:pic>
        <p:nvPicPr>
          <p:cNvPr id="18" name="Picture 17" descr="th_laptop-icon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614" y="5300654"/>
            <a:ext cx="576160" cy="576160"/>
          </a:xfrm>
          <a:prstGeom prst="rect">
            <a:avLst/>
          </a:prstGeom>
        </p:spPr>
      </p:pic>
      <p:pic>
        <p:nvPicPr>
          <p:cNvPr id="19" name="Picture 18" descr="th_laptop-icon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323" y="4926833"/>
            <a:ext cx="576160" cy="5761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54419" y="3160356"/>
            <a:ext cx="870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IP, Port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1396614" y="2108929"/>
            <a:ext cx="5189183" cy="3479805"/>
            <a:chOff x="1396614" y="2108929"/>
            <a:chExt cx="6207599" cy="3479805"/>
          </a:xfrm>
        </p:grpSpPr>
        <p:cxnSp>
          <p:nvCxnSpPr>
            <p:cNvPr id="28" name="Straight Arrow Connector 27"/>
            <p:cNvCxnSpPr>
              <a:stCxn id="13" idx="3"/>
            </p:cNvCxnSpPr>
            <p:nvPr/>
          </p:nvCxnSpPr>
          <p:spPr>
            <a:xfrm>
              <a:off x="2881563" y="2108929"/>
              <a:ext cx="4417850" cy="1622514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6" idx="3"/>
            </p:cNvCxnSpPr>
            <p:nvPr/>
          </p:nvCxnSpPr>
          <p:spPr>
            <a:xfrm>
              <a:off x="2959259" y="2821797"/>
              <a:ext cx="4492554" cy="1062046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2017323" y="2397009"/>
              <a:ext cx="5434490" cy="1486834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flipV="1">
              <a:off x="1396614" y="4036243"/>
              <a:ext cx="6207599" cy="1069141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flipV="1">
              <a:off x="2305403" y="4036243"/>
              <a:ext cx="5298810" cy="1221541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18" idx="3"/>
            </p:cNvCxnSpPr>
            <p:nvPr/>
          </p:nvCxnSpPr>
          <p:spPr>
            <a:xfrm flipV="1">
              <a:off x="1972774" y="4036243"/>
              <a:ext cx="5631439" cy="1552491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/>
          <p:cNvSpPr txBox="1"/>
          <p:nvPr/>
        </p:nvSpPr>
        <p:spPr>
          <a:xfrm rot="1411129">
            <a:off x="3101750" y="2382348"/>
            <a:ext cx="3109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Rnd_IP</a:t>
            </a:r>
            <a:r>
              <a:rPr lang="en-US" dirty="0"/>
              <a:t>, </a:t>
            </a:r>
            <a:r>
              <a:rPr lang="en-US" dirty="0" err="1"/>
              <a:t>Rnd_Port</a:t>
            </a:r>
            <a:r>
              <a:rPr lang="en-US" dirty="0"/>
              <a:t>, IP, Port, SYN</a:t>
            </a:r>
          </a:p>
        </p:txBody>
      </p:sp>
      <p:pic>
        <p:nvPicPr>
          <p:cNvPr id="35" name="Picture 34" descr="images (3).jpe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48" y="3731443"/>
            <a:ext cx="766977" cy="510388"/>
          </a:xfrm>
          <a:prstGeom prst="rect">
            <a:avLst/>
          </a:prstGeom>
        </p:spPr>
      </p:pic>
      <p:cxnSp>
        <p:nvCxnSpPr>
          <p:cNvPr id="36" name="Straight Connector 35"/>
          <p:cNvCxnSpPr/>
          <p:nvPr/>
        </p:nvCxnSpPr>
        <p:spPr>
          <a:xfrm flipV="1">
            <a:off x="804697" y="3039828"/>
            <a:ext cx="591917" cy="691615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957097" y="3039828"/>
            <a:ext cx="1426002" cy="844016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661138" y="2397009"/>
            <a:ext cx="735476" cy="12449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899367" y="4195211"/>
            <a:ext cx="79658" cy="5292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1012829" y="4063926"/>
            <a:ext cx="1112074" cy="855838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007561" y="2253048"/>
            <a:ext cx="1938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Memory Filled Up!</a:t>
            </a:r>
          </a:p>
        </p:txBody>
      </p:sp>
      <p:grpSp>
        <p:nvGrpSpPr>
          <p:cNvPr id="61" name="Group 60"/>
          <p:cNvGrpSpPr/>
          <p:nvPr/>
        </p:nvGrpSpPr>
        <p:grpSpPr>
          <a:xfrm>
            <a:off x="7422736" y="2742577"/>
            <a:ext cx="1027536" cy="2210809"/>
            <a:chOff x="7748362" y="2543712"/>
            <a:chExt cx="1027536" cy="2210809"/>
          </a:xfrm>
        </p:grpSpPr>
        <p:sp>
          <p:nvSpPr>
            <p:cNvPr id="52" name="Rectangle 51"/>
            <p:cNvSpPr/>
            <p:nvPr/>
          </p:nvSpPr>
          <p:spPr>
            <a:xfrm>
              <a:off x="7748362" y="2620516"/>
              <a:ext cx="1027536" cy="21340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</a:pPr>
              <a:endParaRPr lang="en-US" dirty="0">
                <a:solidFill>
                  <a:schemeClr val="hlink"/>
                </a:solidFill>
                <a:latin typeface="Tahoma" charset="0"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7748362" y="4470349"/>
              <a:ext cx="1027536" cy="2841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</a:pPr>
              <a:endParaRPr lang="en-US" dirty="0">
                <a:solidFill>
                  <a:schemeClr val="hlink"/>
                </a:solidFill>
                <a:latin typeface="Tahoma" charset="0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7748362" y="4160793"/>
              <a:ext cx="1027536" cy="2841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</a:pPr>
              <a:endParaRPr lang="en-US" dirty="0">
                <a:solidFill>
                  <a:schemeClr val="hlink"/>
                </a:solidFill>
                <a:latin typeface="Tahoma" charset="0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748362" y="3847982"/>
              <a:ext cx="1027536" cy="2841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</a:pPr>
              <a:endParaRPr lang="en-US" dirty="0">
                <a:solidFill>
                  <a:schemeClr val="hlink"/>
                </a:solidFill>
                <a:latin typeface="Tahoma" charset="0"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7748362" y="3193002"/>
              <a:ext cx="1027536" cy="2841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</a:pPr>
              <a:endParaRPr lang="en-US" dirty="0">
                <a:solidFill>
                  <a:schemeClr val="hlink"/>
                </a:solidFill>
                <a:latin typeface="Tahoma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006627" y="3413304"/>
              <a:ext cx="5188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……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7748362" y="2876271"/>
              <a:ext cx="1027536" cy="2841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</a:pPr>
              <a:endParaRPr lang="en-US" dirty="0">
                <a:solidFill>
                  <a:schemeClr val="hlink"/>
                </a:solidFill>
                <a:latin typeface="Tahoma" charset="0"/>
              </a:endParaRP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7748362" y="2543712"/>
              <a:ext cx="1027536" cy="2841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</a:pPr>
              <a:endParaRPr lang="en-US" dirty="0">
                <a:solidFill>
                  <a:schemeClr val="hlink"/>
                </a:solidFill>
                <a:latin typeface="Tahoma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0041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 Cookies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4771"/>
            <a:ext cx="8229600" cy="1121229"/>
          </a:xfrm>
        </p:spPr>
        <p:txBody>
          <a:bodyPr>
            <a:normAutofit fontScale="85000" lnSpcReduction="20000"/>
          </a:bodyPr>
          <a:lstStyle/>
          <a:p>
            <a:r>
              <a:rPr lang="en-GB" dirty="0">
                <a:latin typeface="Tahoma" charset="0"/>
              </a:rPr>
              <a:t>General idea</a:t>
            </a:r>
          </a:p>
          <a:p>
            <a:pPr lvl="1"/>
            <a:r>
              <a:rPr lang="en-US" dirty="0"/>
              <a:t>Delay the initialization of the data structure to the third packet in the 3-way handshake</a:t>
            </a:r>
          </a:p>
        </p:txBody>
      </p:sp>
      <p:sp>
        <p:nvSpPr>
          <p:cNvPr id="29" name="Text Box 6"/>
          <p:cNvSpPr txBox="1">
            <a:spLocks noChangeArrowheads="1"/>
          </p:cNvSpPr>
          <p:nvPr/>
        </p:nvSpPr>
        <p:spPr bwMode="auto">
          <a:xfrm>
            <a:off x="87569" y="2354019"/>
            <a:ext cx="16124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400" dirty="0">
                <a:latin typeface="Tahoma" charset="0"/>
              </a:rPr>
              <a:t>Client (IP1, Port1)</a:t>
            </a:r>
          </a:p>
        </p:txBody>
      </p:sp>
      <p:sp>
        <p:nvSpPr>
          <p:cNvPr id="30" name="Text Box 7"/>
          <p:cNvSpPr txBox="1">
            <a:spLocks noChangeArrowheads="1"/>
          </p:cNvSpPr>
          <p:nvPr/>
        </p:nvSpPr>
        <p:spPr bwMode="auto">
          <a:xfrm>
            <a:off x="1919398" y="2354019"/>
            <a:ext cx="167451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400" dirty="0">
                <a:latin typeface="Tahoma" charset="0"/>
              </a:rPr>
              <a:t>Server (IP2, Port2)</a:t>
            </a:r>
          </a:p>
        </p:txBody>
      </p:sp>
      <p:sp>
        <p:nvSpPr>
          <p:cNvPr id="31" name="Text Box 8"/>
          <p:cNvSpPr txBox="1">
            <a:spLocks noChangeArrowheads="1"/>
          </p:cNvSpPr>
          <p:nvPr/>
        </p:nvSpPr>
        <p:spPr bwMode="auto">
          <a:xfrm>
            <a:off x="1274078" y="2992719"/>
            <a:ext cx="10935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SYN  (</a:t>
            </a:r>
            <a:r>
              <a:rPr lang="en-US" sz="1200" dirty="0" err="1">
                <a:latin typeface="Tahoma" charset="0"/>
              </a:rPr>
              <a:t>seq</a:t>
            </a:r>
            <a:r>
              <a:rPr lang="en-US" sz="1200" dirty="0">
                <a:latin typeface="Tahoma" charset="0"/>
              </a:rPr>
              <a:t>=x)</a:t>
            </a:r>
          </a:p>
        </p:txBody>
      </p:sp>
      <p:sp>
        <p:nvSpPr>
          <p:cNvPr id="32" name="Text Box 9"/>
          <p:cNvSpPr txBox="1">
            <a:spLocks noChangeArrowheads="1"/>
          </p:cNvSpPr>
          <p:nvPr/>
        </p:nvSpPr>
        <p:spPr bwMode="auto">
          <a:xfrm>
            <a:off x="1122939" y="3762605"/>
            <a:ext cx="1286317" cy="464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100" dirty="0">
                <a:latin typeface="Tahoma" charset="0"/>
              </a:rPr>
              <a:t>SYN-ACK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100" dirty="0">
                <a:latin typeface="Tahoma" charset="0"/>
              </a:rPr>
              <a:t>(</a:t>
            </a:r>
            <a:r>
              <a:rPr lang="en-US" sz="1100" dirty="0" err="1">
                <a:latin typeface="Tahoma" charset="0"/>
              </a:rPr>
              <a:t>ack</a:t>
            </a:r>
            <a:r>
              <a:rPr lang="en-US" sz="1100" dirty="0">
                <a:latin typeface="Tahoma" charset="0"/>
              </a:rPr>
              <a:t>=x+1 </a:t>
            </a:r>
            <a:r>
              <a:rPr lang="en-US" sz="1100" dirty="0" err="1">
                <a:latin typeface="Tahoma" charset="0"/>
              </a:rPr>
              <a:t>seq</a:t>
            </a:r>
            <a:r>
              <a:rPr lang="en-US" sz="1100" dirty="0">
                <a:latin typeface="Tahoma" charset="0"/>
              </a:rPr>
              <a:t>=y)</a:t>
            </a:r>
            <a:endParaRPr lang="en-US" sz="1100" baseline="-25000" dirty="0">
              <a:latin typeface="Tahoma" charset="0"/>
            </a:endParaRPr>
          </a:p>
        </p:txBody>
      </p:sp>
      <p:sp>
        <p:nvSpPr>
          <p:cNvPr id="33" name="Text Box 10"/>
          <p:cNvSpPr txBox="1">
            <a:spLocks noChangeArrowheads="1"/>
          </p:cNvSpPr>
          <p:nvPr/>
        </p:nvSpPr>
        <p:spPr bwMode="auto">
          <a:xfrm>
            <a:off x="1005372" y="4732898"/>
            <a:ext cx="1464576" cy="464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100" dirty="0">
                <a:latin typeface="Tahoma" charset="0"/>
              </a:rPr>
              <a:t>ACK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100" dirty="0">
                <a:latin typeface="Tahoma" charset="0"/>
              </a:rPr>
              <a:t>(</a:t>
            </a:r>
            <a:r>
              <a:rPr lang="en-US" sz="1100" dirty="0" err="1">
                <a:latin typeface="Tahoma" charset="0"/>
              </a:rPr>
              <a:t>ack</a:t>
            </a:r>
            <a:r>
              <a:rPr lang="en-US" sz="1100" dirty="0">
                <a:latin typeface="Tahoma" charset="0"/>
              </a:rPr>
              <a:t>=y+1,seq=x+1)</a:t>
            </a:r>
            <a:endParaRPr lang="en-US" sz="1100" baseline="-25000" dirty="0">
              <a:latin typeface="Tahoma" charset="0"/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893796" y="2785802"/>
            <a:ext cx="1755062" cy="3372963"/>
            <a:chOff x="1256652" y="1861251"/>
            <a:chExt cx="3168858" cy="4038600"/>
          </a:xfrm>
        </p:grpSpPr>
        <p:sp>
          <p:nvSpPr>
            <p:cNvPr id="35" name="Line 3"/>
            <p:cNvSpPr>
              <a:spLocks noChangeShapeType="1"/>
            </p:cNvSpPr>
            <p:nvPr/>
          </p:nvSpPr>
          <p:spPr bwMode="auto">
            <a:xfrm>
              <a:off x="1256652" y="2242251"/>
              <a:ext cx="3154927" cy="6895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36" name="Line 4"/>
            <p:cNvSpPr>
              <a:spLocks noChangeShapeType="1"/>
            </p:cNvSpPr>
            <p:nvPr/>
          </p:nvSpPr>
          <p:spPr bwMode="auto">
            <a:xfrm>
              <a:off x="1256652" y="4604451"/>
              <a:ext cx="3154927" cy="685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37" name="Line 5"/>
            <p:cNvSpPr>
              <a:spLocks noChangeShapeType="1"/>
            </p:cNvSpPr>
            <p:nvPr/>
          </p:nvSpPr>
          <p:spPr bwMode="auto">
            <a:xfrm flipH="1">
              <a:off x="1256652" y="3360101"/>
              <a:ext cx="3154927" cy="7871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grpSp>
          <p:nvGrpSpPr>
            <p:cNvPr id="38" name="Group 37"/>
            <p:cNvGrpSpPr/>
            <p:nvPr/>
          </p:nvGrpSpPr>
          <p:grpSpPr>
            <a:xfrm>
              <a:off x="1256652" y="1861251"/>
              <a:ext cx="0" cy="4038600"/>
              <a:chOff x="1880359" y="1971973"/>
              <a:chExt cx="0" cy="4038600"/>
            </a:xfrm>
          </p:grpSpPr>
          <p:sp>
            <p:nvSpPr>
              <p:cNvPr id="44" name="Line 13"/>
              <p:cNvSpPr>
                <a:spLocks noChangeShapeType="1"/>
              </p:cNvSpPr>
              <p:nvPr/>
            </p:nvSpPr>
            <p:spPr bwMode="auto">
              <a:xfrm>
                <a:off x="1880359" y="2352973"/>
                <a:ext cx="0" cy="1905000"/>
              </a:xfrm>
              <a:prstGeom prst="line">
                <a:avLst/>
              </a:prstGeom>
              <a:noFill/>
              <a:ln w="762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45" name="Line 14"/>
              <p:cNvSpPr>
                <a:spLocks noChangeShapeType="1"/>
              </p:cNvSpPr>
              <p:nvPr/>
            </p:nvSpPr>
            <p:spPr bwMode="auto">
              <a:xfrm>
                <a:off x="1880359" y="4715173"/>
                <a:ext cx="0" cy="1295400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46" name="Line 15"/>
              <p:cNvSpPr>
                <a:spLocks noChangeShapeType="1"/>
              </p:cNvSpPr>
              <p:nvPr/>
            </p:nvSpPr>
            <p:spPr bwMode="auto">
              <a:xfrm>
                <a:off x="1880359" y="4257973"/>
                <a:ext cx="0" cy="457200"/>
              </a:xfrm>
              <a:prstGeom prst="line">
                <a:avLst/>
              </a:prstGeom>
              <a:noFill/>
              <a:ln w="76200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47" name="Line 17"/>
              <p:cNvSpPr>
                <a:spLocks noChangeShapeType="1"/>
              </p:cNvSpPr>
              <p:nvPr/>
            </p:nvSpPr>
            <p:spPr bwMode="auto">
              <a:xfrm>
                <a:off x="1880359" y="1971973"/>
                <a:ext cx="0" cy="381000"/>
              </a:xfrm>
              <a:prstGeom prst="line">
                <a:avLst/>
              </a:prstGeom>
              <a:noFill/>
              <a:ln w="76200">
                <a:solidFill>
                  <a:srgbClr val="B2B2B2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4425510" y="1861251"/>
              <a:ext cx="0" cy="3962400"/>
              <a:chOff x="6038022" y="2048173"/>
              <a:chExt cx="0" cy="3962400"/>
            </a:xfrm>
          </p:grpSpPr>
          <p:sp>
            <p:nvSpPr>
              <p:cNvPr id="40" name="Line 11"/>
              <p:cNvSpPr>
                <a:spLocks noChangeShapeType="1"/>
              </p:cNvSpPr>
              <p:nvPr/>
            </p:nvSpPr>
            <p:spPr bwMode="auto">
              <a:xfrm>
                <a:off x="6038022" y="3495973"/>
                <a:ext cx="0" cy="1981200"/>
              </a:xfrm>
              <a:prstGeom prst="line">
                <a:avLst/>
              </a:prstGeom>
              <a:noFill/>
              <a:ln w="762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41" name="Line 12"/>
              <p:cNvSpPr>
                <a:spLocks noChangeShapeType="1"/>
              </p:cNvSpPr>
              <p:nvPr/>
            </p:nvSpPr>
            <p:spPr bwMode="auto">
              <a:xfrm>
                <a:off x="6038022" y="5477173"/>
                <a:ext cx="0" cy="533400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42" name="Line 16"/>
              <p:cNvSpPr>
                <a:spLocks noChangeShapeType="1"/>
              </p:cNvSpPr>
              <p:nvPr/>
            </p:nvSpPr>
            <p:spPr bwMode="auto">
              <a:xfrm>
                <a:off x="6038022" y="2048173"/>
                <a:ext cx="0" cy="1066800"/>
              </a:xfrm>
              <a:prstGeom prst="line">
                <a:avLst/>
              </a:prstGeom>
              <a:noFill/>
              <a:ln w="76200">
                <a:solidFill>
                  <a:srgbClr val="B2B2B2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43" name="Line 18"/>
              <p:cNvSpPr>
                <a:spLocks noChangeShapeType="1"/>
              </p:cNvSpPr>
              <p:nvPr/>
            </p:nvSpPr>
            <p:spPr bwMode="auto">
              <a:xfrm>
                <a:off x="6038022" y="3114973"/>
                <a:ext cx="0" cy="407988"/>
              </a:xfrm>
              <a:prstGeom prst="line">
                <a:avLst/>
              </a:prstGeom>
              <a:noFill/>
              <a:ln w="76200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</p:grpSp>
      </p:grpSp>
      <p:sp>
        <p:nvSpPr>
          <p:cNvPr id="48" name="Rectangle 47"/>
          <p:cNvSpPr/>
          <p:nvPr/>
        </p:nvSpPr>
        <p:spPr>
          <a:xfrm>
            <a:off x="2739736" y="3438715"/>
            <a:ext cx="1959264" cy="33939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050" dirty="0">
                <a:solidFill>
                  <a:schemeClr val="hlink"/>
                </a:solidFill>
                <a:latin typeface="Tahoma" charset="0"/>
              </a:rPr>
              <a:t>(IP1, Port1, TCP, </a:t>
            </a:r>
            <a:r>
              <a:rPr lang="en-US" sz="1050" dirty="0" err="1">
                <a:solidFill>
                  <a:schemeClr val="hlink"/>
                </a:solidFill>
                <a:latin typeface="Tahoma" charset="0"/>
              </a:rPr>
              <a:t>Seq</a:t>
            </a:r>
            <a:r>
              <a:rPr lang="en-US" sz="1050" dirty="0">
                <a:solidFill>
                  <a:schemeClr val="hlink"/>
                </a:solidFill>
                <a:latin typeface="Tahoma" charset="0"/>
              </a:rPr>
              <a:t>, </a:t>
            </a:r>
            <a:r>
              <a:rPr lang="en-US" sz="1050" dirty="0" err="1">
                <a:solidFill>
                  <a:schemeClr val="hlink"/>
                </a:solidFill>
                <a:latin typeface="Tahoma" charset="0"/>
              </a:rPr>
              <a:t>Ack</a:t>
            </a:r>
            <a:r>
              <a:rPr lang="en-US" sz="1050" dirty="0">
                <a:solidFill>
                  <a:schemeClr val="hlink"/>
                </a:solidFill>
                <a:latin typeface="Tahoma" charset="0"/>
              </a:rPr>
              <a:t>, …)</a:t>
            </a:r>
          </a:p>
        </p:txBody>
      </p:sp>
      <p:sp>
        <p:nvSpPr>
          <p:cNvPr id="49" name="Text Box 6"/>
          <p:cNvSpPr txBox="1">
            <a:spLocks noChangeArrowheads="1"/>
          </p:cNvSpPr>
          <p:nvPr/>
        </p:nvSpPr>
        <p:spPr bwMode="auto">
          <a:xfrm>
            <a:off x="4443552" y="2365350"/>
            <a:ext cx="16124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400" dirty="0">
                <a:latin typeface="Tahoma" charset="0"/>
              </a:rPr>
              <a:t>Client (IP1, Port1)</a:t>
            </a:r>
          </a:p>
        </p:txBody>
      </p:sp>
      <p:sp>
        <p:nvSpPr>
          <p:cNvPr id="50" name="Text Box 7"/>
          <p:cNvSpPr txBox="1">
            <a:spLocks noChangeArrowheads="1"/>
          </p:cNvSpPr>
          <p:nvPr/>
        </p:nvSpPr>
        <p:spPr bwMode="auto">
          <a:xfrm>
            <a:off x="6275381" y="2365350"/>
            <a:ext cx="167451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400" dirty="0">
                <a:latin typeface="Tahoma" charset="0"/>
              </a:rPr>
              <a:t>Server (IP2, Port2)</a:t>
            </a:r>
          </a:p>
        </p:txBody>
      </p:sp>
      <p:sp>
        <p:nvSpPr>
          <p:cNvPr id="51" name="Text Box 8"/>
          <p:cNvSpPr txBox="1">
            <a:spLocks noChangeArrowheads="1"/>
          </p:cNvSpPr>
          <p:nvPr/>
        </p:nvSpPr>
        <p:spPr bwMode="auto">
          <a:xfrm>
            <a:off x="5630061" y="3004050"/>
            <a:ext cx="10935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SYN  (</a:t>
            </a:r>
            <a:r>
              <a:rPr lang="en-US" sz="1200" dirty="0" err="1">
                <a:latin typeface="Tahoma" charset="0"/>
              </a:rPr>
              <a:t>seq</a:t>
            </a:r>
            <a:r>
              <a:rPr lang="en-US" sz="1200" dirty="0">
                <a:latin typeface="Tahoma" charset="0"/>
              </a:rPr>
              <a:t>=x)</a:t>
            </a:r>
          </a:p>
        </p:txBody>
      </p:sp>
      <p:sp>
        <p:nvSpPr>
          <p:cNvPr id="52" name="Text Box 9"/>
          <p:cNvSpPr txBox="1">
            <a:spLocks noChangeArrowheads="1"/>
          </p:cNvSpPr>
          <p:nvPr/>
        </p:nvSpPr>
        <p:spPr bwMode="auto">
          <a:xfrm>
            <a:off x="5478922" y="3773936"/>
            <a:ext cx="1286317" cy="464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100" dirty="0">
                <a:latin typeface="Tahoma" charset="0"/>
              </a:rPr>
              <a:t>SYN-ACK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100" dirty="0">
                <a:latin typeface="Tahoma" charset="0"/>
              </a:rPr>
              <a:t>(</a:t>
            </a:r>
            <a:r>
              <a:rPr lang="en-US" sz="1100" dirty="0" err="1">
                <a:latin typeface="Tahoma" charset="0"/>
              </a:rPr>
              <a:t>ack</a:t>
            </a:r>
            <a:r>
              <a:rPr lang="en-US" sz="1100" dirty="0">
                <a:latin typeface="Tahoma" charset="0"/>
              </a:rPr>
              <a:t>=x+1 </a:t>
            </a:r>
            <a:r>
              <a:rPr lang="en-US" sz="1100" dirty="0" err="1">
                <a:latin typeface="Tahoma" charset="0"/>
              </a:rPr>
              <a:t>seq</a:t>
            </a:r>
            <a:r>
              <a:rPr lang="en-US" sz="1100" dirty="0">
                <a:latin typeface="Tahoma" charset="0"/>
              </a:rPr>
              <a:t>=y)</a:t>
            </a:r>
            <a:endParaRPr lang="en-US" sz="1100" baseline="-25000" dirty="0">
              <a:latin typeface="Tahoma" charset="0"/>
            </a:endParaRPr>
          </a:p>
        </p:txBody>
      </p:sp>
      <p:sp>
        <p:nvSpPr>
          <p:cNvPr id="53" name="Text Box 10"/>
          <p:cNvSpPr txBox="1">
            <a:spLocks noChangeArrowheads="1"/>
          </p:cNvSpPr>
          <p:nvPr/>
        </p:nvSpPr>
        <p:spPr bwMode="auto">
          <a:xfrm>
            <a:off x="5361355" y="4744229"/>
            <a:ext cx="1464576" cy="464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100" dirty="0">
                <a:latin typeface="Tahoma" charset="0"/>
              </a:rPr>
              <a:t>ACK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100" dirty="0">
                <a:latin typeface="Tahoma" charset="0"/>
              </a:rPr>
              <a:t>(</a:t>
            </a:r>
            <a:r>
              <a:rPr lang="en-US" sz="1100" dirty="0" err="1">
                <a:latin typeface="Tahoma" charset="0"/>
              </a:rPr>
              <a:t>ack</a:t>
            </a:r>
            <a:r>
              <a:rPr lang="en-US" sz="1100" dirty="0">
                <a:latin typeface="Tahoma" charset="0"/>
              </a:rPr>
              <a:t>=y+1,seq=x+1)</a:t>
            </a:r>
            <a:endParaRPr lang="en-US" sz="1100" baseline="-25000" dirty="0">
              <a:latin typeface="Tahoma" charset="0"/>
            </a:endParaRPr>
          </a:p>
        </p:txBody>
      </p:sp>
      <p:grpSp>
        <p:nvGrpSpPr>
          <p:cNvPr id="54" name="Group 53"/>
          <p:cNvGrpSpPr/>
          <p:nvPr/>
        </p:nvGrpSpPr>
        <p:grpSpPr>
          <a:xfrm>
            <a:off x="5249779" y="2797133"/>
            <a:ext cx="1755062" cy="3372963"/>
            <a:chOff x="1256652" y="1861251"/>
            <a:chExt cx="3168858" cy="4038600"/>
          </a:xfrm>
        </p:grpSpPr>
        <p:sp>
          <p:nvSpPr>
            <p:cNvPr id="55" name="Line 3"/>
            <p:cNvSpPr>
              <a:spLocks noChangeShapeType="1"/>
            </p:cNvSpPr>
            <p:nvPr/>
          </p:nvSpPr>
          <p:spPr bwMode="auto">
            <a:xfrm>
              <a:off x="1256652" y="2242251"/>
              <a:ext cx="3154927" cy="6895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56" name="Line 4"/>
            <p:cNvSpPr>
              <a:spLocks noChangeShapeType="1"/>
            </p:cNvSpPr>
            <p:nvPr/>
          </p:nvSpPr>
          <p:spPr bwMode="auto">
            <a:xfrm>
              <a:off x="1256652" y="4604451"/>
              <a:ext cx="3154927" cy="685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57" name="Line 5"/>
            <p:cNvSpPr>
              <a:spLocks noChangeShapeType="1"/>
            </p:cNvSpPr>
            <p:nvPr/>
          </p:nvSpPr>
          <p:spPr bwMode="auto">
            <a:xfrm flipH="1">
              <a:off x="1256652" y="3360101"/>
              <a:ext cx="3154927" cy="7871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grpSp>
          <p:nvGrpSpPr>
            <p:cNvPr id="58" name="Group 57"/>
            <p:cNvGrpSpPr/>
            <p:nvPr/>
          </p:nvGrpSpPr>
          <p:grpSpPr>
            <a:xfrm>
              <a:off x="1256652" y="1861251"/>
              <a:ext cx="0" cy="4038600"/>
              <a:chOff x="1880359" y="1971973"/>
              <a:chExt cx="0" cy="4038600"/>
            </a:xfrm>
          </p:grpSpPr>
          <p:sp>
            <p:nvSpPr>
              <p:cNvPr id="64" name="Line 13"/>
              <p:cNvSpPr>
                <a:spLocks noChangeShapeType="1"/>
              </p:cNvSpPr>
              <p:nvPr/>
            </p:nvSpPr>
            <p:spPr bwMode="auto">
              <a:xfrm>
                <a:off x="1880359" y="2352973"/>
                <a:ext cx="0" cy="1905000"/>
              </a:xfrm>
              <a:prstGeom prst="line">
                <a:avLst/>
              </a:prstGeom>
              <a:noFill/>
              <a:ln w="762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65" name="Line 14"/>
              <p:cNvSpPr>
                <a:spLocks noChangeShapeType="1"/>
              </p:cNvSpPr>
              <p:nvPr/>
            </p:nvSpPr>
            <p:spPr bwMode="auto">
              <a:xfrm>
                <a:off x="1880359" y="4715173"/>
                <a:ext cx="0" cy="1295400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66" name="Line 15"/>
              <p:cNvSpPr>
                <a:spLocks noChangeShapeType="1"/>
              </p:cNvSpPr>
              <p:nvPr/>
            </p:nvSpPr>
            <p:spPr bwMode="auto">
              <a:xfrm>
                <a:off x="1880359" y="4257973"/>
                <a:ext cx="0" cy="457200"/>
              </a:xfrm>
              <a:prstGeom prst="line">
                <a:avLst/>
              </a:prstGeom>
              <a:noFill/>
              <a:ln w="76200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67" name="Line 17"/>
              <p:cNvSpPr>
                <a:spLocks noChangeShapeType="1"/>
              </p:cNvSpPr>
              <p:nvPr/>
            </p:nvSpPr>
            <p:spPr bwMode="auto">
              <a:xfrm>
                <a:off x="1880359" y="1971973"/>
                <a:ext cx="0" cy="381000"/>
              </a:xfrm>
              <a:prstGeom prst="line">
                <a:avLst/>
              </a:prstGeom>
              <a:noFill/>
              <a:ln w="76200">
                <a:solidFill>
                  <a:srgbClr val="B2B2B2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</p:grpSp>
        <p:grpSp>
          <p:nvGrpSpPr>
            <p:cNvPr id="59" name="Group 58"/>
            <p:cNvGrpSpPr/>
            <p:nvPr/>
          </p:nvGrpSpPr>
          <p:grpSpPr>
            <a:xfrm>
              <a:off x="4425510" y="1861251"/>
              <a:ext cx="0" cy="3962400"/>
              <a:chOff x="6038022" y="2048173"/>
              <a:chExt cx="0" cy="3962400"/>
            </a:xfrm>
          </p:grpSpPr>
          <p:sp>
            <p:nvSpPr>
              <p:cNvPr id="60" name="Line 11"/>
              <p:cNvSpPr>
                <a:spLocks noChangeShapeType="1"/>
              </p:cNvSpPr>
              <p:nvPr/>
            </p:nvSpPr>
            <p:spPr bwMode="auto">
              <a:xfrm>
                <a:off x="6038022" y="3495973"/>
                <a:ext cx="0" cy="1981200"/>
              </a:xfrm>
              <a:prstGeom prst="line">
                <a:avLst/>
              </a:prstGeom>
              <a:noFill/>
              <a:ln w="762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61" name="Line 12"/>
              <p:cNvSpPr>
                <a:spLocks noChangeShapeType="1"/>
              </p:cNvSpPr>
              <p:nvPr/>
            </p:nvSpPr>
            <p:spPr bwMode="auto">
              <a:xfrm>
                <a:off x="6038022" y="5477173"/>
                <a:ext cx="0" cy="533400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62" name="Line 16"/>
              <p:cNvSpPr>
                <a:spLocks noChangeShapeType="1"/>
              </p:cNvSpPr>
              <p:nvPr/>
            </p:nvSpPr>
            <p:spPr bwMode="auto">
              <a:xfrm>
                <a:off x="6038022" y="2048173"/>
                <a:ext cx="0" cy="1066800"/>
              </a:xfrm>
              <a:prstGeom prst="line">
                <a:avLst/>
              </a:prstGeom>
              <a:noFill/>
              <a:ln w="76200">
                <a:solidFill>
                  <a:srgbClr val="B2B2B2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63" name="Line 18"/>
              <p:cNvSpPr>
                <a:spLocks noChangeShapeType="1"/>
              </p:cNvSpPr>
              <p:nvPr/>
            </p:nvSpPr>
            <p:spPr bwMode="auto">
              <a:xfrm>
                <a:off x="6038022" y="3114973"/>
                <a:ext cx="0" cy="407988"/>
              </a:xfrm>
              <a:prstGeom prst="line">
                <a:avLst/>
              </a:prstGeom>
              <a:noFill/>
              <a:ln w="76200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</p:grpSp>
      </p:grpSp>
      <p:sp>
        <p:nvSpPr>
          <p:cNvPr id="68" name="Rectangle 67"/>
          <p:cNvSpPr/>
          <p:nvPr/>
        </p:nvSpPr>
        <p:spPr>
          <a:xfrm>
            <a:off x="7095719" y="5491271"/>
            <a:ext cx="1959264" cy="33939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050" dirty="0">
                <a:solidFill>
                  <a:schemeClr val="hlink"/>
                </a:solidFill>
                <a:latin typeface="Tahoma" charset="0"/>
              </a:rPr>
              <a:t>(IP1, Port1, TCP, </a:t>
            </a:r>
            <a:r>
              <a:rPr lang="en-US" sz="1050" dirty="0" err="1">
                <a:solidFill>
                  <a:schemeClr val="hlink"/>
                </a:solidFill>
                <a:latin typeface="Tahoma" charset="0"/>
              </a:rPr>
              <a:t>Seq</a:t>
            </a:r>
            <a:r>
              <a:rPr lang="en-US" sz="1050" dirty="0">
                <a:solidFill>
                  <a:schemeClr val="hlink"/>
                </a:solidFill>
                <a:latin typeface="Tahoma" charset="0"/>
              </a:rPr>
              <a:t>, </a:t>
            </a:r>
            <a:r>
              <a:rPr lang="en-US" sz="1050" dirty="0" err="1">
                <a:solidFill>
                  <a:schemeClr val="hlink"/>
                </a:solidFill>
                <a:latin typeface="Tahoma" charset="0"/>
              </a:rPr>
              <a:t>Ack</a:t>
            </a:r>
            <a:r>
              <a:rPr lang="en-US" sz="1050" dirty="0">
                <a:solidFill>
                  <a:schemeClr val="hlink"/>
                </a:solidFill>
                <a:latin typeface="Tahoma" charset="0"/>
              </a:rPr>
              <a:t>, …)</a:t>
            </a:r>
          </a:p>
        </p:txBody>
      </p:sp>
      <p:sp>
        <p:nvSpPr>
          <p:cNvPr id="69" name="Right Arrow 68"/>
          <p:cNvSpPr/>
          <p:nvPr/>
        </p:nvSpPr>
        <p:spPr>
          <a:xfrm>
            <a:off x="3663409" y="4454010"/>
            <a:ext cx="843643" cy="290219"/>
          </a:xfrm>
          <a:prstGeom prst="right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98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 Cookies</a:t>
            </a:r>
          </a:p>
        </p:txBody>
      </p:sp>
      <p:sp>
        <p:nvSpPr>
          <p:cNvPr id="49" name="Text Box 6"/>
          <p:cNvSpPr txBox="1">
            <a:spLocks noChangeArrowheads="1"/>
          </p:cNvSpPr>
          <p:nvPr/>
        </p:nvSpPr>
        <p:spPr bwMode="auto">
          <a:xfrm>
            <a:off x="330881" y="1303399"/>
            <a:ext cx="14084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Client (IP1, Port1)</a:t>
            </a:r>
          </a:p>
        </p:txBody>
      </p:sp>
      <p:sp>
        <p:nvSpPr>
          <p:cNvPr id="50" name="Text Box 7"/>
          <p:cNvSpPr txBox="1">
            <a:spLocks noChangeArrowheads="1"/>
          </p:cNvSpPr>
          <p:nvPr/>
        </p:nvSpPr>
        <p:spPr bwMode="auto">
          <a:xfrm>
            <a:off x="2050074" y="1299765"/>
            <a:ext cx="146168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Server (IP2, Port2)</a:t>
            </a:r>
          </a:p>
        </p:txBody>
      </p:sp>
      <p:sp>
        <p:nvSpPr>
          <p:cNvPr id="51" name="Text Box 8"/>
          <p:cNvSpPr txBox="1">
            <a:spLocks noChangeArrowheads="1"/>
          </p:cNvSpPr>
          <p:nvPr/>
        </p:nvSpPr>
        <p:spPr bwMode="auto">
          <a:xfrm>
            <a:off x="1415406" y="1927191"/>
            <a:ext cx="10935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SYN  (</a:t>
            </a:r>
            <a:r>
              <a:rPr lang="en-US" sz="1200" dirty="0" err="1">
                <a:latin typeface="Tahoma" charset="0"/>
              </a:rPr>
              <a:t>seq</a:t>
            </a:r>
            <a:r>
              <a:rPr lang="en-US" sz="1200" dirty="0">
                <a:latin typeface="Tahoma" charset="0"/>
              </a:rPr>
              <a:t>=x)</a:t>
            </a:r>
          </a:p>
        </p:txBody>
      </p:sp>
      <p:sp>
        <p:nvSpPr>
          <p:cNvPr id="52" name="Text Box 9"/>
          <p:cNvSpPr txBox="1">
            <a:spLocks noChangeArrowheads="1"/>
          </p:cNvSpPr>
          <p:nvPr/>
        </p:nvSpPr>
        <p:spPr bwMode="auto">
          <a:xfrm>
            <a:off x="1264267" y="2697077"/>
            <a:ext cx="1286317" cy="464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100" dirty="0">
                <a:latin typeface="Tahoma" charset="0"/>
              </a:rPr>
              <a:t>SYN-ACK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100" dirty="0">
                <a:latin typeface="Tahoma" charset="0"/>
              </a:rPr>
              <a:t>(</a:t>
            </a:r>
            <a:r>
              <a:rPr lang="en-US" sz="1100" dirty="0" err="1">
                <a:latin typeface="Tahoma" charset="0"/>
              </a:rPr>
              <a:t>ack</a:t>
            </a:r>
            <a:r>
              <a:rPr lang="en-US" sz="1100" dirty="0">
                <a:latin typeface="Tahoma" charset="0"/>
              </a:rPr>
              <a:t>=x+1 </a:t>
            </a:r>
            <a:r>
              <a:rPr lang="en-US" sz="1100" dirty="0" err="1">
                <a:latin typeface="Tahoma" charset="0"/>
              </a:rPr>
              <a:t>seq</a:t>
            </a:r>
            <a:r>
              <a:rPr lang="en-US" sz="1100" dirty="0">
                <a:latin typeface="Tahoma" charset="0"/>
              </a:rPr>
              <a:t>=y)</a:t>
            </a:r>
            <a:endParaRPr lang="en-US" sz="1100" baseline="-25000" dirty="0">
              <a:latin typeface="Tahoma" charset="0"/>
            </a:endParaRPr>
          </a:p>
        </p:txBody>
      </p:sp>
      <p:sp>
        <p:nvSpPr>
          <p:cNvPr id="55" name="Line 3"/>
          <p:cNvSpPr>
            <a:spLocks noChangeShapeType="1"/>
          </p:cNvSpPr>
          <p:nvPr/>
        </p:nvSpPr>
        <p:spPr bwMode="auto">
          <a:xfrm>
            <a:off x="1035124" y="2038478"/>
            <a:ext cx="1747346" cy="57591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57" name="Line 5"/>
          <p:cNvSpPr>
            <a:spLocks noChangeShapeType="1"/>
          </p:cNvSpPr>
          <p:nvPr/>
        </p:nvSpPr>
        <p:spPr bwMode="auto">
          <a:xfrm flipH="1">
            <a:off x="1035124" y="2972085"/>
            <a:ext cx="1747346" cy="6574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64" name="Line 13"/>
          <p:cNvSpPr>
            <a:spLocks noChangeShapeType="1"/>
          </p:cNvSpPr>
          <p:nvPr/>
        </p:nvSpPr>
        <p:spPr bwMode="auto">
          <a:xfrm>
            <a:off x="1035124" y="2038478"/>
            <a:ext cx="0" cy="1591020"/>
          </a:xfrm>
          <a:prstGeom prst="line">
            <a:avLst/>
          </a:prstGeom>
          <a:noFill/>
          <a:ln w="762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67" name="Line 17"/>
          <p:cNvSpPr>
            <a:spLocks noChangeShapeType="1"/>
          </p:cNvSpPr>
          <p:nvPr/>
        </p:nvSpPr>
        <p:spPr bwMode="auto">
          <a:xfrm>
            <a:off x="1035124" y="1720274"/>
            <a:ext cx="0" cy="318204"/>
          </a:xfrm>
          <a:prstGeom prst="line">
            <a:avLst/>
          </a:prstGeom>
          <a:noFill/>
          <a:ln w="76200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62" name="Line 16"/>
          <p:cNvSpPr>
            <a:spLocks noChangeShapeType="1"/>
          </p:cNvSpPr>
          <p:nvPr/>
        </p:nvSpPr>
        <p:spPr bwMode="auto">
          <a:xfrm>
            <a:off x="2790186" y="1720274"/>
            <a:ext cx="0" cy="890971"/>
          </a:xfrm>
          <a:prstGeom prst="line">
            <a:avLst/>
          </a:prstGeom>
          <a:noFill/>
          <a:ln w="76200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63" name="Line 18"/>
          <p:cNvSpPr>
            <a:spLocks noChangeShapeType="1"/>
          </p:cNvSpPr>
          <p:nvPr/>
        </p:nvSpPr>
        <p:spPr bwMode="auto">
          <a:xfrm>
            <a:off x="2790186" y="2611245"/>
            <a:ext cx="0" cy="340744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3114307" y="2561144"/>
            <a:ext cx="5430837" cy="672453"/>
            <a:chOff x="1572306" y="3020559"/>
            <a:chExt cx="7262812" cy="789977"/>
          </a:xfrm>
        </p:grpSpPr>
        <p:sp>
          <p:nvSpPr>
            <p:cNvPr id="70" name="AutoShape 4"/>
            <p:cNvSpPr>
              <a:spLocks noChangeArrowheads="1"/>
            </p:cNvSpPr>
            <p:nvPr/>
          </p:nvSpPr>
          <p:spPr bwMode="auto">
            <a:xfrm>
              <a:off x="1572306" y="3025321"/>
              <a:ext cx="7262812" cy="522288"/>
            </a:xfrm>
            <a:prstGeom prst="roundRect">
              <a:avLst>
                <a:gd name="adj" fmla="val 273"/>
              </a:avLst>
            </a:prstGeom>
            <a:solidFill>
              <a:srgbClr val="00B8FF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" name="AutoShape 5"/>
            <p:cNvSpPr>
              <a:spLocks noChangeArrowheads="1"/>
            </p:cNvSpPr>
            <p:nvPr/>
          </p:nvSpPr>
          <p:spPr bwMode="auto">
            <a:xfrm>
              <a:off x="1707242" y="3161846"/>
              <a:ext cx="987997" cy="206093"/>
            </a:xfrm>
            <a:prstGeom prst="roundRect">
              <a:avLst>
                <a:gd name="adj" fmla="val 606"/>
              </a:avLst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28675">
                <a:lnSpc>
                  <a:spcPct val="94000"/>
                </a:lnSpc>
                <a:buClr>
                  <a:srgbClr val="000000"/>
                </a:buClr>
                <a:buSzPct val="45000"/>
                <a:buFont typeface="StarSymbol" charset="0"/>
                <a:buNone/>
                <a:tabLst>
                  <a:tab pos="0" algn="l"/>
                  <a:tab pos="414338" algn="l"/>
                  <a:tab pos="828675" algn="l"/>
                  <a:tab pos="1244600" algn="l"/>
                  <a:tab pos="1658938" algn="l"/>
                  <a:tab pos="2073275" algn="l"/>
                  <a:tab pos="2487613" algn="l"/>
                  <a:tab pos="2903538" algn="l"/>
                  <a:tab pos="3317875" algn="l"/>
                  <a:tab pos="3732213" algn="l"/>
                  <a:tab pos="4146550" algn="l"/>
                  <a:tab pos="4562475" algn="l"/>
                  <a:tab pos="4976813" algn="l"/>
                  <a:tab pos="5391150" algn="l"/>
                  <a:tab pos="5805488" algn="l"/>
                  <a:tab pos="6221413" algn="l"/>
                  <a:tab pos="6635750" algn="l"/>
                  <a:tab pos="7050088" algn="l"/>
                  <a:tab pos="7464425" algn="l"/>
                  <a:tab pos="7880350" algn="l"/>
                  <a:tab pos="8294688" algn="l"/>
                </a:tabLst>
              </a:pPr>
              <a:r>
                <a:rPr lang="en-GB" sz="1200" dirty="0">
                  <a:solidFill>
                    <a:srgbClr val="000000"/>
                  </a:solidFill>
                  <a:latin typeface="Courier New" charset="0"/>
                </a:rPr>
                <a:t>t mod 32</a:t>
              </a:r>
            </a:p>
          </p:txBody>
        </p:sp>
        <p:sp>
          <p:nvSpPr>
            <p:cNvPr id="73" name="AutoShape 9"/>
            <p:cNvSpPr>
              <a:spLocks noChangeArrowheads="1"/>
            </p:cNvSpPr>
            <p:nvPr/>
          </p:nvSpPr>
          <p:spPr bwMode="auto">
            <a:xfrm>
              <a:off x="1908009" y="3608922"/>
              <a:ext cx="393700" cy="201614"/>
            </a:xfrm>
            <a:prstGeom prst="roundRect">
              <a:avLst>
                <a:gd name="adj" fmla="val 755"/>
              </a:avLst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28675">
                <a:lnSpc>
                  <a:spcPct val="93000"/>
                </a:lnSpc>
                <a:buClr>
                  <a:srgbClr val="000000"/>
                </a:buClr>
                <a:buSzPct val="45000"/>
                <a:buFont typeface="StarSymbol" charset="0"/>
                <a:buNone/>
                <a:tabLst>
                  <a:tab pos="0" algn="l"/>
                  <a:tab pos="414338" algn="l"/>
                  <a:tab pos="828675" algn="l"/>
                  <a:tab pos="1244600" algn="l"/>
                  <a:tab pos="1658938" algn="l"/>
                  <a:tab pos="2073275" algn="l"/>
                  <a:tab pos="2487613" algn="l"/>
                  <a:tab pos="2903538" algn="l"/>
                  <a:tab pos="3317875" algn="l"/>
                  <a:tab pos="3732213" algn="l"/>
                  <a:tab pos="4146550" algn="l"/>
                  <a:tab pos="4562475" algn="l"/>
                  <a:tab pos="4976813" algn="l"/>
                  <a:tab pos="5391150" algn="l"/>
                  <a:tab pos="5805488" algn="l"/>
                  <a:tab pos="6221413" algn="l"/>
                  <a:tab pos="6635750" algn="l"/>
                  <a:tab pos="7050088" algn="l"/>
                  <a:tab pos="7464425" algn="l"/>
                  <a:tab pos="7880350" algn="l"/>
                  <a:tab pos="8294688" algn="l"/>
                </a:tabLst>
              </a:pPr>
              <a:r>
                <a:rPr lang="en-GB" sz="1400" dirty="0">
                  <a:solidFill>
                    <a:srgbClr val="000000"/>
                  </a:solidFill>
                  <a:latin typeface="Times New Roman" charset="0"/>
                </a:rPr>
                <a:t>5 bits</a:t>
              </a:r>
            </a:p>
          </p:txBody>
        </p:sp>
        <p:sp>
          <p:nvSpPr>
            <p:cNvPr id="74" name="Line 10"/>
            <p:cNvSpPr>
              <a:spLocks noChangeShapeType="1"/>
            </p:cNvSpPr>
            <p:nvPr/>
          </p:nvSpPr>
          <p:spPr bwMode="auto">
            <a:xfrm>
              <a:off x="2808968" y="3020559"/>
              <a:ext cx="1588" cy="522287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AutoShape 11"/>
            <p:cNvSpPr>
              <a:spLocks noChangeArrowheads="1"/>
            </p:cNvSpPr>
            <p:nvPr/>
          </p:nvSpPr>
          <p:spPr bwMode="auto">
            <a:xfrm>
              <a:off x="3013756" y="3161846"/>
              <a:ext cx="370499" cy="206093"/>
            </a:xfrm>
            <a:prstGeom prst="roundRect">
              <a:avLst>
                <a:gd name="adj" fmla="val 606"/>
              </a:avLst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28675">
                <a:lnSpc>
                  <a:spcPct val="94000"/>
                </a:lnSpc>
                <a:buClr>
                  <a:srgbClr val="000000"/>
                </a:buClr>
                <a:buSzPct val="45000"/>
                <a:buFont typeface="StarSymbol" charset="0"/>
                <a:buNone/>
                <a:tabLst>
                  <a:tab pos="0" algn="l"/>
                  <a:tab pos="414338" algn="l"/>
                  <a:tab pos="828675" algn="l"/>
                  <a:tab pos="1244600" algn="l"/>
                  <a:tab pos="1658938" algn="l"/>
                  <a:tab pos="2073275" algn="l"/>
                  <a:tab pos="2487613" algn="l"/>
                  <a:tab pos="2903538" algn="l"/>
                  <a:tab pos="3317875" algn="l"/>
                  <a:tab pos="3732213" algn="l"/>
                  <a:tab pos="4146550" algn="l"/>
                  <a:tab pos="4562475" algn="l"/>
                  <a:tab pos="4976813" algn="l"/>
                  <a:tab pos="5391150" algn="l"/>
                  <a:tab pos="5805488" algn="l"/>
                  <a:tab pos="6221413" algn="l"/>
                  <a:tab pos="6635750" algn="l"/>
                  <a:tab pos="7050088" algn="l"/>
                  <a:tab pos="7464425" algn="l"/>
                  <a:tab pos="7880350" algn="l"/>
                  <a:tab pos="8294688" algn="l"/>
                </a:tabLst>
              </a:pPr>
              <a:r>
                <a:rPr lang="en-GB" sz="1200" dirty="0">
                  <a:solidFill>
                    <a:srgbClr val="000000"/>
                  </a:solidFill>
                  <a:latin typeface="Courier New" charset="0"/>
                </a:rPr>
                <a:t>MSS</a:t>
              </a:r>
            </a:p>
          </p:txBody>
        </p:sp>
        <p:sp>
          <p:nvSpPr>
            <p:cNvPr id="76" name="Line 12"/>
            <p:cNvSpPr>
              <a:spLocks noChangeShapeType="1"/>
            </p:cNvSpPr>
            <p:nvPr/>
          </p:nvSpPr>
          <p:spPr bwMode="auto">
            <a:xfrm>
              <a:off x="3528106" y="3020559"/>
              <a:ext cx="1587" cy="522287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AutoShape 14"/>
            <p:cNvSpPr>
              <a:spLocks noChangeArrowheads="1"/>
            </p:cNvSpPr>
            <p:nvPr/>
          </p:nvSpPr>
          <p:spPr bwMode="auto">
            <a:xfrm>
              <a:off x="2953364" y="3604704"/>
              <a:ext cx="393700" cy="201614"/>
            </a:xfrm>
            <a:prstGeom prst="roundRect">
              <a:avLst>
                <a:gd name="adj" fmla="val 755"/>
              </a:avLst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28675">
                <a:lnSpc>
                  <a:spcPct val="93000"/>
                </a:lnSpc>
                <a:buClr>
                  <a:srgbClr val="000000"/>
                </a:buClr>
                <a:buSzPct val="45000"/>
                <a:buFont typeface="StarSymbol" charset="0"/>
                <a:buNone/>
                <a:tabLst>
                  <a:tab pos="0" algn="l"/>
                  <a:tab pos="414338" algn="l"/>
                  <a:tab pos="828675" algn="l"/>
                  <a:tab pos="1244600" algn="l"/>
                  <a:tab pos="1658938" algn="l"/>
                  <a:tab pos="2073275" algn="l"/>
                  <a:tab pos="2487613" algn="l"/>
                  <a:tab pos="2903538" algn="l"/>
                  <a:tab pos="3317875" algn="l"/>
                  <a:tab pos="3732213" algn="l"/>
                  <a:tab pos="4146550" algn="l"/>
                  <a:tab pos="4562475" algn="l"/>
                  <a:tab pos="4976813" algn="l"/>
                  <a:tab pos="5391150" algn="l"/>
                  <a:tab pos="5805488" algn="l"/>
                  <a:tab pos="6221413" algn="l"/>
                  <a:tab pos="6635750" algn="l"/>
                  <a:tab pos="7050088" algn="l"/>
                  <a:tab pos="7464425" algn="l"/>
                  <a:tab pos="7880350" algn="l"/>
                  <a:tab pos="8294688" algn="l"/>
                </a:tabLst>
              </a:pPr>
              <a:r>
                <a:rPr lang="en-GB" sz="1400" dirty="0">
                  <a:solidFill>
                    <a:srgbClr val="000000"/>
                  </a:solidFill>
                  <a:latin typeface="Times New Roman" charset="0"/>
                </a:rPr>
                <a:t>3 bits</a:t>
              </a:r>
            </a:p>
          </p:txBody>
        </p:sp>
        <p:sp>
          <p:nvSpPr>
            <p:cNvPr id="79" name="AutoShape 15"/>
            <p:cNvSpPr>
              <a:spLocks noChangeArrowheads="1"/>
            </p:cNvSpPr>
            <p:nvPr/>
          </p:nvSpPr>
          <p:spPr bwMode="auto">
            <a:xfrm>
              <a:off x="3634468" y="3161846"/>
              <a:ext cx="5145816" cy="206093"/>
            </a:xfrm>
            <a:prstGeom prst="roundRect">
              <a:avLst>
                <a:gd name="adj" fmla="val 481"/>
              </a:avLst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28675">
                <a:lnSpc>
                  <a:spcPct val="94000"/>
                </a:lnSpc>
                <a:buClr>
                  <a:srgbClr val="000000"/>
                </a:buClr>
                <a:buSzPct val="45000"/>
                <a:buFont typeface="StarSymbol" charset="0"/>
                <a:buNone/>
                <a:tabLst>
                  <a:tab pos="0" algn="l"/>
                  <a:tab pos="414338" algn="l"/>
                  <a:tab pos="828675" algn="l"/>
                  <a:tab pos="1244600" algn="l"/>
                  <a:tab pos="1658938" algn="l"/>
                  <a:tab pos="2073275" algn="l"/>
                  <a:tab pos="2487613" algn="l"/>
                  <a:tab pos="2903538" algn="l"/>
                  <a:tab pos="3317875" algn="l"/>
                  <a:tab pos="3732213" algn="l"/>
                  <a:tab pos="4146550" algn="l"/>
                  <a:tab pos="4562475" algn="l"/>
                  <a:tab pos="4976813" algn="l"/>
                  <a:tab pos="5391150" algn="l"/>
                  <a:tab pos="5805488" algn="l"/>
                  <a:tab pos="6221413" algn="l"/>
                  <a:tab pos="6635750" algn="l"/>
                  <a:tab pos="7050088" algn="l"/>
                  <a:tab pos="7464425" algn="l"/>
                  <a:tab pos="7880350" algn="l"/>
                  <a:tab pos="8294688" algn="l"/>
                </a:tabLst>
              </a:pPr>
              <a:r>
                <a:rPr lang="en-GB" sz="1200" dirty="0">
                  <a:solidFill>
                    <a:srgbClr val="000000"/>
                  </a:solidFill>
                  <a:latin typeface="Courier New" charset="0"/>
                </a:rPr>
                <a:t>Cookie=HMAC(t, N</a:t>
              </a:r>
              <a:r>
                <a:rPr lang="en-GB" sz="1200" baseline="-33000" dirty="0">
                  <a:solidFill>
                    <a:srgbClr val="000000"/>
                  </a:solidFill>
                  <a:latin typeface="Courier New" charset="0"/>
                </a:rPr>
                <a:t>s</a:t>
              </a:r>
              <a:r>
                <a:rPr lang="en-GB" sz="1200" dirty="0">
                  <a:solidFill>
                    <a:srgbClr val="000000"/>
                  </a:solidFill>
                  <a:latin typeface="Courier New" charset="0"/>
                </a:rPr>
                <a:t>, SIP, </a:t>
              </a:r>
              <a:r>
                <a:rPr lang="en-GB" sz="1200" dirty="0" err="1">
                  <a:solidFill>
                    <a:srgbClr val="000000"/>
                  </a:solidFill>
                  <a:latin typeface="Courier New" charset="0"/>
                </a:rPr>
                <a:t>SPort</a:t>
              </a:r>
              <a:r>
                <a:rPr lang="en-GB" sz="1200" dirty="0">
                  <a:solidFill>
                    <a:srgbClr val="000000"/>
                  </a:solidFill>
                  <a:latin typeface="Courier New" charset="0"/>
                </a:rPr>
                <a:t>, DIP, </a:t>
              </a:r>
              <a:r>
                <a:rPr lang="en-GB" sz="1200" dirty="0" err="1">
                  <a:solidFill>
                    <a:srgbClr val="000000"/>
                  </a:solidFill>
                  <a:latin typeface="Courier New" charset="0"/>
                </a:rPr>
                <a:t>DPort</a:t>
              </a:r>
              <a:r>
                <a:rPr lang="en-GB" sz="1200" dirty="0">
                  <a:solidFill>
                    <a:srgbClr val="000000"/>
                  </a:solidFill>
                  <a:latin typeface="Courier New" charset="0"/>
                </a:rPr>
                <a:t>)</a:t>
              </a:r>
            </a:p>
          </p:txBody>
        </p:sp>
      </p:grpSp>
      <p:sp>
        <p:nvSpPr>
          <p:cNvPr id="80" name="Rectangle 3"/>
          <p:cNvSpPr txBox="1">
            <a:spLocks noChangeArrowheads="1"/>
          </p:cNvSpPr>
          <p:nvPr/>
        </p:nvSpPr>
        <p:spPr>
          <a:xfrm>
            <a:off x="2914038" y="3401395"/>
            <a:ext cx="5892758" cy="183572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7813" indent="0"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200" b="1" dirty="0">
                <a:solidFill>
                  <a:srgbClr val="FF0000"/>
                </a:solidFill>
                <a:latin typeface="Tahoma" charset="0"/>
              </a:rPr>
              <a:t>t mod 32:</a:t>
            </a:r>
            <a:r>
              <a:rPr lang="en-GB" sz="1200" dirty="0">
                <a:latin typeface="Tahoma" charset="0"/>
              </a:rPr>
              <a:t> t is a slowly increasing timestamp maintained by the server, ensuring sequence numbers increase every 64 seconds</a:t>
            </a:r>
          </a:p>
          <a:p>
            <a:pPr marL="277813" indent="0"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200" b="1" dirty="0">
                <a:solidFill>
                  <a:srgbClr val="FF0000"/>
                </a:solidFill>
                <a:latin typeface="Tahoma" charset="0"/>
              </a:rPr>
              <a:t>MSS:</a:t>
            </a:r>
            <a:r>
              <a:rPr lang="en-GB" sz="1200" dirty="0">
                <a:latin typeface="Tahoma" charset="0"/>
              </a:rPr>
              <a:t> encoding of server MSS (maximum segment size)</a:t>
            </a:r>
          </a:p>
          <a:p>
            <a:pPr marL="277813" indent="0"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200" b="1" dirty="0">
                <a:solidFill>
                  <a:srgbClr val="FF0000"/>
                </a:solidFill>
                <a:latin typeface="Tahoma" charset="0"/>
              </a:rPr>
              <a:t>Cookie:</a:t>
            </a:r>
            <a:r>
              <a:rPr lang="en-GB" sz="1200" dirty="0">
                <a:latin typeface="Tahoma" charset="0"/>
              </a:rPr>
              <a:t> easy to create and validate, hard to forge</a:t>
            </a:r>
          </a:p>
          <a:p>
            <a:pPr marL="277813" indent="0"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1200" dirty="0">
              <a:latin typeface="Tahoma" charset="0"/>
            </a:endParaRPr>
          </a:p>
          <a:p>
            <a:pPr marL="277813" indent="0"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400" dirty="0"/>
              <a:t>Ns: the secret shared by all the connections</a:t>
            </a:r>
          </a:p>
          <a:p>
            <a:pPr marL="277813" indent="0"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1200" dirty="0">
              <a:latin typeface="Tahoma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07684" y="5610284"/>
            <a:ext cx="3791738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No resource is invested in the server side to maintain the state of this connection!! </a:t>
            </a:r>
          </a:p>
        </p:txBody>
      </p:sp>
    </p:spTree>
    <p:extLst>
      <p:ext uri="{BB962C8B-B14F-4D97-AF65-F5344CB8AC3E}">
        <p14:creationId xmlns:p14="http://schemas.microsoft.com/office/powerpoint/2010/main" val="11488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 Cookies</a:t>
            </a:r>
          </a:p>
        </p:txBody>
      </p:sp>
      <p:sp>
        <p:nvSpPr>
          <p:cNvPr id="49" name="Text Box 6"/>
          <p:cNvSpPr txBox="1">
            <a:spLocks noChangeArrowheads="1"/>
          </p:cNvSpPr>
          <p:nvPr/>
        </p:nvSpPr>
        <p:spPr bwMode="auto">
          <a:xfrm>
            <a:off x="125747" y="1970262"/>
            <a:ext cx="14084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Client (IP1, Port1)</a:t>
            </a:r>
          </a:p>
        </p:txBody>
      </p:sp>
      <p:sp>
        <p:nvSpPr>
          <p:cNvPr id="50" name="Text Box 7"/>
          <p:cNvSpPr txBox="1">
            <a:spLocks noChangeArrowheads="1"/>
          </p:cNvSpPr>
          <p:nvPr/>
        </p:nvSpPr>
        <p:spPr bwMode="auto">
          <a:xfrm>
            <a:off x="1854210" y="1167998"/>
            <a:ext cx="146168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Server (IP2, Port2)</a:t>
            </a:r>
          </a:p>
        </p:txBody>
      </p:sp>
      <p:sp>
        <p:nvSpPr>
          <p:cNvPr id="53" name="Text Box 10"/>
          <p:cNvSpPr txBox="1">
            <a:spLocks noChangeArrowheads="1"/>
          </p:cNvSpPr>
          <p:nvPr/>
        </p:nvSpPr>
        <p:spPr bwMode="auto">
          <a:xfrm>
            <a:off x="1079909" y="2402740"/>
            <a:ext cx="1187889" cy="464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100" dirty="0">
                <a:latin typeface="Tahoma" charset="0"/>
              </a:rPr>
              <a:t>ACK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100" dirty="0">
                <a:latin typeface="Tahoma" charset="0"/>
              </a:rPr>
              <a:t>(</a:t>
            </a:r>
            <a:r>
              <a:rPr lang="en-US" sz="1100" dirty="0" err="1">
                <a:latin typeface="Tahoma" charset="0"/>
              </a:rPr>
              <a:t>ack</a:t>
            </a:r>
            <a:r>
              <a:rPr lang="en-US" sz="1100" dirty="0">
                <a:latin typeface="Tahoma" charset="0"/>
              </a:rPr>
              <a:t>=K, </a:t>
            </a:r>
            <a:r>
              <a:rPr lang="en-US" sz="1100" dirty="0" err="1">
                <a:latin typeface="Tahoma" charset="0"/>
              </a:rPr>
              <a:t>seq</a:t>
            </a:r>
            <a:r>
              <a:rPr lang="en-US" sz="1100" dirty="0">
                <a:latin typeface="Tahoma" charset="0"/>
              </a:rPr>
              <a:t>=D)</a:t>
            </a:r>
            <a:endParaRPr lang="en-US" sz="1100" baseline="-25000" dirty="0">
              <a:latin typeface="Tahoma" charset="0"/>
            </a:endParaRPr>
          </a:p>
        </p:txBody>
      </p:sp>
      <p:sp>
        <p:nvSpPr>
          <p:cNvPr id="56" name="Line 4"/>
          <p:cNvSpPr>
            <a:spLocks noChangeShapeType="1"/>
          </p:cNvSpPr>
          <p:nvPr/>
        </p:nvSpPr>
        <p:spPr bwMode="auto">
          <a:xfrm>
            <a:off x="829990" y="2746713"/>
            <a:ext cx="1747346" cy="57276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65" name="Line 14"/>
          <p:cNvSpPr>
            <a:spLocks noChangeShapeType="1"/>
          </p:cNvSpPr>
          <p:nvPr/>
        </p:nvSpPr>
        <p:spPr bwMode="auto">
          <a:xfrm>
            <a:off x="829990" y="2746713"/>
            <a:ext cx="0" cy="1081894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66" name="Line 15"/>
          <p:cNvSpPr>
            <a:spLocks noChangeShapeType="1"/>
          </p:cNvSpPr>
          <p:nvPr/>
        </p:nvSpPr>
        <p:spPr bwMode="auto">
          <a:xfrm>
            <a:off x="829990" y="2364868"/>
            <a:ext cx="0" cy="381845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60" name="Line 11"/>
          <p:cNvSpPr>
            <a:spLocks noChangeShapeType="1"/>
          </p:cNvSpPr>
          <p:nvPr/>
        </p:nvSpPr>
        <p:spPr bwMode="auto">
          <a:xfrm>
            <a:off x="2585052" y="1664819"/>
            <a:ext cx="0" cy="1654661"/>
          </a:xfrm>
          <a:prstGeom prst="line">
            <a:avLst/>
          </a:prstGeom>
          <a:noFill/>
          <a:ln w="762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61" name="Line 12"/>
          <p:cNvSpPr>
            <a:spLocks noChangeShapeType="1"/>
          </p:cNvSpPr>
          <p:nvPr/>
        </p:nvSpPr>
        <p:spPr bwMode="auto">
          <a:xfrm>
            <a:off x="2585052" y="3319480"/>
            <a:ext cx="0" cy="445486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2828356" y="5814955"/>
            <a:ext cx="1959264" cy="33939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050" dirty="0">
                <a:solidFill>
                  <a:schemeClr val="hlink"/>
                </a:solidFill>
                <a:latin typeface="Tahoma" charset="0"/>
              </a:rPr>
              <a:t>(IP1, Port1, TCP, </a:t>
            </a:r>
            <a:r>
              <a:rPr lang="en-US" sz="1050" dirty="0" err="1">
                <a:solidFill>
                  <a:schemeClr val="hlink"/>
                </a:solidFill>
                <a:latin typeface="Tahoma" charset="0"/>
              </a:rPr>
              <a:t>Seq</a:t>
            </a:r>
            <a:r>
              <a:rPr lang="en-US" sz="1050" dirty="0">
                <a:solidFill>
                  <a:schemeClr val="hlink"/>
                </a:solidFill>
                <a:latin typeface="Tahoma" charset="0"/>
              </a:rPr>
              <a:t>, </a:t>
            </a:r>
            <a:r>
              <a:rPr lang="en-US" sz="1050" dirty="0" err="1">
                <a:solidFill>
                  <a:schemeClr val="hlink"/>
                </a:solidFill>
                <a:latin typeface="Tahoma" charset="0"/>
              </a:rPr>
              <a:t>Ack</a:t>
            </a:r>
            <a:r>
              <a:rPr lang="en-US" sz="1050" dirty="0">
                <a:solidFill>
                  <a:schemeClr val="hlink"/>
                </a:solidFill>
                <a:latin typeface="Tahoma" charset="0"/>
              </a:rPr>
              <a:t>, …)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4950868" y="3329900"/>
            <a:ext cx="769383" cy="28298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latin typeface="Tahoma" charset="0"/>
              </a:rPr>
              <a:t>K – 1 </a:t>
            </a:r>
            <a:endParaRPr lang="en-GB" sz="1100" dirty="0">
              <a:latin typeface="Tahoma" charset="0"/>
            </a:endParaRPr>
          </a:p>
          <a:p>
            <a:endParaRPr lang="en-US" sz="1400" dirty="0"/>
          </a:p>
        </p:txBody>
      </p:sp>
      <p:grpSp>
        <p:nvGrpSpPr>
          <p:cNvPr id="32" name="Group 31"/>
          <p:cNvGrpSpPr/>
          <p:nvPr/>
        </p:nvGrpSpPr>
        <p:grpSpPr>
          <a:xfrm>
            <a:off x="3026737" y="3897386"/>
            <a:ext cx="5430837" cy="448642"/>
            <a:chOff x="1572306" y="3020559"/>
            <a:chExt cx="7262812" cy="527050"/>
          </a:xfrm>
        </p:grpSpPr>
        <p:sp>
          <p:nvSpPr>
            <p:cNvPr id="33" name="AutoShape 4"/>
            <p:cNvSpPr>
              <a:spLocks noChangeArrowheads="1"/>
            </p:cNvSpPr>
            <p:nvPr/>
          </p:nvSpPr>
          <p:spPr bwMode="auto">
            <a:xfrm>
              <a:off x="1572306" y="3025321"/>
              <a:ext cx="7262812" cy="522288"/>
            </a:xfrm>
            <a:prstGeom prst="roundRect">
              <a:avLst>
                <a:gd name="adj" fmla="val 273"/>
              </a:avLst>
            </a:prstGeom>
            <a:solidFill>
              <a:srgbClr val="00B8FF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AutoShape 9"/>
            <p:cNvSpPr>
              <a:spLocks noChangeArrowheads="1"/>
            </p:cNvSpPr>
            <p:nvPr/>
          </p:nvSpPr>
          <p:spPr bwMode="auto">
            <a:xfrm>
              <a:off x="1971408" y="3171729"/>
              <a:ext cx="393700" cy="201614"/>
            </a:xfrm>
            <a:prstGeom prst="roundRect">
              <a:avLst>
                <a:gd name="adj" fmla="val 755"/>
              </a:avLst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28675">
                <a:lnSpc>
                  <a:spcPct val="93000"/>
                </a:lnSpc>
                <a:buClr>
                  <a:srgbClr val="000000"/>
                </a:buClr>
                <a:buSzPct val="45000"/>
                <a:buFont typeface="StarSymbol" charset="0"/>
                <a:buNone/>
                <a:tabLst>
                  <a:tab pos="0" algn="l"/>
                  <a:tab pos="414338" algn="l"/>
                  <a:tab pos="828675" algn="l"/>
                  <a:tab pos="1244600" algn="l"/>
                  <a:tab pos="1658938" algn="l"/>
                  <a:tab pos="2073275" algn="l"/>
                  <a:tab pos="2487613" algn="l"/>
                  <a:tab pos="2903538" algn="l"/>
                  <a:tab pos="3317875" algn="l"/>
                  <a:tab pos="3732213" algn="l"/>
                  <a:tab pos="4146550" algn="l"/>
                  <a:tab pos="4562475" algn="l"/>
                  <a:tab pos="4976813" algn="l"/>
                  <a:tab pos="5391150" algn="l"/>
                  <a:tab pos="5805488" algn="l"/>
                  <a:tab pos="6221413" algn="l"/>
                  <a:tab pos="6635750" algn="l"/>
                  <a:tab pos="7050088" algn="l"/>
                  <a:tab pos="7464425" algn="l"/>
                  <a:tab pos="7880350" algn="l"/>
                  <a:tab pos="8294688" algn="l"/>
                </a:tabLst>
              </a:pPr>
              <a:r>
                <a:rPr lang="en-GB" sz="1400" dirty="0">
                  <a:solidFill>
                    <a:srgbClr val="000000"/>
                  </a:solidFill>
                  <a:latin typeface="Times New Roman" charset="0"/>
                </a:rPr>
                <a:t>5 bits</a:t>
              </a:r>
            </a:p>
          </p:txBody>
        </p:sp>
        <p:sp>
          <p:nvSpPr>
            <p:cNvPr id="36" name="Line 10"/>
            <p:cNvSpPr>
              <a:spLocks noChangeShapeType="1"/>
            </p:cNvSpPr>
            <p:nvPr/>
          </p:nvSpPr>
          <p:spPr bwMode="auto">
            <a:xfrm>
              <a:off x="2808968" y="3020559"/>
              <a:ext cx="1588" cy="522287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12"/>
            <p:cNvSpPr>
              <a:spLocks noChangeShapeType="1"/>
            </p:cNvSpPr>
            <p:nvPr/>
          </p:nvSpPr>
          <p:spPr bwMode="auto">
            <a:xfrm>
              <a:off x="3528106" y="3020559"/>
              <a:ext cx="1587" cy="522287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AutoShape 14"/>
            <p:cNvSpPr>
              <a:spLocks noChangeArrowheads="1"/>
            </p:cNvSpPr>
            <p:nvPr/>
          </p:nvSpPr>
          <p:spPr bwMode="auto">
            <a:xfrm>
              <a:off x="2916172" y="3171729"/>
              <a:ext cx="393700" cy="201614"/>
            </a:xfrm>
            <a:prstGeom prst="roundRect">
              <a:avLst>
                <a:gd name="adj" fmla="val 755"/>
              </a:avLst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28675">
                <a:lnSpc>
                  <a:spcPct val="93000"/>
                </a:lnSpc>
                <a:buClr>
                  <a:srgbClr val="000000"/>
                </a:buClr>
                <a:buSzPct val="45000"/>
                <a:buFont typeface="StarSymbol" charset="0"/>
                <a:buNone/>
                <a:tabLst>
                  <a:tab pos="0" algn="l"/>
                  <a:tab pos="414338" algn="l"/>
                  <a:tab pos="828675" algn="l"/>
                  <a:tab pos="1244600" algn="l"/>
                  <a:tab pos="1658938" algn="l"/>
                  <a:tab pos="2073275" algn="l"/>
                  <a:tab pos="2487613" algn="l"/>
                  <a:tab pos="2903538" algn="l"/>
                  <a:tab pos="3317875" algn="l"/>
                  <a:tab pos="3732213" algn="l"/>
                  <a:tab pos="4146550" algn="l"/>
                  <a:tab pos="4562475" algn="l"/>
                  <a:tab pos="4976813" algn="l"/>
                  <a:tab pos="5391150" algn="l"/>
                  <a:tab pos="5805488" algn="l"/>
                  <a:tab pos="6221413" algn="l"/>
                  <a:tab pos="6635750" algn="l"/>
                  <a:tab pos="7050088" algn="l"/>
                  <a:tab pos="7464425" algn="l"/>
                  <a:tab pos="7880350" algn="l"/>
                  <a:tab pos="8294688" algn="l"/>
                </a:tabLst>
              </a:pPr>
              <a:r>
                <a:rPr lang="en-GB" sz="1400" dirty="0">
                  <a:solidFill>
                    <a:srgbClr val="000000"/>
                  </a:solidFill>
                  <a:latin typeface="Times New Roman" charset="0"/>
                </a:rPr>
                <a:t>3 bits</a:t>
              </a:r>
            </a:p>
          </p:txBody>
        </p:sp>
      </p:grpSp>
      <p:sp>
        <p:nvSpPr>
          <p:cNvPr id="41" name="AutoShape 14"/>
          <p:cNvSpPr>
            <a:spLocks noChangeArrowheads="1"/>
          </p:cNvSpPr>
          <p:nvPr/>
        </p:nvSpPr>
        <p:spPr bwMode="auto">
          <a:xfrm>
            <a:off x="6010273" y="4018742"/>
            <a:ext cx="483819" cy="202876"/>
          </a:xfrm>
          <a:prstGeom prst="roundRect">
            <a:avLst>
              <a:gd name="adj" fmla="val 755"/>
            </a:avLst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defTabSz="828675">
              <a:lnSpc>
                <a:spcPct val="93000"/>
              </a:lnSpc>
              <a:buClr>
                <a:srgbClr val="000000"/>
              </a:buClr>
              <a:buSzPct val="45000"/>
              <a:buFont typeface="StarSymbol" charset="0"/>
              <a:buNone/>
              <a:tabLst>
                <a:tab pos="0" algn="l"/>
                <a:tab pos="414338" algn="l"/>
                <a:tab pos="828675" algn="l"/>
                <a:tab pos="1244600" algn="l"/>
                <a:tab pos="1658938" algn="l"/>
                <a:tab pos="2073275" algn="l"/>
                <a:tab pos="2487613" algn="l"/>
                <a:tab pos="2903538" algn="l"/>
                <a:tab pos="3317875" algn="l"/>
                <a:tab pos="3732213" algn="l"/>
                <a:tab pos="4146550" algn="l"/>
                <a:tab pos="4562475" algn="l"/>
                <a:tab pos="4976813" algn="l"/>
                <a:tab pos="5391150" algn="l"/>
                <a:tab pos="5805488" algn="l"/>
                <a:tab pos="6221413" algn="l"/>
                <a:tab pos="6635750" algn="l"/>
                <a:tab pos="7050088" algn="l"/>
                <a:tab pos="7464425" algn="l"/>
                <a:tab pos="7880350" algn="l"/>
                <a:tab pos="8294688" algn="l"/>
              </a:tabLst>
            </a:pPr>
            <a:r>
              <a:rPr lang="en-GB" sz="1400" dirty="0">
                <a:solidFill>
                  <a:srgbClr val="000000"/>
                </a:solidFill>
                <a:latin typeface="Times New Roman" charset="0"/>
              </a:rPr>
              <a:t>24 bits</a:t>
            </a:r>
          </a:p>
        </p:txBody>
      </p:sp>
      <p:sp>
        <p:nvSpPr>
          <p:cNvPr id="3" name="Oval Callout 2"/>
          <p:cNvSpPr/>
          <p:nvPr/>
        </p:nvSpPr>
        <p:spPr>
          <a:xfrm>
            <a:off x="2721471" y="4863147"/>
            <a:ext cx="1854061" cy="292029"/>
          </a:xfrm>
          <a:prstGeom prst="wedgeEllipseCallout">
            <a:avLst>
              <a:gd name="adj1" fmla="val -8177"/>
              <a:gd name="adj2" fmla="val -21942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Equal to “t mod 5”?</a:t>
            </a:r>
          </a:p>
        </p:txBody>
      </p:sp>
      <p:sp>
        <p:nvSpPr>
          <p:cNvPr id="43" name="Oval Callout 42"/>
          <p:cNvSpPr/>
          <p:nvPr/>
        </p:nvSpPr>
        <p:spPr>
          <a:xfrm>
            <a:off x="4695910" y="4975263"/>
            <a:ext cx="3903320" cy="515091"/>
          </a:xfrm>
          <a:prstGeom prst="wedgeEllipseCallout">
            <a:avLst>
              <a:gd name="adj1" fmla="val -8415"/>
              <a:gd name="adj2" fmla="val -167228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Equal to </a:t>
            </a:r>
            <a:r>
              <a:rPr lang="en-GB" sz="1100" dirty="0">
                <a:solidFill>
                  <a:srgbClr val="000000"/>
                </a:solidFill>
                <a:latin typeface="Courier New" charset="0"/>
              </a:rPr>
              <a:t>HMAC(</a:t>
            </a:r>
            <a:r>
              <a:rPr lang="en-GB" sz="1100" dirty="0" err="1">
                <a:solidFill>
                  <a:srgbClr val="000000"/>
                </a:solidFill>
                <a:latin typeface="Courier New" charset="0"/>
              </a:rPr>
              <a:t>t,N</a:t>
            </a:r>
            <a:r>
              <a:rPr lang="en-GB" sz="1100" baseline="-33000" dirty="0" err="1">
                <a:solidFill>
                  <a:srgbClr val="000000"/>
                </a:solidFill>
                <a:latin typeface="Courier New" charset="0"/>
              </a:rPr>
              <a:t>s</a:t>
            </a:r>
            <a:r>
              <a:rPr lang="en-GB" sz="1100" dirty="0" err="1">
                <a:solidFill>
                  <a:srgbClr val="000000"/>
                </a:solidFill>
                <a:latin typeface="Courier New" charset="0"/>
              </a:rPr>
              <a:t>,SIP,Sport,DIP,Dport</a:t>
            </a:r>
            <a:r>
              <a:rPr lang="en-GB" sz="1100" dirty="0">
                <a:solidFill>
                  <a:srgbClr val="000000"/>
                </a:solidFill>
                <a:latin typeface="Courier New" charset="0"/>
              </a:rPr>
              <a:t>)</a:t>
            </a:r>
            <a:r>
              <a:rPr lang="en-US" sz="1100" dirty="0"/>
              <a:t>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59975" y="5860762"/>
            <a:ext cx="37917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Resource is invested in the server side to maintain the state of this connection if “YES” for both questions.  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619562" y="5230775"/>
            <a:ext cx="0" cy="520539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3771962" y="5383175"/>
            <a:ext cx="1015658" cy="301864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75532" y="5583062"/>
            <a:ext cx="685866" cy="231893"/>
          </a:xfrm>
          <a:prstGeom prst="line">
            <a:avLst/>
          </a:prstGeom>
          <a:ln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Down Arrow 19"/>
          <p:cNvSpPr/>
          <p:nvPr/>
        </p:nvSpPr>
        <p:spPr>
          <a:xfrm>
            <a:off x="5159425" y="3594342"/>
            <a:ext cx="148325" cy="170624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6403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 Cookies: Legitimate User</a:t>
            </a:r>
          </a:p>
        </p:txBody>
      </p:sp>
      <p:sp>
        <p:nvSpPr>
          <p:cNvPr id="49" name="Text Box 6"/>
          <p:cNvSpPr txBox="1">
            <a:spLocks noChangeArrowheads="1"/>
          </p:cNvSpPr>
          <p:nvPr/>
        </p:nvSpPr>
        <p:spPr bwMode="auto">
          <a:xfrm>
            <a:off x="309179" y="1726354"/>
            <a:ext cx="14084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Client (IP1, Port1)</a:t>
            </a:r>
          </a:p>
        </p:txBody>
      </p:sp>
      <p:sp>
        <p:nvSpPr>
          <p:cNvPr id="50" name="Text Box 7"/>
          <p:cNvSpPr txBox="1">
            <a:spLocks noChangeArrowheads="1"/>
          </p:cNvSpPr>
          <p:nvPr/>
        </p:nvSpPr>
        <p:spPr bwMode="auto">
          <a:xfrm>
            <a:off x="2028372" y="1722720"/>
            <a:ext cx="146168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Server (IP2, Port2)</a:t>
            </a:r>
          </a:p>
        </p:txBody>
      </p:sp>
      <p:sp>
        <p:nvSpPr>
          <p:cNvPr id="51" name="Text Box 8"/>
          <p:cNvSpPr txBox="1">
            <a:spLocks noChangeArrowheads="1"/>
          </p:cNvSpPr>
          <p:nvPr/>
        </p:nvSpPr>
        <p:spPr bwMode="auto">
          <a:xfrm>
            <a:off x="1393704" y="2350146"/>
            <a:ext cx="10935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SYN  (</a:t>
            </a:r>
            <a:r>
              <a:rPr lang="en-US" sz="1200" dirty="0" err="1">
                <a:latin typeface="Tahoma" charset="0"/>
              </a:rPr>
              <a:t>seq</a:t>
            </a:r>
            <a:r>
              <a:rPr lang="en-US" sz="1200" dirty="0">
                <a:latin typeface="Tahoma" charset="0"/>
              </a:rPr>
              <a:t>=x)</a:t>
            </a:r>
          </a:p>
        </p:txBody>
      </p:sp>
      <p:sp>
        <p:nvSpPr>
          <p:cNvPr id="52" name="Text Box 9"/>
          <p:cNvSpPr txBox="1">
            <a:spLocks noChangeArrowheads="1"/>
          </p:cNvSpPr>
          <p:nvPr/>
        </p:nvSpPr>
        <p:spPr bwMode="auto">
          <a:xfrm>
            <a:off x="1242565" y="3120032"/>
            <a:ext cx="1286317" cy="464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100" dirty="0">
                <a:latin typeface="Tahoma" charset="0"/>
              </a:rPr>
              <a:t>SYN-ACK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100" dirty="0">
                <a:latin typeface="Tahoma" charset="0"/>
              </a:rPr>
              <a:t>(</a:t>
            </a:r>
            <a:r>
              <a:rPr lang="en-US" sz="1100" dirty="0" err="1">
                <a:latin typeface="Tahoma" charset="0"/>
              </a:rPr>
              <a:t>ack</a:t>
            </a:r>
            <a:r>
              <a:rPr lang="en-US" sz="1100" dirty="0">
                <a:latin typeface="Tahoma" charset="0"/>
              </a:rPr>
              <a:t>=x+1 </a:t>
            </a:r>
            <a:r>
              <a:rPr lang="en-US" sz="1100" dirty="0" err="1">
                <a:latin typeface="Tahoma" charset="0"/>
              </a:rPr>
              <a:t>seq</a:t>
            </a:r>
            <a:r>
              <a:rPr lang="en-US" sz="1100" dirty="0">
                <a:latin typeface="Tahoma" charset="0"/>
              </a:rPr>
              <a:t>=y)</a:t>
            </a:r>
            <a:endParaRPr lang="en-US" sz="1100" baseline="-25000" dirty="0">
              <a:latin typeface="Tahoma" charset="0"/>
            </a:endParaRPr>
          </a:p>
        </p:txBody>
      </p:sp>
      <p:sp>
        <p:nvSpPr>
          <p:cNvPr id="53" name="Text Box 10"/>
          <p:cNvSpPr txBox="1">
            <a:spLocks noChangeArrowheads="1"/>
          </p:cNvSpPr>
          <p:nvPr/>
        </p:nvSpPr>
        <p:spPr bwMode="auto">
          <a:xfrm>
            <a:off x="1124998" y="4090325"/>
            <a:ext cx="1464576" cy="464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100" dirty="0">
                <a:latin typeface="Tahoma" charset="0"/>
              </a:rPr>
              <a:t>ACK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100" dirty="0">
                <a:latin typeface="Tahoma" charset="0"/>
              </a:rPr>
              <a:t>(</a:t>
            </a:r>
            <a:r>
              <a:rPr lang="en-US" sz="1100" dirty="0" err="1">
                <a:latin typeface="Tahoma" charset="0"/>
              </a:rPr>
              <a:t>ack</a:t>
            </a:r>
            <a:r>
              <a:rPr lang="en-US" sz="1100" dirty="0">
                <a:latin typeface="Tahoma" charset="0"/>
              </a:rPr>
              <a:t>=y+1,seq=x+1)</a:t>
            </a:r>
            <a:endParaRPr lang="en-US" sz="1100" baseline="-25000" dirty="0">
              <a:latin typeface="Tahoma" charset="0"/>
            </a:endParaRPr>
          </a:p>
        </p:txBody>
      </p:sp>
      <p:sp>
        <p:nvSpPr>
          <p:cNvPr id="55" name="Line 3"/>
          <p:cNvSpPr>
            <a:spLocks noChangeShapeType="1"/>
          </p:cNvSpPr>
          <p:nvPr/>
        </p:nvSpPr>
        <p:spPr bwMode="auto">
          <a:xfrm>
            <a:off x="1013422" y="2461433"/>
            <a:ext cx="1747346" cy="57591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56" name="Line 4"/>
          <p:cNvSpPr>
            <a:spLocks noChangeShapeType="1"/>
          </p:cNvSpPr>
          <p:nvPr/>
        </p:nvSpPr>
        <p:spPr bwMode="auto">
          <a:xfrm>
            <a:off x="1013422" y="4434298"/>
            <a:ext cx="1747346" cy="57276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57" name="Line 5"/>
          <p:cNvSpPr>
            <a:spLocks noChangeShapeType="1"/>
          </p:cNvSpPr>
          <p:nvPr/>
        </p:nvSpPr>
        <p:spPr bwMode="auto">
          <a:xfrm flipH="1">
            <a:off x="1013422" y="3395040"/>
            <a:ext cx="1747346" cy="6574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64" name="Line 13"/>
          <p:cNvSpPr>
            <a:spLocks noChangeShapeType="1"/>
          </p:cNvSpPr>
          <p:nvPr/>
        </p:nvSpPr>
        <p:spPr bwMode="auto">
          <a:xfrm>
            <a:off x="1013422" y="2461433"/>
            <a:ext cx="0" cy="1591020"/>
          </a:xfrm>
          <a:prstGeom prst="line">
            <a:avLst/>
          </a:prstGeom>
          <a:noFill/>
          <a:ln w="762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65" name="Line 14"/>
          <p:cNvSpPr>
            <a:spLocks noChangeShapeType="1"/>
          </p:cNvSpPr>
          <p:nvPr/>
        </p:nvSpPr>
        <p:spPr bwMode="auto">
          <a:xfrm>
            <a:off x="1013422" y="4434298"/>
            <a:ext cx="0" cy="1081894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66" name="Line 15"/>
          <p:cNvSpPr>
            <a:spLocks noChangeShapeType="1"/>
          </p:cNvSpPr>
          <p:nvPr/>
        </p:nvSpPr>
        <p:spPr bwMode="auto">
          <a:xfrm>
            <a:off x="1013422" y="4052453"/>
            <a:ext cx="0" cy="381845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67" name="Line 17"/>
          <p:cNvSpPr>
            <a:spLocks noChangeShapeType="1"/>
          </p:cNvSpPr>
          <p:nvPr/>
        </p:nvSpPr>
        <p:spPr bwMode="auto">
          <a:xfrm>
            <a:off x="1013422" y="2143229"/>
            <a:ext cx="0" cy="318204"/>
          </a:xfrm>
          <a:prstGeom prst="line">
            <a:avLst/>
          </a:prstGeom>
          <a:noFill/>
          <a:ln w="76200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60" name="Line 11"/>
          <p:cNvSpPr>
            <a:spLocks noChangeShapeType="1"/>
          </p:cNvSpPr>
          <p:nvPr/>
        </p:nvSpPr>
        <p:spPr bwMode="auto">
          <a:xfrm>
            <a:off x="2768484" y="3352404"/>
            <a:ext cx="0" cy="1654661"/>
          </a:xfrm>
          <a:prstGeom prst="line">
            <a:avLst/>
          </a:prstGeom>
          <a:noFill/>
          <a:ln w="762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61" name="Line 12"/>
          <p:cNvSpPr>
            <a:spLocks noChangeShapeType="1"/>
          </p:cNvSpPr>
          <p:nvPr/>
        </p:nvSpPr>
        <p:spPr bwMode="auto">
          <a:xfrm>
            <a:off x="2768484" y="5007065"/>
            <a:ext cx="0" cy="445486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62" name="Line 16"/>
          <p:cNvSpPr>
            <a:spLocks noChangeShapeType="1"/>
          </p:cNvSpPr>
          <p:nvPr/>
        </p:nvSpPr>
        <p:spPr bwMode="auto">
          <a:xfrm>
            <a:off x="2768484" y="2143229"/>
            <a:ext cx="0" cy="890971"/>
          </a:xfrm>
          <a:prstGeom prst="line">
            <a:avLst/>
          </a:prstGeom>
          <a:noFill/>
          <a:ln w="76200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63" name="Line 18"/>
          <p:cNvSpPr>
            <a:spLocks noChangeShapeType="1"/>
          </p:cNvSpPr>
          <p:nvPr/>
        </p:nvSpPr>
        <p:spPr bwMode="auto">
          <a:xfrm>
            <a:off x="2768484" y="3034200"/>
            <a:ext cx="0" cy="340744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3090915" y="2910074"/>
            <a:ext cx="5430837" cy="672453"/>
            <a:chOff x="1572306" y="3020559"/>
            <a:chExt cx="7262812" cy="789977"/>
          </a:xfrm>
        </p:grpSpPr>
        <p:sp>
          <p:nvSpPr>
            <p:cNvPr id="70" name="AutoShape 4"/>
            <p:cNvSpPr>
              <a:spLocks noChangeArrowheads="1"/>
            </p:cNvSpPr>
            <p:nvPr/>
          </p:nvSpPr>
          <p:spPr bwMode="auto">
            <a:xfrm>
              <a:off x="1572306" y="3025321"/>
              <a:ext cx="7262812" cy="522288"/>
            </a:xfrm>
            <a:prstGeom prst="roundRect">
              <a:avLst>
                <a:gd name="adj" fmla="val 273"/>
              </a:avLst>
            </a:prstGeom>
            <a:solidFill>
              <a:srgbClr val="00B8FF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" name="AutoShape 5"/>
            <p:cNvSpPr>
              <a:spLocks noChangeArrowheads="1"/>
            </p:cNvSpPr>
            <p:nvPr/>
          </p:nvSpPr>
          <p:spPr bwMode="auto">
            <a:xfrm>
              <a:off x="1707242" y="3161846"/>
              <a:ext cx="987997" cy="206093"/>
            </a:xfrm>
            <a:prstGeom prst="roundRect">
              <a:avLst>
                <a:gd name="adj" fmla="val 606"/>
              </a:avLst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28675">
                <a:lnSpc>
                  <a:spcPct val="94000"/>
                </a:lnSpc>
                <a:buClr>
                  <a:srgbClr val="000000"/>
                </a:buClr>
                <a:buSzPct val="45000"/>
                <a:buFont typeface="StarSymbol" charset="0"/>
                <a:buNone/>
                <a:tabLst>
                  <a:tab pos="0" algn="l"/>
                  <a:tab pos="414338" algn="l"/>
                  <a:tab pos="828675" algn="l"/>
                  <a:tab pos="1244600" algn="l"/>
                  <a:tab pos="1658938" algn="l"/>
                  <a:tab pos="2073275" algn="l"/>
                  <a:tab pos="2487613" algn="l"/>
                  <a:tab pos="2903538" algn="l"/>
                  <a:tab pos="3317875" algn="l"/>
                  <a:tab pos="3732213" algn="l"/>
                  <a:tab pos="4146550" algn="l"/>
                  <a:tab pos="4562475" algn="l"/>
                  <a:tab pos="4976813" algn="l"/>
                  <a:tab pos="5391150" algn="l"/>
                  <a:tab pos="5805488" algn="l"/>
                  <a:tab pos="6221413" algn="l"/>
                  <a:tab pos="6635750" algn="l"/>
                  <a:tab pos="7050088" algn="l"/>
                  <a:tab pos="7464425" algn="l"/>
                  <a:tab pos="7880350" algn="l"/>
                  <a:tab pos="8294688" algn="l"/>
                </a:tabLst>
              </a:pPr>
              <a:r>
                <a:rPr lang="en-GB" sz="1200" dirty="0">
                  <a:solidFill>
                    <a:srgbClr val="000000"/>
                  </a:solidFill>
                  <a:latin typeface="Courier New" charset="0"/>
                </a:rPr>
                <a:t>t mod 32</a:t>
              </a:r>
            </a:p>
          </p:txBody>
        </p:sp>
        <p:sp>
          <p:nvSpPr>
            <p:cNvPr id="73" name="AutoShape 9"/>
            <p:cNvSpPr>
              <a:spLocks noChangeArrowheads="1"/>
            </p:cNvSpPr>
            <p:nvPr/>
          </p:nvSpPr>
          <p:spPr bwMode="auto">
            <a:xfrm>
              <a:off x="1908009" y="3608922"/>
              <a:ext cx="393700" cy="201614"/>
            </a:xfrm>
            <a:prstGeom prst="roundRect">
              <a:avLst>
                <a:gd name="adj" fmla="val 755"/>
              </a:avLst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28675">
                <a:lnSpc>
                  <a:spcPct val="93000"/>
                </a:lnSpc>
                <a:buClr>
                  <a:srgbClr val="000000"/>
                </a:buClr>
                <a:buSzPct val="45000"/>
                <a:buFont typeface="StarSymbol" charset="0"/>
                <a:buNone/>
                <a:tabLst>
                  <a:tab pos="0" algn="l"/>
                  <a:tab pos="414338" algn="l"/>
                  <a:tab pos="828675" algn="l"/>
                  <a:tab pos="1244600" algn="l"/>
                  <a:tab pos="1658938" algn="l"/>
                  <a:tab pos="2073275" algn="l"/>
                  <a:tab pos="2487613" algn="l"/>
                  <a:tab pos="2903538" algn="l"/>
                  <a:tab pos="3317875" algn="l"/>
                  <a:tab pos="3732213" algn="l"/>
                  <a:tab pos="4146550" algn="l"/>
                  <a:tab pos="4562475" algn="l"/>
                  <a:tab pos="4976813" algn="l"/>
                  <a:tab pos="5391150" algn="l"/>
                  <a:tab pos="5805488" algn="l"/>
                  <a:tab pos="6221413" algn="l"/>
                  <a:tab pos="6635750" algn="l"/>
                  <a:tab pos="7050088" algn="l"/>
                  <a:tab pos="7464425" algn="l"/>
                  <a:tab pos="7880350" algn="l"/>
                  <a:tab pos="8294688" algn="l"/>
                </a:tabLst>
              </a:pPr>
              <a:r>
                <a:rPr lang="en-GB" sz="1400" dirty="0">
                  <a:solidFill>
                    <a:srgbClr val="000000"/>
                  </a:solidFill>
                  <a:latin typeface="Times New Roman" charset="0"/>
                </a:rPr>
                <a:t>5 bits</a:t>
              </a:r>
            </a:p>
          </p:txBody>
        </p:sp>
        <p:sp>
          <p:nvSpPr>
            <p:cNvPr id="74" name="Line 10"/>
            <p:cNvSpPr>
              <a:spLocks noChangeShapeType="1"/>
            </p:cNvSpPr>
            <p:nvPr/>
          </p:nvSpPr>
          <p:spPr bwMode="auto">
            <a:xfrm>
              <a:off x="2808968" y="3020559"/>
              <a:ext cx="1588" cy="522287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AutoShape 11"/>
            <p:cNvSpPr>
              <a:spLocks noChangeArrowheads="1"/>
            </p:cNvSpPr>
            <p:nvPr/>
          </p:nvSpPr>
          <p:spPr bwMode="auto">
            <a:xfrm>
              <a:off x="3013756" y="3161846"/>
              <a:ext cx="370499" cy="206093"/>
            </a:xfrm>
            <a:prstGeom prst="roundRect">
              <a:avLst>
                <a:gd name="adj" fmla="val 606"/>
              </a:avLst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28675">
                <a:lnSpc>
                  <a:spcPct val="94000"/>
                </a:lnSpc>
                <a:buClr>
                  <a:srgbClr val="000000"/>
                </a:buClr>
                <a:buSzPct val="45000"/>
                <a:buFont typeface="StarSymbol" charset="0"/>
                <a:buNone/>
                <a:tabLst>
                  <a:tab pos="0" algn="l"/>
                  <a:tab pos="414338" algn="l"/>
                  <a:tab pos="828675" algn="l"/>
                  <a:tab pos="1244600" algn="l"/>
                  <a:tab pos="1658938" algn="l"/>
                  <a:tab pos="2073275" algn="l"/>
                  <a:tab pos="2487613" algn="l"/>
                  <a:tab pos="2903538" algn="l"/>
                  <a:tab pos="3317875" algn="l"/>
                  <a:tab pos="3732213" algn="l"/>
                  <a:tab pos="4146550" algn="l"/>
                  <a:tab pos="4562475" algn="l"/>
                  <a:tab pos="4976813" algn="l"/>
                  <a:tab pos="5391150" algn="l"/>
                  <a:tab pos="5805488" algn="l"/>
                  <a:tab pos="6221413" algn="l"/>
                  <a:tab pos="6635750" algn="l"/>
                  <a:tab pos="7050088" algn="l"/>
                  <a:tab pos="7464425" algn="l"/>
                  <a:tab pos="7880350" algn="l"/>
                  <a:tab pos="8294688" algn="l"/>
                </a:tabLst>
              </a:pPr>
              <a:r>
                <a:rPr lang="en-GB" sz="1200" dirty="0">
                  <a:solidFill>
                    <a:srgbClr val="000000"/>
                  </a:solidFill>
                  <a:latin typeface="Courier New" charset="0"/>
                </a:rPr>
                <a:t>MSS</a:t>
              </a:r>
            </a:p>
          </p:txBody>
        </p:sp>
        <p:sp>
          <p:nvSpPr>
            <p:cNvPr id="76" name="Line 12"/>
            <p:cNvSpPr>
              <a:spLocks noChangeShapeType="1"/>
            </p:cNvSpPr>
            <p:nvPr/>
          </p:nvSpPr>
          <p:spPr bwMode="auto">
            <a:xfrm>
              <a:off x="3528106" y="3020559"/>
              <a:ext cx="1587" cy="522287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AutoShape 14"/>
            <p:cNvSpPr>
              <a:spLocks noChangeArrowheads="1"/>
            </p:cNvSpPr>
            <p:nvPr/>
          </p:nvSpPr>
          <p:spPr bwMode="auto">
            <a:xfrm>
              <a:off x="2953364" y="3604704"/>
              <a:ext cx="393700" cy="201614"/>
            </a:xfrm>
            <a:prstGeom prst="roundRect">
              <a:avLst>
                <a:gd name="adj" fmla="val 755"/>
              </a:avLst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28675">
                <a:lnSpc>
                  <a:spcPct val="93000"/>
                </a:lnSpc>
                <a:buClr>
                  <a:srgbClr val="000000"/>
                </a:buClr>
                <a:buSzPct val="45000"/>
                <a:buFont typeface="StarSymbol" charset="0"/>
                <a:buNone/>
                <a:tabLst>
                  <a:tab pos="0" algn="l"/>
                  <a:tab pos="414338" algn="l"/>
                  <a:tab pos="828675" algn="l"/>
                  <a:tab pos="1244600" algn="l"/>
                  <a:tab pos="1658938" algn="l"/>
                  <a:tab pos="2073275" algn="l"/>
                  <a:tab pos="2487613" algn="l"/>
                  <a:tab pos="2903538" algn="l"/>
                  <a:tab pos="3317875" algn="l"/>
                  <a:tab pos="3732213" algn="l"/>
                  <a:tab pos="4146550" algn="l"/>
                  <a:tab pos="4562475" algn="l"/>
                  <a:tab pos="4976813" algn="l"/>
                  <a:tab pos="5391150" algn="l"/>
                  <a:tab pos="5805488" algn="l"/>
                  <a:tab pos="6221413" algn="l"/>
                  <a:tab pos="6635750" algn="l"/>
                  <a:tab pos="7050088" algn="l"/>
                  <a:tab pos="7464425" algn="l"/>
                  <a:tab pos="7880350" algn="l"/>
                  <a:tab pos="8294688" algn="l"/>
                </a:tabLst>
              </a:pPr>
              <a:r>
                <a:rPr lang="en-GB" sz="1400" dirty="0">
                  <a:solidFill>
                    <a:srgbClr val="000000"/>
                  </a:solidFill>
                  <a:latin typeface="Times New Roman" charset="0"/>
                </a:rPr>
                <a:t>3 bits</a:t>
              </a:r>
            </a:p>
          </p:txBody>
        </p:sp>
        <p:sp>
          <p:nvSpPr>
            <p:cNvPr id="79" name="AutoShape 15"/>
            <p:cNvSpPr>
              <a:spLocks noChangeArrowheads="1"/>
            </p:cNvSpPr>
            <p:nvPr/>
          </p:nvSpPr>
          <p:spPr bwMode="auto">
            <a:xfrm>
              <a:off x="3634468" y="3161846"/>
              <a:ext cx="5145816" cy="206093"/>
            </a:xfrm>
            <a:prstGeom prst="roundRect">
              <a:avLst>
                <a:gd name="adj" fmla="val 481"/>
              </a:avLst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28675">
                <a:lnSpc>
                  <a:spcPct val="94000"/>
                </a:lnSpc>
                <a:buClr>
                  <a:srgbClr val="000000"/>
                </a:buClr>
                <a:buSzPct val="45000"/>
                <a:buFont typeface="StarSymbol" charset="0"/>
                <a:buNone/>
                <a:tabLst>
                  <a:tab pos="0" algn="l"/>
                  <a:tab pos="414338" algn="l"/>
                  <a:tab pos="828675" algn="l"/>
                  <a:tab pos="1244600" algn="l"/>
                  <a:tab pos="1658938" algn="l"/>
                  <a:tab pos="2073275" algn="l"/>
                  <a:tab pos="2487613" algn="l"/>
                  <a:tab pos="2903538" algn="l"/>
                  <a:tab pos="3317875" algn="l"/>
                  <a:tab pos="3732213" algn="l"/>
                  <a:tab pos="4146550" algn="l"/>
                  <a:tab pos="4562475" algn="l"/>
                  <a:tab pos="4976813" algn="l"/>
                  <a:tab pos="5391150" algn="l"/>
                  <a:tab pos="5805488" algn="l"/>
                  <a:tab pos="6221413" algn="l"/>
                  <a:tab pos="6635750" algn="l"/>
                  <a:tab pos="7050088" algn="l"/>
                  <a:tab pos="7464425" algn="l"/>
                  <a:tab pos="7880350" algn="l"/>
                  <a:tab pos="8294688" algn="l"/>
                </a:tabLst>
              </a:pPr>
              <a:r>
                <a:rPr lang="en-GB" sz="1200" dirty="0">
                  <a:solidFill>
                    <a:srgbClr val="000000"/>
                  </a:solidFill>
                  <a:latin typeface="Courier New" charset="0"/>
                </a:rPr>
                <a:t>Cookie=HMAC(t, N</a:t>
              </a:r>
              <a:r>
                <a:rPr lang="en-GB" sz="1200" baseline="-33000" dirty="0">
                  <a:solidFill>
                    <a:srgbClr val="000000"/>
                  </a:solidFill>
                  <a:latin typeface="Courier New" charset="0"/>
                </a:rPr>
                <a:t>s</a:t>
              </a:r>
              <a:r>
                <a:rPr lang="en-GB" sz="1200" dirty="0">
                  <a:solidFill>
                    <a:srgbClr val="000000"/>
                  </a:solidFill>
                  <a:latin typeface="Courier New" charset="0"/>
                </a:rPr>
                <a:t>, IP1, Port1, IP2, Port2)</a:t>
              </a:r>
            </a:p>
          </p:txBody>
        </p:sp>
      </p:grpSp>
      <p:sp>
        <p:nvSpPr>
          <p:cNvPr id="81" name="TextBox 80"/>
          <p:cNvSpPr txBox="1"/>
          <p:nvPr/>
        </p:nvSpPr>
        <p:spPr>
          <a:xfrm>
            <a:off x="3026023" y="4930825"/>
            <a:ext cx="2497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Ack</a:t>
            </a:r>
            <a:r>
              <a:rPr lang="en-US" dirty="0"/>
              <a:t> – 1 </a:t>
            </a:r>
            <a:r>
              <a:rPr lang="en-US" dirty="0">
                <a:sym typeface="Wingdings"/>
              </a:rPr>
              <a:t> (y+1) – 1  y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277857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SYN Cookies: SYN Flood and ACK Flood</a:t>
            </a:r>
          </a:p>
        </p:txBody>
      </p:sp>
      <p:sp>
        <p:nvSpPr>
          <p:cNvPr id="29" name="Text Box 6"/>
          <p:cNvSpPr txBox="1">
            <a:spLocks noChangeArrowheads="1"/>
          </p:cNvSpPr>
          <p:nvPr/>
        </p:nvSpPr>
        <p:spPr bwMode="auto">
          <a:xfrm>
            <a:off x="148892" y="1303399"/>
            <a:ext cx="17724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Client (Fake-IP1, Port1)</a:t>
            </a:r>
          </a:p>
        </p:txBody>
      </p:sp>
      <p:sp>
        <p:nvSpPr>
          <p:cNvPr id="30" name="Text Box 7"/>
          <p:cNvSpPr txBox="1">
            <a:spLocks noChangeArrowheads="1"/>
          </p:cNvSpPr>
          <p:nvPr/>
        </p:nvSpPr>
        <p:spPr bwMode="auto">
          <a:xfrm>
            <a:off x="2050074" y="1299765"/>
            <a:ext cx="146168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Server (IP2, Port2)</a:t>
            </a:r>
          </a:p>
        </p:txBody>
      </p:sp>
      <p:sp>
        <p:nvSpPr>
          <p:cNvPr id="31" name="Text Box 8"/>
          <p:cNvSpPr txBox="1">
            <a:spLocks noChangeArrowheads="1"/>
          </p:cNvSpPr>
          <p:nvPr/>
        </p:nvSpPr>
        <p:spPr bwMode="auto">
          <a:xfrm>
            <a:off x="1415406" y="1927191"/>
            <a:ext cx="10935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SYN  (</a:t>
            </a:r>
            <a:r>
              <a:rPr lang="en-US" sz="1200" dirty="0" err="1">
                <a:latin typeface="Tahoma" charset="0"/>
              </a:rPr>
              <a:t>seq</a:t>
            </a:r>
            <a:r>
              <a:rPr lang="en-US" sz="1200" dirty="0">
                <a:latin typeface="Tahoma" charset="0"/>
              </a:rPr>
              <a:t>=x)</a:t>
            </a:r>
          </a:p>
        </p:txBody>
      </p:sp>
      <p:sp>
        <p:nvSpPr>
          <p:cNvPr id="32" name="Text Box 9"/>
          <p:cNvSpPr txBox="1">
            <a:spLocks noChangeArrowheads="1"/>
          </p:cNvSpPr>
          <p:nvPr/>
        </p:nvSpPr>
        <p:spPr bwMode="auto">
          <a:xfrm>
            <a:off x="1264267" y="2697077"/>
            <a:ext cx="1286317" cy="464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100" dirty="0">
                <a:latin typeface="Tahoma" charset="0"/>
              </a:rPr>
              <a:t>SYN-ACK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100" dirty="0">
                <a:latin typeface="Tahoma" charset="0"/>
              </a:rPr>
              <a:t>(</a:t>
            </a:r>
            <a:r>
              <a:rPr lang="en-US" sz="1100" dirty="0" err="1">
                <a:latin typeface="Tahoma" charset="0"/>
              </a:rPr>
              <a:t>ack</a:t>
            </a:r>
            <a:r>
              <a:rPr lang="en-US" sz="1100" dirty="0">
                <a:latin typeface="Tahoma" charset="0"/>
              </a:rPr>
              <a:t>=x+1 </a:t>
            </a:r>
            <a:r>
              <a:rPr lang="en-US" sz="1100" dirty="0" err="1">
                <a:latin typeface="Tahoma" charset="0"/>
              </a:rPr>
              <a:t>seq</a:t>
            </a:r>
            <a:r>
              <a:rPr lang="en-US" sz="1100" dirty="0">
                <a:latin typeface="Tahoma" charset="0"/>
              </a:rPr>
              <a:t>=y)</a:t>
            </a:r>
            <a:endParaRPr lang="en-US" sz="1100" baseline="-25000" dirty="0">
              <a:latin typeface="Tahoma" charset="0"/>
            </a:endParaRPr>
          </a:p>
        </p:txBody>
      </p:sp>
      <p:sp>
        <p:nvSpPr>
          <p:cNvPr id="33" name="Line 3"/>
          <p:cNvSpPr>
            <a:spLocks noChangeShapeType="1"/>
          </p:cNvSpPr>
          <p:nvPr/>
        </p:nvSpPr>
        <p:spPr bwMode="auto">
          <a:xfrm>
            <a:off x="1035124" y="2038478"/>
            <a:ext cx="1747346" cy="57591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34" name="Line 5"/>
          <p:cNvSpPr>
            <a:spLocks noChangeShapeType="1"/>
          </p:cNvSpPr>
          <p:nvPr/>
        </p:nvSpPr>
        <p:spPr bwMode="auto">
          <a:xfrm flipH="1">
            <a:off x="1035124" y="2972085"/>
            <a:ext cx="1747346" cy="6574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35" name="Line 13"/>
          <p:cNvSpPr>
            <a:spLocks noChangeShapeType="1"/>
          </p:cNvSpPr>
          <p:nvPr/>
        </p:nvSpPr>
        <p:spPr bwMode="auto">
          <a:xfrm>
            <a:off x="1035124" y="2038478"/>
            <a:ext cx="0" cy="1591020"/>
          </a:xfrm>
          <a:prstGeom prst="line">
            <a:avLst/>
          </a:prstGeom>
          <a:noFill/>
          <a:ln w="762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36" name="Line 17"/>
          <p:cNvSpPr>
            <a:spLocks noChangeShapeType="1"/>
          </p:cNvSpPr>
          <p:nvPr/>
        </p:nvSpPr>
        <p:spPr bwMode="auto">
          <a:xfrm>
            <a:off x="1035124" y="1720274"/>
            <a:ext cx="0" cy="318204"/>
          </a:xfrm>
          <a:prstGeom prst="line">
            <a:avLst/>
          </a:prstGeom>
          <a:noFill/>
          <a:ln w="76200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37" name="Line 16"/>
          <p:cNvSpPr>
            <a:spLocks noChangeShapeType="1"/>
          </p:cNvSpPr>
          <p:nvPr/>
        </p:nvSpPr>
        <p:spPr bwMode="auto">
          <a:xfrm>
            <a:off x="2790186" y="1720274"/>
            <a:ext cx="0" cy="890971"/>
          </a:xfrm>
          <a:prstGeom prst="line">
            <a:avLst/>
          </a:prstGeom>
          <a:noFill/>
          <a:ln w="76200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38" name="Line 18"/>
          <p:cNvSpPr>
            <a:spLocks noChangeShapeType="1"/>
          </p:cNvSpPr>
          <p:nvPr/>
        </p:nvSpPr>
        <p:spPr bwMode="auto">
          <a:xfrm>
            <a:off x="2790186" y="2611245"/>
            <a:ext cx="0" cy="340744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3511757" y="2404689"/>
            <a:ext cx="3791738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No resource is invested in the server side to maintain the state of this connection!! </a:t>
            </a:r>
          </a:p>
        </p:txBody>
      </p:sp>
      <p:sp>
        <p:nvSpPr>
          <p:cNvPr id="58" name="Text Box 6"/>
          <p:cNvSpPr txBox="1">
            <a:spLocks noChangeArrowheads="1"/>
          </p:cNvSpPr>
          <p:nvPr/>
        </p:nvSpPr>
        <p:spPr bwMode="auto">
          <a:xfrm>
            <a:off x="0" y="4663255"/>
            <a:ext cx="17724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Client (Fake-IP1, Port1)</a:t>
            </a:r>
          </a:p>
        </p:txBody>
      </p:sp>
      <p:sp>
        <p:nvSpPr>
          <p:cNvPr id="59" name="Text Box 7"/>
          <p:cNvSpPr txBox="1">
            <a:spLocks noChangeArrowheads="1"/>
          </p:cNvSpPr>
          <p:nvPr/>
        </p:nvSpPr>
        <p:spPr bwMode="auto">
          <a:xfrm>
            <a:off x="1819742" y="3856309"/>
            <a:ext cx="146168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Server (IP2, Port2)</a:t>
            </a:r>
          </a:p>
        </p:txBody>
      </p:sp>
      <p:sp>
        <p:nvSpPr>
          <p:cNvPr id="68" name="Text Box 10"/>
          <p:cNvSpPr txBox="1">
            <a:spLocks noChangeArrowheads="1"/>
          </p:cNvSpPr>
          <p:nvPr/>
        </p:nvSpPr>
        <p:spPr bwMode="auto">
          <a:xfrm>
            <a:off x="1045441" y="5091051"/>
            <a:ext cx="1187889" cy="464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100" dirty="0">
                <a:latin typeface="Tahoma" charset="0"/>
              </a:rPr>
              <a:t>ACK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100" dirty="0">
                <a:latin typeface="Tahoma" charset="0"/>
              </a:rPr>
              <a:t>(</a:t>
            </a:r>
            <a:r>
              <a:rPr lang="en-US" sz="1100" dirty="0" err="1">
                <a:latin typeface="Tahoma" charset="0"/>
              </a:rPr>
              <a:t>ack</a:t>
            </a:r>
            <a:r>
              <a:rPr lang="en-US" sz="1100" dirty="0">
                <a:latin typeface="Tahoma" charset="0"/>
              </a:rPr>
              <a:t>=K, </a:t>
            </a:r>
            <a:r>
              <a:rPr lang="en-US" sz="1100" dirty="0" err="1">
                <a:latin typeface="Tahoma" charset="0"/>
              </a:rPr>
              <a:t>seq</a:t>
            </a:r>
            <a:r>
              <a:rPr lang="en-US" sz="1100" dirty="0">
                <a:latin typeface="Tahoma" charset="0"/>
              </a:rPr>
              <a:t>=D)</a:t>
            </a:r>
            <a:endParaRPr lang="en-US" sz="1100" baseline="-25000" dirty="0">
              <a:latin typeface="Tahoma" charset="0"/>
            </a:endParaRPr>
          </a:p>
        </p:txBody>
      </p:sp>
      <p:sp>
        <p:nvSpPr>
          <p:cNvPr id="69" name="Line 4"/>
          <p:cNvSpPr>
            <a:spLocks noChangeShapeType="1"/>
          </p:cNvSpPr>
          <p:nvPr/>
        </p:nvSpPr>
        <p:spPr bwMode="auto">
          <a:xfrm>
            <a:off x="795522" y="5435024"/>
            <a:ext cx="1747346" cy="57276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72" name="Line 14"/>
          <p:cNvSpPr>
            <a:spLocks noChangeShapeType="1"/>
          </p:cNvSpPr>
          <p:nvPr/>
        </p:nvSpPr>
        <p:spPr bwMode="auto">
          <a:xfrm>
            <a:off x="795522" y="5435024"/>
            <a:ext cx="0" cy="1081894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77" name="Line 15"/>
          <p:cNvSpPr>
            <a:spLocks noChangeShapeType="1"/>
          </p:cNvSpPr>
          <p:nvPr/>
        </p:nvSpPr>
        <p:spPr bwMode="auto">
          <a:xfrm>
            <a:off x="795522" y="5053179"/>
            <a:ext cx="0" cy="381845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80" name="Line 11"/>
          <p:cNvSpPr>
            <a:spLocks noChangeShapeType="1"/>
          </p:cNvSpPr>
          <p:nvPr/>
        </p:nvSpPr>
        <p:spPr bwMode="auto">
          <a:xfrm>
            <a:off x="2550584" y="4353130"/>
            <a:ext cx="0" cy="1654661"/>
          </a:xfrm>
          <a:prstGeom prst="line">
            <a:avLst/>
          </a:prstGeom>
          <a:noFill/>
          <a:ln w="762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82" name="Line 12"/>
          <p:cNvSpPr>
            <a:spLocks noChangeShapeType="1"/>
          </p:cNvSpPr>
          <p:nvPr/>
        </p:nvSpPr>
        <p:spPr bwMode="auto">
          <a:xfrm>
            <a:off x="2550584" y="6007791"/>
            <a:ext cx="0" cy="445486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grpSp>
        <p:nvGrpSpPr>
          <p:cNvPr id="83" name="Group 82"/>
          <p:cNvGrpSpPr/>
          <p:nvPr/>
        </p:nvGrpSpPr>
        <p:grpSpPr>
          <a:xfrm>
            <a:off x="2947441" y="5324551"/>
            <a:ext cx="5430837" cy="448642"/>
            <a:chOff x="1572306" y="3020559"/>
            <a:chExt cx="7262812" cy="527050"/>
          </a:xfrm>
        </p:grpSpPr>
        <p:sp>
          <p:nvSpPr>
            <p:cNvPr id="84" name="AutoShape 4"/>
            <p:cNvSpPr>
              <a:spLocks noChangeArrowheads="1"/>
            </p:cNvSpPr>
            <p:nvPr/>
          </p:nvSpPr>
          <p:spPr bwMode="auto">
            <a:xfrm>
              <a:off x="1572306" y="3025321"/>
              <a:ext cx="7262812" cy="522288"/>
            </a:xfrm>
            <a:prstGeom prst="roundRect">
              <a:avLst>
                <a:gd name="adj" fmla="val 273"/>
              </a:avLst>
            </a:prstGeom>
            <a:solidFill>
              <a:srgbClr val="00B8FF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AutoShape 5"/>
            <p:cNvSpPr>
              <a:spLocks noChangeArrowheads="1"/>
            </p:cNvSpPr>
            <p:nvPr/>
          </p:nvSpPr>
          <p:spPr bwMode="auto">
            <a:xfrm>
              <a:off x="1707242" y="3161846"/>
              <a:ext cx="987997" cy="206093"/>
            </a:xfrm>
            <a:prstGeom prst="roundRect">
              <a:avLst>
                <a:gd name="adj" fmla="val 606"/>
              </a:avLst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28675">
                <a:lnSpc>
                  <a:spcPct val="94000"/>
                </a:lnSpc>
                <a:buClr>
                  <a:srgbClr val="000000"/>
                </a:buClr>
                <a:buSzPct val="45000"/>
                <a:buFont typeface="StarSymbol" charset="0"/>
                <a:buNone/>
                <a:tabLst>
                  <a:tab pos="0" algn="l"/>
                  <a:tab pos="414338" algn="l"/>
                  <a:tab pos="828675" algn="l"/>
                  <a:tab pos="1244600" algn="l"/>
                  <a:tab pos="1658938" algn="l"/>
                  <a:tab pos="2073275" algn="l"/>
                  <a:tab pos="2487613" algn="l"/>
                  <a:tab pos="2903538" algn="l"/>
                  <a:tab pos="3317875" algn="l"/>
                  <a:tab pos="3732213" algn="l"/>
                  <a:tab pos="4146550" algn="l"/>
                  <a:tab pos="4562475" algn="l"/>
                  <a:tab pos="4976813" algn="l"/>
                  <a:tab pos="5391150" algn="l"/>
                  <a:tab pos="5805488" algn="l"/>
                  <a:tab pos="6221413" algn="l"/>
                  <a:tab pos="6635750" algn="l"/>
                  <a:tab pos="7050088" algn="l"/>
                  <a:tab pos="7464425" algn="l"/>
                  <a:tab pos="7880350" algn="l"/>
                  <a:tab pos="8294688" algn="l"/>
                </a:tabLst>
              </a:pPr>
              <a:r>
                <a:rPr lang="en-GB" sz="1200" dirty="0">
                  <a:solidFill>
                    <a:srgbClr val="000000"/>
                  </a:solidFill>
                  <a:latin typeface="Courier New" charset="0"/>
                </a:rPr>
                <a:t>t mod 32</a:t>
              </a:r>
            </a:p>
          </p:txBody>
        </p:sp>
        <p:sp>
          <p:nvSpPr>
            <p:cNvPr id="87" name="Line 10"/>
            <p:cNvSpPr>
              <a:spLocks noChangeShapeType="1"/>
            </p:cNvSpPr>
            <p:nvPr/>
          </p:nvSpPr>
          <p:spPr bwMode="auto">
            <a:xfrm>
              <a:off x="2808968" y="3020559"/>
              <a:ext cx="1588" cy="522287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AutoShape 11"/>
            <p:cNvSpPr>
              <a:spLocks noChangeArrowheads="1"/>
            </p:cNvSpPr>
            <p:nvPr/>
          </p:nvSpPr>
          <p:spPr bwMode="auto">
            <a:xfrm>
              <a:off x="3013756" y="3161846"/>
              <a:ext cx="370499" cy="206093"/>
            </a:xfrm>
            <a:prstGeom prst="roundRect">
              <a:avLst>
                <a:gd name="adj" fmla="val 606"/>
              </a:avLst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28675">
                <a:lnSpc>
                  <a:spcPct val="94000"/>
                </a:lnSpc>
                <a:buClr>
                  <a:srgbClr val="000000"/>
                </a:buClr>
                <a:buSzPct val="45000"/>
                <a:buFont typeface="StarSymbol" charset="0"/>
                <a:buNone/>
                <a:tabLst>
                  <a:tab pos="0" algn="l"/>
                  <a:tab pos="414338" algn="l"/>
                  <a:tab pos="828675" algn="l"/>
                  <a:tab pos="1244600" algn="l"/>
                  <a:tab pos="1658938" algn="l"/>
                  <a:tab pos="2073275" algn="l"/>
                  <a:tab pos="2487613" algn="l"/>
                  <a:tab pos="2903538" algn="l"/>
                  <a:tab pos="3317875" algn="l"/>
                  <a:tab pos="3732213" algn="l"/>
                  <a:tab pos="4146550" algn="l"/>
                  <a:tab pos="4562475" algn="l"/>
                  <a:tab pos="4976813" algn="l"/>
                  <a:tab pos="5391150" algn="l"/>
                  <a:tab pos="5805488" algn="l"/>
                  <a:tab pos="6221413" algn="l"/>
                  <a:tab pos="6635750" algn="l"/>
                  <a:tab pos="7050088" algn="l"/>
                  <a:tab pos="7464425" algn="l"/>
                  <a:tab pos="7880350" algn="l"/>
                  <a:tab pos="8294688" algn="l"/>
                </a:tabLst>
              </a:pPr>
              <a:r>
                <a:rPr lang="en-GB" sz="1200" dirty="0">
                  <a:solidFill>
                    <a:srgbClr val="000000"/>
                  </a:solidFill>
                  <a:latin typeface="Courier New" charset="0"/>
                </a:rPr>
                <a:t>MSS</a:t>
              </a:r>
            </a:p>
          </p:txBody>
        </p:sp>
        <p:sp>
          <p:nvSpPr>
            <p:cNvPr id="89" name="Line 12"/>
            <p:cNvSpPr>
              <a:spLocks noChangeShapeType="1"/>
            </p:cNvSpPr>
            <p:nvPr/>
          </p:nvSpPr>
          <p:spPr bwMode="auto">
            <a:xfrm>
              <a:off x="3528106" y="3020559"/>
              <a:ext cx="1587" cy="522287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AutoShape 15"/>
            <p:cNvSpPr>
              <a:spLocks noChangeArrowheads="1"/>
            </p:cNvSpPr>
            <p:nvPr/>
          </p:nvSpPr>
          <p:spPr bwMode="auto">
            <a:xfrm>
              <a:off x="3634468" y="3161846"/>
              <a:ext cx="5145816" cy="206093"/>
            </a:xfrm>
            <a:prstGeom prst="roundRect">
              <a:avLst>
                <a:gd name="adj" fmla="val 481"/>
              </a:avLst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28675">
                <a:lnSpc>
                  <a:spcPct val="94000"/>
                </a:lnSpc>
                <a:buClr>
                  <a:srgbClr val="000000"/>
                </a:buClr>
                <a:buSzPct val="45000"/>
                <a:buFont typeface="StarSymbol" charset="0"/>
                <a:buNone/>
                <a:tabLst>
                  <a:tab pos="0" algn="l"/>
                  <a:tab pos="414338" algn="l"/>
                  <a:tab pos="828675" algn="l"/>
                  <a:tab pos="1244600" algn="l"/>
                  <a:tab pos="1658938" algn="l"/>
                  <a:tab pos="2073275" algn="l"/>
                  <a:tab pos="2487613" algn="l"/>
                  <a:tab pos="2903538" algn="l"/>
                  <a:tab pos="3317875" algn="l"/>
                  <a:tab pos="3732213" algn="l"/>
                  <a:tab pos="4146550" algn="l"/>
                  <a:tab pos="4562475" algn="l"/>
                  <a:tab pos="4976813" algn="l"/>
                  <a:tab pos="5391150" algn="l"/>
                  <a:tab pos="5805488" algn="l"/>
                  <a:tab pos="6221413" algn="l"/>
                  <a:tab pos="6635750" algn="l"/>
                  <a:tab pos="7050088" algn="l"/>
                  <a:tab pos="7464425" algn="l"/>
                  <a:tab pos="7880350" algn="l"/>
                  <a:tab pos="8294688" algn="l"/>
                </a:tabLst>
              </a:pPr>
              <a:r>
                <a:rPr lang="en-GB" sz="1200" dirty="0">
                  <a:solidFill>
                    <a:srgbClr val="000000"/>
                  </a:solidFill>
                  <a:latin typeface="Courier New" charset="0"/>
                </a:rPr>
                <a:t>Cookie=HMAC(t, N</a:t>
              </a:r>
              <a:r>
                <a:rPr lang="en-GB" sz="1200" baseline="-33000" dirty="0">
                  <a:solidFill>
                    <a:srgbClr val="000000"/>
                  </a:solidFill>
                  <a:latin typeface="Courier New" charset="0"/>
                </a:rPr>
                <a:t>s</a:t>
              </a:r>
              <a:r>
                <a:rPr lang="en-GB" sz="1200" dirty="0">
                  <a:solidFill>
                    <a:srgbClr val="000000"/>
                  </a:solidFill>
                  <a:latin typeface="Courier New" charset="0"/>
                </a:rPr>
                <a:t>, SIP, </a:t>
              </a:r>
              <a:r>
                <a:rPr lang="en-GB" sz="1200" dirty="0" err="1">
                  <a:solidFill>
                    <a:srgbClr val="000000"/>
                  </a:solidFill>
                  <a:latin typeface="Courier New" charset="0"/>
                </a:rPr>
                <a:t>SPort</a:t>
              </a:r>
              <a:r>
                <a:rPr lang="en-GB" sz="1200" dirty="0">
                  <a:solidFill>
                    <a:srgbClr val="000000"/>
                  </a:solidFill>
                  <a:latin typeface="Courier New" charset="0"/>
                </a:rPr>
                <a:t>, DIP, </a:t>
              </a:r>
              <a:r>
                <a:rPr lang="en-GB" sz="1200" dirty="0" err="1">
                  <a:solidFill>
                    <a:srgbClr val="000000"/>
                  </a:solidFill>
                  <a:latin typeface="Courier New" charset="0"/>
                </a:rPr>
                <a:t>DPort</a:t>
              </a:r>
              <a:r>
                <a:rPr lang="en-GB" sz="1200" dirty="0">
                  <a:solidFill>
                    <a:srgbClr val="000000"/>
                  </a:solidFill>
                  <a:latin typeface="Courier New" charset="0"/>
                </a:rPr>
                <a:t>)</a:t>
              </a:r>
            </a:p>
          </p:txBody>
        </p:sp>
      </p:grpSp>
      <p:sp>
        <p:nvSpPr>
          <p:cNvPr id="92" name="TextBox 91"/>
          <p:cNvSpPr txBox="1"/>
          <p:nvPr/>
        </p:nvSpPr>
        <p:spPr>
          <a:xfrm>
            <a:off x="3539567" y="4360975"/>
            <a:ext cx="37917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Attacker need to correctly forge the HMAC to enable the initialization of the data structure in the server side. </a:t>
            </a:r>
          </a:p>
        </p:txBody>
      </p:sp>
    </p:spTree>
    <p:extLst>
      <p:ext uri="{BB962C8B-B14F-4D97-AF65-F5344CB8AC3E}">
        <p14:creationId xmlns:p14="http://schemas.microsoft.com/office/powerpoint/2010/main" val="19710439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TCP reset basically kills a TCP connection instantly.</a:t>
            </a:r>
          </a:p>
          <a:p>
            <a:pPr lvl="1"/>
            <a:r>
              <a:rPr lang="en-US" dirty="0"/>
              <a:t>If the RST bit is set to 1, it indicates to the receiving computer that the computer should immediately stop using the TCP connection; it should not send any more packets using the connection's identifying numbers, called ports, and discard any further packets it receives with headers indicating they belong to that connection. </a:t>
            </a:r>
          </a:p>
        </p:txBody>
      </p:sp>
    </p:spTree>
    <p:extLst>
      <p:ext uri="{BB962C8B-B14F-4D97-AF65-F5344CB8AC3E}">
        <p14:creationId xmlns:p14="http://schemas.microsoft.com/office/powerpoint/2010/main" val="785799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Malicious Usage: RST Reset</a:t>
            </a:r>
          </a:p>
        </p:txBody>
      </p:sp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516581" y="2641442"/>
            <a:ext cx="1981200" cy="1250693"/>
            <a:chOff x="192" y="1488"/>
            <a:chExt cx="1536" cy="1140"/>
          </a:xfrm>
        </p:grpSpPr>
        <p:sp>
          <p:nvSpPr>
            <p:cNvPr id="5" name="Text Box 8"/>
            <p:cNvSpPr txBox="1">
              <a:spLocks noChangeArrowheads="1"/>
            </p:cNvSpPr>
            <p:nvPr/>
          </p:nvSpPr>
          <p:spPr bwMode="auto">
            <a:xfrm>
              <a:off x="192" y="2304"/>
              <a:ext cx="1536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500"/>
                </a:spcBef>
                <a:buClr>
                  <a:srgbClr val="000000"/>
                </a:buClr>
                <a:buSzPct val="100000"/>
                <a:buFont typeface="Times New Roman" charset="0"/>
                <a:buNone/>
              </a:pPr>
              <a:r>
                <a:rPr lang="en-GB" dirty="0">
                  <a:latin typeface="Times New Roman" charset="0"/>
                </a:rPr>
                <a:t>Client (C)</a:t>
              </a:r>
            </a:p>
          </p:txBody>
        </p:sp>
        <p:pic>
          <p:nvPicPr>
            <p:cNvPr id="6" name="Picture 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488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grpSp>
        <p:nvGrpSpPr>
          <p:cNvPr id="7" name="Group 7"/>
          <p:cNvGrpSpPr>
            <a:grpSpLocks/>
          </p:cNvGrpSpPr>
          <p:nvPr/>
        </p:nvGrpSpPr>
        <p:grpSpPr bwMode="auto">
          <a:xfrm>
            <a:off x="3013035" y="5445363"/>
            <a:ext cx="1981200" cy="1241916"/>
            <a:chOff x="140" y="1488"/>
            <a:chExt cx="1536" cy="1132"/>
          </a:xfrm>
        </p:grpSpPr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40" y="2296"/>
              <a:ext cx="1536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500"/>
                </a:spcBef>
                <a:buClr>
                  <a:srgbClr val="000000"/>
                </a:buClr>
                <a:buSzPct val="100000"/>
                <a:buFont typeface="Times New Roman" charset="0"/>
                <a:buNone/>
              </a:pPr>
              <a:r>
                <a:rPr lang="en-GB" dirty="0">
                  <a:latin typeface="Times New Roman" charset="0"/>
                </a:rPr>
                <a:t>Attacker (inline)</a:t>
              </a:r>
            </a:p>
          </p:txBody>
        </p:sp>
        <p:pic>
          <p:nvPicPr>
            <p:cNvPr id="9" name="Picture 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488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2508006" y="2267716"/>
            <a:ext cx="334859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2000" dirty="0">
                <a:latin typeface="Tahoma" charset="0"/>
              </a:rPr>
              <a:t>SYN  ACK (</a:t>
            </a:r>
            <a:r>
              <a:rPr lang="en-US" sz="2000" dirty="0" err="1">
                <a:latin typeface="Tahoma" charset="0"/>
              </a:rPr>
              <a:t>ack</a:t>
            </a:r>
            <a:r>
              <a:rPr lang="en-US" sz="2000" dirty="0">
                <a:latin typeface="Tahoma" charset="0"/>
              </a:rPr>
              <a:t>=x+1 </a:t>
            </a:r>
            <a:r>
              <a:rPr lang="en-US" sz="2000" dirty="0" err="1">
                <a:latin typeface="Tahoma" charset="0"/>
              </a:rPr>
              <a:t>seq</a:t>
            </a:r>
            <a:r>
              <a:rPr lang="en-US" sz="2000" dirty="0">
                <a:latin typeface="Tahoma" charset="0"/>
              </a:rPr>
              <a:t>=y)</a:t>
            </a:r>
            <a:endParaRPr lang="en-US" sz="2000" baseline="-25000" dirty="0">
              <a:latin typeface="Tahoma" charset="0"/>
            </a:endParaRPr>
          </a:p>
        </p:txBody>
      </p:sp>
      <p:grpSp>
        <p:nvGrpSpPr>
          <p:cNvPr id="16" name="Group 4"/>
          <p:cNvGrpSpPr>
            <a:grpSpLocks/>
          </p:cNvGrpSpPr>
          <p:nvPr/>
        </p:nvGrpSpPr>
        <p:grpSpPr bwMode="auto">
          <a:xfrm>
            <a:off x="5728365" y="2467771"/>
            <a:ext cx="3660576" cy="1860934"/>
            <a:chOff x="-536" y="1564"/>
            <a:chExt cx="2838" cy="1519"/>
          </a:xfrm>
        </p:grpSpPr>
        <p:sp>
          <p:nvSpPr>
            <p:cNvPr id="17" name="Text Box 5"/>
            <p:cNvSpPr txBox="1">
              <a:spLocks noChangeArrowheads="1"/>
            </p:cNvSpPr>
            <p:nvPr/>
          </p:nvSpPr>
          <p:spPr bwMode="auto">
            <a:xfrm>
              <a:off x="-536" y="2780"/>
              <a:ext cx="2838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1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/>
                <a:t>Server</a:t>
              </a:r>
            </a:p>
          </p:txBody>
        </p:sp>
        <p:pic>
          <p:nvPicPr>
            <p:cNvPr id="18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564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sp>
        <p:nvSpPr>
          <p:cNvPr id="19" name="Line 3"/>
          <p:cNvSpPr>
            <a:spLocks noChangeShapeType="1"/>
          </p:cNvSpPr>
          <p:nvPr/>
        </p:nvSpPr>
        <p:spPr bwMode="auto">
          <a:xfrm>
            <a:off x="2346554" y="1984814"/>
            <a:ext cx="3772158" cy="48295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0" name="Line 4"/>
          <p:cNvSpPr>
            <a:spLocks noChangeShapeType="1"/>
          </p:cNvSpPr>
          <p:nvPr/>
        </p:nvSpPr>
        <p:spPr bwMode="auto">
          <a:xfrm>
            <a:off x="2214396" y="3757492"/>
            <a:ext cx="3868057" cy="26928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1" name="Line 5"/>
          <p:cNvSpPr>
            <a:spLocks noChangeShapeType="1"/>
          </p:cNvSpPr>
          <p:nvPr/>
        </p:nvSpPr>
        <p:spPr bwMode="auto">
          <a:xfrm flipH="1">
            <a:off x="2214396" y="3190532"/>
            <a:ext cx="3868057" cy="23430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2" name="Text Box 8"/>
          <p:cNvSpPr txBox="1">
            <a:spLocks noChangeArrowheads="1"/>
          </p:cNvSpPr>
          <p:nvPr/>
        </p:nvSpPr>
        <p:spPr bwMode="auto">
          <a:xfrm>
            <a:off x="3025237" y="1745165"/>
            <a:ext cx="21717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2000" dirty="0">
                <a:latin typeface="Tahoma" charset="0"/>
              </a:rPr>
              <a:t>SYN  (</a:t>
            </a:r>
            <a:r>
              <a:rPr lang="en-US" sz="2000" dirty="0" err="1">
                <a:latin typeface="Tahoma" charset="0"/>
              </a:rPr>
              <a:t>seq</a:t>
            </a:r>
            <a:r>
              <a:rPr lang="en-US" sz="2000" dirty="0">
                <a:latin typeface="Tahoma" charset="0"/>
              </a:rPr>
              <a:t>=x)</a:t>
            </a:r>
          </a:p>
        </p:txBody>
      </p:sp>
      <p:sp>
        <p:nvSpPr>
          <p:cNvPr id="23" name="Text Box 9"/>
          <p:cNvSpPr txBox="1">
            <a:spLocks noChangeArrowheads="1"/>
          </p:cNvSpPr>
          <p:nvPr/>
        </p:nvSpPr>
        <p:spPr bwMode="auto">
          <a:xfrm>
            <a:off x="2497781" y="2790422"/>
            <a:ext cx="334859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2000" dirty="0">
                <a:latin typeface="Tahoma" charset="0"/>
              </a:rPr>
              <a:t>SYN  ACK (</a:t>
            </a:r>
            <a:r>
              <a:rPr lang="en-US" sz="2000" dirty="0" err="1">
                <a:latin typeface="Tahoma" charset="0"/>
              </a:rPr>
              <a:t>ack</a:t>
            </a:r>
            <a:r>
              <a:rPr lang="en-US" sz="2000" dirty="0">
                <a:latin typeface="Tahoma" charset="0"/>
              </a:rPr>
              <a:t>=x+1 </a:t>
            </a:r>
            <a:r>
              <a:rPr lang="en-US" sz="2000" dirty="0" err="1">
                <a:latin typeface="Tahoma" charset="0"/>
              </a:rPr>
              <a:t>seq</a:t>
            </a:r>
            <a:r>
              <a:rPr lang="en-US" sz="2000" dirty="0">
                <a:latin typeface="Tahoma" charset="0"/>
              </a:rPr>
              <a:t>=y)</a:t>
            </a:r>
            <a:endParaRPr lang="en-US" sz="2000" baseline="-25000" dirty="0">
              <a:latin typeface="Tahoma" charset="0"/>
            </a:endParaRPr>
          </a:p>
        </p:txBody>
      </p:sp>
      <p:sp>
        <p:nvSpPr>
          <p:cNvPr id="24" name="Text Box 10"/>
          <p:cNvSpPr txBox="1">
            <a:spLocks noChangeArrowheads="1"/>
          </p:cNvSpPr>
          <p:nvPr/>
        </p:nvSpPr>
        <p:spPr bwMode="auto">
          <a:xfrm>
            <a:off x="2613162" y="3365816"/>
            <a:ext cx="30505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2000" dirty="0">
                <a:latin typeface="Tahoma" charset="0"/>
              </a:rPr>
              <a:t>ACK (</a:t>
            </a:r>
            <a:r>
              <a:rPr lang="en-US" sz="2000" dirty="0" err="1">
                <a:latin typeface="Tahoma" charset="0"/>
              </a:rPr>
              <a:t>ack</a:t>
            </a:r>
            <a:r>
              <a:rPr lang="en-US" sz="2000" dirty="0">
                <a:latin typeface="Tahoma" charset="0"/>
              </a:rPr>
              <a:t>=y+1,seq=x+1)</a:t>
            </a:r>
            <a:endParaRPr lang="en-US" sz="2000" baseline="-25000" dirty="0">
              <a:latin typeface="Tahoma" charset="0"/>
            </a:endParaRPr>
          </a:p>
        </p:txBody>
      </p:sp>
      <p:sp>
        <p:nvSpPr>
          <p:cNvPr id="25" name="Line 4"/>
          <p:cNvSpPr>
            <a:spLocks noChangeShapeType="1"/>
          </p:cNvSpPr>
          <p:nvPr/>
        </p:nvSpPr>
        <p:spPr bwMode="auto">
          <a:xfrm>
            <a:off x="2214396" y="3941844"/>
            <a:ext cx="3868057" cy="26928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6" name="Line 4"/>
          <p:cNvSpPr>
            <a:spLocks noChangeShapeType="1"/>
          </p:cNvSpPr>
          <p:nvPr/>
        </p:nvSpPr>
        <p:spPr bwMode="auto">
          <a:xfrm>
            <a:off x="2250655" y="4470936"/>
            <a:ext cx="3868057" cy="26928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7" name="Down Arrow 26"/>
          <p:cNvSpPr/>
          <p:nvPr/>
        </p:nvSpPr>
        <p:spPr>
          <a:xfrm>
            <a:off x="3525792" y="4740222"/>
            <a:ext cx="272245" cy="548914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Up Arrow 28"/>
          <p:cNvSpPr/>
          <p:nvPr/>
        </p:nvSpPr>
        <p:spPr>
          <a:xfrm>
            <a:off x="4331744" y="4740222"/>
            <a:ext cx="234264" cy="548914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 Box 8"/>
          <p:cNvSpPr txBox="1">
            <a:spLocks noChangeArrowheads="1"/>
          </p:cNvSpPr>
          <p:nvPr/>
        </p:nvSpPr>
        <p:spPr bwMode="auto">
          <a:xfrm>
            <a:off x="2214396" y="4776110"/>
            <a:ext cx="131139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2000" dirty="0">
                <a:latin typeface="Tahoma" charset="0"/>
              </a:rPr>
              <a:t>Sniff</a:t>
            </a:r>
          </a:p>
        </p:txBody>
      </p:sp>
      <p:sp>
        <p:nvSpPr>
          <p:cNvPr id="31" name="Text Box 8"/>
          <p:cNvSpPr txBox="1">
            <a:spLocks noChangeArrowheads="1"/>
          </p:cNvSpPr>
          <p:nvPr/>
        </p:nvSpPr>
        <p:spPr bwMode="auto">
          <a:xfrm>
            <a:off x="4545203" y="4776110"/>
            <a:ext cx="131139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2000" dirty="0">
                <a:latin typeface="Tahoma" charset="0"/>
              </a:rPr>
              <a:t>Inject</a:t>
            </a:r>
          </a:p>
        </p:txBody>
      </p:sp>
      <p:sp>
        <p:nvSpPr>
          <p:cNvPr id="32" name="Freeform 31"/>
          <p:cNvSpPr/>
          <p:nvPr/>
        </p:nvSpPr>
        <p:spPr>
          <a:xfrm>
            <a:off x="4331745" y="3279511"/>
            <a:ext cx="2326284" cy="2182231"/>
          </a:xfrm>
          <a:custGeom>
            <a:avLst/>
            <a:gdLst>
              <a:gd name="connsiteX0" fmla="*/ 0 w 2145365"/>
              <a:gd name="connsiteY0" fmla="*/ 2182231 h 2182231"/>
              <a:gd name="connsiteX1" fmla="*/ 1146661 w 2145365"/>
              <a:gd name="connsiteY1" fmla="*/ 431515 h 2182231"/>
              <a:gd name="connsiteX2" fmla="*/ 2145365 w 2145365"/>
              <a:gd name="connsiteY2" fmla="*/ 0 h 2182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45365" h="2182231">
                <a:moveTo>
                  <a:pt x="0" y="2182231"/>
                </a:moveTo>
                <a:cubicBezTo>
                  <a:pt x="394550" y="1488725"/>
                  <a:pt x="789100" y="795220"/>
                  <a:pt x="1146661" y="431515"/>
                </a:cubicBezTo>
                <a:cubicBezTo>
                  <a:pt x="1504222" y="67810"/>
                  <a:pt x="2145365" y="0"/>
                  <a:pt x="2145365" y="0"/>
                </a:cubicBezTo>
              </a:path>
            </a:pathLst>
          </a:cu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 33"/>
          <p:cNvSpPr/>
          <p:nvPr/>
        </p:nvSpPr>
        <p:spPr>
          <a:xfrm>
            <a:off x="2002482" y="3081943"/>
            <a:ext cx="2329262" cy="2367470"/>
          </a:xfrm>
          <a:custGeom>
            <a:avLst/>
            <a:gdLst>
              <a:gd name="connsiteX0" fmla="*/ 1331606 w 1331606"/>
              <a:gd name="connsiteY0" fmla="*/ 2367470 h 2367470"/>
              <a:gd name="connsiteX1" fmla="*/ 1023364 w 1331606"/>
              <a:gd name="connsiteY1" fmla="*/ 370174 h 2367470"/>
              <a:gd name="connsiteX2" fmla="*/ 0 w 1331606"/>
              <a:gd name="connsiteY2" fmla="*/ 304 h 2367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1606" h="2367470">
                <a:moveTo>
                  <a:pt x="1331606" y="2367470"/>
                </a:moveTo>
                <a:cubicBezTo>
                  <a:pt x="1288452" y="1566086"/>
                  <a:pt x="1245298" y="764702"/>
                  <a:pt x="1023364" y="370174"/>
                </a:cubicBezTo>
                <a:cubicBezTo>
                  <a:pt x="801430" y="-24354"/>
                  <a:pt x="0" y="304"/>
                  <a:pt x="0" y="304"/>
                </a:cubicBezTo>
              </a:path>
            </a:pathLst>
          </a:cu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 Box 8"/>
          <p:cNvSpPr txBox="1">
            <a:spLocks noChangeArrowheads="1"/>
          </p:cNvSpPr>
          <p:nvPr/>
        </p:nvSpPr>
        <p:spPr bwMode="auto">
          <a:xfrm>
            <a:off x="1528881" y="4211130"/>
            <a:ext cx="2590914" cy="40011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2000" dirty="0">
                <a:latin typeface="Tahoma" charset="0"/>
              </a:rPr>
              <a:t>RST (</a:t>
            </a:r>
            <a:r>
              <a:rPr lang="en-US" sz="2000" dirty="0" err="1">
                <a:latin typeface="Tahoma" charset="0"/>
              </a:rPr>
              <a:t>Src</a:t>
            </a:r>
            <a:r>
              <a:rPr lang="en-US" sz="2000" dirty="0">
                <a:latin typeface="Tahoma" charset="0"/>
              </a:rPr>
              <a:t> Server)</a:t>
            </a:r>
          </a:p>
        </p:txBody>
      </p:sp>
      <p:sp>
        <p:nvSpPr>
          <p:cNvPr id="36" name="Text Box 8"/>
          <p:cNvSpPr txBox="1">
            <a:spLocks noChangeArrowheads="1"/>
          </p:cNvSpPr>
          <p:nvPr/>
        </p:nvSpPr>
        <p:spPr bwMode="auto">
          <a:xfrm>
            <a:off x="5200900" y="4218923"/>
            <a:ext cx="2233898" cy="40011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2000" dirty="0">
                <a:latin typeface="Tahoma" charset="0"/>
              </a:rPr>
              <a:t>RST (</a:t>
            </a:r>
            <a:r>
              <a:rPr lang="en-US" sz="2000" dirty="0" err="1">
                <a:latin typeface="Tahoma" charset="0"/>
              </a:rPr>
              <a:t>Src</a:t>
            </a:r>
            <a:r>
              <a:rPr lang="en-US" sz="2000" dirty="0">
                <a:latin typeface="Tahoma" charset="0"/>
              </a:rPr>
              <a:t> Client)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4F54-AFB3-5A4A-A7DF-A12EC706796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328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4" grpId="0" animBg="1"/>
      <p:bldP spid="35" grpId="0" animBg="1"/>
      <p:bldP spid="3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is “Malicious”/Malicious?</a:t>
            </a:r>
          </a:p>
        </p:txBody>
      </p:sp>
      <p:sp>
        <p:nvSpPr>
          <p:cNvPr id="4" name="Rectangle 3"/>
          <p:cNvSpPr/>
          <p:nvPr/>
        </p:nvSpPr>
        <p:spPr>
          <a:xfrm>
            <a:off x="1278827" y="4199366"/>
            <a:ext cx="1147168" cy="89164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Computer 1</a:t>
            </a:r>
          </a:p>
          <a:p>
            <a:pPr algn="ctr"/>
            <a:r>
              <a:rPr lang="en-US" sz="1200" dirty="0"/>
              <a:t>Address: IP1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57711" y="4199366"/>
            <a:ext cx="1147168" cy="89164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Computer 2</a:t>
            </a:r>
          </a:p>
          <a:p>
            <a:pPr algn="ctr"/>
            <a:r>
              <a:rPr lang="en-US" sz="1200" dirty="0"/>
              <a:t>Address: IP2</a:t>
            </a:r>
          </a:p>
        </p:txBody>
      </p:sp>
      <p:pic>
        <p:nvPicPr>
          <p:cNvPr id="6" name="Picture 5" descr="11949856431316298822router_joeseph_teed_01.svg.hi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998" y="3219821"/>
            <a:ext cx="828188" cy="608719"/>
          </a:xfrm>
          <a:prstGeom prst="rect">
            <a:avLst/>
          </a:prstGeom>
        </p:spPr>
      </p:pic>
      <p:pic>
        <p:nvPicPr>
          <p:cNvPr id="7" name="Picture 6" descr="11949856431316298822router_joeseph_teed_01.svg.hi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727" y="2500029"/>
            <a:ext cx="828188" cy="608719"/>
          </a:xfrm>
          <a:prstGeom prst="rect">
            <a:avLst/>
          </a:prstGeom>
        </p:spPr>
      </p:pic>
      <p:pic>
        <p:nvPicPr>
          <p:cNvPr id="8" name="Picture 7" descr="11949856431316298822router_joeseph_teed_01.svg.hi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0530" y="3258165"/>
            <a:ext cx="828188" cy="608719"/>
          </a:xfrm>
          <a:prstGeom prst="rect">
            <a:avLst/>
          </a:prstGeom>
        </p:spPr>
      </p:pic>
      <p:cxnSp>
        <p:nvCxnSpPr>
          <p:cNvPr id="9" name="Straight Connector 8"/>
          <p:cNvCxnSpPr>
            <a:endCxn id="6" idx="1"/>
          </p:cNvCxnSpPr>
          <p:nvPr/>
        </p:nvCxnSpPr>
        <p:spPr>
          <a:xfrm flipV="1">
            <a:off x="1869323" y="3524181"/>
            <a:ext cx="992675" cy="675185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endCxn id="7" idx="1"/>
          </p:cNvCxnSpPr>
          <p:nvPr/>
        </p:nvCxnSpPr>
        <p:spPr>
          <a:xfrm flipV="1">
            <a:off x="3595037" y="2804389"/>
            <a:ext cx="758690" cy="520136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endCxn id="7" idx="3"/>
          </p:cNvCxnSpPr>
          <p:nvPr/>
        </p:nvCxnSpPr>
        <p:spPr>
          <a:xfrm flipH="1" flipV="1">
            <a:off x="5181915" y="2804389"/>
            <a:ext cx="924980" cy="520136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6758718" y="3679230"/>
            <a:ext cx="924980" cy="520136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0311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is “Malicious”/Malicious?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“Great Fire Wall” (active now).</a:t>
            </a:r>
          </a:p>
          <a:p>
            <a:r>
              <a:rPr lang="en-US" dirty="0"/>
              <a:t>Comcast’s actions to disrupt P2P connections (around 2007).</a:t>
            </a:r>
          </a:p>
        </p:txBody>
      </p:sp>
      <p:pic>
        <p:nvPicPr>
          <p:cNvPr id="4" name="Picture 3" descr="c6_2b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109" y="3657507"/>
            <a:ext cx="4197676" cy="2468656"/>
          </a:xfrm>
          <a:prstGeom prst="rect">
            <a:avLst/>
          </a:prstGeom>
        </p:spPr>
      </p:pic>
      <p:pic>
        <p:nvPicPr>
          <p:cNvPr id="5" name="Picture 4" descr="270_big01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064" y="3487269"/>
            <a:ext cx="3816972" cy="286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0370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RST Reset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9184"/>
            <a:ext cx="8229600" cy="582031"/>
          </a:xfrm>
        </p:spPr>
        <p:txBody>
          <a:bodyPr/>
          <a:lstStyle/>
          <a:p>
            <a:r>
              <a:rPr lang="en-US" dirty="0"/>
              <a:t>Great Firewall (from wiki)</a:t>
            </a:r>
          </a:p>
        </p:txBody>
      </p:sp>
      <p:pic>
        <p:nvPicPr>
          <p:cNvPr id="4" name="Picture 3" descr="600px-Topology.sv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100" y="1980842"/>
            <a:ext cx="6460753" cy="4307169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4F54-AFB3-5A4A-A7DF-A12EC706796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9208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Paper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0790"/>
            <a:ext cx="8229600" cy="1104153"/>
          </a:xfrm>
        </p:spPr>
        <p:txBody>
          <a:bodyPr/>
          <a:lstStyle/>
          <a:p>
            <a:r>
              <a:rPr lang="en-US" dirty="0"/>
              <a:t>“Detecting Forged TCP Reset Packets”, N. Weaver, Robin </a:t>
            </a:r>
            <a:r>
              <a:rPr lang="en-US" dirty="0" err="1"/>
              <a:t>Sommer</a:t>
            </a:r>
            <a:r>
              <a:rPr lang="en-US" dirty="0"/>
              <a:t>, and Vern </a:t>
            </a:r>
            <a:r>
              <a:rPr lang="en-US" dirty="0" err="1"/>
              <a:t>Paxson</a:t>
            </a:r>
            <a:r>
              <a:rPr lang="en-US" dirty="0"/>
              <a:t>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59298" y="4653142"/>
            <a:ext cx="1147168" cy="89164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Computer 1</a:t>
            </a:r>
          </a:p>
          <a:p>
            <a:pPr algn="ctr"/>
            <a:r>
              <a:rPr lang="en-US" sz="1200" dirty="0"/>
              <a:t>Address: IP1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38182" y="4653142"/>
            <a:ext cx="1147168" cy="89164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Computer 2</a:t>
            </a:r>
          </a:p>
          <a:p>
            <a:pPr algn="ctr"/>
            <a:r>
              <a:rPr lang="en-US" sz="1200" dirty="0"/>
              <a:t>Address: IP2</a:t>
            </a:r>
          </a:p>
        </p:txBody>
      </p:sp>
      <p:pic>
        <p:nvPicPr>
          <p:cNvPr id="32" name="Picture 31" descr="11949856431316298822router_joeseph_teed_01.svg.hi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2469" y="3673597"/>
            <a:ext cx="828188" cy="608719"/>
          </a:xfrm>
          <a:prstGeom prst="rect">
            <a:avLst/>
          </a:prstGeom>
        </p:spPr>
      </p:pic>
      <p:pic>
        <p:nvPicPr>
          <p:cNvPr id="33" name="Picture 32" descr="11949856431316298822router_joeseph_teed_01.svg.hi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198" y="2953805"/>
            <a:ext cx="828188" cy="608719"/>
          </a:xfrm>
          <a:prstGeom prst="rect">
            <a:avLst/>
          </a:prstGeom>
        </p:spPr>
      </p:pic>
      <p:pic>
        <p:nvPicPr>
          <p:cNvPr id="34" name="Picture 33" descr="11949856431316298822router_joeseph_teed_01.svg.hi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001" y="3711941"/>
            <a:ext cx="828188" cy="608719"/>
          </a:xfrm>
          <a:prstGeom prst="rect">
            <a:avLst/>
          </a:prstGeom>
        </p:spPr>
      </p:pic>
      <p:cxnSp>
        <p:nvCxnSpPr>
          <p:cNvPr id="35" name="Straight Connector 34"/>
          <p:cNvCxnSpPr>
            <a:endCxn id="32" idx="1"/>
          </p:cNvCxnSpPr>
          <p:nvPr/>
        </p:nvCxnSpPr>
        <p:spPr>
          <a:xfrm flipV="1">
            <a:off x="1749794" y="3977957"/>
            <a:ext cx="992675" cy="675185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endCxn id="33" idx="1"/>
          </p:cNvCxnSpPr>
          <p:nvPr/>
        </p:nvCxnSpPr>
        <p:spPr>
          <a:xfrm flipV="1">
            <a:off x="3475508" y="3258165"/>
            <a:ext cx="758690" cy="520136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endCxn id="33" idx="3"/>
          </p:cNvCxnSpPr>
          <p:nvPr/>
        </p:nvCxnSpPr>
        <p:spPr>
          <a:xfrm flipH="1" flipV="1">
            <a:off x="5062386" y="3258165"/>
            <a:ext cx="924980" cy="520136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 flipV="1">
            <a:off x="6639189" y="4133006"/>
            <a:ext cx="924980" cy="520136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1538941" y="3778301"/>
            <a:ext cx="767525" cy="54235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57200" y="3453793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Forged TCP RST</a:t>
            </a:r>
          </a:p>
        </p:txBody>
      </p:sp>
    </p:spTree>
    <p:extLst>
      <p:ext uri="{BB962C8B-B14F-4D97-AF65-F5344CB8AC3E}">
        <p14:creationId xmlns:p14="http://schemas.microsoft.com/office/powerpoint/2010/main" val="34393771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Layer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Application Layer</a:t>
            </a:r>
          </a:p>
          <a:p>
            <a:pPr lvl="1"/>
            <a:r>
              <a:rPr lang="en-US" dirty="0"/>
              <a:t>A variety of protocols</a:t>
            </a:r>
          </a:p>
          <a:p>
            <a:pPr lvl="1"/>
            <a:r>
              <a:rPr lang="en-US" dirty="0"/>
              <a:t>DNS</a:t>
            </a:r>
          </a:p>
        </p:txBody>
      </p:sp>
      <p:pic>
        <p:nvPicPr>
          <p:cNvPr id="4" name="Picture 3" descr="encaps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428" y="3092797"/>
            <a:ext cx="4356100" cy="234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0214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83B9EA5-CE9A-4950-A80C-5ADF06B45BB8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If you want to…</a:t>
            </a:r>
          </a:p>
          <a:p>
            <a:pPr lvl="1"/>
            <a:r>
              <a:rPr lang="en-US" dirty="0"/>
              <a:t>Call someone, you need to ask for their phone number</a:t>
            </a:r>
          </a:p>
          <a:p>
            <a:pPr lvl="2"/>
            <a:r>
              <a:rPr lang="en-US" dirty="0"/>
              <a:t>You can’t just dial “P R O F  G I L L ”</a:t>
            </a:r>
          </a:p>
          <a:p>
            <a:pPr lvl="1"/>
            <a:r>
              <a:rPr lang="en-US" dirty="0"/>
              <a:t>Mail someone, you need to get their address first</a:t>
            </a:r>
          </a:p>
          <a:p>
            <a:r>
              <a:rPr lang="en-US" dirty="0"/>
              <a:t>What about the Internet?</a:t>
            </a:r>
          </a:p>
          <a:p>
            <a:pPr lvl="1"/>
            <a:r>
              <a:rPr lang="en-US" dirty="0"/>
              <a:t>If you need to reach Google, you need their IP</a:t>
            </a:r>
          </a:p>
          <a:p>
            <a:pPr lvl="1"/>
            <a:r>
              <a:rPr lang="en-US" dirty="0"/>
              <a:t>Does anyone know Google’s IP?</a:t>
            </a:r>
          </a:p>
          <a:p>
            <a:r>
              <a:rPr lang="en-US" dirty="0"/>
              <a:t>Problem:</a:t>
            </a:r>
          </a:p>
          <a:p>
            <a:pPr lvl="1"/>
            <a:r>
              <a:rPr lang="en-US" dirty="0"/>
              <a:t>People can’t remember IP addresses</a:t>
            </a:r>
          </a:p>
          <a:p>
            <a:pPr lvl="1"/>
            <a:r>
              <a:rPr lang="en-US" dirty="0"/>
              <a:t>Need human readable names that map to IPs</a:t>
            </a:r>
          </a:p>
        </p:txBody>
      </p:sp>
    </p:spTree>
    <p:extLst>
      <p:ext uri="{BB962C8B-B14F-4D97-AF65-F5344CB8AC3E}">
        <p14:creationId xmlns:p14="http://schemas.microsoft.com/office/powerpoint/2010/main" val="3751274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Name System (DNS)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Indispensable component for the Internet</a:t>
            </a:r>
          </a:p>
          <a:p>
            <a:pPr lvl="1"/>
            <a:r>
              <a:rPr lang="en-US" dirty="0">
                <a:hlinkClick r:id="rId3"/>
              </a:rPr>
              <a:t>www.google.com</a:t>
            </a:r>
            <a:r>
              <a:rPr lang="en-US" dirty="0"/>
              <a:t> -&gt; 173.194.75.106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Used by a huge percentage of Internet applications</a:t>
            </a:r>
          </a:p>
          <a:p>
            <a:pPr lvl="1"/>
            <a:r>
              <a:rPr lang="en-US" dirty="0"/>
              <a:t>Browsers</a:t>
            </a:r>
          </a:p>
          <a:p>
            <a:pPr lvl="1"/>
            <a:r>
              <a:rPr lang="en-US" dirty="0"/>
              <a:t>FTP</a:t>
            </a:r>
          </a:p>
          <a:p>
            <a:pPr lvl="1"/>
            <a:r>
              <a:rPr lang="en-US" dirty="0"/>
              <a:t>Instant Messengers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3371923"/>
              </p:ext>
            </p:extLst>
          </p:nvPr>
        </p:nvGraphicFramePr>
        <p:xfrm>
          <a:off x="1066800" y="2534920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Destination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www.google.com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173.194.75.106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……..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…….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70036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at a High-Level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83B9EA5-CE9A-4950-A80C-5ADF06B45BB8}" type="slidenum">
              <a:rPr lang="en-US" smtClean="0"/>
              <a:t>27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Domain Name System</a:t>
            </a:r>
          </a:p>
          <a:p>
            <a:r>
              <a:rPr lang="en-US" dirty="0"/>
              <a:t>Distributed database</a:t>
            </a:r>
          </a:p>
          <a:p>
            <a:pPr lvl="1"/>
            <a:r>
              <a:rPr lang="en-US" dirty="0"/>
              <a:t>No centralization</a:t>
            </a:r>
          </a:p>
          <a:p>
            <a:r>
              <a:rPr lang="en-US" dirty="0"/>
              <a:t>Simple client/server architecture</a:t>
            </a:r>
          </a:p>
          <a:p>
            <a:pPr lvl="1"/>
            <a:r>
              <a:rPr lang="en-US" dirty="0"/>
              <a:t>UDP port 53, some implementations also use TCP</a:t>
            </a:r>
          </a:p>
          <a:p>
            <a:pPr lvl="1"/>
            <a:r>
              <a:rPr lang="en-US" dirty="0"/>
              <a:t>Why?</a:t>
            </a:r>
          </a:p>
          <a:p>
            <a:r>
              <a:rPr lang="en-US" dirty="0"/>
              <a:t>Hierarchical namespace</a:t>
            </a:r>
          </a:p>
          <a:p>
            <a:pPr lvl="1"/>
            <a:r>
              <a:rPr lang="en-US" dirty="0"/>
              <a:t>As opposed to original, flat namespace</a:t>
            </a:r>
          </a:p>
          <a:p>
            <a:pPr lvl="1"/>
            <a:r>
              <a:rPr lang="en-US" dirty="0"/>
              <a:t>e.g. .com </a:t>
            </a:r>
            <a:r>
              <a:rPr lang="en-US" dirty="0">
                <a:sym typeface="Wingdings" pitchFamily="2" charset="2"/>
              </a:rPr>
              <a:t> google.com  mail.google.com</a:t>
            </a:r>
          </a:p>
          <a:p>
            <a:pPr lvl="1"/>
            <a:r>
              <a:rPr lang="en-US" dirty="0"/>
              <a:t>Top level domain (.com), second level domain (.google), third level domain (.mail)</a:t>
            </a:r>
          </a:p>
          <a:p>
            <a:pPr lvl="1"/>
            <a:endParaRPr lang="en-US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596840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Naming Hierarchy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83B9EA5-CE9A-4950-A80C-5ADF06B45BB8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058886" y="3200402"/>
            <a:ext cx="5932714" cy="357051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Top Level Domains (TLDs) are at the top</a:t>
            </a:r>
          </a:p>
          <a:p>
            <a:r>
              <a:rPr lang="en-US" dirty="0"/>
              <a:t>Maximum tree depth: 128</a:t>
            </a:r>
          </a:p>
          <a:p>
            <a:r>
              <a:rPr lang="en-US" dirty="0"/>
              <a:t>Each Domain Name is a </a:t>
            </a:r>
            <a:r>
              <a:rPr lang="en-US" dirty="0" err="1"/>
              <a:t>subtree</a:t>
            </a:r>
            <a:endParaRPr lang="en-US" dirty="0"/>
          </a:p>
          <a:p>
            <a:pPr lvl="1"/>
            <a:r>
              <a:rPr lang="en-US" dirty="0"/>
              <a:t>.</a:t>
            </a:r>
            <a:r>
              <a:rPr lang="en-US" dirty="0" err="1"/>
              <a:t>edu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neu.edu  ccs.neu.edu  </a:t>
            </a:r>
            <a:r>
              <a:rPr lang="en-US" dirty="0">
                <a:sym typeface="Wingdings" pitchFamily="2" charset="2"/>
                <a:hlinkClick r:id="rId2"/>
              </a:rPr>
              <a:t>www.ccs.neu.edu</a:t>
            </a:r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Name collisions are avoided</a:t>
            </a:r>
          </a:p>
          <a:p>
            <a:pPr lvl="1"/>
            <a:r>
              <a:rPr lang="en-US" dirty="0">
                <a:sym typeface="Wingdings" pitchFamily="2" charset="2"/>
              </a:rPr>
              <a:t>neu.com vs. neu.edu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963867" y="1524388"/>
            <a:ext cx="835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Root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4237" y="2563006"/>
            <a:ext cx="699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edu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2332645" y="2563006"/>
            <a:ext cx="7665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68380" y="2563006"/>
            <a:ext cx="6815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gov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4519155" y="2563006"/>
            <a:ext cx="5790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67338" y="2563006"/>
            <a:ext cx="6303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org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531" y="2563006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581" y="2563006"/>
            <a:ext cx="510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uk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7380835" y="2563006"/>
            <a:ext cx="372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fr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8122230" y="2563006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etc.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298" y="3542718"/>
            <a:ext cx="699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neu</a:t>
            </a:r>
            <a:endParaRPr lang="en-US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2084278" y="3542717"/>
            <a:ext cx="5950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mit</a:t>
            </a:r>
            <a:endParaRPr lang="en-US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118789" y="4663950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997" y="4663950"/>
            <a:ext cx="6815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ece</a:t>
            </a:r>
            <a:endParaRPr 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1952775" y="4663950"/>
            <a:ext cx="989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husky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19" y="5926701"/>
            <a:ext cx="853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www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5185" y="5926701"/>
            <a:ext cx="8370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login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70920" y="5926701"/>
            <a:ext cx="750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mail</a:t>
            </a:r>
          </a:p>
        </p:txBody>
      </p:sp>
      <p:cxnSp>
        <p:nvCxnSpPr>
          <p:cNvPr id="24" name="Straight Connector 23"/>
          <p:cNvCxnSpPr>
            <a:stCxn id="5" idx="2"/>
            <a:endCxn id="6" idx="0"/>
          </p:cNvCxnSpPr>
          <p:nvPr/>
        </p:nvCxnSpPr>
        <p:spPr>
          <a:xfrm flipH="1">
            <a:off x="1613852" y="1986053"/>
            <a:ext cx="2767758" cy="5769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5" idx="2"/>
            <a:endCxn id="7" idx="0"/>
          </p:cNvCxnSpPr>
          <p:nvPr/>
        </p:nvCxnSpPr>
        <p:spPr>
          <a:xfrm flipH="1">
            <a:off x="2715924" y="1986053"/>
            <a:ext cx="1665686" cy="5769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5" idx="2"/>
            <a:endCxn id="8" idx="0"/>
          </p:cNvCxnSpPr>
          <p:nvPr/>
        </p:nvCxnSpPr>
        <p:spPr>
          <a:xfrm flipH="1">
            <a:off x="3809179" y="1986053"/>
            <a:ext cx="572431" cy="5769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5" idx="2"/>
            <a:endCxn id="9" idx="0"/>
          </p:cNvCxnSpPr>
          <p:nvPr/>
        </p:nvCxnSpPr>
        <p:spPr>
          <a:xfrm>
            <a:off x="4381610" y="1986053"/>
            <a:ext cx="427048" cy="5769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5" idx="2"/>
            <a:endCxn id="10" idx="0"/>
          </p:cNvCxnSpPr>
          <p:nvPr/>
        </p:nvCxnSpPr>
        <p:spPr>
          <a:xfrm>
            <a:off x="4381610" y="1986053"/>
            <a:ext cx="1400879" cy="5769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5" idx="2"/>
            <a:endCxn id="11" idx="0"/>
          </p:cNvCxnSpPr>
          <p:nvPr/>
        </p:nvCxnSpPr>
        <p:spPr>
          <a:xfrm flipH="1">
            <a:off x="513865" y="1986053"/>
            <a:ext cx="3867745" cy="5769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5" idx="2"/>
            <a:endCxn id="12" idx="0"/>
          </p:cNvCxnSpPr>
          <p:nvPr/>
        </p:nvCxnSpPr>
        <p:spPr>
          <a:xfrm>
            <a:off x="4381610" y="1986053"/>
            <a:ext cx="2375009" cy="5769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5" idx="2"/>
            <a:endCxn id="13" idx="0"/>
          </p:cNvCxnSpPr>
          <p:nvPr/>
        </p:nvCxnSpPr>
        <p:spPr>
          <a:xfrm>
            <a:off x="4381610" y="1986053"/>
            <a:ext cx="3185334" cy="5769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5" idx="2"/>
            <a:endCxn id="14" idx="0"/>
          </p:cNvCxnSpPr>
          <p:nvPr/>
        </p:nvCxnSpPr>
        <p:spPr>
          <a:xfrm>
            <a:off x="4381610" y="1986053"/>
            <a:ext cx="4080617" cy="5769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6" idx="2"/>
            <a:endCxn id="15" idx="0"/>
          </p:cNvCxnSpPr>
          <p:nvPr/>
        </p:nvCxnSpPr>
        <p:spPr>
          <a:xfrm flipH="1">
            <a:off x="644913" y="3024671"/>
            <a:ext cx="968939" cy="51804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6" idx="2"/>
            <a:endCxn id="16" idx="0"/>
          </p:cNvCxnSpPr>
          <p:nvPr/>
        </p:nvCxnSpPr>
        <p:spPr>
          <a:xfrm>
            <a:off x="1613852" y="3024671"/>
            <a:ext cx="767944" cy="51804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15" idx="2"/>
            <a:endCxn id="17" idx="0"/>
          </p:cNvCxnSpPr>
          <p:nvPr/>
        </p:nvCxnSpPr>
        <p:spPr>
          <a:xfrm flipH="1">
            <a:off x="441955" y="4004383"/>
            <a:ext cx="202958" cy="65956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15" idx="2"/>
            <a:endCxn id="18" idx="0"/>
          </p:cNvCxnSpPr>
          <p:nvPr/>
        </p:nvCxnSpPr>
        <p:spPr>
          <a:xfrm>
            <a:off x="644913" y="4004383"/>
            <a:ext cx="720883" cy="65956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5" idx="2"/>
            <a:endCxn id="19" idx="0"/>
          </p:cNvCxnSpPr>
          <p:nvPr/>
        </p:nvCxnSpPr>
        <p:spPr>
          <a:xfrm>
            <a:off x="644913" y="4004383"/>
            <a:ext cx="1802549" cy="65956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7" idx="2"/>
            <a:endCxn id="20" idx="0"/>
          </p:cNvCxnSpPr>
          <p:nvPr/>
        </p:nvCxnSpPr>
        <p:spPr>
          <a:xfrm>
            <a:off x="441955" y="5125615"/>
            <a:ext cx="82424" cy="80108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17" idx="2"/>
            <a:endCxn id="21" idx="0"/>
          </p:cNvCxnSpPr>
          <p:nvPr/>
        </p:nvCxnSpPr>
        <p:spPr>
          <a:xfrm>
            <a:off x="441955" y="5125615"/>
            <a:ext cx="1111775" cy="80108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17" idx="2"/>
            <a:endCxn id="22" idx="0"/>
          </p:cNvCxnSpPr>
          <p:nvPr/>
        </p:nvCxnSpPr>
        <p:spPr>
          <a:xfrm>
            <a:off x="441955" y="5125615"/>
            <a:ext cx="2204228" cy="80108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139714" y="2497689"/>
            <a:ext cx="8662510" cy="657069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ounded Rectangle 75"/>
          <p:cNvSpPr/>
          <p:nvPr/>
        </p:nvSpPr>
        <p:spPr>
          <a:xfrm>
            <a:off x="72950" y="5828998"/>
            <a:ext cx="830565" cy="657069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ounded Rectangle 76"/>
          <p:cNvSpPr/>
          <p:nvPr/>
        </p:nvSpPr>
        <p:spPr>
          <a:xfrm>
            <a:off x="72996" y="4566247"/>
            <a:ext cx="703010" cy="657069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ounded Rectangle 77"/>
          <p:cNvSpPr/>
          <p:nvPr/>
        </p:nvSpPr>
        <p:spPr>
          <a:xfrm>
            <a:off x="283706" y="3445015"/>
            <a:ext cx="703010" cy="657069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ounded Rectangle 78"/>
          <p:cNvSpPr/>
          <p:nvPr/>
        </p:nvSpPr>
        <p:spPr>
          <a:xfrm>
            <a:off x="1269069" y="2495857"/>
            <a:ext cx="703010" cy="657069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525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75" grpId="1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79" grpId="0" animBg="1"/>
      <p:bldP spid="79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Administration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83B9EA5-CE9A-4950-A80C-5ADF06B45BB8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058886" y="3200402"/>
            <a:ext cx="5932714" cy="357051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Tree is divided into zones</a:t>
            </a:r>
          </a:p>
          <a:p>
            <a:pPr lvl="1"/>
            <a:r>
              <a:rPr lang="en-US" dirty="0"/>
              <a:t>Each zone has an administrator</a:t>
            </a:r>
          </a:p>
          <a:p>
            <a:pPr lvl="1"/>
            <a:r>
              <a:rPr lang="en-US" dirty="0"/>
              <a:t>Responsible for the part of the hierarchy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CCIS controls *.ccs.neu.edu</a:t>
            </a:r>
          </a:p>
          <a:p>
            <a:pPr lvl="1"/>
            <a:r>
              <a:rPr lang="en-US" dirty="0"/>
              <a:t>NEU controls *.neu.edu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3867" y="1567932"/>
            <a:ext cx="835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Root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9807" y="2606550"/>
            <a:ext cx="699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edu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2278215" y="2606550"/>
            <a:ext cx="7665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3950" y="2606550"/>
            <a:ext cx="6815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gov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4464725" y="2606550"/>
            <a:ext cx="5790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12908" y="2606550"/>
            <a:ext cx="6303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org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570" y="2606550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581" y="2606550"/>
            <a:ext cx="510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uk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7380835" y="2606550"/>
            <a:ext cx="372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fr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8122230" y="2606550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etc.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298" y="3586262"/>
            <a:ext cx="699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neu</a:t>
            </a:r>
            <a:endParaRPr lang="en-US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1452890" y="3586261"/>
            <a:ext cx="5950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mit</a:t>
            </a:r>
            <a:endParaRPr lang="en-US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118789" y="4707494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19" y="5970245"/>
            <a:ext cx="853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www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5185" y="5970245"/>
            <a:ext cx="8370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login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70920" y="5970245"/>
            <a:ext cx="750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mail</a:t>
            </a:r>
          </a:p>
        </p:txBody>
      </p:sp>
      <p:cxnSp>
        <p:nvCxnSpPr>
          <p:cNvPr id="24" name="Straight Connector 23"/>
          <p:cNvCxnSpPr>
            <a:stCxn id="5" idx="2"/>
            <a:endCxn id="6" idx="0"/>
          </p:cNvCxnSpPr>
          <p:nvPr/>
        </p:nvCxnSpPr>
        <p:spPr>
          <a:xfrm flipH="1">
            <a:off x="1559422" y="2029597"/>
            <a:ext cx="2822188" cy="5769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5" idx="2"/>
            <a:endCxn id="7" idx="0"/>
          </p:cNvCxnSpPr>
          <p:nvPr/>
        </p:nvCxnSpPr>
        <p:spPr>
          <a:xfrm flipH="1">
            <a:off x="2661494" y="2029597"/>
            <a:ext cx="1720116" cy="5769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5" idx="2"/>
            <a:endCxn id="8" idx="0"/>
          </p:cNvCxnSpPr>
          <p:nvPr/>
        </p:nvCxnSpPr>
        <p:spPr>
          <a:xfrm flipH="1">
            <a:off x="3754749" y="2029597"/>
            <a:ext cx="626861" cy="5769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5" idx="2"/>
            <a:endCxn id="9" idx="0"/>
          </p:cNvCxnSpPr>
          <p:nvPr/>
        </p:nvCxnSpPr>
        <p:spPr>
          <a:xfrm>
            <a:off x="4381610" y="2029597"/>
            <a:ext cx="372618" cy="5769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5" idx="2"/>
            <a:endCxn id="10" idx="0"/>
          </p:cNvCxnSpPr>
          <p:nvPr/>
        </p:nvCxnSpPr>
        <p:spPr>
          <a:xfrm>
            <a:off x="4381610" y="2029597"/>
            <a:ext cx="1346449" cy="5769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5" idx="2"/>
            <a:endCxn id="11" idx="0"/>
          </p:cNvCxnSpPr>
          <p:nvPr/>
        </p:nvCxnSpPr>
        <p:spPr>
          <a:xfrm flipH="1">
            <a:off x="602904" y="2029597"/>
            <a:ext cx="3778706" cy="5769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5" idx="2"/>
            <a:endCxn id="12" idx="0"/>
          </p:cNvCxnSpPr>
          <p:nvPr/>
        </p:nvCxnSpPr>
        <p:spPr>
          <a:xfrm>
            <a:off x="4381610" y="2029597"/>
            <a:ext cx="2375009" cy="5769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5" idx="2"/>
            <a:endCxn id="13" idx="0"/>
          </p:cNvCxnSpPr>
          <p:nvPr/>
        </p:nvCxnSpPr>
        <p:spPr>
          <a:xfrm>
            <a:off x="4381610" y="2029597"/>
            <a:ext cx="3185334" cy="5769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5" idx="2"/>
            <a:endCxn id="14" idx="0"/>
          </p:cNvCxnSpPr>
          <p:nvPr/>
        </p:nvCxnSpPr>
        <p:spPr>
          <a:xfrm>
            <a:off x="4381610" y="2029597"/>
            <a:ext cx="4080617" cy="5769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6" idx="2"/>
            <a:endCxn id="15" idx="0"/>
          </p:cNvCxnSpPr>
          <p:nvPr/>
        </p:nvCxnSpPr>
        <p:spPr>
          <a:xfrm flipH="1">
            <a:off x="644913" y="3068215"/>
            <a:ext cx="914509" cy="51804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6" idx="2"/>
            <a:endCxn id="16" idx="0"/>
          </p:cNvCxnSpPr>
          <p:nvPr/>
        </p:nvCxnSpPr>
        <p:spPr>
          <a:xfrm>
            <a:off x="1559422" y="3068215"/>
            <a:ext cx="190986" cy="51804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15" idx="2"/>
            <a:endCxn id="17" idx="0"/>
          </p:cNvCxnSpPr>
          <p:nvPr/>
        </p:nvCxnSpPr>
        <p:spPr>
          <a:xfrm flipH="1">
            <a:off x="441955" y="4047927"/>
            <a:ext cx="202958" cy="65956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7" idx="2"/>
            <a:endCxn id="20" idx="0"/>
          </p:cNvCxnSpPr>
          <p:nvPr/>
        </p:nvCxnSpPr>
        <p:spPr>
          <a:xfrm>
            <a:off x="441955" y="5169159"/>
            <a:ext cx="82424" cy="80108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17" idx="2"/>
            <a:endCxn id="21" idx="0"/>
          </p:cNvCxnSpPr>
          <p:nvPr/>
        </p:nvCxnSpPr>
        <p:spPr>
          <a:xfrm>
            <a:off x="441955" y="5169159"/>
            <a:ext cx="1111775" cy="80108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17" idx="2"/>
            <a:endCxn id="22" idx="0"/>
          </p:cNvCxnSpPr>
          <p:nvPr/>
        </p:nvCxnSpPr>
        <p:spPr>
          <a:xfrm>
            <a:off x="441955" y="5169159"/>
            <a:ext cx="2204228" cy="80108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3777342" y="1578819"/>
            <a:ext cx="1230085" cy="450778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ounded Rectangle 76"/>
          <p:cNvSpPr/>
          <p:nvPr/>
        </p:nvSpPr>
        <p:spPr>
          <a:xfrm>
            <a:off x="72996" y="4609791"/>
            <a:ext cx="2948450" cy="1910754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ounded Rectangle 77"/>
          <p:cNvSpPr/>
          <p:nvPr/>
        </p:nvSpPr>
        <p:spPr>
          <a:xfrm>
            <a:off x="283706" y="3488559"/>
            <a:ext cx="703010" cy="657069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ounded Rectangle 78"/>
          <p:cNvSpPr/>
          <p:nvPr/>
        </p:nvSpPr>
        <p:spPr>
          <a:xfrm>
            <a:off x="1417336" y="3488559"/>
            <a:ext cx="703010" cy="657069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/>
          <p:cNvSpPr/>
          <p:nvPr/>
        </p:nvSpPr>
        <p:spPr>
          <a:xfrm>
            <a:off x="6405114" y="2508847"/>
            <a:ext cx="703010" cy="657069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ounded Rectangle 48"/>
          <p:cNvSpPr/>
          <p:nvPr/>
        </p:nvSpPr>
        <p:spPr>
          <a:xfrm>
            <a:off x="7215439" y="2507020"/>
            <a:ext cx="703010" cy="657069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ounded Rectangle 52"/>
          <p:cNvSpPr/>
          <p:nvPr/>
        </p:nvSpPr>
        <p:spPr>
          <a:xfrm>
            <a:off x="5376554" y="2505193"/>
            <a:ext cx="703010" cy="657069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ounded Rectangle 54"/>
          <p:cNvSpPr/>
          <p:nvPr/>
        </p:nvSpPr>
        <p:spPr>
          <a:xfrm>
            <a:off x="4402723" y="2503366"/>
            <a:ext cx="703010" cy="657069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ounded Rectangle 55"/>
          <p:cNvSpPr/>
          <p:nvPr/>
        </p:nvSpPr>
        <p:spPr>
          <a:xfrm>
            <a:off x="283706" y="2508847"/>
            <a:ext cx="3822547" cy="657069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/>
          <p:cNvGrpSpPr/>
          <p:nvPr/>
        </p:nvGrpSpPr>
        <p:grpSpPr>
          <a:xfrm flipH="1">
            <a:off x="5531071" y="1578819"/>
            <a:ext cx="1480586" cy="570006"/>
            <a:chOff x="1219200" y="4876799"/>
            <a:chExt cx="5181605" cy="1384995"/>
          </a:xfrm>
        </p:grpSpPr>
        <p:sp>
          <p:nvSpPr>
            <p:cNvPr id="59" name="Rectangular Callout 58"/>
            <p:cNvSpPr/>
            <p:nvPr/>
          </p:nvSpPr>
          <p:spPr>
            <a:xfrm>
              <a:off x="1219200" y="4876799"/>
              <a:ext cx="5181602" cy="1384995"/>
            </a:xfrm>
            <a:prstGeom prst="wedgeRectCallout">
              <a:avLst>
                <a:gd name="adj1" fmla="val 91902"/>
                <a:gd name="adj2" fmla="val -10671"/>
              </a:avLst>
            </a:prstGeom>
            <a:solidFill>
              <a:srgbClr val="DA1F28"/>
            </a:solidFill>
            <a:ln w="38100" cap="flat" cmpd="sng" algn="ctr">
              <a:solidFill>
                <a:srgbClr val="DA1F28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219204" y="4876799"/>
              <a:ext cx="5181601" cy="7595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</a:rPr>
                <a:t>ICANN</a:t>
              </a:r>
            </a:p>
          </p:txBody>
        </p:sp>
      </p:grpSp>
      <p:grpSp>
        <p:nvGrpSpPr>
          <p:cNvPr id="62" name="Group 61"/>
          <p:cNvGrpSpPr/>
          <p:nvPr/>
        </p:nvGrpSpPr>
        <p:grpSpPr>
          <a:xfrm flipH="1">
            <a:off x="997842" y="1606400"/>
            <a:ext cx="1698173" cy="570006"/>
            <a:chOff x="1219200" y="4876799"/>
            <a:chExt cx="5181605" cy="1384995"/>
          </a:xfrm>
        </p:grpSpPr>
        <p:sp>
          <p:nvSpPr>
            <p:cNvPr id="64" name="Rectangular Callout 63"/>
            <p:cNvSpPr/>
            <p:nvPr/>
          </p:nvSpPr>
          <p:spPr>
            <a:xfrm>
              <a:off x="1219200" y="4876799"/>
              <a:ext cx="5181602" cy="1384995"/>
            </a:xfrm>
            <a:prstGeom prst="wedgeRectCallout">
              <a:avLst>
                <a:gd name="adj1" fmla="val -34463"/>
                <a:gd name="adj2" fmla="val 124922"/>
              </a:avLst>
            </a:prstGeom>
            <a:solidFill>
              <a:srgbClr val="DA1F28"/>
            </a:solidFill>
            <a:ln w="38100" cap="flat" cmpd="sng" algn="ctr">
              <a:solidFill>
                <a:srgbClr val="DA1F28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219204" y="4876799"/>
              <a:ext cx="5181601" cy="7595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</a:rPr>
                <a:t>Verisign</a:t>
              </a: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9771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DNS Works</a:t>
            </a:r>
          </a:p>
        </p:txBody>
      </p:sp>
      <p:pic>
        <p:nvPicPr>
          <p:cNvPr id="4" name="Picture 6" descr="j019538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4914" y="3134253"/>
            <a:ext cx="767669" cy="94462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5" name="tower"/>
          <p:cNvSpPr>
            <a:spLocks noEditPoints="1" noChangeArrowheads="1"/>
          </p:cNvSpPr>
          <p:nvPr/>
        </p:nvSpPr>
        <p:spPr bwMode="auto">
          <a:xfrm>
            <a:off x="3297173" y="3212856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6" name="tower"/>
          <p:cNvSpPr>
            <a:spLocks noEditPoints="1" noChangeArrowheads="1"/>
          </p:cNvSpPr>
          <p:nvPr/>
        </p:nvSpPr>
        <p:spPr bwMode="auto">
          <a:xfrm>
            <a:off x="6565318" y="1623542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7" name="tower"/>
          <p:cNvSpPr>
            <a:spLocks noEditPoints="1" noChangeArrowheads="1"/>
          </p:cNvSpPr>
          <p:nvPr/>
        </p:nvSpPr>
        <p:spPr bwMode="auto">
          <a:xfrm>
            <a:off x="6565318" y="3134253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8" name="tower"/>
          <p:cNvSpPr>
            <a:spLocks noEditPoints="1" noChangeArrowheads="1"/>
          </p:cNvSpPr>
          <p:nvPr/>
        </p:nvSpPr>
        <p:spPr bwMode="auto">
          <a:xfrm>
            <a:off x="6565318" y="4744114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753809" y="3580191"/>
            <a:ext cx="1282095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4010781" y="2068286"/>
            <a:ext cx="2423886" cy="1337734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4010782" y="2211011"/>
            <a:ext cx="2341008" cy="1333404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4010782" y="3580191"/>
            <a:ext cx="2423885" cy="15240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4010781" y="3732591"/>
            <a:ext cx="2276325" cy="137885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010782" y="4090971"/>
            <a:ext cx="2423885" cy="868077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3839017" y="4245429"/>
            <a:ext cx="2595650" cy="930666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1738080" y="3813448"/>
            <a:ext cx="1297824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648215" y="3175083"/>
            <a:ext cx="143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cash.foo.com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138216" y="2577706"/>
            <a:ext cx="992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Recursive</a:t>
            </a:r>
          </a:p>
          <a:p>
            <a:r>
              <a:rPr lang="en-US" sz="1400" dirty="0"/>
              <a:t>DNS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1829" y="1361932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Root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8460" y="2980364"/>
            <a:ext cx="10060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com server</a:t>
            </a:r>
          </a:p>
          <a:p>
            <a:r>
              <a:rPr lang="en-US" sz="1400" dirty="0"/>
              <a:t>(IP: Y.Y.Y.Y)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8460" y="4592683"/>
            <a:ext cx="9924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foo server</a:t>
            </a:r>
          </a:p>
          <a:p>
            <a:r>
              <a:rPr lang="en-US" sz="1400" dirty="0"/>
              <a:t>(IP: Z.Z.Z.Z)</a:t>
            </a:r>
          </a:p>
        </p:txBody>
      </p:sp>
      <p:sp>
        <p:nvSpPr>
          <p:cNvPr id="22" name="TextBox 21"/>
          <p:cNvSpPr txBox="1"/>
          <p:nvPr/>
        </p:nvSpPr>
        <p:spPr>
          <a:xfrm rot="19909190">
            <a:off x="4367262" y="2346073"/>
            <a:ext cx="16337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“.com” server IP?</a:t>
            </a:r>
          </a:p>
        </p:txBody>
      </p:sp>
      <p:sp>
        <p:nvSpPr>
          <p:cNvPr id="23" name="TextBox 22"/>
          <p:cNvSpPr txBox="1"/>
          <p:nvPr/>
        </p:nvSpPr>
        <p:spPr>
          <a:xfrm rot="21401500">
            <a:off x="4393940" y="3341089"/>
            <a:ext cx="16959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“</a:t>
            </a:r>
            <a:r>
              <a:rPr lang="en-US" sz="1400" dirty="0" err="1"/>
              <a:t>foo.com</a:t>
            </a:r>
            <a:r>
              <a:rPr lang="en-US" sz="1400" dirty="0"/>
              <a:t>” server IP?</a:t>
            </a:r>
          </a:p>
        </p:txBody>
      </p:sp>
      <p:sp>
        <p:nvSpPr>
          <p:cNvPr id="24" name="TextBox 23"/>
          <p:cNvSpPr txBox="1"/>
          <p:nvPr/>
        </p:nvSpPr>
        <p:spPr>
          <a:xfrm rot="1107061">
            <a:off x="4497984" y="4213750"/>
            <a:ext cx="1571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“</a:t>
            </a:r>
            <a:r>
              <a:rPr lang="en-US" sz="1400" dirty="0" err="1"/>
              <a:t>cash.foo.com</a:t>
            </a:r>
            <a:r>
              <a:rPr lang="en-US" sz="1400" dirty="0"/>
              <a:t>” IP?</a:t>
            </a:r>
          </a:p>
        </p:txBody>
      </p:sp>
      <p:sp>
        <p:nvSpPr>
          <p:cNvPr id="25" name="TextBox 24"/>
          <p:cNvSpPr txBox="1"/>
          <p:nvPr/>
        </p:nvSpPr>
        <p:spPr>
          <a:xfrm rot="1194034">
            <a:off x="4200554" y="4730375"/>
            <a:ext cx="1757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cash.foo.com</a:t>
            </a:r>
            <a:r>
              <a:rPr lang="en-US" sz="1400" dirty="0"/>
              <a:t>: X.X.X.X</a:t>
            </a:r>
          </a:p>
          <a:p>
            <a:r>
              <a:rPr lang="en-US" sz="1400" dirty="0" err="1"/>
              <a:t>foo.com</a:t>
            </a:r>
            <a:r>
              <a:rPr lang="en-US" sz="1400" dirty="0"/>
              <a:t>: Z.Z.Z.Z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74533" y="3975367"/>
            <a:ext cx="1757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cash.foo.com</a:t>
            </a:r>
            <a:r>
              <a:rPr lang="en-US" sz="1400" dirty="0"/>
              <a:t>: X.X.X.X</a:t>
            </a:r>
          </a:p>
          <a:p>
            <a:r>
              <a:rPr lang="en-US" sz="1400" dirty="0" err="1"/>
              <a:t>foo.com</a:t>
            </a:r>
            <a:r>
              <a:rPr lang="en-US" sz="1400" dirty="0"/>
              <a:t>: Z.Z.Z.Z</a:t>
            </a:r>
          </a:p>
        </p:txBody>
      </p:sp>
      <p:sp>
        <p:nvSpPr>
          <p:cNvPr id="29" name="TextBox 28"/>
          <p:cNvSpPr txBox="1"/>
          <p:nvPr/>
        </p:nvSpPr>
        <p:spPr>
          <a:xfrm rot="19810821">
            <a:off x="5028579" y="2733085"/>
            <a:ext cx="671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Y.Y.Y.Y</a:t>
            </a:r>
          </a:p>
        </p:txBody>
      </p:sp>
      <p:sp>
        <p:nvSpPr>
          <p:cNvPr id="30" name="TextBox 29"/>
          <p:cNvSpPr txBox="1"/>
          <p:nvPr/>
        </p:nvSpPr>
        <p:spPr>
          <a:xfrm rot="21438475">
            <a:off x="4978966" y="3729140"/>
            <a:ext cx="6591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Z.Z.Z.Z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115145"/>
              </p:ext>
            </p:extLst>
          </p:nvPr>
        </p:nvGraphicFramePr>
        <p:xfrm>
          <a:off x="6402115" y="5758105"/>
          <a:ext cx="2486782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3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168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68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cash.foo.com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X.X.X.X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13717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DNS Works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201746"/>
              </p:ext>
            </p:extLst>
          </p:nvPr>
        </p:nvGraphicFramePr>
        <p:xfrm>
          <a:off x="4236295" y="1850363"/>
          <a:ext cx="3599516" cy="8229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113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9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(16 bits)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(53)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ID (16 bits)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Query: </a:t>
                      </a:r>
                      <a:r>
                        <a:rPr lang="en-US" sz="1400" b="0" dirty="0" err="1"/>
                        <a:t>cash.foo.com</a:t>
                      </a:r>
                      <a:endParaRPr lang="en-US" sz="14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6" descr="j019538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1079" y="3072103"/>
            <a:ext cx="767669" cy="94462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6" name="tower"/>
          <p:cNvSpPr>
            <a:spLocks noEditPoints="1" noChangeArrowheads="1"/>
          </p:cNvSpPr>
          <p:nvPr/>
        </p:nvSpPr>
        <p:spPr bwMode="auto">
          <a:xfrm>
            <a:off x="3468938" y="3075551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7" name="tower"/>
          <p:cNvSpPr>
            <a:spLocks noEditPoints="1" noChangeArrowheads="1"/>
          </p:cNvSpPr>
          <p:nvPr/>
        </p:nvSpPr>
        <p:spPr bwMode="auto">
          <a:xfrm>
            <a:off x="7564386" y="3060008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430500" y="3398762"/>
            <a:ext cx="1438577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141434" y="3398762"/>
            <a:ext cx="3091518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4141436" y="3619924"/>
            <a:ext cx="3091516" cy="7269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1430501" y="3619924"/>
            <a:ext cx="1438576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30500" y="2887437"/>
            <a:ext cx="143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cash.foo.com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243716" y="2536788"/>
            <a:ext cx="992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Recursive</a:t>
            </a:r>
          </a:p>
          <a:p>
            <a:pPr algn="ctr"/>
            <a:r>
              <a:rPr lang="en-US" sz="1400" dirty="0"/>
              <a:t>DNS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8257" y="2536788"/>
            <a:ext cx="9924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foo server</a:t>
            </a:r>
          </a:p>
          <a:p>
            <a:r>
              <a:rPr lang="en-US" sz="1400" dirty="0"/>
              <a:t>(IP: Z.Z.Z.Z)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4187" y="3665538"/>
            <a:ext cx="19819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cash.foo.com</a:t>
            </a:r>
            <a:r>
              <a:rPr lang="en-US" sz="1600" dirty="0"/>
              <a:t>: X.X.X.X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166303"/>
              </p:ext>
            </p:extLst>
          </p:nvPr>
        </p:nvGraphicFramePr>
        <p:xfrm>
          <a:off x="4291831" y="3998589"/>
          <a:ext cx="3260460" cy="10363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08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5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(53)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(16 bits)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ID (16bits)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1400" b="0" dirty="0" err="1"/>
                        <a:t>cash.foo.com</a:t>
                      </a:r>
                      <a:r>
                        <a:rPr lang="en-US" sz="1400" b="0" dirty="0"/>
                        <a:t>: </a:t>
                      </a:r>
                      <a:r>
                        <a:rPr lang="en-US" sz="1400" b="0" dirty="0" err="1"/>
                        <a:t>x.x.x.x</a:t>
                      </a:r>
                      <a:endParaRPr lang="en-US" sz="1400" b="0" dirty="0"/>
                    </a:p>
                    <a:p>
                      <a:pPr algn="l"/>
                      <a:r>
                        <a:rPr lang="en-US" sz="1400" b="0" dirty="0" err="1"/>
                        <a:t>foo.com</a:t>
                      </a:r>
                      <a:r>
                        <a:rPr lang="en-US" sz="1400" b="0" dirty="0"/>
                        <a:t>: </a:t>
                      </a:r>
                      <a:r>
                        <a:rPr lang="en-US" sz="1400" b="0" dirty="0" err="1"/>
                        <a:t>z.z.z.z</a:t>
                      </a:r>
                      <a:endParaRPr lang="en-US" sz="14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490509" y="1436000"/>
            <a:ext cx="11738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A UDP Packet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3438" y="5146390"/>
            <a:ext cx="11738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A UDP Packet</a:t>
            </a:r>
          </a:p>
        </p:txBody>
      </p:sp>
    </p:spTree>
    <p:extLst>
      <p:ext uri="{BB962C8B-B14F-4D97-AF65-F5344CB8AC3E}">
        <p14:creationId xmlns:p14="http://schemas.microsoft.com/office/powerpoint/2010/main" val="28731406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Poisoning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2028"/>
            <a:ext cx="8229600" cy="76245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How a recursive server accepts a response from the authoritative server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521554"/>
              </p:ext>
            </p:extLst>
          </p:nvPr>
        </p:nvGraphicFramePr>
        <p:xfrm>
          <a:off x="4236295" y="2449183"/>
          <a:ext cx="3599516" cy="8229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113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9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(16 bits)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(53)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ID (16 bits)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Query: </a:t>
                      </a:r>
                      <a:r>
                        <a:rPr lang="en-US" sz="1400" b="0" dirty="0" err="1"/>
                        <a:t>cash.foo.com</a:t>
                      </a:r>
                      <a:endParaRPr lang="en-US" sz="14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6" descr="j019538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1079" y="3523328"/>
            <a:ext cx="767669" cy="94462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6" name="tower"/>
          <p:cNvSpPr>
            <a:spLocks noEditPoints="1" noChangeArrowheads="1"/>
          </p:cNvSpPr>
          <p:nvPr/>
        </p:nvSpPr>
        <p:spPr bwMode="auto">
          <a:xfrm>
            <a:off x="3468938" y="3526776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7" name="tower"/>
          <p:cNvSpPr>
            <a:spLocks noEditPoints="1" noChangeArrowheads="1"/>
          </p:cNvSpPr>
          <p:nvPr/>
        </p:nvSpPr>
        <p:spPr bwMode="auto">
          <a:xfrm>
            <a:off x="7564386" y="3416977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430500" y="3849987"/>
            <a:ext cx="1438577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141434" y="3849987"/>
            <a:ext cx="3091518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4141436" y="4071149"/>
            <a:ext cx="3091516" cy="7269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1430501" y="4071149"/>
            <a:ext cx="1438576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30500" y="3338662"/>
            <a:ext cx="143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cash.foo.com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243716" y="2988013"/>
            <a:ext cx="992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Recursive</a:t>
            </a:r>
          </a:p>
          <a:p>
            <a:pPr algn="ctr"/>
            <a:r>
              <a:rPr lang="en-US" sz="1400" dirty="0"/>
              <a:t>DNS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9617" y="2927813"/>
            <a:ext cx="9924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foo server</a:t>
            </a:r>
          </a:p>
          <a:p>
            <a:r>
              <a:rPr lang="en-US" sz="1400" dirty="0"/>
              <a:t>(IP: Z.Z.Z.Z)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4187" y="4116763"/>
            <a:ext cx="19819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cash.foo.com</a:t>
            </a:r>
            <a:r>
              <a:rPr lang="en-US" sz="1600" dirty="0"/>
              <a:t>: X.X.X.X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566244"/>
              </p:ext>
            </p:extLst>
          </p:nvPr>
        </p:nvGraphicFramePr>
        <p:xfrm>
          <a:off x="4303926" y="4451918"/>
          <a:ext cx="3260460" cy="10363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08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5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54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(53)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(16 bits)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ID (16bits)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1400" b="0" dirty="0" err="1"/>
                        <a:t>cash.foo.com</a:t>
                      </a:r>
                      <a:r>
                        <a:rPr lang="en-US" sz="1400" b="0" dirty="0"/>
                        <a:t>: </a:t>
                      </a:r>
                      <a:r>
                        <a:rPr lang="en-US" sz="1400" b="0" dirty="0" err="1"/>
                        <a:t>x.x.x.x</a:t>
                      </a:r>
                      <a:endParaRPr lang="en-US" sz="1400" b="0" dirty="0"/>
                    </a:p>
                    <a:p>
                      <a:pPr algn="l"/>
                      <a:r>
                        <a:rPr lang="en-US" sz="1400" b="0" dirty="0" err="1"/>
                        <a:t>foo.com</a:t>
                      </a:r>
                      <a:r>
                        <a:rPr lang="en-US" sz="1400" b="0" dirty="0"/>
                        <a:t>: </a:t>
                      </a:r>
                      <a:r>
                        <a:rPr lang="en-US" sz="1400" b="0" dirty="0" err="1"/>
                        <a:t>z.z.z.z</a:t>
                      </a:r>
                      <a:endParaRPr lang="en-US" sz="14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4332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Arrow Connector 21"/>
          <p:cNvCxnSpPr/>
          <p:nvPr/>
        </p:nvCxnSpPr>
        <p:spPr>
          <a:xfrm flipH="1" flipV="1">
            <a:off x="4010784" y="3586004"/>
            <a:ext cx="1621972" cy="262413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Poisoning Attack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761953"/>
              </p:ext>
            </p:extLst>
          </p:nvPr>
        </p:nvGraphicFramePr>
        <p:xfrm>
          <a:off x="4236295" y="1474999"/>
          <a:ext cx="3599516" cy="8229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113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9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(16 bits)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(53)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ID (16 bits)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Query: </a:t>
                      </a:r>
                      <a:r>
                        <a:rPr lang="en-US" sz="1400" b="0" dirty="0" err="1"/>
                        <a:t>cash.foo.com</a:t>
                      </a:r>
                      <a:endParaRPr lang="en-US" sz="14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6" descr="j019538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1079" y="2549144"/>
            <a:ext cx="767669" cy="94462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6" name="tower"/>
          <p:cNvSpPr>
            <a:spLocks noEditPoints="1" noChangeArrowheads="1"/>
          </p:cNvSpPr>
          <p:nvPr/>
        </p:nvSpPr>
        <p:spPr bwMode="auto">
          <a:xfrm>
            <a:off x="3468938" y="2552592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7" name="tower"/>
          <p:cNvSpPr>
            <a:spLocks noEditPoints="1" noChangeArrowheads="1"/>
          </p:cNvSpPr>
          <p:nvPr/>
        </p:nvSpPr>
        <p:spPr bwMode="auto">
          <a:xfrm>
            <a:off x="7564386" y="2442793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430500" y="2875803"/>
            <a:ext cx="1438577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141434" y="2875803"/>
            <a:ext cx="3091518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4141436" y="3096965"/>
            <a:ext cx="3091516" cy="7269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1430501" y="3096965"/>
            <a:ext cx="1438576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30500" y="2364478"/>
            <a:ext cx="143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cash.foo.com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243716" y="2013829"/>
            <a:ext cx="992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Recursive</a:t>
            </a:r>
          </a:p>
          <a:p>
            <a:pPr algn="ctr"/>
            <a:r>
              <a:rPr lang="en-US" sz="1400" dirty="0"/>
              <a:t>DNS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9617" y="1953629"/>
            <a:ext cx="9924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foo server</a:t>
            </a:r>
          </a:p>
          <a:p>
            <a:r>
              <a:rPr lang="en-US" sz="1400" dirty="0"/>
              <a:t>(IP: Z.Z.Z.Z)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4187" y="3142579"/>
            <a:ext cx="19819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cash.foo.com</a:t>
            </a:r>
            <a:r>
              <a:rPr lang="en-US" sz="1600" dirty="0"/>
              <a:t>: X.X.X.X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067467"/>
              </p:ext>
            </p:extLst>
          </p:nvPr>
        </p:nvGraphicFramePr>
        <p:xfrm>
          <a:off x="4697797" y="3346869"/>
          <a:ext cx="3260460" cy="10363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08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5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54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(53)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(16 bits)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ID (16bits)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1400" b="0" dirty="0" err="1"/>
                        <a:t>cash.foo.com</a:t>
                      </a:r>
                      <a:r>
                        <a:rPr lang="en-US" sz="1400" b="0" dirty="0"/>
                        <a:t>: </a:t>
                      </a:r>
                      <a:r>
                        <a:rPr lang="en-US" sz="1400" b="0" dirty="0" err="1"/>
                        <a:t>x.x.x.x</a:t>
                      </a:r>
                      <a:endParaRPr lang="en-US" sz="1400" b="0" dirty="0"/>
                    </a:p>
                    <a:p>
                      <a:pPr algn="l"/>
                      <a:r>
                        <a:rPr lang="en-US" sz="1400" b="0" dirty="0" err="1"/>
                        <a:t>foo.com</a:t>
                      </a:r>
                      <a:r>
                        <a:rPr lang="en-US" sz="1400" b="0" dirty="0"/>
                        <a:t>: </a:t>
                      </a:r>
                      <a:r>
                        <a:rPr lang="en-US" sz="1400" b="0" dirty="0" err="1"/>
                        <a:t>z.z.z.z</a:t>
                      </a:r>
                      <a:endParaRPr lang="en-US" sz="14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Picture 2" descr="cyber-crime-hacker-270x167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2756" y="5838668"/>
            <a:ext cx="1201160" cy="742940"/>
          </a:xfrm>
          <a:prstGeom prst="rect">
            <a:avLst/>
          </a:prstGeom>
        </p:spPr>
      </p:pic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010623"/>
              </p:ext>
            </p:extLst>
          </p:nvPr>
        </p:nvGraphicFramePr>
        <p:xfrm>
          <a:off x="2243692" y="4802349"/>
          <a:ext cx="3260460" cy="10363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08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5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54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(53)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(16 bits)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ID (16bits)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1400" b="0" dirty="0" err="1"/>
                        <a:t>cash.foo.com</a:t>
                      </a:r>
                      <a:r>
                        <a:rPr lang="en-US" sz="1400" b="0" dirty="0"/>
                        <a:t>: </a:t>
                      </a:r>
                      <a:r>
                        <a:rPr lang="en-US" sz="1400" b="0" dirty="0" err="1">
                          <a:solidFill>
                            <a:srgbClr val="FF0000"/>
                          </a:solidFill>
                        </a:rPr>
                        <a:t>m.m.m.m</a:t>
                      </a:r>
                      <a:endParaRPr lang="en-US" sz="1400" b="0" dirty="0">
                        <a:solidFill>
                          <a:srgbClr val="FF0000"/>
                        </a:solidFill>
                      </a:endParaRPr>
                    </a:p>
                    <a:p>
                      <a:pPr algn="l"/>
                      <a:r>
                        <a:rPr lang="en-US" sz="1400" b="0" dirty="0" err="1"/>
                        <a:t>foo.com</a:t>
                      </a:r>
                      <a:r>
                        <a:rPr lang="en-US" sz="1400" b="0" dirty="0"/>
                        <a:t>: </a:t>
                      </a:r>
                      <a:r>
                        <a:rPr lang="en-US" sz="1400" b="0" dirty="0" err="1">
                          <a:solidFill>
                            <a:srgbClr val="FF0000"/>
                          </a:solidFill>
                        </a:rPr>
                        <a:t>z.z.z.z</a:t>
                      </a:r>
                      <a:endParaRPr lang="en-US" sz="14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Freeform 24"/>
          <p:cNvSpPr/>
          <p:nvPr/>
        </p:nvSpPr>
        <p:spPr>
          <a:xfrm>
            <a:off x="644305" y="3679797"/>
            <a:ext cx="4780933" cy="2530341"/>
          </a:xfrm>
          <a:custGeom>
            <a:avLst/>
            <a:gdLst>
              <a:gd name="connsiteX0" fmla="*/ 4780933 w 4780933"/>
              <a:gd name="connsiteY0" fmla="*/ 2418686 h 2530341"/>
              <a:gd name="connsiteX1" fmla="*/ 634968 w 4780933"/>
              <a:gd name="connsiteY1" fmla="*/ 2250592 h 2530341"/>
              <a:gd name="connsiteX2" fmla="*/ 0 w 4780933"/>
              <a:gd name="connsiteY2" fmla="*/ 0 h 2530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80933" h="2530341">
                <a:moveTo>
                  <a:pt x="4780933" y="2418686"/>
                </a:moveTo>
                <a:cubicBezTo>
                  <a:pt x="3106361" y="2536196"/>
                  <a:pt x="1431790" y="2653706"/>
                  <a:pt x="634968" y="2250592"/>
                </a:cubicBezTo>
                <a:cubicBezTo>
                  <a:pt x="-161854" y="1847478"/>
                  <a:pt x="105828" y="373542"/>
                  <a:pt x="0" y="0"/>
                </a:cubicBezTo>
              </a:path>
            </a:pathLst>
          </a:custGeom>
          <a:ln>
            <a:solidFill>
              <a:srgbClr val="FF0000"/>
            </a:solidFill>
            <a:prstDash val="sysDot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4305" y="5838668"/>
            <a:ext cx="883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Control</a:t>
            </a:r>
          </a:p>
        </p:txBody>
      </p:sp>
    </p:spTree>
    <p:extLst>
      <p:ext uri="{BB962C8B-B14F-4D97-AF65-F5344CB8AC3E}">
        <p14:creationId xmlns:p14="http://schemas.microsoft.com/office/powerpoint/2010/main" val="35609231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Arrow Connector 21"/>
          <p:cNvCxnSpPr/>
          <p:nvPr/>
        </p:nvCxnSpPr>
        <p:spPr>
          <a:xfrm flipH="1" flipV="1">
            <a:off x="4010784" y="3586004"/>
            <a:ext cx="1621972" cy="262413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Challenges for Attackers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035750"/>
              </p:ext>
            </p:extLst>
          </p:nvPr>
        </p:nvGraphicFramePr>
        <p:xfrm>
          <a:off x="4236295" y="1474999"/>
          <a:ext cx="3599516" cy="8229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113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9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(16 bits)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(53)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ID (16 bits)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Query: </a:t>
                      </a:r>
                      <a:r>
                        <a:rPr lang="en-US" sz="1400" b="0" dirty="0" err="1"/>
                        <a:t>cash.foo.com</a:t>
                      </a:r>
                      <a:endParaRPr lang="en-US" sz="14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6" descr="j019538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1079" y="2549144"/>
            <a:ext cx="767669" cy="94462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6" name="tower"/>
          <p:cNvSpPr>
            <a:spLocks noEditPoints="1" noChangeArrowheads="1"/>
          </p:cNvSpPr>
          <p:nvPr/>
        </p:nvSpPr>
        <p:spPr bwMode="auto">
          <a:xfrm>
            <a:off x="3468938" y="2552592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7" name="tower"/>
          <p:cNvSpPr>
            <a:spLocks noEditPoints="1" noChangeArrowheads="1"/>
          </p:cNvSpPr>
          <p:nvPr/>
        </p:nvSpPr>
        <p:spPr bwMode="auto">
          <a:xfrm>
            <a:off x="7564386" y="2442793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430500" y="2875803"/>
            <a:ext cx="1438577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141434" y="2875803"/>
            <a:ext cx="3091518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4141436" y="3096965"/>
            <a:ext cx="3091516" cy="7269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1430501" y="3096965"/>
            <a:ext cx="1438576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30500" y="2364478"/>
            <a:ext cx="143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cash.foo.com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243716" y="2013829"/>
            <a:ext cx="992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Recursive</a:t>
            </a:r>
          </a:p>
          <a:p>
            <a:pPr algn="ctr"/>
            <a:r>
              <a:rPr lang="en-US" sz="1400" dirty="0"/>
              <a:t>DNS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9617" y="1953629"/>
            <a:ext cx="9924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foo server</a:t>
            </a:r>
          </a:p>
          <a:p>
            <a:r>
              <a:rPr lang="en-US" sz="1400" dirty="0"/>
              <a:t>(IP: Z.Z.Z.Z)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4187" y="3142579"/>
            <a:ext cx="19819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cash.foo.com</a:t>
            </a:r>
            <a:r>
              <a:rPr lang="en-US" sz="1600" dirty="0"/>
              <a:t>: X.X.X.X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025689"/>
              </p:ext>
            </p:extLst>
          </p:nvPr>
        </p:nvGraphicFramePr>
        <p:xfrm>
          <a:off x="4697797" y="3346869"/>
          <a:ext cx="3260460" cy="10363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08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5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54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(53)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(16 bits)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ID (16bits)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1400" b="0" dirty="0" err="1"/>
                        <a:t>cash.foo.com</a:t>
                      </a:r>
                      <a:r>
                        <a:rPr lang="en-US" sz="1400" b="0" dirty="0"/>
                        <a:t>: </a:t>
                      </a:r>
                      <a:r>
                        <a:rPr lang="en-US" sz="1400" b="0" dirty="0" err="1"/>
                        <a:t>x.x.x.x</a:t>
                      </a:r>
                      <a:endParaRPr lang="en-US" sz="1400" b="0" dirty="0"/>
                    </a:p>
                    <a:p>
                      <a:pPr algn="l"/>
                      <a:r>
                        <a:rPr lang="en-US" sz="1400" b="0" dirty="0" err="1"/>
                        <a:t>foo.com</a:t>
                      </a:r>
                      <a:r>
                        <a:rPr lang="en-US" sz="1400" b="0" dirty="0"/>
                        <a:t>: </a:t>
                      </a:r>
                      <a:r>
                        <a:rPr lang="en-US" sz="1400" b="0" dirty="0" err="1"/>
                        <a:t>z.z.z.z</a:t>
                      </a:r>
                      <a:endParaRPr lang="en-US" sz="14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Picture 2" descr="cyber-crime-hacker-270x167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2756" y="5838668"/>
            <a:ext cx="1201160" cy="742940"/>
          </a:xfrm>
          <a:prstGeom prst="rect">
            <a:avLst/>
          </a:prstGeom>
        </p:spPr>
      </p:pic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054115"/>
              </p:ext>
            </p:extLst>
          </p:nvPr>
        </p:nvGraphicFramePr>
        <p:xfrm>
          <a:off x="2243692" y="4802349"/>
          <a:ext cx="3260460" cy="10363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08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5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54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(53)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/>
                        <a:t>DstPort</a:t>
                      </a:r>
                      <a:endParaRPr lang="en-US" sz="1400" b="1" dirty="0"/>
                    </a:p>
                    <a:p>
                      <a:pPr algn="ctr"/>
                      <a:r>
                        <a:rPr lang="en-US" sz="1400" b="1" dirty="0"/>
                        <a:t>(16 bits)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ID (16bits)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1400" b="0" dirty="0" err="1"/>
                        <a:t>cash.foo.com</a:t>
                      </a:r>
                      <a:r>
                        <a:rPr lang="en-US" sz="1400" b="0" dirty="0"/>
                        <a:t>: </a:t>
                      </a:r>
                      <a:r>
                        <a:rPr lang="en-US" sz="1400" b="0" dirty="0" err="1">
                          <a:solidFill>
                            <a:srgbClr val="FF0000"/>
                          </a:solidFill>
                        </a:rPr>
                        <a:t>m.m.m.m</a:t>
                      </a:r>
                      <a:endParaRPr lang="en-US" sz="1400" b="0" dirty="0">
                        <a:solidFill>
                          <a:srgbClr val="FF0000"/>
                        </a:solidFill>
                      </a:endParaRPr>
                    </a:p>
                    <a:p>
                      <a:pPr algn="l"/>
                      <a:r>
                        <a:rPr lang="en-US" sz="1400" b="0" dirty="0" err="1"/>
                        <a:t>foo.com</a:t>
                      </a:r>
                      <a:r>
                        <a:rPr lang="en-US" sz="1400" b="0" dirty="0"/>
                        <a:t>: </a:t>
                      </a:r>
                      <a:r>
                        <a:rPr lang="en-US" sz="1400" b="0" dirty="0" err="1">
                          <a:solidFill>
                            <a:srgbClr val="FF0000"/>
                          </a:solidFill>
                        </a:rPr>
                        <a:t>z.z.z.z</a:t>
                      </a:r>
                      <a:endParaRPr lang="en-US" sz="14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Rounded Rectangular Callout 16"/>
          <p:cNvSpPr/>
          <p:nvPr/>
        </p:nvSpPr>
        <p:spPr>
          <a:xfrm>
            <a:off x="5826762" y="4706631"/>
            <a:ext cx="2623910" cy="532297"/>
          </a:xfrm>
          <a:prstGeom prst="wedgeRoundRectCallout">
            <a:avLst>
              <a:gd name="adj1" fmla="val -60671"/>
              <a:gd name="adj2" fmla="val 1064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Guess Source Port: 1024 - 65535</a:t>
            </a:r>
          </a:p>
          <a:p>
            <a:r>
              <a:rPr lang="en-US" sz="1400" dirty="0"/>
              <a:t>Guess ID:  0 - 65535</a:t>
            </a:r>
          </a:p>
        </p:txBody>
      </p:sp>
    </p:spTree>
    <p:extLst>
      <p:ext uri="{BB962C8B-B14F-4D97-AF65-F5344CB8AC3E}">
        <p14:creationId xmlns:p14="http://schemas.microsoft.com/office/powerpoint/2010/main" val="1171979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Challenges for Attackers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114544"/>
              </p:ext>
            </p:extLst>
          </p:nvPr>
        </p:nvGraphicFramePr>
        <p:xfrm>
          <a:off x="4236295" y="1474999"/>
          <a:ext cx="3599516" cy="8229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113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9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(16 bits)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(53)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ID (16 bits)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Query: </a:t>
                      </a:r>
                      <a:r>
                        <a:rPr lang="en-US" sz="1400" b="0" dirty="0" err="1"/>
                        <a:t>cash.foo.com</a:t>
                      </a:r>
                      <a:endParaRPr lang="en-US" sz="14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6" descr="j019538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1079" y="2549144"/>
            <a:ext cx="767669" cy="94462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6" name="tower"/>
          <p:cNvSpPr>
            <a:spLocks noEditPoints="1" noChangeArrowheads="1"/>
          </p:cNvSpPr>
          <p:nvPr/>
        </p:nvSpPr>
        <p:spPr bwMode="auto">
          <a:xfrm>
            <a:off x="3468938" y="2552592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7" name="tower"/>
          <p:cNvSpPr>
            <a:spLocks noEditPoints="1" noChangeArrowheads="1"/>
          </p:cNvSpPr>
          <p:nvPr/>
        </p:nvSpPr>
        <p:spPr bwMode="auto">
          <a:xfrm>
            <a:off x="7564386" y="2442793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430500" y="2875803"/>
            <a:ext cx="1438577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141434" y="2875803"/>
            <a:ext cx="3091518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5763408" y="3096965"/>
            <a:ext cx="1469544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1430501" y="3096965"/>
            <a:ext cx="1438576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30500" y="2364478"/>
            <a:ext cx="143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cash.foo.com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243716" y="2013829"/>
            <a:ext cx="992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Recursive</a:t>
            </a:r>
          </a:p>
          <a:p>
            <a:pPr algn="ctr"/>
            <a:r>
              <a:rPr lang="en-US" sz="1400" dirty="0"/>
              <a:t>DNS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9617" y="1953629"/>
            <a:ext cx="9924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foo server</a:t>
            </a:r>
          </a:p>
          <a:p>
            <a:r>
              <a:rPr lang="en-US" sz="1400" dirty="0"/>
              <a:t>(IP: Z.Z.Z.Z)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4187" y="3142579"/>
            <a:ext cx="19819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cash.foo.com</a:t>
            </a:r>
            <a:r>
              <a:rPr lang="en-US" sz="1600" dirty="0"/>
              <a:t>: X.X.X.X</a:t>
            </a:r>
          </a:p>
        </p:txBody>
      </p:sp>
      <p:sp>
        <p:nvSpPr>
          <p:cNvPr id="17" name="Rounded Rectangular Callout 16"/>
          <p:cNvSpPr/>
          <p:nvPr/>
        </p:nvSpPr>
        <p:spPr>
          <a:xfrm>
            <a:off x="5482320" y="4706631"/>
            <a:ext cx="2623910" cy="532297"/>
          </a:xfrm>
          <a:prstGeom prst="wedgeRoundRectCallout">
            <a:avLst>
              <a:gd name="adj1" fmla="val -60671"/>
              <a:gd name="adj2" fmla="val 1064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Guess Source Port: 1024 - 65535</a:t>
            </a:r>
          </a:p>
          <a:p>
            <a:r>
              <a:rPr lang="en-US" sz="1400" dirty="0"/>
              <a:t>Guess ID:  0 – 65535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3243716" y="3635679"/>
            <a:ext cx="2115766" cy="2624134"/>
            <a:chOff x="3540549" y="3635679"/>
            <a:chExt cx="2115766" cy="2624134"/>
          </a:xfrm>
        </p:grpSpPr>
        <p:cxnSp>
          <p:nvCxnSpPr>
            <p:cNvPr id="22" name="Straight Arrow Connector 21"/>
            <p:cNvCxnSpPr/>
            <p:nvPr/>
          </p:nvCxnSpPr>
          <p:spPr>
            <a:xfrm flipH="1" flipV="1">
              <a:off x="4034343" y="3635679"/>
              <a:ext cx="1621972" cy="262413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flipH="1" flipV="1">
              <a:off x="3868135" y="3635679"/>
              <a:ext cx="1621972" cy="262413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H="1" flipV="1">
              <a:off x="3714972" y="3635679"/>
              <a:ext cx="1621972" cy="262413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H="1" flipV="1">
              <a:off x="3540549" y="3635679"/>
              <a:ext cx="1621972" cy="262413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Straight Arrow Connector 24"/>
          <p:cNvCxnSpPr/>
          <p:nvPr/>
        </p:nvCxnSpPr>
        <p:spPr>
          <a:xfrm flipH="1" flipV="1">
            <a:off x="4141436" y="3635679"/>
            <a:ext cx="1621972" cy="262413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cyber-crime-hacker-270x167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602" y="5838668"/>
            <a:ext cx="1201160" cy="7429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21649" y="4680720"/>
            <a:ext cx="34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37834" y="3324490"/>
            <a:ext cx="3326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Before the authentic response arrives</a:t>
            </a:r>
          </a:p>
        </p:txBody>
      </p:sp>
    </p:spTree>
    <p:extLst>
      <p:ext uri="{BB962C8B-B14F-4D97-AF65-F5344CB8AC3E}">
        <p14:creationId xmlns:p14="http://schemas.microsoft.com/office/powerpoint/2010/main" val="19058007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Address Challenges?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922647"/>
              </p:ext>
            </p:extLst>
          </p:nvPr>
        </p:nvGraphicFramePr>
        <p:xfrm>
          <a:off x="4236295" y="1474999"/>
          <a:ext cx="3599516" cy="8229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113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9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(16 bits)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(53)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ID (16 bits)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Query: </a:t>
                      </a:r>
                      <a:r>
                        <a:rPr lang="en-US" sz="1400" b="0" dirty="0" err="1"/>
                        <a:t>cash.foo.com</a:t>
                      </a:r>
                      <a:endParaRPr lang="en-US" sz="14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6" descr="j019538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1079" y="2549144"/>
            <a:ext cx="767669" cy="94462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6" name="tower"/>
          <p:cNvSpPr>
            <a:spLocks noEditPoints="1" noChangeArrowheads="1"/>
          </p:cNvSpPr>
          <p:nvPr/>
        </p:nvSpPr>
        <p:spPr bwMode="auto">
          <a:xfrm>
            <a:off x="3468938" y="2552592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7" name="tower"/>
          <p:cNvSpPr>
            <a:spLocks noEditPoints="1" noChangeArrowheads="1"/>
          </p:cNvSpPr>
          <p:nvPr/>
        </p:nvSpPr>
        <p:spPr bwMode="auto">
          <a:xfrm>
            <a:off x="7564386" y="2442793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430500" y="2875803"/>
            <a:ext cx="1438577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141434" y="2875803"/>
            <a:ext cx="3091518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5763408" y="3096965"/>
            <a:ext cx="1469544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30500" y="2364478"/>
            <a:ext cx="143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cash.foo.com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243716" y="2013829"/>
            <a:ext cx="992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Recursive</a:t>
            </a:r>
          </a:p>
          <a:p>
            <a:pPr algn="ctr"/>
            <a:r>
              <a:rPr lang="en-US" sz="1400" dirty="0"/>
              <a:t>DNS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9617" y="1953629"/>
            <a:ext cx="9924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foo server</a:t>
            </a:r>
          </a:p>
          <a:p>
            <a:r>
              <a:rPr lang="en-US" sz="1400" dirty="0"/>
              <a:t>(IP: Z.Z.Z.Z)</a:t>
            </a:r>
          </a:p>
        </p:txBody>
      </p:sp>
      <p:sp>
        <p:nvSpPr>
          <p:cNvPr id="17" name="Rounded Rectangular Callout 16"/>
          <p:cNvSpPr/>
          <p:nvPr/>
        </p:nvSpPr>
        <p:spPr>
          <a:xfrm>
            <a:off x="5482320" y="4706631"/>
            <a:ext cx="2623910" cy="532297"/>
          </a:xfrm>
          <a:prstGeom prst="wedgeRoundRectCallout">
            <a:avLst>
              <a:gd name="adj1" fmla="val -60671"/>
              <a:gd name="adj2" fmla="val 1064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Guess Source Port: 1024 - 65535</a:t>
            </a:r>
          </a:p>
          <a:p>
            <a:r>
              <a:rPr lang="en-US" sz="1400" dirty="0"/>
              <a:t>Guess ID:  0 – 65535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3243716" y="3635679"/>
            <a:ext cx="2115766" cy="2624134"/>
            <a:chOff x="3540549" y="3635679"/>
            <a:chExt cx="2115766" cy="2624134"/>
          </a:xfrm>
        </p:grpSpPr>
        <p:cxnSp>
          <p:nvCxnSpPr>
            <p:cNvPr id="22" name="Straight Arrow Connector 21"/>
            <p:cNvCxnSpPr/>
            <p:nvPr/>
          </p:nvCxnSpPr>
          <p:spPr>
            <a:xfrm flipH="1" flipV="1">
              <a:off x="4034343" y="3635679"/>
              <a:ext cx="1621972" cy="262413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flipH="1" flipV="1">
              <a:off x="3868135" y="3635679"/>
              <a:ext cx="1621972" cy="262413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H="1" flipV="1">
              <a:off x="3714972" y="3635679"/>
              <a:ext cx="1621972" cy="262413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H="1" flipV="1">
              <a:off x="3540549" y="3635679"/>
              <a:ext cx="1621972" cy="262413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Straight Arrow Connector 24"/>
          <p:cNvCxnSpPr/>
          <p:nvPr/>
        </p:nvCxnSpPr>
        <p:spPr>
          <a:xfrm flipH="1" flipV="1">
            <a:off x="4141436" y="3635679"/>
            <a:ext cx="1621972" cy="262413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cyber-crime-hacker-270x167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602" y="5838668"/>
            <a:ext cx="1201160" cy="7429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21649" y="4680720"/>
            <a:ext cx="34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37834" y="3324490"/>
            <a:ext cx="3326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Before the authentic response arrives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1430500" y="3423624"/>
            <a:ext cx="1438577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430500" y="2912299"/>
            <a:ext cx="143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cash.foo.com</a:t>
            </a:r>
            <a:endParaRPr lang="en-US" dirty="0"/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1430500" y="3960269"/>
            <a:ext cx="1438577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430500" y="3448944"/>
            <a:ext cx="143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cash.foo.com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1884459" y="4089478"/>
            <a:ext cx="4817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20146295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9B773-29BF-CC4B-9E46-98501CE73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Counteracting DNS </a:t>
            </a:r>
            <a:r>
              <a:rPr lang="en-US" dirty="0" err="1"/>
              <a:t>Posioning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74C82-E253-CE4E-A83A-4FBC77CB2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0x20</a:t>
            </a:r>
          </a:p>
          <a:p>
            <a:r>
              <a:rPr lang="en-US" dirty="0">
                <a:hlinkClick r:id="rId2"/>
              </a:rPr>
              <a:t>https://astrolavos.gatech.edu/articles/increased_dns_resistance.pdf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826535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Objective of 0x20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4236295" y="1474999"/>
          <a:ext cx="3599516" cy="8229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113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9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(16 bits)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(53)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ID (16 bits)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Query: </a:t>
                      </a:r>
                      <a:r>
                        <a:rPr lang="en-US" sz="1400" b="0" dirty="0" err="1"/>
                        <a:t>cash.foo.com</a:t>
                      </a:r>
                      <a:endParaRPr lang="en-US" sz="14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6" descr="j019538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1079" y="2549144"/>
            <a:ext cx="767669" cy="94462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6" name="tower"/>
          <p:cNvSpPr>
            <a:spLocks noEditPoints="1" noChangeArrowheads="1"/>
          </p:cNvSpPr>
          <p:nvPr/>
        </p:nvSpPr>
        <p:spPr bwMode="auto">
          <a:xfrm>
            <a:off x="3468938" y="2552592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7" name="tower"/>
          <p:cNvSpPr>
            <a:spLocks noEditPoints="1" noChangeArrowheads="1"/>
          </p:cNvSpPr>
          <p:nvPr/>
        </p:nvSpPr>
        <p:spPr bwMode="auto">
          <a:xfrm>
            <a:off x="7564386" y="2442793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430500" y="2875803"/>
            <a:ext cx="1438577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141434" y="2875803"/>
            <a:ext cx="3091518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4141436" y="3096965"/>
            <a:ext cx="3091516" cy="7269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1430501" y="3096965"/>
            <a:ext cx="1438576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30500" y="2364478"/>
            <a:ext cx="143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cash.foo.com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243716" y="2013829"/>
            <a:ext cx="992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Recursive</a:t>
            </a:r>
          </a:p>
          <a:p>
            <a:pPr algn="ctr"/>
            <a:r>
              <a:rPr lang="en-US" sz="1400" dirty="0"/>
              <a:t>DNS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9617" y="1953629"/>
            <a:ext cx="9924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foo server</a:t>
            </a:r>
          </a:p>
          <a:p>
            <a:r>
              <a:rPr lang="en-US" sz="1400" dirty="0"/>
              <a:t>(IP: Z.Z.Z.Z)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4187" y="3142579"/>
            <a:ext cx="19819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cash.foo.com</a:t>
            </a:r>
            <a:r>
              <a:rPr lang="en-US" sz="1600" dirty="0"/>
              <a:t>: X.X.X.X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/>
          </p:nvPr>
        </p:nvGraphicFramePr>
        <p:xfrm>
          <a:off x="4141436" y="3308813"/>
          <a:ext cx="3260460" cy="8229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08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5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54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(53)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(16 bits)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ID (16bits)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1400" b="0" dirty="0" err="1"/>
                        <a:t>cash.foo.com</a:t>
                      </a:r>
                      <a:r>
                        <a:rPr lang="en-US" sz="1400" b="0" dirty="0"/>
                        <a:t>: </a:t>
                      </a:r>
                      <a:r>
                        <a:rPr lang="en-US" sz="1400" b="0" dirty="0" err="1"/>
                        <a:t>x.x.x.x</a:t>
                      </a:r>
                      <a:endParaRPr lang="en-US" sz="14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Picture 2" descr="cyber-crime-hacker-270x167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1434" y="4592961"/>
            <a:ext cx="1201160" cy="74294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601081" y="5566696"/>
            <a:ext cx="514921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i="1" dirty="0">
                <a:solidFill>
                  <a:srgbClr val="FF0000"/>
                </a:solidFill>
              </a:rPr>
              <a:t>Can we find more bits to increase the randomness of the DNS responses from the authority server without changing the protocol?</a:t>
            </a:r>
          </a:p>
        </p:txBody>
      </p:sp>
      <p:sp>
        <p:nvSpPr>
          <p:cNvPr id="23" name="Rounded Rectangular Callout 22"/>
          <p:cNvSpPr/>
          <p:nvPr/>
        </p:nvSpPr>
        <p:spPr>
          <a:xfrm>
            <a:off x="5625679" y="4602315"/>
            <a:ext cx="2623910" cy="532297"/>
          </a:xfrm>
          <a:prstGeom prst="wedgeRoundRectCallout">
            <a:avLst>
              <a:gd name="adj1" fmla="val -60671"/>
              <a:gd name="adj2" fmla="val 1064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Guess Source Port: 1024 - 65535</a:t>
            </a:r>
          </a:p>
          <a:p>
            <a:r>
              <a:rPr lang="en-US" sz="1400" dirty="0"/>
              <a:t>Guess ID:  0 - 65535</a:t>
            </a:r>
          </a:p>
        </p:txBody>
      </p:sp>
    </p:spTree>
    <p:extLst>
      <p:ext uri="{BB962C8B-B14F-4D97-AF65-F5344CB8AC3E}">
        <p14:creationId xmlns:p14="http://schemas.microsoft.com/office/powerpoint/2010/main" val="23462437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Idea of 0x20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2972"/>
            <a:ext cx="8229600" cy="71755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How does a authoritative DNS server usually create the response?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4126909" y="2738917"/>
          <a:ext cx="3599516" cy="8229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113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9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(16 bits)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(53)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ID (16 bits)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Query: </a:t>
                      </a:r>
                      <a:r>
                        <a:rPr lang="en-US" sz="1400" b="1" dirty="0" err="1">
                          <a:solidFill>
                            <a:srgbClr val="FF6600"/>
                          </a:solidFill>
                        </a:rPr>
                        <a:t>cash.foo.com</a:t>
                      </a:r>
                      <a:endParaRPr lang="en-US" sz="1400" b="1" dirty="0">
                        <a:solidFill>
                          <a:srgbClr val="FF66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6" descr="j019538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1693" y="3813062"/>
            <a:ext cx="767669" cy="94462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6" name="tower"/>
          <p:cNvSpPr>
            <a:spLocks noEditPoints="1" noChangeArrowheads="1"/>
          </p:cNvSpPr>
          <p:nvPr/>
        </p:nvSpPr>
        <p:spPr bwMode="auto">
          <a:xfrm>
            <a:off x="3359552" y="3816510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7" name="tower"/>
          <p:cNvSpPr>
            <a:spLocks noEditPoints="1" noChangeArrowheads="1"/>
          </p:cNvSpPr>
          <p:nvPr/>
        </p:nvSpPr>
        <p:spPr bwMode="auto">
          <a:xfrm>
            <a:off x="7455000" y="3706711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321114" y="4139721"/>
            <a:ext cx="1438577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032048" y="4139721"/>
            <a:ext cx="3091518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4032050" y="4360883"/>
            <a:ext cx="3091516" cy="7269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1321115" y="4360883"/>
            <a:ext cx="1438576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321114" y="3628396"/>
            <a:ext cx="143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cash.foo.com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134330" y="3277747"/>
            <a:ext cx="992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Recursive</a:t>
            </a:r>
          </a:p>
          <a:p>
            <a:pPr algn="ctr"/>
            <a:r>
              <a:rPr lang="en-US" sz="1400" dirty="0"/>
              <a:t>DNS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0231" y="3217547"/>
            <a:ext cx="9924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foo server</a:t>
            </a:r>
          </a:p>
          <a:p>
            <a:r>
              <a:rPr lang="en-US" sz="1400" dirty="0"/>
              <a:t>(IP: Z.Z.Z.Z)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801" y="4406497"/>
            <a:ext cx="19819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cash.foo.com</a:t>
            </a:r>
            <a:r>
              <a:rPr lang="en-US" sz="1600" dirty="0"/>
              <a:t>: X.X.X.X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/>
          </p:nvPr>
        </p:nvGraphicFramePr>
        <p:xfrm>
          <a:off x="4032050" y="4532686"/>
          <a:ext cx="3260460" cy="8229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08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5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54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(53)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(16 bits)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21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ID (16bits)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1400" b="1" dirty="0" err="1">
                          <a:solidFill>
                            <a:srgbClr val="FF6600"/>
                          </a:solidFill>
                        </a:rPr>
                        <a:t>cash.foo.com</a:t>
                      </a:r>
                      <a:r>
                        <a:rPr lang="en-US" sz="1400" b="0" dirty="0"/>
                        <a:t>: </a:t>
                      </a:r>
                      <a:r>
                        <a:rPr lang="en-US" sz="1400" b="0" dirty="0" err="1"/>
                        <a:t>x.x.x.x</a:t>
                      </a:r>
                      <a:endParaRPr lang="en-US" sz="14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7305395" y="4575996"/>
            <a:ext cx="1729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22" name="Straight Arrow Connector 21"/>
          <p:cNvCxnSpPr>
            <a:endCxn id="7" idx="9"/>
          </p:cNvCxnSpPr>
          <p:nvPr/>
        </p:nvCxnSpPr>
        <p:spPr>
          <a:xfrm>
            <a:off x="6721010" y="3561876"/>
            <a:ext cx="733990" cy="607033"/>
          </a:xfrm>
          <a:prstGeom prst="straightConnector1">
            <a:avLst/>
          </a:prstGeom>
          <a:ln>
            <a:solidFill>
              <a:srgbClr val="FF6600"/>
            </a:solidFill>
            <a:prstDash val="sys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5817281" y="4178803"/>
            <a:ext cx="1637719" cy="944009"/>
          </a:xfrm>
          <a:prstGeom prst="straightConnector1">
            <a:avLst/>
          </a:prstGeom>
          <a:ln>
            <a:solidFill>
              <a:srgbClr val="FF6600"/>
            </a:solidFill>
            <a:prstDash val="sys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12638" y="368995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6600"/>
                </a:solidFill>
              </a:rPr>
              <a:t>copy</a:t>
            </a:r>
          </a:p>
        </p:txBody>
      </p:sp>
    </p:spTree>
    <p:extLst>
      <p:ext uri="{BB962C8B-B14F-4D97-AF65-F5344CB8AC3E}">
        <p14:creationId xmlns:p14="http://schemas.microsoft.com/office/powerpoint/2010/main" val="35481368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Idea of 0x20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2972"/>
            <a:ext cx="8229600" cy="71755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How does a authoritative DNS server usually create the response?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4126909" y="2738917"/>
          <a:ext cx="3599516" cy="8229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113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9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(16 bits)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(53)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ID (16 bits)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Query: </a:t>
                      </a:r>
                      <a:r>
                        <a:rPr lang="en-US" sz="1400" b="1" dirty="0" err="1">
                          <a:solidFill>
                            <a:srgbClr val="FF6600"/>
                          </a:solidFill>
                        </a:rPr>
                        <a:t>cAsh.Foo.com</a:t>
                      </a:r>
                      <a:endParaRPr lang="en-US" sz="1400" b="1" dirty="0">
                        <a:solidFill>
                          <a:srgbClr val="FF66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6" descr="j019538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1693" y="3813062"/>
            <a:ext cx="767669" cy="94462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6" name="tower"/>
          <p:cNvSpPr>
            <a:spLocks noEditPoints="1" noChangeArrowheads="1"/>
          </p:cNvSpPr>
          <p:nvPr/>
        </p:nvSpPr>
        <p:spPr bwMode="auto">
          <a:xfrm>
            <a:off x="3359552" y="3816510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7" name="tower"/>
          <p:cNvSpPr>
            <a:spLocks noEditPoints="1" noChangeArrowheads="1"/>
          </p:cNvSpPr>
          <p:nvPr/>
        </p:nvSpPr>
        <p:spPr bwMode="auto">
          <a:xfrm>
            <a:off x="7455000" y="3706711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321114" y="4139721"/>
            <a:ext cx="1438577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032048" y="4139721"/>
            <a:ext cx="3091518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4032050" y="4360883"/>
            <a:ext cx="3091516" cy="7269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1321115" y="4360883"/>
            <a:ext cx="1438576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321114" y="3628396"/>
            <a:ext cx="143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cash.foo.com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134330" y="3277747"/>
            <a:ext cx="992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Recursive</a:t>
            </a:r>
          </a:p>
          <a:p>
            <a:pPr algn="ctr"/>
            <a:r>
              <a:rPr lang="en-US" sz="1400" dirty="0"/>
              <a:t>DNS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0231" y="3217547"/>
            <a:ext cx="9924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foo server</a:t>
            </a:r>
          </a:p>
          <a:p>
            <a:r>
              <a:rPr lang="en-US" sz="1400" dirty="0"/>
              <a:t>(IP: Z.Z.Z.Z)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801" y="4406497"/>
            <a:ext cx="19819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cash.foo.com</a:t>
            </a:r>
            <a:r>
              <a:rPr lang="en-US" sz="1600" dirty="0"/>
              <a:t>: X.X.X.X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/>
          </p:nvPr>
        </p:nvGraphicFramePr>
        <p:xfrm>
          <a:off x="4032050" y="4532686"/>
          <a:ext cx="3260460" cy="8229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08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5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54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(53)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(16 bits)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21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ID (16bits)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6600"/>
                          </a:solidFill>
                        </a:rPr>
                        <a:t>?</a:t>
                      </a:r>
                      <a:r>
                        <a:rPr lang="en-US" sz="1400" b="0" dirty="0"/>
                        <a:t>: </a:t>
                      </a:r>
                      <a:r>
                        <a:rPr lang="en-US" sz="1400" b="0" dirty="0" err="1"/>
                        <a:t>x.x.x.x</a:t>
                      </a:r>
                      <a:endParaRPr lang="en-US" sz="14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7305395" y="4575996"/>
            <a:ext cx="1729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22" name="Straight Arrow Connector 21"/>
          <p:cNvCxnSpPr>
            <a:endCxn id="7" idx="9"/>
          </p:cNvCxnSpPr>
          <p:nvPr/>
        </p:nvCxnSpPr>
        <p:spPr>
          <a:xfrm>
            <a:off x="6721010" y="3561876"/>
            <a:ext cx="733990" cy="607033"/>
          </a:xfrm>
          <a:prstGeom prst="straightConnector1">
            <a:avLst/>
          </a:prstGeom>
          <a:ln>
            <a:solidFill>
              <a:srgbClr val="FF6600"/>
            </a:solidFill>
            <a:prstDash val="sys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5817281" y="4178803"/>
            <a:ext cx="1637719" cy="944009"/>
          </a:xfrm>
          <a:prstGeom prst="straightConnector1">
            <a:avLst/>
          </a:prstGeom>
          <a:ln>
            <a:solidFill>
              <a:srgbClr val="FF6600"/>
            </a:solidFill>
            <a:prstDash val="sys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12638" y="368995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6600"/>
                </a:solidFill>
              </a:rPr>
              <a:t>copy</a:t>
            </a:r>
          </a:p>
        </p:txBody>
      </p:sp>
    </p:spTree>
    <p:extLst>
      <p:ext uri="{BB962C8B-B14F-4D97-AF65-F5344CB8AC3E}">
        <p14:creationId xmlns:p14="http://schemas.microsoft.com/office/powerpoint/2010/main" val="5197005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Idea of 0x20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4126909" y="1417638"/>
          <a:ext cx="3599516" cy="8229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113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9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(16 bits)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(53)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ID (16 bits)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Query: </a:t>
                      </a:r>
                      <a:r>
                        <a:rPr lang="en-US" sz="1400" b="1" dirty="0" err="1">
                          <a:solidFill>
                            <a:srgbClr val="FF6600"/>
                          </a:solidFill>
                        </a:rPr>
                        <a:t>cAsh.Foo.com</a:t>
                      </a:r>
                      <a:endParaRPr lang="en-US" sz="1400" b="1" dirty="0">
                        <a:solidFill>
                          <a:srgbClr val="FF66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6" descr="j019538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1693" y="2491783"/>
            <a:ext cx="767669" cy="94462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6" name="tower"/>
          <p:cNvSpPr>
            <a:spLocks noEditPoints="1" noChangeArrowheads="1"/>
          </p:cNvSpPr>
          <p:nvPr/>
        </p:nvSpPr>
        <p:spPr bwMode="auto">
          <a:xfrm>
            <a:off x="3359552" y="2495231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7" name="tower"/>
          <p:cNvSpPr>
            <a:spLocks noEditPoints="1" noChangeArrowheads="1"/>
          </p:cNvSpPr>
          <p:nvPr/>
        </p:nvSpPr>
        <p:spPr bwMode="auto">
          <a:xfrm>
            <a:off x="7455000" y="2385432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321114" y="2818442"/>
            <a:ext cx="1438577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032048" y="2818442"/>
            <a:ext cx="3091518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4032050" y="3039604"/>
            <a:ext cx="3091516" cy="7269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1321115" y="3039604"/>
            <a:ext cx="1438576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321114" y="2307117"/>
            <a:ext cx="143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cash.foo.com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134330" y="1956468"/>
            <a:ext cx="992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Recursive</a:t>
            </a:r>
          </a:p>
          <a:p>
            <a:pPr algn="ctr"/>
            <a:r>
              <a:rPr lang="en-US" sz="1400" dirty="0"/>
              <a:t>DNS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0231" y="1896268"/>
            <a:ext cx="9924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foo server</a:t>
            </a:r>
          </a:p>
          <a:p>
            <a:r>
              <a:rPr lang="en-US" sz="1400" dirty="0"/>
              <a:t>(IP: Z.Z.Z.Z)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801" y="3085218"/>
            <a:ext cx="19819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cash.foo.com</a:t>
            </a:r>
            <a:r>
              <a:rPr lang="en-US" sz="1600" dirty="0"/>
              <a:t>: X.X.X.X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/>
          </p:nvPr>
        </p:nvGraphicFramePr>
        <p:xfrm>
          <a:off x="4032050" y="3211407"/>
          <a:ext cx="3260460" cy="8229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08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5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54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(53)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(16 bits)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21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ID (16bits)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err="1">
                          <a:solidFill>
                            <a:srgbClr val="FF6600"/>
                          </a:solidFill>
                        </a:rPr>
                        <a:t>cAsh.Foo.com</a:t>
                      </a:r>
                      <a:r>
                        <a:rPr lang="en-US" sz="1400" b="0" dirty="0"/>
                        <a:t>: </a:t>
                      </a:r>
                      <a:r>
                        <a:rPr lang="en-US" sz="1400" b="0" dirty="0" err="1"/>
                        <a:t>x.x.x.x</a:t>
                      </a:r>
                      <a:endParaRPr lang="en-US" sz="14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7305395" y="3254717"/>
            <a:ext cx="1729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22" name="Straight Arrow Connector 21"/>
          <p:cNvCxnSpPr>
            <a:endCxn id="7" idx="9"/>
          </p:cNvCxnSpPr>
          <p:nvPr/>
        </p:nvCxnSpPr>
        <p:spPr>
          <a:xfrm>
            <a:off x="6721010" y="2240597"/>
            <a:ext cx="733990" cy="607033"/>
          </a:xfrm>
          <a:prstGeom prst="straightConnector1">
            <a:avLst/>
          </a:prstGeom>
          <a:ln>
            <a:solidFill>
              <a:srgbClr val="FF6600"/>
            </a:solidFill>
            <a:prstDash val="sys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5817281" y="2857524"/>
            <a:ext cx="1637719" cy="944009"/>
          </a:xfrm>
          <a:prstGeom prst="straightConnector1">
            <a:avLst/>
          </a:prstGeom>
          <a:ln>
            <a:solidFill>
              <a:srgbClr val="FF6600"/>
            </a:solidFill>
            <a:prstDash val="sys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12638" y="23686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6600"/>
                </a:solidFill>
              </a:rPr>
              <a:t>copy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529" y="4265884"/>
            <a:ext cx="7517671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If the recursive DNS server randomly pick the upper case or lower case for each letter in “</a:t>
            </a:r>
            <a:r>
              <a:rPr lang="en-US" dirty="0" err="1"/>
              <a:t>cash.foo.com</a:t>
            </a:r>
            <a:r>
              <a:rPr lang="en-US" dirty="0"/>
              <a:t>”, and it verifies the letter case in the response, how many DNS responses that an attacker needs to generate for poisoning attacks?</a:t>
            </a:r>
          </a:p>
        </p:txBody>
      </p:sp>
      <p:pic>
        <p:nvPicPr>
          <p:cNvPr id="24" name="Picture 23" descr="cyber-crime-hacker-270x167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362" y="5778294"/>
            <a:ext cx="1201160" cy="742940"/>
          </a:xfrm>
          <a:prstGeom prst="rect">
            <a:avLst/>
          </a:prstGeom>
        </p:spPr>
      </p:pic>
      <p:sp>
        <p:nvSpPr>
          <p:cNvPr id="26" name="Rounded Rectangular Callout 25"/>
          <p:cNvSpPr/>
          <p:nvPr/>
        </p:nvSpPr>
        <p:spPr>
          <a:xfrm>
            <a:off x="2759691" y="5778294"/>
            <a:ext cx="4689959" cy="733586"/>
          </a:xfrm>
          <a:prstGeom prst="wedgeRoundRectCallout">
            <a:avLst>
              <a:gd name="adj1" fmla="val -60671"/>
              <a:gd name="adj2" fmla="val 1064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/>
              <a:buChar char="•"/>
            </a:pPr>
            <a:r>
              <a:rPr lang="en-US" sz="1400" dirty="0"/>
              <a:t>Guess Source Port: 1024 - 65535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Guess ID:  0 – 65535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Guess the upper and lower case for each letter: 2^10</a:t>
            </a:r>
          </a:p>
        </p:txBody>
      </p:sp>
    </p:spTree>
    <p:extLst>
      <p:ext uri="{BB962C8B-B14F-4D97-AF65-F5344CB8AC3E}">
        <p14:creationId xmlns:p14="http://schemas.microsoft.com/office/powerpoint/2010/main" val="965417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0x20 in a Nutshell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DNS recursive server randomly decides the upper and lower case of a letter in a DNS query with respect to the domain name</a:t>
            </a:r>
          </a:p>
          <a:p>
            <a:endParaRPr lang="en-US" dirty="0"/>
          </a:p>
          <a:p>
            <a:r>
              <a:rPr lang="en-US" dirty="0"/>
              <a:t>Issue the query to the authority server and get response whose ID/Port number is consistent with the request/query</a:t>
            </a:r>
          </a:p>
          <a:p>
            <a:endParaRPr lang="en-US" dirty="0"/>
          </a:p>
          <a:p>
            <a:r>
              <a:rPr lang="en-US" dirty="0"/>
              <a:t>Check whether the letter case is consistent with that in the query for each letter in the domain name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6403C-56D0-1149-AACD-4EF6196A3E3A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8119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Applicability of 0x20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7734300" cy="4525963"/>
          </a:xfrm>
        </p:spPr>
        <p:txBody>
          <a:bodyPr/>
          <a:lstStyle/>
          <a:p>
            <a:r>
              <a:rPr lang="en-US" dirty="0"/>
              <a:t>The implementation of DNS authority server</a:t>
            </a:r>
          </a:p>
          <a:p>
            <a:pPr lvl="1"/>
            <a:r>
              <a:rPr lang="en-US" dirty="0"/>
              <a:t>Does it faithfully copy the domain name from a query to a response?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The nature of the domain</a:t>
            </a:r>
          </a:p>
          <a:p>
            <a:pPr lvl="1"/>
            <a:r>
              <a:rPr lang="en-US" dirty="0"/>
              <a:t>Length</a:t>
            </a:r>
          </a:p>
          <a:p>
            <a:pPr lvl="2"/>
            <a:r>
              <a:rPr lang="en-US" dirty="0"/>
              <a:t>0x20 is more powerful for </a:t>
            </a:r>
            <a:r>
              <a:rPr lang="en-US" dirty="0">
                <a:hlinkClick r:id="rId2"/>
              </a:rPr>
              <a:t>www.microsoft.com</a:t>
            </a:r>
            <a:r>
              <a:rPr lang="en-US" dirty="0"/>
              <a:t> than </a:t>
            </a:r>
            <a:r>
              <a:rPr lang="en-US" dirty="0">
                <a:hlinkClick r:id="rId3"/>
              </a:rPr>
              <a:t>www.ibm.com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The number of numeric characters</a:t>
            </a:r>
          </a:p>
          <a:p>
            <a:pPr lvl="2"/>
            <a:r>
              <a:rPr lang="en-US" dirty="0"/>
              <a:t>0x20 is more powerful for </a:t>
            </a:r>
            <a:r>
              <a:rPr lang="en-US" dirty="0">
                <a:hlinkClick r:id="rId3"/>
              </a:rPr>
              <a:t>www.ibm.com</a:t>
            </a:r>
            <a:r>
              <a:rPr lang="en-US" dirty="0"/>
              <a:t> </a:t>
            </a:r>
            <a:r>
              <a:rPr lang="en-US"/>
              <a:t>than </a:t>
            </a:r>
            <a:r>
              <a:rPr lang="en-US">
                <a:hlinkClick r:id="rId4"/>
              </a:rPr>
              <a:t>www.123.com</a:t>
            </a:r>
            <a:r>
              <a:rPr lang="en-US"/>
              <a:t> 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6403C-56D0-1149-AACD-4EF6196A3E3A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860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3938</Words>
  <Application>Microsoft Office PowerPoint</Application>
  <PresentationFormat>On-screen Show (4:3)</PresentationFormat>
  <Paragraphs>751</Paragraphs>
  <Slides>43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4" baseType="lpstr">
      <vt:lpstr>ＭＳ Ｐゴシック</vt:lpstr>
      <vt:lpstr>StarSymbol</vt:lpstr>
      <vt:lpstr>Arial</vt:lpstr>
      <vt:lpstr>Calibri</vt:lpstr>
      <vt:lpstr>Courier New</vt:lpstr>
      <vt:lpstr>Symbol</vt:lpstr>
      <vt:lpstr>Tahoma</vt:lpstr>
      <vt:lpstr>Times New Roman</vt:lpstr>
      <vt:lpstr>Tw Cen MT</vt:lpstr>
      <vt:lpstr>Wingdings</vt:lpstr>
      <vt:lpstr>Office Theme</vt:lpstr>
      <vt:lpstr>Networking Vulnerabilities</vt:lpstr>
      <vt:lpstr>IP Spoofing</vt:lpstr>
      <vt:lpstr>IP Spoofing</vt:lpstr>
      <vt:lpstr>IP Spoofing</vt:lpstr>
      <vt:lpstr>IP Spoofing</vt:lpstr>
      <vt:lpstr>Transport Layer Attacks</vt:lpstr>
      <vt:lpstr>SYN Flood Attack</vt:lpstr>
      <vt:lpstr>The TCP 3-Way Handshake </vt:lpstr>
      <vt:lpstr>An Incomplete TCP 3-Way Handshake </vt:lpstr>
      <vt:lpstr>SYN Flood Attack</vt:lpstr>
      <vt:lpstr>SYN Flood Attack</vt:lpstr>
      <vt:lpstr>Distributed SYN Flood Attack</vt:lpstr>
      <vt:lpstr>SYN Cookies</vt:lpstr>
      <vt:lpstr>SYN Cookies</vt:lpstr>
      <vt:lpstr>SYN Cookies</vt:lpstr>
      <vt:lpstr>SYN Cookies: Legitimate User</vt:lpstr>
      <vt:lpstr>SYN Cookies: SYN Flood and ACK Flood</vt:lpstr>
      <vt:lpstr>TCP RST</vt:lpstr>
      <vt:lpstr>Malicious Usage: RST Reset</vt:lpstr>
      <vt:lpstr>Who is “Malicious”/Malicious?</vt:lpstr>
      <vt:lpstr>Who is “Malicious”/Malicious?</vt:lpstr>
      <vt:lpstr>RST Reset</vt:lpstr>
      <vt:lpstr>The Paper</vt:lpstr>
      <vt:lpstr>Application Layer Attacks</vt:lpstr>
      <vt:lpstr>DNS </vt:lpstr>
      <vt:lpstr>Domain Name System (DNS)</vt:lpstr>
      <vt:lpstr>DNS at a High-Level</vt:lpstr>
      <vt:lpstr>Naming Hierarchy</vt:lpstr>
      <vt:lpstr>Hierarchical Administration</vt:lpstr>
      <vt:lpstr>How DNS Works</vt:lpstr>
      <vt:lpstr>How DNS Works</vt:lpstr>
      <vt:lpstr>DNS Poisoning Attack</vt:lpstr>
      <vt:lpstr>DNS Poisoning Attack</vt:lpstr>
      <vt:lpstr>The Challenges for Attackers</vt:lpstr>
      <vt:lpstr>The Challenges for Attackers</vt:lpstr>
      <vt:lpstr>How to Address Challenges?</vt:lpstr>
      <vt:lpstr>Counteracting DNS Posioning</vt:lpstr>
      <vt:lpstr>General Objective of 0x20</vt:lpstr>
      <vt:lpstr>General Idea of 0x20</vt:lpstr>
      <vt:lpstr>General Idea of 0x20</vt:lpstr>
      <vt:lpstr>General Idea of 0x20</vt:lpstr>
      <vt:lpstr>0x20 in a Nutshell</vt:lpstr>
      <vt:lpstr>The Applicability of 0x20</vt:lpstr>
    </vt:vector>
  </TitlesOfParts>
  <Company>Wright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Protocol Vulnerabilities</dc:title>
  <dc:creator>Junjie Zhang</dc:creator>
  <cp:lastModifiedBy>Meilin</cp:lastModifiedBy>
  <cp:revision>1233</cp:revision>
  <dcterms:created xsi:type="dcterms:W3CDTF">2014-03-10T13:30:50Z</dcterms:created>
  <dcterms:modified xsi:type="dcterms:W3CDTF">2025-11-05T20:08:18Z</dcterms:modified>
</cp:coreProperties>
</file>