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380" r:id="rId12"/>
    <p:sldId id="270" r:id="rId13"/>
    <p:sldId id="397" r:id="rId14"/>
    <p:sldId id="398" r:id="rId15"/>
    <p:sldId id="399" r:id="rId16"/>
    <p:sldId id="401" r:id="rId17"/>
    <p:sldId id="402" r:id="rId18"/>
    <p:sldId id="403" r:id="rId19"/>
    <p:sldId id="404" r:id="rId20"/>
    <p:sldId id="405" r:id="rId21"/>
    <p:sldId id="406" r:id="rId22"/>
    <p:sldId id="408" r:id="rId23"/>
    <p:sldId id="365" r:id="rId24"/>
    <p:sldId id="378" r:id="rId25"/>
    <p:sldId id="409" r:id="rId26"/>
    <p:sldId id="287" r:id="rId27"/>
    <p:sldId id="382" r:id="rId28"/>
    <p:sldId id="376" r:id="rId29"/>
    <p:sldId id="383" r:id="rId30"/>
    <p:sldId id="377" r:id="rId31"/>
    <p:sldId id="395" r:id="rId32"/>
    <p:sldId id="384" r:id="rId33"/>
    <p:sldId id="385" r:id="rId34"/>
    <p:sldId id="387" r:id="rId35"/>
    <p:sldId id="407" r:id="rId36"/>
    <p:sldId id="389" r:id="rId37"/>
    <p:sldId id="411" r:id="rId38"/>
    <p:sldId id="410" r:id="rId39"/>
    <p:sldId id="391" r:id="rId40"/>
    <p:sldId id="392" r:id="rId41"/>
    <p:sldId id="393" r:id="rId42"/>
    <p:sldId id="394" r:id="rId43"/>
    <p:sldId id="364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95"/>
    <p:restoredTop sz="83510" autoAdjust="0"/>
  </p:normalViewPr>
  <p:slideViewPr>
    <p:cSldViewPr snapToGrid="0" snapToObjects="1">
      <p:cViewPr varScale="1">
        <p:scale>
          <a:sx n="81" d="100"/>
          <a:sy n="81" d="100"/>
        </p:scale>
        <p:origin x="192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70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T" name="resolution" value="1" units="1/dev"/>
        </inkml:channelProperties>
      </inkml:inkSource>
      <inkml:timestamp xml:id="ts0" timeString="2022-03-10T19:02:44.2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10953 7107 0,'0'0'0,"0"0"16,0 0 0,0 0-16,0 0 46,-3 8-46,-12 21 16,0 13 0,-15 37-16,-12 35 15,-11 24-15,8-30 16,6 14 0,-17 76-16,17-68 15,-20 42 1,-1 24-16,9-11 15,7-39 1,5-4-16,-11 7 16,-13 158-16,21-141 15,-14 27 1,8-2-16,-17 50 16,23-51-1,9-21-15,9-36 16,7 36-1,-4 30-15,6 20 16,-6-20-16,3 20 16,6-2-1,6-45-15,-6 0 16,12 21 0,3-31-16,9-14 15,3-53-15,6 48 16,0-29-1,21 18-15,-7-42 16,1-5 0,15 34-16,-10-48 15,13 16 1,-12-28-16,-4-14 16,22 5-16,-10-10 15,-2-9 1,0-4-16,14-1 15,-5-2 1,5 8-16,-62-32 16,0 0-1,0 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B3843-6ACA-7B40-89CA-D68065E5D983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F254-E47E-2C44-98AF-85D52326C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38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an</a:t>
            </a:r>
            <a:r>
              <a:rPr lang="en-US" baseline="0" dirty="0"/>
              <a:t> example of Tuna logs </a:t>
            </a:r>
          </a:p>
          <a:p>
            <a:r>
              <a:rPr lang="en-US" baseline="0" dirty="0"/>
              <a:t>and an example of URL request with injection attacks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7FE783-A562-0045-AC02-5C864EF559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56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sprintf</a:t>
            </a:r>
            <a:r>
              <a:rPr lang="en-US" dirty="0"/>
              <a:t>() function formats an output string into a character array </a:t>
            </a:r>
            <a:r>
              <a:rPr lang="en-US" dirty="0" err="1"/>
              <a:t>buf</a:t>
            </a:r>
            <a:r>
              <a:rPr lang="en-US" dirty="0"/>
              <a:t>. </a:t>
            </a:r>
          </a:p>
          <a:p>
            <a:r>
              <a:rPr lang="en-US" dirty="0"/>
              <a:t>System() invoke a shell to execute the specified command string: </a:t>
            </a:r>
          </a:p>
          <a:p>
            <a:endParaRPr lang="en-US" dirty="0"/>
          </a:p>
          <a:p>
            <a:r>
              <a:rPr lang="en-US" dirty="0" err="1"/>
              <a:t>Sprintf</a:t>
            </a:r>
            <a:r>
              <a:rPr lang="en-US" dirty="0"/>
              <a:t>()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stores the formatted string into a character buffer (an array of characters) provided by the user.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system(const char *command);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Functionality: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Executing Shell Commands: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When command is a non-NULL string, system() passes this string to the operating system's command interpreter (e.g.,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 Unix-like systems, CMD.exe on Windows). The interpreter then executes the command as if it were typed directly into the shell.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F254-E47E-2C44-98AF-85D52326CB7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85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The overwritten data may include:</a:t>
            </a:r>
          </a:p>
          <a:p>
            <a:pPr lvl="1"/>
            <a:r>
              <a:rPr lang="en-US" sz="2400" dirty="0"/>
              <a:t>Other buffers or variables =&gt; incorrect computation</a:t>
            </a:r>
          </a:p>
          <a:p>
            <a:pPr lvl="1"/>
            <a:r>
              <a:rPr lang="en-US" sz="2400" dirty="0"/>
              <a:t>Program control information =&gt;  program corruption or compromise. </a:t>
            </a:r>
          </a:p>
          <a:p>
            <a:endParaRPr lang="en-US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Most common in C/C++ languages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9CF254-E47E-2C44-98AF-85D52326CB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58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AF9789F-F346-4A44-9738-BB24A547155A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430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3600" dirty="0"/>
              <a:t>Ask students which</a:t>
            </a:r>
            <a:r>
              <a:rPr lang="en-US" altLang="zh-TW" sz="3600" baseline="0" dirty="0"/>
              <a:t> instructions will affect the stack? </a:t>
            </a:r>
          </a:p>
          <a:p>
            <a:endParaRPr lang="en-US" altLang="zh-TW" sz="3600" baseline="0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200" dirty="0">
                <a:latin typeface="Tahoma" panose="020B0604030504040204" pitchFamily="34" charset="0"/>
              </a:rPr>
              <a:t>:   </a:t>
            </a:r>
            <a:r>
              <a:rPr lang="en-US" altLang="en-US" sz="3200" b="1" dirty="0">
                <a:solidFill>
                  <a:schemeClr val="bg2"/>
                </a:solidFill>
                <a:latin typeface="Courier New" panose="02070309020205020404" pitchFamily="49" charset="0"/>
              </a:rPr>
              <a:t>exec( “/bin/</a:t>
            </a:r>
            <a:r>
              <a:rPr lang="en-US" altLang="en-US" sz="3200" b="1" dirty="0" err="1">
                <a:solidFill>
                  <a:schemeClr val="bg2"/>
                </a:solidFill>
                <a:latin typeface="Courier New" panose="02070309020205020404" pitchFamily="49" charset="0"/>
              </a:rPr>
              <a:t>sh</a:t>
            </a:r>
            <a:r>
              <a:rPr lang="en-US" altLang="en-US" sz="3200" b="1" dirty="0">
                <a:solidFill>
                  <a:schemeClr val="bg2"/>
                </a:solidFill>
                <a:latin typeface="Courier New" panose="02070309020205020404" pitchFamily="49" charset="0"/>
              </a:rPr>
              <a:t>” )</a:t>
            </a:r>
          </a:p>
          <a:p>
            <a:endParaRPr lang="en-US" altLang="zh-TW" sz="3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53C5C6-1586-944C-B8CA-E66F27D1B1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28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3600" dirty="0"/>
              <a:t>Ret:</a:t>
            </a:r>
            <a:r>
              <a:rPr lang="en-US" altLang="zh-TW" sz="3600" baseline="0" dirty="0"/>
              <a:t> picks up the EIP stored in the stack and then execute </a:t>
            </a:r>
            <a:endParaRPr lang="en-US" altLang="zh-TW" sz="3600" dirty="0"/>
          </a:p>
          <a:p>
            <a:endParaRPr lang="en-US" altLang="zh-TW" sz="3600" dirty="0"/>
          </a:p>
          <a:p>
            <a:r>
              <a:rPr lang="en-US" altLang="zh-TW" sz="3600" dirty="0"/>
              <a:t>After ‘</a:t>
            </a:r>
            <a:r>
              <a:rPr lang="en-US" altLang="zh-TW" sz="3600" dirty="0" err="1"/>
              <a:t>gcc</a:t>
            </a:r>
            <a:r>
              <a:rPr lang="en-US" altLang="zh-TW" sz="3600" dirty="0"/>
              <a:t> –S –o </a:t>
            </a:r>
            <a:r>
              <a:rPr lang="en-US" altLang="zh-TW" sz="3600" dirty="0" err="1"/>
              <a:t>stack.s</a:t>
            </a:r>
            <a:r>
              <a:rPr lang="en-US" altLang="zh-TW" sz="3600" dirty="0"/>
              <a:t> </a:t>
            </a:r>
            <a:r>
              <a:rPr lang="en-US" altLang="zh-TW" sz="3600" dirty="0" err="1"/>
              <a:t>stack.c</a:t>
            </a:r>
            <a:r>
              <a:rPr lang="en-US" altLang="zh-TW" sz="3600" dirty="0"/>
              <a:t>’</a:t>
            </a:r>
          </a:p>
          <a:p>
            <a:pPr lvl="1"/>
            <a:r>
              <a:rPr lang="en-US" altLang="zh-TW" sz="3200" dirty="0"/>
              <a:t>See notes below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53C5C6-1586-944C-B8CA-E66F27D1B1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24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3600" dirty="0"/>
              <a:t>Ret:</a:t>
            </a:r>
            <a:r>
              <a:rPr lang="en-US" altLang="zh-TW" sz="3600" baseline="0" dirty="0"/>
              <a:t> picks up the EIP stored in the stack and then execute </a:t>
            </a:r>
            <a:endParaRPr lang="en-US" altLang="zh-TW" sz="3600" dirty="0"/>
          </a:p>
          <a:p>
            <a:endParaRPr lang="en-US" altLang="zh-TW" sz="3600" dirty="0"/>
          </a:p>
          <a:p>
            <a:r>
              <a:rPr lang="en-US" altLang="zh-TW" sz="3600" dirty="0"/>
              <a:t>After ‘</a:t>
            </a:r>
            <a:r>
              <a:rPr lang="en-US" altLang="zh-TW" sz="3600" dirty="0" err="1"/>
              <a:t>gcc</a:t>
            </a:r>
            <a:r>
              <a:rPr lang="en-US" altLang="zh-TW" sz="3600" dirty="0"/>
              <a:t> –S –o </a:t>
            </a:r>
            <a:r>
              <a:rPr lang="en-US" altLang="zh-TW" sz="3600" dirty="0" err="1"/>
              <a:t>stack.s</a:t>
            </a:r>
            <a:r>
              <a:rPr lang="en-US" altLang="zh-TW" sz="3600" dirty="0"/>
              <a:t> </a:t>
            </a:r>
            <a:r>
              <a:rPr lang="en-US" altLang="zh-TW" sz="3600" dirty="0" err="1"/>
              <a:t>stack.c</a:t>
            </a:r>
            <a:r>
              <a:rPr lang="en-US" altLang="zh-TW" sz="3600" dirty="0"/>
              <a:t>’</a:t>
            </a:r>
          </a:p>
          <a:p>
            <a:pPr lvl="1"/>
            <a:r>
              <a:rPr lang="en-US" altLang="zh-TW" sz="3200" dirty="0"/>
              <a:t>See notes below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53C5C6-1586-944C-B8CA-E66F27D1B1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13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3600" dirty="0"/>
              <a:t>Ret:</a:t>
            </a:r>
            <a:r>
              <a:rPr lang="en-US" altLang="zh-TW" sz="3600" baseline="0" dirty="0"/>
              <a:t> picks up the EIP stored in the stack and </a:t>
            </a:r>
            <a:r>
              <a:rPr lang="en-US" altLang="zh-TW" sz="3600" baseline="0"/>
              <a:t>then execute </a:t>
            </a:r>
            <a:endParaRPr lang="en-US" altLang="zh-TW" sz="3600" dirty="0"/>
          </a:p>
          <a:p>
            <a:endParaRPr lang="en-US" altLang="zh-TW" sz="3600" dirty="0"/>
          </a:p>
          <a:p>
            <a:r>
              <a:rPr lang="en-US" altLang="zh-TW" sz="3600" dirty="0"/>
              <a:t>After ‘</a:t>
            </a:r>
            <a:r>
              <a:rPr lang="en-US" altLang="zh-TW" sz="3600" dirty="0" err="1"/>
              <a:t>gcc</a:t>
            </a:r>
            <a:r>
              <a:rPr lang="en-US" altLang="zh-TW" sz="3600" dirty="0"/>
              <a:t> –S –o </a:t>
            </a:r>
            <a:r>
              <a:rPr lang="en-US" altLang="zh-TW" sz="3600" dirty="0" err="1"/>
              <a:t>stack.s</a:t>
            </a:r>
            <a:r>
              <a:rPr lang="en-US" altLang="zh-TW" sz="3600" dirty="0"/>
              <a:t> </a:t>
            </a:r>
            <a:r>
              <a:rPr lang="en-US" altLang="zh-TW" sz="3600" dirty="0" err="1"/>
              <a:t>stack.c</a:t>
            </a:r>
            <a:r>
              <a:rPr lang="en-US" altLang="zh-TW" sz="3600" dirty="0"/>
              <a:t>’</a:t>
            </a:r>
          </a:p>
          <a:p>
            <a:pPr lvl="1"/>
            <a:r>
              <a:rPr lang="en-US" altLang="zh-TW" sz="3200" dirty="0"/>
              <a:t>See notes below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53C5C6-1586-944C-B8CA-E66F27D1B1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17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3600" dirty="0"/>
              <a:t>Ret:</a:t>
            </a:r>
            <a:r>
              <a:rPr lang="en-US" altLang="zh-TW" sz="3600" baseline="0" dirty="0"/>
              <a:t> picks up the EIP stored in the stack and then execute </a:t>
            </a:r>
            <a:endParaRPr lang="en-US" altLang="zh-TW" sz="3600" dirty="0"/>
          </a:p>
          <a:p>
            <a:endParaRPr lang="en-US" altLang="zh-TW" sz="3600" dirty="0"/>
          </a:p>
          <a:p>
            <a:r>
              <a:rPr lang="en-US" altLang="zh-TW" sz="3600" dirty="0"/>
              <a:t>After ‘</a:t>
            </a:r>
            <a:r>
              <a:rPr lang="en-US" altLang="zh-TW" sz="3600" dirty="0" err="1"/>
              <a:t>gcc</a:t>
            </a:r>
            <a:r>
              <a:rPr lang="en-US" altLang="zh-TW" sz="3600" dirty="0"/>
              <a:t> –S –o </a:t>
            </a:r>
            <a:r>
              <a:rPr lang="en-US" altLang="zh-TW" sz="3600" dirty="0" err="1"/>
              <a:t>stack.s</a:t>
            </a:r>
            <a:r>
              <a:rPr lang="en-US" altLang="zh-TW" sz="3600" dirty="0"/>
              <a:t> </a:t>
            </a:r>
            <a:r>
              <a:rPr lang="en-US" altLang="zh-TW" sz="3600" dirty="0" err="1"/>
              <a:t>stack.c</a:t>
            </a:r>
            <a:r>
              <a:rPr lang="en-US" altLang="zh-TW" sz="3600" dirty="0"/>
              <a:t>’</a:t>
            </a:r>
          </a:p>
          <a:p>
            <a:pPr lvl="1"/>
            <a:r>
              <a:rPr lang="en-US" altLang="zh-TW" sz="3200" dirty="0"/>
              <a:t>See notes below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53C5C6-1586-944C-B8CA-E66F27D1B1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9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3600" dirty="0"/>
              <a:t>Ret:</a:t>
            </a:r>
            <a:r>
              <a:rPr lang="en-US" altLang="zh-TW" sz="3600" baseline="0" dirty="0"/>
              <a:t> picks up the EIP stored in the stack and then execute </a:t>
            </a:r>
            <a:endParaRPr lang="en-US" altLang="zh-TW" sz="3600" dirty="0"/>
          </a:p>
          <a:p>
            <a:endParaRPr lang="en-US" altLang="zh-TW" sz="3600" dirty="0"/>
          </a:p>
          <a:p>
            <a:r>
              <a:rPr lang="en-US" altLang="zh-TW" sz="3600" dirty="0"/>
              <a:t>After ‘</a:t>
            </a:r>
            <a:r>
              <a:rPr lang="en-US" altLang="zh-TW" sz="3600" dirty="0" err="1"/>
              <a:t>gcc</a:t>
            </a:r>
            <a:r>
              <a:rPr lang="en-US" altLang="zh-TW" sz="3600" dirty="0"/>
              <a:t> –S –o </a:t>
            </a:r>
            <a:r>
              <a:rPr lang="en-US" altLang="zh-TW" sz="3600" dirty="0" err="1"/>
              <a:t>stack.s</a:t>
            </a:r>
            <a:r>
              <a:rPr lang="en-US" altLang="zh-TW" sz="3600" dirty="0"/>
              <a:t> </a:t>
            </a:r>
            <a:r>
              <a:rPr lang="en-US" altLang="zh-TW" sz="3600" dirty="0" err="1"/>
              <a:t>stack.c</a:t>
            </a:r>
            <a:r>
              <a:rPr lang="en-US" altLang="zh-TW" sz="3600" dirty="0"/>
              <a:t>’</a:t>
            </a:r>
          </a:p>
          <a:p>
            <a:pPr lvl="1"/>
            <a:r>
              <a:rPr lang="en-US" altLang="zh-TW" sz="3200" dirty="0"/>
              <a:t>See notes below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53C5C6-1586-944C-B8CA-E66F27D1B1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14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600" b="1" dirty="0">
                <a:solidFill>
                  <a:srgbClr val="FF0000"/>
                </a:solidFill>
                <a:latin typeface="Courier New" panose="02070309020205020404" pitchFamily="49" charset="0"/>
              </a:rPr>
              <a:t>exec( “/bin/</a:t>
            </a:r>
            <a:r>
              <a:rPr lang="en-US" altLang="en-US" sz="3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sh</a:t>
            </a:r>
            <a:r>
              <a:rPr lang="en-US" altLang="en-US" sz="3600" b="1" dirty="0">
                <a:solidFill>
                  <a:srgbClr val="FF0000"/>
                </a:solidFill>
                <a:latin typeface="Courier New" panose="02070309020205020404" pitchFamily="49" charset="0"/>
              </a:rPr>
              <a:t>” )</a:t>
            </a:r>
          </a:p>
          <a:p>
            <a:endParaRPr lang="en-US" altLang="zh-TW" sz="3600" dirty="0"/>
          </a:p>
          <a:p>
            <a:endParaRPr lang="en-US" altLang="zh-TW" sz="3600" dirty="0"/>
          </a:p>
          <a:p>
            <a:r>
              <a:rPr lang="en-US" altLang="zh-TW" sz="3600" dirty="0"/>
              <a:t>After ‘</a:t>
            </a:r>
            <a:r>
              <a:rPr lang="en-US" altLang="zh-TW" sz="3600" dirty="0" err="1"/>
              <a:t>gcc</a:t>
            </a:r>
            <a:r>
              <a:rPr lang="en-US" altLang="zh-TW" sz="3600" dirty="0"/>
              <a:t> –S –o </a:t>
            </a:r>
            <a:r>
              <a:rPr lang="en-US" altLang="zh-TW" sz="3600" dirty="0" err="1"/>
              <a:t>stack.s</a:t>
            </a:r>
            <a:r>
              <a:rPr lang="en-US" altLang="zh-TW" sz="3600" dirty="0"/>
              <a:t> </a:t>
            </a:r>
            <a:r>
              <a:rPr lang="en-US" altLang="zh-TW" sz="3600" dirty="0" err="1"/>
              <a:t>stack.c</a:t>
            </a:r>
            <a:r>
              <a:rPr lang="en-US" altLang="zh-TW" sz="3600" dirty="0"/>
              <a:t>’</a:t>
            </a:r>
          </a:p>
          <a:p>
            <a:pPr lvl="1"/>
            <a:r>
              <a:rPr lang="en-US" altLang="zh-TW" sz="3200" dirty="0"/>
              <a:t>See notes below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53C5C6-1586-944C-B8CA-E66F27D1B1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32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3600" dirty="0"/>
              <a:t>After ‘</a:t>
            </a:r>
            <a:r>
              <a:rPr lang="en-US" altLang="zh-TW" sz="3600" dirty="0" err="1"/>
              <a:t>gcc</a:t>
            </a:r>
            <a:r>
              <a:rPr lang="en-US" altLang="zh-TW" sz="3600" dirty="0"/>
              <a:t> –S –o </a:t>
            </a:r>
            <a:r>
              <a:rPr lang="en-US" altLang="zh-TW" sz="3600" dirty="0" err="1"/>
              <a:t>stack.s</a:t>
            </a:r>
            <a:r>
              <a:rPr lang="en-US" altLang="zh-TW" sz="3600" dirty="0"/>
              <a:t> </a:t>
            </a:r>
            <a:r>
              <a:rPr lang="en-US" altLang="zh-TW" sz="3600" dirty="0" err="1"/>
              <a:t>stack.c</a:t>
            </a:r>
            <a:r>
              <a:rPr lang="en-US" altLang="zh-TW" sz="3600" dirty="0"/>
              <a:t>’</a:t>
            </a:r>
          </a:p>
          <a:p>
            <a:pPr lvl="1"/>
            <a:r>
              <a:rPr lang="en-US" altLang="zh-TW" sz="3200" dirty="0"/>
              <a:t>See notes below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53C5C6-1586-944C-B8CA-E66F27D1B1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53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</a:t>
            </a:r>
            <a:r>
              <a:rPr lang="en-US" dirty="0" err="1"/>
              <a:t>esp</a:t>
            </a:r>
            <a:r>
              <a:rPr lang="en-US" dirty="0"/>
              <a:t>;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return-to-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attack;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F254-E47E-2C44-98AF-85D52326CB7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84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Fuzz testing or fuzzing 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automated software testing method that injects invalid, malformed, or unexpected inputs into a system to reveal software defects and vulnerabilities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fuzzing tool injects these inputs into the system and then monitors for exceptions such as crashes or information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9CF254-E47E-2C44-98AF-85D52326CB7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33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 err="1"/>
              <a:t>gcc</a:t>
            </a:r>
            <a:r>
              <a:rPr lang="en-US" altLang="zh-TW" sz="1200" dirty="0"/>
              <a:t> </a:t>
            </a:r>
            <a:r>
              <a:rPr lang="en-US" altLang="zh-TW" sz="1200" dirty="0" err="1"/>
              <a:t>stack.c</a:t>
            </a:r>
            <a:r>
              <a:rPr lang="en-US" altLang="zh-TW" sz="1200" dirty="0"/>
              <a:t> –S –o </a:t>
            </a:r>
            <a:r>
              <a:rPr lang="en-US" altLang="zh-TW" sz="1200" dirty="0" err="1"/>
              <a:t>stack.s</a:t>
            </a:r>
            <a:r>
              <a:rPr lang="en-US" altLang="zh-TW" sz="1200"/>
              <a:t> </a:t>
            </a:r>
            <a:endParaRPr lang="en-US" altLang="zh-TW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F254-E47E-2C44-98AF-85D52326CB7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675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Code Red virus: </a:t>
            </a:r>
            <a:r>
              <a:rPr lang="en-US" sz="1600" dirty="0"/>
              <a:t>buffer overflow in Microsoft’s Internet Information Services (IIS) 5.0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9CF254-E47E-2C44-98AF-85D52326CB7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231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Adding boundaries by compiler: canary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F254-E47E-2C44-98AF-85D52326CB7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722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safe language, such as Java, (1) Java will do boundary check</a:t>
            </a:r>
          </a:p>
          <a:p>
            <a:r>
              <a:rPr lang="en-US" dirty="0"/>
              <a:t>(2) there is a tag to indicate if the data stored in the memory is data or instructions in the Java virtual machine.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F254-E47E-2C44-98AF-85D52326CB7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801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Overflow sets</a:t>
            </a:r>
            <a:r>
              <a:rPr lang="en-US" baseline="0" dirty="0"/>
              <a:t> return-address to the address of the </a:t>
            </a:r>
            <a:r>
              <a:rPr lang="en-US" baseline="0" dirty="0" err="1"/>
              <a:t>libc</a:t>
            </a:r>
            <a:r>
              <a:rPr lang="en-US" baseline="0" dirty="0"/>
              <a:t> function; </a:t>
            </a:r>
          </a:p>
          <a:p>
            <a:r>
              <a:rPr lang="en-US" baseline="0" dirty="0"/>
              <a:t>Code gadgets.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9CF254-E47E-2C44-98AF-85D52326CB7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674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StackGuard</a:t>
            </a:r>
            <a:r>
              <a:rPr lang="en-US" dirty="0"/>
              <a:t>: </a:t>
            </a:r>
            <a:r>
              <a:rPr lang="en-US" dirty="0" err="1"/>
              <a:t>gcc</a:t>
            </a:r>
            <a:r>
              <a:rPr lang="en-US" dirty="0"/>
              <a:t> compiler patches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F254-E47E-2C44-98AF-85D52326CB7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684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Overflow sets</a:t>
            </a:r>
            <a:r>
              <a:rPr lang="en-US" baseline="0" dirty="0"/>
              <a:t> return-address to the address of the </a:t>
            </a:r>
            <a:r>
              <a:rPr lang="en-US" baseline="0" dirty="0" err="1"/>
              <a:t>libc</a:t>
            </a:r>
            <a:r>
              <a:rPr lang="en-US" baseline="0" dirty="0"/>
              <a:t> function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Address space layout randomization (ASLR) proposes a defense against BOF attacks by shifting the starting addresses of a process’s text and data segments each time it is run.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9CF254-E47E-2C44-98AF-85D52326CB7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59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Overflow sets</a:t>
            </a:r>
            <a:r>
              <a:rPr lang="en-US" baseline="0" dirty="0"/>
              <a:t> return-address to the address of the </a:t>
            </a:r>
            <a:r>
              <a:rPr lang="en-US" baseline="0" dirty="0" err="1"/>
              <a:t>libc</a:t>
            </a:r>
            <a:r>
              <a:rPr lang="en-US" baseline="0" dirty="0"/>
              <a:t> function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Address space layout randomization (ASLR) proposes a defense against BOF attacks by shifting the starting addresses of a process’s text and data segments each time it is run.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9CF254-E47E-2C44-98AF-85D52326CB7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967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Malicious code written</a:t>
            </a:r>
            <a:r>
              <a:rPr lang="en-US" baseline="0" dirty="0"/>
              <a:t> in </a:t>
            </a:r>
            <a:r>
              <a:rPr lang="en-US" dirty="0"/>
              <a:t>Apple</a:t>
            </a:r>
            <a:r>
              <a:rPr lang="en-US" baseline="0" dirty="0"/>
              <a:t> instructions cannot be executed on an Intel machine. </a:t>
            </a:r>
          </a:p>
          <a:p>
            <a:endParaRPr lang="en-US" baseline="0" dirty="0"/>
          </a:p>
          <a:p>
            <a:r>
              <a:rPr lang="en-US" baseline="0" dirty="0"/>
              <a:t>Encryption the instructions with a key, and decrypt them before execution, XOR with the key.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9CF254-E47E-2C44-98AF-85D52326CB7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020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Malicious code written</a:t>
            </a:r>
            <a:r>
              <a:rPr lang="en-US" baseline="0" dirty="0"/>
              <a:t> in </a:t>
            </a:r>
            <a:r>
              <a:rPr lang="en-US" dirty="0"/>
              <a:t>Apple</a:t>
            </a:r>
            <a:r>
              <a:rPr lang="en-US" baseline="0" dirty="0"/>
              <a:t> instructions cannot be executed on an Intel machine. </a:t>
            </a:r>
            <a:endParaRPr lang="en-US" dirty="0"/>
          </a:p>
          <a:p>
            <a:endParaRPr lang="en-US" dirty="0"/>
          </a:p>
          <a:p>
            <a:r>
              <a:rPr lang="en-US" dirty="0"/>
              <a:t>XOR</a:t>
            </a:r>
            <a:r>
              <a:rPr lang="en-US" baseline="0" dirty="0"/>
              <a:t> the instructions with the key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9CF254-E47E-2C44-98AF-85D52326CB7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58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2609-EDBF-2143-8AA0-E9E74E1D3492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EDD2-6753-354F-B3EC-25E3BB2E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0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2609-EDBF-2143-8AA0-E9E74E1D3492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EDD2-6753-354F-B3EC-25E3BB2E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2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2609-EDBF-2143-8AA0-E9E74E1D3492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EDD2-6753-354F-B3EC-25E3BB2E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63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2609-EDBF-2143-8AA0-E9E74E1D3492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EDD2-6753-354F-B3EC-25E3BB2E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28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2609-EDBF-2143-8AA0-E9E74E1D3492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EDD2-6753-354F-B3EC-25E3BB2E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9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2609-EDBF-2143-8AA0-E9E74E1D3492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EDD2-6753-354F-B3EC-25E3BB2E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58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2609-EDBF-2143-8AA0-E9E74E1D3492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EDD2-6753-354F-B3EC-25E3BB2E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09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2609-EDBF-2143-8AA0-E9E74E1D3492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EDD2-6753-354F-B3EC-25E3BB2E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131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2609-EDBF-2143-8AA0-E9E74E1D3492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EDD2-6753-354F-B3EC-25E3BB2E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18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2609-EDBF-2143-8AA0-E9E74E1D3492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EDD2-6753-354F-B3EC-25E3BB2E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716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2609-EDBF-2143-8AA0-E9E74E1D3492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EDD2-6753-354F-B3EC-25E3BB2E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45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F2609-EDBF-2143-8AA0-E9E74E1D3492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DEDD2-6753-354F-B3EC-25E3BB2E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8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en-US" dirty="0">
                <a:solidFill>
                  <a:srgbClr val="00B0F0"/>
                </a:solidFill>
              </a:rPr>
              <a:t>This lecture slide is mainly based on the power point slides by Professor Lawrie Brown, Dr. </a:t>
            </a:r>
            <a:r>
              <a:rPr lang="en-US" altLang="en-US" dirty="0" err="1">
                <a:solidFill>
                  <a:srgbClr val="00B0F0"/>
                </a:solidFill>
              </a:rPr>
              <a:t>Junjie</a:t>
            </a:r>
            <a:r>
              <a:rPr lang="en-US" altLang="en-US">
                <a:solidFill>
                  <a:srgbClr val="00B0F0"/>
                </a:solidFill>
              </a:rPr>
              <a:t> Zhang.</a:t>
            </a:r>
            <a:endParaRPr lang="en-US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028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Motivating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into a system or escalate your privilege</a:t>
            </a:r>
          </a:p>
          <a:p>
            <a:endParaRPr lang="en-US" dirty="0"/>
          </a:p>
        </p:txBody>
      </p:sp>
      <p:pic>
        <p:nvPicPr>
          <p:cNvPr id="4" name="Picture 3" descr="1194983813750083554server_mimooh_.svg.m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380" y="2964358"/>
            <a:ext cx="2071938" cy="2205611"/>
          </a:xfrm>
          <a:prstGeom prst="rect">
            <a:avLst/>
          </a:prstGeom>
        </p:spPr>
      </p:pic>
      <p:sp>
        <p:nvSpPr>
          <p:cNvPr id="5" name="Left Arrow 4"/>
          <p:cNvSpPr/>
          <p:nvPr/>
        </p:nvSpPr>
        <p:spPr>
          <a:xfrm>
            <a:off x="5474455" y="3573073"/>
            <a:ext cx="1184599" cy="378541"/>
          </a:xfrm>
          <a:prstGeom prst="lef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1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General Approaches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60695"/>
            <a:ext cx="4038600" cy="4465468"/>
          </a:xfrm>
        </p:spPr>
        <p:txBody>
          <a:bodyPr/>
          <a:lstStyle/>
          <a:p>
            <a:r>
              <a:rPr lang="en-US" dirty="0"/>
              <a:t>Identify the credential to break in</a:t>
            </a:r>
          </a:p>
          <a:p>
            <a:pPr lvl="1"/>
            <a:r>
              <a:rPr lang="en-US" dirty="0"/>
              <a:t>Weak password</a:t>
            </a:r>
          </a:p>
          <a:p>
            <a:pPr lvl="1"/>
            <a:r>
              <a:rPr lang="en-US" dirty="0"/>
              <a:t>Brute force</a:t>
            </a:r>
          </a:p>
          <a:p>
            <a:pPr lvl="1"/>
            <a:r>
              <a:rPr lang="en-US" dirty="0"/>
              <a:t>Social engineering</a:t>
            </a:r>
          </a:p>
          <a:p>
            <a:pPr lvl="1"/>
            <a:r>
              <a:rPr lang="en-US" dirty="0"/>
              <a:t>……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60695"/>
            <a:ext cx="4038600" cy="4465468"/>
          </a:xfrm>
        </p:spPr>
        <p:txBody>
          <a:bodyPr/>
          <a:lstStyle/>
          <a:p>
            <a:r>
              <a:rPr lang="en-US" dirty="0"/>
              <a:t>Compromise the program vulnerabilities</a:t>
            </a:r>
          </a:p>
          <a:p>
            <a:pPr lvl="1"/>
            <a:r>
              <a:rPr lang="en-US" dirty="0"/>
              <a:t>Incomplete mediation</a:t>
            </a:r>
          </a:p>
          <a:p>
            <a:pPr lvl="1"/>
            <a:r>
              <a:rPr lang="en-US" dirty="0"/>
              <a:t>Timing attacks</a:t>
            </a:r>
          </a:p>
          <a:p>
            <a:pPr lvl="1"/>
            <a:r>
              <a:rPr lang="en-US" dirty="0"/>
              <a:t>Buffer overflow</a:t>
            </a:r>
          </a:p>
          <a:p>
            <a:pPr lvl="1"/>
            <a:r>
              <a:rPr lang="en-US" dirty="0"/>
              <a:t>……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41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Incomplete Mediation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79204"/>
            <a:ext cx="8229600" cy="209973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program fails to perform “sanity checks” on data. </a:t>
            </a:r>
          </a:p>
          <a:p>
            <a:endParaRPr lang="en-US" dirty="0"/>
          </a:p>
          <a:p>
            <a:r>
              <a:rPr lang="en-US" dirty="0"/>
              <a:t>An Example:</a:t>
            </a:r>
          </a:p>
          <a:p>
            <a:pPr lvl="1"/>
            <a:r>
              <a:rPr lang="en-US" dirty="0"/>
              <a:t>A program that accepts a filename, and outputs its content to a student. 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78574" y="3509787"/>
            <a:ext cx="5178047" cy="2533548"/>
          </a:xfrm>
          <a:prstGeom prst="rect">
            <a:avLst/>
          </a:prstGeo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Times" charset="0"/>
              <a:buNone/>
            </a:pPr>
            <a:r>
              <a:rPr lang="en-US" kern="1200" dirty="0">
                <a:latin typeface="Comic Sans MS"/>
                <a:cs typeface="Comic Sans MS"/>
              </a:rPr>
              <a:t>void main(</a:t>
            </a:r>
            <a:r>
              <a:rPr lang="en-US" kern="1200" dirty="0" err="1">
                <a:latin typeface="Comic Sans MS"/>
                <a:cs typeface="Comic Sans MS"/>
              </a:rPr>
              <a:t>int</a:t>
            </a:r>
            <a:r>
              <a:rPr lang="en-US" kern="1200" dirty="0">
                <a:latin typeface="Comic Sans MS"/>
                <a:cs typeface="Comic Sans MS"/>
              </a:rPr>
              <a:t> </a:t>
            </a:r>
            <a:r>
              <a:rPr lang="en-US" kern="1200" dirty="0" err="1">
                <a:latin typeface="Comic Sans MS"/>
                <a:cs typeface="Comic Sans MS"/>
              </a:rPr>
              <a:t>argc</a:t>
            </a:r>
            <a:r>
              <a:rPr lang="en-US" kern="1200" dirty="0">
                <a:latin typeface="Comic Sans MS"/>
                <a:cs typeface="Comic Sans MS"/>
              </a:rPr>
              <a:t>, char ** </a:t>
            </a:r>
            <a:r>
              <a:rPr lang="en-US" kern="1200" dirty="0" err="1">
                <a:latin typeface="Comic Sans MS"/>
                <a:cs typeface="Comic Sans MS"/>
              </a:rPr>
              <a:t>argv</a:t>
            </a:r>
            <a:r>
              <a:rPr lang="en-US" kern="1200" dirty="0">
                <a:latin typeface="Comic Sans MS"/>
                <a:cs typeface="Comic Sans MS"/>
              </a:rPr>
              <a:t>) {</a:t>
            </a:r>
          </a:p>
          <a:p>
            <a:pPr eaLnBrk="1" hangingPunct="1">
              <a:buFont typeface="Times" charset="0"/>
              <a:buNone/>
            </a:pPr>
            <a:r>
              <a:rPr lang="en-US" kern="1200" dirty="0">
                <a:latin typeface="Comic Sans MS"/>
                <a:cs typeface="Comic Sans MS"/>
              </a:rPr>
              <a:t>	char </a:t>
            </a:r>
            <a:r>
              <a:rPr lang="en-US" kern="1200" dirty="0" err="1">
                <a:latin typeface="Comic Sans MS"/>
                <a:cs typeface="Comic Sans MS"/>
              </a:rPr>
              <a:t>buf</a:t>
            </a:r>
            <a:r>
              <a:rPr lang="en-US" kern="1200" dirty="0">
                <a:latin typeface="Comic Sans MS"/>
                <a:cs typeface="Comic Sans MS"/>
              </a:rPr>
              <a:t>[1024];</a:t>
            </a:r>
          </a:p>
          <a:p>
            <a:pPr eaLnBrk="1" hangingPunct="1">
              <a:buFont typeface="Times" charset="0"/>
              <a:buNone/>
            </a:pPr>
            <a:r>
              <a:rPr lang="en-US" dirty="0">
                <a:latin typeface="Comic Sans MS"/>
                <a:cs typeface="Comic Sans MS"/>
              </a:rPr>
              <a:t>	char* filename = </a:t>
            </a:r>
            <a:r>
              <a:rPr lang="en-US" dirty="0" err="1">
                <a:latin typeface="Comic Sans MS"/>
                <a:cs typeface="Comic Sans MS"/>
              </a:rPr>
              <a:t>get_str_from_socket</a:t>
            </a:r>
            <a:r>
              <a:rPr lang="en-US" dirty="0">
                <a:latin typeface="Comic Sans MS"/>
                <a:cs typeface="Comic Sans MS"/>
              </a:rPr>
              <a:t>();</a:t>
            </a:r>
            <a:endParaRPr lang="en-US" kern="1200" dirty="0">
              <a:latin typeface="Comic Sans MS"/>
              <a:cs typeface="Comic Sans MS"/>
            </a:endParaRPr>
          </a:p>
          <a:p>
            <a:pPr eaLnBrk="1" hangingPunct="1">
              <a:buFont typeface="Times" charset="0"/>
              <a:buNone/>
            </a:pPr>
            <a:r>
              <a:rPr lang="en-US" kern="1200" dirty="0">
                <a:latin typeface="Comic Sans MS"/>
                <a:cs typeface="Comic Sans MS"/>
              </a:rPr>
              <a:t> 	</a:t>
            </a:r>
            <a:r>
              <a:rPr lang="en-US" kern="1200" dirty="0" err="1">
                <a:latin typeface="Comic Sans MS"/>
                <a:cs typeface="Comic Sans MS"/>
              </a:rPr>
              <a:t>sprintf</a:t>
            </a:r>
            <a:r>
              <a:rPr lang="en-US" kern="1200" dirty="0">
                <a:latin typeface="Comic Sans MS"/>
                <a:cs typeface="Comic Sans MS"/>
              </a:rPr>
              <a:t>(</a:t>
            </a:r>
            <a:r>
              <a:rPr lang="en-US" kern="1200" dirty="0" err="1">
                <a:latin typeface="Comic Sans MS"/>
                <a:cs typeface="Comic Sans MS"/>
              </a:rPr>
              <a:t>buf</a:t>
            </a:r>
            <a:r>
              <a:rPr lang="en-US" kern="1200" dirty="0">
                <a:latin typeface="Comic Sans MS"/>
                <a:cs typeface="Comic Sans MS"/>
              </a:rPr>
              <a:t>,</a:t>
            </a:r>
            <a:r>
              <a:rPr lang="ja-JP" altLang="en-US" kern="1200" dirty="0">
                <a:latin typeface="Comic Sans MS"/>
                <a:cs typeface="Comic Sans MS"/>
              </a:rPr>
              <a:t>”</a:t>
            </a:r>
            <a:r>
              <a:rPr lang="en-US" kern="1200" dirty="0">
                <a:latin typeface="Comic Sans MS"/>
                <a:cs typeface="Comic Sans MS"/>
              </a:rPr>
              <a:t>cat %s</a:t>
            </a:r>
            <a:r>
              <a:rPr lang="ja-JP" altLang="en-US" kern="1200" dirty="0">
                <a:latin typeface="Comic Sans MS"/>
                <a:cs typeface="Comic Sans MS"/>
              </a:rPr>
              <a:t>”</a:t>
            </a:r>
            <a:r>
              <a:rPr lang="en-US" kern="1200" dirty="0">
                <a:latin typeface="Comic Sans MS"/>
                <a:cs typeface="Comic Sans MS"/>
              </a:rPr>
              <a:t>,</a:t>
            </a:r>
            <a:r>
              <a:rPr lang="en-US" dirty="0">
                <a:latin typeface="Comic Sans MS"/>
                <a:cs typeface="Comic Sans MS"/>
              </a:rPr>
              <a:t>filename</a:t>
            </a:r>
            <a:r>
              <a:rPr lang="en-US" kern="1200" dirty="0">
                <a:latin typeface="Comic Sans MS"/>
                <a:cs typeface="Comic Sans MS"/>
              </a:rPr>
              <a:t>);</a:t>
            </a:r>
          </a:p>
          <a:p>
            <a:pPr eaLnBrk="1" hangingPunct="1">
              <a:buFont typeface="Times" charset="0"/>
              <a:buNone/>
            </a:pPr>
            <a:r>
              <a:rPr lang="en-US" kern="1200" dirty="0">
                <a:latin typeface="Comic Sans MS"/>
                <a:cs typeface="Comic Sans MS"/>
              </a:rPr>
              <a:t> 	</a:t>
            </a:r>
            <a:r>
              <a:rPr lang="en-US" dirty="0" err="1">
                <a:latin typeface="Comic Sans MS"/>
                <a:cs typeface="Comic Sans MS"/>
              </a:rPr>
              <a:t>output_socket</a:t>
            </a:r>
            <a:r>
              <a:rPr lang="en-US" dirty="0">
                <a:latin typeface="Comic Sans MS"/>
                <a:cs typeface="Comic Sans MS"/>
              </a:rPr>
              <a:t>(</a:t>
            </a:r>
            <a:r>
              <a:rPr lang="en-US" kern="1200" dirty="0">
                <a:latin typeface="Comic Sans MS"/>
                <a:cs typeface="Comic Sans MS"/>
              </a:rPr>
              <a:t>system (</a:t>
            </a:r>
            <a:r>
              <a:rPr lang="ja-JP" altLang="en-US" kern="1200" dirty="0">
                <a:latin typeface="Comic Sans MS"/>
                <a:cs typeface="Comic Sans MS"/>
              </a:rPr>
              <a:t>“</a:t>
            </a:r>
            <a:r>
              <a:rPr lang="en-US" kern="1200" dirty="0" err="1">
                <a:latin typeface="Comic Sans MS"/>
                <a:cs typeface="Comic Sans MS"/>
              </a:rPr>
              <a:t>buf</a:t>
            </a:r>
            <a:r>
              <a:rPr lang="ja-JP" altLang="en-US" kern="1200" dirty="0">
                <a:latin typeface="Comic Sans MS"/>
                <a:cs typeface="Comic Sans MS"/>
              </a:rPr>
              <a:t>”</a:t>
            </a:r>
            <a:r>
              <a:rPr lang="en-US" kern="1200" dirty="0">
                <a:latin typeface="Comic Sans MS"/>
                <a:cs typeface="Comic Sans MS"/>
              </a:rPr>
              <a:t>));</a:t>
            </a:r>
          </a:p>
          <a:p>
            <a:pPr eaLnBrk="1" hangingPunct="1">
              <a:buFont typeface="Times" charset="0"/>
              <a:buNone/>
            </a:pPr>
            <a:r>
              <a:rPr lang="en-US" kern="1200" dirty="0">
                <a:latin typeface="Comic Sans MS"/>
                <a:cs typeface="Comic Sans MS"/>
              </a:rPr>
              <a:t>}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849718" y="3485366"/>
            <a:ext cx="3199636" cy="1233312"/>
          </a:xfrm>
          <a:prstGeom prst="rect">
            <a:avLst/>
          </a:prstGeo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kern="1200" dirty="0">
                <a:latin typeface="Comic Sans MS"/>
                <a:cs typeface="Comic Sans MS"/>
              </a:rPr>
              <a:t>%telnet server</a:t>
            </a:r>
          </a:p>
          <a:p>
            <a:pPr marL="285750" indent="-285750" eaLnBrk="1" hangingPunct="1">
              <a:buFont typeface="Wingdings" charset="0"/>
              <a:buChar char="Ø"/>
            </a:pPr>
            <a:r>
              <a:rPr lang="en-US" dirty="0">
                <a:latin typeface="Comic Sans MS"/>
                <a:cs typeface="Comic Sans MS"/>
              </a:rPr>
              <a:t>homework1.txt</a:t>
            </a:r>
          </a:p>
          <a:p>
            <a:pPr marL="285750" indent="-285750" eaLnBrk="1" hangingPunct="1">
              <a:buFont typeface="Wingdings" charset="0"/>
              <a:buChar char="Ø"/>
            </a:pPr>
            <a:r>
              <a:rPr lang="en-US" dirty="0">
                <a:latin typeface="Comic Sans MS"/>
                <a:cs typeface="Comic Sans MS"/>
              </a:rPr>
              <a:t>Question1</a:t>
            </a:r>
          </a:p>
          <a:p>
            <a:pPr marL="285750" indent="-285750" eaLnBrk="1" hangingPunct="1">
              <a:buFont typeface="Wingdings" charset="0"/>
              <a:buChar char="Ø"/>
            </a:pPr>
            <a:r>
              <a:rPr lang="en-US" kern="1200" dirty="0">
                <a:latin typeface="Comic Sans MS"/>
                <a:cs typeface="Comic Sans MS"/>
              </a:rPr>
              <a:t>….</a:t>
            </a:r>
          </a:p>
          <a:p>
            <a:pPr marL="285750" indent="-285750" eaLnBrk="1" hangingPunct="1">
              <a:buFont typeface="Wingdings" charset="0"/>
              <a:buChar char="Ø"/>
            </a:pPr>
            <a:endParaRPr lang="en-US" kern="1200" dirty="0">
              <a:latin typeface="Comic Sans MS"/>
              <a:cs typeface="Comic Sans M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849718" y="4810023"/>
            <a:ext cx="3199636" cy="1233312"/>
          </a:xfrm>
          <a:prstGeom prst="rect">
            <a:avLst/>
          </a:prstGeo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kern="1200" dirty="0">
                <a:latin typeface="Comic Sans MS"/>
                <a:cs typeface="Comic Sans MS"/>
              </a:rPr>
              <a:t>%telnet server</a:t>
            </a:r>
          </a:p>
          <a:p>
            <a:pPr marL="285750" indent="-285750" eaLnBrk="1" hangingPunct="1">
              <a:buFont typeface="Wingdings" charset="0"/>
              <a:buChar char="Ø"/>
            </a:pPr>
            <a:r>
              <a:rPr lang="en-US" dirty="0">
                <a:latin typeface="Comic Sans MS"/>
                <a:cs typeface="Comic Sans MS"/>
              </a:rPr>
              <a:t>homework1.txt</a:t>
            </a:r>
            <a:r>
              <a:rPr lang="en-US" dirty="0">
                <a:solidFill>
                  <a:srgbClr val="FF0000"/>
                </a:solidFill>
                <a:latin typeface="Comic Sans MS"/>
                <a:cs typeface="Comic Sans MS"/>
              </a:rPr>
              <a:t>; </a:t>
            </a:r>
            <a:r>
              <a:rPr lang="en-US" dirty="0" err="1">
                <a:solidFill>
                  <a:srgbClr val="FF0000"/>
                </a:solidFill>
                <a:latin typeface="Comic Sans MS"/>
                <a:cs typeface="Comic Sans MS"/>
              </a:rPr>
              <a:t>rm</a:t>
            </a:r>
            <a:r>
              <a:rPr lang="en-US" dirty="0">
                <a:solidFill>
                  <a:srgbClr val="FF0000"/>
                </a:solidFill>
                <a:latin typeface="Comic Sans MS"/>
                <a:cs typeface="Comic Sans MS"/>
              </a:rPr>
              <a:t> ./*</a:t>
            </a:r>
          </a:p>
          <a:p>
            <a:pPr marL="285750" indent="-285750" eaLnBrk="1" hangingPunct="1">
              <a:buFont typeface="Wingdings" charset="0"/>
              <a:buChar char="Ø"/>
            </a:pPr>
            <a:r>
              <a:rPr lang="en-US" dirty="0">
                <a:latin typeface="Comic Sans MS"/>
                <a:cs typeface="Comic Sans MS"/>
              </a:rPr>
              <a:t>Question1…..</a:t>
            </a:r>
          </a:p>
          <a:p>
            <a:pPr marL="285750" indent="-285750" eaLnBrk="1" hangingPunct="1">
              <a:buFont typeface="Wingdings" charset="0"/>
              <a:buChar char="Ø"/>
            </a:pPr>
            <a:r>
              <a:rPr lang="en-US" dirty="0">
                <a:latin typeface="Comic Sans MS"/>
                <a:cs typeface="Comic Sans MS"/>
              </a:rPr>
              <a:t>(all files are deleted)</a:t>
            </a:r>
            <a:endParaRPr lang="en-US" kern="1200" dirty="0">
              <a:latin typeface="Comic Sans MS"/>
              <a:cs typeface="Comic Sans MS"/>
            </a:endParaRPr>
          </a:p>
          <a:p>
            <a:pPr marL="285750" indent="-285750" eaLnBrk="1" hangingPunct="1">
              <a:buFont typeface="Wingdings" charset="0"/>
              <a:buChar char="Ø"/>
            </a:pPr>
            <a:endParaRPr lang="en-US" kern="1200" dirty="0">
              <a:latin typeface="Comic Sans MS"/>
              <a:cs typeface="Comic Sans M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4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 Overflow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Buffer Overflow is an anomaly where data is stored beyond the boundary of a fixed-length buffer. 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 descr="stack-buffer-overflow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354" y="2717462"/>
            <a:ext cx="2589595" cy="310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658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 Overflow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Stack Overflow</a:t>
            </a:r>
          </a:p>
          <a:p>
            <a:endParaRPr lang="en-US" dirty="0"/>
          </a:p>
          <a:p>
            <a:r>
              <a:rPr lang="en-US" dirty="0"/>
              <a:t>Heap Overflow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58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 Overflow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Program V.S. Process</a:t>
            </a:r>
          </a:p>
          <a:p>
            <a:r>
              <a:rPr lang="en-US" dirty="0"/>
              <a:t>Program</a:t>
            </a:r>
          </a:p>
          <a:p>
            <a:pPr lvl="1"/>
            <a:r>
              <a:rPr lang="en-US" dirty="0"/>
              <a:t>A file</a:t>
            </a:r>
          </a:p>
          <a:p>
            <a:pPr lvl="2"/>
            <a:r>
              <a:rPr lang="en-US" dirty="0"/>
              <a:t>Static instructions</a:t>
            </a:r>
          </a:p>
          <a:p>
            <a:pPr lvl="2"/>
            <a:r>
              <a:rPr lang="en-US" dirty="0"/>
              <a:t>Static data</a:t>
            </a:r>
          </a:p>
          <a:p>
            <a:r>
              <a:rPr lang="en-US" dirty="0"/>
              <a:t>Process</a:t>
            </a:r>
          </a:p>
          <a:p>
            <a:pPr lvl="1"/>
            <a:r>
              <a:rPr lang="en-US" dirty="0"/>
              <a:t>An instance of a program</a:t>
            </a:r>
          </a:p>
          <a:p>
            <a:pPr lvl="2"/>
            <a:r>
              <a:rPr lang="en-US" dirty="0"/>
              <a:t>Loaded into the memory</a:t>
            </a:r>
          </a:p>
          <a:p>
            <a:pPr lvl="2"/>
            <a:r>
              <a:rPr lang="en-US" dirty="0"/>
              <a:t>Executing and dynamic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48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V.S.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3649" y="1590244"/>
            <a:ext cx="1750815" cy="7645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Source Code</a:t>
            </a:r>
          </a:p>
          <a:p>
            <a:pPr algn="ctr"/>
            <a:r>
              <a:rPr lang="en-US" dirty="0"/>
              <a:t>(.c, .</a:t>
            </a:r>
            <a:r>
              <a:rPr lang="en-US" dirty="0" err="1"/>
              <a:t>cpp</a:t>
            </a:r>
            <a:r>
              <a:rPr lang="en-US" dirty="0"/>
              <a:t>, .java….)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3649" y="3160478"/>
            <a:ext cx="1750815" cy="7645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Executable</a:t>
            </a:r>
          </a:p>
          <a:p>
            <a:pPr algn="ctr"/>
            <a:r>
              <a:rPr lang="en-US" dirty="0"/>
              <a:t>(EXE, ELF….)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3649" y="4718383"/>
            <a:ext cx="1750815" cy="7645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cxnSp>
        <p:nvCxnSpPr>
          <p:cNvPr id="9" name="Straight Arrow Connector 8"/>
          <p:cNvCxnSpPr>
            <a:stCxn id="5" idx="2"/>
            <a:endCxn id="6" idx="0"/>
          </p:cNvCxnSpPr>
          <p:nvPr/>
        </p:nvCxnSpPr>
        <p:spPr>
          <a:xfrm>
            <a:off x="2059057" y="2354837"/>
            <a:ext cx="0" cy="8056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059057" y="3925071"/>
            <a:ext cx="0" cy="8056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ight Brace 10"/>
          <p:cNvSpPr/>
          <p:nvPr/>
        </p:nvSpPr>
        <p:spPr>
          <a:xfrm>
            <a:off x="3353673" y="1849348"/>
            <a:ext cx="271253" cy="170140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/>
          <p:cNvSpPr/>
          <p:nvPr/>
        </p:nvSpPr>
        <p:spPr>
          <a:xfrm>
            <a:off x="3370447" y="4730713"/>
            <a:ext cx="254479" cy="75226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674241" y="2453738"/>
            <a:ext cx="99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4241" y="4887001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</a:t>
            </a:r>
          </a:p>
        </p:txBody>
      </p:sp>
      <p:pic>
        <p:nvPicPr>
          <p:cNvPr id="15" name="Picture 14" descr="cpu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371" y="3295560"/>
            <a:ext cx="4275659" cy="30367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606" y="2544493"/>
            <a:ext cx="144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Compile, 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3649" y="4085419"/>
            <a:ext cx="635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</a:t>
            </a:r>
          </a:p>
        </p:txBody>
      </p:sp>
      <p:sp>
        <p:nvSpPr>
          <p:cNvPr id="21" name="Freeform 20"/>
          <p:cNvSpPr/>
          <p:nvPr/>
        </p:nvSpPr>
        <p:spPr>
          <a:xfrm>
            <a:off x="2934464" y="3064776"/>
            <a:ext cx="3057761" cy="1718872"/>
          </a:xfrm>
          <a:custGeom>
            <a:avLst/>
            <a:gdLst>
              <a:gd name="connsiteX0" fmla="*/ 0 w 3057761"/>
              <a:gd name="connsiteY0" fmla="*/ 1718872 h 1718872"/>
              <a:gd name="connsiteX1" fmla="*/ 1837123 w 3057761"/>
              <a:gd name="connsiteY1" fmla="*/ 29800 h 1718872"/>
              <a:gd name="connsiteX2" fmla="*/ 3057761 w 3057761"/>
              <a:gd name="connsiteY2" fmla="*/ 596934 h 1718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57761" h="1718872">
                <a:moveTo>
                  <a:pt x="0" y="1718872"/>
                </a:moveTo>
                <a:cubicBezTo>
                  <a:pt x="663748" y="967831"/>
                  <a:pt x="1327496" y="216790"/>
                  <a:pt x="1837123" y="29800"/>
                </a:cubicBezTo>
                <a:cubicBezTo>
                  <a:pt x="2346750" y="-157190"/>
                  <a:pt x="3057761" y="596934"/>
                  <a:pt x="3057761" y="596934"/>
                </a:cubicBezTo>
              </a:path>
            </a:pathLst>
          </a:cu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53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Memory Organization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494073" y="1378182"/>
            <a:ext cx="18426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TW" dirty="0">
                <a:latin typeface="Times New Roman" charset="0"/>
                <a:ea typeface="新細明體" charset="0"/>
                <a:cs typeface="新細明體" charset="0"/>
              </a:rPr>
              <a:t>Lower </a:t>
            </a:r>
            <a:r>
              <a:rPr kumimoji="1" lang="en-US" altLang="zh-TW" dirty="0" err="1">
                <a:latin typeface="Times New Roman" charset="0"/>
                <a:ea typeface="新細明體" charset="0"/>
                <a:cs typeface="新細明體" charset="0"/>
              </a:rPr>
              <a:t>Mem</a:t>
            </a:r>
            <a:r>
              <a:rPr kumimoji="1" lang="en-US" altLang="zh-TW" dirty="0">
                <a:latin typeface="Times New Roman" charset="0"/>
                <a:ea typeface="新細明體" charset="0"/>
                <a:cs typeface="新細明體" charset="0"/>
              </a:rPr>
              <a:t> </a:t>
            </a:r>
            <a:r>
              <a:rPr kumimoji="1" lang="en-US" altLang="zh-TW" dirty="0" err="1">
                <a:latin typeface="Times New Roman" charset="0"/>
                <a:ea typeface="新細明體" charset="0"/>
                <a:cs typeface="新細明體" charset="0"/>
              </a:rPr>
              <a:t>Addr</a:t>
            </a:r>
            <a:endParaRPr kumimoji="1" lang="en-US" altLang="zh-TW" dirty="0">
              <a:latin typeface="Times New Roman" charset="0"/>
              <a:ea typeface="新細明體" charset="0"/>
              <a:cs typeface="新細明體" charset="0"/>
            </a:endParaRPr>
          </a:p>
        </p:txBody>
      </p:sp>
      <p:sp>
        <p:nvSpPr>
          <p:cNvPr id="10" name="Line 15"/>
          <p:cNvSpPr>
            <a:spLocks noChangeShapeType="1"/>
          </p:cNvSpPr>
          <p:nvPr/>
        </p:nvSpPr>
        <p:spPr bwMode="auto">
          <a:xfrm>
            <a:off x="3402483" y="4500263"/>
            <a:ext cx="0" cy="2669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 flipV="1">
            <a:off x="3402483" y="5382193"/>
            <a:ext cx="0" cy="2550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371273" y="2550644"/>
            <a:ext cx="219349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1" lang="en-US" altLang="zh-TW" sz="1600" dirty="0">
                <a:latin typeface="Times New Roman" charset="0"/>
                <a:ea typeface="新細明體" charset="0"/>
                <a:cs typeface="新細明體" charset="0"/>
              </a:rPr>
              <a:t>Text:</a:t>
            </a:r>
          </a:p>
          <a:p>
            <a:pPr marL="0" lvl="1"/>
            <a:r>
              <a:rPr kumimoji="1" lang="en-US" altLang="zh-TW" sz="1600" dirty="0">
                <a:latin typeface="Times New Roman" charset="0"/>
                <a:ea typeface="新細明體" charset="0"/>
                <a:cs typeface="新細明體" charset="0"/>
              </a:rPr>
              <a:t>	Instructions </a:t>
            </a:r>
          </a:p>
          <a:p>
            <a:pPr marL="0" lvl="1"/>
            <a:r>
              <a:rPr kumimoji="1" lang="en-US" altLang="zh-TW" sz="1600" dirty="0">
                <a:latin typeface="Times New Roman" charset="0"/>
                <a:ea typeface="新細明體" charset="0"/>
                <a:cs typeface="新細明體" charset="0"/>
              </a:rPr>
              <a:t>	Read-only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71274" y="3490258"/>
            <a:ext cx="2193497" cy="5847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1" lang="en-US" altLang="zh-TW" sz="1600" dirty="0">
                <a:latin typeface="Times New Roman" charset="0"/>
                <a:ea typeface="新細明體" charset="0"/>
                <a:cs typeface="新細明體" charset="0"/>
              </a:rPr>
              <a:t>Data: </a:t>
            </a:r>
          </a:p>
          <a:p>
            <a:r>
              <a:rPr kumimoji="1" lang="en-US" altLang="zh-TW" sz="1600" dirty="0">
                <a:latin typeface="Times New Roman" charset="0"/>
                <a:ea typeface="新細明體" charset="0"/>
                <a:cs typeface="新細明體" charset="0"/>
              </a:rPr>
              <a:t>	Static variables</a:t>
            </a:r>
            <a:endParaRPr kumimoji="1" lang="zh-TW" altLang="en-US" sz="1600" dirty="0">
              <a:latin typeface="Times New Roman" charset="0"/>
              <a:ea typeface="新細明體" charset="0"/>
              <a:cs typeface="新細明體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71275" y="4202371"/>
            <a:ext cx="219349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1" lang="en-US" altLang="zh-TW" sz="1600" dirty="0">
                <a:latin typeface="Times New Roman" charset="0"/>
                <a:ea typeface="新細明體" charset="0"/>
                <a:cs typeface="新細明體" charset="0"/>
              </a:rPr>
              <a:t>Stack: </a:t>
            </a:r>
          </a:p>
          <a:p>
            <a:r>
              <a:rPr kumimoji="1" lang="en-US" altLang="zh-TW" sz="1600" dirty="0">
                <a:latin typeface="Times New Roman" charset="0"/>
                <a:ea typeface="新細明體" charset="0"/>
                <a:cs typeface="新細明體" charset="0"/>
              </a:rPr>
              <a:t>	Local variables</a:t>
            </a:r>
          </a:p>
          <a:p>
            <a:r>
              <a:rPr kumimoji="1" lang="en-US" altLang="zh-TW" sz="1600" dirty="0">
                <a:latin typeface="Times New Roman" charset="0"/>
                <a:ea typeface="新細明體" charset="0"/>
                <a:cs typeface="新細明體" charset="0"/>
              </a:rPr>
              <a:t>	Return address</a:t>
            </a:r>
            <a:endParaRPr kumimoji="1" lang="zh-TW" altLang="en-US" sz="1600" dirty="0">
              <a:latin typeface="Times New Roman" charset="0"/>
              <a:ea typeface="新細明體" charset="0"/>
              <a:cs typeface="新細明體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259483" y="1865232"/>
            <a:ext cx="2286000" cy="4188845"/>
            <a:chOff x="2658868" y="1690487"/>
            <a:chExt cx="2286000" cy="4188845"/>
          </a:xfrm>
        </p:grpSpPr>
        <p:sp>
          <p:nvSpPr>
            <p:cNvPr id="4" name="Rectangle 8"/>
            <p:cNvSpPr>
              <a:spLocks noChangeArrowheads="1"/>
            </p:cNvSpPr>
            <p:nvPr/>
          </p:nvSpPr>
          <p:spPr bwMode="auto">
            <a:xfrm>
              <a:off x="2658868" y="2428336"/>
              <a:ext cx="2286000" cy="7265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  <a:latin typeface="Times New Roman" charset="0"/>
                  <a:ea typeface="新細明體" charset="0"/>
                  <a:cs typeface="新細明體" charset="0"/>
                </a:rPr>
                <a:t>Text</a:t>
              </a:r>
            </a:p>
          </p:txBody>
        </p:sp>
        <p:sp>
          <p:nvSpPr>
            <p:cNvPr id="5" name="Rectangle 9"/>
            <p:cNvSpPr>
              <a:spLocks noChangeArrowheads="1"/>
            </p:cNvSpPr>
            <p:nvPr/>
          </p:nvSpPr>
          <p:spPr bwMode="auto">
            <a:xfrm>
              <a:off x="2658868" y="3154862"/>
              <a:ext cx="2286000" cy="78706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kumimoji="1" lang="en-US" altLang="zh-TW" sz="2400" dirty="0">
                  <a:latin typeface="Times New Roman" charset="0"/>
                  <a:ea typeface="新細明體" charset="0"/>
                  <a:cs typeface="新細明體" charset="0"/>
                </a:rPr>
                <a:t>Data</a:t>
              </a:r>
            </a:p>
          </p:txBody>
        </p:sp>
        <p:sp>
          <p:nvSpPr>
            <p:cNvPr id="9" name="Rectangle 14"/>
            <p:cNvSpPr>
              <a:spLocks noChangeArrowheads="1"/>
            </p:cNvSpPr>
            <p:nvPr/>
          </p:nvSpPr>
          <p:spPr bwMode="auto">
            <a:xfrm>
              <a:off x="2658868" y="3941931"/>
              <a:ext cx="2286000" cy="1937401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kumimoji="1" lang="en-US" altLang="zh-TW" sz="24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Heap</a:t>
              </a:r>
            </a:p>
            <a:p>
              <a:pPr algn="ctr" eaLnBrk="1" hangingPunct="1"/>
              <a:endParaRPr kumimoji="1" lang="en-US" altLang="zh-TW" sz="24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24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24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endParaRPr>
            </a:p>
            <a:p>
              <a:pPr algn="ctr"/>
              <a:r>
                <a:rPr kumimoji="1" lang="en-US" altLang="zh-TW" sz="24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Stack</a:t>
              </a:r>
            </a:p>
          </p:txBody>
        </p:sp>
        <p:sp>
          <p:nvSpPr>
            <p:cNvPr id="19" name="Rectangle 8"/>
            <p:cNvSpPr>
              <a:spLocks noChangeArrowheads="1"/>
            </p:cNvSpPr>
            <p:nvPr/>
          </p:nvSpPr>
          <p:spPr bwMode="auto">
            <a:xfrm>
              <a:off x="2658868" y="1690487"/>
              <a:ext cx="2286000" cy="72652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  <a:latin typeface="Times New Roman" charset="0"/>
                  <a:ea typeface="新細明體" charset="0"/>
                  <a:cs typeface="新細明體" charset="0"/>
                </a:rPr>
                <a:t>OS Kernel</a:t>
              </a:r>
            </a:p>
          </p:txBody>
        </p:sp>
      </p:grp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448549" y="6159374"/>
            <a:ext cx="19472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TW" dirty="0">
                <a:latin typeface="Times New Roman" charset="0"/>
                <a:ea typeface="新細明體" charset="0"/>
                <a:cs typeface="新細明體" charset="0"/>
              </a:rPr>
              <a:t>Higher </a:t>
            </a:r>
            <a:r>
              <a:rPr kumimoji="1" lang="en-US" altLang="zh-TW" dirty="0" err="1">
                <a:latin typeface="Times New Roman" charset="0"/>
                <a:ea typeface="新細明體" charset="0"/>
                <a:cs typeface="新細明體" charset="0"/>
              </a:rPr>
              <a:t>Mem</a:t>
            </a:r>
            <a:r>
              <a:rPr kumimoji="1" lang="en-US" altLang="zh-TW" dirty="0">
                <a:latin typeface="Times New Roman" charset="0"/>
                <a:ea typeface="新細明體" charset="0"/>
                <a:cs typeface="新細明體" charset="0"/>
              </a:rPr>
              <a:t> </a:t>
            </a:r>
            <a:r>
              <a:rPr kumimoji="1" lang="en-US" altLang="zh-TW" dirty="0" err="1">
                <a:latin typeface="Times New Roman" charset="0"/>
                <a:ea typeface="新細明體" charset="0"/>
                <a:cs typeface="新細明體" charset="0"/>
              </a:rPr>
              <a:t>Addr</a:t>
            </a:r>
            <a:endParaRPr kumimoji="1" lang="en-US" altLang="zh-TW" dirty="0">
              <a:latin typeface="Times New Roman" charset="0"/>
              <a:ea typeface="新細明體" charset="0"/>
              <a:cs typeface="新細明體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810107" y="2605644"/>
            <a:ext cx="1449375" cy="3428743"/>
            <a:chOff x="1209492" y="2450589"/>
            <a:chExt cx="1449375" cy="3428743"/>
          </a:xfrm>
        </p:grpSpPr>
        <p:sp>
          <p:nvSpPr>
            <p:cNvPr id="8" name="Text Box 13"/>
            <p:cNvSpPr txBox="1">
              <a:spLocks noChangeArrowheads="1"/>
            </p:cNvSpPr>
            <p:nvPr/>
          </p:nvSpPr>
          <p:spPr bwMode="auto">
            <a:xfrm>
              <a:off x="1209492" y="3946693"/>
              <a:ext cx="96693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TW" sz="2000" dirty="0">
                  <a:latin typeface="Times New Roman" charset="0"/>
                  <a:ea typeface="新細明體" charset="0"/>
                  <a:cs typeface="新細明體" charset="0"/>
                </a:rPr>
                <a:t>Process</a:t>
              </a:r>
            </a:p>
          </p:txBody>
        </p:sp>
        <p:sp>
          <p:nvSpPr>
            <p:cNvPr id="3" name="Left Brace 2"/>
            <p:cNvSpPr/>
            <p:nvPr/>
          </p:nvSpPr>
          <p:spPr>
            <a:xfrm>
              <a:off x="2123524" y="2450589"/>
              <a:ext cx="535343" cy="3428743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ounded Rectangular Callout 14"/>
          <p:cNvSpPr/>
          <p:nvPr/>
        </p:nvSpPr>
        <p:spPr>
          <a:xfrm>
            <a:off x="4722268" y="5382193"/>
            <a:ext cx="4315388" cy="1146513"/>
          </a:xfrm>
          <a:prstGeom prst="wedgeRoundRectCallout">
            <a:avLst>
              <a:gd name="adj1" fmla="val -27976"/>
              <a:gd name="adj2" fmla="val -9380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Each function is corresponding to one stack frame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Called: the stack frame is assigned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Returned: the stack frame is destroyed</a:t>
            </a:r>
          </a:p>
          <a:p>
            <a:endParaRPr lang="en-US" sz="1600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9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Stack: A high-level Overview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5259541"/>
          </a:xfrm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ourier New"/>
                <a:cs typeface="Courier New"/>
              </a:rPr>
              <a:t>void D(){</a:t>
            </a:r>
          </a:p>
          <a:p>
            <a:r>
              <a:rPr lang="en-US" dirty="0">
                <a:latin typeface="Courier New"/>
                <a:cs typeface="Courier New"/>
              </a:rPr>
              <a:t>	// do </a:t>
            </a:r>
            <a:r>
              <a:rPr lang="en-US" dirty="0" err="1">
                <a:latin typeface="Courier New"/>
                <a:cs typeface="Courier New"/>
              </a:rPr>
              <a:t>sth</a:t>
            </a: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}</a:t>
            </a:r>
          </a:p>
          <a:p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void C(){</a:t>
            </a:r>
          </a:p>
          <a:p>
            <a:r>
              <a:rPr lang="en-US" dirty="0">
                <a:latin typeface="Courier New"/>
                <a:cs typeface="Courier New"/>
              </a:rPr>
              <a:t>	//do </a:t>
            </a:r>
            <a:r>
              <a:rPr lang="en-US" dirty="0" err="1">
                <a:latin typeface="Courier New"/>
                <a:cs typeface="Courier New"/>
              </a:rPr>
              <a:t>sth</a:t>
            </a: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}</a:t>
            </a:r>
          </a:p>
          <a:p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void B(){</a:t>
            </a:r>
          </a:p>
          <a:p>
            <a:r>
              <a:rPr lang="en-US" dirty="0" err="1">
                <a:latin typeface="Courier New"/>
                <a:cs typeface="Courier New"/>
              </a:rPr>
              <a:t>Int</a:t>
            </a:r>
            <a:r>
              <a:rPr lang="en-US" dirty="0">
                <a:latin typeface="Courier New"/>
                <a:cs typeface="Courier New"/>
              </a:rPr>
              <a:t> a = 2; </a:t>
            </a:r>
          </a:p>
          <a:p>
            <a:r>
              <a:rPr lang="en-US" dirty="0">
                <a:latin typeface="Courier New"/>
                <a:cs typeface="Courier New"/>
              </a:rPr>
              <a:t>	C();</a:t>
            </a:r>
          </a:p>
          <a:p>
            <a:r>
              <a:rPr lang="en-US" dirty="0">
                <a:latin typeface="Courier New"/>
                <a:cs typeface="Courier New"/>
              </a:rPr>
              <a:t>	D();</a:t>
            </a:r>
            <a:br>
              <a:rPr lang="en-US" dirty="0">
                <a:latin typeface="Courier New"/>
                <a:cs typeface="Courier New"/>
              </a:rPr>
            </a:br>
            <a:r>
              <a:rPr lang="en-US" dirty="0">
                <a:latin typeface="Courier New"/>
                <a:cs typeface="Courier New"/>
              </a:rPr>
              <a:t>}</a:t>
            </a:r>
          </a:p>
          <a:p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void A(){</a:t>
            </a:r>
          </a:p>
          <a:p>
            <a:r>
              <a:rPr lang="en-US" dirty="0">
                <a:latin typeface="Courier New"/>
                <a:cs typeface="Courier New"/>
              </a:rPr>
              <a:t>     </a:t>
            </a:r>
            <a:r>
              <a:rPr lang="en-US" dirty="0" err="1">
                <a:latin typeface="Courier New"/>
                <a:cs typeface="Courier New"/>
              </a:rPr>
              <a:t>int</a:t>
            </a:r>
            <a:r>
              <a:rPr lang="en-US" dirty="0">
                <a:latin typeface="Courier New"/>
                <a:cs typeface="Courier New"/>
              </a:rPr>
              <a:t> a =1; </a:t>
            </a:r>
          </a:p>
          <a:p>
            <a:r>
              <a:rPr lang="en-US" dirty="0">
                <a:latin typeface="Courier New"/>
                <a:cs typeface="Courier New"/>
              </a:rPr>
              <a:t>	B();</a:t>
            </a:r>
            <a:br>
              <a:rPr lang="en-US" dirty="0">
                <a:latin typeface="Courier New"/>
                <a:cs typeface="Courier New"/>
              </a:rPr>
            </a:br>
            <a:r>
              <a:rPr lang="en-US" dirty="0">
                <a:latin typeface="Courier New"/>
                <a:cs typeface="Courier New"/>
              </a:rPr>
              <a:t>}</a:t>
            </a:r>
          </a:p>
          <a:p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void main()</a:t>
            </a:r>
          </a:p>
          <a:p>
            <a:r>
              <a:rPr lang="en-US" dirty="0">
                <a:latin typeface="Courier New"/>
                <a:cs typeface="Courier New"/>
              </a:rPr>
              <a:t>{</a:t>
            </a:r>
          </a:p>
          <a:p>
            <a:r>
              <a:rPr lang="en-US" dirty="0">
                <a:latin typeface="Courier New"/>
                <a:cs typeface="Courier New"/>
              </a:rPr>
              <a:t>	A();</a:t>
            </a:r>
          </a:p>
          <a:p>
            <a:r>
              <a:rPr lang="en-US" dirty="0">
                <a:latin typeface="Courier New"/>
                <a:cs typeface="Courier New"/>
              </a:rPr>
              <a:t>}</a:t>
            </a:r>
          </a:p>
          <a:p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Activation record </a:t>
            </a:r>
          </a:p>
        </p:txBody>
      </p:sp>
      <p:sp>
        <p:nvSpPr>
          <p:cNvPr id="7" name="Rectangle 6"/>
          <p:cNvSpPr/>
          <p:nvPr/>
        </p:nvSpPr>
        <p:spPr>
          <a:xfrm>
            <a:off x="3920838" y="1504135"/>
            <a:ext cx="1516551" cy="51781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A’s Stack Frame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5560686" y="1676742"/>
            <a:ext cx="49318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5560686" y="2021953"/>
            <a:ext cx="645588" cy="5178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5560686" y="3555201"/>
            <a:ext cx="49318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5560686" y="4393572"/>
            <a:ext cx="781214" cy="4887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5634666" y="5811406"/>
            <a:ext cx="49318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738956" y="924569"/>
            <a:ext cx="1830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A() is called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20838" y="2021953"/>
            <a:ext cx="1516551" cy="271239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…..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6341900" y="917282"/>
            <a:ext cx="1516551" cy="1306875"/>
            <a:chOff x="6341900" y="917282"/>
            <a:chExt cx="1516551" cy="1306875"/>
          </a:xfrm>
        </p:grpSpPr>
        <p:sp>
          <p:nvSpPr>
            <p:cNvPr id="10" name="Rectangle 9"/>
            <p:cNvSpPr/>
            <p:nvPr/>
          </p:nvSpPr>
          <p:spPr>
            <a:xfrm>
              <a:off x="6341900" y="1435100"/>
              <a:ext cx="1516551" cy="51781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A’s Stack Frame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341900" y="917282"/>
              <a:ext cx="1516551" cy="51781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B’s Stack Frame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341900" y="1952918"/>
              <a:ext cx="1516551" cy="27123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…..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945498" y="2692169"/>
            <a:ext cx="1516551" cy="1824693"/>
            <a:chOff x="3945498" y="2692169"/>
            <a:chExt cx="1516551" cy="1824693"/>
          </a:xfrm>
        </p:grpSpPr>
        <p:sp>
          <p:nvSpPr>
            <p:cNvPr id="12" name="Rectangle 11"/>
            <p:cNvSpPr/>
            <p:nvPr/>
          </p:nvSpPr>
          <p:spPr>
            <a:xfrm>
              <a:off x="3945498" y="3727805"/>
              <a:ext cx="1516551" cy="51781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A’s Stack Frame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45498" y="3209987"/>
              <a:ext cx="1516551" cy="51781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B’s Stack Frame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945498" y="2692169"/>
              <a:ext cx="1516551" cy="51781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C’s Stack Frame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945498" y="4245623"/>
              <a:ext cx="1516551" cy="27123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…..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6378890" y="2679840"/>
            <a:ext cx="1516551" cy="1824693"/>
            <a:chOff x="6378890" y="2679840"/>
            <a:chExt cx="1516551" cy="1824693"/>
          </a:xfrm>
        </p:grpSpPr>
        <p:sp>
          <p:nvSpPr>
            <p:cNvPr id="15" name="Rectangle 14"/>
            <p:cNvSpPr/>
            <p:nvPr/>
          </p:nvSpPr>
          <p:spPr>
            <a:xfrm>
              <a:off x="6378890" y="3715476"/>
              <a:ext cx="1516551" cy="51781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A’s Stack Frame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378890" y="3197658"/>
              <a:ext cx="1516551" cy="51781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B’s Stack Frame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378890" y="2679840"/>
              <a:ext cx="1516551" cy="51781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D’s Stack Frame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378890" y="4233294"/>
              <a:ext cx="1516551" cy="27123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…..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920838" y="5025942"/>
            <a:ext cx="1516551" cy="1306875"/>
            <a:chOff x="3920838" y="5025942"/>
            <a:chExt cx="1516551" cy="1306875"/>
          </a:xfrm>
        </p:grpSpPr>
        <p:sp>
          <p:nvSpPr>
            <p:cNvPr id="18" name="Rectangle 17"/>
            <p:cNvSpPr/>
            <p:nvPr/>
          </p:nvSpPr>
          <p:spPr>
            <a:xfrm>
              <a:off x="3920838" y="5543760"/>
              <a:ext cx="1516551" cy="51781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A’s Stack Frame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920838" y="5025942"/>
              <a:ext cx="1516551" cy="51781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B’s Stack Frame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920838" y="6061578"/>
              <a:ext cx="1516551" cy="27123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…..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189504" y="5087587"/>
            <a:ext cx="1888295" cy="1195914"/>
            <a:chOff x="6189504" y="5087587"/>
            <a:chExt cx="1888295" cy="1195914"/>
          </a:xfrm>
        </p:grpSpPr>
        <p:sp>
          <p:nvSpPr>
            <p:cNvPr id="20" name="Rectangle 19"/>
            <p:cNvSpPr/>
            <p:nvPr/>
          </p:nvSpPr>
          <p:spPr>
            <a:xfrm>
              <a:off x="6341900" y="5506773"/>
              <a:ext cx="1516551" cy="51781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A’s Stack Frame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341900" y="6012262"/>
              <a:ext cx="1516551" cy="27123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…..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189504" y="5087587"/>
              <a:ext cx="18882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Returned from B()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3534480" y="2558520"/>
              <a:ext cx="408960" cy="24796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25120" y="2549160"/>
                <a:ext cx="427680" cy="249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5227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772400" cy="9906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Registers for work space, x86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4876800"/>
            <a:ext cx="8610600" cy="1828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8, 16, and 32, 64 bit versions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By convention some registers for special purposes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Example: ADD EAX, 10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Other instructions: SUB, AND, etc.</a:t>
            </a:r>
          </a:p>
        </p:txBody>
      </p:sp>
      <p:pic>
        <p:nvPicPr>
          <p:cNvPr id="28675" name="Picture 4" descr="r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8200"/>
            <a:ext cx="80264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8698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586936" cy="614637"/>
          </a:xfrm>
        </p:spPr>
        <p:txBody>
          <a:bodyPr>
            <a:normAutofit/>
          </a:bodyPr>
          <a:lstStyle/>
          <a:p>
            <a:r>
              <a:rPr lang="en-US" sz="2800" dirty="0"/>
              <a:t>Important Registers</a:t>
            </a:r>
          </a:p>
        </p:txBody>
      </p:sp>
      <p:pic>
        <p:nvPicPr>
          <p:cNvPr id="6" name="Content Placeholder 5" descr="cpu.gi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86" r="18986"/>
          <a:stretch>
            <a:fillRect/>
          </a:stretch>
        </p:blipFill>
        <p:spPr>
          <a:xfrm>
            <a:off x="5994133" y="0"/>
            <a:ext cx="2692667" cy="3083188"/>
          </a:xfr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457200" y="912346"/>
            <a:ext cx="4893882" cy="2367164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EIP: </a:t>
            </a:r>
            <a:r>
              <a:rPr lang="en-US" sz="2400" dirty="0"/>
              <a:t>the next address of current executed instruction (what is the next instruction the CPU needs to execute next?)</a:t>
            </a:r>
          </a:p>
          <a:p>
            <a:r>
              <a:rPr lang="en-US" sz="2400" b="1" dirty="0"/>
              <a:t>EBP: </a:t>
            </a:r>
            <a:r>
              <a:rPr lang="en-US" sz="2400" dirty="0"/>
              <a:t>the address for the bottom of the current stack frame</a:t>
            </a:r>
          </a:p>
          <a:p>
            <a:r>
              <a:rPr lang="en-US" sz="2400" b="1" dirty="0"/>
              <a:t>ESP: </a:t>
            </a:r>
            <a:r>
              <a:rPr lang="en-US" sz="2400" dirty="0"/>
              <a:t>the address for the top of the current stack frame</a:t>
            </a:r>
          </a:p>
          <a:p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1442570" y="4006922"/>
            <a:ext cx="1664507" cy="20959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1600">
              <a:solidFill>
                <a:schemeClr val="tx1"/>
              </a:solidFill>
              <a:latin typeface="Times New Roman" charset="0"/>
              <a:ea typeface="新細明體" charset="0"/>
              <a:cs typeface="新細明體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442570" y="4389120"/>
            <a:ext cx="166450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442570" y="4644604"/>
            <a:ext cx="166450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442570" y="4895636"/>
            <a:ext cx="166450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442570" y="5183654"/>
            <a:ext cx="166450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072682" y="4512410"/>
            <a:ext cx="36988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1539" y="4270283"/>
            <a:ext cx="641143" cy="2880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40" y="4632275"/>
            <a:ext cx="641143" cy="25103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EIP</a:t>
            </a:r>
          </a:p>
        </p:txBody>
      </p:sp>
      <p:cxnSp>
        <p:nvCxnSpPr>
          <p:cNvPr id="17" name="Straight Arrow Connector 16"/>
          <p:cNvCxnSpPr>
            <a:stCxn id="16" idx="3"/>
          </p:cNvCxnSpPr>
          <p:nvPr/>
        </p:nvCxnSpPr>
        <p:spPr>
          <a:xfrm>
            <a:off x="1073683" y="4757791"/>
            <a:ext cx="36888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956502" y="6171684"/>
            <a:ext cx="595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dirty="0">
                <a:latin typeface="Times New Roman" charset="0"/>
                <a:ea typeface="新細明體" charset="0"/>
                <a:cs typeface="新細明體" charset="0"/>
              </a:rPr>
              <a:t>Text</a:t>
            </a:r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4825349" y="3821987"/>
            <a:ext cx="1516551" cy="2242679"/>
            <a:chOff x="6341900" y="-18522"/>
            <a:chExt cx="1516551" cy="2242679"/>
          </a:xfrm>
        </p:grpSpPr>
        <p:sp>
          <p:nvSpPr>
            <p:cNvPr id="24" name="Rectangle 23"/>
            <p:cNvSpPr/>
            <p:nvPr/>
          </p:nvSpPr>
          <p:spPr>
            <a:xfrm>
              <a:off x="6341900" y="1042799"/>
              <a:ext cx="1516551" cy="91012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A’s Stack Frame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341900" y="-18522"/>
              <a:ext cx="1516551" cy="106132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B’s Stack Frame</a:t>
              </a:r>
            </a:p>
            <a:p>
              <a:pPr algn="ctr"/>
              <a:endParaRPr kumimoji="1" lang="en-US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341900" y="1952918"/>
              <a:ext cx="1516551" cy="27123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…..</a:t>
              </a:r>
            </a:p>
          </p:txBody>
        </p:sp>
      </p:grpSp>
      <p:sp>
        <p:nvSpPr>
          <p:cNvPr id="27" name="Curved Up Arrow 26"/>
          <p:cNvSpPr/>
          <p:nvPr/>
        </p:nvSpPr>
        <p:spPr>
          <a:xfrm flipH="1">
            <a:off x="4956530" y="2601417"/>
            <a:ext cx="3230375" cy="678093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970714" y="3788939"/>
            <a:ext cx="641143" cy="2880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70714" y="4619946"/>
            <a:ext cx="641143" cy="2880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EBP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6341900" y="3920619"/>
            <a:ext cx="62881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6341900" y="4799231"/>
            <a:ext cx="62881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4825349" y="4450764"/>
            <a:ext cx="2103937" cy="1220571"/>
            <a:chOff x="4825349" y="4450764"/>
            <a:chExt cx="2103937" cy="1220571"/>
          </a:xfrm>
        </p:grpSpPr>
        <p:sp>
          <p:nvSpPr>
            <p:cNvPr id="33" name="Rectangle 32"/>
            <p:cNvSpPr/>
            <p:nvPr/>
          </p:nvSpPr>
          <p:spPr>
            <a:xfrm>
              <a:off x="4825349" y="4450764"/>
              <a:ext cx="1516551" cy="27003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sz="1600" dirty="0">
                  <a:latin typeface="Times New Roman" charset="0"/>
                  <a:ea typeface="新細明體" charset="0"/>
                  <a:cs typeface="新細明體" charset="0"/>
                </a:rPr>
                <a:t>A’s EBP Value</a:t>
              </a:r>
            </a:p>
          </p:txBody>
        </p:sp>
        <p:sp>
          <p:nvSpPr>
            <p:cNvPr id="34" name="Freeform 33"/>
            <p:cNvSpPr/>
            <p:nvPr/>
          </p:nvSpPr>
          <p:spPr>
            <a:xfrm>
              <a:off x="6349786" y="4561726"/>
              <a:ext cx="579500" cy="1109609"/>
            </a:xfrm>
            <a:custGeom>
              <a:avLst/>
              <a:gdLst>
                <a:gd name="connsiteX0" fmla="*/ 0 w 579500"/>
                <a:gd name="connsiteY0" fmla="*/ 0 h 1109609"/>
                <a:gd name="connsiteX1" fmla="*/ 579495 w 579500"/>
                <a:gd name="connsiteY1" fmla="*/ 517817 h 1109609"/>
                <a:gd name="connsiteX2" fmla="*/ 12330 w 579500"/>
                <a:gd name="connsiteY2" fmla="*/ 1109609 h 1109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9500" h="1109609">
                  <a:moveTo>
                    <a:pt x="0" y="0"/>
                  </a:moveTo>
                  <a:cubicBezTo>
                    <a:pt x="288720" y="166441"/>
                    <a:pt x="577440" y="332882"/>
                    <a:pt x="579495" y="517817"/>
                  </a:cubicBezTo>
                  <a:cubicBezTo>
                    <a:pt x="581550" y="702752"/>
                    <a:pt x="12330" y="1109609"/>
                    <a:pt x="12330" y="1109609"/>
                  </a:cubicBezTo>
                </a:path>
              </a:pathLst>
            </a:custGeom>
            <a:ln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/>
          <p:cNvSpPr/>
          <p:nvPr/>
        </p:nvSpPr>
        <p:spPr>
          <a:xfrm>
            <a:off x="5289432" y="6171684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dirty="0">
                <a:latin typeface="Times New Roman" charset="0"/>
                <a:ea typeface="新細明體" charset="0"/>
                <a:cs typeface="新細明體" charset="0"/>
              </a:rPr>
              <a:t>Stack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5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6789773" y="1280557"/>
            <a:ext cx="2161576" cy="4760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037106" y="1280557"/>
            <a:ext cx="3491434" cy="4760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7862" y="1280557"/>
            <a:ext cx="2602338" cy="4760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BOF - An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62" y="1740803"/>
            <a:ext cx="260233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#include &lt;</a:t>
            </a:r>
            <a:r>
              <a:rPr lang="en-US" sz="1400" dirty="0" err="1">
                <a:latin typeface="Segoe UI Semibold" pitchFamily="34" charset="0"/>
                <a:ea typeface="Verdana" pitchFamily="34" charset="0"/>
                <a:cs typeface="Verdana" pitchFamily="34" charset="0"/>
              </a:rPr>
              <a:t>string.h</a:t>
            </a:r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&gt;</a:t>
            </a:r>
          </a:p>
          <a:p>
            <a:endParaRPr lang="en-US" sz="1400" dirty="0">
              <a:latin typeface="Segoe UI Semibold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1400" dirty="0" err="1">
                <a:latin typeface="Segoe UI Semibold" pitchFamily="34" charset="0"/>
                <a:ea typeface="Verdana" pitchFamily="34" charset="0"/>
                <a:cs typeface="Verdana" pitchFamily="34" charset="0"/>
              </a:rPr>
              <a:t>int</a:t>
            </a:r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 main (</a:t>
            </a:r>
            <a:r>
              <a:rPr lang="en-US" sz="1400" dirty="0" err="1">
                <a:latin typeface="Segoe UI Semibold" pitchFamily="34" charset="0"/>
                <a:ea typeface="Verdana" pitchFamily="34" charset="0"/>
                <a:cs typeface="Verdana" pitchFamily="34" charset="0"/>
              </a:rPr>
              <a:t>int</a:t>
            </a:r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Segoe UI Semibold" pitchFamily="34" charset="0"/>
                <a:ea typeface="Verdana" pitchFamily="34" charset="0"/>
                <a:cs typeface="Verdana" pitchFamily="34" charset="0"/>
              </a:rPr>
              <a:t>argc</a:t>
            </a:r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, char **</a:t>
            </a:r>
            <a:r>
              <a:rPr lang="en-US" sz="1400" dirty="0" err="1">
                <a:latin typeface="Segoe UI Semibold" pitchFamily="34" charset="0"/>
                <a:ea typeface="Verdana" pitchFamily="34" charset="0"/>
                <a:cs typeface="Verdana" pitchFamily="34" charset="0"/>
              </a:rPr>
              <a:t>argv</a:t>
            </a:r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)</a:t>
            </a:r>
          </a:p>
          <a:p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{</a:t>
            </a:r>
          </a:p>
          <a:p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   </a:t>
            </a:r>
            <a:r>
              <a:rPr lang="en-US" sz="1400" dirty="0" err="1">
                <a:latin typeface="Segoe UI Semibold" pitchFamily="34" charset="0"/>
                <a:ea typeface="Verdana" pitchFamily="34" charset="0"/>
                <a:cs typeface="Verdana" pitchFamily="34" charset="0"/>
              </a:rPr>
              <a:t>printf</a:t>
            </a:r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(“%s”, “CEG”);</a:t>
            </a:r>
          </a:p>
          <a:p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   foo(</a:t>
            </a:r>
            <a:r>
              <a:rPr lang="en-US" sz="1400" dirty="0" err="1">
                <a:latin typeface="Segoe UI Semibold" pitchFamily="34" charset="0"/>
                <a:ea typeface="Verdana" pitchFamily="34" charset="0"/>
                <a:cs typeface="Verdana" pitchFamily="34" charset="0"/>
              </a:rPr>
              <a:t>argv</a:t>
            </a:r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[1]);</a:t>
            </a:r>
          </a:p>
          <a:p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   </a:t>
            </a:r>
            <a:r>
              <a:rPr lang="en-US" sz="1400" dirty="0" err="1">
                <a:latin typeface="Segoe UI Semibold" pitchFamily="34" charset="0"/>
                <a:ea typeface="Verdana" pitchFamily="34" charset="0"/>
                <a:cs typeface="Verdana" pitchFamily="34" charset="0"/>
              </a:rPr>
              <a:t>printf</a:t>
            </a:r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(“%s”, “7900”)</a:t>
            </a:r>
          </a:p>
          <a:p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}</a:t>
            </a:r>
          </a:p>
          <a:p>
            <a:endParaRPr lang="en-US" sz="1400" dirty="0">
              <a:latin typeface="Segoe UI Semibold" pitchFamily="34" charset="0"/>
              <a:ea typeface="Verdana" pitchFamily="34" charset="0"/>
              <a:cs typeface="Verdana" pitchFamily="34" charset="0"/>
            </a:endParaRPr>
          </a:p>
          <a:p>
            <a:endParaRPr lang="en-US" sz="1400" dirty="0">
              <a:latin typeface="Segoe UI Semibold" pitchFamily="34" charset="0"/>
              <a:ea typeface="Verdana" pitchFamily="34" charset="0"/>
              <a:cs typeface="Verdana" pitchFamily="34" charset="0"/>
            </a:endParaRPr>
          </a:p>
          <a:p>
            <a:endParaRPr lang="en-US" sz="1400" dirty="0">
              <a:latin typeface="Segoe UI Semibold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void foo (char *bar)</a:t>
            </a:r>
          </a:p>
          <a:p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{</a:t>
            </a:r>
          </a:p>
          <a:p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   char c[12];</a:t>
            </a:r>
          </a:p>
          <a:p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   </a:t>
            </a:r>
            <a:r>
              <a:rPr lang="en-US" sz="1400" dirty="0" err="1">
                <a:latin typeface="Segoe UI Semibold" pitchFamily="34" charset="0"/>
                <a:ea typeface="Verdana" pitchFamily="34" charset="0"/>
                <a:cs typeface="Verdana" pitchFamily="34" charset="0"/>
              </a:rPr>
              <a:t>strcpy</a:t>
            </a:r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 (c, bar); //no bound</a:t>
            </a:r>
          </a:p>
          <a:p>
            <a:r>
              <a:rPr lang="en-US" sz="1400" dirty="0">
                <a:latin typeface="Segoe UI Semibold" pitchFamily="34" charset="0"/>
                <a:ea typeface="Verdana" pitchFamily="34" charset="0"/>
                <a:cs typeface="Verdana" pitchFamily="34" charset="0"/>
              </a:rPr>
              <a:t>}</a:t>
            </a:r>
          </a:p>
          <a:p>
            <a:endParaRPr lang="en-US" sz="1400" dirty="0">
              <a:latin typeface="Segoe UI Semibold" pitchFamily="34" charset="0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3192381" y="1532436"/>
            <a:ext cx="3166719" cy="1941680"/>
            <a:chOff x="5942683" y="1906856"/>
            <a:chExt cx="1115262" cy="1941680"/>
          </a:xfrm>
          <a:solidFill>
            <a:srgbClr val="FAC090"/>
          </a:solidFill>
        </p:grpSpPr>
        <p:sp>
          <p:nvSpPr>
            <p:cNvPr id="8" name="TextBox 7"/>
            <p:cNvSpPr txBox="1"/>
            <p:nvPr/>
          </p:nvSpPr>
          <p:spPr>
            <a:xfrm>
              <a:off x="5942684" y="2553187"/>
              <a:ext cx="1115261" cy="64633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push </a:t>
              </a:r>
              <a:r>
                <a:rPr lang="en-US" dirty="0" err="1"/>
                <a:t>argv</a:t>
              </a:r>
              <a:r>
                <a:rPr lang="en-US" dirty="0"/>
                <a:t>[1]</a:t>
              </a:r>
            </a:p>
            <a:p>
              <a:r>
                <a:rPr lang="en-US" b="1" i="1" dirty="0"/>
                <a:t>call</a:t>
              </a:r>
              <a:r>
                <a:rPr lang="en-US" dirty="0"/>
                <a:t> foo	</a:t>
              </a:r>
              <a:r>
                <a:rPr lang="en-US" i="1" dirty="0"/>
                <a:t>#EIP will be pushed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942684" y="1906856"/>
              <a:ext cx="1115261" cy="64633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XXX</a:t>
              </a:r>
            </a:p>
            <a:p>
              <a:r>
                <a:rPr lang="en-US" dirty="0"/>
                <a:t>YYY          </a:t>
              </a:r>
              <a:r>
                <a:rPr lang="en-US" i="1" dirty="0"/>
                <a:t># </a:t>
              </a:r>
              <a:r>
                <a:rPr lang="en-US" i="1" dirty="0" err="1"/>
                <a:t>instrs</a:t>
              </a:r>
              <a:r>
                <a:rPr lang="en-US" i="1" dirty="0"/>
                <a:t> for </a:t>
              </a:r>
              <a:r>
                <a:rPr lang="en-US" i="1" dirty="0" err="1"/>
                <a:t>printf</a:t>
              </a:r>
              <a:endParaRPr lang="en-US" i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42683" y="3202205"/>
              <a:ext cx="1115262" cy="64633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ZZZ</a:t>
              </a:r>
            </a:p>
            <a:p>
              <a:r>
                <a:rPr lang="en-US" dirty="0"/>
                <a:t>KKK		</a:t>
              </a:r>
              <a:r>
                <a:rPr lang="en-US" i="1" dirty="0"/>
                <a:t># </a:t>
              </a:r>
              <a:r>
                <a:rPr lang="en-US" i="1" dirty="0" err="1"/>
                <a:t>instrs</a:t>
              </a:r>
              <a:r>
                <a:rPr lang="en-US" i="1" dirty="0"/>
                <a:t> for </a:t>
              </a:r>
              <a:r>
                <a:rPr lang="en-US" i="1" dirty="0" err="1"/>
                <a:t>printf</a:t>
              </a:r>
              <a:endParaRPr lang="en-US" i="1" dirty="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180055" y="3835019"/>
            <a:ext cx="3166714" cy="2031325"/>
          </a:xfrm>
          <a:prstGeom prst="rect">
            <a:avLst/>
          </a:prstGeom>
          <a:solidFill>
            <a:srgbClr val="FAC09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push EBP</a:t>
            </a:r>
          </a:p>
          <a:p>
            <a:r>
              <a:rPr lang="en-US" dirty="0" err="1"/>
              <a:t>mov</a:t>
            </a:r>
            <a:r>
              <a:rPr lang="en-US" dirty="0"/>
              <a:t> ESP, EBP</a:t>
            </a:r>
          </a:p>
          <a:p>
            <a:r>
              <a:rPr lang="en-US" dirty="0"/>
              <a:t>sub 12 ESP 	</a:t>
            </a:r>
            <a:r>
              <a:rPr lang="en-US" i="1" dirty="0"/>
              <a:t>#Allocate buffer</a:t>
            </a:r>
          </a:p>
          <a:p>
            <a:r>
              <a:rPr lang="en-US" dirty="0"/>
              <a:t>copy data</a:t>
            </a:r>
          </a:p>
          <a:p>
            <a:r>
              <a:rPr lang="en-US" dirty="0" err="1"/>
              <a:t>mov</a:t>
            </a:r>
            <a:r>
              <a:rPr lang="en-US" dirty="0"/>
              <a:t> EBP ESP</a:t>
            </a:r>
          </a:p>
          <a:p>
            <a:r>
              <a:rPr lang="en-US" dirty="0"/>
              <a:t>pop EBP</a:t>
            </a:r>
          </a:p>
          <a:p>
            <a:r>
              <a:rPr lang="en-US" b="1" i="1" dirty="0">
                <a:solidFill>
                  <a:srgbClr val="000000"/>
                </a:solidFill>
              </a:rPr>
              <a:t>ret</a:t>
            </a:r>
          </a:p>
        </p:txBody>
      </p:sp>
      <p:cxnSp>
        <p:nvCxnSpPr>
          <p:cNvPr id="4" name="Straight Arrow Connector 3"/>
          <p:cNvCxnSpPr>
            <a:endCxn id="9" idx="1"/>
          </p:cNvCxnSpPr>
          <p:nvPr/>
        </p:nvCxnSpPr>
        <p:spPr>
          <a:xfrm flipV="1">
            <a:off x="1995055" y="1855602"/>
            <a:ext cx="1197329" cy="8120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8" idx="1"/>
          </p:cNvCxnSpPr>
          <p:nvPr/>
        </p:nvCxnSpPr>
        <p:spPr>
          <a:xfrm flipV="1">
            <a:off x="1473620" y="2501933"/>
            <a:ext cx="1718764" cy="4453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0" idx="1"/>
          </p:cNvCxnSpPr>
          <p:nvPr/>
        </p:nvCxnSpPr>
        <p:spPr>
          <a:xfrm flipV="1">
            <a:off x="1995055" y="3150951"/>
            <a:ext cx="1197326" cy="3583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106076" y="3510660"/>
            <a:ext cx="560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foo: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7193082" y="1855601"/>
            <a:ext cx="1618408" cy="3764600"/>
            <a:chOff x="6921030" y="1585924"/>
            <a:chExt cx="2286000" cy="4188845"/>
          </a:xfrm>
        </p:grpSpPr>
        <p:sp>
          <p:nvSpPr>
            <p:cNvPr id="32" name="Rectangle 8"/>
            <p:cNvSpPr>
              <a:spLocks noChangeArrowheads="1"/>
            </p:cNvSpPr>
            <p:nvPr/>
          </p:nvSpPr>
          <p:spPr bwMode="auto">
            <a:xfrm>
              <a:off x="6921030" y="2323773"/>
              <a:ext cx="2286000" cy="7265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latin typeface="Times New Roman" charset="0"/>
                  <a:ea typeface="新細明體" charset="0"/>
                  <a:cs typeface="新細明體" charset="0"/>
                </a:rPr>
                <a:t>Text</a:t>
              </a:r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6921030" y="3050299"/>
              <a:ext cx="2286000" cy="78706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kumimoji="1" lang="en-US" altLang="zh-TW" sz="1600" dirty="0">
                  <a:latin typeface="Times New Roman" charset="0"/>
                  <a:ea typeface="新細明體" charset="0"/>
                  <a:cs typeface="新細明體" charset="0"/>
                </a:rPr>
                <a:t>Data</a:t>
              </a:r>
            </a:p>
          </p:txBody>
        </p:sp>
        <p:sp>
          <p:nvSpPr>
            <p:cNvPr id="34" name="Rectangle 14"/>
            <p:cNvSpPr>
              <a:spLocks noChangeArrowheads="1"/>
            </p:cNvSpPr>
            <p:nvPr/>
          </p:nvSpPr>
          <p:spPr bwMode="auto">
            <a:xfrm>
              <a:off x="6921030" y="3837368"/>
              <a:ext cx="2286000" cy="1937401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kumimoji="1" lang="en-US" altLang="zh-TW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Heap</a:t>
              </a:r>
            </a:p>
            <a:p>
              <a:pPr algn="ctr" eaLnBrk="1" hangingPunct="1"/>
              <a:endPara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endParaRPr>
            </a:p>
            <a:p>
              <a:pPr algn="ctr"/>
              <a:r>
                <a:rPr kumimoji="1" lang="en-US" altLang="zh-TW" sz="1600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Stack</a:t>
              </a:r>
            </a:p>
          </p:txBody>
        </p:sp>
        <p:sp>
          <p:nvSpPr>
            <p:cNvPr id="35" name="Line 15"/>
            <p:cNvSpPr>
              <a:spLocks noChangeShapeType="1"/>
            </p:cNvSpPr>
            <p:nvPr/>
          </p:nvSpPr>
          <p:spPr bwMode="auto">
            <a:xfrm>
              <a:off x="8064030" y="4413492"/>
              <a:ext cx="0" cy="2669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6" name="Line 16"/>
            <p:cNvSpPr>
              <a:spLocks noChangeShapeType="1"/>
            </p:cNvSpPr>
            <p:nvPr/>
          </p:nvSpPr>
          <p:spPr bwMode="auto">
            <a:xfrm flipV="1">
              <a:off x="8064030" y="4906899"/>
              <a:ext cx="0" cy="255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7" name="Rectangle 8"/>
            <p:cNvSpPr>
              <a:spLocks noChangeArrowheads="1"/>
            </p:cNvSpPr>
            <p:nvPr/>
          </p:nvSpPr>
          <p:spPr bwMode="auto">
            <a:xfrm>
              <a:off x="6921030" y="1585924"/>
              <a:ext cx="2286000" cy="72652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latin typeface="Times New Roman" charset="0"/>
                  <a:ea typeface="新細明體" charset="0"/>
                  <a:cs typeface="新細明體" charset="0"/>
                </a:rPr>
                <a:t>OS Kernel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3037106" y="1195985"/>
            <a:ext cx="715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main: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6359100" y="2461917"/>
            <a:ext cx="742797" cy="3658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6359100" y="2947242"/>
            <a:ext cx="742797" cy="191090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3179" y="6122099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 code in 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7124" y="6141887"/>
            <a:ext cx="2615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executable illustrated </a:t>
            </a:r>
          </a:p>
          <a:p>
            <a:r>
              <a:rPr lang="en-US" dirty="0"/>
              <a:t>using assembly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7029" y="6081647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layout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679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3504" y="103986"/>
            <a:ext cx="6253089" cy="1143000"/>
          </a:xfrm>
        </p:spPr>
        <p:txBody>
          <a:bodyPr/>
          <a:lstStyle/>
          <a:p>
            <a:r>
              <a:rPr lang="en-US" dirty="0"/>
              <a:t>BOF - An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53" y="52772"/>
            <a:ext cx="26710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Segoe UI Semibold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sz="1200" dirty="0"/>
              <a:t>#include &lt;</a:t>
            </a:r>
            <a:r>
              <a:rPr lang="en-US" sz="1200" dirty="0" err="1"/>
              <a:t>string.h</a:t>
            </a:r>
            <a:r>
              <a:rPr lang="en-US" sz="1200" dirty="0"/>
              <a:t>&gt;</a:t>
            </a:r>
          </a:p>
          <a:p>
            <a:r>
              <a:rPr lang="en-US" sz="1200" dirty="0" err="1"/>
              <a:t>int</a:t>
            </a:r>
            <a:r>
              <a:rPr lang="en-US" sz="1200" dirty="0"/>
              <a:t> main 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argc</a:t>
            </a:r>
            <a:r>
              <a:rPr lang="en-US" sz="1200" dirty="0"/>
              <a:t>, char **</a:t>
            </a:r>
            <a:r>
              <a:rPr lang="en-US" sz="1200" dirty="0" err="1"/>
              <a:t>argv</a:t>
            </a:r>
            <a:r>
              <a:rPr lang="en-US" sz="1200" dirty="0"/>
              <a:t>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printf</a:t>
            </a:r>
            <a:r>
              <a:rPr lang="en-US" sz="1200" dirty="0"/>
              <a:t>(“%s”, “CEG”);</a:t>
            </a:r>
          </a:p>
          <a:p>
            <a:r>
              <a:rPr lang="en-US" sz="1200" dirty="0"/>
              <a:t>   foo(</a:t>
            </a:r>
            <a:r>
              <a:rPr lang="en-US" sz="1200" dirty="0" err="1"/>
              <a:t>argv</a:t>
            </a:r>
            <a:r>
              <a:rPr lang="en-US" sz="1200" dirty="0"/>
              <a:t>[1]);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printf</a:t>
            </a:r>
            <a:r>
              <a:rPr lang="en-US" sz="1200" dirty="0"/>
              <a:t>(“%s”, “7900”)</a:t>
            </a:r>
          </a:p>
          <a:p>
            <a:r>
              <a:rPr lang="en-US" sz="1200" dirty="0"/>
              <a:t>}</a:t>
            </a:r>
          </a:p>
          <a:p>
            <a:r>
              <a:rPr lang="en-US" sz="1200" dirty="0"/>
              <a:t>void foo (char *bar)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char c[12];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strcpy</a:t>
            </a:r>
            <a:r>
              <a:rPr lang="en-US" sz="1200" dirty="0"/>
              <a:t> (c, bar); </a:t>
            </a:r>
          </a:p>
          <a:p>
            <a:r>
              <a:rPr lang="en-US" sz="1200" dirty="0"/>
              <a:t>}</a:t>
            </a:r>
          </a:p>
          <a:p>
            <a:endParaRPr lang="en-US" sz="1200" dirty="0"/>
          </a:p>
        </p:txBody>
      </p:sp>
      <p:sp>
        <p:nvSpPr>
          <p:cNvPr id="13" name="Rectangle 12"/>
          <p:cNvSpPr/>
          <p:nvPr/>
        </p:nvSpPr>
        <p:spPr>
          <a:xfrm>
            <a:off x="1127323" y="3080771"/>
            <a:ext cx="5661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adr1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691290" y="1974320"/>
            <a:ext cx="2709959" cy="2017598"/>
            <a:chOff x="5942683" y="1915323"/>
            <a:chExt cx="1115262" cy="2017598"/>
          </a:xfrm>
          <a:solidFill>
            <a:srgbClr val="FAC090"/>
          </a:solidFill>
        </p:grpSpPr>
        <p:sp>
          <p:nvSpPr>
            <p:cNvPr id="17" name="TextBox 16"/>
            <p:cNvSpPr txBox="1"/>
            <p:nvPr/>
          </p:nvSpPr>
          <p:spPr>
            <a:xfrm>
              <a:off x="5942684" y="2503309"/>
              <a:ext cx="1115261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push </a:t>
              </a:r>
              <a:r>
                <a:rPr lang="en-US" sz="1600" dirty="0" err="1"/>
                <a:t>argv</a:t>
              </a:r>
              <a:r>
                <a:rPr lang="en-US" sz="1600" dirty="0"/>
                <a:t>[1]</a:t>
              </a:r>
            </a:p>
            <a:p>
              <a:r>
                <a:rPr lang="en-US" sz="1600" dirty="0"/>
                <a:t>call foo    </a:t>
              </a:r>
              <a:r>
                <a:rPr lang="en-US" sz="1600" i="1" dirty="0"/>
                <a:t>#EIP will be pushed</a:t>
              </a:r>
            </a:p>
            <a:p>
              <a:r>
                <a:rPr lang="en-US" sz="1600" i="1" dirty="0"/>
                <a:t>pop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942684" y="1915323"/>
              <a:ext cx="1115261" cy="58477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XXX</a:t>
              </a:r>
            </a:p>
            <a:p>
              <a:r>
                <a:rPr lang="en-US" sz="1600" dirty="0"/>
                <a:t>YYY                </a:t>
              </a:r>
              <a:r>
                <a:rPr lang="en-US" sz="1600" i="1" dirty="0"/>
                <a:t># </a:t>
              </a:r>
              <a:r>
                <a:rPr lang="en-US" sz="1600" i="1" dirty="0" err="1"/>
                <a:t>instrs</a:t>
              </a:r>
              <a:r>
                <a:rPr lang="en-US" sz="1600" i="1" dirty="0"/>
                <a:t> for </a:t>
              </a:r>
              <a:r>
                <a:rPr lang="en-US" sz="1600" i="1" dirty="0" err="1"/>
                <a:t>printf</a:t>
              </a:r>
              <a:endParaRPr lang="en-US" sz="1600" i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42683" y="3348146"/>
              <a:ext cx="1115262" cy="58477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ZZZ</a:t>
              </a:r>
            </a:p>
            <a:p>
              <a:r>
                <a:rPr lang="en-US" sz="1600" dirty="0"/>
                <a:t>KKK          </a:t>
              </a:r>
              <a:r>
                <a:rPr lang="en-US" sz="1600" i="1" dirty="0"/>
                <a:t>#</a:t>
              </a:r>
              <a:r>
                <a:rPr lang="en-US" sz="1600" i="1" dirty="0" err="1"/>
                <a:t>instrs</a:t>
              </a:r>
              <a:r>
                <a:rPr lang="en-US" sz="1600" i="1" dirty="0"/>
                <a:t> for </a:t>
              </a:r>
              <a:r>
                <a:rPr lang="en-US" sz="1600" i="1" dirty="0" err="1"/>
                <a:t>printf</a:t>
              </a:r>
              <a:endParaRPr lang="en-US" sz="1600" i="1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691294" y="4268436"/>
            <a:ext cx="2709955" cy="1815882"/>
          </a:xfrm>
          <a:prstGeom prst="rect">
            <a:avLst/>
          </a:prstGeom>
          <a:solidFill>
            <a:srgbClr val="FAC09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push EBP</a:t>
            </a:r>
          </a:p>
          <a:p>
            <a:r>
              <a:rPr lang="en-US" sz="1600" dirty="0" err="1"/>
              <a:t>mov</a:t>
            </a:r>
            <a:r>
              <a:rPr lang="en-US" sz="1600" dirty="0"/>
              <a:t> ESP, EBP</a:t>
            </a:r>
          </a:p>
          <a:p>
            <a:r>
              <a:rPr lang="en-US" sz="1600" dirty="0"/>
              <a:t>sub 12 ESP  </a:t>
            </a:r>
            <a:r>
              <a:rPr lang="en-US" sz="1600" i="1" dirty="0"/>
              <a:t>#Allocate buffer</a:t>
            </a:r>
          </a:p>
          <a:p>
            <a:r>
              <a:rPr lang="en-US" sz="1600" dirty="0"/>
              <a:t>copy data</a:t>
            </a:r>
          </a:p>
          <a:p>
            <a:r>
              <a:rPr lang="en-US" sz="1600" dirty="0" err="1"/>
              <a:t>mov</a:t>
            </a:r>
            <a:r>
              <a:rPr lang="en-US" sz="1600" dirty="0"/>
              <a:t> EBP ESP</a:t>
            </a:r>
          </a:p>
          <a:p>
            <a:r>
              <a:rPr lang="en-US" sz="1600" dirty="0"/>
              <a:t>pop EBP</a:t>
            </a:r>
          </a:p>
          <a:p>
            <a:r>
              <a:rPr lang="en-US" sz="1600" dirty="0"/>
              <a:t>ret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4070" y="4276990"/>
            <a:ext cx="5153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foo: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7411305" y="5660532"/>
            <a:ext cx="1055530" cy="406265"/>
            <a:chOff x="6347442" y="4736130"/>
            <a:chExt cx="1055530" cy="406265"/>
          </a:xfrm>
        </p:grpSpPr>
        <p:sp>
          <p:nvSpPr>
            <p:cNvPr id="69" name="Rectangle 68"/>
            <p:cNvSpPr/>
            <p:nvPr/>
          </p:nvSpPr>
          <p:spPr>
            <a:xfrm>
              <a:off x="6859233" y="4736130"/>
              <a:ext cx="543739" cy="4062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EBP</a:t>
              </a:r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 flipH="1">
              <a:off x="6347442" y="4939262"/>
              <a:ext cx="464629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7427279" y="5032808"/>
            <a:ext cx="992046" cy="369332"/>
            <a:chOff x="6407564" y="4824253"/>
            <a:chExt cx="992046" cy="369332"/>
          </a:xfrm>
        </p:grpSpPr>
        <p:sp>
          <p:nvSpPr>
            <p:cNvPr id="67" name="Rectangle 66"/>
            <p:cNvSpPr/>
            <p:nvPr/>
          </p:nvSpPr>
          <p:spPr>
            <a:xfrm>
              <a:off x="6876923" y="4824253"/>
              <a:ext cx="52268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ESP</a:t>
              </a: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 flipH="1">
              <a:off x="6407564" y="5016636"/>
              <a:ext cx="47251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1" name="Rectangle 14"/>
          <p:cNvSpPr>
            <a:spLocks noChangeArrowheads="1"/>
          </p:cNvSpPr>
          <p:nvPr/>
        </p:nvSpPr>
        <p:spPr bwMode="auto">
          <a:xfrm>
            <a:off x="5873619" y="5169277"/>
            <a:ext cx="1502537" cy="824999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main </a:t>
            </a:r>
            <a:r>
              <a:rPr kumimoji="1" lang="en-US" altLang="zh-TW" dirty="0" err="1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func’s</a:t>
            </a:r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 </a:t>
            </a:r>
          </a:p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frame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24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BOF - An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53" y="52772"/>
            <a:ext cx="26710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Segoe UI Semibold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sz="1200" dirty="0"/>
              <a:t>#include &lt;</a:t>
            </a:r>
            <a:r>
              <a:rPr lang="en-US" sz="1200" dirty="0" err="1"/>
              <a:t>string.h</a:t>
            </a:r>
            <a:r>
              <a:rPr lang="en-US" sz="1200" dirty="0"/>
              <a:t>&gt;</a:t>
            </a:r>
          </a:p>
          <a:p>
            <a:r>
              <a:rPr lang="en-US" sz="1200" dirty="0" err="1"/>
              <a:t>int</a:t>
            </a:r>
            <a:r>
              <a:rPr lang="en-US" sz="1200" dirty="0"/>
              <a:t> main 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argc</a:t>
            </a:r>
            <a:r>
              <a:rPr lang="en-US" sz="1200" dirty="0"/>
              <a:t>, char **</a:t>
            </a:r>
            <a:r>
              <a:rPr lang="en-US" sz="1200" dirty="0" err="1"/>
              <a:t>argv</a:t>
            </a:r>
            <a:r>
              <a:rPr lang="en-US" sz="1200" dirty="0"/>
              <a:t>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printf</a:t>
            </a:r>
            <a:r>
              <a:rPr lang="en-US" sz="1200" dirty="0"/>
              <a:t>(“%s”, “CEG”);</a:t>
            </a:r>
          </a:p>
          <a:p>
            <a:r>
              <a:rPr lang="en-US" sz="1200" dirty="0"/>
              <a:t>   foo(</a:t>
            </a:r>
            <a:r>
              <a:rPr lang="en-US" sz="1200" dirty="0" err="1"/>
              <a:t>argv</a:t>
            </a:r>
            <a:r>
              <a:rPr lang="en-US" sz="1200" dirty="0"/>
              <a:t>[1]);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printf</a:t>
            </a:r>
            <a:r>
              <a:rPr lang="en-US" sz="1200" dirty="0"/>
              <a:t>(“%s”, “7900”)</a:t>
            </a:r>
          </a:p>
          <a:p>
            <a:r>
              <a:rPr lang="en-US" sz="1200" dirty="0"/>
              <a:t>}</a:t>
            </a:r>
          </a:p>
          <a:p>
            <a:r>
              <a:rPr lang="en-US" sz="1200" dirty="0"/>
              <a:t>void foo (char *bar)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char c[12];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strcpy</a:t>
            </a:r>
            <a:r>
              <a:rPr lang="en-US" sz="1200" dirty="0"/>
              <a:t> (c, bar); </a:t>
            </a:r>
          </a:p>
          <a:p>
            <a:r>
              <a:rPr lang="en-US" sz="1200" dirty="0"/>
              <a:t>}</a:t>
            </a:r>
          </a:p>
          <a:p>
            <a:endParaRPr lang="en-US" sz="1200" dirty="0"/>
          </a:p>
        </p:txBody>
      </p:sp>
      <p:sp>
        <p:nvSpPr>
          <p:cNvPr id="13" name="Rectangle 12"/>
          <p:cNvSpPr/>
          <p:nvPr/>
        </p:nvSpPr>
        <p:spPr>
          <a:xfrm>
            <a:off x="1127323" y="3080771"/>
            <a:ext cx="5661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adr1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691290" y="1974320"/>
            <a:ext cx="2709959" cy="2017598"/>
            <a:chOff x="5942683" y="1915323"/>
            <a:chExt cx="1115262" cy="2017598"/>
          </a:xfrm>
          <a:solidFill>
            <a:srgbClr val="FAC090"/>
          </a:solidFill>
        </p:grpSpPr>
        <p:sp>
          <p:nvSpPr>
            <p:cNvPr id="17" name="TextBox 16"/>
            <p:cNvSpPr txBox="1"/>
            <p:nvPr/>
          </p:nvSpPr>
          <p:spPr>
            <a:xfrm>
              <a:off x="5942684" y="2503309"/>
              <a:ext cx="1115260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push </a:t>
              </a:r>
              <a:r>
                <a:rPr lang="en-US" sz="1600" dirty="0" err="1"/>
                <a:t>argv</a:t>
              </a:r>
              <a:r>
                <a:rPr lang="en-US" sz="1600" dirty="0"/>
                <a:t>[1]</a:t>
              </a:r>
            </a:p>
            <a:p>
              <a:r>
                <a:rPr lang="en-US" sz="1600" dirty="0"/>
                <a:t>call foo    	</a:t>
              </a:r>
              <a:r>
                <a:rPr lang="en-US" sz="1600" i="1" dirty="0"/>
                <a:t>#EIP will be pushed</a:t>
              </a:r>
            </a:p>
            <a:p>
              <a:r>
                <a:rPr lang="en-US" sz="1600" i="1" dirty="0"/>
                <a:t>pop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942684" y="1915323"/>
              <a:ext cx="1115261" cy="58477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XXX</a:t>
              </a:r>
            </a:p>
            <a:p>
              <a:r>
                <a:rPr lang="en-US" sz="1600" dirty="0"/>
                <a:t>YYY                </a:t>
              </a:r>
              <a:r>
                <a:rPr lang="en-US" sz="1600" i="1" dirty="0"/>
                <a:t># </a:t>
              </a:r>
              <a:r>
                <a:rPr lang="en-US" sz="1600" i="1" dirty="0" err="1"/>
                <a:t>instrs</a:t>
              </a:r>
              <a:r>
                <a:rPr lang="en-US" sz="1600" i="1" dirty="0"/>
                <a:t> for </a:t>
              </a:r>
              <a:r>
                <a:rPr lang="en-US" sz="1600" i="1" dirty="0" err="1"/>
                <a:t>printf</a:t>
              </a:r>
              <a:endParaRPr lang="en-US" sz="1600" i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42683" y="3348146"/>
              <a:ext cx="1115262" cy="58477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ZZZ</a:t>
              </a:r>
            </a:p>
            <a:p>
              <a:r>
                <a:rPr lang="en-US" sz="1600" dirty="0"/>
                <a:t>KKK          </a:t>
              </a:r>
              <a:r>
                <a:rPr lang="en-US" sz="1600" i="1" dirty="0"/>
                <a:t>#</a:t>
              </a:r>
              <a:r>
                <a:rPr lang="en-US" sz="1600" i="1" dirty="0" err="1"/>
                <a:t>instrs</a:t>
              </a:r>
              <a:r>
                <a:rPr lang="en-US" sz="1600" i="1" dirty="0"/>
                <a:t> for </a:t>
              </a:r>
              <a:r>
                <a:rPr lang="en-US" sz="1600" i="1" dirty="0" err="1"/>
                <a:t>printf</a:t>
              </a:r>
              <a:endParaRPr lang="en-US" sz="1600" i="1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691294" y="4268436"/>
            <a:ext cx="2709955" cy="1815882"/>
          </a:xfrm>
          <a:prstGeom prst="rect">
            <a:avLst/>
          </a:prstGeom>
          <a:solidFill>
            <a:srgbClr val="FAC09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push EBP</a:t>
            </a:r>
          </a:p>
          <a:p>
            <a:r>
              <a:rPr lang="en-US" sz="1600" dirty="0" err="1"/>
              <a:t>mov</a:t>
            </a:r>
            <a:r>
              <a:rPr lang="en-US" sz="1600" dirty="0"/>
              <a:t> ESP, EBP</a:t>
            </a:r>
          </a:p>
          <a:p>
            <a:r>
              <a:rPr lang="en-US" sz="1600" dirty="0"/>
              <a:t>sub 12 ESP  </a:t>
            </a:r>
            <a:r>
              <a:rPr lang="en-US" sz="1600" i="1" dirty="0"/>
              <a:t>#Allocate buffer</a:t>
            </a:r>
          </a:p>
          <a:p>
            <a:r>
              <a:rPr lang="en-US" sz="1600" dirty="0"/>
              <a:t>copy data</a:t>
            </a:r>
          </a:p>
          <a:p>
            <a:r>
              <a:rPr lang="en-US" sz="1600" dirty="0" err="1"/>
              <a:t>mov</a:t>
            </a:r>
            <a:r>
              <a:rPr lang="en-US" sz="1600" dirty="0"/>
              <a:t> EBP ESP</a:t>
            </a:r>
          </a:p>
          <a:p>
            <a:r>
              <a:rPr lang="en-US" sz="1600" dirty="0"/>
              <a:t>pop EBP</a:t>
            </a:r>
          </a:p>
          <a:p>
            <a:r>
              <a:rPr lang="en-US" sz="1600" dirty="0"/>
              <a:t>ret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4070" y="4276990"/>
            <a:ext cx="5153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foo: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7411305" y="4085979"/>
            <a:ext cx="1055530" cy="406265"/>
            <a:chOff x="6347442" y="4736130"/>
            <a:chExt cx="1055530" cy="406265"/>
          </a:xfrm>
        </p:grpSpPr>
        <p:sp>
          <p:nvSpPr>
            <p:cNvPr id="69" name="Rectangle 68"/>
            <p:cNvSpPr/>
            <p:nvPr/>
          </p:nvSpPr>
          <p:spPr>
            <a:xfrm>
              <a:off x="6859233" y="4736130"/>
              <a:ext cx="543739" cy="4062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EBP</a:t>
              </a:r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 flipH="1">
              <a:off x="6347442" y="4939262"/>
              <a:ext cx="464629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7376153" y="1947804"/>
            <a:ext cx="992046" cy="369332"/>
            <a:chOff x="6407564" y="4824253"/>
            <a:chExt cx="992046" cy="369332"/>
          </a:xfrm>
        </p:grpSpPr>
        <p:sp>
          <p:nvSpPr>
            <p:cNvPr id="67" name="Rectangle 66"/>
            <p:cNvSpPr/>
            <p:nvPr/>
          </p:nvSpPr>
          <p:spPr>
            <a:xfrm>
              <a:off x="6876923" y="4824253"/>
              <a:ext cx="52268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ESP</a:t>
              </a: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 flipH="1">
              <a:off x="6407564" y="5016636"/>
              <a:ext cx="47251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1" name="Rectangle 14"/>
          <p:cNvSpPr>
            <a:spLocks noChangeArrowheads="1"/>
          </p:cNvSpPr>
          <p:nvPr/>
        </p:nvSpPr>
        <p:spPr bwMode="auto">
          <a:xfrm>
            <a:off x="5873619" y="5169277"/>
            <a:ext cx="1502537" cy="824999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main </a:t>
            </a:r>
            <a:r>
              <a:rPr kumimoji="1" lang="en-US" altLang="zh-TW" dirty="0" err="1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func’s</a:t>
            </a:r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 </a:t>
            </a:r>
          </a:p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frame</a:t>
            </a: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5873618" y="4832846"/>
            <a:ext cx="1502537" cy="330841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 err="1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argv</a:t>
            </a:r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[1]</a:t>
            </a:r>
          </a:p>
        </p:txBody>
      </p: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5873617" y="4457204"/>
            <a:ext cx="1502537" cy="37122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EIP(adr1)</a:t>
            </a: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5873617" y="4085979"/>
            <a:ext cx="1502537" cy="37122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EBP</a:t>
            </a: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5873620" y="2027449"/>
            <a:ext cx="1502537" cy="20585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altLang="zh-TW" sz="2000" dirty="0">
              <a:solidFill>
                <a:schemeClr val="accent2"/>
              </a:solidFill>
              <a:latin typeface="Times New Roman" charset="0"/>
              <a:ea typeface="新細明體" charset="0"/>
              <a:cs typeface="新細明體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484261" y="2132470"/>
            <a:ext cx="1442424" cy="1821111"/>
            <a:chOff x="7484261" y="2132470"/>
            <a:chExt cx="1442424" cy="1821111"/>
          </a:xfrm>
        </p:grpSpPr>
        <p:sp>
          <p:nvSpPr>
            <p:cNvPr id="26" name="Rectangle 25"/>
            <p:cNvSpPr/>
            <p:nvPr/>
          </p:nvSpPr>
          <p:spPr>
            <a:xfrm>
              <a:off x="7736622" y="2719859"/>
              <a:ext cx="119006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Buffer for </a:t>
              </a:r>
            </a:p>
            <a:p>
              <a:pPr algn="ctr"/>
              <a:r>
                <a:rPr kumimoji="1" lang="en-US" altLang="zh-TW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12 chars</a:t>
              </a:r>
            </a:p>
          </p:txBody>
        </p:sp>
        <p:sp>
          <p:nvSpPr>
            <p:cNvPr id="27" name="Right Brace 26"/>
            <p:cNvSpPr/>
            <p:nvPr/>
          </p:nvSpPr>
          <p:spPr>
            <a:xfrm>
              <a:off x="7484261" y="2132470"/>
              <a:ext cx="252361" cy="1821111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5873616" y="2035859"/>
            <a:ext cx="1502537" cy="3871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c[0]</a:t>
            </a:r>
          </a:p>
        </p:txBody>
      </p: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5873616" y="2426741"/>
            <a:ext cx="1502537" cy="3871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c[1]</a:t>
            </a: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5873616" y="3690952"/>
            <a:ext cx="1502537" cy="3871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c[11]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95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BOF - An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53" y="52772"/>
            <a:ext cx="26710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Segoe UI Semibold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sz="1200" dirty="0"/>
              <a:t>#include &lt;</a:t>
            </a:r>
            <a:r>
              <a:rPr lang="en-US" sz="1200" dirty="0" err="1"/>
              <a:t>string.h</a:t>
            </a:r>
            <a:r>
              <a:rPr lang="en-US" sz="1200" dirty="0"/>
              <a:t>&gt;</a:t>
            </a:r>
          </a:p>
          <a:p>
            <a:r>
              <a:rPr lang="en-US" sz="1200" dirty="0" err="1"/>
              <a:t>int</a:t>
            </a:r>
            <a:r>
              <a:rPr lang="en-US" sz="1200" dirty="0"/>
              <a:t> main 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argc</a:t>
            </a:r>
            <a:r>
              <a:rPr lang="en-US" sz="1200" dirty="0"/>
              <a:t>, char **</a:t>
            </a:r>
            <a:r>
              <a:rPr lang="en-US" sz="1200" dirty="0" err="1"/>
              <a:t>argv</a:t>
            </a:r>
            <a:r>
              <a:rPr lang="en-US" sz="1200" dirty="0"/>
              <a:t>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printf</a:t>
            </a:r>
            <a:r>
              <a:rPr lang="en-US" sz="1200" dirty="0"/>
              <a:t>(“%s”, “CEG”);</a:t>
            </a:r>
          </a:p>
          <a:p>
            <a:r>
              <a:rPr lang="en-US" sz="1200" dirty="0"/>
              <a:t>   foo(</a:t>
            </a:r>
            <a:r>
              <a:rPr lang="en-US" sz="1200" dirty="0" err="1"/>
              <a:t>argv</a:t>
            </a:r>
            <a:r>
              <a:rPr lang="en-US" sz="1200" dirty="0"/>
              <a:t>[1]);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printf</a:t>
            </a:r>
            <a:r>
              <a:rPr lang="en-US" sz="1200" dirty="0"/>
              <a:t>(“%s”, “7900”)</a:t>
            </a:r>
          </a:p>
          <a:p>
            <a:r>
              <a:rPr lang="en-US" sz="1200" dirty="0"/>
              <a:t>}</a:t>
            </a:r>
          </a:p>
          <a:p>
            <a:r>
              <a:rPr lang="en-US" sz="1200" dirty="0"/>
              <a:t>void foo (char *bar)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char c[12];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strcpy</a:t>
            </a:r>
            <a:r>
              <a:rPr lang="en-US" sz="1200" dirty="0"/>
              <a:t> (c, bar); </a:t>
            </a:r>
          </a:p>
          <a:p>
            <a:r>
              <a:rPr lang="en-US" sz="1200" dirty="0"/>
              <a:t>}</a:t>
            </a:r>
          </a:p>
          <a:p>
            <a:endParaRPr lang="en-US" sz="1200" dirty="0"/>
          </a:p>
        </p:txBody>
      </p:sp>
      <p:sp>
        <p:nvSpPr>
          <p:cNvPr id="13" name="Rectangle 12"/>
          <p:cNvSpPr/>
          <p:nvPr/>
        </p:nvSpPr>
        <p:spPr>
          <a:xfrm>
            <a:off x="1127323" y="3080771"/>
            <a:ext cx="5661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adr1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691290" y="1974320"/>
            <a:ext cx="2709959" cy="2017598"/>
            <a:chOff x="5942683" y="1915323"/>
            <a:chExt cx="1115262" cy="2017598"/>
          </a:xfrm>
          <a:solidFill>
            <a:srgbClr val="FAC090"/>
          </a:solidFill>
        </p:grpSpPr>
        <p:sp>
          <p:nvSpPr>
            <p:cNvPr id="17" name="TextBox 16"/>
            <p:cNvSpPr txBox="1"/>
            <p:nvPr/>
          </p:nvSpPr>
          <p:spPr>
            <a:xfrm>
              <a:off x="5942684" y="2503309"/>
              <a:ext cx="1115260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push </a:t>
              </a:r>
              <a:r>
                <a:rPr lang="en-US" sz="1600" dirty="0" err="1"/>
                <a:t>argv</a:t>
              </a:r>
              <a:r>
                <a:rPr lang="en-US" sz="1600" dirty="0"/>
                <a:t>[1]</a:t>
              </a:r>
            </a:p>
            <a:p>
              <a:r>
                <a:rPr lang="en-US" sz="1600" dirty="0"/>
                <a:t>call foo    	</a:t>
              </a:r>
              <a:r>
                <a:rPr lang="en-US" sz="1600" i="1" dirty="0"/>
                <a:t>#EIP will be pushed</a:t>
              </a:r>
            </a:p>
            <a:p>
              <a:r>
                <a:rPr lang="en-US" sz="1600" i="1" dirty="0"/>
                <a:t>pop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942684" y="1915323"/>
              <a:ext cx="1115261" cy="58477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XXX</a:t>
              </a:r>
            </a:p>
            <a:p>
              <a:r>
                <a:rPr lang="en-US" sz="1600" dirty="0"/>
                <a:t>YYY                </a:t>
              </a:r>
              <a:r>
                <a:rPr lang="en-US" sz="1600" i="1" dirty="0"/>
                <a:t># </a:t>
              </a:r>
              <a:r>
                <a:rPr lang="en-US" sz="1600" i="1" dirty="0" err="1"/>
                <a:t>instrs</a:t>
              </a:r>
              <a:r>
                <a:rPr lang="en-US" sz="1600" i="1" dirty="0"/>
                <a:t> for </a:t>
              </a:r>
              <a:r>
                <a:rPr lang="en-US" sz="1600" i="1" dirty="0" err="1"/>
                <a:t>printf</a:t>
              </a:r>
              <a:endParaRPr lang="en-US" sz="1600" i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42683" y="3348146"/>
              <a:ext cx="1115262" cy="58477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ZZZ</a:t>
              </a:r>
            </a:p>
            <a:p>
              <a:r>
                <a:rPr lang="en-US" sz="1600" dirty="0"/>
                <a:t>KKK          </a:t>
              </a:r>
              <a:r>
                <a:rPr lang="en-US" sz="1600" i="1" dirty="0"/>
                <a:t>#</a:t>
              </a:r>
              <a:r>
                <a:rPr lang="en-US" sz="1600" i="1" dirty="0" err="1"/>
                <a:t>instrs</a:t>
              </a:r>
              <a:r>
                <a:rPr lang="en-US" sz="1600" i="1" dirty="0"/>
                <a:t> for </a:t>
              </a:r>
              <a:r>
                <a:rPr lang="en-US" sz="1600" i="1" dirty="0" err="1"/>
                <a:t>printf</a:t>
              </a:r>
              <a:endParaRPr lang="en-US" sz="1600" i="1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691294" y="4268436"/>
            <a:ext cx="2709955" cy="1815882"/>
          </a:xfrm>
          <a:prstGeom prst="rect">
            <a:avLst/>
          </a:prstGeom>
          <a:solidFill>
            <a:srgbClr val="FAC09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push EBP</a:t>
            </a:r>
          </a:p>
          <a:p>
            <a:r>
              <a:rPr lang="en-US" sz="1600" dirty="0" err="1"/>
              <a:t>mov</a:t>
            </a:r>
            <a:r>
              <a:rPr lang="en-US" sz="1600" dirty="0"/>
              <a:t> ESP, EBP</a:t>
            </a:r>
          </a:p>
          <a:p>
            <a:r>
              <a:rPr lang="en-US" sz="1600" dirty="0"/>
              <a:t>sub 12 ESP  </a:t>
            </a:r>
            <a:r>
              <a:rPr lang="en-US" sz="1600" i="1" dirty="0"/>
              <a:t>#Allocate buffer</a:t>
            </a:r>
          </a:p>
          <a:p>
            <a:r>
              <a:rPr lang="en-US" sz="1600" dirty="0"/>
              <a:t>copy data</a:t>
            </a:r>
          </a:p>
          <a:p>
            <a:r>
              <a:rPr lang="en-US" sz="1600" dirty="0" err="1"/>
              <a:t>mov</a:t>
            </a:r>
            <a:r>
              <a:rPr lang="en-US" sz="1600" dirty="0"/>
              <a:t> EBP ESP</a:t>
            </a:r>
          </a:p>
          <a:p>
            <a:r>
              <a:rPr lang="en-US" sz="1600" dirty="0"/>
              <a:t>pop EBP</a:t>
            </a:r>
          </a:p>
          <a:p>
            <a:r>
              <a:rPr lang="en-US" sz="1600" dirty="0"/>
              <a:t>ret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4070" y="4276990"/>
            <a:ext cx="5153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foo: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7411305" y="4085979"/>
            <a:ext cx="1055530" cy="406265"/>
            <a:chOff x="6347442" y="4736130"/>
            <a:chExt cx="1055530" cy="406265"/>
          </a:xfrm>
        </p:grpSpPr>
        <p:sp>
          <p:nvSpPr>
            <p:cNvPr id="69" name="Rectangle 68"/>
            <p:cNvSpPr/>
            <p:nvPr/>
          </p:nvSpPr>
          <p:spPr>
            <a:xfrm>
              <a:off x="6859233" y="4736130"/>
              <a:ext cx="543739" cy="4062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EBP</a:t>
              </a:r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 flipH="1">
              <a:off x="6347442" y="4939262"/>
              <a:ext cx="464629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7376153" y="1947804"/>
            <a:ext cx="992046" cy="369332"/>
            <a:chOff x="6407564" y="4824253"/>
            <a:chExt cx="992046" cy="369332"/>
          </a:xfrm>
        </p:grpSpPr>
        <p:sp>
          <p:nvSpPr>
            <p:cNvPr id="67" name="Rectangle 66"/>
            <p:cNvSpPr/>
            <p:nvPr/>
          </p:nvSpPr>
          <p:spPr>
            <a:xfrm>
              <a:off x="6876923" y="4824253"/>
              <a:ext cx="52268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ESP</a:t>
              </a: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 flipH="1">
              <a:off x="6407564" y="5016636"/>
              <a:ext cx="47251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1" name="Rectangle 14"/>
          <p:cNvSpPr>
            <a:spLocks noChangeArrowheads="1"/>
          </p:cNvSpPr>
          <p:nvPr/>
        </p:nvSpPr>
        <p:spPr bwMode="auto">
          <a:xfrm>
            <a:off x="5873619" y="5169277"/>
            <a:ext cx="1502537" cy="824999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main </a:t>
            </a:r>
            <a:r>
              <a:rPr kumimoji="1" lang="en-US" altLang="zh-TW" dirty="0" err="1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func’s</a:t>
            </a:r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 </a:t>
            </a:r>
          </a:p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frame</a:t>
            </a: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5873618" y="4832846"/>
            <a:ext cx="1502537" cy="330841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 err="1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argv</a:t>
            </a:r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[1]</a:t>
            </a:r>
          </a:p>
        </p:txBody>
      </p: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5873617" y="4457204"/>
            <a:ext cx="1502537" cy="37122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EIP(adr1)</a:t>
            </a: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5873617" y="4085979"/>
            <a:ext cx="1502537" cy="37122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EBP</a:t>
            </a: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5873620" y="2027449"/>
            <a:ext cx="1502537" cy="20585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altLang="zh-TW" sz="2000" dirty="0">
              <a:solidFill>
                <a:schemeClr val="accent2"/>
              </a:solidFill>
              <a:latin typeface="Times New Roman" charset="0"/>
              <a:ea typeface="新細明體" charset="0"/>
              <a:cs typeface="新細明體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484261" y="2132470"/>
            <a:ext cx="1442424" cy="1821111"/>
            <a:chOff x="7484261" y="2132470"/>
            <a:chExt cx="1442424" cy="1821111"/>
          </a:xfrm>
        </p:grpSpPr>
        <p:sp>
          <p:nvSpPr>
            <p:cNvPr id="26" name="Rectangle 25"/>
            <p:cNvSpPr/>
            <p:nvPr/>
          </p:nvSpPr>
          <p:spPr>
            <a:xfrm>
              <a:off x="7736622" y="2719859"/>
              <a:ext cx="119006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Buffer for </a:t>
              </a:r>
            </a:p>
            <a:p>
              <a:pPr algn="ctr"/>
              <a:r>
                <a:rPr kumimoji="1" lang="en-US" altLang="zh-TW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12 chars</a:t>
              </a:r>
            </a:p>
          </p:txBody>
        </p:sp>
        <p:sp>
          <p:nvSpPr>
            <p:cNvPr id="27" name="Right Brace 26"/>
            <p:cNvSpPr/>
            <p:nvPr/>
          </p:nvSpPr>
          <p:spPr>
            <a:xfrm>
              <a:off x="7484261" y="2132470"/>
              <a:ext cx="252361" cy="1821111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5873616" y="2035859"/>
            <a:ext cx="1502537" cy="3871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‘a’</a:t>
            </a:r>
          </a:p>
        </p:txBody>
      </p: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5873616" y="2426741"/>
            <a:ext cx="1502537" cy="3871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‘b’</a:t>
            </a: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5873616" y="3690952"/>
            <a:ext cx="1502537" cy="3871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‘\0’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54183" y="1301413"/>
            <a:ext cx="3177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Segoe UI Semibold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sz="2000" dirty="0"/>
              <a:t>./test abcdef87654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16</a:t>
            </a:fld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260348-1FF6-43F2-B23D-09AC9B591114}"/>
              </a:ext>
            </a:extLst>
          </p:cNvPr>
          <p:cNvSpPr txBox="1"/>
          <p:nvPr/>
        </p:nvSpPr>
        <p:spPr>
          <a:xfrm>
            <a:off x="72153" y="6169772"/>
            <a:ext cx="861464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Segoe UI Semibold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argc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number of argument strings, and it is greater than or equal to 1. </a:t>
            </a:r>
          </a:p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Argv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an array of pointers to character strings (c strings)</a:t>
            </a:r>
          </a:p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Argv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argc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contains a NULL pointer</a:t>
            </a:r>
          </a:p>
          <a:p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2748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BOF - An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53" y="52772"/>
            <a:ext cx="26710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Segoe UI Semibold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sz="1200" dirty="0"/>
              <a:t>#include &lt;</a:t>
            </a:r>
            <a:r>
              <a:rPr lang="en-US" sz="1200" dirty="0" err="1"/>
              <a:t>string.h</a:t>
            </a:r>
            <a:r>
              <a:rPr lang="en-US" sz="1200" dirty="0"/>
              <a:t>&gt;</a:t>
            </a:r>
          </a:p>
          <a:p>
            <a:r>
              <a:rPr lang="en-US" sz="1200" dirty="0" err="1"/>
              <a:t>int</a:t>
            </a:r>
            <a:r>
              <a:rPr lang="en-US" sz="1200" dirty="0"/>
              <a:t> main 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argc</a:t>
            </a:r>
            <a:r>
              <a:rPr lang="en-US" sz="1200" dirty="0"/>
              <a:t>, char **</a:t>
            </a:r>
            <a:r>
              <a:rPr lang="en-US" sz="1200" dirty="0" err="1"/>
              <a:t>argv</a:t>
            </a:r>
            <a:r>
              <a:rPr lang="en-US" sz="1200" dirty="0"/>
              <a:t>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printf</a:t>
            </a:r>
            <a:r>
              <a:rPr lang="en-US" sz="1200" dirty="0"/>
              <a:t>(“%s”, “CEG”);</a:t>
            </a:r>
          </a:p>
          <a:p>
            <a:r>
              <a:rPr lang="en-US" sz="1200" dirty="0"/>
              <a:t>   foo(</a:t>
            </a:r>
            <a:r>
              <a:rPr lang="en-US" sz="1200" dirty="0" err="1"/>
              <a:t>argv</a:t>
            </a:r>
            <a:r>
              <a:rPr lang="en-US" sz="1200" dirty="0"/>
              <a:t>[1]);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printf</a:t>
            </a:r>
            <a:r>
              <a:rPr lang="en-US" sz="1200" dirty="0"/>
              <a:t>(“%s”, “7900”)</a:t>
            </a:r>
          </a:p>
          <a:p>
            <a:r>
              <a:rPr lang="en-US" sz="1200" dirty="0"/>
              <a:t>}</a:t>
            </a:r>
          </a:p>
          <a:p>
            <a:r>
              <a:rPr lang="en-US" sz="1200" dirty="0"/>
              <a:t>void foo (char *bar)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char c[12];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strcpy</a:t>
            </a:r>
            <a:r>
              <a:rPr lang="en-US" sz="1200" dirty="0"/>
              <a:t> (c, bar); </a:t>
            </a:r>
          </a:p>
          <a:p>
            <a:r>
              <a:rPr lang="en-US" sz="1200" dirty="0"/>
              <a:t>}</a:t>
            </a:r>
          </a:p>
          <a:p>
            <a:endParaRPr lang="en-US" sz="1200" dirty="0"/>
          </a:p>
        </p:txBody>
      </p:sp>
      <p:sp>
        <p:nvSpPr>
          <p:cNvPr id="13" name="Rectangle 12"/>
          <p:cNvSpPr/>
          <p:nvPr/>
        </p:nvSpPr>
        <p:spPr>
          <a:xfrm>
            <a:off x="1127323" y="3080771"/>
            <a:ext cx="5661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adr1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691290" y="1974320"/>
            <a:ext cx="2709959" cy="2017598"/>
            <a:chOff x="5942683" y="1915323"/>
            <a:chExt cx="1115262" cy="2017598"/>
          </a:xfrm>
          <a:solidFill>
            <a:srgbClr val="FAC090"/>
          </a:solidFill>
        </p:grpSpPr>
        <p:sp>
          <p:nvSpPr>
            <p:cNvPr id="17" name="TextBox 16"/>
            <p:cNvSpPr txBox="1"/>
            <p:nvPr/>
          </p:nvSpPr>
          <p:spPr>
            <a:xfrm>
              <a:off x="5942684" y="2503309"/>
              <a:ext cx="1115260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push </a:t>
              </a:r>
              <a:r>
                <a:rPr lang="en-US" sz="1600" dirty="0" err="1"/>
                <a:t>argv</a:t>
              </a:r>
              <a:r>
                <a:rPr lang="en-US" sz="1600" dirty="0"/>
                <a:t>[1]</a:t>
              </a:r>
            </a:p>
            <a:p>
              <a:r>
                <a:rPr lang="en-US" sz="1600" dirty="0"/>
                <a:t>call foo    	</a:t>
              </a:r>
              <a:r>
                <a:rPr lang="en-US" sz="1600" i="1" dirty="0"/>
                <a:t>#EIP will be pushed</a:t>
              </a:r>
            </a:p>
            <a:p>
              <a:r>
                <a:rPr lang="en-US" sz="1600" i="1" dirty="0"/>
                <a:t>pop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942684" y="1915323"/>
              <a:ext cx="1115261" cy="58477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XXX</a:t>
              </a:r>
            </a:p>
            <a:p>
              <a:r>
                <a:rPr lang="en-US" sz="1600" dirty="0"/>
                <a:t>YYY                </a:t>
              </a:r>
              <a:r>
                <a:rPr lang="en-US" sz="1600" i="1" dirty="0"/>
                <a:t># </a:t>
              </a:r>
              <a:r>
                <a:rPr lang="en-US" sz="1600" i="1" dirty="0" err="1"/>
                <a:t>instrs</a:t>
              </a:r>
              <a:r>
                <a:rPr lang="en-US" sz="1600" i="1" dirty="0"/>
                <a:t> for </a:t>
              </a:r>
              <a:r>
                <a:rPr lang="en-US" sz="1600" i="1" dirty="0" err="1"/>
                <a:t>printf</a:t>
              </a:r>
              <a:endParaRPr lang="en-US" sz="1600" i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42683" y="3348146"/>
              <a:ext cx="1115262" cy="58477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ZZZ</a:t>
              </a:r>
            </a:p>
            <a:p>
              <a:r>
                <a:rPr lang="en-US" sz="1600" dirty="0"/>
                <a:t>KKK          </a:t>
              </a:r>
              <a:r>
                <a:rPr lang="en-US" sz="1600" i="1" dirty="0"/>
                <a:t>#</a:t>
              </a:r>
              <a:r>
                <a:rPr lang="en-US" sz="1600" i="1" dirty="0" err="1"/>
                <a:t>instrs</a:t>
              </a:r>
              <a:r>
                <a:rPr lang="en-US" sz="1600" i="1" dirty="0"/>
                <a:t> for </a:t>
              </a:r>
              <a:r>
                <a:rPr lang="en-US" sz="1600" i="1" dirty="0" err="1"/>
                <a:t>printf</a:t>
              </a:r>
              <a:endParaRPr lang="en-US" sz="1600" i="1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691294" y="4268436"/>
            <a:ext cx="2709955" cy="1815882"/>
          </a:xfrm>
          <a:prstGeom prst="rect">
            <a:avLst/>
          </a:prstGeom>
          <a:solidFill>
            <a:srgbClr val="FAC09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push EBP</a:t>
            </a:r>
          </a:p>
          <a:p>
            <a:r>
              <a:rPr lang="en-US" sz="1600" dirty="0" err="1"/>
              <a:t>mov</a:t>
            </a:r>
            <a:r>
              <a:rPr lang="en-US" sz="1600" dirty="0"/>
              <a:t> ESP, EBP</a:t>
            </a:r>
          </a:p>
          <a:p>
            <a:r>
              <a:rPr lang="en-US" sz="1600" dirty="0"/>
              <a:t>sub 12 ESP  </a:t>
            </a:r>
            <a:r>
              <a:rPr lang="en-US" sz="1600" i="1" dirty="0"/>
              <a:t>#Allocate buffer</a:t>
            </a:r>
          </a:p>
          <a:p>
            <a:r>
              <a:rPr lang="en-US" sz="1600" dirty="0"/>
              <a:t>copy data</a:t>
            </a:r>
          </a:p>
          <a:p>
            <a:r>
              <a:rPr lang="en-US" sz="1600" dirty="0" err="1"/>
              <a:t>mov</a:t>
            </a:r>
            <a:r>
              <a:rPr lang="en-US" sz="1600" dirty="0"/>
              <a:t> EBP ESP</a:t>
            </a:r>
          </a:p>
          <a:p>
            <a:r>
              <a:rPr lang="en-US" sz="1600" dirty="0"/>
              <a:t>pop EBP</a:t>
            </a:r>
          </a:p>
          <a:p>
            <a:r>
              <a:rPr lang="en-US" sz="1600" dirty="0"/>
              <a:t>ret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4070" y="4276990"/>
            <a:ext cx="5153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foo: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7411305" y="4085979"/>
            <a:ext cx="1055530" cy="406265"/>
            <a:chOff x="6347442" y="4736130"/>
            <a:chExt cx="1055530" cy="406265"/>
          </a:xfrm>
        </p:grpSpPr>
        <p:sp>
          <p:nvSpPr>
            <p:cNvPr id="69" name="Rectangle 68"/>
            <p:cNvSpPr/>
            <p:nvPr/>
          </p:nvSpPr>
          <p:spPr>
            <a:xfrm>
              <a:off x="6859233" y="4736130"/>
              <a:ext cx="543739" cy="4062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EBP</a:t>
              </a:r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 flipH="1">
              <a:off x="6347442" y="4939262"/>
              <a:ext cx="464629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7427073" y="1947804"/>
            <a:ext cx="992046" cy="369332"/>
            <a:chOff x="6407564" y="4824253"/>
            <a:chExt cx="992046" cy="369332"/>
          </a:xfrm>
        </p:grpSpPr>
        <p:sp>
          <p:nvSpPr>
            <p:cNvPr id="67" name="Rectangle 66"/>
            <p:cNvSpPr/>
            <p:nvPr/>
          </p:nvSpPr>
          <p:spPr>
            <a:xfrm>
              <a:off x="6876923" y="4824253"/>
              <a:ext cx="52268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ESP</a:t>
              </a: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 flipH="1">
              <a:off x="6407564" y="5016636"/>
              <a:ext cx="47251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1" name="Rectangle 14"/>
          <p:cNvSpPr>
            <a:spLocks noChangeArrowheads="1"/>
          </p:cNvSpPr>
          <p:nvPr/>
        </p:nvSpPr>
        <p:spPr bwMode="auto">
          <a:xfrm>
            <a:off x="5873619" y="5169277"/>
            <a:ext cx="1502537" cy="824999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main </a:t>
            </a:r>
            <a:r>
              <a:rPr kumimoji="1" lang="en-US" altLang="zh-TW" dirty="0" err="1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func’s</a:t>
            </a:r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 </a:t>
            </a:r>
          </a:p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frame</a:t>
            </a: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5873618" y="4832846"/>
            <a:ext cx="1502537" cy="330841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 err="1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argv</a:t>
            </a:r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[1]</a:t>
            </a:r>
          </a:p>
        </p:txBody>
      </p: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5873617" y="4457204"/>
            <a:ext cx="1502537" cy="37122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EIP(adr1)</a:t>
            </a: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5873617" y="4085979"/>
            <a:ext cx="1502537" cy="37122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EBP</a:t>
            </a: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5873620" y="2027449"/>
            <a:ext cx="1502537" cy="20585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altLang="zh-TW" sz="2000" dirty="0">
              <a:solidFill>
                <a:schemeClr val="accent2"/>
              </a:solidFill>
              <a:latin typeface="Times New Roman" charset="0"/>
              <a:ea typeface="新細明體" charset="0"/>
              <a:cs typeface="新細明體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484261" y="2132470"/>
            <a:ext cx="1442424" cy="1821111"/>
            <a:chOff x="7484261" y="2132470"/>
            <a:chExt cx="1442424" cy="1821111"/>
          </a:xfrm>
        </p:grpSpPr>
        <p:sp>
          <p:nvSpPr>
            <p:cNvPr id="26" name="Rectangle 25"/>
            <p:cNvSpPr/>
            <p:nvPr/>
          </p:nvSpPr>
          <p:spPr>
            <a:xfrm>
              <a:off x="7736622" y="2719859"/>
              <a:ext cx="119006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Buffer for </a:t>
              </a:r>
            </a:p>
            <a:p>
              <a:pPr algn="ctr"/>
              <a:r>
                <a:rPr kumimoji="1" lang="en-US" altLang="zh-TW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12 chars</a:t>
              </a:r>
            </a:p>
          </p:txBody>
        </p:sp>
        <p:sp>
          <p:nvSpPr>
            <p:cNvPr id="27" name="Right Brace 26"/>
            <p:cNvSpPr/>
            <p:nvPr/>
          </p:nvSpPr>
          <p:spPr>
            <a:xfrm>
              <a:off x="7484261" y="2132470"/>
              <a:ext cx="252361" cy="1821111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5873616" y="2035859"/>
            <a:ext cx="1502537" cy="3871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‘a’</a:t>
            </a:r>
          </a:p>
        </p:txBody>
      </p: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5873616" y="2426741"/>
            <a:ext cx="1502537" cy="3871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‘b’</a:t>
            </a: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5873616" y="3690952"/>
            <a:ext cx="1502537" cy="3871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‘4’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54183" y="1301413"/>
            <a:ext cx="3772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Segoe UI Semibold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sz="2000" dirty="0"/>
              <a:t>./test abcdef1234876543</a:t>
            </a:r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873620" y="4079688"/>
            <a:ext cx="1502533" cy="387156"/>
          </a:xfrm>
          <a:prstGeom prst="rect">
            <a:avLst/>
          </a:prstGeom>
          <a:solidFill>
            <a:schemeClr val="accent3">
              <a:lumMod val="40000"/>
              <a:lumOff val="60000"/>
              <a:alpha val="86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‘3’</a:t>
            </a:r>
          </a:p>
        </p:txBody>
      </p: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5886316" y="4447988"/>
            <a:ext cx="1489837" cy="387156"/>
          </a:xfrm>
          <a:prstGeom prst="rect">
            <a:avLst/>
          </a:prstGeom>
          <a:solidFill>
            <a:schemeClr val="accent3">
              <a:lumMod val="40000"/>
              <a:lumOff val="60000"/>
              <a:alpha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‘\0’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0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2" grpId="0" animBg="1"/>
      <p:bldP spid="34" grpId="0" animBg="1"/>
      <p:bldP spid="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BOF - An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53" y="52772"/>
            <a:ext cx="26710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Segoe UI Semibold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sz="1200" dirty="0"/>
              <a:t>#include &lt;</a:t>
            </a:r>
            <a:r>
              <a:rPr lang="en-US" sz="1200" dirty="0" err="1"/>
              <a:t>string.h</a:t>
            </a:r>
            <a:r>
              <a:rPr lang="en-US" sz="1200" dirty="0"/>
              <a:t>&gt;</a:t>
            </a:r>
          </a:p>
          <a:p>
            <a:r>
              <a:rPr lang="en-US" sz="1200" dirty="0" err="1"/>
              <a:t>int</a:t>
            </a:r>
            <a:r>
              <a:rPr lang="en-US" sz="1200" dirty="0"/>
              <a:t> main 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argc</a:t>
            </a:r>
            <a:r>
              <a:rPr lang="en-US" sz="1200" dirty="0"/>
              <a:t>, char **</a:t>
            </a:r>
            <a:r>
              <a:rPr lang="en-US" sz="1200" dirty="0" err="1"/>
              <a:t>argv</a:t>
            </a:r>
            <a:r>
              <a:rPr lang="en-US" sz="1200" dirty="0"/>
              <a:t>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printf</a:t>
            </a:r>
            <a:r>
              <a:rPr lang="en-US" sz="1200" dirty="0"/>
              <a:t>(“%s”, “CEG”);</a:t>
            </a:r>
          </a:p>
          <a:p>
            <a:r>
              <a:rPr lang="en-US" sz="1200" dirty="0"/>
              <a:t>   foo(</a:t>
            </a:r>
            <a:r>
              <a:rPr lang="en-US" sz="1200" dirty="0" err="1"/>
              <a:t>argv</a:t>
            </a:r>
            <a:r>
              <a:rPr lang="en-US" sz="1200" dirty="0"/>
              <a:t>[1]);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printf</a:t>
            </a:r>
            <a:r>
              <a:rPr lang="en-US" sz="1200" dirty="0"/>
              <a:t>(“%s”, “7900”)</a:t>
            </a:r>
          </a:p>
          <a:p>
            <a:r>
              <a:rPr lang="en-US" sz="1200" dirty="0"/>
              <a:t>}</a:t>
            </a:r>
          </a:p>
          <a:p>
            <a:r>
              <a:rPr lang="en-US" sz="1200" dirty="0"/>
              <a:t>void foo (char *bar)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char c[12];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strcpy</a:t>
            </a:r>
            <a:r>
              <a:rPr lang="en-US" sz="1200" dirty="0"/>
              <a:t> (c, bar); </a:t>
            </a:r>
          </a:p>
          <a:p>
            <a:r>
              <a:rPr lang="en-US" sz="1200" dirty="0"/>
              <a:t>}</a:t>
            </a:r>
          </a:p>
          <a:p>
            <a:endParaRPr lang="en-US" sz="1200" dirty="0"/>
          </a:p>
        </p:txBody>
      </p:sp>
      <p:sp>
        <p:nvSpPr>
          <p:cNvPr id="13" name="Rectangle 12"/>
          <p:cNvSpPr/>
          <p:nvPr/>
        </p:nvSpPr>
        <p:spPr>
          <a:xfrm>
            <a:off x="1127323" y="3080771"/>
            <a:ext cx="5661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adr1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691290" y="1974320"/>
            <a:ext cx="2709959" cy="2017598"/>
            <a:chOff x="5942683" y="1915323"/>
            <a:chExt cx="1115262" cy="2017598"/>
          </a:xfrm>
          <a:solidFill>
            <a:srgbClr val="FAC090"/>
          </a:solidFill>
        </p:grpSpPr>
        <p:sp>
          <p:nvSpPr>
            <p:cNvPr id="17" name="TextBox 16"/>
            <p:cNvSpPr txBox="1"/>
            <p:nvPr/>
          </p:nvSpPr>
          <p:spPr>
            <a:xfrm>
              <a:off x="5942684" y="2503309"/>
              <a:ext cx="1115260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push </a:t>
              </a:r>
              <a:r>
                <a:rPr lang="en-US" sz="1600" dirty="0" err="1"/>
                <a:t>argv</a:t>
              </a:r>
              <a:r>
                <a:rPr lang="en-US" sz="1600" dirty="0"/>
                <a:t>[1]</a:t>
              </a:r>
            </a:p>
            <a:p>
              <a:r>
                <a:rPr lang="en-US" sz="1600" dirty="0"/>
                <a:t>call foo    	</a:t>
              </a:r>
              <a:r>
                <a:rPr lang="en-US" sz="1600" i="1" dirty="0"/>
                <a:t>#EIP will be pushed</a:t>
              </a:r>
            </a:p>
            <a:p>
              <a:r>
                <a:rPr lang="en-US" sz="1600" i="1" dirty="0"/>
                <a:t>pop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942684" y="1915323"/>
              <a:ext cx="1115261" cy="58477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XXX</a:t>
              </a:r>
            </a:p>
            <a:p>
              <a:r>
                <a:rPr lang="en-US" sz="1600" dirty="0"/>
                <a:t>YYY                </a:t>
              </a:r>
              <a:r>
                <a:rPr lang="en-US" sz="1600" i="1" dirty="0"/>
                <a:t># </a:t>
              </a:r>
              <a:r>
                <a:rPr lang="en-US" sz="1600" i="1" dirty="0" err="1"/>
                <a:t>instrs</a:t>
              </a:r>
              <a:r>
                <a:rPr lang="en-US" sz="1600" i="1" dirty="0"/>
                <a:t> for </a:t>
              </a:r>
              <a:r>
                <a:rPr lang="en-US" sz="1600" i="1" dirty="0" err="1"/>
                <a:t>printf</a:t>
              </a:r>
              <a:endParaRPr lang="en-US" sz="1600" i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42683" y="3348146"/>
              <a:ext cx="1115262" cy="58477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ZZZ</a:t>
              </a:r>
            </a:p>
            <a:p>
              <a:r>
                <a:rPr lang="en-US" sz="1600" dirty="0"/>
                <a:t>KKK          </a:t>
              </a:r>
              <a:r>
                <a:rPr lang="en-US" sz="1600" i="1" dirty="0"/>
                <a:t>#</a:t>
              </a:r>
              <a:r>
                <a:rPr lang="en-US" sz="1600" i="1" dirty="0" err="1"/>
                <a:t>instrs</a:t>
              </a:r>
              <a:r>
                <a:rPr lang="en-US" sz="1600" i="1" dirty="0"/>
                <a:t> for </a:t>
              </a:r>
              <a:r>
                <a:rPr lang="en-US" sz="1600" i="1" dirty="0" err="1"/>
                <a:t>printf</a:t>
              </a:r>
              <a:endParaRPr lang="en-US" sz="1600" i="1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691294" y="4268436"/>
            <a:ext cx="2709955" cy="1815882"/>
          </a:xfrm>
          <a:prstGeom prst="rect">
            <a:avLst/>
          </a:prstGeom>
          <a:solidFill>
            <a:srgbClr val="FAC09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push EBP</a:t>
            </a:r>
          </a:p>
          <a:p>
            <a:r>
              <a:rPr lang="en-US" sz="1600" dirty="0" err="1"/>
              <a:t>mov</a:t>
            </a:r>
            <a:r>
              <a:rPr lang="en-US" sz="1600" dirty="0"/>
              <a:t> ESP, EBP</a:t>
            </a:r>
          </a:p>
          <a:p>
            <a:r>
              <a:rPr lang="en-US" sz="1600" dirty="0"/>
              <a:t>sub 12 ESP  </a:t>
            </a:r>
            <a:r>
              <a:rPr lang="en-US" sz="1600" i="1" dirty="0"/>
              <a:t>#Allocate buffer</a:t>
            </a:r>
          </a:p>
          <a:p>
            <a:r>
              <a:rPr lang="en-US" sz="1600" dirty="0"/>
              <a:t>copy data</a:t>
            </a:r>
          </a:p>
          <a:p>
            <a:r>
              <a:rPr lang="en-US" sz="1600" dirty="0" err="1"/>
              <a:t>mov</a:t>
            </a:r>
            <a:r>
              <a:rPr lang="en-US" sz="1600" dirty="0"/>
              <a:t> EBP ESP</a:t>
            </a:r>
          </a:p>
          <a:p>
            <a:r>
              <a:rPr lang="en-US" sz="1600" dirty="0"/>
              <a:t>pop EBP</a:t>
            </a:r>
          </a:p>
          <a:p>
            <a:r>
              <a:rPr lang="en-US" sz="1600" dirty="0"/>
              <a:t>ret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4070" y="4276990"/>
            <a:ext cx="5153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foo:</a:t>
            </a:r>
          </a:p>
        </p:txBody>
      </p:sp>
      <p:grpSp>
        <p:nvGrpSpPr>
          <p:cNvPr id="73" name="Group 72"/>
          <p:cNvGrpSpPr/>
          <p:nvPr/>
        </p:nvGrpSpPr>
        <p:grpSpPr>
          <a:xfrm>
            <a:off x="7427073" y="4483378"/>
            <a:ext cx="992046" cy="369332"/>
            <a:chOff x="6407564" y="4824253"/>
            <a:chExt cx="992046" cy="369332"/>
          </a:xfrm>
        </p:grpSpPr>
        <p:sp>
          <p:nvSpPr>
            <p:cNvPr id="67" name="Rectangle 66"/>
            <p:cNvSpPr/>
            <p:nvPr/>
          </p:nvSpPr>
          <p:spPr>
            <a:xfrm>
              <a:off x="6876923" y="4824253"/>
              <a:ext cx="52268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ESP</a:t>
              </a: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 flipH="1">
              <a:off x="6407564" y="5016636"/>
              <a:ext cx="47251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1" name="Rectangle 14"/>
          <p:cNvSpPr>
            <a:spLocks noChangeArrowheads="1"/>
          </p:cNvSpPr>
          <p:nvPr/>
        </p:nvSpPr>
        <p:spPr bwMode="auto">
          <a:xfrm>
            <a:off x="5873619" y="5169277"/>
            <a:ext cx="1502537" cy="824999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main </a:t>
            </a:r>
            <a:r>
              <a:rPr kumimoji="1" lang="en-US" altLang="zh-TW" dirty="0" err="1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func’s</a:t>
            </a:r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 </a:t>
            </a:r>
          </a:p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frame</a:t>
            </a: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5873618" y="4832846"/>
            <a:ext cx="1502537" cy="330841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 err="1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argv</a:t>
            </a:r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[1]</a:t>
            </a:r>
          </a:p>
        </p:txBody>
      </p: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5873617" y="4457204"/>
            <a:ext cx="1502537" cy="37122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EIP(adr1)</a:t>
            </a: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5873617" y="4085979"/>
            <a:ext cx="1502537" cy="37122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EBP</a:t>
            </a: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5873620" y="2027449"/>
            <a:ext cx="1502537" cy="20585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altLang="zh-TW" sz="2000" dirty="0">
              <a:solidFill>
                <a:schemeClr val="accent2"/>
              </a:solidFill>
              <a:latin typeface="Times New Roman" charset="0"/>
              <a:ea typeface="新細明體" charset="0"/>
              <a:cs typeface="新細明體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484261" y="2132470"/>
            <a:ext cx="1442424" cy="1821111"/>
            <a:chOff x="7484261" y="2132470"/>
            <a:chExt cx="1442424" cy="1821111"/>
          </a:xfrm>
        </p:grpSpPr>
        <p:sp>
          <p:nvSpPr>
            <p:cNvPr id="26" name="Rectangle 25"/>
            <p:cNvSpPr/>
            <p:nvPr/>
          </p:nvSpPr>
          <p:spPr>
            <a:xfrm>
              <a:off x="7736622" y="2719859"/>
              <a:ext cx="119006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Buffer for </a:t>
              </a:r>
            </a:p>
            <a:p>
              <a:pPr algn="ctr"/>
              <a:r>
                <a:rPr kumimoji="1" lang="en-US" altLang="zh-TW" dirty="0">
                  <a:solidFill>
                    <a:schemeClr val="accent2"/>
                  </a:solidFill>
                  <a:latin typeface="Times New Roman" charset="0"/>
                  <a:ea typeface="新細明體" charset="0"/>
                  <a:cs typeface="新細明體" charset="0"/>
                </a:rPr>
                <a:t>12 chars</a:t>
              </a:r>
            </a:p>
          </p:txBody>
        </p:sp>
        <p:sp>
          <p:nvSpPr>
            <p:cNvPr id="27" name="Right Brace 26"/>
            <p:cNvSpPr/>
            <p:nvPr/>
          </p:nvSpPr>
          <p:spPr>
            <a:xfrm>
              <a:off x="7484261" y="2132470"/>
              <a:ext cx="252361" cy="1821111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5873616" y="2035859"/>
            <a:ext cx="1502537" cy="3871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‘a’</a:t>
            </a:r>
          </a:p>
        </p:txBody>
      </p: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5873616" y="2426741"/>
            <a:ext cx="1502537" cy="3871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‘b’</a:t>
            </a: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5873616" y="3690952"/>
            <a:ext cx="1502537" cy="3871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‘4’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54183" y="1301413"/>
            <a:ext cx="3772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Segoe UI Semibold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sz="2000" dirty="0"/>
              <a:t>./test abcdef1234876543</a:t>
            </a:r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873620" y="4079688"/>
            <a:ext cx="1502533" cy="387156"/>
          </a:xfrm>
          <a:prstGeom prst="rect">
            <a:avLst/>
          </a:prstGeom>
          <a:solidFill>
            <a:schemeClr val="accent3">
              <a:lumMod val="40000"/>
              <a:lumOff val="60000"/>
              <a:alpha val="86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sz="160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‘3’</a:t>
            </a:r>
            <a:endParaRPr kumimoji="1" lang="en-US" altLang="zh-TW" sz="1600" dirty="0">
              <a:solidFill>
                <a:schemeClr val="accent2"/>
              </a:solidFill>
              <a:latin typeface="Times New Roman" charset="0"/>
              <a:ea typeface="新細明體" charset="0"/>
              <a:cs typeface="新細明體" charset="0"/>
            </a:endParaRPr>
          </a:p>
        </p:txBody>
      </p: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5886316" y="4447988"/>
            <a:ext cx="1489837" cy="387156"/>
          </a:xfrm>
          <a:prstGeom prst="rect">
            <a:avLst/>
          </a:prstGeom>
          <a:solidFill>
            <a:schemeClr val="accent3">
              <a:lumMod val="40000"/>
              <a:lumOff val="60000"/>
              <a:alpha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sz="160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‘\0</a:t>
            </a:r>
            <a:r>
              <a:rPr kumimoji="1" lang="en-US" altLang="zh-TW" sz="16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’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287264" y="4608051"/>
            <a:ext cx="1474321" cy="1935624"/>
            <a:chOff x="5287264" y="4608051"/>
            <a:chExt cx="1474321" cy="1935624"/>
          </a:xfrm>
        </p:grpSpPr>
        <p:sp>
          <p:nvSpPr>
            <p:cNvPr id="6" name="Freeform 5"/>
            <p:cNvSpPr/>
            <p:nvPr/>
          </p:nvSpPr>
          <p:spPr>
            <a:xfrm>
              <a:off x="5287264" y="4608051"/>
              <a:ext cx="618236" cy="1748299"/>
            </a:xfrm>
            <a:custGeom>
              <a:avLst/>
              <a:gdLst>
                <a:gd name="connsiteX0" fmla="*/ 567436 w 618236"/>
                <a:gd name="connsiteY0" fmla="*/ 40149 h 2110271"/>
                <a:gd name="connsiteX1" fmla="*/ 173736 w 618236"/>
                <a:gd name="connsiteY1" fmla="*/ 230649 h 2110271"/>
                <a:gd name="connsiteX2" fmla="*/ 21336 w 618236"/>
                <a:gd name="connsiteY2" fmla="*/ 1805449 h 2110271"/>
                <a:gd name="connsiteX3" fmla="*/ 618236 w 618236"/>
                <a:gd name="connsiteY3" fmla="*/ 2110249 h 2110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8236" h="2110271">
                  <a:moveTo>
                    <a:pt x="567436" y="40149"/>
                  </a:moveTo>
                  <a:cubicBezTo>
                    <a:pt x="416094" y="-11710"/>
                    <a:pt x="264753" y="-63568"/>
                    <a:pt x="173736" y="230649"/>
                  </a:cubicBezTo>
                  <a:cubicBezTo>
                    <a:pt x="82719" y="524866"/>
                    <a:pt x="-52747" y="1492182"/>
                    <a:pt x="21336" y="1805449"/>
                  </a:cubicBezTo>
                  <a:cubicBezTo>
                    <a:pt x="95419" y="2118716"/>
                    <a:pt x="618236" y="2110249"/>
                    <a:pt x="618236" y="2110249"/>
                  </a:cubicBezTo>
                </a:path>
              </a:pathLst>
            </a:cu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936219" y="6205121"/>
              <a:ext cx="8253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Ox0000</a:t>
              </a:r>
            </a:p>
          </p:txBody>
        </p:sp>
      </p:grpSp>
      <p:sp>
        <p:nvSpPr>
          <p:cNvPr id="8" name="Explosion 1 7"/>
          <p:cNvSpPr/>
          <p:nvPr/>
        </p:nvSpPr>
        <p:spPr>
          <a:xfrm>
            <a:off x="6676597" y="5977132"/>
            <a:ext cx="1615327" cy="720336"/>
          </a:xfrm>
          <a:prstGeom prst="irregularSeal1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Faults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50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252"/>
            <a:ext cx="8229600" cy="619268"/>
          </a:xfrm>
        </p:spPr>
        <p:txBody>
          <a:bodyPr>
            <a:normAutofit fontScale="90000"/>
          </a:bodyPr>
          <a:lstStyle/>
          <a:p>
            <a:r>
              <a:rPr lang="en-US" dirty="0"/>
              <a:t>BOF - An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53" y="52772"/>
            <a:ext cx="26710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Segoe UI Semibold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sz="1200" dirty="0"/>
              <a:t>#include &lt;</a:t>
            </a:r>
            <a:r>
              <a:rPr lang="en-US" sz="1200" dirty="0" err="1"/>
              <a:t>string.h</a:t>
            </a:r>
            <a:r>
              <a:rPr lang="en-US" sz="1200" dirty="0"/>
              <a:t>&gt;</a:t>
            </a:r>
          </a:p>
          <a:p>
            <a:r>
              <a:rPr lang="en-US" sz="1200" dirty="0" err="1"/>
              <a:t>int</a:t>
            </a:r>
            <a:r>
              <a:rPr lang="en-US" sz="1200" dirty="0"/>
              <a:t> main 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argc</a:t>
            </a:r>
            <a:r>
              <a:rPr lang="en-US" sz="1200" dirty="0"/>
              <a:t>, char **</a:t>
            </a:r>
            <a:r>
              <a:rPr lang="en-US" sz="1200" dirty="0" err="1"/>
              <a:t>argv</a:t>
            </a:r>
            <a:r>
              <a:rPr lang="en-US" sz="1200" dirty="0"/>
              <a:t>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printf</a:t>
            </a:r>
            <a:r>
              <a:rPr lang="en-US" sz="1200" dirty="0"/>
              <a:t>(“%s”, “CEG”);</a:t>
            </a:r>
          </a:p>
          <a:p>
            <a:r>
              <a:rPr lang="en-US" sz="1200" dirty="0"/>
              <a:t>   foo(</a:t>
            </a:r>
            <a:r>
              <a:rPr lang="en-US" sz="1200" dirty="0" err="1"/>
              <a:t>argv</a:t>
            </a:r>
            <a:r>
              <a:rPr lang="en-US" sz="1200" dirty="0"/>
              <a:t>[1]);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printf</a:t>
            </a:r>
            <a:r>
              <a:rPr lang="en-US" sz="1200" dirty="0"/>
              <a:t>(“%s”, “7900”)</a:t>
            </a:r>
          </a:p>
          <a:p>
            <a:r>
              <a:rPr lang="en-US" sz="1200" dirty="0"/>
              <a:t>}</a:t>
            </a:r>
          </a:p>
          <a:p>
            <a:r>
              <a:rPr lang="en-US" sz="1200" dirty="0"/>
              <a:t>void foo (char *bar)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char c[12];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strcpy</a:t>
            </a:r>
            <a:r>
              <a:rPr lang="en-US" sz="1200" dirty="0"/>
              <a:t> (c, bar); </a:t>
            </a:r>
          </a:p>
          <a:p>
            <a:r>
              <a:rPr lang="en-US" sz="1200" dirty="0"/>
              <a:t>}</a:t>
            </a:r>
          </a:p>
          <a:p>
            <a:endParaRPr lang="en-US" sz="1200" dirty="0"/>
          </a:p>
        </p:txBody>
      </p:sp>
      <p:sp>
        <p:nvSpPr>
          <p:cNvPr id="13" name="Rectangle 12"/>
          <p:cNvSpPr/>
          <p:nvPr/>
        </p:nvSpPr>
        <p:spPr>
          <a:xfrm>
            <a:off x="1127323" y="3080771"/>
            <a:ext cx="5661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adr1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691290" y="1974320"/>
            <a:ext cx="2709959" cy="2017598"/>
            <a:chOff x="5942683" y="1915323"/>
            <a:chExt cx="1115262" cy="2017598"/>
          </a:xfrm>
          <a:solidFill>
            <a:srgbClr val="FAC090"/>
          </a:solidFill>
        </p:grpSpPr>
        <p:sp>
          <p:nvSpPr>
            <p:cNvPr id="17" name="TextBox 16"/>
            <p:cNvSpPr txBox="1"/>
            <p:nvPr/>
          </p:nvSpPr>
          <p:spPr>
            <a:xfrm>
              <a:off x="5942684" y="2503309"/>
              <a:ext cx="1115261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push </a:t>
              </a:r>
              <a:r>
                <a:rPr lang="en-US" sz="1600" dirty="0" err="1"/>
                <a:t>argv</a:t>
              </a:r>
              <a:r>
                <a:rPr lang="en-US" sz="1600" dirty="0"/>
                <a:t>[1]</a:t>
              </a:r>
            </a:p>
            <a:p>
              <a:r>
                <a:rPr lang="en-US" sz="1600" dirty="0"/>
                <a:t>call foo    	</a:t>
              </a:r>
              <a:r>
                <a:rPr lang="en-US" sz="1600" i="1" dirty="0"/>
                <a:t>#EIP will be pushed</a:t>
              </a:r>
            </a:p>
            <a:p>
              <a:r>
                <a:rPr lang="en-US" sz="1600" i="1" dirty="0"/>
                <a:t>pop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942684" y="1915323"/>
              <a:ext cx="1115261" cy="58477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XXX</a:t>
              </a:r>
            </a:p>
            <a:p>
              <a:r>
                <a:rPr lang="en-US" sz="1600" dirty="0"/>
                <a:t>YYY                </a:t>
              </a:r>
              <a:r>
                <a:rPr lang="en-US" sz="1600" i="1" dirty="0"/>
                <a:t># </a:t>
              </a:r>
              <a:r>
                <a:rPr lang="en-US" sz="1600" i="1" dirty="0" err="1"/>
                <a:t>instrs</a:t>
              </a:r>
              <a:r>
                <a:rPr lang="en-US" sz="1600" i="1" dirty="0"/>
                <a:t> for </a:t>
              </a:r>
              <a:r>
                <a:rPr lang="en-US" sz="1600" i="1" dirty="0" err="1"/>
                <a:t>printf</a:t>
              </a:r>
              <a:endParaRPr lang="en-US" sz="1600" i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42683" y="3348146"/>
              <a:ext cx="1115262" cy="58477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ZZZ</a:t>
              </a:r>
            </a:p>
            <a:p>
              <a:r>
                <a:rPr lang="en-US" sz="1600" dirty="0"/>
                <a:t>KKK         	</a:t>
              </a:r>
              <a:r>
                <a:rPr lang="en-US" sz="1600" i="1" dirty="0"/>
                <a:t>#</a:t>
              </a:r>
              <a:r>
                <a:rPr lang="en-US" sz="1600" i="1" dirty="0" err="1"/>
                <a:t>instrs</a:t>
              </a:r>
              <a:r>
                <a:rPr lang="en-US" sz="1600" i="1" dirty="0"/>
                <a:t> for </a:t>
              </a:r>
              <a:r>
                <a:rPr lang="en-US" sz="1600" i="1" dirty="0" err="1"/>
                <a:t>printf</a:t>
              </a:r>
              <a:endParaRPr lang="en-US" sz="1600" i="1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691294" y="4268436"/>
            <a:ext cx="2709955" cy="1815882"/>
          </a:xfrm>
          <a:prstGeom prst="rect">
            <a:avLst/>
          </a:prstGeom>
          <a:solidFill>
            <a:srgbClr val="FAC09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push EBP</a:t>
            </a:r>
          </a:p>
          <a:p>
            <a:r>
              <a:rPr lang="en-US" sz="1600" dirty="0" err="1"/>
              <a:t>mov</a:t>
            </a:r>
            <a:r>
              <a:rPr lang="en-US" sz="1600" dirty="0"/>
              <a:t> ESP, EBP</a:t>
            </a:r>
          </a:p>
          <a:p>
            <a:r>
              <a:rPr lang="en-US" sz="1600" dirty="0"/>
              <a:t>sub 12 ESP  </a:t>
            </a:r>
            <a:r>
              <a:rPr lang="en-US" sz="1600" i="1" dirty="0"/>
              <a:t>#Allocate buffer</a:t>
            </a:r>
          </a:p>
          <a:p>
            <a:r>
              <a:rPr lang="en-US" sz="1600" dirty="0"/>
              <a:t>copy data</a:t>
            </a:r>
          </a:p>
          <a:p>
            <a:r>
              <a:rPr lang="en-US" sz="1600" dirty="0" err="1"/>
              <a:t>mov</a:t>
            </a:r>
            <a:r>
              <a:rPr lang="en-US" sz="1600" dirty="0"/>
              <a:t> EBP ESP</a:t>
            </a:r>
          </a:p>
          <a:p>
            <a:r>
              <a:rPr lang="en-US" sz="1600" dirty="0"/>
              <a:t>pop EBP</a:t>
            </a:r>
          </a:p>
          <a:p>
            <a:r>
              <a:rPr lang="en-US" sz="1600" dirty="0"/>
              <a:t>ret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4070" y="4276990"/>
            <a:ext cx="5153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foo:</a:t>
            </a:r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5873617" y="4457204"/>
            <a:ext cx="1502537" cy="37122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EIP(adr1)</a:t>
            </a:r>
          </a:p>
        </p:txBody>
      </p:sp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5873620" y="2027449"/>
            <a:ext cx="1502537" cy="20585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altLang="zh-TW" sz="2000" dirty="0">
              <a:solidFill>
                <a:schemeClr val="accent2"/>
              </a:solidFill>
              <a:latin typeface="Times New Roman" charset="0"/>
              <a:ea typeface="新細明體" charset="0"/>
              <a:cs typeface="新細明體" charset="0"/>
            </a:endParaRPr>
          </a:p>
        </p:txBody>
      </p: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5873618" y="4832846"/>
            <a:ext cx="1502537" cy="330841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 err="1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argv</a:t>
            </a:r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[1]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36622" y="2719859"/>
            <a:ext cx="11900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Buffer for </a:t>
            </a:r>
          </a:p>
          <a:p>
            <a:pPr algn="ctr"/>
            <a:r>
              <a:rPr kumimoji="1" lang="en-US" altLang="zh-TW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12 chars</a:t>
            </a:r>
          </a:p>
        </p:txBody>
      </p:sp>
      <p:sp>
        <p:nvSpPr>
          <p:cNvPr id="58" name="Right Brace 57"/>
          <p:cNvSpPr/>
          <p:nvPr/>
        </p:nvSpPr>
        <p:spPr>
          <a:xfrm>
            <a:off x="7484261" y="2132470"/>
            <a:ext cx="252361" cy="182111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7411305" y="5660532"/>
            <a:ext cx="1055530" cy="406265"/>
            <a:chOff x="6347442" y="4736130"/>
            <a:chExt cx="1055530" cy="406265"/>
          </a:xfrm>
        </p:grpSpPr>
        <p:sp>
          <p:nvSpPr>
            <p:cNvPr id="69" name="Rectangle 68"/>
            <p:cNvSpPr/>
            <p:nvPr/>
          </p:nvSpPr>
          <p:spPr>
            <a:xfrm>
              <a:off x="6859233" y="4736130"/>
              <a:ext cx="543739" cy="4062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EBP</a:t>
              </a:r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 flipH="1">
              <a:off x="6347442" y="4939262"/>
              <a:ext cx="464629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7427279" y="5032808"/>
            <a:ext cx="992046" cy="369332"/>
            <a:chOff x="6407564" y="4824253"/>
            <a:chExt cx="992046" cy="369332"/>
          </a:xfrm>
        </p:grpSpPr>
        <p:sp>
          <p:nvSpPr>
            <p:cNvPr id="67" name="Rectangle 66"/>
            <p:cNvSpPr/>
            <p:nvPr/>
          </p:nvSpPr>
          <p:spPr>
            <a:xfrm>
              <a:off x="6876923" y="4824253"/>
              <a:ext cx="52268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ESP</a:t>
              </a: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 flipH="1">
              <a:off x="6407564" y="5016636"/>
              <a:ext cx="47251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1" name="Rectangle 14"/>
          <p:cNvSpPr>
            <a:spLocks noChangeArrowheads="1"/>
          </p:cNvSpPr>
          <p:nvPr/>
        </p:nvSpPr>
        <p:spPr bwMode="auto">
          <a:xfrm>
            <a:off x="5873619" y="5169277"/>
            <a:ext cx="1502537" cy="824999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Previous </a:t>
            </a:r>
            <a:r>
              <a:rPr kumimoji="1" lang="en-US" altLang="zh-TW" dirty="0" err="1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func’s</a:t>
            </a:r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 </a:t>
            </a:r>
          </a:p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frame</a:t>
            </a:r>
          </a:p>
        </p:txBody>
      </p:sp>
      <p:sp>
        <p:nvSpPr>
          <p:cNvPr id="74" name="Rectangle 14"/>
          <p:cNvSpPr>
            <a:spLocks noChangeArrowheads="1"/>
          </p:cNvSpPr>
          <p:nvPr/>
        </p:nvSpPr>
        <p:spPr bwMode="auto">
          <a:xfrm>
            <a:off x="5873617" y="4085979"/>
            <a:ext cx="1502537" cy="37122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EBP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0596" y="690138"/>
            <a:ext cx="35690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Segoe UI Semibold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sz="2000" dirty="0"/>
              <a:t>./test 0xFF223……..</a:t>
            </a:r>
          </a:p>
          <a:p>
            <a:endParaRPr lang="en-US" sz="2000" dirty="0"/>
          </a:p>
          <a:p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exec( “/bin/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sh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”)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5935287" y="2065175"/>
            <a:ext cx="1379913" cy="2738315"/>
          </a:xfrm>
          <a:prstGeom prst="rect">
            <a:avLst/>
          </a:prstGeom>
          <a:solidFill>
            <a:srgbClr val="FF0000">
              <a:alpha val="49000"/>
            </a:srgb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885343" y="2007592"/>
            <a:ext cx="925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0xABCD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974138" y="2099218"/>
            <a:ext cx="1274560" cy="2671019"/>
            <a:chOff x="5974138" y="2099218"/>
            <a:chExt cx="1274560" cy="2671019"/>
          </a:xfrm>
        </p:grpSpPr>
        <p:sp>
          <p:nvSpPr>
            <p:cNvPr id="4" name="Rectangle 3"/>
            <p:cNvSpPr/>
            <p:nvPr/>
          </p:nvSpPr>
          <p:spPr>
            <a:xfrm>
              <a:off x="5979740" y="2099218"/>
              <a:ext cx="1268958" cy="2313797"/>
            </a:xfrm>
            <a:prstGeom prst="rect">
              <a:avLst/>
            </a:prstGeom>
            <a:solidFill>
              <a:srgbClr val="FF0000">
                <a:alpha val="72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Malicious</a:t>
              </a:r>
            </a:p>
            <a:p>
              <a:pPr algn="ctr"/>
              <a:r>
                <a:rPr lang="en-US" sz="1600" dirty="0"/>
                <a:t>Instructions</a:t>
              </a:r>
            </a:p>
            <a:p>
              <a:pPr algn="ctr"/>
              <a:r>
                <a:rPr lang="en-US" sz="1600" dirty="0"/>
                <a:t>(</a:t>
              </a:r>
              <a:r>
                <a:rPr lang="en-US" sz="1600" dirty="0" err="1"/>
                <a:t>shellcode</a:t>
              </a:r>
              <a:r>
                <a:rPr lang="en-US" sz="1600" dirty="0"/>
                <a:t>)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74138" y="4472244"/>
              <a:ext cx="1268958" cy="297993"/>
            </a:xfrm>
            <a:prstGeom prst="rect">
              <a:avLst/>
            </a:prstGeom>
            <a:solidFill>
              <a:srgbClr val="FF0000">
                <a:alpha val="72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0xABCD</a:t>
              </a:r>
            </a:p>
          </p:txBody>
        </p:sp>
      </p:grpSp>
      <p:sp>
        <p:nvSpPr>
          <p:cNvPr id="50" name="Curved Left Arrow 49"/>
          <p:cNvSpPr/>
          <p:nvPr/>
        </p:nvSpPr>
        <p:spPr>
          <a:xfrm rot="10800000" flipH="1">
            <a:off x="7315200" y="1979299"/>
            <a:ext cx="812800" cy="2716425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0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85584"/>
            <a:ext cx="8229600" cy="1143000"/>
          </a:xfrm>
        </p:spPr>
        <p:txBody>
          <a:bodyPr/>
          <a:lstStyle/>
          <a:p>
            <a:r>
              <a:rPr lang="en-US" dirty="0"/>
              <a:t>BOF - An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53" y="52772"/>
            <a:ext cx="26710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Segoe UI Semibold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sz="1200" dirty="0"/>
              <a:t>#include &lt;</a:t>
            </a:r>
            <a:r>
              <a:rPr lang="en-US" sz="1200" dirty="0" err="1"/>
              <a:t>string.h</a:t>
            </a:r>
            <a:r>
              <a:rPr lang="en-US" sz="1200" dirty="0"/>
              <a:t>&gt;</a:t>
            </a:r>
          </a:p>
          <a:p>
            <a:r>
              <a:rPr lang="en-US" sz="1200" dirty="0" err="1"/>
              <a:t>int</a:t>
            </a:r>
            <a:r>
              <a:rPr lang="en-US" sz="1200" dirty="0"/>
              <a:t> main 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argc</a:t>
            </a:r>
            <a:r>
              <a:rPr lang="en-US" sz="1200" dirty="0"/>
              <a:t>, char **</a:t>
            </a:r>
            <a:r>
              <a:rPr lang="en-US" sz="1200" dirty="0" err="1"/>
              <a:t>argv</a:t>
            </a:r>
            <a:r>
              <a:rPr lang="en-US" sz="1200" dirty="0"/>
              <a:t>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printf</a:t>
            </a:r>
            <a:r>
              <a:rPr lang="en-US" sz="1200" dirty="0"/>
              <a:t>(“%s”, “CEG”);</a:t>
            </a:r>
          </a:p>
          <a:p>
            <a:r>
              <a:rPr lang="en-US" sz="1200" dirty="0"/>
              <a:t>   foo(</a:t>
            </a:r>
            <a:r>
              <a:rPr lang="en-US" sz="1200" dirty="0" err="1"/>
              <a:t>argv</a:t>
            </a:r>
            <a:r>
              <a:rPr lang="en-US" sz="1200" dirty="0"/>
              <a:t>[1]);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printf</a:t>
            </a:r>
            <a:r>
              <a:rPr lang="en-US" sz="1200" dirty="0"/>
              <a:t>(“%s”, “7900”)</a:t>
            </a:r>
          </a:p>
          <a:p>
            <a:r>
              <a:rPr lang="en-US" sz="1200" dirty="0"/>
              <a:t>}</a:t>
            </a:r>
          </a:p>
          <a:p>
            <a:r>
              <a:rPr lang="en-US" sz="1200" dirty="0"/>
              <a:t>void foo (char *bar)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char c[12];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strcpy</a:t>
            </a:r>
            <a:r>
              <a:rPr lang="en-US" sz="1200" dirty="0"/>
              <a:t> (c, bar); </a:t>
            </a:r>
          </a:p>
          <a:p>
            <a:r>
              <a:rPr lang="en-US" sz="1200" dirty="0"/>
              <a:t>}</a:t>
            </a:r>
          </a:p>
          <a:p>
            <a:endParaRPr lang="en-US" sz="1200" dirty="0"/>
          </a:p>
        </p:txBody>
      </p:sp>
      <p:sp>
        <p:nvSpPr>
          <p:cNvPr id="13" name="Rectangle 12"/>
          <p:cNvSpPr/>
          <p:nvPr/>
        </p:nvSpPr>
        <p:spPr>
          <a:xfrm>
            <a:off x="1127323" y="3080771"/>
            <a:ext cx="5661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adr1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691290" y="1974320"/>
            <a:ext cx="2709959" cy="2017598"/>
            <a:chOff x="5942683" y="1915323"/>
            <a:chExt cx="1115262" cy="2017598"/>
          </a:xfrm>
          <a:solidFill>
            <a:srgbClr val="FAC090"/>
          </a:solidFill>
        </p:grpSpPr>
        <p:sp>
          <p:nvSpPr>
            <p:cNvPr id="17" name="TextBox 16"/>
            <p:cNvSpPr txBox="1"/>
            <p:nvPr/>
          </p:nvSpPr>
          <p:spPr>
            <a:xfrm>
              <a:off x="5942684" y="2503309"/>
              <a:ext cx="1115261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push </a:t>
              </a:r>
              <a:r>
                <a:rPr lang="en-US" sz="1600" dirty="0" err="1"/>
                <a:t>argv</a:t>
              </a:r>
              <a:r>
                <a:rPr lang="en-US" sz="1600" dirty="0"/>
                <a:t>[1]</a:t>
              </a:r>
            </a:p>
            <a:p>
              <a:r>
                <a:rPr lang="en-US" sz="1600" dirty="0"/>
                <a:t>call foo    	</a:t>
              </a:r>
              <a:r>
                <a:rPr lang="en-US" sz="1600" i="1" dirty="0"/>
                <a:t>#EIP will be pushed</a:t>
              </a:r>
            </a:p>
            <a:p>
              <a:r>
                <a:rPr lang="en-US" sz="1600" i="1" dirty="0"/>
                <a:t>pop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942684" y="1915323"/>
              <a:ext cx="1115261" cy="58477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XXX</a:t>
              </a:r>
            </a:p>
            <a:p>
              <a:r>
                <a:rPr lang="en-US" sz="1600" dirty="0"/>
                <a:t>YYY                </a:t>
              </a:r>
              <a:r>
                <a:rPr lang="en-US" sz="1600" i="1" dirty="0"/>
                <a:t># </a:t>
              </a:r>
              <a:r>
                <a:rPr lang="en-US" sz="1600" i="1" dirty="0" err="1"/>
                <a:t>instrs</a:t>
              </a:r>
              <a:r>
                <a:rPr lang="en-US" sz="1600" i="1" dirty="0"/>
                <a:t> for </a:t>
              </a:r>
              <a:r>
                <a:rPr lang="en-US" sz="1600" i="1" dirty="0" err="1"/>
                <a:t>printf</a:t>
              </a:r>
              <a:endParaRPr lang="en-US" sz="1600" i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42683" y="3348146"/>
              <a:ext cx="1115262" cy="58477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ZZZ</a:t>
              </a:r>
            </a:p>
            <a:p>
              <a:r>
                <a:rPr lang="en-US" sz="1600" dirty="0"/>
                <a:t>KKK         	</a:t>
              </a:r>
              <a:r>
                <a:rPr lang="en-US" sz="1600" i="1" dirty="0"/>
                <a:t>#</a:t>
              </a:r>
              <a:r>
                <a:rPr lang="en-US" sz="1600" i="1" dirty="0" err="1"/>
                <a:t>instrs</a:t>
              </a:r>
              <a:r>
                <a:rPr lang="en-US" sz="1600" i="1" dirty="0"/>
                <a:t> for </a:t>
              </a:r>
              <a:r>
                <a:rPr lang="en-US" sz="1600" i="1" dirty="0" err="1"/>
                <a:t>printf</a:t>
              </a:r>
              <a:endParaRPr lang="en-US" sz="1600" i="1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691294" y="4268436"/>
            <a:ext cx="2709955" cy="1815882"/>
          </a:xfrm>
          <a:prstGeom prst="rect">
            <a:avLst/>
          </a:prstGeom>
          <a:solidFill>
            <a:srgbClr val="FAC09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push EBP</a:t>
            </a:r>
          </a:p>
          <a:p>
            <a:r>
              <a:rPr lang="en-US" sz="1600" dirty="0" err="1"/>
              <a:t>mov</a:t>
            </a:r>
            <a:r>
              <a:rPr lang="en-US" sz="1600" dirty="0"/>
              <a:t> ESP, EBP</a:t>
            </a:r>
          </a:p>
          <a:p>
            <a:r>
              <a:rPr lang="en-US" sz="1600" dirty="0"/>
              <a:t>sub 12 ESP  </a:t>
            </a:r>
            <a:r>
              <a:rPr lang="en-US" sz="1600" i="1" dirty="0"/>
              <a:t>#Allocate buffer</a:t>
            </a:r>
          </a:p>
          <a:p>
            <a:r>
              <a:rPr lang="en-US" sz="1600" dirty="0"/>
              <a:t>copy data</a:t>
            </a:r>
          </a:p>
          <a:p>
            <a:r>
              <a:rPr lang="en-US" sz="1600" dirty="0" err="1"/>
              <a:t>mov</a:t>
            </a:r>
            <a:r>
              <a:rPr lang="en-US" sz="1600" dirty="0"/>
              <a:t> EBP ESP</a:t>
            </a:r>
          </a:p>
          <a:p>
            <a:r>
              <a:rPr lang="en-US" sz="1600" dirty="0"/>
              <a:t>pop EBP</a:t>
            </a:r>
          </a:p>
          <a:p>
            <a:r>
              <a:rPr lang="en-US" sz="1600" dirty="0"/>
              <a:t>ret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4070" y="4276990"/>
            <a:ext cx="5153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foo:</a:t>
            </a:r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5873617" y="4457204"/>
            <a:ext cx="1502537" cy="37122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EIP(adr1)</a:t>
            </a:r>
          </a:p>
        </p:txBody>
      </p:sp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5873620" y="2027449"/>
            <a:ext cx="1502537" cy="20585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altLang="zh-TW" sz="2000" dirty="0">
              <a:solidFill>
                <a:schemeClr val="accent2"/>
              </a:solidFill>
              <a:latin typeface="Times New Roman" charset="0"/>
              <a:ea typeface="新細明體" charset="0"/>
              <a:cs typeface="新細明體" charset="0"/>
            </a:endParaRPr>
          </a:p>
        </p:txBody>
      </p: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5873618" y="4832846"/>
            <a:ext cx="1502537" cy="330841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 err="1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argv</a:t>
            </a:r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[1]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36622" y="2719859"/>
            <a:ext cx="11900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Buffer for </a:t>
            </a:r>
          </a:p>
          <a:p>
            <a:pPr algn="ctr"/>
            <a:r>
              <a:rPr kumimoji="1" lang="en-US" altLang="zh-TW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rPr>
              <a:t>12 chars</a:t>
            </a:r>
          </a:p>
        </p:txBody>
      </p:sp>
      <p:sp>
        <p:nvSpPr>
          <p:cNvPr id="58" name="Right Brace 57"/>
          <p:cNvSpPr/>
          <p:nvPr/>
        </p:nvSpPr>
        <p:spPr>
          <a:xfrm>
            <a:off x="7484261" y="2132470"/>
            <a:ext cx="252361" cy="182111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7411305" y="5660532"/>
            <a:ext cx="1055530" cy="406265"/>
            <a:chOff x="6347442" y="4736130"/>
            <a:chExt cx="1055530" cy="406265"/>
          </a:xfrm>
        </p:grpSpPr>
        <p:sp>
          <p:nvSpPr>
            <p:cNvPr id="69" name="Rectangle 68"/>
            <p:cNvSpPr/>
            <p:nvPr/>
          </p:nvSpPr>
          <p:spPr>
            <a:xfrm>
              <a:off x="6859233" y="4736130"/>
              <a:ext cx="543739" cy="4062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EBP</a:t>
              </a:r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 flipH="1">
              <a:off x="6347442" y="4939262"/>
              <a:ext cx="464629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7427279" y="5032808"/>
            <a:ext cx="992046" cy="369332"/>
            <a:chOff x="6407564" y="4824253"/>
            <a:chExt cx="992046" cy="369332"/>
          </a:xfrm>
        </p:grpSpPr>
        <p:sp>
          <p:nvSpPr>
            <p:cNvPr id="67" name="Rectangle 66"/>
            <p:cNvSpPr/>
            <p:nvPr/>
          </p:nvSpPr>
          <p:spPr>
            <a:xfrm>
              <a:off x="6876923" y="4824253"/>
              <a:ext cx="52268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ESP</a:t>
              </a: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 flipH="1">
              <a:off x="6407564" y="5016636"/>
              <a:ext cx="47251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1" name="Rectangle 14"/>
          <p:cNvSpPr>
            <a:spLocks noChangeArrowheads="1"/>
          </p:cNvSpPr>
          <p:nvPr/>
        </p:nvSpPr>
        <p:spPr bwMode="auto">
          <a:xfrm>
            <a:off x="5873619" y="5169277"/>
            <a:ext cx="1502537" cy="824999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Previous </a:t>
            </a:r>
            <a:r>
              <a:rPr kumimoji="1" lang="en-US" altLang="zh-TW" dirty="0" err="1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func’s</a:t>
            </a:r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 </a:t>
            </a:r>
          </a:p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frame</a:t>
            </a:r>
          </a:p>
        </p:txBody>
      </p:sp>
      <p:sp>
        <p:nvSpPr>
          <p:cNvPr id="74" name="Rectangle 14"/>
          <p:cNvSpPr>
            <a:spLocks noChangeArrowheads="1"/>
          </p:cNvSpPr>
          <p:nvPr/>
        </p:nvSpPr>
        <p:spPr bwMode="auto">
          <a:xfrm>
            <a:off x="5873617" y="4085979"/>
            <a:ext cx="1502537" cy="37122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EBP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9330" y="1417638"/>
            <a:ext cx="3177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Segoe UI Semibold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sz="2000" dirty="0"/>
              <a:t>./test 0xFF223……..</a:t>
            </a:r>
          </a:p>
          <a:p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5935287" y="2065175"/>
            <a:ext cx="1379913" cy="2738315"/>
          </a:xfrm>
          <a:prstGeom prst="rect">
            <a:avLst/>
          </a:prstGeom>
          <a:solidFill>
            <a:srgbClr val="FF0000">
              <a:alpha val="49000"/>
            </a:srgb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885343" y="2007592"/>
            <a:ext cx="925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0xABCD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974138" y="2099218"/>
            <a:ext cx="1274560" cy="2671019"/>
            <a:chOff x="5974138" y="2099218"/>
            <a:chExt cx="1274560" cy="2671019"/>
          </a:xfrm>
        </p:grpSpPr>
        <p:sp>
          <p:nvSpPr>
            <p:cNvPr id="4" name="Rectangle 3"/>
            <p:cNvSpPr/>
            <p:nvPr/>
          </p:nvSpPr>
          <p:spPr>
            <a:xfrm>
              <a:off x="5979740" y="2099218"/>
              <a:ext cx="1268958" cy="2313797"/>
            </a:xfrm>
            <a:prstGeom prst="rect">
              <a:avLst/>
            </a:prstGeom>
            <a:solidFill>
              <a:srgbClr val="FF0000">
                <a:alpha val="72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Malicious</a:t>
              </a:r>
            </a:p>
            <a:p>
              <a:pPr algn="ctr"/>
              <a:r>
                <a:rPr lang="en-US" sz="1600" dirty="0"/>
                <a:t>Instructions</a:t>
              </a:r>
            </a:p>
            <a:p>
              <a:pPr algn="ctr"/>
              <a:r>
                <a:rPr lang="en-US" sz="1600" dirty="0"/>
                <a:t>(</a:t>
              </a:r>
              <a:r>
                <a:rPr lang="en-US" sz="1600" dirty="0" err="1"/>
                <a:t>shellcode</a:t>
              </a:r>
              <a:r>
                <a:rPr lang="en-US" sz="1600" dirty="0"/>
                <a:t>)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74138" y="4472244"/>
              <a:ext cx="1268958" cy="297993"/>
            </a:xfrm>
            <a:prstGeom prst="rect">
              <a:avLst/>
            </a:prstGeom>
            <a:solidFill>
              <a:srgbClr val="FF0000">
                <a:alpha val="72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0xABCD</a:t>
              </a:r>
            </a:p>
          </p:txBody>
        </p:sp>
      </p:grpSp>
      <p:sp>
        <p:nvSpPr>
          <p:cNvPr id="50" name="Curved Left Arrow 49"/>
          <p:cNvSpPr/>
          <p:nvPr/>
        </p:nvSpPr>
        <p:spPr>
          <a:xfrm rot="10800000" flipH="1">
            <a:off x="7315200" y="1979299"/>
            <a:ext cx="812800" cy="2716425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6CFC1-D6E9-5244-A559-738FECFB22C9}" type="slidenum">
              <a:rPr lang="en-US" smtClean="0"/>
              <a:t>20</a:t>
            </a:fld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6074802" y="653131"/>
            <a:ext cx="3177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Segoe UI Semibold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altLang="en-US" sz="2000" dirty="0"/>
              <a:t>Pad shellcode with NOPs.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1822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 Shellcode with NOPs</a:t>
            </a:r>
          </a:p>
        </p:txBody>
      </p:sp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1236844" y="1470556"/>
            <a:ext cx="1502537" cy="3748558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50000"/>
                  <a:satMod val="300000"/>
                  <a:alpha val="56000"/>
                </a:schemeClr>
              </a:gs>
              <a:gs pos="35000">
                <a:schemeClr val="accent2">
                  <a:tint val="37000"/>
                  <a:satMod val="300000"/>
                  <a:alpha val="56000"/>
                </a:schemeClr>
              </a:gs>
              <a:gs pos="100000">
                <a:schemeClr val="accent2">
                  <a:tint val="15000"/>
                  <a:satMod val="350000"/>
                  <a:alpha val="56000"/>
                </a:schemeClr>
              </a:gs>
            </a:gsLst>
            <a:lin ang="16200000" scaled="1"/>
            <a:tileRect/>
          </a:gradFill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/>
            <a:endParaRPr kumimoji="1" lang="en-US" altLang="zh-TW" sz="2000" dirty="0">
              <a:solidFill>
                <a:schemeClr val="accent2"/>
              </a:solidFill>
              <a:latin typeface="Times New Roman" charset="0"/>
              <a:ea typeface="新細明體" charset="0"/>
              <a:cs typeface="新細明體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13272" y="4839441"/>
            <a:ext cx="1149679" cy="369332"/>
          </a:xfrm>
          <a:prstGeom prst="rect">
            <a:avLst/>
          </a:prstGeom>
          <a:solidFill>
            <a:srgbClr val="3366FF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EIP’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3271" y="2915442"/>
            <a:ext cx="1149679" cy="1871081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US" dirty="0" err="1"/>
              <a:t>Shellcode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413274" y="1540671"/>
            <a:ext cx="1149679" cy="120032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NOP</a:t>
            </a:r>
          </a:p>
          <a:p>
            <a:r>
              <a:rPr lang="en-US" dirty="0">
                <a:solidFill>
                  <a:schemeClr val="tx1"/>
                </a:solidFill>
              </a:rPr>
              <a:t>NOP</a:t>
            </a:r>
          </a:p>
          <a:p>
            <a:r>
              <a:rPr lang="en-US" dirty="0">
                <a:solidFill>
                  <a:schemeClr val="tx1"/>
                </a:solidFill>
              </a:rPr>
              <a:t>…..</a:t>
            </a:r>
          </a:p>
          <a:p>
            <a:r>
              <a:rPr lang="en-US" dirty="0">
                <a:solidFill>
                  <a:schemeClr val="tx1"/>
                </a:solidFill>
              </a:rPr>
              <a:t>NOP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21</a:t>
            </a:fld>
            <a:endParaRPr lang="en-US"/>
          </a:p>
        </p:txBody>
      </p:sp>
      <p:sp>
        <p:nvSpPr>
          <p:cNvPr id="14" name="Curved Left Arrow 13"/>
          <p:cNvSpPr/>
          <p:nvPr/>
        </p:nvSpPr>
        <p:spPr>
          <a:xfrm rot="10800000" flipH="1">
            <a:off x="2739381" y="1800663"/>
            <a:ext cx="812800" cy="3408109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236843" y="5564566"/>
            <a:ext cx="1502537" cy="824999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main </a:t>
            </a:r>
            <a:r>
              <a:rPr kumimoji="1" lang="en-US" altLang="zh-TW" dirty="0" err="1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func’s</a:t>
            </a:r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 </a:t>
            </a:r>
          </a:p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frame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236842" y="5228135"/>
            <a:ext cx="1502537" cy="330841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en-US" altLang="zh-TW" dirty="0" err="1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argv</a:t>
            </a:r>
            <a:r>
              <a:rPr kumimoji="1" lang="en-US" altLang="zh-TW" dirty="0">
                <a:solidFill>
                  <a:srgbClr val="C00000"/>
                </a:solidFill>
                <a:latin typeface="Times New Roman" charset="0"/>
                <a:ea typeface="新細明體" charset="0"/>
                <a:cs typeface="新細明體" charset="0"/>
              </a:rPr>
              <a:t>[1]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7299" y="1414439"/>
            <a:ext cx="31774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Segoe UI Semibold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sz="2000" dirty="0"/>
              <a:t>As long as the overwritten return address (EIP’) hits one of the NOP instructions, the shellcode will be executed.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185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045C2-36FF-4D3B-9BFD-60F1CE2D94B9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52736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78800" cy="895323"/>
          </a:xfrm>
        </p:spPr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BOF</a:t>
            </a:r>
          </a:p>
        </p:txBody>
      </p:sp>
      <p:sp>
        <p:nvSpPr>
          <p:cNvPr id="52736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469218"/>
            <a:ext cx="8178800" cy="4953000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Problem:   no boundary checking in  </a:t>
            </a:r>
            <a:r>
              <a:rPr lang="en-US" altLang="en-US" sz="2000" dirty="0" err="1"/>
              <a:t>strcpy</a:t>
            </a:r>
            <a:r>
              <a:rPr lang="en-US" altLang="en-US" sz="2000" dirty="0"/>
              <a:t>().</a:t>
            </a:r>
          </a:p>
          <a:p>
            <a:pPr>
              <a:spcBef>
                <a:spcPct val="70000"/>
              </a:spcBef>
            </a:pPr>
            <a:r>
              <a:rPr lang="en-US" altLang="en-US" sz="2000" dirty="0"/>
              <a:t>Suppose    *</a:t>
            </a:r>
            <a:r>
              <a:rPr lang="en-US" altLang="en-US" sz="2000" dirty="0" err="1"/>
              <a:t>str</a:t>
            </a:r>
            <a:r>
              <a:rPr lang="en-US" altLang="en-US" sz="2000" dirty="0"/>
              <a:t>   is such that after  </a:t>
            </a:r>
            <a:r>
              <a:rPr lang="en-US" altLang="en-US" sz="2000" dirty="0" err="1"/>
              <a:t>strcpy</a:t>
            </a:r>
            <a:r>
              <a:rPr lang="en-US" altLang="en-US" sz="2000" dirty="0"/>
              <a:t>  stack looks like: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pPr>
              <a:spcBef>
                <a:spcPct val="90000"/>
              </a:spcBef>
            </a:pPr>
            <a:r>
              <a:rPr lang="en-US" altLang="en-US" sz="2000" dirty="0"/>
              <a:t>When   foo()   exits,  the user will be given a shell !</a:t>
            </a:r>
          </a:p>
          <a:p>
            <a:r>
              <a:rPr lang="en-US" altLang="en-US" sz="2000" dirty="0"/>
              <a:t>Note:  attack code runs </a:t>
            </a:r>
            <a:r>
              <a:rPr lang="en-US" altLang="en-US" sz="2000" i="1" dirty="0"/>
              <a:t>in stack</a:t>
            </a:r>
            <a:r>
              <a:rPr lang="en-US" altLang="en-US" sz="2000" dirty="0"/>
              <a:t>.</a:t>
            </a:r>
          </a:p>
          <a:p>
            <a:pPr marL="0" indent="0">
              <a:buNone/>
            </a:pPr>
            <a:endParaRPr lang="en-US" altLang="en-US" sz="2000" dirty="0"/>
          </a:p>
        </p:txBody>
      </p:sp>
      <p:grpSp>
        <p:nvGrpSpPr>
          <p:cNvPr id="527381" name="Group 1045"/>
          <p:cNvGrpSpPr>
            <a:grpSpLocks/>
          </p:cNvGrpSpPr>
          <p:nvPr/>
        </p:nvGrpSpPr>
        <p:grpSpPr bwMode="auto">
          <a:xfrm>
            <a:off x="914400" y="2590800"/>
            <a:ext cx="6834190" cy="1639888"/>
            <a:chOff x="576" y="1632"/>
            <a:chExt cx="4305" cy="1033"/>
          </a:xfrm>
        </p:grpSpPr>
        <p:sp>
          <p:nvSpPr>
            <p:cNvPr id="527367" name="Line 1031"/>
            <p:cNvSpPr>
              <a:spLocks noChangeShapeType="1"/>
            </p:cNvSpPr>
            <p:nvPr/>
          </p:nvSpPr>
          <p:spPr bwMode="auto">
            <a:xfrm>
              <a:off x="3754" y="1968"/>
              <a:ext cx="5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7368" name="Line 1032"/>
            <p:cNvSpPr>
              <a:spLocks noChangeShapeType="1"/>
            </p:cNvSpPr>
            <p:nvPr/>
          </p:nvSpPr>
          <p:spPr bwMode="auto">
            <a:xfrm>
              <a:off x="3754" y="2205"/>
              <a:ext cx="5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7369" name="Line 1033"/>
            <p:cNvSpPr>
              <a:spLocks noChangeShapeType="1"/>
            </p:cNvSpPr>
            <p:nvPr/>
          </p:nvSpPr>
          <p:spPr bwMode="auto">
            <a:xfrm>
              <a:off x="576" y="1971"/>
              <a:ext cx="5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7370" name="Line 1034"/>
            <p:cNvSpPr>
              <a:spLocks noChangeShapeType="1"/>
            </p:cNvSpPr>
            <p:nvPr/>
          </p:nvSpPr>
          <p:spPr bwMode="auto">
            <a:xfrm>
              <a:off x="576" y="2205"/>
              <a:ext cx="5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7371" name="Text Box 1035"/>
            <p:cNvSpPr txBox="1">
              <a:spLocks noChangeArrowheads="1"/>
            </p:cNvSpPr>
            <p:nvPr/>
          </p:nvSpPr>
          <p:spPr bwMode="auto">
            <a:xfrm>
              <a:off x="4258" y="1828"/>
              <a:ext cx="623" cy="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800" dirty="0"/>
                <a:t>Higher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800" dirty="0"/>
                <a:t>Address</a:t>
              </a:r>
            </a:p>
          </p:txBody>
        </p:sp>
        <p:sp>
          <p:nvSpPr>
            <p:cNvPr id="527372" name="Line 1036"/>
            <p:cNvSpPr>
              <a:spLocks noChangeShapeType="1"/>
            </p:cNvSpPr>
            <p:nvPr/>
          </p:nvSpPr>
          <p:spPr bwMode="auto">
            <a:xfrm flipH="1">
              <a:off x="1295" y="2300"/>
              <a:ext cx="20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7373" name="Rectangle 1037"/>
            <p:cNvSpPr>
              <a:spLocks noChangeArrowheads="1"/>
            </p:cNvSpPr>
            <p:nvPr/>
          </p:nvSpPr>
          <p:spPr bwMode="auto">
            <a:xfrm>
              <a:off x="1103" y="1971"/>
              <a:ext cx="2651" cy="23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lang="en-US" altLang="en-US" sz="1800" dirty="0"/>
                <a:t>    </a:t>
              </a:r>
              <a:r>
                <a:rPr lang="en-US" altLang="en-US" dirty="0"/>
                <a:t>buffer   </a:t>
              </a:r>
              <a:r>
                <a:rPr lang="en-US" altLang="en-US" sz="1800" dirty="0"/>
                <a:t>    </a:t>
              </a:r>
              <a:r>
                <a:rPr lang="en-US" altLang="en-US" sz="1800" dirty="0" err="1"/>
                <a:t>Ebp</a:t>
              </a:r>
              <a:r>
                <a:rPr lang="en-US" altLang="en-US" sz="1800" dirty="0"/>
                <a:t>        ret    Code for P</a:t>
              </a:r>
            </a:p>
          </p:txBody>
        </p:sp>
        <p:sp>
          <p:nvSpPr>
            <p:cNvPr id="527374" name="Line 1038"/>
            <p:cNvSpPr>
              <a:spLocks noChangeShapeType="1"/>
            </p:cNvSpPr>
            <p:nvPr/>
          </p:nvSpPr>
          <p:spPr bwMode="auto">
            <a:xfrm>
              <a:off x="1773" y="1968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7375" name="Line 1039"/>
            <p:cNvSpPr>
              <a:spLocks noChangeShapeType="1"/>
            </p:cNvSpPr>
            <p:nvPr/>
          </p:nvSpPr>
          <p:spPr bwMode="auto">
            <a:xfrm>
              <a:off x="2216" y="1971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7376" name="Line 1040"/>
            <p:cNvSpPr>
              <a:spLocks noChangeShapeType="1"/>
            </p:cNvSpPr>
            <p:nvPr/>
          </p:nvSpPr>
          <p:spPr bwMode="auto">
            <a:xfrm>
              <a:off x="2588" y="1972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7377" name="Freeform 1041"/>
            <p:cNvSpPr>
              <a:spLocks/>
            </p:cNvSpPr>
            <p:nvPr/>
          </p:nvSpPr>
          <p:spPr bwMode="auto">
            <a:xfrm>
              <a:off x="2443" y="1632"/>
              <a:ext cx="505" cy="340"/>
            </a:xfrm>
            <a:custGeom>
              <a:avLst/>
              <a:gdLst>
                <a:gd name="T0" fmla="*/ 0 w 390"/>
                <a:gd name="T1" fmla="*/ 340 h 340"/>
                <a:gd name="T2" fmla="*/ 48 w 390"/>
                <a:gd name="T3" fmla="*/ 196 h 340"/>
                <a:gd name="T4" fmla="*/ 144 w 390"/>
                <a:gd name="T5" fmla="*/ 52 h 340"/>
                <a:gd name="T6" fmla="*/ 288 w 390"/>
                <a:gd name="T7" fmla="*/ 4 h 340"/>
                <a:gd name="T8" fmla="*/ 347 w 390"/>
                <a:gd name="T9" fmla="*/ 30 h 340"/>
                <a:gd name="T10" fmla="*/ 384 w 390"/>
                <a:gd name="T11" fmla="*/ 100 h 340"/>
                <a:gd name="T12" fmla="*/ 384 w 390"/>
                <a:gd name="T13" fmla="*/ 244 h 340"/>
                <a:gd name="T14" fmla="*/ 377 w 390"/>
                <a:gd name="T15" fmla="*/ 318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0" h="340">
                  <a:moveTo>
                    <a:pt x="0" y="340"/>
                  </a:moveTo>
                  <a:cubicBezTo>
                    <a:pt x="12" y="292"/>
                    <a:pt x="24" y="244"/>
                    <a:pt x="48" y="196"/>
                  </a:cubicBezTo>
                  <a:cubicBezTo>
                    <a:pt x="72" y="148"/>
                    <a:pt x="104" y="84"/>
                    <a:pt x="144" y="52"/>
                  </a:cubicBezTo>
                  <a:cubicBezTo>
                    <a:pt x="184" y="20"/>
                    <a:pt x="254" y="8"/>
                    <a:pt x="288" y="4"/>
                  </a:cubicBezTo>
                  <a:cubicBezTo>
                    <a:pt x="322" y="0"/>
                    <a:pt x="331" y="14"/>
                    <a:pt x="347" y="30"/>
                  </a:cubicBezTo>
                  <a:cubicBezTo>
                    <a:pt x="363" y="46"/>
                    <a:pt x="378" y="64"/>
                    <a:pt x="384" y="100"/>
                  </a:cubicBezTo>
                  <a:cubicBezTo>
                    <a:pt x="390" y="136"/>
                    <a:pt x="385" y="208"/>
                    <a:pt x="384" y="244"/>
                  </a:cubicBezTo>
                  <a:cubicBezTo>
                    <a:pt x="383" y="280"/>
                    <a:pt x="378" y="303"/>
                    <a:pt x="377" y="318"/>
                  </a:cubicBez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7378" name="Text Box 1042"/>
            <p:cNvSpPr txBox="1">
              <a:spLocks noChangeArrowheads="1"/>
            </p:cNvSpPr>
            <p:nvPr/>
          </p:nvSpPr>
          <p:spPr bwMode="auto">
            <a:xfrm>
              <a:off x="1056" y="2415"/>
              <a:ext cx="26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000" dirty="0"/>
                <a:t>Program P:   </a:t>
              </a:r>
              <a:r>
                <a:rPr lang="en-US" altLang="en-US" sz="2000" b="1" dirty="0">
                  <a:latin typeface="Courier New" panose="02070309020205020404" pitchFamily="49" charset="0"/>
                </a:rPr>
                <a:t>exec( “/bin/</a:t>
              </a:r>
              <a:r>
                <a:rPr lang="en-US" altLang="en-US" sz="2000" b="1" dirty="0" err="1">
                  <a:latin typeface="Courier New" panose="02070309020205020404" pitchFamily="49" charset="0"/>
                </a:rPr>
                <a:t>sh</a:t>
              </a:r>
              <a:r>
                <a:rPr lang="en-US" altLang="en-US" sz="2000" b="1" dirty="0">
                  <a:latin typeface="Courier New" panose="02070309020205020404" pitchFamily="49" charset="0"/>
                </a:rPr>
                <a:t>” 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8071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E.g., Using Intel PIN</a:t>
            </a:r>
          </a:p>
          <a:p>
            <a:pPr lvl="1"/>
            <a:r>
              <a:rPr lang="en-US" dirty="0"/>
              <a:t>http://</a:t>
            </a:r>
            <a:r>
              <a:rPr lang="en-US" dirty="0" err="1"/>
              <a:t>nsl.cs.columbia.edu</a:t>
            </a:r>
            <a:r>
              <a:rPr lang="en-US" dirty="0"/>
              <a:t>/projects/minestrone/</a:t>
            </a:r>
            <a:r>
              <a:rPr lang="en-US" dirty="0" err="1"/>
              <a:t>isr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454413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065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 snapshot of the stack frame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4" y="1903787"/>
            <a:ext cx="4382062" cy="3283496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2345" y="1163939"/>
            <a:ext cx="4135582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int foo (int arg1, int arg2, int arg3) 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1911927" y="6311065"/>
            <a:ext cx="63107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https://flint.cs.yale.edu/cs421/papers/x86-asm/asm.html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D1B8C9-EA4A-4BE9-9640-A3440C585749}"/>
              </a:ext>
            </a:extLst>
          </p:cNvPr>
          <p:cNvSpPr txBox="1"/>
          <p:nvPr/>
        </p:nvSpPr>
        <p:spPr>
          <a:xfrm>
            <a:off x="5263116" y="4041380"/>
            <a:ext cx="37958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Compiler: </a:t>
            </a:r>
            <a:r>
              <a:rPr lang="en-US" dirty="0" err="1"/>
              <a:t>gcc</a:t>
            </a:r>
            <a:endParaRPr lang="en-US" dirty="0"/>
          </a:p>
          <a:p>
            <a:r>
              <a:rPr lang="en-US" dirty="0"/>
              <a:t>Language: c language</a:t>
            </a:r>
          </a:p>
          <a:p>
            <a:r>
              <a:rPr lang="en-US" dirty="0"/>
              <a:t>Machine architecture: intel processors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49AD80-AA41-4CCB-B709-82B258CB7797}"/>
              </a:ext>
            </a:extLst>
          </p:cNvPr>
          <p:cNvSpPr txBox="1"/>
          <p:nvPr/>
        </p:nvSpPr>
        <p:spPr>
          <a:xfrm>
            <a:off x="5263116" y="1162574"/>
            <a:ext cx="29352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In the stack frame for a function, the order and the location of the input parameters, and the local variables,  will depend on the programming language and the compiler used, and the target machine Architecture.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457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4235"/>
            <a:ext cx="8229600" cy="83603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A snapshot of the stack frame: An Example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60934" y="1265395"/>
            <a:ext cx="3030852" cy="2554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int foo(int a, int b, int c)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	int x, y, z;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	x = a + 5;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	y = b - 3;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	z = c * 2;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        return 0;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}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DDE3E2-A802-460A-B9BE-161F1FE92ACA}"/>
              </a:ext>
            </a:extLst>
          </p:cNvPr>
          <p:cNvSpPr txBox="1"/>
          <p:nvPr/>
        </p:nvSpPr>
        <p:spPr>
          <a:xfrm>
            <a:off x="4976038" y="1236504"/>
            <a:ext cx="2677080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Frame Layout: </a:t>
            </a:r>
          </a:p>
          <a:p>
            <a:endParaRPr lang="en-US" dirty="0"/>
          </a:p>
          <a:p>
            <a:r>
              <a:rPr lang="en-US" dirty="0"/>
              <a:t>Lower address of memory</a:t>
            </a:r>
          </a:p>
          <a:p>
            <a:r>
              <a:rPr lang="en-US" dirty="0"/>
              <a:t>=============</a:t>
            </a:r>
          </a:p>
          <a:p>
            <a:r>
              <a:rPr lang="en-US" dirty="0"/>
              <a:t>z</a:t>
            </a:r>
          </a:p>
          <a:p>
            <a:r>
              <a:rPr lang="en-US" dirty="0"/>
              <a:t>y</a:t>
            </a:r>
          </a:p>
          <a:p>
            <a:r>
              <a:rPr lang="en-US" dirty="0"/>
              <a:t>x</a:t>
            </a:r>
          </a:p>
          <a:p>
            <a:r>
              <a:rPr lang="en-US" dirty="0"/>
              <a:t>EBP</a:t>
            </a:r>
          </a:p>
          <a:p>
            <a:r>
              <a:rPr lang="en-US" dirty="0"/>
              <a:t>EIP (return address)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b</a:t>
            </a:r>
          </a:p>
          <a:p>
            <a:r>
              <a:rPr lang="en-US" dirty="0"/>
              <a:t>c</a:t>
            </a:r>
          </a:p>
          <a:p>
            <a:r>
              <a:rPr lang="en-US" dirty="0"/>
              <a:t>=================</a:t>
            </a:r>
          </a:p>
          <a:p>
            <a:r>
              <a:rPr lang="en-US" dirty="0"/>
              <a:t>Higher address of memory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2E110-2C98-4957-AAF8-77FAF3DF504F}"/>
              </a:ext>
            </a:extLst>
          </p:cNvPr>
          <p:cNvSpPr txBox="1"/>
          <p:nvPr/>
        </p:nvSpPr>
        <p:spPr>
          <a:xfrm>
            <a:off x="306232" y="5461103"/>
            <a:ext cx="838056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In the stack frame for a function, the order and the location of the input parameters, and the local variables,  will depend on the programming language and the compiler used, and the target machine Architecture.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B3B297-B964-4D29-98EA-6CB3A7D260FA}"/>
              </a:ext>
            </a:extLst>
          </p:cNvPr>
          <p:cNvSpPr txBox="1"/>
          <p:nvPr/>
        </p:nvSpPr>
        <p:spPr>
          <a:xfrm>
            <a:off x="457200" y="4019106"/>
            <a:ext cx="41830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Compiler: </a:t>
            </a:r>
            <a:r>
              <a:rPr lang="en-US" sz="2000" dirty="0" err="1"/>
              <a:t>gcc</a:t>
            </a:r>
            <a:endParaRPr lang="en-US" sz="2000" dirty="0"/>
          </a:p>
          <a:p>
            <a:r>
              <a:rPr lang="en-US" sz="2000" dirty="0"/>
              <a:t>Language: c language</a:t>
            </a:r>
          </a:p>
          <a:p>
            <a:r>
              <a:rPr lang="en-US" sz="2000" dirty="0"/>
              <a:t>Machine architecture: intel processors</a:t>
            </a:r>
          </a:p>
        </p:txBody>
      </p:sp>
    </p:spTree>
    <p:extLst>
      <p:ext uri="{BB962C8B-B14F-4D97-AF65-F5344CB8AC3E}">
        <p14:creationId xmlns:p14="http://schemas.microsoft.com/office/powerpoint/2010/main" val="38875961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BOF-Vulnerable HTTP Service</a:t>
            </a:r>
          </a:p>
        </p:txBody>
      </p:sp>
      <p:pic>
        <p:nvPicPr>
          <p:cNvPr id="7" name="Picture 3" descr="C:\Users\jzhang\Downloads\P14776288.jp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5625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6951" y="4307036"/>
            <a:ext cx="1286149" cy="12861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1194983813750083554server_mimooh_.svg.med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271" y="4307036"/>
            <a:ext cx="797519" cy="110909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3265116" y="4861584"/>
            <a:ext cx="3025833" cy="831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3265116" y="4684034"/>
            <a:ext cx="2951018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25249" y="2089370"/>
            <a:ext cx="301877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HTTP Request with BOF attack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5855" y="5565099"/>
            <a:ext cx="15865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 Server</a:t>
            </a:r>
          </a:p>
          <a:p>
            <a:r>
              <a:rPr lang="en-US" dirty="0"/>
              <a:t>   (IP/Port = 80)</a:t>
            </a:r>
          </a:p>
        </p:txBody>
      </p:sp>
      <p:sp>
        <p:nvSpPr>
          <p:cNvPr id="23" name="Left Brace 22"/>
          <p:cNvSpPr/>
          <p:nvPr/>
        </p:nvSpPr>
        <p:spPr>
          <a:xfrm rot="5400000">
            <a:off x="5516537" y="2386808"/>
            <a:ext cx="299260" cy="59640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057" y="1370978"/>
            <a:ext cx="4517967" cy="1894994"/>
          </a:xfrm>
          <a:prstGeom prst="rect">
            <a:avLst/>
          </a:prstGeom>
          <a:solidFill>
            <a:schemeClr val="bg1">
              <a:alpha val="66000"/>
            </a:schemeClr>
          </a:solidFill>
          <a:ln w="38100" cmpd="sng">
            <a:solidFill>
              <a:srgbClr val="FF0000">
                <a:alpha val="37000"/>
              </a:srgbClr>
            </a:solidFill>
          </a:ln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ABF9786-6382-45E7-8846-138D7F3FB982}"/>
              </a:ext>
            </a:extLst>
          </p:cNvPr>
          <p:cNvSpPr/>
          <p:nvPr/>
        </p:nvSpPr>
        <p:spPr>
          <a:xfrm>
            <a:off x="3678372" y="3529054"/>
            <a:ext cx="4572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>
              <a:defRPr/>
            </a:pPr>
            <a:r>
              <a:rPr lang="en-US" dirty="0"/>
              <a:t>Code Red II virus: </a:t>
            </a:r>
            <a:r>
              <a:rPr lang="en-US" sz="1600" dirty="0"/>
              <a:t>buffer overflow in Microsoft’s Internet Information Services (IIS) 5.0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96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BoF</a:t>
            </a:r>
            <a:r>
              <a:rPr lang="en-US" dirty="0"/>
              <a:t> Incidents … Just a Sample!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 1988: Morris worm </a:t>
            </a:r>
          </a:p>
          <a:p>
            <a:pPr lvl="1"/>
            <a:r>
              <a:rPr lang="en-US" sz="1600" dirty="0"/>
              <a:t>– took down Internet– Includes buffer overflow via gets() in </a:t>
            </a:r>
            <a:r>
              <a:rPr lang="en-US" sz="1600" dirty="0" err="1"/>
              <a:t>fingerd</a:t>
            </a:r>
            <a:endParaRPr lang="en-US" sz="1600" dirty="0"/>
          </a:p>
          <a:p>
            <a:r>
              <a:rPr lang="en-US" sz="2000" dirty="0"/>
              <a:t>1998: University of Washington IMAP (mail) server</a:t>
            </a:r>
          </a:p>
          <a:p>
            <a:r>
              <a:rPr lang="en-US" sz="2000" dirty="0"/>
              <a:t>1999: RSA crypto reference implementation</a:t>
            </a:r>
          </a:p>
          <a:p>
            <a:pPr lvl="1"/>
            <a:r>
              <a:rPr lang="en-US" sz="1600" dirty="0"/>
              <a:t> Subverted PGP, </a:t>
            </a:r>
            <a:r>
              <a:rPr lang="en-US" sz="1600" dirty="0" err="1"/>
              <a:t>OpenSSH</a:t>
            </a:r>
            <a:r>
              <a:rPr lang="en-US" sz="1600" dirty="0"/>
              <a:t>, Apache’s </a:t>
            </a:r>
            <a:r>
              <a:rPr lang="en-US" sz="1600" dirty="0" err="1"/>
              <a:t>ModSSL</a:t>
            </a:r>
            <a:r>
              <a:rPr lang="en-US" sz="1600" dirty="0"/>
              <a:t>, etc.</a:t>
            </a:r>
          </a:p>
          <a:p>
            <a:r>
              <a:rPr lang="en-US" sz="2000" dirty="0"/>
              <a:t>2001: Code Red worm </a:t>
            </a:r>
          </a:p>
          <a:p>
            <a:pPr lvl="1"/>
            <a:r>
              <a:rPr lang="en-US" sz="1600" dirty="0"/>
              <a:t> buffer overflow in Microsoft’s Internet Information Services (IIS) 5.0</a:t>
            </a:r>
          </a:p>
          <a:p>
            <a:r>
              <a:rPr lang="en-US" sz="2000" dirty="0"/>
              <a:t>2003: SQL Slammer worm compromised machines running Microsoft SQL Server 2000</a:t>
            </a:r>
          </a:p>
          <a:p>
            <a:r>
              <a:rPr lang="en-US" sz="2000" dirty="0"/>
              <a:t>~2008: Twilight hack – unlocks Wii consoles</a:t>
            </a:r>
          </a:p>
          <a:p>
            <a:pPr lvl="1"/>
            <a:r>
              <a:rPr lang="en-US" sz="1600" dirty="0"/>
              <a:t> Creates an absurdly-long horse name for “The Legend of Zelda: Twilight Princess” that includes a program</a:t>
            </a:r>
          </a:p>
        </p:txBody>
      </p:sp>
    </p:spTree>
    <p:extLst>
      <p:ext uri="{BB962C8B-B14F-4D97-AF65-F5344CB8AC3E}">
        <p14:creationId xmlns:p14="http://schemas.microsoft.com/office/powerpoint/2010/main" val="1705255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When Programming</a:t>
            </a:r>
          </a:p>
          <a:p>
            <a:pPr lvl="1"/>
            <a:r>
              <a:rPr lang="en-US" dirty="0"/>
              <a:t>Using security-enhanced APIs</a:t>
            </a:r>
          </a:p>
          <a:p>
            <a:r>
              <a:rPr lang="en-US" dirty="0"/>
              <a:t>When Compiling</a:t>
            </a:r>
          </a:p>
          <a:p>
            <a:pPr lvl="1"/>
            <a:r>
              <a:rPr lang="en-US" dirty="0"/>
              <a:t>Detecting bugs/vulnerabilities (automatically code auditing)</a:t>
            </a:r>
          </a:p>
          <a:p>
            <a:pPr lvl="1"/>
            <a:r>
              <a:rPr lang="en-US" dirty="0"/>
              <a:t>Instrumenting binaries</a:t>
            </a:r>
          </a:p>
          <a:p>
            <a:pPr lvl="2"/>
            <a:r>
              <a:rPr lang="en-US" dirty="0"/>
              <a:t>Adding boundaries</a:t>
            </a:r>
          </a:p>
          <a:p>
            <a:pPr lvl="2"/>
            <a:r>
              <a:rPr lang="en-US" dirty="0"/>
              <a:t>Adding flags to illustrate execution paths</a:t>
            </a:r>
          </a:p>
          <a:p>
            <a:r>
              <a:rPr lang="en-US" dirty="0"/>
              <a:t>When running</a:t>
            </a:r>
          </a:p>
          <a:p>
            <a:pPr lvl="1"/>
            <a:r>
              <a:rPr lang="en-US" dirty="0"/>
              <a:t>Interface-based detection</a:t>
            </a:r>
          </a:p>
          <a:p>
            <a:pPr lvl="1"/>
            <a:r>
              <a:rPr lang="en-US" dirty="0"/>
              <a:t>Taint-based detection</a:t>
            </a:r>
          </a:p>
          <a:p>
            <a:pPr lvl="1"/>
            <a:r>
              <a:rPr lang="en-US" dirty="0"/>
              <a:t>Moving target defense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336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 unsafe C lib functions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/>
              <a:t>	strcpy (char *dest,  const char *src)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/>
              <a:t>	strcat (char *dest, const char *src)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/>
              <a:t>	gets (char *s)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/>
              <a:t>	scanf ( const char *format, … )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/>
              <a:t>	sprintf (conts char *format, … )</a:t>
            </a:r>
          </a:p>
        </p:txBody>
      </p:sp>
      <p:sp>
        <p:nvSpPr>
          <p:cNvPr id="35847" name="Line 4"/>
          <p:cNvSpPr>
            <a:spLocks noChangeShapeType="1"/>
          </p:cNvSpPr>
          <p:nvPr/>
        </p:nvSpPr>
        <p:spPr bwMode="auto">
          <a:xfrm>
            <a:off x="3429000" y="4495800"/>
            <a:ext cx="0" cy="121920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285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23BED-7146-8B46-8CAB-7D32F07E2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with Secure APIs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2C1B9A-BEED-C74B-9E56-630CC76AE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585" y="1854200"/>
            <a:ext cx="4855277" cy="284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05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Off by one buffer overflow</a:t>
            </a:r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>
                <a:solidFill>
                  <a:srgbClr val="C00000"/>
                </a:solidFill>
              </a:rPr>
              <a:t>Boundary Check</a:t>
            </a:r>
          </a:p>
          <a:p>
            <a:pPr marL="0" indent="0" eaLnBrk="1" hangingPunct="1">
              <a:buNone/>
            </a:pPr>
            <a:endParaRPr lang="en-US" altLang="en-US" dirty="0"/>
          </a:p>
          <a:p>
            <a:pPr marL="0" indent="0" eaLnBrk="1" hangingPunct="1">
              <a:buNone/>
            </a:pPr>
            <a:r>
              <a:rPr lang="en-US" altLang="en-US" dirty="0"/>
              <a:t>Sample code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400" dirty="0"/>
              <a:t>  </a:t>
            </a:r>
            <a:r>
              <a:rPr lang="en-US" altLang="en-US" sz="2400" dirty="0" err="1"/>
              <a:t>func</a:t>
            </a:r>
            <a:r>
              <a:rPr lang="en-US" altLang="en-US" sz="2400" dirty="0"/>
              <a:t>  f(char *input) {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400" dirty="0"/>
              <a:t>	char </a:t>
            </a:r>
            <a:r>
              <a:rPr lang="en-US" altLang="en-US" sz="2400" dirty="0" err="1"/>
              <a:t>buf</a:t>
            </a:r>
            <a:r>
              <a:rPr lang="en-US" altLang="en-US" sz="2400" dirty="0"/>
              <a:t>[LEN];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400" dirty="0"/>
              <a:t>    if (</a:t>
            </a:r>
            <a:r>
              <a:rPr lang="en-US" altLang="en-US" sz="2400" dirty="0" err="1"/>
              <a:t>strlen</a:t>
            </a:r>
            <a:r>
              <a:rPr lang="en-US" altLang="en-US" sz="2400" dirty="0"/>
              <a:t>(input) &lt;= LEN) {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400" dirty="0"/>
              <a:t>       </a:t>
            </a:r>
            <a:r>
              <a:rPr lang="en-US" altLang="en-US" sz="2400" dirty="0" err="1"/>
              <a:t>strcpy</a:t>
            </a:r>
            <a:r>
              <a:rPr lang="en-US" altLang="en-US" sz="2400" dirty="0"/>
              <a:t>(</a:t>
            </a:r>
            <a:r>
              <a:rPr lang="en-US" altLang="en-US" sz="2400" dirty="0" err="1"/>
              <a:t>buf</a:t>
            </a:r>
            <a:r>
              <a:rPr lang="en-US" altLang="en-US" sz="2400" dirty="0"/>
              <a:t>, input)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400" dirty="0"/>
              <a:t>    }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400" dirty="0"/>
              <a:t>  }</a:t>
            </a: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en-US" sz="2400" dirty="0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en-US" sz="2400" dirty="0"/>
          </a:p>
          <a:p>
            <a:pPr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16640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914400"/>
          </a:xfrm>
        </p:spPr>
        <p:txBody>
          <a:bodyPr/>
          <a:lstStyle/>
          <a:p>
            <a:pPr eaLnBrk="1" hangingPunct="1"/>
            <a:r>
              <a:rPr lang="en-US" altLang="en-US"/>
              <a:t>Preventing Buffer Overflow Attacks</a:t>
            </a: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72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Use type safe languages (</a:t>
            </a:r>
            <a:r>
              <a:rPr lang="en-US" altLang="en-US" sz="2400" dirty="0"/>
              <a:t>Java, ML</a:t>
            </a:r>
            <a:r>
              <a:rPr lang="en-US" altLang="en-US" dirty="0"/>
              <a:t>).  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Use safe library functions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Static source code analysis.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Non-executable stack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Run time checking:  </a:t>
            </a:r>
            <a:r>
              <a:rPr lang="en-US" altLang="en-US" sz="2400" dirty="0" err="1"/>
              <a:t>StackGuard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Libsafe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SafeC</a:t>
            </a:r>
            <a:r>
              <a:rPr lang="en-US" altLang="en-US" sz="2400" dirty="0"/>
              <a:t>, (Purify).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Address space layout randomization.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Instruction Set Randomization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Detection deviation of program behavior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141813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Static source code analysis</a:t>
            </a: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SzPct val="80000"/>
            </a:pPr>
            <a:r>
              <a:rPr lang="en-US" altLang="en-US" sz="2400" dirty="0"/>
              <a:t>Statically check source code to detect buffer overflows.</a:t>
            </a:r>
            <a:r>
              <a:rPr lang="en-US" altLang="en-US" dirty="0"/>
              <a:t> </a:t>
            </a:r>
          </a:p>
          <a:p>
            <a:pPr marL="684213" lvl="1" indent="-227013" eaLnBrk="1" hangingPunct="1">
              <a:lnSpc>
                <a:spcPct val="90000"/>
              </a:lnSpc>
              <a:buSzPct val="80000"/>
            </a:pPr>
            <a:r>
              <a:rPr lang="en-US" altLang="en-US" dirty="0"/>
              <a:t>Berkeley:  Wagner, et al.  Test constraint violations.</a:t>
            </a:r>
          </a:p>
          <a:p>
            <a:pPr eaLnBrk="1" hangingPunct="1">
              <a:lnSpc>
                <a:spcPct val="90000"/>
              </a:lnSpc>
              <a:buSzPct val="80000"/>
            </a:pPr>
            <a:r>
              <a:rPr lang="en-US" altLang="en-US" sz="2400" dirty="0"/>
              <a:t>Find lots of bugs, but not all.</a:t>
            </a:r>
          </a:p>
        </p:txBody>
      </p:sp>
    </p:spTree>
    <p:extLst>
      <p:ext uri="{BB962C8B-B14F-4D97-AF65-F5344CB8AC3E}">
        <p14:creationId xmlns:p14="http://schemas.microsoft.com/office/powerpoint/2010/main" val="14504380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Marking stack as non-execute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05800" cy="472440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en-US" dirty="0"/>
              <a:t>Basic stack exploit can be prevented by marking </a:t>
            </a:r>
            <a:br>
              <a:rPr lang="en-US" altLang="en-US" dirty="0"/>
            </a:br>
            <a:r>
              <a:rPr lang="en-US" altLang="en-US" dirty="0"/>
              <a:t>stack segment as non-executable.</a:t>
            </a:r>
          </a:p>
          <a:p>
            <a:pPr lvl="1" eaLnBrk="1" hangingPunct="1"/>
            <a:r>
              <a:rPr lang="en-US" altLang="en-US" dirty="0"/>
              <a:t>Support in Windows SP2.  Code patches exist for Linux, Solaris.  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dirty="0"/>
              <a:t> Problems:</a:t>
            </a:r>
          </a:p>
          <a:p>
            <a:pPr lvl="1" eaLnBrk="1" hangingPunct="1"/>
            <a:r>
              <a:rPr lang="en-US" altLang="en-US" dirty="0"/>
              <a:t>Does not defend against `return-to-</a:t>
            </a:r>
            <a:r>
              <a:rPr lang="en-US" altLang="en-US" dirty="0" err="1"/>
              <a:t>libc</a:t>
            </a:r>
            <a:r>
              <a:rPr lang="en-US" altLang="en-US" dirty="0"/>
              <a:t>’ exploit.</a:t>
            </a:r>
          </a:p>
          <a:p>
            <a:pPr lvl="1" eaLnBrk="1" hangingPunct="1"/>
            <a:r>
              <a:rPr lang="en-US" altLang="en-US" dirty="0"/>
              <a:t>Some apps need executable stack (e.g. LISP interpreters).</a:t>
            </a:r>
          </a:p>
          <a:p>
            <a:pPr lvl="1" eaLnBrk="1" hangingPunct="1"/>
            <a:r>
              <a:rPr lang="en-US" altLang="en-US" dirty="0"/>
              <a:t>Does not block more general overflow exploits:</a:t>
            </a:r>
          </a:p>
          <a:p>
            <a:pPr lvl="2" eaLnBrk="1" hangingPunct="1"/>
            <a:r>
              <a:rPr lang="en-US" altLang="en-US" sz="2400" dirty="0"/>
              <a:t>Overflow on heap, overflow </a:t>
            </a:r>
            <a:r>
              <a:rPr lang="en-US" altLang="en-US" sz="2400" dirty="0" err="1"/>
              <a:t>func</a:t>
            </a:r>
            <a:r>
              <a:rPr lang="en-US" altLang="en-US" sz="2400" dirty="0"/>
              <a:t> pointer.</a:t>
            </a:r>
          </a:p>
        </p:txBody>
      </p:sp>
    </p:spTree>
    <p:extLst>
      <p:ext uri="{BB962C8B-B14F-4D97-AF65-F5344CB8AC3E}">
        <p14:creationId xmlns:p14="http://schemas.microsoft.com/office/powerpoint/2010/main" val="10984956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3386" y="28463"/>
            <a:ext cx="8737600" cy="914400"/>
          </a:xfrm>
        </p:spPr>
        <p:txBody>
          <a:bodyPr/>
          <a:lstStyle/>
          <a:p>
            <a:r>
              <a:rPr lang="en-US" altLang="en-US" dirty="0"/>
              <a:t>Run time checking: </a:t>
            </a:r>
            <a:r>
              <a:rPr lang="en-US" altLang="en-US" dirty="0" err="1"/>
              <a:t>StackGuard</a:t>
            </a:r>
            <a:endParaRPr lang="en-US" altLang="en-US" sz="2400" dirty="0"/>
          </a:p>
        </p:txBody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9451" y="782809"/>
            <a:ext cx="7680325" cy="3202677"/>
          </a:xfrm>
        </p:spPr>
        <p:txBody>
          <a:bodyPr>
            <a:normAutofit/>
          </a:bodyPr>
          <a:lstStyle/>
          <a:p>
            <a:r>
              <a:rPr lang="en-US" sz="2400" dirty="0" err="1"/>
              <a:t>StackGuard</a:t>
            </a:r>
            <a:r>
              <a:rPr lang="en-US" sz="2400" dirty="0"/>
              <a:t> prevents changes to active return addresses by either detecting the change of the return address before the function returns, or by completely preventing the write to the return address.</a:t>
            </a:r>
            <a:endParaRPr lang="en-US" altLang="en-US" sz="2400" dirty="0"/>
          </a:p>
          <a:p>
            <a:pPr>
              <a:spcBef>
                <a:spcPct val="100000"/>
              </a:spcBef>
            </a:pPr>
            <a:r>
              <a:rPr lang="en-US" altLang="en-US" sz="2400" dirty="0" err="1"/>
              <a:t>StackGuard</a:t>
            </a:r>
            <a:r>
              <a:rPr lang="en-US" altLang="en-US" sz="2400" dirty="0"/>
              <a:t> tests for stack integrity. </a:t>
            </a:r>
          </a:p>
          <a:p>
            <a:pPr lvl="1"/>
            <a:r>
              <a:rPr lang="en-US" altLang="en-US" sz="2400" dirty="0"/>
              <a:t>Embed “canaries” in stack frames and verify their integrity prior to function return.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28600" y="4366764"/>
            <a:ext cx="8842386" cy="1174750"/>
            <a:chOff x="228600" y="4921250"/>
            <a:chExt cx="8842386" cy="1174750"/>
          </a:xfrm>
        </p:grpSpPr>
        <p:sp>
          <p:nvSpPr>
            <p:cNvPr id="545797" name="Rectangle 5"/>
            <p:cNvSpPr>
              <a:spLocks noChangeArrowheads="1"/>
            </p:cNvSpPr>
            <p:nvPr/>
          </p:nvSpPr>
          <p:spPr bwMode="auto">
            <a:xfrm>
              <a:off x="7235825" y="5345390"/>
              <a:ext cx="571054" cy="3693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dirty="0" err="1">
                  <a:sym typeface="Symbol" panose="05050102010706020507" pitchFamily="18" charset="2"/>
                </a:rPr>
                <a:t>args</a:t>
              </a:r>
              <a:endParaRPr kumimoji="1" lang="en-US" altLang="en-US" sz="1800" dirty="0">
                <a:solidFill>
                  <a:schemeClr val="bg2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  <p:sp>
          <p:nvSpPr>
            <p:cNvPr id="545798" name="Rectangle 6"/>
            <p:cNvSpPr>
              <a:spLocks noChangeArrowheads="1"/>
            </p:cNvSpPr>
            <p:nvPr/>
          </p:nvSpPr>
          <p:spPr bwMode="auto">
            <a:xfrm>
              <a:off x="6762750" y="5341938"/>
              <a:ext cx="473075" cy="37623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sz="1800"/>
                <a:t>ret</a:t>
              </a:r>
              <a:endParaRPr kumimoji="1" lang="en-US" altLang="en-US" sz="1800">
                <a:solidFill>
                  <a:schemeClr val="bg2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  <p:sp>
          <p:nvSpPr>
            <p:cNvPr id="545799" name="Rectangle 7"/>
            <p:cNvSpPr>
              <a:spLocks noChangeArrowheads="1"/>
            </p:cNvSpPr>
            <p:nvPr/>
          </p:nvSpPr>
          <p:spPr bwMode="auto">
            <a:xfrm>
              <a:off x="6267450" y="5345390"/>
              <a:ext cx="540533" cy="3693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dirty="0" err="1">
                  <a:sym typeface="Symbol" panose="05050102010706020507" pitchFamily="18" charset="2"/>
                </a:rPr>
                <a:t>Ebp</a:t>
              </a:r>
              <a:endParaRPr kumimoji="1" lang="en-US" altLang="en-US" sz="1800" dirty="0">
                <a:solidFill>
                  <a:schemeClr val="bg2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  <p:sp>
          <p:nvSpPr>
            <p:cNvPr id="545800" name="Rectangle 8"/>
            <p:cNvSpPr>
              <a:spLocks noChangeArrowheads="1"/>
            </p:cNvSpPr>
            <p:nvPr/>
          </p:nvSpPr>
          <p:spPr bwMode="auto">
            <a:xfrm>
              <a:off x="4309614" y="5341938"/>
              <a:ext cx="937073" cy="37623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local</a:t>
              </a:r>
            </a:p>
          </p:txBody>
        </p:sp>
        <p:sp>
          <p:nvSpPr>
            <p:cNvPr id="545801" name="Line 9"/>
            <p:cNvSpPr>
              <a:spLocks noChangeShapeType="1"/>
            </p:cNvSpPr>
            <p:nvPr/>
          </p:nvSpPr>
          <p:spPr bwMode="auto">
            <a:xfrm flipV="1">
              <a:off x="7689850" y="5341938"/>
              <a:ext cx="341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5802" name="Line 10"/>
            <p:cNvSpPr>
              <a:spLocks noChangeShapeType="1"/>
            </p:cNvSpPr>
            <p:nvPr/>
          </p:nvSpPr>
          <p:spPr bwMode="auto">
            <a:xfrm flipV="1">
              <a:off x="7689850" y="5718175"/>
              <a:ext cx="341313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5805" name="Text Box 13"/>
            <p:cNvSpPr txBox="1">
              <a:spLocks noChangeArrowheads="1"/>
            </p:cNvSpPr>
            <p:nvPr/>
          </p:nvSpPr>
          <p:spPr bwMode="auto">
            <a:xfrm>
              <a:off x="8137525" y="5105400"/>
              <a:ext cx="933461" cy="541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dirty="0"/>
                <a:t>Higher </a:t>
              </a:r>
            </a:p>
            <a:p>
              <a:pPr>
                <a:lnSpc>
                  <a:spcPct val="80000"/>
                </a:lnSpc>
              </a:pPr>
              <a:r>
                <a:rPr lang="en-US" altLang="en-US" dirty="0"/>
                <a:t>Address</a:t>
              </a:r>
              <a:endParaRPr lang="en-US" altLang="en-US" sz="1800" dirty="0"/>
            </a:p>
          </p:txBody>
        </p:sp>
        <p:sp>
          <p:nvSpPr>
            <p:cNvPr id="545806" name="Line 14"/>
            <p:cNvSpPr>
              <a:spLocks noChangeShapeType="1"/>
            </p:cNvSpPr>
            <p:nvPr/>
          </p:nvSpPr>
          <p:spPr bwMode="auto">
            <a:xfrm flipH="1">
              <a:off x="676275" y="6096000"/>
              <a:ext cx="70135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5807" name="Line 15"/>
            <p:cNvSpPr>
              <a:spLocks noChangeShapeType="1"/>
            </p:cNvSpPr>
            <p:nvPr/>
          </p:nvSpPr>
          <p:spPr bwMode="auto">
            <a:xfrm>
              <a:off x="7806879" y="5105400"/>
              <a:ext cx="0" cy="7493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5809" name="Rectangle 17"/>
            <p:cNvSpPr>
              <a:spLocks noChangeArrowheads="1"/>
            </p:cNvSpPr>
            <p:nvPr/>
          </p:nvSpPr>
          <p:spPr bwMode="auto">
            <a:xfrm>
              <a:off x="5246688" y="5341938"/>
              <a:ext cx="1020762" cy="376237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dirty="0"/>
                <a:t>canary</a:t>
              </a:r>
            </a:p>
          </p:txBody>
        </p:sp>
        <p:sp>
          <p:nvSpPr>
            <p:cNvPr id="545810" name="Rectangle 18"/>
            <p:cNvSpPr>
              <a:spLocks noChangeArrowheads="1"/>
            </p:cNvSpPr>
            <p:nvPr/>
          </p:nvSpPr>
          <p:spPr bwMode="auto">
            <a:xfrm>
              <a:off x="3703638" y="5345390"/>
              <a:ext cx="571054" cy="3693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dirty="0" err="1">
                  <a:sym typeface="Symbol" panose="05050102010706020507" pitchFamily="18" charset="2"/>
                </a:rPr>
                <a:t>args</a:t>
              </a:r>
              <a:endParaRPr kumimoji="1" lang="en-US" altLang="en-US" sz="1800" dirty="0">
                <a:solidFill>
                  <a:schemeClr val="bg2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  <p:sp>
          <p:nvSpPr>
            <p:cNvPr id="545811" name="Rectangle 19"/>
            <p:cNvSpPr>
              <a:spLocks noChangeArrowheads="1"/>
            </p:cNvSpPr>
            <p:nvPr/>
          </p:nvSpPr>
          <p:spPr bwMode="auto">
            <a:xfrm>
              <a:off x="3230563" y="5341938"/>
              <a:ext cx="473075" cy="37623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sz="1800"/>
                <a:t>ret</a:t>
              </a:r>
              <a:endParaRPr kumimoji="1" lang="en-US" altLang="en-US" sz="1800">
                <a:solidFill>
                  <a:schemeClr val="bg2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  <p:sp>
          <p:nvSpPr>
            <p:cNvPr id="545812" name="Rectangle 20"/>
            <p:cNvSpPr>
              <a:spLocks noChangeArrowheads="1"/>
            </p:cNvSpPr>
            <p:nvPr/>
          </p:nvSpPr>
          <p:spPr bwMode="auto">
            <a:xfrm>
              <a:off x="2735263" y="5345390"/>
              <a:ext cx="540533" cy="3693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dirty="0" err="1">
                  <a:sym typeface="Symbol" panose="05050102010706020507" pitchFamily="18" charset="2"/>
                </a:rPr>
                <a:t>Ebp</a:t>
              </a:r>
              <a:endParaRPr kumimoji="1" lang="en-US" altLang="en-US" sz="1800" dirty="0">
                <a:solidFill>
                  <a:schemeClr val="bg2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</p:txBody>
        </p:sp>
        <p:sp>
          <p:nvSpPr>
            <p:cNvPr id="545813" name="Rectangle 21"/>
            <p:cNvSpPr>
              <a:spLocks noChangeArrowheads="1"/>
            </p:cNvSpPr>
            <p:nvPr/>
          </p:nvSpPr>
          <p:spPr bwMode="auto">
            <a:xfrm>
              <a:off x="676275" y="5346700"/>
              <a:ext cx="1047750" cy="3762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local</a:t>
              </a:r>
            </a:p>
          </p:txBody>
        </p:sp>
        <p:sp>
          <p:nvSpPr>
            <p:cNvPr id="545814" name="Line 22"/>
            <p:cNvSpPr>
              <a:spLocks noChangeShapeType="1"/>
            </p:cNvSpPr>
            <p:nvPr/>
          </p:nvSpPr>
          <p:spPr bwMode="auto">
            <a:xfrm>
              <a:off x="4294685" y="5105400"/>
              <a:ext cx="0" cy="7493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5815" name="Rectangle 23"/>
            <p:cNvSpPr>
              <a:spLocks noChangeArrowheads="1"/>
            </p:cNvSpPr>
            <p:nvPr/>
          </p:nvSpPr>
          <p:spPr bwMode="auto">
            <a:xfrm>
              <a:off x="1714500" y="5346700"/>
              <a:ext cx="1020763" cy="37147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/>
                <a:t>canary</a:t>
              </a:r>
            </a:p>
          </p:txBody>
        </p:sp>
        <p:sp>
          <p:nvSpPr>
            <p:cNvPr id="545817" name="Line 25"/>
            <p:cNvSpPr>
              <a:spLocks noChangeShapeType="1"/>
            </p:cNvSpPr>
            <p:nvPr/>
          </p:nvSpPr>
          <p:spPr bwMode="auto">
            <a:xfrm flipH="1" flipV="1">
              <a:off x="228600" y="5718175"/>
              <a:ext cx="447675" cy="4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5818" name="Line 26"/>
            <p:cNvSpPr>
              <a:spLocks noChangeShapeType="1"/>
            </p:cNvSpPr>
            <p:nvPr/>
          </p:nvSpPr>
          <p:spPr bwMode="auto">
            <a:xfrm flipH="1" flipV="1">
              <a:off x="228600" y="5341938"/>
              <a:ext cx="4524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5819" name="Text Box 27"/>
            <p:cNvSpPr txBox="1">
              <a:spLocks noChangeArrowheads="1"/>
            </p:cNvSpPr>
            <p:nvPr/>
          </p:nvSpPr>
          <p:spPr bwMode="auto">
            <a:xfrm>
              <a:off x="5486400" y="4921250"/>
              <a:ext cx="1016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/>
                <a:t>Frame 1</a:t>
              </a:r>
            </a:p>
          </p:txBody>
        </p:sp>
        <p:sp>
          <p:nvSpPr>
            <p:cNvPr id="545820" name="Text Box 28"/>
            <p:cNvSpPr txBox="1">
              <a:spLocks noChangeArrowheads="1"/>
            </p:cNvSpPr>
            <p:nvPr/>
          </p:nvSpPr>
          <p:spPr bwMode="auto">
            <a:xfrm>
              <a:off x="2227263" y="4921250"/>
              <a:ext cx="1016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/>
                <a:t>Frame 2</a:t>
              </a:r>
            </a:p>
          </p:txBody>
        </p:sp>
        <p:sp>
          <p:nvSpPr>
            <p:cNvPr id="545821" name="Line 29"/>
            <p:cNvSpPr>
              <a:spLocks noChangeShapeType="1"/>
            </p:cNvSpPr>
            <p:nvPr/>
          </p:nvSpPr>
          <p:spPr bwMode="auto">
            <a:xfrm>
              <a:off x="681038" y="5105400"/>
              <a:ext cx="0" cy="7493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97642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Canary Types</a:t>
            </a: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78800" cy="4800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tabLst>
                <a:tab pos="1146175" algn="l"/>
              </a:tabLst>
            </a:pPr>
            <a:r>
              <a:rPr lang="en-US" altLang="en-US" sz="2400" u="sng" dirty="0"/>
              <a:t>Random canary:</a:t>
            </a:r>
            <a:endParaRPr lang="en-US" altLang="en-US" sz="1800" dirty="0"/>
          </a:p>
          <a:p>
            <a:pPr lvl="1" eaLnBrk="1" hangingPunct="1">
              <a:lnSpc>
                <a:spcPct val="90000"/>
              </a:lnSpc>
              <a:tabLst>
                <a:tab pos="1146175" algn="l"/>
              </a:tabLst>
            </a:pPr>
            <a:r>
              <a:rPr lang="en-US" altLang="en-US" dirty="0"/>
              <a:t>Choose random string at program startup.</a:t>
            </a:r>
          </a:p>
          <a:p>
            <a:pPr lvl="1" eaLnBrk="1" hangingPunct="1">
              <a:lnSpc>
                <a:spcPct val="90000"/>
              </a:lnSpc>
              <a:tabLst>
                <a:tab pos="1146175" algn="l"/>
              </a:tabLst>
            </a:pPr>
            <a:r>
              <a:rPr lang="en-US" altLang="en-US" dirty="0"/>
              <a:t>Insert canary string into every stack frame.</a:t>
            </a:r>
          </a:p>
          <a:p>
            <a:pPr lvl="1" eaLnBrk="1" hangingPunct="1">
              <a:lnSpc>
                <a:spcPct val="90000"/>
              </a:lnSpc>
              <a:tabLst>
                <a:tab pos="1146175" algn="l"/>
              </a:tabLst>
            </a:pPr>
            <a:r>
              <a:rPr lang="en-US" altLang="en-US" dirty="0"/>
              <a:t>Verify canary before returning from function.</a:t>
            </a:r>
          </a:p>
          <a:p>
            <a:pPr lvl="1" eaLnBrk="1" hangingPunct="1">
              <a:lnSpc>
                <a:spcPct val="90000"/>
              </a:lnSpc>
              <a:tabLst>
                <a:tab pos="1146175" algn="l"/>
              </a:tabLst>
            </a:pPr>
            <a:r>
              <a:rPr lang="en-US" altLang="en-US" dirty="0"/>
              <a:t>To corrupt random canary, attacker must learn current random string.</a:t>
            </a:r>
          </a:p>
          <a:p>
            <a:pPr eaLnBrk="1" hangingPunct="1">
              <a:lnSpc>
                <a:spcPct val="90000"/>
              </a:lnSpc>
              <a:spcBef>
                <a:spcPct val="70000"/>
              </a:spcBef>
              <a:tabLst>
                <a:tab pos="1146175" algn="l"/>
              </a:tabLst>
            </a:pPr>
            <a:r>
              <a:rPr lang="en-US" altLang="en-US" sz="2400" u="sng" dirty="0"/>
              <a:t>Terminator canary:</a:t>
            </a:r>
            <a:br>
              <a:rPr lang="en-US" altLang="en-US" sz="2400" u="sng" dirty="0"/>
            </a:br>
            <a:r>
              <a:rPr lang="en-US" altLang="en-US" dirty="0"/>
              <a:t>	</a:t>
            </a:r>
            <a:r>
              <a:rPr lang="en-US" altLang="en-US" sz="2400" dirty="0"/>
              <a:t>Canary =  0, newline, linefeed, EOF</a:t>
            </a:r>
          </a:p>
          <a:p>
            <a:pPr lvl="1" eaLnBrk="1" hangingPunct="1">
              <a:lnSpc>
                <a:spcPct val="90000"/>
              </a:lnSpc>
              <a:tabLst>
                <a:tab pos="1146175" algn="l"/>
              </a:tabLst>
            </a:pPr>
            <a:r>
              <a:rPr lang="en-US" altLang="en-US" dirty="0"/>
              <a:t>String functions will not copy beyond terminator.</a:t>
            </a:r>
          </a:p>
          <a:p>
            <a:pPr lvl="1" eaLnBrk="1" hangingPunct="1">
              <a:lnSpc>
                <a:spcPct val="90000"/>
              </a:lnSpc>
              <a:tabLst>
                <a:tab pos="1146175" algn="l"/>
              </a:tabLst>
            </a:pPr>
            <a:r>
              <a:rPr lang="en-US" altLang="en-US" dirty="0"/>
              <a:t>Hence, attacker cannot use string functions to corrupt stack.	</a:t>
            </a:r>
          </a:p>
        </p:txBody>
      </p:sp>
    </p:spTree>
    <p:extLst>
      <p:ext uri="{BB962C8B-B14F-4D97-AF65-F5344CB8AC3E}">
        <p14:creationId xmlns:p14="http://schemas.microsoft.com/office/powerpoint/2010/main" val="24031232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StackGuard (Cont.)</a:t>
            </a:r>
          </a:p>
        </p:txBody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78800" cy="4876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 dirty="0" err="1"/>
              <a:t>StackGuard</a:t>
            </a:r>
            <a:r>
              <a:rPr lang="en-US" altLang="en-US" sz="2400" dirty="0"/>
              <a:t> implemented as a GCC patch.</a:t>
            </a:r>
          </a:p>
          <a:p>
            <a:pPr lvl="1"/>
            <a:r>
              <a:rPr lang="en-US" altLang="en-US" sz="2000" dirty="0"/>
              <a:t>Program must be recompiled.</a:t>
            </a:r>
          </a:p>
          <a:p>
            <a:pPr lvl="1" eaLnBrk="1" hangingPunct="1"/>
            <a:r>
              <a:rPr lang="en-US" altLang="en-US" sz="2000" dirty="0"/>
              <a:t>Minimal performance effects:</a:t>
            </a:r>
            <a:r>
              <a:rPr lang="en-US" altLang="en-US" dirty="0"/>
              <a:t>   </a:t>
            </a:r>
            <a:r>
              <a:rPr lang="en-US" altLang="en-US" sz="1600" dirty="0"/>
              <a:t>8% for Apache.</a:t>
            </a:r>
          </a:p>
          <a:p>
            <a:pPr eaLnBrk="1" hangingPunct="1"/>
            <a:r>
              <a:rPr lang="en-US" altLang="en-US" sz="2400" dirty="0"/>
              <a:t>Newer version:  </a:t>
            </a:r>
            <a:r>
              <a:rPr lang="en-US" altLang="en-US" sz="2400" dirty="0" err="1"/>
              <a:t>PointGuard</a:t>
            </a:r>
            <a:r>
              <a:rPr lang="en-US" altLang="en-US" dirty="0"/>
              <a:t>.</a:t>
            </a:r>
          </a:p>
          <a:p>
            <a:pPr lvl="1" eaLnBrk="1" hangingPunct="1"/>
            <a:r>
              <a:rPr lang="en-US" altLang="en-US" sz="2000" dirty="0"/>
              <a:t>Protects function pointers and </a:t>
            </a:r>
            <a:r>
              <a:rPr lang="en-US" altLang="en-US" sz="2000" dirty="0" err="1"/>
              <a:t>setjmp</a:t>
            </a:r>
            <a:r>
              <a:rPr lang="en-US" altLang="en-US" sz="2000" dirty="0"/>
              <a:t> buffers by placing canaries next to them.</a:t>
            </a:r>
          </a:p>
          <a:p>
            <a:pPr lvl="1" eaLnBrk="1" hangingPunct="1"/>
            <a:r>
              <a:rPr lang="en-US" altLang="en-US" sz="2000" dirty="0"/>
              <a:t>More noticeable performance effects.</a:t>
            </a:r>
          </a:p>
          <a:p>
            <a:pPr lvl="1" eaLnBrk="1" hangingPunct="1"/>
            <a:endParaRPr lang="en-US" altLang="en-US" sz="2000" dirty="0"/>
          </a:p>
          <a:p>
            <a:pPr eaLnBrk="1" hangingPunct="1"/>
            <a:r>
              <a:rPr lang="en-US" altLang="en-US" sz="2400" dirty="0"/>
              <a:t>Note: Canaries don’t offer </a:t>
            </a:r>
            <a:r>
              <a:rPr lang="en-US" altLang="en-US" sz="2400" dirty="0" err="1"/>
              <a:t>fullproof</a:t>
            </a:r>
            <a:r>
              <a:rPr lang="en-US" altLang="en-US" sz="2400" dirty="0"/>
              <a:t> protection.</a:t>
            </a:r>
          </a:p>
          <a:p>
            <a:pPr lvl="1" eaLnBrk="1" hangingPunct="1"/>
            <a:r>
              <a:rPr lang="en-US" altLang="en-US" sz="2000" dirty="0"/>
              <a:t>Some stack smashing attacks can leave canaries untouched.</a:t>
            </a:r>
          </a:p>
          <a:p>
            <a:pPr lvl="1" eaLnBrk="1" hangingPunct="1"/>
            <a:endParaRPr lang="en-US" altLang="en-US" sz="2000" dirty="0"/>
          </a:p>
          <a:p>
            <a:r>
              <a:rPr lang="en-US" sz="2400" dirty="0"/>
              <a:t>Preventing Return Address Changes With </a:t>
            </a:r>
            <a:r>
              <a:rPr lang="en-US" sz="2400" dirty="0" err="1"/>
              <a:t>MemGuard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196361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StackGuard (Cont.)</a:t>
            </a:r>
          </a:p>
        </p:txBody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78800" cy="4876800"/>
          </a:xfrm>
        </p:spPr>
        <p:txBody>
          <a:bodyPr/>
          <a:lstStyle/>
          <a:p>
            <a:pPr eaLnBrk="1" hangingPunct="1"/>
            <a:r>
              <a:rPr lang="en-US" altLang="en-US" sz="2400" dirty="0" err="1"/>
              <a:t>StackGuard</a:t>
            </a:r>
            <a:r>
              <a:rPr lang="en-US" altLang="en-US" sz="2400" dirty="0"/>
              <a:t> implemented as a GCC patch.</a:t>
            </a:r>
          </a:p>
          <a:p>
            <a:pPr lvl="1" eaLnBrk="1" hangingPunct="1"/>
            <a:r>
              <a:rPr lang="en-US" altLang="en-US" dirty="0"/>
              <a:t>Program must be recompiled.</a:t>
            </a:r>
          </a:p>
          <a:p>
            <a:pPr lvl="1" eaLnBrk="1" hangingPunct="1"/>
            <a:r>
              <a:rPr lang="en-US" altLang="en-US" sz="2000" dirty="0"/>
              <a:t>Minimal performance effects:</a:t>
            </a:r>
            <a:r>
              <a:rPr lang="en-US" altLang="en-US" dirty="0"/>
              <a:t>   </a:t>
            </a:r>
            <a:r>
              <a:rPr lang="en-US" altLang="en-US" sz="1600" dirty="0"/>
              <a:t>8% for Apache.</a:t>
            </a:r>
          </a:p>
          <a:p>
            <a:pPr eaLnBrk="1" hangingPunct="1"/>
            <a:r>
              <a:rPr lang="en-US" altLang="en-US" sz="2400" dirty="0"/>
              <a:t>Newer version:  </a:t>
            </a:r>
            <a:r>
              <a:rPr lang="en-US" altLang="en-US" sz="2400" dirty="0" err="1"/>
              <a:t>PointGuard</a:t>
            </a:r>
            <a:r>
              <a:rPr lang="en-US" altLang="en-US" dirty="0"/>
              <a:t>.</a:t>
            </a:r>
          </a:p>
          <a:p>
            <a:pPr lvl="1" eaLnBrk="1" hangingPunct="1"/>
            <a:r>
              <a:rPr lang="en-US" altLang="en-US" dirty="0"/>
              <a:t>Protects function pointers and </a:t>
            </a:r>
            <a:r>
              <a:rPr lang="en-US" altLang="en-US" dirty="0" err="1"/>
              <a:t>setjmp</a:t>
            </a:r>
            <a:r>
              <a:rPr lang="en-US" altLang="en-US" dirty="0"/>
              <a:t> buffers by placing canaries next to them.</a:t>
            </a:r>
          </a:p>
          <a:p>
            <a:pPr lvl="1" eaLnBrk="1" hangingPunct="1"/>
            <a:r>
              <a:rPr lang="en-US" altLang="en-US" dirty="0"/>
              <a:t>More noticeable performance effects.</a:t>
            </a:r>
          </a:p>
          <a:p>
            <a:pPr lvl="1" eaLnBrk="1" hangingPunct="1"/>
            <a:endParaRPr lang="en-US" altLang="en-US" dirty="0"/>
          </a:p>
          <a:p>
            <a:pPr eaLnBrk="1" hangingPunct="1"/>
            <a:r>
              <a:rPr lang="en-US" altLang="en-US" sz="2400" dirty="0"/>
              <a:t>Note: Canaries don’t offer </a:t>
            </a:r>
            <a:r>
              <a:rPr lang="en-US" altLang="en-US" sz="2400" dirty="0" err="1"/>
              <a:t>fullproof</a:t>
            </a:r>
            <a:r>
              <a:rPr lang="en-US" altLang="en-US" sz="2400" dirty="0"/>
              <a:t> protection.</a:t>
            </a:r>
          </a:p>
          <a:p>
            <a:pPr lvl="1" eaLnBrk="1" hangingPunct="1"/>
            <a:r>
              <a:rPr lang="en-US" altLang="en-US" sz="2000" dirty="0"/>
              <a:t>Some stack smashing attacks can leave canaries untouched.</a:t>
            </a:r>
          </a:p>
        </p:txBody>
      </p:sp>
    </p:spTree>
    <p:extLst>
      <p:ext uri="{BB962C8B-B14F-4D97-AF65-F5344CB8AC3E}">
        <p14:creationId xmlns:p14="http://schemas.microsoft.com/office/powerpoint/2010/main" val="9890480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>
          <a:xfrm>
            <a:off x="360363" y="493713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Randomization: Motivations.</a:t>
            </a:r>
          </a:p>
        </p:txBody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510540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en-US" dirty="0"/>
              <a:t>Buffer overflow and </a:t>
            </a:r>
            <a:r>
              <a:rPr lang="en-US" altLang="en-US" dirty="0">
                <a:solidFill>
                  <a:schemeClr val="accent2"/>
                </a:solidFill>
              </a:rPr>
              <a:t>return-to-</a:t>
            </a:r>
            <a:r>
              <a:rPr lang="en-US" altLang="en-US" dirty="0" err="1">
                <a:solidFill>
                  <a:schemeClr val="accent2"/>
                </a:solidFill>
              </a:rPr>
              <a:t>libc</a:t>
            </a:r>
            <a:r>
              <a:rPr lang="en-US" altLang="en-US" dirty="0"/>
              <a:t> exploits need to know the (virtual) address to which pass control</a:t>
            </a:r>
          </a:p>
          <a:p>
            <a:pPr lvl="1" eaLnBrk="1" hangingPunct="1"/>
            <a:r>
              <a:rPr lang="en-US" altLang="en-US" dirty="0"/>
              <a:t>Address of attack code in the buffer</a:t>
            </a:r>
          </a:p>
          <a:p>
            <a:pPr lvl="1" eaLnBrk="1" hangingPunct="1"/>
            <a:r>
              <a:rPr lang="en-US" altLang="en-US" dirty="0"/>
              <a:t>Address of a standard kernel library routine</a:t>
            </a:r>
          </a:p>
          <a:p>
            <a:pPr eaLnBrk="1" hangingPunct="1"/>
            <a:r>
              <a:rPr lang="en-US" altLang="en-US" dirty="0"/>
              <a:t>Same address is used on many machines</a:t>
            </a:r>
          </a:p>
          <a:p>
            <a:pPr lvl="1" eaLnBrk="1" hangingPunct="1"/>
            <a:r>
              <a:rPr lang="en-US" altLang="en-US" dirty="0"/>
              <a:t>Slammer infected 75,000 MS-SQL servers using same code on every machine</a:t>
            </a:r>
          </a:p>
          <a:p>
            <a:pPr eaLnBrk="1" hangingPunct="1"/>
            <a:r>
              <a:rPr lang="en-US" altLang="en-US" dirty="0"/>
              <a:t>Idea: introduce </a:t>
            </a:r>
            <a:r>
              <a:rPr lang="en-US" altLang="en-US" dirty="0">
                <a:solidFill>
                  <a:srgbClr val="0000FF"/>
                </a:solidFill>
              </a:rPr>
              <a:t>artificial diversity</a:t>
            </a:r>
            <a:r>
              <a:rPr lang="en-US" altLang="en-US" sz="3200" dirty="0"/>
              <a:t> </a:t>
            </a:r>
          </a:p>
          <a:p>
            <a:pPr lvl="1" eaLnBrk="1" hangingPunct="1"/>
            <a:r>
              <a:rPr lang="en-US" altLang="en-US" dirty="0"/>
              <a:t>Make stack addresses, addresses of library routines, etc. unpredictable and different from machine to machine</a:t>
            </a:r>
          </a:p>
        </p:txBody>
      </p:sp>
    </p:spTree>
    <p:extLst>
      <p:ext uri="{BB962C8B-B14F-4D97-AF65-F5344CB8AC3E}">
        <p14:creationId xmlns:p14="http://schemas.microsoft.com/office/powerpoint/2010/main" val="5706274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Address Space Layout Randomization</a:t>
            </a:r>
          </a:p>
        </p:txBody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4572000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sz="2400" dirty="0">
                <a:solidFill>
                  <a:srgbClr val="C00000"/>
                </a:solidFill>
              </a:rPr>
              <a:t>Address space layout randomization (ASLR) proposes a defense against BOF attacks by shifting the starting addresses of a process’s text and data segments each time it is run.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Arranging the positions of key data areas randomly in a process' address space. </a:t>
            </a:r>
          </a:p>
          <a:p>
            <a:pPr lvl="1" eaLnBrk="1" hangingPunct="1"/>
            <a:r>
              <a:rPr lang="en-US" altLang="en-US" sz="2000" dirty="0"/>
              <a:t>e.g., the base of the executable and position of libraries (</a:t>
            </a:r>
            <a:r>
              <a:rPr lang="en-US" altLang="en-US" sz="2000" dirty="0" err="1"/>
              <a:t>libc</a:t>
            </a:r>
            <a:r>
              <a:rPr lang="en-US" altLang="en-US" sz="2000" dirty="0"/>
              <a:t>), heap, and stack,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dirty="0"/>
              <a:t>Effects: for return to </a:t>
            </a:r>
            <a:r>
              <a:rPr lang="en-US" altLang="en-US" sz="2000" dirty="0" err="1"/>
              <a:t>libc</a:t>
            </a:r>
            <a:r>
              <a:rPr lang="en-US" altLang="en-US" sz="2000" dirty="0"/>
              <a:t>, needs to know address of the key functions.</a:t>
            </a:r>
          </a:p>
          <a:p>
            <a:pPr lvl="1" eaLnBrk="1" hangingPunct="1"/>
            <a:r>
              <a:rPr lang="en-US" altLang="en-US" sz="2000" dirty="0"/>
              <a:t>Attacks:</a:t>
            </a:r>
          </a:p>
          <a:p>
            <a:pPr lvl="2" eaLnBrk="1" hangingPunct="1"/>
            <a:r>
              <a:rPr lang="en-US" altLang="en-US" dirty="0"/>
              <a:t>Repetitively guess randomized address</a:t>
            </a:r>
          </a:p>
          <a:p>
            <a:pPr lvl="2" eaLnBrk="1" hangingPunct="1"/>
            <a:r>
              <a:rPr lang="en-US" altLang="en-US" dirty="0"/>
              <a:t>Spraying injected attack code</a:t>
            </a:r>
          </a:p>
          <a:p>
            <a:pPr eaLnBrk="1" hangingPunct="1"/>
            <a:r>
              <a:rPr lang="en-US" altLang="en-US" sz="2500" dirty="0"/>
              <a:t>Vista has this enabled, software packages available for Linux and other UNIX variants</a:t>
            </a:r>
          </a:p>
        </p:txBody>
      </p:sp>
    </p:spTree>
    <p:extLst>
      <p:ext uri="{BB962C8B-B14F-4D97-AF65-F5344CB8AC3E}">
        <p14:creationId xmlns:p14="http://schemas.microsoft.com/office/powerpoint/2010/main" val="5066200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Instruction Set Randomization</a:t>
            </a:r>
          </a:p>
        </p:txBody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44958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en-US" dirty="0"/>
              <a:t>Instruction Set Randomization (ISR)</a:t>
            </a:r>
          </a:p>
          <a:p>
            <a:pPr lvl="1" eaLnBrk="1" hangingPunct="1"/>
            <a:r>
              <a:rPr lang="en-US" altLang="en-US" dirty="0"/>
              <a:t>Each program has a </a:t>
            </a:r>
            <a:r>
              <a:rPr lang="en-US" altLang="en-US" i="1" dirty="0"/>
              <a:t>different</a:t>
            </a:r>
            <a:r>
              <a:rPr lang="en-US" altLang="en-US" dirty="0"/>
              <a:t> and </a:t>
            </a:r>
            <a:r>
              <a:rPr lang="en-US" altLang="en-US" i="1" dirty="0"/>
              <a:t>secret</a:t>
            </a:r>
            <a:r>
              <a:rPr lang="en-US" altLang="en-US" dirty="0"/>
              <a:t> instruction set</a:t>
            </a:r>
          </a:p>
          <a:p>
            <a:pPr lvl="1" eaLnBrk="1" hangingPunct="1"/>
            <a:r>
              <a:rPr lang="en-US" altLang="en-US" dirty="0"/>
              <a:t>Use translator to randomize instructions at load-time</a:t>
            </a:r>
            <a:endParaRPr lang="en-US" altLang="en-US" dirty="0">
              <a:solidFill>
                <a:schemeClr val="bg2"/>
              </a:solidFill>
            </a:endParaRPr>
          </a:p>
          <a:p>
            <a:pPr lvl="1" eaLnBrk="1" hangingPunct="1"/>
            <a:r>
              <a:rPr lang="en-US" altLang="en-US" dirty="0">
                <a:solidFill>
                  <a:srgbClr val="C00000"/>
                </a:solidFill>
              </a:rPr>
              <a:t>Attacker cannot execute its own code.</a:t>
            </a:r>
          </a:p>
          <a:p>
            <a:pPr eaLnBrk="1" hangingPunct="1"/>
            <a:r>
              <a:rPr lang="en-US" altLang="en-US" dirty="0"/>
              <a:t>What constitutes instruction set depends on the environment.</a:t>
            </a:r>
          </a:p>
          <a:p>
            <a:pPr lvl="1" eaLnBrk="1" hangingPunct="1"/>
            <a:r>
              <a:rPr lang="en-US" altLang="en-US" dirty="0"/>
              <a:t>for binary code, it is CPU instruction</a:t>
            </a:r>
          </a:p>
          <a:p>
            <a:pPr lvl="1" eaLnBrk="1" hangingPunct="1"/>
            <a:r>
              <a:rPr lang="en-US" altLang="en-US" dirty="0"/>
              <a:t>for interpreted program, it depends on the interpreter</a:t>
            </a:r>
          </a:p>
          <a:p>
            <a:pPr lvl="1" eaLnBrk="1" hangingPunct="1"/>
            <a:endParaRPr lang="en-US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2662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Instruction Set Randomization</a:t>
            </a:r>
          </a:p>
        </p:txBody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An implementation for x86 using the </a:t>
            </a:r>
            <a:r>
              <a:rPr lang="en-US" altLang="en-US" dirty="0" err="1"/>
              <a:t>Bochs</a:t>
            </a:r>
            <a:r>
              <a:rPr lang="en-US" altLang="en-US" dirty="0"/>
              <a:t> emulator</a:t>
            </a:r>
          </a:p>
          <a:p>
            <a:pPr lvl="1" eaLnBrk="1" hangingPunct="1"/>
            <a:r>
              <a:rPr lang="en-US" altLang="en-US" dirty="0"/>
              <a:t>network intensive applications doesn’t have too much performance overhead</a:t>
            </a:r>
          </a:p>
          <a:p>
            <a:pPr lvl="1" eaLnBrk="1" hangingPunct="1"/>
            <a:r>
              <a:rPr lang="en-US" altLang="en-US" dirty="0"/>
              <a:t>CPU intensive applications have one to two orders of slow-down</a:t>
            </a:r>
            <a:endParaRPr lang="en-US" altLang="en-US" dirty="0">
              <a:solidFill>
                <a:schemeClr val="bg2"/>
              </a:solidFill>
            </a:endParaRPr>
          </a:p>
          <a:p>
            <a:pPr eaLnBrk="1" hangingPunct="1"/>
            <a:r>
              <a:rPr lang="en-US" altLang="en-US" dirty="0"/>
              <a:t>Not yet used in practice</a:t>
            </a:r>
          </a:p>
        </p:txBody>
      </p:sp>
    </p:spTree>
    <p:extLst>
      <p:ext uri="{BB962C8B-B14F-4D97-AF65-F5344CB8AC3E}">
        <p14:creationId xmlns:p14="http://schemas.microsoft.com/office/powerpoint/2010/main" val="25886706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Set Randomization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17" y="2419077"/>
            <a:ext cx="2376039" cy="4642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Instruction</a:t>
            </a:r>
          </a:p>
        </p:txBody>
      </p:sp>
      <p:sp>
        <p:nvSpPr>
          <p:cNvPr id="5" name="Oval 4"/>
          <p:cNvSpPr/>
          <p:nvPr/>
        </p:nvSpPr>
        <p:spPr>
          <a:xfrm>
            <a:off x="1406508" y="4164639"/>
            <a:ext cx="1146983" cy="114698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CPU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17" y="1916063"/>
            <a:ext cx="2376039" cy="46425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Injected Instruction</a:t>
            </a:r>
          </a:p>
        </p:txBody>
      </p:sp>
      <p:sp>
        <p:nvSpPr>
          <p:cNvPr id="7" name="Oval 6"/>
          <p:cNvSpPr/>
          <p:nvPr/>
        </p:nvSpPr>
        <p:spPr>
          <a:xfrm>
            <a:off x="5259522" y="4155393"/>
            <a:ext cx="1146983" cy="114698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CPU</a:t>
            </a:r>
          </a:p>
        </p:txBody>
      </p:sp>
      <p:sp>
        <p:nvSpPr>
          <p:cNvPr id="8" name="Rectangle 7"/>
          <p:cNvSpPr/>
          <p:nvPr/>
        </p:nvSpPr>
        <p:spPr>
          <a:xfrm>
            <a:off x="4658616" y="2380317"/>
            <a:ext cx="2376039" cy="4642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8759" y="3311020"/>
            <a:ext cx="1240521" cy="4642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KEY</a:t>
            </a:r>
          </a:p>
        </p:txBody>
      </p:sp>
      <p:cxnSp>
        <p:nvCxnSpPr>
          <p:cNvPr id="11" name="Straight Arrow Connector 10"/>
          <p:cNvCxnSpPr>
            <a:stCxn id="8" idx="2"/>
            <a:endCxn id="12" idx="0"/>
          </p:cNvCxnSpPr>
          <p:nvPr/>
        </p:nvCxnSpPr>
        <p:spPr>
          <a:xfrm>
            <a:off x="5846636" y="2844571"/>
            <a:ext cx="0" cy="4801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226375" y="3324673"/>
            <a:ext cx="1240521" cy="4642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decrypt</a:t>
            </a:r>
          </a:p>
        </p:txBody>
      </p:sp>
      <p:cxnSp>
        <p:nvCxnSpPr>
          <p:cNvPr id="13" name="Straight Arrow Connector 12"/>
          <p:cNvCxnSpPr>
            <a:stCxn id="9" idx="1"/>
            <a:endCxn id="12" idx="3"/>
          </p:cNvCxnSpPr>
          <p:nvPr/>
        </p:nvCxnSpPr>
        <p:spPr>
          <a:xfrm flipH="1">
            <a:off x="6466896" y="3543147"/>
            <a:ext cx="801863" cy="136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2" idx="2"/>
          </p:cNvCxnSpPr>
          <p:nvPr/>
        </p:nvCxnSpPr>
        <p:spPr>
          <a:xfrm flipH="1">
            <a:off x="5842393" y="3788927"/>
            <a:ext cx="4243" cy="3118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654373" y="1879498"/>
            <a:ext cx="2376039" cy="46425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Injected Instruction</a:t>
            </a:r>
          </a:p>
        </p:txBody>
      </p:sp>
      <p:cxnSp>
        <p:nvCxnSpPr>
          <p:cNvPr id="23" name="Straight Arrow Connector 22"/>
          <p:cNvCxnSpPr>
            <a:stCxn id="4" idx="2"/>
            <a:endCxn id="5" idx="0"/>
          </p:cNvCxnSpPr>
          <p:nvPr/>
        </p:nvCxnSpPr>
        <p:spPr>
          <a:xfrm flipH="1">
            <a:off x="1980000" y="2883331"/>
            <a:ext cx="37" cy="12813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4571999" y="5545104"/>
            <a:ext cx="3302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XOR the instructions with the key</a:t>
            </a:r>
          </a:p>
        </p:txBody>
      </p:sp>
    </p:spTree>
    <p:extLst>
      <p:ext uri="{BB962C8B-B14F-4D97-AF65-F5344CB8AC3E}">
        <p14:creationId xmlns:p14="http://schemas.microsoft.com/office/powerpoint/2010/main" val="1209955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3291</Words>
  <Application>Microsoft Office PowerPoint</Application>
  <PresentationFormat>On-screen Show (4:3)</PresentationFormat>
  <Paragraphs>825</Paragraphs>
  <Slides>43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8" baseType="lpstr">
      <vt:lpstr>ＭＳ Ｐゴシック</vt:lpstr>
      <vt:lpstr>ＭＳ Ｐゴシック</vt:lpstr>
      <vt:lpstr>新細明體</vt:lpstr>
      <vt:lpstr>Arial</vt:lpstr>
      <vt:lpstr>Calibri</vt:lpstr>
      <vt:lpstr>Comic Sans MS</vt:lpstr>
      <vt:lpstr>Courier New</vt:lpstr>
      <vt:lpstr>Segoe UI Semibold</vt:lpstr>
      <vt:lpstr>Symbol</vt:lpstr>
      <vt:lpstr>Tahoma</vt:lpstr>
      <vt:lpstr>Times</vt:lpstr>
      <vt:lpstr>Times New Roman</vt:lpstr>
      <vt:lpstr>Verdana</vt:lpstr>
      <vt:lpstr>Wingdings</vt:lpstr>
      <vt:lpstr>Office Theme</vt:lpstr>
      <vt:lpstr>Software Security</vt:lpstr>
      <vt:lpstr>A Motivating Example</vt:lpstr>
      <vt:lpstr>Two General Approaches</vt:lpstr>
      <vt:lpstr>Incomplete Mediation</vt:lpstr>
      <vt:lpstr>Buffer Overflow</vt:lpstr>
      <vt:lpstr>Buffer Overflow</vt:lpstr>
      <vt:lpstr>Buffer Overflow</vt:lpstr>
      <vt:lpstr>Program V.S. Process</vt:lpstr>
      <vt:lpstr>Process Memory Organization</vt:lpstr>
      <vt:lpstr>Stack: A high-level Overview</vt:lpstr>
      <vt:lpstr>Registers for work space, x86</vt:lpstr>
      <vt:lpstr>Important Registers</vt:lpstr>
      <vt:lpstr>BOF - An Example</vt:lpstr>
      <vt:lpstr>BOF - An Example</vt:lpstr>
      <vt:lpstr>BOF - An Example</vt:lpstr>
      <vt:lpstr>BOF - An Example</vt:lpstr>
      <vt:lpstr>BOF - An Example</vt:lpstr>
      <vt:lpstr>BOF - An Example</vt:lpstr>
      <vt:lpstr>BOF - An Example</vt:lpstr>
      <vt:lpstr>BOF - An Example</vt:lpstr>
      <vt:lpstr>Pad Shellcode with NOPs</vt:lpstr>
      <vt:lpstr>BOF</vt:lpstr>
      <vt:lpstr>Implementation</vt:lpstr>
      <vt:lpstr>A snapshot of the stack frame</vt:lpstr>
      <vt:lpstr>A snapshot of the stack frame: An Example</vt:lpstr>
      <vt:lpstr>A BOF-Vulnerable HTTP Service</vt:lpstr>
      <vt:lpstr>BoF Incidents … Just a Sample!</vt:lpstr>
      <vt:lpstr>Solutions</vt:lpstr>
      <vt:lpstr>Some unsafe C lib functions</vt:lpstr>
      <vt:lpstr>Programming with Secure APIs</vt:lpstr>
      <vt:lpstr>Off by one buffer overflow</vt:lpstr>
      <vt:lpstr>Preventing Buffer Overflow Attacks</vt:lpstr>
      <vt:lpstr>Static source code analysis</vt:lpstr>
      <vt:lpstr>Marking stack as non-execute</vt:lpstr>
      <vt:lpstr>Run time checking: StackGuard</vt:lpstr>
      <vt:lpstr>Canary Types</vt:lpstr>
      <vt:lpstr>StackGuard (Cont.)</vt:lpstr>
      <vt:lpstr>StackGuard (Cont.)</vt:lpstr>
      <vt:lpstr>Randomization: Motivations.</vt:lpstr>
      <vt:lpstr>Address Space Layout Randomization</vt:lpstr>
      <vt:lpstr>Instruction Set Randomization</vt:lpstr>
      <vt:lpstr>Instruction Set Randomization</vt:lpstr>
      <vt:lpstr>Instruction Set Randomization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Vulnerabilities</dc:title>
  <dc:creator>Junjie Zhang</dc:creator>
  <cp:lastModifiedBy>Meilin</cp:lastModifiedBy>
  <cp:revision>873</cp:revision>
  <dcterms:created xsi:type="dcterms:W3CDTF">2014-07-22T20:51:22Z</dcterms:created>
  <dcterms:modified xsi:type="dcterms:W3CDTF">2025-10-17T19:11:35Z</dcterms:modified>
</cp:coreProperties>
</file>