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256" r:id="rId2"/>
    <p:sldId id="942" r:id="rId3"/>
    <p:sldId id="940" r:id="rId4"/>
    <p:sldId id="941" r:id="rId5"/>
    <p:sldId id="285" r:id="rId6"/>
    <p:sldId id="272" r:id="rId7"/>
    <p:sldId id="297" r:id="rId8"/>
    <p:sldId id="298" r:id="rId9"/>
    <p:sldId id="299" r:id="rId10"/>
    <p:sldId id="338" r:id="rId11"/>
    <p:sldId id="300" r:id="rId12"/>
    <p:sldId id="301" r:id="rId13"/>
    <p:sldId id="302" r:id="rId14"/>
    <p:sldId id="303" r:id="rId15"/>
    <p:sldId id="304" r:id="rId16"/>
    <p:sldId id="305" r:id="rId17"/>
    <p:sldId id="306" r:id="rId18"/>
    <p:sldId id="415" r:id="rId19"/>
    <p:sldId id="409" r:id="rId20"/>
    <p:sldId id="331" r:id="rId21"/>
    <p:sldId id="332" r:id="rId22"/>
    <p:sldId id="333" r:id="rId23"/>
    <p:sldId id="334" r:id="rId24"/>
    <p:sldId id="335" r:id="rId25"/>
    <p:sldId id="336" r:id="rId26"/>
    <p:sldId id="337" r:id="rId27"/>
    <p:sldId id="413" r:id="rId28"/>
    <p:sldId id="414" r:id="rId29"/>
    <p:sldId id="312" r:id="rId30"/>
    <p:sldId id="313" r:id="rId31"/>
    <p:sldId id="342" r:id="rId32"/>
    <p:sldId id="339" r:id="rId33"/>
    <p:sldId id="340" r:id="rId34"/>
    <p:sldId id="314" r:id="rId35"/>
    <p:sldId id="315" r:id="rId36"/>
    <p:sldId id="316" r:id="rId37"/>
    <p:sldId id="317" r:id="rId38"/>
    <p:sldId id="318" r:id="rId39"/>
    <p:sldId id="319" r:id="rId40"/>
    <p:sldId id="320" r:id="rId41"/>
    <p:sldId id="321" r:id="rId42"/>
    <p:sldId id="311" r:id="rId43"/>
    <p:sldId id="327" r:id="rId44"/>
    <p:sldId id="309" r:id="rId45"/>
    <p:sldId id="328" r:id="rId46"/>
    <p:sldId id="329" r:id="rId47"/>
    <p:sldId id="310" r:id="rId48"/>
    <p:sldId id="330" r:id="rId49"/>
    <p:sldId id="289" r:id="rId50"/>
    <p:sldId id="291" r:id="rId51"/>
    <p:sldId id="273" r:id="rId52"/>
    <p:sldId id="274" r:id="rId53"/>
    <p:sldId id="276" r:id="rId54"/>
    <p:sldId id="292" r:id="rId55"/>
    <p:sldId id="293" r:id="rId56"/>
    <p:sldId id="271" r:id="rId57"/>
    <p:sldId id="411" r:id="rId58"/>
    <p:sldId id="370" r:id="rId59"/>
    <p:sldId id="345" r:id="rId60"/>
    <p:sldId id="378" r:id="rId61"/>
    <p:sldId id="377" r:id="rId62"/>
    <p:sldId id="383" r:id="rId63"/>
    <p:sldId id="384" r:id="rId64"/>
    <p:sldId id="385" r:id="rId65"/>
    <p:sldId id="386" r:id="rId66"/>
    <p:sldId id="388" r:id="rId67"/>
    <p:sldId id="389" r:id="rId68"/>
    <p:sldId id="412" r:id="rId69"/>
    <p:sldId id="416" r:id="rId70"/>
    <p:sldId id="417" r:id="rId71"/>
    <p:sldId id="946" r:id="rId72"/>
    <p:sldId id="418" r:id="rId73"/>
    <p:sldId id="419" r:id="rId74"/>
    <p:sldId id="923" r:id="rId75"/>
    <p:sldId id="537" r:id="rId76"/>
    <p:sldId id="922" r:id="rId77"/>
    <p:sldId id="924" r:id="rId78"/>
    <p:sldId id="920" r:id="rId79"/>
    <p:sldId id="917" r:id="rId80"/>
    <p:sldId id="523" r:id="rId81"/>
    <p:sldId id="903" r:id="rId82"/>
    <p:sldId id="258" r:id="rId83"/>
    <p:sldId id="932" r:id="rId84"/>
    <p:sldId id="275" r:id="rId85"/>
    <p:sldId id="947" r:id="rId86"/>
    <p:sldId id="286" r:id="rId87"/>
    <p:sldId id="288" r:id="rId88"/>
    <p:sldId id="943" r:id="rId89"/>
    <p:sldId id="944" r:id="rId90"/>
    <p:sldId id="945" r:id="rId91"/>
    <p:sldId id="929" r:id="rId92"/>
    <p:sldId id="930"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2132"/>
    <p:restoredTop sz="61768" autoAdjust="0"/>
  </p:normalViewPr>
  <p:slideViewPr>
    <p:cSldViewPr snapToGrid="0" snapToObjects="1">
      <p:cViewPr varScale="1">
        <p:scale>
          <a:sx n="60" d="100"/>
          <a:sy n="60" d="100"/>
        </p:scale>
        <p:origin x="1800" y="4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222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C4403-5AA5-4500-8BD1-A7840C402EEB}" type="datetimeFigureOut">
              <a:rPr lang="en-US" smtClean="0"/>
              <a:t>12/4/2025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C0BB23-5D12-4A85-BF23-3AFD0CC407DF}" type="slidenum">
              <a:rPr lang="en-US" smtClean="0"/>
              <a:t>‹#›</a:t>
            </a:fld>
            <a:endParaRPr lang="en-US"/>
          </a:p>
        </p:txBody>
      </p:sp>
    </p:spTree>
    <p:extLst>
      <p:ext uri="{BB962C8B-B14F-4D97-AF65-F5344CB8AC3E}">
        <p14:creationId xmlns:p14="http://schemas.microsoft.com/office/powerpoint/2010/main" val="1055173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Datagram"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en.wikipedia.org/wiki/Communication_channel" TargetMode="External"/><Relationship Id="rId4" Type="http://schemas.openxmlformats.org/officeDocument/2006/relationships/hyperlink" Target="https://en.wikipedia.org/wiki/Internet_Protocol"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Ask students which</a:t>
            </a:r>
            <a:r>
              <a:rPr lang="en-US" altLang="zh-TW" sz="3600" baseline="0" dirty="0"/>
              <a:t> instructions will affect the stack? </a:t>
            </a:r>
          </a:p>
          <a:p>
            <a:endParaRPr lang="en-US" altLang="zh-TW" sz="3600"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3200" dirty="0">
                <a:latin typeface="Tahoma" panose="020B0604030504040204" pitchFamily="34" charset="0"/>
              </a:rPr>
              <a:t>:   </a:t>
            </a:r>
            <a:r>
              <a:rPr lang="en-US" altLang="en-US" sz="3200" b="1" dirty="0">
                <a:solidFill>
                  <a:schemeClr val="bg2"/>
                </a:solidFill>
                <a:latin typeface="Courier New" panose="02070309020205020404" pitchFamily="49" charset="0"/>
              </a:rPr>
              <a:t>exec( “/bin/</a:t>
            </a:r>
            <a:r>
              <a:rPr lang="en-US" altLang="en-US" sz="3200" b="1" dirty="0" err="1">
                <a:solidFill>
                  <a:schemeClr val="bg2"/>
                </a:solidFill>
                <a:latin typeface="Courier New" panose="02070309020205020404" pitchFamily="49" charset="0"/>
              </a:rPr>
              <a:t>sh</a:t>
            </a:r>
            <a:r>
              <a:rPr lang="en-US" altLang="en-US" sz="3200" b="1" dirty="0">
                <a:solidFill>
                  <a:schemeClr val="bg2"/>
                </a:solidFill>
                <a:latin typeface="Courier New" panose="02070309020205020404" pitchFamily="49" charset="0"/>
              </a:rPr>
              <a:t>” )</a:t>
            </a:r>
          </a:p>
          <a:p>
            <a:endParaRPr lang="en-US" altLang="zh-TW" sz="3200" dirty="0"/>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7</a:t>
            </a:fld>
            <a:endParaRPr lang="en-US"/>
          </a:p>
        </p:txBody>
      </p:sp>
    </p:spTree>
    <p:extLst>
      <p:ext uri="{BB962C8B-B14F-4D97-AF65-F5344CB8AC3E}">
        <p14:creationId xmlns:p14="http://schemas.microsoft.com/office/powerpoint/2010/main" val="3461790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8</a:t>
            </a:fld>
            <a:endParaRPr lang="en-US"/>
          </a:p>
        </p:txBody>
      </p:sp>
    </p:spTree>
    <p:extLst>
      <p:ext uri="{BB962C8B-B14F-4D97-AF65-F5344CB8AC3E}">
        <p14:creationId xmlns:p14="http://schemas.microsoft.com/office/powerpoint/2010/main" val="1283340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9</a:t>
            </a:fld>
            <a:endParaRPr lang="en-US"/>
          </a:p>
        </p:txBody>
      </p:sp>
    </p:spTree>
    <p:extLst>
      <p:ext uri="{BB962C8B-B14F-4D97-AF65-F5344CB8AC3E}">
        <p14:creationId xmlns:p14="http://schemas.microsoft.com/office/powerpoint/2010/main" val="431823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11</a:t>
            </a:fld>
            <a:endParaRPr lang="en-US"/>
          </a:p>
        </p:txBody>
      </p:sp>
    </p:spTree>
    <p:extLst>
      <p:ext uri="{BB962C8B-B14F-4D97-AF65-F5344CB8AC3E}">
        <p14:creationId xmlns:p14="http://schemas.microsoft.com/office/powerpoint/2010/main" val="1189309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12</a:t>
            </a:fld>
            <a:endParaRPr lang="en-US"/>
          </a:p>
        </p:txBody>
      </p:sp>
    </p:spTree>
    <p:extLst>
      <p:ext uri="{BB962C8B-B14F-4D97-AF65-F5344CB8AC3E}">
        <p14:creationId xmlns:p14="http://schemas.microsoft.com/office/powerpoint/2010/main" val="2377159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Ret:</a:t>
            </a:r>
            <a:r>
              <a:rPr lang="en-US" altLang="zh-TW" sz="3600" baseline="0" dirty="0"/>
              <a:t> picks up the EIP stored in the stack and then </a:t>
            </a:r>
            <a:r>
              <a:rPr lang="en-US" altLang="zh-TW" sz="3600" baseline="0" dirty="0" err="1"/>
              <a:t>execuate</a:t>
            </a:r>
            <a:r>
              <a:rPr lang="en-US" altLang="zh-TW" sz="3600" baseline="0" dirty="0"/>
              <a:t> </a:t>
            </a:r>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13</a:t>
            </a:fld>
            <a:endParaRPr lang="en-US"/>
          </a:p>
        </p:txBody>
      </p:sp>
    </p:spTree>
    <p:extLst>
      <p:ext uri="{BB962C8B-B14F-4D97-AF65-F5344CB8AC3E}">
        <p14:creationId xmlns:p14="http://schemas.microsoft.com/office/powerpoint/2010/main" val="1865339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3600" b="1" dirty="0">
                <a:solidFill>
                  <a:srgbClr val="FF0000"/>
                </a:solidFill>
                <a:latin typeface="Courier New" panose="02070309020205020404" pitchFamily="49" charset="0"/>
              </a:rPr>
              <a:t>exec( “/bin/</a:t>
            </a:r>
            <a:r>
              <a:rPr lang="en-US" altLang="en-US" sz="3600" b="1" dirty="0" err="1">
                <a:solidFill>
                  <a:srgbClr val="FF0000"/>
                </a:solidFill>
                <a:latin typeface="Courier New" panose="02070309020205020404" pitchFamily="49" charset="0"/>
              </a:rPr>
              <a:t>sh</a:t>
            </a:r>
            <a:r>
              <a:rPr lang="en-US" altLang="en-US" sz="3600" b="1" dirty="0">
                <a:solidFill>
                  <a:srgbClr val="FF0000"/>
                </a:solidFill>
                <a:latin typeface="Courier New" panose="02070309020205020404" pitchFamily="49" charset="0"/>
              </a:rPr>
              <a:t>” )</a:t>
            </a:r>
          </a:p>
          <a:p>
            <a:endParaRPr lang="en-US" altLang="zh-TW" sz="3600" dirty="0"/>
          </a:p>
          <a:p>
            <a:endParaRPr lang="en-US" altLang="zh-TW" sz="3600" dirty="0"/>
          </a:p>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14</a:t>
            </a:fld>
            <a:endParaRPr lang="en-US"/>
          </a:p>
        </p:txBody>
      </p:sp>
    </p:spTree>
    <p:extLst>
      <p:ext uri="{BB962C8B-B14F-4D97-AF65-F5344CB8AC3E}">
        <p14:creationId xmlns:p14="http://schemas.microsoft.com/office/powerpoint/2010/main" val="2211556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3600" dirty="0"/>
              <a:t>After ‘</a:t>
            </a:r>
            <a:r>
              <a:rPr lang="en-US" altLang="zh-TW" sz="3600" dirty="0" err="1"/>
              <a:t>gcc</a:t>
            </a:r>
            <a:r>
              <a:rPr lang="en-US" altLang="zh-TW" sz="3600" dirty="0"/>
              <a:t> –S –o </a:t>
            </a:r>
            <a:r>
              <a:rPr lang="en-US" altLang="zh-TW" sz="3600" dirty="0" err="1"/>
              <a:t>stack.s</a:t>
            </a:r>
            <a:r>
              <a:rPr lang="en-US" altLang="zh-TW" sz="3600" dirty="0"/>
              <a:t> </a:t>
            </a:r>
            <a:r>
              <a:rPr lang="en-US" altLang="zh-TW" sz="3600" dirty="0" err="1"/>
              <a:t>stack.c</a:t>
            </a:r>
            <a:r>
              <a:rPr lang="en-US" altLang="zh-TW" sz="3600" dirty="0"/>
              <a:t>’</a:t>
            </a:r>
          </a:p>
          <a:p>
            <a:pPr lvl="1"/>
            <a:r>
              <a:rPr lang="en-US" altLang="zh-TW" sz="3200" dirty="0"/>
              <a:t>See notes below</a:t>
            </a:r>
          </a:p>
          <a:p>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15</a:t>
            </a:fld>
            <a:endParaRPr lang="en-US"/>
          </a:p>
        </p:txBody>
      </p:sp>
    </p:spTree>
    <p:extLst>
      <p:ext uri="{BB962C8B-B14F-4D97-AF65-F5344CB8AC3E}">
        <p14:creationId xmlns:p14="http://schemas.microsoft.com/office/powerpoint/2010/main" val="4195230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200" dirty="0" err="1"/>
              <a:t>gcc</a:t>
            </a:r>
            <a:r>
              <a:rPr lang="en-US" altLang="zh-TW" sz="1200" dirty="0"/>
              <a:t> </a:t>
            </a:r>
            <a:r>
              <a:rPr lang="en-US" altLang="zh-TW" sz="1200" dirty="0" err="1"/>
              <a:t>stack.c</a:t>
            </a:r>
            <a:r>
              <a:rPr lang="en-US" altLang="zh-TW" sz="1200" dirty="0"/>
              <a:t> –S –o </a:t>
            </a:r>
            <a:r>
              <a:rPr lang="en-US" altLang="zh-TW" sz="1200" dirty="0" err="1"/>
              <a:t>stack.s</a:t>
            </a:r>
            <a:r>
              <a:rPr lang="en-US" altLang="zh-TW" sz="1200"/>
              <a:t> </a:t>
            </a:r>
            <a:endParaRPr lang="en-US" altLang="zh-TW" sz="1200" dirty="0"/>
          </a:p>
          <a:p>
            <a:endParaRPr lang="en-US" dirty="0"/>
          </a:p>
        </p:txBody>
      </p:sp>
      <p:sp>
        <p:nvSpPr>
          <p:cNvPr id="4" name="Slide Number Placeholder 3"/>
          <p:cNvSpPr>
            <a:spLocks noGrp="1"/>
          </p:cNvSpPr>
          <p:nvPr>
            <p:ph type="sldNum" sz="quarter" idx="5"/>
          </p:nvPr>
        </p:nvSpPr>
        <p:spPr/>
        <p:txBody>
          <a:bodyPr/>
          <a:lstStyle/>
          <a:p>
            <a:fld id="{A89CF254-E47E-2C44-98AF-85D52326CB77}" type="slidenum">
              <a:rPr lang="en-US" smtClean="0"/>
              <a:t>19</a:t>
            </a:fld>
            <a:endParaRPr lang="en-US"/>
          </a:p>
        </p:txBody>
      </p:sp>
    </p:spTree>
    <p:extLst>
      <p:ext uri="{BB962C8B-B14F-4D97-AF65-F5344CB8AC3E}">
        <p14:creationId xmlns:p14="http://schemas.microsoft.com/office/powerpoint/2010/main" val="3403067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Threat model: adversaries control the network; can communicate with computers; </a:t>
            </a:r>
          </a:p>
          <a:p>
            <a:endParaRPr lang="en-US" altLang="en-US" dirty="0"/>
          </a:p>
          <a:p>
            <a:r>
              <a:rPr lang="en-US" altLang="en-US" dirty="0"/>
              <a:t>Security Goal: Confidentiality, Integrity, Availability </a:t>
            </a:r>
          </a:p>
          <a:p>
            <a:endParaRPr lang="en-US" alt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Complete Mediation: All accesses to objects be checked to ensure that they are allowed.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Separation of Privilege: A system should not grant permission based on a single condition.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E613ACF5-D34E-460F-9771-445373769ECD}" type="slidenum">
              <a:rPr kumimoji="0" lang="en-US" altLang="en-US" sz="1300"/>
              <a:pPr eaLnBrk="1" hangingPunct="1">
                <a:spcBef>
                  <a:spcPct val="0"/>
                </a:spcBef>
              </a:pPr>
              <a:t>20</a:t>
            </a:fld>
            <a:endParaRPr kumimoji="0" lang="en-US" altLang="en-US" sz="1300"/>
          </a:p>
        </p:txBody>
      </p:sp>
    </p:spTree>
    <p:extLst>
      <p:ext uri="{BB962C8B-B14F-4D97-AF65-F5344CB8AC3E}">
        <p14:creationId xmlns:p14="http://schemas.microsoft.com/office/powerpoint/2010/main" val="3252318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ftr" sz="quarter" idx="4"/>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5603" name="Rectangle 7"/>
          <p:cNvSpPr>
            <a:spLocks noGrp="1" noChangeArrowheads="1"/>
          </p:cNvSpPr>
          <p:nvPr>
            <p:ph type="sldNum" sz="quarter" idx="5"/>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F26720-B942-4074-BFFB-525AC415BA52}" type="slidenum">
              <a:rPr lang="zh-CN" altLang="en-US" smtClean="0"/>
              <a:pPr>
                <a:spcBef>
                  <a:spcPct val="0"/>
                </a:spcBef>
              </a:pPr>
              <a:t>21</a:t>
            </a:fld>
            <a:endParaRPr lang="en-US" altLang="zh-CN"/>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xfrm>
            <a:off x="715963" y="4487863"/>
            <a:ext cx="5730875" cy="4252912"/>
          </a:xfrm>
          <a:noFill/>
        </p:spPr>
        <p:txBody>
          <a:bodyPr/>
          <a:lstStyle/>
          <a:p>
            <a:pPr eaLnBrk="1" hangingPunct="1"/>
            <a:r>
              <a:rPr lang="en-AU" altLang="en-US"/>
              <a:t>Briefly review some terminology used throughout the course. </a:t>
            </a:r>
          </a:p>
        </p:txBody>
      </p:sp>
    </p:spTree>
    <p:extLst>
      <p:ext uri="{BB962C8B-B14F-4D97-AF65-F5344CB8AC3E}">
        <p14:creationId xmlns:p14="http://schemas.microsoft.com/office/powerpoint/2010/main" val="1536008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System call gates actually perform access control.  </a:t>
            </a:r>
          </a:p>
          <a:p>
            <a:endParaRPr lang="en-US" alt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Complete Mediation: All accesses to objects be checked to ensure that they are allowed.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Principle of Separation of Privilege: A system should not grant permission based on a single condition.</a:t>
            </a:r>
          </a:p>
          <a:p>
            <a:endParaRPr lang="en-US" altLang="en-US" dirty="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eaLnBrk="0" hangingPunct="0">
              <a:spcBef>
                <a:spcPct val="30000"/>
              </a:spcBef>
              <a:defRPr kumimoji="1" sz="1200">
                <a:solidFill>
                  <a:schemeClr val="tx1"/>
                </a:solidFill>
                <a:latin typeface="Times New Roman" panose="02020603050405020304" pitchFamily="18" charset="0"/>
              </a:defRPr>
            </a:lvl1pPr>
            <a:lvl2pPr marL="742950" indent="-285750" defTabSz="989013" eaLnBrk="0" hangingPunct="0">
              <a:spcBef>
                <a:spcPct val="30000"/>
              </a:spcBef>
              <a:defRPr kumimoji="1" sz="1200">
                <a:solidFill>
                  <a:schemeClr val="tx1"/>
                </a:solidFill>
                <a:latin typeface="Times New Roman" panose="02020603050405020304" pitchFamily="18" charset="0"/>
              </a:defRPr>
            </a:lvl2pPr>
            <a:lvl3pPr marL="1143000" indent="-228600" defTabSz="989013" eaLnBrk="0" hangingPunct="0">
              <a:spcBef>
                <a:spcPct val="30000"/>
              </a:spcBef>
              <a:defRPr kumimoji="1" sz="1200">
                <a:solidFill>
                  <a:schemeClr val="tx1"/>
                </a:solidFill>
                <a:latin typeface="Times New Roman" panose="02020603050405020304" pitchFamily="18" charset="0"/>
              </a:defRPr>
            </a:lvl3pPr>
            <a:lvl4pPr marL="1600200" indent="-228600" defTabSz="989013" eaLnBrk="0" hangingPunct="0">
              <a:spcBef>
                <a:spcPct val="30000"/>
              </a:spcBef>
              <a:defRPr kumimoji="1" sz="1200">
                <a:solidFill>
                  <a:schemeClr val="tx1"/>
                </a:solidFill>
                <a:latin typeface="Times New Roman" panose="02020603050405020304" pitchFamily="18" charset="0"/>
              </a:defRPr>
            </a:lvl4pPr>
            <a:lvl5pPr marL="2057400" indent="-228600" defTabSz="989013" eaLnBrk="0" hangingPunct="0">
              <a:spcBef>
                <a:spcPct val="30000"/>
              </a:spcBef>
              <a:defRPr kumimoji="1" sz="1200">
                <a:solidFill>
                  <a:schemeClr val="tx1"/>
                </a:solidFill>
                <a:latin typeface="Times New Roman" panose="02020603050405020304" pitchFamily="18" charset="0"/>
              </a:defRPr>
            </a:lvl5pPr>
            <a:lvl6pPr marL="25146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89013"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eaLnBrk="1" hangingPunct="1">
              <a:spcBef>
                <a:spcPct val="0"/>
              </a:spcBef>
            </a:pPr>
            <a:fld id="{BDF55764-0B6A-41A0-9A2E-D29EF6BB08F1}" type="slidenum">
              <a:rPr kumimoji="0" lang="en-US" altLang="en-US" sz="1300"/>
              <a:pPr eaLnBrk="1" hangingPunct="1">
                <a:spcBef>
                  <a:spcPct val="0"/>
                </a:spcBef>
              </a:pPr>
              <a:t>23</a:t>
            </a:fld>
            <a:endParaRPr kumimoji="0" lang="en-US" altLang="en-US" sz="1300"/>
          </a:p>
        </p:txBody>
      </p:sp>
    </p:spTree>
    <p:extLst>
      <p:ext uri="{BB962C8B-B14F-4D97-AF65-F5344CB8AC3E}">
        <p14:creationId xmlns:p14="http://schemas.microsoft.com/office/powerpoint/2010/main" val="2232715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t>Physical Layer:</a:t>
            </a:r>
            <a:r>
              <a:rPr lang="en-US" altLang="en-US" sz="1200" baseline="0" dirty="0"/>
              <a:t>  </a:t>
            </a:r>
            <a:r>
              <a:rPr lang="en-US" altLang="en-US" sz="1200" dirty="0"/>
              <a:t>Coaxial cable,  Optical fiber, Wireless communications</a:t>
            </a:r>
          </a:p>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1200" dirty="0"/>
              <a:t>Data</a:t>
            </a:r>
            <a:r>
              <a:rPr lang="en-US" altLang="en-US" sz="1200" baseline="0" dirty="0"/>
              <a:t> Link Layer: </a:t>
            </a:r>
            <a:r>
              <a:rPr lang="en-US" dirty="0"/>
              <a:t>transferring datagram from one node to physically adjacent node over a link, using MAC address, </a:t>
            </a:r>
            <a:r>
              <a:rPr kumimoji="1" lang="en-US" altLang="ja-JP" sz="1200" dirty="0">
                <a:latin typeface="Tahoma" panose="020B0604030504040204" pitchFamily="34" charset="0"/>
                <a:ea typeface="+mn-ea"/>
              </a:rPr>
              <a:t>includes device driver and network interface card</a:t>
            </a:r>
          </a:p>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1200" dirty="0"/>
              <a:t>IP</a:t>
            </a:r>
            <a:r>
              <a:rPr lang="en-US" altLang="en-US" sz="1200" baseline="0" dirty="0"/>
              <a:t> (Internet Protocol): </a:t>
            </a:r>
            <a:r>
              <a:rPr lang="en-US" sz="1200" dirty="0"/>
              <a:t>To move packets from source to destination,</a:t>
            </a:r>
            <a:r>
              <a:rPr lang="en-US" sz="1200" baseline="0" dirty="0"/>
              <a:t> </a:t>
            </a:r>
            <a:r>
              <a:rPr lang="en-US" altLang="en-US" sz="1200" baseline="0" dirty="0"/>
              <a:t>using IP address </a:t>
            </a:r>
          </a:p>
          <a:p>
            <a:r>
              <a:rPr lang="en-US" altLang="en-US" sz="1200" baseline="0" dirty="0"/>
              <a:t>TCP layer (</a:t>
            </a:r>
            <a:r>
              <a:rPr lang="en-US" dirty="0"/>
              <a:t>Transmission Control Protocol):</a:t>
            </a:r>
            <a:r>
              <a:rPr lang="en-US" baseline="0" dirty="0"/>
              <a:t>  </a:t>
            </a:r>
            <a:r>
              <a:rPr kumimoji="1" lang="en-US" altLang="ja-JP" sz="1200" dirty="0">
                <a:latin typeface="Tahoma" panose="020B0604030504040204" pitchFamily="34" charset="0"/>
                <a:ea typeface="+mn-ea"/>
              </a:rPr>
              <a:t>provides a reliable flow of data between two hosts</a:t>
            </a: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Application Layer: </a:t>
            </a:r>
            <a:r>
              <a:rPr kumimoji="1" lang="en-US" altLang="ja-JP" sz="1200" dirty="0"/>
              <a:t>handles the details of the particular application, using TCP/IP suite, FTP, HTTP, Web service, SMTP</a:t>
            </a:r>
          </a:p>
          <a:p>
            <a:pPr marL="0" marR="0" indent="0" algn="l" defTabSz="457200" rtl="0" eaLnBrk="1" fontAlgn="auto" latinLnBrk="0" hangingPunct="1">
              <a:lnSpc>
                <a:spcPct val="100000"/>
              </a:lnSpc>
              <a:spcBef>
                <a:spcPts val="0"/>
              </a:spcBef>
              <a:spcAft>
                <a:spcPts val="0"/>
              </a:spcAft>
              <a:buClrTx/>
              <a:buSzTx/>
              <a:buFontTx/>
              <a:buNone/>
              <a:tabLst/>
              <a:defRPr/>
            </a:pPr>
            <a:endParaRPr kumimoji="1" lang="en-US" altLang="ja-JP" sz="1200" dirty="0"/>
          </a:p>
          <a:p>
            <a:pPr marL="0" marR="0" indent="0" algn="l" defTabSz="457200" rtl="0" eaLnBrk="1" fontAlgn="auto" latinLnBrk="0" hangingPunct="1">
              <a:lnSpc>
                <a:spcPct val="100000"/>
              </a:lnSpc>
              <a:spcBef>
                <a:spcPts val="0"/>
              </a:spcBef>
              <a:spcAft>
                <a:spcPts val="0"/>
              </a:spcAft>
              <a:buClrTx/>
              <a:buSzTx/>
              <a:buFontTx/>
              <a:buNone/>
              <a:tabLst/>
              <a:defRPr/>
            </a:pPr>
            <a:r>
              <a:rPr kumimoji="1" lang="en-US" altLang="ja-JP" sz="1200" dirty="0"/>
              <a:t>MTU: Maximum</a:t>
            </a:r>
            <a:r>
              <a:rPr kumimoji="1" lang="en-US" altLang="ja-JP" sz="1200" baseline="0" dirty="0"/>
              <a:t> transmission unit: </a:t>
            </a:r>
            <a:r>
              <a:rPr lang="en-US" sz="1200" b="0" i="0" kern="1200" dirty="0">
                <a:solidFill>
                  <a:schemeClr val="tx1"/>
                </a:solidFill>
                <a:effectLst/>
                <a:latin typeface="+mn-lt"/>
                <a:ea typeface="+mn-ea"/>
                <a:cs typeface="+mn-cs"/>
              </a:rPr>
              <a:t>a 1500-byte packet, the largest allowed by Ethernet at the network layer</a:t>
            </a:r>
            <a:endParaRPr kumimoji="1" lang="en-US" altLang="ja-JP" sz="1200" dirty="0"/>
          </a:p>
          <a:p>
            <a:pPr marL="0" marR="0" indent="0" algn="l" defTabSz="457200" rtl="0" eaLnBrk="1" fontAlgn="auto" latinLnBrk="0" hangingPunct="1">
              <a:lnSpc>
                <a:spcPct val="100000"/>
              </a:lnSpc>
              <a:spcBef>
                <a:spcPts val="0"/>
              </a:spcBef>
              <a:spcAft>
                <a:spcPts val="0"/>
              </a:spcAft>
              <a:buClrTx/>
              <a:buSzTx/>
              <a:buFontTx/>
              <a:buNone/>
              <a:tabLst/>
              <a:defRPr/>
            </a:pPr>
            <a:endParaRPr kumimoji="1" lang="en-US" altLang="ja-JP" sz="1200" dirty="0"/>
          </a:p>
          <a:p>
            <a:pPr>
              <a:spcBef>
                <a:spcPct val="20000"/>
              </a:spcBef>
              <a:buClr>
                <a:schemeClr val="folHlink"/>
              </a:buClr>
              <a:buFont typeface="Wingdings" panose="05000000000000000000" pitchFamily="2" charset="2"/>
              <a:buNone/>
            </a:pPr>
            <a:r>
              <a:rPr kumimoji="1" lang="en-US" altLang="ja-JP" dirty="0">
                <a:latin typeface="Tahoma" panose="020B0604030504040204" pitchFamily="34" charset="0"/>
                <a:ea typeface="+mn-ea"/>
              </a:rPr>
              <a:t>The data is sent down the protocol stack</a:t>
            </a:r>
          </a:p>
          <a:p>
            <a:pPr>
              <a:spcBef>
                <a:spcPct val="20000"/>
              </a:spcBef>
              <a:buClr>
                <a:schemeClr val="folHlink"/>
              </a:buClr>
              <a:buFont typeface="Wingdings" panose="05000000000000000000" pitchFamily="2" charset="2"/>
              <a:buNone/>
            </a:pPr>
            <a:r>
              <a:rPr kumimoji="1" lang="en-US" altLang="ja-JP" dirty="0">
                <a:latin typeface="Tahoma" panose="020B0604030504040204" pitchFamily="34" charset="0"/>
                <a:ea typeface="+mn-ea"/>
              </a:rPr>
              <a:t>Each layer adds to the data by prepending headers</a:t>
            </a:r>
          </a:p>
          <a:p>
            <a:pPr>
              <a:spcBef>
                <a:spcPct val="20000"/>
              </a:spcBef>
              <a:buClr>
                <a:schemeClr val="folHlink"/>
              </a:buClr>
              <a:buFont typeface="Wingdings" panose="05000000000000000000" pitchFamily="2" charset="2"/>
              <a:buNone/>
            </a:pPr>
            <a:endParaRPr kumimoji="1" lang="en-US" altLang="ja-JP" dirty="0">
              <a:latin typeface="Tahoma" panose="020B0604030504040204" pitchFamily="34" charset="0"/>
              <a:ea typeface="+mn-ea"/>
            </a:endParaRPr>
          </a:p>
          <a:p>
            <a:pPr>
              <a:spcBef>
                <a:spcPct val="20000"/>
              </a:spcBef>
              <a:buClr>
                <a:schemeClr val="folHlink"/>
              </a:buClr>
              <a:buFont typeface="Wingdings" panose="05000000000000000000" pitchFamily="2" charset="2"/>
              <a:buNone/>
            </a:pPr>
            <a:r>
              <a:rPr kumimoji="1" lang="en-US" altLang="ja-JP" dirty="0">
                <a:latin typeface="Tahoma" panose="020B0604030504040204" pitchFamily="34" charset="0"/>
                <a:ea typeface="+mn-ea"/>
              </a:rPr>
              <a:t>MTU: Maximum</a:t>
            </a:r>
            <a:r>
              <a:rPr kumimoji="1" lang="en-US" altLang="ja-JP" baseline="0" dirty="0">
                <a:latin typeface="Tahoma" panose="020B0604030504040204" pitchFamily="34" charset="0"/>
                <a:ea typeface="+mn-ea"/>
              </a:rPr>
              <a:t> Transmission Unit</a:t>
            </a:r>
            <a:endParaRPr kumimoji="1" lang="en-US" altLang="ja-JP" dirty="0">
              <a:latin typeface="Tahoma" panose="020B0604030504040204" pitchFamily="34" charset="0"/>
              <a:ea typeface="+mn-ea"/>
            </a:endParaRPr>
          </a:p>
          <a:p>
            <a:pPr marL="0" marR="0" indent="0" algn="l" defTabSz="457200" rtl="0" eaLnBrk="1" fontAlgn="auto" latinLnBrk="0" hangingPunct="1">
              <a:lnSpc>
                <a:spcPct val="100000"/>
              </a:lnSpc>
              <a:spcBef>
                <a:spcPts val="0"/>
              </a:spcBef>
              <a:spcAft>
                <a:spcPts val="0"/>
              </a:spcAft>
              <a:buClrTx/>
              <a:buSzTx/>
              <a:buFontTx/>
              <a:buNone/>
              <a:tabLst/>
              <a:defRPr/>
            </a:pPr>
            <a:endParaRPr kumimoji="1" lang="en-US" altLang="ja-JP" sz="1200" dirty="0"/>
          </a:p>
          <a:p>
            <a:endParaRPr lang="en-US" altLang="en-US" sz="1200" dirty="0"/>
          </a:p>
          <a:p>
            <a:endParaRPr lang="en-US" dirty="0"/>
          </a:p>
        </p:txBody>
      </p:sp>
      <p:sp>
        <p:nvSpPr>
          <p:cNvPr id="4" name="Slide Number Placeholder 3"/>
          <p:cNvSpPr>
            <a:spLocks noGrp="1"/>
          </p:cNvSpPr>
          <p:nvPr>
            <p:ph type="sldNum" sz="quarter" idx="10"/>
          </p:nvPr>
        </p:nvSpPr>
        <p:spPr/>
        <p:txBody>
          <a:bodyPr/>
          <a:lstStyle/>
          <a:p>
            <a:fld id="{1B9787D6-74B1-B44D-8654-BCEE28471BCE}" type="slidenum">
              <a:rPr lang="en-US" smtClean="0"/>
              <a:t>29</a:t>
            </a:fld>
            <a:endParaRPr lang="en-US"/>
          </a:p>
        </p:txBody>
      </p:sp>
    </p:spTree>
    <p:extLst>
      <p:ext uri="{BB962C8B-B14F-4D97-AF65-F5344CB8AC3E}">
        <p14:creationId xmlns:p14="http://schemas.microsoft.com/office/powerpoint/2010/main" val="1467402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6E6FDE-BABB-4E7B-8AFF-F4EB839DEDC6}" type="slidenum">
              <a:rPr lang="en-US" altLang="en-US"/>
              <a:pPr/>
              <a:t>30</a:t>
            </a:fld>
            <a:endParaRPr lang="en-US" alt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xfrm>
            <a:off x="914400" y="4416425"/>
            <a:ext cx="5029200" cy="4183063"/>
          </a:xfrm>
        </p:spPr>
        <p:txBody>
          <a:bodyPr/>
          <a:lstStyle/>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User Datagram Protocol</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UDP</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With UDP, computer applications can send messages, in this case referred to as </a:t>
            </a:r>
            <a:r>
              <a:rPr lang="en-US" sz="1200" b="0" i="1" u="none" strike="noStrike" kern="1200" dirty="0">
                <a:solidFill>
                  <a:schemeClr val="tx1"/>
                </a:solidFill>
                <a:effectLst/>
                <a:latin typeface="+mn-lt"/>
                <a:ea typeface="+mn-ea"/>
                <a:cs typeface="+mn-cs"/>
                <a:hlinkClick r:id="rId3" tooltip="Datagram"/>
              </a:rPr>
              <a:t>datagrams</a:t>
            </a:r>
            <a:r>
              <a:rPr lang="en-US" sz="1200" b="0" i="0" kern="1200" dirty="0">
                <a:solidFill>
                  <a:schemeClr val="tx1"/>
                </a:solidFill>
                <a:effectLst/>
                <a:latin typeface="+mn-lt"/>
                <a:ea typeface="+mn-ea"/>
                <a:cs typeface="+mn-cs"/>
              </a:rPr>
              <a:t>, to other hosts on an </a:t>
            </a:r>
            <a:r>
              <a:rPr lang="en-US" sz="1200" b="0" i="0" u="none" strike="noStrike" kern="1200" dirty="0">
                <a:solidFill>
                  <a:schemeClr val="tx1"/>
                </a:solidFill>
                <a:effectLst/>
                <a:latin typeface="+mn-lt"/>
                <a:ea typeface="+mn-ea"/>
                <a:cs typeface="+mn-cs"/>
                <a:hlinkClick r:id="rId4" tooltip="Internet Protocol"/>
              </a:rPr>
              <a:t>Internet Protocol</a:t>
            </a:r>
            <a:r>
              <a:rPr lang="en-US" sz="1200" b="0" i="0" kern="1200" dirty="0">
                <a:solidFill>
                  <a:schemeClr val="tx1"/>
                </a:solidFill>
                <a:effectLst/>
                <a:latin typeface="+mn-lt"/>
                <a:ea typeface="+mn-ea"/>
                <a:cs typeface="+mn-cs"/>
              </a:rPr>
              <a:t> (IP) network. Prior communications are not required in order to set up </a:t>
            </a:r>
            <a:r>
              <a:rPr lang="en-US" sz="1200" b="0" i="0" u="none" strike="noStrike" kern="1200" dirty="0">
                <a:solidFill>
                  <a:schemeClr val="tx1"/>
                </a:solidFill>
                <a:effectLst/>
                <a:latin typeface="+mn-lt"/>
                <a:ea typeface="+mn-ea"/>
                <a:cs typeface="+mn-cs"/>
                <a:hlinkClick r:id="rId5" tooltip="Communication channel"/>
              </a:rPr>
              <a:t>communication channels</a:t>
            </a:r>
            <a:r>
              <a:rPr lang="en-US" sz="1200" b="0" i="0" kern="1200" dirty="0">
                <a:solidFill>
                  <a:schemeClr val="tx1"/>
                </a:solidFill>
                <a:effectLst/>
                <a:latin typeface="+mn-lt"/>
                <a:ea typeface="+mn-ea"/>
                <a:cs typeface="+mn-cs"/>
              </a:rPr>
              <a:t> or data paths.</a:t>
            </a:r>
            <a:endParaRPr lang="en-US" altLang="ja-JP" dirty="0">
              <a:ea typeface="ＭＳ Ｐゴシック" panose="020B0600070205080204" pitchFamily="34" charset="-128"/>
            </a:endParaRPr>
          </a:p>
        </p:txBody>
      </p:sp>
    </p:spTree>
    <p:extLst>
      <p:ext uri="{BB962C8B-B14F-4D97-AF65-F5344CB8AC3E}">
        <p14:creationId xmlns:p14="http://schemas.microsoft.com/office/powerpoint/2010/main" val="1622851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a:t>
            </a:r>
            <a:r>
              <a:rPr lang="en-US" baseline="0" dirty="0"/>
              <a:t> disadvantages:</a:t>
            </a:r>
          </a:p>
          <a:p>
            <a:endParaRPr lang="en-US" baseline="0" dirty="0"/>
          </a:p>
          <a:p>
            <a:r>
              <a:rPr lang="en-US" baseline="0" dirty="0"/>
              <a:t>IP1 is bad</a:t>
            </a:r>
          </a:p>
          <a:p>
            <a:r>
              <a:rPr lang="en-US" baseline="0" dirty="0"/>
              <a:t>Only 2^16 connections</a:t>
            </a:r>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32</a:t>
            </a:fld>
            <a:endParaRPr lang="en-US"/>
          </a:p>
        </p:txBody>
      </p:sp>
    </p:spTree>
    <p:extLst>
      <p:ext uri="{BB962C8B-B14F-4D97-AF65-F5344CB8AC3E}">
        <p14:creationId xmlns:p14="http://schemas.microsoft.com/office/powerpoint/2010/main" val="4053847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picture,</a:t>
            </a:r>
            <a:r>
              <a:rPr lang="en-US" baseline="0" dirty="0"/>
              <a:t> an attacker can send send a fake ACK message to the server. </a:t>
            </a:r>
          </a:p>
          <a:p>
            <a:endParaRPr lang="en-US" baseline="0" dirty="0"/>
          </a:p>
          <a:p>
            <a:r>
              <a:rPr lang="en-US" baseline="0" dirty="0"/>
              <a:t>How does the server know: </a:t>
            </a:r>
          </a:p>
          <a:p>
            <a:endParaRPr lang="en-US" baseline="0" dirty="0"/>
          </a:p>
          <a:p>
            <a:pPr marL="228600" indent="-228600">
              <a:buAutoNum type="arabicPeriod"/>
            </a:pPr>
            <a:r>
              <a:rPr lang="en-US" baseline="0" dirty="0"/>
              <a:t>The client has sent the SYN packet in the first place. </a:t>
            </a:r>
          </a:p>
          <a:p>
            <a:pPr marL="228600" indent="-228600">
              <a:buAutoNum type="arabicPeriod"/>
            </a:pPr>
            <a:r>
              <a:rPr lang="en-US" baseline="0" dirty="0"/>
              <a:t>The client has successfully received the SYN-ACK packet?</a:t>
            </a:r>
            <a:endParaRPr lang="en-US" dirty="0"/>
          </a:p>
        </p:txBody>
      </p:sp>
      <p:sp>
        <p:nvSpPr>
          <p:cNvPr id="4" name="Slide Number Placeholder 3"/>
          <p:cNvSpPr>
            <a:spLocks noGrp="1"/>
          </p:cNvSpPr>
          <p:nvPr>
            <p:ph type="sldNum" sz="quarter" idx="10"/>
          </p:nvPr>
        </p:nvSpPr>
        <p:spPr/>
        <p:txBody>
          <a:bodyPr/>
          <a:lstStyle/>
          <a:p>
            <a:fld id="{9B7958FA-65E4-B947-9637-582B00D33A2F}" type="slidenum">
              <a:rPr lang="en-US" smtClean="0"/>
              <a:t>34</a:t>
            </a:fld>
            <a:endParaRPr lang="en-US"/>
          </a:p>
        </p:txBody>
      </p:sp>
    </p:spTree>
    <p:extLst>
      <p:ext uri="{BB962C8B-B14F-4D97-AF65-F5344CB8AC3E}">
        <p14:creationId xmlns:p14="http://schemas.microsoft.com/office/powerpoint/2010/main" val="1489691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picture,</a:t>
            </a:r>
            <a:r>
              <a:rPr lang="en-US" baseline="0" dirty="0"/>
              <a:t> an attacker can send send a fake ACK message to the server. </a:t>
            </a:r>
          </a:p>
          <a:p>
            <a:endParaRPr lang="en-US" baseline="0" dirty="0"/>
          </a:p>
          <a:p>
            <a:r>
              <a:rPr lang="en-US" baseline="0" dirty="0"/>
              <a:t>How does the server know: </a:t>
            </a:r>
          </a:p>
          <a:p>
            <a:endParaRPr lang="en-US" baseline="0" dirty="0"/>
          </a:p>
          <a:p>
            <a:pPr marL="228600" indent="-228600">
              <a:buAutoNum type="arabicPeriod"/>
            </a:pPr>
            <a:r>
              <a:rPr lang="en-US" baseline="0" dirty="0"/>
              <a:t>The client has sent the SYN packet in the first place. </a:t>
            </a:r>
          </a:p>
          <a:p>
            <a:pPr marL="228600" indent="-228600">
              <a:buAutoNum type="arabicPeriod"/>
            </a:pPr>
            <a:r>
              <a:rPr lang="en-US" baseline="0" dirty="0"/>
              <a:t>The client has successfully received the SYN-ACK packet?</a:t>
            </a:r>
            <a:endParaRPr lang="en-US" dirty="0"/>
          </a:p>
        </p:txBody>
      </p:sp>
      <p:sp>
        <p:nvSpPr>
          <p:cNvPr id="4" name="Slide Number Placeholder 3"/>
          <p:cNvSpPr>
            <a:spLocks noGrp="1"/>
          </p:cNvSpPr>
          <p:nvPr>
            <p:ph type="sldNum" sz="quarter" idx="10"/>
          </p:nvPr>
        </p:nvSpPr>
        <p:spPr/>
        <p:txBody>
          <a:bodyPr/>
          <a:lstStyle/>
          <a:p>
            <a:fld id="{9B7958FA-65E4-B947-9637-582B00D33A2F}" type="slidenum">
              <a:rPr lang="en-US" smtClean="0"/>
              <a:t>35</a:t>
            </a:fld>
            <a:endParaRPr lang="en-US"/>
          </a:p>
        </p:txBody>
      </p:sp>
    </p:spTree>
    <p:extLst>
      <p:ext uri="{BB962C8B-B14F-4D97-AF65-F5344CB8AC3E}">
        <p14:creationId xmlns:p14="http://schemas.microsoft.com/office/powerpoint/2010/main" val="428681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picture,</a:t>
            </a:r>
            <a:r>
              <a:rPr lang="en-US" baseline="0" dirty="0"/>
              <a:t> an attacker can send send a fake ACK message to the server. </a:t>
            </a:r>
          </a:p>
          <a:p>
            <a:endParaRPr lang="en-US" baseline="0" dirty="0"/>
          </a:p>
          <a:p>
            <a:r>
              <a:rPr lang="en-US" baseline="0" dirty="0"/>
              <a:t>How does the server know: </a:t>
            </a:r>
          </a:p>
          <a:p>
            <a:endParaRPr lang="en-US" baseline="0" dirty="0"/>
          </a:p>
          <a:p>
            <a:pPr marL="228600" indent="-228600">
              <a:buAutoNum type="arabicPeriod"/>
            </a:pPr>
            <a:r>
              <a:rPr lang="en-US" baseline="0" dirty="0"/>
              <a:t>The client has sent the SYN packet in the first place. </a:t>
            </a:r>
          </a:p>
          <a:p>
            <a:pPr marL="228600" indent="-228600">
              <a:buAutoNum type="arabicPeriod"/>
            </a:pPr>
            <a:r>
              <a:rPr lang="en-US" baseline="0" dirty="0"/>
              <a:t>The client has successfully received the SYN-ACK packet?</a:t>
            </a:r>
            <a:endParaRPr lang="en-US" dirty="0"/>
          </a:p>
        </p:txBody>
      </p:sp>
      <p:sp>
        <p:nvSpPr>
          <p:cNvPr id="4" name="Slide Number Placeholder 3"/>
          <p:cNvSpPr>
            <a:spLocks noGrp="1"/>
          </p:cNvSpPr>
          <p:nvPr>
            <p:ph type="sldNum" sz="quarter" idx="10"/>
          </p:nvPr>
        </p:nvSpPr>
        <p:spPr/>
        <p:txBody>
          <a:bodyPr/>
          <a:lstStyle/>
          <a:p>
            <a:fld id="{9B7958FA-65E4-B947-9637-582B00D33A2F}" type="slidenum">
              <a:rPr lang="en-US" smtClean="0"/>
              <a:t>36</a:t>
            </a:fld>
            <a:endParaRPr lang="en-US"/>
          </a:p>
        </p:txBody>
      </p:sp>
    </p:spTree>
    <p:extLst>
      <p:ext uri="{BB962C8B-B14F-4D97-AF65-F5344CB8AC3E}">
        <p14:creationId xmlns:p14="http://schemas.microsoft.com/office/powerpoint/2010/main" val="3212192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DNS service</a:t>
            </a:r>
            <a:r>
              <a:rPr lang="en-US" baseline="0" dirty="0"/>
              <a:t> uses </a:t>
            </a:r>
            <a:r>
              <a:rPr lang="en-US" dirty="0"/>
              <a:t>UDP service.</a:t>
            </a:r>
          </a:p>
          <a:p>
            <a:endParaRPr lang="en-US" dirty="0"/>
          </a:p>
        </p:txBody>
      </p:sp>
      <p:sp>
        <p:nvSpPr>
          <p:cNvPr id="4" name="Slide Number Placeholder 3"/>
          <p:cNvSpPr>
            <a:spLocks noGrp="1"/>
          </p:cNvSpPr>
          <p:nvPr>
            <p:ph type="sldNum" sz="quarter" idx="10"/>
          </p:nvPr>
        </p:nvSpPr>
        <p:spPr/>
        <p:txBody>
          <a:bodyPr/>
          <a:lstStyle/>
          <a:p>
            <a:fld id="{28BC6DA2-2425-7640-A467-8DCF2E5658D9}" type="slidenum">
              <a:rPr lang="en-US" smtClean="0"/>
              <a:t>38</a:t>
            </a:fld>
            <a:endParaRPr lang="en-US"/>
          </a:p>
        </p:txBody>
      </p:sp>
    </p:spTree>
    <p:extLst>
      <p:ext uri="{BB962C8B-B14F-4D97-AF65-F5344CB8AC3E}">
        <p14:creationId xmlns:p14="http://schemas.microsoft.com/office/powerpoint/2010/main" val="930381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Relatively high false positive rate in practical deployment</a:t>
            </a:r>
          </a:p>
          <a:p>
            <a:pPr lvl="1"/>
            <a:r>
              <a:rPr lang="en-US" dirty="0"/>
              <a:t>Benign behaviors could be very dynamic: anomalies can just be new normal activities</a:t>
            </a:r>
          </a:p>
          <a:p>
            <a:pPr lvl="1"/>
            <a:r>
              <a:rPr lang="en-US" dirty="0"/>
              <a:t>Anomalies caused by other element faults instead of attacks (e.g., misconfiguration, system failures…)</a:t>
            </a:r>
          </a:p>
          <a:p>
            <a:r>
              <a:rPr lang="en-US" dirty="0"/>
              <a:t>Provides little information for reaction </a:t>
            </a:r>
          </a:p>
          <a:p>
            <a:pPr lvl="1"/>
            <a:r>
              <a:rPr lang="en-US" dirty="0"/>
              <a:t>What is the type of this anomaly? Hard to know from an anomaly detection system </a:t>
            </a:r>
          </a:p>
          <a:p>
            <a:endParaRPr lang="en-US" dirty="0"/>
          </a:p>
        </p:txBody>
      </p:sp>
      <p:sp>
        <p:nvSpPr>
          <p:cNvPr id="4" name="Slide Number Placeholder 3"/>
          <p:cNvSpPr>
            <a:spLocks noGrp="1"/>
          </p:cNvSpPr>
          <p:nvPr>
            <p:ph type="sldNum" sz="quarter" idx="10"/>
          </p:nvPr>
        </p:nvSpPr>
        <p:spPr/>
        <p:txBody>
          <a:bodyPr/>
          <a:lstStyle/>
          <a:p>
            <a:fld id="{CE00B65E-69DD-A947-9E4D-510C56A319E4}" type="slidenum">
              <a:rPr lang="en-US" smtClean="0"/>
              <a:t>45</a:t>
            </a:fld>
            <a:endParaRPr lang="en-US"/>
          </a:p>
        </p:txBody>
      </p:sp>
    </p:spTree>
    <p:extLst>
      <p:ext uri="{BB962C8B-B14F-4D97-AF65-F5344CB8AC3E}">
        <p14:creationId xmlns:p14="http://schemas.microsoft.com/office/powerpoint/2010/main" val="8387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Relatively high false positive rate in practical deployment</a:t>
            </a:r>
          </a:p>
          <a:p>
            <a:pPr lvl="1"/>
            <a:r>
              <a:rPr lang="en-US" dirty="0"/>
              <a:t>Benign behaviors could be very dynamic: anomalies can just be new normal activities</a:t>
            </a:r>
          </a:p>
          <a:p>
            <a:pPr lvl="1"/>
            <a:r>
              <a:rPr lang="en-US" dirty="0"/>
              <a:t>Anomalies caused by other element faults instead of attacks (e.g., misconfiguration, system failures…)</a:t>
            </a:r>
          </a:p>
          <a:p>
            <a:r>
              <a:rPr lang="en-US" dirty="0"/>
              <a:t>Provides little information for reaction </a:t>
            </a:r>
          </a:p>
          <a:p>
            <a:pPr lvl="1"/>
            <a:r>
              <a:rPr lang="en-US" dirty="0"/>
              <a:t>What is the type of this anomaly? Hard to know from an anomaly detection system </a:t>
            </a:r>
          </a:p>
          <a:p>
            <a:endParaRPr lang="en-US" dirty="0"/>
          </a:p>
        </p:txBody>
      </p:sp>
      <p:sp>
        <p:nvSpPr>
          <p:cNvPr id="4" name="Slide Number Placeholder 3"/>
          <p:cNvSpPr>
            <a:spLocks noGrp="1"/>
          </p:cNvSpPr>
          <p:nvPr>
            <p:ph type="sldNum" sz="quarter" idx="10"/>
          </p:nvPr>
        </p:nvSpPr>
        <p:spPr/>
        <p:txBody>
          <a:bodyPr/>
          <a:lstStyle/>
          <a:p>
            <a:fld id="{CE00B65E-69DD-A947-9E4D-510C56A319E4}" type="slidenum">
              <a:rPr lang="en-US" smtClean="0"/>
              <a:t>46</a:t>
            </a:fld>
            <a:endParaRPr lang="en-US"/>
          </a:p>
        </p:txBody>
      </p:sp>
    </p:spTree>
    <p:extLst>
      <p:ext uri="{BB962C8B-B14F-4D97-AF65-F5344CB8AC3E}">
        <p14:creationId xmlns:p14="http://schemas.microsoft.com/office/powerpoint/2010/main" val="289749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Diverse, a variety of CPS. </a:t>
            </a:r>
          </a:p>
          <a:p>
            <a:endParaRPr lang="en-US" dirty="0"/>
          </a:p>
        </p:txBody>
      </p:sp>
      <p:sp>
        <p:nvSpPr>
          <p:cNvPr id="4" name="Slide Number Placeholder 3"/>
          <p:cNvSpPr>
            <a:spLocks noGrp="1"/>
          </p:cNvSpPr>
          <p:nvPr>
            <p:ph type="sldNum" sz="quarter" idx="5"/>
          </p:nvPr>
        </p:nvSpPr>
        <p:spPr/>
        <p:txBody>
          <a:bodyPr/>
          <a:lstStyle/>
          <a:p>
            <a:fld id="{EEC0BB23-5D12-4A85-BF23-3AFD0CC407DF}" type="slidenum">
              <a:rPr lang="en-US" smtClean="0"/>
              <a:t>49</a:t>
            </a:fld>
            <a:endParaRPr lang="en-US"/>
          </a:p>
        </p:txBody>
      </p:sp>
    </p:spTree>
    <p:extLst>
      <p:ext uri="{BB962C8B-B14F-4D97-AF65-F5344CB8AC3E}">
        <p14:creationId xmlns:p14="http://schemas.microsoft.com/office/powerpoint/2010/main" val="41040472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work as expected functionality</a:t>
            </a:r>
          </a:p>
          <a:p>
            <a:r>
              <a:rPr lang="en-US" dirty="0"/>
              <a:t>Business: cost</a:t>
            </a:r>
          </a:p>
          <a:p>
            <a:r>
              <a:rPr lang="en-US" dirty="0"/>
              <a:t>Human: new</a:t>
            </a:r>
          </a:p>
          <a:p>
            <a:r>
              <a:rPr lang="en-US" dirty="0"/>
              <a:t>Trustworthiness: the hardware (</a:t>
            </a:r>
            <a:r>
              <a:rPr lang="en-US" dirty="0" err="1"/>
              <a:t>fabraicated</a:t>
            </a:r>
            <a:r>
              <a:rPr lang="en-US" dirty="0"/>
              <a:t> somewhere else)/software module (developed somewhere else), can you trust them?</a:t>
            </a:r>
          </a:p>
          <a:p>
            <a:r>
              <a:rPr lang="en-US" dirty="0"/>
              <a:t>Timing: real time constraint</a:t>
            </a:r>
          </a:p>
          <a:p>
            <a:r>
              <a:rPr lang="en-US" dirty="0"/>
              <a:t>Data:</a:t>
            </a:r>
          </a:p>
          <a:p>
            <a:r>
              <a:rPr lang="en-US" dirty="0"/>
              <a:t>Boundary: within a system, or a connected system</a:t>
            </a:r>
          </a:p>
          <a:p>
            <a:endParaRPr lang="en-US" dirty="0"/>
          </a:p>
          <a:p>
            <a:r>
              <a:rPr lang="en-US" dirty="0"/>
              <a:t>Composition: Individual components work fine. When they are integrated together, problems might arise. </a:t>
            </a:r>
          </a:p>
          <a:p>
            <a:endParaRPr lang="en-US" dirty="0"/>
          </a:p>
          <a:p>
            <a:r>
              <a:rPr lang="en-US" dirty="0"/>
              <a:t>Lifecycle: </a:t>
            </a:r>
          </a:p>
          <a:p>
            <a:endParaRPr lang="en-US" dirty="0"/>
          </a:p>
        </p:txBody>
      </p:sp>
      <p:sp>
        <p:nvSpPr>
          <p:cNvPr id="4" name="Slide Number Placeholder 3"/>
          <p:cNvSpPr>
            <a:spLocks noGrp="1"/>
          </p:cNvSpPr>
          <p:nvPr>
            <p:ph type="sldNum" sz="quarter" idx="5"/>
          </p:nvPr>
        </p:nvSpPr>
        <p:spPr/>
        <p:txBody>
          <a:bodyPr/>
          <a:lstStyle/>
          <a:p>
            <a:fld id="{EEC0BB23-5D12-4A85-BF23-3AFD0CC407DF}" type="slidenum">
              <a:rPr lang="en-US" smtClean="0"/>
              <a:t>51</a:t>
            </a:fld>
            <a:endParaRPr lang="en-US"/>
          </a:p>
        </p:txBody>
      </p:sp>
    </p:spTree>
    <p:extLst>
      <p:ext uri="{BB962C8B-B14F-4D97-AF65-F5344CB8AC3E}">
        <p14:creationId xmlns:p14="http://schemas.microsoft.com/office/powerpoint/2010/main" val="30139837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is the process of gaining a deeper understanding of a system through imitation. Models specify what a system does. </a:t>
            </a:r>
          </a:p>
          <a:p>
            <a:endParaRPr lang="en-US" dirty="0"/>
          </a:p>
          <a:p>
            <a:r>
              <a:rPr lang="en-US" dirty="0"/>
              <a:t>Design is the structured creation of artifacts. It specifies how</a:t>
            </a:r>
          </a:p>
          <a:p>
            <a:r>
              <a:rPr lang="en-US" dirty="0"/>
              <a:t>a system does what it does. This includes optimization.</a:t>
            </a:r>
          </a:p>
          <a:p>
            <a:endParaRPr lang="en-US" dirty="0"/>
          </a:p>
          <a:p>
            <a:r>
              <a:rPr lang="en-US" dirty="0"/>
              <a:t>Analysis is the process of gaining a deeper understanding of</a:t>
            </a:r>
          </a:p>
          <a:p>
            <a:r>
              <a:rPr lang="en-US" dirty="0"/>
              <a:t>a system through dissection. It specifies why a system does</a:t>
            </a:r>
          </a:p>
          <a:p>
            <a:r>
              <a:rPr lang="en-US" dirty="0"/>
              <a:t>what it does (or fails to do what a model says it should do).</a:t>
            </a:r>
          </a:p>
        </p:txBody>
      </p:sp>
      <p:sp>
        <p:nvSpPr>
          <p:cNvPr id="4" name="Slide Number Placeholder 3"/>
          <p:cNvSpPr>
            <a:spLocks noGrp="1"/>
          </p:cNvSpPr>
          <p:nvPr>
            <p:ph type="sldNum" sz="quarter" idx="10"/>
          </p:nvPr>
        </p:nvSpPr>
        <p:spPr/>
        <p:txBody>
          <a:bodyPr/>
          <a:lstStyle/>
          <a:p>
            <a:fld id="{28BC6DA2-2425-7640-A467-8DCF2E5658D9}" type="slidenum">
              <a:rPr lang="en-US" smtClean="0"/>
              <a:t>52</a:t>
            </a:fld>
            <a:endParaRPr lang="en-US"/>
          </a:p>
        </p:txBody>
      </p:sp>
    </p:spTree>
    <p:extLst>
      <p:ext uri="{BB962C8B-B14F-4D97-AF65-F5344CB8AC3E}">
        <p14:creationId xmlns:p14="http://schemas.microsoft.com/office/powerpoint/2010/main" val="2532415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cost effective </a:t>
            </a:r>
            <a:r>
              <a:rPr lang="en-US" dirty="0">
                <a:solidFill>
                  <a:srgbClr val="C00000"/>
                </a:solidFill>
              </a:rPr>
              <a:t>Methodology initially developed at AFIT</a:t>
            </a:r>
          </a:p>
          <a:p>
            <a:endParaRPr lang="en-US" dirty="0">
              <a:solidFill>
                <a:srgbClr val="C00000"/>
              </a:solidFill>
            </a:endParaRPr>
          </a:p>
          <a:p>
            <a:endParaRPr lang="en-US" dirty="0"/>
          </a:p>
          <a:p>
            <a:r>
              <a:rPr lang="en-US" dirty="0"/>
              <a:t>Total system approach, focused on mission assurance, using a </a:t>
            </a:r>
            <a:r>
              <a:rPr lang="en-US" dirty="0" err="1"/>
              <a:t>unique,validated</a:t>
            </a:r>
            <a:r>
              <a:rPr lang="en-US" dirty="0"/>
              <a:t> analysis methodology</a:t>
            </a:r>
          </a:p>
        </p:txBody>
      </p:sp>
      <p:sp>
        <p:nvSpPr>
          <p:cNvPr id="4" name="Slide Number Placeholder 3"/>
          <p:cNvSpPr>
            <a:spLocks noGrp="1"/>
          </p:cNvSpPr>
          <p:nvPr>
            <p:ph type="sldNum" sz="quarter" idx="10"/>
          </p:nvPr>
        </p:nvSpPr>
        <p:spPr/>
        <p:txBody>
          <a:bodyPr/>
          <a:lstStyle/>
          <a:p>
            <a:fld id="{28BC6DA2-2425-7640-A467-8DCF2E5658D9}" type="slidenum">
              <a:rPr lang="en-US" smtClean="0"/>
              <a:t>53</a:t>
            </a:fld>
            <a:endParaRPr lang="en-US"/>
          </a:p>
        </p:txBody>
      </p:sp>
    </p:spTree>
    <p:extLst>
      <p:ext uri="{BB962C8B-B14F-4D97-AF65-F5344CB8AC3E}">
        <p14:creationId xmlns:p14="http://schemas.microsoft.com/office/powerpoint/2010/main" val="3166171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57</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dirty="0">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dirty="0">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extLst>
      <p:ext uri="{BB962C8B-B14F-4D97-AF65-F5344CB8AC3E}">
        <p14:creationId xmlns:p14="http://schemas.microsoft.com/office/powerpoint/2010/main" val="20999277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58</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Arial" pitchFamily="-109" charset="0"/>
                <a:ea typeface="Arial"/>
                <a:cs typeface="Arial"/>
                <a:sym typeface="Arial"/>
              </a:rPr>
              <a:t>A number of national and international standards document the expected formal risk analysis approach. These include ISO 27005, ISO 31000, NIST SP 800-30, and [SASN13]. This approach is often mandated by government organizations and associated businesses. These standards all broadly agree on the process used. Figure 14.3 (reproduced from figure 5 in NIST SP 800-30) illustrates a typical process used.</a:t>
            </a:r>
          </a:p>
          <a:p>
            <a:r>
              <a:rPr lang="en-US" sz="1200" b="0" i="0" u="none" strike="noStrike" kern="1200" cap="none" dirty="0">
                <a:solidFill>
                  <a:schemeClr val="tx1"/>
                </a:solidFill>
                <a:effectLst/>
                <a:latin typeface="Arial" pitchFamily="-109" charset="0"/>
                <a:ea typeface="Arial"/>
                <a:cs typeface="Arial"/>
                <a:sym typeface="Arial"/>
              </a:rPr>
              <a:t>
The steps are as follows. Step 1. Prepare for assessment, derived from organizational aspects. Step 2. Conduct risk analysis. Identify threat sources and events. Identify vulnerabilities and predisposing conditions. Determine likelihood of occurrence. Determine magnitude of impact. Determine risk. Step 3. Communicate results. Step 4. Maintain assessment.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44490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DD92B9E-3105-8417-8BDB-1A0CB9ECD707}"/>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8E63C4C5-F016-2D44-BB1C-23BE2F196610}" type="slidenum">
              <a:rPr lang="en-AU" altLang="en-US" sz="1200"/>
              <a:pPr/>
              <a:t>60</a:t>
            </a:fld>
            <a:endParaRPr lang="en-AU" altLang="en-US" sz="1200"/>
          </a:p>
        </p:txBody>
      </p:sp>
      <p:sp>
        <p:nvSpPr>
          <p:cNvPr id="39939" name="Rectangle 2">
            <a:extLst>
              <a:ext uri="{FF2B5EF4-FFF2-40B4-BE49-F238E27FC236}">
                <a16:creationId xmlns:a16="http://schemas.microsoft.com/office/drawing/2014/main" id="{84DCCFAC-2DF8-53FF-C166-48600D6EE5D2}"/>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EDF08F5B-4763-89A4-2F09-9E52A0A1A6A9}"/>
              </a:ext>
            </a:extLst>
          </p:cNvPr>
          <p:cNvSpPr>
            <a:spLocks noGrp="1" noChangeArrowheads="1"/>
          </p:cNvSpPr>
          <p:nvPr>
            <p:ph type="body" idx="1"/>
          </p:nvPr>
        </p:nvSpPr>
        <p:spPr>
          <a:noFill/>
        </p:spPr>
        <p:txBody>
          <a:bodyPr/>
          <a:lstStyle/>
          <a:p>
            <a:pPr eaLnBrk="1" hangingPunct="1"/>
            <a:r>
              <a:rPr lang="en-US" altLang="en-US">
                <a:latin typeface="Times" pitchFamily="2" charset="0"/>
              </a:rPr>
              <a:t>The next step in the process is to identify the threats or risks the assets are exposed to. It is worth commenting on the terminology used here. The terms “threat” and “risk”, whilst having distinct meanings, are often used interchangeably in this context. There is considerable variation in the definitions of these terms, as seen in the range of definitions provided in the cited standards. [ISO13335] includes the definitions shown here. The relationship between these and other security concepts is illustrated in Figure 1.2 of the text. It shows the central term </a:t>
            </a:r>
            <a:r>
              <a:rPr lang="en-US" altLang="en-US" b="1">
                <a:latin typeface="Times" pitchFamily="2" charset="0"/>
              </a:rPr>
              <a:t>risk</a:t>
            </a:r>
            <a:r>
              <a:rPr lang="en-US" altLang="en-US">
                <a:latin typeface="Times" pitchFamily="2" charset="0"/>
              </a:rPr>
              <a:t> results from a threat exploiting vulnerabilities in assets which causes loss of value to the organization.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DE16F47-4961-4B21-61F2-BE8D210BA2A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C3012B0F-AD14-B341-BDCE-5D3C07679022}" type="slidenum">
              <a:rPr lang="en-AU" altLang="en-US" sz="1200"/>
              <a:pPr/>
              <a:t>61</a:t>
            </a:fld>
            <a:endParaRPr lang="en-AU" altLang="en-US" sz="1200"/>
          </a:p>
        </p:txBody>
      </p:sp>
      <p:sp>
        <p:nvSpPr>
          <p:cNvPr id="37891" name="Rectangle 2">
            <a:extLst>
              <a:ext uri="{FF2B5EF4-FFF2-40B4-BE49-F238E27FC236}">
                <a16:creationId xmlns:a16="http://schemas.microsoft.com/office/drawing/2014/main" id="{0DDFB257-2055-3194-B78D-7F21DDF20862}"/>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27E9F88A-6201-32C3-C1EC-2C8A56937DBA}"/>
              </a:ext>
            </a:extLst>
          </p:cNvPr>
          <p:cNvSpPr>
            <a:spLocks noGrp="1" noChangeArrowheads="1"/>
          </p:cNvSpPr>
          <p:nvPr>
            <p:ph type="body" idx="1"/>
          </p:nvPr>
        </p:nvSpPr>
        <p:spPr>
          <a:noFill/>
        </p:spPr>
        <p:txBody>
          <a:bodyPr/>
          <a:lstStyle/>
          <a:p>
            <a:pPr eaLnBrk="1" hangingPunct="1"/>
            <a:r>
              <a:rPr lang="en-US" altLang="en-US">
                <a:latin typeface="Times" pitchFamily="2" charset="0"/>
              </a:rPr>
              <a:t>The last component of this first step in the risk assessment is to identify the assets to examine. This directly addresses the first of the three fundamental questions “What assets do we need to protect?”. An asset is “anything which needs to be protected” because it has value to the organization and contributes to the successful attainment of the organization’s objectives, and may be either tangible or intangible. It includes computer and communications hardware infrastructure, software including applications, information/data held on these systems, the documentation on these systems, and the people who manage and maintain these systems. Within the boundaries identified for the risk assessment, these assets need to be identified, and their value to the organization assessed. It is important to emphasize again, that whilst the ideal is to consider every conceivable asset, in practice this is not possible. Rather the goal here is to identify all assets that contribute significantly to attaining the organization’s objectives, and whose compromise or loss would seriously impact on the organizations operation.</a:t>
            </a:r>
          </a:p>
          <a:p>
            <a:pPr eaLnBrk="1" hangingPunct="1"/>
            <a:r>
              <a:rPr lang="en-US" altLang="en-US">
                <a:latin typeface="Times" pitchFamily="2" charset="0"/>
              </a:rPr>
              <a:t>Whilst the risk assessment process is most likely being managed by security experts, they will not necessarily have a high degree of familiarity with the organization’s operation and structures. Thus they need to draw on the expertise of the people in the relevant areas of the organization to identify key assets and their value to the organization. A key element of this process step is identifying and interviewing such personnel. Many of the standards listed previously include checklists of types of assets and suggestions for mechanisms for gathering the necessary information. These should be consulted and used. The outcome of this step should be a list of assets, with brief descriptions of their use by, and value to, the organization.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C6DDCF4-E331-7F5A-A6BE-FE11CB68D380}"/>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6201D67-BC5F-A740-A4EF-B34C610C1881}" type="slidenum">
              <a:rPr lang="en-AU" altLang="en-US" sz="1200"/>
              <a:pPr/>
              <a:t>62</a:t>
            </a:fld>
            <a:endParaRPr lang="en-AU" altLang="en-US" sz="1200"/>
          </a:p>
        </p:txBody>
      </p:sp>
      <p:sp>
        <p:nvSpPr>
          <p:cNvPr id="50179" name="Rectangle 2">
            <a:extLst>
              <a:ext uri="{FF2B5EF4-FFF2-40B4-BE49-F238E27FC236}">
                <a16:creationId xmlns:a16="http://schemas.microsoft.com/office/drawing/2014/main" id="{E0EF3BE2-4FC2-BE8B-479F-8C777A735652}"/>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0F3AB1E6-246F-45E4-34C0-DA157EC96834}"/>
              </a:ext>
            </a:extLst>
          </p:cNvPr>
          <p:cNvSpPr>
            <a:spLocks noGrp="1" noChangeArrowheads="1"/>
          </p:cNvSpPr>
          <p:nvPr>
            <p:ph type="body" idx="1"/>
          </p:nvPr>
        </p:nvSpPr>
        <p:spPr>
          <a:noFill/>
        </p:spPr>
        <p:txBody>
          <a:bodyPr/>
          <a:lstStyle/>
          <a:p>
            <a:pPr eaLnBrk="1" hangingPunct="1"/>
            <a:r>
              <a:rPr lang="en-US" altLang="en-US">
                <a:latin typeface="Times" pitchFamily="2" charset="0"/>
              </a:rPr>
              <a:t>The next step is to to identify and categorize the risks to assets that threaten the regular operations of the organization, and to provide information to management to help them evaluate these risks and determine how best to treat them. Risk analysis involves firstly specifying the likelihood of occurrence of each identified threat to an asset, in the context of any existing controls (management, operational and technical processes and procedures that act to reduce the exposure of the organization to some risks, by reducing the ability of a threat source to exploit some vulnerabilities). Next the consequence to the organization is determined, should that threat eventuate. Lastly this information is combined to derive an overall risk rating for each threat. The ideal would be to specify the likelihood as a probability value, and the consequence as a monetary cost to the organization should it occur. The resulting risk is then simply given as:</a:t>
            </a:r>
          </a:p>
          <a:p>
            <a:pPr eaLnBrk="1" hangingPunct="1"/>
            <a:r>
              <a:rPr lang="en-US" altLang="en-US">
                <a:latin typeface="Courier" pitchFamily="2" charset="0"/>
              </a:rPr>
              <a:t>Risk = Probability threat occurs x Cost to organization</a:t>
            </a:r>
            <a:endParaRPr lang="en-US" altLang="en-US">
              <a:latin typeface="Times" pitchFamily="2" charset="0"/>
            </a:endParaRPr>
          </a:p>
          <a:p>
            <a:pPr eaLnBrk="1" hangingPunct="1"/>
            <a:r>
              <a:rPr lang="en-US" altLang="en-US">
                <a:latin typeface="Times" pitchFamily="2" charset="0"/>
              </a:rPr>
              <a:t>This can be directly equated to the value the threatened asset has for the organization, and hence specify what level of expenditure is reasonable to reduce the probability of its occurrence to an acceptable level. Unfortunately it is often extremely hard to determine accurate probabilities, realistic cost consequences, or both. This is particularly true of intangible assets, like the loss of confidentiality of a trade secret for example. Hence most risk analyses use qualitative, rather than quantitative, ratings for both these items. The goal is then to order the resulting risks to help determine which need to be most urgently treated, rather than give them an absolute value.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59B6C1E-B24C-420D-F37B-9BF73B228A4F}"/>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DFD88C5-94D5-0547-B053-B19168377D98}" type="slidenum">
              <a:rPr lang="en-AU" altLang="en-US" sz="1200"/>
              <a:pPr/>
              <a:t>63</a:t>
            </a:fld>
            <a:endParaRPr lang="en-AU" altLang="en-US" sz="1200"/>
          </a:p>
        </p:txBody>
      </p:sp>
      <p:sp>
        <p:nvSpPr>
          <p:cNvPr id="52227" name="Rectangle 2">
            <a:extLst>
              <a:ext uri="{FF2B5EF4-FFF2-40B4-BE49-F238E27FC236}">
                <a16:creationId xmlns:a16="http://schemas.microsoft.com/office/drawing/2014/main" id="{DA0F7E89-7CC4-BA77-B15C-DA3A3081B9EA}"/>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A80284E6-ED59-983E-13E1-769C2476A9C0}"/>
              </a:ext>
            </a:extLst>
          </p:cNvPr>
          <p:cNvSpPr>
            <a:spLocks noGrp="1" noChangeArrowheads="1"/>
          </p:cNvSpPr>
          <p:nvPr>
            <p:ph type="body" idx="1"/>
          </p:nvPr>
        </p:nvSpPr>
        <p:spPr>
          <a:noFill/>
        </p:spPr>
        <p:txBody>
          <a:bodyPr/>
          <a:lstStyle/>
          <a:p>
            <a:pPr eaLnBrk="1" hangingPunct="1"/>
            <a:r>
              <a:rPr lang="en-US" altLang="en-US">
                <a:latin typeface="Times" pitchFamily="2" charset="0"/>
              </a:rPr>
              <a:t>Having identified existing controls, the likelihood that each identified threat could occur and cause harm to some asset needs to be specified. The risk analyst takes the descriptive asset and threat/vulnerability details from the preceding steps in this process, and in the light of the organizations overall risk environment and existing controls, decides the appropriate rating. This estimation relates to the likelihood of the specified threat exploiting one or more vulnerabilities to an asset or group of assets, which results in harm being caused to the organization. The likelihood is typically described qualitatively, using values and descriptions such as those shown here from Table 16.2 in the text. Whilst the various risk assessment standards all suggest tables similar to these, there is considerable variation in their detail.</a:t>
            </a:r>
          </a:p>
          <a:p>
            <a:pPr eaLnBrk="1" hangingPunct="1"/>
            <a:r>
              <a:rPr lang="en-US" altLang="en-US">
                <a:latin typeface="Times" pitchFamily="2" charset="0"/>
              </a:rPr>
              <a:t>The specified likelihood needs to be realistic. In particular, a rating of Likely or higher suggests that this threat has occurred sometime previously. This means past history provides supporting evidence for its specification. If this is not the case, then specifying such a value would need to be justified on the basis of a significantly changed threat environment, a change in the IT systems which has weakened it’s security, or some other rationale for its anticipated likely occurrence. In contrast, the Unlikely and Rare ratings can be very hard to quantify. They are an indication that the threat is of concern, but knowing whether it could potentially occur is difficult to specify. Typically such threats would only be considered if the consequences to the organization of their occurrence are so severe that they have to be considered, even if extremely improbable.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43B067C4-C8DF-19D0-625B-888E53CBC8BC}"/>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4168DB74-8350-E343-862A-0C3898B9A18A}" type="slidenum">
              <a:rPr lang="en-AU" altLang="en-US" sz="1200"/>
              <a:pPr/>
              <a:t>64</a:t>
            </a:fld>
            <a:endParaRPr lang="en-AU" altLang="en-US" sz="1200"/>
          </a:p>
        </p:txBody>
      </p:sp>
      <p:sp>
        <p:nvSpPr>
          <p:cNvPr id="54275" name="Rectangle 2">
            <a:extLst>
              <a:ext uri="{FF2B5EF4-FFF2-40B4-BE49-F238E27FC236}">
                <a16:creationId xmlns:a16="http://schemas.microsoft.com/office/drawing/2014/main" id="{E47655FA-E2AE-6921-FA8B-5AF89741611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7EA66833-F52E-A0A5-54EB-F3AD10D5A7F8}"/>
              </a:ext>
            </a:extLst>
          </p:cNvPr>
          <p:cNvSpPr>
            <a:spLocks noGrp="1" noChangeArrowheads="1"/>
          </p:cNvSpPr>
          <p:nvPr>
            <p:ph type="body" idx="1"/>
          </p:nvPr>
        </p:nvSpPr>
        <p:spPr>
          <a:noFill/>
        </p:spPr>
        <p:txBody>
          <a:bodyPr/>
          <a:lstStyle/>
          <a:p>
            <a:pPr eaLnBrk="1" hangingPunct="1"/>
            <a:r>
              <a:rPr lang="en-US" altLang="en-US">
                <a:latin typeface="Times" pitchFamily="2" charset="0"/>
              </a:rPr>
              <a:t>The analyst must then specify the consequence of a specific threat eventuating, which is distinct from, and not related to, the likelihood of the threat occurring. Rather, consequence specification indicates the impact on the organization should the particular threat in question actually eventuate. Even if a threat is regarded as rare or unlikely, if the organization would suffer severe consequence should it occur, then it clearly poses a risk to the organization. Hence, appropriate responses must be considered. A qualitative descriptive value, such as those shown here from Table 16.3 in the text, is typically used to describe the consequence. As with the likelihood ratings, there is likely to be some uncertainty as to the best rating to use.</a:t>
            </a:r>
          </a:p>
          <a:p>
            <a:pPr eaLnBrk="1" hangingPunct="1"/>
            <a:r>
              <a:rPr lang="en-US" altLang="en-US">
                <a:latin typeface="Times" pitchFamily="2" charset="0"/>
              </a:rPr>
              <a:t>This determination should be based upon the judgment of the asset’s owners, and the organization’s management, rather than the opinion of the risk analyst. This is in contrast with the likelihood determination. The specified consequence needs to be realistic. It must relate to the impact on the organization as a whole should this specific threat eventuate. It is not just the impact on the affected system. It is possible that a particular system (a server in one location for example) might be completely destroyed in a fire. However, the impact on the organization could vary from it being a minor inconvenience (the server was in a branch office, and all data was replicated elsewhere), to a major disaster (the server had the sole copy of all customer and financial records for a small business). As with the likelihood ratings, the consequence ratings must be determined knowing the organization’s current practices and arrangements. In particular the organization’s existing backup, disaster recovery, and contingency planning, or lack thereof, will influence the choice of rating.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B553CDD-8917-A6D3-AC26-6CD2A67A6E1C}"/>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A4F41674-36F7-F543-91C9-1041D7ED17A5}" type="slidenum">
              <a:rPr lang="en-AU" altLang="en-US" sz="1200"/>
              <a:pPr/>
              <a:t>65</a:t>
            </a:fld>
            <a:endParaRPr lang="en-AU" altLang="en-US" sz="1200"/>
          </a:p>
        </p:txBody>
      </p:sp>
      <p:sp>
        <p:nvSpPr>
          <p:cNvPr id="56323" name="Rectangle 2">
            <a:extLst>
              <a:ext uri="{FF2B5EF4-FFF2-40B4-BE49-F238E27FC236}">
                <a16:creationId xmlns:a16="http://schemas.microsoft.com/office/drawing/2014/main" id="{C89A87B4-2954-F607-CC42-8A90FA3F08F1}"/>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97D2B3CF-326D-F886-0958-1E83C741B894}"/>
              </a:ext>
            </a:extLst>
          </p:cNvPr>
          <p:cNvSpPr>
            <a:spLocks noGrp="1" noChangeArrowheads="1"/>
          </p:cNvSpPr>
          <p:nvPr>
            <p:ph type="body" idx="1"/>
          </p:nvPr>
        </p:nvSpPr>
        <p:spPr>
          <a:noFill/>
        </p:spPr>
        <p:txBody>
          <a:bodyPr/>
          <a:lstStyle/>
          <a:p>
            <a:pPr eaLnBrk="1" hangingPunct="1"/>
            <a:r>
              <a:rPr lang="en-US" altLang="en-US">
                <a:latin typeface="Times" pitchFamily="2" charset="0"/>
              </a:rPr>
              <a:t>Once the likelihood and consequence of each specific threat have been identified, a final level of risk can be assigned. This is typically determined using a table that maps these values to a risk level, such as those shown in Table 16.4 from the text. This table details the risk level assigned to each combination. Such a table provides the qualitative equivalent of performing the ideal risk calculation using quantitative values. It also indicates the interpretation of these assigned levels.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A934C45-B34C-B6C1-066A-EFFDE31BFD98}"/>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8877872-41DC-A64B-BF58-DEB13B86747A}" type="slidenum">
              <a:rPr lang="en-AU" altLang="en-US" sz="1200"/>
              <a:pPr/>
              <a:t>66</a:t>
            </a:fld>
            <a:endParaRPr lang="en-AU" altLang="en-US" sz="1200"/>
          </a:p>
        </p:txBody>
      </p:sp>
      <p:sp>
        <p:nvSpPr>
          <p:cNvPr id="60419" name="Rectangle 2">
            <a:extLst>
              <a:ext uri="{FF2B5EF4-FFF2-40B4-BE49-F238E27FC236}">
                <a16:creationId xmlns:a16="http://schemas.microsoft.com/office/drawing/2014/main" id="{F977821F-4708-FFFF-56C5-203F867DA37F}"/>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48DADC9-6B3A-6BCB-1368-167AFF14A6E4}"/>
              </a:ext>
            </a:extLst>
          </p:cNvPr>
          <p:cNvSpPr>
            <a:spLocks noGrp="1" noChangeArrowheads="1"/>
          </p:cNvSpPr>
          <p:nvPr>
            <p:ph type="body" idx="1"/>
          </p:nvPr>
        </p:nvSpPr>
        <p:spPr>
          <a:noFill/>
        </p:spPr>
        <p:txBody>
          <a:bodyPr/>
          <a:lstStyle/>
          <a:p>
            <a:pPr eaLnBrk="1" hangingPunct="1"/>
            <a:r>
              <a:rPr lang="en-US" altLang="en-US">
                <a:latin typeface="Times" pitchFamily="2" charset="0"/>
              </a:rPr>
              <a:t>Management may decide that for business reasons, given an overall view of the organization, some risks with lower levels should be treated ahead of other risks. This is both a reflection of limitations in the risk analysis process in the range of ratings available and their interpretation, and management’s perspective of the organization as a whole. Figure 16.5 from the text shows a range of possibilities for costs verses levels of risk. If the cost of treatment is high, but the risk is low, then it is usually uneconomic to proceed with such treatment. Alternatively, where the risk is high, and the cost comparatively low, then clearly treatment should occur. The most difficult area occurs between these extremes. This is where management must make a business decision about the most effective use of their available resources. This decision usually requires a more detailed investigation of the treatment options.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86E584F-6562-710A-040C-88ED007D4E17}"/>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C3B62C1E-DEA8-6B4F-82AD-4F94D233A35A}" type="slidenum">
              <a:rPr lang="en-AU" altLang="en-US" sz="1200"/>
              <a:pPr/>
              <a:t>67</a:t>
            </a:fld>
            <a:endParaRPr lang="en-AU" altLang="en-US" sz="1200"/>
          </a:p>
        </p:txBody>
      </p:sp>
      <p:sp>
        <p:nvSpPr>
          <p:cNvPr id="62467" name="Rectangle 2">
            <a:extLst>
              <a:ext uri="{FF2B5EF4-FFF2-40B4-BE49-F238E27FC236}">
                <a16:creationId xmlns:a16="http://schemas.microsoft.com/office/drawing/2014/main" id="{48546C05-96C1-3DD4-41B1-CCC14C6A1BD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5D932688-4D6A-EC90-BAD1-5A0F3EDE4702}"/>
              </a:ext>
            </a:extLst>
          </p:cNvPr>
          <p:cNvSpPr>
            <a:spLocks noGrp="1" noChangeArrowheads="1"/>
          </p:cNvSpPr>
          <p:nvPr>
            <p:ph type="body" idx="1"/>
          </p:nvPr>
        </p:nvSpPr>
        <p:spPr>
          <a:noFill/>
        </p:spPr>
        <p:txBody>
          <a:bodyPr/>
          <a:lstStyle/>
          <a:p>
            <a:pPr eaLnBrk="1" hangingPunct="1"/>
            <a:r>
              <a:rPr lang="en-US" altLang="en-US">
                <a:latin typeface="Times" pitchFamily="2" charset="0"/>
              </a:rPr>
              <a:t>There are five broad alternatives available to management for treating identified risks:</a:t>
            </a:r>
          </a:p>
          <a:p>
            <a:pPr eaLnBrk="1" hangingPunct="1">
              <a:buFont typeface="Symbol" pitchFamily="2" charset="2"/>
              <a:buChar char="·"/>
            </a:pPr>
            <a:r>
              <a:rPr lang="en-US" altLang="en-US" b="1">
                <a:latin typeface="Times" pitchFamily="2" charset="0"/>
              </a:rPr>
              <a:t>risk acceptance:</a:t>
            </a:r>
            <a:r>
              <a:rPr lang="en-US" altLang="en-US">
                <a:latin typeface="Times" pitchFamily="2" charset="0"/>
              </a:rPr>
              <a:t> of a risk level greater than normal for business reasons, typically due to excessive cost or time needed to treat the risk. Management must then accept responsibility for the consequences to the organization should the risk eventuate.</a:t>
            </a:r>
          </a:p>
          <a:p>
            <a:pPr eaLnBrk="1" hangingPunct="1">
              <a:buFont typeface="Symbol" pitchFamily="2" charset="2"/>
              <a:buChar char="·"/>
            </a:pPr>
            <a:r>
              <a:rPr lang="en-US" altLang="en-US" b="1">
                <a:latin typeface="Times" pitchFamily="2" charset="0"/>
              </a:rPr>
              <a:t>risk avoidance:</a:t>
            </a:r>
            <a:r>
              <a:rPr lang="en-US" altLang="en-US">
                <a:latin typeface="Times" pitchFamily="2" charset="0"/>
              </a:rPr>
              <a:t> not proceeding with the activity or system which creates this risk, resulting in loss of convenience or ability to perform some function that is useful to the organization, but traded off against the reduced risk profile.</a:t>
            </a:r>
          </a:p>
          <a:p>
            <a:pPr eaLnBrk="1" hangingPunct="1">
              <a:buFont typeface="Symbol" pitchFamily="2" charset="2"/>
              <a:buChar char="·"/>
            </a:pPr>
            <a:r>
              <a:rPr lang="en-US" altLang="en-US" b="1">
                <a:latin typeface="Times" pitchFamily="2" charset="0"/>
              </a:rPr>
              <a:t>risk transferal:</a:t>
            </a:r>
            <a:r>
              <a:rPr lang="en-US" altLang="en-US">
                <a:latin typeface="Times" pitchFamily="2" charset="0"/>
              </a:rPr>
              <a:t> sharing responsibility for the risk with a third-party. This is typically achieved by taking out insurance against the risk occurring, by entering into a contract with another organization, or by using partnership or joint venture structures to share the risks and costs should it eventuate.</a:t>
            </a:r>
          </a:p>
          <a:p>
            <a:pPr eaLnBrk="1" hangingPunct="1">
              <a:buFont typeface="Symbol" pitchFamily="2" charset="2"/>
              <a:buChar char="·"/>
            </a:pPr>
            <a:r>
              <a:rPr lang="en-US" altLang="en-US" b="1">
                <a:latin typeface="Times" pitchFamily="2" charset="0"/>
              </a:rPr>
              <a:t>reduce the consequence:</a:t>
            </a:r>
            <a:r>
              <a:rPr lang="en-US" altLang="en-US">
                <a:latin typeface="Times" pitchFamily="2" charset="0"/>
              </a:rPr>
              <a:t> by modifying the structure or use of the assets at risk to reduce the impact on the organization should the risk occur. This could be achieved by implementing controls to enable the organization to quickly recover should the risk occur. Examples include implementing an offsite backup process, developing a disaster recovery plan, or arranging for data and processing to be replicated </a:t>
            </a:r>
          </a:p>
          <a:p>
            <a:pPr eaLnBrk="1" hangingPunct="1">
              <a:buFont typeface="Symbol" pitchFamily="2" charset="2"/>
              <a:buChar char="·"/>
            </a:pPr>
            <a:r>
              <a:rPr lang="en-US" altLang="en-US" b="1">
                <a:latin typeface="Times" pitchFamily="2" charset="0"/>
              </a:rPr>
              <a:t>reduce the likelihood:</a:t>
            </a:r>
            <a:r>
              <a:rPr lang="en-US" altLang="en-US">
                <a:latin typeface="Times" pitchFamily="2" charset="0"/>
              </a:rPr>
              <a:t> by implementing suitable controls to lower the chance of the vulnerability being exploited. These could include technical or administrative controls such as deploying firewalls and access tokens, or procedures such as password complexity and change policies. Such controls aim to improve the security of the asset, making it harder for an attack to succeed by reducing the vulnerability of the asset.</a:t>
            </a:r>
          </a:p>
          <a:p>
            <a:pPr eaLnBrk="1" hangingPunct="1">
              <a:buFont typeface="Symbol" pitchFamily="2" charset="2"/>
              <a:buNone/>
            </a:pPr>
            <a:r>
              <a:rPr lang="en-US" altLang="en-US">
                <a:latin typeface="Times" pitchFamily="2" charset="0"/>
              </a:rPr>
              <a:t>If either of the last two options is chosen, then possible treatment controls need to be selected, and their cost effectiveness evaluated. We discuss this in the text chapter 17.</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68</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extLst>
      <p:ext uri="{BB962C8B-B14F-4D97-AF65-F5344CB8AC3E}">
        <p14:creationId xmlns:p14="http://schemas.microsoft.com/office/powerpoint/2010/main" val="3294355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We introduced the IT security management process in Chapter 14, illustrated by Figure 14.1. Chapter 14 focused on the earlier stages of this process. In this chapter, we focus on the latter stages, which include selecting controls, developing an implementation plan, and the follow-up monitoring of the plan’s implementation. We broadly follow the guidance provided in NIST SP 800-39 (Managing Information Security Risk: Organization, Mission, and Information System View , March 2011), which was developed by NIST in 2011 as the flagship document for providing guidance for an integrated, organization-wide program for managing information security risk, in response to FISMA. A broad summary of these steps is given in Figure 15.1. We will discuss each of these in turn.</a:t>
            </a:r>
          </a:p>
          <a:p>
            <a:r>
              <a:rPr lang="en-US" sz="1200" kern="1200" dirty="0">
                <a:solidFill>
                  <a:schemeClr val="tx1"/>
                </a:solidFill>
                <a:effectLst/>
                <a:latin typeface="Arial" pitchFamily="-110" charset="0"/>
                <a:ea typeface="ＭＳ Ｐゴシック" pitchFamily="33" charset="-128"/>
                <a:cs typeface="ＭＳ Ｐゴシック" pitchFamily="33" charset="-128"/>
              </a:rPr>
              <a:t>
The illustration involves the steps as follows.</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1. Prioritize risks, Management review of risk register.</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2. Respond to risks. Step 2 involves the following.</a:t>
            </a:r>
          </a:p>
          <a:p>
            <a:r>
              <a:rPr lang="en-US" sz="1200" kern="1200" dirty="0">
                <a:solidFill>
                  <a:schemeClr val="tx1"/>
                </a:solidFill>
                <a:effectLst/>
                <a:latin typeface="Arial" pitchFamily="-110" charset="0"/>
                <a:ea typeface="ＭＳ Ｐゴシック" pitchFamily="33" charset="-128"/>
                <a:cs typeface="ＭＳ Ｐゴシック" pitchFamily="33" charset="-128"/>
              </a:rPr>
              <a:t>• Determine risk response, accept, avoid, mitigate, share</a:t>
            </a:r>
          </a:p>
          <a:p>
            <a:r>
              <a:rPr lang="en-US" sz="1200" kern="1200" dirty="0">
                <a:solidFill>
                  <a:schemeClr val="tx1"/>
                </a:solidFill>
                <a:effectLst/>
                <a:latin typeface="Arial" pitchFamily="-110" charset="0"/>
                <a:ea typeface="ＭＳ Ｐゴシック" pitchFamily="33" charset="-128"/>
                <a:cs typeface="ＭＳ Ｐゴシック" pitchFamily="33" charset="-128"/>
              </a:rPr>
              <a:t>• Evaluate recommended control options</a:t>
            </a:r>
          </a:p>
          <a:p>
            <a:r>
              <a:rPr lang="en-US" sz="1200" kern="1200" dirty="0">
                <a:solidFill>
                  <a:schemeClr val="tx1"/>
                </a:solidFill>
                <a:effectLst/>
                <a:latin typeface="Arial" pitchFamily="-110" charset="0"/>
                <a:ea typeface="ＭＳ Ｐゴシック" pitchFamily="33" charset="-128"/>
                <a:cs typeface="ＭＳ Ｐゴシック" pitchFamily="33" charset="-128"/>
              </a:rPr>
              <a:t>• Select controls</a:t>
            </a:r>
          </a:p>
          <a:p>
            <a:r>
              <a:rPr lang="en-US" sz="1200" kern="1200" dirty="0">
                <a:solidFill>
                  <a:schemeClr val="tx1"/>
                </a:solidFill>
                <a:effectLst/>
                <a:latin typeface="Arial" pitchFamily="-110" charset="0"/>
                <a:ea typeface="ＭＳ Ｐゴシック" pitchFamily="33" charset="-128"/>
                <a:cs typeface="ＭＳ Ｐゴシック" pitchFamily="33" charset="-128"/>
              </a:rPr>
              <a:t>• Develop implementation plan</a:t>
            </a:r>
          </a:p>
          <a:p>
            <a:r>
              <a:rPr lang="en-US" sz="1200" kern="1200" dirty="0">
                <a:solidFill>
                  <a:schemeClr val="tx1"/>
                </a:solidFill>
                <a:effectLst/>
                <a:latin typeface="Arial" pitchFamily="-110" charset="0"/>
                <a:ea typeface="ＭＳ Ｐゴシック" pitchFamily="33" charset="-128"/>
                <a:cs typeface="ＭＳ Ｐゴシック" pitchFamily="33" charset="-128"/>
              </a:rPr>
              <a:t>• Implement selected controls</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3. Monitor risks. Arrows extend from one step to the other.</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12432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Some controls address multiple risks at the same time, and selecting such controls can be very cost effective. Controls can be classified as belonging to one of the following classes (although some controls include features from several of these):</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Management controls:</a:t>
            </a:r>
            <a:r>
              <a:rPr lang="en-US" sz="1200" kern="1200" dirty="0">
                <a:solidFill>
                  <a:schemeClr val="tx1"/>
                </a:solidFill>
                <a:effectLst/>
                <a:latin typeface="Arial" pitchFamily="-110" charset="0"/>
                <a:ea typeface="ＭＳ Ｐゴシック" pitchFamily="33" charset="-128"/>
                <a:cs typeface="ＭＳ Ｐゴシック" pitchFamily="33" charset="-128"/>
              </a:rPr>
              <a:t>  Focus on security policies, planning, guidelines, and standards that influence the selection of operational and technical controls to reduce the risk of loss and to protect the organization’s mission. These controls refer to issues that management needs to address. We discuss a number of these in Chapters 14 and 15.</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Operational controls:</a:t>
            </a:r>
            <a:r>
              <a:rPr lang="en-US" sz="1200" kern="1200" dirty="0">
                <a:solidFill>
                  <a:schemeClr val="tx1"/>
                </a:solidFill>
                <a:effectLst/>
                <a:latin typeface="Arial" pitchFamily="-110" charset="0"/>
                <a:ea typeface="ＭＳ Ｐゴシック" pitchFamily="33" charset="-128"/>
                <a:cs typeface="ＭＳ Ｐゴシック" pitchFamily="33" charset="-128"/>
              </a:rPr>
              <a:t>  Address the correct implementation and use of security policies and standards, ensuring consistency in security operations and correcting identified operational deficiencies. These controls relate to mechanisms and procedures that are primarily implemented by people rather than systems. They are used to improve the security of a system or group of systems. We will discuss</a:t>
            </a:r>
            <a:r>
              <a:rPr lang="en-US" sz="1200" kern="1200" baseline="0" dirty="0">
                <a:solidFill>
                  <a:schemeClr val="tx1"/>
                </a:solidFill>
                <a:effectLst/>
                <a:latin typeface="Arial" pitchFamily="-110" charset="0"/>
                <a:ea typeface="ＭＳ Ｐゴシック" pitchFamily="33" charset="-128"/>
                <a:cs typeface="ＭＳ Ｐゴシック" pitchFamily="33" charset="-128"/>
              </a:rPr>
              <a:t> </a:t>
            </a:r>
            <a:r>
              <a:rPr lang="en-US" sz="1200" kern="1200" dirty="0">
                <a:solidFill>
                  <a:schemeClr val="tx1"/>
                </a:solidFill>
                <a:effectLst/>
                <a:latin typeface="Arial" pitchFamily="-110" charset="0"/>
                <a:ea typeface="ＭＳ Ｐゴシック" pitchFamily="33" charset="-128"/>
                <a:cs typeface="ＭＳ Ｐゴシック" pitchFamily="33" charset="-128"/>
              </a:rPr>
              <a:t>some of these in Chapters 16 and 17.</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Technical controls:</a:t>
            </a:r>
            <a:r>
              <a:rPr lang="en-US" sz="1200" kern="1200" dirty="0">
                <a:solidFill>
                  <a:schemeClr val="tx1"/>
                </a:solidFill>
                <a:effectLst/>
                <a:latin typeface="Arial" pitchFamily="-110" charset="0"/>
                <a:ea typeface="ＭＳ Ｐゴシック" pitchFamily="33" charset="-128"/>
                <a:cs typeface="ＭＳ Ｐゴシック" pitchFamily="33" charset="-128"/>
              </a:rPr>
              <a:t>  Involve the correct use of hardware and software security capabilities in systems. These range from simple to complex measures that work together to secure critical and sensitive data, information, and IT systems functions.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7385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51012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0D7D6A5-14B4-4251-AB52-C8CC80D3267D}"/>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41C3D8FF-A425-459F-A521-CDCCB18CC0F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a:extLst>
              <a:ext uri="{FF2B5EF4-FFF2-40B4-BE49-F238E27FC236}">
                <a16:creationId xmlns:a16="http://schemas.microsoft.com/office/drawing/2014/main" id="{DD8A6373-ECA4-478B-AB6F-0BDA636FBA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73D9B50E-2462-4FD6-A891-6DA657347527}" type="slidenum">
              <a:rPr lang="en-US" altLang="en-US" sz="1200" smtClean="0"/>
              <a:pPr/>
              <a:t>76</a:t>
            </a:fld>
            <a:endParaRPr lang="en-US" altLang="en-US"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50CE1FEF-E644-432E-81C5-7F4574C299DD}"/>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21B64CF7-7666-4049-AB44-EE38375615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Footer Placeholder 3">
            <a:extLst>
              <a:ext uri="{FF2B5EF4-FFF2-40B4-BE49-F238E27FC236}">
                <a16:creationId xmlns:a16="http://schemas.microsoft.com/office/drawing/2014/main" id="{23531AC4-7030-4BC0-96BA-7639F3BED6A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r>
              <a:rPr lang="zh-CN" altLang="en-US" sz="1200"/>
              <a:t>Zili Shao</a:t>
            </a:r>
            <a:endParaRPr lang="en-US" altLang="zh-CN" sz="1200"/>
          </a:p>
        </p:txBody>
      </p:sp>
      <p:sp>
        <p:nvSpPr>
          <p:cNvPr id="43013" name="Slide Number Placeholder 4">
            <a:extLst>
              <a:ext uri="{FF2B5EF4-FFF2-40B4-BE49-F238E27FC236}">
                <a16:creationId xmlns:a16="http://schemas.microsoft.com/office/drawing/2014/main" id="{683AA2CF-81EC-43C5-AF39-5C81C71BC6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0BFC82CA-8436-4F81-9E5D-D5B43C9C9C22}" type="slidenum">
              <a:rPr lang="zh-CN" altLang="en-US" sz="1200" smtClean="0"/>
              <a:pPr/>
              <a:t>77</a:t>
            </a:fld>
            <a:endParaRPr lang="en-US" altLang="zh-CN"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Root cause of XSS, and CSRF: </a:t>
            </a:r>
          </a:p>
          <a:p>
            <a:pPr lvl="1"/>
            <a:r>
              <a:rPr lang="en-US" altLang="en-US"/>
              <a:t>Data </a:t>
            </a:r>
            <a:r>
              <a:rPr lang="en-US" altLang="en-US" dirty="0"/>
              <a:t>from untrusted source gets executed!</a:t>
            </a:r>
          </a:p>
          <a:p>
            <a:pPr lvl="1"/>
            <a:endParaRPr lang="en-US" altLang="en-US" dirty="0"/>
          </a:p>
          <a:p>
            <a:pPr lvl="1"/>
            <a:r>
              <a:rPr lang="en-US" altLang="en-US" dirty="0"/>
              <a:t>Data and code are mixed together</a:t>
            </a:r>
          </a:p>
          <a:p>
            <a:pPr lvl="1"/>
            <a:endParaRPr lang="en-US" altLang="en-US" dirty="0"/>
          </a:p>
          <a:p>
            <a:r>
              <a:rPr lang="en-US" altLang="en-US" dirty="0"/>
              <a:t>Root cause of SQL Injection:  Data and code are mixed together. </a:t>
            </a:r>
          </a:p>
          <a:p>
            <a:pPr lvl="1"/>
            <a:endParaRPr lang="en-US" altLang="en-US" dirty="0"/>
          </a:p>
          <a:p>
            <a:endParaRPr lang="en-US" dirty="0"/>
          </a:p>
        </p:txBody>
      </p:sp>
      <p:sp>
        <p:nvSpPr>
          <p:cNvPr id="4" name="Slide Number Placeholder 3"/>
          <p:cNvSpPr>
            <a:spLocks noGrp="1"/>
          </p:cNvSpPr>
          <p:nvPr>
            <p:ph type="sldNum" sz="quarter" idx="5"/>
          </p:nvPr>
        </p:nvSpPr>
        <p:spPr/>
        <p:txBody>
          <a:bodyPr/>
          <a:lstStyle/>
          <a:p>
            <a:fld id="{EEC0BB23-5D12-4A85-BF23-3AFD0CC407DF}" type="slidenum">
              <a:rPr lang="en-US" smtClean="0"/>
              <a:t>78</a:t>
            </a:fld>
            <a:endParaRPr lang="en-US"/>
          </a:p>
        </p:txBody>
      </p:sp>
    </p:spTree>
    <p:extLst>
      <p:ext uri="{BB962C8B-B14F-4D97-AF65-F5344CB8AC3E}">
        <p14:creationId xmlns:p14="http://schemas.microsoft.com/office/powerpoint/2010/main" val="26495206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XSS defense: CSP (Content Security Policy)</a:t>
            </a:r>
          </a:p>
        </p:txBody>
      </p:sp>
      <p:sp>
        <p:nvSpPr>
          <p:cNvPr id="4" name="Slide Number Placeholder 3"/>
          <p:cNvSpPr>
            <a:spLocks noGrp="1"/>
          </p:cNvSpPr>
          <p:nvPr>
            <p:ph type="sldNum" sz="quarter" idx="5"/>
          </p:nvPr>
        </p:nvSpPr>
        <p:spPr/>
        <p:txBody>
          <a:bodyPr/>
          <a:lstStyle/>
          <a:p>
            <a:fld id="{EEC0BB23-5D12-4A85-BF23-3AFD0CC407DF}" type="slidenum">
              <a:rPr lang="en-US" smtClean="0"/>
              <a:t>80</a:t>
            </a:fld>
            <a:endParaRPr lang="en-US"/>
          </a:p>
        </p:txBody>
      </p:sp>
    </p:spTree>
    <p:extLst>
      <p:ext uri="{BB962C8B-B14F-4D97-AF65-F5344CB8AC3E}">
        <p14:creationId xmlns:p14="http://schemas.microsoft.com/office/powerpoint/2010/main" val="35244575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6018" name="Shape 62">
            <a:extLst>
              <a:ext uri="{FF2B5EF4-FFF2-40B4-BE49-F238E27FC236}">
                <a16:creationId xmlns:a16="http://schemas.microsoft.com/office/drawing/2014/main" id="{96389C1F-8DC8-403E-BD7A-35AB7EA63041}"/>
              </a:ext>
            </a:extLst>
          </p:cNvPr>
          <p:cNvSpPr>
            <a:spLocks noGrp="1" noRot="1" noChangeAspect="1" noTextEdit="1"/>
          </p:cNvSpPr>
          <p:nvPr>
            <p:ph type="sldImg" idx="2"/>
          </p:nvPr>
        </p:nvSpPr>
        <p:spPr>
          <a:xfrm>
            <a:off x="1143000" y="685800"/>
            <a:ext cx="4572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a:round/>
          </a:ln>
        </p:spPr>
      </p:sp>
      <p:sp>
        <p:nvSpPr>
          <p:cNvPr id="86019" name="Shape 63">
            <a:extLst>
              <a:ext uri="{FF2B5EF4-FFF2-40B4-BE49-F238E27FC236}">
                <a16:creationId xmlns:a16="http://schemas.microsoft.com/office/drawing/2014/main" id="{1C674394-F1D0-44E0-A803-8E389EE15619}"/>
              </a:ext>
            </a:extLst>
          </p:cNvPr>
          <p:cNvSpPr txBox="1">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62" name="Shape 187">
            <a:extLst>
              <a:ext uri="{FF2B5EF4-FFF2-40B4-BE49-F238E27FC236}">
                <a16:creationId xmlns:a16="http://schemas.microsoft.com/office/drawing/2014/main" id="{6901891E-1986-4774-B674-162CB532EC7E}"/>
              </a:ext>
            </a:extLst>
          </p:cNvPr>
          <p:cNvSpPr>
            <a:spLocks noGrp="1" noRot="1" noChangeAspect="1" noTextEdit="1"/>
          </p:cNvSpPr>
          <p:nvPr>
            <p:ph type="sldImg" idx="2"/>
          </p:nvPr>
        </p:nvSpPr>
        <p:spPr>
          <a:xfrm>
            <a:off x="1143000" y="685800"/>
            <a:ext cx="4572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a:round/>
          </a:ln>
        </p:spPr>
      </p:sp>
      <p:sp>
        <p:nvSpPr>
          <p:cNvPr id="92163" name="Shape 188">
            <a:extLst>
              <a:ext uri="{FF2B5EF4-FFF2-40B4-BE49-F238E27FC236}">
                <a16:creationId xmlns:a16="http://schemas.microsoft.com/office/drawing/2014/main" id="{A01A77CB-3A3E-42E3-B1D6-AFFBDB92F9F0}"/>
              </a:ext>
            </a:extLst>
          </p:cNvPr>
          <p:cNvSpPr txBox="1">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4210" name="Shape 193">
            <a:extLst>
              <a:ext uri="{FF2B5EF4-FFF2-40B4-BE49-F238E27FC236}">
                <a16:creationId xmlns:a16="http://schemas.microsoft.com/office/drawing/2014/main" id="{BD5C22CF-9DAC-4F03-8C6E-5BE790AE464B}"/>
              </a:ext>
            </a:extLst>
          </p:cNvPr>
          <p:cNvSpPr>
            <a:spLocks noGrp="1" noRot="1" noChangeAspect="1" noTextEdit="1"/>
          </p:cNvSpPr>
          <p:nvPr>
            <p:ph type="sldImg" idx="2"/>
          </p:nvPr>
        </p:nvSpPr>
        <p:spPr>
          <a:xfrm>
            <a:off x="1143000" y="685800"/>
            <a:ext cx="4572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a:round/>
          </a:ln>
        </p:spPr>
      </p:sp>
      <p:sp>
        <p:nvSpPr>
          <p:cNvPr id="94211" name="Shape 194">
            <a:extLst>
              <a:ext uri="{FF2B5EF4-FFF2-40B4-BE49-F238E27FC236}">
                <a16:creationId xmlns:a16="http://schemas.microsoft.com/office/drawing/2014/main" id="{1920F180-F155-4FFC-B50E-232DEAF84BC8}"/>
              </a:ext>
            </a:extLst>
          </p:cNvPr>
          <p:cNvSpPr txBox="1">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932FFED1-536F-4CB1-AEF8-A78FD297B787}"/>
              </a:ext>
            </a:extLst>
          </p:cNvPr>
          <p:cNvSpPr>
            <a:spLocks noGrp="1" noRot="1" noChangeAspect="1" noChangeArrowheads="1" noTextEdit="1"/>
          </p:cNvSpPr>
          <p:nvPr>
            <p:ph type="sldImg"/>
          </p:nvPr>
        </p:nvSpPr>
        <p:spPr>
          <a:ln/>
        </p:spPr>
      </p:sp>
      <p:sp>
        <p:nvSpPr>
          <p:cNvPr id="109571" name="Notes Placeholder 2">
            <a:extLst>
              <a:ext uri="{FF2B5EF4-FFF2-40B4-BE49-F238E27FC236}">
                <a16:creationId xmlns:a16="http://schemas.microsoft.com/office/drawing/2014/main" id="{B05E5A32-AC13-4CC7-9FEF-09F903B98A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Root cause of SQL Injection: </a:t>
            </a:r>
          </a:p>
          <a:p>
            <a:endParaRPr lang="en-US" altLang="en-US"/>
          </a:p>
          <a:p>
            <a:r>
              <a:rPr lang="en-US" altLang="en-US"/>
              <a:t>Data and code are mixed together. </a:t>
            </a:r>
          </a:p>
          <a:p>
            <a:endParaRPr lang="en-US" altLang="en-US"/>
          </a:p>
        </p:txBody>
      </p:sp>
      <p:sp>
        <p:nvSpPr>
          <p:cNvPr id="109572" name="Slide Number Placeholder 3">
            <a:extLst>
              <a:ext uri="{FF2B5EF4-FFF2-40B4-BE49-F238E27FC236}">
                <a16:creationId xmlns:a16="http://schemas.microsoft.com/office/drawing/2014/main" id="{6D919CD5-BF88-4E32-BC83-86A4A472D4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3955A1A0-FF74-4121-B548-52EC08650FE5}" type="slidenum">
              <a:rPr lang="en-US" altLang="en-US" sz="1200" smtClean="0"/>
              <a:pPr/>
              <a:t>91</a:t>
            </a:fld>
            <a:endParaRPr lang="en-US" altLang="en-US"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74BCF4A1-CB3F-421D-A493-44EBAAFB49EE}"/>
              </a:ext>
            </a:extLst>
          </p:cNvPr>
          <p:cNvSpPr>
            <a:spLocks noGrp="1" noRot="1" noChangeAspect="1" noChangeArrowheads="1" noTextEdit="1"/>
          </p:cNvSpPr>
          <p:nvPr>
            <p:ph type="sldImg"/>
          </p:nvPr>
        </p:nvSpPr>
        <p:spPr>
          <a:ln/>
        </p:spPr>
      </p:sp>
      <p:sp>
        <p:nvSpPr>
          <p:cNvPr id="111619" name="Notes Placeholder 2">
            <a:extLst>
              <a:ext uri="{FF2B5EF4-FFF2-40B4-BE49-F238E27FC236}">
                <a16:creationId xmlns:a16="http://schemas.microsoft.com/office/drawing/2014/main" id="{5A72D7C7-A0AF-46C0-960A-6EE60B3708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1620" name="Slide Number Placeholder 3">
            <a:extLst>
              <a:ext uri="{FF2B5EF4-FFF2-40B4-BE49-F238E27FC236}">
                <a16:creationId xmlns:a16="http://schemas.microsoft.com/office/drawing/2014/main" id="{8AF65321-CFAB-4B90-9EC4-6FD1312F2F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382E9923-7148-4A5C-BF46-0B2FA7E791E4}" type="slidenum">
              <a:rPr lang="en-US" altLang="en-US" sz="1200" smtClean="0"/>
              <a:pPr/>
              <a:t>92</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A007A39-3074-A34C-A95E-587010642FD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695395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716310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007A39-3074-A34C-A95E-587010642FD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48960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007A39-3074-A34C-A95E-587010642FD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30969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007A39-3074-A34C-A95E-587010642FD0}"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461814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007A39-3074-A34C-A95E-587010642FD0}"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864581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007A39-3074-A34C-A95E-587010642FD0}"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433966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07A39-3074-A34C-A95E-587010642FD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869955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07A39-3074-A34C-A95E-587010642FD0}"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502250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266906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7178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83835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94120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593367"/>
            <a:ext cx="8520600" cy="763600"/>
          </a:xfrm>
          <a:prstGeom prst="rect">
            <a:avLst/>
          </a:prstGeom>
        </p:spPr>
        <p:txBody>
          <a:bodyPr lIns="91425" tIns="91425" rIns="91425" bIns="91425" anchor="t"/>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311700" y="1536633"/>
            <a:ext cx="8520600" cy="4555200"/>
          </a:xfrm>
          <a:prstGeom prst="rect">
            <a:avLst/>
          </a:prstGeom>
        </p:spPr>
        <p:txBody>
          <a:bodyPr lIns="91425" tIns="91425" rIns="91425" bIns="91425"/>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4" name="Shape 19">
            <a:extLst>
              <a:ext uri="{FF2B5EF4-FFF2-40B4-BE49-F238E27FC236}">
                <a16:creationId xmlns:a16="http://schemas.microsoft.com/office/drawing/2014/main" id="{1B3F57CC-3FEE-430E-BBE2-2F3F6264F38E}"/>
              </a:ext>
            </a:extLst>
          </p:cNvPr>
          <p:cNvSpPr txBox="1">
            <a:spLocks noGrp="1"/>
          </p:cNvSpPr>
          <p:nvPr>
            <p:ph type="sldNum" idx="10"/>
          </p:nvPr>
        </p:nvSpPr>
        <p:spPr>
          <a:xfrm>
            <a:off x="8472488" y="6218238"/>
            <a:ext cx="549275" cy="523875"/>
          </a:xfrm>
        </p:spPr>
        <p:txBody>
          <a:bodyPr lIns="91425" tIns="91425" rIns="91425" bIns="91425" anchor="ctr">
            <a:noAutofit/>
          </a:bodyPr>
          <a:lstStyle>
            <a:lvl1pPr>
              <a:spcBef>
                <a:spcPts val="0"/>
              </a:spcBef>
              <a:defRPr smtClean="0"/>
            </a:lvl1pPr>
          </a:lstStyle>
          <a:p>
            <a:pPr>
              <a:defRPr/>
            </a:pPr>
            <a:fld id="{29E99F60-9896-40E3-B491-92528C444B83}" type="slidenum">
              <a:rPr lang="en-GB"/>
              <a:pPr>
                <a:defRPr/>
              </a:pPr>
              <a:t>‹#›</a:t>
            </a:fld>
            <a:endParaRPr lang="en-GB"/>
          </a:p>
        </p:txBody>
      </p:sp>
    </p:spTree>
    <p:extLst>
      <p:ext uri="{BB962C8B-B14F-4D97-AF65-F5344CB8AC3E}">
        <p14:creationId xmlns:p14="http://schemas.microsoft.com/office/powerpoint/2010/main" val="2571400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007A39-3074-A34C-A95E-587010642FD0}" type="datetimeFigureOut">
              <a:rPr lang="en-US" smtClean="0"/>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ADB5E-D28B-3444-88F5-97AE990B862E}" type="slidenum">
              <a:rPr lang="en-US" smtClean="0"/>
              <a:t>‹#›</a:t>
            </a:fld>
            <a:endParaRPr lang="en-US"/>
          </a:p>
        </p:txBody>
      </p:sp>
    </p:spTree>
    <p:extLst>
      <p:ext uri="{BB962C8B-B14F-4D97-AF65-F5344CB8AC3E}">
        <p14:creationId xmlns:p14="http://schemas.microsoft.com/office/powerpoint/2010/main" val="3707798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6.emf"/><Relationship Id="rId4" Type="http://schemas.openxmlformats.org/officeDocument/2006/relationships/oleObject" Target="../embeddings/oleObject1.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8.emf"/><Relationship Id="rId4" Type="http://schemas.openxmlformats.org/officeDocument/2006/relationships/oleObject" Target="../embeddings/oleObject3.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CEG 4424/6424 Final Exam Review</a:t>
            </a:r>
          </a:p>
        </p:txBody>
      </p:sp>
      <p:sp>
        <p:nvSpPr>
          <p:cNvPr id="3" name="Subtitle 2"/>
          <p:cNvSpPr>
            <a:spLocks noGrp="1"/>
          </p:cNvSpPr>
          <p:nvPr>
            <p:ph type="subTitle" idx="1"/>
          </p:nvPr>
        </p:nvSpPr>
        <p:spPr/>
        <p:txBody>
          <a:bodyPr/>
          <a:lstStyle/>
          <a:p>
            <a:r>
              <a:rPr lang="en-US" dirty="0">
                <a:solidFill>
                  <a:schemeClr val="tx1"/>
                </a:solidFill>
              </a:rPr>
              <a:t>Meilin Liu</a:t>
            </a:r>
          </a:p>
        </p:txBody>
      </p:sp>
    </p:spTree>
    <p:extLst>
      <p:ext uri="{BB962C8B-B14F-4D97-AF65-F5344CB8AC3E}">
        <p14:creationId xmlns:p14="http://schemas.microsoft.com/office/powerpoint/2010/main" val="4195046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7A43052-985D-44E4-A33A-601B5934BD6D}"/>
              </a:ext>
            </a:extLst>
          </p:cNvPr>
          <p:cNvSpPr>
            <a:spLocks noGrp="1" noChangeArrowheads="1"/>
          </p:cNvSpPr>
          <p:nvPr>
            <p:ph type="title"/>
          </p:nvPr>
        </p:nvSpPr>
        <p:spPr/>
        <p:txBody>
          <a:bodyPr/>
          <a:lstStyle/>
          <a:p>
            <a:r>
              <a:rPr lang="en-US" altLang="en-US"/>
              <a:t>Final Exam Time and Location</a:t>
            </a:r>
          </a:p>
        </p:txBody>
      </p:sp>
      <p:sp>
        <p:nvSpPr>
          <p:cNvPr id="6147" name="Content Placeholder 2">
            <a:extLst>
              <a:ext uri="{FF2B5EF4-FFF2-40B4-BE49-F238E27FC236}">
                <a16:creationId xmlns:a16="http://schemas.microsoft.com/office/drawing/2014/main" id="{FCF2ADC3-21CB-41CA-96FF-EFD5853EEA38}"/>
              </a:ext>
            </a:extLst>
          </p:cNvPr>
          <p:cNvSpPr>
            <a:spLocks noGrp="1" noChangeArrowheads="1"/>
          </p:cNvSpPr>
          <p:nvPr>
            <p:ph idx="1"/>
          </p:nvPr>
        </p:nvSpPr>
        <p:spPr/>
        <p:txBody>
          <a:bodyPr/>
          <a:lstStyle/>
          <a:p>
            <a:r>
              <a:rPr lang="en-US" altLang="en-US" b="1" dirty="0"/>
              <a:t>All students will take the online exam. </a:t>
            </a:r>
          </a:p>
          <a:p>
            <a:pPr lvl="1"/>
            <a:r>
              <a:rPr lang="en-US" altLang="en-US" dirty="0"/>
              <a:t>the exam will be available for checking out from 10:00 am – 10:00 pm Dec. 10th, 2025</a:t>
            </a:r>
          </a:p>
          <a:p>
            <a:pPr lvl="1"/>
            <a:r>
              <a:rPr lang="en-US" altLang="en-US" b="1" dirty="0"/>
              <a:t>You will have 120 minutes to work on the exam. </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5198FFDC-BEFE-4E37-A5ED-5EBC83868286}"/>
              </a:ext>
            </a:extLst>
          </p:cNvPr>
          <p:cNvSpPr>
            <a:spLocks noGrp="1" noChangeArrowheads="1"/>
          </p:cNvSpPr>
          <p:nvPr>
            <p:ph type="title"/>
          </p:nvPr>
        </p:nvSpPr>
        <p:spPr/>
        <p:txBody>
          <a:bodyPr/>
          <a:lstStyle/>
          <a:p>
            <a:r>
              <a:rPr lang="en-US" altLang="en-US" dirty="0">
                <a:solidFill>
                  <a:srgbClr val="FF0000"/>
                </a:solidFill>
              </a:rPr>
              <a:t>Policy</a:t>
            </a:r>
          </a:p>
        </p:txBody>
      </p:sp>
      <p:sp>
        <p:nvSpPr>
          <p:cNvPr id="7171" name="Content Placeholder 2">
            <a:extLst>
              <a:ext uri="{FF2B5EF4-FFF2-40B4-BE49-F238E27FC236}">
                <a16:creationId xmlns:a16="http://schemas.microsoft.com/office/drawing/2014/main" id="{40D3EDA1-0829-435C-B073-4F3865B0ACC2}"/>
              </a:ext>
            </a:extLst>
          </p:cNvPr>
          <p:cNvSpPr>
            <a:spLocks noGrp="1" noChangeArrowheads="1"/>
          </p:cNvSpPr>
          <p:nvPr>
            <p:ph idx="1"/>
          </p:nvPr>
        </p:nvSpPr>
        <p:spPr/>
        <p:txBody>
          <a:bodyPr>
            <a:normAutofit fontScale="85000" lnSpcReduction="20000"/>
          </a:bodyPr>
          <a:lstStyle/>
          <a:p>
            <a:r>
              <a:rPr lang="en-US" altLang="en-US" dirty="0"/>
              <a:t>This is a close-book final exam</a:t>
            </a:r>
          </a:p>
          <a:p>
            <a:r>
              <a:rPr lang="en-US" altLang="en-US" dirty="0"/>
              <a:t>Students are allowed to carry a cheat sheet hand-written on a 4' by 6' note card (double sides)</a:t>
            </a:r>
          </a:p>
          <a:p>
            <a:r>
              <a:rPr lang="en-US" altLang="en-US" dirty="0"/>
              <a:t>Calculators with basic operation support (+/-/*/division) are permitted</a:t>
            </a:r>
          </a:p>
          <a:p>
            <a:r>
              <a:rPr lang="en-US" altLang="en-US" dirty="0"/>
              <a:t>You have totally 120 minutes. </a:t>
            </a:r>
          </a:p>
          <a:p>
            <a:r>
              <a:rPr lang="en-US" altLang="en-US" dirty="0"/>
              <a:t>You are not allowed to collaborate with other students during the exam</a:t>
            </a:r>
          </a:p>
          <a:p>
            <a:r>
              <a:rPr lang="en-US" altLang="en-US" dirty="0"/>
              <a:t>No aid given, received, or observed.</a:t>
            </a:r>
          </a:p>
          <a:p>
            <a:r>
              <a:rPr lang="en-US" altLang="en-US" dirty="0"/>
              <a:t>You will be given credits only for what appears in your submission.</a:t>
            </a:r>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23008F9-8E93-4767-8F0B-AC337E3F39A2}"/>
              </a:ext>
            </a:extLst>
          </p:cNvPr>
          <p:cNvSpPr>
            <a:spLocks noGrp="1" noChangeArrowheads="1"/>
          </p:cNvSpPr>
          <p:nvPr>
            <p:ph type="title"/>
          </p:nvPr>
        </p:nvSpPr>
        <p:spPr/>
        <p:txBody>
          <a:bodyPr/>
          <a:lstStyle/>
          <a:p>
            <a:r>
              <a:rPr lang="en-US" altLang="en-US"/>
              <a:t>Policy (Cont.)</a:t>
            </a:r>
          </a:p>
        </p:txBody>
      </p:sp>
      <p:sp>
        <p:nvSpPr>
          <p:cNvPr id="8195" name="Content Placeholder 2">
            <a:extLst>
              <a:ext uri="{FF2B5EF4-FFF2-40B4-BE49-F238E27FC236}">
                <a16:creationId xmlns:a16="http://schemas.microsoft.com/office/drawing/2014/main" id="{8700C235-3699-446D-A6C8-87A30FC8D26B}"/>
              </a:ext>
            </a:extLst>
          </p:cNvPr>
          <p:cNvSpPr>
            <a:spLocks noGrp="1" noChangeArrowheads="1"/>
          </p:cNvSpPr>
          <p:nvPr>
            <p:ph idx="1"/>
          </p:nvPr>
        </p:nvSpPr>
        <p:spPr/>
        <p:txBody>
          <a:bodyPr/>
          <a:lstStyle/>
          <a:p>
            <a:r>
              <a:rPr lang="en-US" altLang="en-US" b="1"/>
              <a:t>Students should never share questions or answers of the exam paper with other students. </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noChangeArrowheads="1"/>
          </p:cNvSpPr>
          <p:nvPr>
            <p:ph type="title"/>
          </p:nvPr>
        </p:nvSpPr>
        <p:spPr/>
        <p:txBody>
          <a:bodyPr/>
          <a:lstStyle/>
          <a:p>
            <a:r>
              <a:rPr lang="en-US" altLang="en-US" dirty="0">
                <a:solidFill>
                  <a:srgbClr val="C00000"/>
                </a:solidFill>
              </a:rPr>
              <a:t>Questions</a:t>
            </a:r>
          </a:p>
        </p:txBody>
      </p:sp>
      <p:sp>
        <p:nvSpPr>
          <p:cNvPr id="8195" name="Content Placeholder 2"/>
          <p:cNvSpPr>
            <a:spLocks noGrp="1" noChangeArrowheads="1"/>
          </p:cNvSpPr>
          <p:nvPr>
            <p:ph idx="1"/>
          </p:nvPr>
        </p:nvSpPr>
        <p:spPr/>
        <p:txBody>
          <a:bodyPr/>
          <a:lstStyle/>
          <a:p>
            <a:r>
              <a:rPr lang="en-US" altLang="en-US" dirty="0"/>
              <a:t>Questions</a:t>
            </a:r>
          </a:p>
          <a:p>
            <a:pPr lvl="1"/>
            <a:r>
              <a:rPr lang="en-US" altLang="en-US" dirty="0"/>
              <a:t>True/False</a:t>
            </a:r>
          </a:p>
          <a:p>
            <a:pPr lvl="1"/>
            <a:r>
              <a:rPr lang="en-US" altLang="en-US" dirty="0"/>
              <a:t>Filling blanks</a:t>
            </a:r>
          </a:p>
          <a:p>
            <a:pPr lvl="1"/>
            <a:r>
              <a:rPr lang="en-US" altLang="en-US" dirty="0"/>
              <a:t>Multiple choices</a:t>
            </a:r>
          </a:p>
          <a:p>
            <a:pPr lvl="1"/>
            <a:r>
              <a:rPr lang="en-US" altLang="en-US" dirty="0"/>
              <a:t>Short questions</a:t>
            </a:r>
          </a:p>
          <a:p>
            <a:pPr lvl="1"/>
            <a:r>
              <a:rPr lang="en-US" altLang="en-US" dirty="0"/>
              <a:t>Computation questions</a:t>
            </a:r>
          </a:p>
        </p:txBody>
      </p:sp>
    </p:spTree>
    <p:extLst>
      <p:ext uri="{BB962C8B-B14F-4D97-AF65-F5344CB8AC3E}">
        <p14:creationId xmlns:p14="http://schemas.microsoft.com/office/powerpoint/2010/main" val="827294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17C1-E44D-444A-B76D-066BE770AEBC}"/>
              </a:ext>
            </a:extLst>
          </p:cNvPr>
          <p:cNvSpPr>
            <a:spLocks noGrp="1"/>
          </p:cNvSpPr>
          <p:nvPr>
            <p:ph type="title"/>
          </p:nvPr>
        </p:nvSpPr>
        <p:spPr/>
        <p:txBody>
          <a:bodyPr/>
          <a:lstStyle/>
          <a:p>
            <a:r>
              <a:rPr lang="en-US" dirty="0">
                <a:solidFill>
                  <a:srgbClr val="C00000"/>
                </a:solidFill>
              </a:rPr>
              <a:t>Topics</a:t>
            </a:r>
          </a:p>
        </p:txBody>
      </p:sp>
      <p:sp>
        <p:nvSpPr>
          <p:cNvPr id="3" name="Content Placeholder 2">
            <a:extLst>
              <a:ext uri="{FF2B5EF4-FFF2-40B4-BE49-F238E27FC236}">
                <a16:creationId xmlns:a16="http://schemas.microsoft.com/office/drawing/2014/main" id="{6D5F70CF-292E-C848-8970-FC2B927D64B5}"/>
              </a:ext>
            </a:extLst>
          </p:cNvPr>
          <p:cNvSpPr>
            <a:spLocks noGrp="1"/>
          </p:cNvSpPr>
          <p:nvPr>
            <p:ph idx="1"/>
          </p:nvPr>
        </p:nvSpPr>
        <p:spPr>
          <a:xfrm>
            <a:off x="457200" y="1215521"/>
            <a:ext cx="8229600" cy="4525963"/>
          </a:xfrm>
        </p:spPr>
        <p:txBody>
          <a:bodyPr>
            <a:normAutofit fontScale="77500" lnSpcReduction="20000"/>
          </a:bodyPr>
          <a:lstStyle/>
          <a:p>
            <a:r>
              <a:rPr lang="en-US" sz="2400" dirty="0"/>
              <a:t>Software Security, BOF</a:t>
            </a:r>
          </a:p>
          <a:p>
            <a:r>
              <a:rPr lang="en-US" sz="2400" dirty="0"/>
              <a:t>OS Security</a:t>
            </a:r>
          </a:p>
          <a:p>
            <a:r>
              <a:rPr lang="en-US" sz="2400" dirty="0"/>
              <a:t>Introduction to Networking</a:t>
            </a:r>
          </a:p>
          <a:p>
            <a:r>
              <a:rPr lang="en-US" sz="2400" dirty="0"/>
              <a:t>Network Security</a:t>
            </a:r>
          </a:p>
          <a:p>
            <a:pPr lvl="1"/>
            <a:r>
              <a:rPr lang="en-US" sz="2000" dirty="0"/>
              <a:t>SYN Flood Attack</a:t>
            </a:r>
          </a:p>
          <a:p>
            <a:pPr lvl="1"/>
            <a:r>
              <a:rPr lang="en-US" sz="2000" dirty="0"/>
              <a:t>SYN cookies</a:t>
            </a:r>
          </a:p>
          <a:p>
            <a:pPr lvl="1"/>
            <a:r>
              <a:rPr lang="en-US" sz="2000" dirty="0"/>
              <a:t>Forged RST packets</a:t>
            </a:r>
          </a:p>
          <a:p>
            <a:pPr lvl="1"/>
            <a:r>
              <a:rPr lang="en-US" sz="2000" dirty="0"/>
              <a:t>DNS poisoning attack</a:t>
            </a:r>
          </a:p>
          <a:p>
            <a:pPr lvl="1"/>
            <a:r>
              <a:rPr lang="en-US" sz="2000" dirty="0"/>
              <a:t>0x20 Encoding</a:t>
            </a:r>
          </a:p>
          <a:p>
            <a:r>
              <a:rPr lang="en-US" sz="2400" dirty="0"/>
              <a:t>Intrusion Detection</a:t>
            </a:r>
          </a:p>
          <a:p>
            <a:pPr lvl="1"/>
            <a:r>
              <a:rPr lang="en-US" sz="2000" dirty="0"/>
              <a:t>Misuse Detection</a:t>
            </a:r>
          </a:p>
          <a:p>
            <a:pPr lvl="1"/>
            <a:r>
              <a:rPr lang="en-US" sz="2000" dirty="0"/>
              <a:t>Anomaly Detection</a:t>
            </a:r>
          </a:p>
          <a:p>
            <a:pPr lvl="1"/>
            <a:r>
              <a:rPr lang="en-US" sz="2000" dirty="0"/>
              <a:t>Signature Generation</a:t>
            </a:r>
          </a:p>
          <a:p>
            <a:r>
              <a:rPr lang="en-US" sz="2400" dirty="0"/>
              <a:t>Cyber Physical System </a:t>
            </a:r>
          </a:p>
          <a:p>
            <a:r>
              <a:rPr lang="en-US" sz="2400" dirty="0"/>
              <a:t>Risk Management</a:t>
            </a:r>
          </a:p>
          <a:p>
            <a:r>
              <a:rPr lang="en-US" sz="2400" dirty="0"/>
              <a:t>Web Security</a:t>
            </a:r>
          </a:p>
          <a:p>
            <a:pPr marL="0" indent="0">
              <a:buNone/>
            </a:pPr>
            <a:endParaRPr lang="en-US" sz="2400" dirty="0"/>
          </a:p>
          <a:p>
            <a:endParaRPr lang="en-US" sz="2400" dirty="0"/>
          </a:p>
          <a:p>
            <a:endParaRPr lang="en-US" sz="2400" dirty="0"/>
          </a:p>
          <a:p>
            <a:endParaRPr lang="en-US" dirty="0"/>
          </a:p>
        </p:txBody>
      </p:sp>
    </p:spTree>
    <p:extLst>
      <p:ext uri="{BB962C8B-B14F-4D97-AF65-F5344CB8AC3E}">
        <p14:creationId xmlns:p14="http://schemas.microsoft.com/office/powerpoint/2010/main" val="4193656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6789773" y="1280557"/>
            <a:ext cx="2161576"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3037106" y="1280557"/>
            <a:ext cx="3491434"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97862" y="1280557"/>
            <a:ext cx="2602338" cy="4760647"/>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97862" y="1740803"/>
            <a:ext cx="2602338" cy="3754874"/>
          </a:xfrm>
          <a:prstGeom prst="rect">
            <a:avLst/>
          </a:prstGeom>
          <a:noFill/>
        </p:spPr>
        <p:txBody>
          <a:bodyPr wrap="square" rtlCol="0">
            <a:spAutoFit/>
          </a:bodyPr>
          <a:lstStyle/>
          <a:p>
            <a:r>
              <a:rPr lang="en-US" sz="1400" dirty="0">
                <a:latin typeface="Segoe UI Semibold" pitchFamily="34" charset="0"/>
                <a:ea typeface="Verdana" pitchFamily="34" charset="0"/>
                <a:cs typeface="Verdana" pitchFamily="34" charset="0"/>
              </a:rPr>
              <a:t>#include &lt;</a:t>
            </a:r>
            <a:r>
              <a:rPr lang="en-US" sz="1400" dirty="0" err="1">
                <a:latin typeface="Segoe UI Semibold" pitchFamily="34" charset="0"/>
                <a:ea typeface="Verdana" pitchFamily="34" charset="0"/>
                <a:cs typeface="Verdana" pitchFamily="34" charset="0"/>
              </a:rPr>
              <a:t>string.h</a:t>
            </a:r>
            <a:r>
              <a:rPr lang="en-US" sz="1400" dirty="0">
                <a:latin typeface="Segoe UI Semibold" pitchFamily="34" charset="0"/>
                <a:ea typeface="Verdana" pitchFamily="34" charset="0"/>
                <a:cs typeface="Verdana" pitchFamily="34" charset="0"/>
              </a:rPr>
              <a:t>&gt;</a:t>
            </a:r>
          </a:p>
          <a:p>
            <a:endParaRPr lang="en-US" sz="1400" dirty="0">
              <a:latin typeface="Segoe UI Semibold" pitchFamily="34" charset="0"/>
              <a:ea typeface="Verdana" pitchFamily="34" charset="0"/>
              <a:cs typeface="Verdana" pitchFamily="34" charset="0"/>
            </a:endParaRPr>
          </a:p>
          <a:p>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main (</a:t>
            </a:r>
            <a:r>
              <a:rPr lang="en-US" sz="1400" dirty="0" err="1">
                <a:latin typeface="Segoe UI Semibold" pitchFamily="34" charset="0"/>
                <a:ea typeface="Verdana" pitchFamily="34" charset="0"/>
                <a:cs typeface="Verdana" pitchFamily="34" charset="0"/>
              </a:rPr>
              <a:t>int</a:t>
            </a:r>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argc</a:t>
            </a:r>
            <a:r>
              <a:rPr lang="en-US" sz="1400" dirty="0">
                <a:latin typeface="Segoe UI Semibold" pitchFamily="34" charset="0"/>
                <a:ea typeface="Verdana" pitchFamily="34" charset="0"/>
                <a:cs typeface="Verdana" pitchFamily="34" charset="0"/>
              </a:rPr>
              <a:t>, char **</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“CEG”);</a:t>
            </a:r>
          </a:p>
          <a:p>
            <a:r>
              <a:rPr lang="en-US" sz="1400" dirty="0">
                <a:latin typeface="Segoe UI Semibold" pitchFamily="34" charset="0"/>
                <a:ea typeface="Verdana" pitchFamily="34" charset="0"/>
                <a:cs typeface="Verdana" pitchFamily="34" charset="0"/>
              </a:rPr>
              <a:t>   foo(</a:t>
            </a:r>
            <a:r>
              <a:rPr lang="en-US" sz="1400" dirty="0" err="1">
                <a:latin typeface="Segoe UI Semibold" pitchFamily="34" charset="0"/>
                <a:ea typeface="Verdana" pitchFamily="34" charset="0"/>
                <a:cs typeface="Verdana" pitchFamily="34" charset="0"/>
              </a:rPr>
              <a:t>argv</a:t>
            </a:r>
            <a:r>
              <a:rPr lang="en-US" sz="1400" dirty="0">
                <a:latin typeface="Segoe UI Semibold" pitchFamily="34" charset="0"/>
                <a:ea typeface="Verdana" pitchFamily="34" charset="0"/>
                <a:cs typeface="Verdana" pitchFamily="34" charset="0"/>
              </a:rPr>
              <a:t>[1]);</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printf</a:t>
            </a:r>
            <a:r>
              <a:rPr lang="en-US" sz="1400" dirty="0">
                <a:latin typeface="Segoe UI Semibold" pitchFamily="34" charset="0"/>
                <a:ea typeface="Verdana" pitchFamily="34" charset="0"/>
                <a:cs typeface="Verdana" pitchFamily="34" charset="0"/>
              </a:rPr>
              <a:t>(“%s”, “7900”)</a:t>
            </a:r>
          </a:p>
          <a:p>
            <a:r>
              <a:rPr lang="en-US" sz="1400" dirty="0">
                <a:latin typeface="Segoe UI Semibold" pitchFamily="34" charset="0"/>
                <a:ea typeface="Verdana" pitchFamily="34" charset="0"/>
                <a:cs typeface="Verdana" pitchFamily="34" charset="0"/>
              </a:rPr>
              <a:t>}</a:t>
            </a:r>
          </a:p>
          <a:p>
            <a:endParaRPr lang="en-US" sz="1400" dirty="0">
              <a:latin typeface="Segoe UI Semibold" pitchFamily="34" charset="0"/>
              <a:ea typeface="Verdana" pitchFamily="34" charset="0"/>
              <a:cs typeface="Verdana" pitchFamily="34" charset="0"/>
            </a:endParaRPr>
          </a:p>
          <a:p>
            <a:endParaRPr lang="en-US" sz="1400" dirty="0">
              <a:latin typeface="Segoe UI Semibold" pitchFamily="34" charset="0"/>
              <a:ea typeface="Verdana" pitchFamily="34" charset="0"/>
              <a:cs typeface="Verdana" pitchFamily="34" charset="0"/>
            </a:endParaRPr>
          </a:p>
          <a:p>
            <a:endParaRPr lang="en-US" sz="1400" dirty="0">
              <a:latin typeface="Segoe UI Semibold" pitchFamily="34" charset="0"/>
              <a:ea typeface="Verdana" pitchFamily="34" charset="0"/>
              <a:cs typeface="Verdana" pitchFamily="34" charset="0"/>
            </a:endParaRPr>
          </a:p>
          <a:p>
            <a:r>
              <a:rPr lang="en-US" sz="1400" dirty="0">
                <a:latin typeface="Segoe UI Semibold" pitchFamily="34" charset="0"/>
                <a:ea typeface="Verdana" pitchFamily="34" charset="0"/>
                <a:cs typeface="Verdana" pitchFamily="34" charset="0"/>
              </a:rPr>
              <a:t>void foo (char *bar)</a:t>
            </a:r>
          </a:p>
          <a:p>
            <a:r>
              <a:rPr lang="en-US" sz="1400" dirty="0">
                <a:latin typeface="Segoe UI Semibold" pitchFamily="34" charset="0"/>
                <a:ea typeface="Verdana" pitchFamily="34" charset="0"/>
                <a:cs typeface="Verdana" pitchFamily="34" charset="0"/>
              </a:rPr>
              <a:t>{</a:t>
            </a:r>
          </a:p>
          <a:p>
            <a:r>
              <a:rPr lang="en-US" sz="1400" dirty="0">
                <a:latin typeface="Segoe UI Semibold" pitchFamily="34" charset="0"/>
                <a:ea typeface="Verdana" pitchFamily="34" charset="0"/>
                <a:cs typeface="Verdana" pitchFamily="34" charset="0"/>
              </a:rPr>
              <a:t>   char c[12];</a:t>
            </a:r>
          </a:p>
          <a:p>
            <a:r>
              <a:rPr lang="en-US" sz="1400" dirty="0">
                <a:latin typeface="Segoe UI Semibold" pitchFamily="34" charset="0"/>
                <a:ea typeface="Verdana" pitchFamily="34" charset="0"/>
                <a:cs typeface="Verdana" pitchFamily="34" charset="0"/>
              </a:rPr>
              <a:t>   </a:t>
            </a:r>
            <a:r>
              <a:rPr lang="en-US" sz="1400" dirty="0" err="1">
                <a:latin typeface="Segoe UI Semibold" pitchFamily="34" charset="0"/>
                <a:ea typeface="Verdana" pitchFamily="34" charset="0"/>
                <a:cs typeface="Verdana" pitchFamily="34" charset="0"/>
              </a:rPr>
              <a:t>strcpy</a:t>
            </a:r>
            <a:r>
              <a:rPr lang="en-US" sz="1400" dirty="0">
                <a:latin typeface="Segoe UI Semibold" pitchFamily="34" charset="0"/>
                <a:ea typeface="Verdana" pitchFamily="34" charset="0"/>
                <a:cs typeface="Verdana" pitchFamily="34" charset="0"/>
              </a:rPr>
              <a:t> (c, bar); //no bound</a:t>
            </a:r>
          </a:p>
          <a:p>
            <a:r>
              <a:rPr lang="en-US" sz="1400" dirty="0">
                <a:latin typeface="Segoe UI Semibold" pitchFamily="34" charset="0"/>
                <a:ea typeface="Verdana" pitchFamily="34" charset="0"/>
                <a:cs typeface="Verdana" pitchFamily="34" charset="0"/>
              </a:rPr>
              <a:t>}</a:t>
            </a:r>
          </a:p>
          <a:p>
            <a:endParaRPr lang="en-US" sz="1400" dirty="0">
              <a:latin typeface="Segoe UI Semibold" pitchFamily="34" charset="0"/>
              <a:ea typeface="Verdana" pitchFamily="34" charset="0"/>
              <a:cs typeface="Verdana" pitchFamily="34" charset="0"/>
            </a:endParaRPr>
          </a:p>
        </p:txBody>
      </p:sp>
      <p:grpSp>
        <p:nvGrpSpPr>
          <p:cNvPr id="11" name="Group 10"/>
          <p:cNvGrpSpPr/>
          <p:nvPr/>
        </p:nvGrpSpPr>
        <p:grpSpPr>
          <a:xfrm>
            <a:off x="3192381" y="1532436"/>
            <a:ext cx="3166719" cy="1941680"/>
            <a:chOff x="5942683" y="1906856"/>
            <a:chExt cx="1115262" cy="1941680"/>
          </a:xfrm>
          <a:solidFill>
            <a:srgbClr val="FAC090"/>
          </a:solidFill>
        </p:grpSpPr>
        <p:sp>
          <p:nvSpPr>
            <p:cNvPr id="8" name="TextBox 7"/>
            <p:cNvSpPr txBox="1"/>
            <p:nvPr/>
          </p:nvSpPr>
          <p:spPr>
            <a:xfrm>
              <a:off x="5942684" y="2553187"/>
              <a:ext cx="1115261" cy="646331"/>
            </a:xfrm>
            <a:prstGeom prst="rect">
              <a:avLst/>
            </a:prstGeom>
            <a:grpFill/>
            <a:ln>
              <a:solidFill>
                <a:schemeClr val="tx1"/>
              </a:solidFill>
            </a:ln>
          </p:spPr>
          <p:txBody>
            <a:bodyPr wrap="square" rtlCol="0">
              <a:spAutoFit/>
            </a:bodyPr>
            <a:lstStyle/>
            <a:p>
              <a:r>
                <a:rPr lang="en-US" dirty="0"/>
                <a:t>push </a:t>
              </a:r>
              <a:r>
                <a:rPr lang="en-US" dirty="0" err="1"/>
                <a:t>argv</a:t>
              </a:r>
              <a:r>
                <a:rPr lang="en-US" dirty="0"/>
                <a:t>[1]</a:t>
              </a:r>
            </a:p>
            <a:p>
              <a:r>
                <a:rPr lang="en-US" b="1" i="1" dirty="0"/>
                <a:t>call</a:t>
              </a:r>
              <a:r>
                <a:rPr lang="en-US" dirty="0"/>
                <a:t> foo	</a:t>
              </a:r>
              <a:r>
                <a:rPr lang="en-US" i="1" dirty="0"/>
                <a:t>#EIP will be pushed</a:t>
              </a:r>
            </a:p>
          </p:txBody>
        </p:sp>
        <p:sp>
          <p:nvSpPr>
            <p:cNvPr id="9" name="TextBox 8"/>
            <p:cNvSpPr txBox="1"/>
            <p:nvPr/>
          </p:nvSpPr>
          <p:spPr>
            <a:xfrm>
              <a:off x="5942684" y="1906856"/>
              <a:ext cx="1115261" cy="646331"/>
            </a:xfrm>
            <a:prstGeom prst="rect">
              <a:avLst/>
            </a:prstGeom>
            <a:grpFill/>
            <a:ln>
              <a:solidFill>
                <a:schemeClr val="tx1"/>
              </a:solidFill>
            </a:ln>
          </p:spPr>
          <p:txBody>
            <a:bodyPr wrap="square" rtlCol="0">
              <a:spAutoFit/>
            </a:bodyPr>
            <a:lstStyle/>
            <a:p>
              <a:r>
                <a:rPr lang="en-US" dirty="0"/>
                <a:t>XXX</a:t>
              </a:r>
            </a:p>
            <a:p>
              <a:r>
                <a:rPr lang="en-US" dirty="0"/>
                <a:t>YYY          </a:t>
              </a:r>
              <a:r>
                <a:rPr lang="en-US" i="1" dirty="0"/>
                <a:t># </a:t>
              </a:r>
              <a:r>
                <a:rPr lang="en-US" i="1" dirty="0" err="1"/>
                <a:t>instrs</a:t>
              </a:r>
              <a:r>
                <a:rPr lang="en-US" i="1" dirty="0"/>
                <a:t> for </a:t>
              </a:r>
              <a:r>
                <a:rPr lang="en-US" i="1" dirty="0" err="1"/>
                <a:t>printf</a:t>
              </a:r>
              <a:endParaRPr lang="en-US" i="1" dirty="0"/>
            </a:p>
          </p:txBody>
        </p:sp>
        <p:sp>
          <p:nvSpPr>
            <p:cNvPr id="10" name="TextBox 9"/>
            <p:cNvSpPr txBox="1"/>
            <p:nvPr/>
          </p:nvSpPr>
          <p:spPr>
            <a:xfrm>
              <a:off x="5942683" y="3202205"/>
              <a:ext cx="1115262" cy="646331"/>
            </a:xfrm>
            <a:prstGeom prst="rect">
              <a:avLst/>
            </a:prstGeom>
            <a:grpFill/>
            <a:ln>
              <a:solidFill>
                <a:schemeClr val="tx1"/>
              </a:solidFill>
            </a:ln>
          </p:spPr>
          <p:txBody>
            <a:bodyPr wrap="square" rtlCol="0">
              <a:spAutoFit/>
            </a:bodyPr>
            <a:lstStyle/>
            <a:p>
              <a:r>
                <a:rPr lang="en-US" dirty="0"/>
                <a:t>ZZZ</a:t>
              </a:r>
            </a:p>
            <a:p>
              <a:r>
                <a:rPr lang="en-US" dirty="0"/>
                <a:t>KKK		</a:t>
              </a:r>
              <a:r>
                <a:rPr lang="en-US" i="1" dirty="0"/>
                <a:t># </a:t>
              </a:r>
              <a:r>
                <a:rPr lang="en-US" i="1" dirty="0" err="1"/>
                <a:t>instrs</a:t>
              </a:r>
              <a:r>
                <a:rPr lang="en-US" i="1" dirty="0"/>
                <a:t> for </a:t>
              </a:r>
              <a:r>
                <a:rPr lang="en-US" i="1" dirty="0" err="1"/>
                <a:t>printf</a:t>
              </a:r>
              <a:endParaRPr lang="en-US" i="1" dirty="0"/>
            </a:p>
          </p:txBody>
        </p:sp>
      </p:grpSp>
      <p:sp>
        <p:nvSpPr>
          <p:cNvPr id="12" name="TextBox 11"/>
          <p:cNvSpPr txBox="1"/>
          <p:nvPr/>
        </p:nvSpPr>
        <p:spPr>
          <a:xfrm>
            <a:off x="3180055" y="3835019"/>
            <a:ext cx="3166714" cy="2031325"/>
          </a:xfrm>
          <a:prstGeom prst="rect">
            <a:avLst/>
          </a:prstGeom>
          <a:solidFill>
            <a:srgbClr val="FAC090"/>
          </a:solidFill>
          <a:ln>
            <a:solidFill>
              <a:schemeClr val="tx1"/>
            </a:solidFill>
          </a:ln>
        </p:spPr>
        <p:txBody>
          <a:bodyPr wrap="square" rtlCol="0">
            <a:spAutoFit/>
          </a:bodyPr>
          <a:lstStyle/>
          <a:p>
            <a:r>
              <a:rPr lang="en-US" dirty="0"/>
              <a:t>push EBP</a:t>
            </a:r>
          </a:p>
          <a:p>
            <a:r>
              <a:rPr lang="en-US" dirty="0" err="1"/>
              <a:t>mov</a:t>
            </a:r>
            <a:r>
              <a:rPr lang="en-US" dirty="0"/>
              <a:t> ESP, EBP</a:t>
            </a:r>
          </a:p>
          <a:p>
            <a:r>
              <a:rPr lang="en-US" dirty="0"/>
              <a:t>sub 12 ESP 	</a:t>
            </a:r>
            <a:r>
              <a:rPr lang="en-US" i="1" dirty="0"/>
              <a:t>#Allocate buffer</a:t>
            </a:r>
          </a:p>
          <a:p>
            <a:r>
              <a:rPr lang="en-US" dirty="0"/>
              <a:t>copy data</a:t>
            </a:r>
          </a:p>
          <a:p>
            <a:r>
              <a:rPr lang="en-US" dirty="0" err="1"/>
              <a:t>mov</a:t>
            </a:r>
            <a:r>
              <a:rPr lang="en-US" dirty="0"/>
              <a:t> EBP ESP</a:t>
            </a:r>
          </a:p>
          <a:p>
            <a:r>
              <a:rPr lang="en-US" dirty="0"/>
              <a:t>pop EBP</a:t>
            </a:r>
          </a:p>
          <a:p>
            <a:r>
              <a:rPr lang="en-US" b="1" i="1" dirty="0">
                <a:solidFill>
                  <a:srgbClr val="000000"/>
                </a:solidFill>
              </a:rPr>
              <a:t>ret</a:t>
            </a:r>
          </a:p>
        </p:txBody>
      </p:sp>
      <p:cxnSp>
        <p:nvCxnSpPr>
          <p:cNvPr id="4" name="Straight Arrow Connector 3"/>
          <p:cNvCxnSpPr>
            <a:endCxn id="9" idx="1"/>
          </p:cNvCxnSpPr>
          <p:nvPr/>
        </p:nvCxnSpPr>
        <p:spPr>
          <a:xfrm flipV="1">
            <a:off x="1995055" y="1855602"/>
            <a:ext cx="1197329" cy="8120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endCxn id="8" idx="1"/>
          </p:cNvCxnSpPr>
          <p:nvPr/>
        </p:nvCxnSpPr>
        <p:spPr>
          <a:xfrm flipV="1">
            <a:off x="1473620" y="2501933"/>
            <a:ext cx="1718764" cy="44530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endCxn id="10" idx="1"/>
          </p:cNvCxnSpPr>
          <p:nvPr/>
        </p:nvCxnSpPr>
        <p:spPr>
          <a:xfrm flipV="1">
            <a:off x="1995055" y="3150951"/>
            <a:ext cx="1197326" cy="3583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Rectangle 22"/>
          <p:cNvSpPr/>
          <p:nvPr/>
        </p:nvSpPr>
        <p:spPr>
          <a:xfrm>
            <a:off x="3106076" y="3510660"/>
            <a:ext cx="560332" cy="369332"/>
          </a:xfrm>
          <a:prstGeom prst="rect">
            <a:avLst/>
          </a:prstGeom>
        </p:spPr>
        <p:txBody>
          <a:bodyPr wrap="none">
            <a:spAutoFit/>
          </a:bodyPr>
          <a:lstStyle/>
          <a:p>
            <a:r>
              <a:rPr lang="en-US" dirty="0"/>
              <a:t>foo:</a:t>
            </a:r>
          </a:p>
        </p:txBody>
      </p:sp>
      <p:grpSp>
        <p:nvGrpSpPr>
          <p:cNvPr id="30" name="Group 29"/>
          <p:cNvGrpSpPr/>
          <p:nvPr/>
        </p:nvGrpSpPr>
        <p:grpSpPr>
          <a:xfrm>
            <a:off x="7193082" y="1855601"/>
            <a:ext cx="1618408" cy="3764600"/>
            <a:chOff x="6921030" y="1585924"/>
            <a:chExt cx="2286000" cy="4188845"/>
          </a:xfrm>
        </p:grpSpPr>
        <p:sp>
          <p:nvSpPr>
            <p:cNvPr id="32" name="Rectangle 8"/>
            <p:cNvSpPr>
              <a:spLocks noChangeArrowheads="1"/>
            </p:cNvSpPr>
            <p:nvPr/>
          </p:nvSpPr>
          <p:spPr bwMode="auto">
            <a:xfrm>
              <a:off x="6921030" y="2323773"/>
              <a:ext cx="2286000" cy="72652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r>
                <a:rPr kumimoji="1" lang="en-US" altLang="zh-TW" sz="1600" dirty="0">
                  <a:solidFill>
                    <a:schemeClr val="tx1"/>
                  </a:solidFill>
                  <a:latin typeface="Times New Roman" charset="0"/>
                  <a:ea typeface="新細明體" charset="0"/>
                  <a:cs typeface="新細明體" charset="0"/>
                </a:rPr>
                <a:t>Text</a:t>
              </a:r>
            </a:p>
          </p:txBody>
        </p:sp>
        <p:sp>
          <p:nvSpPr>
            <p:cNvPr id="33" name="Rectangle 9"/>
            <p:cNvSpPr>
              <a:spLocks noChangeArrowheads="1"/>
            </p:cNvSpPr>
            <p:nvPr/>
          </p:nvSpPr>
          <p:spPr bwMode="auto">
            <a:xfrm>
              <a:off x="6921030" y="3050299"/>
              <a:ext cx="2286000" cy="787069"/>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eaLnBrk="1" hangingPunct="1"/>
              <a:r>
                <a:rPr kumimoji="1" lang="en-US" altLang="zh-TW" sz="1600" dirty="0">
                  <a:latin typeface="Times New Roman" charset="0"/>
                  <a:ea typeface="新細明體" charset="0"/>
                  <a:cs typeface="新細明體" charset="0"/>
                </a:rPr>
                <a:t>Data</a:t>
              </a:r>
            </a:p>
          </p:txBody>
        </p:sp>
        <p:sp>
          <p:nvSpPr>
            <p:cNvPr id="34" name="Rectangle 14"/>
            <p:cNvSpPr>
              <a:spLocks noChangeArrowheads="1"/>
            </p:cNvSpPr>
            <p:nvPr/>
          </p:nvSpPr>
          <p:spPr bwMode="auto">
            <a:xfrm>
              <a:off x="6921030" y="3837368"/>
              <a:ext cx="2286000" cy="193740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Heap</a:t>
              </a: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eaLnBrk="1" hangingPunct="1"/>
              <a:endParaRPr kumimoji="1" lang="en-US" altLang="zh-TW" sz="1600" dirty="0">
                <a:solidFill>
                  <a:schemeClr val="accent2"/>
                </a:solidFill>
                <a:latin typeface="Times New Roman" charset="0"/>
                <a:ea typeface="新細明體" charset="0"/>
                <a:cs typeface="新細明體" charset="0"/>
              </a:endParaRPr>
            </a:p>
            <a:p>
              <a:pPr algn="ctr"/>
              <a:r>
                <a:rPr kumimoji="1" lang="en-US" altLang="zh-TW" sz="1600" dirty="0">
                  <a:solidFill>
                    <a:schemeClr val="accent2"/>
                  </a:solidFill>
                  <a:latin typeface="Times New Roman" charset="0"/>
                  <a:ea typeface="新細明體" charset="0"/>
                  <a:cs typeface="新細明體" charset="0"/>
                </a:rPr>
                <a:t>Stack</a:t>
              </a:r>
            </a:p>
          </p:txBody>
        </p:sp>
        <p:sp>
          <p:nvSpPr>
            <p:cNvPr id="35" name="Line 15"/>
            <p:cNvSpPr>
              <a:spLocks noChangeShapeType="1"/>
            </p:cNvSpPr>
            <p:nvPr/>
          </p:nvSpPr>
          <p:spPr bwMode="auto">
            <a:xfrm>
              <a:off x="8064030" y="4413492"/>
              <a:ext cx="0" cy="26693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36" name="Line 16"/>
            <p:cNvSpPr>
              <a:spLocks noChangeShapeType="1"/>
            </p:cNvSpPr>
            <p:nvPr/>
          </p:nvSpPr>
          <p:spPr bwMode="auto">
            <a:xfrm flipV="1">
              <a:off x="8064030" y="4906899"/>
              <a:ext cx="0" cy="25505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p>
          </p:txBody>
        </p:sp>
        <p:sp>
          <p:nvSpPr>
            <p:cNvPr id="37" name="Rectangle 8"/>
            <p:cNvSpPr>
              <a:spLocks noChangeArrowheads="1"/>
            </p:cNvSpPr>
            <p:nvPr/>
          </p:nvSpPr>
          <p:spPr bwMode="auto">
            <a:xfrm>
              <a:off x="6921030" y="1585924"/>
              <a:ext cx="2286000" cy="726525"/>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kumimoji="1" lang="en-US" altLang="zh-TW" sz="1600" dirty="0">
                  <a:solidFill>
                    <a:schemeClr val="tx1"/>
                  </a:solidFill>
                  <a:latin typeface="Times New Roman" charset="0"/>
                  <a:ea typeface="新細明體" charset="0"/>
                  <a:cs typeface="新細明體" charset="0"/>
                </a:rPr>
                <a:t>OS Kernel</a:t>
              </a:r>
            </a:p>
          </p:txBody>
        </p:sp>
      </p:grpSp>
      <p:sp>
        <p:nvSpPr>
          <p:cNvPr id="21" name="Rectangle 20"/>
          <p:cNvSpPr/>
          <p:nvPr/>
        </p:nvSpPr>
        <p:spPr>
          <a:xfrm>
            <a:off x="3037106" y="1195985"/>
            <a:ext cx="715648" cy="369332"/>
          </a:xfrm>
          <a:prstGeom prst="rect">
            <a:avLst/>
          </a:prstGeom>
        </p:spPr>
        <p:txBody>
          <a:bodyPr wrap="none">
            <a:spAutoFit/>
          </a:bodyPr>
          <a:lstStyle/>
          <a:p>
            <a:r>
              <a:rPr lang="en-US" dirty="0"/>
              <a:t>main:</a:t>
            </a:r>
          </a:p>
        </p:txBody>
      </p:sp>
      <p:cxnSp>
        <p:nvCxnSpPr>
          <p:cNvPr id="25" name="Straight Arrow Connector 24"/>
          <p:cNvCxnSpPr/>
          <p:nvPr/>
        </p:nvCxnSpPr>
        <p:spPr>
          <a:xfrm>
            <a:off x="6359100" y="2461917"/>
            <a:ext cx="742797" cy="3658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flipV="1">
            <a:off x="6359100" y="2947242"/>
            <a:ext cx="742797" cy="19109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493179" y="6122099"/>
            <a:ext cx="1736373" cy="369332"/>
          </a:xfrm>
          <a:prstGeom prst="rect">
            <a:avLst/>
          </a:prstGeom>
          <a:noFill/>
        </p:spPr>
        <p:txBody>
          <a:bodyPr wrap="none" rtlCol="0">
            <a:spAutoFit/>
          </a:bodyPr>
          <a:lstStyle/>
          <a:p>
            <a:r>
              <a:rPr lang="en-US" dirty="0"/>
              <a:t>Source code in C</a:t>
            </a:r>
          </a:p>
        </p:txBody>
      </p:sp>
      <p:sp>
        <p:nvSpPr>
          <p:cNvPr id="39" name="TextBox 38"/>
          <p:cNvSpPr txBox="1"/>
          <p:nvPr/>
        </p:nvSpPr>
        <p:spPr>
          <a:xfrm>
            <a:off x="3617124" y="6141887"/>
            <a:ext cx="2615507" cy="646331"/>
          </a:xfrm>
          <a:prstGeom prst="rect">
            <a:avLst/>
          </a:prstGeom>
          <a:noFill/>
        </p:spPr>
        <p:txBody>
          <a:bodyPr wrap="none" rtlCol="0">
            <a:spAutoFit/>
          </a:bodyPr>
          <a:lstStyle/>
          <a:p>
            <a:r>
              <a:rPr lang="en-US" dirty="0"/>
              <a:t>The executable illustrated </a:t>
            </a:r>
          </a:p>
          <a:p>
            <a:r>
              <a:rPr lang="en-US" dirty="0"/>
              <a:t>using assembly code</a:t>
            </a:r>
          </a:p>
        </p:txBody>
      </p:sp>
      <p:sp>
        <p:nvSpPr>
          <p:cNvPr id="40" name="TextBox 39"/>
          <p:cNvSpPr txBox="1"/>
          <p:nvPr/>
        </p:nvSpPr>
        <p:spPr>
          <a:xfrm>
            <a:off x="7227029" y="6081647"/>
            <a:ext cx="1633781" cy="369332"/>
          </a:xfrm>
          <a:prstGeom prst="rect">
            <a:avLst/>
          </a:prstGeom>
          <a:noFill/>
        </p:spPr>
        <p:txBody>
          <a:bodyPr wrap="none" rtlCol="0">
            <a:spAutoFit/>
          </a:bodyPr>
          <a:lstStyle/>
          <a:p>
            <a:r>
              <a:rPr lang="en-US" dirty="0"/>
              <a:t>Memory layout</a:t>
            </a:r>
          </a:p>
        </p:txBody>
      </p:sp>
      <p:sp>
        <p:nvSpPr>
          <p:cNvPr id="3" name="Slide Number Placeholder 2"/>
          <p:cNvSpPr>
            <a:spLocks noGrp="1"/>
          </p:cNvSpPr>
          <p:nvPr>
            <p:ph type="sldNum" sz="quarter" idx="12"/>
          </p:nvPr>
        </p:nvSpPr>
        <p:spPr/>
        <p:txBody>
          <a:bodyPr/>
          <a:lstStyle/>
          <a:p>
            <a:fld id="{4F16CFC1-D6E9-5244-A559-738FECFB22C9}" type="slidenum">
              <a:rPr lang="en-US" smtClean="0"/>
              <a:t>7</a:t>
            </a:fld>
            <a:endParaRPr lang="en-US"/>
          </a:p>
        </p:txBody>
      </p:sp>
    </p:spTree>
    <p:extLst>
      <p:ext uri="{BB962C8B-B14F-4D97-AF65-F5344CB8AC3E}">
        <p14:creationId xmlns:p14="http://schemas.microsoft.com/office/powerpoint/2010/main" val="387702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3504" y="103986"/>
            <a:ext cx="6253089" cy="1143000"/>
          </a:xfrm>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3" name="Slide Number Placeholder 2"/>
          <p:cNvSpPr>
            <a:spLocks noGrp="1"/>
          </p:cNvSpPr>
          <p:nvPr>
            <p:ph type="sldNum" sz="quarter" idx="12"/>
          </p:nvPr>
        </p:nvSpPr>
        <p:spPr/>
        <p:txBody>
          <a:bodyPr/>
          <a:lstStyle/>
          <a:p>
            <a:fld id="{4F16CFC1-D6E9-5244-A559-738FECFB22C9}" type="slidenum">
              <a:rPr lang="en-US" smtClean="0"/>
              <a:t>8</a:t>
            </a:fld>
            <a:endParaRPr lang="en-US"/>
          </a:p>
        </p:txBody>
      </p:sp>
    </p:spTree>
    <p:extLst>
      <p:ext uri="{BB962C8B-B14F-4D97-AF65-F5344CB8AC3E}">
        <p14:creationId xmlns:p14="http://schemas.microsoft.com/office/powerpoint/2010/main" val="1717063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37615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c[0]</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c[1]</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c[11]</a:t>
            </a:r>
          </a:p>
        </p:txBody>
      </p:sp>
      <p:sp>
        <p:nvSpPr>
          <p:cNvPr id="4" name="Slide Number Placeholder 3"/>
          <p:cNvSpPr>
            <a:spLocks noGrp="1"/>
          </p:cNvSpPr>
          <p:nvPr>
            <p:ph type="sldNum" sz="quarter" idx="12"/>
          </p:nvPr>
        </p:nvSpPr>
        <p:spPr/>
        <p:txBody>
          <a:bodyPr/>
          <a:lstStyle/>
          <a:p>
            <a:fld id="{4F16CFC1-D6E9-5244-A559-738FECFB22C9}" type="slidenum">
              <a:rPr lang="en-US" smtClean="0"/>
              <a:t>9</a:t>
            </a:fld>
            <a:endParaRPr lang="en-US"/>
          </a:p>
        </p:txBody>
      </p:sp>
    </p:spTree>
    <p:extLst>
      <p:ext uri="{BB962C8B-B14F-4D97-AF65-F5344CB8AC3E}">
        <p14:creationId xmlns:p14="http://schemas.microsoft.com/office/powerpoint/2010/main" val="211475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065"/>
            <a:ext cx="8229600" cy="1143000"/>
          </a:xfrm>
        </p:spPr>
        <p:txBody>
          <a:bodyPr/>
          <a:lstStyle/>
          <a:p>
            <a:r>
              <a:rPr lang="en-US" dirty="0">
                <a:solidFill>
                  <a:srgbClr val="C00000"/>
                </a:solidFill>
              </a:rPr>
              <a:t>A snapshot of the stack frame</a:t>
            </a:r>
          </a:p>
        </p:txBody>
      </p:sp>
      <p:pic>
        <p:nvPicPr>
          <p:cNvPr id="4" name="Picture 3"/>
          <p:cNvPicPr>
            <a:picLocks noChangeAspect="1"/>
          </p:cNvPicPr>
          <p:nvPr/>
        </p:nvPicPr>
        <p:blipFill>
          <a:blip r:embed="rId2"/>
          <a:stretch>
            <a:fillRect/>
          </a:stretch>
        </p:blipFill>
        <p:spPr>
          <a:xfrm>
            <a:off x="761415" y="1455556"/>
            <a:ext cx="6332112" cy="4744675"/>
          </a:xfrm>
          <a:prstGeom prst="rect">
            <a:avLst/>
          </a:prstGeom>
        </p:spPr>
      </p:pic>
      <p:sp>
        <p:nvSpPr>
          <p:cNvPr id="3" name="Rectangle 1"/>
          <p:cNvSpPr>
            <a:spLocks noChangeArrowheads="1"/>
          </p:cNvSpPr>
          <p:nvPr/>
        </p:nvSpPr>
        <p:spPr bwMode="auto">
          <a:xfrm>
            <a:off x="62345" y="1163939"/>
            <a:ext cx="413558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00"/>
                </a:solidFill>
                <a:effectLst/>
              </a:rPr>
              <a:t>int</a:t>
            </a:r>
            <a:r>
              <a:rPr kumimoji="0" lang="en-US" altLang="en-US" sz="2000" b="0" i="0" u="none" strike="noStrike" cap="none" normalizeH="0" baseline="0" dirty="0">
                <a:ln>
                  <a:noFill/>
                </a:ln>
                <a:solidFill>
                  <a:srgbClr val="000000"/>
                </a:solidFill>
                <a:effectLst/>
              </a:rPr>
              <a:t> foo (</a:t>
            </a:r>
            <a:r>
              <a:rPr kumimoji="0" lang="en-US" altLang="en-US" sz="2000" b="0" i="0" u="none" strike="noStrike" cap="none" normalizeH="0" baseline="0" dirty="0" err="1">
                <a:ln>
                  <a:noFill/>
                </a:ln>
                <a:solidFill>
                  <a:srgbClr val="000000"/>
                </a:solidFill>
                <a:effectLst/>
              </a:rPr>
              <a:t>int</a:t>
            </a:r>
            <a:r>
              <a:rPr kumimoji="0" lang="en-US" altLang="en-US" sz="2000" b="0" i="0" u="none" strike="noStrike" cap="none" normalizeH="0" baseline="0" dirty="0">
                <a:ln>
                  <a:noFill/>
                </a:ln>
                <a:solidFill>
                  <a:srgbClr val="000000"/>
                </a:solidFill>
                <a:effectLst/>
              </a:rPr>
              <a:t> arg1, </a:t>
            </a:r>
            <a:r>
              <a:rPr kumimoji="0" lang="en-US" altLang="en-US" sz="2000" b="0" i="0" u="none" strike="noStrike" cap="none" normalizeH="0" baseline="0" dirty="0" err="1">
                <a:ln>
                  <a:noFill/>
                </a:ln>
                <a:solidFill>
                  <a:srgbClr val="000000"/>
                </a:solidFill>
                <a:effectLst/>
              </a:rPr>
              <a:t>int</a:t>
            </a:r>
            <a:r>
              <a:rPr kumimoji="0" lang="en-US" altLang="en-US" sz="2000" b="0" i="0" u="none" strike="noStrike" cap="none" normalizeH="0" baseline="0" dirty="0">
                <a:ln>
                  <a:noFill/>
                </a:ln>
                <a:solidFill>
                  <a:srgbClr val="000000"/>
                </a:solidFill>
                <a:effectLst/>
              </a:rPr>
              <a:t> arg2, </a:t>
            </a:r>
            <a:r>
              <a:rPr kumimoji="0" lang="en-US" altLang="en-US" sz="2000" b="0" i="0" u="none" strike="noStrike" cap="none" normalizeH="0" baseline="0" dirty="0" err="1">
                <a:ln>
                  <a:noFill/>
                </a:ln>
                <a:solidFill>
                  <a:srgbClr val="000000"/>
                </a:solidFill>
                <a:effectLst/>
              </a:rPr>
              <a:t>int</a:t>
            </a:r>
            <a:r>
              <a:rPr kumimoji="0" lang="en-US" altLang="en-US" sz="2000" b="0" i="0" u="none" strike="noStrike" cap="none" normalizeH="0" baseline="0" dirty="0">
                <a:ln>
                  <a:noFill/>
                </a:ln>
                <a:solidFill>
                  <a:srgbClr val="000000"/>
                </a:solidFill>
                <a:effectLst/>
              </a:rPr>
              <a:t> arg3) ;</a:t>
            </a:r>
            <a:r>
              <a:rPr kumimoji="0" lang="en-US" altLang="en-US" sz="2000" b="0" i="0" u="none" strike="noStrike" cap="none" normalizeH="0" baseline="0" dirty="0">
                <a:ln>
                  <a:noFill/>
                </a:ln>
                <a:solidFill>
                  <a:schemeClr val="tx1"/>
                </a:solidFill>
                <a:effectLst/>
              </a:rPr>
              <a:t> </a:t>
            </a:r>
          </a:p>
        </p:txBody>
      </p:sp>
      <p:sp>
        <p:nvSpPr>
          <p:cNvPr id="5" name="Rectangle 4"/>
          <p:cNvSpPr/>
          <p:nvPr/>
        </p:nvSpPr>
        <p:spPr>
          <a:xfrm>
            <a:off x="1911927" y="6311065"/>
            <a:ext cx="6310746" cy="369332"/>
          </a:xfrm>
          <a:prstGeom prst="rect">
            <a:avLst/>
          </a:prstGeom>
        </p:spPr>
        <p:txBody>
          <a:bodyPr wrap="square">
            <a:spAutoFit/>
          </a:bodyPr>
          <a:lstStyle/>
          <a:p>
            <a:r>
              <a:rPr lang="en-US" dirty="0"/>
              <a:t>https://flint.cs.yale.edu/cs421/papers/x86-asm/asm.html</a:t>
            </a:r>
          </a:p>
        </p:txBody>
      </p:sp>
    </p:spTree>
    <p:extLst>
      <p:ext uri="{BB962C8B-B14F-4D97-AF65-F5344CB8AC3E}">
        <p14:creationId xmlns:p14="http://schemas.microsoft.com/office/powerpoint/2010/main" val="112489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37615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‘\0’</a:t>
            </a:r>
          </a:p>
        </p:txBody>
      </p:sp>
      <p:sp>
        <p:nvSpPr>
          <p:cNvPr id="33" name="TextBox 32"/>
          <p:cNvSpPr txBox="1"/>
          <p:nvPr/>
        </p:nvSpPr>
        <p:spPr>
          <a:xfrm>
            <a:off x="5154183" y="1301413"/>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“abcdef87654”</a:t>
            </a:r>
          </a:p>
        </p:txBody>
      </p:sp>
      <p:sp>
        <p:nvSpPr>
          <p:cNvPr id="4" name="Slide Number Placeholder 3"/>
          <p:cNvSpPr>
            <a:spLocks noGrp="1"/>
          </p:cNvSpPr>
          <p:nvPr>
            <p:ph type="sldNum" sz="quarter" idx="12"/>
          </p:nvPr>
        </p:nvSpPr>
        <p:spPr/>
        <p:txBody>
          <a:bodyPr/>
          <a:lstStyle/>
          <a:p>
            <a:fld id="{4F16CFC1-D6E9-5244-A559-738FECFB22C9}" type="slidenum">
              <a:rPr lang="en-US" smtClean="0"/>
              <a:t>11</a:t>
            </a:fld>
            <a:endParaRPr lang="en-US"/>
          </a:p>
        </p:txBody>
      </p:sp>
    </p:spTree>
    <p:extLst>
      <p:ext uri="{BB962C8B-B14F-4D97-AF65-F5344CB8AC3E}">
        <p14:creationId xmlns:p14="http://schemas.microsoft.com/office/powerpoint/2010/main" val="73472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65" name="Group 64"/>
          <p:cNvGrpSpPr/>
          <p:nvPr/>
        </p:nvGrpSpPr>
        <p:grpSpPr>
          <a:xfrm>
            <a:off x="7411305" y="4085979"/>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073" y="1947804"/>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‘7’</a:t>
            </a:r>
          </a:p>
        </p:txBody>
      </p:sp>
      <p:sp>
        <p:nvSpPr>
          <p:cNvPr id="33" name="TextBox 32"/>
          <p:cNvSpPr txBox="1"/>
          <p:nvPr/>
        </p:nvSpPr>
        <p:spPr>
          <a:xfrm>
            <a:off x="5154183" y="1301413"/>
            <a:ext cx="3772502"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“abcdef1234876543”</a:t>
            </a:r>
          </a:p>
        </p:txBody>
      </p:sp>
      <p:sp>
        <p:nvSpPr>
          <p:cNvPr id="34" name="Rectangle 14"/>
          <p:cNvSpPr>
            <a:spLocks noChangeArrowheads="1"/>
          </p:cNvSpPr>
          <p:nvPr/>
        </p:nvSpPr>
        <p:spPr bwMode="auto">
          <a:xfrm>
            <a:off x="5873620" y="4079688"/>
            <a:ext cx="1502533" cy="387156"/>
          </a:xfrm>
          <a:prstGeom prst="rect">
            <a:avLst/>
          </a:prstGeom>
          <a:solidFill>
            <a:schemeClr val="accent3">
              <a:lumMod val="40000"/>
              <a:lumOff val="60000"/>
              <a:alpha val="86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‘3’</a:t>
            </a:r>
          </a:p>
        </p:txBody>
      </p:sp>
      <p:sp>
        <p:nvSpPr>
          <p:cNvPr id="36" name="Rectangle 14"/>
          <p:cNvSpPr>
            <a:spLocks noChangeArrowheads="1"/>
          </p:cNvSpPr>
          <p:nvPr/>
        </p:nvSpPr>
        <p:spPr bwMode="auto">
          <a:xfrm>
            <a:off x="5886316" y="4447988"/>
            <a:ext cx="1489837" cy="387156"/>
          </a:xfrm>
          <a:prstGeom prst="rect">
            <a:avLst/>
          </a:prstGeom>
          <a:solidFill>
            <a:schemeClr val="accent3">
              <a:lumMod val="40000"/>
              <a:lumOff val="60000"/>
              <a:alpha val="85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‘\0’</a:t>
            </a:r>
          </a:p>
        </p:txBody>
      </p:sp>
      <p:sp>
        <p:nvSpPr>
          <p:cNvPr id="4" name="Slide Number Placeholder 3"/>
          <p:cNvSpPr>
            <a:spLocks noGrp="1"/>
          </p:cNvSpPr>
          <p:nvPr>
            <p:ph type="sldNum" sz="quarter" idx="12"/>
          </p:nvPr>
        </p:nvSpPr>
        <p:spPr/>
        <p:txBody>
          <a:bodyPr/>
          <a:lstStyle/>
          <a:p>
            <a:fld id="{4F16CFC1-D6E9-5244-A559-738FECFB22C9}" type="slidenum">
              <a:rPr lang="en-US" smtClean="0"/>
              <a:t>12</a:t>
            </a:fld>
            <a:endParaRPr lang="en-US"/>
          </a:p>
        </p:txBody>
      </p:sp>
    </p:spTree>
    <p:extLst>
      <p:ext uri="{BB962C8B-B14F-4D97-AF65-F5344CB8AC3E}">
        <p14:creationId xmlns:p14="http://schemas.microsoft.com/office/powerpoint/2010/main" val="399886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2" grpId="0" animBg="1"/>
      <p:bldP spid="34" grpId="0" animBg="1"/>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0"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grpSp>
        <p:nvGrpSpPr>
          <p:cNvPr id="73" name="Group 72"/>
          <p:cNvGrpSpPr/>
          <p:nvPr/>
        </p:nvGrpSpPr>
        <p:grpSpPr>
          <a:xfrm>
            <a:off x="7427073" y="448337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22"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23"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2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25"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grpSp>
        <p:nvGrpSpPr>
          <p:cNvPr id="3" name="Group 2"/>
          <p:cNvGrpSpPr/>
          <p:nvPr/>
        </p:nvGrpSpPr>
        <p:grpSpPr>
          <a:xfrm>
            <a:off x="7484261" y="2132470"/>
            <a:ext cx="1442424" cy="1821111"/>
            <a:chOff x="7484261" y="2132470"/>
            <a:chExt cx="1442424" cy="1821111"/>
          </a:xfrm>
        </p:grpSpPr>
        <p:sp>
          <p:nvSpPr>
            <p:cNvPr id="26" name="Rectangle 2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27" name="Right Brace 26"/>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14"/>
          <p:cNvSpPr>
            <a:spLocks noChangeArrowheads="1"/>
          </p:cNvSpPr>
          <p:nvPr/>
        </p:nvSpPr>
        <p:spPr bwMode="auto">
          <a:xfrm>
            <a:off x="5873616" y="2035859"/>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‘a’</a:t>
            </a:r>
          </a:p>
        </p:txBody>
      </p:sp>
      <p:sp>
        <p:nvSpPr>
          <p:cNvPr id="30" name="Rectangle 14"/>
          <p:cNvSpPr>
            <a:spLocks noChangeArrowheads="1"/>
          </p:cNvSpPr>
          <p:nvPr/>
        </p:nvSpPr>
        <p:spPr bwMode="auto">
          <a:xfrm>
            <a:off x="5873616" y="2426741"/>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‘b’</a:t>
            </a:r>
          </a:p>
        </p:txBody>
      </p:sp>
      <p:sp>
        <p:nvSpPr>
          <p:cNvPr id="32" name="Rectangle 14"/>
          <p:cNvSpPr>
            <a:spLocks noChangeArrowheads="1"/>
          </p:cNvSpPr>
          <p:nvPr/>
        </p:nvSpPr>
        <p:spPr bwMode="auto">
          <a:xfrm>
            <a:off x="5873616" y="3690952"/>
            <a:ext cx="1502537" cy="387156"/>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lgn="ctr" eaLnBrk="1" hangingPunct="1"/>
            <a:r>
              <a:rPr kumimoji="1" lang="en-US" altLang="zh-TW" sz="1600" dirty="0">
                <a:solidFill>
                  <a:schemeClr val="accent2"/>
                </a:solidFill>
                <a:latin typeface="Times New Roman" charset="0"/>
                <a:ea typeface="新細明體" charset="0"/>
                <a:cs typeface="新細明體" charset="0"/>
              </a:rPr>
              <a:t>‘4’</a:t>
            </a:r>
          </a:p>
        </p:txBody>
      </p:sp>
      <p:sp>
        <p:nvSpPr>
          <p:cNvPr id="33" name="TextBox 32"/>
          <p:cNvSpPr txBox="1"/>
          <p:nvPr/>
        </p:nvSpPr>
        <p:spPr>
          <a:xfrm>
            <a:off x="5154183" y="1301413"/>
            <a:ext cx="3772502"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“abcdef1234876543”</a:t>
            </a:r>
          </a:p>
        </p:txBody>
      </p:sp>
      <p:sp>
        <p:nvSpPr>
          <p:cNvPr id="34" name="Rectangle 14"/>
          <p:cNvSpPr>
            <a:spLocks noChangeArrowheads="1"/>
          </p:cNvSpPr>
          <p:nvPr/>
        </p:nvSpPr>
        <p:spPr bwMode="auto">
          <a:xfrm>
            <a:off x="5873620" y="4079688"/>
            <a:ext cx="1502533" cy="387156"/>
          </a:xfrm>
          <a:prstGeom prst="rect">
            <a:avLst/>
          </a:prstGeom>
          <a:solidFill>
            <a:schemeClr val="accent3">
              <a:lumMod val="40000"/>
              <a:lumOff val="60000"/>
              <a:alpha val="86000"/>
            </a:schemeClr>
          </a:solidFill>
          <a:ln w="9525">
            <a:solidFill>
              <a:schemeClr val="tx1"/>
            </a:solidFill>
            <a:miter lim="800000"/>
            <a:headEnd/>
            <a:tailEnd/>
          </a:ln>
          <a:effectLst/>
        </p:spPr>
        <p:txBody>
          <a:bodyPr wrap="none" anchor="ctr"/>
          <a:lstStyle/>
          <a:p>
            <a:pPr algn="ctr" eaLnBrk="1" hangingPunct="1"/>
            <a:r>
              <a:rPr kumimoji="1" lang="en-US" altLang="zh-TW" sz="1600">
                <a:solidFill>
                  <a:schemeClr val="accent2"/>
                </a:solidFill>
                <a:latin typeface="Times New Roman" charset="0"/>
                <a:ea typeface="新細明體" charset="0"/>
                <a:cs typeface="新細明體" charset="0"/>
              </a:rPr>
              <a:t>‘3’</a:t>
            </a:r>
            <a:endParaRPr kumimoji="1" lang="en-US" altLang="zh-TW" sz="1600" dirty="0">
              <a:solidFill>
                <a:schemeClr val="accent2"/>
              </a:solidFill>
              <a:latin typeface="Times New Roman" charset="0"/>
              <a:ea typeface="新細明體" charset="0"/>
              <a:cs typeface="新細明體" charset="0"/>
            </a:endParaRPr>
          </a:p>
        </p:txBody>
      </p:sp>
      <p:sp>
        <p:nvSpPr>
          <p:cNvPr id="36" name="Rectangle 14"/>
          <p:cNvSpPr>
            <a:spLocks noChangeArrowheads="1"/>
          </p:cNvSpPr>
          <p:nvPr/>
        </p:nvSpPr>
        <p:spPr bwMode="auto">
          <a:xfrm>
            <a:off x="5886316" y="4447988"/>
            <a:ext cx="1489837" cy="387156"/>
          </a:xfrm>
          <a:prstGeom prst="rect">
            <a:avLst/>
          </a:prstGeom>
          <a:solidFill>
            <a:schemeClr val="accent3">
              <a:lumMod val="40000"/>
              <a:lumOff val="60000"/>
              <a:alpha val="85000"/>
            </a:schemeClr>
          </a:solidFill>
          <a:ln w="9525">
            <a:solidFill>
              <a:schemeClr val="tx1"/>
            </a:solidFill>
            <a:miter lim="800000"/>
            <a:headEnd/>
            <a:tailEnd/>
          </a:ln>
          <a:effectLst/>
        </p:spPr>
        <p:txBody>
          <a:bodyPr wrap="none" anchor="ctr"/>
          <a:lstStyle/>
          <a:p>
            <a:pPr algn="ctr" eaLnBrk="1" hangingPunct="1"/>
            <a:r>
              <a:rPr kumimoji="1" lang="en-US" altLang="zh-TW" sz="1600">
                <a:solidFill>
                  <a:schemeClr val="accent2"/>
                </a:solidFill>
                <a:latin typeface="Times New Roman" charset="0"/>
                <a:ea typeface="新細明體" charset="0"/>
                <a:cs typeface="新細明體" charset="0"/>
              </a:rPr>
              <a:t>‘\0</a:t>
            </a:r>
            <a:r>
              <a:rPr kumimoji="1" lang="en-US" altLang="zh-TW" sz="1600" dirty="0">
                <a:solidFill>
                  <a:schemeClr val="accent2"/>
                </a:solidFill>
                <a:latin typeface="Times New Roman" charset="0"/>
                <a:ea typeface="新細明體" charset="0"/>
                <a:cs typeface="新細明體" charset="0"/>
              </a:rPr>
              <a:t>’</a:t>
            </a:r>
          </a:p>
        </p:txBody>
      </p:sp>
      <p:grpSp>
        <p:nvGrpSpPr>
          <p:cNvPr id="7" name="Group 6"/>
          <p:cNvGrpSpPr/>
          <p:nvPr/>
        </p:nvGrpSpPr>
        <p:grpSpPr>
          <a:xfrm>
            <a:off x="5287264" y="4608051"/>
            <a:ext cx="1474321" cy="1935624"/>
            <a:chOff x="5287264" y="4608051"/>
            <a:chExt cx="1474321" cy="1935624"/>
          </a:xfrm>
        </p:grpSpPr>
        <p:sp>
          <p:nvSpPr>
            <p:cNvPr id="6" name="Freeform 5"/>
            <p:cNvSpPr/>
            <p:nvPr/>
          </p:nvSpPr>
          <p:spPr>
            <a:xfrm>
              <a:off x="5287264" y="4608051"/>
              <a:ext cx="618236" cy="1748299"/>
            </a:xfrm>
            <a:custGeom>
              <a:avLst/>
              <a:gdLst>
                <a:gd name="connsiteX0" fmla="*/ 567436 w 618236"/>
                <a:gd name="connsiteY0" fmla="*/ 40149 h 2110271"/>
                <a:gd name="connsiteX1" fmla="*/ 173736 w 618236"/>
                <a:gd name="connsiteY1" fmla="*/ 230649 h 2110271"/>
                <a:gd name="connsiteX2" fmla="*/ 21336 w 618236"/>
                <a:gd name="connsiteY2" fmla="*/ 1805449 h 2110271"/>
                <a:gd name="connsiteX3" fmla="*/ 618236 w 618236"/>
                <a:gd name="connsiteY3" fmla="*/ 2110249 h 2110271"/>
              </a:gdLst>
              <a:ahLst/>
              <a:cxnLst>
                <a:cxn ang="0">
                  <a:pos x="connsiteX0" y="connsiteY0"/>
                </a:cxn>
                <a:cxn ang="0">
                  <a:pos x="connsiteX1" y="connsiteY1"/>
                </a:cxn>
                <a:cxn ang="0">
                  <a:pos x="connsiteX2" y="connsiteY2"/>
                </a:cxn>
                <a:cxn ang="0">
                  <a:pos x="connsiteX3" y="connsiteY3"/>
                </a:cxn>
              </a:cxnLst>
              <a:rect l="l" t="t" r="r" b="b"/>
              <a:pathLst>
                <a:path w="618236" h="2110271">
                  <a:moveTo>
                    <a:pt x="567436" y="40149"/>
                  </a:moveTo>
                  <a:cubicBezTo>
                    <a:pt x="416094" y="-11710"/>
                    <a:pt x="264753" y="-63568"/>
                    <a:pt x="173736" y="230649"/>
                  </a:cubicBezTo>
                  <a:cubicBezTo>
                    <a:pt x="82719" y="524866"/>
                    <a:pt x="-52747" y="1492182"/>
                    <a:pt x="21336" y="1805449"/>
                  </a:cubicBezTo>
                  <a:cubicBezTo>
                    <a:pt x="95419" y="2118716"/>
                    <a:pt x="618236" y="2110249"/>
                    <a:pt x="618236" y="2110249"/>
                  </a:cubicBezTo>
                </a:path>
              </a:pathLst>
            </a:custGeom>
            <a:ln>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ectangle 36"/>
            <p:cNvSpPr/>
            <p:nvPr/>
          </p:nvSpPr>
          <p:spPr>
            <a:xfrm>
              <a:off x="5936219" y="6205121"/>
              <a:ext cx="825366" cy="338554"/>
            </a:xfrm>
            <a:prstGeom prst="rect">
              <a:avLst/>
            </a:prstGeom>
          </p:spPr>
          <p:txBody>
            <a:bodyPr wrap="none">
              <a:spAutoFit/>
            </a:bodyPr>
            <a:lstStyle/>
            <a:p>
              <a:r>
                <a:rPr lang="en-US" sz="1600" dirty="0"/>
                <a:t>Ox0000</a:t>
              </a:r>
            </a:p>
          </p:txBody>
        </p:sp>
      </p:grpSp>
      <p:sp>
        <p:nvSpPr>
          <p:cNvPr id="8" name="Explosion 1 7"/>
          <p:cNvSpPr/>
          <p:nvPr/>
        </p:nvSpPr>
        <p:spPr>
          <a:xfrm>
            <a:off x="6676597" y="5977132"/>
            <a:ext cx="1615327" cy="720336"/>
          </a:xfrm>
          <a:prstGeom prst="irregularSeal1">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Faults</a:t>
            </a:r>
          </a:p>
        </p:txBody>
      </p:sp>
      <p:sp>
        <p:nvSpPr>
          <p:cNvPr id="9" name="Slide Number Placeholder 8"/>
          <p:cNvSpPr>
            <a:spLocks noGrp="1"/>
          </p:cNvSpPr>
          <p:nvPr>
            <p:ph type="sldNum" sz="quarter" idx="12"/>
          </p:nvPr>
        </p:nvSpPr>
        <p:spPr/>
        <p:txBody>
          <a:bodyPr/>
          <a:lstStyle/>
          <a:p>
            <a:fld id="{4F16CFC1-D6E9-5244-A559-738FECFB22C9}" type="slidenum">
              <a:rPr lang="en-US" smtClean="0"/>
              <a:t>13</a:t>
            </a:fld>
            <a:endParaRPr lang="en-US"/>
          </a:p>
        </p:txBody>
      </p:sp>
    </p:spTree>
    <p:extLst>
      <p:ext uri="{BB962C8B-B14F-4D97-AF65-F5344CB8AC3E}">
        <p14:creationId xmlns:p14="http://schemas.microsoft.com/office/powerpoint/2010/main" val="292086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sp>
        <p:nvSpPr>
          <p:cNvPr id="38"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39"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47"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56" name="Rectangle 5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58" name="Right Brace 57"/>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Previous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7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40" name="TextBox 39"/>
          <p:cNvSpPr txBox="1"/>
          <p:nvPr/>
        </p:nvSpPr>
        <p:spPr>
          <a:xfrm>
            <a:off x="5509330" y="1417638"/>
            <a:ext cx="3177470" cy="707886"/>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“0xFF223……..”</a:t>
            </a:r>
          </a:p>
          <a:p>
            <a:endParaRPr lang="en-US" sz="2000" dirty="0"/>
          </a:p>
        </p:txBody>
      </p:sp>
      <p:sp>
        <p:nvSpPr>
          <p:cNvPr id="3" name="Rectangle 2"/>
          <p:cNvSpPr/>
          <p:nvPr/>
        </p:nvSpPr>
        <p:spPr>
          <a:xfrm>
            <a:off x="5935287" y="2065175"/>
            <a:ext cx="1379913" cy="2738315"/>
          </a:xfrm>
          <a:prstGeom prst="rect">
            <a:avLst/>
          </a:prstGeom>
          <a:solidFill>
            <a:srgbClr val="FF0000">
              <a:alpha val="49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Rectangle 45"/>
          <p:cNvSpPr/>
          <p:nvPr/>
        </p:nvSpPr>
        <p:spPr>
          <a:xfrm>
            <a:off x="4885343" y="2007592"/>
            <a:ext cx="925253" cy="369332"/>
          </a:xfrm>
          <a:prstGeom prst="rect">
            <a:avLst/>
          </a:prstGeom>
        </p:spPr>
        <p:txBody>
          <a:bodyPr wrap="none">
            <a:spAutoFit/>
          </a:bodyPr>
          <a:lstStyle/>
          <a:p>
            <a:r>
              <a:rPr lang="en-US" dirty="0"/>
              <a:t>0xABCD</a:t>
            </a:r>
          </a:p>
        </p:txBody>
      </p:sp>
      <p:grpSp>
        <p:nvGrpSpPr>
          <p:cNvPr id="6" name="Group 5"/>
          <p:cNvGrpSpPr/>
          <p:nvPr/>
        </p:nvGrpSpPr>
        <p:grpSpPr>
          <a:xfrm>
            <a:off x="5974138" y="2099218"/>
            <a:ext cx="1274560" cy="2671019"/>
            <a:chOff x="5974138" y="2099218"/>
            <a:chExt cx="1274560" cy="2671019"/>
          </a:xfrm>
        </p:grpSpPr>
        <p:sp>
          <p:nvSpPr>
            <p:cNvPr id="4" name="Rectangle 3"/>
            <p:cNvSpPr/>
            <p:nvPr/>
          </p:nvSpPr>
          <p:spPr>
            <a:xfrm>
              <a:off x="5979740" y="2099218"/>
              <a:ext cx="1268958" cy="2313797"/>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Malicious</a:t>
              </a:r>
            </a:p>
            <a:p>
              <a:pPr algn="ctr"/>
              <a:r>
                <a:rPr lang="en-US" sz="1600" dirty="0"/>
                <a:t>Instructions</a:t>
              </a:r>
            </a:p>
            <a:p>
              <a:pPr algn="ctr"/>
              <a:r>
                <a:rPr lang="en-US" sz="1600" dirty="0"/>
                <a:t>(</a:t>
              </a:r>
              <a:r>
                <a:rPr lang="en-US" sz="1600" dirty="0" err="1"/>
                <a:t>shellcode</a:t>
              </a:r>
              <a:r>
                <a:rPr lang="en-US" sz="1600" dirty="0"/>
                <a:t>)</a:t>
              </a:r>
            </a:p>
          </p:txBody>
        </p:sp>
        <p:sp>
          <p:nvSpPr>
            <p:cNvPr id="49" name="Rectangle 48"/>
            <p:cNvSpPr/>
            <p:nvPr/>
          </p:nvSpPr>
          <p:spPr>
            <a:xfrm>
              <a:off x="5974138" y="4472244"/>
              <a:ext cx="1268958" cy="297993"/>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0xABCD</a:t>
              </a:r>
            </a:p>
          </p:txBody>
        </p:sp>
      </p:grpSp>
      <p:sp>
        <p:nvSpPr>
          <p:cNvPr id="50" name="Curved Left Arrow 49"/>
          <p:cNvSpPr/>
          <p:nvPr/>
        </p:nvSpPr>
        <p:spPr>
          <a:xfrm rot="10800000" flipH="1">
            <a:off x="7315200" y="1979299"/>
            <a:ext cx="812800" cy="2716425"/>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 name="Slide Number Placeholder 6"/>
          <p:cNvSpPr>
            <a:spLocks noGrp="1"/>
          </p:cNvSpPr>
          <p:nvPr>
            <p:ph type="sldNum" sz="quarter" idx="12"/>
          </p:nvPr>
        </p:nvSpPr>
        <p:spPr/>
        <p:txBody>
          <a:bodyPr/>
          <a:lstStyle/>
          <a:p>
            <a:fld id="{4F16CFC1-D6E9-5244-A559-738FECFB22C9}" type="slidenum">
              <a:rPr lang="en-US" smtClean="0"/>
              <a:t>14</a:t>
            </a:fld>
            <a:endParaRPr lang="en-US"/>
          </a:p>
        </p:txBody>
      </p:sp>
    </p:spTree>
    <p:extLst>
      <p:ext uri="{BB962C8B-B14F-4D97-AF65-F5344CB8AC3E}">
        <p14:creationId xmlns:p14="http://schemas.microsoft.com/office/powerpoint/2010/main" val="1875770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584"/>
            <a:ext cx="8229600" cy="1143000"/>
          </a:xfrm>
        </p:spPr>
        <p:txBody>
          <a:bodyPr/>
          <a:lstStyle/>
          <a:p>
            <a:r>
              <a:rPr lang="en-US" dirty="0"/>
              <a:t>BOF - An Example</a:t>
            </a:r>
          </a:p>
        </p:txBody>
      </p:sp>
      <p:sp>
        <p:nvSpPr>
          <p:cNvPr id="5" name="TextBox 4"/>
          <p:cNvSpPr txBox="1"/>
          <p:nvPr/>
        </p:nvSpPr>
        <p:spPr>
          <a:xfrm>
            <a:off x="72153" y="52772"/>
            <a:ext cx="2671045" cy="249299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1200" dirty="0"/>
              <a:t>#include &lt;</a:t>
            </a:r>
            <a:r>
              <a:rPr lang="en-US" sz="1200" dirty="0" err="1"/>
              <a:t>string.h</a:t>
            </a:r>
            <a:r>
              <a:rPr lang="en-US" sz="1200" dirty="0"/>
              <a:t>&gt;</a:t>
            </a:r>
          </a:p>
          <a:p>
            <a:r>
              <a:rPr lang="en-US" sz="1200" dirty="0" err="1"/>
              <a:t>int</a:t>
            </a:r>
            <a:r>
              <a:rPr lang="en-US" sz="1200" dirty="0"/>
              <a:t> main (</a:t>
            </a:r>
            <a:r>
              <a:rPr lang="en-US" sz="1200" dirty="0" err="1"/>
              <a:t>int</a:t>
            </a:r>
            <a:r>
              <a:rPr lang="en-US" sz="1200" dirty="0"/>
              <a:t> </a:t>
            </a:r>
            <a:r>
              <a:rPr lang="en-US" sz="1200" dirty="0" err="1"/>
              <a:t>argc</a:t>
            </a:r>
            <a:r>
              <a:rPr lang="en-US" sz="1200" dirty="0"/>
              <a:t>, char **</a:t>
            </a:r>
            <a:r>
              <a:rPr lang="en-US" sz="1200" dirty="0" err="1"/>
              <a:t>argv</a:t>
            </a:r>
            <a:r>
              <a:rPr lang="en-US" sz="1200" dirty="0"/>
              <a:t>)</a:t>
            </a:r>
          </a:p>
          <a:p>
            <a:r>
              <a:rPr lang="en-US" sz="1200" dirty="0"/>
              <a:t>{</a:t>
            </a:r>
          </a:p>
          <a:p>
            <a:r>
              <a:rPr lang="en-US" sz="1200" dirty="0"/>
              <a:t>   </a:t>
            </a:r>
            <a:r>
              <a:rPr lang="en-US" sz="1200" dirty="0" err="1"/>
              <a:t>printf</a:t>
            </a:r>
            <a:r>
              <a:rPr lang="en-US" sz="1200" dirty="0"/>
              <a:t>(“%s”, “CEG”);</a:t>
            </a:r>
          </a:p>
          <a:p>
            <a:r>
              <a:rPr lang="en-US" sz="1200" dirty="0"/>
              <a:t>   foo(</a:t>
            </a:r>
            <a:r>
              <a:rPr lang="en-US" sz="1200" dirty="0" err="1"/>
              <a:t>argv</a:t>
            </a:r>
            <a:r>
              <a:rPr lang="en-US" sz="1200" dirty="0"/>
              <a:t>[1]);</a:t>
            </a:r>
          </a:p>
          <a:p>
            <a:r>
              <a:rPr lang="en-US" sz="1200" dirty="0"/>
              <a:t>   </a:t>
            </a:r>
            <a:r>
              <a:rPr lang="en-US" sz="1200" dirty="0" err="1"/>
              <a:t>printf</a:t>
            </a:r>
            <a:r>
              <a:rPr lang="en-US" sz="1200" dirty="0"/>
              <a:t>(“%s”, “7900”)</a:t>
            </a:r>
          </a:p>
          <a:p>
            <a:r>
              <a:rPr lang="en-US" sz="1200" dirty="0"/>
              <a:t>}</a:t>
            </a:r>
          </a:p>
          <a:p>
            <a:r>
              <a:rPr lang="en-US" sz="1200" dirty="0"/>
              <a:t>void foo (char *bar)</a:t>
            </a:r>
          </a:p>
          <a:p>
            <a:r>
              <a:rPr lang="en-US" sz="1200" dirty="0"/>
              <a:t>{</a:t>
            </a:r>
          </a:p>
          <a:p>
            <a:r>
              <a:rPr lang="en-US" sz="1200" dirty="0"/>
              <a:t>   char c[12];</a:t>
            </a:r>
          </a:p>
          <a:p>
            <a:r>
              <a:rPr lang="en-US" sz="1200" dirty="0"/>
              <a:t>   </a:t>
            </a:r>
            <a:r>
              <a:rPr lang="en-US" sz="1200" dirty="0" err="1"/>
              <a:t>strcpy</a:t>
            </a:r>
            <a:r>
              <a:rPr lang="en-US" sz="1200" dirty="0"/>
              <a:t> (c, bar); </a:t>
            </a:r>
          </a:p>
          <a:p>
            <a:r>
              <a:rPr lang="en-US" sz="1200" dirty="0"/>
              <a:t>}</a:t>
            </a:r>
          </a:p>
          <a:p>
            <a:endParaRPr lang="en-US" sz="1200" dirty="0"/>
          </a:p>
        </p:txBody>
      </p:sp>
      <p:sp>
        <p:nvSpPr>
          <p:cNvPr id="13" name="Rectangle 12"/>
          <p:cNvSpPr/>
          <p:nvPr/>
        </p:nvSpPr>
        <p:spPr>
          <a:xfrm>
            <a:off x="1127323" y="3080771"/>
            <a:ext cx="566181" cy="338554"/>
          </a:xfrm>
          <a:prstGeom prst="rect">
            <a:avLst/>
          </a:prstGeom>
        </p:spPr>
        <p:txBody>
          <a:bodyPr wrap="none">
            <a:spAutoFit/>
          </a:bodyPr>
          <a:lstStyle/>
          <a:p>
            <a:r>
              <a:rPr lang="en-US" sz="1600" dirty="0"/>
              <a:t>adr1</a:t>
            </a:r>
          </a:p>
        </p:txBody>
      </p:sp>
      <p:grpSp>
        <p:nvGrpSpPr>
          <p:cNvPr id="16" name="Group 15"/>
          <p:cNvGrpSpPr/>
          <p:nvPr/>
        </p:nvGrpSpPr>
        <p:grpSpPr>
          <a:xfrm>
            <a:off x="1691290" y="1974320"/>
            <a:ext cx="2709959" cy="2017598"/>
            <a:chOff x="5942683" y="1915323"/>
            <a:chExt cx="1115262" cy="2017598"/>
          </a:xfrm>
          <a:solidFill>
            <a:srgbClr val="FAC090"/>
          </a:solidFill>
        </p:grpSpPr>
        <p:sp>
          <p:nvSpPr>
            <p:cNvPr id="17" name="TextBox 16"/>
            <p:cNvSpPr txBox="1"/>
            <p:nvPr/>
          </p:nvSpPr>
          <p:spPr>
            <a:xfrm>
              <a:off x="5942684" y="2503309"/>
              <a:ext cx="1115261" cy="830997"/>
            </a:xfrm>
            <a:prstGeom prst="rect">
              <a:avLst/>
            </a:prstGeom>
            <a:grpFill/>
            <a:ln>
              <a:solidFill>
                <a:schemeClr val="tx1"/>
              </a:solidFill>
            </a:ln>
          </p:spPr>
          <p:txBody>
            <a:bodyPr wrap="square" rtlCol="0">
              <a:spAutoFit/>
            </a:bodyPr>
            <a:lstStyle/>
            <a:p>
              <a:r>
                <a:rPr lang="en-US" sz="1600" dirty="0"/>
                <a:t>push </a:t>
              </a:r>
              <a:r>
                <a:rPr lang="en-US" sz="1600" dirty="0" err="1"/>
                <a:t>argv</a:t>
              </a:r>
              <a:r>
                <a:rPr lang="en-US" sz="1600" dirty="0"/>
                <a:t>[1]</a:t>
              </a:r>
            </a:p>
            <a:p>
              <a:r>
                <a:rPr lang="en-US" sz="1600" dirty="0"/>
                <a:t>call foo    	</a:t>
              </a:r>
              <a:r>
                <a:rPr lang="en-US" sz="1600" i="1" dirty="0"/>
                <a:t>#EIP will be pushed</a:t>
              </a:r>
            </a:p>
            <a:p>
              <a:r>
                <a:rPr lang="en-US" sz="1600" i="1" dirty="0"/>
                <a:t>pop</a:t>
              </a:r>
            </a:p>
          </p:txBody>
        </p:sp>
        <p:sp>
          <p:nvSpPr>
            <p:cNvPr id="18" name="TextBox 17"/>
            <p:cNvSpPr txBox="1"/>
            <p:nvPr/>
          </p:nvSpPr>
          <p:spPr>
            <a:xfrm>
              <a:off x="5942684" y="1915323"/>
              <a:ext cx="1115261" cy="584775"/>
            </a:xfrm>
            <a:prstGeom prst="rect">
              <a:avLst/>
            </a:prstGeom>
            <a:grpFill/>
            <a:ln>
              <a:solidFill>
                <a:schemeClr val="tx1"/>
              </a:solidFill>
            </a:ln>
          </p:spPr>
          <p:txBody>
            <a:bodyPr wrap="square" rtlCol="0">
              <a:spAutoFit/>
            </a:bodyPr>
            <a:lstStyle/>
            <a:p>
              <a:r>
                <a:rPr lang="en-US" sz="1600" dirty="0"/>
                <a:t>XXX</a:t>
              </a:r>
            </a:p>
            <a:p>
              <a:r>
                <a:rPr lang="en-US" sz="1600" dirty="0"/>
                <a:t>YYY                </a:t>
              </a:r>
              <a:r>
                <a:rPr lang="en-US" sz="1600" i="1" dirty="0"/>
                <a:t># </a:t>
              </a:r>
              <a:r>
                <a:rPr lang="en-US" sz="1600" i="1" dirty="0" err="1"/>
                <a:t>instrs</a:t>
              </a:r>
              <a:r>
                <a:rPr lang="en-US" sz="1600" i="1" dirty="0"/>
                <a:t> for </a:t>
              </a:r>
              <a:r>
                <a:rPr lang="en-US" sz="1600" i="1" dirty="0" err="1"/>
                <a:t>printf</a:t>
              </a:r>
              <a:endParaRPr lang="en-US" sz="1600" i="1" dirty="0"/>
            </a:p>
          </p:txBody>
        </p:sp>
        <p:sp>
          <p:nvSpPr>
            <p:cNvPr id="19" name="TextBox 18"/>
            <p:cNvSpPr txBox="1"/>
            <p:nvPr/>
          </p:nvSpPr>
          <p:spPr>
            <a:xfrm>
              <a:off x="5942683" y="3348146"/>
              <a:ext cx="1115262" cy="584775"/>
            </a:xfrm>
            <a:prstGeom prst="rect">
              <a:avLst/>
            </a:prstGeom>
            <a:grpFill/>
            <a:ln>
              <a:solidFill>
                <a:schemeClr val="tx1"/>
              </a:solidFill>
            </a:ln>
          </p:spPr>
          <p:txBody>
            <a:bodyPr wrap="square" rtlCol="0">
              <a:spAutoFit/>
            </a:bodyPr>
            <a:lstStyle/>
            <a:p>
              <a:r>
                <a:rPr lang="en-US" sz="1600" dirty="0"/>
                <a:t>ZZZ</a:t>
              </a:r>
            </a:p>
            <a:p>
              <a:r>
                <a:rPr lang="en-US" sz="1600" dirty="0"/>
                <a:t>KKK         	</a:t>
              </a:r>
              <a:r>
                <a:rPr lang="en-US" sz="1600" i="1" dirty="0"/>
                <a:t>#</a:t>
              </a:r>
              <a:r>
                <a:rPr lang="en-US" sz="1600" i="1" dirty="0" err="1"/>
                <a:t>instrs</a:t>
              </a:r>
              <a:r>
                <a:rPr lang="en-US" sz="1600" i="1" dirty="0"/>
                <a:t> for </a:t>
              </a:r>
              <a:r>
                <a:rPr lang="en-US" sz="1600" i="1" dirty="0" err="1"/>
                <a:t>printf</a:t>
              </a:r>
              <a:endParaRPr lang="en-US" sz="1600" i="1" dirty="0"/>
            </a:p>
          </p:txBody>
        </p:sp>
      </p:grpSp>
      <p:sp>
        <p:nvSpPr>
          <p:cNvPr id="20" name="TextBox 19"/>
          <p:cNvSpPr txBox="1"/>
          <p:nvPr/>
        </p:nvSpPr>
        <p:spPr>
          <a:xfrm>
            <a:off x="1691294" y="4268436"/>
            <a:ext cx="2709955" cy="1815882"/>
          </a:xfrm>
          <a:prstGeom prst="rect">
            <a:avLst/>
          </a:prstGeom>
          <a:solidFill>
            <a:srgbClr val="FAC090"/>
          </a:solidFill>
          <a:ln>
            <a:solidFill>
              <a:schemeClr val="tx1"/>
            </a:solidFill>
          </a:ln>
        </p:spPr>
        <p:txBody>
          <a:bodyPr wrap="square" rtlCol="0">
            <a:spAutoFit/>
          </a:bodyPr>
          <a:lstStyle/>
          <a:p>
            <a:r>
              <a:rPr lang="en-US" sz="1600" dirty="0"/>
              <a:t>push EBP</a:t>
            </a:r>
          </a:p>
          <a:p>
            <a:r>
              <a:rPr lang="en-US" sz="1600" dirty="0" err="1"/>
              <a:t>mov</a:t>
            </a:r>
            <a:r>
              <a:rPr lang="en-US" sz="1600" dirty="0"/>
              <a:t> ESP, EBP</a:t>
            </a:r>
          </a:p>
          <a:p>
            <a:r>
              <a:rPr lang="en-US" sz="1600" dirty="0"/>
              <a:t>sub 12 ESP  </a:t>
            </a:r>
            <a:r>
              <a:rPr lang="en-US" sz="1600" i="1" dirty="0"/>
              <a:t>#Allocate buffer</a:t>
            </a:r>
          </a:p>
          <a:p>
            <a:r>
              <a:rPr lang="en-US" sz="1600" dirty="0"/>
              <a:t>copy data</a:t>
            </a:r>
          </a:p>
          <a:p>
            <a:r>
              <a:rPr lang="en-US" sz="1600" dirty="0" err="1"/>
              <a:t>mov</a:t>
            </a:r>
            <a:r>
              <a:rPr lang="en-US" sz="1600" dirty="0"/>
              <a:t> EBP ESP</a:t>
            </a:r>
          </a:p>
          <a:p>
            <a:r>
              <a:rPr lang="en-US" sz="1600" dirty="0"/>
              <a:t>pop EBP</a:t>
            </a:r>
          </a:p>
          <a:p>
            <a:r>
              <a:rPr lang="en-US" sz="1600" dirty="0"/>
              <a:t>ret</a:t>
            </a:r>
          </a:p>
        </p:txBody>
      </p:sp>
      <p:sp>
        <p:nvSpPr>
          <p:cNvPr id="21" name="Rectangle 20"/>
          <p:cNvSpPr/>
          <p:nvPr/>
        </p:nvSpPr>
        <p:spPr>
          <a:xfrm>
            <a:off x="1084070" y="4276990"/>
            <a:ext cx="515398" cy="338554"/>
          </a:xfrm>
          <a:prstGeom prst="rect">
            <a:avLst/>
          </a:prstGeom>
        </p:spPr>
        <p:txBody>
          <a:bodyPr wrap="none">
            <a:spAutoFit/>
          </a:bodyPr>
          <a:lstStyle/>
          <a:p>
            <a:r>
              <a:rPr lang="en-US" sz="1600" dirty="0"/>
              <a:t>foo:</a:t>
            </a:r>
          </a:p>
        </p:txBody>
      </p:sp>
      <p:sp>
        <p:nvSpPr>
          <p:cNvPr id="38" name="Rectangle 14"/>
          <p:cNvSpPr>
            <a:spLocks noChangeArrowheads="1"/>
          </p:cNvSpPr>
          <p:nvPr/>
        </p:nvSpPr>
        <p:spPr bwMode="auto">
          <a:xfrm>
            <a:off x="5873617" y="4457204"/>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EIP(adr1)</a:t>
            </a:r>
          </a:p>
        </p:txBody>
      </p:sp>
      <p:sp>
        <p:nvSpPr>
          <p:cNvPr id="39" name="Rectangle 14"/>
          <p:cNvSpPr>
            <a:spLocks noChangeArrowheads="1"/>
          </p:cNvSpPr>
          <p:nvPr/>
        </p:nvSpPr>
        <p:spPr bwMode="auto">
          <a:xfrm>
            <a:off x="5873620" y="2027449"/>
            <a:ext cx="1502537" cy="2058530"/>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47" name="Rectangle 14"/>
          <p:cNvSpPr>
            <a:spLocks noChangeArrowheads="1"/>
          </p:cNvSpPr>
          <p:nvPr/>
        </p:nvSpPr>
        <p:spPr bwMode="auto">
          <a:xfrm>
            <a:off x="5873618" y="4832846"/>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56" name="Rectangle 55"/>
          <p:cNvSpPr/>
          <p:nvPr/>
        </p:nvSpPr>
        <p:spPr>
          <a:xfrm>
            <a:off x="7736622" y="2719859"/>
            <a:ext cx="1190063" cy="646331"/>
          </a:xfrm>
          <a:prstGeom prst="rect">
            <a:avLst/>
          </a:prstGeom>
        </p:spPr>
        <p:txBody>
          <a:bodyPr wrap="square">
            <a:spAutoFit/>
          </a:bodyPr>
          <a:lstStyle/>
          <a:p>
            <a:pPr algn="ctr"/>
            <a:r>
              <a:rPr kumimoji="1" lang="en-US" altLang="zh-TW" dirty="0">
                <a:solidFill>
                  <a:schemeClr val="accent2"/>
                </a:solidFill>
                <a:latin typeface="Times New Roman" charset="0"/>
                <a:ea typeface="新細明體" charset="0"/>
                <a:cs typeface="新細明體" charset="0"/>
              </a:rPr>
              <a:t>Buffer for </a:t>
            </a:r>
          </a:p>
          <a:p>
            <a:pPr algn="ctr"/>
            <a:r>
              <a:rPr kumimoji="1" lang="en-US" altLang="zh-TW" dirty="0">
                <a:solidFill>
                  <a:schemeClr val="accent2"/>
                </a:solidFill>
                <a:latin typeface="Times New Roman" charset="0"/>
                <a:ea typeface="新細明體" charset="0"/>
                <a:cs typeface="新細明體" charset="0"/>
              </a:rPr>
              <a:t>12 chars</a:t>
            </a:r>
          </a:p>
        </p:txBody>
      </p:sp>
      <p:sp>
        <p:nvSpPr>
          <p:cNvPr id="58" name="Right Brace 57"/>
          <p:cNvSpPr/>
          <p:nvPr/>
        </p:nvSpPr>
        <p:spPr>
          <a:xfrm>
            <a:off x="7484261" y="2132470"/>
            <a:ext cx="252361" cy="18211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65" name="Group 64"/>
          <p:cNvGrpSpPr/>
          <p:nvPr/>
        </p:nvGrpSpPr>
        <p:grpSpPr>
          <a:xfrm>
            <a:off x="7411305" y="5660532"/>
            <a:ext cx="1055530" cy="406265"/>
            <a:chOff x="6347442" y="4736130"/>
            <a:chExt cx="1055530" cy="406265"/>
          </a:xfrm>
        </p:grpSpPr>
        <p:sp>
          <p:nvSpPr>
            <p:cNvPr id="69" name="Rectangle 68"/>
            <p:cNvSpPr/>
            <p:nvPr/>
          </p:nvSpPr>
          <p:spPr>
            <a:xfrm>
              <a:off x="6859233" y="4736130"/>
              <a:ext cx="543739" cy="406265"/>
            </a:xfrm>
            <a:prstGeom prst="rect">
              <a:avLst/>
            </a:prstGeom>
          </p:spPr>
          <p:txBody>
            <a:bodyPr wrap="none">
              <a:spAutoFit/>
            </a:bodyPr>
            <a:lstStyle/>
            <a:p>
              <a:r>
                <a:rPr lang="en-US" dirty="0"/>
                <a:t>EBP</a:t>
              </a:r>
            </a:p>
          </p:txBody>
        </p:sp>
        <p:cxnSp>
          <p:nvCxnSpPr>
            <p:cNvPr id="70" name="Straight Arrow Connector 69"/>
            <p:cNvCxnSpPr/>
            <p:nvPr/>
          </p:nvCxnSpPr>
          <p:spPr>
            <a:xfrm flipH="1">
              <a:off x="6347442" y="4939262"/>
              <a:ext cx="464629"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73" name="Group 72"/>
          <p:cNvGrpSpPr/>
          <p:nvPr/>
        </p:nvGrpSpPr>
        <p:grpSpPr>
          <a:xfrm>
            <a:off x="7427279" y="5032808"/>
            <a:ext cx="992046" cy="369332"/>
            <a:chOff x="6407564" y="4824253"/>
            <a:chExt cx="992046" cy="369332"/>
          </a:xfrm>
        </p:grpSpPr>
        <p:sp>
          <p:nvSpPr>
            <p:cNvPr id="67" name="Rectangle 66"/>
            <p:cNvSpPr/>
            <p:nvPr/>
          </p:nvSpPr>
          <p:spPr>
            <a:xfrm>
              <a:off x="6876923" y="4824253"/>
              <a:ext cx="522687" cy="369332"/>
            </a:xfrm>
            <a:prstGeom prst="rect">
              <a:avLst/>
            </a:prstGeom>
          </p:spPr>
          <p:txBody>
            <a:bodyPr wrap="none">
              <a:spAutoFit/>
            </a:bodyPr>
            <a:lstStyle/>
            <a:p>
              <a:r>
                <a:rPr lang="en-US" dirty="0">
                  <a:solidFill>
                    <a:srgbClr val="C00000"/>
                  </a:solidFill>
                </a:rPr>
                <a:t>ESP</a:t>
              </a:r>
            </a:p>
          </p:txBody>
        </p:sp>
        <p:cxnSp>
          <p:nvCxnSpPr>
            <p:cNvPr id="68" name="Straight Arrow Connector 67"/>
            <p:cNvCxnSpPr/>
            <p:nvPr/>
          </p:nvCxnSpPr>
          <p:spPr>
            <a:xfrm flipH="1">
              <a:off x="6407564" y="5016636"/>
              <a:ext cx="47251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71" name="Rectangle 14"/>
          <p:cNvSpPr>
            <a:spLocks noChangeArrowheads="1"/>
          </p:cNvSpPr>
          <p:nvPr/>
        </p:nvSpPr>
        <p:spPr bwMode="auto">
          <a:xfrm>
            <a:off x="5873619" y="5169277"/>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Previous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74" name="Rectangle 14"/>
          <p:cNvSpPr>
            <a:spLocks noChangeArrowheads="1"/>
          </p:cNvSpPr>
          <p:nvPr/>
        </p:nvSpPr>
        <p:spPr bwMode="auto">
          <a:xfrm>
            <a:off x="5873617" y="4085979"/>
            <a:ext cx="1502537" cy="371225"/>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EBP</a:t>
            </a:r>
          </a:p>
        </p:txBody>
      </p:sp>
      <p:sp>
        <p:nvSpPr>
          <p:cNvPr id="40" name="TextBox 39"/>
          <p:cNvSpPr txBox="1"/>
          <p:nvPr/>
        </p:nvSpPr>
        <p:spPr>
          <a:xfrm>
            <a:off x="5509330" y="1417638"/>
            <a:ext cx="3177470" cy="707886"/>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./test “0xFF223……..”</a:t>
            </a:r>
          </a:p>
          <a:p>
            <a:endParaRPr lang="en-US" sz="2000" dirty="0"/>
          </a:p>
        </p:txBody>
      </p:sp>
      <p:sp>
        <p:nvSpPr>
          <p:cNvPr id="3" name="Rectangle 2"/>
          <p:cNvSpPr/>
          <p:nvPr/>
        </p:nvSpPr>
        <p:spPr>
          <a:xfrm>
            <a:off x="5935287" y="2065175"/>
            <a:ext cx="1379913" cy="2738315"/>
          </a:xfrm>
          <a:prstGeom prst="rect">
            <a:avLst/>
          </a:prstGeom>
          <a:solidFill>
            <a:srgbClr val="FF0000">
              <a:alpha val="49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6" name="Rectangle 45"/>
          <p:cNvSpPr/>
          <p:nvPr/>
        </p:nvSpPr>
        <p:spPr>
          <a:xfrm>
            <a:off x="4885343" y="2007592"/>
            <a:ext cx="925253" cy="369332"/>
          </a:xfrm>
          <a:prstGeom prst="rect">
            <a:avLst/>
          </a:prstGeom>
        </p:spPr>
        <p:txBody>
          <a:bodyPr wrap="none">
            <a:spAutoFit/>
          </a:bodyPr>
          <a:lstStyle/>
          <a:p>
            <a:r>
              <a:rPr lang="en-US" dirty="0"/>
              <a:t>0xABCD</a:t>
            </a:r>
          </a:p>
        </p:txBody>
      </p:sp>
      <p:grpSp>
        <p:nvGrpSpPr>
          <p:cNvPr id="6" name="Group 5"/>
          <p:cNvGrpSpPr/>
          <p:nvPr/>
        </p:nvGrpSpPr>
        <p:grpSpPr>
          <a:xfrm>
            <a:off x="5974138" y="2099218"/>
            <a:ext cx="1274560" cy="2671019"/>
            <a:chOff x="5974138" y="2099218"/>
            <a:chExt cx="1274560" cy="2671019"/>
          </a:xfrm>
        </p:grpSpPr>
        <p:sp>
          <p:nvSpPr>
            <p:cNvPr id="4" name="Rectangle 3"/>
            <p:cNvSpPr/>
            <p:nvPr/>
          </p:nvSpPr>
          <p:spPr>
            <a:xfrm>
              <a:off x="5979740" y="2099218"/>
              <a:ext cx="1268958" cy="2313797"/>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Malicious</a:t>
              </a:r>
            </a:p>
            <a:p>
              <a:pPr algn="ctr"/>
              <a:r>
                <a:rPr lang="en-US" sz="1600" dirty="0"/>
                <a:t>Instructions</a:t>
              </a:r>
            </a:p>
            <a:p>
              <a:pPr algn="ctr"/>
              <a:r>
                <a:rPr lang="en-US" sz="1600" dirty="0"/>
                <a:t>(</a:t>
              </a:r>
              <a:r>
                <a:rPr lang="en-US" sz="1600" dirty="0" err="1"/>
                <a:t>shellcode</a:t>
              </a:r>
              <a:r>
                <a:rPr lang="en-US" sz="1600" dirty="0"/>
                <a:t>)</a:t>
              </a:r>
            </a:p>
          </p:txBody>
        </p:sp>
        <p:sp>
          <p:nvSpPr>
            <p:cNvPr id="49" name="Rectangle 48"/>
            <p:cNvSpPr/>
            <p:nvPr/>
          </p:nvSpPr>
          <p:spPr>
            <a:xfrm>
              <a:off x="5974138" y="4472244"/>
              <a:ext cx="1268958" cy="297993"/>
            </a:xfrm>
            <a:prstGeom prst="rect">
              <a:avLst/>
            </a:prstGeom>
            <a:solidFill>
              <a:srgbClr val="FF0000">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0xABCD</a:t>
              </a:r>
            </a:p>
          </p:txBody>
        </p:sp>
      </p:grpSp>
      <p:sp>
        <p:nvSpPr>
          <p:cNvPr id="50" name="Curved Left Arrow 49"/>
          <p:cNvSpPr/>
          <p:nvPr/>
        </p:nvSpPr>
        <p:spPr>
          <a:xfrm rot="10800000" flipH="1">
            <a:off x="7315200" y="1979299"/>
            <a:ext cx="812800" cy="2716425"/>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 name="Slide Number Placeholder 6"/>
          <p:cNvSpPr>
            <a:spLocks noGrp="1"/>
          </p:cNvSpPr>
          <p:nvPr>
            <p:ph type="sldNum" sz="quarter" idx="12"/>
          </p:nvPr>
        </p:nvSpPr>
        <p:spPr/>
        <p:txBody>
          <a:bodyPr/>
          <a:lstStyle/>
          <a:p>
            <a:fld id="{4F16CFC1-D6E9-5244-A559-738FECFB22C9}" type="slidenum">
              <a:rPr lang="en-US" smtClean="0"/>
              <a:t>15</a:t>
            </a:fld>
            <a:endParaRPr lang="en-US"/>
          </a:p>
        </p:txBody>
      </p:sp>
      <p:sp>
        <p:nvSpPr>
          <p:cNvPr id="32" name="TextBox 31"/>
          <p:cNvSpPr txBox="1"/>
          <p:nvPr/>
        </p:nvSpPr>
        <p:spPr>
          <a:xfrm>
            <a:off x="6074802" y="653131"/>
            <a:ext cx="3177470" cy="400110"/>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altLang="en-US" sz="2000" dirty="0"/>
              <a:t>Pad shellcode with NOPs. </a:t>
            </a:r>
            <a:endParaRPr lang="en-US" sz="2000" dirty="0"/>
          </a:p>
        </p:txBody>
      </p:sp>
    </p:spTree>
    <p:extLst>
      <p:ext uri="{BB962C8B-B14F-4D97-AF65-F5344CB8AC3E}">
        <p14:creationId xmlns:p14="http://schemas.microsoft.com/office/powerpoint/2010/main" val="230743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Pad Shellcode with NOPs</a:t>
            </a:r>
          </a:p>
        </p:txBody>
      </p:sp>
      <p:sp>
        <p:nvSpPr>
          <p:cNvPr id="4" name="Rectangle 14"/>
          <p:cNvSpPr>
            <a:spLocks noChangeArrowheads="1"/>
          </p:cNvSpPr>
          <p:nvPr/>
        </p:nvSpPr>
        <p:spPr bwMode="auto">
          <a:xfrm>
            <a:off x="1236844" y="1470556"/>
            <a:ext cx="1502537" cy="3748558"/>
          </a:xfrm>
          <a:prstGeom prst="rect">
            <a:avLst/>
          </a:prstGeom>
          <a:gradFill flip="none" rotWithShape="1">
            <a:gsLst>
              <a:gs pos="0">
                <a:schemeClr val="accent2">
                  <a:tint val="50000"/>
                  <a:satMod val="300000"/>
                  <a:alpha val="56000"/>
                </a:schemeClr>
              </a:gs>
              <a:gs pos="35000">
                <a:schemeClr val="accent2">
                  <a:tint val="37000"/>
                  <a:satMod val="300000"/>
                  <a:alpha val="56000"/>
                </a:schemeClr>
              </a:gs>
              <a:gs pos="100000">
                <a:schemeClr val="accent2">
                  <a:tint val="15000"/>
                  <a:satMod val="350000"/>
                  <a:alpha val="56000"/>
                </a:schemeClr>
              </a:gs>
            </a:gsLst>
            <a:lin ang="16200000" scaled="1"/>
            <a:tileRect/>
          </a:gra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5" name="Rectangle 4"/>
          <p:cNvSpPr/>
          <p:nvPr/>
        </p:nvSpPr>
        <p:spPr>
          <a:xfrm>
            <a:off x="1413272" y="4839441"/>
            <a:ext cx="1149679" cy="369332"/>
          </a:xfrm>
          <a:prstGeom prst="rect">
            <a:avLst/>
          </a:prstGeom>
          <a:solidFill>
            <a:srgbClr val="3366FF"/>
          </a:solidFill>
        </p:spPr>
        <p:txBody>
          <a:bodyPr wrap="square">
            <a:spAutoFit/>
          </a:bodyPr>
          <a:lstStyle/>
          <a:p>
            <a:pPr algn="ctr"/>
            <a:r>
              <a:rPr lang="en-US" dirty="0"/>
              <a:t>EIP’</a:t>
            </a:r>
          </a:p>
        </p:txBody>
      </p:sp>
      <p:sp>
        <p:nvSpPr>
          <p:cNvPr id="6" name="Rectangle 5"/>
          <p:cNvSpPr/>
          <p:nvPr/>
        </p:nvSpPr>
        <p:spPr>
          <a:xfrm>
            <a:off x="1413271" y="2915442"/>
            <a:ext cx="1149679" cy="1871081"/>
          </a:xfrm>
          <a:prstGeom prst="rect">
            <a:avLst/>
          </a:prstGeom>
          <a:solidFill>
            <a:srgbClr val="FF0000"/>
          </a:solidFill>
        </p:spPr>
        <p:txBody>
          <a:bodyPr wrap="square">
            <a:spAutoFit/>
          </a:bodyPr>
          <a:lstStyle/>
          <a:p>
            <a:r>
              <a:rPr lang="en-US" dirty="0" err="1"/>
              <a:t>Shellcode</a:t>
            </a:r>
            <a:endParaRPr lang="en-US" dirty="0"/>
          </a:p>
          <a:p>
            <a:endParaRPr lang="en-US" dirty="0"/>
          </a:p>
          <a:p>
            <a:endParaRPr lang="en-US" dirty="0"/>
          </a:p>
          <a:p>
            <a:endParaRPr lang="en-US" dirty="0"/>
          </a:p>
          <a:p>
            <a:endParaRPr lang="en-US" dirty="0"/>
          </a:p>
          <a:p>
            <a:endParaRPr lang="en-US" dirty="0"/>
          </a:p>
          <a:p>
            <a:endParaRPr lang="en-US" dirty="0"/>
          </a:p>
        </p:txBody>
      </p:sp>
      <p:sp>
        <p:nvSpPr>
          <p:cNvPr id="7" name="Rectangle 6"/>
          <p:cNvSpPr/>
          <p:nvPr/>
        </p:nvSpPr>
        <p:spPr>
          <a:xfrm>
            <a:off x="1413274" y="1540671"/>
            <a:ext cx="1149679" cy="120032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dirty="0">
                <a:solidFill>
                  <a:schemeClr val="tx1"/>
                </a:solidFill>
              </a:rPr>
              <a:t>NOP</a:t>
            </a:r>
          </a:p>
          <a:p>
            <a:r>
              <a:rPr lang="en-US" dirty="0">
                <a:solidFill>
                  <a:schemeClr val="tx1"/>
                </a:solidFill>
              </a:rPr>
              <a:t>NOP</a:t>
            </a:r>
          </a:p>
          <a:p>
            <a:r>
              <a:rPr lang="en-US" dirty="0">
                <a:solidFill>
                  <a:schemeClr val="tx1"/>
                </a:solidFill>
              </a:rPr>
              <a:t>…..</a:t>
            </a:r>
          </a:p>
          <a:p>
            <a:r>
              <a:rPr lang="en-US" dirty="0">
                <a:solidFill>
                  <a:schemeClr val="tx1"/>
                </a:solidFill>
              </a:rPr>
              <a:t>NOP</a:t>
            </a:r>
          </a:p>
        </p:txBody>
      </p:sp>
      <p:sp>
        <p:nvSpPr>
          <p:cNvPr id="13" name="Slide Number Placeholder 12"/>
          <p:cNvSpPr>
            <a:spLocks noGrp="1"/>
          </p:cNvSpPr>
          <p:nvPr>
            <p:ph type="sldNum" sz="quarter" idx="12"/>
          </p:nvPr>
        </p:nvSpPr>
        <p:spPr/>
        <p:txBody>
          <a:bodyPr/>
          <a:lstStyle/>
          <a:p>
            <a:fld id="{47E8BE15-7F0B-0840-A9A0-04D3C81E96AD}" type="slidenum">
              <a:rPr lang="en-US" smtClean="0"/>
              <a:t>16</a:t>
            </a:fld>
            <a:endParaRPr lang="en-US"/>
          </a:p>
        </p:txBody>
      </p:sp>
      <p:sp>
        <p:nvSpPr>
          <p:cNvPr id="14" name="Curved Left Arrow 13"/>
          <p:cNvSpPr/>
          <p:nvPr/>
        </p:nvSpPr>
        <p:spPr>
          <a:xfrm rot="10800000" flipH="1">
            <a:off x="2739381" y="1800663"/>
            <a:ext cx="812800" cy="3408109"/>
          </a:xfrm>
          <a:prstGeom prst="curved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5" name="Rectangle 14"/>
          <p:cNvSpPr>
            <a:spLocks noChangeArrowheads="1"/>
          </p:cNvSpPr>
          <p:nvPr/>
        </p:nvSpPr>
        <p:spPr bwMode="auto">
          <a:xfrm>
            <a:off x="1236843" y="5564566"/>
            <a:ext cx="1502537" cy="82499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a:solidFill>
                  <a:srgbClr val="C00000"/>
                </a:solidFill>
                <a:latin typeface="Times New Roman" charset="0"/>
                <a:ea typeface="新細明體" charset="0"/>
                <a:cs typeface="新細明體" charset="0"/>
              </a:rPr>
              <a:t>main </a:t>
            </a:r>
            <a:r>
              <a:rPr kumimoji="1" lang="en-US" altLang="zh-TW" dirty="0" err="1">
                <a:solidFill>
                  <a:srgbClr val="C00000"/>
                </a:solidFill>
                <a:latin typeface="Times New Roman" charset="0"/>
                <a:ea typeface="新細明體" charset="0"/>
                <a:cs typeface="新細明體" charset="0"/>
              </a:rPr>
              <a:t>func’s</a:t>
            </a:r>
            <a:r>
              <a:rPr kumimoji="1" lang="en-US" altLang="zh-TW" dirty="0">
                <a:solidFill>
                  <a:srgbClr val="C00000"/>
                </a:solidFill>
                <a:latin typeface="Times New Roman" charset="0"/>
                <a:ea typeface="新細明體" charset="0"/>
                <a:cs typeface="新細明體" charset="0"/>
              </a:rPr>
              <a:t> </a:t>
            </a:r>
          </a:p>
          <a:p>
            <a:pPr algn="ctr" eaLnBrk="1" hangingPunct="1"/>
            <a:r>
              <a:rPr kumimoji="1" lang="en-US" altLang="zh-TW" dirty="0">
                <a:solidFill>
                  <a:srgbClr val="C00000"/>
                </a:solidFill>
                <a:latin typeface="Times New Roman" charset="0"/>
                <a:ea typeface="新細明體" charset="0"/>
                <a:cs typeface="新細明體" charset="0"/>
              </a:rPr>
              <a:t>frame</a:t>
            </a:r>
          </a:p>
        </p:txBody>
      </p:sp>
      <p:sp>
        <p:nvSpPr>
          <p:cNvPr id="16" name="Rectangle 14"/>
          <p:cNvSpPr>
            <a:spLocks noChangeArrowheads="1"/>
          </p:cNvSpPr>
          <p:nvPr/>
        </p:nvSpPr>
        <p:spPr bwMode="auto">
          <a:xfrm>
            <a:off x="1236842" y="5228135"/>
            <a:ext cx="1502537" cy="330841"/>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r>
              <a:rPr kumimoji="1" lang="en-US" altLang="zh-TW" dirty="0" err="1">
                <a:solidFill>
                  <a:srgbClr val="C00000"/>
                </a:solidFill>
                <a:latin typeface="Times New Roman" charset="0"/>
                <a:ea typeface="新細明體" charset="0"/>
                <a:cs typeface="新細明體" charset="0"/>
              </a:rPr>
              <a:t>argv</a:t>
            </a:r>
            <a:r>
              <a:rPr kumimoji="1" lang="en-US" altLang="zh-TW" dirty="0">
                <a:solidFill>
                  <a:srgbClr val="C00000"/>
                </a:solidFill>
                <a:latin typeface="Times New Roman" charset="0"/>
                <a:ea typeface="新細明體" charset="0"/>
                <a:cs typeface="新細明體" charset="0"/>
              </a:rPr>
              <a:t>[1]</a:t>
            </a:r>
          </a:p>
        </p:txBody>
      </p:sp>
      <p:sp>
        <p:nvSpPr>
          <p:cNvPr id="17" name="TextBox 16"/>
          <p:cNvSpPr txBox="1"/>
          <p:nvPr/>
        </p:nvSpPr>
        <p:spPr>
          <a:xfrm>
            <a:off x="5087299" y="1414439"/>
            <a:ext cx="3177470" cy="2246769"/>
          </a:xfrm>
          <a:prstGeom prst="rect">
            <a:avLst/>
          </a:prstGeom>
          <a:noFill/>
        </p:spPr>
        <p:txBody>
          <a:bodyPr wrap="square" rtlCol="0">
            <a:spAutoFit/>
          </a:bodyPr>
          <a:lstStyle>
            <a:defPPr>
              <a:defRPr lang="en-US"/>
            </a:defPPr>
            <a:lvl1pPr>
              <a:defRPr sz="1400">
                <a:latin typeface="Segoe UI Semibold" pitchFamily="34" charset="0"/>
                <a:ea typeface="Verdana" pitchFamily="34" charset="0"/>
                <a:cs typeface="Verdana" pitchFamily="34" charset="0"/>
              </a:defRPr>
            </a:lvl1pPr>
          </a:lstStyle>
          <a:p>
            <a:r>
              <a:rPr lang="en-US" sz="2000" dirty="0"/>
              <a:t>As long as the overwritten return address (EIP’) hits one of the NOP instructions, the shellcode will be executed.</a:t>
            </a:r>
          </a:p>
          <a:p>
            <a:endParaRPr lang="en-US" sz="2000" dirty="0"/>
          </a:p>
        </p:txBody>
      </p:sp>
    </p:spTree>
    <p:extLst>
      <p:ext uri="{BB962C8B-B14F-4D97-AF65-F5344CB8AC3E}">
        <p14:creationId xmlns:p14="http://schemas.microsoft.com/office/powerpoint/2010/main" val="284557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17C1-E44D-444A-B76D-066BE770AEBC}"/>
              </a:ext>
            </a:extLst>
          </p:cNvPr>
          <p:cNvSpPr>
            <a:spLocks noGrp="1"/>
          </p:cNvSpPr>
          <p:nvPr>
            <p:ph type="title"/>
          </p:nvPr>
        </p:nvSpPr>
        <p:spPr/>
        <p:txBody>
          <a:bodyPr/>
          <a:lstStyle/>
          <a:p>
            <a:r>
              <a:rPr lang="en-US" dirty="0">
                <a:solidFill>
                  <a:srgbClr val="C00000"/>
                </a:solidFill>
              </a:rPr>
              <a:t>BOF -</a:t>
            </a:r>
            <a:r>
              <a:rPr lang="en-US" dirty="0"/>
              <a:t> </a:t>
            </a:r>
            <a:r>
              <a:rPr lang="en-US" dirty="0">
                <a:solidFill>
                  <a:srgbClr val="C00000"/>
                </a:solidFill>
              </a:rPr>
              <a:t>Defenses</a:t>
            </a:r>
          </a:p>
        </p:txBody>
      </p:sp>
      <p:sp>
        <p:nvSpPr>
          <p:cNvPr id="3" name="Content Placeholder 2">
            <a:extLst>
              <a:ext uri="{FF2B5EF4-FFF2-40B4-BE49-F238E27FC236}">
                <a16:creationId xmlns:a16="http://schemas.microsoft.com/office/drawing/2014/main" id="{6D5F70CF-292E-C848-8970-FC2B927D64B5}"/>
              </a:ext>
            </a:extLst>
          </p:cNvPr>
          <p:cNvSpPr>
            <a:spLocks noGrp="1"/>
          </p:cNvSpPr>
          <p:nvPr>
            <p:ph idx="1"/>
          </p:nvPr>
        </p:nvSpPr>
        <p:spPr>
          <a:xfrm>
            <a:off x="457200" y="1707890"/>
            <a:ext cx="8229600" cy="4525963"/>
          </a:xfrm>
        </p:spPr>
        <p:txBody>
          <a:bodyPr>
            <a:normAutofit/>
          </a:bodyPr>
          <a:lstStyle/>
          <a:p>
            <a:r>
              <a:rPr lang="en-US" altLang="en-US" sz="2400" dirty="0"/>
              <a:t>Marking stack as non-execute</a:t>
            </a:r>
          </a:p>
          <a:p>
            <a:r>
              <a:rPr lang="en-US" sz="2400" dirty="0"/>
              <a:t>Stack Guard</a:t>
            </a:r>
          </a:p>
          <a:p>
            <a:r>
              <a:rPr lang="en-US" altLang="en-US" sz="2400" dirty="0"/>
              <a:t>Address Space Layout Randomization (ASLR)</a:t>
            </a:r>
          </a:p>
          <a:p>
            <a:pPr>
              <a:lnSpc>
                <a:spcPct val="130000"/>
              </a:lnSpc>
            </a:pPr>
            <a:r>
              <a:rPr lang="en-US" altLang="en-US" sz="2400" dirty="0"/>
              <a:t>Instruction Set Randomization (ISR)</a:t>
            </a:r>
            <a:endParaRPr lang="en-US" sz="2400" dirty="0"/>
          </a:p>
          <a:p>
            <a:endParaRPr lang="en-US" sz="2400" dirty="0"/>
          </a:p>
          <a:p>
            <a:endParaRPr lang="en-US" sz="2400" dirty="0"/>
          </a:p>
          <a:p>
            <a:endParaRPr lang="en-US" dirty="0"/>
          </a:p>
        </p:txBody>
      </p:sp>
    </p:spTree>
    <p:extLst>
      <p:ext uri="{BB962C8B-B14F-4D97-AF65-F5344CB8AC3E}">
        <p14:creationId xmlns:p14="http://schemas.microsoft.com/office/powerpoint/2010/main" val="1659850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065"/>
            <a:ext cx="8229600" cy="1143000"/>
          </a:xfrm>
        </p:spPr>
        <p:txBody>
          <a:bodyPr/>
          <a:lstStyle/>
          <a:p>
            <a:r>
              <a:rPr lang="en-US" dirty="0">
                <a:solidFill>
                  <a:srgbClr val="C00000"/>
                </a:solidFill>
              </a:rPr>
              <a:t>A snapshot of the stack frame</a:t>
            </a:r>
          </a:p>
        </p:txBody>
      </p:sp>
      <p:pic>
        <p:nvPicPr>
          <p:cNvPr id="4" name="Picture 3"/>
          <p:cNvPicPr>
            <a:picLocks noChangeAspect="1"/>
          </p:cNvPicPr>
          <p:nvPr/>
        </p:nvPicPr>
        <p:blipFill>
          <a:blip r:embed="rId2"/>
          <a:stretch>
            <a:fillRect/>
          </a:stretch>
        </p:blipFill>
        <p:spPr>
          <a:xfrm>
            <a:off x="296264" y="1903787"/>
            <a:ext cx="4382062" cy="3283496"/>
          </a:xfrm>
          <a:prstGeom prst="rect">
            <a:avLst/>
          </a:prstGeom>
        </p:spPr>
      </p:pic>
      <p:sp>
        <p:nvSpPr>
          <p:cNvPr id="3" name="Rectangle 1"/>
          <p:cNvSpPr>
            <a:spLocks noChangeArrowheads="1"/>
          </p:cNvSpPr>
          <p:nvPr/>
        </p:nvSpPr>
        <p:spPr bwMode="auto">
          <a:xfrm>
            <a:off x="62345" y="1163939"/>
            <a:ext cx="413558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rPr>
              <a:t>int foo (int arg1, int arg2, int arg3) ;</a:t>
            </a:r>
            <a:r>
              <a:rPr kumimoji="0" lang="en-US" altLang="en-US" sz="2000" b="0" i="0" u="none" strike="noStrike" cap="none" normalizeH="0" baseline="0" dirty="0">
                <a:ln>
                  <a:noFill/>
                </a:ln>
                <a:solidFill>
                  <a:schemeClr val="tx1"/>
                </a:solidFill>
                <a:effectLst/>
              </a:rPr>
              <a:t> </a:t>
            </a:r>
          </a:p>
        </p:txBody>
      </p:sp>
      <p:sp>
        <p:nvSpPr>
          <p:cNvPr id="5" name="Rectangle 4"/>
          <p:cNvSpPr/>
          <p:nvPr/>
        </p:nvSpPr>
        <p:spPr>
          <a:xfrm>
            <a:off x="1911927" y="6311065"/>
            <a:ext cx="6310746" cy="369332"/>
          </a:xfrm>
          <a:prstGeom prst="rect">
            <a:avLst/>
          </a:prstGeom>
        </p:spPr>
        <p:txBody>
          <a:bodyPr wrap="square">
            <a:spAutoFit/>
          </a:bodyPr>
          <a:lstStyle/>
          <a:p>
            <a:r>
              <a:rPr lang="en-US" dirty="0"/>
              <a:t>https://flint.cs.yale.edu/cs421/papers/x86-asm/asm.html</a:t>
            </a:r>
          </a:p>
        </p:txBody>
      </p:sp>
      <p:sp>
        <p:nvSpPr>
          <p:cNvPr id="6" name="TextBox 5">
            <a:extLst>
              <a:ext uri="{FF2B5EF4-FFF2-40B4-BE49-F238E27FC236}">
                <a16:creationId xmlns:a16="http://schemas.microsoft.com/office/drawing/2014/main" id="{AAD1B8C9-EA4A-4BE9-9640-A3440C585749}"/>
              </a:ext>
            </a:extLst>
          </p:cNvPr>
          <p:cNvSpPr txBox="1"/>
          <p:nvPr/>
        </p:nvSpPr>
        <p:spPr>
          <a:xfrm>
            <a:off x="5348176" y="3641280"/>
            <a:ext cx="3795824" cy="1200329"/>
          </a:xfrm>
          <a:prstGeom prst="rect">
            <a:avLst/>
          </a:prstGeom>
          <a:noFill/>
        </p:spPr>
        <p:txBody>
          <a:bodyPr wrap="square" rtlCol="0">
            <a:spAutoFit/>
          </a:bodyPr>
          <a:lstStyle/>
          <a:p>
            <a:r>
              <a:rPr lang="en-US" dirty="0"/>
              <a:t>Compiler: </a:t>
            </a:r>
            <a:r>
              <a:rPr lang="en-US" dirty="0" err="1"/>
              <a:t>gcc</a:t>
            </a:r>
            <a:endParaRPr lang="en-US" dirty="0"/>
          </a:p>
          <a:p>
            <a:r>
              <a:rPr lang="en-US" dirty="0"/>
              <a:t>Language: c language</a:t>
            </a:r>
          </a:p>
          <a:p>
            <a:r>
              <a:rPr lang="en-US" dirty="0"/>
              <a:t>Machine architecture: intel x86 architecture</a:t>
            </a:r>
          </a:p>
        </p:txBody>
      </p:sp>
      <p:sp>
        <p:nvSpPr>
          <p:cNvPr id="7" name="TextBox 6">
            <a:extLst>
              <a:ext uri="{FF2B5EF4-FFF2-40B4-BE49-F238E27FC236}">
                <a16:creationId xmlns:a16="http://schemas.microsoft.com/office/drawing/2014/main" id="{4B49AD80-AA41-4CCB-B709-82B258CB7797}"/>
              </a:ext>
            </a:extLst>
          </p:cNvPr>
          <p:cNvSpPr txBox="1"/>
          <p:nvPr/>
        </p:nvSpPr>
        <p:spPr>
          <a:xfrm>
            <a:off x="5263116" y="1162574"/>
            <a:ext cx="2935248" cy="2585323"/>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Note: In the stack frame for a function, the order and the location of the input parameters, and the local variables,  will depend on the programming language and the compiler used, and the target machine Architecture. </a:t>
            </a:r>
          </a:p>
          <a:p>
            <a:endParaRPr lang="en-US" dirty="0"/>
          </a:p>
        </p:txBody>
      </p:sp>
      <p:sp>
        <p:nvSpPr>
          <p:cNvPr id="8" name="TextBox 7">
            <a:extLst>
              <a:ext uri="{FF2B5EF4-FFF2-40B4-BE49-F238E27FC236}">
                <a16:creationId xmlns:a16="http://schemas.microsoft.com/office/drawing/2014/main" id="{797847CD-AE3F-4DC8-8774-5EA4704E75D1}"/>
              </a:ext>
            </a:extLst>
          </p:cNvPr>
          <p:cNvSpPr txBox="1"/>
          <p:nvPr/>
        </p:nvSpPr>
        <p:spPr>
          <a:xfrm>
            <a:off x="306232" y="5187283"/>
            <a:ext cx="8380568" cy="1292662"/>
          </a:xfrm>
          <a:prstGeom prst="rect">
            <a:avLst/>
          </a:prstGeom>
          <a:noFill/>
        </p:spPr>
        <p:txBody>
          <a:bodyPr wrap="square" rtlCol="0">
            <a:spAutoFit/>
          </a:bodyPr>
          <a:lstStyle/>
          <a:p>
            <a:r>
              <a:rPr lang="en-US" sz="2000" dirty="0">
                <a:solidFill>
                  <a:srgbClr val="C00000"/>
                </a:solidFill>
                <a:latin typeface="Times New Roman" panose="02020603050405020304" pitchFamily="18" charset="0"/>
                <a:cs typeface="Times New Roman" panose="02020603050405020304" pitchFamily="18" charset="0"/>
              </a:rPr>
              <a:t>Note: In the stack frame for a function, the order and the location of the input parameters, and the local variables,  will depend on the programming language and the compiler used, and the target machine Architecture. </a:t>
            </a:r>
          </a:p>
          <a:p>
            <a:endParaRPr lang="en-US" dirty="0"/>
          </a:p>
        </p:txBody>
      </p:sp>
    </p:spTree>
    <p:extLst>
      <p:ext uri="{BB962C8B-B14F-4D97-AF65-F5344CB8AC3E}">
        <p14:creationId xmlns:p14="http://schemas.microsoft.com/office/powerpoint/2010/main" val="538457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4235"/>
            <a:ext cx="8229600" cy="836033"/>
          </a:xfrm>
        </p:spPr>
        <p:txBody>
          <a:bodyPr>
            <a:normAutofit fontScale="90000"/>
          </a:bodyPr>
          <a:lstStyle/>
          <a:p>
            <a:r>
              <a:rPr lang="en-US" dirty="0">
                <a:solidFill>
                  <a:srgbClr val="C00000"/>
                </a:solidFill>
              </a:rPr>
              <a:t>A snapshot of the stack frame: An Example</a:t>
            </a:r>
          </a:p>
        </p:txBody>
      </p:sp>
      <p:sp>
        <p:nvSpPr>
          <p:cNvPr id="3" name="Rectangle 1"/>
          <p:cNvSpPr>
            <a:spLocks noChangeArrowheads="1"/>
          </p:cNvSpPr>
          <p:nvPr/>
        </p:nvSpPr>
        <p:spPr bwMode="auto">
          <a:xfrm>
            <a:off x="360934" y="1265395"/>
            <a:ext cx="3030852"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000" dirty="0"/>
              <a:t>int foo(int a, int b, int c)</a:t>
            </a:r>
          </a:p>
          <a:p>
            <a:pPr lvl="0" defTabSz="914400" eaLnBrk="0" fontAlgn="base" hangingPunct="0">
              <a:spcBef>
                <a:spcPct val="0"/>
              </a:spcBef>
              <a:spcAft>
                <a:spcPct val="0"/>
              </a:spcAft>
            </a:pPr>
            <a:r>
              <a:rPr lang="en-US" altLang="en-US" sz="2000" dirty="0"/>
              <a:t>{</a:t>
            </a:r>
          </a:p>
          <a:p>
            <a:pPr lvl="0" defTabSz="914400" eaLnBrk="0" fontAlgn="base" hangingPunct="0">
              <a:spcBef>
                <a:spcPct val="0"/>
              </a:spcBef>
              <a:spcAft>
                <a:spcPct val="0"/>
              </a:spcAft>
            </a:pPr>
            <a:r>
              <a:rPr lang="en-US" altLang="en-US" sz="2000" dirty="0"/>
              <a:t>	int x, y, z; </a:t>
            </a:r>
          </a:p>
          <a:p>
            <a:pPr lvl="0" defTabSz="914400" eaLnBrk="0" fontAlgn="base" hangingPunct="0">
              <a:spcBef>
                <a:spcPct val="0"/>
              </a:spcBef>
              <a:spcAft>
                <a:spcPct val="0"/>
              </a:spcAft>
            </a:pPr>
            <a:r>
              <a:rPr lang="en-US" altLang="en-US" sz="2000" dirty="0"/>
              <a:t>	x = a + 5;</a:t>
            </a:r>
          </a:p>
          <a:p>
            <a:pPr lvl="0" defTabSz="914400" eaLnBrk="0" fontAlgn="base" hangingPunct="0">
              <a:spcBef>
                <a:spcPct val="0"/>
              </a:spcBef>
              <a:spcAft>
                <a:spcPct val="0"/>
              </a:spcAft>
            </a:pPr>
            <a:r>
              <a:rPr lang="en-US" altLang="en-US" sz="2000" dirty="0"/>
              <a:t>	y = b - 3;</a:t>
            </a:r>
          </a:p>
          <a:p>
            <a:pPr lvl="0" defTabSz="914400" eaLnBrk="0" fontAlgn="base" hangingPunct="0">
              <a:spcBef>
                <a:spcPct val="0"/>
              </a:spcBef>
              <a:spcAft>
                <a:spcPct val="0"/>
              </a:spcAft>
            </a:pPr>
            <a:r>
              <a:rPr lang="en-US" altLang="en-US" sz="2000" dirty="0"/>
              <a:t>	z = c * 2;</a:t>
            </a:r>
          </a:p>
          <a:p>
            <a:pPr lvl="0" defTabSz="914400" eaLnBrk="0" fontAlgn="base" hangingPunct="0">
              <a:spcBef>
                <a:spcPct val="0"/>
              </a:spcBef>
              <a:spcAft>
                <a:spcPct val="0"/>
              </a:spcAft>
            </a:pPr>
            <a:r>
              <a:rPr lang="en-US" altLang="en-US" sz="2000" dirty="0"/>
              <a:t>        return 0; </a:t>
            </a:r>
          </a:p>
          <a:p>
            <a:pPr lvl="0" defTabSz="914400" eaLnBrk="0" fontAlgn="base" hangingPunct="0">
              <a:spcBef>
                <a:spcPct val="0"/>
              </a:spcBef>
              <a:spcAft>
                <a:spcPct val="0"/>
              </a:spcAft>
            </a:pPr>
            <a:r>
              <a:rPr lang="en-US" altLang="en-US" sz="2000" dirty="0"/>
              <a:t>} </a:t>
            </a:r>
            <a:endParaRPr kumimoji="0" lang="en-US" altLang="en-US" sz="20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id="{2CDDE3E2-A802-460A-B9BE-161F1FE92ACA}"/>
              </a:ext>
            </a:extLst>
          </p:cNvPr>
          <p:cNvSpPr txBox="1"/>
          <p:nvPr/>
        </p:nvSpPr>
        <p:spPr>
          <a:xfrm>
            <a:off x="4976038" y="1236504"/>
            <a:ext cx="2677080" cy="4247317"/>
          </a:xfrm>
          <a:prstGeom prst="rect">
            <a:avLst/>
          </a:prstGeom>
          <a:noFill/>
        </p:spPr>
        <p:txBody>
          <a:bodyPr wrap="none" rtlCol="0">
            <a:spAutoFit/>
          </a:bodyPr>
          <a:lstStyle/>
          <a:p>
            <a:r>
              <a:rPr lang="en-US" dirty="0"/>
              <a:t>Stack Frame Layout: </a:t>
            </a:r>
          </a:p>
          <a:p>
            <a:endParaRPr lang="en-US" dirty="0"/>
          </a:p>
          <a:p>
            <a:r>
              <a:rPr lang="en-US" dirty="0"/>
              <a:t>Lower address of memory</a:t>
            </a:r>
          </a:p>
          <a:p>
            <a:r>
              <a:rPr lang="en-US" dirty="0"/>
              <a:t>=============</a:t>
            </a:r>
          </a:p>
          <a:p>
            <a:r>
              <a:rPr lang="en-US" dirty="0"/>
              <a:t>z</a:t>
            </a:r>
          </a:p>
          <a:p>
            <a:r>
              <a:rPr lang="en-US" dirty="0"/>
              <a:t>y</a:t>
            </a:r>
          </a:p>
          <a:p>
            <a:r>
              <a:rPr lang="en-US" dirty="0"/>
              <a:t>x</a:t>
            </a:r>
          </a:p>
          <a:p>
            <a:r>
              <a:rPr lang="en-US" dirty="0"/>
              <a:t>EBP</a:t>
            </a:r>
          </a:p>
          <a:p>
            <a:r>
              <a:rPr lang="en-US" dirty="0"/>
              <a:t>EIP (return address)</a:t>
            </a:r>
          </a:p>
          <a:p>
            <a:r>
              <a:rPr lang="en-US" dirty="0"/>
              <a:t>a</a:t>
            </a:r>
          </a:p>
          <a:p>
            <a:r>
              <a:rPr lang="en-US" dirty="0"/>
              <a:t>b</a:t>
            </a:r>
          </a:p>
          <a:p>
            <a:r>
              <a:rPr lang="en-US" dirty="0"/>
              <a:t>c</a:t>
            </a:r>
          </a:p>
          <a:p>
            <a:r>
              <a:rPr lang="en-US" dirty="0"/>
              <a:t>=================</a:t>
            </a:r>
          </a:p>
          <a:p>
            <a:r>
              <a:rPr lang="en-US" dirty="0"/>
              <a:t>Higher address of memory</a:t>
            </a:r>
          </a:p>
          <a:p>
            <a:endParaRPr lang="en-US" dirty="0"/>
          </a:p>
        </p:txBody>
      </p:sp>
      <p:sp>
        <p:nvSpPr>
          <p:cNvPr id="7" name="TextBox 6">
            <a:extLst>
              <a:ext uri="{FF2B5EF4-FFF2-40B4-BE49-F238E27FC236}">
                <a16:creationId xmlns:a16="http://schemas.microsoft.com/office/drawing/2014/main" id="{2182E110-2C98-4957-AAF8-77FAF3DF504F}"/>
              </a:ext>
            </a:extLst>
          </p:cNvPr>
          <p:cNvSpPr txBox="1"/>
          <p:nvPr/>
        </p:nvSpPr>
        <p:spPr>
          <a:xfrm>
            <a:off x="306232" y="5461103"/>
            <a:ext cx="8380568" cy="1292662"/>
          </a:xfrm>
          <a:prstGeom prst="rect">
            <a:avLst/>
          </a:prstGeom>
          <a:noFill/>
        </p:spPr>
        <p:txBody>
          <a:bodyPr wrap="square" rtlCol="0">
            <a:spAutoFit/>
          </a:bodyPr>
          <a:lstStyle/>
          <a:p>
            <a:r>
              <a:rPr lang="en-US" sz="2000" dirty="0">
                <a:solidFill>
                  <a:srgbClr val="C00000"/>
                </a:solidFill>
                <a:latin typeface="Times New Roman" panose="02020603050405020304" pitchFamily="18" charset="0"/>
                <a:cs typeface="Times New Roman" panose="02020603050405020304" pitchFamily="18" charset="0"/>
              </a:rPr>
              <a:t>Note: In the stack frame for a function, the order and the location of the input parameters, and the local variables,  will depend on the programming language and the compiler used, and the target machine Architecture. </a:t>
            </a:r>
          </a:p>
          <a:p>
            <a:endParaRPr lang="en-US" dirty="0"/>
          </a:p>
        </p:txBody>
      </p:sp>
      <p:sp>
        <p:nvSpPr>
          <p:cNvPr id="4" name="TextBox 3">
            <a:extLst>
              <a:ext uri="{FF2B5EF4-FFF2-40B4-BE49-F238E27FC236}">
                <a16:creationId xmlns:a16="http://schemas.microsoft.com/office/drawing/2014/main" id="{B5B3B297-B964-4D29-98EA-6CB3A7D260FA}"/>
              </a:ext>
            </a:extLst>
          </p:cNvPr>
          <p:cNvSpPr txBox="1"/>
          <p:nvPr/>
        </p:nvSpPr>
        <p:spPr>
          <a:xfrm>
            <a:off x="6560" y="4059599"/>
            <a:ext cx="4765087" cy="1015663"/>
          </a:xfrm>
          <a:prstGeom prst="rect">
            <a:avLst/>
          </a:prstGeom>
          <a:noFill/>
        </p:spPr>
        <p:txBody>
          <a:bodyPr wrap="none" rtlCol="0">
            <a:spAutoFit/>
          </a:bodyPr>
          <a:lstStyle/>
          <a:p>
            <a:r>
              <a:rPr lang="en-US" sz="2000" dirty="0"/>
              <a:t>Compiler: </a:t>
            </a:r>
            <a:r>
              <a:rPr lang="en-US" sz="2000" dirty="0" err="1"/>
              <a:t>gcc</a:t>
            </a:r>
            <a:endParaRPr lang="en-US" sz="2000" dirty="0"/>
          </a:p>
          <a:p>
            <a:r>
              <a:rPr lang="en-US" sz="2000" dirty="0"/>
              <a:t>Language: c language</a:t>
            </a:r>
          </a:p>
          <a:p>
            <a:r>
              <a:rPr lang="en-US" sz="2000" dirty="0"/>
              <a:t>Machine architecture: intel x86 architecture</a:t>
            </a:r>
          </a:p>
        </p:txBody>
      </p:sp>
    </p:spTree>
    <p:extLst>
      <p:ext uri="{BB962C8B-B14F-4D97-AF65-F5344CB8AC3E}">
        <p14:creationId xmlns:p14="http://schemas.microsoft.com/office/powerpoint/2010/main" val="388759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a:xfrm>
            <a:off x="457200" y="76200"/>
            <a:ext cx="8229600" cy="1143000"/>
          </a:xfrm>
        </p:spPr>
        <p:txBody>
          <a:bodyPr>
            <a:normAutofit fontScale="90000"/>
          </a:bodyPr>
          <a:lstStyle/>
          <a:p>
            <a:pPr eaLnBrk="1" hangingPunct="1"/>
            <a:r>
              <a:rPr lang="en-US" altLang="en-US" sz="4000"/>
              <a:t>What Security Goals Does Operating System Provide? </a:t>
            </a:r>
          </a:p>
        </p:txBody>
      </p:sp>
      <p:sp>
        <p:nvSpPr>
          <p:cNvPr id="339971" name="Rectangle 3"/>
          <p:cNvSpPr>
            <a:spLocks noGrp="1" noChangeArrowheads="1"/>
          </p:cNvSpPr>
          <p:nvPr>
            <p:ph type="body" idx="1"/>
          </p:nvPr>
        </p:nvSpPr>
        <p:spPr/>
        <p:txBody>
          <a:bodyPr>
            <a:normAutofit lnSpcReduction="10000"/>
          </a:bodyPr>
          <a:lstStyle/>
          <a:p>
            <a:pPr eaLnBrk="1" hangingPunct="1"/>
            <a:r>
              <a:rPr lang="en-US" altLang="en-US" sz="2400"/>
              <a:t>More recent past and present: Networked desktop computers: ensure secure operation in networked environment</a:t>
            </a:r>
          </a:p>
          <a:p>
            <a:pPr eaLnBrk="1" hangingPunct="1"/>
            <a:r>
              <a:rPr lang="en-US" altLang="en-US" sz="2400"/>
              <a:t>New threat?</a:t>
            </a:r>
          </a:p>
          <a:p>
            <a:pPr lvl="1" eaLnBrk="1" hangingPunct="1"/>
            <a:r>
              <a:rPr lang="en-US" altLang="en-US" sz="2000"/>
              <a:t>Attackers coming from the network. Network-facing programs on computers may be buggy.  Users may be hurt via online communication.</a:t>
            </a:r>
          </a:p>
          <a:p>
            <a:pPr eaLnBrk="1" hangingPunct="1"/>
            <a:r>
              <a:rPr lang="en-US" altLang="en-US" sz="2400"/>
              <a:t>Security mechanisms</a:t>
            </a:r>
          </a:p>
          <a:p>
            <a:pPr lvl="1" eaLnBrk="1" hangingPunct="1"/>
            <a:r>
              <a:rPr lang="en-US" altLang="en-US" sz="2000"/>
              <a:t>Authentication; Access Control</a:t>
            </a:r>
          </a:p>
          <a:p>
            <a:pPr lvl="1" eaLnBrk="1" hangingPunct="1"/>
            <a:r>
              <a:rPr lang="en-US" altLang="en-US" sz="2000"/>
              <a:t>Secure Communication (using cryptography)</a:t>
            </a:r>
          </a:p>
          <a:p>
            <a:pPr lvl="1" eaLnBrk="1" hangingPunct="1"/>
            <a:r>
              <a:rPr lang="en-US" altLang="en-US" sz="2000"/>
              <a:t>Logging &amp; Auditing</a:t>
            </a:r>
          </a:p>
          <a:p>
            <a:pPr lvl="1" eaLnBrk="1" hangingPunct="1"/>
            <a:r>
              <a:rPr lang="en-US" altLang="en-US" sz="2000"/>
              <a:t>Intrusion Prevention and Detection </a:t>
            </a:r>
          </a:p>
          <a:p>
            <a:pPr lvl="1" eaLnBrk="1" hangingPunct="1"/>
            <a:r>
              <a:rPr lang="en-US" altLang="en-US" sz="2000"/>
              <a:t>Recovery</a:t>
            </a:r>
          </a:p>
        </p:txBody>
      </p:sp>
    </p:spTree>
    <p:extLst>
      <p:ext uri="{BB962C8B-B14F-4D97-AF65-F5344CB8AC3E}">
        <p14:creationId xmlns:p14="http://schemas.microsoft.com/office/powerpoint/2010/main" val="3485387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99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997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997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997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997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997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997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99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CB54AD11-43F6-4CDA-94D3-AF2DE5D5C1B4}" type="slidenum">
              <a:rPr lang="zh-CN" altLang="en-US" sz="1400" smtClean="0"/>
              <a:pPr>
                <a:lnSpc>
                  <a:spcPct val="100000"/>
                </a:lnSpc>
                <a:spcBef>
                  <a:spcPct val="0"/>
                </a:spcBef>
              </a:pPr>
              <a:t>21</a:t>
            </a:fld>
            <a:endParaRPr lang="en-US" altLang="zh-CN" sz="1400"/>
          </a:p>
        </p:txBody>
      </p:sp>
      <p:sp>
        <p:nvSpPr>
          <p:cNvPr id="24580" name="Rectangle 2"/>
          <p:cNvSpPr>
            <a:spLocks noGrp="1" noChangeArrowheads="1"/>
          </p:cNvSpPr>
          <p:nvPr>
            <p:ph type="title"/>
          </p:nvPr>
        </p:nvSpPr>
        <p:spPr/>
        <p:txBody>
          <a:bodyPr>
            <a:normAutofit/>
          </a:bodyPr>
          <a:lstStyle/>
          <a:p>
            <a:pPr eaLnBrk="1" hangingPunct="1"/>
            <a:r>
              <a:rPr lang="en-US" altLang="en-US" dirty="0"/>
              <a:t>User-Land vs. Kernel-Land</a:t>
            </a:r>
            <a:endParaRPr lang="en-AU" altLang="en-US" dirty="0"/>
          </a:p>
        </p:txBody>
      </p:sp>
      <p:grpSp>
        <p:nvGrpSpPr>
          <p:cNvPr id="24581" name="Group 35"/>
          <p:cNvGrpSpPr>
            <a:grpSpLocks/>
          </p:cNvGrpSpPr>
          <p:nvPr/>
        </p:nvGrpSpPr>
        <p:grpSpPr bwMode="auto">
          <a:xfrm>
            <a:off x="2259013" y="1871663"/>
            <a:ext cx="2286000" cy="4168775"/>
            <a:chOff x="2658867" y="1690487"/>
            <a:chExt cx="2286001" cy="4188845"/>
          </a:xfrm>
        </p:grpSpPr>
        <p:sp>
          <p:nvSpPr>
            <p:cNvPr id="37" name="Rectangle 8"/>
            <p:cNvSpPr>
              <a:spLocks noChangeArrowheads="1"/>
            </p:cNvSpPr>
            <p:nvPr/>
          </p:nvSpPr>
          <p:spPr bwMode="auto">
            <a:xfrm>
              <a:off x="2658867" y="2567816"/>
              <a:ext cx="2286001" cy="727385"/>
            </a:xfrm>
            <a:prstGeom prst="rect">
              <a:avLst/>
            </a:prstGeom>
            <a:solidFill>
              <a:schemeClr val="accent6">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Non-Essential</a:t>
              </a:r>
            </a:p>
            <a:p>
              <a:pPr algn="ctr">
                <a:defRPr/>
              </a:pPr>
              <a:r>
                <a:rPr kumimoji="1" lang="en-US" altLang="zh-TW" dirty="0">
                  <a:latin typeface="Times New Roman" charset="0"/>
                  <a:ea typeface="新細明體" charset="0"/>
                  <a:cs typeface="新細明體" charset="0"/>
                </a:rPr>
                <a:t>OS Applications</a:t>
              </a:r>
            </a:p>
          </p:txBody>
        </p:sp>
        <p:sp>
          <p:nvSpPr>
            <p:cNvPr id="38" name="Rectangle 9"/>
            <p:cNvSpPr>
              <a:spLocks noChangeArrowheads="1"/>
            </p:cNvSpPr>
            <p:nvPr/>
          </p:nvSpPr>
          <p:spPr bwMode="auto">
            <a:xfrm>
              <a:off x="2658867" y="3561589"/>
              <a:ext cx="2286001" cy="788001"/>
            </a:xfrm>
            <a:prstGeom prst="rect">
              <a:avLst/>
            </a:prstGeom>
            <a:solidFill>
              <a:schemeClr val="tx2">
                <a:lumMod val="60000"/>
                <a:lumOff val="40000"/>
              </a:schemeClr>
            </a:solidFill>
            <a:ln w="9525">
              <a:solidFill>
                <a:schemeClr val="tx1"/>
              </a:solidFill>
              <a:miter lim="800000"/>
              <a:headEnd/>
              <a:tailEnd/>
            </a:ln>
            <a:effectLst/>
          </p:spPr>
          <p:txBody>
            <a:bodyPr wrap="none" anchor="ctr"/>
            <a:lstStyle/>
            <a:p>
              <a:pPr algn="ctr">
                <a:defRPr/>
              </a:pPr>
              <a:r>
                <a:rPr kumimoji="1" lang="en-US" altLang="zh-TW" dirty="0">
                  <a:latin typeface="Times New Roman" charset="0"/>
                  <a:ea typeface="新細明體" charset="0"/>
                  <a:cs typeface="新細明體" charset="0"/>
                </a:rPr>
                <a:t>The OS Kernel</a:t>
              </a:r>
            </a:p>
          </p:txBody>
        </p:sp>
        <p:sp>
          <p:nvSpPr>
            <p:cNvPr id="39" name="Rectangle 14"/>
            <p:cNvSpPr>
              <a:spLocks noChangeArrowheads="1"/>
            </p:cNvSpPr>
            <p:nvPr/>
          </p:nvSpPr>
          <p:spPr bwMode="auto">
            <a:xfrm>
              <a:off x="2658867" y="4548983"/>
              <a:ext cx="2286001" cy="1330349"/>
            </a:xfrm>
            <a:prstGeom prst="rect">
              <a:avLst/>
            </a:prstGeom>
            <a:solidFill>
              <a:schemeClr val="accent3">
                <a:lumMod val="75000"/>
              </a:schemeClr>
            </a:solidFill>
            <a:ln w="9525">
              <a:solidFill>
                <a:schemeClr val="tx1"/>
              </a:solidFill>
              <a:miter lim="800000"/>
              <a:headEnd/>
              <a:tailEnd/>
            </a:ln>
            <a:effectLst/>
          </p:spPr>
          <p:txBody>
            <a:bodyPr wrap="none" anchor="ctr"/>
            <a:lstStyle/>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r>
                <a:rPr kumimoji="1" lang="en-US" altLang="zh-TW" dirty="0">
                  <a:solidFill>
                    <a:schemeClr val="accent2"/>
                  </a:solidFill>
                  <a:latin typeface="Times New Roman" charset="0"/>
                  <a:ea typeface="新細明體" charset="0"/>
                  <a:cs typeface="新細明體" charset="0"/>
                </a:rPr>
                <a:t>CPU, Memory, </a:t>
              </a:r>
            </a:p>
            <a:p>
              <a:pPr algn="ctr" eaLnBrk="1" hangingPunct="1">
                <a:defRPr/>
              </a:pPr>
              <a:r>
                <a:rPr kumimoji="1" lang="en-US" altLang="zh-TW" dirty="0" err="1">
                  <a:solidFill>
                    <a:schemeClr val="accent2"/>
                  </a:solidFill>
                  <a:latin typeface="Times New Roman" charset="0"/>
                  <a:ea typeface="新細明體" charset="0"/>
                  <a:cs typeface="新細明體" charset="0"/>
                </a:rPr>
                <a:t>Input/Output</a:t>
              </a: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a:p>
              <a:pPr algn="ctr" eaLnBrk="1" hangingPunct="1">
                <a:defRPr/>
              </a:pPr>
              <a:endParaRPr kumimoji="1" lang="en-US" altLang="zh-TW" dirty="0">
                <a:solidFill>
                  <a:schemeClr val="accent2"/>
                </a:solidFill>
                <a:latin typeface="Times New Roman" charset="0"/>
                <a:ea typeface="新細明體" charset="0"/>
                <a:cs typeface="新細明體" charset="0"/>
              </a:endParaRPr>
            </a:p>
          </p:txBody>
        </p:sp>
        <p:sp>
          <p:nvSpPr>
            <p:cNvPr id="40" name="Rectangle 8"/>
            <p:cNvSpPr>
              <a:spLocks noChangeArrowheads="1"/>
            </p:cNvSpPr>
            <p:nvPr/>
          </p:nvSpPr>
          <p:spPr bwMode="auto">
            <a:xfrm>
              <a:off x="2658867" y="1690487"/>
              <a:ext cx="2286001" cy="725789"/>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kumimoji="1" lang="en-US" altLang="zh-TW" dirty="0">
                <a:solidFill>
                  <a:schemeClr val="tx1"/>
                </a:solidFill>
                <a:ea typeface="新細明體" charset="0"/>
                <a:cs typeface="新細明體" charset="0"/>
              </a:endParaRPr>
            </a:p>
          </p:txBody>
        </p:sp>
      </p:grpSp>
      <p:grpSp>
        <p:nvGrpSpPr>
          <p:cNvPr id="24582" name="Group 40"/>
          <p:cNvGrpSpPr>
            <a:grpSpLocks/>
          </p:cNvGrpSpPr>
          <p:nvPr/>
        </p:nvGrpSpPr>
        <p:grpSpPr bwMode="auto">
          <a:xfrm>
            <a:off x="809625" y="4711700"/>
            <a:ext cx="1449388" cy="1322388"/>
            <a:chOff x="1209492" y="2450589"/>
            <a:chExt cx="1449375" cy="3428743"/>
          </a:xfrm>
        </p:grpSpPr>
        <p:sp>
          <p:nvSpPr>
            <p:cNvPr id="24590" name="Text Box 13"/>
            <p:cNvSpPr txBox="1">
              <a:spLocks noChangeArrowheads="1"/>
            </p:cNvSpPr>
            <p:nvPr/>
          </p:nvSpPr>
          <p:spPr bwMode="auto">
            <a:xfrm>
              <a:off x="1209492" y="3946694"/>
              <a:ext cx="1196161" cy="103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Hardware</a:t>
              </a:r>
            </a:p>
          </p:txBody>
        </p:sp>
        <p:sp>
          <p:nvSpPr>
            <p:cNvPr id="43" name="Left Brace 42"/>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24583" name="Rectangle 1"/>
          <p:cNvSpPr>
            <a:spLocks noChangeArrowheads="1"/>
          </p:cNvSpPr>
          <p:nvPr/>
        </p:nvSpPr>
        <p:spPr bwMode="auto">
          <a:xfrm>
            <a:off x="1219200" y="182880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0"/>
              </a:spcBef>
            </a:pPr>
            <a:r>
              <a:rPr kumimoji="1" lang="en-US" altLang="zh-TW">
                <a:ea typeface="新細明體"/>
                <a:cs typeface="新細明體"/>
              </a:rPr>
              <a:t>User </a:t>
            </a:r>
          </a:p>
          <a:p>
            <a:pPr algn="ctr">
              <a:lnSpc>
                <a:spcPct val="100000"/>
              </a:lnSpc>
              <a:spcBef>
                <a:spcPct val="0"/>
              </a:spcBef>
            </a:pPr>
            <a:r>
              <a:rPr kumimoji="1" lang="en-US" altLang="zh-TW">
                <a:ea typeface="新細明體"/>
                <a:cs typeface="新細明體"/>
              </a:rPr>
              <a:t>Applications</a:t>
            </a:r>
          </a:p>
        </p:txBody>
      </p:sp>
      <p:grpSp>
        <p:nvGrpSpPr>
          <p:cNvPr id="24584" name="Group 45"/>
          <p:cNvGrpSpPr>
            <a:grpSpLocks/>
          </p:cNvGrpSpPr>
          <p:nvPr/>
        </p:nvGrpSpPr>
        <p:grpSpPr bwMode="auto">
          <a:xfrm>
            <a:off x="685800" y="2811463"/>
            <a:ext cx="1449388" cy="1706562"/>
            <a:chOff x="1209492" y="2450589"/>
            <a:chExt cx="1449375" cy="3428743"/>
          </a:xfrm>
        </p:grpSpPr>
        <p:sp>
          <p:nvSpPr>
            <p:cNvPr id="24588" name="Text Box 13"/>
            <p:cNvSpPr txBox="1">
              <a:spLocks noChangeArrowheads="1"/>
            </p:cNvSpPr>
            <p:nvPr/>
          </p:nvSpPr>
          <p:spPr bwMode="auto">
            <a:xfrm>
              <a:off x="1209492" y="3946694"/>
              <a:ext cx="1273105" cy="12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Operating </a:t>
              </a:r>
            </a:p>
            <a:p>
              <a:pPr eaLnBrk="1" hangingPunct="1">
                <a:lnSpc>
                  <a:spcPct val="100000"/>
                </a:lnSpc>
                <a:spcBef>
                  <a:spcPct val="0"/>
                </a:spcBef>
              </a:pPr>
              <a:r>
                <a:rPr kumimoji="1" lang="en-US" altLang="zh-TW" sz="2000">
                  <a:ea typeface="新細明體"/>
                  <a:cs typeface="新細明體"/>
                </a:rPr>
                <a:t>Systems</a:t>
              </a:r>
            </a:p>
          </p:txBody>
        </p:sp>
        <p:sp>
          <p:nvSpPr>
            <p:cNvPr id="48" name="Left Brace 47"/>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grpSp>
        <p:nvGrpSpPr>
          <p:cNvPr id="24585" name="Group 49"/>
          <p:cNvGrpSpPr>
            <a:grpSpLocks/>
          </p:cNvGrpSpPr>
          <p:nvPr/>
        </p:nvGrpSpPr>
        <p:grpSpPr bwMode="auto">
          <a:xfrm>
            <a:off x="685800" y="1800225"/>
            <a:ext cx="1449388" cy="720725"/>
            <a:chOff x="1209492" y="2450589"/>
            <a:chExt cx="1449375" cy="3428743"/>
          </a:xfrm>
        </p:grpSpPr>
        <p:sp>
          <p:nvSpPr>
            <p:cNvPr id="24586" name="Text Box 13"/>
            <p:cNvSpPr txBox="1">
              <a:spLocks noChangeArrowheads="1"/>
            </p:cNvSpPr>
            <p:nvPr/>
          </p:nvSpPr>
          <p:spPr bwMode="auto">
            <a:xfrm>
              <a:off x="1209492" y="3946692"/>
              <a:ext cx="1109599" cy="190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kumimoji="1" lang="en-US" altLang="zh-TW" sz="2000">
                  <a:ea typeface="新細明體"/>
                  <a:cs typeface="新細明體"/>
                </a:rPr>
                <a:t>Userland</a:t>
              </a:r>
            </a:p>
          </p:txBody>
        </p:sp>
        <p:sp>
          <p:nvSpPr>
            <p:cNvPr id="52" name="Left Brace 51"/>
            <p:cNvSpPr/>
            <p:nvPr/>
          </p:nvSpPr>
          <p:spPr>
            <a:xfrm>
              <a:off x="2123884" y="2450589"/>
              <a:ext cx="534983" cy="3428743"/>
            </a:xfrm>
            <a:prstGeom prst="leftBrace">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Tree>
    <p:extLst>
      <p:ext uri="{BB962C8B-B14F-4D97-AF65-F5344CB8AC3E}">
        <p14:creationId xmlns:p14="http://schemas.microsoft.com/office/powerpoint/2010/main" val="143584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normAutofit fontScale="90000"/>
          </a:bodyPr>
          <a:lstStyle/>
          <a:p>
            <a:pPr eaLnBrk="1" hangingPunct="1"/>
            <a:r>
              <a:rPr lang="en-US" altLang="en-US" sz="4000"/>
              <a:t>High-level View of Kernel Space vs. User Space</a:t>
            </a:r>
          </a:p>
        </p:txBody>
      </p:sp>
      <p:sp>
        <p:nvSpPr>
          <p:cNvPr id="29702" name="Rectangle 3"/>
          <p:cNvSpPr>
            <a:spLocks noChangeArrowheads="1"/>
          </p:cNvSpPr>
          <p:nvPr/>
        </p:nvSpPr>
        <p:spPr bwMode="auto">
          <a:xfrm>
            <a:off x="838200" y="1752600"/>
            <a:ext cx="7315200" cy="3581400"/>
          </a:xfrm>
          <a:prstGeom prst="rect">
            <a:avLst/>
          </a:prstGeom>
          <a:solidFill>
            <a:schemeClr val="folHlink"/>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3" name="Text Box 4"/>
          <p:cNvSpPr txBox="1">
            <a:spLocks noChangeArrowheads="1"/>
          </p:cNvSpPr>
          <p:nvPr/>
        </p:nvSpPr>
        <p:spPr bwMode="auto">
          <a:xfrm>
            <a:off x="1219200" y="4191000"/>
            <a:ext cx="6629400" cy="466725"/>
          </a:xfrm>
          <a:prstGeom prst="rect">
            <a:avLst/>
          </a:prstGeom>
          <a:solidFill>
            <a:srgbClr val="FFFFFF"/>
          </a:solidFill>
          <a:ln w="9525" algn="ctr">
            <a:solidFill>
              <a:schemeClr val="tx1"/>
            </a:solidFill>
            <a:miter lim="800000"/>
            <a:headEnd/>
            <a:tailEnd/>
          </a:ln>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rPr>
              <a:t>Hardware (disks, network interfaces, etc.)</a:t>
            </a:r>
          </a:p>
        </p:txBody>
      </p:sp>
      <p:sp>
        <p:nvSpPr>
          <p:cNvPr id="29704" name="Text Box 5"/>
          <p:cNvSpPr txBox="1">
            <a:spLocks noChangeArrowheads="1"/>
          </p:cNvSpPr>
          <p:nvPr/>
        </p:nvSpPr>
        <p:spPr bwMode="auto">
          <a:xfrm>
            <a:off x="1219200" y="3352800"/>
            <a:ext cx="6629400" cy="466725"/>
          </a:xfrm>
          <a:prstGeom prst="rect">
            <a:avLst/>
          </a:prstGeom>
          <a:solidFill>
            <a:srgbClr val="FFFFFF"/>
          </a:solidFill>
          <a:ln w="9525" algn="ctr">
            <a:solidFill>
              <a:schemeClr val="tx1"/>
            </a:solidFill>
            <a:miter lim="800000"/>
            <a:headEnd/>
            <a:tailEnd/>
          </a:ln>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rPr>
              <a:t>The Kernel</a:t>
            </a:r>
          </a:p>
        </p:txBody>
      </p:sp>
      <p:sp>
        <p:nvSpPr>
          <p:cNvPr id="29705" name="Oval 6"/>
          <p:cNvSpPr>
            <a:spLocks noChangeArrowheads="1"/>
          </p:cNvSpPr>
          <p:nvPr/>
        </p:nvSpPr>
        <p:spPr bwMode="auto">
          <a:xfrm>
            <a:off x="13716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6" name="Text Box 7"/>
          <p:cNvSpPr txBox="1">
            <a:spLocks noChangeArrowheads="1"/>
          </p:cNvSpPr>
          <p:nvPr/>
        </p:nvSpPr>
        <p:spPr bwMode="auto">
          <a:xfrm>
            <a:off x="16002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1</a:t>
            </a:r>
          </a:p>
        </p:txBody>
      </p:sp>
      <p:sp>
        <p:nvSpPr>
          <p:cNvPr id="29707" name="Oval 8"/>
          <p:cNvSpPr>
            <a:spLocks noChangeArrowheads="1"/>
          </p:cNvSpPr>
          <p:nvPr/>
        </p:nvSpPr>
        <p:spPr bwMode="auto">
          <a:xfrm>
            <a:off x="32004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08" name="Text Box 9"/>
          <p:cNvSpPr txBox="1">
            <a:spLocks noChangeArrowheads="1"/>
          </p:cNvSpPr>
          <p:nvPr/>
        </p:nvSpPr>
        <p:spPr bwMode="auto">
          <a:xfrm>
            <a:off x="34290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2</a:t>
            </a:r>
          </a:p>
        </p:txBody>
      </p:sp>
      <p:sp>
        <p:nvSpPr>
          <p:cNvPr id="29709" name="Oval 10"/>
          <p:cNvSpPr>
            <a:spLocks noChangeArrowheads="1"/>
          </p:cNvSpPr>
          <p:nvPr/>
        </p:nvSpPr>
        <p:spPr bwMode="auto">
          <a:xfrm>
            <a:off x="6096000" y="2133600"/>
            <a:ext cx="1600200" cy="762000"/>
          </a:xfrm>
          <a:prstGeom prst="ellipse">
            <a:avLst/>
          </a:prstGeom>
          <a:solidFill>
            <a:srgbClr val="FFFFFF"/>
          </a:solidFill>
          <a:ln w="9525" algn="ctr">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9710" name="Text Box 11"/>
          <p:cNvSpPr txBox="1">
            <a:spLocks noChangeArrowheads="1"/>
          </p:cNvSpPr>
          <p:nvPr/>
        </p:nvSpPr>
        <p:spPr bwMode="auto">
          <a:xfrm>
            <a:off x="6324600" y="2286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000">
                <a:latin typeface="Times New Roman" panose="02020603050405020304" pitchFamily="18" charset="0"/>
              </a:rPr>
              <a:t>Process n</a:t>
            </a:r>
          </a:p>
        </p:txBody>
      </p:sp>
      <p:sp>
        <p:nvSpPr>
          <p:cNvPr id="29711" name="Text Box 12"/>
          <p:cNvSpPr txBox="1">
            <a:spLocks noChangeArrowheads="1"/>
          </p:cNvSpPr>
          <p:nvPr/>
        </p:nvSpPr>
        <p:spPr bwMode="auto">
          <a:xfrm>
            <a:off x="5029200" y="2133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a:latin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2876885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en-US" altLang="en-US"/>
              <a:t>Access control</a:t>
            </a:r>
          </a:p>
        </p:txBody>
      </p:sp>
      <p:sp>
        <p:nvSpPr>
          <p:cNvPr id="30726" name="Rectangle 3"/>
          <p:cNvSpPr>
            <a:spLocks noGrp="1" noChangeArrowheads="1"/>
          </p:cNvSpPr>
          <p:nvPr>
            <p:ph type="body" idx="4294967295"/>
          </p:nvPr>
        </p:nvSpPr>
        <p:spPr>
          <a:xfrm>
            <a:off x="609600" y="1295400"/>
            <a:ext cx="7924800" cy="2057400"/>
          </a:xfrm>
        </p:spPr>
        <p:txBody>
          <a:bodyPr/>
          <a:lstStyle/>
          <a:p>
            <a:pPr eaLnBrk="1" hangingPunct="1"/>
            <a:r>
              <a:rPr lang="en-US" altLang="en-US" sz="2400"/>
              <a:t>A </a:t>
            </a:r>
            <a:r>
              <a:rPr lang="en-US" altLang="en-US" sz="2400">
                <a:solidFill>
                  <a:srgbClr val="FF3300"/>
                </a:solidFill>
              </a:rPr>
              <a:t>reference monitor</a:t>
            </a:r>
            <a:r>
              <a:rPr lang="en-US" altLang="en-US" sz="2400"/>
              <a:t> mediates all access to resources</a:t>
            </a:r>
          </a:p>
          <a:p>
            <a:pPr lvl="1" eaLnBrk="1" hangingPunct="1"/>
            <a:r>
              <a:rPr lang="en-US" altLang="en-US">
                <a:solidFill>
                  <a:schemeClr val="tx2"/>
                </a:solidFill>
              </a:rPr>
              <a:t>Principle: Complete mediation</a:t>
            </a:r>
            <a:r>
              <a:rPr lang="en-US" altLang="en-US"/>
              <a:t>: control </a:t>
            </a:r>
            <a:r>
              <a:rPr lang="en-US" altLang="en-US" b="1"/>
              <a:t>all</a:t>
            </a:r>
            <a:r>
              <a:rPr lang="en-US" altLang="en-US"/>
              <a:t> accesses to resources</a:t>
            </a:r>
          </a:p>
        </p:txBody>
      </p:sp>
      <p:sp>
        <p:nvSpPr>
          <p:cNvPr id="30727" name="AutoShape 4"/>
          <p:cNvSpPr>
            <a:spLocks noChangeArrowheads="1"/>
          </p:cNvSpPr>
          <p:nvPr/>
        </p:nvSpPr>
        <p:spPr bwMode="auto">
          <a:xfrm>
            <a:off x="6705600" y="3702050"/>
            <a:ext cx="1371600" cy="1752600"/>
          </a:xfrm>
          <a:prstGeom prst="can">
            <a:avLst>
              <a:gd name="adj" fmla="val 31944"/>
            </a:avLst>
          </a:prstGeom>
          <a:solidFill>
            <a:schemeClr val="accent1"/>
          </a:solidFill>
          <a:ln w="9525">
            <a:solidFill>
              <a:schemeClr val="tx1"/>
            </a:solidFill>
            <a:round/>
            <a:headEnd/>
            <a:tailEn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SzTx/>
              <a:buFontTx/>
              <a:buNone/>
            </a:pPr>
            <a:r>
              <a:rPr lang="en-US" altLang="en-US" sz="2400">
                <a:latin typeface="Tahoma" panose="020B0604030504040204" pitchFamily="34" charset="0"/>
              </a:rPr>
              <a:t>Resource</a:t>
            </a:r>
          </a:p>
        </p:txBody>
      </p:sp>
      <p:sp>
        <p:nvSpPr>
          <p:cNvPr id="30728" name="Oval 5"/>
          <p:cNvSpPr>
            <a:spLocks noChangeArrowheads="1"/>
          </p:cNvSpPr>
          <p:nvPr/>
        </p:nvSpPr>
        <p:spPr bwMode="auto">
          <a:xfrm>
            <a:off x="685800" y="4006850"/>
            <a:ext cx="1828800" cy="1219200"/>
          </a:xfrm>
          <a:prstGeom prst="ellipse">
            <a:avLst/>
          </a:prstGeom>
          <a:solidFill>
            <a:schemeClr val="accent1"/>
          </a:solidFill>
          <a:ln w="9525">
            <a:solidFill>
              <a:schemeClr val="tx1"/>
            </a:solidFill>
            <a:round/>
            <a:headEnd/>
            <a:tailEnd/>
          </a:ln>
        </p:spPr>
        <p:txBody>
          <a:bodyPr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SzTx/>
              <a:buFontTx/>
              <a:buNone/>
            </a:pPr>
            <a:r>
              <a:rPr lang="en-US" altLang="en-US" sz="2400">
                <a:latin typeface="Tahoma" panose="020B0604030504040204" pitchFamily="34" charset="0"/>
              </a:rPr>
              <a:t>User process</a:t>
            </a:r>
          </a:p>
        </p:txBody>
      </p:sp>
      <p:sp>
        <p:nvSpPr>
          <p:cNvPr id="30729" name="Line 6"/>
          <p:cNvSpPr>
            <a:spLocks noChangeShapeType="1"/>
          </p:cNvSpPr>
          <p:nvPr/>
        </p:nvSpPr>
        <p:spPr bwMode="auto">
          <a:xfrm>
            <a:off x="2514600" y="4616450"/>
            <a:ext cx="1714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0" name="Line 7"/>
          <p:cNvSpPr>
            <a:spLocks noChangeShapeType="1"/>
          </p:cNvSpPr>
          <p:nvPr/>
        </p:nvSpPr>
        <p:spPr bwMode="auto">
          <a:xfrm>
            <a:off x="5791200" y="4616450"/>
            <a:ext cx="914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1" name="Text Box 8"/>
          <p:cNvSpPr txBox="1">
            <a:spLocks noChangeArrowheads="1"/>
          </p:cNvSpPr>
          <p:nvPr/>
        </p:nvSpPr>
        <p:spPr bwMode="auto">
          <a:xfrm>
            <a:off x="3505200" y="3657600"/>
            <a:ext cx="1306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70000"/>
              </a:lnSpc>
              <a:buSzTx/>
              <a:buFontTx/>
              <a:buNone/>
            </a:pPr>
            <a:r>
              <a:rPr lang="en-US" altLang="en-US" sz="2000">
                <a:latin typeface="Tahoma" panose="020B0604030504040204" pitchFamily="34" charset="0"/>
              </a:rPr>
              <a:t>Reference</a:t>
            </a:r>
          </a:p>
          <a:p>
            <a:pPr algn="ctr">
              <a:lnSpc>
                <a:spcPct val="70000"/>
              </a:lnSpc>
              <a:buSzTx/>
              <a:buFontTx/>
              <a:buNone/>
            </a:pPr>
            <a:r>
              <a:rPr lang="en-US" altLang="en-US" sz="2000">
                <a:latin typeface="Tahoma" panose="020B0604030504040204" pitchFamily="34" charset="0"/>
              </a:rPr>
              <a:t>monitor</a:t>
            </a:r>
          </a:p>
        </p:txBody>
      </p:sp>
      <p:sp>
        <p:nvSpPr>
          <p:cNvPr id="30732" name="Text Box 9"/>
          <p:cNvSpPr txBox="1">
            <a:spLocks noChangeArrowheads="1"/>
          </p:cNvSpPr>
          <p:nvPr/>
        </p:nvSpPr>
        <p:spPr bwMode="auto">
          <a:xfrm>
            <a:off x="2438400" y="4616450"/>
            <a:ext cx="226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me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latin typeface="Tahoma" panose="020B0604030504040204" pitchFamily="34" charset="0"/>
              </a:rPr>
              <a:t>access request</a:t>
            </a:r>
          </a:p>
        </p:txBody>
      </p:sp>
      <p:sp>
        <p:nvSpPr>
          <p:cNvPr id="30733" name="Text Box 10"/>
          <p:cNvSpPr txBox="1">
            <a:spLocks noChangeArrowheads="1"/>
          </p:cNvSpPr>
          <p:nvPr/>
        </p:nvSpPr>
        <p:spPr bwMode="auto">
          <a:xfrm>
            <a:off x="4899025" y="5849938"/>
            <a:ext cx="226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med"/>
              </a14:hiddenLine>
            </a:ext>
          </a:extLst>
        </p:spPr>
        <p:txBody>
          <a:bodyPr>
            <a:spAutoFit/>
          </a:bodyP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latin typeface="Tahoma" panose="020B0604030504040204" pitchFamily="34" charset="0"/>
              </a:rPr>
              <a:t>policy</a:t>
            </a:r>
          </a:p>
        </p:txBody>
      </p:sp>
      <p:sp>
        <p:nvSpPr>
          <p:cNvPr id="30734" name="AutoShape 11"/>
          <p:cNvSpPr>
            <a:spLocks noChangeArrowheads="1"/>
          </p:cNvSpPr>
          <p:nvPr/>
        </p:nvSpPr>
        <p:spPr bwMode="auto">
          <a:xfrm>
            <a:off x="4267200" y="3740150"/>
            <a:ext cx="1752600" cy="1752600"/>
          </a:xfrm>
          <a:prstGeom prst="diamond">
            <a:avLst/>
          </a:prstGeom>
          <a:solidFill>
            <a:schemeClr val="tx2"/>
          </a:solidFill>
          <a:ln w="12700" algn="ctr">
            <a:solidFill>
              <a:schemeClr val="tx1"/>
            </a:solidFill>
            <a:miter lim="800000"/>
            <a:headEnd/>
            <a:tailEnd type="none" w="lg" len="med"/>
          </a:ln>
        </p:spPr>
        <p:txBody>
          <a:bodyPr wrap="none" anchor="ctr"/>
          <a:lstStyle>
            <a:lvl1pPr eaLnBrk="0" hangingPunct="0">
              <a:spcBef>
                <a:spcPct val="20000"/>
              </a:spcBef>
              <a:buClr>
                <a:schemeClr val="accent2"/>
              </a:buClr>
              <a:buSzPct val="100000"/>
              <a:buFont typeface="Times" panose="02020603050405020304" pitchFamily="18"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4800">
                <a:solidFill>
                  <a:schemeClr val="bg1"/>
                </a:solidFill>
                <a:latin typeface="Tahoma" panose="020B0604030504040204" pitchFamily="34" charset="0"/>
              </a:rPr>
              <a:t>?</a:t>
            </a:r>
          </a:p>
        </p:txBody>
      </p:sp>
      <p:sp>
        <p:nvSpPr>
          <p:cNvPr id="30735" name="Line 12"/>
          <p:cNvSpPr>
            <a:spLocks noChangeShapeType="1"/>
          </p:cNvSpPr>
          <p:nvPr/>
        </p:nvSpPr>
        <p:spPr bwMode="auto">
          <a:xfrm>
            <a:off x="5151438" y="5540375"/>
            <a:ext cx="0" cy="357188"/>
          </a:xfrm>
          <a:prstGeom prst="line">
            <a:avLst/>
          </a:prstGeom>
          <a:noFill/>
          <a:ln w="19050">
            <a:solidFill>
              <a:schemeClr val="tx1"/>
            </a:solidFill>
            <a:round/>
            <a:headEnd type="triangle" w="med" len="med"/>
            <a:tailEnd type="none" w="lg"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198131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228600"/>
            <a:ext cx="8610600" cy="838200"/>
          </a:xfrm>
        </p:spPr>
        <p:txBody>
          <a:bodyPr/>
          <a:lstStyle/>
          <a:p>
            <a:pPr eaLnBrk="1" hangingPunct="1"/>
            <a:r>
              <a:rPr lang="en-US" altLang="en-US" sz="4000" dirty="0"/>
              <a:t>Access Control Matrix</a:t>
            </a:r>
            <a:endParaRPr lang="en-US" altLang="en-US" dirty="0"/>
          </a:p>
        </p:txBody>
      </p:sp>
      <p:graphicFrame>
        <p:nvGraphicFramePr>
          <p:cNvPr id="163887" name="Group 47"/>
          <p:cNvGraphicFramePr>
            <a:graphicFrameLocks noGrp="1"/>
          </p:cNvGraphicFramePr>
          <p:nvPr/>
        </p:nvGraphicFramePr>
        <p:xfrm>
          <a:off x="1600200" y="29718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155" name="Rectangle 38"/>
          <p:cNvSpPr>
            <a:spLocks noChangeArrowheads="1"/>
          </p:cNvSpPr>
          <p:nvPr/>
        </p:nvSpPr>
        <p:spPr bwMode="auto">
          <a:xfrm>
            <a:off x="1905000" y="24542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5156" name="Rectangle 39"/>
          <p:cNvSpPr>
            <a:spLocks noChangeArrowheads="1"/>
          </p:cNvSpPr>
          <p:nvPr/>
        </p:nvSpPr>
        <p:spPr bwMode="auto">
          <a:xfrm>
            <a:off x="2819400" y="22098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5157" name="Rectangle 40"/>
          <p:cNvSpPr>
            <a:spLocks noChangeArrowheads="1"/>
          </p:cNvSpPr>
          <p:nvPr/>
        </p:nvSpPr>
        <p:spPr bwMode="auto">
          <a:xfrm>
            <a:off x="4205288" y="22415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5158" name="Rectangle 41"/>
          <p:cNvSpPr>
            <a:spLocks noChangeArrowheads="1"/>
          </p:cNvSpPr>
          <p:nvPr/>
        </p:nvSpPr>
        <p:spPr bwMode="auto">
          <a:xfrm>
            <a:off x="5562600" y="2209800"/>
            <a:ext cx="12477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Insurance</a:t>
            </a:r>
          </a:p>
          <a:p>
            <a:pPr algn="ctr" eaLnBrk="1" hangingPunct="1">
              <a:lnSpc>
                <a:spcPct val="100000"/>
              </a:lnSpc>
              <a:spcBef>
                <a:spcPct val="50000"/>
              </a:spcBef>
            </a:pPr>
            <a:r>
              <a:rPr lang="en-US" altLang="en-US" sz="1800"/>
              <a:t>data</a:t>
            </a:r>
          </a:p>
        </p:txBody>
      </p:sp>
      <p:sp>
        <p:nvSpPr>
          <p:cNvPr id="5159" name="Rectangle 42"/>
          <p:cNvSpPr>
            <a:spLocks noChangeArrowheads="1"/>
          </p:cNvSpPr>
          <p:nvPr/>
        </p:nvSpPr>
        <p:spPr bwMode="auto">
          <a:xfrm>
            <a:off x="6878638" y="22415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5160" name="Rectangle 43"/>
          <p:cNvSpPr>
            <a:spLocks noChangeArrowheads="1"/>
          </p:cNvSpPr>
          <p:nvPr/>
        </p:nvSpPr>
        <p:spPr bwMode="auto">
          <a:xfrm>
            <a:off x="882650" y="31400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5161" name="Rectangle 44"/>
          <p:cNvSpPr>
            <a:spLocks noChangeArrowheads="1"/>
          </p:cNvSpPr>
          <p:nvPr/>
        </p:nvSpPr>
        <p:spPr bwMode="auto">
          <a:xfrm>
            <a:off x="700088" y="3902075"/>
            <a:ext cx="9001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Alice</a:t>
            </a:r>
          </a:p>
        </p:txBody>
      </p:sp>
      <p:sp>
        <p:nvSpPr>
          <p:cNvPr id="5162" name="Rectangle 45"/>
          <p:cNvSpPr>
            <a:spLocks noChangeArrowheads="1"/>
          </p:cNvSpPr>
          <p:nvPr/>
        </p:nvSpPr>
        <p:spPr bwMode="auto">
          <a:xfrm>
            <a:off x="735013" y="47402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5163" name="Rectangle 46"/>
          <p:cNvSpPr>
            <a:spLocks noChangeArrowheads="1"/>
          </p:cNvSpPr>
          <p:nvPr/>
        </p:nvSpPr>
        <p:spPr bwMode="auto">
          <a:xfrm>
            <a:off x="76200" y="54102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163888" name="Rectangle 48"/>
          <p:cNvSpPr>
            <a:spLocks noGrp="1" noChangeArrowheads="1"/>
          </p:cNvSpPr>
          <p:nvPr>
            <p:ph type="body" idx="1"/>
          </p:nvPr>
        </p:nvSpPr>
        <p:spPr>
          <a:xfrm>
            <a:off x="685800" y="1219200"/>
            <a:ext cx="8001000" cy="990600"/>
          </a:xfrm>
        </p:spPr>
        <p:txBody>
          <a:bodyPr>
            <a:normAutofit lnSpcReduction="10000"/>
          </a:bodyPr>
          <a:lstStyle/>
          <a:p>
            <a:pPr eaLnBrk="1" hangingPunct="1">
              <a:lnSpc>
                <a:spcPct val="90000"/>
              </a:lnSpc>
            </a:pPr>
            <a:r>
              <a:rPr lang="en-US" altLang="en-US" sz="2800" b="1">
                <a:solidFill>
                  <a:schemeClr val="accent2"/>
                </a:solidFill>
              </a:rPr>
              <a:t>Subjects</a:t>
            </a:r>
            <a:r>
              <a:rPr lang="en-US" altLang="en-US" sz="2800"/>
              <a:t> (users) index the rows</a:t>
            </a:r>
          </a:p>
          <a:p>
            <a:pPr eaLnBrk="1" hangingPunct="1">
              <a:lnSpc>
                <a:spcPct val="90000"/>
              </a:lnSpc>
            </a:pPr>
            <a:r>
              <a:rPr lang="en-US" altLang="en-US" sz="2800" b="1">
                <a:solidFill>
                  <a:schemeClr val="accent2"/>
                </a:solidFill>
              </a:rPr>
              <a:t>Objects</a:t>
            </a:r>
            <a:r>
              <a:rPr lang="en-US" altLang="en-US" sz="2800"/>
              <a:t> (resources) index the columns</a:t>
            </a:r>
            <a:r>
              <a:rPr lang="en-US" altLang="en-US"/>
              <a:t> </a:t>
            </a:r>
            <a:endParaRPr lang="en-US" altLang="en-US">
              <a:solidFill>
                <a:srgbClr val="FF0000"/>
              </a:solidFill>
            </a:endParaRPr>
          </a:p>
        </p:txBody>
      </p:sp>
      <p:sp>
        <p:nvSpPr>
          <p:cNvPr id="5165"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5166"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ECADBFD2-9CD1-4B29-A8E5-892BDE1F3AE4}" type="slidenum">
              <a:rPr lang="zh-CN" altLang="en-US" sz="1400"/>
              <a:pPr algn="r" eaLnBrk="1" hangingPunct="1">
                <a:lnSpc>
                  <a:spcPct val="100000"/>
                </a:lnSpc>
                <a:spcBef>
                  <a:spcPct val="0"/>
                </a:spcBef>
              </a:pPr>
              <a:t>24</a:t>
            </a:fld>
            <a:endParaRPr lang="en-US" altLang="zh-CN" sz="1400"/>
          </a:p>
        </p:txBody>
      </p:sp>
    </p:spTree>
    <p:extLst>
      <p:ext uri="{BB962C8B-B14F-4D97-AF65-F5344CB8AC3E}">
        <p14:creationId xmlns:p14="http://schemas.microsoft.com/office/powerpoint/2010/main" val="1614479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8">
                                            <p:txEl>
                                              <p:pRg st="0" end="0"/>
                                            </p:txEl>
                                          </p:spTgt>
                                        </p:tgtEl>
                                        <p:attrNameLst>
                                          <p:attrName>style.visibility</p:attrName>
                                        </p:attrNameLst>
                                      </p:cBhvr>
                                      <p:to>
                                        <p:strVal val="visible"/>
                                      </p:to>
                                    </p:set>
                                    <p:animEffect transition="in" filter="blinds(horizontal)">
                                      <p:cBhvr>
                                        <p:cTn id="7" dur="500"/>
                                        <p:tgtEl>
                                          <p:spTgt spid="16388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88">
                                            <p:txEl>
                                              <p:pRg st="1" end="1"/>
                                            </p:txEl>
                                          </p:spTgt>
                                        </p:tgtEl>
                                        <p:attrNameLst>
                                          <p:attrName>style.visibility</p:attrName>
                                        </p:attrNameLst>
                                      </p:cBhvr>
                                      <p:to>
                                        <p:strVal val="visible"/>
                                      </p:to>
                                    </p:set>
                                    <p:animEffect transition="in" filter="blinds(horizontal)">
                                      <p:cBhvr>
                                        <p:cTn id="12" dur="500"/>
                                        <p:tgtEl>
                                          <p:spTgt spid="1638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8"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304800"/>
            <a:ext cx="7848600" cy="685800"/>
          </a:xfrm>
        </p:spPr>
        <p:txBody>
          <a:bodyPr>
            <a:normAutofit fontScale="90000"/>
          </a:bodyPr>
          <a:lstStyle/>
          <a:p>
            <a:pPr eaLnBrk="1" hangingPunct="1"/>
            <a:r>
              <a:rPr lang="en-US" altLang="en-US"/>
              <a:t>Access Control Lists (ACLs)</a:t>
            </a:r>
          </a:p>
        </p:txBody>
      </p:sp>
      <p:sp>
        <p:nvSpPr>
          <p:cNvPr id="164867" name="Rectangle 3"/>
          <p:cNvSpPr>
            <a:spLocks noGrp="1" noChangeArrowheads="1"/>
          </p:cNvSpPr>
          <p:nvPr>
            <p:ph type="body" idx="1"/>
          </p:nvPr>
        </p:nvSpPr>
        <p:spPr>
          <a:xfrm>
            <a:off x="685800" y="1066800"/>
            <a:ext cx="7848600" cy="1143000"/>
          </a:xfrm>
        </p:spPr>
        <p:txBody>
          <a:bodyPr/>
          <a:lstStyle/>
          <a:p>
            <a:pPr eaLnBrk="1" hangingPunct="1">
              <a:lnSpc>
                <a:spcPct val="90000"/>
              </a:lnSpc>
            </a:pPr>
            <a:r>
              <a:rPr lang="en-US" altLang="en-US" sz="2800"/>
              <a:t>ACL: store access control matrix by </a:t>
            </a:r>
            <a:r>
              <a:rPr lang="en-US" altLang="en-US" sz="2800" b="1">
                <a:solidFill>
                  <a:srgbClr val="C00000"/>
                </a:solidFill>
              </a:rPr>
              <a:t>column</a:t>
            </a:r>
            <a:endParaRPr lang="en-US" altLang="en-US" sz="2800">
              <a:solidFill>
                <a:srgbClr val="C00000"/>
              </a:solidFill>
            </a:endParaRPr>
          </a:p>
          <a:p>
            <a:pPr eaLnBrk="1" hangingPunct="1">
              <a:lnSpc>
                <a:spcPct val="90000"/>
              </a:lnSpc>
            </a:pPr>
            <a:r>
              <a:rPr lang="en-US" altLang="en-US" sz="2800"/>
              <a:t>Example: ACL for </a:t>
            </a:r>
            <a:r>
              <a:rPr lang="en-US" altLang="en-US" sz="2800" b="1">
                <a:solidFill>
                  <a:srgbClr val="C00000"/>
                </a:solidFill>
              </a:rPr>
              <a:t>insurance data</a:t>
            </a:r>
            <a:r>
              <a:rPr lang="en-US" altLang="en-US" sz="2800">
                <a:solidFill>
                  <a:srgbClr val="C00000"/>
                </a:solidFill>
              </a:rPr>
              <a:t> </a:t>
            </a:r>
            <a:r>
              <a:rPr lang="en-US" altLang="en-US" sz="2800"/>
              <a:t>is in </a:t>
            </a:r>
            <a:r>
              <a:rPr lang="en-US" altLang="en-US" sz="2800" b="1">
                <a:solidFill>
                  <a:schemeClr val="accent2"/>
                </a:solidFill>
              </a:rPr>
              <a:t>blue</a:t>
            </a:r>
            <a:endParaRPr lang="en-US" altLang="en-US" sz="2800">
              <a:solidFill>
                <a:schemeClr val="accent2"/>
              </a:solidFill>
            </a:endParaRPr>
          </a:p>
        </p:txBody>
      </p:sp>
      <p:graphicFrame>
        <p:nvGraphicFramePr>
          <p:cNvPr id="164868" name="Group 4"/>
          <p:cNvGraphicFramePr>
            <a:graphicFrameLocks noGrp="1"/>
          </p:cNvGraphicFramePr>
          <p:nvPr/>
        </p:nvGraphicFramePr>
        <p:xfrm>
          <a:off x="1600200" y="28956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tx1"/>
                          </a:solidFill>
                          <a:effectLst/>
                          <a:latin typeface="Comic Sans MS" charset="0"/>
                        </a:rPr>
                        <a:t>rx</a:t>
                      </a:r>
                      <a:endParaRPr kumimoji="0" lang="en-US" sz="2800" b="0" i="0" u="none" strike="noStrike" cap="none" normalizeH="0" baseline="0" dirty="0">
                        <a:ln>
                          <a:noFill/>
                        </a:ln>
                        <a:solidFill>
                          <a:schemeClr val="tx1"/>
                        </a:solidFill>
                        <a:effectLst/>
                        <a:latin typeface="Comic Sans MS"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a:ln>
                            <a:noFill/>
                          </a:ln>
                          <a:solidFill>
                            <a:schemeClr val="accent2"/>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dirty="0" err="1">
                          <a:ln>
                            <a:noFill/>
                          </a:ln>
                          <a:solidFill>
                            <a:schemeClr val="accent2"/>
                          </a:solidFill>
                          <a:effectLst/>
                          <a:latin typeface="Comic Sans MS" charset="0"/>
                        </a:rPr>
                        <a:t>rw</a:t>
                      </a:r>
                      <a:endParaRPr kumimoji="0" lang="en-US" sz="2800" b="0" i="0" u="none" strike="noStrike" cap="none" normalizeH="0" baseline="0" dirty="0">
                        <a:ln>
                          <a:noFill/>
                        </a:ln>
                        <a:solidFill>
                          <a:schemeClr val="accent2"/>
                        </a:solidFill>
                        <a:effectLst/>
                        <a:latin typeface="Comic Sans MS"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4900" name="Rectangle 36"/>
          <p:cNvSpPr>
            <a:spLocks noChangeArrowheads="1"/>
          </p:cNvSpPr>
          <p:nvPr/>
        </p:nvSpPr>
        <p:spPr bwMode="auto">
          <a:xfrm>
            <a:off x="1905000" y="23780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164901" name="Rectangle 37"/>
          <p:cNvSpPr>
            <a:spLocks noChangeArrowheads="1"/>
          </p:cNvSpPr>
          <p:nvPr/>
        </p:nvSpPr>
        <p:spPr bwMode="auto">
          <a:xfrm>
            <a:off x="2819400" y="21336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164902" name="Rectangle 38"/>
          <p:cNvSpPr>
            <a:spLocks noChangeArrowheads="1"/>
          </p:cNvSpPr>
          <p:nvPr/>
        </p:nvSpPr>
        <p:spPr bwMode="auto">
          <a:xfrm>
            <a:off x="4205288" y="21653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164903" name="Rectangle 39"/>
          <p:cNvSpPr>
            <a:spLocks noChangeArrowheads="1"/>
          </p:cNvSpPr>
          <p:nvPr/>
        </p:nvSpPr>
        <p:spPr bwMode="auto">
          <a:xfrm>
            <a:off x="5607050" y="2133600"/>
            <a:ext cx="117157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b="1">
                <a:solidFill>
                  <a:schemeClr val="accent2"/>
                </a:solidFill>
              </a:rPr>
              <a:t>Insurance</a:t>
            </a:r>
          </a:p>
          <a:p>
            <a:pPr algn="ctr" eaLnBrk="1" hangingPunct="1">
              <a:lnSpc>
                <a:spcPct val="100000"/>
              </a:lnSpc>
              <a:spcBef>
                <a:spcPct val="50000"/>
              </a:spcBef>
            </a:pPr>
            <a:r>
              <a:rPr lang="en-US" altLang="en-US" sz="1800" b="1">
                <a:solidFill>
                  <a:schemeClr val="accent2"/>
                </a:solidFill>
              </a:rPr>
              <a:t>data</a:t>
            </a:r>
          </a:p>
        </p:txBody>
      </p:sp>
      <p:sp>
        <p:nvSpPr>
          <p:cNvPr id="164904" name="Rectangle 40"/>
          <p:cNvSpPr>
            <a:spLocks noChangeArrowheads="1"/>
          </p:cNvSpPr>
          <p:nvPr/>
        </p:nvSpPr>
        <p:spPr bwMode="auto">
          <a:xfrm>
            <a:off x="6878638" y="21653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164905" name="Rectangle 41"/>
          <p:cNvSpPr>
            <a:spLocks noChangeArrowheads="1"/>
          </p:cNvSpPr>
          <p:nvPr/>
        </p:nvSpPr>
        <p:spPr bwMode="auto">
          <a:xfrm>
            <a:off x="882650" y="30638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164906" name="Rectangle 42"/>
          <p:cNvSpPr>
            <a:spLocks noChangeArrowheads="1"/>
          </p:cNvSpPr>
          <p:nvPr/>
        </p:nvSpPr>
        <p:spPr bwMode="auto">
          <a:xfrm>
            <a:off x="700088" y="3825875"/>
            <a:ext cx="9001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Alice</a:t>
            </a:r>
            <a:endParaRPr lang="en-US" altLang="en-US">
              <a:solidFill>
                <a:srgbClr val="FF0000"/>
              </a:solidFill>
            </a:endParaRPr>
          </a:p>
        </p:txBody>
      </p:sp>
      <p:sp>
        <p:nvSpPr>
          <p:cNvPr id="164907" name="Rectangle 43"/>
          <p:cNvSpPr>
            <a:spLocks noChangeArrowheads="1"/>
          </p:cNvSpPr>
          <p:nvPr/>
        </p:nvSpPr>
        <p:spPr bwMode="auto">
          <a:xfrm>
            <a:off x="735013" y="46640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164909" name="Rectangle 45"/>
          <p:cNvSpPr>
            <a:spLocks noChangeArrowheads="1"/>
          </p:cNvSpPr>
          <p:nvPr/>
        </p:nvSpPr>
        <p:spPr bwMode="auto">
          <a:xfrm>
            <a:off x="0" y="52959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7213"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7214"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091D3277-5144-40DB-9B41-DC570AEFE1F9}" type="slidenum">
              <a:rPr lang="zh-CN" altLang="en-US" sz="1400"/>
              <a:pPr algn="r" eaLnBrk="1" hangingPunct="1">
                <a:lnSpc>
                  <a:spcPct val="100000"/>
                </a:lnSpc>
                <a:spcBef>
                  <a:spcPct val="0"/>
                </a:spcBef>
              </a:pPr>
              <a:t>25</a:t>
            </a:fld>
            <a:endParaRPr lang="en-US" altLang="zh-CN" sz="1400"/>
          </a:p>
        </p:txBody>
      </p:sp>
    </p:spTree>
    <p:extLst>
      <p:ext uri="{BB962C8B-B14F-4D97-AF65-F5344CB8AC3E}">
        <p14:creationId xmlns:p14="http://schemas.microsoft.com/office/powerpoint/2010/main" val="40844746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blinds(horizontal)">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blinds(horizontal)">
                                      <p:cBhvr>
                                        <p:cTn id="12" dur="500"/>
                                        <p:tgtEl>
                                          <p:spTgt spid="164867">
                                            <p:txEl>
                                              <p:pRg st="1" end="1"/>
                                            </p:txEl>
                                          </p:spTgt>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64868"/>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164900"/>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164901"/>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grpId="0" nodeType="afterEffect">
                                  <p:stCondLst>
                                    <p:cond delay="0"/>
                                  </p:stCondLst>
                                  <p:childTnLst>
                                    <p:set>
                                      <p:cBhvr>
                                        <p:cTn id="24" dur="1" fill="hold">
                                          <p:stCondLst>
                                            <p:cond delay="499"/>
                                          </p:stCondLst>
                                        </p:cTn>
                                        <p:tgtEl>
                                          <p:spTgt spid="164902"/>
                                        </p:tgtEl>
                                        <p:attrNameLst>
                                          <p:attrName>style.visibility</p:attrName>
                                        </p:attrNameLst>
                                      </p:cBhvr>
                                      <p:to>
                                        <p:strVal val="visible"/>
                                      </p:to>
                                    </p:set>
                                  </p:childTnLst>
                                </p:cTn>
                              </p:par>
                            </p:childTnLst>
                          </p:cTn>
                        </p:par>
                        <p:par>
                          <p:cTn id="25" fill="hold" nodeType="afterGroup">
                            <p:stCondLst>
                              <p:cond delay="2500"/>
                            </p:stCondLst>
                            <p:childTnLst>
                              <p:par>
                                <p:cTn id="26" presetID="1" presetClass="entr" presetSubtype="0" fill="hold" grpId="0" nodeType="afterEffect">
                                  <p:stCondLst>
                                    <p:cond delay="0"/>
                                  </p:stCondLst>
                                  <p:childTnLst>
                                    <p:set>
                                      <p:cBhvr>
                                        <p:cTn id="27" dur="1" fill="hold">
                                          <p:stCondLst>
                                            <p:cond delay="499"/>
                                          </p:stCondLst>
                                        </p:cTn>
                                        <p:tgtEl>
                                          <p:spTgt spid="164903"/>
                                        </p:tgtEl>
                                        <p:attrNameLst>
                                          <p:attrName>style.visibility</p:attrName>
                                        </p:attrNameLst>
                                      </p:cBhvr>
                                      <p:to>
                                        <p:strVal val="visible"/>
                                      </p:to>
                                    </p:se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499"/>
                                          </p:stCondLst>
                                        </p:cTn>
                                        <p:tgtEl>
                                          <p:spTgt spid="164904"/>
                                        </p:tgtEl>
                                        <p:attrNameLst>
                                          <p:attrName>style.visibility</p:attrName>
                                        </p:attrNameLst>
                                      </p:cBhvr>
                                      <p:to>
                                        <p:strVal val="visible"/>
                                      </p:to>
                                    </p:set>
                                  </p:childTnLst>
                                </p:cTn>
                              </p:par>
                            </p:childTnLst>
                          </p:cTn>
                        </p:par>
                        <p:par>
                          <p:cTn id="31" fill="hold" nodeType="afterGroup">
                            <p:stCondLst>
                              <p:cond delay="3500"/>
                            </p:stCondLst>
                            <p:childTnLst>
                              <p:par>
                                <p:cTn id="32" presetID="1" presetClass="entr" presetSubtype="0" fill="hold" grpId="0" nodeType="afterEffect">
                                  <p:stCondLst>
                                    <p:cond delay="0"/>
                                  </p:stCondLst>
                                  <p:childTnLst>
                                    <p:set>
                                      <p:cBhvr>
                                        <p:cTn id="33" dur="1" fill="hold">
                                          <p:stCondLst>
                                            <p:cond delay="499"/>
                                          </p:stCondLst>
                                        </p:cTn>
                                        <p:tgtEl>
                                          <p:spTgt spid="164905"/>
                                        </p:tgtEl>
                                        <p:attrNameLst>
                                          <p:attrName>style.visibility</p:attrName>
                                        </p:attrNameLst>
                                      </p:cBhvr>
                                      <p:to>
                                        <p:strVal val="visible"/>
                                      </p:to>
                                    </p:se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499"/>
                                          </p:stCondLst>
                                        </p:cTn>
                                        <p:tgtEl>
                                          <p:spTgt spid="164906"/>
                                        </p:tgtEl>
                                        <p:attrNameLst>
                                          <p:attrName>style.visibility</p:attrName>
                                        </p:attrNameLst>
                                      </p:cBhvr>
                                      <p:to>
                                        <p:strVal val="visible"/>
                                      </p:to>
                                    </p:set>
                                  </p:childTnLst>
                                </p:cTn>
                              </p:par>
                            </p:childTnLst>
                          </p:cTn>
                        </p:par>
                        <p:par>
                          <p:cTn id="37" fill="hold" nodeType="afterGroup">
                            <p:stCondLst>
                              <p:cond delay="4500"/>
                            </p:stCondLst>
                            <p:childTnLst>
                              <p:par>
                                <p:cTn id="38" presetID="1" presetClass="entr" presetSubtype="0" fill="hold" grpId="0" nodeType="afterEffect">
                                  <p:stCondLst>
                                    <p:cond delay="0"/>
                                  </p:stCondLst>
                                  <p:childTnLst>
                                    <p:set>
                                      <p:cBhvr>
                                        <p:cTn id="39" dur="1" fill="hold">
                                          <p:stCondLst>
                                            <p:cond delay="499"/>
                                          </p:stCondLst>
                                        </p:cTn>
                                        <p:tgtEl>
                                          <p:spTgt spid="164907"/>
                                        </p:tgtEl>
                                        <p:attrNameLst>
                                          <p:attrName>style.visibility</p:attrName>
                                        </p:attrNameLst>
                                      </p:cBhvr>
                                      <p:to>
                                        <p:strVal val="visible"/>
                                      </p:to>
                                    </p:set>
                                  </p:childTnLst>
                                </p:cTn>
                              </p:par>
                            </p:childTnLst>
                          </p:cTn>
                        </p:par>
                        <p:par>
                          <p:cTn id="40" fill="hold" nodeType="afterGroup">
                            <p:stCondLst>
                              <p:cond delay="5000"/>
                            </p:stCondLst>
                            <p:childTnLst>
                              <p:par>
                                <p:cTn id="41" presetID="1" presetClass="entr" presetSubtype="0" fill="hold" grpId="0" nodeType="afterEffect">
                                  <p:stCondLst>
                                    <p:cond delay="0"/>
                                  </p:stCondLst>
                                  <p:childTnLst>
                                    <p:set>
                                      <p:cBhvr>
                                        <p:cTn id="42" dur="1" fill="hold">
                                          <p:stCondLst>
                                            <p:cond delay="499"/>
                                          </p:stCondLst>
                                        </p:cTn>
                                        <p:tgtEl>
                                          <p:spTgt spid="164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autoUpdateAnimBg="0"/>
      <p:bldP spid="164900" grpId="0" autoUpdateAnimBg="0"/>
      <p:bldP spid="164901" grpId="0" autoUpdateAnimBg="0"/>
      <p:bldP spid="164902" grpId="0" autoUpdateAnimBg="0"/>
      <p:bldP spid="164903" grpId="0" autoUpdateAnimBg="0"/>
      <p:bldP spid="164904" grpId="0" autoUpdateAnimBg="0"/>
      <p:bldP spid="164905" grpId="0" autoUpdateAnimBg="0"/>
      <p:bldP spid="164906" grpId="0" autoUpdateAnimBg="0"/>
      <p:bldP spid="164907" grpId="0" autoUpdateAnimBg="0"/>
      <p:bldP spid="16490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9600" y="304800"/>
            <a:ext cx="7848600" cy="685800"/>
          </a:xfrm>
        </p:spPr>
        <p:txBody>
          <a:bodyPr>
            <a:normAutofit fontScale="90000"/>
          </a:bodyPr>
          <a:lstStyle/>
          <a:p>
            <a:pPr eaLnBrk="1" hangingPunct="1"/>
            <a:r>
              <a:rPr lang="en-US" altLang="en-US"/>
              <a:t>Access Control Lists (ACLs)</a:t>
            </a:r>
          </a:p>
        </p:txBody>
      </p:sp>
      <p:sp>
        <p:nvSpPr>
          <p:cNvPr id="164867" name="Rectangle 3"/>
          <p:cNvSpPr>
            <a:spLocks noGrp="1" noChangeArrowheads="1"/>
          </p:cNvSpPr>
          <p:nvPr>
            <p:ph type="body" idx="1"/>
          </p:nvPr>
        </p:nvSpPr>
        <p:spPr>
          <a:xfrm>
            <a:off x="685800" y="1066800"/>
            <a:ext cx="7848600" cy="1143000"/>
          </a:xfrm>
        </p:spPr>
        <p:txBody>
          <a:bodyPr/>
          <a:lstStyle/>
          <a:p>
            <a:pPr eaLnBrk="1" hangingPunct="1">
              <a:lnSpc>
                <a:spcPct val="90000"/>
              </a:lnSpc>
            </a:pPr>
            <a:r>
              <a:rPr lang="en-US" altLang="en-US" sz="2800"/>
              <a:t>ACL: store access control matrix by </a:t>
            </a:r>
            <a:r>
              <a:rPr lang="en-US" altLang="en-US" sz="2800" b="1">
                <a:solidFill>
                  <a:srgbClr val="C00000"/>
                </a:solidFill>
              </a:rPr>
              <a:t>column</a:t>
            </a:r>
            <a:endParaRPr lang="en-US" altLang="en-US" sz="2800">
              <a:solidFill>
                <a:srgbClr val="C00000"/>
              </a:solidFill>
            </a:endParaRPr>
          </a:p>
          <a:p>
            <a:pPr eaLnBrk="1" hangingPunct="1">
              <a:lnSpc>
                <a:spcPct val="90000"/>
              </a:lnSpc>
            </a:pPr>
            <a:r>
              <a:rPr lang="en-US" altLang="en-US" sz="2800"/>
              <a:t>Example: ACL for </a:t>
            </a:r>
            <a:r>
              <a:rPr lang="en-US" altLang="en-US" sz="2800" b="1">
                <a:solidFill>
                  <a:srgbClr val="C00000"/>
                </a:solidFill>
              </a:rPr>
              <a:t>insurance data</a:t>
            </a:r>
            <a:r>
              <a:rPr lang="en-US" altLang="en-US" sz="2800">
                <a:solidFill>
                  <a:srgbClr val="C00000"/>
                </a:solidFill>
              </a:rPr>
              <a:t> </a:t>
            </a:r>
            <a:r>
              <a:rPr lang="en-US" altLang="en-US" sz="2800"/>
              <a:t>is in </a:t>
            </a:r>
            <a:r>
              <a:rPr lang="en-US" altLang="en-US" sz="2800" b="1">
                <a:solidFill>
                  <a:schemeClr val="accent2"/>
                </a:solidFill>
              </a:rPr>
              <a:t>blue</a:t>
            </a:r>
            <a:endParaRPr lang="en-US" altLang="en-US" sz="2800">
              <a:solidFill>
                <a:schemeClr val="accent2"/>
              </a:solidFill>
            </a:endParaRPr>
          </a:p>
        </p:txBody>
      </p:sp>
      <p:sp>
        <p:nvSpPr>
          <p:cNvPr id="164903" name="Rectangle 39"/>
          <p:cNvSpPr>
            <a:spLocks noChangeArrowheads="1"/>
          </p:cNvSpPr>
          <p:nvPr/>
        </p:nvSpPr>
        <p:spPr bwMode="auto">
          <a:xfrm>
            <a:off x="1028700" y="2738438"/>
            <a:ext cx="7239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sz="1800" b="1">
                <a:solidFill>
                  <a:schemeClr val="accent2"/>
                </a:solidFill>
              </a:rPr>
              <a:t>(Bob, ---), (Alice, rw), (Sam, rw), (accounting program, rw)</a:t>
            </a:r>
          </a:p>
        </p:txBody>
      </p:sp>
      <p:sp>
        <p:nvSpPr>
          <p:cNvPr id="15" name="Rectangle 39"/>
          <p:cNvSpPr>
            <a:spLocks noChangeArrowheads="1"/>
          </p:cNvSpPr>
          <p:nvPr/>
        </p:nvSpPr>
        <p:spPr bwMode="auto">
          <a:xfrm>
            <a:off x="838200" y="2209800"/>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sz="1800" b="1">
                <a:solidFill>
                  <a:schemeClr val="accent2"/>
                </a:solidFill>
              </a:rPr>
              <a:t>Insurance data: </a:t>
            </a:r>
          </a:p>
        </p:txBody>
      </p:sp>
      <p:sp>
        <p:nvSpPr>
          <p:cNvPr id="8198"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8199"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620E3D2A-EC66-4316-B904-B39F16857D10}" type="slidenum">
              <a:rPr lang="zh-CN" altLang="en-US" sz="1400"/>
              <a:pPr algn="r" eaLnBrk="1" hangingPunct="1">
                <a:lnSpc>
                  <a:spcPct val="100000"/>
                </a:lnSpc>
                <a:spcBef>
                  <a:spcPct val="0"/>
                </a:spcBef>
              </a:pPr>
              <a:t>26</a:t>
            </a:fld>
            <a:endParaRPr lang="en-US" altLang="zh-CN" sz="1400"/>
          </a:p>
        </p:txBody>
      </p:sp>
    </p:spTree>
    <p:extLst>
      <p:ext uri="{BB962C8B-B14F-4D97-AF65-F5344CB8AC3E}">
        <p14:creationId xmlns:p14="http://schemas.microsoft.com/office/powerpoint/2010/main" val="3288210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blinds(horizontal)">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67">
                                            <p:txEl>
                                              <p:pRg st="1" end="1"/>
                                            </p:txEl>
                                          </p:spTgt>
                                        </p:tgtEl>
                                        <p:attrNameLst>
                                          <p:attrName>style.visibility</p:attrName>
                                        </p:attrNameLst>
                                      </p:cBhvr>
                                      <p:to>
                                        <p:strVal val="visible"/>
                                      </p:to>
                                    </p:set>
                                    <p:animEffect transition="in" filter="blinds(horizontal)">
                                      <p:cBhvr>
                                        <p:cTn id="12" dur="500"/>
                                        <p:tgtEl>
                                          <p:spTgt spid="164867">
                                            <p:txEl>
                                              <p:pRg st="1" end="1"/>
                                            </p:txEl>
                                          </p:spTgt>
                                        </p:tgtEl>
                                      </p:cBhvr>
                                    </p:animEffec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64903"/>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autoUpdateAnimBg="0"/>
      <p:bldP spid="164903" grpId="0" autoUpdateAnimBg="0"/>
      <p:bldP spid="1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152400"/>
            <a:ext cx="7772400" cy="990600"/>
          </a:xfrm>
        </p:spPr>
        <p:txBody>
          <a:bodyPr/>
          <a:lstStyle/>
          <a:p>
            <a:pPr eaLnBrk="1" hangingPunct="1"/>
            <a:r>
              <a:rPr lang="en-US" altLang="en-US"/>
              <a:t>Capabilities (or C-Lists)</a:t>
            </a:r>
          </a:p>
        </p:txBody>
      </p:sp>
      <p:sp>
        <p:nvSpPr>
          <p:cNvPr id="10243" name="Rectangle 3"/>
          <p:cNvSpPr>
            <a:spLocks noGrp="1" noChangeArrowheads="1"/>
          </p:cNvSpPr>
          <p:nvPr>
            <p:ph type="body" idx="1"/>
          </p:nvPr>
        </p:nvSpPr>
        <p:spPr>
          <a:xfrm>
            <a:off x="685800" y="1066800"/>
            <a:ext cx="7772400" cy="1143000"/>
          </a:xfrm>
        </p:spPr>
        <p:txBody>
          <a:bodyPr/>
          <a:lstStyle/>
          <a:p>
            <a:pPr eaLnBrk="1" hangingPunct="1">
              <a:lnSpc>
                <a:spcPct val="90000"/>
              </a:lnSpc>
            </a:pPr>
            <a:r>
              <a:rPr lang="en-US" altLang="en-US" sz="2800"/>
              <a:t>Store access control matrix by </a:t>
            </a:r>
            <a:r>
              <a:rPr lang="en-US" altLang="en-US" sz="2800" b="1">
                <a:solidFill>
                  <a:srgbClr val="FF0000"/>
                </a:solidFill>
              </a:rPr>
              <a:t>row</a:t>
            </a:r>
            <a:endParaRPr lang="en-US" altLang="en-US" sz="2800"/>
          </a:p>
          <a:p>
            <a:pPr eaLnBrk="1" hangingPunct="1">
              <a:lnSpc>
                <a:spcPct val="90000"/>
              </a:lnSpc>
            </a:pPr>
            <a:r>
              <a:rPr lang="en-US" altLang="en-US" sz="2800"/>
              <a:t>Example: Capability for </a:t>
            </a:r>
            <a:r>
              <a:rPr lang="en-US" altLang="en-US" sz="2800" b="1">
                <a:solidFill>
                  <a:srgbClr val="FF0000"/>
                </a:solidFill>
              </a:rPr>
              <a:t>Alice</a:t>
            </a:r>
            <a:r>
              <a:rPr lang="en-US" altLang="en-US" sz="2800"/>
              <a:t> is in </a:t>
            </a:r>
            <a:r>
              <a:rPr lang="en-US" altLang="en-US" sz="2800" b="1">
                <a:solidFill>
                  <a:srgbClr val="FF0000"/>
                </a:solidFill>
              </a:rPr>
              <a:t>red</a:t>
            </a:r>
            <a:endParaRPr lang="en-US" altLang="en-US" sz="2800"/>
          </a:p>
        </p:txBody>
      </p:sp>
      <p:graphicFrame>
        <p:nvGraphicFramePr>
          <p:cNvPr id="165892" name="Group 4"/>
          <p:cNvGraphicFramePr>
            <a:graphicFrameLocks noGrp="1"/>
          </p:cNvGraphicFramePr>
          <p:nvPr/>
        </p:nvGraphicFramePr>
        <p:xfrm>
          <a:off x="1600200" y="2895600"/>
          <a:ext cx="6324600" cy="3200400"/>
        </p:xfrm>
        <a:graphic>
          <a:graphicData uri="http://schemas.openxmlformats.org/drawingml/2006/table">
            <a:tbl>
              <a:tblPr/>
              <a:tblGrid>
                <a:gridCol w="1265238">
                  <a:extLst>
                    <a:ext uri="{9D8B030D-6E8A-4147-A177-3AD203B41FA5}">
                      <a16:colId xmlns:a16="http://schemas.microsoft.com/office/drawing/2014/main" val="20000"/>
                    </a:ext>
                  </a:extLst>
                </a:gridCol>
                <a:gridCol w="1265237">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8">
                  <a:extLst>
                    <a:ext uri="{9D8B030D-6E8A-4147-A177-3AD203B41FA5}">
                      <a16:colId xmlns:a16="http://schemas.microsoft.com/office/drawing/2014/main" val="20003"/>
                    </a:ext>
                  </a:extLst>
                </a:gridCol>
                <a:gridCol w="1265237">
                  <a:extLst>
                    <a:ext uri="{9D8B030D-6E8A-4147-A177-3AD203B41FA5}">
                      <a16:colId xmlns:a16="http://schemas.microsoft.com/office/drawing/2014/main" val="20004"/>
                    </a:ext>
                  </a:extLst>
                </a:gridCol>
              </a:tblGrid>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rgbClr val="FF0000"/>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charset="2"/>
                        <a:buNone/>
                        <a:tabLst/>
                      </a:pPr>
                      <a:r>
                        <a:rPr kumimoji="0" lang="en-US" sz="2800" b="0" i="0" u="none" strike="noStrike" cap="none" normalizeH="0" baseline="0">
                          <a:ln>
                            <a:noFill/>
                          </a:ln>
                          <a:solidFill>
                            <a:schemeClr val="tx1"/>
                          </a:solidFill>
                          <a:effectLst/>
                          <a:latin typeface="Comic Sans MS" charset="0"/>
                        </a:rPr>
                        <a:t>rw</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5924" name="Rectangle 36"/>
          <p:cNvSpPr>
            <a:spLocks noChangeArrowheads="1"/>
          </p:cNvSpPr>
          <p:nvPr/>
        </p:nvSpPr>
        <p:spPr bwMode="auto">
          <a:xfrm>
            <a:off x="1905000" y="2378075"/>
            <a:ext cx="6381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OS</a:t>
            </a:r>
          </a:p>
        </p:txBody>
      </p:sp>
      <p:sp>
        <p:nvSpPr>
          <p:cNvPr id="165925" name="Rectangle 37"/>
          <p:cNvSpPr>
            <a:spLocks noChangeArrowheads="1"/>
          </p:cNvSpPr>
          <p:nvPr/>
        </p:nvSpPr>
        <p:spPr bwMode="auto">
          <a:xfrm>
            <a:off x="2819400" y="2133600"/>
            <a:ext cx="13573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program</a:t>
            </a:r>
          </a:p>
        </p:txBody>
      </p:sp>
      <p:sp>
        <p:nvSpPr>
          <p:cNvPr id="165926" name="Rectangle 38"/>
          <p:cNvSpPr>
            <a:spLocks noChangeArrowheads="1"/>
          </p:cNvSpPr>
          <p:nvPr/>
        </p:nvSpPr>
        <p:spPr bwMode="auto">
          <a:xfrm>
            <a:off x="4205288" y="2165350"/>
            <a:ext cx="13573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Accounting</a:t>
            </a:r>
          </a:p>
          <a:p>
            <a:pPr algn="ctr" eaLnBrk="1" hangingPunct="1">
              <a:lnSpc>
                <a:spcPct val="100000"/>
              </a:lnSpc>
              <a:spcBef>
                <a:spcPct val="50000"/>
              </a:spcBef>
            </a:pPr>
            <a:r>
              <a:rPr lang="en-US" altLang="en-US" sz="1800"/>
              <a:t>data</a:t>
            </a:r>
          </a:p>
        </p:txBody>
      </p:sp>
      <p:sp>
        <p:nvSpPr>
          <p:cNvPr id="165927" name="Rectangle 39"/>
          <p:cNvSpPr>
            <a:spLocks noChangeArrowheads="1"/>
          </p:cNvSpPr>
          <p:nvPr/>
        </p:nvSpPr>
        <p:spPr bwMode="auto">
          <a:xfrm>
            <a:off x="5562600" y="2133600"/>
            <a:ext cx="12477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Insurance</a:t>
            </a:r>
          </a:p>
          <a:p>
            <a:pPr algn="ctr" eaLnBrk="1" hangingPunct="1">
              <a:lnSpc>
                <a:spcPct val="100000"/>
              </a:lnSpc>
              <a:spcBef>
                <a:spcPct val="50000"/>
              </a:spcBef>
            </a:pPr>
            <a:r>
              <a:rPr lang="en-US" altLang="en-US" sz="1800"/>
              <a:t>data</a:t>
            </a:r>
          </a:p>
        </p:txBody>
      </p:sp>
      <p:sp>
        <p:nvSpPr>
          <p:cNvPr id="165928" name="Rectangle 40"/>
          <p:cNvSpPr>
            <a:spLocks noChangeArrowheads="1"/>
          </p:cNvSpPr>
          <p:nvPr/>
        </p:nvSpPr>
        <p:spPr bwMode="auto">
          <a:xfrm>
            <a:off x="6878638" y="2165350"/>
            <a:ext cx="8937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sz="1800"/>
              <a:t>Payroll</a:t>
            </a:r>
          </a:p>
          <a:p>
            <a:pPr algn="ctr" eaLnBrk="1" hangingPunct="1">
              <a:lnSpc>
                <a:spcPct val="100000"/>
              </a:lnSpc>
              <a:spcBef>
                <a:spcPct val="50000"/>
              </a:spcBef>
            </a:pPr>
            <a:r>
              <a:rPr lang="en-US" altLang="en-US" sz="1800"/>
              <a:t>data</a:t>
            </a:r>
          </a:p>
        </p:txBody>
      </p:sp>
      <p:sp>
        <p:nvSpPr>
          <p:cNvPr id="165929" name="Rectangle 41"/>
          <p:cNvSpPr>
            <a:spLocks noChangeArrowheads="1"/>
          </p:cNvSpPr>
          <p:nvPr/>
        </p:nvSpPr>
        <p:spPr bwMode="auto">
          <a:xfrm>
            <a:off x="882650" y="3063875"/>
            <a:ext cx="7175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Bob</a:t>
            </a:r>
          </a:p>
        </p:txBody>
      </p:sp>
      <p:sp>
        <p:nvSpPr>
          <p:cNvPr id="165930" name="Rectangle 42"/>
          <p:cNvSpPr>
            <a:spLocks noChangeArrowheads="1"/>
          </p:cNvSpPr>
          <p:nvPr/>
        </p:nvSpPr>
        <p:spPr bwMode="auto">
          <a:xfrm>
            <a:off x="620713" y="3825875"/>
            <a:ext cx="9032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b="1">
                <a:solidFill>
                  <a:srgbClr val="FF0000"/>
                </a:solidFill>
              </a:rPr>
              <a:t>Alice</a:t>
            </a:r>
            <a:endParaRPr lang="en-US" altLang="en-US">
              <a:solidFill>
                <a:srgbClr val="FF0000"/>
              </a:solidFill>
            </a:endParaRPr>
          </a:p>
        </p:txBody>
      </p:sp>
      <p:sp>
        <p:nvSpPr>
          <p:cNvPr id="165931" name="Rectangle 43"/>
          <p:cNvSpPr>
            <a:spLocks noChangeArrowheads="1"/>
          </p:cNvSpPr>
          <p:nvPr/>
        </p:nvSpPr>
        <p:spPr bwMode="auto">
          <a:xfrm>
            <a:off x="735013" y="4664075"/>
            <a:ext cx="7889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Sam</a:t>
            </a:r>
          </a:p>
        </p:txBody>
      </p:sp>
      <p:sp>
        <p:nvSpPr>
          <p:cNvPr id="165932" name="Rectangle 44"/>
          <p:cNvSpPr>
            <a:spLocks noChangeArrowheads="1"/>
          </p:cNvSpPr>
          <p:nvPr/>
        </p:nvSpPr>
        <p:spPr bwMode="auto">
          <a:xfrm>
            <a:off x="0" y="5295900"/>
            <a:ext cx="1487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50000"/>
              </a:spcBef>
            </a:pPr>
            <a:r>
              <a:rPr lang="en-US" altLang="en-US" sz="2000"/>
              <a:t>Accounting</a:t>
            </a:r>
          </a:p>
          <a:p>
            <a:pPr algn="r" eaLnBrk="1" hangingPunct="1">
              <a:lnSpc>
                <a:spcPct val="100000"/>
              </a:lnSpc>
              <a:spcBef>
                <a:spcPct val="50000"/>
              </a:spcBef>
            </a:pPr>
            <a:r>
              <a:rPr lang="en-US" altLang="en-US" sz="2000"/>
              <a:t>program</a:t>
            </a:r>
          </a:p>
        </p:txBody>
      </p:sp>
      <p:sp>
        <p:nvSpPr>
          <p:cNvPr id="10285"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10286"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2EDED8AA-7105-4DBD-B30A-351A04CCA262}" type="slidenum">
              <a:rPr lang="zh-CN" altLang="en-US" sz="1400"/>
              <a:pPr algn="r" eaLnBrk="1" hangingPunct="1">
                <a:lnSpc>
                  <a:spcPct val="100000"/>
                </a:lnSpc>
                <a:spcBef>
                  <a:spcPct val="0"/>
                </a:spcBef>
              </a:pPr>
              <a:t>27</a:t>
            </a:fld>
            <a:endParaRPr lang="en-US" altLang="zh-CN" sz="1400"/>
          </a:p>
        </p:txBody>
      </p:sp>
    </p:spTree>
    <p:extLst>
      <p:ext uri="{BB962C8B-B14F-4D97-AF65-F5344CB8AC3E}">
        <p14:creationId xmlns:p14="http://schemas.microsoft.com/office/powerpoint/2010/main" val="3878922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6589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65924"/>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65925"/>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65926"/>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65927"/>
                                        </p:tgtEl>
                                        <p:attrNameLst>
                                          <p:attrName>style.visibility</p:attrName>
                                        </p:attrNameLst>
                                      </p:cBhvr>
                                      <p:to>
                                        <p:strVal val="visible"/>
                                      </p:to>
                                    </p:set>
                                  </p:childTnLst>
                                </p:cTn>
                              </p:par>
                            </p:childTnLst>
                          </p:cTn>
                        </p:par>
                        <p:par>
                          <p:cTn id="19" fill="hold" nodeType="afterGroup">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65928"/>
                                        </p:tgtEl>
                                        <p:attrNameLst>
                                          <p:attrName>style.visibility</p:attrName>
                                        </p:attrNameLst>
                                      </p:cBhvr>
                                      <p:to>
                                        <p:strVal val="visible"/>
                                      </p:to>
                                    </p:set>
                                  </p:childTnLst>
                                </p:cTn>
                              </p:par>
                            </p:childTnLst>
                          </p:cTn>
                        </p:par>
                        <p:par>
                          <p:cTn id="22" fill="hold" nodeType="afterGroup">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65929"/>
                                        </p:tgtEl>
                                        <p:attrNameLst>
                                          <p:attrName>style.visibility</p:attrName>
                                        </p:attrNameLst>
                                      </p:cBhvr>
                                      <p:to>
                                        <p:strVal val="visible"/>
                                      </p:to>
                                    </p:set>
                                  </p:childTnLst>
                                </p:cTn>
                              </p:par>
                            </p:childTnLst>
                          </p:cTn>
                        </p:par>
                        <p:par>
                          <p:cTn id="25" fill="hold" nodeType="afterGroup">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65930"/>
                                        </p:tgtEl>
                                        <p:attrNameLst>
                                          <p:attrName>style.visibility</p:attrName>
                                        </p:attrNameLst>
                                      </p:cBhvr>
                                      <p:to>
                                        <p:strVal val="visible"/>
                                      </p:to>
                                    </p:set>
                                  </p:childTnLst>
                                </p:cTn>
                              </p:par>
                            </p:childTnLst>
                          </p:cTn>
                        </p:par>
                        <p:par>
                          <p:cTn id="28" fill="hold" nodeType="afterGroup">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65931"/>
                                        </p:tgtEl>
                                        <p:attrNameLst>
                                          <p:attrName>style.visibility</p:attrName>
                                        </p:attrNameLst>
                                      </p:cBhvr>
                                      <p:to>
                                        <p:strVal val="visible"/>
                                      </p:to>
                                    </p:set>
                                  </p:childTnLst>
                                </p:cTn>
                              </p:par>
                            </p:childTnLst>
                          </p:cTn>
                        </p:par>
                        <p:par>
                          <p:cTn id="31" fill="hold" nodeType="afterGroup">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65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24" grpId="0" autoUpdateAnimBg="0"/>
      <p:bldP spid="165925" grpId="0" autoUpdateAnimBg="0"/>
      <p:bldP spid="165926" grpId="0" autoUpdateAnimBg="0"/>
      <p:bldP spid="165927" grpId="0" autoUpdateAnimBg="0"/>
      <p:bldP spid="165928" grpId="0" autoUpdateAnimBg="0"/>
      <p:bldP spid="165929" grpId="0" autoUpdateAnimBg="0"/>
      <p:bldP spid="165930" grpId="0" autoUpdateAnimBg="0"/>
      <p:bldP spid="165931" grpId="0" autoUpdateAnimBg="0"/>
      <p:bldP spid="16593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52400"/>
            <a:ext cx="7772400" cy="990600"/>
          </a:xfrm>
        </p:spPr>
        <p:txBody>
          <a:bodyPr/>
          <a:lstStyle/>
          <a:p>
            <a:pPr eaLnBrk="1" hangingPunct="1"/>
            <a:r>
              <a:rPr lang="en-US" altLang="en-US"/>
              <a:t>Capabilities (or C-Lists)</a:t>
            </a:r>
          </a:p>
        </p:txBody>
      </p:sp>
      <p:sp>
        <p:nvSpPr>
          <p:cNvPr id="9219" name="Rectangle 3"/>
          <p:cNvSpPr>
            <a:spLocks noGrp="1" noChangeArrowheads="1"/>
          </p:cNvSpPr>
          <p:nvPr>
            <p:ph type="body" idx="1"/>
          </p:nvPr>
        </p:nvSpPr>
        <p:spPr>
          <a:xfrm>
            <a:off x="685800" y="1066800"/>
            <a:ext cx="7772400" cy="1143000"/>
          </a:xfrm>
        </p:spPr>
        <p:txBody>
          <a:bodyPr/>
          <a:lstStyle/>
          <a:p>
            <a:pPr eaLnBrk="1" hangingPunct="1">
              <a:lnSpc>
                <a:spcPct val="90000"/>
              </a:lnSpc>
            </a:pPr>
            <a:r>
              <a:rPr lang="en-US" altLang="en-US" sz="2800"/>
              <a:t>Store access control matrix by </a:t>
            </a:r>
            <a:r>
              <a:rPr lang="en-US" altLang="en-US" sz="2800" b="1">
                <a:solidFill>
                  <a:srgbClr val="FF0000"/>
                </a:solidFill>
              </a:rPr>
              <a:t>row</a:t>
            </a:r>
            <a:endParaRPr lang="en-US" altLang="en-US" sz="2800"/>
          </a:p>
          <a:p>
            <a:pPr eaLnBrk="1" hangingPunct="1">
              <a:lnSpc>
                <a:spcPct val="90000"/>
              </a:lnSpc>
            </a:pPr>
            <a:r>
              <a:rPr lang="en-US" altLang="en-US" sz="2800"/>
              <a:t>Example: Capability for </a:t>
            </a:r>
            <a:r>
              <a:rPr lang="en-US" altLang="en-US" sz="2800" b="1">
                <a:solidFill>
                  <a:srgbClr val="FF0000"/>
                </a:solidFill>
              </a:rPr>
              <a:t>Alice</a:t>
            </a:r>
            <a:r>
              <a:rPr lang="en-US" altLang="en-US" sz="2800"/>
              <a:t> is in </a:t>
            </a:r>
            <a:r>
              <a:rPr lang="en-US" altLang="en-US" sz="2800" b="1">
                <a:solidFill>
                  <a:srgbClr val="FF0000"/>
                </a:solidFill>
              </a:rPr>
              <a:t>red</a:t>
            </a:r>
            <a:endParaRPr lang="en-US" altLang="en-US" sz="2800"/>
          </a:p>
        </p:txBody>
      </p:sp>
      <p:sp>
        <p:nvSpPr>
          <p:cNvPr id="165930" name="Rectangle 42"/>
          <p:cNvSpPr>
            <a:spLocks noChangeArrowheads="1"/>
          </p:cNvSpPr>
          <p:nvPr/>
        </p:nvSpPr>
        <p:spPr bwMode="auto">
          <a:xfrm>
            <a:off x="506413" y="3825875"/>
            <a:ext cx="85613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b="1">
                <a:solidFill>
                  <a:srgbClr val="FF0000"/>
                </a:solidFill>
              </a:rPr>
              <a:t>Alice: (OS, rx), (accounting program, rx), (accounting data, r),</a:t>
            </a:r>
          </a:p>
          <a:p>
            <a:pPr eaLnBrk="1" hangingPunct="1">
              <a:lnSpc>
                <a:spcPct val="100000"/>
              </a:lnSpc>
              <a:spcBef>
                <a:spcPct val="50000"/>
              </a:spcBef>
            </a:pPr>
            <a:r>
              <a:rPr lang="en-US" altLang="en-US" b="1">
                <a:solidFill>
                  <a:srgbClr val="FF0000"/>
                </a:solidFill>
              </a:rPr>
              <a:t>(insurance data, rw), (payroll data, rw). </a:t>
            </a:r>
            <a:endParaRPr lang="en-US" altLang="en-US">
              <a:solidFill>
                <a:srgbClr val="FF0000"/>
              </a:solidFill>
            </a:endParaRPr>
          </a:p>
        </p:txBody>
      </p:sp>
      <p:sp>
        <p:nvSpPr>
          <p:cNvPr id="9221" name="Date Placeholder 1"/>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9222" name="Slide Number Placeholder 2"/>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015AD7C5-D356-4100-89BA-5AF941907C89}" type="slidenum">
              <a:rPr lang="zh-CN" altLang="en-US" sz="1400"/>
              <a:pPr algn="r" eaLnBrk="1" hangingPunct="1">
                <a:lnSpc>
                  <a:spcPct val="100000"/>
                </a:lnSpc>
                <a:spcBef>
                  <a:spcPct val="0"/>
                </a:spcBef>
              </a:pPr>
              <a:t>28</a:t>
            </a:fld>
            <a:endParaRPr lang="en-US" altLang="zh-CN" sz="1400"/>
          </a:p>
        </p:txBody>
      </p:sp>
    </p:spTree>
    <p:extLst>
      <p:ext uri="{BB962C8B-B14F-4D97-AF65-F5344CB8AC3E}">
        <p14:creationId xmlns:p14="http://schemas.microsoft.com/office/powerpoint/2010/main" val="2768607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65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3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Footer Placeholder 3"/>
          <p:cNvSpPr>
            <a:spLocks noGrp="1"/>
          </p:cNvSpPr>
          <p:nvPr>
            <p:ph type="ftr" sz="quarter" idx="10"/>
          </p:nvPr>
        </p:nvSpPr>
        <p:spPr>
          <a:noFill/>
        </p:spPr>
        <p:txBody>
          <a:bodyPr/>
          <a:lstStyle/>
          <a:p>
            <a:r>
              <a:rPr lang="en-US"/>
              <a:t> Part 2 </a:t>
            </a:r>
            <a:r>
              <a:rPr lang="en-US">
                <a:sym typeface="Symbol" charset="2"/>
              </a:rPr>
              <a:t></a:t>
            </a:r>
            <a:r>
              <a:rPr lang="en-US"/>
              <a:t> Access Control                                                                                                  </a:t>
            </a:r>
            <a:fld id="{C522C007-07DD-5B4F-B0C5-ADA68E46590E}" type="slidenum">
              <a:rPr lang="en-US" smtClean="0">
                <a:latin typeface="Times New Roman" charset="0"/>
              </a:rPr>
              <a:pPr/>
              <a:t>29</a:t>
            </a:fld>
            <a:endParaRPr lang="en-US">
              <a:latin typeface="Times New Roman" charset="0"/>
            </a:endParaRPr>
          </a:p>
        </p:txBody>
      </p:sp>
      <p:sp>
        <p:nvSpPr>
          <p:cNvPr id="138243" name="Rectangle 2"/>
          <p:cNvSpPr>
            <a:spLocks noGrp="1" noChangeArrowheads="1"/>
          </p:cNvSpPr>
          <p:nvPr>
            <p:ph type="title"/>
          </p:nvPr>
        </p:nvSpPr>
        <p:spPr>
          <a:xfrm>
            <a:off x="685800" y="381000"/>
            <a:ext cx="7772400" cy="1143000"/>
          </a:xfrm>
        </p:spPr>
        <p:txBody>
          <a:bodyPr/>
          <a:lstStyle/>
          <a:p>
            <a:pPr eaLnBrk="1" hangingPunct="1"/>
            <a:r>
              <a:rPr lang="en-US" dirty="0"/>
              <a:t>TCP/IP suite</a:t>
            </a:r>
          </a:p>
        </p:txBody>
      </p:sp>
      <p:sp>
        <p:nvSpPr>
          <p:cNvPr id="225283" name="Rectangle 3"/>
          <p:cNvSpPr>
            <a:spLocks noGrp="1" noChangeArrowheads="1"/>
          </p:cNvSpPr>
          <p:nvPr>
            <p:ph type="body" idx="1"/>
          </p:nvPr>
        </p:nvSpPr>
        <p:spPr>
          <a:xfrm>
            <a:off x="685800" y="1600200"/>
            <a:ext cx="6019800" cy="4267200"/>
          </a:xfrm>
        </p:spPr>
        <p:txBody>
          <a:bodyPr>
            <a:normAutofit fontScale="70000" lnSpcReduction="20000"/>
          </a:bodyPr>
          <a:lstStyle/>
          <a:p>
            <a:r>
              <a:rPr lang="en-US" sz="2800" dirty="0"/>
              <a:t>Physical Layer: To transmission bits over a media</a:t>
            </a:r>
            <a:endParaRPr lang="en-US" altLang="en-US" sz="2800" dirty="0"/>
          </a:p>
          <a:p>
            <a:r>
              <a:rPr lang="en-US" altLang="en-US" sz="2800" dirty="0"/>
              <a:t>Data Link Layer: </a:t>
            </a:r>
            <a:r>
              <a:rPr lang="en-US" sz="2800" dirty="0"/>
              <a:t>transferring datagram from one node to physically adjacent node over a link, using MAC (Medium Access Control) address</a:t>
            </a:r>
            <a:endParaRPr lang="en-US" altLang="en-US" sz="2800" dirty="0"/>
          </a:p>
          <a:p>
            <a:r>
              <a:rPr lang="en-US" sz="2800" dirty="0"/>
              <a:t>Network Layer:  To move packets from source to destination</a:t>
            </a:r>
          </a:p>
          <a:p>
            <a:r>
              <a:rPr lang="en-US" sz="2800" dirty="0"/>
              <a:t>TCP layer: </a:t>
            </a:r>
            <a:r>
              <a:rPr kumimoji="1" lang="en-US" altLang="ja-JP" sz="2800" dirty="0"/>
              <a:t>provides a message delivery between two hosts (two processes), error control</a:t>
            </a:r>
          </a:p>
          <a:p>
            <a:r>
              <a:rPr lang="en-US" sz="2800" dirty="0"/>
              <a:t>Application Layer: </a:t>
            </a:r>
            <a:r>
              <a:rPr kumimoji="1" lang="en-US" altLang="ja-JP" sz="2800" dirty="0"/>
              <a:t>handles the details of the particular application, using TCP/IP suite</a:t>
            </a:r>
          </a:p>
          <a:p>
            <a:endParaRPr kumimoji="1" lang="en-US" altLang="ja-JP" sz="2800" dirty="0"/>
          </a:p>
          <a:p>
            <a:pPr>
              <a:buClr>
                <a:schemeClr val="folHlink"/>
              </a:buClr>
              <a:buNone/>
            </a:pPr>
            <a:r>
              <a:rPr kumimoji="1" lang="en-US" altLang="ja-JP" sz="2800" dirty="0">
                <a:latin typeface="Tahoma" panose="020B0604030504040204" pitchFamily="34" charset="0"/>
              </a:rPr>
              <a:t>The data is sent down the protocol stack</a:t>
            </a:r>
          </a:p>
          <a:p>
            <a:pPr>
              <a:buClr>
                <a:schemeClr val="folHlink"/>
              </a:buClr>
              <a:buNone/>
            </a:pPr>
            <a:r>
              <a:rPr kumimoji="1" lang="en-US" altLang="ja-JP" sz="2800" dirty="0">
                <a:latin typeface="Tahoma" panose="020B0604030504040204" pitchFamily="34" charset="0"/>
              </a:rPr>
              <a:t>Each layer adds to the data by prepending headers</a:t>
            </a:r>
          </a:p>
          <a:p>
            <a:endParaRPr kumimoji="1" lang="en-US" altLang="ja-JP" sz="2800" dirty="0"/>
          </a:p>
          <a:p>
            <a:endParaRPr lang="en-US" dirty="0"/>
          </a:p>
        </p:txBody>
      </p:sp>
      <p:sp>
        <p:nvSpPr>
          <p:cNvPr id="138245" name="Rectangle 4"/>
          <p:cNvSpPr>
            <a:spLocks noChangeArrowheads="1"/>
          </p:cNvSpPr>
          <p:nvPr/>
        </p:nvSpPr>
        <p:spPr bwMode="auto">
          <a:xfrm>
            <a:off x="7080250" y="1765300"/>
            <a:ext cx="1892300" cy="3530600"/>
          </a:xfrm>
          <a:prstGeom prst="rect">
            <a:avLst/>
          </a:prstGeom>
          <a:solidFill>
            <a:schemeClr val="accent2"/>
          </a:solidFill>
          <a:ln w="38100">
            <a:solidFill>
              <a:schemeClr val="accent2"/>
            </a:solidFill>
            <a:miter lim="800000"/>
            <a:headEnd/>
            <a:tailEnd/>
          </a:ln>
        </p:spPr>
        <p:txBody>
          <a:bodyPr wrap="none" anchor="ctr">
            <a:prstTxWarp prst="textNoShape">
              <a:avLst/>
            </a:prstTxWarp>
          </a:bodyPr>
          <a:lstStyle/>
          <a:p>
            <a:endParaRPr lang="en-US"/>
          </a:p>
        </p:txBody>
      </p:sp>
      <p:grpSp>
        <p:nvGrpSpPr>
          <p:cNvPr id="138246" name="Group 5"/>
          <p:cNvGrpSpPr>
            <a:grpSpLocks/>
          </p:cNvGrpSpPr>
          <p:nvPr/>
        </p:nvGrpSpPr>
        <p:grpSpPr bwMode="auto">
          <a:xfrm>
            <a:off x="7010400" y="1879600"/>
            <a:ext cx="1898650" cy="3530600"/>
            <a:chOff x="3076" y="888"/>
            <a:chExt cx="1196" cy="2224"/>
          </a:xfrm>
        </p:grpSpPr>
        <p:sp>
          <p:nvSpPr>
            <p:cNvPr id="138247" name="Rectangle 6"/>
            <p:cNvSpPr>
              <a:spLocks noChangeArrowheads="1"/>
            </p:cNvSpPr>
            <p:nvPr/>
          </p:nvSpPr>
          <p:spPr bwMode="auto">
            <a:xfrm>
              <a:off x="3080" y="888"/>
              <a:ext cx="1192" cy="2224"/>
            </a:xfrm>
            <a:prstGeom prst="rect">
              <a:avLst/>
            </a:prstGeom>
            <a:solidFill>
              <a:schemeClr val="bg1"/>
            </a:solidFill>
            <a:ln w="38100">
              <a:solidFill>
                <a:schemeClr val="accent2"/>
              </a:solidFill>
              <a:miter lim="800000"/>
              <a:headEnd/>
              <a:tailEnd/>
            </a:ln>
          </p:spPr>
          <p:txBody>
            <a:bodyPr wrap="none" anchor="ctr">
              <a:prstTxWarp prst="textNoShape">
                <a:avLst/>
              </a:prstTxWarp>
            </a:bodyPr>
            <a:lstStyle/>
            <a:p>
              <a:endParaRPr lang="en-US"/>
            </a:p>
          </p:txBody>
        </p:sp>
        <p:sp>
          <p:nvSpPr>
            <p:cNvPr id="138248" name="Text Box 7"/>
            <p:cNvSpPr txBox="1">
              <a:spLocks noChangeArrowheads="1"/>
            </p:cNvSpPr>
            <p:nvPr/>
          </p:nvSpPr>
          <p:spPr bwMode="auto">
            <a:xfrm>
              <a:off x="3245" y="949"/>
              <a:ext cx="884" cy="1978"/>
            </a:xfrm>
            <a:prstGeom prst="rect">
              <a:avLst/>
            </a:prstGeom>
            <a:noFill/>
            <a:ln w="9525">
              <a:noFill/>
              <a:miter lim="800000"/>
              <a:headEnd/>
              <a:tailEnd/>
            </a:ln>
          </p:spPr>
          <p:txBody>
            <a:bodyPr wrap="none">
              <a:prstTxWarp prst="textNoShape">
                <a:avLst/>
              </a:prstTxWarp>
              <a:spAutoFit/>
            </a:bodyPr>
            <a:lstStyle/>
            <a:p>
              <a:pPr algn="ctr" eaLnBrk="0" hangingPunct="0"/>
              <a:r>
                <a:rPr lang="en-US" b="1" dirty="0">
                  <a:solidFill>
                    <a:srgbClr val="C00000"/>
                  </a:solidFill>
                  <a:latin typeface="Arial" charset="0"/>
                </a:rPr>
                <a:t>application</a:t>
              </a:r>
              <a:endParaRPr lang="en-US" dirty="0">
                <a:solidFill>
                  <a:srgbClr val="C00000"/>
                </a:solidFill>
                <a:latin typeface="Arial" charset="0"/>
              </a:endParaRPr>
            </a:p>
            <a:p>
              <a:pPr algn="ctr" eaLnBrk="0" hangingPunct="0"/>
              <a:endParaRPr lang="en-US" dirty="0">
                <a:latin typeface="Arial" charset="0"/>
              </a:endParaRPr>
            </a:p>
            <a:p>
              <a:pPr algn="ctr" eaLnBrk="0" hangingPunct="0"/>
              <a:endParaRPr lang="en-US" b="1" dirty="0">
                <a:solidFill>
                  <a:schemeClr val="accent2"/>
                </a:solidFill>
                <a:latin typeface="Arial" charset="0"/>
              </a:endParaRPr>
            </a:p>
            <a:p>
              <a:pPr algn="ctr" eaLnBrk="0" hangingPunct="0"/>
              <a:r>
                <a:rPr lang="en-US" b="1" dirty="0">
                  <a:solidFill>
                    <a:schemeClr val="tx2"/>
                  </a:solidFill>
                  <a:latin typeface="Arial" charset="0"/>
                </a:rPr>
                <a:t>transport</a:t>
              </a:r>
              <a:endParaRPr lang="en-US" dirty="0">
                <a:solidFill>
                  <a:schemeClr val="tx2"/>
                </a:solidFill>
                <a:latin typeface="Arial" charset="0"/>
              </a:endParaRPr>
            </a:p>
            <a:p>
              <a:pPr algn="ctr" eaLnBrk="0" hangingPunct="0"/>
              <a:endParaRPr lang="en-US" dirty="0">
                <a:solidFill>
                  <a:schemeClr val="tx2"/>
                </a:solidFill>
                <a:latin typeface="Arial" charset="0"/>
              </a:endParaRPr>
            </a:p>
            <a:p>
              <a:pPr algn="ctr" eaLnBrk="0" hangingPunct="0"/>
              <a:r>
                <a:rPr lang="en-US" b="1" dirty="0">
                  <a:solidFill>
                    <a:schemeClr val="tx2"/>
                  </a:solidFill>
                  <a:latin typeface="Arial" charset="0"/>
                </a:rPr>
                <a:t>network</a:t>
              </a:r>
            </a:p>
            <a:p>
              <a:pPr algn="ctr" eaLnBrk="0" hangingPunct="0"/>
              <a:endParaRPr lang="en-US" dirty="0">
                <a:latin typeface="Arial" charset="0"/>
              </a:endParaRPr>
            </a:p>
            <a:p>
              <a:pPr algn="ctr" eaLnBrk="0" hangingPunct="0"/>
              <a:endParaRPr lang="en-US" dirty="0">
                <a:latin typeface="Arial" charset="0"/>
              </a:endParaRPr>
            </a:p>
            <a:p>
              <a:pPr algn="ctr" eaLnBrk="0" hangingPunct="0"/>
              <a:r>
                <a:rPr lang="en-US" dirty="0">
                  <a:latin typeface="Arial" charset="0"/>
                </a:rPr>
                <a:t>Data link</a:t>
              </a:r>
              <a:endParaRPr lang="en-US" dirty="0">
                <a:solidFill>
                  <a:srgbClr val="FF0000"/>
                </a:solidFill>
                <a:latin typeface="Arial" charset="0"/>
              </a:endParaRPr>
            </a:p>
            <a:p>
              <a:pPr algn="ctr" eaLnBrk="0" hangingPunct="0"/>
              <a:endParaRPr lang="en-US" dirty="0">
                <a:latin typeface="Arial" charset="0"/>
              </a:endParaRPr>
            </a:p>
            <a:p>
              <a:pPr algn="ctr" eaLnBrk="0" hangingPunct="0"/>
              <a:r>
                <a:rPr lang="en-US" dirty="0">
                  <a:latin typeface="Arial" charset="0"/>
                </a:rPr>
                <a:t>physical</a:t>
              </a:r>
            </a:p>
          </p:txBody>
        </p:sp>
        <p:sp>
          <p:nvSpPr>
            <p:cNvPr id="138249" name="Line 8"/>
            <p:cNvSpPr>
              <a:spLocks noChangeShapeType="1"/>
            </p:cNvSpPr>
            <p:nvPr/>
          </p:nvSpPr>
          <p:spPr bwMode="auto">
            <a:xfrm>
              <a:off x="3076" y="1324"/>
              <a:ext cx="1188" cy="0"/>
            </a:xfrm>
            <a:prstGeom prst="line">
              <a:avLst/>
            </a:prstGeom>
            <a:noFill/>
            <a:ln w="38100">
              <a:solidFill>
                <a:schemeClr val="accent2"/>
              </a:solidFill>
              <a:round/>
              <a:headEnd/>
              <a:tailEnd/>
            </a:ln>
          </p:spPr>
          <p:txBody>
            <a:bodyPr wrap="none" anchor="ctr">
              <a:prstTxWarp prst="textNoShape">
                <a:avLst/>
              </a:prstTxWarp>
            </a:bodyPr>
            <a:lstStyle/>
            <a:p>
              <a:endParaRPr lang="en-US"/>
            </a:p>
          </p:txBody>
        </p:sp>
        <p:sp>
          <p:nvSpPr>
            <p:cNvPr id="138250" name="Line 9"/>
            <p:cNvSpPr>
              <a:spLocks noChangeShapeType="1"/>
            </p:cNvSpPr>
            <p:nvPr/>
          </p:nvSpPr>
          <p:spPr bwMode="auto">
            <a:xfrm>
              <a:off x="3076" y="1768"/>
              <a:ext cx="1188" cy="0"/>
            </a:xfrm>
            <a:prstGeom prst="line">
              <a:avLst/>
            </a:prstGeom>
            <a:noFill/>
            <a:ln w="38100">
              <a:solidFill>
                <a:schemeClr val="accent2"/>
              </a:solidFill>
              <a:round/>
              <a:headEnd/>
              <a:tailEnd/>
            </a:ln>
          </p:spPr>
          <p:txBody>
            <a:bodyPr wrap="none" anchor="ctr">
              <a:prstTxWarp prst="textNoShape">
                <a:avLst/>
              </a:prstTxWarp>
            </a:bodyPr>
            <a:lstStyle/>
            <a:p>
              <a:endParaRPr lang="en-US"/>
            </a:p>
          </p:txBody>
        </p:sp>
        <p:sp>
          <p:nvSpPr>
            <p:cNvPr id="138251" name="Line 10"/>
            <p:cNvSpPr>
              <a:spLocks noChangeShapeType="1"/>
            </p:cNvSpPr>
            <p:nvPr/>
          </p:nvSpPr>
          <p:spPr bwMode="auto">
            <a:xfrm>
              <a:off x="3076" y="2216"/>
              <a:ext cx="1188" cy="0"/>
            </a:xfrm>
            <a:prstGeom prst="line">
              <a:avLst/>
            </a:prstGeom>
            <a:noFill/>
            <a:ln w="38100">
              <a:solidFill>
                <a:schemeClr val="accent2"/>
              </a:solidFill>
              <a:round/>
              <a:headEnd/>
              <a:tailEnd/>
            </a:ln>
          </p:spPr>
          <p:txBody>
            <a:bodyPr wrap="none" anchor="ctr">
              <a:prstTxWarp prst="textNoShape">
                <a:avLst/>
              </a:prstTxWarp>
            </a:bodyPr>
            <a:lstStyle/>
            <a:p>
              <a:endParaRPr lang="en-US"/>
            </a:p>
          </p:txBody>
        </p:sp>
        <p:sp>
          <p:nvSpPr>
            <p:cNvPr id="138252" name="Line 11"/>
            <p:cNvSpPr>
              <a:spLocks noChangeShapeType="1"/>
            </p:cNvSpPr>
            <p:nvPr/>
          </p:nvSpPr>
          <p:spPr bwMode="auto">
            <a:xfrm>
              <a:off x="3076" y="2664"/>
              <a:ext cx="1188" cy="0"/>
            </a:xfrm>
            <a:prstGeom prst="line">
              <a:avLst/>
            </a:prstGeom>
            <a:noFill/>
            <a:ln w="38100">
              <a:solidFill>
                <a:schemeClr val="accent2"/>
              </a:solidFill>
              <a:round/>
              <a:headEnd/>
              <a:tailEnd/>
            </a:ln>
          </p:spPr>
          <p:txBody>
            <a:bodyPr wrap="none" anchor="ctr">
              <a:prstTxWarp prst="textNoShape">
                <a:avLst/>
              </a:prstTxWarp>
            </a:bodyPr>
            <a:lstStyle/>
            <a:p>
              <a:endParaRPr lang="en-US"/>
            </a:p>
          </p:txBody>
        </p:sp>
      </p:grpSp>
    </p:spTree>
    <p:extLst>
      <p:ext uri="{BB962C8B-B14F-4D97-AF65-F5344CB8AC3E}">
        <p14:creationId xmlns:p14="http://schemas.microsoft.com/office/powerpoint/2010/main" val="159059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Effect transition="in" filter="wipe(left)">
                                      <p:cBhvr>
                                        <p:cTn id="7" dur="500"/>
                                        <p:tgtEl>
                                          <p:spTgt spid="225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283">
                                            <p:txEl>
                                              <p:pRg st="1" end="1"/>
                                            </p:txEl>
                                          </p:spTgt>
                                        </p:tgtEl>
                                        <p:attrNameLst>
                                          <p:attrName>style.visibility</p:attrName>
                                        </p:attrNameLst>
                                      </p:cBhvr>
                                      <p:to>
                                        <p:strVal val="visible"/>
                                      </p:to>
                                    </p:set>
                                    <p:animEffect transition="in" filter="wipe(left)">
                                      <p:cBhvr>
                                        <p:cTn id="12" dur="500"/>
                                        <p:tgtEl>
                                          <p:spTgt spid="225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283">
                                            <p:txEl>
                                              <p:pRg st="2" end="2"/>
                                            </p:txEl>
                                          </p:spTgt>
                                        </p:tgtEl>
                                        <p:attrNameLst>
                                          <p:attrName>style.visibility</p:attrName>
                                        </p:attrNameLst>
                                      </p:cBhvr>
                                      <p:to>
                                        <p:strVal val="visible"/>
                                      </p:to>
                                    </p:set>
                                    <p:animEffect transition="in" filter="wipe(left)">
                                      <p:cBhvr>
                                        <p:cTn id="17" dur="500"/>
                                        <p:tgtEl>
                                          <p:spTgt spid="2252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283">
                                            <p:txEl>
                                              <p:pRg st="3" end="3"/>
                                            </p:txEl>
                                          </p:spTgt>
                                        </p:tgtEl>
                                        <p:attrNameLst>
                                          <p:attrName>style.visibility</p:attrName>
                                        </p:attrNameLst>
                                      </p:cBhvr>
                                      <p:to>
                                        <p:strVal val="visible"/>
                                      </p:to>
                                    </p:set>
                                    <p:animEffect transition="in" filter="wipe(left)">
                                      <p:cBhvr>
                                        <p:cTn id="22" dur="500"/>
                                        <p:tgtEl>
                                          <p:spTgt spid="2252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283">
                                            <p:txEl>
                                              <p:pRg st="4" end="4"/>
                                            </p:txEl>
                                          </p:spTgt>
                                        </p:tgtEl>
                                        <p:attrNameLst>
                                          <p:attrName>style.visibility</p:attrName>
                                        </p:attrNameLst>
                                      </p:cBhvr>
                                      <p:to>
                                        <p:strVal val="visible"/>
                                      </p:to>
                                    </p:set>
                                    <p:animEffect transition="in" filter="wipe(left)">
                                      <p:cBhvr>
                                        <p:cTn id="27" dur="500"/>
                                        <p:tgtEl>
                                          <p:spTgt spid="2252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283">
                                            <p:txEl>
                                              <p:pRg st="6" end="6"/>
                                            </p:txEl>
                                          </p:spTgt>
                                        </p:tgtEl>
                                        <p:attrNameLst>
                                          <p:attrName>style.visibility</p:attrName>
                                        </p:attrNameLst>
                                      </p:cBhvr>
                                      <p:to>
                                        <p:strVal val="visible"/>
                                      </p:to>
                                    </p:set>
                                    <p:animEffect transition="in" filter="wipe(left)">
                                      <p:cBhvr>
                                        <p:cTn id="32" dur="500"/>
                                        <p:tgtEl>
                                          <p:spTgt spid="22528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283">
                                            <p:txEl>
                                              <p:pRg st="7" end="7"/>
                                            </p:txEl>
                                          </p:spTgt>
                                        </p:tgtEl>
                                        <p:attrNameLst>
                                          <p:attrName>style.visibility</p:attrName>
                                        </p:attrNameLst>
                                      </p:cBhvr>
                                      <p:to>
                                        <p:strVal val="visible"/>
                                      </p:to>
                                    </p:set>
                                    <p:animEffect transition="in" filter="wipe(left)">
                                      <p:cBhvr>
                                        <p:cTn id="37" dur="500"/>
                                        <p:tgtEl>
                                          <p:spTgt spid="2252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bldLvl="2"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09600" y="0"/>
            <a:ext cx="7772400" cy="1143000"/>
          </a:xfrm>
        </p:spPr>
        <p:txBody>
          <a:bodyPr/>
          <a:lstStyle/>
          <a:p>
            <a:r>
              <a:rPr lang="en-US" altLang="ja-JP">
                <a:ea typeface="ＭＳ Ｐゴシック" panose="020B0600070205080204" pitchFamily="34" charset="-128"/>
              </a:rPr>
              <a:t>Packet Encapsulation </a:t>
            </a:r>
          </a:p>
        </p:txBody>
      </p:sp>
      <p:pic>
        <p:nvPicPr>
          <p:cNvPr id="35843" name="Picture 3" descr="encapsul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133600"/>
            <a:ext cx="5268913" cy="3867150"/>
          </a:xfrm>
          <a:prstGeom prst="rect">
            <a:avLst/>
          </a:prstGeom>
          <a:noFill/>
          <a:extLst>
            <a:ext uri="{909E8E84-426E-40DD-AFC4-6F175D3DCCD1}">
              <a14:hiddenFill xmlns:a14="http://schemas.microsoft.com/office/drawing/2010/main">
                <a:solidFill>
                  <a:srgbClr val="FFFFFF"/>
                </a:solidFill>
              </a14:hiddenFill>
            </a:ext>
          </a:extLst>
        </p:spPr>
      </p:pic>
      <p:sp>
        <p:nvSpPr>
          <p:cNvPr id="35844" name="Text Box 4"/>
          <p:cNvSpPr txBox="1">
            <a:spLocks noChangeArrowheads="1"/>
          </p:cNvSpPr>
          <p:nvPr/>
        </p:nvSpPr>
        <p:spPr bwMode="auto">
          <a:xfrm>
            <a:off x="228600" y="1143000"/>
            <a:ext cx="86106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folHlink"/>
              </a:buClr>
              <a:buFont typeface="Wingdings" panose="05000000000000000000" pitchFamily="2" charset="2"/>
              <a:buChar char="n"/>
            </a:pPr>
            <a:r>
              <a:rPr kumimoji="1" lang="en-US" altLang="ja-JP" dirty="0">
                <a:latin typeface="Tahoma" panose="020B0604030504040204" pitchFamily="34" charset="0"/>
                <a:ea typeface="ＭＳ Ｐゴシック" panose="020B0600070205080204" pitchFamily="34" charset="-128"/>
              </a:rPr>
              <a:t> The data is sent down the protocol stack</a:t>
            </a:r>
          </a:p>
          <a:p>
            <a:pPr>
              <a:spcBef>
                <a:spcPct val="20000"/>
              </a:spcBef>
              <a:buClr>
                <a:schemeClr val="folHlink"/>
              </a:buClr>
              <a:buFont typeface="Wingdings" panose="05000000000000000000" pitchFamily="2" charset="2"/>
              <a:buChar char="n"/>
            </a:pPr>
            <a:r>
              <a:rPr kumimoji="1" lang="en-US" altLang="ja-JP" dirty="0">
                <a:latin typeface="Tahoma" panose="020B0604030504040204" pitchFamily="34" charset="0"/>
                <a:ea typeface="ＭＳ Ｐゴシック" panose="020B0600070205080204" pitchFamily="34" charset="-128"/>
              </a:rPr>
              <a:t> Each layer adds to the data by prepending headers</a:t>
            </a:r>
          </a:p>
        </p:txBody>
      </p:sp>
      <p:sp>
        <p:nvSpPr>
          <p:cNvPr id="35845" name="Line 5"/>
          <p:cNvSpPr>
            <a:spLocks noChangeShapeType="1"/>
          </p:cNvSpPr>
          <p:nvPr/>
        </p:nvSpPr>
        <p:spPr bwMode="auto">
          <a:xfrm>
            <a:off x="27432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46" name="Line 6"/>
          <p:cNvSpPr>
            <a:spLocks noChangeShapeType="1"/>
          </p:cNvSpPr>
          <p:nvPr/>
        </p:nvSpPr>
        <p:spPr bwMode="auto">
          <a:xfrm>
            <a:off x="34290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47" name="Line 7"/>
          <p:cNvSpPr>
            <a:spLocks noChangeShapeType="1"/>
          </p:cNvSpPr>
          <p:nvPr/>
        </p:nvSpPr>
        <p:spPr bwMode="auto">
          <a:xfrm>
            <a:off x="41529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48" name="Line 8"/>
          <p:cNvSpPr>
            <a:spLocks noChangeShapeType="1"/>
          </p:cNvSpPr>
          <p:nvPr/>
        </p:nvSpPr>
        <p:spPr bwMode="auto">
          <a:xfrm>
            <a:off x="48260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49" name="Line 9"/>
          <p:cNvSpPr>
            <a:spLocks noChangeShapeType="1"/>
          </p:cNvSpPr>
          <p:nvPr/>
        </p:nvSpPr>
        <p:spPr bwMode="auto">
          <a:xfrm>
            <a:off x="61722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0" name="Line 10"/>
          <p:cNvSpPr>
            <a:spLocks noChangeShapeType="1"/>
          </p:cNvSpPr>
          <p:nvPr/>
        </p:nvSpPr>
        <p:spPr bwMode="auto">
          <a:xfrm>
            <a:off x="6934200" y="5791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1" name="Line 11"/>
          <p:cNvSpPr>
            <a:spLocks noChangeShapeType="1"/>
          </p:cNvSpPr>
          <p:nvPr/>
        </p:nvSpPr>
        <p:spPr bwMode="auto">
          <a:xfrm>
            <a:off x="2743200" y="5943600"/>
            <a:ext cx="685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2" name="Text Box 12"/>
          <p:cNvSpPr txBox="1">
            <a:spLocks noChangeArrowheads="1"/>
          </p:cNvSpPr>
          <p:nvPr/>
        </p:nvSpPr>
        <p:spPr bwMode="auto">
          <a:xfrm>
            <a:off x="2667000" y="5943600"/>
            <a:ext cx="803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1400">
                <a:latin typeface="Tahoma" panose="020B0604030504040204" pitchFamily="34" charset="0"/>
                <a:ea typeface="ＭＳ Ｐゴシック" panose="020B0600070205080204" pitchFamily="34" charset="-128"/>
              </a:rPr>
              <a:t>22Bytes</a:t>
            </a:r>
          </a:p>
        </p:txBody>
      </p:sp>
      <p:sp>
        <p:nvSpPr>
          <p:cNvPr id="35853" name="Line 13"/>
          <p:cNvSpPr>
            <a:spLocks noChangeShapeType="1"/>
          </p:cNvSpPr>
          <p:nvPr/>
        </p:nvSpPr>
        <p:spPr bwMode="auto">
          <a:xfrm>
            <a:off x="3454400" y="5943600"/>
            <a:ext cx="685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4" name="Text Box 14"/>
          <p:cNvSpPr txBox="1">
            <a:spLocks noChangeArrowheads="1"/>
          </p:cNvSpPr>
          <p:nvPr/>
        </p:nvSpPr>
        <p:spPr bwMode="auto">
          <a:xfrm>
            <a:off x="3387725" y="5943600"/>
            <a:ext cx="803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1400">
                <a:latin typeface="Tahoma" panose="020B0604030504040204" pitchFamily="34" charset="0"/>
                <a:ea typeface="ＭＳ Ｐゴシック" panose="020B0600070205080204" pitchFamily="34" charset="-128"/>
              </a:rPr>
              <a:t>20Bytes</a:t>
            </a:r>
          </a:p>
        </p:txBody>
      </p:sp>
      <p:sp>
        <p:nvSpPr>
          <p:cNvPr id="35855" name="Line 15"/>
          <p:cNvSpPr>
            <a:spLocks noChangeShapeType="1"/>
          </p:cNvSpPr>
          <p:nvPr/>
        </p:nvSpPr>
        <p:spPr bwMode="auto">
          <a:xfrm>
            <a:off x="4152900" y="5943600"/>
            <a:ext cx="6858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6" name="Text Box 16"/>
          <p:cNvSpPr txBox="1">
            <a:spLocks noChangeArrowheads="1"/>
          </p:cNvSpPr>
          <p:nvPr/>
        </p:nvSpPr>
        <p:spPr bwMode="auto">
          <a:xfrm>
            <a:off x="4114800" y="5943600"/>
            <a:ext cx="803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1400">
                <a:latin typeface="Tahoma" panose="020B0604030504040204" pitchFamily="34" charset="0"/>
                <a:ea typeface="ＭＳ Ｐゴシック" panose="020B0600070205080204" pitchFamily="34" charset="-128"/>
              </a:rPr>
              <a:t>20Bytes</a:t>
            </a:r>
          </a:p>
        </p:txBody>
      </p:sp>
      <p:sp>
        <p:nvSpPr>
          <p:cNvPr id="35857" name="Text Box 17"/>
          <p:cNvSpPr txBox="1">
            <a:spLocks noChangeArrowheads="1"/>
          </p:cNvSpPr>
          <p:nvPr/>
        </p:nvSpPr>
        <p:spPr bwMode="auto">
          <a:xfrm>
            <a:off x="6172200" y="5943600"/>
            <a:ext cx="7064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1400">
                <a:latin typeface="Tahoma" panose="020B0604030504040204" pitchFamily="34" charset="0"/>
                <a:ea typeface="ＭＳ Ｐゴシック" panose="020B0600070205080204" pitchFamily="34" charset="-128"/>
              </a:rPr>
              <a:t>4Bytes</a:t>
            </a:r>
          </a:p>
        </p:txBody>
      </p:sp>
      <p:sp>
        <p:nvSpPr>
          <p:cNvPr id="35858" name="Line 18"/>
          <p:cNvSpPr>
            <a:spLocks noChangeShapeType="1"/>
          </p:cNvSpPr>
          <p:nvPr/>
        </p:nvSpPr>
        <p:spPr bwMode="auto">
          <a:xfrm>
            <a:off x="6172200" y="5943600"/>
            <a:ext cx="7620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59" name="Line 19"/>
          <p:cNvSpPr>
            <a:spLocks noChangeShapeType="1"/>
          </p:cNvSpPr>
          <p:nvPr/>
        </p:nvSpPr>
        <p:spPr bwMode="auto">
          <a:xfrm>
            <a:off x="3429000" y="62484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60" name="Line 20"/>
          <p:cNvSpPr>
            <a:spLocks noChangeShapeType="1"/>
          </p:cNvSpPr>
          <p:nvPr/>
        </p:nvSpPr>
        <p:spPr bwMode="auto">
          <a:xfrm>
            <a:off x="6172200" y="62484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861" name="Text Box 21"/>
          <p:cNvSpPr txBox="1">
            <a:spLocks noChangeArrowheads="1"/>
          </p:cNvSpPr>
          <p:nvPr/>
        </p:nvSpPr>
        <p:spPr bwMode="auto">
          <a:xfrm>
            <a:off x="4114800" y="6400800"/>
            <a:ext cx="15128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1400">
                <a:latin typeface="Tahoma" panose="020B0604030504040204" pitchFamily="34" charset="0"/>
                <a:ea typeface="ＭＳ Ｐゴシック" panose="020B0600070205080204" pitchFamily="34" charset="-128"/>
              </a:rPr>
              <a:t>64 to 1500 Bytes</a:t>
            </a:r>
          </a:p>
        </p:txBody>
      </p:sp>
      <p:sp>
        <p:nvSpPr>
          <p:cNvPr id="35862" name="Line 22"/>
          <p:cNvSpPr>
            <a:spLocks noChangeShapeType="1"/>
          </p:cNvSpPr>
          <p:nvPr/>
        </p:nvSpPr>
        <p:spPr bwMode="auto">
          <a:xfrm>
            <a:off x="3429000" y="6400800"/>
            <a:ext cx="2743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2452115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TCP 3-Way Handshake </a:t>
            </a:r>
          </a:p>
        </p:txBody>
      </p:sp>
      <p:sp>
        <p:nvSpPr>
          <p:cNvPr id="4" name="Line 3"/>
          <p:cNvSpPr>
            <a:spLocks noChangeShapeType="1"/>
          </p:cNvSpPr>
          <p:nvPr/>
        </p:nvSpPr>
        <p:spPr bwMode="auto">
          <a:xfrm>
            <a:off x="1880359" y="2352973"/>
            <a:ext cx="3154927" cy="689573"/>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US"/>
          </a:p>
        </p:txBody>
      </p:sp>
      <p:sp>
        <p:nvSpPr>
          <p:cNvPr id="5" name="Line 4"/>
          <p:cNvSpPr>
            <a:spLocks noChangeShapeType="1"/>
          </p:cNvSpPr>
          <p:nvPr/>
        </p:nvSpPr>
        <p:spPr bwMode="auto">
          <a:xfrm>
            <a:off x="1880359" y="4715173"/>
            <a:ext cx="3154927" cy="685800"/>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US"/>
          </a:p>
        </p:txBody>
      </p:sp>
      <p:sp>
        <p:nvSpPr>
          <p:cNvPr id="6" name="Line 5"/>
          <p:cNvSpPr>
            <a:spLocks noChangeShapeType="1"/>
          </p:cNvSpPr>
          <p:nvPr/>
        </p:nvSpPr>
        <p:spPr bwMode="auto">
          <a:xfrm flipH="1">
            <a:off x="1880359" y="3470823"/>
            <a:ext cx="3154927" cy="787150"/>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US"/>
          </a:p>
        </p:txBody>
      </p:sp>
      <p:sp>
        <p:nvSpPr>
          <p:cNvPr id="7" name="Text Box 6"/>
          <p:cNvSpPr txBox="1">
            <a:spLocks noChangeArrowheads="1"/>
          </p:cNvSpPr>
          <p:nvPr/>
        </p:nvSpPr>
        <p:spPr bwMode="auto">
          <a:xfrm>
            <a:off x="563421" y="1438573"/>
            <a:ext cx="2632301"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dirty="0">
                <a:latin typeface="Tahoma" charset="0"/>
              </a:rPr>
              <a:t>Client (IP1, Port1)</a:t>
            </a:r>
          </a:p>
        </p:txBody>
      </p:sp>
      <p:sp>
        <p:nvSpPr>
          <p:cNvPr id="8" name="Text Box 7"/>
          <p:cNvSpPr txBox="1">
            <a:spLocks noChangeArrowheads="1"/>
          </p:cNvSpPr>
          <p:nvPr/>
        </p:nvSpPr>
        <p:spPr bwMode="auto">
          <a:xfrm>
            <a:off x="4625020" y="1492548"/>
            <a:ext cx="2738700"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dirty="0">
                <a:latin typeface="Tahoma" charset="0"/>
              </a:rPr>
              <a:t>Server (IP2, Port2)</a:t>
            </a:r>
          </a:p>
        </p:txBody>
      </p:sp>
      <p:sp>
        <p:nvSpPr>
          <p:cNvPr id="9" name="Text Box 8"/>
          <p:cNvSpPr txBox="1">
            <a:spLocks noChangeArrowheads="1"/>
          </p:cNvSpPr>
          <p:nvPr/>
        </p:nvSpPr>
        <p:spPr bwMode="auto">
          <a:xfrm>
            <a:off x="2433480" y="2311078"/>
            <a:ext cx="217170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600" dirty="0">
                <a:latin typeface="Tahoma" charset="0"/>
              </a:rPr>
              <a:t>SYN  (</a:t>
            </a:r>
            <a:r>
              <a:rPr lang="en-US" sz="1600" dirty="0" err="1">
                <a:latin typeface="Tahoma" charset="0"/>
              </a:rPr>
              <a:t>seq</a:t>
            </a:r>
            <a:r>
              <a:rPr lang="en-US" sz="1600" dirty="0">
                <a:latin typeface="Tahoma" charset="0"/>
              </a:rPr>
              <a:t>=x)</a:t>
            </a:r>
          </a:p>
        </p:txBody>
      </p:sp>
      <p:sp>
        <p:nvSpPr>
          <p:cNvPr id="10" name="Text Box 9"/>
          <p:cNvSpPr txBox="1">
            <a:spLocks noChangeArrowheads="1"/>
          </p:cNvSpPr>
          <p:nvPr/>
        </p:nvSpPr>
        <p:spPr bwMode="auto">
          <a:xfrm>
            <a:off x="2056678" y="3253524"/>
            <a:ext cx="2715808"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600" dirty="0">
                <a:latin typeface="Tahoma" charset="0"/>
              </a:rPr>
              <a:t>SYN  ACK (</a:t>
            </a:r>
            <a:r>
              <a:rPr lang="en-US" sz="1600" dirty="0" err="1">
                <a:latin typeface="Tahoma" charset="0"/>
              </a:rPr>
              <a:t>ack</a:t>
            </a:r>
            <a:r>
              <a:rPr lang="en-US" sz="1600" dirty="0">
                <a:latin typeface="Tahoma" charset="0"/>
              </a:rPr>
              <a:t>=x+1 </a:t>
            </a:r>
            <a:r>
              <a:rPr lang="en-US" sz="1600" dirty="0" err="1">
                <a:latin typeface="Tahoma" charset="0"/>
              </a:rPr>
              <a:t>seq</a:t>
            </a:r>
            <a:r>
              <a:rPr lang="en-US" sz="1600" dirty="0">
                <a:latin typeface="Tahoma" charset="0"/>
              </a:rPr>
              <a:t>=y)</a:t>
            </a:r>
            <a:endParaRPr lang="en-US" sz="1600" baseline="-25000" dirty="0">
              <a:latin typeface="Tahoma" charset="0"/>
            </a:endParaRPr>
          </a:p>
        </p:txBody>
      </p:sp>
      <p:sp>
        <p:nvSpPr>
          <p:cNvPr id="11" name="Text Box 10"/>
          <p:cNvSpPr txBox="1">
            <a:spLocks noChangeArrowheads="1"/>
          </p:cNvSpPr>
          <p:nvPr/>
        </p:nvSpPr>
        <p:spPr bwMode="auto">
          <a:xfrm>
            <a:off x="2056678" y="5231696"/>
            <a:ext cx="249018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600" dirty="0">
                <a:latin typeface="Tahoma" charset="0"/>
              </a:rPr>
              <a:t>ACK (</a:t>
            </a:r>
            <a:r>
              <a:rPr lang="en-US" sz="1600" dirty="0" err="1">
                <a:latin typeface="Tahoma" charset="0"/>
              </a:rPr>
              <a:t>ack</a:t>
            </a:r>
            <a:r>
              <a:rPr lang="en-US" sz="1600" dirty="0">
                <a:latin typeface="Tahoma" charset="0"/>
              </a:rPr>
              <a:t>=y+1,seq=x+1)</a:t>
            </a:r>
            <a:endParaRPr lang="en-US" sz="1600" baseline="-25000" dirty="0">
              <a:latin typeface="Tahoma" charset="0"/>
            </a:endParaRPr>
          </a:p>
        </p:txBody>
      </p:sp>
      <p:grpSp>
        <p:nvGrpSpPr>
          <p:cNvPr id="26" name="Group 25"/>
          <p:cNvGrpSpPr/>
          <p:nvPr/>
        </p:nvGrpSpPr>
        <p:grpSpPr>
          <a:xfrm>
            <a:off x="1880359" y="1971973"/>
            <a:ext cx="0" cy="4038600"/>
            <a:chOff x="1880359" y="1971973"/>
            <a:chExt cx="0" cy="4038600"/>
          </a:xfrm>
        </p:grpSpPr>
        <p:sp>
          <p:nvSpPr>
            <p:cNvPr id="14" name="Line 13"/>
            <p:cNvSpPr>
              <a:spLocks noChangeShapeType="1"/>
            </p:cNvSpPr>
            <p:nvPr/>
          </p:nvSpPr>
          <p:spPr bwMode="auto">
            <a:xfrm>
              <a:off x="1880359" y="2352973"/>
              <a:ext cx="0" cy="1905000"/>
            </a:xfrm>
            <a:prstGeom prst="line">
              <a:avLst/>
            </a:prstGeom>
            <a:noFill/>
            <a:ln w="76200">
              <a:solidFill>
                <a:srgbClr val="FF9900"/>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5" name="Line 14"/>
            <p:cNvSpPr>
              <a:spLocks noChangeShapeType="1"/>
            </p:cNvSpPr>
            <p:nvPr/>
          </p:nvSpPr>
          <p:spPr bwMode="auto">
            <a:xfrm>
              <a:off x="1880359" y="4715173"/>
              <a:ext cx="0" cy="1295400"/>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6" name="Line 15"/>
            <p:cNvSpPr>
              <a:spLocks noChangeShapeType="1"/>
            </p:cNvSpPr>
            <p:nvPr/>
          </p:nvSpPr>
          <p:spPr bwMode="auto">
            <a:xfrm>
              <a:off x="1880359" y="4257973"/>
              <a:ext cx="0" cy="457200"/>
            </a:xfrm>
            <a:prstGeom prst="line">
              <a:avLst/>
            </a:prstGeom>
            <a:noFill/>
            <a:ln w="76200">
              <a:solidFill>
                <a:schemeClr val="hlink"/>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8" name="Line 17"/>
            <p:cNvSpPr>
              <a:spLocks noChangeShapeType="1"/>
            </p:cNvSpPr>
            <p:nvPr/>
          </p:nvSpPr>
          <p:spPr bwMode="auto">
            <a:xfrm>
              <a:off x="1880359" y="1971973"/>
              <a:ext cx="0" cy="381000"/>
            </a:xfrm>
            <a:prstGeom prst="line">
              <a:avLst/>
            </a:prstGeom>
            <a:noFill/>
            <a:ln w="76200">
              <a:solidFill>
                <a:srgbClr val="B2B2B2"/>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grpSp>
      <p:grpSp>
        <p:nvGrpSpPr>
          <p:cNvPr id="25" name="Group 24"/>
          <p:cNvGrpSpPr/>
          <p:nvPr/>
        </p:nvGrpSpPr>
        <p:grpSpPr>
          <a:xfrm>
            <a:off x="5049217" y="1971973"/>
            <a:ext cx="0" cy="3962400"/>
            <a:chOff x="6038022" y="2048173"/>
            <a:chExt cx="0" cy="3962400"/>
          </a:xfrm>
        </p:grpSpPr>
        <p:sp>
          <p:nvSpPr>
            <p:cNvPr id="12" name="Line 11"/>
            <p:cNvSpPr>
              <a:spLocks noChangeShapeType="1"/>
            </p:cNvSpPr>
            <p:nvPr/>
          </p:nvSpPr>
          <p:spPr bwMode="auto">
            <a:xfrm>
              <a:off x="6038022" y="3495973"/>
              <a:ext cx="0" cy="1981200"/>
            </a:xfrm>
            <a:prstGeom prst="line">
              <a:avLst/>
            </a:prstGeom>
            <a:noFill/>
            <a:ln w="76200">
              <a:solidFill>
                <a:srgbClr val="FF9900"/>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3" name="Line 12"/>
            <p:cNvSpPr>
              <a:spLocks noChangeShapeType="1"/>
            </p:cNvSpPr>
            <p:nvPr/>
          </p:nvSpPr>
          <p:spPr bwMode="auto">
            <a:xfrm>
              <a:off x="6038022" y="5477173"/>
              <a:ext cx="0" cy="533400"/>
            </a:xfrm>
            <a:prstGeom prst="line">
              <a:avLst/>
            </a:prstGeom>
            <a:noFill/>
            <a:ln w="76200">
              <a:solidFill>
                <a:schemeClr val="tx1"/>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7" name="Line 16"/>
            <p:cNvSpPr>
              <a:spLocks noChangeShapeType="1"/>
            </p:cNvSpPr>
            <p:nvPr/>
          </p:nvSpPr>
          <p:spPr bwMode="auto">
            <a:xfrm>
              <a:off x="6038022" y="2048173"/>
              <a:ext cx="0" cy="1066800"/>
            </a:xfrm>
            <a:prstGeom prst="line">
              <a:avLst/>
            </a:prstGeom>
            <a:noFill/>
            <a:ln w="76200">
              <a:solidFill>
                <a:srgbClr val="B2B2B2"/>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sp>
          <p:nvSpPr>
            <p:cNvPr id="19" name="Line 18"/>
            <p:cNvSpPr>
              <a:spLocks noChangeShapeType="1"/>
            </p:cNvSpPr>
            <p:nvPr/>
          </p:nvSpPr>
          <p:spPr bwMode="auto">
            <a:xfrm>
              <a:off x="6038022" y="3114973"/>
              <a:ext cx="0" cy="407988"/>
            </a:xfrm>
            <a:prstGeom prst="line">
              <a:avLst/>
            </a:prstGeom>
            <a:noFill/>
            <a:ln w="76200">
              <a:solidFill>
                <a:schemeClr val="hlink"/>
              </a:solidFill>
              <a:round/>
              <a:headEnd/>
              <a:tailEnd/>
            </a:ln>
            <a:extLst>
              <a:ext uri="{909E8E84-426E-40dd-AFC4-6F175D3DCCD1}">
                <a14:hiddenFill xmlns="" xmlns:a14="http://schemas.microsoft.com/office/drawing/2010/main">
                  <a:noFill/>
                </a14:hiddenFill>
              </a:ext>
            </a:extLst>
          </p:spPr>
          <p:txBody>
            <a:bodyPr anchor="ctr"/>
            <a:lstStyle/>
            <a:p>
              <a:endParaRPr lang="en-US"/>
            </a:p>
          </p:txBody>
        </p:sp>
      </p:grpSp>
      <p:sp>
        <p:nvSpPr>
          <p:cNvPr id="20" name="Text Box 19"/>
          <p:cNvSpPr txBox="1">
            <a:spLocks noChangeArrowheads="1"/>
          </p:cNvSpPr>
          <p:nvPr/>
        </p:nvSpPr>
        <p:spPr bwMode="auto">
          <a:xfrm>
            <a:off x="5179717" y="2203004"/>
            <a:ext cx="109176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800" dirty="0">
                <a:solidFill>
                  <a:srgbClr val="B2B2B2"/>
                </a:solidFill>
                <a:latin typeface="Tahoma" charset="0"/>
              </a:rPr>
              <a:t>Listening</a:t>
            </a:r>
          </a:p>
        </p:txBody>
      </p:sp>
      <p:sp>
        <p:nvSpPr>
          <p:cNvPr id="21" name="Text Box 20"/>
          <p:cNvSpPr txBox="1">
            <a:spLocks noChangeArrowheads="1"/>
          </p:cNvSpPr>
          <p:nvPr/>
        </p:nvSpPr>
        <p:spPr bwMode="auto">
          <a:xfrm>
            <a:off x="4984333" y="3046914"/>
            <a:ext cx="4019557"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600" dirty="0">
                <a:solidFill>
                  <a:schemeClr val="hlink"/>
                </a:solidFill>
                <a:latin typeface="Tahoma" charset="0"/>
              </a:rPr>
              <a:t>Initialize a data structure in the memory </a:t>
            </a:r>
          </a:p>
        </p:txBody>
      </p:sp>
      <p:sp>
        <p:nvSpPr>
          <p:cNvPr id="22" name="Text Box 21"/>
          <p:cNvSpPr txBox="1">
            <a:spLocks noChangeArrowheads="1"/>
          </p:cNvSpPr>
          <p:nvPr/>
        </p:nvSpPr>
        <p:spPr bwMode="auto">
          <a:xfrm>
            <a:off x="6483282" y="4181773"/>
            <a:ext cx="7905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dirty="0">
                <a:solidFill>
                  <a:srgbClr val="FF9900"/>
                </a:solidFill>
                <a:latin typeface="Tahoma" charset="0"/>
              </a:rPr>
              <a:t>Wait</a:t>
            </a:r>
          </a:p>
        </p:txBody>
      </p:sp>
      <p:sp>
        <p:nvSpPr>
          <p:cNvPr id="23" name="Text Box 22"/>
          <p:cNvSpPr txBox="1">
            <a:spLocks noChangeArrowheads="1"/>
          </p:cNvSpPr>
          <p:nvPr/>
        </p:nvSpPr>
        <p:spPr bwMode="auto">
          <a:xfrm>
            <a:off x="6043687" y="5396145"/>
            <a:ext cx="16033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dirty="0">
                <a:latin typeface="Tahoma" charset="0"/>
              </a:rPr>
              <a:t>Connected</a:t>
            </a:r>
          </a:p>
        </p:txBody>
      </p:sp>
      <p:sp>
        <p:nvSpPr>
          <p:cNvPr id="24" name="Rectangle 23"/>
          <p:cNvSpPr/>
          <p:nvPr/>
        </p:nvSpPr>
        <p:spPr>
          <a:xfrm>
            <a:off x="5532948" y="3373022"/>
            <a:ext cx="2794952" cy="339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r>
              <a:rPr lang="en-US" sz="1400" dirty="0">
                <a:solidFill>
                  <a:schemeClr val="hlink"/>
                </a:solidFill>
                <a:latin typeface="Tahoma" charset="0"/>
              </a:rPr>
              <a:t>(IP1, Port1, TCP, </a:t>
            </a:r>
            <a:r>
              <a:rPr lang="en-US" sz="1400" dirty="0" err="1">
                <a:solidFill>
                  <a:schemeClr val="hlink"/>
                </a:solidFill>
                <a:latin typeface="Tahoma" charset="0"/>
              </a:rPr>
              <a:t>Seq</a:t>
            </a:r>
            <a:r>
              <a:rPr lang="en-US" sz="1400" dirty="0">
                <a:solidFill>
                  <a:schemeClr val="hlink"/>
                </a:solidFill>
                <a:latin typeface="Tahoma" charset="0"/>
              </a:rPr>
              <a:t>, </a:t>
            </a:r>
            <a:r>
              <a:rPr lang="en-US" sz="1400" dirty="0" err="1">
                <a:solidFill>
                  <a:schemeClr val="hlink"/>
                </a:solidFill>
                <a:latin typeface="Tahoma" charset="0"/>
              </a:rPr>
              <a:t>AcK</a:t>
            </a:r>
            <a:r>
              <a:rPr lang="en-US" sz="1400" dirty="0">
                <a:solidFill>
                  <a:schemeClr val="hlink"/>
                </a:solidFill>
                <a:latin typeface="Tahoma" charset="0"/>
              </a:rPr>
              <a:t>, …)</a:t>
            </a:r>
          </a:p>
        </p:txBody>
      </p:sp>
      <p:sp>
        <p:nvSpPr>
          <p:cNvPr id="27" name="Text Box 20"/>
          <p:cNvSpPr txBox="1">
            <a:spLocks noChangeArrowheads="1"/>
          </p:cNvSpPr>
          <p:nvPr/>
        </p:nvSpPr>
        <p:spPr bwMode="auto">
          <a:xfrm>
            <a:off x="5179717" y="5868542"/>
            <a:ext cx="35552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600" dirty="0">
                <a:latin typeface="Tahoma" charset="0"/>
              </a:rPr>
              <a:t>Update the data structure</a:t>
            </a:r>
          </a:p>
        </p:txBody>
      </p:sp>
    </p:spTree>
    <p:extLst>
      <p:ext uri="{BB962C8B-B14F-4D97-AF65-F5344CB8AC3E}">
        <p14:creationId xmlns:p14="http://schemas.microsoft.com/office/powerpoint/2010/main" val="939374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 Flood Attack</a:t>
            </a:r>
          </a:p>
        </p:txBody>
      </p:sp>
      <p:sp>
        <p:nvSpPr>
          <p:cNvPr id="4" name="Rectangle 3"/>
          <p:cNvSpPr/>
          <p:nvPr/>
        </p:nvSpPr>
        <p:spPr>
          <a:xfrm>
            <a:off x="7018462" y="2360968"/>
            <a:ext cx="1027536" cy="2134005"/>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pic>
        <p:nvPicPr>
          <p:cNvPr id="5" name="Picture 4" descr="images (2).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342" y="2983542"/>
            <a:ext cx="904401" cy="868857"/>
          </a:xfrm>
          <a:prstGeom prst="rect">
            <a:avLst/>
          </a:prstGeom>
        </p:spPr>
      </p:pic>
      <p:grpSp>
        <p:nvGrpSpPr>
          <p:cNvPr id="30" name="Group 29"/>
          <p:cNvGrpSpPr/>
          <p:nvPr/>
        </p:nvGrpSpPr>
        <p:grpSpPr>
          <a:xfrm>
            <a:off x="1097984" y="2564122"/>
            <a:ext cx="1152321" cy="1401150"/>
            <a:chOff x="1374766" y="2564122"/>
            <a:chExt cx="1152321" cy="1401150"/>
          </a:xfrm>
        </p:grpSpPr>
        <p:pic>
          <p:nvPicPr>
            <p:cNvPr id="6" name="Picture 5"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4766" y="2812951"/>
              <a:ext cx="1152321" cy="1152321"/>
            </a:xfrm>
            <a:prstGeom prst="rect">
              <a:avLst/>
            </a:prstGeom>
          </p:spPr>
        </p:pic>
        <p:sp>
          <p:nvSpPr>
            <p:cNvPr id="10" name="TextBox 9"/>
            <p:cNvSpPr txBox="1"/>
            <p:nvPr/>
          </p:nvSpPr>
          <p:spPr>
            <a:xfrm>
              <a:off x="1487103" y="2564122"/>
              <a:ext cx="479067" cy="369332"/>
            </a:xfrm>
            <a:prstGeom prst="rect">
              <a:avLst/>
            </a:prstGeom>
            <a:noFill/>
          </p:spPr>
          <p:txBody>
            <a:bodyPr wrap="none" rtlCol="0">
              <a:spAutoFit/>
            </a:bodyPr>
            <a:lstStyle/>
            <a:p>
              <a:r>
                <a:rPr lang="en-US" dirty="0"/>
                <a:t>IP1</a:t>
              </a:r>
            </a:p>
          </p:txBody>
        </p:sp>
      </p:grpSp>
      <p:sp>
        <p:nvSpPr>
          <p:cNvPr id="11" name="TextBox 10"/>
          <p:cNvSpPr txBox="1"/>
          <p:nvPr/>
        </p:nvSpPr>
        <p:spPr>
          <a:xfrm>
            <a:off x="5990926" y="2514967"/>
            <a:ext cx="870626" cy="369332"/>
          </a:xfrm>
          <a:prstGeom prst="rect">
            <a:avLst/>
          </a:prstGeom>
          <a:noFill/>
        </p:spPr>
        <p:txBody>
          <a:bodyPr wrap="none" rtlCol="0">
            <a:spAutoFit/>
          </a:bodyPr>
          <a:lstStyle/>
          <a:p>
            <a:r>
              <a:rPr lang="en-US" dirty="0"/>
              <a:t>IP, Port</a:t>
            </a:r>
          </a:p>
        </p:txBody>
      </p:sp>
      <p:sp>
        <p:nvSpPr>
          <p:cNvPr id="12" name="TextBox 11"/>
          <p:cNvSpPr txBox="1"/>
          <p:nvPr/>
        </p:nvSpPr>
        <p:spPr>
          <a:xfrm>
            <a:off x="5890342" y="3800294"/>
            <a:ext cx="787395" cy="369332"/>
          </a:xfrm>
          <a:prstGeom prst="rect">
            <a:avLst/>
          </a:prstGeom>
          <a:noFill/>
        </p:spPr>
        <p:txBody>
          <a:bodyPr wrap="none" rtlCol="0">
            <a:spAutoFit/>
          </a:bodyPr>
          <a:lstStyle/>
          <a:p>
            <a:r>
              <a:rPr lang="en-US" dirty="0"/>
              <a:t>Server</a:t>
            </a:r>
          </a:p>
        </p:txBody>
      </p:sp>
      <p:sp>
        <p:nvSpPr>
          <p:cNvPr id="13" name="Rectangle 12"/>
          <p:cNvSpPr/>
          <p:nvPr/>
        </p:nvSpPr>
        <p:spPr>
          <a:xfrm>
            <a:off x="7018462" y="4210801"/>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14" name="TextBox 13"/>
          <p:cNvSpPr txBox="1"/>
          <p:nvPr/>
        </p:nvSpPr>
        <p:spPr>
          <a:xfrm>
            <a:off x="6595145" y="1849381"/>
            <a:ext cx="1938001" cy="369332"/>
          </a:xfrm>
          <a:prstGeom prst="rect">
            <a:avLst/>
          </a:prstGeom>
          <a:noFill/>
        </p:spPr>
        <p:txBody>
          <a:bodyPr wrap="none" rtlCol="0">
            <a:spAutoFit/>
          </a:bodyPr>
          <a:lstStyle/>
          <a:p>
            <a:r>
              <a:rPr lang="en-US" dirty="0">
                <a:solidFill>
                  <a:srgbClr val="FF0000"/>
                </a:solidFill>
              </a:rPr>
              <a:t>Memory Filled Up!</a:t>
            </a:r>
          </a:p>
        </p:txBody>
      </p:sp>
      <p:sp>
        <p:nvSpPr>
          <p:cNvPr id="24" name="Rectangle 23"/>
          <p:cNvSpPr/>
          <p:nvPr/>
        </p:nvSpPr>
        <p:spPr>
          <a:xfrm>
            <a:off x="7018462" y="3901245"/>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25" name="Rectangle 24"/>
          <p:cNvSpPr/>
          <p:nvPr/>
        </p:nvSpPr>
        <p:spPr>
          <a:xfrm>
            <a:off x="7018462" y="3588434"/>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26" name="Rectangle 25"/>
          <p:cNvSpPr/>
          <p:nvPr/>
        </p:nvSpPr>
        <p:spPr>
          <a:xfrm>
            <a:off x="7018462" y="2933454"/>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cxnSp>
        <p:nvCxnSpPr>
          <p:cNvPr id="28" name="Straight Arrow Connector 27"/>
          <p:cNvCxnSpPr/>
          <p:nvPr/>
        </p:nvCxnSpPr>
        <p:spPr>
          <a:xfrm>
            <a:off x="2596872" y="2993852"/>
            <a:ext cx="288179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862638" y="2564122"/>
            <a:ext cx="2379715" cy="369332"/>
          </a:xfrm>
          <a:prstGeom prst="rect">
            <a:avLst/>
          </a:prstGeom>
          <a:noFill/>
        </p:spPr>
        <p:txBody>
          <a:bodyPr wrap="none" rtlCol="0">
            <a:spAutoFit/>
          </a:bodyPr>
          <a:lstStyle/>
          <a:p>
            <a:r>
              <a:rPr lang="en-US" dirty="0"/>
              <a:t>IP2, port1, IP, Port, SYN</a:t>
            </a:r>
          </a:p>
        </p:txBody>
      </p:sp>
      <p:cxnSp>
        <p:nvCxnSpPr>
          <p:cNvPr id="31" name="Straight Arrow Connector 30"/>
          <p:cNvCxnSpPr/>
          <p:nvPr/>
        </p:nvCxnSpPr>
        <p:spPr>
          <a:xfrm>
            <a:off x="2596872" y="3523088"/>
            <a:ext cx="288179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862638" y="3093358"/>
            <a:ext cx="2379715" cy="369332"/>
          </a:xfrm>
          <a:prstGeom prst="rect">
            <a:avLst/>
          </a:prstGeom>
          <a:noFill/>
        </p:spPr>
        <p:txBody>
          <a:bodyPr wrap="none" rtlCol="0">
            <a:spAutoFit/>
          </a:bodyPr>
          <a:lstStyle/>
          <a:p>
            <a:r>
              <a:rPr lang="en-US" dirty="0"/>
              <a:t>IP3, port3, IP, Port, SYN</a:t>
            </a:r>
          </a:p>
        </p:txBody>
      </p:sp>
      <p:cxnSp>
        <p:nvCxnSpPr>
          <p:cNvPr id="33" name="Straight Arrow Connector 32"/>
          <p:cNvCxnSpPr/>
          <p:nvPr/>
        </p:nvCxnSpPr>
        <p:spPr>
          <a:xfrm>
            <a:off x="2596872" y="4064592"/>
            <a:ext cx="288179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62638" y="3634862"/>
            <a:ext cx="2379715" cy="369332"/>
          </a:xfrm>
          <a:prstGeom prst="rect">
            <a:avLst/>
          </a:prstGeom>
          <a:noFill/>
        </p:spPr>
        <p:txBody>
          <a:bodyPr wrap="none" rtlCol="0">
            <a:spAutoFit/>
          </a:bodyPr>
          <a:lstStyle/>
          <a:p>
            <a:r>
              <a:rPr lang="en-US" dirty="0"/>
              <a:t>IP4, port4, IP, Port, SYN</a:t>
            </a:r>
          </a:p>
        </p:txBody>
      </p:sp>
      <p:sp>
        <p:nvSpPr>
          <p:cNvPr id="35" name="TextBox 34"/>
          <p:cNvSpPr txBox="1"/>
          <p:nvPr/>
        </p:nvSpPr>
        <p:spPr>
          <a:xfrm>
            <a:off x="2862638" y="4310307"/>
            <a:ext cx="2329221" cy="369332"/>
          </a:xfrm>
          <a:prstGeom prst="rect">
            <a:avLst/>
          </a:prstGeom>
          <a:noFill/>
        </p:spPr>
        <p:txBody>
          <a:bodyPr wrap="none" rtlCol="0">
            <a:spAutoFit/>
          </a:bodyPr>
          <a:lstStyle/>
          <a:p>
            <a:r>
              <a:rPr lang="en-US" dirty="0"/>
              <a:t>IPN, …….., IP, Port, SYN</a:t>
            </a:r>
          </a:p>
        </p:txBody>
      </p:sp>
      <p:sp>
        <p:nvSpPr>
          <p:cNvPr id="36" name="TextBox 35"/>
          <p:cNvSpPr txBox="1"/>
          <p:nvPr/>
        </p:nvSpPr>
        <p:spPr>
          <a:xfrm>
            <a:off x="7276727" y="3153756"/>
            <a:ext cx="518854" cy="369332"/>
          </a:xfrm>
          <a:prstGeom prst="rect">
            <a:avLst/>
          </a:prstGeom>
          <a:noFill/>
        </p:spPr>
        <p:txBody>
          <a:bodyPr wrap="none" rtlCol="0">
            <a:spAutoFit/>
          </a:bodyPr>
          <a:lstStyle/>
          <a:p>
            <a:r>
              <a:rPr lang="en-US" dirty="0"/>
              <a:t>……</a:t>
            </a:r>
          </a:p>
        </p:txBody>
      </p:sp>
      <p:sp>
        <p:nvSpPr>
          <p:cNvPr id="3" name="Rectangle 2"/>
          <p:cNvSpPr/>
          <p:nvPr/>
        </p:nvSpPr>
        <p:spPr>
          <a:xfrm>
            <a:off x="2862638" y="2514966"/>
            <a:ext cx="436958" cy="2164673"/>
          </a:xfrm>
          <a:prstGeom prst="rect">
            <a:avLst/>
          </a:prstGeom>
          <a:solidFill>
            <a:srgbClr val="FF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Line Callout 1 8"/>
          <p:cNvSpPr/>
          <p:nvPr/>
        </p:nvSpPr>
        <p:spPr>
          <a:xfrm>
            <a:off x="2189838" y="5365095"/>
            <a:ext cx="2434059" cy="374498"/>
          </a:xfrm>
          <a:prstGeom prst="borderCallout1">
            <a:avLst>
              <a:gd name="adj1" fmla="val -7337"/>
              <a:gd name="adj2" fmla="val 49861"/>
              <a:gd name="adj3" fmla="val -161413"/>
              <a:gd name="adj4" fmla="val 38590"/>
            </a:avLst>
          </a:prstGeom>
          <a:solidFill>
            <a:srgbClr val="FF0000">
              <a:alpha val="45000"/>
            </a:srgb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rgbClr val="000000"/>
                </a:solidFill>
              </a:rPr>
              <a:t>Spoofed Source IP addresses</a:t>
            </a:r>
          </a:p>
        </p:txBody>
      </p:sp>
      <p:sp>
        <p:nvSpPr>
          <p:cNvPr id="27" name="Rectangle 26"/>
          <p:cNvSpPr/>
          <p:nvPr/>
        </p:nvSpPr>
        <p:spPr>
          <a:xfrm>
            <a:off x="7018462" y="2616723"/>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37" name="Rectangle 36"/>
          <p:cNvSpPr/>
          <p:nvPr/>
        </p:nvSpPr>
        <p:spPr>
          <a:xfrm>
            <a:off x="7018462" y="2284164"/>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Tree>
    <p:extLst>
      <p:ext uri="{BB962C8B-B14F-4D97-AF65-F5344CB8AC3E}">
        <p14:creationId xmlns:p14="http://schemas.microsoft.com/office/powerpoint/2010/main" val="1542195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SYN Flood Attack</a:t>
            </a:r>
          </a:p>
        </p:txBody>
      </p:sp>
      <p:pic>
        <p:nvPicPr>
          <p:cNvPr id="12" name="Picture 11" descr="images (2).jpeg"/>
          <p:cNvPicPr>
            <a:picLocks noChangeAspect="1"/>
          </p:cNvPicPr>
          <p:nvPr/>
        </p:nvPicPr>
        <p:blipFill>
          <a:blip r:embed="rId2">
            <a:extLst>
              <a:ext uri="{BEBA8EAE-BF5A-486C-A8C5-ECC9F3942E4B}">
                <a14:imgProps xmlns:a14="http://schemas.microsoft.com/office/drawing/2010/main">
                  <a14:imgLayer r:embed="rId3">
                    <a14:imgEffect>
                      <a14:backgroundRemoval t="0" b="98182" l="2183" r="100000"/>
                    </a14:imgEffect>
                  </a14:imgLayer>
                </a14:imgProps>
              </a:ext>
              <a:ext uri="{28A0092B-C50C-407E-A947-70E740481C1C}">
                <a14:useLocalDpi xmlns:a14="http://schemas.microsoft.com/office/drawing/2010/main" val="0"/>
              </a:ext>
            </a:extLst>
          </a:blip>
          <a:stretch>
            <a:fillRect/>
          </a:stretch>
        </p:blipFill>
        <p:spPr>
          <a:xfrm>
            <a:off x="6606742" y="3545428"/>
            <a:ext cx="724892" cy="696403"/>
          </a:xfrm>
          <a:prstGeom prst="rect">
            <a:avLst/>
          </a:prstGeom>
        </p:spPr>
      </p:pic>
      <p:pic>
        <p:nvPicPr>
          <p:cNvPr id="13" name="Picture 12"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5403" y="1820849"/>
            <a:ext cx="576160" cy="576160"/>
          </a:xfrm>
          <a:prstGeom prst="rect">
            <a:avLst/>
          </a:prstGeom>
        </p:spPr>
      </p:pic>
      <p:pic>
        <p:nvPicPr>
          <p:cNvPr id="14" name="Picture 13"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3624" y="1973249"/>
            <a:ext cx="576160" cy="576160"/>
          </a:xfrm>
          <a:prstGeom prst="rect">
            <a:avLst/>
          </a:prstGeom>
        </p:spPr>
      </p:pic>
      <p:pic>
        <p:nvPicPr>
          <p:cNvPr id="15" name="Picture 14"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7105" y="2514689"/>
            <a:ext cx="576160" cy="576160"/>
          </a:xfrm>
          <a:prstGeom prst="rect">
            <a:avLst/>
          </a:prstGeom>
        </p:spPr>
      </p:pic>
      <p:pic>
        <p:nvPicPr>
          <p:cNvPr id="16" name="Picture 15"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3099" y="2533717"/>
            <a:ext cx="576160" cy="576160"/>
          </a:xfrm>
          <a:prstGeom prst="rect">
            <a:avLst/>
          </a:prstGeom>
        </p:spPr>
      </p:pic>
      <p:pic>
        <p:nvPicPr>
          <p:cNvPr id="17" name="Picture 16"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025" y="4724494"/>
            <a:ext cx="576160" cy="576160"/>
          </a:xfrm>
          <a:prstGeom prst="rect">
            <a:avLst/>
          </a:prstGeom>
        </p:spPr>
      </p:pic>
      <p:pic>
        <p:nvPicPr>
          <p:cNvPr id="18" name="Picture 17"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6614" y="5300654"/>
            <a:ext cx="576160" cy="576160"/>
          </a:xfrm>
          <a:prstGeom prst="rect">
            <a:avLst/>
          </a:prstGeom>
        </p:spPr>
      </p:pic>
      <p:pic>
        <p:nvPicPr>
          <p:cNvPr id="19" name="Picture 18" descr="th_laptop-icon.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323" y="4926833"/>
            <a:ext cx="576160" cy="576160"/>
          </a:xfrm>
          <a:prstGeom prst="rect">
            <a:avLst/>
          </a:prstGeom>
        </p:spPr>
      </p:pic>
      <p:sp>
        <p:nvSpPr>
          <p:cNvPr id="26" name="TextBox 25"/>
          <p:cNvSpPr txBox="1"/>
          <p:nvPr/>
        </p:nvSpPr>
        <p:spPr>
          <a:xfrm>
            <a:off x="6454419" y="3160356"/>
            <a:ext cx="870626" cy="369332"/>
          </a:xfrm>
          <a:prstGeom prst="rect">
            <a:avLst/>
          </a:prstGeom>
          <a:noFill/>
        </p:spPr>
        <p:txBody>
          <a:bodyPr wrap="none" rtlCol="0">
            <a:spAutoFit/>
          </a:bodyPr>
          <a:lstStyle/>
          <a:p>
            <a:r>
              <a:rPr lang="en-US" dirty="0"/>
              <a:t>IP, Port</a:t>
            </a:r>
          </a:p>
        </p:txBody>
      </p:sp>
      <p:grpSp>
        <p:nvGrpSpPr>
          <p:cNvPr id="27" name="Group 26"/>
          <p:cNvGrpSpPr/>
          <p:nvPr/>
        </p:nvGrpSpPr>
        <p:grpSpPr>
          <a:xfrm>
            <a:off x="1396614" y="2108929"/>
            <a:ext cx="5189183" cy="3479805"/>
            <a:chOff x="1396614" y="2108929"/>
            <a:chExt cx="6207599" cy="3479805"/>
          </a:xfrm>
        </p:grpSpPr>
        <p:cxnSp>
          <p:nvCxnSpPr>
            <p:cNvPr id="28" name="Straight Arrow Connector 27"/>
            <p:cNvCxnSpPr>
              <a:stCxn id="13" idx="3"/>
            </p:cNvCxnSpPr>
            <p:nvPr/>
          </p:nvCxnSpPr>
          <p:spPr>
            <a:xfrm>
              <a:off x="2881563" y="2108929"/>
              <a:ext cx="4417850" cy="1622514"/>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6" idx="3"/>
            </p:cNvCxnSpPr>
            <p:nvPr/>
          </p:nvCxnSpPr>
          <p:spPr>
            <a:xfrm>
              <a:off x="2959259" y="2821797"/>
              <a:ext cx="4492554" cy="1062046"/>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2017323" y="2397009"/>
              <a:ext cx="5434490" cy="1486834"/>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V="1">
              <a:off x="1396614" y="4036243"/>
              <a:ext cx="6207599" cy="1069141"/>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305403" y="4036243"/>
              <a:ext cx="5298810" cy="1221541"/>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8" idx="3"/>
            </p:cNvCxnSpPr>
            <p:nvPr/>
          </p:nvCxnSpPr>
          <p:spPr>
            <a:xfrm flipV="1">
              <a:off x="1972774" y="4036243"/>
              <a:ext cx="5631439" cy="1552491"/>
            </a:xfrm>
            <a:prstGeom prst="straightConnector1">
              <a:avLst/>
            </a:prstGeom>
            <a:ln w="31750">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34" name="TextBox 33"/>
          <p:cNvSpPr txBox="1"/>
          <p:nvPr/>
        </p:nvSpPr>
        <p:spPr>
          <a:xfrm rot="1411129">
            <a:off x="3101750" y="2382348"/>
            <a:ext cx="3109407" cy="369332"/>
          </a:xfrm>
          <a:prstGeom prst="rect">
            <a:avLst/>
          </a:prstGeom>
          <a:noFill/>
        </p:spPr>
        <p:txBody>
          <a:bodyPr wrap="none" rtlCol="0">
            <a:spAutoFit/>
          </a:bodyPr>
          <a:lstStyle/>
          <a:p>
            <a:r>
              <a:rPr lang="en-US" dirty="0" err="1"/>
              <a:t>Rnd_IP</a:t>
            </a:r>
            <a:r>
              <a:rPr lang="en-US" dirty="0"/>
              <a:t>, </a:t>
            </a:r>
            <a:r>
              <a:rPr lang="en-US" dirty="0" err="1"/>
              <a:t>Rnd_Port</a:t>
            </a:r>
            <a:r>
              <a:rPr lang="en-US" dirty="0"/>
              <a:t>, IP, Port, SYN</a:t>
            </a:r>
          </a:p>
        </p:txBody>
      </p:sp>
      <p:pic>
        <p:nvPicPr>
          <p:cNvPr id="35" name="Picture 34" descr="images (3).jpe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048" y="3731443"/>
            <a:ext cx="766977" cy="510388"/>
          </a:xfrm>
          <a:prstGeom prst="rect">
            <a:avLst/>
          </a:prstGeom>
        </p:spPr>
      </p:pic>
      <p:cxnSp>
        <p:nvCxnSpPr>
          <p:cNvPr id="36" name="Straight Connector 35"/>
          <p:cNvCxnSpPr/>
          <p:nvPr/>
        </p:nvCxnSpPr>
        <p:spPr>
          <a:xfrm flipV="1">
            <a:off x="804697" y="3039828"/>
            <a:ext cx="591917" cy="69161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957097" y="3039828"/>
            <a:ext cx="1426002" cy="84401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661138" y="2397009"/>
            <a:ext cx="735476" cy="12449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899367" y="4195211"/>
            <a:ext cx="79658" cy="52928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1012829" y="4063926"/>
            <a:ext cx="1112074" cy="855838"/>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07561" y="2253048"/>
            <a:ext cx="1938001" cy="369332"/>
          </a:xfrm>
          <a:prstGeom prst="rect">
            <a:avLst/>
          </a:prstGeom>
          <a:noFill/>
        </p:spPr>
        <p:txBody>
          <a:bodyPr wrap="none" rtlCol="0">
            <a:spAutoFit/>
          </a:bodyPr>
          <a:lstStyle/>
          <a:p>
            <a:r>
              <a:rPr lang="en-US" dirty="0">
                <a:solidFill>
                  <a:srgbClr val="FF0000"/>
                </a:solidFill>
              </a:rPr>
              <a:t>Memory Filled Up!</a:t>
            </a:r>
          </a:p>
        </p:txBody>
      </p:sp>
      <p:grpSp>
        <p:nvGrpSpPr>
          <p:cNvPr id="61" name="Group 60"/>
          <p:cNvGrpSpPr/>
          <p:nvPr/>
        </p:nvGrpSpPr>
        <p:grpSpPr>
          <a:xfrm>
            <a:off x="7422736" y="2742577"/>
            <a:ext cx="1027536" cy="2210809"/>
            <a:chOff x="7748362" y="2543712"/>
            <a:chExt cx="1027536" cy="2210809"/>
          </a:xfrm>
        </p:grpSpPr>
        <p:sp>
          <p:nvSpPr>
            <p:cNvPr id="52" name="Rectangle 51"/>
            <p:cNvSpPr/>
            <p:nvPr/>
          </p:nvSpPr>
          <p:spPr>
            <a:xfrm>
              <a:off x="7748362" y="2620516"/>
              <a:ext cx="1027536" cy="2134005"/>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53" name="Rectangle 52"/>
            <p:cNvSpPr/>
            <p:nvPr/>
          </p:nvSpPr>
          <p:spPr>
            <a:xfrm>
              <a:off x="7748362" y="4470349"/>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55" name="Rectangle 54"/>
            <p:cNvSpPr/>
            <p:nvPr/>
          </p:nvSpPr>
          <p:spPr>
            <a:xfrm>
              <a:off x="7748362" y="4160793"/>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56" name="Rectangle 55"/>
            <p:cNvSpPr/>
            <p:nvPr/>
          </p:nvSpPr>
          <p:spPr>
            <a:xfrm>
              <a:off x="7748362" y="3847982"/>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57" name="Rectangle 56"/>
            <p:cNvSpPr/>
            <p:nvPr/>
          </p:nvSpPr>
          <p:spPr>
            <a:xfrm>
              <a:off x="7748362" y="3193002"/>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58" name="TextBox 57"/>
            <p:cNvSpPr txBox="1"/>
            <p:nvPr/>
          </p:nvSpPr>
          <p:spPr>
            <a:xfrm>
              <a:off x="8006627" y="3413304"/>
              <a:ext cx="518854" cy="369332"/>
            </a:xfrm>
            <a:prstGeom prst="rect">
              <a:avLst/>
            </a:prstGeom>
            <a:noFill/>
          </p:spPr>
          <p:txBody>
            <a:bodyPr wrap="none" rtlCol="0">
              <a:spAutoFit/>
            </a:bodyPr>
            <a:lstStyle/>
            <a:p>
              <a:r>
                <a:rPr lang="en-US" dirty="0"/>
                <a:t>……</a:t>
              </a:r>
            </a:p>
          </p:txBody>
        </p:sp>
        <p:sp>
          <p:nvSpPr>
            <p:cNvPr id="59" name="Rectangle 58"/>
            <p:cNvSpPr/>
            <p:nvPr/>
          </p:nvSpPr>
          <p:spPr>
            <a:xfrm>
              <a:off x="7748362" y="2876271"/>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sp>
          <p:nvSpPr>
            <p:cNvPr id="60" name="Rectangle 59"/>
            <p:cNvSpPr/>
            <p:nvPr/>
          </p:nvSpPr>
          <p:spPr>
            <a:xfrm>
              <a:off x="7748362" y="2543712"/>
              <a:ext cx="1027536" cy="28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20000"/>
                </a:spcBef>
                <a:buClr>
                  <a:schemeClr val="accent2"/>
                </a:buClr>
              </a:pPr>
              <a:endParaRPr lang="en-US" dirty="0">
                <a:solidFill>
                  <a:schemeClr val="hlink"/>
                </a:solidFill>
                <a:latin typeface="Tahoma" charset="0"/>
              </a:endParaRPr>
            </a:p>
          </p:txBody>
        </p:sp>
      </p:grpSp>
    </p:spTree>
    <p:extLst>
      <p:ext uri="{BB962C8B-B14F-4D97-AF65-F5344CB8AC3E}">
        <p14:creationId xmlns:p14="http://schemas.microsoft.com/office/powerpoint/2010/main" val="283894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 Cookies</a:t>
            </a:r>
          </a:p>
        </p:txBody>
      </p:sp>
      <p:sp>
        <p:nvSpPr>
          <p:cNvPr id="3" name="Content Placeholder 2"/>
          <p:cNvSpPr>
            <a:spLocks noGrp="1"/>
          </p:cNvSpPr>
          <p:nvPr>
            <p:ph idx="1"/>
          </p:nvPr>
        </p:nvSpPr>
        <p:spPr>
          <a:xfrm>
            <a:off x="457200" y="1164771"/>
            <a:ext cx="8229600" cy="1121229"/>
          </a:xfrm>
        </p:spPr>
        <p:txBody>
          <a:bodyPr>
            <a:normAutofit fontScale="85000" lnSpcReduction="20000"/>
          </a:bodyPr>
          <a:lstStyle/>
          <a:p>
            <a:r>
              <a:rPr lang="en-GB" dirty="0">
                <a:latin typeface="Tahoma" charset="0"/>
              </a:rPr>
              <a:t>General idea</a:t>
            </a:r>
          </a:p>
          <a:p>
            <a:pPr lvl="1"/>
            <a:r>
              <a:rPr lang="en-US" dirty="0"/>
              <a:t>Delay the initialization of the data structure to the third packet in the 3-way handshake</a:t>
            </a:r>
          </a:p>
        </p:txBody>
      </p:sp>
      <p:sp>
        <p:nvSpPr>
          <p:cNvPr id="29" name="Text Box 6"/>
          <p:cNvSpPr txBox="1">
            <a:spLocks noChangeArrowheads="1"/>
          </p:cNvSpPr>
          <p:nvPr/>
        </p:nvSpPr>
        <p:spPr bwMode="auto">
          <a:xfrm>
            <a:off x="87569" y="2354019"/>
            <a:ext cx="161245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400" dirty="0">
                <a:latin typeface="Tahoma" charset="0"/>
              </a:rPr>
              <a:t>Client (IP1, Port1)</a:t>
            </a:r>
          </a:p>
        </p:txBody>
      </p:sp>
      <p:sp>
        <p:nvSpPr>
          <p:cNvPr id="30" name="Text Box 7"/>
          <p:cNvSpPr txBox="1">
            <a:spLocks noChangeArrowheads="1"/>
          </p:cNvSpPr>
          <p:nvPr/>
        </p:nvSpPr>
        <p:spPr bwMode="auto">
          <a:xfrm>
            <a:off x="1919398" y="2354019"/>
            <a:ext cx="167451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400" dirty="0">
                <a:latin typeface="Tahoma" charset="0"/>
              </a:rPr>
              <a:t>Server (IP2, Port2)</a:t>
            </a:r>
          </a:p>
        </p:txBody>
      </p:sp>
      <p:sp>
        <p:nvSpPr>
          <p:cNvPr id="31" name="Text Box 8"/>
          <p:cNvSpPr txBox="1">
            <a:spLocks noChangeArrowheads="1"/>
          </p:cNvSpPr>
          <p:nvPr/>
        </p:nvSpPr>
        <p:spPr bwMode="auto">
          <a:xfrm>
            <a:off x="1274078" y="2992719"/>
            <a:ext cx="10935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SYN  (</a:t>
            </a:r>
            <a:r>
              <a:rPr lang="en-US" sz="1200" dirty="0" err="1">
                <a:latin typeface="Tahoma" charset="0"/>
              </a:rPr>
              <a:t>seq</a:t>
            </a:r>
            <a:r>
              <a:rPr lang="en-US" sz="1200" dirty="0">
                <a:latin typeface="Tahoma" charset="0"/>
              </a:rPr>
              <a:t>=x)</a:t>
            </a:r>
          </a:p>
        </p:txBody>
      </p:sp>
      <p:sp>
        <p:nvSpPr>
          <p:cNvPr id="32" name="Text Box 9"/>
          <p:cNvSpPr txBox="1">
            <a:spLocks noChangeArrowheads="1"/>
          </p:cNvSpPr>
          <p:nvPr/>
        </p:nvSpPr>
        <p:spPr bwMode="auto">
          <a:xfrm>
            <a:off x="1122939" y="3762605"/>
            <a:ext cx="1286317"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SYN-ACK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=x+1 </a:t>
            </a:r>
            <a:r>
              <a:rPr lang="en-US" sz="1100" dirty="0" err="1">
                <a:latin typeface="Tahoma" charset="0"/>
              </a:rPr>
              <a:t>seq</a:t>
            </a:r>
            <a:r>
              <a:rPr lang="en-US" sz="1100" dirty="0">
                <a:latin typeface="Tahoma" charset="0"/>
              </a:rPr>
              <a:t>=y)</a:t>
            </a:r>
            <a:endParaRPr lang="en-US" sz="1100" baseline="-25000" dirty="0">
              <a:latin typeface="Tahoma" charset="0"/>
            </a:endParaRPr>
          </a:p>
        </p:txBody>
      </p:sp>
      <p:sp>
        <p:nvSpPr>
          <p:cNvPr id="33" name="Text Box 10"/>
          <p:cNvSpPr txBox="1">
            <a:spLocks noChangeArrowheads="1"/>
          </p:cNvSpPr>
          <p:nvPr/>
        </p:nvSpPr>
        <p:spPr bwMode="auto">
          <a:xfrm>
            <a:off x="1005372" y="4732898"/>
            <a:ext cx="1464576"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=y+1,seq=x+1)</a:t>
            </a:r>
            <a:endParaRPr lang="en-US" sz="1100" baseline="-25000" dirty="0">
              <a:latin typeface="Tahoma" charset="0"/>
            </a:endParaRPr>
          </a:p>
        </p:txBody>
      </p:sp>
      <p:grpSp>
        <p:nvGrpSpPr>
          <p:cNvPr id="34" name="Group 33"/>
          <p:cNvGrpSpPr/>
          <p:nvPr/>
        </p:nvGrpSpPr>
        <p:grpSpPr>
          <a:xfrm>
            <a:off x="893796" y="2785802"/>
            <a:ext cx="1755062" cy="3372963"/>
            <a:chOff x="1256652" y="1861251"/>
            <a:chExt cx="3168858" cy="4038600"/>
          </a:xfrm>
        </p:grpSpPr>
        <p:sp>
          <p:nvSpPr>
            <p:cNvPr id="35" name="Line 3"/>
            <p:cNvSpPr>
              <a:spLocks noChangeShapeType="1"/>
            </p:cNvSpPr>
            <p:nvPr/>
          </p:nvSpPr>
          <p:spPr bwMode="auto">
            <a:xfrm>
              <a:off x="1256652" y="2242251"/>
              <a:ext cx="3154927" cy="689573"/>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36" name="Line 4"/>
            <p:cNvSpPr>
              <a:spLocks noChangeShapeType="1"/>
            </p:cNvSpPr>
            <p:nvPr/>
          </p:nvSpPr>
          <p:spPr bwMode="auto">
            <a:xfrm>
              <a:off x="1256652" y="4604451"/>
              <a:ext cx="3154927" cy="68580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37" name="Line 5"/>
            <p:cNvSpPr>
              <a:spLocks noChangeShapeType="1"/>
            </p:cNvSpPr>
            <p:nvPr/>
          </p:nvSpPr>
          <p:spPr bwMode="auto">
            <a:xfrm flipH="1">
              <a:off x="1256652" y="3360101"/>
              <a:ext cx="3154927" cy="78715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grpSp>
          <p:nvGrpSpPr>
            <p:cNvPr id="38" name="Group 37"/>
            <p:cNvGrpSpPr/>
            <p:nvPr/>
          </p:nvGrpSpPr>
          <p:grpSpPr>
            <a:xfrm>
              <a:off x="1256652" y="1861251"/>
              <a:ext cx="0" cy="4038600"/>
              <a:chOff x="1880359" y="1971973"/>
              <a:chExt cx="0" cy="4038600"/>
            </a:xfrm>
          </p:grpSpPr>
          <p:sp>
            <p:nvSpPr>
              <p:cNvPr id="44" name="Line 13"/>
              <p:cNvSpPr>
                <a:spLocks noChangeShapeType="1"/>
              </p:cNvSpPr>
              <p:nvPr/>
            </p:nvSpPr>
            <p:spPr bwMode="auto">
              <a:xfrm>
                <a:off x="1880359" y="2352973"/>
                <a:ext cx="0" cy="1905000"/>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5" name="Line 14"/>
              <p:cNvSpPr>
                <a:spLocks noChangeShapeType="1"/>
              </p:cNvSpPr>
              <p:nvPr/>
            </p:nvSpPr>
            <p:spPr bwMode="auto">
              <a:xfrm>
                <a:off x="1880359" y="4715173"/>
                <a:ext cx="0" cy="129540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6" name="Line 15"/>
              <p:cNvSpPr>
                <a:spLocks noChangeShapeType="1"/>
              </p:cNvSpPr>
              <p:nvPr/>
            </p:nvSpPr>
            <p:spPr bwMode="auto">
              <a:xfrm>
                <a:off x="1880359" y="4257973"/>
                <a:ext cx="0" cy="45720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7" name="Line 17"/>
              <p:cNvSpPr>
                <a:spLocks noChangeShapeType="1"/>
              </p:cNvSpPr>
              <p:nvPr/>
            </p:nvSpPr>
            <p:spPr bwMode="auto">
              <a:xfrm>
                <a:off x="1880359" y="1971973"/>
                <a:ext cx="0" cy="381000"/>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grpSp>
        <p:grpSp>
          <p:nvGrpSpPr>
            <p:cNvPr id="39" name="Group 38"/>
            <p:cNvGrpSpPr/>
            <p:nvPr/>
          </p:nvGrpSpPr>
          <p:grpSpPr>
            <a:xfrm>
              <a:off x="4425510" y="1861251"/>
              <a:ext cx="0" cy="3962400"/>
              <a:chOff x="6038022" y="2048173"/>
              <a:chExt cx="0" cy="3962400"/>
            </a:xfrm>
          </p:grpSpPr>
          <p:sp>
            <p:nvSpPr>
              <p:cNvPr id="40" name="Line 11"/>
              <p:cNvSpPr>
                <a:spLocks noChangeShapeType="1"/>
              </p:cNvSpPr>
              <p:nvPr/>
            </p:nvSpPr>
            <p:spPr bwMode="auto">
              <a:xfrm>
                <a:off x="6038022" y="3495973"/>
                <a:ext cx="0" cy="1981200"/>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1" name="Line 12"/>
              <p:cNvSpPr>
                <a:spLocks noChangeShapeType="1"/>
              </p:cNvSpPr>
              <p:nvPr/>
            </p:nvSpPr>
            <p:spPr bwMode="auto">
              <a:xfrm>
                <a:off x="6038022" y="5477173"/>
                <a:ext cx="0" cy="53340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2" name="Line 16"/>
              <p:cNvSpPr>
                <a:spLocks noChangeShapeType="1"/>
              </p:cNvSpPr>
              <p:nvPr/>
            </p:nvSpPr>
            <p:spPr bwMode="auto">
              <a:xfrm>
                <a:off x="6038022" y="2048173"/>
                <a:ext cx="0" cy="1066800"/>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43" name="Line 18"/>
              <p:cNvSpPr>
                <a:spLocks noChangeShapeType="1"/>
              </p:cNvSpPr>
              <p:nvPr/>
            </p:nvSpPr>
            <p:spPr bwMode="auto">
              <a:xfrm>
                <a:off x="6038022" y="3114973"/>
                <a:ext cx="0" cy="407988"/>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grpSp>
      </p:grpSp>
      <p:sp>
        <p:nvSpPr>
          <p:cNvPr id="48" name="Rectangle 47"/>
          <p:cNvSpPr/>
          <p:nvPr/>
        </p:nvSpPr>
        <p:spPr>
          <a:xfrm>
            <a:off x="2739736" y="3438715"/>
            <a:ext cx="1959264" cy="339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r>
              <a:rPr lang="en-US" sz="1050" dirty="0">
                <a:solidFill>
                  <a:schemeClr val="hlink"/>
                </a:solidFill>
                <a:latin typeface="Tahoma" charset="0"/>
              </a:rPr>
              <a:t>(IP1, Port1, TCP, </a:t>
            </a:r>
            <a:r>
              <a:rPr lang="en-US" sz="1050" dirty="0" err="1">
                <a:solidFill>
                  <a:schemeClr val="hlink"/>
                </a:solidFill>
                <a:latin typeface="Tahoma" charset="0"/>
              </a:rPr>
              <a:t>Seq</a:t>
            </a:r>
            <a:r>
              <a:rPr lang="en-US" sz="1050" dirty="0">
                <a:solidFill>
                  <a:schemeClr val="hlink"/>
                </a:solidFill>
                <a:latin typeface="Tahoma" charset="0"/>
              </a:rPr>
              <a:t>, </a:t>
            </a:r>
            <a:r>
              <a:rPr lang="en-US" sz="1050" dirty="0" err="1">
                <a:solidFill>
                  <a:schemeClr val="hlink"/>
                </a:solidFill>
                <a:latin typeface="Tahoma" charset="0"/>
              </a:rPr>
              <a:t>Ack</a:t>
            </a:r>
            <a:r>
              <a:rPr lang="en-US" sz="1050" dirty="0">
                <a:solidFill>
                  <a:schemeClr val="hlink"/>
                </a:solidFill>
                <a:latin typeface="Tahoma" charset="0"/>
              </a:rPr>
              <a:t>, …)</a:t>
            </a:r>
          </a:p>
        </p:txBody>
      </p:sp>
      <p:sp>
        <p:nvSpPr>
          <p:cNvPr id="49" name="Text Box 6"/>
          <p:cNvSpPr txBox="1">
            <a:spLocks noChangeArrowheads="1"/>
          </p:cNvSpPr>
          <p:nvPr/>
        </p:nvSpPr>
        <p:spPr bwMode="auto">
          <a:xfrm>
            <a:off x="4443552" y="2365350"/>
            <a:ext cx="161245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400" dirty="0">
                <a:latin typeface="Tahoma" charset="0"/>
              </a:rPr>
              <a:t>Client (IP1, Port1)</a:t>
            </a:r>
          </a:p>
        </p:txBody>
      </p:sp>
      <p:sp>
        <p:nvSpPr>
          <p:cNvPr id="50" name="Text Box 7"/>
          <p:cNvSpPr txBox="1">
            <a:spLocks noChangeArrowheads="1"/>
          </p:cNvSpPr>
          <p:nvPr/>
        </p:nvSpPr>
        <p:spPr bwMode="auto">
          <a:xfrm>
            <a:off x="6275381" y="2365350"/>
            <a:ext cx="167451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400" dirty="0">
                <a:latin typeface="Tahoma" charset="0"/>
              </a:rPr>
              <a:t>Server (IP2, Port2)</a:t>
            </a:r>
          </a:p>
        </p:txBody>
      </p:sp>
      <p:sp>
        <p:nvSpPr>
          <p:cNvPr id="51" name="Text Box 8"/>
          <p:cNvSpPr txBox="1">
            <a:spLocks noChangeArrowheads="1"/>
          </p:cNvSpPr>
          <p:nvPr/>
        </p:nvSpPr>
        <p:spPr bwMode="auto">
          <a:xfrm>
            <a:off x="5630061" y="3004050"/>
            <a:ext cx="10935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SYN  (</a:t>
            </a:r>
            <a:r>
              <a:rPr lang="en-US" sz="1200" dirty="0" err="1">
                <a:latin typeface="Tahoma" charset="0"/>
              </a:rPr>
              <a:t>seq</a:t>
            </a:r>
            <a:r>
              <a:rPr lang="en-US" sz="1200" dirty="0">
                <a:latin typeface="Tahoma" charset="0"/>
              </a:rPr>
              <a:t>=x)</a:t>
            </a:r>
          </a:p>
        </p:txBody>
      </p:sp>
      <p:sp>
        <p:nvSpPr>
          <p:cNvPr id="52" name="Text Box 9"/>
          <p:cNvSpPr txBox="1">
            <a:spLocks noChangeArrowheads="1"/>
          </p:cNvSpPr>
          <p:nvPr/>
        </p:nvSpPr>
        <p:spPr bwMode="auto">
          <a:xfrm>
            <a:off x="5478922" y="3773936"/>
            <a:ext cx="1286317"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SYN-ACK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=x+1 </a:t>
            </a:r>
            <a:r>
              <a:rPr lang="en-US" sz="1100" dirty="0" err="1">
                <a:latin typeface="Tahoma" charset="0"/>
              </a:rPr>
              <a:t>seq</a:t>
            </a:r>
            <a:r>
              <a:rPr lang="en-US" sz="1100" dirty="0">
                <a:latin typeface="Tahoma" charset="0"/>
              </a:rPr>
              <a:t>=y)</a:t>
            </a:r>
            <a:endParaRPr lang="en-US" sz="1100" baseline="-25000" dirty="0">
              <a:latin typeface="Tahoma" charset="0"/>
            </a:endParaRPr>
          </a:p>
        </p:txBody>
      </p:sp>
      <p:sp>
        <p:nvSpPr>
          <p:cNvPr id="53" name="Text Box 10"/>
          <p:cNvSpPr txBox="1">
            <a:spLocks noChangeArrowheads="1"/>
          </p:cNvSpPr>
          <p:nvPr/>
        </p:nvSpPr>
        <p:spPr bwMode="auto">
          <a:xfrm>
            <a:off x="5361355" y="4744229"/>
            <a:ext cx="1464576"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=y+1,seq=x+1)</a:t>
            </a:r>
            <a:endParaRPr lang="en-US" sz="1100" baseline="-25000" dirty="0">
              <a:latin typeface="Tahoma" charset="0"/>
            </a:endParaRPr>
          </a:p>
        </p:txBody>
      </p:sp>
      <p:grpSp>
        <p:nvGrpSpPr>
          <p:cNvPr id="54" name="Group 53"/>
          <p:cNvGrpSpPr/>
          <p:nvPr/>
        </p:nvGrpSpPr>
        <p:grpSpPr>
          <a:xfrm>
            <a:off x="5249779" y="2797133"/>
            <a:ext cx="1755062" cy="3372963"/>
            <a:chOff x="1256652" y="1861251"/>
            <a:chExt cx="3168858" cy="4038600"/>
          </a:xfrm>
        </p:grpSpPr>
        <p:sp>
          <p:nvSpPr>
            <p:cNvPr id="55" name="Line 3"/>
            <p:cNvSpPr>
              <a:spLocks noChangeShapeType="1"/>
            </p:cNvSpPr>
            <p:nvPr/>
          </p:nvSpPr>
          <p:spPr bwMode="auto">
            <a:xfrm>
              <a:off x="1256652" y="2242251"/>
              <a:ext cx="3154927" cy="689573"/>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56" name="Line 4"/>
            <p:cNvSpPr>
              <a:spLocks noChangeShapeType="1"/>
            </p:cNvSpPr>
            <p:nvPr/>
          </p:nvSpPr>
          <p:spPr bwMode="auto">
            <a:xfrm>
              <a:off x="1256652" y="4604451"/>
              <a:ext cx="3154927" cy="68580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57" name="Line 5"/>
            <p:cNvSpPr>
              <a:spLocks noChangeShapeType="1"/>
            </p:cNvSpPr>
            <p:nvPr/>
          </p:nvSpPr>
          <p:spPr bwMode="auto">
            <a:xfrm flipH="1">
              <a:off x="1256652" y="3360101"/>
              <a:ext cx="3154927" cy="78715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grpSp>
          <p:nvGrpSpPr>
            <p:cNvPr id="58" name="Group 57"/>
            <p:cNvGrpSpPr/>
            <p:nvPr/>
          </p:nvGrpSpPr>
          <p:grpSpPr>
            <a:xfrm>
              <a:off x="1256652" y="1861251"/>
              <a:ext cx="0" cy="4038600"/>
              <a:chOff x="1880359" y="1971973"/>
              <a:chExt cx="0" cy="4038600"/>
            </a:xfrm>
          </p:grpSpPr>
          <p:sp>
            <p:nvSpPr>
              <p:cNvPr id="64" name="Line 13"/>
              <p:cNvSpPr>
                <a:spLocks noChangeShapeType="1"/>
              </p:cNvSpPr>
              <p:nvPr/>
            </p:nvSpPr>
            <p:spPr bwMode="auto">
              <a:xfrm>
                <a:off x="1880359" y="2352973"/>
                <a:ext cx="0" cy="1905000"/>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5" name="Line 14"/>
              <p:cNvSpPr>
                <a:spLocks noChangeShapeType="1"/>
              </p:cNvSpPr>
              <p:nvPr/>
            </p:nvSpPr>
            <p:spPr bwMode="auto">
              <a:xfrm>
                <a:off x="1880359" y="4715173"/>
                <a:ext cx="0" cy="129540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6" name="Line 15"/>
              <p:cNvSpPr>
                <a:spLocks noChangeShapeType="1"/>
              </p:cNvSpPr>
              <p:nvPr/>
            </p:nvSpPr>
            <p:spPr bwMode="auto">
              <a:xfrm>
                <a:off x="1880359" y="4257973"/>
                <a:ext cx="0" cy="457200"/>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7" name="Line 17"/>
              <p:cNvSpPr>
                <a:spLocks noChangeShapeType="1"/>
              </p:cNvSpPr>
              <p:nvPr/>
            </p:nvSpPr>
            <p:spPr bwMode="auto">
              <a:xfrm>
                <a:off x="1880359" y="1971973"/>
                <a:ext cx="0" cy="381000"/>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grpSp>
        <p:grpSp>
          <p:nvGrpSpPr>
            <p:cNvPr id="59" name="Group 58"/>
            <p:cNvGrpSpPr/>
            <p:nvPr/>
          </p:nvGrpSpPr>
          <p:grpSpPr>
            <a:xfrm>
              <a:off x="4425510" y="1861251"/>
              <a:ext cx="0" cy="3962400"/>
              <a:chOff x="6038022" y="2048173"/>
              <a:chExt cx="0" cy="3962400"/>
            </a:xfrm>
          </p:grpSpPr>
          <p:sp>
            <p:nvSpPr>
              <p:cNvPr id="60" name="Line 11"/>
              <p:cNvSpPr>
                <a:spLocks noChangeShapeType="1"/>
              </p:cNvSpPr>
              <p:nvPr/>
            </p:nvSpPr>
            <p:spPr bwMode="auto">
              <a:xfrm>
                <a:off x="6038022" y="3495973"/>
                <a:ext cx="0" cy="1981200"/>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1" name="Line 12"/>
              <p:cNvSpPr>
                <a:spLocks noChangeShapeType="1"/>
              </p:cNvSpPr>
              <p:nvPr/>
            </p:nvSpPr>
            <p:spPr bwMode="auto">
              <a:xfrm>
                <a:off x="6038022" y="5477173"/>
                <a:ext cx="0" cy="533400"/>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2" name="Line 16"/>
              <p:cNvSpPr>
                <a:spLocks noChangeShapeType="1"/>
              </p:cNvSpPr>
              <p:nvPr/>
            </p:nvSpPr>
            <p:spPr bwMode="auto">
              <a:xfrm>
                <a:off x="6038022" y="2048173"/>
                <a:ext cx="0" cy="1066800"/>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3" name="Line 18"/>
              <p:cNvSpPr>
                <a:spLocks noChangeShapeType="1"/>
              </p:cNvSpPr>
              <p:nvPr/>
            </p:nvSpPr>
            <p:spPr bwMode="auto">
              <a:xfrm>
                <a:off x="6038022" y="3114973"/>
                <a:ext cx="0" cy="407988"/>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grpSp>
      </p:grpSp>
      <p:sp>
        <p:nvSpPr>
          <p:cNvPr id="68" name="Rectangle 67"/>
          <p:cNvSpPr/>
          <p:nvPr/>
        </p:nvSpPr>
        <p:spPr>
          <a:xfrm>
            <a:off x="7095719" y="5491271"/>
            <a:ext cx="1959264" cy="339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r>
              <a:rPr lang="en-US" sz="1050" dirty="0">
                <a:solidFill>
                  <a:schemeClr val="hlink"/>
                </a:solidFill>
                <a:latin typeface="Tahoma" charset="0"/>
              </a:rPr>
              <a:t>(IP1, Port1, TCP, </a:t>
            </a:r>
            <a:r>
              <a:rPr lang="en-US" sz="1050" dirty="0" err="1">
                <a:solidFill>
                  <a:schemeClr val="hlink"/>
                </a:solidFill>
                <a:latin typeface="Tahoma" charset="0"/>
              </a:rPr>
              <a:t>Seq</a:t>
            </a:r>
            <a:r>
              <a:rPr lang="en-US" sz="1050" dirty="0">
                <a:solidFill>
                  <a:schemeClr val="hlink"/>
                </a:solidFill>
                <a:latin typeface="Tahoma" charset="0"/>
              </a:rPr>
              <a:t>, </a:t>
            </a:r>
            <a:r>
              <a:rPr lang="en-US" sz="1050" dirty="0" err="1">
                <a:solidFill>
                  <a:schemeClr val="hlink"/>
                </a:solidFill>
                <a:latin typeface="Tahoma" charset="0"/>
              </a:rPr>
              <a:t>Ack</a:t>
            </a:r>
            <a:r>
              <a:rPr lang="en-US" sz="1050" dirty="0">
                <a:solidFill>
                  <a:schemeClr val="hlink"/>
                </a:solidFill>
                <a:latin typeface="Tahoma" charset="0"/>
              </a:rPr>
              <a:t>, …)</a:t>
            </a:r>
          </a:p>
        </p:txBody>
      </p:sp>
      <p:sp>
        <p:nvSpPr>
          <p:cNvPr id="69" name="Right Arrow 68"/>
          <p:cNvSpPr/>
          <p:nvPr/>
        </p:nvSpPr>
        <p:spPr>
          <a:xfrm>
            <a:off x="3663409" y="4454010"/>
            <a:ext cx="843643" cy="290219"/>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837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 Cookies</a:t>
            </a:r>
          </a:p>
        </p:txBody>
      </p:sp>
      <p:sp>
        <p:nvSpPr>
          <p:cNvPr id="49" name="Text Box 6"/>
          <p:cNvSpPr txBox="1">
            <a:spLocks noChangeArrowheads="1"/>
          </p:cNvSpPr>
          <p:nvPr/>
        </p:nvSpPr>
        <p:spPr bwMode="auto">
          <a:xfrm>
            <a:off x="330881" y="1303399"/>
            <a:ext cx="140848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Client (IP1, Port1)</a:t>
            </a:r>
          </a:p>
        </p:txBody>
      </p:sp>
      <p:sp>
        <p:nvSpPr>
          <p:cNvPr id="50" name="Text Box 7"/>
          <p:cNvSpPr txBox="1">
            <a:spLocks noChangeArrowheads="1"/>
          </p:cNvSpPr>
          <p:nvPr/>
        </p:nvSpPr>
        <p:spPr bwMode="auto">
          <a:xfrm>
            <a:off x="2050074" y="1299765"/>
            <a:ext cx="146168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Server (IP2, Port2)</a:t>
            </a:r>
          </a:p>
        </p:txBody>
      </p:sp>
      <p:sp>
        <p:nvSpPr>
          <p:cNvPr id="51" name="Text Box 8"/>
          <p:cNvSpPr txBox="1">
            <a:spLocks noChangeArrowheads="1"/>
          </p:cNvSpPr>
          <p:nvPr/>
        </p:nvSpPr>
        <p:spPr bwMode="auto">
          <a:xfrm>
            <a:off x="1415406" y="1927191"/>
            <a:ext cx="10935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SYN  (</a:t>
            </a:r>
            <a:r>
              <a:rPr lang="en-US" sz="1200" dirty="0" err="1">
                <a:latin typeface="Tahoma" charset="0"/>
              </a:rPr>
              <a:t>seq</a:t>
            </a:r>
            <a:r>
              <a:rPr lang="en-US" sz="1200" dirty="0">
                <a:latin typeface="Tahoma" charset="0"/>
              </a:rPr>
              <a:t>=x)</a:t>
            </a:r>
          </a:p>
        </p:txBody>
      </p:sp>
      <p:sp>
        <p:nvSpPr>
          <p:cNvPr id="52" name="Text Box 9"/>
          <p:cNvSpPr txBox="1">
            <a:spLocks noChangeArrowheads="1"/>
          </p:cNvSpPr>
          <p:nvPr/>
        </p:nvSpPr>
        <p:spPr bwMode="auto">
          <a:xfrm>
            <a:off x="1264267" y="2697077"/>
            <a:ext cx="1286317"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SYN-ACK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=x+1 </a:t>
            </a:r>
            <a:r>
              <a:rPr lang="en-US" sz="1100" dirty="0" err="1">
                <a:latin typeface="Tahoma" charset="0"/>
              </a:rPr>
              <a:t>seq</a:t>
            </a:r>
            <a:r>
              <a:rPr lang="en-US" sz="1100" dirty="0">
                <a:latin typeface="Tahoma" charset="0"/>
              </a:rPr>
              <a:t>=y)</a:t>
            </a:r>
            <a:endParaRPr lang="en-US" sz="1100" baseline="-25000" dirty="0">
              <a:latin typeface="Tahoma" charset="0"/>
            </a:endParaRPr>
          </a:p>
        </p:txBody>
      </p:sp>
      <p:sp>
        <p:nvSpPr>
          <p:cNvPr id="55" name="Line 3"/>
          <p:cNvSpPr>
            <a:spLocks noChangeShapeType="1"/>
          </p:cNvSpPr>
          <p:nvPr/>
        </p:nvSpPr>
        <p:spPr bwMode="auto">
          <a:xfrm>
            <a:off x="1035124" y="2038478"/>
            <a:ext cx="1747346" cy="575918"/>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57" name="Line 5"/>
          <p:cNvSpPr>
            <a:spLocks noChangeShapeType="1"/>
          </p:cNvSpPr>
          <p:nvPr/>
        </p:nvSpPr>
        <p:spPr bwMode="auto">
          <a:xfrm flipH="1">
            <a:off x="1035124" y="2972085"/>
            <a:ext cx="1747346" cy="657413"/>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64" name="Line 13"/>
          <p:cNvSpPr>
            <a:spLocks noChangeShapeType="1"/>
          </p:cNvSpPr>
          <p:nvPr/>
        </p:nvSpPr>
        <p:spPr bwMode="auto">
          <a:xfrm>
            <a:off x="1035124" y="2038478"/>
            <a:ext cx="0" cy="1591020"/>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7" name="Line 17"/>
          <p:cNvSpPr>
            <a:spLocks noChangeShapeType="1"/>
          </p:cNvSpPr>
          <p:nvPr/>
        </p:nvSpPr>
        <p:spPr bwMode="auto">
          <a:xfrm>
            <a:off x="1035124" y="1720274"/>
            <a:ext cx="0" cy="318204"/>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2" name="Line 16"/>
          <p:cNvSpPr>
            <a:spLocks noChangeShapeType="1"/>
          </p:cNvSpPr>
          <p:nvPr/>
        </p:nvSpPr>
        <p:spPr bwMode="auto">
          <a:xfrm>
            <a:off x="2790186" y="1720274"/>
            <a:ext cx="0" cy="890971"/>
          </a:xfrm>
          <a:prstGeom prst="line">
            <a:avLst/>
          </a:prstGeom>
          <a:noFill/>
          <a:ln w="76200">
            <a:solidFill>
              <a:srgbClr val="B2B2B2"/>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3" name="Line 18"/>
          <p:cNvSpPr>
            <a:spLocks noChangeShapeType="1"/>
          </p:cNvSpPr>
          <p:nvPr/>
        </p:nvSpPr>
        <p:spPr bwMode="auto">
          <a:xfrm>
            <a:off x="2790186" y="2611245"/>
            <a:ext cx="0" cy="340744"/>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grpSp>
        <p:nvGrpSpPr>
          <p:cNvPr id="6" name="Group 5"/>
          <p:cNvGrpSpPr/>
          <p:nvPr/>
        </p:nvGrpSpPr>
        <p:grpSpPr>
          <a:xfrm>
            <a:off x="3114307" y="2561144"/>
            <a:ext cx="5430837" cy="672453"/>
            <a:chOff x="1572306" y="3020559"/>
            <a:chExt cx="7262812" cy="789977"/>
          </a:xfrm>
        </p:grpSpPr>
        <p:sp>
          <p:nvSpPr>
            <p:cNvPr id="70" name="AutoShape 4"/>
            <p:cNvSpPr>
              <a:spLocks noChangeArrowheads="1"/>
            </p:cNvSpPr>
            <p:nvPr/>
          </p:nvSpPr>
          <p:spPr bwMode="auto">
            <a:xfrm>
              <a:off x="1572306" y="3025321"/>
              <a:ext cx="7262812" cy="522288"/>
            </a:xfrm>
            <a:prstGeom prst="roundRect">
              <a:avLst>
                <a:gd name="adj" fmla="val 273"/>
              </a:avLst>
            </a:prstGeom>
            <a:solidFill>
              <a:srgbClr val="00B8FF"/>
            </a:solidFill>
            <a:ln w="9360">
              <a:solidFill>
                <a:srgbClr val="000000"/>
              </a:solidFill>
              <a:round/>
              <a:headEnd/>
              <a:tailEnd/>
            </a:ln>
          </p:spPr>
          <p:txBody>
            <a:bodyPr wrap="none" anchor="ctr"/>
            <a:lstStyle/>
            <a:p>
              <a:endParaRPr lang="en-US"/>
            </a:p>
          </p:txBody>
        </p:sp>
        <p:sp>
          <p:nvSpPr>
            <p:cNvPr id="71" name="AutoShape 5"/>
            <p:cNvSpPr>
              <a:spLocks noChangeArrowheads="1"/>
            </p:cNvSpPr>
            <p:nvPr/>
          </p:nvSpPr>
          <p:spPr bwMode="auto">
            <a:xfrm>
              <a:off x="1707242" y="3161846"/>
              <a:ext cx="987997" cy="206093"/>
            </a:xfrm>
            <a:prstGeom prst="roundRect">
              <a:avLst>
                <a:gd name="adj" fmla="val 606"/>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4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200" dirty="0">
                  <a:solidFill>
                    <a:srgbClr val="000000"/>
                  </a:solidFill>
                  <a:latin typeface="Courier New" charset="0"/>
                </a:rPr>
                <a:t>t mod 32</a:t>
              </a:r>
            </a:p>
          </p:txBody>
        </p:sp>
        <p:sp>
          <p:nvSpPr>
            <p:cNvPr id="73" name="AutoShape 9"/>
            <p:cNvSpPr>
              <a:spLocks noChangeArrowheads="1"/>
            </p:cNvSpPr>
            <p:nvPr/>
          </p:nvSpPr>
          <p:spPr bwMode="auto">
            <a:xfrm>
              <a:off x="1908009" y="3608922"/>
              <a:ext cx="393700" cy="201614"/>
            </a:xfrm>
            <a:prstGeom prst="roundRect">
              <a:avLst>
                <a:gd name="adj" fmla="val 755"/>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3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400" dirty="0">
                  <a:solidFill>
                    <a:srgbClr val="000000"/>
                  </a:solidFill>
                  <a:latin typeface="Times New Roman" charset="0"/>
                </a:rPr>
                <a:t>5 bits</a:t>
              </a:r>
            </a:p>
          </p:txBody>
        </p:sp>
        <p:sp>
          <p:nvSpPr>
            <p:cNvPr id="74" name="Line 10"/>
            <p:cNvSpPr>
              <a:spLocks noChangeShapeType="1"/>
            </p:cNvSpPr>
            <p:nvPr/>
          </p:nvSpPr>
          <p:spPr bwMode="auto">
            <a:xfrm>
              <a:off x="2808968" y="3020559"/>
              <a:ext cx="1588" cy="522287"/>
            </a:xfrm>
            <a:prstGeom prst="line">
              <a:avLst/>
            </a:prstGeom>
            <a:noFill/>
            <a:ln w="936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 name="AutoShape 11"/>
            <p:cNvSpPr>
              <a:spLocks noChangeArrowheads="1"/>
            </p:cNvSpPr>
            <p:nvPr/>
          </p:nvSpPr>
          <p:spPr bwMode="auto">
            <a:xfrm>
              <a:off x="3013756" y="3161846"/>
              <a:ext cx="370499" cy="206093"/>
            </a:xfrm>
            <a:prstGeom prst="roundRect">
              <a:avLst>
                <a:gd name="adj" fmla="val 606"/>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4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200" dirty="0">
                  <a:solidFill>
                    <a:srgbClr val="000000"/>
                  </a:solidFill>
                  <a:latin typeface="Courier New" charset="0"/>
                </a:rPr>
                <a:t>MSS</a:t>
              </a:r>
            </a:p>
          </p:txBody>
        </p:sp>
        <p:sp>
          <p:nvSpPr>
            <p:cNvPr id="76" name="Line 12"/>
            <p:cNvSpPr>
              <a:spLocks noChangeShapeType="1"/>
            </p:cNvSpPr>
            <p:nvPr/>
          </p:nvSpPr>
          <p:spPr bwMode="auto">
            <a:xfrm>
              <a:off x="3528106" y="3020559"/>
              <a:ext cx="1587" cy="522287"/>
            </a:xfrm>
            <a:prstGeom prst="line">
              <a:avLst/>
            </a:prstGeom>
            <a:noFill/>
            <a:ln w="936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 name="AutoShape 14"/>
            <p:cNvSpPr>
              <a:spLocks noChangeArrowheads="1"/>
            </p:cNvSpPr>
            <p:nvPr/>
          </p:nvSpPr>
          <p:spPr bwMode="auto">
            <a:xfrm>
              <a:off x="2953364" y="3604704"/>
              <a:ext cx="393700" cy="201614"/>
            </a:xfrm>
            <a:prstGeom prst="roundRect">
              <a:avLst>
                <a:gd name="adj" fmla="val 755"/>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3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400" dirty="0">
                  <a:solidFill>
                    <a:srgbClr val="000000"/>
                  </a:solidFill>
                  <a:latin typeface="Times New Roman" charset="0"/>
                </a:rPr>
                <a:t>3 bits</a:t>
              </a:r>
            </a:p>
          </p:txBody>
        </p:sp>
        <p:sp>
          <p:nvSpPr>
            <p:cNvPr id="79" name="AutoShape 15"/>
            <p:cNvSpPr>
              <a:spLocks noChangeArrowheads="1"/>
            </p:cNvSpPr>
            <p:nvPr/>
          </p:nvSpPr>
          <p:spPr bwMode="auto">
            <a:xfrm>
              <a:off x="3634468" y="3161846"/>
              <a:ext cx="5145816" cy="206093"/>
            </a:xfrm>
            <a:prstGeom prst="roundRect">
              <a:avLst>
                <a:gd name="adj" fmla="val 481"/>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4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200" dirty="0">
                  <a:solidFill>
                    <a:srgbClr val="000000"/>
                  </a:solidFill>
                  <a:latin typeface="Courier New" charset="0"/>
                </a:rPr>
                <a:t>Cookie=HMAC(t, N</a:t>
              </a:r>
              <a:r>
                <a:rPr lang="en-GB" sz="1200" baseline="-33000" dirty="0">
                  <a:solidFill>
                    <a:srgbClr val="000000"/>
                  </a:solidFill>
                  <a:latin typeface="Courier New" charset="0"/>
                </a:rPr>
                <a:t>s</a:t>
              </a:r>
              <a:r>
                <a:rPr lang="en-GB" sz="1200" dirty="0">
                  <a:solidFill>
                    <a:srgbClr val="000000"/>
                  </a:solidFill>
                  <a:latin typeface="Courier New" charset="0"/>
                </a:rPr>
                <a:t>, SIP, </a:t>
              </a:r>
              <a:r>
                <a:rPr lang="en-GB" sz="1200" dirty="0" err="1">
                  <a:solidFill>
                    <a:srgbClr val="000000"/>
                  </a:solidFill>
                  <a:latin typeface="Courier New" charset="0"/>
                </a:rPr>
                <a:t>SPort</a:t>
              </a:r>
              <a:r>
                <a:rPr lang="en-GB" sz="1200" dirty="0">
                  <a:solidFill>
                    <a:srgbClr val="000000"/>
                  </a:solidFill>
                  <a:latin typeface="Courier New" charset="0"/>
                </a:rPr>
                <a:t>, DIP, </a:t>
              </a:r>
              <a:r>
                <a:rPr lang="en-GB" sz="1200" dirty="0" err="1">
                  <a:solidFill>
                    <a:srgbClr val="000000"/>
                  </a:solidFill>
                  <a:latin typeface="Courier New" charset="0"/>
                </a:rPr>
                <a:t>DPort</a:t>
              </a:r>
              <a:r>
                <a:rPr lang="en-GB" sz="1200" dirty="0">
                  <a:solidFill>
                    <a:srgbClr val="000000"/>
                  </a:solidFill>
                  <a:latin typeface="Courier New" charset="0"/>
                </a:rPr>
                <a:t>)</a:t>
              </a:r>
            </a:p>
          </p:txBody>
        </p:sp>
      </p:grpSp>
      <p:sp>
        <p:nvSpPr>
          <p:cNvPr id="80" name="Rectangle 3"/>
          <p:cNvSpPr txBox="1">
            <a:spLocks noChangeArrowheads="1"/>
          </p:cNvSpPr>
          <p:nvPr/>
        </p:nvSpPr>
        <p:spPr>
          <a:xfrm>
            <a:off x="2914038" y="3401396"/>
            <a:ext cx="5892758" cy="809906"/>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7813" inden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200" b="1" dirty="0">
                <a:solidFill>
                  <a:srgbClr val="FF0000"/>
                </a:solidFill>
                <a:latin typeface="Tahoma" charset="0"/>
              </a:rPr>
              <a:t>t mod 32:</a:t>
            </a:r>
            <a:r>
              <a:rPr lang="en-GB" sz="1200" dirty="0">
                <a:latin typeface="Tahoma" charset="0"/>
              </a:rPr>
              <a:t> t is a slowly increasing timestamp maintained by the server, ensuring sequence numbers increase every 64 seconds</a:t>
            </a:r>
          </a:p>
          <a:p>
            <a:pPr marL="277813" inden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200" b="1" dirty="0">
                <a:solidFill>
                  <a:srgbClr val="FF0000"/>
                </a:solidFill>
                <a:latin typeface="Tahoma" charset="0"/>
              </a:rPr>
              <a:t>MSS:</a:t>
            </a:r>
            <a:r>
              <a:rPr lang="en-GB" sz="1200" dirty="0">
                <a:latin typeface="Tahoma" charset="0"/>
              </a:rPr>
              <a:t> encoding of server MSS (maximum segment size)</a:t>
            </a:r>
          </a:p>
          <a:p>
            <a:pPr marL="277813" inden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200" b="1" dirty="0">
                <a:solidFill>
                  <a:srgbClr val="FF0000"/>
                </a:solidFill>
                <a:latin typeface="Tahoma" charset="0"/>
              </a:rPr>
              <a:t>Cookie:</a:t>
            </a:r>
            <a:r>
              <a:rPr lang="en-GB" sz="1200" dirty="0">
                <a:latin typeface="Tahoma" charset="0"/>
              </a:rPr>
              <a:t> easy to create and validate, hard to forge</a:t>
            </a:r>
          </a:p>
        </p:txBody>
      </p:sp>
      <p:sp>
        <p:nvSpPr>
          <p:cNvPr id="10" name="TextBox 9"/>
          <p:cNvSpPr txBox="1"/>
          <p:nvPr/>
        </p:nvSpPr>
        <p:spPr>
          <a:xfrm>
            <a:off x="3943151" y="4513512"/>
            <a:ext cx="3791738" cy="584776"/>
          </a:xfrm>
          <a:prstGeom prst="rect">
            <a:avLst/>
          </a:prstGeom>
          <a:noFill/>
        </p:spPr>
        <p:txBody>
          <a:bodyPr wrap="square" rtlCol="0">
            <a:spAutoFit/>
          </a:bodyPr>
          <a:lstStyle/>
          <a:p>
            <a:r>
              <a:rPr lang="en-US" sz="1600" b="1" dirty="0">
                <a:solidFill>
                  <a:srgbClr val="FF0000"/>
                </a:solidFill>
              </a:rPr>
              <a:t>No resource is invested in the server side to maintain the state of this connection!! </a:t>
            </a:r>
          </a:p>
        </p:txBody>
      </p:sp>
    </p:spTree>
    <p:extLst>
      <p:ext uri="{BB962C8B-B14F-4D97-AF65-F5344CB8AC3E}">
        <p14:creationId xmlns:p14="http://schemas.microsoft.com/office/powerpoint/2010/main" val="32719489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 Cookies</a:t>
            </a:r>
          </a:p>
        </p:txBody>
      </p:sp>
      <p:sp>
        <p:nvSpPr>
          <p:cNvPr id="49" name="Text Box 6"/>
          <p:cNvSpPr txBox="1">
            <a:spLocks noChangeArrowheads="1"/>
          </p:cNvSpPr>
          <p:nvPr/>
        </p:nvSpPr>
        <p:spPr bwMode="auto">
          <a:xfrm>
            <a:off x="125747" y="1970262"/>
            <a:ext cx="140848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Client (IP1, Port1)</a:t>
            </a:r>
          </a:p>
        </p:txBody>
      </p:sp>
      <p:sp>
        <p:nvSpPr>
          <p:cNvPr id="50" name="Text Box 7"/>
          <p:cNvSpPr txBox="1">
            <a:spLocks noChangeArrowheads="1"/>
          </p:cNvSpPr>
          <p:nvPr/>
        </p:nvSpPr>
        <p:spPr bwMode="auto">
          <a:xfrm>
            <a:off x="1854210" y="1167998"/>
            <a:ext cx="146168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200" dirty="0">
                <a:latin typeface="Tahoma" charset="0"/>
              </a:rPr>
              <a:t>Server (IP2, Port2)</a:t>
            </a:r>
          </a:p>
        </p:txBody>
      </p:sp>
      <p:sp>
        <p:nvSpPr>
          <p:cNvPr id="53" name="Text Box 10"/>
          <p:cNvSpPr txBox="1">
            <a:spLocks noChangeArrowheads="1"/>
          </p:cNvSpPr>
          <p:nvPr/>
        </p:nvSpPr>
        <p:spPr bwMode="auto">
          <a:xfrm>
            <a:off x="1079909" y="2402740"/>
            <a:ext cx="1187889" cy="464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1100" dirty="0">
                <a:latin typeface="Tahoma" charset="0"/>
              </a:rPr>
              <a:t>ACK</a:t>
            </a:r>
          </a:p>
          <a:p>
            <a:pPr algn="ctr">
              <a:spcBef>
                <a:spcPct val="20000"/>
              </a:spcBef>
              <a:buClr>
                <a:schemeClr val="accent2"/>
              </a:buClr>
            </a:pPr>
            <a:r>
              <a:rPr lang="en-US" sz="1100" dirty="0">
                <a:latin typeface="Tahoma" charset="0"/>
              </a:rPr>
              <a:t>(</a:t>
            </a:r>
            <a:r>
              <a:rPr lang="en-US" sz="1100" dirty="0" err="1">
                <a:latin typeface="Tahoma" charset="0"/>
              </a:rPr>
              <a:t>ack</a:t>
            </a:r>
            <a:r>
              <a:rPr lang="en-US" sz="1100" dirty="0">
                <a:latin typeface="Tahoma" charset="0"/>
              </a:rPr>
              <a:t>=K, </a:t>
            </a:r>
            <a:r>
              <a:rPr lang="en-US" sz="1100" dirty="0" err="1">
                <a:latin typeface="Tahoma" charset="0"/>
              </a:rPr>
              <a:t>seq</a:t>
            </a:r>
            <a:r>
              <a:rPr lang="en-US" sz="1100" dirty="0">
                <a:latin typeface="Tahoma" charset="0"/>
              </a:rPr>
              <a:t>=D)</a:t>
            </a:r>
            <a:endParaRPr lang="en-US" sz="1100" baseline="-25000" dirty="0">
              <a:latin typeface="Tahoma" charset="0"/>
            </a:endParaRPr>
          </a:p>
        </p:txBody>
      </p:sp>
      <p:sp>
        <p:nvSpPr>
          <p:cNvPr id="56" name="Line 4"/>
          <p:cNvSpPr>
            <a:spLocks noChangeShapeType="1"/>
          </p:cNvSpPr>
          <p:nvPr/>
        </p:nvSpPr>
        <p:spPr bwMode="auto">
          <a:xfrm>
            <a:off x="829990" y="2746713"/>
            <a:ext cx="1747346" cy="572767"/>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65" name="Line 14"/>
          <p:cNvSpPr>
            <a:spLocks noChangeShapeType="1"/>
          </p:cNvSpPr>
          <p:nvPr/>
        </p:nvSpPr>
        <p:spPr bwMode="auto">
          <a:xfrm>
            <a:off x="829990" y="2746713"/>
            <a:ext cx="0" cy="1081894"/>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6" name="Line 15"/>
          <p:cNvSpPr>
            <a:spLocks noChangeShapeType="1"/>
          </p:cNvSpPr>
          <p:nvPr/>
        </p:nvSpPr>
        <p:spPr bwMode="auto">
          <a:xfrm>
            <a:off x="829990" y="2364868"/>
            <a:ext cx="0" cy="381845"/>
          </a:xfrm>
          <a:prstGeom prst="line">
            <a:avLst/>
          </a:prstGeom>
          <a:noFill/>
          <a:ln w="76200">
            <a:solidFill>
              <a:schemeClr val="hlink"/>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0" name="Line 11"/>
          <p:cNvSpPr>
            <a:spLocks noChangeShapeType="1"/>
          </p:cNvSpPr>
          <p:nvPr/>
        </p:nvSpPr>
        <p:spPr bwMode="auto">
          <a:xfrm>
            <a:off x="2585052" y="1664819"/>
            <a:ext cx="0" cy="1654661"/>
          </a:xfrm>
          <a:prstGeom prst="line">
            <a:avLst/>
          </a:prstGeom>
          <a:noFill/>
          <a:ln w="76200">
            <a:solidFill>
              <a:srgbClr val="FF9900"/>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1" name="Line 12"/>
          <p:cNvSpPr>
            <a:spLocks noChangeShapeType="1"/>
          </p:cNvSpPr>
          <p:nvPr/>
        </p:nvSpPr>
        <p:spPr bwMode="auto">
          <a:xfrm>
            <a:off x="2585052" y="3319480"/>
            <a:ext cx="0" cy="445486"/>
          </a:xfrm>
          <a:prstGeom prst="line">
            <a:avLst/>
          </a:prstGeom>
          <a:noFill/>
          <a:ln w="76200">
            <a:solidFill>
              <a:schemeClr val="tx1"/>
            </a:solidFill>
            <a:round/>
            <a:headEnd/>
            <a:tailEnd/>
          </a:ln>
          <a:extLst>
            <a:ext uri="{909E8E84-426E-40dd-AFC4-6F175D3DCCD1}">
              <a14:hiddenFill xmlns:a14="http://schemas.microsoft.com/office/drawing/2010/main" xmlns="">
                <a:noFill/>
              </a14:hiddenFill>
            </a:ext>
          </a:extLst>
        </p:spPr>
        <p:txBody>
          <a:bodyPr anchor="ctr"/>
          <a:lstStyle/>
          <a:p>
            <a:endParaRPr lang="en-US"/>
          </a:p>
        </p:txBody>
      </p:sp>
      <p:sp>
        <p:nvSpPr>
          <p:cNvPr id="68" name="Rectangle 67"/>
          <p:cNvSpPr/>
          <p:nvPr/>
        </p:nvSpPr>
        <p:spPr>
          <a:xfrm>
            <a:off x="2828356" y="5814955"/>
            <a:ext cx="1959264" cy="3393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2"/>
              </a:buClr>
            </a:pPr>
            <a:r>
              <a:rPr lang="en-US" sz="1050" dirty="0">
                <a:solidFill>
                  <a:schemeClr val="hlink"/>
                </a:solidFill>
                <a:latin typeface="Tahoma" charset="0"/>
              </a:rPr>
              <a:t>(IP1, Port1, TCP, </a:t>
            </a:r>
            <a:r>
              <a:rPr lang="en-US" sz="1050" dirty="0" err="1">
                <a:solidFill>
                  <a:schemeClr val="hlink"/>
                </a:solidFill>
                <a:latin typeface="Tahoma" charset="0"/>
              </a:rPr>
              <a:t>Seq</a:t>
            </a:r>
            <a:r>
              <a:rPr lang="en-US" sz="1050" dirty="0">
                <a:solidFill>
                  <a:schemeClr val="hlink"/>
                </a:solidFill>
                <a:latin typeface="Tahoma" charset="0"/>
              </a:rPr>
              <a:t>, </a:t>
            </a:r>
            <a:r>
              <a:rPr lang="en-US" sz="1050" dirty="0" err="1">
                <a:solidFill>
                  <a:schemeClr val="hlink"/>
                </a:solidFill>
                <a:latin typeface="Tahoma" charset="0"/>
              </a:rPr>
              <a:t>Ack</a:t>
            </a:r>
            <a:r>
              <a:rPr lang="en-US" sz="1050" dirty="0">
                <a:solidFill>
                  <a:schemeClr val="hlink"/>
                </a:solidFill>
                <a:latin typeface="Tahoma" charset="0"/>
              </a:rPr>
              <a:t>, …)</a:t>
            </a:r>
          </a:p>
        </p:txBody>
      </p:sp>
      <p:sp>
        <p:nvSpPr>
          <p:cNvPr id="31" name="Content Placeholder 2"/>
          <p:cNvSpPr>
            <a:spLocks noGrp="1"/>
          </p:cNvSpPr>
          <p:nvPr>
            <p:ph idx="1"/>
          </p:nvPr>
        </p:nvSpPr>
        <p:spPr>
          <a:xfrm>
            <a:off x="4950868" y="3329900"/>
            <a:ext cx="769383" cy="282984"/>
          </a:xfrm>
        </p:spPr>
        <p:txBody>
          <a:bodyPr>
            <a:normAutofit fontScale="92500" lnSpcReduction="10000"/>
          </a:bodyPr>
          <a:lstStyle/>
          <a:p>
            <a:pPr marL="0" indent="0">
              <a:buNone/>
            </a:pPr>
            <a:r>
              <a:rPr lang="en-US" sz="1400" dirty="0">
                <a:latin typeface="Tahoma" charset="0"/>
              </a:rPr>
              <a:t>K – 1 </a:t>
            </a:r>
            <a:endParaRPr lang="en-GB" sz="1100" dirty="0">
              <a:latin typeface="Tahoma" charset="0"/>
            </a:endParaRPr>
          </a:p>
          <a:p>
            <a:endParaRPr lang="en-US" sz="1400" dirty="0"/>
          </a:p>
        </p:txBody>
      </p:sp>
      <p:grpSp>
        <p:nvGrpSpPr>
          <p:cNvPr id="32" name="Group 31"/>
          <p:cNvGrpSpPr/>
          <p:nvPr/>
        </p:nvGrpSpPr>
        <p:grpSpPr>
          <a:xfrm>
            <a:off x="3026737" y="3897386"/>
            <a:ext cx="5430837" cy="448642"/>
            <a:chOff x="1572306" y="3020559"/>
            <a:chExt cx="7262812" cy="527050"/>
          </a:xfrm>
        </p:grpSpPr>
        <p:sp>
          <p:nvSpPr>
            <p:cNvPr id="33" name="AutoShape 4"/>
            <p:cNvSpPr>
              <a:spLocks noChangeArrowheads="1"/>
            </p:cNvSpPr>
            <p:nvPr/>
          </p:nvSpPr>
          <p:spPr bwMode="auto">
            <a:xfrm>
              <a:off x="1572306" y="3025321"/>
              <a:ext cx="7262812" cy="522288"/>
            </a:xfrm>
            <a:prstGeom prst="roundRect">
              <a:avLst>
                <a:gd name="adj" fmla="val 273"/>
              </a:avLst>
            </a:prstGeom>
            <a:solidFill>
              <a:srgbClr val="00B8FF"/>
            </a:solidFill>
            <a:ln w="9360">
              <a:solidFill>
                <a:srgbClr val="000000"/>
              </a:solidFill>
              <a:round/>
              <a:headEnd/>
              <a:tailEnd/>
            </a:ln>
          </p:spPr>
          <p:txBody>
            <a:bodyPr wrap="none" anchor="ctr"/>
            <a:lstStyle/>
            <a:p>
              <a:endParaRPr lang="en-US"/>
            </a:p>
          </p:txBody>
        </p:sp>
        <p:sp>
          <p:nvSpPr>
            <p:cNvPr id="35" name="AutoShape 9"/>
            <p:cNvSpPr>
              <a:spLocks noChangeArrowheads="1"/>
            </p:cNvSpPr>
            <p:nvPr/>
          </p:nvSpPr>
          <p:spPr bwMode="auto">
            <a:xfrm>
              <a:off x="1971408" y="3171729"/>
              <a:ext cx="393700" cy="201614"/>
            </a:xfrm>
            <a:prstGeom prst="roundRect">
              <a:avLst>
                <a:gd name="adj" fmla="val 755"/>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3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400" dirty="0">
                  <a:solidFill>
                    <a:srgbClr val="000000"/>
                  </a:solidFill>
                  <a:latin typeface="Times New Roman" charset="0"/>
                </a:rPr>
                <a:t>5 bits</a:t>
              </a:r>
            </a:p>
          </p:txBody>
        </p:sp>
        <p:sp>
          <p:nvSpPr>
            <p:cNvPr id="36" name="Line 10"/>
            <p:cNvSpPr>
              <a:spLocks noChangeShapeType="1"/>
            </p:cNvSpPr>
            <p:nvPr/>
          </p:nvSpPr>
          <p:spPr bwMode="auto">
            <a:xfrm>
              <a:off x="2808968" y="3020559"/>
              <a:ext cx="1588" cy="522287"/>
            </a:xfrm>
            <a:prstGeom prst="line">
              <a:avLst/>
            </a:prstGeom>
            <a:noFill/>
            <a:ln w="936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 name="Line 12"/>
            <p:cNvSpPr>
              <a:spLocks noChangeShapeType="1"/>
            </p:cNvSpPr>
            <p:nvPr/>
          </p:nvSpPr>
          <p:spPr bwMode="auto">
            <a:xfrm>
              <a:off x="3528106" y="3020559"/>
              <a:ext cx="1587" cy="522287"/>
            </a:xfrm>
            <a:prstGeom prst="line">
              <a:avLst/>
            </a:prstGeom>
            <a:noFill/>
            <a:ln w="936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 name="AutoShape 14"/>
            <p:cNvSpPr>
              <a:spLocks noChangeArrowheads="1"/>
            </p:cNvSpPr>
            <p:nvPr/>
          </p:nvSpPr>
          <p:spPr bwMode="auto">
            <a:xfrm>
              <a:off x="2916172" y="3171729"/>
              <a:ext cx="393700" cy="201614"/>
            </a:xfrm>
            <a:prstGeom prst="roundRect">
              <a:avLst>
                <a:gd name="adj" fmla="val 755"/>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3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400" dirty="0">
                  <a:solidFill>
                    <a:srgbClr val="000000"/>
                  </a:solidFill>
                  <a:latin typeface="Times New Roman" charset="0"/>
                </a:rPr>
                <a:t>3 bits</a:t>
              </a:r>
            </a:p>
          </p:txBody>
        </p:sp>
      </p:grpSp>
      <p:sp>
        <p:nvSpPr>
          <p:cNvPr id="41" name="AutoShape 14"/>
          <p:cNvSpPr>
            <a:spLocks noChangeArrowheads="1"/>
          </p:cNvSpPr>
          <p:nvPr/>
        </p:nvSpPr>
        <p:spPr bwMode="auto">
          <a:xfrm>
            <a:off x="6010273" y="4018742"/>
            <a:ext cx="483819" cy="202876"/>
          </a:xfrm>
          <a:prstGeom prst="roundRect">
            <a:avLst>
              <a:gd name="adj" fmla="val 755"/>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0" tIns="0" rIns="0" bIns="0">
            <a:spAutoFit/>
          </a:bodyPr>
          <a:lstStyle/>
          <a:p>
            <a:pPr defTabSz="828675">
              <a:lnSpc>
                <a:spcPct val="93000"/>
              </a:lnSpc>
              <a:buClr>
                <a:srgbClr val="000000"/>
              </a:buClr>
              <a:buSzPct val="45000"/>
              <a:buFont typeface="StarSymbol" charset="0"/>
              <a:buNone/>
              <a:tabLst>
                <a:tab pos="0" algn="l"/>
                <a:tab pos="414338" algn="l"/>
                <a:tab pos="828675" algn="l"/>
                <a:tab pos="1244600" algn="l"/>
                <a:tab pos="1658938" algn="l"/>
                <a:tab pos="2073275" algn="l"/>
                <a:tab pos="2487613" algn="l"/>
                <a:tab pos="2903538" algn="l"/>
                <a:tab pos="3317875" algn="l"/>
                <a:tab pos="3732213" algn="l"/>
                <a:tab pos="4146550" algn="l"/>
                <a:tab pos="4562475" algn="l"/>
                <a:tab pos="4976813" algn="l"/>
                <a:tab pos="5391150" algn="l"/>
                <a:tab pos="5805488" algn="l"/>
                <a:tab pos="6221413" algn="l"/>
                <a:tab pos="6635750" algn="l"/>
                <a:tab pos="7050088" algn="l"/>
                <a:tab pos="7464425" algn="l"/>
                <a:tab pos="7880350" algn="l"/>
                <a:tab pos="8294688" algn="l"/>
              </a:tabLst>
            </a:pPr>
            <a:r>
              <a:rPr lang="en-GB" sz="1400" dirty="0">
                <a:solidFill>
                  <a:srgbClr val="000000"/>
                </a:solidFill>
                <a:latin typeface="Times New Roman" charset="0"/>
              </a:rPr>
              <a:t>24 bits</a:t>
            </a:r>
          </a:p>
        </p:txBody>
      </p:sp>
      <p:sp>
        <p:nvSpPr>
          <p:cNvPr id="3" name="Oval Callout 2"/>
          <p:cNvSpPr/>
          <p:nvPr/>
        </p:nvSpPr>
        <p:spPr>
          <a:xfrm>
            <a:off x="2721471" y="4863147"/>
            <a:ext cx="1854061" cy="292029"/>
          </a:xfrm>
          <a:prstGeom prst="wedgeEllipseCallout">
            <a:avLst>
              <a:gd name="adj1" fmla="val -8177"/>
              <a:gd name="adj2" fmla="val -21942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100" dirty="0"/>
              <a:t>Equal to “t mod 5”?</a:t>
            </a:r>
          </a:p>
        </p:txBody>
      </p:sp>
      <p:sp>
        <p:nvSpPr>
          <p:cNvPr id="43" name="Oval Callout 42"/>
          <p:cNvSpPr/>
          <p:nvPr/>
        </p:nvSpPr>
        <p:spPr>
          <a:xfrm>
            <a:off x="4695910" y="4975263"/>
            <a:ext cx="3903320" cy="515091"/>
          </a:xfrm>
          <a:prstGeom prst="wedgeEllipseCallout">
            <a:avLst>
              <a:gd name="adj1" fmla="val -8415"/>
              <a:gd name="adj2" fmla="val -16722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100" dirty="0"/>
              <a:t>Equal to </a:t>
            </a:r>
            <a:r>
              <a:rPr lang="en-GB" sz="1100" dirty="0">
                <a:solidFill>
                  <a:srgbClr val="000000"/>
                </a:solidFill>
                <a:latin typeface="Courier New" charset="0"/>
              </a:rPr>
              <a:t>HMAC(</a:t>
            </a:r>
            <a:r>
              <a:rPr lang="en-GB" sz="1100" dirty="0" err="1">
                <a:solidFill>
                  <a:srgbClr val="000000"/>
                </a:solidFill>
                <a:latin typeface="Courier New" charset="0"/>
              </a:rPr>
              <a:t>t,N</a:t>
            </a:r>
            <a:r>
              <a:rPr lang="en-GB" sz="1100" baseline="-33000" dirty="0" err="1">
                <a:solidFill>
                  <a:srgbClr val="000000"/>
                </a:solidFill>
                <a:latin typeface="Courier New" charset="0"/>
              </a:rPr>
              <a:t>s</a:t>
            </a:r>
            <a:r>
              <a:rPr lang="en-GB" sz="1100" dirty="0" err="1">
                <a:solidFill>
                  <a:srgbClr val="000000"/>
                </a:solidFill>
                <a:latin typeface="Courier New" charset="0"/>
              </a:rPr>
              <a:t>,SIP,Sport,DIP,Dport</a:t>
            </a:r>
            <a:r>
              <a:rPr lang="en-GB" sz="1100" dirty="0">
                <a:solidFill>
                  <a:srgbClr val="000000"/>
                </a:solidFill>
                <a:latin typeface="Courier New" charset="0"/>
              </a:rPr>
              <a:t>)</a:t>
            </a:r>
            <a:r>
              <a:rPr lang="en-US" sz="1100" dirty="0"/>
              <a:t>?</a:t>
            </a:r>
          </a:p>
        </p:txBody>
      </p:sp>
      <p:sp>
        <p:nvSpPr>
          <p:cNvPr id="44" name="TextBox 43"/>
          <p:cNvSpPr txBox="1"/>
          <p:nvPr/>
        </p:nvSpPr>
        <p:spPr>
          <a:xfrm>
            <a:off x="5059975" y="5860762"/>
            <a:ext cx="3791738" cy="830997"/>
          </a:xfrm>
          <a:prstGeom prst="rect">
            <a:avLst/>
          </a:prstGeom>
          <a:noFill/>
        </p:spPr>
        <p:txBody>
          <a:bodyPr wrap="square" rtlCol="0">
            <a:spAutoFit/>
          </a:bodyPr>
          <a:lstStyle/>
          <a:p>
            <a:r>
              <a:rPr lang="en-US" sz="1600" b="1" dirty="0">
                <a:solidFill>
                  <a:srgbClr val="FF0000"/>
                </a:solidFill>
              </a:rPr>
              <a:t>Resource is invested in the server side to maintain the state of this connection if “YES” for both questions.  </a:t>
            </a:r>
          </a:p>
        </p:txBody>
      </p:sp>
      <p:cxnSp>
        <p:nvCxnSpPr>
          <p:cNvPr id="5" name="Straight Arrow Connector 4"/>
          <p:cNvCxnSpPr/>
          <p:nvPr/>
        </p:nvCxnSpPr>
        <p:spPr>
          <a:xfrm>
            <a:off x="3619562" y="5230775"/>
            <a:ext cx="0" cy="520539"/>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3771962" y="5383175"/>
            <a:ext cx="1015658" cy="301864"/>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4575532" y="5583062"/>
            <a:ext cx="685866" cy="231893"/>
          </a:xfrm>
          <a:prstGeom prst="line">
            <a:avLst/>
          </a:prstGeom>
          <a:ln>
            <a:prstDash val="sysDot"/>
          </a:ln>
          <a:effectLst/>
        </p:spPr>
        <p:style>
          <a:lnRef idx="2">
            <a:schemeClr val="accent1"/>
          </a:lnRef>
          <a:fillRef idx="0">
            <a:schemeClr val="accent1"/>
          </a:fillRef>
          <a:effectRef idx="1">
            <a:schemeClr val="accent1"/>
          </a:effectRef>
          <a:fontRef idx="minor">
            <a:schemeClr val="tx1"/>
          </a:fontRef>
        </p:style>
      </p:cxnSp>
      <p:sp>
        <p:nvSpPr>
          <p:cNvPr id="20" name="Down Arrow 19"/>
          <p:cNvSpPr/>
          <p:nvPr/>
        </p:nvSpPr>
        <p:spPr>
          <a:xfrm>
            <a:off x="5159425" y="3594342"/>
            <a:ext cx="148325" cy="17062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3252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Malicious Usage: RST Reset</a:t>
            </a:r>
          </a:p>
        </p:txBody>
      </p:sp>
      <p:grpSp>
        <p:nvGrpSpPr>
          <p:cNvPr id="4" name="Group 7"/>
          <p:cNvGrpSpPr>
            <a:grpSpLocks/>
          </p:cNvGrpSpPr>
          <p:nvPr/>
        </p:nvGrpSpPr>
        <p:grpSpPr bwMode="auto">
          <a:xfrm>
            <a:off x="516581" y="2641442"/>
            <a:ext cx="1981200" cy="1250693"/>
            <a:chOff x="192" y="1488"/>
            <a:chExt cx="1536" cy="1140"/>
          </a:xfrm>
        </p:grpSpPr>
        <p:sp>
          <p:nvSpPr>
            <p:cNvPr id="5" name="Text Box 8"/>
            <p:cNvSpPr txBox="1">
              <a:spLocks noChangeArrowheads="1"/>
            </p:cNvSpPr>
            <p:nvPr/>
          </p:nvSpPr>
          <p:spPr bwMode="auto">
            <a:xfrm>
              <a:off x="192" y="2304"/>
              <a:ext cx="1536" cy="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9pPr>
            </a:lstStyle>
            <a:p>
              <a:pPr algn="ctr">
                <a:lnSpc>
                  <a:spcPct val="93000"/>
                </a:lnSpc>
                <a:spcBef>
                  <a:spcPts val="1500"/>
                </a:spcBef>
                <a:buClr>
                  <a:srgbClr val="000000"/>
                </a:buClr>
                <a:buSzPct val="100000"/>
                <a:buFont typeface="Times New Roman" charset="0"/>
                <a:buNone/>
              </a:pPr>
              <a:r>
                <a:rPr lang="en-GB" dirty="0">
                  <a:latin typeface="Times New Roman" charset="0"/>
                </a:rPr>
                <a:t>Client (C)</a:t>
              </a:r>
            </a:p>
          </p:txBody>
        </p:sp>
        <p:pic>
          <p:nvPicPr>
            <p:cNvPr id="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1488"/>
              <a:ext cx="912" cy="770"/>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grpSp>
      <p:grpSp>
        <p:nvGrpSpPr>
          <p:cNvPr id="7" name="Group 7"/>
          <p:cNvGrpSpPr>
            <a:grpSpLocks/>
          </p:cNvGrpSpPr>
          <p:nvPr/>
        </p:nvGrpSpPr>
        <p:grpSpPr bwMode="auto">
          <a:xfrm>
            <a:off x="3013035" y="5445363"/>
            <a:ext cx="1981200" cy="1241916"/>
            <a:chOff x="140" y="1488"/>
            <a:chExt cx="1536" cy="1132"/>
          </a:xfrm>
        </p:grpSpPr>
        <p:sp>
          <p:nvSpPr>
            <p:cNvPr id="8" name="Text Box 8"/>
            <p:cNvSpPr txBox="1">
              <a:spLocks noChangeArrowheads="1"/>
            </p:cNvSpPr>
            <p:nvPr/>
          </p:nvSpPr>
          <p:spPr bwMode="auto">
            <a:xfrm>
              <a:off x="140" y="2296"/>
              <a:ext cx="1536" cy="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9pPr>
            </a:lstStyle>
            <a:p>
              <a:pPr algn="ctr">
                <a:lnSpc>
                  <a:spcPct val="93000"/>
                </a:lnSpc>
                <a:spcBef>
                  <a:spcPts val="1500"/>
                </a:spcBef>
                <a:buClr>
                  <a:srgbClr val="000000"/>
                </a:buClr>
                <a:buSzPct val="100000"/>
                <a:buFont typeface="Times New Roman" charset="0"/>
                <a:buNone/>
              </a:pPr>
              <a:r>
                <a:rPr lang="en-GB" dirty="0">
                  <a:latin typeface="Times New Roman" charset="0"/>
                </a:rPr>
                <a:t>Attacker (inline)</a:t>
              </a:r>
            </a:p>
          </p:txBody>
        </p:sp>
        <p:pic>
          <p:nvPicPr>
            <p:cNvPr id="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1488"/>
              <a:ext cx="912" cy="770"/>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grpSp>
      <p:sp>
        <p:nvSpPr>
          <p:cNvPr id="13" name="Text Box 9"/>
          <p:cNvSpPr txBox="1">
            <a:spLocks noChangeArrowheads="1"/>
          </p:cNvSpPr>
          <p:nvPr/>
        </p:nvSpPr>
        <p:spPr bwMode="auto">
          <a:xfrm>
            <a:off x="2508006" y="2267716"/>
            <a:ext cx="334859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SYN  ACK (</a:t>
            </a:r>
            <a:r>
              <a:rPr lang="en-US" sz="2000" dirty="0" err="1">
                <a:latin typeface="Tahoma" charset="0"/>
              </a:rPr>
              <a:t>ack</a:t>
            </a:r>
            <a:r>
              <a:rPr lang="en-US" sz="2000" dirty="0">
                <a:latin typeface="Tahoma" charset="0"/>
              </a:rPr>
              <a:t>=x+1 </a:t>
            </a:r>
            <a:r>
              <a:rPr lang="en-US" sz="2000" dirty="0" err="1">
                <a:latin typeface="Tahoma" charset="0"/>
              </a:rPr>
              <a:t>seq</a:t>
            </a:r>
            <a:r>
              <a:rPr lang="en-US" sz="2000" dirty="0">
                <a:latin typeface="Tahoma" charset="0"/>
              </a:rPr>
              <a:t>=y)</a:t>
            </a:r>
            <a:endParaRPr lang="en-US" sz="2000" baseline="-25000" dirty="0">
              <a:latin typeface="Tahoma" charset="0"/>
            </a:endParaRPr>
          </a:p>
        </p:txBody>
      </p:sp>
      <p:grpSp>
        <p:nvGrpSpPr>
          <p:cNvPr id="16" name="Group 4"/>
          <p:cNvGrpSpPr>
            <a:grpSpLocks/>
          </p:cNvGrpSpPr>
          <p:nvPr/>
        </p:nvGrpSpPr>
        <p:grpSpPr bwMode="auto">
          <a:xfrm>
            <a:off x="5728365" y="2467771"/>
            <a:ext cx="3660576" cy="1860934"/>
            <a:chOff x="-536" y="1564"/>
            <a:chExt cx="2838" cy="1519"/>
          </a:xfrm>
        </p:grpSpPr>
        <p:sp>
          <p:nvSpPr>
            <p:cNvPr id="17" name="Text Box 5"/>
            <p:cNvSpPr txBox="1">
              <a:spLocks noChangeArrowheads="1"/>
            </p:cNvSpPr>
            <p:nvPr/>
          </p:nvSpPr>
          <p:spPr bwMode="auto">
            <a:xfrm>
              <a:off x="-536" y="2780"/>
              <a:ext cx="2838" cy="3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000" tIns="46800" rIns="90000" bIns="46800" anchor="ctr" anchorCtr="1">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charset="0"/>
                  <a:ea typeface="ＭＳ Ｐゴシック" charset="0"/>
                </a:defRPr>
              </a:lvl9pPr>
            </a:lstStyle>
            <a:p>
              <a:pPr algn="ctr"/>
              <a:r>
                <a:rPr lang="en-US" dirty="0"/>
                <a:t>Server</a:t>
              </a:r>
            </a:p>
          </p:txBody>
        </p:sp>
        <p:pic>
          <p:nvPicPr>
            <p:cNvPr id="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1564"/>
              <a:ext cx="912" cy="770"/>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grpSp>
      <p:sp>
        <p:nvSpPr>
          <p:cNvPr id="19" name="Line 3"/>
          <p:cNvSpPr>
            <a:spLocks noChangeShapeType="1"/>
          </p:cNvSpPr>
          <p:nvPr/>
        </p:nvSpPr>
        <p:spPr bwMode="auto">
          <a:xfrm>
            <a:off x="2346554" y="1984814"/>
            <a:ext cx="3772158" cy="482957"/>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20" name="Line 4"/>
          <p:cNvSpPr>
            <a:spLocks noChangeShapeType="1"/>
          </p:cNvSpPr>
          <p:nvPr/>
        </p:nvSpPr>
        <p:spPr bwMode="auto">
          <a:xfrm>
            <a:off x="2214396" y="3757492"/>
            <a:ext cx="3868057" cy="269286"/>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21" name="Line 5"/>
          <p:cNvSpPr>
            <a:spLocks noChangeShapeType="1"/>
          </p:cNvSpPr>
          <p:nvPr/>
        </p:nvSpPr>
        <p:spPr bwMode="auto">
          <a:xfrm flipH="1">
            <a:off x="2214396" y="3190532"/>
            <a:ext cx="3868057" cy="234305"/>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22" name="Text Box 8"/>
          <p:cNvSpPr txBox="1">
            <a:spLocks noChangeArrowheads="1"/>
          </p:cNvSpPr>
          <p:nvPr/>
        </p:nvSpPr>
        <p:spPr bwMode="auto">
          <a:xfrm>
            <a:off x="3025237" y="1745165"/>
            <a:ext cx="2171700"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SYN  (</a:t>
            </a:r>
            <a:r>
              <a:rPr lang="en-US" sz="2000" dirty="0" err="1">
                <a:latin typeface="Tahoma" charset="0"/>
              </a:rPr>
              <a:t>seq</a:t>
            </a:r>
            <a:r>
              <a:rPr lang="en-US" sz="2000" dirty="0">
                <a:latin typeface="Tahoma" charset="0"/>
              </a:rPr>
              <a:t>=x)</a:t>
            </a:r>
          </a:p>
        </p:txBody>
      </p:sp>
      <p:sp>
        <p:nvSpPr>
          <p:cNvPr id="23" name="Text Box 9"/>
          <p:cNvSpPr txBox="1">
            <a:spLocks noChangeArrowheads="1"/>
          </p:cNvSpPr>
          <p:nvPr/>
        </p:nvSpPr>
        <p:spPr bwMode="auto">
          <a:xfrm>
            <a:off x="2497781" y="2790422"/>
            <a:ext cx="3348593"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SYN  ACK (</a:t>
            </a:r>
            <a:r>
              <a:rPr lang="en-US" sz="2000" dirty="0" err="1">
                <a:latin typeface="Tahoma" charset="0"/>
              </a:rPr>
              <a:t>ack</a:t>
            </a:r>
            <a:r>
              <a:rPr lang="en-US" sz="2000" dirty="0">
                <a:latin typeface="Tahoma" charset="0"/>
              </a:rPr>
              <a:t>=x+1 </a:t>
            </a:r>
            <a:r>
              <a:rPr lang="en-US" sz="2000" dirty="0" err="1">
                <a:latin typeface="Tahoma" charset="0"/>
              </a:rPr>
              <a:t>seq</a:t>
            </a:r>
            <a:r>
              <a:rPr lang="en-US" sz="2000" dirty="0">
                <a:latin typeface="Tahoma" charset="0"/>
              </a:rPr>
              <a:t>=y)</a:t>
            </a:r>
            <a:endParaRPr lang="en-US" sz="2000" baseline="-25000" dirty="0">
              <a:latin typeface="Tahoma" charset="0"/>
            </a:endParaRPr>
          </a:p>
        </p:txBody>
      </p:sp>
      <p:sp>
        <p:nvSpPr>
          <p:cNvPr id="24" name="Text Box 10"/>
          <p:cNvSpPr txBox="1">
            <a:spLocks noChangeArrowheads="1"/>
          </p:cNvSpPr>
          <p:nvPr/>
        </p:nvSpPr>
        <p:spPr bwMode="auto">
          <a:xfrm>
            <a:off x="2613162" y="3365816"/>
            <a:ext cx="305053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ACK (</a:t>
            </a:r>
            <a:r>
              <a:rPr lang="en-US" sz="2000" dirty="0" err="1">
                <a:latin typeface="Tahoma" charset="0"/>
              </a:rPr>
              <a:t>ack</a:t>
            </a:r>
            <a:r>
              <a:rPr lang="en-US" sz="2000" dirty="0">
                <a:latin typeface="Tahoma" charset="0"/>
              </a:rPr>
              <a:t>=y+1,seq=x+1)</a:t>
            </a:r>
            <a:endParaRPr lang="en-US" sz="2000" baseline="-25000" dirty="0">
              <a:latin typeface="Tahoma" charset="0"/>
            </a:endParaRPr>
          </a:p>
        </p:txBody>
      </p:sp>
      <p:sp>
        <p:nvSpPr>
          <p:cNvPr id="25" name="Line 4"/>
          <p:cNvSpPr>
            <a:spLocks noChangeShapeType="1"/>
          </p:cNvSpPr>
          <p:nvPr/>
        </p:nvSpPr>
        <p:spPr bwMode="auto">
          <a:xfrm>
            <a:off x="2214396" y="3941844"/>
            <a:ext cx="3868057" cy="269286"/>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26" name="Line 4"/>
          <p:cNvSpPr>
            <a:spLocks noChangeShapeType="1"/>
          </p:cNvSpPr>
          <p:nvPr/>
        </p:nvSpPr>
        <p:spPr bwMode="auto">
          <a:xfrm>
            <a:off x="2250655" y="4470936"/>
            <a:ext cx="3868057" cy="269286"/>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nchor="ctr"/>
          <a:lstStyle/>
          <a:p>
            <a:endParaRPr lang="en-US"/>
          </a:p>
        </p:txBody>
      </p:sp>
      <p:sp>
        <p:nvSpPr>
          <p:cNvPr id="27" name="Down Arrow 26"/>
          <p:cNvSpPr/>
          <p:nvPr/>
        </p:nvSpPr>
        <p:spPr>
          <a:xfrm>
            <a:off x="3525792" y="4740222"/>
            <a:ext cx="272245" cy="54891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 Arrow 28"/>
          <p:cNvSpPr/>
          <p:nvPr/>
        </p:nvSpPr>
        <p:spPr>
          <a:xfrm>
            <a:off x="4331744" y="4740222"/>
            <a:ext cx="234264" cy="548914"/>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 Box 8"/>
          <p:cNvSpPr txBox="1">
            <a:spLocks noChangeArrowheads="1"/>
          </p:cNvSpPr>
          <p:nvPr/>
        </p:nvSpPr>
        <p:spPr bwMode="auto">
          <a:xfrm>
            <a:off x="2214396" y="4776110"/>
            <a:ext cx="131139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Sniff</a:t>
            </a:r>
          </a:p>
        </p:txBody>
      </p:sp>
      <p:sp>
        <p:nvSpPr>
          <p:cNvPr id="31" name="Text Box 8"/>
          <p:cNvSpPr txBox="1">
            <a:spLocks noChangeArrowheads="1"/>
          </p:cNvSpPr>
          <p:nvPr/>
        </p:nvSpPr>
        <p:spPr bwMode="auto">
          <a:xfrm>
            <a:off x="4545203" y="4776110"/>
            <a:ext cx="131139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Inject</a:t>
            </a:r>
          </a:p>
        </p:txBody>
      </p:sp>
      <p:sp>
        <p:nvSpPr>
          <p:cNvPr id="32" name="Freeform 31"/>
          <p:cNvSpPr/>
          <p:nvPr/>
        </p:nvSpPr>
        <p:spPr>
          <a:xfrm>
            <a:off x="4331745" y="3279511"/>
            <a:ext cx="2326284" cy="2182231"/>
          </a:xfrm>
          <a:custGeom>
            <a:avLst/>
            <a:gdLst>
              <a:gd name="connsiteX0" fmla="*/ 0 w 2145365"/>
              <a:gd name="connsiteY0" fmla="*/ 2182231 h 2182231"/>
              <a:gd name="connsiteX1" fmla="*/ 1146661 w 2145365"/>
              <a:gd name="connsiteY1" fmla="*/ 431515 h 2182231"/>
              <a:gd name="connsiteX2" fmla="*/ 2145365 w 2145365"/>
              <a:gd name="connsiteY2" fmla="*/ 0 h 2182231"/>
            </a:gdLst>
            <a:ahLst/>
            <a:cxnLst>
              <a:cxn ang="0">
                <a:pos x="connsiteX0" y="connsiteY0"/>
              </a:cxn>
              <a:cxn ang="0">
                <a:pos x="connsiteX1" y="connsiteY1"/>
              </a:cxn>
              <a:cxn ang="0">
                <a:pos x="connsiteX2" y="connsiteY2"/>
              </a:cxn>
            </a:cxnLst>
            <a:rect l="l" t="t" r="r" b="b"/>
            <a:pathLst>
              <a:path w="2145365" h="2182231">
                <a:moveTo>
                  <a:pt x="0" y="2182231"/>
                </a:moveTo>
                <a:cubicBezTo>
                  <a:pt x="394550" y="1488725"/>
                  <a:pt x="789100" y="795220"/>
                  <a:pt x="1146661" y="431515"/>
                </a:cubicBezTo>
                <a:cubicBezTo>
                  <a:pt x="1504222" y="67810"/>
                  <a:pt x="2145365" y="0"/>
                  <a:pt x="2145365" y="0"/>
                </a:cubicBezTo>
              </a:path>
            </a:pathLst>
          </a:custGeom>
          <a:ln>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Freeform 33"/>
          <p:cNvSpPr/>
          <p:nvPr/>
        </p:nvSpPr>
        <p:spPr>
          <a:xfrm>
            <a:off x="2002482" y="3081943"/>
            <a:ext cx="2329262" cy="2367470"/>
          </a:xfrm>
          <a:custGeom>
            <a:avLst/>
            <a:gdLst>
              <a:gd name="connsiteX0" fmla="*/ 1331606 w 1331606"/>
              <a:gd name="connsiteY0" fmla="*/ 2367470 h 2367470"/>
              <a:gd name="connsiteX1" fmla="*/ 1023364 w 1331606"/>
              <a:gd name="connsiteY1" fmla="*/ 370174 h 2367470"/>
              <a:gd name="connsiteX2" fmla="*/ 0 w 1331606"/>
              <a:gd name="connsiteY2" fmla="*/ 304 h 2367470"/>
            </a:gdLst>
            <a:ahLst/>
            <a:cxnLst>
              <a:cxn ang="0">
                <a:pos x="connsiteX0" y="connsiteY0"/>
              </a:cxn>
              <a:cxn ang="0">
                <a:pos x="connsiteX1" y="connsiteY1"/>
              </a:cxn>
              <a:cxn ang="0">
                <a:pos x="connsiteX2" y="connsiteY2"/>
              </a:cxn>
            </a:cxnLst>
            <a:rect l="l" t="t" r="r" b="b"/>
            <a:pathLst>
              <a:path w="1331606" h="2367470">
                <a:moveTo>
                  <a:pt x="1331606" y="2367470"/>
                </a:moveTo>
                <a:cubicBezTo>
                  <a:pt x="1288452" y="1566086"/>
                  <a:pt x="1245298" y="764702"/>
                  <a:pt x="1023364" y="370174"/>
                </a:cubicBezTo>
                <a:cubicBezTo>
                  <a:pt x="801430" y="-24354"/>
                  <a:pt x="0" y="304"/>
                  <a:pt x="0" y="304"/>
                </a:cubicBezTo>
              </a:path>
            </a:pathLst>
          </a:custGeom>
          <a:ln>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 Box 8"/>
          <p:cNvSpPr txBox="1">
            <a:spLocks noChangeArrowheads="1"/>
          </p:cNvSpPr>
          <p:nvPr/>
        </p:nvSpPr>
        <p:spPr bwMode="auto">
          <a:xfrm>
            <a:off x="1528881" y="4211130"/>
            <a:ext cx="2590914" cy="400110"/>
          </a:xfrm>
          <a:prstGeom prst="rect">
            <a:avLst/>
          </a:prstGeom>
          <a:solidFill>
            <a:srgbClr val="FF0000"/>
          </a:solidFill>
          <a:ln>
            <a:noFill/>
          </a:ln>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RST (</a:t>
            </a:r>
            <a:r>
              <a:rPr lang="en-US" sz="2000" dirty="0" err="1">
                <a:latin typeface="Tahoma" charset="0"/>
              </a:rPr>
              <a:t>Src</a:t>
            </a:r>
            <a:r>
              <a:rPr lang="en-US" sz="2000" dirty="0">
                <a:latin typeface="Tahoma" charset="0"/>
              </a:rPr>
              <a:t> Server)</a:t>
            </a:r>
          </a:p>
        </p:txBody>
      </p:sp>
      <p:sp>
        <p:nvSpPr>
          <p:cNvPr id="36" name="Text Box 8"/>
          <p:cNvSpPr txBox="1">
            <a:spLocks noChangeArrowheads="1"/>
          </p:cNvSpPr>
          <p:nvPr/>
        </p:nvSpPr>
        <p:spPr bwMode="auto">
          <a:xfrm>
            <a:off x="5200900" y="4218923"/>
            <a:ext cx="2233898" cy="400110"/>
          </a:xfrm>
          <a:prstGeom prst="rect">
            <a:avLst/>
          </a:prstGeom>
          <a:solidFill>
            <a:srgbClr val="FF0000"/>
          </a:solidFill>
          <a:ln>
            <a:noFill/>
          </a:ln>
        </p:spPr>
        <p:txBody>
          <a:bodyPr wrap="square">
            <a:spAutoFit/>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20000"/>
              </a:spcBef>
              <a:buClr>
                <a:schemeClr val="accent2"/>
              </a:buClr>
            </a:pPr>
            <a:r>
              <a:rPr lang="en-US" sz="2000" dirty="0">
                <a:latin typeface="Tahoma" charset="0"/>
              </a:rPr>
              <a:t>RST (</a:t>
            </a:r>
            <a:r>
              <a:rPr lang="en-US" sz="2000" dirty="0" err="1">
                <a:latin typeface="Tahoma" charset="0"/>
              </a:rPr>
              <a:t>Src</a:t>
            </a:r>
            <a:r>
              <a:rPr lang="en-US" sz="2000" dirty="0">
                <a:latin typeface="Tahoma" charset="0"/>
              </a:rPr>
              <a:t> Client)</a:t>
            </a:r>
          </a:p>
        </p:txBody>
      </p:sp>
      <p:sp>
        <p:nvSpPr>
          <p:cNvPr id="3" name="Slide Number Placeholder 2"/>
          <p:cNvSpPr>
            <a:spLocks noGrp="1"/>
          </p:cNvSpPr>
          <p:nvPr>
            <p:ph type="sldNum" sz="quarter" idx="12"/>
          </p:nvPr>
        </p:nvSpPr>
        <p:spPr/>
        <p:txBody>
          <a:bodyPr/>
          <a:lstStyle/>
          <a:p>
            <a:fld id="{A7794F54-AFB3-5A4A-A7DF-A12EC7067960}" type="slidenum">
              <a:rPr lang="en-US" smtClean="0"/>
              <a:t>37</a:t>
            </a:fld>
            <a:endParaRPr lang="en-US"/>
          </a:p>
        </p:txBody>
      </p:sp>
    </p:spTree>
    <p:extLst>
      <p:ext uri="{BB962C8B-B14F-4D97-AF65-F5344CB8AC3E}">
        <p14:creationId xmlns:p14="http://schemas.microsoft.com/office/powerpoint/2010/main" val="102941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DNS Works</a:t>
            </a:r>
          </a:p>
        </p:txBody>
      </p:sp>
      <p:pic>
        <p:nvPicPr>
          <p:cNvPr id="4" name="Picture 6" descr="j019538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74914" y="3134253"/>
            <a:ext cx="767669" cy="94462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sp>
        <p:nvSpPr>
          <p:cNvPr id="5" name="tower"/>
          <p:cNvSpPr>
            <a:spLocks noEditPoints="1" noChangeArrowheads="1"/>
          </p:cNvSpPr>
          <p:nvPr/>
        </p:nvSpPr>
        <p:spPr bwMode="auto">
          <a:xfrm>
            <a:off x="3297173" y="3212856"/>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6" name="tower"/>
          <p:cNvSpPr>
            <a:spLocks noEditPoints="1" noChangeArrowheads="1"/>
          </p:cNvSpPr>
          <p:nvPr/>
        </p:nvSpPr>
        <p:spPr bwMode="auto">
          <a:xfrm>
            <a:off x="6565318" y="1623542"/>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7" name="tower"/>
          <p:cNvSpPr>
            <a:spLocks noEditPoints="1" noChangeArrowheads="1"/>
          </p:cNvSpPr>
          <p:nvPr/>
        </p:nvSpPr>
        <p:spPr bwMode="auto">
          <a:xfrm>
            <a:off x="6565318" y="3134253"/>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8" name="tower"/>
          <p:cNvSpPr>
            <a:spLocks noEditPoints="1" noChangeArrowheads="1"/>
          </p:cNvSpPr>
          <p:nvPr/>
        </p:nvSpPr>
        <p:spPr bwMode="auto">
          <a:xfrm>
            <a:off x="6565318" y="4744114"/>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cxnSp>
        <p:nvCxnSpPr>
          <p:cNvPr id="9" name="Straight Arrow Connector 8"/>
          <p:cNvCxnSpPr/>
          <p:nvPr/>
        </p:nvCxnSpPr>
        <p:spPr>
          <a:xfrm>
            <a:off x="1753809" y="3580191"/>
            <a:ext cx="1282095"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4010781" y="2068286"/>
            <a:ext cx="2423886" cy="1337734"/>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H="1">
            <a:off x="4010782" y="2211011"/>
            <a:ext cx="2341008" cy="1333404"/>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4010782" y="3580191"/>
            <a:ext cx="2423885" cy="15240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4010781" y="3732591"/>
            <a:ext cx="2276325" cy="137885"/>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4010782" y="4090971"/>
            <a:ext cx="2423885" cy="868077"/>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H="1" flipV="1">
            <a:off x="3839017" y="4245429"/>
            <a:ext cx="2595650" cy="930666"/>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1738080" y="3813448"/>
            <a:ext cx="1297824"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8215" y="3175083"/>
            <a:ext cx="1438577" cy="369332"/>
          </a:xfrm>
          <a:prstGeom prst="rect">
            <a:avLst/>
          </a:prstGeom>
          <a:noFill/>
        </p:spPr>
        <p:txBody>
          <a:bodyPr wrap="none" rtlCol="0">
            <a:spAutoFit/>
          </a:bodyPr>
          <a:lstStyle/>
          <a:p>
            <a:r>
              <a:rPr lang="en-US" dirty="0" err="1"/>
              <a:t>cash.foo.com</a:t>
            </a:r>
            <a:endParaRPr lang="en-US" dirty="0"/>
          </a:p>
        </p:txBody>
      </p:sp>
      <p:sp>
        <p:nvSpPr>
          <p:cNvPr id="18" name="TextBox 17"/>
          <p:cNvSpPr txBox="1"/>
          <p:nvPr/>
        </p:nvSpPr>
        <p:spPr>
          <a:xfrm>
            <a:off x="3138216" y="2577706"/>
            <a:ext cx="992579" cy="523220"/>
          </a:xfrm>
          <a:prstGeom prst="rect">
            <a:avLst/>
          </a:prstGeom>
          <a:noFill/>
        </p:spPr>
        <p:txBody>
          <a:bodyPr wrap="none" rtlCol="0">
            <a:spAutoFit/>
          </a:bodyPr>
          <a:lstStyle/>
          <a:p>
            <a:r>
              <a:rPr lang="en-US" sz="1400" dirty="0"/>
              <a:t>Recursive</a:t>
            </a:r>
          </a:p>
          <a:p>
            <a:r>
              <a:rPr lang="en-US" sz="1400" dirty="0"/>
              <a:t>DNS server</a:t>
            </a:r>
          </a:p>
        </p:txBody>
      </p:sp>
      <p:sp>
        <p:nvSpPr>
          <p:cNvPr id="19" name="TextBox 18"/>
          <p:cNvSpPr txBox="1"/>
          <p:nvPr/>
        </p:nvSpPr>
        <p:spPr>
          <a:xfrm>
            <a:off x="7191829" y="1361932"/>
            <a:ext cx="1031051" cy="307777"/>
          </a:xfrm>
          <a:prstGeom prst="rect">
            <a:avLst/>
          </a:prstGeom>
          <a:noFill/>
        </p:spPr>
        <p:txBody>
          <a:bodyPr wrap="none" rtlCol="0">
            <a:spAutoFit/>
          </a:bodyPr>
          <a:lstStyle/>
          <a:p>
            <a:r>
              <a:rPr lang="en-US" sz="1400" dirty="0"/>
              <a:t>Root server</a:t>
            </a:r>
          </a:p>
        </p:txBody>
      </p:sp>
      <p:sp>
        <p:nvSpPr>
          <p:cNvPr id="20" name="TextBox 19"/>
          <p:cNvSpPr txBox="1"/>
          <p:nvPr/>
        </p:nvSpPr>
        <p:spPr>
          <a:xfrm>
            <a:off x="7228460" y="2980364"/>
            <a:ext cx="1006080" cy="523220"/>
          </a:xfrm>
          <a:prstGeom prst="rect">
            <a:avLst/>
          </a:prstGeom>
          <a:noFill/>
        </p:spPr>
        <p:txBody>
          <a:bodyPr wrap="none" rtlCol="0">
            <a:spAutoFit/>
          </a:bodyPr>
          <a:lstStyle/>
          <a:p>
            <a:r>
              <a:rPr lang="en-US" sz="1400" dirty="0"/>
              <a:t>com server</a:t>
            </a:r>
          </a:p>
          <a:p>
            <a:r>
              <a:rPr lang="en-US" sz="1400" dirty="0"/>
              <a:t>(IP: Y.Y.Y.Y)</a:t>
            </a:r>
          </a:p>
        </p:txBody>
      </p:sp>
      <p:sp>
        <p:nvSpPr>
          <p:cNvPr id="21" name="TextBox 20"/>
          <p:cNvSpPr txBox="1"/>
          <p:nvPr/>
        </p:nvSpPr>
        <p:spPr>
          <a:xfrm>
            <a:off x="7228460" y="4592683"/>
            <a:ext cx="992404" cy="523220"/>
          </a:xfrm>
          <a:prstGeom prst="rect">
            <a:avLst/>
          </a:prstGeom>
          <a:noFill/>
        </p:spPr>
        <p:txBody>
          <a:bodyPr wrap="none" rtlCol="0">
            <a:spAutoFit/>
          </a:bodyPr>
          <a:lstStyle/>
          <a:p>
            <a:r>
              <a:rPr lang="en-US" sz="1400" dirty="0"/>
              <a:t>foo server</a:t>
            </a:r>
          </a:p>
          <a:p>
            <a:r>
              <a:rPr lang="en-US" sz="1400" dirty="0"/>
              <a:t>(IP: Z.Z.Z.Z)</a:t>
            </a:r>
          </a:p>
        </p:txBody>
      </p:sp>
      <p:sp>
        <p:nvSpPr>
          <p:cNvPr id="22" name="TextBox 21"/>
          <p:cNvSpPr txBox="1"/>
          <p:nvPr/>
        </p:nvSpPr>
        <p:spPr>
          <a:xfrm rot="19909190">
            <a:off x="4367262" y="2346073"/>
            <a:ext cx="1633781" cy="338554"/>
          </a:xfrm>
          <a:prstGeom prst="rect">
            <a:avLst/>
          </a:prstGeom>
          <a:noFill/>
        </p:spPr>
        <p:txBody>
          <a:bodyPr wrap="none" rtlCol="0">
            <a:spAutoFit/>
          </a:bodyPr>
          <a:lstStyle/>
          <a:p>
            <a:r>
              <a:rPr lang="en-US" sz="1600" dirty="0"/>
              <a:t>“.com” server IP?</a:t>
            </a:r>
          </a:p>
        </p:txBody>
      </p:sp>
      <p:sp>
        <p:nvSpPr>
          <p:cNvPr id="23" name="TextBox 22"/>
          <p:cNvSpPr txBox="1"/>
          <p:nvPr/>
        </p:nvSpPr>
        <p:spPr>
          <a:xfrm rot="21401500">
            <a:off x="4393940" y="3341089"/>
            <a:ext cx="1695909" cy="307777"/>
          </a:xfrm>
          <a:prstGeom prst="rect">
            <a:avLst/>
          </a:prstGeom>
          <a:noFill/>
        </p:spPr>
        <p:txBody>
          <a:bodyPr wrap="none" rtlCol="0">
            <a:spAutoFit/>
          </a:bodyPr>
          <a:lstStyle/>
          <a:p>
            <a:r>
              <a:rPr lang="en-US" sz="1400" dirty="0"/>
              <a:t>“</a:t>
            </a:r>
            <a:r>
              <a:rPr lang="en-US" sz="1400" dirty="0" err="1"/>
              <a:t>foo.com</a:t>
            </a:r>
            <a:r>
              <a:rPr lang="en-US" sz="1400" dirty="0"/>
              <a:t>” server IP?</a:t>
            </a:r>
          </a:p>
        </p:txBody>
      </p:sp>
      <p:sp>
        <p:nvSpPr>
          <p:cNvPr id="24" name="TextBox 23"/>
          <p:cNvSpPr txBox="1"/>
          <p:nvPr/>
        </p:nvSpPr>
        <p:spPr>
          <a:xfrm rot="1107061">
            <a:off x="4497984" y="4213750"/>
            <a:ext cx="1571952" cy="307777"/>
          </a:xfrm>
          <a:prstGeom prst="rect">
            <a:avLst/>
          </a:prstGeom>
          <a:noFill/>
        </p:spPr>
        <p:txBody>
          <a:bodyPr wrap="none" rtlCol="0">
            <a:spAutoFit/>
          </a:bodyPr>
          <a:lstStyle/>
          <a:p>
            <a:r>
              <a:rPr lang="en-US" sz="1400" dirty="0"/>
              <a:t>“</a:t>
            </a:r>
            <a:r>
              <a:rPr lang="en-US" sz="1400" dirty="0" err="1"/>
              <a:t>cash.foo.com</a:t>
            </a:r>
            <a:r>
              <a:rPr lang="en-US" sz="1400" dirty="0"/>
              <a:t>” IP?</a:t>
            </a:r>
          </a:p>
        </p:txBody>
      </p:sp>
      <p:sp>
        <p:nvSpPr>
          <p:cNvPr id="25" name="TextBox 24"/>
          <p:cNvSpPr txBox="1"/>
          <p:nvPr/>
        </p:nvSpPr>
        <p:spPr>
          <a:xfrm rot="1194034">
            <a:off x="4200554" y="4730375"/>
            <a:ext cx="1757274" cy="523220"/>
          </a:xfrm>
          <a:prstGeom prst="rect">
            <a:avLst/>
          </a:prstGeom>
          <a:noFill/>
        </p:spPr>
        <p:txBody>
          <a:bodyPr wrap="none" rtlCol="0">
            <a:spAutoFit/>
          </a:bodyPr>
          <a:lstStyle/>
          <a:p>
            <a:r>
              <a:rPr lang="en-US" sz="1400" dirty="0" err="1"/>
              <a:t>cash.foo.com</a:t>
            </a:r>
            <a:r>
              <a:rPr lang="en-US" sz="1400" dirty="0"/>
              <a:t>: X.X.X.X</a:t>
            </a:r>
          </a:p>
          <a:p>
            <a:r>
              <a:rPr lang="en-US" sz="1400" dirty="0" err="1"/>
              <a:t>foo.com</a:t>
            </a:r>
            <a:r>
              <a:rPr lang="en-US" sz="1400" dirty="0"/>
              <a:t>: Z.Z.Z.Z</a:t>
            </a:r>
          </a:p>
        </p:txBody>
      </p:sp>
      <p:sp>
        <p:nvSpPr>
          <p:cNvPr id="26" name="TextBox 25"/>
          <p:cNvSpPr txBox="1"/>
          <p:nvPr/>
        </p:nvSpPr>
        <p:spPr>
          <a:xfrm>
            <a:off x="1474533" y="3975367"/>
            <a:ext cx="1757274" cy="523220"/>
          </a:xfrm>
          <a:prstGeom prst="rect">
            <a:avLst/>
          </a:prstGeom>
          <a:noFill/>
        </p:spPr>
        <p:txBody>
          <a:bodyPr wrap="none" rtlCol="0">
            <a:spAutoFit/>
          </a:bodyPr>
          <a:lstStyle/>
          <a:p>
            <a:r>
              <a:rPr lang="en-US" sz="1400" dirty="0" err="1"/>
              <a:t>cash.foo.com</a:t>
            </a:r>
            <a:r>
              <a:rPr lang="en-US" sz="1400" dirty="0"/>
              <a:t>: X.X.X.X</a:t>
            </a:r>
          </a:p>
          <a:p>
            <a:r>
              <a:rPr lang="en-US" sz="1400" dirty="0" err="1"/>
              <a:t>foo.com</a:t>
            </a:r>
            <a:r>
              <a:rPr lang="en-US" sz="1400" dirty="0"/>
              <a:t>: Z.Z.Z.Z</a:t>
            </a:r>
          </a:p>
        </p:txBody>
      </p:sp>
      <p:sp>
        <p:nvSpPr>
          <p:cNvPr id="29" name="TextBox 28"/>
          <p:cNvSpPr txBox="1"/>
          <p:nvPr/>
        </p:nvSpPr>
        <p:spPr>
          <a:xfrm rot="19810821">
            <a:off x="5028579" y="2733085"/>
            <a:ext cx="671979" cy="307777"/>
          </a:xfrm>
          <a:prstGeom prst="rect">
            <a:avLst/>
          </a:prstGeom>
          <a:noFill/>
        </p:spPr>
        <p:txBody>
          <a:bodyPr wrap="none" rtlCol="0">
            <a:spAutoFit/>
          </a:bodyPr>
          <a:lstStyle/>
          <a:p>
            <a:r>
              <a:rPr lang="en-US" sz="1400" dirty="0"/>
              <a:t>Y.Y.Y.Y</a:t>
            </a:r>
          </a:p>
        </p:txBody>
      </p:sp>
      <p:sp>
        <p:nvSpPr>
          <p:cNvPr id="30" name="TextBox 29"/>
          <p:cNvSpPr txBox="1"/>
          <p:nvPr/>
        </p:nvSpPr>
        <p:spPr>
          <a:xfrm rot="21438475">
            <a:off x="4978966" y="3729140"/>
            <a:ext cx="659155" cy="307777"/>
          </a:xfrm>
          <a:prstGeom prst="rect">
            <a:avLst/>
          </a:prstGeom>
          <a:noFill/>
        </p:spPr>
        <p:txBody>
          <a:bodyPr wrap="none" rtlCol="0">
            <a:spAutoFit/>
          </a:bodyPr>
          <a:lstStyle/>
          <a:p>
            <a:r>
              <a:rPr lang="en-US" sz="1400" dirty="0"/>
              <a:t>Z.Z.Z.Z</a:t>
            </a:r>
          </a:p>
        </p:txBody>
      </p:sp>
      <p:graphicFrame>
        <p:nvGraphicFramePr>
          <p:cNvPr id="31" name="Table 30"/>
          <p:cNvGraphicFramePr>
            <a:graphicFrameLocks noGrp="1"/>
          </p:cNvGraphicFramePr>
          <p:nvPr/>
        </p:nvGraphicFramePr>
        <p:xfrm>
          <a:off x="6402115" y="5758105"/>
          <a:ext cx="2486782" cy="609600"/>
        </p:xfrm>
        <a:graphic>
          <a:graphicData uri="http://schemas.openxmlformats.org/drawingml/2006/table">
            <a:tbl>
              <a:tblPr firstRow="1" bandRow="1">
                <a:tableStyleId>{5C22544A-7EE6-4342-B048-85BDC9FD1C3A}</a:tableStyleId>
              </a:tblPr>
              <a:tblGrid>
                <a:gridCol w="1243391">
                  <a:extLst>
                    <a:ext uri="{9D8B030D-6E8A-4147-A177-3AD203B41FA5}">
                      <a16:colId xmlns:a16="http://schemas.microsoft.com/office/drawing/2014/main" val="20000"/>
                    </a:ext>
                  </a:extLst>
                </a:gridCol>
                <a:gridCol w="1243391">
                  <a:extLst>
                    <a:ext uri="{9D8B030D-6E8A-4147-A177-3AD203B41FA5}">
                      <a16:colId xmlns:a16="http://schemas.microsoft.com/office/drawing/2014/main" val="20001"/>
                    </a:ext>
                  </a:extLst>
                </a:gridCol>
              </a:tblGrid>
              <a:tr h="291682">
                <a:tc>
                  <a:txBody>
                    <a:bodyPr/>
                    <a:lstStyle/>
                    <a:p>
                      <a:pPr algn="ctr"/>
                      <a:r>
                        <a:rPr lang="en-US" sz="1400" dirty="0"/>
                        <a:t>Domain</a:t>
                      </a:r>
                    </a:p>
                  </a:txBody>
                  <a:tcPr/>
                </a:tc>
                <a:tc>
                  <a:txBody>
                    <a:bodyPr/>
                    <a:lstStyle/>
                    <a:p>
                      <a:pPr algn="ctr"/>
                      <a:r>
                        <a:rPr lang="en-US" sz="1400" dirty="0"/>
                        <a:t>IP</a:t>
                      </a:r>
                    </a:p>
                  </a:txBody>
                  <a:tcPr/>
                </a:tc>
                <a:extLst>
                  <a:ext uri="{0D108BD9-81ED-4DB2-BD59-A6C34878D82A}">
                    <a16:rowId xmlns:a16="http://schemas.microsoft.com/office/drawing/2014/main" val="10000"/>
                  </a:ext>
                </a:extLst>
              </a:tr>
              <a:tr h="291682">
                <a:tc>
                  <a:txBody>
                    <a:bodyPr/>
                    <a:lstStyle/>
                    <a:p>
                      <a:pPr algn="ctr"/>
                      <a:r>
                        <a:rPr lang="en-US" sz="1400" dirty="0" err="1"/>
                        <a:t>cash.foo.com</a:t>
                      </a:r>
                      <a:endParaRPr lang="en-US" sz="1400" dirty="0"/>
                    </a:p>
                  </a:txBody>
                  <a:tcPr/>
                </a:tc>
                <a:tc>
                  <a:txBody>
                    <a:bodyPr/>
                    <a:lstStyle/>
                    <a:p>
                      <a:pPr algn="ctr"/>
                      <a:r>
                        <a:rPr lang="en-US" sz="1400" dirty="0"/>
                        <a:t>X.X.X.X</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11680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p:cNvCxnSpPr/>
          <p:nvPr/>
        </p:nvCxnSpPr>
        <p:spPr>
          <a:xfrm flipH="1" flipV="1">
            <a:off x="4010784" y="3586004"/>
            <a:ext cx="1621972" cy="2624134"/>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DNS Poisoning Attack</a:t>
            </a:r>
          </a:p>
        </p:txBody>
      </p:sp>
      <p:graphicFrame>
        <p:nvGraphicFramePr>
          <p:cNvPr id="4" name="Table 3"/>
          <p:cNvGraphicFramePr>
            <a:graphicFrameLocks noGrp="1"/>
          </p:cNvGraphicFramePr>
          <p:nvPr/>
        </p:nvGraphicFramePr>
        <p:xfrm>
          <a:off x="4236295" y="1474999"/>
          <a:ext cx="3599516" cy="822960"/>
        </p:xfrm>
        <a:graphic>
          <a:graphicData uri="http://schemas.openxmlformats.org/drawingml/2006/table">
            <a:tbl>
              <a:tblPr firstRow="1" bandRow="1">
                <a:tableStyleId>{69CF1AB2-1976-4502-BF36-3FF5EA218861}</a:tableStyleId>
              </a:tblPr>
              <a:tblGrid>
                <a:gridCol w="1113478">
                  <a:extLst>
                    <a:ext uri="{9D8B030D-6E8A-4147-A177-3AD203B41FA5}">
                      <a16:colId xmlns:a16="http://schemas.microsoft.com/office/drawing/2014/main" val="20000"/>
                    </a:ext>
                  </a:extLst>
                </a:gridCol>
                <a:gridCol w="801181">
                  <a:extLst>
                    <a:ext uri="{9D8B030D-6E8A-4147-A177-3AD203B41FA5}">
                      <a16:colId xmlns:a16="http://schemas.microsoft.com/office/drawing/2014/main" val="20001"/>
                    </a:ext>
                  </a:extLst>
                </a:gridCol>
                <a:gridCol w="784978">
                  <a:extLst>
                    <a:ext uri="{9D8B030D-6E8A-4147-A177-3AD203B41FA5}">
                      <a16:colId xmlns:a16="http://schemas.microsoft.com/office/drawing/2014/main" val="20002"/>
                    </a:ext>
                  </a:extLst>
                </a:gridCol>
                <a:gridCol w="899879">
                  <a:extLst>
                    <a:ext uri="{9D8B030D-6E8A-4147-A177-3AD203B41FA5}">
                      <a16:colId xmlns:a16="http://schemas.microsoft.com/office/drawing/2014/main" val="20003"/>
                    </a:ext>
                  </a:extLst>
                </a:gridCol>
              </a:tblGrid>
              <a:tr h="255086">
                <a:tc>
                  <a:txBody>
                    <a:bodyPr/>
                    <a:lstStyle/>
                    <a:p>
                      <a:pPr algn="ctr"/>
                      <a:r>
                        <a:rPr lang="en-US" sz="1400" b="0" dirty="0" err="1"/>
                        <a:t>SrcIP</a:t>
                      </a:r>
                      <a:endParaRPr lang="en-US" sz="1400" b="0" dirty="0"/>
                    </a:p>
                  </a:txBody>
                  <a:tcPr/>
                </a:tc>
                <a:tc>
                  <a:txBody>
                    <a:bodyPr/>
                    <a:lstStyle/>
                    <a:p>
                      <a:pPr algn="ctr"/>
                      <a:r>
                        <a:rPr lang="en-US" sz="1400" b="0" dirty="0" err="1"/>
                        <a:t>SrcPort</a:t>
                      </a:r>
                      <a:endParaRPr lang="en-US" sz="1400" b="0" dirty="0"/>
                    </a:p>
                    <a:p>
                      <a:pPr algn="ctr"/>
                      <a:r>
                        <a:rPr lang="en-US" sz="1400" b="0" dirty="0"/>
                        <a:t>(16 bits)</a:t>
                      </a:r>
                    </a:p>
                  </a:txBody>
                  <a:tcPr/>
                </a:tc>
                <a:tc>
                  <a:txBody>
                    <a:bodyPr/>
                    <a:lstStyle/>
                    <a:p>
                      <a:pPr algn="ctr"/>
                      <a:r>
                        <a:rPr lang="en-US" sz="1400" b="0" dirty="0" err="1"/>
                        <a:t>DstIP</a:t>
                      </a:r>
                      <a:endParaRPr lang="en-US" sz="1400" b="0" dirty="0"/>
                    </a:p>
                  </a:txBody>
                  <a:tcPr/>
                </a:tc>
                <a:tc>
                  <a:txBody>
                    <a:bodyPr/>
                    <a:lstStyle/>
                    <a:p>
                      <a:pPr algn="ctr"/>
                      <a:r>
                        <a:rPr lang="en-US" sz="1400" b="0" dirty="0" err="1"/>
                        <a:t>DstPort</a:t>
                      </a:r>
                      <a:endParaRPr lang="en-US" sz="1400" b="0" dirty="0"/>
                    </a:p>
                    <a:p>
                      <a:pPr algn="ctr"/>
                      <a:r>
                        <a:rPr lang="en-US" sz="1400" b="0" dirty="0"/>
                        <a:t>(53)</a:t>
                      </a:r>
                    </a:p>
                  </a:txBody>
                  <a:tcPr/>
                </a:tc>
                <a:extLst>
                  <a:ext uri="{0D108BD9-81ED-4DB2-BD59-A6C34878D82A}">
                    <a16:rowId xmlns:a16="http://schemas.microsoft.com/office/drawing/2014/main" val="10000"/>
                  </a:ext>
                </a:extLst>
              </a:tr>
              <a:tr h="255086">
                <a:tc>
                  <a:txBody>
                    <a:bodyPr/>
                    <a:lstStyle/>
                    <a:p>
                      <a:pPr algn="ctr"/>
                      <a:r>
                        <a:rPr lang="en-US" sz="1400" b="0" dirty="0"/>
                        <a:t>ID (16 bits)</a:t>
                      </a:r>
                    </a:p>
                  </a:txBody>
                  <a:tcPr/>
                </a:tc>
                <a:tc gridSpan="3">
                  <a:txBody>
                    <a:bodyPr/>
                    <a:lstStyle/>
                    <a:p>
                      <a:pPr algn="ctr"/>
                      <a:r>
                        <a:rPr lang="en-US" sz="1400" b="0" dirty="0"/>
                        <a:t>Query: </a:t>
                      </a:r>
                      <a:r>
                        <a:rPr lang="en-US" sz="1400" b="0" dirty="0" err="1"/>
                        <a:t>cash.foo.com</a:t>
                      </a:r>
                      <a:endParaRPr lang="en-US" sz="1400" b="0"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5" name="Picture 6" descr="j019538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291079" y="2549144"/>
            <a:ext cx="767669" cy="94462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sp>
        <p:nvSpPr>
          <p:cNvPr id="6" name="tower"/>
          <p:cNvSpPr>
            <a:spLocks noEditPoints="1" noChangeArrowheads="1"/>
          </p:cNvSpPr>
          <p:nvPr/>
        </p:nvSpPr>
        <p:spPr bwMode="auto">
          <a:xfrm>
            <a:off x="3468938" y="2552592"/>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7" name="tower"/>
          <p:cNvSpPr>
            <a:spLocks noEditPoints="1" noChangeArrowheads="1"/>
          </p:cNvSpPr>
          <p:nvPr/>
        </p:nvSpPr>
        <p:spPr bwMode="auto">
          <a:xfrm>
            <a:off x="7564386" y="2442793"/>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cxnSp>
        <p:nvCxnSpPr>
          <p:cNvPr id="8" name="Straight Arrow Connector 7"/>
          <p:cNvCxnSpPr/>
          <p:nvPr/>
        </p:nvCxnSpPr>
        <p:spPr>
          <a:xfrm>
            <a:off x="1430500" y="2875803"/>
            <a:ext cx="1438577"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4141434" y="2875803"/>
            <a:ext cx="3091518"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4141436" y="3096965"/>
            <a:ext cx="3091516" cy="7269"/>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H="1">
            <a:off x="1430501" y="3096965"/>
            <a:ext cx="1438576"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430500" y="2364478"/>
            <a:ext cx="1438577" cy="369332"/>
          </a:xfrm>
          <a:prstGeom prst="rect">
            <a:avLst/>
          </a:prstGeom>
          <a:noFill/>
        </p:spPr>
        <p:txBody>
          <a:bodyPr wrap="none" rtlCol="0">
            <a:spAutoFit/>
          </a:bodyPr>
          <a:lstStyle/>
          <a:p>
            <a:r>
              <a:rPr lang="en-US" dirty="0" err="1"/>
              <a:t>cash.foo.com</a:t>
            </a:r>
            <a:endParaRPr lang="en-US" dirty="0"/>
          </a:p>
        </p:txBody>
      </p:sp>
      <p:sp>
        <p:nvSpPr>
          <p:cNvPr id="13" name="TextBox 12"/>
          <p:cNvSpPr txBox="1"/>
          <p:nvPr/>
        </p:nvSpPr>
        <p:spPr>
          <a:xfrm>
            <a:off x="3243716" y="2013829"/>
            <a:ext cx="992579" cy="523220"/>
          </a:xfrm>
          <a:prstGeom prst="rect">
            <a:avLst/>
          </a:prstGeom>
          <a:noFill/>
        </p:spPr>
        <p:txBody>
          <a:bodyPr wrap="none" rtlCol="0">
            <a:spAutoFit/>
          </a:bodyPr>
          <a:lstStyle/>
          <a:p>
            <a:pPr algn="ctr"/>
            <a:r>
              <a:rPr lang="en-US" sz="1400" dirty="0"/>
              <a:t>Recursive</a:t>
            </a:r>
          </a:p>
          <a:p>
            <a:pPr algn="ctr"/>
            <a:r>
              <a:rPr lang="en-US" sz="1400" dirty="0"/>
              <a:t>DNS server</a:t>
            </a:r>
          </a:p>
        </p:txBody>
      </p:sp>
      <p:sp>
        <p:nvSpPr>
          <p:cNvPr id="14" name="TextBox 13"/>
          <p:cNvSpPr txBox="1"/>
          <p:nvPr/>
        </p:nvSpPr>
        <p:spPr>
          <a:xfrm>
            <a:off x="7979617" y="1953629"/>
            <a:ext cx="992404" cy="523220"/>
          </a:xfrm>
          <a:prstGeom prst="rect">
            <a:avLst/>
          </a:prstGeom>
          <a:noFill/>
        </p:spPr>
        <p:txBody>
          <a:bodyPr wrap="none" rtlCol="0">
            <a:spAutoFit/>
          </a:bodyPr>
          <a:lstStyle/>
          <a:p>
            <a:r>
              <a:rPr lang="en-US" sz="1400" dirty="0"/>
              <a:t>foo server</a:t>
            </a:r>
          </a:p>
          <a:p>
            <a:r>
              <a:rPr lang="en-US" sz="1400" dirty="0"/>
              <a:t>(IP: Z.Z.Z.Z)</a:t>
            </a:r>
          </a:p>
        </p:txBody>
      </p:sp>
      <p:sp>
        <p:nvSpPr>
          <p:cNvPr id="15" name="TextBox 14"/>
          <p:cNvSpPr txBox="1"/>
          <p:nvPr/>
        </p:nvSpPr>
        <p:spPr>
          <a:xfrm>
            <a:off x="1134187" y="3142579"/>
            <a:ext cx="1981933" cy="338554"/>
          </a:xfrm>
          <a:prstGeom prst="rect">
            <a:avLst/>
          </a:prstGeom>
          <a:noFill/>
        </p:spPr>
        <p:txBody>
          <a:bodyPr wrap="none" rtlCol="0">
            <a:spAutoFit/>
          </a:bodyPr>
          <a:lstStyle/>
          <a:p>
            <a:r>
              <a:rPr lang="en-US" sz="1600" dirty="0" err="1"/>
              <a:t>cash.foo.com</a:t>
            </a:r>
            <a:r>
              <a:rPr lang="en-US" sz="1600" dirty="0"/>
              <a:t>: X.X.X.X</a:t>
            </a:r>
          </a:p>
        </p:txBody>
      </p:sp>
      <p:graphicFrame>
        <p:nvGraphicFramePr>
          <p:cNvPr id="16" name="Table 15"/>
          <p:cNvGraphicFramePr>
            <a:graphicFrameLocks noGrp="1"/>
          </p:cNvGraphicFramePr>
          <p:nvPr/>
        </p:nvGraphicFramePr>
        <p:xfrm>
          <a:off x="4697797" y="3346869"/>
          <a:ext cx="3260460" cy="1036320"/>
        </p:xfrm>
        <a:graphic>
          <a:graphicData uri="http://schemas.openxmlformats.org/drawingml/2006/table">
            <a:tbl>
              <a:tblPr firstRow="1" bandRow="1">
                <a:tableStyleId>{69CF1AB2-1976-4502-BF36-3FF5EA218861}</a:tableStyleId>
              </a:tblPr>
              <a:tblGrid>
                <a:gridCol w="1008594">
                  <a:extLst>
                    <a:ext uri="{9D8B030D-6E8A-4147-A177-3AD203B41FA5}">
                      <a16:colId xmlns:a16="http://schemas.microsoft.com/office/drawing/2014/main" val="20000"/>
                    </a:ext>
                  </a:extLst>
                </a:gridCol>
                <a:gridCol w="725714">
                  <a:extLst>
                    <a:ext uri="{9D8B030D-6E8A-4147-A177-3AD203B41FA5}">
                      <a16:colId xmlns:a16="http://schemas.microsoft.com/office/drawing/2014/main" val="20001"/>
                    </a:ext>
                  </a:extLst>
                </a:gridCol>
                <a:gridCol w="711037">
                  <a:extLst>
                    <a:ext uri="{9D8B030D-6E8A-4147-A177-3AD203B41FA5}">
                      <a16:colId xmlns:a16="http://schemas.microsoft.com/office/drawing/2014/main" val="20002"/>
                    </a:ext>
                  </a:extLst>
                </a:gridCol>
                <a:gridCol w="815115">
                  <a:extLst>
                    <a:ext uri="{9D8B030D-6E8A-4147-A177-3AD203B41FA5}">
                      <a16:colId xmlns:a16="http://schemas.microsoft.com/office/drawing/2014/main" val="20003"/>
                    </a:ext>
                  </a:extLst>
                </a:gridCol>
              </a:tblGrid>
              <a:tr h="418547">
                <a:tc>
                  <a:txBody>
                    <a:bodyPr/>
                    <a:lstStyle/>
                    <a:p>
                      <a:pPr algn="ctr"/>
                      <a:r>
                        <a:rPr lang="en-US" sz="1400" b="0" dirty="0" err="1"/>
                        <a:t>SrcIP</a:t>
                      </a:r>
                      <a:endParaRPr lang="en-US" sz="1400" b="0" dirty="0"/>
                    </a:p>
                  </a:txBody>
                  <a:tcPr/>
                </a:tc>
                <a:tc>
                  <a:txBody>
                    <a:bodyPr/>
                    <a:lstStyle/>
                    <a:p>
                      <a:pPr algn="ctr"/>
                      <a:r>
                        <a:rPr lang="en-US" sz="1400" b="0" dirty="0" err="1"/>
                        <a:t>SrcPort</a:t>
                      </a:r>
                      <a:endParaRPr lang="en-US" sz="1400" b="0" dirty="0"/>
                    </a:p>
                    <a:p>
                      <a:pPr algn="ctr"/>
                      <a:r>
                        <a:rPr lang="en-US" sz="1400" b="0" dirty="0"/>
                        <a:t>(53)</a:t>
                      </a:r>
                    </a:p>
                  </a:txBody>
                  <a:tcPr/>
                </a:tc>
                <a:tc>
                  <a:txBody>
                    <a:bodyPr/>
                    <a:lstStyle/>
                    <a:p>
                      <a:pPr algn="ctr"/>
                      <a:r>
                        <a:rPr lang="en-US" sz="1400" b="0" dirty="0" err="1"/>
                        <a:t>DstIP</a:t>
                      </a:r>
                      <a:endParaRPr lang="en-US" sz="1400" b="0" dirty="0"/>
                    </a:p>
                  </a:txBody>
                  <a:tcPr/>
                </a:tc>
                <a:tc>
                  <a:txBody>
                    <a:bodyPr/>
                    <a:lstStyle/>
                    <a:p>
                      <a:pPr algn="ctr"/>
                      <a:r>
                        <a:rPr lang="en-US" sz="1400" b="0" dirty="0" err="1"/>
                        <a:t>DstPort</a:t>
                      </a:r>
                      <a:endParaRPr lang="en-US" sz="1400" b="0" dirty="0"/>
                    </a:p>
                    <a:p>
                      <a:pPr algn="ctr"/>
                      <a:r>
                        <a:rPr lang="en-US" sz="1400" b="0" dirty="0"/>
                        <a:t>(16 bits)</a:t>
                      </a:r>
                    </a:p>
                  </a:txBody>
                  <a:tcPr/>
                </a:tc>
                <a:extLst>
                  <a:ext uri="{0D108BD9-81ED-4DB2-BD59-A6C34878D82A}">
                    <a16:rowId xmlns:a16="http://schemas.microsoft.com/office/drawing/2014/main" val="10000"/>
                  </a:ext>
                </a:extLst>
              </a:tr>
              <a:tr h="255086">
                <a:tc>
                  <a:txBody>
                    <a:bodyPr/>
                    <a:lstStyle/>
                    <a:p>
                      <a:pPr algn="ctr"/>
                      <a:r>
                        <a:rPr lang="en-US" sz="1400" b="0" dirty="0"/>
                        <a:t>ID (16bits)</a:t>
                      </a:r>
                    </a:p>
                  </a:txBody>
                  <a:tcPr/>
                </a:tc>
                <a:tc gridSpan="3">
                  <a:txBody>
                    <a:bodyPr/>
                    <a:lstStyle/>
                    <a:p>
                      <a:pPr algn="l"/>
                      <a:r>
                        <a:rPr lang="en-US" sz="1400" b="0" dirty="0" err="1"/>
                        <a:t>cash.foo.com</a:t>
                      </a:r>
                      <a:r>
                        <a:rPr lang="en-US" sz="1400" b="0" dirty="0"/>
                        <a:t>: </a:t>
                      </a:r>
                      <a:r>
                        <a:rPr lang="en-US" sz="1400" b="0" dirty="0" err="1"/>
                        <a:t>x.x.x.x</a:t>
                      </a:r>
                      <a:endParaRPr lang="en-US" sz="1400" b="0" dirty="0"/>
                    </a:p>
                    <a:p>
                      <a:pPr algn="l"/>
                      <a:r>
                        <a:rPr lang="en-US" sz="1400" b="0" dirty="0" err="1"/>
                        <a:t>foo.com</a:t>
                      </a:r>
                      <a:r>
                        <a:rPr lang="en-US" sz="1400" b="0" dirty="0"/>
                        <a:t>: </a:t>
                      </a:r>
                      <a:r>
                        <a:rPr lang="en-US" sz="1400" b="0" dirty="0" err="1"/>
                        <a:t>z.z.z.z</a:t>
                      </a:r>
                      <a:endParaRPr lang="en-US" sz="1400" b="0"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3" name="Picture 2" descr="cyber-crime-hacker-270x167.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2756" y="5838668"/>
            <a:ext cx="1201160" cy="742940"/>
          </a:xfrm>
          <a:prstGeom prst="rect">
            <a:avLst/>
          </a:prstGeom>
        </p:spPr>
      </p:pic>
      <p:graphicFrame>
        <p:nvGraphicFramePr>
          <p:cNvPr id="21" name="Table 20"/>
          <p:cNvGraphicFramePr>
            <a:graphicFrameLocks noGrp="1"/>
          </p:cNvGraphicFramePr>
          <p:nvPr/>
        </p:nvGraphicFramePr>
        <p:xfrm>
          <a:off x="2243692" y="4802349"/>
          <a:ext cx="3260460" cy="1036320"/>
        </p:xfrm>
        <a:graphic>
          <a:graphicData uri="http://schemas.openxmlformats.org/drawingml/2006/table">
            <a:tbl>
              <a:tblPr firstRow="1" bandRow="1">
                <a:tableStyleId>{69CF1AB2-1976-4502-BF36-3FF5EA218861}</a:tableStyleId>
              </a:tblPr>
              <a:tblGrid>
                <a:gridCol w="1008594">
                  <a:extLst>
                    <a:ext uri="{9D8B030D-6E8A-4147-A177-3AD203B41FA5}">
                      <a16:colId xmlns:a16="http://schemas.microsoft.com/office/drawing/2014/main" val="20000"/>
                    </a:ext>
                  </a:extLst>
                </a:gridCol>
                <a:gridCol w="725714">
                  <a:extLst>
                    <a:ext uri="{9D8B030D-6E8A-4147-A177-3AD203B41FA5}">
                      <a16:colId xmlns:a16="http://schemas.microsoft.com/office/drawing/2014/main" val="20001"/>
                    </a:ext>
                  </a:extLst>
                </a:gridCol>
                <a:gridCol w="711037">
                  <a:extLst>
                    <a:ext uri="{9D8B030D-6E8A-4147-A177-3AD203B41FA5}">
                      <a16:colId xmlns:a16="http://schemas.microsoft.com/office/drawing/2014/main" val="20002"/>
                    </a:ext>
                  </a:extLst>
                </a:gridCol>
                <a:gridCol w="815115">
                  <a:extLst>
                    <a:ext uri="{9D8B030D-6E8A-4147-A177-3AD203B41FA5}">
                      <a16:colId xmlns:a16="http://schemas.microsoft.com/office/drawing/2014/main" val="20003"/>
                    </a:ext>
                  </a:extLst>
                </a:gridCol>
              </a:tblGrid>
              <a:tr h="418547">
                <a:tc>
                  <a:txBody>
                    <a:bodyPr/>
                    <a:lstStyle/>
                    <a:p>
                      <a:pPr algn="ctr"/>
                      <a:r>
                        <a:rPr lang="en-US" sz="1400" b="0" dirty="0" err="1"/>
                        <a:t>SrcIP</a:t>
                      </a:r>
                      <a:endParaRPr lang="en-US" sz="1400" b="0" dirty="0"/>
                    </a:p>
                  </a:txBody>
                  <a:tcPr/>
                </a:tc>
                <a:tc>
                  <a:txBody>
                    <a:bodyPr/>
                    <a:lstStyle/>
                    <a:p>
                      <a:pPr algn="ctr"/>
                      <a:r>
                        <a:rPr lang="en-US" sz="1400" b="0" dirty="0" err="1"/>
                        <a:t>SrcPort</a:t>
                      </a:r>
                      <a:endParaRPr lang="en-US" sz="1400" b="0" dirty="0"/>
                    </a:p>
                    <a:p>
                      <a:pPr algn="ctr"/>
                      <a:r>
                        <a:rPr lang="en-US" sz="1400" b="0" dirty="0"/>
                        <a:t>(53)</a:t>
                      </a:r>
                    </a:p>
                  </a:txBody>
                  <a:tcPr/>
                </a:tc>
                <a:tc>
                  <a:txBody>
                    <a:bodyPr/>
                    <a:lstStyle/>
                    <a:p>
                      <a:pPr algn="ctr"/>
                      <a:r>
                        <a:rPr lang="en-US" sz="1400" b="0" dirty="0" err="1"/>
                        <a:t>DstIP</a:t>
                      </a:r>
                      <a:endParaRPr lang="en-US" sz="1400" b="0" dirty="0"/>
                    </a:p>
                  </a:txBody>
                  <a:tcPr/>
                </a:tc>
                <a:tc>
                  <a:txBody>
                    <a:bodyPr/>
                    <a:lstStyle/>
                    <a:p>
                      <a:pPr algn="ctr"/>
                      <a:r>
                        <a:rPr lang="en-US" sz="1400" b="0" dirty="0" err="1"/>
                        <a:t>DstPort</a:t>
                      </a:r>
                      <a:endParaRPr lang="en-US" sz="1400" b="0" dirty="0"/>
                    </a:p>
                    <a:p>
                      <a:pPr algn="ctr"/>
                      <a:r>
                        <a:rPr lang="en-US" sz="1400" b="0" dirty="0"/>
                        <a:t>(16 bits)</a:t>
                      </a:r>
                    </a:p>
                  </a:txBody>
                  <a:tcPr/>
                </a:tc>
                <a:extLst>
                  <a:ext uri="{0D108BD9-81ED-4DB2-BD59-A6C34878D82A}">
                    <a16:rowId xmlns:a16="http://schemas.microsoft.com/office/drawing/2014/main" val="10000"/>
                  </a:ext>
                </a:extLst>
              </a:tr>
              <a:tr h="255086">
                <a:tc>
                  <a:txBody>
                    <a:bodyPr/>
                    <a:lstStyle/>
                    <a:p>
                      <a:pPr algn="ctr"/>
                      <a:r>
                        <a:rPr lang="en-US" sz="1400" b="0" dirty="0"/>
                        <a:t>ID (16bits)</a:t>
                      </a:r>
                    </a:p>
                  </a:txBody>
                  <a:tcPr/>
                </a:tc>
                <a:tc gridSpan="3">
                  <a:txBody>
                    <a:bodyPr/>
                    <a:lstStyle/>
                    <a:p>
                      <a:pPr algn="l"/>
                      <a:r>
                        <a:rPr lang="en-US" sz="1400" b="0" dirty="0" err="1"/>
                        <a:t>cash.foo.com</a:t>
                      </a:r>
                      <a:r>
                        <a:rPr lang="en-US" sz="1400" b="0" dirty="0"/>
                        <a:t>: </a:t>
                      </a:r>
                      <a:r>
                        <a:rPr lang="en-US" sz="1400" b="0" dirty="0" err="1">
                          <a:solidFill>
                            <a:srgbClr val="FF0000"/>
                          </a:solidFill>
                        </a:rPr>
                        <a:t>m.m.m.m</a:t>
                      </a:r>
                      <a:endParaRPr lang="en-US" sz="1400" b="0" dirty="0">
                        <a:solidFill>
                          <a:srgbClr val="FF0000"/>
                        </a:solidFill>
                      </a:endParaRPr>
                    </a:p>
                    <a:p>
                      <a:pPr algn="l"/>
                      <a:r>
                        <a:rPr lang="en-US" sz="1400" b="0" dirty="0" err="1"/>
                        <a:t>foo.com</a:t>
                      </a:r>
                      <a:r>
                        <a:rPr lang="en-US" sz="1400" b="0" dirty="0"/>
                        <a:t>: </a:t>
                      </a:r>
                      <a:r>
                        <a:rPr lang="en-US" sz="1400" b="0" dirty="0" err="1">
                          <a:solidFill>
                            <a:srgbClr val="FF0000"/>
                          </a:solidFill>
                        </a:rPr>
                        <a:t>z.z.z.z</a:t>
                      </a:r>
                      <a:endParaRPr lang="en-US" sz="1400" b="0" dirty="0">
                        <a:solidFill>
                          <a:srgbClr val="FF0000"/>
                        </a:solidFill>
                      </a:endParaRP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sp>
        <p:nvSpPr>
          <p:cNvPr id="25" name="Freeform 24"/>
          <p:cNvSpPr/>
          <p:nvPr/>
        </p:nvSpPr>
        <p:spPr>
          <a:xfrm>
            <a:off x="644305" y="3679797"/>
            <a:ext cx="4780933" cy="2530341"/>
          </a:xfrm>
          <a:custGeom>
            <a:avLst/>
            <a:gdLst>
              <a:gd name="connsiteX0" fmla="*/ 4780933 w 4780933"/>
              <a:gd name="connsiteY0" fmla="*/ 2418686 h 2530341"/>
              <a:gd name="connsiteX1" fmla="*/ 634968 w 4780933"/>
              <a:gd name="connsiteY1" fmla="*/ 2250592 h 2530341"/>
              <a:gd name="connsiteX2" fmla="*/ 0 w 4780933"/>
              <a:gd name="connsiteY2" fmla="*/ 0 h 2530341"/>
            </a:gdLst>
            <a:ahLst/>
            <a:cxnLst>
              <a:cxn ang="0">
                <a:pos x="connsiteX0" y="connsiteY0"/>
              </a:cxn>
              <a:cxn ang="0">
                <a:pos x="connsiteX1" y="connsiteY1"/>
              </a:cxn>
              <a:cxn ang="0">
                <a:pos x="connsiteX2" y="connsiteY2"/>
              </a:cxn>
            </a:cxnLst>
            <a:rect l="l" t="t" r="r" b="b"/>
            <a:pathLst>
              <a:path w="4780933" h="2530341">
                <a:moveTo>
                  <a:pt x="4780933" y="2418686"/>
                </a:moveTo>
                <a:cubicBezTo>
                  <a:pt x="3106361" y="2536196"/>
                  <a:pt x="1431790" y="2653706"/>
                  <a:pt x="634968" y="2250592"/>
                </a:cubicBezTo>
                <a:cubicBezTo>
                  <a:pt x="-161854" y="1847478"/>
                  <a:pt x="105828" y="373542"/>
                  <a:pt x="0" y="0"/>
                </a:cubicBezTo>
              </a:path>
            </a:pathLst>
          </a:custGeom>
          <a:ln>
            <a:solidFill>
              <a:srgbClr val="FF0000"/>
            </a:solidFill>
            <a:prstDash val="sysDot"/>
            <a:tailEnd type="triangl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TextBox 25"/>
          <p:cNvSpPr txBox="1"/>
          <p:nvPr/>
        </p:nvSpPr>
        <p:spPr>
          <a:xfrm>
            <a:off x="644305" y="5838668"/>
            <a:ext cx="883250" cy="369332"/>
          </a:xfrm>
          <a:prstGeom prst="rect">
            <a:avLst/>
          </a:prstGeom>
          <a:noFill/>
        </p:spPr>
        <p:txBody>
          <a:bodyPr wrap="none" rtlCol="0">
            <a:spAutoFit/>
          </a:bodyPr>
          <a:lstStyle/>
          <a:p>
            <a:r>
              <a:rPr lang="en-US" dirty="0">
                <a:solidFill>
                  <a:srgbClr val="FF0000"/>
                </a:solidFill>
              </a:rPr>
              <a:t>Control</a:t>
            </a:r>
          </a:p>
        </p:txBody>
      </p:sp>
    </p:spTree>
    <p:extLst>
      <p:ext uri="{BB962C8B-B14F-4D97-AF65-F5344CB8AC3E}">
        <p14:creationId xmlns:p14="http://schemas.microsoft.com/office/powerpoint/2010/main" val="3963608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Objective of 0x20</a:t>
            </a:r>
          </a:p>
        </p:txBody>
      </p:sp>
      <p:graphicFrame>
        <p:nvGraphicFramePr>
          <p:cNvPr id="4" name="Table 3"/>
          <p:cNvGraphicFramePr>
            <a:graphicFrameLocks noGrp="1"/>
          </p:cNvGraphicFramePr>
          <p:nvPr/>
        </p:nvGraphicFramePr>
        <p:xfrm>
          <a:off x="4236295" y="1474999"/>
          <a:ext cx="3599516" cy="822960"/>
        </p:xfrm>
        <a:graphic>
          <a:graphicData uri="http://schemas.openxmlformats.org/drawingml/2006/table">
            <a:tbl>
              <a:tblPr firstRow="1" bandRow="1">
                <a:tableStyleId>{69CF1AB2-1976-4502-BF36-3FF5EA218861}</a:tableStyleId>
              </a:tblPr>
              <a:tblGrid>
                <a:gridCol w="1113478">
                  <a:extLst>
                    <a:ext uri="{9D8B030D-6E8A-4147-A177-3AD203B41FA5}">
                      <a16:colId xmlns:a16="http://schemas.microsoft.com/office/drawing/2014/main" val="20000"/>
                    </a:ext>
                  </a:extLst>
                </a:gridCol>
                <a:gridCol w="801181">
                  <a:extLst>
                    <a:ext uri="{9D8B030D-6E8A-4147-A177-3AD203B41FA5}">
                      <a16:colId xmlns:a16="http://schemas.microsoft.com/office/drawing/2014/main" val="20001"/>
                    </a:ext>
                  </a:extLst>
                </a:gridCol>
                <a:gridCol w="784978">
                  <a:extLst>
                    <a:ext uri="{9D8B030D-6E8A-4147-A177-3AD203B41FA5}">
                      <a16:colId xmlns:a16="http://schemas.microsoft.com/office/drawing/2014/main" val="20002"/>
                    </a:ext>
                  </a:extLst>
                </a:gridCol>
                <a:gridCol w="899879">
                  <a:extLst>
                    <a:ext uri="{9D8B030D-6E8A-4147-A177-3AD203B41FA5}">
                      <a16:colId xmlns:a16="http://schemas.microsoft.com/office/drawing/2014/main" val="20003"/>
                    </a:ext>
                  </a:extLst>
                </a:gridCol>
              </a:tblGrid>
              <a:tr h="255086">
                <a:tc>
                  <a:txBody>
                    <a:bodyPr/>
                    <a:lstStyle/>
                    <a:p>
                      <a:pPr algn="ctr"/>
                      <a:r>
                        <a:rPr lang="en-US" sz="1400" b="0" dirty="0" err="1"/>
                        <a:t>SrcIP</a:t>
                      </a:r>
                      <a:endParaRPr lang="en-US" sz="1400" b="0" dirty="0"/>
                    </a:p>
                  </a:txBody>
                  <a:tcPr/>
                </a:tc>
                <a:tc>
                  <a:txBody>
                    <a:bodyPr/>
                    <a:lstStyle/>
                    <a:p>
                      <a:pPr algn="ctr"/>
                      <a:r>
                        <a:rPr lang="en-US" sz="1400" b="0" dirty="0" err="1"/>
                        <a:t>SrcPort</a:t>
                      </a:r>
                      <a:endParaRPr lang="en-US" sz="1400" b="0" dirty="0"/>
                    </a:p>
                    <a:p>
                      <a:pPr algn="ctr"/>
                      <a:r>
                        <a:rPr lang="en-US" sz="1400" b="0" dirty="0"/>
                        <a:t>(16 bits)</a:t>
                      </a:r>
                    </a:p>
                  </a:txBody>
                  <a:tcPr/>
                </a:tc>
                <a:tc>
                  <a:txBody>
                    <a:bodyPr/>
                    <a:lstStyle/>
                    <a:p>
                      <a:pPr algn="ctr"/>
                      <a:r>
                        <a:rPr lang="en-US" sz="1400" b="0" dirty="0" err="1"/>
                        <a:t>DstIP</a:t>
                      </a:r>
                      <a:endParaRPr lang="en-US" sz="1400" b="0" dirty="0"/>
                    </a:p>
                  </a:txBody>
                  <a:tcPr/>
                </a:tc>
                <a:tc>
                  <a:txBody>
                    <a:bodyPr/>
                    <a:lstStyle/>
                    <a:p>
                      <a:pPr algn="ctr"/>
                      <a:r>
                        <a:rPr lang="en-US" sz="1400" b="0" dirty="0" err="1"/>
                        <a:t>DstPort</a:t>
                      </a:r>
                      <a:endParaRPr lang="en-US" sz="1400" b="0" dirty="0"/>
                    </a:p>
                    <a:p>
                      <a:pPr algn="ctr"/>
                      <a:r>
                        <a:rPr lang="en-US" sz="1400" b="0" dirty="0"/>
                        <a:t>(53)</a:t>
                      </a:r>
                    </a:p>
                  </a:txBody>
                  <a:tcPr/>
                </a:tc>
                <a:extLst>
                  <a:ext uri="{0D108BD9-81ED-4DB2-BD59-A6C34878D82A}">
                    <a16:rowId xmlns:a16="http://schemas.microsoft.com/office/drawing/2014/main" val="10000"/>
                  </a:ext>
                </a:extLst>
              </a:tr>
              <a:tr h="255086">
                <a:tc>
                  <a:txBody>
                    <a:bodyPr/>
                    <a:lstStyle/>
                    <a:p>
                      <a:pPr algn="ctr"/>
                      <a:r>
                        <a:rPr lang="en-US" sz="1400" b="0" dirty="0"/>
                        <a:t>ID (16 bits)</a:t>
                      </a:r>
                    </a:p>
                  </a:txBody>
                  <a:tcPr/>
                </a:tc>
                <a:tc gridSpan="3">
                  <a:txBody>
                    <a:bodyPr/>
                    <a:lstStyle/>
                    <a:p>
                      <a:pPr algn="ctr"/>
                      <a:r>
                        <a:rPr lang="en-US" sz="1400" b="0" dirty="0"/>
                        <a:t>Query: </a:t>
                      </a:r>
                      <a:r>
                        <a:rPr lang="en-US" sz="1400" b="0" dirty="0" err="1"/>
                        <a:t>cash.foo.com</a:t>
                      </a:r>
                      <a:endParaRPr lang="en-US" sz="1400" b="0"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5" name="Picture 6" descr="j019538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291079" y="2549144"/>
            <a:ext cx="767669" cy="944623"/>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sp>
        <p:nvSpPr>
          <p:cNvPr id="6" name="tower"/>
          <p:cNvSpPr>
            <a:spLocks noEditPoints="1" noChangeArrowheads="1"/>
          </p:cNvSpPr>
          <p:nvPr/>
        </p:nvSpPr>
        <p:spPr bwMode="auto">
          <a:xfrm>
            <a:off x="3468938" y="2552592"/>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7" name="tower"/>
          <p:cNvSpPr>
            <a:spLocks noEditPoints="1" noChangeArrowheads="1"/>
          </p:cNvSpPr>
          <p:nvPr/>
        </p:nvSpPr>
        <p:spPr bwMode="auto">
          <a:xfrm>
            <a:off x="7564386" y="2442793"/>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cxnSp>
        <p:nvCxnSpPr>
          <p:cNvPr id="8" name="Straight Arrow Connector 7"/>
          <p:cNvCxnSpPr/>
          <p:nvPr/>
        </p:nvCxnSpPr>
        <p:spPr>
          <a:xfrm>
            <a:off x="1430500" y="2875803"/>
            <a:ext cx="1438577"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4141434" y="2875803"/>
            <a:ext cx="3091518"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4141436" y="3096965"/>
            <a:ext cx="3091516" cy="7269"/>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H="1">
            <a:off x="1430501" y="3096965"/>
            <a:ext cx="1438576" cy="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430500" y="2364478"/>
            <a:ext cx="1438577" cy="369332"/>
          </a:xfrm>
          <a:prstGeom prst="rect">
            <a:avLst/>
          </a:prstGeom>
          <a:noFill/>
        </p:spPr>
        <p:txBody>
          <a:bodyPr wrap="none" rtlCol="0">
            <a:spAutoFit/>
          </a:bodyPr>
          <a:lstStyle/>
          <a:p>
            <a:r>
              <a:rPr lang="en-US" dirty="0" err="1"/>
              <a:t>cash.foo.com</a:t>
            </a:r>
            <a:endParaRPr lang="en-US" dirty="0"/>
          </a:p>
        </p:txBody>
      </p:sp>
      <p:sp>
        <p:nvSpPr>
          <p:cNvPr id="13" name="TextBox 12"/>
          <p:cNvSpPr txBox="1"/>
          <p:nvPr/>
        </p:nvSpPr>
        <p:spPr>
          <a:xfrm>
            <a:off x="3243716" y="2013829"/>
            <a:ext cx="992579" cy="523220"/>
          </a:xfrm>
          <a:prstGeom prst="rect">
            <a:avLst/>
          </a:prstGeom>
          <a:noFill/>
        </p:spPr>
        <p:txBody>
          <a:bodyPr wrap="none" rtlCol="0">
            <a:spAutoFit/>
          </a:bodyPr>
          <a:lstStyle/>
          <a:p>
            <a:pPr algn="ctr"/>
            <a:r>
              <a:rPr lang="en-US" sz="1400" dirty="0"/>
              <a:t>Recursive</a:t>
            </a:r>
          </a:p>
          <a:p>
            <a:pPr algn="ctr"/>
            <a:r>
              <a:rPr lang="en-US" sz="1400" dirty="0"/>
              <a:t>DNS server</a:t>
            </a:r>
          </a:p>
        </p:txBody>
      </p:sp>
      <p:sp>
        <p:nvSpPr>
          <p:cNvPr id="14" name="TextBox 13"/>
          <p:cNvSpPr txBox="1"/>
          <p:nvPr/>
        </p:nvSpPr>
        <p:spPr>
          <a:xfrm>
            <a:off x="7979617" y="1953629"/>
            <a:ext cx="992404" cy="523220"/>
          </a:xfrm>
          <a:prstGeom prst="rect">
            <a:avLst/>
          </a:prstGeom>
          <a:noFill/>
        </p:spPr>
        <p:txBody>
          <a:bodyPr wrap="none" rtlCol="0">
            <a:spAutoFit/>
          </a:bodyPr>
          <a:lstStyle/>
          <a:p>
            <a:r>
              <a:rPr lang="en-US" sz="1400" dirty="0"/>
              <a:t>foo server</a:t>
            </a:r>
          </a:p>
          <a:p>
            <a:r>
              <a:rPr lang="en-US" sz="1400" dirty="0"/>
              <a:t>(IP: Z.Z.Z.Z)</a:t>
            </a:r>
          </a:p>
        </p:txBody>
      </p:sp>
      <p:sp>
        <p:nvSpPr>
          <p:cNvPr id="15" name="TextBox 14"/>
          <p:cNvSpPr txBox="1"/>
          <p:nvPr/>
        </p:nvSpPr>
        <p:spPr>
          <a:xfrm>
            <a:off x="1134187" y="3142579"/>
            <a:ext cx="1981933" cy="338554"/>
          </a:xfrm>
          <a:prstGeom prst="rect">
            <a:avLst/>
          </a:prstGeom>
          <a:noFill/>
        </p:spPr>
        <p:txBody>
          <a:bodyPr wrap="none" rtlCol="0">
            <a:spAutoFit/>
          </a:bodyPr>
          <a:lstStyle/>
          <a:p>
            <a:r>
              <a:rPr lang="en-US" sz="1600" dirty="0" err="1"/>
              <a:t>cash.foo.com</a:t>
            </a:r>
            <a:r>
              <a:rPr lang="en-US" sz="1600" dirty="0"/>
              <a:t>: X.X.X.X</a:t>
            </a:r>
          </a:p>
        </p:txBody>
      </p:sp>
      <p:graphicFrame>
        <p:nvGraphicFramePr>
          <p:cNvPr id="16" name="Table 15"/>
          <p:cNvGraphicFramePr>
            <a:graphicFrameLocks noGrp="1"/>
          </p:cNvGraphicFramePr>
          <p:nvPr/>
        </p:nvGraphicFramePr>
        <p:xfrm>
          <a:off x="4141436" y="3308813"/>
          <a:ext cx="3260460" cy="822960"/>
        </p:xfrm>
        <a:graphic>
          <a:graphicData uri="http://schemas.openxmlformats.org/drawingml/2006/table">
            <a:tbl>
              <a:tblPr firstRow="1" bandRow="1">
                <a:tableStyleId>{69CF1AB2-1976-4502-BF36-3FF5EA218861}</a:tableStyleId>
              </a:tblPr>
              <a:tblGrid>
                <a:gridCol w="1008594">
                  <a:extLst>
                    <a:ext uri="{9D8B030D-6E8A-4147-A177-3AD203B41FA5}">
                      <a16:colId xmlns:a16="http://schemas.microsoft.com/office/drawing/2014/main" val="20000"/>
                    </a:ext>
                  </a:extLst>
                </a:gridCol>
                <a:gridCol w="725714">
                  <a:extLst>
                    <a:ext uri="{9D8B030D-6E8A-4147-A177-3AD203B41FA5}">
                      <a16:colId xmlns:a16="http://schemas.microsoft.com/office/drawing/2014/main" val="20001"/>
                    </a:ext>
                  </a:extLst>
                </a:gridCol>
                <a:gridCol w="711037">
                  <a:extLst>
                    <a:ext uri="{9D8B030D-6E8A-4147-A177-3AD203B41FA5}">
                      <a16:colId xmlns:a16="http://schemas.microsoft.com/office/drawing/2014/main" val="20002"/>
                    </a:ext>
                  </a:extLst>
                </a:gridCol>
                <a:gridCol w="815115">
                  <a:extLst>
                    <a:ext uri="{9D8B030D-6E8A-4147-A177-3AD203B41FA5}">
                      <a16:colId xmlns:a16="http://schemas.microsoft.com/office/drawing/2014/main" val="20003"/>
                    </a:ext>
                  </a:extLst>
                </a:gridCol>
              </a:tblGrid>
              <a:tr h="418547">
                <a:tc>
                  <a:txBody>
                    <a:bodyPr/>
                    <a:lstStyle/>
                    <a:p>
                      <a:pPr algn="ctr"/>
                      <a:r>
                        <a:rPr lang="en-US" sz="1400" b="0" dirty="0" err="1"/>
                        <a:t>SrcIP</a:t>
                      </a:r>
                      <a:endParaRPr lang="en-US" sz="1400" b="0" dirty="0"/>
                    </a:p>
                  </a:txBody>
                  <a:tcPr/>
                </a:tc>
                <a:tc>
                  <a:txBody>
                    <a:bodyPr/>
                    <a:lstStyle/>
                    <a:p>
                      <a:pPr algn="ctr"/>
                      <a:r>
                        <a:rPr lang="en-US" sz="1400" b="0" dirty="0" err="1"/>
                        <a:t>SrcPort</a:t>
                      </a:r>
                      <a:endParaRPr lang="en-US" sz="1400" b="0" dirty="0"/>
                    </a:p>
                    <a:p>
                      <a:pPr algn="ctr"/>
                      <a:r>
                        <a:rPr lang="en-US" sz="1400" b="0" dirty="0"/>
                        <a:t>(53)</a:t>
                      </a:r>
                    </a:p>
                  </a:txBody>
                  <a:tcPr/>
                </a:tc>
                <a:tc>
                  <a:txBody>
                    <a:bodyPr/>
                    <a:lstStyle/>
                    <a:p>
                      <a:pPr algn="ctr"/>
                      <a:r>
                        <a:rPr lang="en-US" sz="1400" b="0" dirty="0" err="1"/>
                        <a:t>DstIP</a:t>
                      </a:r>
                      <a:endParaRPr lang="en-US" sz="1400" b="0" dirty="0"/>
                    </a:p>
                  </a:txBody>
                  <a:tcPr/>
                </a:tc>
                <a:tc>
                  <a:txBody>
                    <a:bodyPr/>
                    <a:lstStyle/>
                    <a:p>
                      <a:pPr algn="ctr"/>
                      <a:r>
                        <a:rPr lang="en-US" sz="1400" b="0" dirty="0" err="1"/>
                        <a:t>DstPort</a:t>
                      </a:r>
                      <a:endParaRPr lang="en-US" sz="1400" b="0" dirty="0"/>
                    </a:p>
                    <a:p>
                      <a:pPr algn="ctr"/>
                      <a:r>
                        <a:rPr lang="en-US" sz="1400" b="0" dirty="0"/>
                        <a:t>(16 bits)</a:t>
                      </a:r>
                    </a:p>
                  </a:txBody>
                  <a:tcPr/>
                </a:tc>
                <a:extLst>
                  <a:ext uri="{0D108BD9-81ED-4DB2-BD59-A6C34878D82A}">
                    <a16:rowId xmlns:a16="http://schemas.microsoft.com/office/drawing/2014/main" val="10000"/>
                  </a:ext>
                </a:extLst>
              </a:tr>
              <a:tr h="255086">
                <a:tc>
                  <a:txBody>
                    <a:bodyPr/>
                    <a:lstStyle/>
                    <a:p>
                      <a:pPr algn="ctr"/>
                      <a:r>
                        <a:rPr lang="en-US" sz="1400" b="0" dirty="0"/>
                        <a:t>ID (16bits)</a:t>
                      </a:r>
                    </a:p>
                  </a:txBody>
                  <a:tcPr/>
                </a:tc>
                <a:tc gridSpan="3">
                  <a:txBody>
                    <a:bodyPr/>
                    <a:lstStyle/>
                    <a:p>
                      <a:pPr algn="l"/>
                      <a:r>
                        <a:rPr lang="en-US" sz="1400" b="0" dirty="0" err="1"/>
                        <a:t>cash.foo.com</a:t>
                      </a:r>
                      <a:r>
                        <a:rPr lang="en-US" sz="1400" b="0" dirty="0"/>
                        <a:t>: </a:t>
                      </a:r>
                      <a:r>
                        <a:rPr lang="en-US" sz="1400" b="0" dirty="0" err="1"/>
                        <a:t>x.x.x.x</a:t>
                      </a:r>
                      <a:endParaRPr lang="en-US" sz="1400" b="0" dirty="0"/>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3" name="Picture 2" descr="cyber-crime-hacker-270x167.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1434" y="4592961"/>
            <a:ext cx="1201160" cy="742940"/>
          </a:xfrm>
          <a:prstGeom prst="rect">
            <a:avLst/>
          </a:prstGeom>
        </p:spPr>
      </p:pic>
      <p:sp>
        <p:nvSpPr>
          <p:cNvPr id="18" name="Rectangle 17"/>
          <p:cNvSpPr/>
          <p:nvPr/>
        </p:nvSpPr>
        <p:spPr>
          <a:xfrm>
            <a:off x="3601081" y="5566696"/>
            <a:ext cx="5149219" cy="923330"/>
          </a:xfrm>
          <a:prstGeom prst="rect">
            <a:avLst/>
          </a:prstGeom>
        </p:spPr>
        <p:txBody>
          <a:bodyPr wrap="square">
            <a:spAutoFit/>
          </a:bodyPr>
          <a:lstStyle/>
          <a:p>
            <a:pPr marL="285750" indent="-285750">
              <a:buFont typeface="Arial"/>
              <a:buChar char="•"/>
            </a:pPr>
            <a:r>
              <a:rPr lang="en-US" b="1" i="1" dirty="0">
                <a:solidFill>
                  <a:srgbClr val="FF0000"/>
                </a:solidFill>
              </a:rPr>
              <a:t>Can we find more bits to increase the randomness of the DNS responses from the authority server without changing the protocol?</a:t>
            </a:r>
          </a:p>
        </p:txBody>
      </p:sp>
      <p:sp>
        <p:nvSpPr>
          <p:cNvPr id="23" name="Rounded Rectangular Callout 22"/>
          <p:cNvSpPr/>
          <p:nvPr/>
        </p:nvSpPr>
        <p:spPr>
          <a:xfrm>
            <a:off x="5625679" y="4602315"/>
            <a:ext cx="2623910" cy="532297"/>
          </a:xfrm>
          <a:prstGeom prst="wedgeRoundRectCallout">
            <a:avLst>
              <a:gd name="adj1" fmla="val -60671"/>
              <a:gd name="adj2" fmla="val 1064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1400" dirty="0"/>
              <a:t>Guess Source Port: 1024 - 65535</a:t>
            </a:r>
          </a:p>
          <a:p>
            <a:r>
              <a:rPr lang="en-US" sz="1400" dirty="0"/>
              <a:t>Guess ID:  0 - 65535</a:t>
            </a:r>
          </a:p>
        </p:txBody>
      </p:sp>
    </p:spTree>
    <p:extLst>
      <p:ext uri="{BB962C8B-B14F-4D97-AF65-F5344CB8AC3E}">
        <p14:creationId xmlns:p14="http://schemas.microsoft.com/office/powerpoint/2010/main" val="3160374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0x20 in a Nutshell</a:t>
            </a:r>
          </a:p>
        </p:txBody>
      </p:sp>
      <p:sp>
        <p:nvSpPr>
          <p:cNvPr id="3" name="Content Placeholder 2"/>
          <p:cNvSpPr>
            <a:spLocks noGrp="1"/>
          </p:cNvSpPr>
          <p:nvPr>
            <p:ph idx="1"/>
          </p:nvPr>
        </p:nvSpPr>
        <p:spPr/>
        <p:txBody>
          <a:bodyPr>
            <a:normAutofit fontScale="92500" lnSpcReduction="20000"/>
          </a:bodyPr>
          <a:lstStyle/>
          <a:p>
            <a:r>
              <a:rPr lang="en-US" dirty="0"/>
              <a:t>The DNS recursive server randomly decides the upper and lower case of a letter in a DNS query with respect to the domain name</a:t>
            </a:r>
          </a:p>
          <a:p>
            <a:endParaRPr lang="en-US" dirty="0"/>
          </a:p>
          <a:p>
            <a:r>
              <a:rPr lang="en-US" dirty="0"/>
              <a:t>Issue the query to the authority server and get response whose ID/Port number is consistent with the request/query</a:t>
            </a:r>
          </a:p>
          <a:p>
            <a:endParaRPr lang="en-US" dirty="0"/>
          </a:p>
          <a:p>
            <a:r>
              <a:rPr lang="en-US" dirty="0"/>
              <a:t>Check whether the letter case is consistent with that in the query for each letter in the domain name </a:t>
            </a:r>
          </a:p>
        </p:txBody>
      </p:sp>
      <p:sp>
        <p:nvSpPr>
          <p:cNvPr id="4" name="Slide Number Placeholder 3"/>
          <p:cNvSpPr>
            <a:spLocks noGrp="1"/>
          </p:cNvSpPr>
          <p:nvPr>
            <p:ph type="sldNum" sz="quarter" idx="12"/>
          </p:nvPr>
        </p:nvSpPr>
        <p:spPr/>
        <p:txBody>
          <a:bodyPr/>
          <a:lstStyle/>
          <a:p>
            <a:fld id="{C556403C-56D0-1149-AACD-4EF6196A3E3A}" type="slidenum">
              <a:rPr lang="en-US" smtClean="0"/>
              <a:t>41</a:t>
            </a:fld>
            <a:endParaRPr lang="en-US"/>
          </a:p>
        </p:txBody>
      </p:sp>
    </p:spTree>
    <p:extLst>
      <p:ext uri="{BB962C8B-B14F-4D97-AF65-F5344CB8AC3E}">
        <p14:creationId xmlns:p14="http://schemas.microsoft.com/office/powerpoint/2010/main" val="679184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C2F58-1730-EF43-9627-ED92C640154E}"/>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0DE5DD5C-33A6-D742-AB03-1E2E51D3FEEB}"/>
              </a:ext>
            </a:extLst>
          </p:cNvPr>
          <p:cNvSpPr>
            <a:spLocks noGrp="1"/>
          </p:cNvSpPr>
          <p:nvPr>
            <p:ph idx="1"/>
          </p:nvPr>
        </p:nvSpPr>
        <p:spPr/>
        <p:txBody>
          <a:bodyPr/>
          <a:lstStyle/>
          <a:p>
            <a:r>
              <a:rPr lang="en-US" dirty="0"/>
              <a:t>0x20</a:t>
            </a:r>
          </a:p>
          <a:p>
            <a:pPr lvl="1"/>
            <a:r>
              <a:rPr lang="en-US" dirty="0"/>
              <a:t>How does it work</a:t>
            </a:r>
          </a:p>
          <a:p>
            <a:pPr lvl="1"/>
            <a:r>
              <a:rPr lang="en-US" dirty="0"/>
              <a:t>Assumptions </a:t>
            </a:r>
            <a:r>
              <a:rPr lang="en-US"/>
              <a:t>and Limitations</a:t>
            </a:r>
          </a:p>
        </p:txBody>
      </p:sp>
    </p:spTree>
    <p:extLst>
      <p:ext uri="{BB962C8B-B14F-4D97-AF65-F5344CB8AC3E}">
        <p14:creationId xmlns:p14="http://schemas.microsoft.com/office/powerpoint/2010/main" val="1372768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High-Level Overview of IDS</a:t>
            </a:r>
          </a:p>
        </p:txBody>
      </p:sp>
      <p:sp>
        <p:nvSpPr>
          <p:cNvPr id="3" name="Content Placeholder 2"/>
          <p:cNvSpPr>
            <a:spLocks noGrp="1"/>
          </p:cNvSpPr>
          <p:nvPr>
            <p:ph idx="1"/>
          </p:nvPr>
        </p:nvSpPr>
        <p:spPr>
          <a:xfrm>
            <a:off x="457200" y="1600200"/>
            <a:ext cx="8229600" cy="991231"/>
          </a:xfrm>
        </p:spPr>
        <p:txBody>
          <a:bodyPr>
            <a:normAutofit fontScale="92500" lnSpcReduction="10000"/>
          </a:bodyPr>
          <a:lstStyle/>
          <a:p>
            <a:r>
              <a:rPr lang="en-US" dirty="0"/>
              <a:t>Intrusion Detection System (IDS)</a:t>
            </a:r>
          </a:p>
          <a:p>
            <a:pPr lvl="1"/>
            <a:r>
              <a:rPr lang="en-US" dirty="0"/>
              <a:t>The system that performs intrusion detection</a:t>
            </a:r>
          </a:p>
        </p:txBody>
      </p:sp>
      <p:sp>
        <p:nvSpPr>
          <p:cNvPr id="4" name="Rounded Rectangle 3"/>
          <p:cNvSpPr/>
          <p:nvPr/>
        </p:nvSpPr>
        <p:spPr>
          <a:xfrm>
            <a:off x="3190490" y="3620834"/>
            <a:ext cx="1387548" cy="11287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IDS</a:t>
            </a:r>
          </a:p>
        </p:txBody>
      </p:sp>
      <p:sp>
        <p:nvSpPr>
          <p:cNvPr id="5" name="Parallelogram 4"/>
          <p:cNvSpPr/>
          <p:nvPr/>
        </p:nvSpPr>
        <p:spPr>
          <a:xfrm>
            <a:off x="1215080" y="3656167"/>
            <a:ext cx="1046459" cy="1093459"/>
          </a:xfrm>
          <a:prstGeom prst="parallelogram">
            <a:avLst/>
          </a:prstGeom>
          <a:ln/>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6" name="Parallelogram 5"/>
          <p:cNvSpPr/>
          <p:nvPr/>
        </p:nvSpPr>
        <p:spPr>
          <a:xfrm>
            <a:off x="5588918" y="2762535"/>
            <a:ext cx="1046459" cy="1093459"/>
          </a:xfrm>
          <a:prstGeom prst="parallelogram">
            <a:avLst/>
          </a:prstGeom>
          <a:ln/>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7" name="Parallelogram 6"/>
          <p:cNvSpPr/>
          <p:nvPr/>
        </p:nvSpPr>
        <p:spPr>
          <a:xfrm>
            <a:off x="5423828" y="4438056"/>
            <a:ext cx="1046459" cy="1093459"/>
          </a:xfrm>
          <a:prstGeom prst="parallelogram">
            <a:avLst/>
          </a:prstGeom>
          <a:ln/>
        </p:spPr>
        <p:style>
          <a:lnRef idx="2">
            <a:schemeClr val="accent1"/>
          </a:lnRef>
          <a:fillRef idx="1">
            <a:schemeClr val="lt1"/>
          </a:fillRef>
          <a:effectRef idx="0">
            <a:schemeClr val="accent1"/>
          </a:effectRef>
          <a:fontRef idx="minor">
            <a:schemeClr val="dk1"/>
          </a:fontRef>
        </p:style>
        <p:txBody>
          <a:bodyPr/>
          <a:lstStyle/>
          <a:p>
            <a:endParaRPr lang="en-US"/>
          </a:p>
        </p:txBody>
      </p:sp>
      <p:cxnSp>
        <p:nvCxnSpPr>
          <p:cNvPr id="8" name="Straight Arrow Connector 7"/>
          <p:cNvCxnSpPr>
            <a:stCxn id="5" idx="2"/>
            <a:endCxn id="4" idx="1"/>
          </p:cNvCxnSpPr>
          <p:nvPr/>
        </p:nvCxnSpPr>
        <p:spPr>
          <a:xfrm flipV="1">
            <a:off x="2130732" y="4185230"/>
            <a:ext cx="1059758" cy="176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endCxn id="6" idx="5"/>
          </p:cNvCxnSpPr>
          <p:nvPr/>
        </p:nvCxnSpPr>
        <p:spPr>
          <a:xfrm flipV="1">
            <a:off x="4578038" y="3309265"/>
            <a:ext cx="1141687" cy="8759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4" idx="3"/>
            <a:endCxn id="7" idx="5"/>
          </p:cNvCxnSpPr>
          <p:nvPr/>
        </p:nvCxnSpPr>
        <p:spPr>
          <a:xfrm>
            <a:off x="4578038" y="4185230"/>
            <a:ext cx="976597" cy="7995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56007" y="3750170"/>
            <a:ext cx="423320" cy="10582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Rectangle 11"/>
          <p:cNvSpPr/>
          <p:nvPr/>
        </p:nvSpPr>
        <p:spPr>
          <a:xfrm>
            <a:off x="1556007" y="3925615"/>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3" name="Rectangle 12"/>
          <p:cNvSpPr/>
          <p:nvPr/>
        </p:nvSpPr>
        <p:spPr>
          <a:xfrm>
            <a:off x="1544249" y="4101531"/>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4" name="Rectangle 13"/>
          <p:cNvSpPr/>
          <p:nvPr/>
        </p:nvSpPr>
        <p:spPr>
          <a:xfrm>
            <a:off x="1532023" y="4277447"/>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5" name="Rectangle 14"/>
          <p:cNvSpPr/>
          <p:nvPr/>
        </p:nvSpPr>
        <p:spPr>
          <a:xfrm>
            <a:off x="1532023" y="4461130"/>
            <a:ext cx="423320" cy="10582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6" name="Rectangle 15"/>
          <p:cNvSpPr/>
          <p:nvPr/>
        </p:nvSpPr>
        <p:spPr>
          <a:xfrm>
            <a:off x="5918087" y="3092461"/>
            <a:ext cx="423320" cy="10582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7" name="Rectangle 16"/>
          <p:cNvSpPr/>
          <p:nvPr/>
        </p:nvSpPr>
        <p:spPr>
          <a:xfrm>
            <a:off x="5918087" y="3309265"/>
            <a:ext cx="423320" cy="10582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8" name="Rectangle 17"/>
          <p:cNvSpPr/>
          <p:nvPr/>
        </p:nvSpPr>
        <p:spPr>
          <a:xfrm>
            <a:off x="5719725" y="4712980"/>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9" name="Rectangle 18"/>
          <p:cNvSpPr/>
          <p:nvPr/>
        </p:nvSpPr>
        <p:spPr>
          <a:xfrm>
            <a:off x="5707967" y="4888896"/>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0" name="Rectangle 19"/>
          <p:cNvSpPr/>
          <p:nvPr/>
        </p:nvSpPr>
        <p:spPr>
          <a:xfrm>
            <a:off x="5695741" y="5064812"/>
            <a:ext cx="423320" cy="105824"/>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21" name="TextBox 20"/>
          <p:cNvSpPr txBox="1"/>
          <p:nvPr/>
        </p:nvSpPr>
        <p:spPr>
          <a:xfrm>
            <a:off x="2355612" y="3773701"/>
            <a:ext cx="684803" cy="369332"/>
          </a:xfrm>
          <a:prstGeom prst="rect">
            <a:avLst/>
          </a:prstGeom>
          <a:noFill/>
        </p:spPr>
        <p:txBody>
          <a:bodyPr wrap="none" rtlCol="0">
            <a:spAutoFit/>
          </a:bodyPr>
          <a:lstStyle/>
          <a:p>
            <a:r>
              <a:rPr lang="en-US" dirty="0"/>
              <a:t>input</a:t>
            </a:r>
          </a:p>
        </p:txBody>
      </p:sp>
      <p:sp>
        <p:nvSpPr>
          <p:cNvPr id="22" name="TextBox 21"/>
          <p:cNvSpPr txBox="1"/>
          <p:nvPr/>
        </p:nvSpPr>
        <p:spPr>
          <a:xfrm>
            <a:off x="4644953" y="3233559"/>
            <a:ext cx="825867" cy="369332"/>
          </a:xfrm>
          <a:prstGeom prst="rect">
            <a:avLst/>
          </a:prstGeom>
          <a:noFill/>
        </p:spPr>
        <p:txBody>
          <a:bodyPr wrap="none" rtlCol="0">
            <a:spAutoFit/>
          </a:bodyPr>
          <a:lstStyle/>
          <a:p>
            <a:r>
              <a:rPr lang="en-US" dirty="0"/>
              <a:t>output</a:t>
            </a:r>
          </a:p>
        </p:txBody>
      </p:sp>
      <p:sp>
        <p:nvSpPr>
          <p:cNvPr id="23" name="TextBox 22"/>
          <p:cNvSpPr txBox="1"/>
          <p:nvPr/>
        </p:nvSpPr>
        <p:spPr>
          <a:xfrm>
            <a:off x="831098" y="3183389"/>
            <a:ext cx="1967205" cy="369332"/>
          </a:xfrm>
          <a:prstGeom prst="rect">
            <a:avLst/>
          </a:prstGeom>
          <a:noFill/>
        </p:spPr>
        <p:txBody>
          <a:bodyPr wrap="none" rtlCol="0">
            <a:spAutoFit/>
          </a:bodyPr>
          <a:lstStyle/>
          <a:p>
            <a:r>
              <a:rPr lang="en-US" dirty="0"/>
              <a:t>Observed activities</a:t>
            </a:r>
          </a:p>
        </p:txBody>
      </p:sp>
      <p:sp>
        <p:nvSpPr>
          <p:cNvPr id="24" name="TextBox 23"/>
          <p:cNvSpPr txBox="1"/>
          <p:nvPr/>
        </p:nvSpPr>
        <p:spPr>
          <a:xfrm>
            <a:off x="6560603" y="3013619"/>
            <a:ext cx="1909372" cy="369332"/>
          </a:xfrm>
          <a:prstGeom prst="rect">
            <a:avLst/>
          </a:prstGeom>
          <a:noFill/>
        </p:spPr>
        <p:txBody>
          <a:bodyPr wrap="none" rtlCol="0">
            <a:spAutoFit/>
          </a:bodyPr>
          <a:lstStyle/>
          <a:p>
            <a:r>
              <a:rPr lang="en-US" dirty="0"/>
              <a:t>Intrusion activities</a:t>
            </a:r>
          </a:p>
        </p:txBody>
      </p:sp>
      <p:sp>
        <p:nvSpPr>
          <p:cNvPr id="25" name="TextBox 24"/>
          <p:cNvSpPr txBox="1"/>
          <p:nvPr/>
        </p:nvSpPr>
        <p:spPr>
          <a:xfrm>
            <a:off x="6470287" y="4749626"/>
            <a:ext cx="1710725" cy="369332"/>
          </a:xfrm>
          <a:prstGeom prst="rect">
            <a:avLst/>
          </a:prstGeom>
          <a:noFill/>
        </p:spPr>
        <p:txBody>
          <a:bodyPr wrap="none" rtlCol="0">
            <a:spAutoFit/>
          </a:bodyPr>
          <a:lstStyle/>
          <a:p>
            <a:r>
              <a:rPr lang="en-US" dirty="0"/>
              <a:t>Benign activities</a:t>
            </a:r>
          </a:p>
        </p:txBody>
      </p:sp>
    </p:spTree>
    <p:extLst>
      <p:ext uri="{BB962C8B-B14F-4D97-AF65-F5344CB8AC3E}">
        <p14:creationId xmlns:p14="http://schemas.microsoft.com/office/powerpoint/2010/main" val="140528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2B81-B736-784D-A3DA-9491D1264FC0}"/>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47487544-4808-A94A-890B-8E1D5E0018DF}"/>
              </a:ext>
            </a:extLst>
          </p:cNvPr>
          <p:cNvSpPr>
            <a:spLocks noGrp="1"/>
          </p:cNvSpPr>
          <p:nvPr>
            <p:ph idx="1"/>
          </p:nvPr>
        </p:nvSpPr>
        <p:spPr/>
        <p:txBody>
          <a:bodyPr/>
          <a:lstStyle/>
          <a:p>
            <a:r>
              <a:rPr lang="en-US" dirty="0"/>
              <a:t>Intrusion Detection</a:t>
            </a:r>
          </a:p>
          <a:p>
            <a:pPr lvl="1"/>
            <a:r>
              <a:rPr lang="en-US" dirty="0"/>
              <a:t>Misuse</a:t>
            </a:r>
          </a:p>
          <a:p>
            <a:pPr lvl="1"/>
            <a:r>
              <a:rPr lang="en-US" dirty="0"/>
              <a:t>Anomaly</a:t>
            </a:r>
          </a:p>
          <a:p>
            <a:pPr lvl="1"/>
            <a:r>
              <a:rPr lang="en-US" dirty="0"/>
              <a:t>Comparison</a:t>
            </a:r>
          </a:p>
          <a:p>
            <a:pPr lvl="1"/>
            <a:r>
              <a:rPr lang="en-US" dirty="0"/>
              <a:t>False Positives/negatives</a:t>
            </a:r>
          </a:p>
          <a:p>
            <a:pPr lvl="1"/>
            <a:r>
              <a:rPr lang="en-US" dirty="0"/>
              <a:t>Detection rate</a:t>
            </a:r>
          </a:p>
          <a:p>
            <a:pPr lvl="1"/>
            <a:endParaRPr lang="en-US" dirty="0"/>
          </a:p>
        </p:txBody>
      </p:sp>
    </p:spTree>
    <p:extLst>
      <p:ext uri="{BB962C8B-B14F-4D97-AF65-F5344CB8AC3E}">
        <p14:creationId xmlns:p14="http://schemas.microsoft.com/office/powerpoint/2010/main" val="3263829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Misuse V.S. Anomaly</a:t>
            </a:r>
          </a:p>
        </p:txBody>
      </p:sp>
      <p:sp>
        <p:nvSpPr>
          <p:cNvPr id="4" name="Content Placeholder 3"/>
          <p:cNvSpPr>
            <a:spLocks noGrp="1"/>
          </p:cNvSpPr>
          <p:nvPr>
            <p:ph sz="half" idx="1"/>
          </p:nvPr>
        </p:nvSpPr>
        <p:spPr/>
        <p:txBody>
          <a:bodyPr/>
          <a:lstStyle/>
          <a:p>
            <a:r>
              <a:rPr lang="en-US" dirty="0"/>
              <a:t>Advantage</a:t>
            </a:r>
          </a:p>
          <a:p>
            <a:pPr lvl="1"/>
            <a:r>
              <a:rPr lang="en-US" dirty="0"/>
              <a:t>Relatively low false positive rate in practical deployment</a:t>
            </a:r>
          </a:p>
          <a:p>
            <a:pPr lvl="1"/>
            <a:r>
              <a:rPr lang="en-US" dirty="0"/>
              <a:t>Offers information for reaction</a:t>
            </a:r>
          </a:p>
        </p:txBody>
      </p:sp>
      <p:sp>
        <p:nvSpPr>
          <p:cNvPr id="5" name="Content Placeholder 4"/>
          <p:cNvSpPr>
            <a:spLocks noGrp="1"/>
          </p:cNvSpPr>
          <p:nvPr>
            <p:ph sz="half" idx="2"/>
          </p:nvPr>
        </p:nvSpPr>
        <p:spPr/>
        <p:txBody>
          <a:bodyPr/>
          <a:lstStyle/>
          <a:p>
            <a:r>
              <a:rPr lang="en-US" dirty="0"/>
              <a:t>Disadvantage</a:t>
            </a:r>
          </a:p>
          <a:p>
            <a:pPr lvl="1"/>
            <a:r>
              <a:rPr lang="en-US" dirty="0"/>
              <a:t>Cannot detect novel attacks (e.g., an variant of a malware sample)</a:t>
            </a:r>
          </a:p>
          <a:p>
            <a:pPr lvl="1"/>
            <a:endParaRPr lang="en-US" dirty="0"/>
          </a:p>
          <a:p>
            <a:pPr lvl="1"/>
            <a:endParaRPr lang="en-US" dirty="0"/>
          </a:p>
        </p:txBody>
      </p:sp>
    </p:spTree>
    <p:extLst>
      <p:ext uri="{BB962C8B-B14F-4D97-AF65-F5344CB8AC3E}">
        <p14:creationId xmlns:p14="http://schemas.microsoft.com/office/powerpoint/2010/main" val="40332523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Misuse V.S. Anomaly</a:t>
            </a:r>
          </a:p>
        </p:txBody>
      </p:sp>
      <p:sp>
        <p:nvSpPr>
          <p:cNvPr id="4" name="Content Placeholder 3"/>
          <p:cNvSpPr>
            <a:spLocks noGrp="1"/>
          </p:cNvSpPr>
          <p:nvPr>
            <p:ph sz="half" idx="1"/>
          </p:nvPr>
        </p:nvSpPr>
        <p:spPr/>
        <p:txBody>
          <a:bodyPr/>
          <a:lstStyle/>
          <a:p>
            <a:r>
              <a:rPr lang="en-US" dirty="0"/>
              <a:t>Advantage</a:t>
            </a:r>
          </a:p>
          <a:p>
            <a:pPr lvl="1"/>
            <a:r>
              <a:rPr lang="en-US" dirty="0"/>
              <a:t>Is promising to detect new attacks</a:t>
            </a:r>
          </a:p>
        </p:txBody>
      </p:sp>
      <p:sp>
        <p:nvSpPr>
          <p:cNvPr id="5" name="Content Placeholder 4"/>
          <p:cNvSpPr>
            <a:spLocks noGrp="1"/>
          </p:cNvSpPr>
          <p:nvPr>
            <p:ph sz="half" idx="2"/>
          </p:nvPr>
        </p:nvSpPr>
        <p:spPr/>
        <p:txBody>
          <a:bodyPr/>
          <a:lstStyle/>
          <a:p>
            <a:r>
              <a:rPr lang="en-US" dirty="0"/>
              <a:t>Disadvantage</a:t>
            </a:r>
          </a:p>
          <a:p>
            <a:pPr lvl="1"/>
            <a:r>
              <a:rPr lang="en-US" dirty="0"/>
              <a:t>Relatively high false positive rate in practical deployment</a:t>
            </a:r>
          </a:p>
          <a:p>
            <a:pPr lvl="1"/>
            <a:endParaRPr lang="en-US" dirty="0"/>
          </a:p>
          <a:p>
            <a:pPr lvl="1"/>
            <a:endParaRPr lang="en-US" dirty="0"/>
          </a:p>
          <a:p>
            <a:pPr lvl="1"/>
            <a:r>
              <a:rPr lang="en-US" dirty="0"/>
              <a:t>Offers little information for reaction </a:t>
            </a:r>
          </a:p>
          <a:p>
            <a:pPr lvl="1"/>
            <a:endParaRPr lang="en-US" dirty="0"/>
          </a:p>
          <a:p>
            <a:pPr lvl="1"/>
            <a:endParaRPr lang="en-US" dirty="0"/>
          </a:p>
        </p:txBody>
      </p:sp>
    </p:spTree>
    <p:extLst>
      <p:ext uri="{BB962C8B-B14F-4D97-AF65-F5344CB8AC3E}">
        <p14:creationId xmlns:p14="http://schemas.microsoft.com/office/powerpoint/2010/main" val="109638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FCD03-C48F-C744-AABF-65AAD2B1196B}"/>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75054D83-313F-E244-9B2A-1978DB2B3087}"/>
              </a:ext>
            </a:extLst>
          </p:cNvPr>
          <p:cNvSpPr>
            <a:spLocks noGrp="1"/>
          </p:cNvSpPr>
          <p:nvPr>
            <p:ph idx="1"/>
          </p:nvPr>
        </p:nvSpPr>
        <p:spPr/>
        <p:txBody>
          <a:bodyPr/>
          <a:lstStyle/>
          <a:p>
            <a:r>
              <a:rPr lang="en-US" dirty="0"/>
              <a:t>Signature Generation for Misuse Detection</a:t>
            </a:r>
          </a:p>
          <a:p>
            <a:pPr lvl="1"/>
            <a:r>
              <a:rPr lang="en-US" dirty="0"/>
              <a:t>Detecting </a:t>
            </a:r>
            <a:r>
              <a:rPr lang="en-US" dirty="0" err="1"/>
              <a:t>BoF</a:t>
            </a:r>
            <a:r>
              <a:rPr lang="en-US" dirty="0"/>
              <a:t> attacks</a:t>
            </a:r>
          </a:p>
          <a:p>
            <a:pPr lvl="2"/>
            <a:r>
              <a:rPr lang="en-US" dirty="0"/>
              <a:t>Which part of the attack is better for signature?</a:t>
            </a:r>
          </a:p>
          <a:p>
            <a:endParaRPr lang="en-US" dirty="0"/>
          </a:p>
          <a:p>
            <a:r>
              <a:rPr lang="en-US" dirty="0"/>
              <a:t>Anomaly Detection System</a:t>
            </a:r>
          </a:p>
          <a:p>
            <a:pPr lvl="1"/>
            <a:r>
              <a:rPr lang="en-US" dirty="0"/>
              <a:t>When to use?</a:t>
            </a:r>
          </a:p>
        </p:txBody>
      </p:sp>
    </p:spTree>
    <p:extLst>
      <p:ext uri="{BB962C8B-B14F-4D97-AF65-F5344CB8AC3E}">
        <p14:creationId xmlns:p14="http://schemas.microsoft.com/office/powerpoint/2010/main" val="1121251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Invariant Bytes in the Signature</a:t>
            </a:r>
          </a:p>
        </p:txBody>
      </p:sp>
      <p:sp>
        <p:nvSpPr>
          <p:cNvPr id="3" name="Content Placeholder 2"/>
          <p:cNvSpPr>
            <a:spLocks noGrp="1"/>
          </p:cNvSpPr>
          <p:nvPr>
            <p:ph idx="1"/>
          </p:nvPr>
        </p:nvSpPr>
        <p:spPr>
          <a:xfrm>
            <a:off x="457200" y="4876618"/>
            <a:ext cx="8229600" cy="1734091"/>
          </a:xfrm>
        </p:spPr>
        <p:txBody>
          <a:bodyPr>
            <a:normAutofit fontScale="70000" lnSpcReduction="20000"/>
          </a:bodyPr>
          <a:lstStyle/>
          <a:p>
            <a:r>
              <a:rPr lang="en-US" dirty="0"/>
              <a:t>Invariant-1:</a:t>
            </a:r>
          </a:p>
          <a:p>
            <a:pPr lvl="1"/>
            <a:r>
              <a:rPr lang="en-US" dirty="0"/>
              <a:t>Overwrite value (</a:t>
            </a:r>
            <a:r>
              <a:rPr lang="en-US" dirty="0" err="1"/>
              <a:t>addr</a:t>
            </a:r>
            <a:r>
              <a:rPr lang="en-US" dirty="0"/>
              <a:t> for the payload, specific point in library code)</a:t>
            </a:r>
          </a:p>
          <a:p>
            <a:pPr lvl="2"/>
            <a:r>
              <a:rPr lang="en-US" dirty="0"/>
              <a:t>From some small set of narrow ranges in the requests</a:t>
            </a:r>
          </a:p>
          <a:p>
            <a:pPr lvl="2"/>
            <a:r>
              <a:rPr lang="en-US" dirty="0"/>
              <a:t>Those return addresses are precious for attackers!</a:t>
            </a:r>
          </a:p>
          <a:p>
            <a:pPr lvl="2"/>
            <a:r>
              <a:rPr lang="en-US" dirty="0"/>
              <a:t>No longer than two-bytes long given a strong obfuscator/polymorphic-engine.</a:t>
            </a:r>
          </a:p>
        </p:txBody>
      </p:sp>
      <p:sp>
        <p:nvSpPr>
          <p:cNvPr id="4" name="Rectangle 14"/>
          <p:cNvSpPr>
            <a:spLocks noChangeArrowheads="1"/>
          </p:cNvSpPr>
          <p:nvPr/>
        </p:nvSpPr>
        <p:spPr bwMode="auto">
          <a:xfrm>
            <a:off x="1261657" y="1470556"/>
            <a:ext cx="1502537" cy="3232065"/>
          </a:xfrm>
          <a:prstGeom prst="rect">
            <a:avLst/>
          </a:prstGeom>
          <a:gradFill flip="none" rotWithShape="1">
            <a:gsLst>
              <a:gs pos="0">
                <a:schemeClr val="accent2">
                  <a:tint val="50000"/>
                  <a:satMod val="300000"/>
                  <a:alpha val="56000"/>
                </a:schemeClr>
              </a:gs>
              <a:gs pos="35000">
                <a:schemeClr val="accent2">
                  <a:tint val="37000"/>
                  <a:satMod val="300000"/>
                  <a:alpha val="56000"/>
                </a:schemeClr>
              </a:gs>
              <a:gs pos="100000">
                <a:schemeClr val="accent2">
                  <a:tint val="15000"/>
                  <a:satMod val="350000"/>
                  <a:alpha val="56000"/>
                </a:schemeClr>
              </a:gs>
            </a:gsLst>
            <a:lin ang="16200000" scaled="1"/>
            <a:tileRect/>
          </a:gra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5" name="Rectangle 4"/>
          <p:cNvSpPr/>
          <p:nvPr/>
        </p:nvSpPr>
        <p:spPr>
          <a:xfrm>
            <a:off x="1413274" y="4181831"/>
            <a:ext cx="1149679" cy="369332"/>
          </a:xfrm>
          <a:prstGeom prst="rect">
            <a:avLst/>
          </a:prstGeom>
          <a:solidFill>
            <a:srgbClr val="3366FF"/>
          </a:solidFill>
        </p:spPr>
        <p:txBody>
          <a:bodyPr wrap="square">
            <a:spAutoFit/>
          </a:bodyPr>
          <a:lstStyle/>
          <a:p>
            <a:pPr algn="ctr"/>
            <a:r>
              <a:rPr lang="en-US" dirty="0"/>
              <a:t>EIP’</a:t>
            </a:r>
          </a:p>
        </p:txBody>
      </p:sp>
      <p:sp>
        <p:nvSpPr>
          <p:cNvPr id="6" name="Rectangle 5"/>
          <p:cNvSpPr/>
          <p:nvPr/>
        </p:nvSpPr>
        <p:spPr>
          <a:xfrm>
            <a:off x="1413274" y="2238705"/>
            <a:ext cx="1149679" cy="1871081"/>
          </a:xfrm>
          <a:prstGeom prst="rect">
            <a:avLst/>
          </a:prstGeom>
          <a:solidFill>
            <a:srgbClr val="FF0000"/>
          </a:solidFill>
        </p:spPr>
        <p:txBody>
          <a:bodyPr wrap="square">
            <a:spAutoFit/>
          </a:bodyPr>
          <a:lstStyle/>
          <a:p>
            <a:r>
              <a:rPr lang="en-US" dirty="0" err="1"/>
              <a:t>Shellcode</a:t>
            </a:r>
            <a:endParaRPr lang="en-US" dirty="0"/>
          </a:p>
          <a:p>
            <a:endParaRPr lang="en-US" dirty="0"/>
          </a:p>
          <a:p>
            <a:endParaRPr lang="en-US" dirty="0"/>
          </a:p>
          <a:p>
            <a:endParaRPr lang="en-US" dirty="0"/>
          </a:p>
          <a:p>
            <a:endParaRPr lang="en-US" dirty="0"/>
          </a:p>
          <a:p>
            <a:endParaRPr lang="en-US" dirty="0"/>
          </a:p>
          <a:p>
            <a:endParaRPr lang="en-US" dirty="0"/>
          </a:p>
        </p:txBody>
      </p:sp>
      <p:sp>
        <p:nvSpPr>
          <p:cNvPr id="7" name="Rectangle 6"/>
          <p:cNvSpPr/>
          <p:nvPr/>
        </p:nvSpPr>
        <p:spPr>
          <a:xfrm>
            <a:off x="1413274" y="1540671"/>
            <a:ext cx="1149679" cy="646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dirty="0">
                <a:solidFill>
                  <a:schemeClr val="tx1"/>
                </a:solidFill>
              </a:rPr>
              <a:t>NOP</a:t>
            </a:r>
          </a:p>
          <a:p>
            <a:r>
              <a:rPr lang="en-US" dirty="0">
                <a:solidFill>
                  <a:schemeClr val="tx1"/>
                </a:solidFill>
              </a:rPr>
              <a:t>NOP</a:t>
            </a:r>
          </a:p>
        </p:txBody>
      </p:sp>
      <p:sp>
        <p:nvSpPr>
          <p:cNvPr id="9" name="Rectangle 14"/>
          <p:cNvSpPr>
            <a:spLocks noChangeArrowheads="1"/>
          </p:cNvSpPr>
          <p:nvPr/>
        </p:nvSpPr>
        <p:spPr bwMode="auto">
          <a:xfrm>
            <a:off x="5077301" y="1540671"/>
            <a:ext cx="1502537" cy="3010492"/>
          </a:xfrm>
          <a:prstGeom prst="rect">
            <a:avLst/>
          </a:prstGeom>
          <a:gradFill flip="none" rotWithShape="1">
            <a:gsLst>
              <a:gs pos="0">
                <a:schemeClr val="accent2">
                  <a:tint val="50000"/>
                  <a:satMod val="300000"/>
                  <a:alpha val="56000"/>
                </a:schemeClr>
              </a:gs>
              <a:gs pos="35000">
                <a:schemeClr val="accent2">
                  <a:tint val="37000"/>
                  <a:satMod val="300000"/>
                  <a:alpha val="56000"/>
                </a:schemeClr>
              </a:gs>
              <a:gs pos="100000">
                <a:schemeClr val="accent2">
                  <a:tint val="15000"/>
                  <a:satMod val="350000"/>
                  <a:alpha val="56000"/>
                </a:schemeClr>
              </a:gs>
            </a:gsLst>
            <a:lin ang="16200000" scaled="1"/>
            <a:tileRect/>
          </a:gra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1" hangingPunct="1"/>
            <a:endParaRPr kumimoji="1" lang="en-US" altLang="zh-TW" sz="2000" dirty="0">
              <a:solidFill>
                <a:schemeClr val="accent2"/>
              </a:solidFill>
              <a:latin typeface="Times New Roman" charset="0"/>
              <a:ea typeface="新細明體" charset="0"/>
              <a:cs typeface="新細明體" charset="0"/>
            </a:endParaRPr>
          </a:p>
        </p:txBody>
      </p:sp>
      <p:sp>
        <p:nvSpPr>
          <p:cNvPr id="10" name="Rectangle 9"/>
          <p:cNvSpPr/>
          <p:nvPr/>
        </p:nvSpPr>
        <p:spPr>
          <a:xfrm>
            <a:off x="5228918" y="2830549"/>
            <a:ext cx="1149679" cy="369332"/>
          </a:xfrm>
          <a:prstGeom prst="rect">
            <a:avLst/>
          </a:prstGeom>
          <a:solidFill>
            <a:srgbClr val="3366FF"/>
          </a:solidFill>
        </p:spPr>
        <p:txBody>
          <a:bodyPr wrap="square">
            <a:spAutoFit/>
          </a:bodyPr>
          <a:lstStyle/>
          <a:p>
            <a:pPr algn="ctr"/>
            <a:r>
              <a:rPr lang="en-US" dirty="0"/>
              <a:t>EIP’</a:t>
            </a:r>
          </a:p>
        </p:txBody>
      </p:sp>
      <p:sp>
        <p:nvSpPr>
          <p:cNvPr id="11" name="Rectangle 10"/>
          <p:cNvSpPr/>
          <p:nvPr/>
        </p:nvSpPr>
        <p:spPr>
          <a:xfrm>
            <a:off x="5228918" y="3247171"/>
            <a:ext cx="1149679" cy="1200329"/>
          </a:xfrm>
          <a:prstGeom prst="rect">
            <a:avLst/>
          </a:prstGeom>
          <a:solidFill>
            <a:srgbClr val="FF0000"/>
          </a:solidFill>
        </p:spPr>
        <p:txBody>
          <a:bodyPr wrap="square">
            <a:spAutoFit/>
          </a:bodyPr>
          <a:lstStyle/>
          <a:p>
            <a:r>
              <a:rPr lang="en-US" dirty="0" err="1"/>
              <a:t>Shellcode</a:t>
            </a:r>
            <a:endParaRPr lang="en-US" dirty="0"/>
          </a:p>
          <a:p>
            <a:endParaRPr lang="en-US" dirty="0"/>
          </a:p>
          <a:p>
            <a:endParaRPr lang="en-US" dirty="0"/>
          </a:p>
          <a:p>
            <a:endParaRPr lang="en-US" dirty="0"/>
          </a:p>
        </p:txBody>
      </p:sp>
      <p:sp>
        <p:nvSpPr>
          <p:cNvPr id="12" name="Rectangle 11"/>
          <p:cNvSpPr/>
          <p:nvPr/>
        </p:nvSpPr>
        <p:spPr>
          <a:xfrm>
            <a:off x="5228918" y="1578814"/>
            <a:ext cx="1149679" cy="120032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dirty="0">
                <a:solidFill>
                  <a:schemeClr val="tx1"/>
                </a:solidFill>
              </a:rPr>
              <a:t>Garbage</a:t>
            </a:r>
          </a:p>
          <a:p>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13" name="Slide Number Placeholder 12"/>
          <p:cNvSpPr>
            <a:spLocks noGrp="1"/>
          </p:cNvSpPr>
          <p:nvPr>
            <p:ph type="sldNum" sz="quarter" idx="12"/>
          </p:nvPr>
        </p:nvSpPr>
        <p:spPr/>
        <p:txBody>
          <a:bodyPr/>
          <a:lstStyle/>
          <a:p>
            <a:fld id="{47E8BE15-7F0B-0840-A9A0-04D3C81E96AD}" type="slidenum">
              <a:rPr lang="en-US" smtClean="0"/>
              <a:t>48</a:t>
            </a:fld>
            <a:endParaRPr lang="en-US"/>
          </a:p>
        </p:txBody>
      </p:sp>
    </p:spTree>
    <p:extLst>
      <p:ext uri="{BB962C8B-B14F-4D97-AF65-F5344CB8AC3E}">
        <p14:creationId xmlns:p14="http://schemas.microsoft.com/office/powerpoint/2010/main" val="312155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NSF’s definition of Cyber-Physical Systems</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sz="2800" dirty="0"/>
              <a:t>Cyber-physical systems (CPS) are engineered systems that are</a:t>
            </a:r>
          </a:p>
          <a:p>
            <a:pPr marL="0" indent="0">
              <a:buNone/>
            </a:pPr>
            <a:r>
              <a:rPr lang="en-US" sz="2800" dirty="0"/>
              <a:t>built from, and depend upon, the </a:t>
            </a:r>
            <a:r>
              <a:rPr lang="en-US" sz="2800" dirty="0">
                <a:solidFill>
                  <a:srgbClr val="C00000"/>
                </a:solidFill>
              </a:rPr>
              <a:t>seamless integration</a:t>
            </a:r>
            <a:r>
              <a:rPr lang="en-US" sz="2800" dirty="0">
                <a:solidFill>
                  <a:schemeClr val="tx2"/>
                </a:solidFill>
              </a:rPr>
              <a:t> </a:t>
            </a:r>
            <a:r>
              <a:rPr lang="en-US" sz="2800" dirty="0"/>
              <a:t>of</a:t>
            </a:r>
          </a:p>
          <a:p>
            <a:pPr marL="0" indent="0">
              <a:buNone/>
            </a:pPr>
            <a:r>
              <a:rPr lang="en-US" sz="2800" dirty="0"/>
              <a:t>computation and physical components.</a:t>
            </a:r>
          </a:p>
          <a:p>
            <a:pPr marL="0" indent="0">
              <a:buNone/>
            </a:pPr>
            <a:endParaRPr lang="en-US" sz="2800" dirty="0"/>
          </a:p>
          <a:p>
            <a:pPr marL="0" indent="0">
              <a:buNone/>
            </a:pPr>
            <a:r>
              <a:rPr lang="en-US" sz="2800" dirty="0"/>
              <a:t>Advances in CPS will </a:t>
            </a:r>
            <a:r>
              <a:rPr lang="en-US" sz="2800" dirty="0">
                <a:solidFill>
                  <a:srgbClr val="FF0000"/>
                </a:solidFill>
              </a:rPr>
              <a:t>enable</a:t>
            </a:r>
            <a:r>
              <a:rPr lang="en-US" sz="2800" dirty="0"/>
              <a:t> capability, adaptability,</a:t>
            </a:r>
          </a:p>
          <a:p>
            <a:pPr marL="0" indent="0">
              <a:buNone/>
            </a:pPr>
            <a:r>
              <a:rPr lang="en-US" sz="2800" dirty="0"/>
              <a:t>scalability, resiliency, safety, security, and usability that will</a:t>
            </a:r>
          </a:p>
          <a:p>
            <a:pPr marL="0" indent="0">
              <a:buNone/>
            </a:pPr>
            <a:r>
              <a:rPr lang="en-US" sz="2800" dirty="0"/>
              <a:t>expand the horizons of these critical systems.</a:t>
            </a:r>
          </a:p>
          <a:p>
            <a:pPr marL="0" indent="0">
              <a:buNone/>
            </a:pPr>
            <a:endParaRPr lang="en-US" sz="2800" dirty="0"/>
          </a:p>
          <a:p>
            <a:pPr marL="0" indent="0">
              <a:buNone/>
            </a:pPr>
            <a:r>
              <a:rPr lang="en-US" sz="2800" dirty="0"/>
              <a:t>CPS technologies </a:t>
            </a:r>
            <a:r>
              <a:rPr lang="en-US" sz="2800" dirty="0">
                <a:solidFill>
                  <a:srgbClr val="C00000"/>
                </a:solidFill>
              </a:rPr>
              <a:t>are transforming the way people interact</a:t>
            </a:r>
          </a:p>
          <a:p>
            <a:pPr marL="0" indent="0">
              <a:buNone/>
            </a:pPr>
            <a:r>
              <a:rPr lang="en-US" sz="2800" dirty="0"/>
              <a:t>with engineered systems, just as the Internet has transformed</a:t>
            </a:r>
          </a:p>
          <a:p>
            <a:pPr marL="0" indent="0">
              <a:buNone/>
            </a:pPr>
            <a:r>
              <a:rPr lang="en-US" sz="2800" dirty="0"/>
              <a:t>the way people interact with information.</a:t>
            </a:r>
            <a:endParaRPr lang="en-US" dirty="0"/>
          </a:p>
        </p:txBody>
      </p:sp>
    </p:spTree>
    <p:extLst>
      <p:ext uri="{BB962C8B-B14F-4D97-AF65-F5344CB8AC3E}">
        <p14:creationId xmlns:p14="http://schemas.microsoft.com/office/powerpoint/2010/main" val="2643450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NSF’s definition of Cyber-Physical Systems</a:t>
            </a:r>
            <a:endParaRPr lang="en-US" dirty="0"/>
          </a:p>
        </p:txBody>
      </p:sp>
      <p:pic>
        <p:nvPicPr>
          <p:cNvPr id="5" name="Picture 4"/>
          <p:cNvPicPr>
            <a:picLocks noChangeAspect="1"/>
          </p:cNvPicPr>
          <p:nvPr/>
        </p:nvPicPr>
        <p:blipFill>
          <a:blip r:embed="rId2"/>
          <a:stretch>
            <a:fillRect/>
          </a:stretch>
        </p:blipFill>
        <p:spPr>
          <a:xfrm>
            <a:off x="0" y="1783481"/>
            <a:ext cx="9144000" cy="4476372"/>
          </a:xfrm>
          <a:prstGeom prst="rect">
            <a:avLst/>
          </a:prstGeom>
        </p:spPr>
      </p:pic>
    </p:spTree>
    <p:extLst>
      <p:ext uri="{BB962C8B-B14F-4D97-AF65-F5344CB8AC3E}">
        <p14:creationId xmlns:p14="http://schemas.microsoft.com/office/powerpoint/2010/main" val="2388526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CPS Framework</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9930" y="1600200"/>
            <a:ext cx="8164140" cy="4525963"/>
          </a:xfrm>
        </p:spPr>
      </p:pic>
    </p:spTree>
    <p:extLst>
      <p:ext uri="{BB962C8B-B14F-4D97-AF65-F5344CB8AC3E}">
        <p14:creationId xmlns:p14="http://schemas.microsoft.com/office/powerpoint/2010/main" val="39829332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CPS Framework</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2968" y="1600200"/>
            <a:ext cx="7998063" cy="4525963"/>
          </a:xfrm>
        </p:spPr>
      </p:pic>
    </p:spTree>
    <p:extLst>
      <p:ext uri="{BB962C8B-B14F-4D97-AF65-F5344CB8AC3E}">
        <p14:creationId xmlns:p14="http://schemas.microsoft.com/office/powerpoint/2010/main" val="3449816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Methodology initially developed at AFAR</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2627" y="1720840"/>
            <a:ext cx="3823419" cy="3615267"/>
          </a:xfrm>
        </p:spPr>
      </p:pic>
      <p:sp>
        <p:nvSpPr>
          <p:cNvPr id="7" name="Rectangle 6"/>
          <p:cNvSpPr/>
          <p:nvPr/>
        </p:nvSpPr>
        <p:spPr>
          <a:xfrm>
            <a:off x="5046133" y="1720840"/>
            <a:ext cx="3640667" cy="3970318"/>
          </a:xfrm>
          <a:prstGeom prst="rect">
            <a:avLst/>
          </a:prstGeom>
        </p:spPr>
        <p:txBody>
          <a:bodyPr wrap="square">
            <a:spAutoFit/>
          </a:bodyPr>
          <a:lstStyle/>
          <a:p>
            <a:r>
              <a:rPr lang="en-US" dirty="0"/>
              <a:t>Three Tenets-reduce a System’s vulnerability by:</a:t>
            </a:r>
          </a:p>
          <a:p>
            <a:endParaRPr lang="en-US" dirty="0"/>
          </a:p>
          <a:p>
            <a:r>
              <a:rPr lang="en-US" dirty="0"/>
              <a:t>Focus on what is critical – reduce the number of potential susceptibility points</a:t>
            </a:r>
          </a:p>
          <a:p>
            <a:endParaRPr lang="en-US" dirty="0"/>
          </a:p>
          <a:p>
            <a:r>
              <a:rPr lang="en-US" dirty="0"/>
              <a:t>Move It 'Out of Band' – make the critical pieces less accessible (or inaccessible)</a:t>
            </a:r>
          </a:p>
          <a:p>
            <a:endParaRPr lang="en-US" dirty="0"/>
          </a:p>
          <a:p>
            <a:r>
              <a:rPr lang="en-US" dirty="0"/>
              <a:t>Detect, React, Adapt – deny the threat the ability to do harm (get inside the adversary’s OODA loop)</a:t>
            </a:r>
          </a:p>
        </p:txBody>
      </p:sp>
      <p:sp>
        <p:nvSpPr>
          <p:cNvPr id="8" name="Rectangle 7"/>
          <p:cNvSpPr/>
          <p:nvPr/>
        </p:nvSpPr>
        <p:spPr>
          <a:xfrm>
            <a:off x="562628" y="5691157"/>
            <a:ext cx="7751640" cy="923330"/>
          </a:xfrm>
          <a:prstGeom prst="rect">
            <a:avLst/>
          </a:prstGeom>
        </p:spPr>
        <p:txBody>
          <a:bodyPr wrap="square">
            <a:spAutoFit/>
          </a:bodyPr>
          <a:lstStyle/>
          <a:p>
            <a:endParaRPr lang="en-US" dirty="0"/>
          </a:p>
          <a:p>
            <a:r>
              <a:rPr lang="en-US" dirty="0"/>
              <a:t>The Methodology is sound – now need to research &amp; develop the processes, tools &amp; technologies to efficiently  implement the methodology</a:t>
            </a:r>
          </a:p>
        </p:txBody>
      </p:sp>
    </p:spTree>
    <p:extLst>
      <p:ext uri="{BB962C8B-B14F-4D97-AF65-F5344CB8AC3E}">
        <p14:creationId xmlns:p14="http://schemas.microsoft.com/office/powerpoint/2010/main" val="2864832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0" y="-71777"/>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pic>
        <p:nvPicPr>
          <p:cNvPr id="3" name="Picture 2"/>
          <p:cNvPicPr>
            <a:picLocks noChangeAspect="1"/>
          </p:cNvPicPr>
          <p:nvPr/>
        </p:nvPicPr>
        <p:blipFill>
          <a:blip r:embed="rId2"/>
          <a:stretch>
            <a:fillRect/>
          </a:stretch>
        </p:blipFill>
        <p:spPr>
          <a:xfrm>
            <a:off x="1117600" y="747796"/>
            <a:ext cx="5825734" cy="5838029"/>
          </a:xfrm>
          <a:prstGeom prst="rect">
            <a:avLst/>
          </a:prstGeom>
        </p:spPr>
      </p:pic>
    </p:spTree>
    <p:extLst>
      <p:ext uri="{BB962C8B-B14F-4D97-AF65-F5344CB8AC3E}">
        <p14:creationId xmlns:p14="http://schemas.microsoft.com/office/powerpoint/2010/main" val="1452490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sp>
        <p:nvSpPr>
          <p:cNvPr id="8195" name="Rectangle 2"/>
          <p:cNvSpPr>
            <a:spLocks noGrp="1" noChangeArrowheads="1"/>
          </p:cNvSpPr>
          <p:nvPr>
            <p:ph type="body" idx="1"/>
          </p:nvPr>
        </p:nvSpPr>
        <p:spPr>
          <a:xfrm>
            <a:off x="222885" y="1324186"/>
            <a:ext cx="8698230" cy="4937760"/>
          </a:xfrm>
        </p:spPr>
        <p:txBody>
          <a:bodyPr vert="horz" lIns="0" tIns="0" rIns="0" bIns="0" rtlCol="0">
            <a:normAutofit lnSpcReduction="10000"/>
          </a:bodyPr>
          <a:lstStyle/>
          <a:p>
            <a:pPr marL="0" indent="0">
              <a:buNone/>
            </a:pPr>
            <a:r>
              <a:rPr lang="en-US" dirty="0"/>
              <a:t>The Linux kernel runs in an area of system memory called the </a:t>
            </a:r>
            <a:r>
              <a:rPr lang="en-US" sz="3600" dirty="0"/>
              <a:t>kernel </a:t>
            </a:r>
            <a:r>
              <a:rPr lang="en-US" dirty="0"/>
              <a:t>space</a:t>
            </a:r>
          </a:p>
          <a:p>
            <a:pPr marL="0" indent="0">
              <a:buNone/>
            </a:pPr>
            <a:r>
              <a:rPr lang="en-US" dirty="0"/>
              <a:t>Regular user applications run in an area of system memory called </a:t>
            </a:r>
            <a:r>
              <a:rPr lang="en-US" sz="3600" dirty="0"/>
              <a:t>user </a:t>
            </a:r>
            <a:r>
              <a:rPr lang="en-US" dirty="0"/>
              <a:t>space</a:t>
            </a:r>
          </a:p>
          <a:p>
            <a:pPr marL="0" indent="0">
              <a:buNone/>
            </a:pPr>
            <a:r>
              <a:rPr lang="en-US" dirty="0"/>
              <a:t>A hard boundary between these two spaces prevents</a:t>
            </a:r>
          </a:p>
          <a:p>
            <a:pPr marL="400050" lvl="1" indent="0">
              <a:buNone/>
            </a:pPr>
            <a:r>
              <a:rPr lang="en-US" dirty="0"/>
              <a:t> User applications from accessing memory and resources required by the Linux kernel</a:t>
            </a:r>
          </a:p>
          <a:p>
            <a:pPr marL="400050" lvl="1" indent="0">
              <a:buNone/>
            </a:pPr>
            <a:r>
              <a:rPr lang="en-US" dirty="0"/>
              <a:t>Linux kernel from crashing due to badly written user code</a:t>
            </a:r>
          </a:p>
          <a:p>
            <a:pPr marL="400050" lvl="1" indent="0">
              <a:buNone/>
            </a:pPr>
            <a:r>
              <a:rPr lang="en-US" dirty="0"/>
              <a:t>Interfering one user’s applications with another</a:t>
            </a:r>
          </a:p>
        </p:txBody>
      </p:sp>
    </p:spTree>
    <p:extLst>
      <p:ext uri="{BB962C8B-B14F-4D97-AF65-F5344CB8AC3E}">
        <p14:creationId xmlns:p14="http://schemas.microsoft.com/office/powerpoint/2010/main" val="24018251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222885" y="274320"/>
            <a:ext cx="8698230" cy="822960"/>
          </a:xfrm>
        </p:spPr>
        <p:txBody>
          <a:bodyPr vert="horz" lIns="0" tIns="0" rIns="0" bIns="0" rtlCol="0" anchor="t">
            <a:normAutofit/>
          </a:bodyPr>
          <a:lstStyle/>
          <a:p>
            <a:pPr eaLnBrk="1" hangingPunct="1">
              <a:lnSpc>
                <a:spcPct val="95000"/>
              </a:lnSpc>
            </a:pPr>
            <a:r>
              <a:rPr lang="en-US" altLang="en-US" sz="3870" dirty="0">
                <a:solidFill>
                  <a:srgbClr val="C00000"/>
                </a:solidFill>
                <a:latin typeface="Bodoni" pitchFamily="34"/>
              </a:rPr>
              <a:t>The Solutions</a:t>
            </a:r>
          </a:p>
        </p:txBody>
      </p:sp>
      <p:sp>
        <p:nvSpPr>
          <p:cNvPr id="8195" name="Rectangle 2"/>
          <p:cNvSpPr>
            <a:spLocks noGrp="1" noChangeArrowheads="1"/>
          </p:cNvSpPr>
          <p:nvPr>
            <p:ph type="body" idx="1"/>
          </p:nvPr>
        </p:nvSpPr>
        <p:spPr>
          <a:xfrm>
            <a:off x="222885" y="1324186"/>
            <a:ext cx="8698230" cy="4937760"/>
          </a:xfrm>
        </p:spPr>
        <p:txBody>
          <a:bodyPr vert="horz" lIns="0" tIns="0" rIns="0" bIns="0" rtlCol="0">
            <a:normAutofit/>
          </a:bodyPr>
          <a:lstStyle/>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Auto</a:t>
            </a:r>
            <a:r>
              <a:rPr lang="en-US" altLang="en-US" sz="2430" dirty="0">
                <a:solidFill>
                  <a:srgbClr val="FFFFFF"/>
                </a:solidFill>
                <a:latin typeface="Arial" panose="020B0604020202020204" pitchFamily="34" charset="0"/>
              </a:rPr>
              <a:t> </a:t>
            </a:r>
            <a:r>
              <a:rPr lang="en-US" altLang="en-US" sz="2430" dirty="0">
                <a:latin typeface="Arial" panose="020B0604020202020204" pitchFamily="34" charset="0"/>
              </a:rPr>
              <a:t>manufacturers need to recognize this security flaw in the CAM if they are using wireless ECU communication</a:t>
            </a:r>
            <a:endParaRPr lang="en-US" altLang="en-US" dirty="0"/>
          </a:p>
          <a:p>
            <a:pPr marL="0" indent="0">
              <a:lnSpc>
                <a:spcPct val="95000"/>
              </a:lnSpc>
              <a:spcBef>
                <a:spcPct val="0"/>
              </a:spcBef>
              <a:buNone/>
            </a:pPr>
            <a:r>
              <a:rPr lang="en-US" altLang="en-US" sz="2430" dirty="0">
                <a:latin typeface="Arial" panose="020B0604020202020204" pitchFamily="34" charset="0"/>
              </a:rPr>
              <a:t>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Controller authentication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Only valid controllers can communicate on the CAN  </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Encrypted communication</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Must be high performance, so use symmetric key</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Distribute symmetric key using asymmetric encryption during authentication</a:t>
            </a:r>
            <a:endParaRPr lang="en-US" altLang="en-US" dirty="0"/>
          </a:p>
          <a:p>
            <a:pPr marL="411480" lvl="1" indent="-308610">
              <a:lnSpc>
                <a:spcPct val="95000"/>
              </a:lnSpc>
              <a:spcBef>
                <a:spcPct val="0"/>
              </a:spcBef>
              <a:buClr>
                <a:srgbClr val="FFFFFF"/>
              </a:buClr>
              <a:buFontTx/>
              <a:buChar char="•"/>
            </a:pPr>
            <a:r>
              <a:rPr lang="en-US" altLang="en-US" sz="2430" dirty="0">
                <a:latin typeface="Arial" panose="020B0604020202020204" pitchFamily="34" charset="0"/>
              </a:rPr>
              <a:t>Firewall</a:t>
            </a:r>
            <a:endParaRPr lang="en-US" altLang="en-US" dirty="0"/>
          </a:p>
          <a:p>
            <a:pPr marL="771525" lvl="2" indent="-257175">
              <a:lnSpc>
                <a:spcPct val="95000"/>
              </a:lnSpc>
              <a:spcBef>
                <a:spcPct val="0"/>
              </a:spcBef>
              <a:buClr>
                <a:srgbClr val="FFFFFF"/>
              </a:buClr>
              <a:buSzPct val="80000"/>
              <a:buFont typeface="Courier New" panose="02070309020205020404" pitchFamily="49" charset="0"/>
              <a:buChar char="o"/>
            </a:pPr>
            <a:r>
              <a:rPr lang="en-US" altLang="en-US" sz="2430" dirty="0">
                <a:latin typeface="Arial" panose="020B0604020202020204" pitchFamily="34" charset="0"/>
              </a:rPr>
              <a:t>Restrict a components commands to only those essential to its function </a:t>
            </a:r>
          </a:p>
          <a:p>
            <a:pPr marL="771525" lvl="2" indent="-257175">
              <a:lnSpc>
                <a:spcPct val="95000"/>
              </a:lnSpc>
              <a:spcBef>
                <a:spcPct val="0"/>
              </a:spcBef>
              <a:buClr>
                <a:srgbClr val="FFFFFF"/>
              </a:buClr>
              <a:buSzPct val="80000"/>
              <a:buFont typeface="Courier New" panose="02070309020205020404" pitchFamily="49" charset="0"/>
              <a:buChar char="o"/>
            </a:pPr>
            <a:endParaRPr lang="en-US" altLang="en-US" sz="2430" dirty="0">
              <a:latin typeface="Arial" panose="020B0604020202020204" pitchFamily="34" charset="0"/>
            </a:endParaRPr>
          </a:p>
          <a:p>
            <a:pPr marL="514350" lvl="2" indent="0">
              <a:lnSpc>
                <a:spcPct val="95000"/>
              </a:lnSpc>
              <a:spcBef>
                <a:spcPct val="0"/>
              </a:spcBef>
              <a:buClr>
                <a:srgbClr val="FFFFFF"/>
              </a:buClr>
              <a:buSzPct val="80000"/>
              <a:buNone/>
            </a:pPr>
            <a:endParaRPr lang="en-US" altLang="en-US" sz="2430" dirty="0">
              <a:latin typeface="Arial" panose="020B0604020202020204" pitchFamily="34" charset="0"/>
            </a:endParaRPr>
          </a:p>
        </p:txBody>
      </p:sp>
    </p:spTree>
    <p:extLst>
      <p:ext uri="{BB962C8B-B14F-4D97-AF65-F5344CB8AC3E}">
        <p14:creationId xmlns:p14="http://schemas.microsoft.com/office/powerpoint/2010/main" val="41554048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p:txBody>
          <a:bodyPr/>
          <a:lstStyle/>
          <a:p>
            <a:r>
              <a:rPr lang="en-US" altLang="en-US" dirty="0"/>
              <a:t>Risk Management</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1371600"/>
            <a:ext cx="8229600" cy="4800600"/>
          </a:xfrm>
        </p:spPr>
        <p:txBody>
          <a:bodyPr/>
          <a:lstStyle/>
          <a:p>
            <a:r>
              <a:rPr lang="en-US" altLang="en-US" sz="2200" dirty="0"/>
              <a:t>Much broader than information security</a:t>
            </a:r>
          </a:p>
          <a:p>
            <a:r>
              <a:rPr lang="en-US" altLang="en-US" sz="2200" dirty="0"/>
              <a:t>Identify</a:t>
            </a:r>
          </a:p>
          <a:p>
            <a:r>
              <a:rPr lang="en-US" altLang="en-US" sz="2200" dirty="0" err="1"/>
              <a:t>Analyse</a:t>
            </a:r>
            <a:endParaRPr lang="en-US" altLang="en-US" sz="2200" dirty="0"/>
          </a:p>
          <a:p>
            <a:r>
              <a:rPr lang="en-US" altLang="en-US" sz="2200" dirty="0"/>
              <a:t>Evaluate</a:t>
            </a:r>
          </a:p>
          <a:p>
            <a:r>
              <a:rPr lang="en-US" altLang="en-US" sz="2200" dirty="0"/>
              <a:t>Treat</a:t>
            </a:r>
          </a:p>
          <a:p>
            <a:endParaRPr lang="en-US" altLang="en-US" sz="2200" dirty="0"/>
          </a:p>
          <a:p>
            <a:r>
              <a:rPr lang="en-US" altLang="en-US" sz="2200" dirty="0"/>
              <a:t>Risk: Probability of Something harmful to happen</a:t>
            </a:r>
          </a:p>
          <a:p>
            <a:endParaRPr lang="en-US" altLang="en-US" sz="2200" dirty="0"/>
          </a:p>
        </p:txBody>
      </p:sp>
    </p:spTree>
    <p:extLst>
      <p:ext uri="{BB962C8B-B14F-4D97-AF65-F5344CB8AC3E}">
        <p14:creationId xmlns:p14="http://schemas.microsoft.com/office/powerpoint/2010/main" val="376978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a:xfrm>
            <a:off x="685800" y="381000"/>
            <a:ext cx="7772400" cy="762000"/>
          </a:xfrm>
        </p:spPr>
        <p:txBody>
          <a:bodyPr/>
          <a:lstStyle/>
          <a:p>
            <a:r>
              <a:rPr lang="en-US" altLang="en-US"/>
              <a:t>Security Risk Assessment</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1371600"/>
            <a:ext cx="8229600" cy="4800600"/>
          </a:xfrm>
        </p:spPr>
        <p:txBody>
          <a:bodyPr/>
          <a:lstStyle/>
          <a:p>
            <a:r>
              <a:rPr lang="en-US" altLang="en-US" sz="2400" dirty="0"/>
              <a:t>critical component of process</a:t>
            </a:r>
          </a:p>
          <a:p>
            <a:pPr lvl="1"/>
            <a:r>
              <a:rPr lang="en-US" altLang="en-US" sz="2000" dirty="0"/>
              <a:t>else may have vulnerabilities or waste money</a:t>
            </a:r>
          </a:p>
          <a:p>
            <a:r>
              <a:rPr lang="en-US" altLang="en-US" sz="2400" dirty="0"/>
              <a:t>ideally examine every asset vs risk</a:t>
            </a:r>
          </a:p>
          <a:p>
            <a:pPr lvl="1"/>
            <a:r>
              <a:rPr lang="en-US" altLang="en-US" sz="2000" dirty="0"/>
              <a:t>not feasible in practice</a:t>
            </a:r>
          </a:p>
          <a:p>
            <a:r>
              <a:rPr lang="en-US" altLang="en-US" sz="2400" dirty="0"/>
              <a:t>choose one of possible alternatives based on organization’s  resources and risk profile</a:t>
            </a:r>
          </a:p>
          <a:p>
            <a:pPr lvl="1"/>
            <a:r>
              <a:rPr lang="en-US" altLang="en-US" sz="2000" dirty="0"/>
              <a:t>baseline</a:t>
            </a:r>
          </a:p>
          <a:p>
            <a:pPr lvl="1"/>
            <a:r>
              <a:rPr lang="en-US" altLang="en-US" sz="2000" dirty="0"/>
              <a:t>informal</a:t>
            </a:r>
          </a:p>
          <a:p>
            <a:pPr lvl="1"/>
            <a:r>
              <a:rPr lang="en-US" altLang="en-US" sz="2000" dirty="0"/>
              <a:t>formal</a:t>
            </a:r>
          </a:p>
          <a:p>
            <a:pPr lvl="1"/>
            <a:r>
              <a:rPr lang="en-US" altLang="en-US" sz="2000" dirty="0"/>
              <a:t>combined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marL="432"/>
            <a:r>
              <a:rPr lang="en-US" sz="3200" dirty="0">
                <a:solidFill>
                  <a:srgbClr val="C00000"/>
                </a:solidFill>
              </a:rPr>
              <a:t>Figure 14.3 Risk Assessment Process</a:t>
            </a:r>
          </a:p>
        </p:txBody>
      </p:sp>
      <p:pic>
        <p:nvPicPr>
          <p:cNvPr id="7" name="Content Placeholder 6" descr="A flow diagram depicts the risk assessment proces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787846" y="1596918"/>
            <a:ext cx="5568309" cy="4656440"/>
          </a:xfrm>
        </p:spPr>
      </p:pic>
    </p:spTree>
    <p:extLst>
      <p:ext uri="{BB962C8B-B14F-4D97-AF65-F5344CB8AC3E}">
        <p14:creationId xmlns:p14="http://schemas.microsoft.com/office/powerpoint/2010/main" val="28664788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4CB5BFD-B036-F382-2FFB-C1498B5F7464}"/>
              </a:ext>
            </a:extLst>
          </p:cNvPr>
          <p:cNvSpPr>
            <a:spLocks noGrp="1" noChangeArrowheads="1"/>
          </p:cNvSpPr>
          <p:nvPr>
            <p:ph type="title"/>
          </p:nvPr>
        </p:nvSpPr>
        <p:spPr/>
        <p:txBody>
          <a:bodyPr/>
          <a:lstStyle/>
          <a:p>
            <a:r>
              <a:rPr lang="en-US" altLang="en-US"/>
              <a:t>Terminology</a:t>
            </a:r>
          </a:p>
        </p:txBody>
      </p:sp>
      <p:graphicFrame>
        <p:nvGraphicFramePr>
          <p:cNvPr id="38915" name="Object 5">
            <a:extLst>
              <a:ext uri="{FF2B5EF4-FFF2-40B4-BE49-F238E27FC236}">
                <a16:creationId xmlns:a16="http://schemas.microsoft.com/office/drawing/2014/main" id="{B3F104E1-55D7-1477-FA17-C0517DD9C9C2}"/>
              </a:ext>
            </a:extLst>
          </p:cNvPr>
          <p:cNvGraphicFramePr>
            <a:graphicFrameLocks noChangeAspect="1"/>
          </p:cNvGraphicFramePr>
          <p:nvPr/>
        </p:nvGraphicFramePr>
        <p:xfrm>
          <a:off x="382588" y="1978025"/>
          <a:ext cx="8312150" cy="2992438"/>
        </p:xfrm>
        <a:graphic>
          <a:graphicData uri="http://schemas.openxmlformats.org/presentationml/2006/ole">
            <mc:AlternateContent xmlns:mc="http://schemas.openxmlformats.org/markup-compatibility/2006">
              <mc:Choice xmlns:v="urn:schemas-microsoft-com:vml" Requires="v">
                <p:oleObj spid="_x0000_s1039" name="Document" r:id="rId4" imgW="5651500" imgH="2032000" progId="Word.Document.8">
                  <p:embed/>
                </p:oleObj>
              </mc:Choice>
              <mc:Fallback>
                <p:oleObj name="Document" r:id="rId4" imgW="5651500" imgH="2032000" progId="Word.Document.8">
                  <p:embed/>
                  <p:pic>
                    <p:nvPicPr>
                      <p:cNvPr id="38915" name="Object 5">
                        <a:extLst>
                          <a:ext uri="{FF2B5EF4-FFF2-40B4-BE49-F238E27FC236}">
                            <a16:creationId xmlns:a16="http://schemas.microsoft.com/office/drawing/2014/main" id="{B3F104E1-55D7-1477-FA17-C0517DD9C9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588" y="1978025"/>
                        <a:ext cx="8312150" cy="299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a:extLst>
              <a:ext uri="{FF2B5EF4-FFF2-40B4-BE49-F238E27FC236}">
                <a16:creationId xmlns:a16="http://schemas.microsoft.com/office/drawing/2014/main" id="{5784415E-2893-AE2B-5352-8538C70B190C}"/>
              </a:ext>
            </a:extLst>
          </p:cNvPr>
          <p:cNvSpPr>
            <a:spLocks noGrp="1" noChangeArrowheads="1"/>
          </p:cNvSpPr>
          <p:nvPr>
            <p:ph type="title"/>
          </p:nvPr>
        </p:nvSpPr>
        <p:spPr/>
        <p:txBody>
          <a:bodyPr/>
          <a:lstStyle/>
          <a:p>
            <a:r>
              <a:rPr lang="en-US" altLang="en-US" dirty="0"/>
              <a:t>Asset Identification</a:t>
            </a:r>
          </a:p>
        </p:txBody>
      </p:sp>
      <p:sp>
        <p:nvSpPr>
          <p:cNvPr id="36867" name="Rectangle 1027">
            <a:extLst>
              <a:ext uri="{FF2B5EF4-FFF2-40B4-BE49-F238E27FC236}">
                <a16:creationId xmlns:a16="http://schemas.microsoft.com/office/drawing/2014/main" id="{F8E49349-668F-A378-4819-BBD8273F1F52}"/>
              </a:ext>
            </a:extLst>
          </p:cNvPr>
          <p:cNvSpPr>
            <a:spLocks noGrp="1" noChangeArrowheads="1"/>
          </p:cNvSpPr>
          <p:nvPr>
            <p:ph type="body" idx="1"/>
          </p:nvPr>
        </p:nvSpPr>
        <p:spPr>
          <a:xfrm>
            <a:off x="457200" y="1295400"/>
            <a:ext cx="8229600" cy="4876800"/>
          </a:xfrm>
        </p:spPr>
        <p:txBody>
          <a:bodyPr>
            <a:normAutofit fontScale="85000" lnSpcReduction="20000"/>
          </a:bodyPr>
          <a:lstStyle/>
          <a:p>
            <a:r>
              <a:rPr lang="en-US" altLang="en-US" dirty="0"/>
              <a:t>identify assets </a:t>
            </a:r>
          </a:p>
          <a:p>
            <a:pPr lvl="1"/>
            <a:r>
              <a:rPr lang="en-US" altLang="en-US" dirty="0"/>
              <a:t>“anything which needs to be protected”</a:t>
            </a:r>
          </a:p>
          <a:p>
            <a:pPr lvl="1"/>
            <a:r>
              <a:rPr lang="en-US" altLang="en-US" dirty="0"/>
              <a:t>of value to organization to meet its objectives </a:t>
            </a:r>
          </a:p>
          <a:p>
            <a:pPr lvl="1"/>
            <a:r>
              <a:rPr lang="en-US" altLang="en-US" dirty="0"/>
              <a:t>tangible or intangible</a:t>
            </a:r>
          </a:p>
          <a:p>
            <a:pPr lvl="1"/>
            <a:r>
              <a:rPr lang="en-US" altLang="en-US" dirty="0"/>
              <a:t>in practice try to identify significant assets</a:t>
            </a:r>
          </a:p>
          <a:p>
            <a:pPr marL="57150" indent="0"/>
            <a:r>
              <a:rPr lang="en-US" altLang="en-US" dirty="0"/>
              <a:t>Assets:</a:t>
            </a:r>
          </a:p>
          <a:p>
            <a:pPr marL="457200" lvl="1" indent="0"/>
            <a:r>
              <a:rPr lang="en-US" altLang="en-US" dirty="0"/>
              <a:t>Hardware</a:t>
            </a:r>
          </a:p>
          <a:p>
            <a:pPr marL="457200" lvl="1" indent="0"/>
            <a:r>
              <a:rPr lang="en-US" altLang="en-US" dirty="0"/>
              <a:t>Software</a:t>
            </a:r>
          </a:p>
          <a:p>
            <a:pPr marL="457200" lvl="1" indent="0"/>
            <a:r>
              <a:rPr lang="en-US" altLang="en-US" dirty="0"/>
              <a:t>Information (Intellectual Property)</a:t>
            </a:r>
          </a:p>
          <a:p>
            <a:r>
              <a:rPr lang="en-US" altLang="en-US" dirty="0"/>
              <a:t>draw on expertise of people in relevant areas of organization to identify key assets</a:t>
            </a:r>
          </a:p>
          <a:p>
            <a:pPr lvl="1"/>
            <a:r>
              <a:rPr lang="en-US" altLang="en-US" dirty="0"/>
              <a:t>identify and interview such personnel</a:t>
            </a:r>
          </a:p>
          <a:p>
            <a:pPr lvl="1"/>
            <a:r>
              <a:rPr lang="en-US" altLang="en-US" dirty="0"/>
              <a:t>see checklists in various standards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2129690-B51B-1B7F-F92C-8A9C46B9E019}"/>
              </a:ext>
            </a:extLst>
          </p:cNvPr>
          <p:cNvSpPr>
            <a:spLocks noGrp="1" noChangeArrowheads="1"/>
          </p:cNvSpPr>
          <p:nvPr>
            <p:ph type="title"/>
          </p:nvPr>
        </p:nvSpPr>
        <p:spPr/>
        <p:txBody>
          <a:bodyPr/>
          <a:lstStyle/>
          <a:p>
            <a:r>
              <a:rPr lang="en-US" altLang="en-US"/>
              <a:t>Analyze Risks</a:t>
            </a:r>
          </a:p>
        </p:txBody>
      </p:sp>
      <p:sp>
        <p:nvSpPr>
          <p:cNvPr id="49155" name="Rectangle 3">
            <a:extLst>
              <a:ext uri="{FF2B5EF4-FFF2-40B4-BE49-F238E27FC236}">
                <a16:creationId xmlns:a16="http://schemas.microsoft.com/office/drawing/2014/main" id="{DB1F5609-7EC7-5A53-CB05-E00F04F7AC0B}"/>
              </a:ext>
            </a:extLst>
          </p:cNvPr>
          <p:cNvSpPr>
            <a:spLocks noGrp="1" noChangeArrowheads="1"/>
          </p:cNvSpPr>
          <p:nvPr>
            <p:ph type="body" idx="1"/>
          </p:nvPr>
        </p:nvSpPr>
        <p:spPr/>
        <p:txBody>
          <a:bodyPr>
            <a:normAutofit fontScale="92500" lnSpcReduction="10000"/>
          </a:bodyPr>
          <a:lstStyle/>
          <a:p>
            <a:pPr>
              <a:lnSpc>
                <a:spcPct val="90000"/>
              </a:lnSpc>
            </a:pPr>
            <a:r>
              <a:rPr lang="en-US" altLang="en-US" sz="2400" dirty="0"/>
              <a:t>Likelihood: likelihood of occurrence of each identified threat to asset given existing controls</a:t>
            </a:r>
          </a:p>
          <a:p>
            <a:pPr lvl="1"/>
            <a:r>
              <a:rPr lang="en-US" altLang="en-US" dirty="0"/>
              <a:t>Attacker skills</a:t>
            </a:r>
          </a:p>
          <a:p>
            <a:pPr lvl="1"/>
            <a:r>
              <a:rPr lang="en-US" altLang="en-US" dirty="0"/>
              <a:t>Motivation</a:t>
            </a:r>
          </a:p>
          <a:p>
            <a:pPr lvl="1"/>
            <a:r>
              <a:rPr lang="en-US" altLang="en-US" dirty="0"/>
              <a:t>Difficulty</a:t>
            </a:r>
          </a:p>
          <a:p>
            <a:pPr>
              <a:lnSpc>
                <a:spcPct val="90000"/>
              </a:lnSpc>
            </a:pPr>
            <a:r>
              <a:rPr lang="en-US" altLang="en-US" sz="2400" dirty="0"/>
              <a:t>Impact: specify consequence should threat occur</a:t>
            </a:r>
          </a:p>
          <a:p>
            <a:pPr lvl="1"/>
            <a:r>
              <a:rPr lang="en-US" altLang="en-US" dirty="0"/>
              <a:t>Effects on Confidentiality, Integrity, or Availability</a:t>
            </a:r>
          </a:p>
          <a:p>
            <a:pPr lvl="1"/>
            <a:r>
              <a:rPr lang="en-US" altLang="en-US" dirty="0"/>
              <a:t>Cost of Asset</a:t>
            </a:r>
          </a:p>
          <a:p>
            <a:pPr>
              <a:lnSpc>
                <a:spcPct val="90000"/>
              </a:lnSpc>
            </a:pPr>
            <a:r>
              <a:rPr lang="en-US" altLang="en-US" sz="2400" dirty="0"/>
              <a:t>hence derive overall risk rating for each threat</a:t>
            </a:r>
          </a:p>
          <a:p>
            <a:pPr lvl="1">
              <a:lnSpc>
                <a:spcPct val="90000"/>
              </a:lnSpc>
              <a:buFontTx/>
              <a:buNone/>
            </a:pPr>
            <a:r>
              <a:rPr lang="en-US" altLang="en-US" sz="2000" dirty="0"/>
              <a:t> </a:t>
            </a:r>
            <a:r>
              <a:rPr lang="en-US" altLang="en-US" sz="2000" b="1" i="1" dirty="0">
                <a:solidFill>
                  <a:srgbClr val="C00000"/>
                </a:solidFill>
              </a:rPr>
              <a:t>risk = probability threat occurs * cost to organization (</a:t>
            </a:r>
            <a:r>
              <a:rPr lang="en-US" altLang="en-US" sz="2000" b="1" i="1" dirty="0" err="1">
                <a:solidFill>
                  <a:srgbClr val="C00000"/>
                </a:solidFill>
              </a:rPr>
              <a:t>Quantative</a:t>
            </a:r>
            <a:r>
              <a:rPr lang="en-US" altLang="en-US" sz="2000" b="1" i="1" dirty="0">
                <a:solidFill>
                  <a:srgbClr val="C00000"/>
                </a:solidFill>
              </a:rPr>
              <a:t>)</a:t>
            </a:r>
          </a:p>
          <a:p>
            <a:pPr>
              <a:lnSpc>
                <a:spcPct val="90000"/>
              </a:lnSpc>
            </a:pPr>
            <a:r>
              <a:rPr lang="en-US" altLang="en-US" sz="2400" dirty="0"/>
              <a:t>in practice very hard to determine exactly</a:t>
            </a:r>
          </a:p>
          <a:p>
            <a:pPr>
              <a:lnSpc>
                <a:spcPct val="90000"/>
              </a:lnSpc>
            </a:pPr>
            <a:r>
              <a:rPr lang="en-US" altLang="en-US" sz="2400" dirty="0"/>
              <a:t>use qualitative not quantitative, ratings for each</a:t>
            </a:r>
          </a:p>
          <a:p>
            <a:pPr>
              <a:lnSpc>
                <a:spcPct val="90000"/>
              </a:lnSpc>
            </a:pPr>
            <a:endParaRPr lang="en-US" alt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7A44689-36C6-A512-4618-50E867692546}"/>
              </a:ext>
            </a:extLst>
          </p:cNvPr>
          <p:cNvSpPr>
            <a:spLocks noGrp="1" noChangeArrowheads="1"/>
          </p:cNvSpPr>
          <p:nvPr>
            <p:ph type="title"/>
          </p:nvPr>
        </p:nvSpPr>
        <p:spPr/>
        <p:txBody>
          <a:bodyPr/>
          <a:lstStyle/>
          <a:p>
            <a:r>
              <a:rPr lang="en-US" altLang="en-US"/>
              <a:t>Determine Likelihood</a:t>
            </a:r>
          </a:p>
        </p:txBody>
      </p:sp>
      <p:graphicFrame>
        <p:nvGraphicFramePr>
          <p:cNvPr id="51203" name="Object 4">
            <a:extLst>
              <a:ext uri="{FF2B5EF4-FFF2-40B4-BE49-F238E27FC236}">
                <a16:creationId xmlns:a16="http://schemas.microsoft.com/office/drawing/2014/main" id="{3B7D2F86-17D3-E464-6262-6F008A7D9979}"/>
              </a:ext>
            </a:extLst>
          </p:cNvPr>
          <p:cNvGraphicFramePr>
            <a:graphicFrameLocks noChangeAspect="1"/>
          </p:cNvGraphicFramePr>
          <p:nvPr/>
        </p:nvGraphicFramePr>
        <p:xfrm>
          <a:off x="250031" y="1143000"/>
          <a:ext cx="8643937" cy="4138612"/>
        </p:xfrm>
        <a:graphic>
          <a:graphicData uri="http://schemas.openxmlformats.org/presentationml/2006/ole">
            <mc:AlternateContent xmlns:mc="http://schemas.openxmlformats.org/markup-compatibility/2006">
              <mc:Choice xmlns:v="urn:schemas-microsoft-com:vml" Requires="v">
                <p:oleObj spid="_x0000_s2063" name="Document" r:id="rId4" imgW="5638800" imgH="2705100" progId="Word.Document.8">
                  <p:embed/>
                </p:oleObj>
              </mc:Choice>
              <mc:Fallback>
                <p:oleObj name="Document" r:id="rId4" imgW="5638800" imgH="2705100" progId="Word.Document.8">
                  <p:embed/>
                  <p:pic>
                    <p:nvPicPr>
                      <p:cNvPr id="51203" name="Object 4">
                        <a:extLst>
                          <a:ext uri="{FF2B5EF4-FFF2-40B4-BE49-F238E27FC236}">
                            <a16:creationId xmlns:a16="http://schemas.microsoft.com/office/drawing/2014/main" id="{3B7D2F86-17D3-E464-6262-6F008A7D99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31" y="1143000"/>
                        <a:ext cx="8643937" cy="413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65E8C9B-0036-2809-56E7-DCD00C201E1A}"/>
              </a:ext>
            </a:extLst>
          </p:cNvPr>
          <p:cNvSpPr>
            <a:spLocks noGrp="1" noChangeArrowheads="1"/>
          </p:cNvSpPr>
          <p:nvPr>
            <p:ph type="title"/>
          </p:nvPr>
        </p:nvSpPr>
        <p:spPr>
          <a:xfrm>
            <a:off x="228600" y="0"/>
            <a:ext cx="8610600" cy="914400"/>
          </a:xfrm>
        </p:spPr>
        <p:txBody>
          <a:bodyPr/>
          <a:lstStyle/>
          <a:p>
            <a:r>
              <a:rPr lang="en-US" altLang="en-US"/>
              <a:t>Determine Consequence</a:t>
            </a:r>
          </a:p>
        </p:txBody>
      </p:sp>
      <p:graphicFrame>
        <p:nvGraphicFramePr>
          <p:cNvPr id="53251" name="Object 4">
            <a:extLst>
              <a:ext uri="{FF2B5EF4-FFF2-40B4-BE49-F238E27FC236}">
                <a16:creationId xmlns:a16="http://schemas.microsoft.com/office/drawing/2014/main" id="{7A249136-D34E-AE9D-8611-F1D089FF315D}"/>
              </a:ext>
            </a:extLst>
          </p:cNvPr>
          <p:cNvGraphicFramePr>
            <a:graphicFrameLocks noChangeAspect="1"/>
          </p:cNvGraphicFramePr>
          <p:nvPr/>
        </p:nvGraphicFramePr>
        <p:xfrm>
          <a:off x="1041400" y="762000"/>
          <a:ext cx="6926263" cy="5316538"/>
        </p:xfrm>
        <a:graphic>
          <a:graphicData uri="http://schemas.openxmlformats.org/presentationml/2006/ole">
            <mc:AlternateContent xmlns:mc="http://schemas.openxmlformats.org/markup-compatibility/2006">
              <mc:Choice xmlns:v="urn:schemas-microsoft-com:vml" Requires="v">
                <p:oleObj spid="_x0000_s3087" name="Document" r:id="rId4" imgW="6096000" imgH="4673600" progId="Word.Document.8">
                  <p:embed/>
                </p:oleObj>
              </mc:Choice>
              <mc:Fallback>
                <p:oleObj name="Document" r:id="rId4" imgW="6096000" imgH="4673600" progId="Word.Document.8">
                  <p:embed/>
                  <p:pic>
                    <p:nvPicPr>
                      <p:cNvPr id="53251" name="Object 4">
                        <a:extLst>
                          <a:ext uri="{FF2B5EF4-FFF2-40B4-BE49-F238E27FC236}">
                            <a16:creationId xmlns:a16="http://schemas.microsoft.com/office/drawing/2014/main" id="{7A249136-D34E-AE9D-8611-F1D089FF3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400" y="762000"/>
                        <a:ext cx="6926263" cy="531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57B2065-E309-000F-886C-2D6C92BEA381}"/>
              </a:ext>
            </a:extLst>
          </p:cNvPr>
          <p:cNvSpPr>
            <a:spLocks noGrp="1" noChangeArrowheads="1"/>
          </p:cNvSpPr>
          <p:nvPr>
            <p:ph type="title"/>
          </p:nvPr>
        </p:nvSpPr>
        <p:spPr>
          <a:xfrm>
            <a:off x="457200" y="-152400"/>
            <a:ext cx="8229600" cy="1143000"/>
          </a:xfrm>
        </p:spPr>
        <p:txBody>
          <a:bodyPr/>
          <a:lstStyle/>
          <a:p>
            <a:r>
              <a:rPr lang="en-US" altLang="en-US" dirty="0"/>
              <a:t>Determine Resultant Risk</a:t>
            </a:r>
          </a:p>
        </p:txBody>
      </p:sp>
      <p:grpSp>
        <p:nvGrpSpPr>
          <p:cNvPr id="55299" name="Group 6">
            <a:extLst>
              <a:ext uri="{FF2B5EF4-FFF2-40B4-BE49-F238E27FC236}">
                <a16:creationId xmlns:a16="http://schemas.microsoft.com/office/drawing/2014/main" id="{B4DE310F-DF85-06CE-3550-4F76E4E46ACD}"/>
              </a:ext>
            </a:extLst>
          </p:cNvPr>
          <p:cNvGrpSpPr>
            <a:grpSpLocks noChangeAspect="1"/>
          </p:cNvGrpSpPr>
          <p:nvPr/>
        </p:nvGrpSpPr>
        <p:grpSpPr bwMode="auto">
          <a:xfrm>
            <a:off x="620713" y="476251"/>
            <a:ext cx="7227887" cy="5314800"/>
            <a:chOff x="295" y="470"/>
            <a:chExt cx="4802" cy="3531"/>
          </a:xfrm>
        </p:grpSpPr>
        <p:sp>
          <p:nvSpPr>
            <p:cNvPr id="55300" name="AutoShape 5">
              <a:extLst>
                <a:ext uri="{FF2B5EF4-FFF2-40B4-BE49-F238E27FC236}">
                  <a16:creationId xmlns:a16="http://schemas.microsoft.com/office/drawing/2014/main" id="{29187D06-9771-55FC-023D-9ADBBD8F9437}"/>
                </a:ext>
              </a:extLst>
            </p:cNvPr>
            <p:cNvSpPr>
              <a:spLocks noChangeAspect="1" noChangeArrowheads="1" noTextEdit="1"/>
            </p:cNvSpPr>
            <p:nvPr/>
          </p:nvSpPr>
          <p:spPr bwMode="auto">
            <a:xfrm>
              <a:off x="403" y="482"/>
              <a:ext cx="4694"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nvGrpSpPr>
            <p:cNvPr id="55301" name="Group 207">
              <a:extLst>
                <a:ext uri="{FF2B5EF4-FFF2-40B4-BE49-F238E27FC236}">
                  <a16:creationId xmlns:a16="http://schemas.microsoft.com/office/drawing/2014/main" id="{DCAD9B66-7F73-1C44-7640-3DA99B8C84B8}"/>
                </a:ext>
              </a:extLst>
            </p:cNvPr>
            <p:cNvGrpSpPr>
              <a:grpSpLocks/>
            </p:cNvGrpSpPr>
            <p:nvPr/>
          </p:nvGrpSpPr>
          <p:grpSpPr bwMode="auto">
            <a:xfrm>
              <a:off x="295" y="470"/>
              <a:ext cx="4793" cy="825"/>
              <a:chOff x="295" y="470"/>
              <a:chExt cx="4793" cy="825"/>
            </a:xfrm>
          </p:grpSpPr>
          <p:sp>
            <p:nvSpPr>
              <p:cNvPr id="55931" name="Rectangle 7">
                <a:extLst>
                  <a:ext uri="{FF2B5EF4-FFF2-40B4-BE49-F238E27FC236}">
                    <a16:creationId xmlns:a16="http://schemas.microsoft.com/office/drawing/2014/main" id="{FC964065-AF0C-49EB-35EF-530BB9BC011E}"/>
                  </a:ext>
                </a:extLst>
              </p:cNvPr>
              <p:cNvSpPr>
                <a:spLocks noChangeArrowheads="1"/>
              </p:cNvSpPr>
              <p:nvPr/>
            </p:nvSpPr>
            <p:spPr bwMode="auto">
              <a:xfrm>
                <a:off x="349" y="47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932" name="Rectangle 8">
                <a:extLst>
                  <a:ext uri="{FF2B5EF4-FFF2-40B4-BE49-F238E27FC236}">
                    <a16:creationId xmlns:a16="http://schemas.microsoft.com/office/drawing/2014/main" id="{EEAB70BE-DF0F-CE1B-BC92-C22EF1B8AD11}"/>
                  </a:ext>
                </a:extLst>
              </p:cNvPr>
              <p:cNvSpPr>
                <a:spLocks noChangeArrowheads="1"/>
              </p:cNvSpPr>
              <p:nvPr/>
            </p:nvSpPr>
            <p:spPr bwMode="auto">
              <a:xfrm>
                <a:off x="300"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3" name="Rectangle 9">
                <a:extLst>
                  <a:ext uri="{FF2B5EF4-FFF2-40B4-BE49-F238E27FC236}">
                    <a16:creationId xmlns:a16="http://schemas.microsoft.com/office/drawing/2014/main" id="{F46ED8A2-D4A1-F16E-47BB-03FBD71E2086}"/>
                  </a:ext>
                </a:extLst>
              </p:cNvPr>
              <p:cNvSpPr>
                <a:spLocks noChangeArrowheads="1"/>
              </p:cNvSpPr>
              <p:nvPr/>
            </p:nvSpPr>
            <p:spPr bwMode="auto">
              <a:xfrm>
                <a:off x="907"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4" name="Rectangle 10">
                <a:extLst>
                  <a:ext uri="{FF2B5EF4-FFF2-40B4-BE49-F238E27FC236}">
                    <a16:creationId xmlns:a16="http://schemas.microsoft.com/office/drawing/2014/main" id="{6421674B-7189-A968-8EB6-411F076AB739}"/>
                  </a:ext>
                </a:extLst>
              </p:cNvPr>
              <p:cNvSpPr>
                <a:spLocks noChangeArrowheads="1"/>
              </p:cNvSpPr>
              <p:nvPr/>
            </p:nvSpPr>
            <p:spPr bwMode="auto">
              <a:xfrm>
                <a:off x="349" y="620"/>
                <a:ext cx="558"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5" name="Rectangle 11">
                <a:extLst>
                  <a:ext uri="{FF2B5EF4-FFF2-40B4-BE49-F238E27FC236}">
                    <a16:creationId xmlns:a16="http://schemas.microsoft.com/office/drawing/2014/main" id="{B67E6004-1C58-99DA-6510-BEA2132504A2}"/>
                  </a:ext>
                </a:extLst>
              </p:cNvPr>
              <p:cNvSpPr>
                <a:spLocks noChangeArrowheads="1"/>
              </p:cNvSpPr>
              <p:nvPr/>
            </p:nvSpPr>
            <p:spPr bwMode="auto">
              <a:xfrm>
                <a:off x="349" y="60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936" name="Rectangle 12">
                <a:extLst>
                  <a:ext uri="{FF2B5EF4-FFF2-40B4-BE49-F238E27FC236}">
                    <a16:creationId xmlns:a16="http://schemas.microsoft.com/office/drawing/2014/main" id="{5D086F82-CFCB-DB1B-2A70-2A14281A8BDA}"/>
                  </a:ext>
                </a:extLst>
              </p:cNvPr>
              <p:cNvSpPr>
                <a:spLocks noChangeArrowheads="1"/>
              </p:cNvSpPr>
              <p:nvPr/>
            </p:nvSpPr>
            <p:spPr bwMode="auto">
              <a:xfrm>
                <a:off x="961"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7" name="Rectangle 13">
                <a:extLst>
                  <a:ext uri="{FF2B5EF4-FFF2-40B4-BE49-F238E27FC236}">
                    <a16:creationId xmlns:a16="http://schemas.microsoft.com/office/drawing/2014/main" id="{CCA9F6E9-235B-ADE0-7DD0-CA16692B7317}"/>
                  </a:ext>
                </a:extLst>
              </p:cNvPr>
              <p:cNvSpPr>
                <a:spLocks noChangeArrowheads="1"/>
              </p:cNvSpPr>
              <p:nvPr/>
            </p:nvSpPr>
            <p:spPr bwMode="auto">
              <a:xfrm>
                <a:off x="5034"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8" name="Rectangle 14">
                <a:extLst>
                  <a:ext uri="{FF2B5EF4-FFF2-40B4-BE49-F238E27FC236}">
                    <a16:creationId xmlns:a16="http://schemas.microsoft.com/office/drawing/2014/main" id="{DF8E583D-B2D1-D5F6-CCA6-DD71CA8F079B}"/>
                  </a:ext>
                </a:extLst>
              </p:cNvPr>
              <p:cNvSpPr>
                <a:spLocks noChangeArrowheads="1"/>
              </p:cNvSpPr>
              <p:nvPr/>
            </p:nvSpPr>
            <p:spPr bwMode="auto">
              <a:xfrm>
                <a:off x="1010" y="620"/>
                <a:ext cx="4024"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9" name="Rectangle 15">
                <a:extLst>
                  <a:ext uri="{FF2B5EF4-FFF2-40B4-BE49-F238E27FC236}">
                    <a16:creationId xmlns:a16="http://schemas.microsoft.com/office/drawing/2014/main" id="{D16D9159-BF59-F2CB-14CF-7878B79BBAE1}"/>
                  </a:ext>
                </a:extLst>
              </p:cNvPr>
              <p:cNvSpPr>
                <a:spLocks noChangeArrowheads="1"/>
              </p:cNvSpPr>
              <p:nvPr/>
            </p:nvSpPr>
            <p:spPr bwMode="auto">
              <a:xfrm>
                <a:off x="1010" y="608"/>
                <a:ext cx="7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Consequences</a:t>
                </a:r>
                <a:endParaRPr lang="en-US" altLang="en-US"/>
              </a:p>
            </p:txBody>
          </p:sp>
          <p:sp>
            <p:nvSpPr>
              <p:cNvPr id="55940" name="Rectangle 16">
                <a:extLst>
                  <a:ext uri="{FF2B5EF4-FFF2-40B4-BE49-F238E27FC236}">
                    <a16:creationId xmlns:a16="http://schemas.microsoft.com/office/drawing/2014/main" id="{0D605FAA-0867-AB96-5C20-F5407C67314E}"/>
                  </a:ext>
                </a:extLst>
              </p:cNvPr>
              <p:cNvSpPr>
                <a:spLocks noChangeArrowheads="1"/>
              </p:cNvSpPr>
              <p:nvPr/>
            </p:nvSpPr>
            <p:spPr bwMode="auto">
              <a:xfrm>
                <a:off x="1768" y="60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41" name="Rectangle 17">
                <a:extLst>
                  <a:ext uri="{FF2B5EF4-FFF2-40B4-BE49-F238E27FC236}">
                    <a16:creationId xmlns:a16="http://schemas.microsoft.com/office/drawing/2014/main" id="{D6C2875A-C2A8-402D-0823-EF9E092DD055}"/>
                  </a:ext>
                </a:extLst>
              </p:cNvPr>
              <p:cNvSpPr>
                <a:spLocks noChangeArrowheads="1"/>
              </p:cNvSpPr>
              <p:nvPr/>
            </p:nvSpPr>
            <p:spPr bwMode="auto">
              <a:xfrm>
                <a:off x="295"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2" name="Line 18">
                <a:extLst>
                  <a:ext uri="{FF2B5EF4-FFF2-40B4-BE49-F238E27FC236}">
                    <a16:creationId xmlns:a16="http://schemas.microsoft.com/office/drawing/2014/main" id="{4AADE670-4060-4639-9160-085110197BB5}"/>
                  </a:ext>
                </a:extLst>
              </p:cNvPr>
              <p:cNvSpPr>
                <a:spLocks noChangeShapeType="1"/>
              </p:cNvSpPr>
              <p:nvPr/>
            </p:nvSpPr>
            <p:spPr bwMode="auto">
              <a:xfrm>
                <a:off x="295"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3" name="Line 19">
                <a:extLst>
                  <a:ext uri="{FF2B5EF4-FFF2-40B4-BE49-F238E27FC236}">
                    <a16:creationId xmlns:a16="http://schemas.microsoft.com/office/drawing/2014/main" id="{FED45356-0BBE-BBBD-B3DD-5D471BE367A7}"/>
                  </a:ext>
                </a:extLst>
              </p:cNvPr>
              <p:cNvSpPr>
                <a:spLocks noChangeShapeType="1"/>
              </p:cNvSpPr>
              <p:nvPr/>
            </p:nvSpPr>
            <p:spPr bwMode="auto">
              <a:xfrm>
                <a:off x="295"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4" name="Rectangle 20">
                <a:extLst>
                  <a:ext uri="{FF2B5EF4-FFF2-40B4-BE49-F238E27FC236}">
                    <a16:creationId xmlns:a16="http://schemas.microsoft.com/office/drawing/2014/main" id="{8DF55221-C665-F159-9A70-D76BCC4906D2}"/>
                  </a:ext>
                </a:extLst>
              </p:cNvPr>
              <p:cNvSpPr>
                <a:spLocks noChangeArrowheads="1"/>
              </p:cNvSpPr>
              <p:nvPr/>
            </p:nvSpPr>
            <p:spPr bwMode="auto">
              <a:xfrm>
                <a:off x="295"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5" name="Line 21">
                <a:extLst>
                  <a:ext uri="{FF2B5EF4-FFF2-40B4-BE49-F238E27FC236}">
                    <a16:creationId xmlns:a16="http://schemas.microsoft.com/office/drawing/2014/main" id="{CB07649D-CFBA-E7D9-F363-A287C403BAB3}"/>
                  </a:ext>
                </a:extLst>
              </p:cNvPr>
              <p:cNvSpPr>
                <a:spLocks noChangeShapeType="1"/>
              </p:cNvSpPr>
              <p:nvPr/>
            </p:nvSpPr>
            <p:spPr bwMode="auto">
              <a:xfrm>
                <a:off x="295"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6" name="Line 22">
                <a:extLst>
                  <a:ext uri="{FF2B5EF4-FFF2-40B4-BE49-F238E27FC236}">
                    <a16:creationId xmlns:a16="http://schemas.microsoft.com/office/drawing/2014/main" id="{56735A8E-65C4-4D26-DDF9-6E2F13B684A3}"/>
                  </a:ext>
                </a:extLst>
              </p:cNvPr>
              <p:cNvSpPr>
                <a:spLocks noChangeShapeType="1"/>
              </p:cNvSpPr>
              <p:nvPr/>
            </p:nvSpPr>
            <p:spPr bwMode="auto">
              <a:xfrm>
                <a:off x="295"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7" name="Rectangle 23">
                <a:extLst>
                  <a:ext uri="{FF2B5EF4-FFF2-40B4-BE49-F238E27FC236}">
                    <a16:creationId xmlns:a16="http://schemas.microsoft.com/office/drawing/2014/main" id="{B6456769-0B2F-56A9-42FB-3E88C3F15E43}"/>
                  </a:ext>
                </a:extLst>
              </p:cNvPr>
              <p:cNvSpPr>
                <a:spLocks noChangeArrowheads="1"/>
              </p:cNvSpPr>
              <p:nvPr/>
            </p:nvSpPr>
            <p:spPr bwMode="auto">
              <a:xfrm>
                <a:off x="300" y="615"/>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8" name="Line 24">
                <a:extLst>
                  <a:ext uri="{FF2B5EF4-FFF2-40B4-BE49-F238E27FC236}">
                    <a16:creationId xmlns:a16="http://schemas.microsoft.com/office/drawing/2014/main" id="{9646EDBD-5FE6-E589-E8BA-AE2DF1EFA9A9}"/>
                  </a:ext>
                </a:extLst>
              </p:cNvPr>
              <p:cNvSpPr>
                <a:spLocks noChangeShapeType="1"/>
              </p:cNvSpPr>
              <p:nvPr/>
            </p:nvSpPr>
            <p:spPr bwMode="auto">
              <a:xfrm>
                <a:off x="300" y="61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9" name="Rectangle 25">
                <a:extLst>
                  <a:ext uri="{FF2B5EF4-FFF2-40B4-BE49-F238E27FC236}">
                    <a16:creationId xmlns:a16="http://schemas.microsoft.com/office/drawing/2014/main" id="{0BCE7A1A-37F9-36A0-C5D7-D165DBA8A51F}"/>
                  </a:ext>
                </a:extLst>
              </p:cNvPr>
              <p:cNvSpPr>
                <a:spLocks noChangeArrowheads="1"/>
              </p:cNvSpPr>
              <p:nvPr/>
            </p:nvSpPr>
            <p:spPr bwMode="auto">
              <a:xfrm>
                <a:off x="956"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0" name="Line 26">
                <a:extLst>
                  <a:ext uri="{FF2B5EF4-FFF2-40B4-BE49-F238E27FC236}">
                    <a16:creationId xmlns:a16="http://schemas.microsoft.com/office/drawing/2014/main" id="{E31CA8B3-DF0E-8122-CB57-7D4A821F978A}"/>
                  </a:ext>
                </a:extLst>
              </p:cNvPr>
              <p:cNvSpPr>
                <a:spLocks noChangeShapeType="1"/>
              </p:cNvSpPr>
              <p:nvPr/>
            </p:nvSpPr>
            <p:spPr bwMode="auto">
              <a:xfrm>
                <a:off x="956"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1" name="Line 27">
                <a:extLst>
                  <a:ext uri="{FF2B5EF4-FFF2-40B4-BE49-F238E27FC236}">
                    <a16:creationId xmlns:a16="http://schemas.microsoft.com/office/drawing/2014/main" id="{A5646C56-0708-29F8-F7E1-BAF825FEFA88}"/>
                  </a:ext>
                </a:extLst>
              </p:cNvPr>
              <p:cNvSpPr>
                <a:spLocks noChangeShapeType="1"/>
              </p:cNvSpPr>
              <p:nvPr/>
            </p:nvSpPr>
            <p:spPr bwMode="auto">
              <a:xfrm>
                <a:off x="956"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2" name="Rectangle 28">
                <a:extLst>
                  <a:ext uri="{FF2B5EF4-FFF2-40B4-BE49-F238E27FC236}">
                    <a16:creationId xmlns:a16="http://schemas.microsoft.com/office/drawing/2014/main" id="{0E85BBCF-EFCE-5DDD-09A6-B1F68EF5106F}"/>
                  </a:ext>
                </a:extLst>
              </p:cNvPr>
              <p:cNvSpPr>
                <a:spLocks noChangeArrowheads="1"/>
              </p:cNvSpPr>
              <p:nvPr/>
            </p:nvSpPr>
            <p:spPr bwMode="auto">
              <a:xfrm>
                <a:off x="961" y="615"/>
                <a:ext cx="412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3" name="Line 29">
                <a:extLst>
                  <a:ext uri="{FF2B5EF4-FFF2-40B4-BE49-F238E27FC236}">
                    <a16:creationId xmlns:a16="http://schemas.microsoft.com/office/drawing/2014/main" id="{89C6EA76-DE26-FF9C-FE7F-3E2BCDF52B58}"/>
                  </a:ext>
                </a:extLst>
              </p:cNvPr>
              <p:cNvSpPr>
                <a:spLocks noChangeShapeType="1"/>
              </p:cNvSpPr>
              <p:nvPr/>
            </p:nvSpPr>
            <p:spPr bwMode="auto">
              <a:xfrm>
                <a:off x="961" y="615"/>
                <a:ext cx="412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4" name="Rectangle 30">
                <a:extLst>
                  <a:ext uri="{FF2B5EF4-FFF2-40B4-BE49-F238E27FC236}">
                    <a16:creationId xmlns:a16="http://schemas.microsoft.com/office/drawing/2014/main" id="{2769E69A-15BE-55BA-E5E6-55030F83D0C2}"/>
                  </a:ext>
                </a:extLst>
              </p:cNvPr>
              <p:cNvSpPr>
                <a:spLocks noChangeArrowheads="1"/>
              </p:cNvSpPr>
              <p:nvPr/>
            </p:nvSpPr>
            <p:spPr bwMode="auto">
              <a:xfrm>
                <a:off x="5083"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5" name="Line 31">
                <a:extLst>
                  <a:ext uri="{FF2B5EF4-FFF2-40B4-BE49-F238E27FC236}">
                    <a16:creationId xmlns:a16="http://schemas.microsoft.com/office/drawing/2014/main" id="{DE2AE806-9F9B-F046-F1F8-1ACF5DF5C62B}"/>
                  </a:ext>
                </a:extLst>
              </p:cNvPr>
              <p:cNvSpPr>
                <a:spLocks noChangeShapeType="1"/>
              </p:cNvSpPr>
              <p:nvPr/>
            </p:nvSpPr>
            <p:spPr bwMode="auto">
              <a:xfrm>
                <a:off x="5083"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6" name="Line 32">
                <a:extLst>
                  <a:ext uri="{FF2B5EF4-FFF2-40B4-BE49-F238E27FC236}">
                    <a16:creationId xmlns:a16="http://schemas.microsoft.com/office/drawing/2014/main" id="{49AD7BD7-BD7F-D22E-F0E4-2CDE8908A5FD}"/>
                  </a:ext>
                </a:extLst>
              </p:cNvPr>
              <p:cNvSpPr>
                <a:spLocks noChangeShapeType="1"/>
              </p:cNvSpPr>
              <p:nvPr/>
            </p:nvSpPr>
            <p:spPr bwMode="auto">
              <a:xfrm>
                <a:off x="5083"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7" name="Rectangle 33">
                <a:extLst>
                  <a:ext uri="{FF2B5EF4-FFF2-40B4-BE49-F238E27FC236}">
                    <a16:creationId xmlns:a16="http://schemas.microsoft.com/office/drawing/2014/main" id="{4CE01F57-4C70-FE8A-7717-9C568D9D3B58}"/>
                  </a:ext>
                </a:extLst>
              </p:cNvPr>
              <p:cNvSpPr>
                <a:spLocks noChangeArrowheads="1"/>
              </p:cNvSpPr>
              <p:nvPr/>
            </p:nvSpPr>
            <p:spPr bwMode="auto">
              <a:xfrm>
                <a:off x="5083"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8" name="Line 34">
                <a:extLst>
                  <a:ext uri="{FF2B5EF4-FFF2-40B4-BE49-F238E27FC236}">
                    <a16:creationId xmlns:a16="http://schemas.microsoft.com/office/drawing/2014/main" id="{AC663090-9896-C112-463C-70D52C07AE49}"/>
                  </a:ext>
                </a:extLst>
              </p:cNvPr>
              <p:cNvSpPr>
                <a:spLocks noChangeShapeType="1"/>
              </p:cNvSpPr>
              <p:nvPr/>
            </p:nvSpPr>
            <p:spPr bwMode="auto">
              <a:xfrm>
                <a:off x="5083"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9" name="Line 35">
                <a:extLst>
                  <a:ext uri="{FF2B5EF4-FFF2-40B4-BE49-F238E27FC236}">
                    <a16:creationId xmlns:a16="http://schemas.microsoft.com/office/drawing/2014/main" id="{D728094A-1D0D-4ED5-DA23-5D6C57D53C0B}"/>
                  </a:ext>
                </a:extLst>
              </p:cNvPr>
              <p:cNvSpPr>
                <a:spLocks noChangeShapeType="1"/>
              </p:cNvSpPr>
              <p:nvPr/>
            </p:nvSpPr>
            <p:spPr bwMode="auto">
              <a:xfrm>
                <a:off x="5083"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0" name="Rectangle 36">
                <a:extLst>
                  <a:ext uri="{FF2B5EF4-FFF2-40B4-BE49-F238E27FC236}">
                    <a16:creationId xmlns:a16="http://schemas.microsoft.com/office/drawing/2014/main" id="{F59575F0-09A0-32ED-1748-F9ECD4A4375E}"/>
                  </a:ext>
                </a:extLst>
              </p:cNvPr>
              <p:cNvSpPr>
                <a:spLocks noChangeArrowheads="1"/>
              </p:cNvSpPr>
              <p:nvPr/>
            </p:nvSpPr>
            <p:spPr bwMode="auto">
              <a:xfrm>
                <a:off x="295"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1" name="Line 37">
                <a:extLst>
                  <a:ext uri="{FF2B5EF4-FFF2-40B4-BE49-F238E27FC236}">
                    <a16:creationId xmlns:a16="http://schemas.microsoft.com/office/drawing/2014/main" id="{ED622C06-EAB6-D29A-A6A1-0F8B9C26336F}"/>
                  </a:ext>
                </a:extLst>
              </p:cNvPr>
              <p:cNvSpPr>
                <a:spLocks noChangeShapeType="1"/>
              </p:cNvSpPr>
              <p:nvPr/>
            </p:nvSpPr>
            <p:spPr bwMode="auto">
              <a:xfrm>
                <a:off x="295"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2" name="Rectangle 38">
                <a:extLst>
                  <a:ext uri="{FF2B5EF4-FFF2-40B4-BE49-F238E27FC236}">
                    <a16:creationId xmlns:a16="http://schemas.microsoft.com/office/drawing/2014/main" id="{CE8D5BD1-3BFA-B54F-C160-243132FC33F8}"/>
                  </a:ext>
                </a:extLst>
              </p:cNvPr>
              <p:cNvSpPr>
                <a:spLocks noChangeArrowheads="1"/>
              </p:cNvSpPr>
              <p:nvPr/>
            </p:nvSpPr>
            <p:spPr bwMode="auto">
              <a:xfrm>
                <a:off x="956"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3" name="Line 39">
                <a:extLst>
                  <a:ext uri="{FF2B5EF4-FFF2-40B4-BE49-F238E27FC236}">
                    <a16:creationId xmlns:a16="http://schemas.microsoft.com/office/drawing/2014/main" id="{FC9ECE4B-A790-C388-CA20-0AF2179941FE}"/>
                  </a:ext>
                </a:extLst>
              </p:cNvPr>
              <p:cNvSpPr>
                <a:spLocks noChangeShapeType="1"/>
              </p:cNvSpPr>
              <p:nvPr/>
            </p:nvSpPr>
            <p:spPr bwMode="auto">
              <a:xfrm>
                <a:off x="956"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4" name="Rectangle 40">
                <a:extLst>
                  <a:ext uri="{FF2B5EF4-FFF2-40B4-BE49-F238E27FC236}">
                    <a16:creationId xmlns:a16="http://schemas.microsoft.com/office/drawing/2014/main" id="{D6E31509-F355-DDEB-7118-C9B6976FEB70}"/>
                  </a:ext>
                </a:extLst>
              </p:cNvPr>
              <p:cNvSpPr>
                <a:spLocks noChangeArrowheads="1"/>
              </p:cNvSpPr>
              <p:nvPr/>
            </p:nvSpPr>
            <p:spPr bwMode="auto">
              <a:xfrm>
                <a:off x="5083"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5" name="Line 41">
                <a:extLst>
                  <a:ext uri="{FF2B5EF4-FFF2-40B4-BE49-F238E27FC236}">
                    <a16:creationId xmlns:a16="http://schemas.microsoft.com/office/drawing/2014/main" id="{C3D8B888-E2C4-DF28-DE30-95843C2299CB}"/>
                  </a:ext>
                </a:extLst>
              </p:cNvPr>
              <p:cNvSpPr>
                <a:spLocks noChangeShapeType="1"/>
              </p:cNvSpPr>
              <p:nvPr/>
            </p:nvSpPr>
            <p:spPr bwMode="auto">
              <a:xfrm>
                <a:off x="5083"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6" name="Rectangle 42">
                <a:extLst>
                  <a:ext uri="{FF2B5EF4-FFF2-40B4-BE49-F238E27FC236}">
                    <a16:creationId xmlns:a16="http://schemas.microsoft.com/office/drawing/2014/main" id="{11062DD8-E99F-8FD5-36B0-52C8B3C66EA9}"/>
                  </a:ext>
                </a:extLst>
              </p:cNvPr>
              <p:cNvSpPr>
                <a:spLocks noChangeArrowheads="1"/>
              </p:cNvSpPr>
              <p:nvPr/>
            </p:nvSpPr>
            <p:spPr bwMode="auto">
              <a:xfrm>
                <a:off x="300" y="757"/>
                <a:ext cx="49"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7" name="Rectangle 43">
                <a:extLst>
                  <a:ext uri="{FF2B5EF4-FFF2-40B4-BE49-F238E27FC236}">
                    <a16:creationId xmlns:a16="http://schemas.microsoft.com/office/drawing/2014/main" id="{4DE00F11-4F4A-BD66-A648-B8C261D122D3}"/>
                  </a:ext>
                </a:extLst>
              </p:cNvPr>
              <p:cNvSpPr>
                <a:spLocks noChangeArrowheads="1"/>
              </p:cNvSpPr>
              <p:nvPr/>
            </p:nvSpPr>
            <p:spPr bwMode="auto">
              <a:xfrm>
                <a:off x="907" y="757"/>
                <a:ext cx="49"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8" name="Rectangle 44">
                <a:extLst>
                  <a:ext uri="{FF2B5EF4-FFF2-40B4-BE49-F238E27FC236}">
                    <a16:creationId xmlns:a16="http://schemas.microsoft.com/office/drawing/2014/main" id="{6A16CFDB-620C-66EB-88DC-E8A35CA601AC}"/>
                  </a:ext>
                </a:extLst>
              </p:cNvPr>
              <p:cNvSpPr>
                <a:spLocks noChangeArrowheads="1"/>
              </p:cNvSpPr>
              <p:nvPr/>
            </p:nvSpPr>
            <p:spPr bwMode="auto">
              <a:xfrm>
                <a:off x="349" y="757"/>
                <a:ext cx="55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9" name="Rectangle 45">
                <a:extLst>
                  <a:ext uri="{FF2B5EF4-FFF2-40B4-BE49-F238E27FC236}">
                    <a16:creationId xmlns:a16="http://schemas.microsoft.com/office/drawing/2014/main" id="{D4F41570-DCE0-1FDD-F42E-82943B9D584C}"/>
                  </a:ext>
                </a:extLst>
              </p:cNvPr>
              <p:cNvSpPr>
                <a:spLocks noChangeArrowheads="1"/>
              </p:cNvSpPr>
              <p:nvPr/>
            </p:nvSpPr>
            <p:spPr bwMode="auto">
              <a:xfrm>
                <a:off x="349" y="745"/>
                <a:ext cx="46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200" b="1">
                    <a:solidFill>
                      <a:srgbClr val="000000"/>
                    </a:solidFill>
                    <a:latin typeface="Trebuchet MS" panose="020B0703020202090204" pitchFamily="34" charset="0"/>
                  </a:rPr>
                  <a:t>Likelihood</a:t>
                </a:r>
                <a:endParaRPr lang="en-US" altLang="en-US" sz="1200"/>
              </a:p>
            </p:txBody>
          </p:sp>
          <p:sp>
            <p:nvSpPr>
              <p:cNvPr id="55970" name="Rectangle 46">
                <a:extLst>
                  <a:ext uri="{FF2B5EF4-FFF2-40B4-BE49-F238E27FC236}">
                    <a16:creationId xmlns:a16="http://schemas.microsoft.com/office/drawing/2014/main" id="{5ED4F9A2-037F-4B01-61A4-516268DD5B01}"/>
                  </a:ext>
                </a:extLst>
              </p:cNvPr>
              <p:cNvSpPr>
                <a:spLocks noChangeArrowheads="1"/>
              </p:cNvSpPr>
              <p:nvPr/>
            </p:nvSpPr>
            <p:spPr bwMode="auto">
              <a:xfrm>
                <a:off x="349" y="892"/>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1" name="Rectangle 47">
                <a:extLst>
                  <a:ext uri="{FF2B5EF4-FFF2-40B4-BE49-F238E27FC236}">
                    <a16:creationId xmlns:a16="http://schemas.microsoft.com/office/drawing/2014/main" id="{24E14AE5-82A4-234C-ACA9-B4841BA249AB}"/>
                  </a:ext>
                </a:extLst>
              </p:cNvPr>
              <p:cNvSpPr>
                <a:spLocks noChangeArrowheads="1"/>
              </p:cNvSpPr>
              <p:nvPr/>
            </p:nvSpPr>
            <p:spPr bwMode="auto">
              <a:xfrm>
                <a:off x="349" y="880"/>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2" name="Rectangle 48">
                <a:extLst>
                  <a:ext uri="{FF2B5EF4-FFF2-40B4-BE49-F238E27FC236}">
                    <a16:creationId xmlns:a16="http://schemas.microsoft.com/office/drawing/2014/main" id="{78CDF1F3-EB8C-723E-A27C-094FC89FD231}"/>
                  </a:ext>
                </a:extLst>
              </p:cNvPr>
              <p:cNvSpPr>
                <a:spLocks noChangeArrowheads="1"/>
              </p:cNvSpPr>
              <p:nvPr/>
            </p:nvSpPr>
            <p:spPr bwMode="auto">
              <a:xfrm>
                <a:off x="415" y="88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73" name="Rectangle 49">
                <a:extLst>
                  <a:ext uri="{FF2B5EF4-FFF2-40B4-BE49-F238E27FC236}">
                    <a16:creationId xmlns:a16="http://schemas.microsoft.com/office/drawing/2014/main" id="{E5CF74DA-B00A-AE64-C27D-8B4E8CD61482}"/>
                  </a:ext>
                </a:extLst>
              </p:cNvPr>
              <p:cNvSpPr>
                <a:spLocks noChangeArrowheads="1"/>
              </p:cNvSpPr>
              <p:nvPr/>
            </p:nvSpPr>
            <p:spPr bwMode="auto">
              <a:xfrm>
                <a:off x="961"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4" name="Rectangle 50">
                <a:extLst>
                  <a:ext uri="{FF2B5EF4-FFF2-40B4-BE49-F238E27FC236}">
                    <a16:creationId xmlns:a16="http://schemas.microsoft.com/office/drawing/2014/main" id="{C821506B-4F1D-82F8-E664-7C6C23777CF3}"/>
                  </a:ext>
                </a:extLst>
              </p:cNvPr>
              <p:cNvSpPr>
                <a:spLocks noChangeArrowheads="1"/>
              </p:cNvSpPr>
              <p:nvPr/>
            </p:nvSpPr>
            <p:spPr bwMode="auto">
              <a:xfrm>
                <a:off x="158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5" name="Rectangle 51">
                <a:extLst>
                  <a:ext uri="{FF2B5EF4-FFF2-40B4-BE49-F238E27FC236}">
                    <a16:creationId xmlns:a16="http://schemas.microsoft.com/office/drawing/2014/main" id="{BA478F30-1C18-5212-A6EB-CCF2A2F650AA}"/>
                  </a:ext>
                </a:extLst>
              </p:cNvPr>
              <p:cNvSpPr>
                <a:spLocks noChangeArrowheads="1"/>
              </p:cNvSpPr>
              <p:nvPr/>
            </p:nvSpPr>
            <p:spPr bwMode="auto">
              <a:xfrm>
                <a:off x="961" y="892"/>
                <a:ext cx="672"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6" name="Rectangle 52">
                <a:extLst>
                  <a:ext uri="{FF2B5EF4-FFF2-40B4-BE49-F238E27FC236}">
                    <a16:creationId xmlns:a16="http://schemas.microsoft.com/office/drawing/2014/main" id="{424CA600-9BD5-15DE-9AA6-F8A32E8FBFAC}"/>
                  </a:ext>
                </a:extLst>
              </p:cNvPr>
              <p:cNvSpPr>
                <a:spLocks noChangeArrowheads="1"/>
              </p:cNvSpPr>
              <p:nvPr/>
            </p:nvSpPr>
            <p:spPr bwMode="auto">
              <a:xfrm>
                <a:off x="1010" y="757"/>
                <a:ext cx="574"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7" name="Rectangle 53">
                <a:extLst>
                  <a:ext uri="{FF2B5EF4-FFF2-40B4-BE49-F238E27FC236}">
                    <a16:creationId xmlns:a16="http://schemas.microsoft.com/office/drawing/2014/main" id="{3F19CE68-1A0E-190E-BFB9-C00251E4B5FF}"/>
                  </a:ext>
                </a:extLst>
              </p:cNvPr>
              <p:cNvSpPr>
                <a:spLocks noChangeArrowheads="1"/>
              </p:cNvSpPr>
              <p:nvPr/>
            </p:nvSpPr>
            <p:spPr bwMode="auto">
              <a:xfrm>
                <a:off x="1010" y="745"/>
                <a:ext cx="52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Doomsday</a:t>
                </a:r>
                <a:endParaRPr lang="en-US" altLang="en-US"/>
              </a:p>
            </p:txBody>
          </p:sp>
          <p:sp>
            <p:nvSpPr>
              <p:cNvPr id="55978" name="Rectangle 54">
                <a:extLst>
                  <a:ext uri="{FF2B5EF4-FFF2-40B4-BE49-F238E27FC236}">
                    <a16:creationId xmlns:a16="http://schemas.microsoft.com/office/drawing/2014/main" id="{136E203E-BACB-E8FE-0A71-4053C6E80107}"/>
                  </a:ext>
                </a:extLst>
              </p:cNvPr>
              <p:cNvSpPr>
                <a:spLocks noChangeArrowheads="1"/>
              </p:cNvSpPr>
              <p:nvPr/>
            </p:nvSpPr>
            <p:spPr bwMode="auto">
              <a:xfrm>
                <a:off x="1549"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79" name="Rectangle 55">
                <a:extLst>
                  <a:ext uri="{FF2B5EF4-FFF2-40B4-BE49-F238E27FC236}">
                    <a16:creationId xmlns:a16="http://schemas.microsoft.com/office/drawing/2014/main" id="{85E50168-E496-C4E7-AE04-C87A4E92277E}"/>
                  </a:ext>
                </a:extLst>
              </p:cNvPr>
              <p:cNvSpPr>
                <a:spLocks noChangeArrowheads="1"/>
              </p:cNvSpPr>
              <p:nvPr/>
            </p:nvSpPr>
            <p:spPr bwMode="auto">
              <a:xfrm>
                <a:off x="1637" y="757"/>
                <a:ext cx="50"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0" name="Rectangle 56">
                <a:extLst>
                  <a:ext uri="{FF2B5EF4-FFF2-40B4-BE49-F238E27FC236}">
                    <a16:creationId xmlns:a16="http://schemas.microsoft.com/office/drawing/2014/main" id="{3FD78169-158B-7E73-A9C3-393C7815AB6C}"/>
                  </a:ext>
                </a:extLst>
              </p:cNvPr>
              <p:cNvSpPr>
                <a:spLocks noChangeArrowheads="1"/>
              </p:cNvSpPr>
              <p:nvPr/>
            </p:nvSpPr>
            <p:spPr bwMode="auto">
              <a:xfrm>
                <a:off x="2328" y="757"/>
                <a:ext cx="48"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1" name="Rectangle 57">
                <a:extLst>
                  <a:ext uri="{FF2B5EF4-FFF2-40B4-BE49-F238E27FC236}">
                    <a16:creationId xmlns:a16="http://schemas.microsoft.com/office/drawing/2014/main" id="{9CB67B1D-B3FF-A0BC-FC31-573F20527808}"/>
                  </a:ext>
                </a:extLst>
              </p:cNvPr>
              <p:cNvSpPr>
                <a:spLocks noChangeArrowheads="1"/>
              </p:cNvSpPr>
              <p:nvPr/>
            </p:nvSpPr>
            <p:spPr bwMode="auto">
              <a:xfrm>
                <a:off x="1687" y="757"/>
                <a:ext cx="641"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2" name="Rectangle 58">
                <a:extLst>
                  <a:ext uri="{FF2B5EF4-FFF2-40B4-BE49-F238E27FC236}">
                    <a16:creationId xmlns:a16="http://schemas.microsoft.com/office/drawing/2014/main" id="{9FE67A21-5A29-F6F8-F832-1D78DD08E877}"/>
                  </a:ext>
                </a:extLst>
              </p:cNvPr>
              <p:cNvSpPr>
                <a:spLocks noChangeArrowheads="1"/>
              </p:cNvSpPr>
              <p:nvPr/>
            </p:nvSpPr>
            <p:spPr bwMode="auto">
              <a:xfrm>
                <a:off x="1687" y="745"/>
                <a:ext cx="5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200" b="1">
                    <a:solidFill>
                      <a:srgbClr val="000000"/>
                    </a:solidFill>
                    <a:latin typeface="Trebuchet MS" panose="020B0703020202090204" pitchFamily="34" charset="0"/>
                  </a:rPr>
                  <a:t>Catastrophic</a:t>
                </a:r>
                <a:endParaRPr lang="en-US" altLang="en-US" sz="1200"/>
              </a:p>
            </p:txBody>
          </p:sp>
          <p:sp>
            <p:nvSpPr>
              <p:cNvPr id="55983" name="Rectangle 59">
                <a:extLst>
                  <a:ext uri="{FF2B5EF4-FFF2-40B4-BE49-F238E27FC236}">
                    <a16:creationId xmlns:a16="http://schemas.microsoft.com/office/drawing/2014/main" id="{3E15A68B-343D-90D2-1BA3-31F414F3EFA8}"/>
                  </a:ext>
                </a:extLst>
              </p:cNvPr>
              <p:cNvSpPr>
                <a:spLocks noChangeArrowheads="1"/>
              </p:cNvSpPr>
              <p:nvPr/>
            </p:nvSpPr>
            <p:spPr bwMode="auto">
              <a:xfrm>
                <a:off x="1687" y="892"/>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4" name="Rectangle 60">
                <a:extLst>
                  <a:ext uri="{FF2B5EF4-FFF2-40B4-BE49-F238E27FC236}">
                    <a16:creationId xmlns:a16="http://schemas.microsoft.com/office/drawing/2014/main" id="{C1FA1067-1C00-1563-59B9-1F43BC8E7650}"/>
                  </a:ext>
                </a:extLst>
              </p:cNvPr>
              <p:cNvSpPr>
                <a:spLocks noChangeArrowheads="1"/>
              </p:cNvSpPr>
              <p:nvPr/>
            </p:nvSpPr>
            <p:spPr bwMode="auto">
              <a:xfrm>
                <a:off x="1687" y="880"/>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5" name="Rectangle 61">
                <a:extLst>
                  <a:ext uri="{FF2B5EF4-FFF2-40B4-BE49-F238E27FC236}">
                    <a16:creationId xmlns:a16="http://schemas.microsoft.com/office/drawing/2014/main" id="{44A08663-C19C-C49E-0D1C-D9845D8B7D7A}"/>
                  </a:ext>
                </a:extLst>
              </p:cNvPr>
              <p:cNvSpPr>
                <a:spLocks noChangeArrowheads="1"/>
              </p:cNvSpPr>
              <p:nvPr/>
            </p:nvSpPr>
            <p:spPr bwMode="auto">
              <a:xfrm>
                <a:off x="1745" y="88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86" name="Rectangle 62">
                <a:extLst>
                  <a:ext uri="{FF2B5EF4-FFF2-40B4-BE49-F238E27FC236}">
                    <a16:creationId xmlns:a16="http://schemas.microsoft.com/office/drawing/2014/main" id="{CA8FC2C0-9258-6943-0F0F-3C25E67A9270}"/>
                  </a:ext>
                </a:extLst>
              </p:cNvPr>
              <p:cNvSpPr>
                <a:spLocks noChangeArrowheads="1"/>
              </p:cNvSpPr>
              <p:nvPr/>
            </p:nvSpPr>
            <p:spPr bwMode="auto">
              <a:xfrm>
                <a:off x="2381"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7" name="Rectangle 63">
                <a:extLst>
                  <a:ext uri="{FF2B5EF4-FFF2-40B4-BE49-F238E27FC236}">
                    <a16:creationId xmlns:a16="http://schemas.microsoft.com/office/drawing/2014/main" id="{B457E09D-467F-035F-1016-22477DBA8E91}"/>
                  </a:ext>
                </a:extLst>
              </p:cNvPr>
              <p:cNvSpPr>
                <a:spLocks noChangeArrowheads="1"/>
              </p:cNvSpPr>
              <p:nvPr/>
            </p:nvSpPr>
            <p:spPr bwMode="auto">
              <a:xfrm>
                <a:off x="2868"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8" name="Rectangle 64">
                <a:extLst>
                  <a:ext uri="{FF2B5EF4-FFF2-40B4-BE49-F238E27FC236}">
                    <a16:creationId xmlns:a16="http://schemas.microsoft.com/office/drawing/2014/main" id="{42400FC8-C541-FDB0-7146-1F2A21B5BEC6}"/>
                  </a:ext>
                </a:extLst>
              </p:cNvPr>
              <p:cNvSpPr>
                <a:spLocks noChangeArrowheads="1"/>
              </p:cNvSpPr>
              <p:nvPr/>
            </p:nvSpPr>
            <p:spPr bwMode="auto">
              <a:xfrm>
                <a:off x="2381" y="892"/>
                <a:ext cx="536"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9" name="Rectangle 65">
                <a:extLst>
                  <a:ext uri="{FF2B5EF4-FFF2-40B4-BE49-F238E27FC236}">
                    <a16:creationId xmlns:a16="http://schemas.microsoft.com/office/drawing/2014/main" id="{72D62CA9-A555-EFE5-469D-462E510751C5}"/>
                  </a:ext>
                </a:extLst>
              </p:cNvPr>
              <p:cNvSpPr>
                <a:spLocks noChangeArrowheads="1"/>
              </p:cNvSpPr>
              <p:nvPr/>
            </p:nvSpPr>
            <p:spPr bwMode="auto">
              <a:xfrm>
                <a:off x="2430" y="757"/>
                <a:ext cx="43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0" name="Rectangle 66">
                <a:extLst>
                  <a:ext uri="{FF2B5EF4-FFF2-40B4-BE49-F238E27FC236}">
                    <a16:creationId xmlns:a16="http://schemas.microsoft.com/office/drawing/2014/main" id="{C52F1417-0A4B-DE43-D9CF-9E725334BE77}"/>
                  </a:ext>
                </a:extLst>
              </p:cNvPr>
              <p:cNvSpPr>
                <a:spLocks noChangeArrowheads="1"/>
              </p:cNvSpPr>
              <p:nvPr/>
            </p:nvSpPr>
            <p:spPr bwMode="auto">
              <a:xfrm>
                <a:off x="2430" y="745"/>
                <a:ext cx="29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Major</a:t>
                </a:r>
                <a:endParaRPr lang="en-US" altLang="en-US"/>
              </a:p>
            </p:txBody>
          </p:sp>
          <p:sp>
            <p:nvSpPr>
              <p:cNvPr id="55991" name="Rectangle 67">
                <a:extLst>
                  <a:ext uri="{FF2B5EF4-FFF2-40B4-BE49-F238E27FC236}">
                    <a16:creationId xmlns:a16="http://schemas.microsoft.com/office/drawing/2014/main" id="{B4EB2A68-A81A-A701-9052-8F95DD52B4F6}"/>
                  </a:ext>
                </a:extLst>
              </p:cNvPr>
              <p:cNvSpPr>
                <a:spLocks noChangeArrowheads="1"/>
              </p:cNvSpPr>
              <p:nvPr/>
            </p:nvSpPr>
            <p:spPr bwMode="auto">
              <a:xfrm>
                <a:off x="2734"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92" name="Rectangle 68">
                <a:extLst>
                  <a:ext uri="{FF2B5EF4-FFF2-40B4-BE49-F238E27FC236}">
                    <a16:creationId xmlns:a16="http://schemas.microsoft.com/office/drawing/2014/main" id="{521BD541-54E4-A4EC-9836-45CFCDA89E05}"/>
                  </a:ext>
                </a:extLst>
              </p:cNvPr>
              <p:cNvSpPr>
                <a:spLocks noChangeArrowheads="1"/>
              </p:cNvSpPr>
              <p:nvPr/>
            </p:nvSpPr>
            <p:spPr bwMode="auto">
              <a:xfrm>
                <a:off x="2922"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3" name="Rectangle 69">
                <a:extLst>
                  <a:ext uri="{FF2B5EF4-FFF2-40B4-BE49-F238E27FC236}">
                    <a16:creationId xmlns:a16="http://schemas.microsoft.com/office/drawing/2014/main" id="{C71004A7-F25C-86CE-46AB-F97D36DC8B8C}"/>
                  </a:ext>
                </a:extLst>
              </p:cNvPr>
              <p:cNvSpPr>
                <a:spLocks noChangeArrowheads="1"/>
              </p:cNvSpPr>
              <p:nvPr/>
            </p:nvSpPr>
            <p:spPr bwMode="auto">
              <a:xfrm>
                <a:off x="3540"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4" name="Rectangle 70">
                <a:extLst>
                  <a:ext uri="{FF2B5EF4-FFF2-40B4-BE49-F238E27FC236}">
                    <a16:creationId xmlns:a16="http://schemas.microsoft.com/office/drawing/2014/main" id="{F187CF40-2CD6-7C6E-250E-E6544B03F187}"/>
                  </a:ext>
                </a:extLst>
              </p:cNvPr>
              <p:cNvSpPr>
                <a:spLocks noChangeArrowheads="1"/>
              </p:cNvSpPr>
              <p:nvPr/>
            </p:nvSpPr>
            <p:spPr bwMode="auto">
              <a:xfrm>
                <a:off x="2922" y="892"/>
                <a:ext cx="66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5" name="Rectangle 71">
                <a:extLst>
                  <a:ext uri="{FF2B5EF4-FFF2-40B4-BE49-F238E27FC236}">
                    <a16:creationId xmlns:a16="http://schemas.microsoft.com/office/drawing/2014/main" id="{2F3EE002-F88F-AE3E-D6B3-429868B1C2BF}"/>
                  </a:ext>
                </a:extLst>
              </p:cNvPr>
              <p:cNvSpPr>
                <a:spLocks noChangeArrowheads="1"/>
              </p:cNvSpPr>
              <p:nvPr/>
            </p:nvSpPr>
            <p:spPr bwMode="auto">
              <a:xfrm>
                <a:off x="2971" y="757"/>
                <a:ext cx="56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6" name="Rectangle 72">
                <a:extLst>
                  <a:ext uri="{FF2B5EF4-FFF2-40B4-BE49-F238E27FC236}">
                    <a16:creationId xmlns:a16="http://schemas.microsoft.com/office/drawing/2014/main" id="{38281D97-8C72-7FE0-9905-0D2216FE243B}"/>
                  </a:ext>
                </a:extLst>
              </p:cNvPr>
              <p:cNvSpPr>
                <a:spLocks noChangeArrowheads="1"/>
              </p:cNvSpPr>
              <p:nvPr/>
            </p:nvSpPr>
            <p:spPr bwMode="auto">
              <a:xfrm>
                <a:off x="2971" y="745"/>
                <a:ext cx="49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Moderate</a:t>
                </a:r>
                <a:endParaRPr lang="en-US" altLang="en-US"/>
              </a:p>
            </p:txBody>
          </p:sp>
          <p:sp>
            <p:nvSpPr>
              <p:cNvPr id="55997" name="Rectangle 73">
                <a:extLst>
                  <a:ext uri="{FF2B5EF4-FFF2-40B4-BE49-F238E27FC236}">
                    <a16:creationId xmlns:a16="http://schemas.microsoft.com/office/drawing/2014/main" id="{6BA0D2E5-FC59-7A89-68EA-22B04837AB9A}"/>
                  </a:ext>
                </a:extLst>
              </p:cNvPr>
              <p:cNvSpPr>
                <a:spLocks noChangeArrowheads="1"/>
              </p:cNvSpPr>
              <p:nvPr/>
            </p:nvSpPr>
            <p:spPr bwMode="auto">
              <a:xfrm>
                <a:off x="3475"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98" name="Rectangle 74">
                <a:extLst>
                  <a:ext uri="{FF2B5EF4-FFF2-40B4-BE49-F238E27FC236}">
                    <a16:creationId xmlns:a16="http://schemas.microsoft.com/office/drawing/2014/main" id="{61362CB2-BDC9-60AD-68CC-A3478BFC5179}"/>
                  </a:ext>
                </a:extLst>
              </p:cNvPr>
              <p:cNvSpPr>
                <a:spLocks noChangeArrowheads="1"/>
              </p:cNvSpPr>
              <p:nvPr/>
            </p:nvSpPr>
            <p:spPr bwMode="auto">
              <a:xfrm>
                <a:off x="359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9" name="Rectangle 75">
                <a:extLst>
                  <a:ext uri="{FF2B5EF4-FFF2-40B4-BE49-F238E27FC236}">
                    <a16:creationId xmlns:a16="http://schemas.microsoft.com/office/drawing/2014/main" id="{1D37910A-1282-67BA-23C1-01136E5B2B51}"/>
                  </a:ext>
                </a:extLst>
              </p:cNvPr>
              <p:cNvSpPr>
                <a:spLocks noChangeArrowheads="1"/>
              </p:cNvSpPr>
              <p:nvPr/>
            </p:nvSpPr>
            <p:spPr bwMode="auto">
              <a:xfrm>
                <a:off x="4212" y="757"/>
                <a:ext cx="50"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0" name="Rectangle 76">
                <a:extLst>
                  <a:ext uri="{FF2B5EF4-FFF2-40B4-BE49-F238E27FC236}">
                    <a16:creationId xmlns:a16="http://schemas.microsoft.com/office/drawing/2014/main" id="{8450FBD6-CA1A-D7A1-5EEE-6341698F6977}"/>
                  </a:ext>
                </a:extLst>
              </p:cNvPr>
              <p:cNvSpPr>
                <a:spLocks noChangeArrowheads="1"/>
              </p:cNvSpPr>
              <p:nvPr/>
            </p:nvSpPr>
            <p:spPr bwMode="auto">
              <a:xfrm>
                <a:off x="3594" y="892"/>
                <a:ext cx="66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1" name="Rectangle 77">
                <a:extLst>
                  <a:ext uri="{FF2B5EF4-FFF2-40B4-BE49-F238E27FC236}">
                    <a16:creationId xmlns:a16="http://schemas.microsoft.com/office/drawing/2014/main" id="{1A3FC1A1-6C9B-D797-D535-9E186D5664BB}"/>
                  </a:ext>
                </a:extLst>
              </p:cNvPr>
              <p:cNvSpPr>
                <a:spLocks noChangeArrowheads="1"/>
              </p:cNvSpPr>
              <p:nvPr/>
            </p:nvSpPr>
            <p:spPr bwMode="auto">
              <a:xfrm>
                <a:off x="3643" y="757"/>
                <a:ext cx="56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2" name="Rectangle 78">
                <a:extLst>
                  <a:ext uri="{FF2B5EF4-FFF2-40B4-BE49-F238E27FC236}">
                    <a16:creationId xmlns:a16="http://schemas.microsoft.com/office/drawing/2014/main" id="{1BDF427F-6612-78AF-234F-7F1FF27B3AB0}"/>
                  </a:ext>
                </a:extLst>
              </p:cNvPr>
              <p:cNvSpPr>
                <a:spLocks noChangeArrowheads="1"/>
              </p:cNvSpPr>
              <p:nvPr/>
            </p:nvSpPr>
            <p:spPr bwMode="auto">
              <a:xfrm>
                <a:off x="3643" y="745"/>
                <a:ext cx="2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Minor</a:t>
                </a:r>
                <a:endParaRPr lang="en-US" altLang="en-US"/>
              </a:p>
            </p:txBody>
          </p:sp>
          <p:sp>
            <p:nvSpPr>
              <p:cNvPr id="56003" name="Rectangle 79">
                <a:extLst>
                  <a:ext uri="{FF2B5EF4-FFF2-40B4-BE49-F238E27FC236}">
                    <a16:creationId xmlns:a16="http://schemas.microsoft.com/office/drawing/2014/main" id="{2E1F18DD-E004-1953-945B-D9EFF1536C8C}"/>
                  </a:ext>
                </a:extLst>
              </p:cNvPr>
              <p:cNvSpPr>
                <a:spLocks noChangeArrowheads="1"/>
              </p:cNvSpPr>
              <p:nvPr/>
            </p:nvSpPr>
            <p:spPr bwMode="auto">
              <a:xfrm>
                <a:off x="3946"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04" name="Rectangle 80">
                <a:extLst>
                  <a:ext uri="{FF2B5EF4-FFF2-40B4-BE49-F238E27FC236}">
                    <a16:creationId xmlns:a16="http://schemas.microsoft.com/office/drawing/2014/main" id="{08647FFA-E878-37EC-177C-2F3115E39ADA}"/>
                  </a:ext>
                </a:extLst>
              </p:cNvPr>
              <p:cNvSpPr>
                <a:spLocks noChangeArrowheads="1"/>
              </p:cNvSpPr>
              <p:nvPr/>
            </p:nvSpPr>
            <p:spPr bwMode="auto">
              <a:xfrm>
                <a:off x="4266" y="757"/>
                <a:ext cx="50"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5" name="Rectangle 81">
                <a:extLst>
                  <a:ext uri="{FF2B5EF4-FFF2-40B4-BE49-F238E27FC236}">
                    <a16:creationId xmlns:a16="http://schemas.microsoft.com/office/drawing/2014/main" id="{23606DE9-26B1-6D76-1DAC-8D2F068DEE77}"/>
                  </a:ext>
                </a:extLst>
              </p:cNvPr>
              <p:cNvSpPr>
                <a:spLocks noChangeArrowheads="1"/>
              </p:cNvSpPr>
              <p:nvPr/>
            </p:nvSpPr>
            <p:spPr bwMode="auto">
              <a:xfrm>
                <a:off x="503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6" name="Rectangle 82">
                <a:extLst>
                  <a:ext uri="{FF2B5EF4-FFF2-40B4-BE49-F238E27FC236}">
                    <a16:creationId xmlns:a16="http://schemas.microsoft.com/office/drawing/2014/main" id="{B0FCFE17-E983-CE8C-14DE-6457185922C8}"/>
                  </a:ext>
                </a:extLst>
              </p:cNvPr>
              <p:cNvSpPr>
                <a:spLocks noChangeArrowheads="1"/>
              </p:cNvSpPr>
              <p:nvPr/>
            </p:nvSpPr>
            <p:spPr bwMode="auto">
              <a:xfrm>
                <a:off x="4266" y="892"/>
                <a:ext cx="81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7" name="Rectangle 83">
                <a:extLst>
                  <a:ext uri="{FF2B5EF4-FFF2-40B4-BE49-F238E27FC236}">
                    <a16:creationId xmlns:a16="http://schemas.microsoft.com/office/drawing/2014/main" id="{D5D9C97B-6A03-42E4-6037-B5A1A8EA49B8}"/>
                  </a:ext>
                </a:extLst>
              </p:cNvPr>
              <p:cNvSpPr>
                <a:spLocks noChangeArrowheads="1"/>
              </p:cNvSpPr>
              <p:nvPr/>
            </p:nvSpPr>
            <p:spPr bwMode="auto">
              <a:xfrm>
                <a:off x="4316" y="757"/>
                <a:ext cx="71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8" name="Rectangle 84">
                <a:extLst>
                  <a:ext uri="{FF2B5EF4-FFF2-40B4-BE49-F238E27FC236}">
                    <a16:creationId xmlns:a16="http://schemas.microsoft.com/office/drawing/2014/main" id="{78115039-884B-5094-7DDF-CBCE5BE96E2C}"/>
                  </a:ext>
                </a:extLst>
              </p:cNvPr>
              <p:cNvSpPr>
                <a:spLocks noChangeArrowheads="1"/>
              </p:cNvSpPr>
              <p:nvPr/>
            </p:nvSpPr>
            <p:spPr bwMode="auto">
              <a:xfrm>
                <a:off x="4316" y="745"/>
                <a:ext cx="6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Insignificant</a:t>
                </a:r>
                <a:endParaRPr lang="en-US" altLang="en-US"/>
              </a:p>
            </p:txBody>
          </p:sp>
          <p:sp>
            <p:nvSpPr>
              <p:cNvPr id="56009" name="Rectangle 85">
                <a:extLst>
                  <a:ext uri="{FF2B5EF4-FFF2-40B4-BE49-F238E27FC236}">
                    <a16:creationId xmlns:a16="http://schemas.microsoft.com/office/drawing/2014/main" id="{EDD5063F-F2F0-1149-91FA-6BC29FEE04FB}"/>
                  </a:ext>
                </a:extLst>
              </p:cNvPr>
              <p:cNvSpPr>
                <a:spLocks noChangeArrowheads="1"/>
              </p:cNvSpPr>
              <p:nvPr/>
            </p:nvSpPr>
            <p:spPr bwMode="auto">
              <a:xfrm>
                <a:off x="4967"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10" name="Rectangle 86">
                <a:extLst>
                  <a:ext uri="{FF2B5EF4-FFF2-40B4-BE49-F238E27FC236}">
                    <a16:creationId xmlns:a16="http://schemas.microsoft.com/office/drawing/2014/main" id="{1C0F34F9-AAC3-9D19-8E8F-437FA4B55D5A}"/>
                  </a:ext>
                </a:extLst>
              </p:cNvPr>
              <p:cNvSpPr>
                <a:spLocks noChangeArrowheads="1"/>
              </p:cNvSpPr>
              <p:nvPr/>
            </p:nvSpPr>
            <p:spPr bwMode="auto">
              <a:xfrm>
                <a:off x="295"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1" name="Line 87">
                <a:extLst>
                  <a:ext uri="{FF2B5EF4-FFF2-40B4-BE49-F238E27FC236}">
                    <a16:creationId xmlns:a16="http://schemas.microsoft.com/office/drawing/2014/main" id="{8AB076B7-6091-3160-827D-819211C53668}"/>
                  </a:ext>
                </a:extLst>
              </p:cNvPr>
              <p:cNvSpPr>
                <a:spLocks noChangeShapeType="1"/>
              </p:cNvSpPr>
              <p:nvPr/>
            </p:nvSpPr>
            <p:spPr bwMode="auto">
              <a:xfrm>
                <a:off x="295"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2" name="Line 88">
                <a:extLst>
                  <a:ext uri="{FF2B5EF4-FFF2-40B4-BE49-F238E27FC236}">
                    <a16:creationId xmlns:a16="http://schemas.microsoft.com/office/drawing/2014/main" id="{1EBE105A-2D23-6595-B6AE-C3A7972F9FA3}"/>
                  </a:ext>
                </a:extLst>
              </p:cNvPr>
              <p:cNvSpPr>
                <a:spLocks noChangeShapeType="1"/>
              </p:cNvSpPr>
              <p:nvPr/>
            </p:nvSpPr>
            <p:spPr bwMode="auto">
              <a:xfrm>
                <a:off x="295"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3" name="Rectangle 89">
                <a:extLst>
                  <a:ext uri="{FF2B5EF4-FFF2-40B4-BE49-F238E27FC236}">
                    <a16:creationId xmlns:a16="http://schemas.microsoft.com/office/drawing/2014/main" id="{DB2CC79A-6FD4-0B59-DFD6-16EFDC6F7021}"/>
                  </a:ext>
                </a:extLst>
              </p:cNvPr>
              <p:cNvSpPr>
                <a:spLocks noChangeArrowheads="1"/>
              </p:cNvSpPr>
              <p:nvPr/>
            </p:nvSpPr>
            <p:spPr bwMode="auto">
              <a:xfrm>
                <a:off x="300" y="753"/>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4" name="Line 90">
                <a:extLst>
                  <a:ext uri="{FF2B5EF4-FFF2-40B4-BE49-F238E27FC236}">
                    <a16:creationId xmlns:a16="http://schemas.microsoft.com/office/drawing/2014/main" id="{FD9F089E-527C-3BC9-D8F5-1012E1D1902B}"/>
                  </a:ext>
                </a:extLst>
              </p:cNvPr>
              <p:cNvSpPr>
                <a:spLocks noChangeShapeType="1"/>
              </p:cNvSpPr>
              <p:nvPr/>
            </p:nvSpPr>
            <p:spPr bwMode="auto">
              <a:xfrm>
                <a:off x="300" y="753"/>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5" name="Rectangle 91">
                <a:extLst>
                  <a:ext uri="{FF2B5EF4-FFF2-40B4-BE49-F238E27FC236}">
                    <a16:creationId xmlns:a16="http://schemas.microsoft.com/office/drawing/2014/main" id="{38818FC0-D7CB-86B9-68A8-C67943241D4B}"/>
                  </a:ext>
                </a:extLst>
              </p:cNvPr>
              <p:cNvSpPr>
                <a:spLocks noChangeArrowheads="1"/>
              </p:cNvSpPr>
              <p:nvPr/>
            </p:nvSpPr>
            <p:spPr bwMode="auto">
              <a:xfrm>
                <a:off x="956"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6" name="Line 92">
                <a:extLst>
                  <a:ext uri="{FF2B5EF4-FFF2-40B4-BE49-F238E27FC236}">
                    <a16:creationId xmlns:a16="http://schemas.microsoft.com/office/drawing/2014/main" id="{375AFB37-EEB4-1573-C0AB-B2ED301ECC31}"/>
                  </a:ext>
                </a:extLst>
              </p:cNvPr>
              <p:cNvSpPr>
                <a:spLocks noChangeShapeType="1"/>
              </p:cNvSpPr>
              <p:nvPr/>
            </p:nvSpPr>
            <p:spPr bwMode="auto">
              <a:xfrm>
                <a:off x="956"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7" name="Line 93">
                <a:extLst>
                  <a:ext uri="{FF2B5EF4-FFF2-40B4-BE49-F238E27FC236}">
                    <a16:creationId xmlns:a16="http://schemas.microsoft.com/office/drawing/2014/main" id="{A385CD59-E6D3-17E3-72D7-AF1D23A708E8}"/>
                  </a:ext>
                </a:extLst>
              </p:cNvPr>
              <p:cNvSpPr>
                <a:spLocks noChangeShapeType="1"/>
              </p:cNvSpPr>
              <p:nvPr/>
            </p:nvSpPr>
            <p:spPr bwMode="auto">
              <a:xfrm>
                <a:off x="956"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8" name="Rectangle 94">
                <a:extLst>
                  <a:ext uri="{FF2B5EF4-FFF2-40B4-BE49-F238E27FC236}">
                    <a16:creationId xmlns:a16="http://schemas.microsoft.com/office/drawing/2014/main" id="{81F99E5C-9450-710D-849A-E4DC4A9FB9D2}"/>
                  </a:ext>
                </a:extLst>
              </p:cNvPr>
              <p:cNvSpPr>
                <a:spLocks noChangeArrowheads="1"/>
              </p:cNvSpPr>
              <p:nvPr/>
            </p:nvSpPr>
            <p:spPr bwMode="auto">
              <a:xfrm>
                <a:off x="961" y="753"/>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9" name="Line 95">
                <a:extLst>
                  <a:ext uri="{FF2B5EF4-FFF2-40B4-BE49-F238E27FC236}">
                    <a16:creationId xmlns:a16="http://schemas.microsoft.com/office/drawing/2014/main" id="{8F9249F7-D653-CFFF-110F-2F4B09F791E9}"/>
                  </a:ext>
                </a:extLst>
              </p:cNvPr>
              <p:cNvSpPr>
                <a:spLocks noChangeShapeType="1"/>
              </p:cNvSpPr>
              <p:nvPr/>
            </p:nvSpPr>
            <p:spPr bwMode="auto">
              <a:xfrm>
                <a:off x="961" y="753"/>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0" name="Rectangle 96">
                <a:extLst>
                  <a:ext uri="{FF2B5EF4-FFF2-40B4-BE49-F238E27FC236}">
                    <a16:creationId xmlns:a16="http://schemas.microsoft.com/office/drawing/2014/main" id="{0D6BA353-09A0-DDC2-141E-C0F0F74FF310}"/>
                  </a:ext>
                </a:extLst>
              </p:cNvPr>
              <p:cNvSpPr>
                <a:spLocks noChangeArrowheads="1"/>
              </p:cNvSpPr>
              <p:nvPr/>
            </p:nvSpPr>
            <p:spPr bwMode="auto">
              <a:xfrm>
                <a:off x="1633" y="75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1" name="Line 97">
                <a:extLst>
                  <a:ext uri="{FF2B5EF4-FFF2-40B4-BE49-F238E27FC236}">
                    <a16:creationId xmlns:a16="http://schemas.microsoft.com/office/drawing/2014/main" id="{3D30DA9D-E11E-B860-4126-12E4A8F3308D}"/>
                  </a:ext>
                </a:extLst>
              </p:cNvPr>
              <p:cNvSpPr>
                <a:spLocks noChangeShapeType="1"/>
              </p:cNvSpPr>
              <p:nvPr/>
            </p:nvSpPr>
            <p:spPr bwMode="auto">
              <a:xfrm>
                <a:off x="1633" y="75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2" name="Line 98">
                <a:extLst>
                  <a:ext uri="{FF2B5EF4-FFF2-40B4-BE49-F238E27FC236}">
                    <a16:creationId xmlns:a16="http://schemas.microsoft.com/office/drawing/2014/main" id="{E7B62500-F0D6-D387-899D-412924E33F32}"/>
                  </a:ext>
                </a:extLst>
              </p:cNvPr>
              <p:cNvSpPr>
                <a:spLocks noChangeShapeType="1"/>
              </p:cNvSpPr>
              <p:nvPr/>
            </p:nvSpPr>
            <p:spPr bwMode="auto">
              <a:xfrm>
                <a:off x="1633"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3" name="Rectangle 99">
                <a:extLst>
                  <a:ext uri="{FF2B5EF4-FFF2-40B4-BE49-F238E27FC236}">
                    <a16:creationId xmlns:a16="http://schemas.microsoft.com/office/drawing/2014/main" id="{6DB19632-92A1-5531-F305-37F6DA09246A}"/>
                  </a:ext>
                </a:extLst>
              </p:cNvPr>
              <p:cNvSpPr>
                <a:spLocks noChangeArrowheads="1"/>
              </p:cNvSpPr>
              <p:nvPr/>
            </p:nvSpPr>
            <p:spPr bwMode="auto">
              <a:xfrm>
                <a:off x="1637" y="753"/>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4" name="Line 100">
                <a:extLst>
                  <a:ext uri="{FF2B5EF4-FFF2-40B4-BE49-F238E27FC236}">
                    <a16:creationId xmlns:a16="http://schemas.microsoft.com/office/drawing/2014/main" id="{051071EB-0F50-68D9-57E1-3CA6F2A66B31}"/>
                  </a:ext>
                </a:extLst>
              </p:cNvPr>
              <p:cNvSpPr>
                <a:spLocks noChangeShapeType="1"/>
              </p:cNvSpPr>
              <p:nvPr/>
            </p:nvSpPr>
            <p:spPr bwMode="auto">
              <a:xfrm>
                <a:off x="1637" y="753"/>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5" name="Rectangle 101">
                <a:extLst>
                  <a:ext uri="{FF2B5EF4-FFF2-40B4-BE49-F238E27FC236}">
                    <a16:creationId xmlns:a16="http://schemas.microsoft.com/office/drawing/2014/main" id="{C070933E-0DD6-F551-42F1-30E9C09C13B2}"/>
                  </a:ext>
                </a:extLst>
              </p:cNvPr>
              <p:cNvSpPr>
                <a:spLocks noChangeArrowheads="1"/>
              </p:cNvSpPr>
              <p:nvPr/>
            </p:nvSpPr>
            <p:spPr bwMode="auto">
              <a:xfrm>
                <a:off x="2376"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6" name="Line 102">
                <a:extLst>
                  <a:ext uri="{FF2B5EF4-FFF2-40B4-BE49-F238E27FC236}">
                    <a16:creationId xmlns:a16="http://schemas.microsoft.com/office/drawing/2014/main" id="{92FFF5CC-B007-62BF-0B4C-8CB5A014C210}"/>
                  </a:ext>
                </a:extLst>
              </p:cNvPr>
              <p:cNvSpPr>
                <a:spLocks noChangeShapeType="1"/>
              </p:cNvSpPr>
              <p:nvPr/>
            </p:nvSpPr>
            <p:spPr bwMode="auto">
              <a:xfrm>
                <a:off x="2376"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7" name="Line 103">
                <a:extLst>
                  <a:ext uri="{FF2B5EF4-FFF2-40B4-BE49-F238E27FC236}">
                    <a16:creationId xmlns:a16="http://schemas.microsoft.com/office/drawing/2014/main" id="{02C80D19-FAC8-1B24-D4AC-A61A83A10E70}"/>
                  </a:ext>
                </a:extLst>
              </p:cNvPr>
              <p:cNvSpPr>
                <a:spLocks noChangeShapeType="1"/>
              </p:cNvSpPr>
              <p:nvPr/>
            </p:nvSpPr>
            <p:spPr bwMode="auto">
              <a:xfrm>
                <a:off x="2376"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8" name="Rectangle 104">
                <a:extLst>
                  <a:ext uri="{FF2B5EF4-FFF2-40B4-BE49-F238E27FC236}">
                    <a16:creationId xmlns:a16="http://schemas.microsoft.com/office/drawing/2014/main" id="{EF58500F-F8E2-FACA-BB87-E0BFAD5AD7B6}"/>
                  </a:ext>
                </a:extLst>
              </p:cNvPr>
              <p:cNvSpPr>
                <a:spLocks noChangeArrowheads="1"/>
              </p:cNvSpPr>
              <p:nvPr/>
            </p:nvSpPr>
            <p:spPr bwMode="auto">
              <a:xfrm>
                <a:off x="2381" y="753"/>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9" name="Line 105">
                <a:extLst>
                  <a:ext uri="{FF2B5EF4-FFF2-40B4-BE49-F238E27FC236}">
                    <a16:creationId xmlns:a16="http://schemas.microsoft.com/office/drawing/2014/main" id="{0C46AA12-FB94-8FE7-E079-ACFC376D18FB}"/>
                  </a:ext>
                </a:extLst>
              </p:cNvPr>
              <p:cNvSpPr>
                <a:spLocks noChangeShapeType="1"/>
              </p:cNvSpPr>
              <p:nvPr/>
            </p:nvSpPr>
            <p:spPr bwMode="auto">
              <a:xfrm>
                <a:off x="2381" y="753"/>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0" name="Rectangle 106">
                <a:extLst>
                  <a:ext uri="{FF2B5EF4-FFF2-40B4-BE49-F238E27FC236}">
                    <a16:creationId xmlns:a16="http://schemas.microsoft.com/office/drawing/2014/main" id="{ADD78CB5-A576-D8EE-F6BF-15640317AECB}"/>
                  </a:ext>
                </a:extLst>
              </p:cNvPr>
              <p:cNvSpPr>
                <a:spLocks noChangeArrowheads="1"/>
              </p:cNvSpPr>
              <p:nvPr/>
            </p:nvSpPr>
            <p:spPr bwMode="auto">
              <a:xfrm>
                <a:off x="2917"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1" name="Line 107">
                <a:extLst>
                  <a:ext uri="{FF2B5EF4-FFF2-40B4-BE49-F238E27FC236}">
                    <a16:creationId xmlns:a16="http://schemas.microsoft.com/office/drawing/2014/main" id="{1968C4B3-4DB0-2E20-36C6-F5BB06E44751}"/>
                  </a:ext>
                </a:extLst>
              </p:cNvPr>
              <p:cNvSpPr>
                <a:spLocks noChangeShapeType="1"/>
              </p:cNvSpPr>
              <p:nvPr/>
            </p:nvSpPr>
            <p:spPr bwMode="auto">
              <a:xfrm>
                <a:off x="2917"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2" name="Line 108">
                <a:extLst>
                  <a:ext uri="{FF2B5EF4-FFF2-40B4-BE49-F238E27FC236}">
                    <a16:creationId xmlns:a16="http://schemas.microsoft.com/office/drawing/2014/main" id="{54611CF1-2707-BB64-F5BD-F9E62C924214}"/>
                  </a:ext>
                </a:extLst>
              </p:cNvPr>
              <p:cNvSpPr>
                <a:spLocks noChangeShapeType="1"/>
              </p:cNvSpPr>
              <p:nvPr/>
            </p:nvSpPr>
            <p:spPr bwMode="auto">
              <a:xfrm>
                <a:off x="2917"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3" name="Rectangle 109">
                <a:extLst>
                  <a:ext uri="{FF2B5EF4-FFF2-40B4-BE49-F238E27FC236}">
                    <a16:creationId xmlns:a16="http://schemas.microsoft.com/office/drawing/2014/main" id="{AB1E28D3-E803-B02B-E0CA-341A8A34D2FF}"/>
                  </a:ext>
                </a:extLst>
              </p:cNvPr>
              <p:cNvSpPr>
                <a:spLocks noChangeArrowheads="1"/>
              </p:cNvSpPr>
              <p:nvPr/>
            </p:nvSpPr>
            <p:spPr bwMode="auto">
              <a:xfrm>
                <a:off x="2922" y="753"/>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4" name="Line 110">
                <a:extLst>
                  <a:ext uri="{FF2B5EF4-FFF2-40B4-BE49-F238E27FC236}">
                    <a16:creationId xmlns:a16="http://schemas.microsoft.com/office/drawing/2014/main" id="{19CD8612-8FFD-042F-CEE8-B1F6D4A539D5}"/>
                  </a:ext>
                </a:extLst>
              </p:cNvPr>
              <p:cNvSpPr>
                <a:spLocks noChangeShapeType="1"/>
              </p:cNvSpPr>
              <p:nvPr/>
            </p:nvSpPr>
            <p:spPr bwMode="auto">
              <a:xfrm>
                <a:off x="2922" y="753"/>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5" name="Rectangle 111">
                <a:extLst>
                  <a:ext uri="{FF2B5EF4-FFF2-40B4-BE49-F238E27FC236}">
                    <a16:creationId xmlns:a16="http://schemas.microsoft.com/office/drawing/2014/main" id="{F527B26E-8E85-0B20-A80E-CEA3F5BBECC9}"/>
                  </a:ext>
                </a:extLst>
              </p:cNvPr>
              <p:cNvSpPr>
                <a:spLocks noChangeArrowheads="1"/>
              </p:cNvSpPr>
              <p:nvPr/>
            </p:nvSpPr>
            <p:spPr bwMode="auto">
              <a:xfrm>
                <a:off x="3589"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6" name="Line 112">
                <a:extLst>
                  <a:ext uri="{FF2B5EF4-FFF2-40B4-BE49-F238E27FC236}">
                    <a16:creationId xmlns:a16="http://schemas.microsoft.com/office/drawing/2014/main" id="{BF0CEED4-ED72-4BA9-6C93-AF58D4CF7656}"/>
                  </a:ext>
                </a:extLst>
              </p:cNvPr>
              <p:cNvSpPr>
                <a:spLocks noChangeShapeType="1"/>
              </p:cNvSpPr>
              <p:nvPr/>
            </p:nvSpPr>
            <p:spPr bwMode="auto">
              <a:xfrm>
                <a:off x="3589"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7" name="Line 113">
                <a:extLst>
                  <a:ext uri="{FF2B5EF4-FFF2-40B4-BE49-F238E27FC236}">
                    <a16:creationId xmlns:a16="http://schemas.microsoft.com/office/drawing/2014/main" id="{5259A498-1332-D275-F71A-A3C0FABDDCA3}"/>
                  </a:ext>
                </a:extLst>
              </p:cNvPr>
              <p:cNvSpPr>
                <a:spLocks noChangeShapeType="1"/>
              </p:cNvSpPr>
              <p:nvPr/>
            </p:nvSpPr>
            <p:spPr bwMode="auto">
              <a:xfrm>
                <a:off x="3589"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8" name="Rectangle 114">
                <a:extLst>
                  <a:ext uri="{FF2B5EF4-FFF2-40B4-BE49-F238E27FC236}">
                    <a16:creationId xmlns:a16="http://schemas.microsoft.com/office/drawing/2014/main" id="{CAE3079D-C0F0-0521-FCDF-8F292D01BD45}"/>
                  </a:ext>
                </a:extLst>
              </p:cNvPr>
              <p:cNvSpPr>
                <a:spLocks noChangeArrowheads="1"/>
              </p:cNvSpPr>
              <p:nvPr/>
            </p:nvSpPr>
            <p:spPr bwMode="auto">
              <a:xfrm>
                <a:off x="3594" y="753"/>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9" name="Line 115">
                <a:extLst>
                  <a:ext uri="{FF2B5EF4-FFF2-40B4-BE49-F238E27FC236}">
                    <a16:creationId xmlns:a16="http://schemas.microsoft.com/office/drawing/2014/main" id="{58A73DF2-6E7B-BCFB-D7D0-D4C38D219327}"/>
                  </a:ext>
                </a:extLst>
              </p:cNvPr>
              <p:cNvSpPr>
                <a:spLocks noChangeShapeType="1"/>
              </p:cNvSpPr>
              <p:nvPr/>
            </p:nvSpPr>
            <p:spPr bwMode="auto">
              <a:xfrm>
                <a:off x="3594" y="753"/>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0" name="Rectangle 116">
                <a:extLst>
                  <a:ext uri="{FF2B5EF4-FFF2-40B4-BE49-F238E27FC236}">
                    <a16:creationId xmlns:a16="http://schemas.microsoft.com/office/drawing/2014/main" id="{6B4C5C78-F271-31F4-0D84-3752A0D7A8C6}"/>
                  </a:ext>
                </a:extLst>
              </p:cNvPr>
              <p:cNvSpPr>
                <a:spLocks noChangeArrowheads="1"/>
              </p:cNvSpPr>
              <p:nvPr/>
            </p:nvSpPr>
            <p:spPr bwMode="auto">
              <a:xfrm>
                <a:off x="4262" y="75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1" name="Line 117">
                <a:extLst>
                  <a:ext uri="{FF2B5EF4-FFF2-40B4-BE49-F238E27FC236}">
                    <a16:creationId xmlns:a16="http://schemas.microsoft.com/office/drawing/2014/main" id="{13B6457A-6681-42F7-F0F7-607EBB49A21E}"/>
                  </a:ext>
                </a:extLst>
              </p:cNvPr>
              <p:cNvSpPr>
                <a:spLocks noChangeShapeType="1"/>
              </p:cNvSpPr>
              <p:nvPr/>
            </p:nvSpPr>
            <p:spPr bwMode="auto">
              <a:xfrm>
                <a:off x="4262" y="75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2" name="Line 118">
                <a:extLst>
                  <a:ext uri="{FF2B5EF4-FFF2-40B4-BE49-F238E27FC236}">
                    <a16:creationId xmlns:a16="http://schemas.microsoft.com/office/drawing/2014/main" id="{BD4D0E7C-E0CE-5E04-1C57-15875BD8AA77}"/>
                  </a:ext>
                </a:extLst>
              </p:cNvPr>
              <p:cNvSpPr>
                <a:spLocks noChangeShapeType="1"/>
              </p:cNvSpPr>
              <p:nvPr/>
            </p:nvSpPr>
            <p:spPr bwMode="auto">
              <a:xfrm>
                <a:off x="4262"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3" name="Rectangle 119">
                <a:extLst>
                  <a:ext uri="{FF2B5EF4-FFF2-40B4-BE49-F238E27FC236}">
                    <a16:creationId xmlns:a16="http://schemas.microsoft.com/office/drawing/2014/main" id="{F4FCFFD8-3D3D-3D3D-4183-E706846491E4}"/>
                  </a:ext>
                </a:extLst>
              </p:cNvPr>
              <p:cNvSpPr>
                <a:spLocks noChangeArrowheads="1"/>
              </p:cNvSpPr>
              <p:nvPr/>
            </p:nvSpPr>
            <p:spPr bwMode="auto">
              <a:xfrm>
                <a:off x="4266" y="753"/>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4" name="Line 120">
                <a:extLst>
                  <a:ext uri="{FF2B5EF4-FFF2-40B4-BE49-F238E27FC236}">
                    <a16:creationId xmlns:a16="http://schemas.microsoft.com/office/drawing/2014/main" id="{F55C98A7-9E4F-824D-EE37-14EA2EFD081A}"/>
                  </a:ext>
                </a:extLst>
              </p:cNvPr>
              <p:cNvSpPr>
                <a:spLocks noChangeShapeType="1"/>
              </p:cNvSpPr>
              <p:nvPr/>
            </p:nvSpPr>
            <p:spPr bwMode="auto">
              <a:xfrm>
                <a:off x="4266" y="753"/>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5" name="Rectangle 121">
                <a:extLst>
                  <a:ext uri="{FF2B5EF4-FFF2-40B4-BE49-F238E27FC236}">
                    <a16:creationId xmlns:a16="http://schemas.microsoft.com/office/drawing/2014/main" id="{38667E01-6924-C867-D97C-E704EBD36BB9}"/>
                  </a:ext>
                </a:extLst>
              </p:cNvPr>
              <p:cNvSpPr>
                <a:spLocks noChangeArrowheads="1"/>
              </p:cNvSpPr>
              <p:nvPr/>
            </p:nvSpPr>
            <p:spPr bwMode="auto">
              <a:xfrm>
                <a:off x="5083"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6" name="Line 122">
                <a:extLst>
                  <a:ext uri="{FF2B5EF4-FFF2-40B4-BE49-F238E27FC236}">
                    <a16:creationId xmlns:a16="http://schemas.microsoft.com/office/drawing/2014/main" id="{02EECA69-2835-DCB5-5C8A-8891B75895D3}"/>
                  </a:ext>
                </a:extLst>
              </p:cNvPr>
              <p:cNvSpPr>
                <a:spLocks noChangeShapeType="1"/>
              </p:cNvSpPr>
              <p:nvPr/>
            </p:nvSpPr>
            <p:spPr bwMode="auto">
              <a:xfrm>
                <a:off x="5083"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7" name="Line 123">
                <a:extLst>
                  <a:ext uri="{FF2B5EF4-FFF2-40B4-BE49-F238E27FC236}">
                    <a16:creationId xmlns:a16="http://schemas.microsoft.com/office/drawing/2014/main" id="{C77BEF1D-927B-E9C1-E06D-6FC87AAA0147}"/>
                  </a:ext>
                </a:extLst>
              </p:cNvPr>
              <p:cNvSpPr>
                <a:spLocks noChangeShapeType="1"/>
              </p:cNvSpPr>
              <p:nvPr/>
            </p:nvSpPr>
            <p:spPr bwMode="auto">
              <a:xfrm>
                <a:off x="5083"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8" name="Rectangle 124">
                <a:extLst>
                  <a:ext uri="{FF2B5EF4-FFF2-40B4-BE49-F238E27FC236}">
                    <a16:creationId xmlns:a16="http://schemas.microsoft.com/office/drawing/2014/main" id="{E376F012-450D-3E9A-B9A0-39980756AB2A}"/>
                  </a:ext>
                </a:extLst>
              </p:cNvPr>
              <p:cNvSpPr>
                <a:spLocks noChangeArrowheads="1"/>
              </p:cNvSpPr>
              <p:nvPr/>
            </p:nvSpPr>
            <p:spPr bwMode="auto">
              <a:xfrm>
                <a:off x="295"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9" name="Line 125">
                <a:extLst>
                  <a:ext uri="{FF2B5EF4-FFF2-40B4-BE49-F238E27FC236}">
                    <a16:creationId xmlns:a16="http://schemas.microsoft.com/office/drawing/2014/main" id="{6E48E4CB-9E94-DF5F-F4B6-12B5E5BF7E00}"/>
                  </a:ext>
                </a:extLst>
              </p:cNvPr>
              <p:cNvSpPr>
                <a:spLocks noChangeShapeType="1"/>
              </p:cNvSpPr>
              <p:nvPr/>
            </p:nvSpPr>
            <p:spPr bwMode="auto">
              <a:xfrm>
                <a:off x="295"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0" name="Rectangle 126">
                <a:extLst>
                  <a:ext uri="{FF2B5EF4-FFF2-40B4-BE49-F238E27FC236}">
                    <a16:creationId xmlns:a16="http://schemas.microsoft.com/office/drawing/2014/main" id="{798DEA9C-075F-E64D-75DA-0558C6286903}"/>
                  </a:ext>
                </a:extLst>
              </p:cNvPr>
              <p:cNvSpPr>
                <a:spLocks noChangeArrowheads="1"/>
              </p:cNvSpPr>
              <p:nvPr/>
            </p:nvSpPr>
            <p:spPr bwMode="auto">
              <a:xfrm>
                <a:off x="956"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1" name="Line 127">
                <a:extLst>
                  <a:ext uri="{FF2B5EF4-FFF2-40B4-BE49-F238E27FC236}">
                    <a16:creationId xmlns:a16="http://schemas.microsoft.com/office/drawing/2014/main" id="{A80A65AC-122D-44FA-77F2-7C5C9C5D13C6}"/>
                  </a:ext>
                </a:extLst>
              </p:cNvPr>
              <p:cNvSpPr>
                <a:spLocks noChangeShapeType="1"/>
              </p:cNvSpPr>
              <p:nvPr/>
            </p:nvSpPr>
            <p:spPr bwMode="auto">
              <a:xfrm>
                <a:off x="956"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2" name="Rectangle 128">
                <a:extLst>
                  <a:ext uri="{FF2B5EF4-FFF2-40B4-BE49-F238E27FC236}">
                    <a16:creationId xmlns:a16="http://schemas.microsoft.com/office/drawing/2014/main" id="{E1DD3A6E-A6B3-B4CB-C818-C70FA47D6D2C}"/>
                  </a:ext>
                </a:extLst>
              </p:cNvPr>
              <p:cNvSpPr>
                <a:spLocks noChangeArrowheads="1"/>
              </p:cNvSpPr>
              <p:nvPr/>
            </p:nvSpPr>
            <p:spPr bwMode="auto">
              <a:xfrm>
                <a:off x="1633" y="757"/>
                <a:ext cx="4"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3" name="Line 129">
                <a:extLst>
                  <a:ext uri="{FF2B5EF4-FFF2-40B4-BE49-F238E27FC236}">
                    <a16:creationId xmlns:a16="http://schemas.microsoft.com/office/drawing/2014/main" id="{A498E826-C363-7B5D-AF85-1D7EFA4A65CC}"/>
                  </a:ext>
                </a:extLst>
              </p:cNvPr>
              <p:cNvSpPr>
                <a:spLocks noChangeShapeType="1"/>
              </p:cNvSpPr>
              <p:nvPr/>
            </p:nvSpPr>
            <p:spPr bwMode="auto">
              <a:xfrm>
                <a:off x="1633"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4" name="Rectangle 130">
                <a:extLst>
                  <a:ext uri="{FF2B5EF4-FFF2-40B4-BE49-F238E27FC236}">
                    <a16:creationId xmlns:a16="http://schemas.microsoft.com/office/drawing/2014/main" id="{21F9FD9D-37FA-F9BC-F70A-137E02485857}"/>
                  </a:ext>
                </a:extLst>
              </p:cNvPr>
              <p:cNvSpPr>
                <a:spLocks noChangeArrowheads="1"/>
              </p:cNvSpPr>
              <p:nvPr/>
            </p:nvSpPr>
            <p:spPr bwMode="auto">
              <a:xfrm>
                <a:off x="2376"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5" name="Line 131">
                <a:extLst>
                  <a:ext uri="{FF2B5EF4-FFF2-40B4-BE49-F238E27FC236}">
                    <a16:creationId xmlns:a16="http://schemas.microsoft.com/office/drawing/2014/main" id="{430CE216-5074-F975-94BC-9BF0183E1D15}"/>
                  </a:ext>
                </a:extLst>
              </p:cNvPr>
              <p:cNvSpPr>
                <a:spLocks noChangeShapeType="1"/>
              </p:cNvSpPr>
              <p:nvPr/>
            </p:nvSpPr>
            <p:spPr bwMode="auto">
              <a:xfrm>
                <a:off x="2376"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6" name="Rectangle 132">
                <a:extLst>
                  <a:ext uri="{FF2B5EF4-FFF2-40B4-BE49-F238E27FC236}">
                    <a16:creationId xmlns:a16="http://schemas.microsoft.com/office/drawing/2014/main" id="{BA9FCEDA-159E-F70D-05D3-8CA05A82409A}"/>
                  </a:ext>
                </a:extLst>
              </p:cNvPr>
              <p:cNvSpPr>
                <a:spLocks noChangeArrowheads="1"/>
              </p:cNvSpPr>
              <p:nvPr/>
            </p:nvSpPr>
            <p:spPr bwMode="auto">
              <a:xfrm>
                <a:off x="2917"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7" name="Line 133">
                <a:extLst>
                  <a:ext uri="{FF2B5EF4-FFF2-40B4-BE49-F238E27FC236}">
                    <a16:creationId xmlns:a16="http://schemas.microsoft.com/office/drawing/2014/main" id="{25C2CDAD-6126-5BD8-5C49-F8B266FAC3D6}"/>
                  </a:ext>
                </a:extLst>
              </p:cNvPr>
              <p:cNvSpPr>
                <a:spLocks noChangeShapeType="1"/>
              </p:cNvSpPr>
              <p:nvPr/>
            </p:nvSpPr>
            <p:spPr bwMode="auto">
              <a:xfrm>
                <a:off x="2917"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8" name="Rectangle 134">
                <a:extLst>
                  <a:ext uri="{FF2B5EF4-FFF2-40B4-BE49-F238E27FC236}">
                    <a16:creationId xmlns:a16="http://schemas.microsoft.com/office/drawing/2014/main" id="{10B51614-9B8E-6C48-160B-1ECA688401DE}"/>
                  </a:ext>
                </a:extLst>
              </p:cNvPr>
              <p:cNvSpPr>
                <a:spLocks noChangeArrowheads="1"/>
              </p:cNvSpPr>
              <p:nvPr/>
            </p:nvSpPr>
            <p:spPr bwMode="auto">
              <a:xfrm>
                <a:off x="3589"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9" name="Line 135">
                <a:extLst>
                  <a:ext uri="{FF2B5EF4-FFF2-40B4-BE49-F238E27FC236}">
                    <a16:creationId xmlns:a16="http://schemas.microsoft.com/office/drawing/2014/main" id="{FD85B6FE-0404-4E63-4463-B331A8282617}"/>
                  </a:ext>
                </a:extLst>
              </p:cNvPr>
              <p:cNvSpPr>
                <a:spLocks noChangeShapeType="1"/>
              </p:cNvSpPr>
              <p:nvPr/>
            </p:nvSpPr>
            <p:spPr bwMode="auto">
              <a:xfrm>
                <a:off x="3589"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0" name="Rectangle 136">
                <a:extLst>
                  <a:ext uri="{FF2B5EF4-FFF2-40B4-BE49-F238E27FC236}">
                    <a16:creationId xmlns:a16="http://schemas.microsoft.com/office/drawing/2014/main" id="{2722B49B-5F3C-63A7-E0AB-EC7B17C8CEEA}"/>
                  </a:ext>
                </a:extLst>
              </p:cNvPr>
              <p:cNvSpPr>
                <a:spLocks noChangeArrowheads="1"/>
              </p:cNvSpPr>
              <p:nvPr/>
            </p:nvSpPr>
            <p:spPr bwMode="auto">
              <a:xfrm>
                <a:off x="4262" y="757"/>
                <a:ext cx="4"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1" name="Line 137">
                <a:extLst>
                  <a:ext uri="{FF2B5EF4-FFF2-40B4-BE49-F238E27FC236}">
                    <a16:creationId xmlns:a16="http://schemas.microsoft.com/office/drawing/2014/main" id="{DEA4D620-FEBE-5ABA-3200-7FBA5CF35A4B}"/>
                  </a:ext>
                </a:extLst>
              </p:cNvPr>
              <p:cNvSpPr>
                <a:spLocks noChangeShapeType="1"/>
              </p:cNvSpPr>
              <p:nvPr/>
            </p:nvSpPr>
            <p:spPr bwMode="auto">
              <a:xfrm>
                <a:off x="4262"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2" name="Rectangle 138">
                <a:extLst>
                  <a:ext uri="{FF2B5EF4-FFF2-40B4-BE49-F238E27FC236}">
                    <a16:creationId xmlns:a16="http://schemas.microsoft.com/office/drawing/2014/main" id="{5DEC4024-708B-1CC8-A46E-9E0CB7ECCA95}"/>
                  </a:ext>
                </a:extLst>
              </p:cNvPr>
              <p:cNvSpPr>
                <a:spLocks noChangeArrowheads="1"/>
              </p:cNvSpPr>
              <p:nvPr/>
            </p:nvSpPr>
            <p:spPr bwMode="auto">
              <a:xfrm>
                <a:off x="5083"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3" name="Line 139">
                <a:extLst>
                  <a:ext uri="{FF2B5EF4-FFF2-40B4-BE49-F238E27FC236}">
                    <a16:creationId xmlns:a16="http://schemas.microsoft.com/office/drawing/2014/main" id="{6D7CE413-E382-0A62-B5D7-5A4A2A61E9B9}"/>
                  </a:ext>
                </a:extLst>
              </p:cNvPr>
              <p:cNvSpPr>
                <a:spLocks noChangeShapeType="1"/>
              </p:cNvSpPr>
              <p:nvPr/>
            </p:nvSpPr>
            <p:spPr bwMode="auto">
              <a:xfrm>
                <a:off x="5083"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4" name="Rectangle 140">
                <a:extLst>
                  <a:ext uri="{FF2B5EF4-FFF2-40B4-BE49-F238E27FC236}">
                    <a16:creationId xmlns:a16="http://schemas.microsoft.com/office/drawing/2014/main" id="{1FA3BC35-FA44-CFCE-AD43-0996C004A7D3}"/>
                  </a:ext>
                </a:extLst>
              </p:cNvPr>
              <p:cNvSpPr>
                <a:spLocks noChangeArrowheads="1"/>
              </p:cNvSpPr>
              <p:nvPr/>
            </p:nvSpPr>
            <p:spPr bwMode="auto">
              <a:xfrm>
                <a:off x="300" y="1029"/>
                <a:ext cx="49" cy="26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5" name="Rectangle 141">
                <a:extLst>
                  <a:ext uri="{FF2B5EF4-FFF2-40B4-BE49-F238E27FC236}">
                    <a16:creationId xmlns:a16="http://schemas.microsoft.com/office/drawing/2014/main" id="{EC098111-A7FF-2F13-730F-3C5116DB1FC2}"/>
                  </a:ext>
                </a:extLst>
              </p:cNvPr>
              <p:cNvSpPr>
                <a:spLocks noChangeArrowheads="1"/>
              </p:cNvSpPr>
              <p:nvPr/>
            </p:nvSpPr>
            <p:spPr bwMode="auto">
              <a:xfrm>
                <a:off x="907" y="1029"/>
                <a:ext cx="49" cy="26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6" name="Rectangle 142">
                <a:extLst>
                  <a:ext uri="{FF2B5EF4-FFF2-40B4-BE49-F238E27FC236}">
                    <a16:creationId xmlns:a16="http://schemas.microsoft.com/office/drawing/2014/main" id="{64ED27EC-2B3D-5CCA-5E8F-755A6BDA9AD7}"/>
                  </a:ext>
                </a:extLst>
              </p:cNvPr>
              <p:cNvSpPr>
                <a:spLocks noChangeArrowheads="1"/>
              </p:cNvSpPr>
              <p:nvPr/>
            </p:nvSpPr>
            <p:spPr bwMode="auto">
              <a:xfrm>
                <a:off x="349" y="1029"/>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7" name="Rectangle 143">
                <a:extLst>
                  <a:ext uri="{FF2B5EF4-FFF2-40B4-BE49-F238E27FC236}">
                    <a16:creationId xmlns:a16="http://schemas.microsoft.com/office/drawing/2014/main" id="{2CF7D6CD-8C7F-6921-61D1-7722589CE80B}"/>
                  </a:ext>
                </a:extLst>
              </p:cNvPr>
              <p:cNvSpPr>
                <a:spLocks noChangeArrowheads="1"/>
              </p:cNvSpPr>
              <p:nvPr/>
            </p:nvSpPr>
            <p:spPr bwMode="auto">
              <a:xfrm>
                <a:off x="349" y="1017"/>
                <a:ext cx="3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Almost </a:t>
                </a:r>
                <a:endParaRPr lang="en-US" altLang="en-US"/>
              </a:p>
            </p:txBody>
          </p:sp>
          <p:sp>
            <p:nvSpPr>
              <p:cNvPr id="56068" name="Rectangle 144">
                <a:extLst>
                  <a:ext uri="{FF2B5EF4-FFF2-40B4-BE49-F238E27FC236}">
                    <a16:creationId xmlns:a16="http://schemas.microsoft.com/office/drawing/2014/main" id="{6FC6E262-516E-238A-7852-510F650B3AF6}"/>
                  </a:ext>
                </a:extLst>
              </p:cNvPr>
              <p:cNvSpPr>
                <a:spLocks noChangeArrowheads="1"/>
              </p:cNvSpPr>
              <p:nvPr/>
            </p:nvSpPr>
            <p:spPr bwMode="auto">
              <a:xfrm>
                <a:off x="349" y="1162"/>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9" name="Rectangle 145">
                <a:extLst>
                  <a:ext uri="{FF2B5EF4-FFF2-40B4-BE49-F238E27FC236}">
                    <a16:creationId xmlns:a16="http://schemas.microsoft.com/office/drawing/2014/main" id="{345AD4C9-5D02-09B2-C98E-AD71E814B0B7}"/>
                  </a:ext>
                </a:extLst>
              </p:cNvPr>
              <p:cNvSpPr>
                <a:spLocks noChangeArrowheads="1"/>
              </p:cNvSpPr>
              <p:nvPr/>
            </p:nvSpPr>
            <p:spPr bwMode="auto">
              <a:xfrm>
                <a:off x="349" y="1150"/>
                <a:ext cx="3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Certain</a:t>
                </a:r>
                <a:endParaRPr lang="en-US" altLang="en-US"/>
              </a:p>
            </p:txBody>
          </p:sp>
          <p:sp>
            <p:nvSpPr>
              <p:cNvPr id="56070" name="Rectangle 146">
                <a:extLst>
                  <a:ext uri="{FF2B5EF4-FFF2-40B4-BE49-F238E27FC236}">
                    <a16:creationId xmlns:a16="http://schemas.microsoft.com/office/drawing/2014/main" id="{3FAB62AD-5224-B326-B885-B416C76F7E9A}"/>
                  </a:ext>
                </a:extLst>
              </p:cNvPr>
              <p:cNvSpPr>
                <a:spLocks noChangeArrowheads="1"/>
              </p:cNvSpPr>
              <p:nvPr/>
            </p:nvSpPr>
            <p:spPr bwMode="auto">
              <a:xfrm>
                <a:off x="742" y="115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71" name="Rectangle 147">
                <a:extLst>
                  <a:ext uri="{FF2B5EF4-FFF2-40B4-BE49-F238E27FC236}">
                    <a16:creationId xmlns:a16="http://schemas.microsoft.com/office/drawing/2014/main" id="{E79A0874-A36D-72E1-3B4B-D3AF62E5251F}"/>
                  </a:ext>
                </a:extLst>
              </p:cNvPr>
              <p:cNvSpPr>
                <a:spLocks noChangeArrowheads="1"/>
              </p:cNvSpPr>
              <p:nvPr/>
            </p:nvSpPr>
            <p:spPr bwMode="auto">
              <a:xfrm>
                <a:off x="961"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2" name="Rectangle 148">
                <a:extLst>
                  <a:ext uri="{FF2B5EF4-FFF2-40B4-BE49-F238E27FC236}">
                    <a16:creationId xmlns:a16="http://schemas.microsoft.com/office/drawing/2014/main" id="{D0D63718-E4A4-C12D-6C61-5808369C779D}"/>
                  </a:ext>
                </a:extLst>
              </p:cNvPr>
              <p:cNvSpPr>
                <a:spLocks noChangeArrowheads="1"/>
              </p:cNvSpPr>
              <p:nvPr/>
            </p:nvSpPr>
            <p:spPr bwMode="auto">
              <a:xfrm>
                <a:off x="158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3" name="Rectangle 149">
                <a:extLst>
                  <a:ext uri="{FF2B5EF4-FFF2-40B4-BE49-F238E27FC236}">
                    <a16:creationId xmlns:a16="http://schemas.microsoft.com/office/drawing/2014/main" id="{531E9FC8-F6FB-CB19-CF58-2990390BF810}"/>
                  </a:ext>
                </a:extLst>
              </p:cNvPr>
              <p:cNvSpPr>
                <a:spLocks noChangeArrowheads="1"/>
              </p:cNvSpPr>
              <p:nvPr/>
            </p:nvSpPr>
            <p:spPr bwMode="auto">
              <a:xfrm>
                <a:off x="961" y="1162"/>
                <a:ext cx="672"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4" name="Rectangle 150">
                <a:extLst>
                  <a:ext uri="{FF2B5EF4-FFF2-40B4-BE49-F238E27FC236}">
                    <a16:creationId xmlns:a16="http://schemas.microsoft.com/office/drawing/2014/main" id="{6F8E77A6-0830-B316-55A8-B9E40F7889C9}"/>
                  </a:ext>
                </a:extLst>
              </p:cNvPr>
              <p:cNvSpPr>
                <a:spLocks noChangeArrowheads="1"/>
              </p:cNvSpPr>
              <p:nvPr/>
            </p:nvSpPr>
            <p:spPr bwMode="auto">
              <a:xfrm>
                <a:off x="1010" y="1029"/>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5" name="Rectangle 151">
                <a:extLst>
                  <a:ext uri="{FF2B5EF4-FFF2-40B4-BE49-F238E27FC236}">
                    <a16:creationId xmlns:a16="http://schemas.microsoft.com/office/drawing/2014/main" id="{79124EF9-AE8C-81DE-0B25-D2266E9D4CAD}"/>
                  </a:ext>
                </a:extLst>
              </p:cNvPr>
              <p:cNvSpPr>
                <a:spLocks noChangeArrowheads="1"/>
              </p:cNvSpPr>
              <p:nvPr/>
            </p:nvSpPr>
            <p:spPr bwMode="auto">
              <a:xfrm>
                <a:off x="1010"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76" name="Rectangle 152">
                <a:extLst>
                  <a:ext uri="{FF2B5EF4-FFF2-40B4-BE49-F238E27FC236}">
                    <a16:creationId xmlns:a16="http://schemas.microsoft.com/office/drawing/2014/main" id="{4883EABA-6BF7-0DE0-1F30-26BC4A9223F2}"/>
                  </a:ext>
                </a:extLst>
              </p:cNvPr>
              <p:cNvSpPr>
                <a:spLocks noChangeArrowheads="1"/>
              </p:cNvSpPr>
              <p:nvPr/>
            </p:nvSpPr>
            <p:spPr bwMode="auto">
              <a:xfrm>
                <a:off x="1072"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77" name="Rectangle 153">
                <a:extLst>
                  <a:ext uri="{FF2B5EF4-FFF2-40B4-BE49-F238E27FC236}">
                    <a16:creationId xmlns:a16="http://schemas.microsoft.com/office/drawing/2014/main" id="{CEACF0C5-0067-CC84-21E9-595AEBCE5637}"/>
                  </a:ext>
                </a:extLst>
              </p:cNvPr>
              <p:cNvSpPr>
                <a:spLocks noChangeArrowheads="1"/>
              </p:cNvSpPr>
              <p:nvPr/>
            </p:nvSpPr>
            <p:spPr bwMode="auto">
              <a:xfrm>
                <a:off x="1637"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8" name="Rectangle 154">
                <a:extLst>
                  <a:ext uri="{FF2B5EF4-FFF2-40B4-BE49-F238E27FC236}">
                    <a16:creationId xmlns:a16="http://schemas.microsoft.com/office/drawing/2014/main" id="{124267A8-F2F7-31CD-FE1A-0A39AA9C5BAC}"/>
                  </a:ext>
                </a:extLst>
              </p:cNvPr>
              <p:cNvSpPr>
                <a:spLocks noChangeArrowheads="1"/>
              </p:cNvSpPr>
              <p:nvPr/>
            </p:nvSpPr>
            <p:spPr bwMode="auto">
              <a:xfrm>
                <a:off x="2328" y="1029"/>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9" name="Rectangle 155">
                <a:extLst>
                  <a:ext uri="{FF2B5EF4-FFF2-40B4-BE49-F238E27FC236}">
                    <a16:creationId xmlns:a16="http://schemas.microsoft.com/office/drawing/2014/main" id="{D1F9427E-7D54-8AFD-DA35-481C51C813BA}"/>
                  </a:ext>
                </a:extLst>
              </p:cNvPr>
              <p:cNvSpPr>
                <a:spLocks noChangeArrowheads="1"/>
              </p:cNvSpPr>
              <p:nvPr/>
            </p:nvSpPr>
            <p:spPr bwMode="auto">
              <a:xfrm>
                <a:off x="1637" y="1162"/>
                <a:ext cx="73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0" name="Rectangle 156">
                <a:extLst>
                  <a:ext uri="{FF2B5EF4-FFF2-40B4-BE49-F238E27FC236}">
                    <a16:creationId xmlns:a16="http://schemas.microsoft.com/office/drawing/2014/main" id="{F4C6A32B-ED75-A803-4909-1B003DB2E337}"/>
                  </a:ext>
                </a:extLst>
              </p:cNvPr>
              <p:cNvSpPr>
                <a:spLocks noChangeArrowheads="1"/>
              </p:cNvSpPr>
              <p:nvPr/>
            </p:nvSpPr>
            <p:spPr bwMode="auto">
              <a:xfrm>
                <a:off x="1687" y="1029"/>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1" name="Rectangle 157">
                <a:extLst>
                  <a:ext uri="{FF2B5EF4-FFF2-40B4-BE49-F238E27FC236}">
                    <a16:creationId xmlns:a16="http://schemas.microsoft.com/office/drawing/2014/main" id="{1611F602-A3E4-D529-30A3-1F27B9BEDCA6}"/>
                  </a:ext>
                </a:extLst>
              </p:cNvPr>
              <p:cNvSpPr>
                <a:spLocks noChangeArrowheads="1"/>
              </p:cNvSpPr>
              <p:nvPr/>
            </p:nvSpPr>
            <p:spPr bwMode="auto">
              <a:xfrm>
                <a:off x="1687"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82" name="Rectangle 158">
                <a:extLst>
                  <a:ext uri="{FF2B5EF4-FFF2-40B4-BE49-F238E27FC236}">
                    <a16:creationId xmlns:a16="http://schemas.microsoft.com/office/drawing/2014/main" id="{31AABDE2-4526-A298-797E-3C87143337F9}"/>
                  </a:ext>
                </a:extLst>
              </p:cNvPr>
              <p:cNvSpPr>
                <a:spLocks noChangeArrowheads="1"/>
              </p:cNvSpPr>
              <p:nvPr/>
            </p:nvSpPr>
            <p:spPr bwMode="auto">
              <a:xfrm>
                <a:off x="1749"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83" name="Rectangle 159">
                <a:extLst>
                  <a:ext uri="{FF2B5EF4-FFF2-40B4-BE49-F238E27FC236}">
                    <a16:creationId xmlns:a16="http://schemas.microsoft.com/office/drawing/2014/main" id="{9D3B461C-487F-2CAD-6C91-328A5B5A2037}"/>
                  </a:ext>
                </a:extLst>
              </p:cNvPr>
              <p:cNvSpPr>
                <a:spLocks noChangeArrowheads="1"/>
              </p:cNvSpPr>
              <p:nvPr/>
            </p:nvSpPr>
            <p:spPr bwMode="auto">
              <a:xfrm>
                <a:off x="2381"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4" name="Rectangle 160">
                <a:extLst>
                  <a:ext uri="{FF2B5EF4-FFF2-40B4-BE49-F238E27FC236}">
                    <a16:creationId xmlns:a16="http://schemas.microsoft.com/office/drawing/2014/main" id="{B3421970-B549-A237-6EBE-478EFD95AEEF}"/>
                  </a:ext>
                </a:extLst>
              </p:cNvPr>
              <p:cNvSpPr>
                <a:spLocks noChangeArrowheads="1"/>
              </p:cNvSpPr>
              <p:nvPr/>
            </p:nvSpPr>
            <p:spPr bwMode="auto">
              <a:xfrm>
                <a:off x="2868"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5" name="Rectangle 161">
                <a:extLst>
                  <a:ext uri="{FF2B5EF4-FFF2-40B4-BE49-F238E27FC236}">
                    <a16:creationId xmlns:a16="http://schemas.microsoft.com/office/drawing/2014/main" id="{7C5645DC-25BE-1CC9-BBB0-B0119D079895}"/>
                  </a:ext>
                </a:extLst>
              </p:cNvPr>
              <p:cNvSpPr>
                <a:spLocks noChangeArrowheads="1"/>
              </p:cNvSpPr>
              <p:nvPr/>
            </p:nvSpPr>
            <p:spPr bwMode="auto">
              <a:xfrm>
                <a:off x="2381" y="1162"/>
                <a:ext cx="536"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6" name="Rectangle 162">
                <a:extLst>
                  <a:ext uri="{FF2B5EF4-FFF2-40B4-BE49-F238E27FC236}">
                    <a16:creationId xmlns:a16="http://schemas.microsoft.com/office/drawing/2014/main" id="{1247B4DA-5D3F-34D0-3BC6-DF48309B68E0}"/>
                  </a:ext>
                </a:extLst>
              </p:cNvPr>
              <p:cNvSpPr>
                <a:spLocks noChangeArrowheads="1"/>
              </p:cNvSpPr>
              <p:nvPr/>
            </p:nvSpPr>
            <p:spPr bwMode="auto">
              <a:xfrm>
                <a:off x="2430" y="1029"/>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7" name="Rectangle 163">
                <a:extLst>
                  <a:ext uri="{FF2B5EF4-FFF2-40B4-BE49-F238E27FC236}">
                    <a16:creationId xmlns:a16="http://schemas.microsoft.com/office/drawing/2014/main" id="{4348E8B3-EF19-911A-9C51-E26390C3337C}"/>
                  </a:ext>
                </a:extLst>
              </p:cNvPr>
              <p:cNvSpPr>
                <a:spLocks noChangeArrowheads="1"/>
              </p:cNvSpPr>
              <p:nvPr/>
            </p:nvSpPr>
            <p:spPr bwMode="auto">
              <a:xfrm>
                <a:off x="2430"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88" name="Rectangle 164">
                <a:extLst>
                  <a:ext uri="{FF2B5EF4-FFF2-40B4-BE49-F238E27FC236}">
                    <a16:creationId xmlns:a16="http://schemas.microsoft.com/office/drawing/2014/main" id="{6A1B7903-1116-F2F6-464B-E4C0D4EA6E97}"/>
                  </a:ext>
                </a:extLst>
              </p:cNvPr>
              <p:cNvSpPr>
                <a:spLocks noChangeArrowheads="1"/>
              </p:cNvSpPr>
              <p:nvPr/>
            </p:nvSpPr>
            <p:spPr bwMode="auto">
              <a:xfrm>
                <a:off x="2492"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89" name="Rectangle 165">
                <a:extLst>
                  <a:ext uri="{FF2B5EF4-FFF2-40B4-BE49-F238E27FC236}">
                    <a16:creationId xmlns:a16="http://schemas.microsoft.com/office/drawing/2014/main" id="{1F30A7E0-C4E4-64A8-2B8A-700CF0AC1298}"/>
                  </a:ext>
                </a:extLst>
              </p:cNvPr>
              <p:cNvSpPr>
                <a:spLocks noChangeArrowheads="1"/>
              </p:cNvSpPr>
              <p:nvPr/>
            </p:nvSpPr>
            <p:spPr bwMode="auto">
              <a:xfrm>
                <a:off x="2922"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0" name="Rectangle 166">
                <a:extLst>
                  <a:ext uri="{FF2B5EF4-FFF2-40B4-BE49-F238E27FC236}">
                    <a16:creationId xmlns:a16="http://schemas.microsoft.com/office/drawing/2014/main" id="{88C9A494-05EB-2FE8-082E-ACEA16C6FD01}"/>
                  </a:ext>
                </a:extLst>
              </p:cNvPr>
              <p:cNvSpPr>
                <a:spLocks noChangeArrowheads="1"/>
              </p:cNvSpPr>
              <p:nvPr/>
            </p:nvSpPr>
            <p:spPr bwMode="auto">
              <a:xfrm>
                <a:off x="3540"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1" name="Rectangle 167">
                <a:extLst>
                  <a:ext uri="{FF2B5EF4-FFF2-40B4-BE49-F238E27FC236}">
                    <a16:creationId xmlns:a16="http://schemas.microsoft.com/office/drawing/2014/main" id="{D0D776E5-C943-0CD6-944A-BBF7F0B909A3}"/>
                  </a:ext>
                </a:extLst>
              </p:cNvPr>
              <p:cNvSpPr>
                <a:spLocks noChangeArrowheads="1"/>
              </p:cNvSpPr>
              <p:nvPr/>
            </p:nvSpPr>
            <p:spPr bwMode="auto">
              <a:xfrm>
                <a:off x="2922" y="1162"/>
                <a:ext cx="66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2" name="Rectangle 168">
                <a:extLst>
                  <a:ext uri="{FF2B5EF4-FFF2-40B4-BE49-F238E27FC236}">
                    <a16:creationId xmlns:a16="http://schemas.microsoft.com/office/drawing/2014/main" id="{FD73EA3A-7917-0C1A-3B03-6762FE262A15}"/>
                  </a:ext>
                </a:extLst>
              </p:cNvPr>
              <p:cNvSpPr>
                <a:spLocks noChangeArrowheads="1"/>
              </p:cNvSpPr>
              <p:nvPr/>
            </p:nvSpPr>
            <p:spPr bwMode="auto">
              <a:xfrm>
                <a:off x="2971" y="1029"/>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3" name="Rectangle 169">
                <a:extLst>
                  <a:ext uri="{FF2B5EF4-FFF2-40B4-BE49-F238E27FC236}">
                    <a16:creationId xmlns:a16="http://schemas.microsoft.com/office/drawing/2014/main" id="{D203480F-430A-FD8C-B2BE-BB1D4DFC6D17}"/>
                  </a:ext>
                </a:extLst>
              </p:cNvPr>
              <p:cNvSpPr>
                <a:spLocks noChangeArrowheads="1"/>
              </p:cNvSpPr>
              <p:nvPr/>
            </p:nvSpPr>
            <p:spPr bwMode="auto">
              <a:xfrm>
                <a:off x="2971"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94" name="Rectangle 170">
                <a:extLst>
                  <a:ext uri="{FF2B5EF4-FFF2-40B4-BE49-F238E27FC236}">
                    <a16:creationId xmlns:a16="http://schemas.microsoft.com/office/drawing/2014/main" id="{6365310B-CEC2-A161-8BB1-D0D1EE021D33}"/>
                  </a:ext>
                </a:extLst>
              </p:cNvPr>
              <p:cNvSpPr>
                <a:spLocks noChangeArrowheads="1"/>
              </p:cNvSpPr>
              <p:nvPr/>
            </p:nvSpPr>
            <p:spPr bwMode="auto">
              <a:xfrm>
                <a:off x="3033"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95" name="Rectangle 171">
                <a:extLst>
                  <a:ext uri="{FF2B5EF4-FFF2-40B4-BE49-F238E27FC236}">
                    <a16:creationId xmlns:a16="http://schemas.microsoft.com/office/drawing/2014/main" id="{059D227C-E7F4-DCD9-513A-6C312E8BBAC3}"/>
                  </a:ext>
                </a:extLst>
              </p:cNvPr>
              <p:cNvSpPr>
                <a:spLocks noChangeArrowheads="1"/>
              </p:cNvSpPr>
              <p:nvPr/>
            </p:nvSpPr>
            <p:spPr bwMode="auto">
              <a:xfrm>
                <a:off x="359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6" name="Rectangle 172">
                <a:extLst>
                  <a:ext uri="{FF2B5EF4-FFF2-40B4-BE49-F238E27FC236}">
                    <a16:creationId xmlns:a16="http://schemas.microsoft.com/office/drawing/2014/main" id="{2F82ABC3-A61F-BC3E-0F1B-4D8723402832}"/>
                  </a:ext>
                </a:extLst>
              </p:cNvPr>
              <p:cNvSpPr>
                <a:spLocks noChangeArrowheads="1"/>
              </p:cNvSpPr>
              <p:nvPr/>
            </p:nvSpPr>
            <p:spPr bwMode="auto">
              <a:xfrm>
                <a:off x="4212"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7" name="Rectangle 173">
                <a:extLst>
                  <a:ext uri="{FF2B5EF4-FFF2-40B4-BE49-F238E27FC236}">
                    <a16:creationId xmlns:a16="http://schemas.microsoft.com/office/drawing/2014/main" id="{726A36A9-0C01-10D9-4179-4B1D7CB8B617}"/>
                  </a:ext>
                </a:extLst>
              </p:cNvPr>
              <p:cNvSpPr>
                <a:spLocks noChangeArrowheads="1"/>
              </p:cNvSpPr>
              <p:nvPr/>
            </p:nvSpPr>
            <p:spPr bwMode="auto">
              <a:xfrm>
                <a:off x="3594" y="1162"/>
                <a:ext cx="66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8" name="Rectangle 174">
                <a:extLst>
                  <a:ext uri="{FF2B5EF4-FFF2-40B4-BE49-F238E27FC236}">
                    <a16:creationId xmlns:a16="http://schemas.microsoft.com/office/drawing/2014/main" id="{7AF3E61B-88B7-046B-D33A-1B80AEB28B09}"/>
                  </a:ext>
                </a:extLst>
              </p:cNvPr>
              <p:cNvSpPr>
                <a:spLocks noChangeArrowheads="1"/>
              </p:cNvSpPr>
              <p:nvPr/>
            </p:nvSpPr>
            <p:spPr bwMode="auto">
              <a:xfrm>
                <a:off x="3643" y="1029"/>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9" name="Rectangle 175">
                <a:extLst>
                  <a:ext uri="{FF2B5EF4-FFF2-40B4-BE49-F238E27FC236}">
                    <a16:creationId xmlns:a16="http://schemas.microsoft.com/office/drawing/2014/main" id="{32250D1D-AD83-56D5-2DFC-27C2FE81CFFA}"/>
                  </a:ext>
                </a:extLst>
              </p:cNvPr>
              <p:cNvSpPr>
                <a:spLocks noChangeArrowheads="1"/>
              </p:cNvSpPr>
              <p:nvPr/>
            </p:nvSpPr>
            <p:spPr bwMode="auto">
              <a:xfrm>
                <a:off x="3643" y="1017"/>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6100" name="Rectangle 176">
                <a:extLst>
                  <a:ext uri="{FF2B5EF4-FFF2-40B4-BE49-F238E27FC236}">
                    <a16:creationId xmlns:a16="http://schemas.microsoft.com/office/drawing/2014/main" id="{1FF35E05-31EC-9D74-33E9-A15100D0770D}"/>
                  </a:ext>
                </a:extLst>
              </p:cNvPr>
              <p:cNvSpPr>
                <a:spLocks noChangeArrowheads="1"/>
              </p:cNvSpPr>
              <p:nvPr/>
            </p:nvSpPr>
            <p:spPr bwMode="auto">
              <a:xfrm>
                <a:off x="3718"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101" name="Rectangle 177">
                <a:extLst>
                  <a:ext uri="{FF2B5EF4-FFF2-40B4-BE49-F238E27FC236}">
                    <a16:creationId xmlns:a16="http://schemas.microsoft.com/office/drawing/2014/main" id="{F0AA293C-0D9A-407C-F9E2-3664B5E0BFCC}"/>
                  </a:ext>
                </a:extLst>
              </p:cNvPr>
              <p:cNvSpPr>
                <a:spLocks noChangeArrowheads="1"/>
              </p:cNvSpPr>
              <p:nvPr/>
            </p:nvSpPr>
            <p:spPr bwMode="auto">
              <a:xfrm>
                <a:off x="4266"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2" name="Rectangle 178">
                <a:extLst>
                  <a:ext uri="{FF2B5EF4-FFF2-40B4-BE49-F238E27FC236}">
                    <a16:creationId xmlns:a16="http://schemas.microsoft.com/office/drawing/2014/main" id="{6A3627A7-8B38-480E-7410-35B717FFA67B}"/>
                  </a:ext>
                </a:extLst>
              </p:cNvPr>
              <p:cNvSpPr>
                <a:spLocks noChangeArrowheads="1"/>
              </p:cNvSpPr>
              <p:nvPr/>
            </p:nvSpPr>
            <p:spPr bwMode="auto">
              <a:xfrm>
                <a:off x="503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3" name="Rectangle 179">
                <a:extLst>
                  <a:ext uri="{FF2B5EF4-FFF2-40B4-BE49-F238E27FC236}">
                    <a16:creationId xmlns:a16="http://schemas.microsoft.com/office/drawing/2014/main" id="{C678D4A7-D7EB-6750-6FA7-E6B784FF8423}"/>
                  </a:ext>
                </a:extLst>
              </p:cNvPr>
              <p:cNvSpPr>
                <a:spLocks noChangeArrowheads="1"/>
              </p:cNvSpPr>
              <p:nvPr/>
            </p:nvSpPr>
            <p:spPr bwMode="auto">
              <a:xfrm>
                <a:off x="4266" y="1162"/>
                <a:ext cx="81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4" name="Rectangle 180">
                <a:extLst>
                  <a:ext uri="{FF2B5EF4-FFF2-40B4-BE49-F238E27FC236}">
                    <a16:creationId xmlns:a16="http://schemas.microsoft.com/office/drawing/2014/main" id="{7BE30677-DE12-0FFB-C74B-26BE9A358901}"/>
                  </a:ext>
                </a:extLst>
              </p:cNvPr>
              <p:cNvSpPr>
                <a:spLocks noChangeArrowheads="1"/>
              </p:cNvSpPr>
              <p:nvPr/>
            </p:nvSpPr>
            <p:spPr bwMode="auto">
              <a:xfrm>
                <a:off x="4316" y="1029"/>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5" name="Rectangle 181">
                <a:extLst>
                  <a:ext uri="{FF2B5EF4-FFF2-40B4-BE49-F238E27FC236}">
                    <a16:creationId xmlns:a16="http://schemas.microsoft.com/office/drawing/2014/main" id="{1A3BAF26-1D52-9034-99F2-CC4EE9D826E2}"/>
                  </a:ext>
                </a:extLst>
              </p:cNvPr>
              <p:cNvSpPr>
                <a:spLocks noChangeArrowheads="1"/>
              </p:cNvSpPr>
              <p:nvPr/>
            </p:nvSpPr>
            <p:spPr bwMode="auto">
              <a:xfrm>
                <a:off x="4316" y="1017"/>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6106" name="Rectangle 182">
                <a:extLst>
                  <a:ext uri="{FF2B5EF4-FFF2-40B4-BE49-F238E27FC236}">
                    <a16:creationId xmlns:a16="http://schemas.microsoft.com/office/drawing/2014/main" id="{2D424D4E-C632-8F49-1C81-255CB657B04D}"/>
                  </a:ext>
                </a:extLst>
              </p:cNvPr>
              <p:cNvSpPr>
                <a:spLocks noChangeArrowheads="1"/>
              </p:cNvSpPr>
              <p:nvPr/>
            </p:nvSpPr>
            <p:spPr bwMode="auto">
              <a:xfrm>
                <a:off x="4390"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107" name="Rectangle 183">
                <a:extLst>
                  <a:ext uri="{FF2B5EF4-FFF2-40B4-BE49-F238E27FC236}">
                    <a16:creationId xmlns:a16="http://schemas.microsoft.com/office/drawing/2014/main" id="{BEFDEA46-4386-479F-4626-1BDB4C0D3A1B}"/>
                  </a:ext>
                </a:extLst>
              </p:cNvPr>
              <p:cNvSpPr>
                <a:spLocks noChangeArrowheads="1"/>
              </p:cNvSpPr>
              <p:nvPr/>
            </p:nvSpPr>
            <p:spPr bwMode="auto">
              <a:xfrm>
                <a:off x="295"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8" name="Line 184">
                <a:extLst>
                  <a:ext uri="{FF2B5EF4-FFF2-40B4-BE49-F238E27FC236}">
                    <a16:creationId xmlns:a16="http://schemas.microsoft.com/office/drawing/2014/main" id="{34A76AD5-5070-2138-D971-8C9BE7797A04}"/>
                  </a:ext>
                </a:extLst>
              </p:cNvPr>
              <p:cNvSpPr>
                <a:spLocks noChangeShapeType="1"/>
              </p:cNvSpPr>
              <p:nvPr/>
            </p:nvSpPr>
            <p:spPr bwMode="auto">
              <a:xfrm>
                <a:off x="295"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09" name="Line 185">
                <a:extLst>
                  <a:ext uri="{FF2B5EF4-FFF2-40B4-BE49-F238E27FC236}">
                    <a16:creationId xmlns:a16="http://schemas.microsoft.com/office/drawing/2014/main" id="{11A03E30-7B6A-A6E9-EA91-20279EE38C25}"/>
                  </a:ext>
                </a:extLst>
              </p:cNvPr>
              <p:cNvSpPr>
                <a:spLocks noChangeShapeType="1"/>
              </p:cNvSpPr>
              <p:nvPr/>
            </p:nvSpPr>
            <p:spPr bwMode="auto">
              <a:xfrm>
                <a:off x="295"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0" name="Rectangle 186">
                <a:extLst>
                  <a:ext uri="{FF2B5EF4-FFF2-40B4-BE49-F238E27FC236}">
                    <a16:creationId xmlns:a16="http://schemas.microsoft.com/office/drawing/2014/main" id="{CB56FD07-4119-1377-0F8B-7300CA2F1779}"/>
                  </a:ext>
                </a:extLst>
              </p:cNvPr>
              <p:cNvSpPr>
                <a:spLocks noChangeArrowheads="1"/>
              </p:cNvSpPr>
              <p:nvPr/>
            </p:nvSpPr>
            <p:spPr bwMode="auto">
              <a:xfrm>
                <a:off x="300" y="1025"/>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1" name="Line 187">
                <a:extLst>
                  <a:ext uri="{FF2B5EF4-FFF2-40B4-BE49-F238E27FC236}">
                    <a16:creationId xmlns:a16="http://schemas.microsoft.com/office/drawing/2014/main" id="{C1A6C89F-B78D-8512-B5A5-E847DD692CE0}"/>
                  </a:ext>
                </a:extLst>
              </p:cNvPr>
              <p:cNvSpPr>
                <a:spLocks noChangeShapeType="1"/>
              </p:cNvSpPr>
              <p:nvPr/>
            </p:nvSpPr>
            <p:spPr bwMode="auto">
              <a:xfrm>
                <a:off x="300" y="102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2" name="Rectangle 188">
                <a:extLst>
                  <a:ext uri="{FF2B5EF4-FFF2-40B4-BE49-F238E27FC236}">
                    <a16:creationId xmlns:a16="http://schemas.microsoft.com/office/drawing/2014/main" id="{61F884D1-3F07-BFCD-5F54-6649703F138D}"/>
                  </a:ext>
                </a:extLst>
              </p:cNvPr>
              <p:cNvSpPr>
                <a:spLocks noChangeArrowheads="1"/>
              </p:cNvSpPr>
              <p:nvPr/>
            </p:nvSpPr>
            <p:spPr bwMode="auto">
              <a:xfrm>
                <a:off x="956"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3" name="Line 189">
                <a:extLst>
                  <a:ext uri="{FF2B5EF4-FFF2-40B4-BE49-F238E27FC236}">
                    <a16:creationId xmlns:a16="http://schemas.microsoft.com/office/drawing/2014/main" id="{56DF09AE-3551-02DB-3AB3-4D7EFAF12834}"/>
                  </a:ext>
                </a:extLst>
              </p:cNvPr>
              <p:cNvSpPr>
                <a:spLocks noChangeShapeType="1"/>
              </p:cNvSpPr>
              <p:nvPr/>
            </p:nvSpPr>
            <p:spPr bwMode="auto">
              <a:xfrm>
                <a:off x="956"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4" name="Line 190">
                <a:extLst>
                  <a:ext uri="{FF2B5EF4-FFF2-40B4-BE49-F238E27FC236}">
                    <a16:creationId xmlns:a16="http://schemas.microsoft.com/office/drawing/2014/main" id="{B70E5FEA-DF3A-E152-A7BC-52BF51F9626D}"/>
                  </a:ext>
                </a:extLst>
              </p:cNvPr>
              <p:cNvSpPr>
                <a:spLocks noChangeShapeType="1"/>
              </p:cNvSpPr>
              <p:nvPr/>
            </p:nvSpPr>
            <p:spPr bwMode="auto">
              <a:xfrm>
                <a:off x="956"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5" name="Rectangle 191">
                <a:extLst>
                  <a:ext uri="{FF2B5EF4-FFF2-40B4-BE49-F238E27FC236}">
                    <a16:creationId xmlns:a16="http://schemas.microsoft.com/office/drawing/2014/main" id="{35A9F097-DF2F-D96C-0E0B-7AA1BB4A85B9}"/>
                  </a:ext>
                </a:extLst>
              </p:cNvPr>
              <p:cNvSpPr>
                <a:spLocks noChangeArrowheads="1"/>
              </p:cNvSpPr>
              <p:nvPr/>
            </p:nvSpPr>
            <p:spPr bwMode="auto">
              <a:xfrm>
                <a:off x="961" y="1025"/>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6" name="Line 192">
                <a:extLst>
                  <a:ext uri="{FF2B5EF4-FFF2-40B4-BE49-F238E27FC236}">
                    <a16:creationId xmlns:a16="http://schemas.microsoft.com/office/drawing/2014/main" id="{AB0EE5B3-24CA-94AE-B407-C5E6C9003D24}"/>
                  </a:ext>
                </a:extLst>
              </p:cNvPr>
              <p:cNvSpPr>
                <a:spLocks noChangeShapeType="1"/>
              </p:cNvSpPr>
              <p:nvPr/>
            </p:nvSpPr>
            <p:spPr bwMode="auto">
              <a:xfrm>
                <a:off x="961" y="1025"/>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7" name="Rectangle 193">
                <a:extLst>
                  <a:ext uri="{FF2B5EF4-FFF2-40B4-BE49-F238E27FC236}">
                    <a16:creationId xmlns:a16="http://schemas.microsoft.com/office/drawing/2014/main" id="{445E15E9-59C6-6D03-9F75-5F970CB25637}"/>
                  </a:ext>
                </a:extLst>
              </p:cNvPr>
              <p:cNvSpPr>
                <a:spLocks noChangeArrowheads="1"/>
              </p:cNvSpPr>
              <p:nvPr/>
            </p:nvSpPr>
            <p:spPr bwMode="auto">
              <a:xfrm>
                <a:off x="1633" y="1025"/>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8" name="Line 194">
                <a:extLst>
                  <a:ext uri="{FF2B5EF4-FFF2-40B4-BE49-F238E27FC236}">
                    <a16:creationId xmlns:a16="http://schemas.microsoft.com/office/drawing/2014/main" id="{5A3590DE-5E7F-2D6C-DB64-CE45E1E47339}"/>
                  </a:ext>
                </a:extLst>
              </p:cNvPr>
              <p:cNvSpPr>
                <a:spLocks noChangeShapeType="1"/>
              </p:cNvSpPr>
              <p:nvPr/>
            </p:nvSpPr>
            <p:spPr bwMode="auto">
              <a:xfrm>
                <a:off x="1633" y="102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9" name="Line 195">
                <a:extLst>
                  <a:ext uri="{FF2B5EF4-FFF2-40B4-BE49-F238E27FC236}">
                    <a16:creationId xmlns:a16="http://schemas.microsoft.com/office/drawing/2014/main" id="{D8BCE324-8CEA-FEB6-2511-35141A1CB6F5}"/>
                  </a:ext>
                </a:extLst>
              </p:cNvPr>
              <p:cNvSpPr>
                <a:spLocks noChangeShapeType="1"/>
              </p:cNvSpPr>
              <p:nvPr/>
            </p:nvSpPr>
            <p:spPr bwMode="auto">
              <a:xfrm>
                <a:off x="1633"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0" name="Rectangle 196">
                <a:extLst>
                  <a:ext uri="{FF2B5EF4-FFF2-40B4-BE49-F238E27FC236}">
                    <a16:creationId xmlns:a16="http://schemas.microsoft.com/office/drawing/2014/main" id="{A937CB0B-A5AD-4F17-2786-22DB87CE23D4}"/>
                  </a:ext>
                </a:extLst>
              </p:cNvPr>
              <p:cNvSpPr>
                <a:spLocks noChangeArrowheads="1"/>
              </p:cNvSpPr>
              <p:nvPr/>
            </p:nvSpPr>
            <p:spPr bwMode="auto">
              <a:xfrm>
                <a:off x="1637" y="1025"/>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1" name="Line 197">
                <a:extLst>
                  <a:ext uri="{FF2B5EF4-FFF2-40B4-BE49-F238E27FC236}">
                    <a16:creationId xmlns:a16="http://schemas.microsoft.com/office/drawing/2014/main" id="{9106E9B0-6632-5B1B-4824-EFD015C6A4FB}"/>
                  </a:ext>
                </a:extLst>
              </p:cNvPr>
              <p:cNvSpPr>
                <a:spLocks noChangeShapeType="1"/>
              </p:cNvSpPr>
              <p:nvPr/>
            </p:nvSpPr>
            <p:spPr bwMode="auto">
              <a:xfrm>
                <a:off x="1637" y="1025"/>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2" name="Rectangle 198">
                <a:extLst>
                  <a:ext uri="{FF2B5EF4-FFF2-40B4-BE49-F238E27FC236}">
                    <a16:creationId xmlns:a16="http://schemas.microsoft.com/office/drawing/2014/main" id="{6776203A-D632-B577-0461-4EF59136EAE8}"/>
                  </a:ext>
                </a:extLst>
              </p:cNvPr>
              <p:cNvSpPr>
                <a:spLocks noChangeArrowheads="1"/>
              </p:cNvSpPr>
              <p:nvPr/>
            </p:nvSpPr>
            <p:spPr bwMode="auto">
              <a:xfrm>
                <a:off x="2376"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3" name="Line 199">
                <a:extLst>
                  <a:ext uri="{FF2B5EF4-FFF2-40B4-BE49-F238E27FC236}">
                    <a16:creationId xmlns:a16="http://schemas.microsoft.com/office/drawing/2014/main" id="{84EFB82B-6995-2993-EAAB-3AE84618D244}"/>
                  </a:ext>
                </a:extLst>
              </p:cNvPr>
              <p:cNvSpPr>
                <a:spLocks noChangeShapeType="1"/>
              </p:cNvSpPr>
              <p:nvPr/>
            </p:nvSpPr>
            <p:spPr bwMode="auto">
              <a:xfrm>
                <a:off x="2376"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4" name="Line 200">
                <a:extLst>
                  <a:ext uri="{FF2B5EF4-FFF2-40B4-BE49-F238E27FC236}">
                    <a16:creationId xmlns:a16="http://schemas.microsoft.com/office/drawing/2014/main" id="{0B2DBA6A-8B46-40A7-81D6-FD4DE2F2797A}"/>
                  </a:ext>
                </a:extLst>
              </p:cNvPr>
              <p:cNvSpPr>
                <a:spLocks noChangeShapeType="1"/>
              </p:cNvSpPr>
              <p:nvPr/>
            </p:nvSpPr>
            <p:spPr bwMode="auto">
              <a:xfrm>
                <a:off x="2376"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5" name="Rectangle 201">
                <a:extLst>
                  <a:ext uri="{FF2B5EF4-FFF2-40B4-BE49-F238E27FC236}">
                    <a16:creationId xmlns:a16="http://schemas.microsoft.com/office/drawing/2014/main" id="{A34BEF38-A87A-1F6D-B57E-9A88DA8EB15B}"/>
                  </a:ext>
                </a:extLst>
              </p:cNvPr>
              <p:cNvSpPr>
                <a:spLocks noChangeArrowheads="1"/>
              </p:cNvSpPr>
              <p:nvPr/>
            </p:nvSpPr>
            <p:spPr bwMode="auto">
              <a:xfrm>
                <a:off x="2381" y="1025"/>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6" name="Line 202">
                <a:extLst>
                  <a:ext uri="{FF2B5EF4-FFF2-40B4-BE49-F238E27FC236}">
                    <a16:creationId xmlns:a16="http://schemas.microsoft.com/office/drawing/2014/main" id="{868AAFCC-264A-A747-0990-DB2F4BFC2F41}"/>
                  </a:ext>
                </a:extLst>
              </p:cNvPr>
              <p:cNvSpPr>
                <a:spLocks noChangeShapeType="1"/>
              </p:cNvSpPr>
              <p:nvPr/>
            </p:nvSpPr>
            <p:spPr bwMode="auto">
              <a:xfrm>
                <a:off x="2381" y="1025"/>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7" name="Rectangle 203">
                <a:extLst>
                  <a:ext uri="{FF2B5EF4-FFF2-40B4-BE49-F238E27FC236}">
                    <a16:creationId xmlns:a16="http://schemas.microsoft.com/office/drawing/2014/main" id="{5B456CBB-FE7A-3C68-790C-3F3E0B5F6268}"/>
                  </a:ext>
                </a:extLst>
              </p:cNvPr>
              <p:cNvSpPr>
                <a:spLocks noChangeArrowheads="1"/>
              </p:cNvSpPr>
              <p:nvPr/>
            </p:nvSpPr>
            <p:spPr bwMode="auto">
              <a:xfrm>
                <a:off x="2917"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8" name="Line 204">
                <a:extLst>
                  <a:ext uri="{FF2B5EF4-FFF2-40B4-BE49-F238E27FC236}">
                    <a16:creationId xmlns:a16="http://schemas.microsoft.com/office/drawing/2014/main" id="{9CCFCA01-4E35-CBA3-CBD5-8CEF811FEC1A}"/>
                  </a:ext>
                </a:extLst>
              </p:cNvPr>
              <p:cNvSpPr>
                <a:spLocks noChangeShapeType="1"/>
              </p:cNvSpPr>
              <p:nvPr/>
            </p:nvSpPr>
            <p:spPr bwMode="auto">
              <a:xfrm>
                <a:off x="2917"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9" name="Line 205">
                <a:extLst>
                  <a:ext uri="{FF2B5EF4-FFF2-40B4-BE49-F238E27FC236}">
                    <a16:creationId xmlns:a16="http://schemas.microsoft.com/office/drawing/2014/main" id="{EBB099E3-9551-427B-B694-2166ED0BAE09}"/>
                  </a:ext>
                </a:extLst>
              </p:cNvPr>
              <p:cNvSpPr>
                <a:spLocks noChangeShapeType="1"/>
              </p:cNvSpPr>
              <p:nvPr/>
            </p:nvSpPr>
            <p:spPr bwMode="auto">
              <a:xfrm>
                <a:off x="2917"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30" name="Rectangle 206">
                <a:extLst>
                  <a:ext uri="{FF2B5EF4-FFF2-40B4-BE49-F238E27FC236}">
                    <a16:creationId xmlns:a16="http://schemas.microsoft.com/office/drawing/2014/main" id="{13F8E1D1-A609-5B00-5D03-621E345BC709}"/>
                  </a:ext>
                </a:extLst>
              </p:cNvPr>
              <p:cNvSpPr>
                <a:spLocks noChangeArrowheads="1"/>
              </p:cNvSpPr>
              <p:nvPr/>
            </p:nvSpPr>
            <p:spPr bwMode="auto">
              <a:xfrm>
                <a:off x="2922" y="1025"/>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grpSp>
        <p:grpSp>
          <p:nvGrpSpPr>
            <p:cNvPr id="55302" name="Group 408">
              <a:extLst>
                <a:ext uri="{FF2B5EF4-FFF2-40B4-BE49-F238E27FC236}">
                  <a16:creationId xmlns:a16="http://schemas.microsoft.com/office/drawing/2014/main" id="{2B75433D-CE76-943C-ADBB-607A27AEE3D6}"/>
                </a:ext>
              </a:extLst>
            </p:cNvPr>
            <p:cNvGrpSpPr>
              <a:grpSpLocks/>
            </p:cNvGrpSpPr>
            <p:nvPr/>
          </p:nvGrpSpPr>
          <p:grpSpPr bwMode="auto">
            <a:xfrm>
              <a:off x="295" y="1025"/>
              <a:ext cx="4793" cy="547"/>
              <a:chOff x="295" y="1025"/>
              <a:chExt cx="4793" cy="547"/>
            </a:xfrm>
          </p:grpSpPr>
          <p:sp>
            <p:nvSpPr>
              <p:cNvPr id="55731" name="Line 208">
                <a:extLst>
                  <a:ext uri="{FF2B5EF4-FFF2-40B4-BE49-F238E27FC236}">
                    <a16:creationId xmlns:a16="http://schemas.microsoft.com/office/drawing/2014/main" id="{4ACA1538-B4AB-F131-28F1-F31D296E1404}"/>
                  </a:ext>
                </a:extLst>
              </p:cNvPr>
              <p:cNvSpPr>
                <a:spLocks noChangeShapeType="1"/>
              </p:cNvSpPr>
              <p:nvPr/>
            </p:nvSpPr>
            <p:spPr bwMode="auto">
              <a:xfrm>
                <a:off x="2922" y="1025"/>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2" name="Rectangle 209">
                <a:extLst>
                  <a:ext uri="{FF2B5EF4-FFF2-40B4-BE49-F238E27FC236}">
                    <a16:creationId xmlns:a16="http://schemas.microsoft.com/office/drawing/2014/main" id="{FF2AE24A-D035-3C0E-3246-AB4EFBD0E8B2}"/>
                  </a:ext>
                </a:extLst>
              </p:cNvPr>
              <p:cNvSpPr>
                <a:spLocks noChangeArrowheads="1"/>
              </p:cNvSpPr>
              <p:nvPr/>
            </p:nvSpPr>
            <p:spPr bwMode="auto">
              <a:xfrm>
                <a:off x="3589"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3" name="Line 210">
                <a:extLst>
                  <a:ext uri="{FF2B5EF4-FFF2-40B4-BE49-F238E27FC236}">
                    <a16:creationId xmlns:a16="http://schemas.microsoft.com/office/drawing/2014/main" id="{AF81FAED-C051-7FCE-5BC5-B8BEDD97DC37}"/>
                  </a:ext>
                </a:extLst>
              </p:cNvPr>
              <p:cNvSpPr>
                <a:spLocks noChangeShapeType="1"/>
              </p:cNvSpPr>
              <p:nvPr/>
            </p:nvSpPr>
            <p:spPr bwMode="auto">
              <a:xfrm>
                <a:off x="3589"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4" name="Line 211">
                <a:extLst>
                  <a:ext uri="{FF2B5EF4-FFF2-40B4-BE49-F238E27FC236}">
                    <a16:creationId xmlns:a16="http://schemas.microsoft.com/office/drawing/2014/main" id="{70435422-877C-6E5A-D806-D5037143CC0A}"/>
                  </a:ext>
                </a:extLst>
              </p:cNvPr>
              <p:cNvSpPr>
                <a:spLocks noChangeShapeType="1"/>
              </p:cNvSpPr>
              <p:nvPr/>
            </p:nvSpPr>
            <p:spPr bwMode="auto">
              <a:xfrm>
                <a:off x="3589"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5" name="Rectangle 212">
                <a:extLst>
                  <a:ext uri="{FF2B5EF4-FFF2-40B4-BE49-F238E27FC236}">
                    <a16:creationId xmlns:a16="http://schemas.microsoft.com/office/drawing/2014/main" id="{310F8537-F934-E488-7F6A-8A5A97353B41}"/>
                  </a:ext>
                </a:extLst>
              </p:cNvPr>
              <p:cNvSpPr>
                <a:spLocks noChangeArrowheads="1"/>
              </p:cNvSpPr>
              <p:nvPr/>
            </p:nvSpPr>
            <p:spPr bwMode="auto">
              <a:xfrm>
                <a:off x="3594" y="1025"/>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6" name="Line 213">
                <a:extLst>
                  <a:ext uri="{FF2B5EF4-FFF2-40B4-BE49-F238E27FC236}">
                    <a16:creationId xmlns:a16="http://schemas.microsoft.com/office/drawing/2014/main" id="{CCFBCFF2-7CAD-0E6F-BC16-5F26511B4B47}"/>
                  </a:ext>
                </a:extLst>
              </p:cNvPr>
              <p:cNvSpPr>
                <a:spLocks noChangeShapeType="1"/>
              </p:cNvSpPr>
              <p:nvPr/>
            </p:nvSpPr>
            <p:spPr bwMode="auto">
              <a:xfrm>
                <a:off x="3594" y="1025"/>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7" name="Rectangle 214">
                <a:extLst>
                  <a:ext uri="{FF2B5EF4-FFF2-40B4-BE49-F238E27FC236}">
                    <a16:creationId xmlns:a16="http://schemas.microsoft.com/office/drawing/2014/main" id="{0D94A404-777B-81B0-640F-431FB05D8A22}"/>
                  </a:ext>
                </a:extLst>
              </p:cNvPr>
              <p:cNvSpPr>
                <a:spLocks noChangeArrowheads="1"/>
              </p:cNvSpPr>
              <p:nvPr/>
            </p:nvSpPr>
            <p:spPr bwMode="auto">
              <a:xfrm>
                <a:off x="4262" y="1025"/>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8" name="Line 215">
                <a:extLst>
                  <a:ext uri="{FF2B5EF4-FFF2-40B4-BE49-F238E27FC236}">
                    <a16:creationId xmlns:a16="http://schemas.microsoft.com/office/drawing/2014/main" id="{8057B04B-2BF2-7940-4683-9078B9B45364}"/>
                  </a:ext>
                </a:extLst>
              </p:cNvPr>
              <p:cNvSpPr>
                <a:spLocks noChangeShapeType="1"/>
              </p:cNvSpPr>
              <p:nvPr/>
            </p:nvSpPr>
            <p:spPr bwMode="auto">
              <a:xfrm>
                <a:off x="4262" y="102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9" name="Line 216">
                <a:extLst>
                  <a:ext uri="{FF2B5EF4-FFF2-40B4-BE49-F238E27FC236}">
                    <a16:creationId xmlns:a16="http://schemas.microsoft.com/office/drawing/2014/main" id="{AA6DFA45-C559-6A67-8E69-55C3C02CE7CD}"/>
                  </a:ext>
                </a:extLst>
              </p:cNvPr>
              <p:cNvSpPr>
                <a:spLocks noChangeShapeType="1"/>
              </p:cNvSpPr>
              <p:nvPr/>
            </p:nvSpPr>
            <p:spPr bwMode="auto">
              <a:xfrm>
                <a:off x="4262"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0" name="Rectangle 217">
                <a:extLst>
                  <a:ext uri="{FF2B5EF4-FFF2-40B4-BE49-F238E27FC236}">
                    <a16:creationId xmlns:a16="http://schemas.microsoft.com/office/drawing/2014/main" id="{77215DA7-5046-9404-E938-7FBED41D07E5}"/>
                  </a:ext>
                </a:extLst>
              </p:cNvPr>
              <p:cNvSpPr>
                <a:spLocks noChangeArrowheads="1"/>
              </p:cNvSpPr>
              <p:nvPr/>
            </p:nvSpPr>
            <p:spPr bwMode="auto">
              <a:xfrm>
                <a:off x="4266" y="1025"/>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1" name="Line 218">
                <a:extLst>
                  <a:ext uri="{FF2B5EF4-FFF2-40B4-BE49-F238E27FC236}">
                    <a16:creationId xmlns:a16="http://schemas.microsoft.com/office/drawing/2014/main" id="{94B7E047-E298-3C71-90A9-12E618E1C99F}"/>
                  </a:ext>
                </a:extLst>
              </p:cNvPr>
              <p:cNvSpPr>
                <a:spLocks noChangeShapeType="1"/>
              </p:cNvSpPr>
              <p:nvPr/>
            </p:nvSpPr>
            <p:spPr bwMode="auto">
              <a:xfrm>
                <a:off x="4266" y="1025"/>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2" name="Rectangle 219">
                <a:extLst>
                  <a:ext uri="{FF2B5EF4-FFF2-40B4-BE49-F238E27FC236}">
                    <a16:creationId xmlns:a16="http://schemas.microsoft.com/office/drawing/2014/main" id="{83BDF579-4519-DD30-82DE-1962612AD66B}"/>
                  </a:ext>
                </a:extLst>
              </p:cNvPr>
              <p:cNvSpPr>
                <a:spLocks noChangeArrowheads="1"/>
              </p:cNvSpPr>
              <p:nvPr/>
            </p:nvSpPr>
            <p:spPr bwMode="auto">
              <a:xfrm>
                <a:off x="5083"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3" name="Line 220">
                <a:extLst>
                  <a:ext uri="{FF2B5EF4-FFF2-40B4-BE49-F238E27FC236}">
                    <a16:creationId xmlns:a16="http://schemas.microsoft.com/office/drawing/2014/main" id="{7D9B8A97-222B-DA0A-D970-D443DF741CED}"/>
                  </a:ext>
                </a:extLst>
              </p:cNvPr>
              <p:cNvSpPr>
                <a:spLocks noChangeShapeType="1"/>
              </p:cNvSpPr>
              <p:nvPr/>
            </p:nvSpPr>
            <p:spPr bwMode="auto">
              <a:xfrm>
                <a:off x="5083"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4" name="Line 221">
                <a:extLst>
                  <a:ext uri="{FF2B5EF4-FFF2-40B4-BE49-F238E27FC236}">
                    <a16:creationId xmlns:a16="http://schemas.microsoft.com/office/drawing/2014/main" id="{C6C43BA1-AAF7-6D50-7918-5C0377FAC8AF}"/>
                  </a:ext>
                </a:extLst>
              </p:cNvPr>
              <p:cNvSpPr>
                <a:spLocks noChangeShapeType="1"/>
              </p:cNvSpPr>
              <p:nvPr/>
            </p:nvSpPr>
            <p:spPr bwMode="auto">
              <a:xfrm>
                <a:off x="5083"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5" name="Rectangle 222">
                <a:extLst>
                  <a:ext uri="{FF2B5EF4-FFF2-40B4-BE49-F238E27FC236}">
                    <a16:creationId xmlns:a16="http://schemas.microsoft.com/office/drawing/2014/main" id="{FA18CB9C-530C-1AC0-951C-D360B4DAD08E}"/>
                  </a:ext>
                </a:extLst>
              </p:cNvPr>
              <p:cNvSpPr>
                <a:spLocks noChangeArrowheads="1"/>
              </p:cNvSpPr>
              <p:nvPr/>
            </p:nvSpPr>
            <p:spPr bwMode="auto">
              <a:xfrm>
                <a:off x="295"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6" name="Line 223">
                <a:extLst>
                  <a:ext uri="{FF2B5EF4-FFF2-40B4-BE49-F238E27FC236}">
                    <a16:creationId xmlns:a16="http://schemas.microsoft.com/office/drawing/2014/main" id="{DF1756EF-AD3B-1250-28EA-A1FBDCB6D7E2}"/>
                  </a:ext>
                </a:extLst>
              </p:cNvPr>
              <p:cNvSpPr>
                <a:spLocks noChangeShapeType="1"/>
              </p:cNvSpPr>
              <p:nvPr/>
            </p:nvSpPr>
            <p:spPr bwMode="auto">
              <a:xfrm>
                <a:off x="295"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7" name="Rectangle 224">
                <a:extLst>
                  <a:ext uri="{FF2B5EF4-FFF2-40B4-BE49-F238E27FC236}">
                    <a16:creationId xmlns:a16="http://schemas.microsoft.com/office/drawing/2014/main" id="{EFC10CE7-6594-5498-9328-90D56FF314C6}"/>
                  </a:ext>
                </a:extLst>
              </p:cNvPr>
              <p:cNvSpPr>
                <a:spLocks noChangeArrowheads="1"/>
              </p:cNvSpPr>
              <p:nvPr/>
            </p:nvSpPr>
            <p:spPr bwMode="auto">
              <a:xfrm>
                <a:off x="956"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8" name="Line 225">
                <a:extLst>
                  <a:ext uri="{FF2B5EF4-FFF2-40B4-BE49-F238E27FC236}">
                    <a16:creationId xmlns:a16="http://schemas.microsoft.com/office/drawing/2014/main" id="{4C0F6D55-2BD9-2005-9BB9-1B0803787DE4}"/>
                  </a:ext>
                </a:extLst>
              </p:cNvPr>
              <p:cNvSpPr>
                <a:spLocks noChangeShapeType="1"/>
              </p:cNvSpPr>
              <p:nvPr/>
            </p:nvSpPr>
            <p:spPr bwMode="auto">
              <a:xfrm>
                <a:off x="956"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9" name="Rectangle 226">
                <a:extLst>
                  <a:ext uri="{FF2B5EF4-FFF2-40B4-BE49-F238E27FC236}">
                    <a16:creationId xmlns:a16="http://schemas.microsoft.com/office/drawing/2014/main" id="{83B63F15-0A23-47D2-211F-9AE129605571}"/>
                  </a:ext>
                </a:extLst>
              </p:cNvPr>
              <p:cNvSpPr>
                <a:spLocks noChangeArrowheads="1"/>
              </p:cNvSpPr>
              <p:nvPr/>
            </p:nvSpPr>
            <p:spPr bwMode="auto">
              <a:xfrm>
                <a:off x="1633" y="1029"/>
                <a:ext cx="4"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0" name="Line 227">
                <a:extLst>
                  <a:ext uri="{FF2B5EF4-FFF2-40B4-BE49-F238E27FC236}">
                    <a16:creationId xmlns:a16="http://schemas.microsoft.com/office/drawing/2014/main" id="{65CD761C-836E-0432-5078-946BA5C8CC7E}"/>
                  </a:ext>
                </a:extLst>
              </p:cNvPr>
              <p:cNvSpPr>
                <a:spLocks noChangeShapeType="1"/>
              </p:cNvSpPr>
              <p:nvPr/>
            </p:nvSpPr>
            <p:spPr bwMode="auto">
              <a:xfrm>
                <a:off x="1633"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1" name="Rectangle 228">
                <a:extLst>
                  <a:ext uri="{FF2B5EF4-FFF2-40B4-BE49-F238E27FC236}">
                    <a16:creationId xmlns:a16="http://schemas.microsoft.com/office/drawing/2014/main" id="{FC71BDEE-4DED-0FED-B702-9985DEEA0A24}"/>
                  </a:ext>
                </a:extLst>
              </p:cNvPr>
              <p:cNvSpPr>
                <a:spLocks noChangeArrowheads="1"/>
              </p:cNvSpPr>
              <p:nvPr/>
            </p:nvSpPr>
            <p:spPr bwMode="auto">
              <a:xfrm>
                <a:off x="2376"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2" name="Line 229">
                <a:extLst>
                  <a:ext uri="{FF2B5EF4-FFF2-40B4-BE49-F238E27FC236}">
                    <a16:creationId xmlns:a16="http://schemas.microsoft.com/office/drawing/2014/main" id="{0C82BD86-80DE-8DEE-EF82-B4D155750E8C}"/>
                  </a:ext>
                </a:extLst>
              </p:cNvPr>
              <p:cNvSpPr>
                <a:spLocks noChangeShapeType="1"/>
              </p:cNvSpPr>
              <p:nvPr/>
            </p:nvSpPr>
            <p:spPr bwMode="auto">
              <a:xfrm>
                <a:off x="2376"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3" name="Rectangle 230">
                <a:extLst>
                  <a:ext uri="{FF2B5EF4-FFF2-40B4-BE49-F238E27FC236}">
                    <a16:creationId xmlns:a16="http://schemas.microsoft.com/office/drawing/2014/main" id="{1CD37A14-1DC7-DAF1-1163-ED6E00550EE6}"/>
                  </a:ext>
                </a:extLst>
              </p:cNvPr>
              <p:cNvSpPr>
                <a:spLocks noChangeArrowheads="1"/>
              </p:cNvSpPr>
              <p:nvPr/>
            </p:nvSpPr>
            <p:spPr bwMode="auto">
              <a:xfrm>
                <a:off x="2917"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4" name="Line 231">
                <a:extLst>
                  <a:ext uri="{FF2B5EF4-FFF2-40B4-BE49-F238E27FC236}">
                    <a16:creationId xmlns:a16="http://schemas.microsoft.com/office/drawing/2014/main" id="{4D0CA732-3E10-ECA1-0D6D-A08CE91AD8FF}"/>
                  </a:ext>
                </a:extLst>
              </p:cNvPr>
              <p:cNvSpPr>
                <a:spLocks noChangeShapeType="1"/>
              </p:cNvSpPr>
              <p:nvPr/>
            </p:nvSpPr>
            <p:spPr bwMode="auto">
              <a:xfrm>
                <a:off x="2917"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5" name="Rectangle 232">
                <a:extLst>
                  <a:ext uri="{FF2B5EF4-FFF2-40B4-BE49-F238E27FC236}">
                    <a16:creationId xmlns:a16="http://schemas.microsoft.com/office/drawing/2014/main" id="{80738156-3DFD-EE67-3DC6-0F9A159493DE}"/>
                  </a:ext>
                </a:extLst>
              </p:cNvPr>
              <p:cNvSpPr>
                <a:spLocks noChangeArrowheads="1"/>
              </p:cNvSpPr>
              <p:nvPr/>
            </p:nvSpPr>
            <p:spPr bwMode="auto">
              <a:xfrm>
                <a:off x="3589"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6" name="Line 233">
                <a:extLst>
                  <a:ext uri="{FF2B5EF4-FFF2-40B4-BE49-F238E27FC236}">
                    <a16:creationId xmlns:a16="http://schemas.microsoft.com/office/drawing/2014/main" id="{95E9020F-15C2-319E-DA7D-28A9010440B0}"/>
                  </a:ext>
                </a:extLst>
              </p:cNvPr>
              <p:cNvSpPr>
                <a:spLocks noChangeShapeType="1"/>
              </p:cNvSpPr>
              <p:nvPr/>
            </p:nvSpPr>
            <p:spPr bwMode="auto">
              <a:xfrm>
                <a:off x="3589"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7" name="Rectangle 234">
                <a:extLst>
                  <a:ext uri="{FF2B5EF4-FFF2-40B4-BE49-F238E27FC236}">
                    <a16:creationId xmlns:a16="http://schemas.microsoft.com/office/drawing/2014/main" id="{F19609B2-273E-3BB9-EA4F-57204D9805D1}"/>
                  </a:ext>
                </a:extLst>
              </p:cNvPr>
              <p:cNvSpPr>
                <a:spLocks noChangeArrowheads="1"/>
              </p:cNvSpPr>
              <p:nvPr/>
            </p:nvSpPr>
            <p:spPr bwMode="auto">
              <a:xfrm>
                <a:off x="4262" y="1029"/>
                <a:ext cx="4"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8" name="Line 235">
                <a:extLst>
                  <a:ext uri="{FF2B5EF4-FFF2-40B4-BE49-F238E27FC236}">
                    <a16:creationId xmlns:a16="http://schemas.microsoft.com/office/drawing/2014/main" id="{AF134984-D166-F2D0-6E8D-B03E3838B070}"/>
                  </a:ext>
                </a:extLst>
              </p:cNvPr>
              <p:cNvSpPr>
                <a:spLocks noChangeShapeType="1"/>
              </p:cNvSpPr>
              <p:nvPr/>
            </p:nvSpPr>
            <p:spPr bwMode="auto">
              <a:xfrm>
                <a:off x="4262"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9" name="Rectangle 236">
                <a:extLst>
                  <a:ext uri="{FF2B5EF4-FFF2-40B4-BE49-F238E27FC236}">
                    <a16:creationId xmlns:a16="http://schemas.microsoft.com/office/drawing/2014/main" id="{E5709BE1-5760-EE27-F59E-842B4D08723E}"/>
                  </a:ext>
                </a:extLst>
              </p:cNvPr>
              <p:cNvSpPr>
                <a:spLocks noChangeArrowheads="1"/>
              </p:cNvSpPr>
              <p:nvPr/>
            </p:nvSpPr>
            <p:spPr bwMode="auto">
              <a:xfrm>
                <a:off x="5083"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0" name="Line 237">
                <a:extLst>
                  <a:ext uri="{FF2B5EF4-FFF2-40B4-BE49-F238E27FC236}">
                    <a16:creationId xmlns:a16="http://schemas.microsoft.com/office/drawing/2014/main" id="{00EF8A8E-9F1A-A081-F3CE-54FF7456DD59}"/>
                  </a:ext>
                </a:extLst>
              </p:cNvPr>
              <p:cNvSpPr>
                <a:spLocks noChangeShapeType="1"/>
              </p:cNvSpPr>
              <p:nvPr/>
            </p:nvSpPr>
            <p:spPr bwMode="auto">
              <a:xfrm>
                <a:off x="5083"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61" name="Rectangle 238">
                <a:extLst>
                  <a:ext uri="{FF2B5EF4-FFF2-40B4-BE49-F238E27FC236}">
                    <a16:creationId xmlns:a16="http://schemas.microsoft.com/office/drawing/2014/main" id="{8F293B7D-A763-84DB-6271-BA191418D714}"/>
                  </a:ext>
                </a:extLst>
              </p:cNvPr>
              <p:cNvSpPr>
                <a:spLocks noChangeArrowheads="1"/>
              </p:cNvSpPr>
              <p:nvPr/>
            </p:nvSpPr>
            <p:spPr bwMode="auto">
              <a:xfrm>
                <a:off x="300"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2" name="Rectangle 239">
                <a:extLst>
                  <a:ext uri="{FF2B5EF4-FFF2-40B4-BE49-F238E27FC236}">
                    <a16:creationId xmlns:a16="http://schemas.microsoft.com/office/drawing/2014/main" id="{16AF1CAD-357F-97F6-3E72-A758A0D94254}"/>
                  </a:ext>
                </a:extLst>
              </p:cNvPr>
              <p:cNvSpPr>
                <a:spLocks noChangeArrowheads="1"/>
              </p:cNvSpPr>
              <p:nvPr/>
            </p:nvSpPr>
            <p:spPr bwMode="auto">
              <a:xfrm>
                <a:off x="907"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3" name="Rectangle 240">
                <a:extLst>
                  <a:ext uri="{FF2B5EF4-FFF2-40B4-BE49-F238E27FC236}">
                    <a16:creationId xmlns:a16="http://schemas.microsoft.com/office/drawing/2014/main" id="{D0A31F23-06AD-D6A9-EBD9-CCEC2F6AF33E}"/>
                  </a:ext>
                </a:extLst>
              </p:cNvPr>
              <p:cNvSpPr>
                <a:spLocks noChangeArrowheads="1"/>
              </p:cNvSpPr>
              <p:nvPr/>
            </p:nvSpPr>
            <p:spPr bwMode="auto">
              <a:xfrm>
                <a:off x="349" y="1300"/>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4" name="Rectangle 241">
                <a:extLst>
                  <a:ext uri="{FF2B5EF4-FFF2-40B4-BE49-F238E27FC236}">
                    <a16:creationId xmlns:a16="http://schemas.microsoft.com/office/drawing/2014/main" id="{7818D8AB-0D9D-8764-5002-FDDB0453FCD4}"/>
                  </a:ext>
                </a:extLst>
              </p:cNvPr>
              <p:cNvSpPr>
                <a:spLocks noChangeArrowheads="1"/>
              </p:cNvSpPr>
              <p:nvPr/>
            </p:nvSpPr>
            <p:spPr bwMode="auto">
              <a:xfrm>
                <a:off x="349" y="1288"/>
                <a:ext cx="3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Likely</a:t>
                </a:r>
                <a:endParaRPr lang="en-US" altLang="en-US"/>
              </a:p>
            </p:txBody>
          </p:sp>
          <p:sp>
            <p:nvSpPr>
              <p:cNvPr id="55765" name="Rectangle 242">
                <a:extLst>
                  <a:ext uri="{FF2B5EF4-FFF2-40B4-BE49-F238E27FC236}">
                    <a16:creationId xmlns:a16="http://schemas.microsoft.com/office/drawing/2014/main" id="{FC09979F-31C7-AC26-C041-4411DA2F32B9}"/>
                  </a:ext>
                </a:extLst>
              </p:cNvPr>
              <p:cNvSpPr>
                <a:spLocks noChangeArrowheads="1"/>
              </p:cNvSpPr>
              <p:nvPr/>
            </p:nvSpPr>
            <p:spPr bwMode="auto">
              <a:xfrm>
                <a:off x="668"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766" name="Rectangle 243">
                <a:extLst>
                  <a:ext uri="{FF2B5EF4-FFF2-40B4-BE49-F238E27FC236}">
                    <a16:creationId xmlns:a16="http://schemas.microsoft.com/office/drawing/2014/main" id="{C3693B97-1A6A-EDC1-B8A0-B50CFB45C6F7}"/>
                  </a:ext>
                </a:extLst>
              </p:cNvPr>
              <p:cNvSpPr>
                <a:spLocks noChangeArrowheads="1"/>
              </p:cNvSpPr>
              <p:nvPr/>
            </p:nvSpPr>
            <p:spPr bwMode="auto">
              <a:xfrm>
                <a:off x="961"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7" name="Rectangle 244">
                <a:extLst>
                  <a:ext uri="{FF2B5EF4-FFF2-40B4-BE49-F238E27FC236}">
                    <a16:creationId xmlns:a16="http://schemas.microsoft.com/office/drawing/2014/main" id="{5394E622-CB8A-2B12-CDF3-29CF1C3F94A9}"/>
                  </a:ext>
                </a:extLst>
              </p:cNvPr>
              <p:cNvSpPr>
                <a:spLocks noChangeArrowheads="1"/>
              </p:cNvSpPr>
              <p:nvPr/>
            </p:nvSpPr>
            <p:spPr bwMode="auto">
              <a:xfrm>
                <a:off x="158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8" name="Rectangle 245">
                <a:extLst>
                  <a:ext uri="{FF2B5EF4-FFF2-40B4-BE49-F238E27FC236}">
                    <a16:creationId xmlns:a16="http://schemas.microsoft.com/office/drawing/2014/main" id="{49AD3C19-C013-AD59-29C0-419FF38E88B3}"/>
                  </a:ext>
                </a:extLst>
              </p:cNvPr>
              <p:cNvSpPr>
                <a:spLocks noChangeArrowheads="1"/>
              </p:cNvSpPr>
              <p:nvPr/>
            </p:nvSpPr>
            <p:spPr bwMode="auto">
              <a:xfrm>
                <a:off x="1010" y="1300"/>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9" name="Rectangle 246">
                <a:extLst>
                  <a:ext uri="{FF2B5EF4-FFF2-40B4-BE49-F238E27FC236}">
                    <a16:creationId xmlns:a16="http://schemas.microsoft.com/office/drawing/2014/main" id="{172A514A-C8B3-AECF-8CDB-8C0B5E1EF278}"/>
                  </a:ext>
                </a:extLst>
              </p:cNvPr>
              <p:cNvSpPr>
                <a:spLocks noChangeArrowheads="1"/>
              </p:cNvSpPr>
              <p:nvPr/>
            </p:nvSpPr>
            <p:spPr bwMode="auto">
              <a:xfrm>
                <a:off x="1010"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70" name="Rectangle 247">
                <a:extLst>
                  <a:ext uri="{FF2B5EF4-FFF2-40B4-BE49-F238E27FC236}">
                    <a16:creationId xmlns:a16="http://schemas.microsoft.com/office/drawing/2014/main" id="{55BAAEBC-F676-32CB-28B1-26075DFFE523}"/>
                  </a:ext>
                </a:extLst>
              </p:cNvPr>
              <p:cNvSpPr>
                <a:spLocks noChangeArrowheads="1"/>
              </p:cNvSpPr>
              <p:nvPr/>
            </p:nvSpPr>
            <p:spPr bwMode="auto">
              <a:xfrm>
                <a:off x="1072"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71" name="Rectangle 248">
                <a:extLst>
                  <a:ext uri="{FF2B5EF4-FFF2-40B4-BE49-F238E27FC236}">
                    <a16:creationId xmlns:a16="http://schemas.microsoft.com/office/drawing/2014/main" id="{9E1D9239-CE0F-46EF-2E43-3B4B10EBC409}"/>
                  </a:ext>
                </a:extLst>
              </p:cNvPr>
              <p:cNvSpPr>
                <a:spLocks noChangeArrowheads="1"/>
              </p:cNvSpPr>
              <p:nvPr/>
            </p:nvSpPr>
            <p:spPr bwMode="auto">
              <a:xfrm>
                <a:off x="1637"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2" name="Rectangle 249">
                <a:extLst>
                  <a:ext uri="{FF2B5EF4-FFF2-40B4-BE49-F238E27FC236}">
                    <a16:creationId xmlns:a16="http://schemas.microsoft.com/office/drawing/2014/main" id="{986792CA-464B-2CAC-7A26-D7C07FB28F60}"/>
                  </a:ext>
                </a:extLst>
              </p:cNvPr>
              <p:cNvSpPr>
                <a:spLocks noChangeArrowheads="1"/>
              </p:cNvSpPr>
              <p:nvPr/>
            </p:nvSpPr>
            <p:spPr bwMode="auto">
              <a:xfrm>
                <a:off x="2328" y="1300"/>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3" name="Rectangle 250">
                <a:extLst>
                  <a:ext uri="{FF2B5EF4-FFF2-40B4-BE49-F238E27FC236}">
                    <a16:creationId xmlns:a16="http://schemas.microsoft.com/office/drawing/2014/main" id="{FB1D37FD-F9E7-E80A-4379-3B2FBD4A4628}"/>
                  </a:ext>
                </a:extLst>
              </p:cNvPr>
              <p:cNvSpPr>
                <a:spLocks noChangeArrowheads="1"/>
              </p:cNvSpPr>
              <p:nvPr/>
            </p:nvSpPr>
            <p:spPr bwMode="auto">
              <a:xfrm>
                <a:off x="1687" y="1300"/>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4" name="Rectangle 251">
                <a:extLst>
                  <a:ext uri="{FF2B5EF4-FFF2-40B4-BE49-F238E27FC236}">
                    <a16:creationId xmlns:a16="http://schemas.microsoft.com/office/drawing/2014/main" id="{73E36549-EA1C-F348-DAEB-E0795DFEED37}"/>
                  </a:ext>
                </a:extLst>
              </p:cNvPr>
              <p:cNvSpPr>
                <a:spLocks noChangeArrowheads="1"/>
              </p:cNvSpPr>
              <p:nvPr/>
            </p:nvSpPr>
            <p:spPr bwMode="auto">
              <a:xfrm>
                <a:off x="1687"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75" name="Rectangle 252">
                <a:extLst>
                  <a:ext uri="{FF2B5EF4-FFF2-40B4-BE49-F238E27FC236}">
                    <a16:creationId xmlns:a16="http://schemas.microsoft.com/office/drawing/2014/main" id="{32D7525D-AB47-3585-6058-FB1E3003DF27}"/>
                  </a:ext>
                </a:extLst>
              </p:cNvPr>
              <p:cNvSpPr>
                <a:spLocks noChangeArrowheads="1"/>
              </p:cNvSpPr>
              <p:nvPr/>
            </p:nvSpPr>
            <p:spPr bwMode="auto">
              <a:xfrm>
                <a:off x="1749"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76" name="Rectangle 253">
                <a:extLst>
                  <a:ext uri="{FF2B5EF4-FFF2-40B4-BE49-F238E27FC236}">
                    <a16:creationId xmlns:a16="http://schemas.microsoft.com/office/drawing/2014/main" id="{4828CC53-571E-27B9-90FC-BB868869B68E}"/>
                  </a:ext>
                </a:extLst>
              </p:cNvPr>
              <p:cNvSpPr>
                <a:spLocks noChangeArrowheads="1"/>
              </p:cNvSpPr>
              <p:nvPr/>
            </p:nvSpPr>
            <p:spPr bwMode="auto">
              <a:xfrm>
                <a:off x="2381"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7" name="Rectangle 254">
                <a:extLst>
                  <a:ext uri="{FF2B5EF4-FFF2-40B4-BE49-F238E27FC236}">
                    <a16:creationId xmlns:a16="http://schemas.microsoft.com/office/drawing/2014/main" id="{6D0CCBA8-022A-E8C1-82A8-93C00AE21245}"/>
                  </a:ext>
                </a:extLst>
              </p:cNvPr>
              <p:cNvSpPr>
                <a:spLocks noChangeArrowheads="1"/>
              </p:cNvSpPr>
              <p:nvPr/>
            </p:nvSpPr>
            <p:spPr bwMode="auto">
              <a:xfrm>
                <a:off x="2868"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8" name="Rectangle 255">
                <a:extLst>
                  <a:ext uri="{FF2B5EF4-FFF2-40B4-BE49-F238E27FC236}">
                    <a16:creationId xmlns:a16="http://schemas.microsoft.com/office/drawing/2014/main" id="{81AFD9FD-54A3-C6C1-28C5-BFC2602B88B9}"/>
                  </a:ext>
                </a:extLst>
              </p:cNvPr>
              <p:cNvSpPr>
                <a:spLocks noChangeArrowheads="1"/>
              </p:cNvSpPr>
              <p:nvPr/>
            </p:nvSpPr>
            <p:spPr bwMode="auto">
              <a:xfrm>
                <a:off x="2430" y="1300"/>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9" name="Rectangle 256">
                <a:extLst>
                  <a:ext uri="{FF2B5EF4-FFF2-40B4-BE49-F238E27FC236}">
                    <a16:creationId xmlns:a16="http://schemas.microsoft.com/office/drawing/2014/main" id="{D9473829-0B3E-E2A5-C0F7-A65DACD87EF1}"/>
                  </a:ext>
                </a:extLst>
              </p:cNvPr>
              <p:cNvSpPr>
                <a:spLocks noChangeArrowheads="1"/>
              </p:cNvSpPr>
              <p:nvPr/>
            </p:nvSpPr>
            <p:spPr bwMode="auto">
              <a:xfrm>
                <a:off x="2430"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80" name="Rectangle 257">
                <a:extLst>
                  <a:ext uri="{FF2B5EF4-FFF2-40B4-BE49-F238E27FC236}">
                    <a16:creationId xmlns:a16="http://schemas.microsoft.com/office/drawing/2014/main" id="{66E16D4F-2B4D-4AA2-6C5D-B73308839B5A}"/>
                  </a:ext>
                </a:extLst>
              </p:cNvPr>
              <p:cNvSpPr>
                <a:spLocks noChangeArrowheads="1"/>
              </p:cNvSpPr>
              <p:nvPr/>
            </p:nvSpPr>
            <p:spPr bwMode="auto">
              <a:xfrm>
                <a:off x="2492"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81" name="Rectangle 258">
                <a:extLst>
                  <a:ext uri="{FF2B5EF4-FFF2-40B4-BE49-F238E27FC236}">
                    <a16:creationId xmlns:a16="http://schemas.microsoft.com/office/drawing/2014/main" id="{F5F60EEE-342F-CF75-FB27-883627090CD4}"/>
                  </a:ext>
                </a:extLst>
              </p:cNvPr>
              <p:cNvSpPr>
                <a:spLocks noChangeArrowheads="1"/>
              </p:cNvSpPr>
              <p:nvPr/>
            </p:nvSpPr>
            <p:spPr bwMode="auto">
              <a:xfrm>
                <a:off x="2922"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2" name="Rectangle 259">
                <a:extLst>
                  <a:ext uri="{FF2B5EF4-FFF2-40B4-BE49-F238E27FC236}">
                    <a16:creationId xmlns:a16="http://schemas.microsoft.com/office/drawing/2014/main" id="{09DE6F25-901F-301B-79A6-D9F6D986A347}"/>
                  </a:ext>
                </a:extLst>
              </p:cNvPr>
              <p:cNvSpPr>
                <a:spLocks noChangeArrowheads="1"/>
              </p:cNvSpPr>
              <p:nvPr/>
            </p:nvSpPr>
            <p:spPr bwMode="auto">
              <a:xfrm>
                <a:off x="3540"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3" name="Rectangle 260">
                <a:extLst>
                  <a:ext uri="{FF2B5EF4-FFF2-40B4-BE49-F238E27FC236}">
                    <a16:creationId xmlns:a16="http://schemas.microsoft.com/office/drawing/2014/main" id="{B19EC1A2-7CEF-A0EB-7066-15C9A8DE9A6F}"/>
                  </a:ext>
                </a:extLst>
              </p:cNvPr>
              <p:cNvSpPr>
                <a:spLocks noChangeArrowheads="1"/>
              </p:cNvSpPr>
              <p:nvPr/>
            </p:nvSpPr>
            <p:spPr bwMode="auto">
              <a:xfrm>
                <a:off x="2971" y="1300"/>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4" name="Rectangle 261">
                <a:extLst>
                  <a:ext uri="{FF2B5EF4-FFF2-40B4-BE49-F238E27FC236}">
                    <a16:creationId xmlns:a16="http://schemas.microsoft.com/office/drawing/2014/main" id="{54BC9CE2-B1A7-040E-22B2-111DCDA74113}"/>
                  </a:ext>
                </a:extLst>
              </p:cNvPr>
              <p:cNvSpPr>
                <a:spLocks noChangeArrowheads="1"/>
              </p:cNvSpPr>
              <p:nvPr/>
            </p:nvSpPr>
            <p:spPr bwMode="auto">
              <a:xfrm>
                <a:off x="2971" y="1288"/>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785" name="Rectangle 262">
                <a:extLst>
                  <a:ext uri="{FF2B5EF4-FFF2-40B4-BE49-F238E27FC236}">
                    <a16:creationId xmlns:a16="http://schemas.microsoft.com/office/drawing/2014/main" id="{563902AC-1FEB-DD7D-8A3D-77F21E201356}"/>
                  </a:ext>
                </a:extLst>
              </p:cNvPr>
              <p:cNvSpPr>
                <a:spLocks noChangeArrowheads="1"/>
              </p:cNvSpPr>
              <p:nvPr/>
            </p:nvSpPr>
            <p:spPr bwMode="auto">
              <a:xfrm>
                <a:off x="3045"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86" name="Rectangle 263">
                <a:extLst>
                  <a:ext uri="{FF2B5EF4-FFF2-40B4-BE49-F238E27FC236}">
                    <a16:creationId xmlns:a16="http://schemas.microsoft.com/office/drawing/2014/main" id="{9E2541CF-039C-8B56-2F6A-CB252FC215A5}"/>
                  </a:ext>
                </a:extLst>
              </p:cNvPr>
              <p:cNvSpPr>
                <a:spLocks noChangeArrowheads="1"/>
              </p:cNvSpPr>
              <p:nvPr/>
            </p:nvSpPr>
            <p:spPr bwMode="auto">
              <a:xfrm>
                <a:off x="359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7" name="Rectangle 264">
                <a:extLst>
                  <a:ext uri="{FF2B5EF4-FFF2-40B4-BE49-F238E27FC236}">
                    <a16:creationId xmlns:a16="http://schemas.microsoft.com/office/drawing/2014/main" id="{E478B8CA-B8B0-ED32-D990-998D51839CE1}"/>
                  </a:ext>
                </a:extLst>
              </p:cNvPr>
              <p:cNvSpPr>
                <a:spLocks noChangeArrowheads="1"/>
              </p:cNvSpPr>
              <p:nvPr/>
            </p:nvSpPr>
            <p:spPr bwMode="auto">
              <a:xfrm>
                <a:off x="4212"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8" name="Rectangle 265">
                <a:extLst>
                  <a:ext uri="{FF2B5EF4-FFF2-40B4-BE49-F238E27FC236}">
                    <a16:creationId xmlns:a16="http://schemas.microsoft.com/office/drawing/2014/main" id="{C610137E-4EC1-F1FD-84ED-9E64E91451E6}"/>
                  </a:ext>
                </a:extLst>
              </p:cNvPr>
              <p:cNvSpPr>
                <a:spLocks noChangeArrowheads="1"/>
              </p:cNvSpPr>
              <p:nvPr/>
            </p:nvSpPr>
            <p:spPr bwMode="auto">
              <a:xfrm>
                <a:off x="3643" y="1300"/>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9" name="Rectangle 266">
                <a:extLst>
                  <a:ext uri="{FF2B5EF4-FFF2-40B4-BE49-F238E27FC236}">
                    <a16:creationId xmlns:a16="http://schemas.microsoft.com/office/drawing/2014/main" id="{C6C2C7A4-17A5-5BD8-C690-AD832E1FBA8B}"/>
                  </a:ext>
                </a:extLst>
              </p:cNvPr>
              <p:cNvSpPr>
                <a:spLocks noChangeArrowheads="1"/>
              </p:cNvSpPr>
              <p:nvPr/>
            </p:nvSpPr>
            <p:spPr bwMode="auto">
              <a:xfrm>
                <a:off x="3643" y="1288"/>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790" name="Rectangle 267">
                <a:extLst>
                  <a:ext uri="{FF2B5EF4-FFF2-40B4-BE49-F238E27FC236}">
                    <a16:creationId xmlns:a16="http://schemas.microsoft.com/office/drawing/2014/main" id="{F94E2D74-6272-01B9-60DC-05DDC96BC70B}"/>
                  </a:ext>
                </a:extLst>
              </p:cNvPr>
              <p:cNvSpPr>
                <a:spLocks noChangeArrowheads="1"/>
              </p:cNvSpPr>
              <p:nvPr/>
            </p:nvSpPr>
            <p:spPr bwMode="auto">
              <a:xfrm>
                <a:off x="3718"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91" name="Rectangle 268">
                <a:extLst>
                  <a:ext uri="{FF2B5EF4-FFF2-40B4-BE49-F238E27FC236}">
                    <a16:creationId xmlns:a16="http://schemas.microsoft.com/office/drawing/2014/main" id="{856D46EC-B1BD-566B-6098-6A137C1B6115}"/>
                  </a:ext>
                </a:extLst>
              </p:cNvPr>
              <p:cNvSpPr>
                <a:spLocks noChangeArrowheads="1"/>
              </p:cNvSpPr>
              <p:nvPr/>
            </p:nvSpPr>
            <p:spPr bwMode="auto">
              <a:xfrm>
                <a:off x="4266"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2" name="Rectangle 269">
                <a:extLst>
                  <a:ext uri="{FF2B5EF4-FFF2-40B4-BE49-F238E27FC236}">
                    <a16:creationId xmlns:a16="http://schemas.microsoft.com/office/drawing/2014/main" id="{EB1DC952-1BF1-F3B5-A18E-81296F85E5D1}"/>
                  </a:ext>
                </a:extLst>
              </p:cNvPr>
              <p:cNvSpPr>
                <a:spLocks noChangeArrowheads="1"/>
              </p:cNvSpPr>
              <p:nvPr/>
            </p:nvSpPr>
            <p:spPr bwMode="auto">
              <a:xfrm>
                <a:off x="503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3" name="Rectangle 270">
                <a:extLst>
                  <a:ext uri="{FF2B5EF4-FFF2-40B4-BE49-F238E27FC236}">
                    <a16:creationId xmlns:a16="http://schemas.microsoft.com/office/drawing/2014/main" id="{E3C81BDD-8614-4479-60F6-9C697FD75542}"/>
                  </a:ext>
                </a:extLst>
              </p:cNvPr>
              <p:cNvSpPr>
                <a:spLocks noChangeArrowheads="1"/>
              </p:cNvSpPr>
              <p:nvPr/>
            </p:nvSpPr>
            <p:spPr bwMode="auto">
              <a:xfrm>
                <a:off x="4316" y="1300"/>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4" name="Rectangle 271">
                <a:extLst>
                  <a:ext uri="{FF2B5EF4-FFF2-40B4-BE49-F238E27FC236}">
                    <a16:creationId xmlns:a16="http://schemas.microsoft.com/office/drawing/2014/main" id="{9CDBB786-E30B-B6A6-6861-86255DE18A4E}"/>
                  </a:ext>
                </a:extLst>
              </p:cNvPr>
              <p:cNvSpPr>
                <a:spLocks noChangeArrowheads="1"/>
              </p:cNvSpPr>
              <p:nvPr/>
            </p:nvSpPr>
            <p:spPr bwMode="auto">
              <a:xfrm>
                <a:off x="4316" y="1288"/>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795" name="Rectangle 272">
                <a:extLst>
                  <a:ext uri="{FF2B5EF4-FFF2-40B4-BE49-F238E27FC236}">
                    <a16:creationId xmlns:a16="http://schemas.microsoft.com/office/drawing/2014/main" id="{D7F2C4C5-2CF2-8FD9-20ED-6833ECBF7483}"/>
                  </a:ext>
                </a:extLst>
              </p:cNvPr>
              <p:cNvSpPr>
                <a:spLocks noChangeArrowheads="1"/>
              </p:cNvSpPr>
              <p:nvPr/>
            </p:nvSpPr>
            <p:spPr bwMode="auto">
              <a:xfrm>
                <a:off x="4397"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96" name="Rectangle 273">
                <a:extLst>
                  <a:ext uri="{FF2B5EF4-FFF2-40B4-BE49-F238E27FC236}">
                    <a16:creationId xmlns:a16="http://schemas.microsoft.com/office/drawing/2014/main" id="{39E269D8-66A8-AAFB-96BC-5518749CB02B}"/>
                  </a:ext>
                </a:extLst>
              </p:cNvPr>
              <p:cNvSpPr>
                <a:spLocks noChangeArrowheads="1"/>
              </p:cNvSpPr>
              <p:nvPr/>
            </p:nvSpPr>
            <p:spPr bwMode="auto">
              <a:xfrm>
                <a:off x="295"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7" name="Line 274">
                <a:extLst>
                  <a:ext uri="{FF2B5EF4-FFF2-40B4-BE49-F238E27FC236}">
                    <a16:creationId xmlns:a16="http://schemas.microsoft.com/office/drawing/2014/main" id="{E99C9E3C-6518-4071-AA45-8576DF8AF356}"/>
                  </a:ext>
                </a:extLst>
              </p:cNvPr>
              <p:cNvSpPr>
                <a:spLocks noChangeShapeType="1"/>
              </p:cNvSpPr>
              <p:nvPr/>
            </p:nvSpPr>
            <p:spPr bwMode="auto">
              <a:xfrm>
                <a:off x="295"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98" name="Line 275">
                <a:extLst>
                  <a:ext uri="{FF2B5EF4-FFF2-40B4-BE49-F238E27FC236}">
                    <a16:creationId xmlns:a16="http://schemas.microsoft.com/office/drawing/2014/main" id="{7D77DB5E-8B3B-2233-1FD8-BA3AA81205DB}"/>
                  </a:ext>
                </a:extLst>
              </p:cNvPr>
              <p:cNvSpPr>
                <a:spLocks noChangeShapeType="1"/>
              </p:cNvSpPr>
              <p:nvPr/>
            </p:nvSpPr>
            <p:spPr bwMode="auto">
              <a:xfrm>
                <a:off x="295"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99" name="Rectangle 276">
                <a:extLst>
                  <a:ext uri="{FF2B5EF4-FFF2-40B4-BE49-F238E27FC236}">
                    <a16:creationId xmlns:a16="http://schemas.microsoft.com/office/drawing/2014/main" id="{44C6D139-0E29-791A-139B-40B76B58D794}"/>
                  </a:ext>
                </a:extLst>
              </p:cNvPr>
              <p:cNvSpPr>
                <a:spLocks noChangeArrowheads="1"/>
              </p:cNvSpPr>
              <p:nvPr/>
            </p:nvSpPr>
            <p:spPr bwMode="auto">
              <a:xfrm>
                <a:off x="300" y="1295"/>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0" name="Line 277">
                <a:extLst>
                  <a:ext uri="{FF2B5EF4-FFF2-40B4-BE49-F238E27FC236}">
                    <a16:creationId xmlns:a16="http://schemas.microsoft.com/office/drawing/2014/main" id="{C896881D-902E-BE27-57C6-C68F1D2CEC71}"/>
                  </a:ext>
                </a:extLst>
              </p:cNvPr>
              <p:cNvSpPr>
                <a:spLocks noChangeShapeType="1"/>
              </p:cNvSpPr>
              <p:nvPr/>
            </p:nvSpPr>
            <p:spPr bwMode="auto">
              <a:xfrm>
                <a:off x="300" y="129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1" name="Rectangle 278">
                <a:extLst>
                  <a:ext uri="{FF2B5EF4-FFF2-40B4-BE49-F238E27FC236}">
                    <a16:creationId xmlns:a16="http://schemas.microsoft.com/office/drawing/2014/main" id="{A7C74CFF-8B1C-E0E4-D9DD-8BE22A09C6C8}"/>
                  </a:ext>
                </a:extLst>
              </p:cNvPr>
              <p:cNvSpPr>
                <a:spLocks noChangeArrowheads="1"/>
              </p:cNvSpPr>
              <p:nvPr/>
            </p:nvSpPr>
            <p:spPr bwMode="auto">
              <a:xfrm>
                <a:off x="956"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2" name="Line 279">
                <a:extLst>
                  <a:ext uri="{FF2B5EF4-FFF2-40B4-BE49-F238E27FC236}">
                    <a16:creationId xmlns:a16="http://schemas.microsoft.com/office/drawing/2014/main" id="{1536D1D5-ED2E-F0A0-8526-7C50EC075480}"/>
                  </a:ext>
                </a:extLst>
              </p:cNvPr>
              <p:cNvSpPr>
                <a:spLocks noChangeShapeType="1"/>
              </p:cNvSpPr>
              <p:nvPr/>
            </p:nvSpPr>
            <p:spPr bwMode="auto">
              <a:xfrm>
                <a:off x="956"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3" name="Line 280">
                <a:extLst>
                  <a:ext uri="{FF2B5EF4-FFF2-40B4-BE49-F238E27FC236}">
                    <a16:creationId xmlns:a16="http://schemas.microsoft.com/office/drawing/2014/main" id="{8C20CBA3-4AEF-C229-EA81-3C1C8EDC9701}"/>
                  </a:ext>
                </a:extLst>
              </p:cNvPr>
              <p:cNvSpPr>
                <a:spLocks noChangeShapeType="1"/>
              </p:cNvSpPr>
              <p:nvPr/>
            </p:nvSpPr>
            <p:spPr bwMode="auto">
              <a:xfrm>
                <a:off x="956"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4" name="Rectangle 281">
                <a:extLst>
                  <a:ext uri="{FF2B5EF4-FFF2-40B4-BE49-F238E27FC236}">
                    <a16:creationId xmlns:a16="http://schemas.microsoft.com/office/drawing/2014/main" id="{19AA39E5-FD40-6040-8E77-3A5E3931CD00}"/>
                  </a:ext>
                </a:extLst>
              </p:cNvPr>
              <p:cNvSpPr>
                <a:spLocks noChangeArrowheads="1"/>
              </p:cNvSpPr>
              <p:nvPr/>
            </p:nvSpPr>
            <p:spPr bwMode="auto">
              <a:xfrm>
                <a:off x="961" y="1295"/>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5" name="Line 282">
                <a:extLst>
                  <a:ext uri="{FF2B5EF4-FFF2-40B4-BE49-F238E27FC236}">
                    <a16:creationId xmlns:a16="http://schemas.microsoft.com/office/drawing/2014/main" id="{1D533CA5-3688-2829-B768-B0B5E3FD1A40}"/>
                  </a:ext>
                </a:extLst>
              </p:cNvPr>
              <p:cNvSpPr>
                <a:spLocks noChangeShapeType="1"/>
              </p:cNvSpPr>
              <p:nvPr/>
            </p:nvSpPr>
            <p:spPr bwMode="auto">
              <a:xfrm>
                <a:off x="961" y="1295"/>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6" name="Rectangle 283">
                <a:extLst>
                  <a:ext uri="{FF2B5EF4-FFF2-40B4-BE49-F238E27FC236}">
                    <a16:creationId xmlns:a16="http://schemas.microsoft.com/office/drawing/2014/main" id="{3DB4B0E4-F308-A79C-0947-E5D96E0F25DC}"/>
                  </a:ext>
                </a:extLst>
              </p:cNvPr>
              <p:cNvSpPr>
                <a:spLocks noChangeArrowheads="1"/>
              </p:cNvSpPr>
              <p:nvPr/>
            </p:nvSpPr>
            <p:spPr bwMode="auto">
              <a:xfrm>
                <a:off x="1633" y="129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7" name="Line 284">
                <a:extLst>
                  <a:ext uri="{FF2B5EF4-FFF2-40B4-BE49-F238E27FC236}">
                    <a16:creationId xmlns:a16="http://schemas.microsoft.com/office/drawing/2014/main" id="{04E2126A-0E9D-A1F6-B410-366DB1125677}"/>
                  </a:ext>
                </a:extLst>
              </p:cNvPr>
              <p:cNvSpPr>
                <a:spLocks noChangeShapeType="1"/>
              </p:cNvSpPr>
              <p:nvPr/>
            </p:nvSpPr>
            <p:spPr bwMode="auto">
              <a:xfrm>
                <a:off x="1633" y="129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8" name="Line 285">
                <a:extLst>
                  <a:ext uri="{FF2B5EF4-FFF2-40B4-BE49-F238E27FC236}">
                    <a16:creationId xmlns:a16="http://schemas.microsoft.com/office/drawing/2014/main" id="{3A661398-E0F8-B482-0BA8-0D4EFC1F09B2}"/>
                  </a:ext>
                </a:extLst>
              </p:cNvPr>
              <p:cNvSpPr>
                <a:spLocks noChangeShapeType="1"/>
              </p:cNvSpPr>
              <p:nvPr/>
            </p:nvSpPr>
            <p:spPr bwMode="auto">
              <a:xfrm>
                <a:off x="1633"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9" name="Rectangle 286">
                <a:extLst>
                  <a:ext uri="{FF2B5EF4-FFF2-40B4-BE49-F238E27FC236}">
                    <a16:creationId xmlns:a16="http://schemas.microsoft.com/office/drawing/2014/main" id="{ADE17ADD-B069-85C9-81AD-0FFB70A214A8}"/>
                  </a:ext>
                </a:extLst>
              </p:cNvPr>
              <p:cNvSpPr>
                <a:spLocks noChangeArrowheads="1"/>
              </p:cNvSpPr>
              <p:nvPr/>
            </p:nvSpPr>
            <p:spPr bwMode="auto">
              <a:xfrm>
                <a:off x="1637" y="1295"/>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0" name="Line 287">
                <a:extLst>
                  <a:ext uri="{FF2B5EF4-FFF2-40B4-BE49-F238E27FC236}">
                    <a16:creationId xmlns:a16="http://schemas.microsoft.com/office/drawing/2014/main" id="{37C6741A-96DD-6C3E-79D7-E3DC49276A16}"/>
                  </a:ext>
                </a:extLst>
              </p:cNvPr>
              <p:cNvSpPr>
                <a:spLocks noChangeShapeType="1"/>
              </p:cNvSpPr>
              <p:nvPr/>
            </p:nvSpPr>
            <p:spPr bwMode="auto">
              <a:xfrm>
                <a:off x="1637" y="1295"/>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1" name="Rectangle 288">
                <a:extLst>
                  <a:ext uri="{FF2B5EF4-FFF2-40B4-BE49-F238E27FC236}">
                    <a16:creationId xmlns:a16="http://schemas.microsoft.com/office/drawing/2014/main" id="{99E971D7-FA68-5168-3193-3739C02CF863}"/>
                  </a:ext>
                </a:extLst>
              </p:cNvPr>
              <p:cNvSpPr>
                <a:spLocks noChangeArrowheads="1"/>
              </p:cNvSpPr>
              <p:nvPr/>
            </p:nvSpPr>
            <p:spPr bwMode="auto">
              <a:xfrm>
                <a:off x="2376"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2" name="Line 289">
                <a:extLst>
                  <a:ext uri="{FF2B5EF4-FFF2-40B4-BE49-F238E27FC236}">
                    <a16:creationId xmlns:a16="http://schemas.microsoft.com/office/drawing/2014/main" id="{BEBFD0A9-573D-95D0-30DF-054BDD7B645F}"/>
                  </a:ext>
                </a:extLst>
              </p:cNvPr>
              <p:cNvSpPr>
                <a:spLocks noChangeShapeType="1"/>
              </p:cNvSpPr>
              <p:nvPr/>
            </p:nvSpPr>
            <p:spPr bwMode="auto">
              <a:xfrm>
                <a:off x="2376"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3" name="Line 290">
                <a:extLst>
                  <a:ext uri="{FF2B5EF4-FFF2-40B4-BE49-F238E27FC236}">
                    <a16:creationId xmlns:a16="http://schemas.microsoft.com/office/drawing/2014/main" id="{AE535E3F-1998-CAC5-B9F5-A7E1542C8E4D}"/>
                  </a:ext>
                </a:extLst>
              </p:cNvPr>
              <p:cNvSpPr>
                <a:spLocks noChangeShapeType="1"/>
              </p:cNvSpPr>
              <p:nvPr/>
            </p:nvSpPr>
            <p:spPr bwMode="auto">
              <a:xfrm>
                <a:off x="2376"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4" name="Rectangle 291">
                <a:extLst>
                  <a:ext uri="{FF2B5EF4-FFF2-40B4-BE49-F238E27FC236}">
                    <a16:creationId xmlns:a16="http://schemas.microsoft.com/office/drawing/2014/main" id="{F89C9226-DBF0-578C-1E00-BABEF19E6F24}"/>
                  </a:ext>
                </a:extLst>
              </p:cNvPr>
              <p:cNvSpPr>
                <a:spLocks noChangeArrowheads="1"/>
              </p:cNvSpPr>
              <p:nvPr/>
            </p:nvSpPr>
            <p:spPr bwMode="auto">
              <a:xfrm>
                <a:off x="2381" y="1295"/>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5" name="Line 292">
                <a:extLst>
                  <a:ext uri="{FF2B5EF4-FFF2-40B4-BE49-F238E27FC236}">
                    <a16:creationId xmlns:a16="http://schemas.microsoft.com/office/drawing/2014/main" id="{D36E72A6-0FAF-BCFE-AA3C-1669A0D6D41E}"/>
                  </a:ext>
                </a:extLst>
              </p:cNvPr>
              <p:cNvSpPr>
                <a:spLocks noChangeShapeType="1"/>
              </p:cNvSpPr>
              <p:nvPr/>
            </p:nvSpPr>
            <p:spPr bwMode="auto">
              <a:xfrm>
                <a:off x="2381" y="1295"/>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6" name="Rectangle 293">
                <a:extLst>
                  <a:ext uri="{FF2B5EF4-FFF2-40B4-BE49-F238E27FC236}">
                    <a16:creationId xmlns:a16="http://schemas.microsoft.com/office/drawing/2014/main" id="{4E8C1194-00E9-866A-CDAB-984FCA5F67F2}"/>
                  </a:ext>
                </a:extLst>
              </p:cNvPr>
              <p:cNvSpPr>
                <a:spLocks noChangeArrowheads="1"/>
              </p:cNvSpPr>
              <p:nvPr/>
            </p:nvSpPr>
            <p:spPr bwMode="auto">
              <a:xfrm>
                <a:off x="2917"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7" name="Line 294">
                <a:extLst>
                  <a:ext uri="{FF2B5EF4-FFF2-40B4-BE49-F238E27FC236}">
                    <a16:creationId xmlns:a16="http://schemas.microsoft.com/office/drawing/2014/main" id="{7CC462CB-632F-8B1A-470B-E0E25BBF65A5}"/>
                  </a:ext>
                </a:extLst>
              </p:cNvPr>
              <p:cNvSpPr>
                <a:spLocks noChangeShapeType="1"/>
              </p:cNvSpPr>
              <p:nvPr/>
            </p:nvSpPr>
            <p:spPr bwMode="auto">
              <a:xfrm>
                <a:off x="2917"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8" name="Line 295">
                <a:extLst>
                  <a:ext uri="{FF2B5EF4-FFF2-40B4-BE49-F238E27FC236}">
                    <a16:creationId xmlns:a16="http://schemas.microsoft.com/office/drawing/2014/main" id="{BADB4B7E-8408-C964-CBD3-CC35B0651916}"/>
                  </a:ext>
                </a:extLst>
              </p:cNvPr>
              <p:cNvSpPr>
                <a:spLocks noChangeShapeType="1"/>
              </p:cNvSpPr>
              <p:nvPr/>
            </p:nvSpPr>
            <p:spPr bwMode="auto">
              <a:xfrm>
                <a:off x="2917"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9" name="Rectangle 296">
                <a:extLst>
                  <a:ext uri="{FF2B5EF4-FFF2-40B4-BE49-F238E27FC236}">
                    <a16:creationId xmlns:a16="http://schemas.microsoft.com/office/drawing/2014/main" id="{7F33EC23-2352-357F-BA6C-FFCAFF61F501}"/>
                  </a:ext>
                </a:extLst>
              </p:cNvPr>
              <p:cNvSpPr>
                <a:spLocks noChangeArrowheads="1"/>
              </p:cNvSpPr>
              <p:nvPr/>
            </p:nvSpPr>
            <p:spPr bwMode="auto">
              <a:xfrm>
                <a:off x="2922" y="1295"/>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0" name="Line 297">
                <a:extLst>
                  <a:ext uri="{FF2B5EF4-FFF2-40B4-BE49-F238E27FC236}">
                    <a16:creationId xmlns:a16="http://schemas.microsoft.com/office/drawing/2014/main" id="{DC5276DD-E680-781B-0BBA-257E6A57249C}"/>
                  </a:ext>
                </a:extLst>
              </p:cNvPr>
              <p:cNvSpPr>
                <a:spLocks noChangeShapeType="1"/>
              </p:cNvSpPr>
              <p:nvPr/>
            </p:nvSpPr>
            <p:spPr bwMode="auto">
              <a:xfrm>
                <a:off x="2922" y="1295"/>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1" name="Rectangle 298">
                <a:extLst>
                  <a:ext uri="{FF2B5EF4-FFF2-40B4-BE49-F238E27FC236}">
                    <a16:creationId xmlns:a16="http://schemas.microsoft.com/office/drawing/2014/main" id="{7B1E2115-F659-8C22-8AB8-E1A411B984E5}"/>
                  </a:ext>
                </a:extLst>
              </p:cNvPr>
              <p:cNvSpPr>
                <a:spLocks noChangeArrowheads="1"/>
              </p:cNvSpPr>
              <p:nvPr/>
            </p:nvSpPr>
            <p:spPr bwMode="auto">
              <a:xfrm>
                <a:off x="3589"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2" name="Line 299">
                <a:extLst>
                  <a:ext uri="{FF2B5EF4-FFF2-40B4-BE49-F238E27FC236}">
                    <a16:creationId xmlns:a16="http://schemas.microsoft.com/office/drawing/2014/main" id="{DCBA740A-4B96-AFCD-F536-26559611E816}"/>
                  </a:ext>
                </a:extLst>
              </p:cNvPr>
              <p:cNvSpPr>
                <a:spLocks noChangeShapeType="1"/>
              </p:cNvSpPr>
              <p:nvPr/>
            </p:nvSpPr>
            <p:spPr bwMode="auto">
              <a:xfrm>
                <a:off x="3589"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3" name="Line 300">
                <a:extLst>
                  <a:ext uri="{FF2B5EF4-FFF2-40B4-BE49-F238E27FC236}">
                    <a16:creationId xmlns:a16="http://schemas.microsoft.com/office/drawing/2014/main" id="{F2073B3E-893D-1702-8B7F-E49D6E75867A}"/>
                  </a:ext>
                </a:extLst>
              </p:cNvPr>
              <p:cNvSpPr>
                <a:spLocks noChangeShapeType="1"/>
              </p:cNvSpPr>
              <p:nvPr/>
            </p:nvSpPr>
            <p:spPr bwMode="auto">
              <a:xfrm>
                <a:off x="3589"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4" name="Rectangle 301">
                <a:extLst>
                  <a:ext uri="{FF2B5EF4-FFF2-40B4-BE49-F238E27FC236}">
                    <a16:creationId xmlns:a16="http://schemas.microsoft.com/office/drawing/2014/main" id="{791CB876-3D87-7A75-1A2A-018137138ED9}"/>
                  </a:ext>
                </a:extLst>
              </p:cNvPr>
              <p:cNvSpPr>
                <a:spLocks noChangeArrowheads="1"/>
              </p:cNvSpPr>
              <p:nvPr/>
            </p:nvSpPr>
            <p:spPr bwMode="auto">
              <a:xfrm>
                <a:off x="3594" y="1295"/>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5" name="Line 302">
                <a:extLst>
                  <a:ext uri="{FF2B5EF4-FFF2-40B4-BE49-F238E27FC236}">
                    <a16:creationId xmlns:a16="http://schemas.microsoft.com/office/drawing/2014/main" id="{4673EEF5-D436-1993-4B92-D344FBA1607A}"/>
                  </a:ext>
                </a:extLst>
              </p:cNvPr>
              <p:cNvSpPr>
                <a:spLocks noChangeShapeType="1"/>
              </p:cNvSpPr>
              <p:nvPr/>
            </p:nvSpPr>
            <p:spPr bwMode="auto">
              <a:xfrm>
                <a:off x="3594" y="1295"/>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6" name="Rectangle 303">
                <a:extLst>
                  <a:ext uri="{FF2B5EF4-FFF2-40B4-BE49-F238E27FC236}">
                    <a16:creationId xmlns:a16="http://schemas.microsoft.com/office/drawing/2014/main" id="{13B49053-33CD-3CC6-D7AD-4E3FBB0615AE}"/>
                  </a:ext>
                </a:extLst>
              </p:cNvPr>
              <p:cNvSpPr>
                <a:spLocks noChangeArrowheads="1"/>
              </p:cNvSpPr>
              <p:nvPr/>
            </p:nvSpPr>
            <p:spPr bwMode="auto">
              <a:xfrm>
                <a:off x="4262" y="129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7" name="Line 304">
                <a:extLst>
                  <a:ext uri="{FF2B5EF4-FFF2-40B4-BE49-F238E27FC236}">
                    <a16:creationId xmlns:a16="http://schemas.microsoft.com/office/drawing/2014/main" id="{D8651726-D6A7-CBDC-D192-B0C530BD8387}"/>
                  </a:ext>
                </a:extLst>
              </p:cNvPr>
              <p:cNvSpPr>
                <a:spLocks noChangeShapeType="1"/>
              </p:cNvSpPr>
              <p:nvPr/>
            </p:nvSpPr>
            <p:spPr bwMode="auto">
              <a:xfrm>
                <a:off x="4262" y="129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8" name="Line 305">
                <a:extLst>
                  <a:ext uri="{FF2B5EF4-FFF2-40B4-BE49-F238E27FC236}">
                    <a16:creationId xmlns:a16="http://schemas.microsoft.com/office/drawing/2014/main" id="{2D8FE2E8-0988-0F77-64F6-435EF64B08FA}"/>
                  </a:ext>
                </a:extLst>
              </p:cNvPr>
              <p:cNvSpPr>
                <a:spLocks noChangeShapeType="1"/>
              </p:cNvSpPr>
              <p:nvPr/>
            </p:nvSpPr>
            <p:spPr bwMode="auto">
              <a:xfrm>
                <a:off x="4262"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9" name="Rectangle 306">
                <a:extLst>
                  <a:ext uri="{FF2B5EF4-FFF2-40B4-BE49-F238E27FC236}">
                    <a16:creationId xmlns:a16="http://schemas.microsoft.com/office/drawing/2014/main" id="{AE0E42F0-0667-1843-3A1C-185FDC0116AF}"/>
                  </a:ext>
                </a:extLst>
              </p:cNvPr>
              <p:cNvSpPr>
                <a:spLocks noChangeArrowheads="1"/>
              </p:cNvSpPr>
              <p:nvPr/>
            </p:nvSpPr>
            <p:spPr bwMode="auto">
              <a:xfrm>
                <a:off x="4266" y="1295"/>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0" name="Line 307">
                <a:extLst>
                  <a:ext uri="{FF2B5EF4-FFF2-40B4-BE49-F238E27FC236}">
                    <a16:creationId xmlns:a16="http://schemas.microsoft.com/office/drawing/2014/main" id="{1411822D-CDB1-5E19-AC51-F4027B54CEB0}"/>
                  </a:ext>
                </a:extLst>
              </p:cNvPr>
              <p:cNvSpPr>
                <a:spLocks noChangeShapeType="1"/>
              </p:cNvSpPr>
              <p:nvPr/>
            </p:nvSpPr>
            <p:spPr bwMode="auto">
              <a:xfrm>
                <a:off x="4266" y="1295"/>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1" name="Rectangle 308">
                <a:extLst>
                  <a:ext uri="{FF2B5EF4-FFF2-40B4-BE49-F238E27FC236}">
                    <a16:creationId xmlns:a16="http://schemas.microsoft.com/office/drawing/2014/main" id="{1CA0675B-46BA-6C42-84FC-91AC4903C957}"/>
                  </a:ext>
                </a:extLst>
              </p:cNvPr>
              <p:cNvSpPr>
                <a:spLocks noChangeArrowheads="1"/>
              </p:cNvSpPr>
              <p:nvPr/>
            </p:nvSpPr>
            <p:spPr bwMode="auto">
              <a:xfrm>
                <a:off x="5083"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2" name="Line 309">
                <a:extLst>
                  <a:ext uri="{FF2B5EF4-FFF2-40B4-BE49-F238E27FC236}">
                    <a16:creationId xmlns:a16="http://schemas.microsoft.com/office/drawing/2014/main" id="{5D588B0F-EA82-F790-E200-FB4F7C2B1783}"/>
                  </a:ext>
                </a:extLst>
              </p:cNvPr>
              <p:cNvSpPr>
                <a:spLocks noChangeShapeType="1"/>
              </p:cNvSpPr>
              <p:nvPr/>
            </p:nvSpPr>
            <p:spPr bwMode="auto">
              <a:xfrm>
                <a:off x="5083"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3" name="Line 310">
                <a:extLst>
                  <a:ext uri="{FF2B5EF4-FFF2-40B4-BE49-F238E27FC236}">
                    <a16:creationId xmlns:a16="http://schemas.microsoft.com/office/drawing/2014/main" id="{8830C16F-E31C-99F2-F0B3-6C57C30A1115}"/>
                  </a:ext>
                </a:extLst>
              </p:cNvPr>
              <p:cNvSpPr>
                <a:spLocks noChangeShapeType="1"/>
              </p:cNvSpPr>
              <p:nvPr/>
            </p:nvSpPr>
            <p:spPr bwMode="auto">
              <a:xfrm>
                <a:off x="5083"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4" name="Rectangle 311">
                <a:extLst>
                  <a:ext uri="{FF2B5EF4-FFF2-40B4-BE49-F238E27FC236}">
                    <a16:creationId xmlns:a16="http://schemas.microsoft.com/office/drawing/2014/main" id="{56D052EB-A9B9-D3F6-7810-078024234E3E}"/>
                  </a:ext>
                </a:extLst>
              </p:cNvPr>
              <p:cNvSpPr>
                <a:spLocks noChangeArrowheads="1"/>
              </p:cNvSpPr>
              <p:nvPr/>
            </p:nvSpPr>
            <p:spPr bwMode="auto">
              <a:xfrm>
                <a:off x="295"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5" name="Line 312">
                <a:extLst>
                  <a:ext uri="{FF2B5EF4-FFF2-40B4-BE49-F238E27FC236}">
                    <a16:creationId xmlns:a16="http://schemas.microsoft.com/office/drawing/2014/main" id="{55D37CAF-9A4C-7818-A0E5-71D4C751B563}"/>
                  </a:ext>
                </a:extLst>
              </p:cNvPr>
              <p:cNvSpPr>
                <a:spLocks noChangeShapeType="1"/>
              </p:cNvSpPr>
              <p:nvPr/>
            </p:nvSpPr>
            <p:spPr bwMode="auto">
              <a:xfrm>
                <a:off x="295"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6" name="Rectangle 313">
                <a:extLst>
                  <a:ext uri="{FF2B5EF4-FFF2-40B4-BE49-F238E27FC236}">
                    <a16:creationId xmlns:a16="http://schemas.microsoft.com/office/drawing/2014/main" id="{EE7A19E4-7CAB-26F2-7F3F-3373E2BA56B8}"/>
                  </a:ext>
                </a:extLst>
              </p:cNvPr>
              <p:cNvSpPr>
                <a:spLocks noChangeArrowheads="1"/>
              </p:cNvSpPr>
              <p:nvPr/>
            </p:nvSpPr>
            <p:spPr bwMode="auto">
              <a:xfrm>
                <a:off x="956"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7" name="Line 314">
                <a:extLst>
                  <a:ext uri="{FF2B5EF4-FFF2-40B4-BE49-F238E27FC236}">
                    <a16:creationId xmlns:a16="http://schemas.microsoft.com/office/drawing/2014/main" id="{3C2D0E5E-D8EB-57C1-5A27-D6039EE91352}"/>
                  </a:ext>
                </a:extLst>
              </p:cNvPr>
              <p:cNvSpPr>
                <a:spLocks noChangeShapeType="1"/>
              </p:cNvSpPr>
              <p:nvPr/>
            </p:nvSpPr>
            <p:spPr bwMode="auto">
              <a:xfrm>
                <a:off x="956"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8" name="Rectangle 315">
                <a:extLst>
                  <a:ext uri="{FF2B5EF4-FFF2-40B4-BE49-F238E27FC236}">
                    <a16:creationId xmlns:a16="http://schemas.microsoft.com/office/drawing/2014/main" id="{74126BE0-A7BA-C9EA-3FE9-E7D65BF0FDA2}"/>
                  </a:ext>
                </a:extLst>
              </p:cNvPr>
              <p:cNvSpPr>
                <a:spLocks noChangeArrowheads="1"/>
              </p:cNvSpPr>
              <p:nvPr/>
            </p:nvSpPr>
            <p:spPr bwMode="auto">
              <a:xfrm>
                <a:off x="1633" y="1300"/>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9" name="Line 316">
                <a:extLst>
                  <a:ext uri="{FF2B5EF4-FFF2-40B4-BE49-F238E27FC236}">
                    <a16:creationId xmlns:a16="http://schemas.microsoft.com/office/drawing/2014/main" id="{9FC2D0CE-F2A3-3DFB-A7B0-47C51BFECEE3}"/>
                  </a:ext>
                </a:extLst>
              </p:cNvPr>
              <p:cNvSpPr>
                <a:spLocks noChangeShapeType="1"/>
              </p:cNvSpPr>
              <p:nvPr/>
            </p:nvSpPr>
            <p:spPr bwMode="auto">
              <a:xfrm>
                <a:off x="1633"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0" name="Rectangle 317">
                <a:extLst>
                  <a:ext uri="{FF2B5EF4-FFF2-40B4-BE49-F238E27FC236}">
                    <a16:creationId xmlns:a16="http://schemas.microsoft.com/office/drawing/2014/main" id="{08476CBD-A034-55B0-0315-2CE92A1429ED}"/>
                  </a:ext>
                </a:extLst>
              </p:cNvPr>
              <p:cNvSpPr>
                <a:spLocks noChangeArrowheads="1"/>
              </p:cNvSpPr>
              <p:nvPr/>
            </p:nvSpPr>
            <p:spPr bwMode="auto">
              <a:xfrm>
                <a:off x="2376"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1" name="Line 318">
                <a:extLst>
                  <a:ext uri="{FF2B5EF4-FFF2-40B4-BE49-F238E27FC236}">
                    <a16:creationId xmlns:a16="http://schemas.microsoft.com/office/drawing/2014/main" id="{54DAB9C9-2A88-4709-826E-0B1273886F63}"/>
                  </a:ext>
                </a:extLst>
              </p:cNvPr>
              <p:cNvSpPr>
                <a:spLocks noChangeShapeType="1"/>
              </p:cNvSpPr>
              <p:nvPr/>
            </p:nvSpPr>
            <p:spPr bwMode="auto">
              <a:xfrm>
                <a:off x="2376"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2" name="Rectangle 319">
                <a:extLst>
                  <a:ext uri="{FF2B5EF4-FFF2-40B4-BE49-F238E27FC236}">
                    <a16:creationId xmlns:a16="http://schemas.microsoft.com/office/drawing/2014/main" id="{B99CAC51-6B9E-DF35-48F4-D386B27F2F35}"/>
                  </a:ext>
                </a:extLst>
              </p:cNvPr>
              <p:cNvSpPr>
                <a:spLocks noChangeArrowheads="1"/>
              </p:cNvSpPr>
              <p:nvPr/>
            </p:nvSpPr>
            <p:spPr bwMode="auto">
              <a:xfrm>
                <a:off x="2917"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3" name="Line 320">
                <a:extLst>
                  <a:ext uri="{FF2B5EF4-FFF2-40B4-BE49-F238E27FC236}">
                    <a16:creationId xmlns:a16="http://schemas.microsoft.com/office/drawing/2014/main" id="{EB168FCA-6558-2D05-F57E-77B2692EB204}"/>
                  </a:ext>
                </a:extLst>
              </p:cNvPr>
              <p:cNvSpPr>
                <a:spLocks noChangeShapeType="1"/>
              </p:cNvSpPr>
              <p:nvPr/>
            </p:nvSpPr>
            <p:spPr bwMode="auto">
              <a:xfrm>
                <a:off x="2917"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4" name="Rectangle 321">
                <a:extLst>
                  <a:ext uri="{FF2B5EF4-FFF2-40B4-BE49-F238E27FC236}">
                    <a16:creationId xmlns:a16="http://schemas.microsoft.com/office/drawing/2014/main" id="{D9DD393F-E39C-CA28-B201-0C7369473530}"/>
                  </a:ext>
                </a:extLst>
              </p:cNvPr>
              <p:cNvSpPr>
                <a:spLocks noChangeArrowheads="1"/>
              </p:cNvSpPr>
              <p:nvPr/>
            </p:nvSpPr>
            <p:spPr bwMode="auto">
              <a:xfrm>
                <a:off x="3589"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5" name="Line 322">
                <a:extLst>
                  <a:ext uri="{FF2B5EF4-FFF2-40B4-BE49-F238E27FC236}">
                    <a16:creationId xmlns:a16="http://schemas.microsoft.com/office/drawing/2014/main" id="{65E4BCBD-0148-6B1F-3F95-ABF9A139C252}"/>
                  </a:ext>
                </a:extLst>
              </p:cNvPr>
              <p:cNvSpPr>
                <a:spLocks noChangeShapeType="1"/>
              </p:cNvSpPr>
              <p:nvPr/>
            </p:nvSpPr>
            <p:spPr bwMode="auto">
              <a:xfrm>
                <a:off x="3589"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6" name="Rectangle 323">
                <a:extLst>
                  <a:ext uri="{FF2B5EF4-FFF2-40B4-BE49-F238E27FC236}">
                    <a16:creationId xmlns:a16="http://schemas.microsoft.com/office/drawing/2014/main" id="{F47B3776-04CC-4FF7-665A-7D2EF042A4B6}"/>
                  </a:ext>
                </a:extLst>
              </p:cNvPr>
              <p:cNvSpPr>
                <a:spLocks noChangeArrowheads="1"/>
              </p:cNvSpPr>
              <p:nvPr/>
            </p:nvSpPr>
            <p:spPr bwMode="auto">
              <a:xfrm>
                <a:off x="4262" y="1300"/>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7" name="Line 324">
                <a:extLst>
                  <a:ext uri="{FF2B5EF4-FFF2-40B4-BE49-F238E27FC236}">
                    <a16:creationId xmlns:a16="http://schemas.microsoft.com/office/drawing/2014/main" id="{500D0E32-DA96-23E7-4585-647FD47B5A1B}"/>
                  </a:ext>
                </a:extLst>
              </p:cNvPr>
              <p:cNvSpPr>
                <a:spLocks noChangeShapeType="1"/>
              </p:cNvSpPr>
              <p:nvPr/>
            </p:nvSpPr>
            <p:spPr bwMode="auto">
              <a:xfrm>
                <a:off x="4262"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8" name="Rectangle 325">
                <a:extLst>
                  <a:ext uri="{FF2B5EF4-FFF2-40B4-BE49-F238E27FC236}">
                    <a16:creationId xmlns:a16="http://schemas.microsoft.com/office/drawing/2014/main" id="{75B1661E-9CB5-C598-6024-9BC95D33CD7B}"/>
                  </a:ext>
                </a:extLst>
              </p:cNvPr>
              <p:cNvSpPr>
                <a:spLocks noChangeArrowheads="1"/>
              </p:cNvSpPr>
              <p:nvPr/>
            </p:nvSpPr>
            <p:spPr bwMode="auto">
              <a:xfrm>
                <a:off x="5083"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9" name="Line 326">
                <a:extLst>
                  <a:ext uri="{FF2B5EF4-FFF2-40B4-BE49-F238E27FC236}">
                    <a16:creationId xmlns:a16="http://schemas.microsoft.com/office/drawing/2014/main" id="{BBC2AFD0-62FA-7A44-611D-44B29EAA548F}"/>
                  </a:ext>
                </a:extLst>
              </p:cNvPr>
              <p:cNvSpPr>
                <a:spLocks noChangeShapeType="1"/>
              </p:cNvSpPr>
              <p:nvPr/>
            </p:nvSpPr>
            <p:spPr bwMode="auto">
              <a:xfrm>
                <a:off x="5083"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50" name="Rectangle 327">
                <a:extLst>
                  <a:ext uri="{FF2B5EF4-FFF2-40B4-BE49-F238E27FC236}">
                    <a16:creationId xmlns:a16="http://schemas.microsoft.com/office/drawing/2014/main" id="{F5C40EA4-EA50-0C1E-D640-F8CF54E4267C}"/>
                  </a:ext>
                </a:extLst>
              </p:cNvPr>
              <p:cNvSpPr>
                <a:spLocks noChangeArrowheads="1"/>
              </p:cNvSpPr>
              <p:nvPr/>
            </p:nvSpPr>
            <p:spPr bwMode="auto">
              <a:xfrm>
                <a:off x="300"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1" name="Rectangle 328">
                <a:extLst>
                  <a:ext uri="{FF2B5EF4-FFF2-40B4-BE49-F238E27FC236}">
                    <a16:creationId xmlns:a16="http://schemas.microsoft.com/office/drawing/2014/main" id="{3364CA9C-8E4B-395F-9F51-4EB14F5A911D}"/>
                  </a:ext>
                </a:extLst>
              </p:cNvPr>
              <p:cNvSpPr>
                <a:spLocks noChangeArrowheads="1"/>
              </p:cNvSpPr>
              <p:nvPr/>
            </p:nvSpPr>
            <p:spPr bwMode="auto">
              <a:xfrm>
                <a:off x="907"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2" name="Rectangle 329">
                <a:extLst>
                  <a:ext uri="{FF2B5EF4-FFF2-40B4-BE49-F238E27FC236}">
                    <a16:creationId xmlns:a16="http://schemas.microsoft.com/office/drawing/2014/main" id="{0AA369DE-54D6-F80D-0743-B95BE4F31995}"/>
                  </a:ext>
                </a:extLst>
              </p:cNvPr>
              <p:cNvSpPr>
                <a:spLocks noChangeArrowheads="1"/>
              </p:cNvSpPr>
              <p:nvPr/>
            </p:nvSpPr>
            <p:spPr bwMode="auto">
              <a:xfrm>
                <a:off x="349" y="1438"/>
                <a:ext cx="55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3" name="Rectangle 330">
                <a:extLst>
                  <a:ext uri="{FF2B5EF4-FFF2-40B4-BE49-F238E27FC236}">
                    <a16:creationId xmlns:a16="http://schemas.microsoft.com/office/drawing/2014/main" id="{D5B40B1F-F7E1-5D47-C60F-14C99CDB8F64}"/>
                  </a:ext>
                </a:extLst>
              </p:cNvPr>
              <p:cNvSpPr>
                <a:spLocks noChangeArrowheads="1"/>
              </p:cNvSpPr>
              <p:nvPr/>
            </p:nvSpPr>
            <p:spPr bwMode="auto">
              <a:xfrm>
                <a:off x="349" y="1426"/>
                <a:ext cx="42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Possible</a:t>
                </a:r>
                <a:endParaRPr lang="en-US" altLang="en-US"/>
              </a:p>
            </p:txBody>
          </p:sp>
          <p:sp>
            <p:nvSpPr>
              <p:cNvPr id="55854" name="Rectangle 331">
                <a:extLst>
                  <a:ext uri="{FF2B5EF4-FFF2-40B4-BE49-F238E27FC236}">
                    <a16:creationId xmlns:a16="http://schemas.microsoft.com/office/drawing/2014/main" id="{3AA45C00-D427-A4B2-9DD7-B4819751E119}"/>
                  </a:ext>
                </a:extLst>
              </p:cNvPr>
              <p:cNvSpPr>
                <a:spLocks noChangeArrowheads="1"/>
              </p:cNvSpPr>
              <p:nvPr/>
            </p:nvSpPr>
            <p:spPr bwMode="auto">
              <a:xfrm>
                <a:off x="780"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855" name="Rectangle 332">
                <a:extLst>
                  <a:ext uri="{FF2B5EF4-FFF2-40B4-BE49-F238E27FC236}">
                    <a16:creationId xmlns:a16="http://schemas.microsoft.com/office/drawing/2014/main" id="{96E98560-B552-F51D-81D1-536225BFDD8B}"/>
                  </a:ext>
                </a:extLst>
              </p:cNvPr>
              <p:cNvSpPr>
                <a:spLocks noChangeArrowheads="1"/>
              </p:cNvSpPr>
              <p:nvPr/>
            </p:nvSpPr>
            <p:spPr bwMode="auto">
              <a:xfrm>
                <a:off x="961"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6" name="Rectangle 333">
                <a:extLst>
                  <a:ext uri="{FF2B5EF4-FFF2-40B4-BE49-F238E27FC236}">
                    <a16:creationId xmlns:a16="http://schemas.microsoft.com/office/drawing/2014/main" id="{F9C76C92-3FB7-5C95-BE6B-124C6E7B03FE}"/>
                  </a:ext>
                </a:extLst>
              </p:cNvPr>
              <p:cNvSpPr>
                <a:spLocks noChangeArrowheads="1"/>
              </p:cNvSpPr>
              <p:nvPr/>
            </p:nvSpPr>
            <p:spPr bwMode="auto">
              <a:xfrm>
                <a:off x="158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7" name="Rectangle 334">
                <a:extLst>
                  <a:ext uri="{FF2B5EF4-FFF2-40B4-BE49-F238E27FC236}">
                    <a16:creationId xmlns:a16="http://schemas.microsoft.com/office/drawing/2014/main" id="{A705784B-ED08-47CC-9616-BE84C5C9D9B9}"/>
                  </a:ext>
                </a:extLst>
              </p:cNvPr>
              <p:cNvSpPr>
                <a:spLocks noChangeArrowheads="1"/>
              </p:cNvSpPr>
              <p:nvPr/>
            </p:nvSpPr>
            <p:spPr bwMode="auto">
              <a:xfrm>
                <a:off x="1010" y="1438"/>
                <a:ext cx="574"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8" name="Rectangle 335">
                <a:extLst>
                  <a:ext uri="{FF2B5EF4-FFF2-40B4-BE49-F238E27FC236}">
                    <a16:creationId xmlns:a16="http://schemas.microsoft.com/office/drawing/2014/main" id="{7FE1F415-057B-49B9-A866-941944308D35}"/>
                  </a:ext>
                </a:extLst>
              </p:cNvPr>
              <p:cNvSpPr>
                <a:spLocks noChangeArrowheads="1"/>
              </p:cNvSpPr>
              <p:nvPr/>
            </p:nvSpPr>
            <p:spPr bwMode="auto">
              <a:xfrm>
                <a:off x="1010"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59" name="Rectangle 336">
                <a:extLst>
                  <a:ext uri="{FF2B5EF4-FFF2-40B4-BE49-F238E27FC236}">
                    <a16:creationId xmlns:a16="http://schemas.microsoft.com/office/drawing/2014/main" id="{342DB54F-FFDF-D247-7F0F-24EACCAC5338}"/>
                  </a:ext>
                </a:extLst>
              </p:cNvPr>
              <p:cNvSpPr>
                <a:spLocks noChangeArrowheads="1"/>
              </p:cNvSpPr>
              <p:nvPr/>
            </p:nvSpPr>
            <p:spPr bwMode="auto">
              <a:xfrm>
                <a:off x="1072"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60" name="Rectangle 337">
                <a:extLst>
                  <a:ext uri="{FF2B5EF4-FFF2-40B4-BE49-F238E27FC236}">
                    <a16:creationId xmlns:a16="http://schemas.microsoft.com/office/drawing/2014/main" id="{315CC6D9-51BA-D82C-69D1-43EB6A05A7BD}"/>
                  </a:ext>
                </a:extLst>
              </p:cNvPr>
              <p:cNvSpPr>
                <a:spLocks noChangeArrowheads="1"/>
              </p:cNvSpPr>
              <p:nvPr/>
            </p:nvSpPr>
            <p:spPr bwMode="auto">
              <a:xfrm>
                <a:off x="1637"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1" name="Rectangle 338">
                <a:extLst>
                  <a:ext uri="{FF2B5EF4-FFF2-40B4-BE49-F238E27FC236}">
                    <a16:creationId xmlns:a16="http://schemas.microsoft.com/office/drawing/2014/main" id="{0D2F2B83-050F-4494-4E5E-F2C4AC44F924}"/>
                  </a:ext>
                </a:extLst>
              </p:cNvPr>
              <p:cNvSpPr>
                <a:spLocks noChangeArrowheads="1"/>
              </p:cNvSpPr>
              <p:nvPr/>
            </p:nvSpPr>
            <p:spPr bwMode="auto">
              <a:xfrm>
                <a:off x="2328" y="1438"/>
                <a:ext cx="4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2" name="Rectangle 339">
                <a:extLst>
                  <a:ext uri="{FF2B5EF4-FFF2-40B4-BE49-F238E27FC236}">
                    <a16:creationId xmlns:a16="http://schemas.microsoft.com/office/drawing/2014/main" id="{78B6FD02-D265-D6C7-514E-96D08D340358}"/>
                  </a:ext>
                </a:extLst>
              </p:cNvPr>
              <p:cNvSpPr>
                <a:spLocks noChangeArrowheads="1"/>
              </p:cNvSpPr>
              <p:nvPr/>
            </p:nvSpPr>
            <p:spPr bwMode="auto">
              <a:xfrm>
                <a:off x="1687" y="1438"/>
                <a:ext cx="641"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3" name="Rectangle 340">
                <a:extLst>
                  <a:ext uri="{FF2B5EF4-FFF2-40B4-BE49-F238E27FC236}">
                    <a16:creationId xmlns:a16="http://schemas.microsoft.com/office/drawing/2014/main" id="{4B478BE1-707F-9655-7D78-BB1EC2593058}"/>
                  </a:ext>
                </a:extLst>
              </p:cNvPr>
              <p:cNvSpPr>
                <a:spLocks noChangeArrowheads="1"/>
              </p:cNvSpPr>
              <p:nvPr/>
            </p:nvSpPr>
            <p:spPr bwMode="auto">
              <a:xfrm>
                <a:off x="1687"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64" name="Rectangle 341">
                <a:extLst>
                  <a:ext uri="{FF2B5EF4-FFF2-40B4-BE49-F238E27FC236}">
                    <a16:creationId xmlns:a16="http://schemas.microsoft.com/office/drawing/2014/main" id="{B4DC22F1-981F-884F-1568-D3C813DDD7FA}"/>
                  </a:ext>
                </a:extLst>
              </p:cNvPr>
              <p:cNvSpPr>
                <a:spLocks noChangeArrowheads="1"/>
              </p:cNvSpPr>
              <p:nvPr/>
            </p:nvSpPr>
            <p:spPr bwMode="auto">
              <a:xfrm>
                <a:off x="1749"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65" name="Rectangle 342">
                <a:extLst>
                  <a:ext uri="{FF2B5EF4-FFF2-40B4-BE49-F238E27FC236}">
                    <a16:creationId xmlns:a16="http://schemas.microsoft.com/office/drawing/2014/main" id="{1B1D2E6F-AE8E-1BFD-1224-B44AAA8B65CA}"/>
                  </a:ext>
                </a:extLst>
              </p:cNvPr>
              <p:cNvSpPr>
                <a:spLocks noChangeArrowheads="1"/>
              </p:cNvSpPr>
              <p:nvPr/>
            </p:nvSpPr>
            <p:spPr bwMode="auto">
              <a:xfrm>
                <a:off x="2381"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6" name="Rectangle 343">
                <a:extLst>
                  <a:ext uri="{FF2B5EF4-FFF2-40B4-BE49-F238E27FC236}">
                    <a16:creationId xmlns:a16="http://schemas.microsoft.com/office/drawing/2014/main" id="{F20D405F-A837-7AF7-6D7C-FD626027B648}"/>
                  </a:ext>
                </a:extLst>
              </p:cNvPr>
              <p:cNvSpPr>
                <a:spLocks noChangeArrowheads="1"/>
              </p:cNvSpPr>
              <p:nvPr/>
            </p:nvSpPr>
            <p:spPr bwMode="auto">
              <a:xfrm>
                <a:off x="2868"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7" name="Rectangle 344">
                <a:extLst>
                  <a:ext uri="{FF2B5EF4-FFF2-40B4-BE49-F238E27FC236}">
                    <a16:creationId xmlns:a16="http://schemas.microsoft.com/office/drawing/2014/main" id="{A27CB088-0A71-3711-B229-976A74A67728}"/>
                  </a:ext>
                </a:extLst>
              </p:cNvPr>
              <p:cNvSpPr>
                <a:spLocks noChangeArrowheads="1"/>
              </p:cNvSpPr>
              <p:nvPr/>
            </p:nvSpPr>
            <p:spPr bwMode="auto">
              <a:xfrm>
                <a:off x="2430" y="1438"/>
                <a:ext cx="43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8" name="Rectangle 345">
                <a:extLst>
                  <a:ext uri="{FF2B5EF4-FFF2-40B4-BE49-F238E27FC236}">
                    <a16:creationId xmlns:a16="http://schemas.microsoft.com/office/drawing/2014/main" id="{C4510810-432A-4FFF-58C3-592F52E310B7}"/>
                  </a:ext>
                </a:extLst>
              </p:cNvPr>
              <p:cNvSpPr>
                <a:spLocks noChangeArrowheads="1"/>
              </p:cNvSpPr>
              <p:nvPr/>
            </p:nvSpPr>
            <p:spPr bwMode="auto">
              <a:xfrm>
                <a:off x="2430"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69" name="Rectangle 346">
                <a:extLst>
                  <a:ext uri="{FF2B5EF4-FFF2-40B4-BE49-F238E27FC236}">
                    <a16:creationId xmlns:a16="http://schemas.microsoft.com/office/drawing/2014/main" id="{C1E155D1-B864-C786-0F89-AF4D0D0186E8}"/>
                  </a:ext>
                </a:extLst>
              </p:cNvPr>
              <p:cNvSpPr>
                <a:spLocks noChangeArrowheads="1"/>
              </p:cNvSpPr>
              <p:nvPr/>
            </p:nvSpPr>
            <p:spPr bwMode="auto">
              <a:xfrm>
                <a:off x="2492"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70" name="Rectangle 347">
                <a:extLst>
                  <a:ext uri="{FF2B5EF4-FFF2-40B4-BE49-F238E27FC236}">
                    <a16:creationId xmlns:a16="http://schemas.microsoft.com/office/drawing/2014/main" id="{B52DC746-BC97-5443-C54F-3D42C85491CB}"/>
                  </a:ext>
                </a:extLst>
              </p:cNvPr>
              <p:cNvSpPr>
                <a:spLocks noChangeArrowheads="1"/>
              </p:cNvSpPr>
              <p:nvPr/>
            </p:nvSpPr>
            <p:spPr bwMode="auto">
              <a:xfrm>
                <a:off x="2922"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1" name="Rectangle 348">
                <a:extLst>
                  <a:ext uri="{FF2B5EF4-FFF2-40B4-BE49-F238E27FC236}">
                    <a16:creationId xmlns:a16="http://schemas.microsoft.com/office/drawing/2014/main" id="{BC2F7567-B697-41CC-6953-2D374381296F}"/>
                  </a:ext>
                </a:extLst>
              </p:cNvPr>
              <p:cNvSpPr>
                <a:spLocks noChangeArrowheads="1"/>
              </p:cNvSpPr>
              <p:nvPr/>
            </p:nvSpPr>
            <p:spPr bwMode="auto">
              <a:xfrm>
                <a:off x="3540"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2" name="Rectangle 349">
                <a:extLst>
                  <a:ext uri="{FF2B5EF4-FFF2-40B4-BE49-F238E27FC236}">
                    <a16:creationId xmlns:a16="http://schemas.microsoft.com/office/drawing/2014/main" id="{C477935E-9FFD-3CFE-8C12-72DA819EBC8A}"/>
                  </a:ext>
                </a:extLst>
              </p:cNvPr>
              <p:cNvSpPr>
                <a:spLocks noChangeArrowheads="1"/>
              </p:cNvSpPr>
              <p:nvPr/>
            </p:nvSpPr>
            <p:spPr bwMode="auto">
              <a:xfrm>
                <a:off x="2971" y="1438"/>
                <a:ext cx="56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3" name="Rectangle 350">
                <a:extLst>
                  <a:ext uri="{FF2B5EF4-FFF2-40B4-BE49-F238E27FC236}">
                    <a16:creationId xmlns:a16="http://schemas.microsoft.com/office/drawing/2014/main" id="{B19329F3-FE1B-656A-521E-7EA1A6F2BB35}"/>
                  </a:ext>
                </a:extLst>
              </p:cNvPr>
              <p:cNvSpPr>
                <a:spLocks noChangeArrowheads="1"/>
              </p:cNvSpPr>
              <p:nvPr/>
            </p:nvSpPr>
            <p:spPr bwMode="auto">
              <a:xfrm>
                <a:off x="2971" y="1426"/>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874" name="Rectangle 351">
                <a:extLst>
                  <a:ext uri="{FF2B5EF4-FFF2-40B4-BE49-F238E27FC236}">
                    <a16:creationId xmlns:a16="http://schemas.microsoft.com/office/drawing/2014/main" id="{C27131F0-FA72-0A69-40D4-F0E3E07123C1}"/>
                  </a:ext>
                </a:extLst>
              </p:cNvPr>
              <p:cNvSpPr>
                <a:spLocks noChangeArrowheads="1"/>
              </p:cNvSpPr>
              <p:nvPr/>
            </p:nvSpPr>
            <p:spPr bwMode="auto">
              <a:xfrm>
                <a:off x="3045"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75" name="Rectangle 352">
                <a:extLst>
                  <a:ext uri="{FF2B5EF4-FFF2-40B4-BE49-F238E27FC236}">
                    <a16:creationId xmlns:a16="http://schemas.microsoft.com/office/drawing/2014/main" id="{1DE51558-D631-A933-0317-1C3E6365F6A7}"/>
                  </a:ext>
                </a:extLst>
              </p:cNvPr>
              <p:cNvSpPr>
                <a:spLocks noChangeArrowheads="1"/>
              </p:cNvSpPr>
              <p:nvPr/>
            </p:nvSpPr>
            <p:spPr bwMode="auto">
              <a:xfrm>
                <a:off x="359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6" name="Rectangle 353">
                <a:extLst>
                  <a:ext uri="{FF2B5EF4-FFF2-40B4-BE49-F238E27FC236}">
                    <a16:creationId xmlns:a16="http://schemas.microsoft.com/office/drawing/2014/main" id="{A96FADBD-C0AB-C7D3-DF1D-45EE5C960380}"/>
                  </a:ext>
                </a:extLst>
              </p:cNvPr>
              <p:cNvSpPr>
                <a:spLocks noChangeArrowheads="1"/>
              </p:cNvSpPr>
              <p:nvPr/>
            </p:nvSpPr>
            <p:spPr bwMode="auto">
              <a:xfrm>
                <a:off x="4212"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7" name="Rectangle 354">
                <a:extLst>
                  <a:ext uri="{FF2B5EF4-FFF2-40B4-BE49-F238E27FC236}">
                    <a16:creationId xmlns:a16="http://schemas.microsoft.com/office/drawing/2014/main" id="{45478E01-D37D-842F-9D84-C17FBA2634E0}"/>
                  </a:ext>
                </a:extLst>
              </p:cNvPr>
              <p:cNvSpPr>
                <a:spLocks noChangeArrowheads="1"/>
              </p:cNvSpPr>
              <p:nvPr/>
            </p:nvSpPr>
            <p:spPr bwMode="auto">
              <a:xfrm>
                <a:off x="3643" y="1438"/>
                <a:ext cx="56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8" name="Rectangle 355">
                <a:extLst>
                  <a:ext uri="{FF2B5EF4-FFF2-40B4-BE49-F238E27FC236}">
                    <a16:creationId xmlns:a16="http://schemas.microsoft.com/office/drawing/2014/main" id="{2E1719FE-E9C2-3D62-10A1-8D7E307CC4C4}"/>
                  </a:ext>
                </a:extLst>
              </p:cNvPr>
              <p:cNvSpPr>
                <a:spLocks noChangeArrowheads="1"/>
              </p:cNvSpPr>
              <p:nvPr/>
            </p:nvSpPr>
            <p:spPr bwMode="auto">
              <a:xfrm>
                <a:off x="3643" y="1426"/>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879" name="Rectangle 356">
                <a:extLst>
                  <a:ext uri="{FF2B5EF4-FFF2-40B4-BE49-F238E27FC236}">
                    <a16:creationId xmlns:a16="http://schemas.microsoft.com/office/drawing/2014/main" id="{814F24BF-4714-6859-185F-9B849B4CABBF}"/>
                  </a:ext>
                </a:extLst>
              </p:cNvPr>
              <p:cNvSpPr>
                <a:spLocks noChangeArrowheads="1"/>
              </p:cNvSpPr>
              <p:nvPr/>
            </p:nvSpPr>
            <p:spPr bwMode="auto">
              <a:xfrm>
                <a:off x="3724"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80" name="Rectangle 357">
                <a:extLst>
                  <a:ext uri="{FF2B5EF4-FFF2-40B4-BE49-F238E27FC236}">
                    <a16:creationId xmlns:a16="http://schemas.microsoft.com/office/drawing/2014/main" id="{2688979B-D877-878C-9C3E-4F57850539A3}"/>
                  </a:ext>
                </a:extLst>
              </p:cNvPr>
              <p:cNvSpPr>
                <a:spLocks noChangeArrowheads="1"/>
              </p:cNvSpPr>
              <p:nvPr/>
            </p:nvSpPr>
            <p:spPr bwMode="auto">
              <a:xfrm>
                <a:off x="4266"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1" name="Rectangle 358">
                <a:extLst>
                  <a:ext uri="{FF2B5EF4-FFF2-40B4-BE49-F238E27FC236}">
                    <a16:creationId xmlns:a16="http://schemas.microsoft.com/office/drawing/2014/main" id="{492B0B2D-2562-6634-FEBA-C6013C183506}"/>
                  </a:ext>
                </a:extLst>
              </p:cNvPr>
              <p:cNvSpPr>
                <a:spLocks noChangeArrowheads="1"/>
              </p:cNvSpPr>
              <p:nvPr/>
            </p:nvSpPr>
            <p:spPr bwMode="auto">
              <a:xfrm>
                <a:off x="503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2" name="Rectangle 359">
                <a:extLst>
                  <a:ext uri="{FF2B5EF4-FFF2-40B4-BE49-F238E27FC236}">
                    <a16:creationId xmlns:a16="http://schemas.microsoft.com/office/drawing/2014/main" id="{A09DC346-F0B4-5BB8-C81F-48C900BCFA11}"/>
                  </a:ext>
                </a:extLst>
              </p:cNvPr>
              <p:cNvSpPr>
                <a:spLocks noChangeArrowheads="1"/>
              </p:cNvSpPr>
              <p:nvPr/>
            </p:nvSpPr>
            <p:spPr bwMode="auto">
              <a:xfrm>
                <a:off x="4316" y="1438"/>
                <a:ext cx="71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3" name="Rectangle 360">
                <a:extLst>
                  <a:ext uri="{FF2B5EF4-FFF2-40B4-BE49-F238E27FC236}">
                    <a16:creationId xmlns:a16="http://schemas.microsoft.com/office/drawing/2014/main" id="{C23646EA-30B7-612C-7729-2249183FEC1A}"/>
                  </a:ext>
                </a:extLst>
              </p:cNvPr>
              <p:cNvSpPr>
                <a:spLocks noChangeArrowheads="1"/>
              </p:cNvSpPr>
              <p:nvPr/>
            </p:nvSpPr>
            <p:spPr bwMode="auto">
              <a:xfrm>
                <a:off x="4316" y="1426"/>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884" name="Rectangle 361">
                <a:extLst>
                  <a:ext uri="{FF2B5EF4-FFF2-40B4-BE49-F238E27FC236}">
                    <a16:creationId xmlns:a16="http://schemas.microsoft.com/office/drawing/2014/main" id="{D35B657E-E8E2-7741-EF6F-6D9797A6B1D3}"/>
                  </a:ext>
                </a:extLst>
              </p:cNvPr>
              <p:cNvSpPr>
                <a:spLocks noChangeArrowheads="1"/>
              </p:cNvSpPr>
              <p:nvPr/>
            </p:nvSpPr>
            <p:spPr bwMode="auto">
              <a:xfrm>
                <a:off x="4374"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85" name="Rectangle 362">
                <a:extLst>
                  <a:ext uri="{FF2B5EF4-FFF2-40B4-BE49-F238E27FC236}">
                    <a16:creationId xmlns:a16="http://schemas.microsoft.com/office/drawing/2014/main" id="{6335F35F-A819-618A-522C-B5AFEDB611C1}"/>
                  </a:ext>
                </a:extLst>
              </p:cNvPr>
              <p:cNvSpPr>
                <a:spLocks noChangeArrowheads="1"/>
              </p:cNvSpPr>
              <p:nvPr/>
            </p:nvSpPr>
            <p:spPr bwMode="auto">
              <a:xfrm>
                <a:off x="295"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6" name="Line 363">
                <a:extLst>
                  <a:ext uri="{FF2B5EF4-FFF2-40B4-BE49-F238E27FC236}">
                    <a16:creationId xmlns:a16="http://schemas.microsoft.com/office/drawing/2014/main" id="{58933FFC-3936-C994-9730-410EB9C6DCD4}"/>
                  </a:ext>
                </a:extLst>
              </p:cNvPr>
              <p:cNvSpPr>
                <a:spLocks noChangeShapeType="1"/>
              </p:cNvSpPr>
              <p:nvPr/>
            </p:nvSpPr>
            <p:spPr bwMode="auto">
              <a:xfrm>
                <a:off x="295"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87" name="Line 364">
                <a:extLst>
                  <a:ext uri="{FF2B5EF4-FFF2-40B4-BE49-F238E27FC236}">
                    <a16:creationId xmlns:a16="http://schemas.microsoft.com/office/drawing/2014/main" id="{79803D03-0FD4-D0E7-E9CD-8354A09BA1F0}"/>
                  </a:ext>
                </a:extLst>
              </p:cNvPr>
              <p:cNvSpPr>
                <a:spLocks noChangeShapeType="1"/>
              </p:cNvSpPr>
              <p:nvPr/>
            </p:nvSpPr>
            <p:spPr bwMode="auto">
              <a:xfrm>
                <a:off x="295"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88" name="Rectangle 365">
                <a:extLst>
                  <a:ext uri="{FF2B5EF4-FFF2-40B4-BE49-F238E27FC236}">
                    <a16:creationId xmlns:a16="http://schemas.microsoft.com/office/drawing/2014/main" id="{A59EAEFB-43B3-645D-2F1C-16BAA7523273}"/>
                  </a:ext>
                </a:extLst>
              </p:cNvPr>
              <p:cNvSpPr>
                <a:spLocks noChangeArrowheads="1"/>
              </p:cNvSpPr>
              <p:nvPr/>
            </p:nvSpPr>
            <p:spPr bwMode="auto">
              <a:xfrm>
                <a:off x="300" y="1433"/>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9" name="Line 366">
                <a:extLst>
                  <a:ext uri="{FF2B5EF4-FFF2-40B4-BE49-F238E27FC236}">
                    <a16:creationId xmlns:a16="http://schemas.microsoft.com/office/drawing/2014/main" id="{27895A91-E6D7-9496-68F5-80BEC1A8B2F4}"/>
                  </a:ext>
                </a:extLst>
              </p:cNvPr>
              <p:cNvSpPr>
                <a:spLocks noChangeShapeType="1"/>
              </p:cNvSpPr>
              <p:nvPr/>
            </p:nvSpPr>
            <p:spPr bwMode="auto">
              <a:xfrm>
                <a:off x="300" y="1433"/>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0" name="Rectangle 367">
                <a:extLst>
                  <a:ext uri="{FF2B5EF4-FFF2-40B4-BE49-F238E27FC236}">
                    <a16:creationId xmlns:a16="http://schemas.microsoft.com/office/drawing/2014/main" id="{CE1ED602-9931-3647-57E4-6476F9643CFF}"/>
                  </a:ext>
                </a:extLst>
              </p:cNvPr>
              <p:cNvSpPr>
                <a:spLocks noChangeArrowheads="1"/>
              </p:cNvSpPr>
              <p:nvPr/>
            </p:nvSpPr>
            <p:spPr bwMode="auto">
              <a:xfrm>
                <a:off x="956"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1" name="Line 368">
                <a:extLst>
                  <a:ext uri="{FF2B5EF4-FFF2-40B4-BE49-F238E27FC236}">
                    <a16:creationId xmlns:a16="http://schemas.microsoft.com/office/drawing/2014/main" id="{3E9A382F-2E72-0910-36B3-900D7D543360}"/>
                  </a:ext>
                </a:extLst>
              </p:cNvPr>
              <p:cNvSpPr>
                <a:spLocks noChangeShapeType="1"/>
              </p:cNvSpPr>
              <p:nvPr/>
            </p:nvSpPr>
            <p:spPr bwMode="auto">
              <a:xfrm>
                <a:off x="956"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2" name="Line 369">
                <a:extLst>
                  <a:ext uri="{FF2B5EF4-FFF2-40B4-BE49-F238E27FC236}">
                    <a16:creationId xmlns:a16="http://schemas.microsoft.com/office/drawing/2014/main" id="{9C5DB566-9E43-F32C-4DE9-CEAED6A282FC}"/>
                  </a:ext>
                </a:extLst>
              </p:cNvPr>
              <p:cNvSpPr>
                <a:spLocks noChangeShapeType="1"/>
              </p:cNvSpPr>
              <p:nvPr/>
            </p:nvSpPr>
            <p:spPr bwMode="auto">
              <a:xfrm>
                <a:off x="956"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3" name="Rectangle 370">
                <a:extLst>
                  <a:ext uri="{FF2B5EF4-FFF2-40B4-BE49-F238E27FC236}">
                    <a16:creationId xmlns:a16="http://schemas.microsoft.com/office/drawing/2014/main" id="{BE199919-01D1-4A5A-A46B-9F4412652ED8}"/>
                  </a:ext>
                </a:extLst>
              </p:cNvPr>
              <p:cNvSpPr>
                <a:spLocks noChangeArrowheads="1"/>
              </p:cNvSpPr>
              <p:nvPr/>
            </p:nvSpPr>
            <p:spPr bwMode="auto">
              <a:xfrm>
                <a:off x="961" y="1433"/>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4" name="Line 371">
                <a:extLst>
                  <a:ext uri="{FF2B5EF4-FFF2-40B4-BE49-F238E27FC236}">
                    <a16:creationId xmlns:a16="http://schemas.microsoft.com/office/drawing/2014/main" id="{118BB2AE-BDB6-BC27-147A-4ED0F24CA81F}"/>
                  </a:ext>
                </a:extLst>
              </p:cNvPr>
              <p:cNvSpPr>
                <a:spLocks noChangeShapeType="1"/>
              </p:cNvSpPr>
              <p:nvPr/>
            </p:nvSpPr>
            <p:spPr bwMode="auto">
              <a:xfrm>
                <a:off x="961" y="1433"/>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5" name="Rectangle 372">
                <a:extLst>
                  <a:ext uri="{FF2B5EF4-FFF2-40B4-BE49-F238E27FC236}">
                    <a16:creationId xmlns:a16="http://schemas.microsoft.com/office/drawing/2014/main" id="{75AF935F-FE9C-A09D-9B2F-3A902053805F}"/>
                  </a:ext>
                </a:extLst>
              </p:cNvPr>
              <p:cNvSpPr>
                <a:spLocks noChangeArrowheads="1"/>
              </p:cNvSpPr>
              <p:nvPr/>
            </p:nvSpPr>
            <p:spPr bwMode="auto">
              <a:xfrm>
                <a:off x="1633" y="143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6" name="Line 373">
                <a:extLst>
                  <a:ext uri="{FF2B5EF4-FFF2-40B4-BE49-F238E27FC236}">
                    <a16:creationId xmlns:a16="http://schemas.microsoft.com/office/drawing/2014/main" id="{169640EC-1F53-F7AB-71D7-9C03D9BB72F5}"/>
                  </a:ext>
                </a:extLst>
              </p:cNvPr>
              <p:cNvSpPr>
                <a:spLocks noChangeShapeType="1"/>
              </p:cNvSpPr>
              <p:nvPr/>
            </p:nvSpPr>
            <p:spPr bwMode="auto">
              <a:xfrm>
                <a:off x="1633" y="143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7" name="Line 374">
                <a:extLst>
                  <a:ext uri="{FF2B5EF4-FFF2-40B4-BE49-F238E27FC236}">
                    <a16:creationId xmlns:a16="http://schemas.microsoft.com/office/drawing/2014/main" id="{BE6EF736-07DD-75E2-B0C0-FCEF6155EF72}"/>
                  </a:ext>
                </a:extLst>
              </p:cNvPr>
              <p:cNvSpPr>
                <a:spLocks noChangeShapeType="1"/>
              </p:cNvSpPr>
              <p:nvPr/>
            </p:nvSpPr>
            <p:spPr bwMode="auto">
              <a:xfrm>
                <a:off x="1633"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8" name="Rectangle 375">
                <a:extLst>
                  <a:ext uri="{FF2B5EF4-FFF2-40B4-BE49-F238E27FC236}">
                    <a16:creationId xmlns:a16="http://schemas.microsoft.com/office/drawing/2014/main" id="{0971F1BB-54ED-0221-B392-90F924FB09A5}"/>
                  </a:ext>
                </a:extLst>
              </p:cNvPr>
              <p:cNvSpPr>
                <a:spLocks noChangeArrowheads="1"/>
              </p:cNvSpPr>
              <p:nvPr/>
            </p:nvSpPr>
            <p:spPr bwMode="auto">
              <a:xfrm>
                <a:off x="1637" y="1433"/>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9" name="Line 376">
                <a:extLst>
                  <a:ext uri="{FF2B5EF4-FFF2-40B4-BE49-F238E27FC236}">
                    <a16:creationId xmlns:a16="http://schemas.microsoft.com/office/drawing/2014/main" id="{EE3C54B6-B321-8FE9-25B0-67B239DDC12E}"/>
                  </a:ext>
                </a:extLst>
              </p:cNvPr>
              <p:cNvSpPr>
                <a:spLocks noChangeShapeType="1"/>
              </p:cNvSpPr>
              <p:nvPr/>
            </p:nvSpPr>
            <p:spPr bwMode="auto">
              <a:xfrm>
                <a:off x="1637" y="1433"/>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0" name="Rectangle 377">
                <a:extLst>
                  <a:ext uri="{FF2B5EF4-FFF2-40B4-BE49-F238E27FC236}">
                    <a16:creationId xmlns:a16="http://schemas.microsoft.com/office/drawing/2014/main" id="{F59493F1-1937-661F-2291-DA84AD0A8723}"/>
                  </a:ext>
                </a:extLst>
              </p:cNvPr>
              <p:cNvSpPr>
                <a:spLocks noChangeArrowheads="1"/>
              </p:cNvSpPr>
              <p:nvPr/>
            </p:nvSpPr>
            <p:spPr bwMode="auto">
              <a:xfrm>
                <a:off x="2376"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1" name="Line 378">
                <a:extLst>
                  <a:ext uri="{FF2B5EF4-FFF2-40B4-BE49-F238E27FC236}">
                    <a16:creationId xmlns:a16="http://schemas.microsoft.com/office/drawing/2014/main" id="{D9A5303E-CA40-8706-2873-D939910BA943}"/>
                  </a:ext>
                </a:extLst>
              </p:cNvPr>
              <p:cNvSpPr>
                <a:spLocks noChangeShapeType="1"/>
              </p:cNvSpPr>
              <p:nvPr/>
            </p:nvSpPr>
            <p:spPr bwMode="auto">
              <a:xfrm>
                <a:off x="2376"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2" name="Line 379">
                <a:extLst>
                  <a:ext uri="{FF2B5EF4-FFF2-40B4-BE49-F238E27FC236}">
                    <a16:creationId xmlns:a16="http://schemas.microsoft.com/office/drawing/2014/main" id="{CBFFBFD3-A475-C11A-0DE4-5C358E6F108D}"/>
                  </a:ext>
                </a:extLst>
              </p:cNvPr>
              <p:cNvSpPr>
                <a:spLocks noChangeShapeType="1"/>
              </p:cNvSpPr>
              <p:nvPr/>
            </p:nvSpPr>
            <p:spPr bwMode="auto">
              <a:xfrm>
                <a:off x="2376"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3" name="Rectangle 380">
                <a:extLst>
                  <a:ext uri="{FF2B5EF4-FFF2-40B4-BE49-F238E27FC236}">
                    <a16:creationId xmlns:a16="http://schemas.microsoft.com/office/drawing/2014/main" id="{105A445E-7C13-2509-3012-129ECFFA1700}"/>
                  </a:ext>
                </a:extLst>
              </p:cNvPr>
              <p:cNvSpPr>
                <a:spLocks noChangeArrowheads="1"/>
              </p:cNvSpPr>
              <p:nvPr/>
            </p:nvSpPr>
            <p:spPr bwMode="auto">
              <a:xfrm>
                <a:off x="2381" y="1433"/>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4" name="Line 381">
                <a:extLst>
                  <a:ext uri="{FF2B5EF4-FFF2-40B4-BE49-F238E27FC236}">
                    <a16:creationId xmlns:a16="http://schemas.microsoft.com/office/drawing/2014/main" id="{05942F34-8DC4-4629-4EA4-9231FD203E4A}"/>
                  </a:ext>
                </a:extLst>
              </p:cNvPr>
              <p:cNvSpPr>
                <a:spLocks noChangeShapeType="1"/>
              </p:cNvSpPr>
              <p:nvPr/>
            </p:nvSpPr>
            <p:spPr bwMode="auto">
              <a:xfrm>
                <a:off x="2381" y="1433"/>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5" name="Rectangle 382">
                <a:extLst>
                  <a:ext uri="{FF2B5EF4-FFF2-40B4-BE49-F238E27FC236}">
                    <a16:creationId xmlns:a16="http://schemas.microsoft.com/office/drawing/2014/main" id="{E098E847-559F-2910-948D-18568A58999F}"/>
                  </a:ext>
                </a:extLst>
              </p:cNvPr>
              <p:cNvSpPr>
                <a:spLocks noChangeArrowheads="1"/>
              </p:cNvSpPr>
              <p:nvPr/>
            </p:nvSpPr>
            <p:spPr bwMode="auto">
              <a:xfrm>
                <a:off x="2917"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6" name="Line 383">
                <a:extLst>
                  <a:ext uri="{FF2B5EF4-FFF2-40B4-BE49-F238E27FC236}">
                    <a16:creationId xmlns:a16="http://schemas.microsoft.com/office/drawing/2014/main" id="{94214946-CE2B-CBEB-77C8-8215CCCFBAAC}"/>
                  </a:ext>
                </a:extLst>
              </p:cNvPr>
              <p:cNvSpPr>
                <a:spLocks noChangeShapeType="1"/>
              </p:cNvSpPr>
              <p:nvPr/>
            </p:nvSpPr>
            <p:spPr bwMode="auto">
              <a:xfrm>
                <a:off x="2917"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7" name="Line 384">
                <a:extLst>
                  <a:ext uri="{FF2B5EF4-FFF2-40B4-BE49-F238E27FC236}">
                    <a16:creationId xmlns:a16="http://schemas.microsoft.com/office/drawing/2014/main" id="{DE022F69-30BD-71FD-B148-C37702F6D2DC}"/>
                  </a:ext>
                </a:extLst>
              </p:cNvPr>
              <p:cNvSpPr>
                <a:spLocks noChangeShapeType="1"/>
              </p:cNvSpPr>
              <p:nvPr/>
            </p:nvSpPr>
            <p:spPr bwMode="auto">
              <a:xfrm>
                <a:off x="2917"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8" name="Rectangle 385">
                <a:extLst>
                  <a:ext uri="{FF2B5EF4-FFF2-40B4-BE49-F238E27FC236}">
                    <a16:creationId xmlns:a16="http://schemas.microsoft.com/office/drawing/2014/main" id="{341FCC95-FB3B-0FE0-8BC2-D7C8858E656B}"/>
                  </a:ext>
                </a:extLst>
              </p:cNvPr>
              <p:cNvSpPr>
                <a:spLocks noChangeArrowheads="1"/>
              </p:cNvSpPr>
              <p:nvPr/>
            </p:nvSpPr>
            <p:spPr bwMode="auto">
              <a:xfrm>
                <a:off x="2922" y="1433"/>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9" name="Line 386">
                <a:extLst>
                  <a:ext uri="{FF2B5EF4-FFF2-40B4-BE49-F238E27FC236}">
                    <a16:creationId xmlns:a16="http://schemas.microsoft.com/office/drawing/2014/main" id="{4F5F695B-8EDD-DF9A-CC41-03819CEC02E2}"/>
                  </a:ext>
                </a:extLst>
              </p:cNvPr>
              <p:cNvSpPr>
                <a:spLocks noChangeShapeType="1"/>
              </p:cNvSpPr>
              <p:nvPr/>
            </p:nvSpPr>
            <p:spPr bwMode="auto">
              <a:xfrm>
                <a:off x="2922" y="1433"/>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0" name="Rectangle 387">
                <a:extLst>
                  <a:ext uri="{FF2B5EF4-FFF2-40B4-BE49-F238E27FC236}">
                    <a16:creationId xmlns:a16="http://schemas.microsoft.com/office/drawing/2014/main" id="{6682FCEF-1FAC-6911-F0EC-00651C1E02A0}"/>
                  </a:ext>
                </a:extLst>
              </p:cNvPr>
              <p:cNvSpPr>
                <a:spLocks noChangeArrowheads="1"/>
              </p:cNvSpPr>
              <p:nvPr/>
            </p:nvSpPr>
            <p:spPr bwMode="auto">
              <a:xfrm>
                <a:off x="3589"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1" name="Line 388">
                <a:extLst>
                  <a:ext uri="{FF2B5EF4-FFF2-40B4-BE49-F238E27FC236}">
                    <a16:creationId xmlns:a16="http://schemas.microsoft.com/office/drawing/2014/main" id="{2C78BEBE-CA57-E4F3-F608-598F31592611}"/>
                  </a:ext>
                </a:extLst>
              </p:cNvPr>
              <p:cNvSpPr>
                <a:spLocks noChangeShapeType="1"/>
              </p:cNvSpPr>
              <p:nvPr/>
            </p:nvSpPr>
            <p:spPr bwMode="auto">
              <a:xfrm>
                <a:off x="3589"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2" name="Line 389">
                <a:extLst>
                  <a:ext uri="{FF2B5EF4-FFF2-40B4-BE49-F238E27FC236}">
                    <a16:creationId xmlns:a16="http://schemas.microsoft.com/office/drawing/2014/main" id="{608E5364-8654-B450-AEF9-E758BC87BA55}"/>
                  </a:ext>
                </a:extLst>
              </p:cNvPr>
              <p:cNvSpPr>
                <a:spLocks noChangeShapeType="1"/>
              </p:cNvSpPr>
              <p:nvPr/>
            </p:nvSpPr>
            <p:spPr bwMode="auto">
              <a:xfrm>
                <a:off x="3589"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3" name="Rectangle 390">
                <a:extLst>
                  <a:ext uri="{FF2B5EF4-FFF2-40B4-BE49-F238E27FC236}">
                    <a16:creationId xmlns:a16="http://schemas.microsoft.com/office/drawing/2014/main" id="{457B3127-9151-48BD-2841-DE530A67500B}"/>
                  </a:ext>
                </a:extLst>
              </p:cNvPr>
              <p:cNvSpPr>
                <a:spLocks noChangeArrowheads="1"/>
              </p:cNvSpPr>
              <p:nvPr/>
            </p:nvSpPr>
            <p:spPr bwMode="auto">
              <a:xfrm>
                <a:off x="3594" y="1433"/>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4" name="Line 391">
                <a:extLst>
                  <a:ext uri="{FF2B5EF4-FFF2-40B4-BE49-F238E27FC236}">
                    <a16:creationId xmlns:a16="http://schemas.microsoft.com/office/drawing/2014/main" id="{5D09E9A4-7B0A-E0B5-F078-6539805456BF}"/>
                  </a:ext>
                </a:extLst>
              </p:cNvPr>
              <p:cNvSpPr>
                <a:spLocks noChangeShapeType="1"/>
              </p:cNvSpPr>
              <p:nvPr/>
            </p:nvSpPr>
            <p:spPr bwMode="auto">
              <a:xfrm>
                <a:off x="3594" y="1433"/>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5" name="Rectangle 392">
                <a:extLst>
                  <a:ext uri="{FF2B5EF4-FFF2-40B4-BE49-F238E27FC236}">
                    <a16:creationId xmlns:a16="http://schemas.microsoft.com/office/drawing/2014/main" id="{0BB33F68-1FE2-9278-6F58-F50905DDBC15}"/>
                  </a:ext>
                </a:extLst>
              </p:cNvPr>
              <p:cNvSpPr>
                <a:spLocks noChangeArrowheads="1"/>
              </p:cNvSpPr>
              <p:nvPr/>
            </p:nvSpPr>
            <p:spPr bwMode="auto">
              <a:xfrm>
                <a:off x="4262" y="143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6" name="Line 393">
                <a:extLst>
                  <a:ext uri="{FF2B5EF4-FFF2-40B4-BE49-F238E27FC236}">
                    <a16:creationId xmlns:a16="http://schemas.microsoft.com/office/drawing/2014/main" id="{C8D40107-6B04-13D0-85CA-0479C78BBC52}"/>
                  </a:ext>
                </a:extLst>
              </p:cNvPr>
              <p:cNvSpPr>
                <a:spLocks noChangeShapeType="1"/>
              </p:cNvSpPr>
              <p:nvPr/>
            </p:nvSpPr>
            <p:spPr bwMode="auto">
              <a:xfrm>
                <a:off x="4262" y="143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7" name="Line 394">
                <a:extLst>
                  <a:ext uri="{FF2B5EF4-FFF2-40B4-BE49-F238E27FC236}">
                    <a16:creationId xmlns:a16="http://schemas.microsoft.com/office/drawing/2014/main" id="{3A03FB93-5C2C-CBFA-0BE8-FF2717A8595F}"/>
                  </a:ext>
                </a:extLst>
              </p:cNvPr>
              <p:cNvSpPr>
                <a:spLocks noChangeShapeType="1"/>
              </p:cNvSpPr>
              <p:nvPr/>
            </p:nvSpPr>
            <p:spPr bwMode="auto">
              <a:xfrm>
                <a:off x="4262"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8" name="Rectangle 395">
                <a:extLst>
                  <a:ext uri="{FF2B5EF4-FFF2-40B4-BE49-F238E27FC236}">
                    <a16:creationId xmlns:a16="http://schemas.microsoft.com/office/drawing/2014/main" id="{40764CFE-E677-E9E8-9BBB-C955A61E7D98}"/>
                  </a:ext>
                </a:extLst>
              </p:cNvPr>
              <p:cNvSpPr>
                <a:spLocks noChangeArrowheads="1"/>
              </p:cNvSpPr>
              <p:nvPr/>
            </p:nvSpPr>
            <p:spPr bwMode="auto">
              <a:xfrm>
                <a:off x="4266" y="1433"/>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9" name="Line 396">
                <a:extLst>
                  <a:ext uri="{FF2B5EF4-FFF2-40B4-BE49-F238E27FC236}">
                    <a16:creationId xmlns:a16="http://schemas.microsoft.com/office/drawing/2014/main" id="{4A42D460-7D07-7E37-3E02-EEC1F0639456}"/>
                  </a:ext>
                </a:extLst>
              </p:cNvPr>
              <p:cNvSpPr>
                <a:spLocks noChangeShapeType="1"/>
              </p:cNvSpPr>
              <p:nvPr/>
            </p:nvSpPr>
            <p:spPr bwMode="auto">
              <a:xfrm>
                <a:off x="4266" y="1433"/>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0" name="Rectangle 397">
                <a:extLst>
                  <a:ext uri="{FF2B5EF4-FFF2-40B4-BE49-F238E27FC236}">
                    <a16:creationId xmlns:a16="http://schemas.microsoft.com/office/drawing/2014/main" id="{9C70769C-ACA0-BDC1-725C-FA309E01602D}"/>
                  </a:ext>
                </a:extLst>
              </p:cNvPr>
              <p:cNvSpPr>
                <a:spLocks noChangeArrowheads="1"/>
              </p:cNvSpPr>
              <p:nvPr/>
            </p:nvSpPr>
            <p:spPr bwMode="auto">
              <a:xfrm>
                <a:off x="5083"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1" name="Line 398">
                <a:extLst>
                  <a:ext uri="{FF2B5EF4-FFF2-40B4-BE49-F238E27FC236}">
                    <a16:creationId xmlns:a16="http://schemas.microsoft.com/office/drawing/2014/main" id="{89C68B32-57B3-2916-03E1-0B3380620C06}"/>
                  </a:ext>
                </a:extLst>
              </p:cNvPr>
              <p:cNvSpPr>
                <a:spLocks noChangeShapeType="1"/>
              </p:cNvSpPr>
              <p:nvPr/>
            </p:nvSpPr>
            <p:spPr bwMode="auto">
              <a:xfrm>
                <a:off x="5083"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2" name="Line 399">
                <a:extLst>
                  <a:ext uri="{FF2B5EF4-FFF2-40B4-BE49-F238E27FC236}">
                    <a16:creationId xmlns:a16="http://schemas.microsoft.com/office/drawing/2014/main" id="{B3951DAE-EB7B-19D4-94B2-3870F2E33448}"/>
                  </a:ext>
                </a:extLst>
              </p:cNvPr>
              <p:cNvSpPr>
                <a:spLocks noChangeShapeType="1"/>
              </p:cNvSpPr>
              <p:nvPr/>
            </p:nvSpPr>
            <p:spPr bwMode="auto">
              <a:xfrm>
                <a:off x="5083"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3" name="Rectangle 400">
                <a:extLst>
                  <a:ext uri="{FF2B5EF4-FFF2-40B4-BE49-F238E27FC236}">
                    <a16:creationId xmlns:a16="http://schemas.microsoft.com/office/drawing/2014/main" id="{54AA3D32-3B0E-F4B8-BD89-5DBB10C7A59D}"/>
                  </a:ext>
                </a:extLst>
              </p:cNvPr>
              <p:cNvSpPr>
                <a:spLocks noChangeArrowheads="1"/>
              </p:cNvSpPr>
              <p:nvPr/>
            </p:nvSpPr>
            <p:spPr bwMode="auto">
              <a:xfrm>
                <a:off x="295"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4" name="Line 401">
                <a:extLst>
                  <a:ext uri="{FF2B5EF4-FFF2-40B4-BE49-F238E27FC236}">
                    <a16:creationId xmlns:a16="http://schemas.microsoft.com/office/drawing/2014/main" id="{6A15BF71-0E2D-BFF2-1474-7D49CC5A0DC1}"/>
                  </a:ext>
                </a:extLst>
              </p:cNvPr>
              <p:cNvSpPr>
                <a:spLocks noChangeShapeType="1"/>
              </p:cNvSpPr>
              <p:nvPr/>
            </p:nvSpPr>
            <p:spPr bwMode="auto">
              <a:xfrm>
                <a:off x="295"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5" name="Rectangle 402">
                <a:extLst>
                  <a:ext uri="{FF2B5EF4-FFF2-40B4-BE49-F238E27FC236}">
                    <a16:creationId xmlns:a16="http://schemas.microsoft.com/office/drawing/2014/main" id="{262F7C59-535F-6D8C-89F8-2A91BCB273CD}"/>
                  </a:ext>
                </a:extLst>
              </p:cNvPr>
              <p:cNvSpPr>
                <a:spLocks noChangeArrowheads="1"/>
              </p:cNvSpPr>
              <p:nvPr/>
            </p:nvSpPr>
            <p:spPr bwMode="auto">
              <a:xfrm>
                <a:off x="956"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6" name="Line 403">
                <a:extLst>
                  <a:ext uri="{FF2B5EF4-FFF2-40B4-BE49-F238E27FC236}">
                    <a16:creationId xmlns:a16="http://schemas.microsoft.com/office/drawing/2014/main" id="{CB09A292-D3E6-1EA0-1BD8-A3AAED3A9014}"/>
                  </a:ext>
                </a:extLst>
              </p:cNvPr>
              <p:cNvSpPr>
                <a:spLocks noChangeShapeType="1"/>
              </p:cNvSpPr>
              <p:nvPr/>
            </p:nvSpPr>
            <p:spPr bwMode="auto">
              <a:xfrm>
                <a:off x="956"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7" name="Rectangle 404">
                <a:extLst>
                  <a:ext uri="{FF2B5EF4-FFF2-40B4-BE49-F238E27FC236}">
                    <a16:creationId xmlns:a16="http://schemas.microsoft.com/office/drawing/2014/main" id="{2E8EE96F-3495-EF41-B714-39AEF8C385CD}"/>
                  </a:ext>
                </a:extLst>
              </p:cNvPr>
              <p:cNvSpPr>
                <a:spLocks noChangeArrowheads="1"/>
              </p:cNvSpPr>
              <p:nvPr/>
            </p:nvSpPr>
            <p:spPr bwMode="auto">
              <a:xfrm>
                <a:off x="1633" y="1438"/>
                <a:ext cx="4"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8" name="Line 405">
                <a:extLst>
                  <a:ext uri="{FF2B5EF4-FFF2-40B4-BE49-F238E27FC236}">
                    <a16:creationId xmlns:a16="http://schemas.microsoft.com/office/drawing/2014/main" id="{0AE1B27A-6755-5A3D-ABFE-A9EA044F6E00}"/>
                  </a:ext>
                </a:extLst>
              </p:cNvPr>
              <p:cNvSpPr>
                <a:spLocks noChangeShapeType="1"/>
              </p:cNvSpPr>
              <p:nvPr/>
            </p:nvSpPr>
            <p:spPr bwMode="auto">
              <a:xfrm>
                <a:off x="1633"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9" name="Rectangle 406">
                <a:extLst>
                  <a:ext uri="{FF2B5EF4-FFF2-40B4-BE49-F238E27FC236}">
                    <a16:creationId xmlns:a16="http://schemas.microsoft.com/office/drawing/2014/main" id="{752E27D2-6482-FDE6-F417-3A60A0028966}"/>
                  </a:ext>
                </a:extLst>
              </p:cNvPr>
              <p:cNvSpPr>
                <a:spLocks noChangeArrowheads="1"/>
              </p:cNvSpPr>
              <p:nvPr/>
            </p:nvSpPr>
            <p:spPr bwMode="auto">
              <a:xfrm>
                <a:off x="2376"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0" name="Line 407">
                <a:extLst>
                  <a:ext uri="{FF2B5EF4-FFF2-40B4-BE49-F238E27FC236}">
                    <a16:creationId xmlns:a16="http://schemas.microsoft.com/office/drawing/2014/main" id="{394986C0-6918-4E22-0D5A-E911C2E39D94}"/>
                  </a:ext>
                </a:extLst>
              </p:cNvPr>
              <p:cNvSpPr>
                <a:spLocks noChangeShapeType="1"/>
              </p:cNvSpPr>
              <p:nvPr/>
            </p:nvSpPr>
            <p:spPr bwMode="auto">
              <a:xfrm>
                <a:off x="2376"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03" name="Group 609">
              <a:extLst>
                <a:ext uri="{FF2B5EF4-FFF2-40B4-BE49-F238E27FC236}">
                  <a16:creationId xmlns:a16="http://schemas.microsoft.com/office/drawing/2014/main" id="{4540D987-3E26-681D-16DB-29E4256168C1}"/>
                </a:ext>
              </a:extLst>
            </p:cNvPr>
            <p:cNvGrpSpPr>
              <a:grpSpLocks/>
            </p:cNvGrpSpPr>
            <p:nvPr/>
          </p:nvGrpSpPr>
          <p:grpSpPr bwMode="auto">
            <a:xfrm>
              <a:off x="295" y="1438"/>
              <a:ext cx="4793" cy="414"/>
              <a:chOff x="295" y="1438"/>
              <a:chExt cx="4793" cy="414"/>
            </a:xfrm>
          </p:grpSpPr>
          <p:sp>
            <p:nvSpPr>
              <p:cNvPr id="55531" name="Rectangle 409">
                <a:extLst>
                  <a:ext uri="{FF2B5EF4-FFF2-40B4-BE49-F238E27FC236}">
                    <a16:creationId xmlns:a16="http://schemas.microsoft.com/office/drawing/2014/main" id="{80EDD402-A7D8-D665-69CA-BE7DD9BAEC07}"/>
                  </a:ext>
                </a:extLst>
              </p:cNvPr>
              <p:cNvSpPr>
                <a:spLocks noChangeArrowheads="1"/>
              </p:cNvSpPr>
              <p:nvPr/>
            </p:nvSpPr>
            <p:spPr bwMode="auto">
              <a:xfrm>
                <a:off x="2917"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2" name="Line 410">
                <a:extLst>
                  <a:ext uri="{FF2B5EF4-FFF2-40B4-BE49-F238E27FC236}">
                    <a16:creationId xmlns:a16="http://schemas.microsoft.com/office/drawing/2014/main" id="{DBD85C83-A353-D039-6A9E-48CDA792CF61}"/>
                  </a:ext>
                </a:extLst>
              </p:cNvPr>
              <p:cNvSpPr>
                <a:spLocks noChangeShapeType="1"/>
              </p:cNvSpPr>
              <p:nvPr/>
            </p:nvSpPr>
            <p:spPr bwMode="auto">
              <a:xfrm>
                <a:off x="2917"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3" name="Rectangle 411">
                <a:extLst>
                  <a:ext uri="{FF2B5EF4-FFF2-40B4-BE49-F238E27FC236}">
                    <a16:creationId xmlns:a16="http://schemas.microsoft.com/office/drawing/2014/main" id="{7121D374-78CF-099D-8CB9-8D8E7D2A9C84}"/>
                  </a:ext>
                </a:extLst>
              </p:cNvPr>
              <p:cNvSpPr>
                <a:spLocks noChangeArrowheads="1"/>
              </p:cNvSpPr>
              <p:nvPr/>
            </p:nvSpPr>
            <p:spPr bwMode="auto">
              <a:xfrm>
                <a:off x="3589"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4" name="Line 412">
                <a:extLst>
                  <a:ext uri="{FF2B5EF4-FFF2-40B4-BE49-F238E27FC236}">
                    <a16:creationId xmlns:a16="http://schemas.microsoft.com/office/drawing/2014/main" id="{7608A92C-AD6A-5821-F97A-A19432D37CFD}"/>
                  </a:ext>
                </a:extLst>
              </p:cNvPr>
              <p:cNvSpPr>
                <a:spLocks noChangeShapeType="1"/>
              </p:cNvSpPr>
              <p:nvPr/>
            </p:nvSpPr>
            <p:spPr bwMode="auto">
              <a:xfrm>
                <a:off x="3589"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5" name="Rectangle 413">
                <a:extLst>
                  <a:ext uri="{FF2B5EF4-FFF2-40B4-BE49-F238E27FC236}">
                    <a16:creationId xmlns:a16="http://schemas.microsoft.com/office/drawing/2014/main" id="{362AD08A-0EB9-CCE6-FEE5-51170FEA1106}"/>
                  </a:ext>
                </a:extLst>
              </p:cNvPr>
              <p:cNvSpPr>
                <a:spLocks noChangeArrowheads="1"/>
              </p:cNvSpPr>
              <p:nvPr/>
            </p:nvSpPr>
            <p:spPr bwMode="auto">
              <a:xfrm>
                <a:off x="4262" y="1438"/>
                <a:ext cx="4"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6" name="Line 414">
                <a:extLst>
                  <a:ext uri="{FF2B5EF4-FFF2-40B4-BE49-F238E27FC236}">
                    <a16:creationId xmlns:a16="http://schemas.microsoft.com/office/drawing/2014/main" id="{2457F0C1-B8BA-BE8A-F1CC-BC5BFD967A46}"/>
                  </a:ext>
                </a:extLst>
              </p:cNvPr>
              <p:cNvSpPr>
                <a:spLocks noChangeShapeType="1"/>
              </p:cNvSpPr>
              <p:nvPr/>
            </p:nvSpPr>
            <p:spPr bwMode="auto">
              <a:xfrm>
                <a:off x="4262"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7" name="Rectangle 415">
                <a:extLst>
                  <a:ext uri="{FF2B5EF4-FFF2-40B4-BE49-F238E27FC236}">
                    <a16:creationId xmlns:a16="http://schemas.microsoft.com/office/drawing/2014/main" id="{89FED277-39FA-FB12-EBAD-F6447D5248DC}"/>
                  </a:ext>
                </a:extLst>
              </p:cNvPr>
              <p:cNvSpPr>
                <a:spLocks noChangeArrowheads="1"/>
              </p:cNvSpPr>
              <p:nvPr/>
            </p:nvSpPr>
            <p:spPr bwMode="auto">
              <a:xfrm>
                <a:off x="5083"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8" name="Line 416">
                <a:extLst>
                  <a:ext uri="{FF2B5EF4-FFF2-40B4-BE49-F238E27FC236}">
                    <a16:creationId xmlns:a16="http://schemas.microsoft.com/office/drawing/2014/main" id="{CB7446DA-7FC5-D6D7-62B8-3561DBB4526F}"/>
                  </a:ext>
                </a:extLst>
              </p:cNvPr>
              <p:cNvSpPr>
                <a:spLocks noChangeShapeType="1"/>
              </p:cNvSpPr>
              <p:nvPr/>
            </p:nvSpPr>
            <p:spPr bwMode="auto">
              <a:xfrm>
                <a:off x="5083"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9" name="Rectangle 417">
                <a:extLst>
                  <a:ext uri="{FF2B5EF4-FFF2-40B4-BE49-F238E27FC236}">
                    <a16:creationId xmlns:a16="http://schemas.microsoft.com/office/drawing/2014/main" id="{0AD3502F-1183-89BB-D2C1-06AF8D8EEB43}"/>
                  </a:ext>
                </a:extLst>
              </p:cNvPr>
              <p:cNvSpPr>
                <a:spLocks noChangeArrowheads="1"/>
              </p:cNvSpPr>
              <p:nvPr/>
            </p:nvSpPr>
            <p:spPr bwMode="auto">
              <a:xfrm>
                <a:off x="300"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0" name="Rectangle 418">
                <a:extLst>
                  <a:ext uri="{FF2B5EF4-FFF2-40B4-BE49-F238E27FC236}">
                    <a16:creationId xmlns:a16="http://schemas.microsoft.com/office/drawing/2014/main" id="{50A333AD-AB84-F724-375D-5042BCCAB9FD}"/>
                  </a:ext>
                </a:extLst>
              </p:cNvPr>
              <p:cNvSpPr>
                <a:spLocks noChangeArrowheads="1"/>
              </p:cNvSpPr>
              <p:nvPr/>
            </p:nvSpPr>
            <p:spPr bwMode="auto">
              <a:xfrm>
                <a:off x="907"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1" name="Rectangle 419">
                <a:extLst>
                  <a:ext uri="{FF2B5EF4-FFF2-40B4-BE49-F238E27FC236}">
                    <a16:creationId xmlns:a16="http://schemas.microsoft.com/office/drawing/2014/main" id="{CED8E2B7-641D-9908-D581-243DA53EFBA9}"/>
                  </a:ext>
                </a:extLst>
              </p:cNvPr>
              <p:cNvSpPr>
                <a:spLocks noChangeArrowheads="1"/>
              </p:cNvSpPr>
              <p:nvPr/>
            </p:nvSpPr>
            <p:spPr bwMode="auto">
              <a:xfrm>
                <a:off x="349" y="1576"/>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2" name="Rectangle 420">
                <a:extLst>
                  <a:ext uri="{FF2B5EF4-FFF2-40B4-BE49-F238E27FC236}">
                    <a16:creationId xmlns:a16="http://schemas.microsoft.com/office/drawing/2014/main" id="{A981339F-05C3-4798-D593-45BC96D1802A}"/>
                  </a:ext>
                </a:extLst>
              </p:cNvPr>
              <p:cNvSpPr>
                <a:spLocks noChangeArrowheads="1"/>
              </p:cNvSpPr>
              <p:nvPr/>
            </p:nvSpPr>
            <p:spPr bwMode="auto">
              <a:xfrm>
                <a:off x="349" y="1565"/>
                <a:ext cx="42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Unlikely</a:t>
                </a:r>
                <a:endParaRPr lang="en-US" altLang="en-US"/>
              </a:p>
            </p:txBody>
          </p:sp>
          <p:sp>
            <p:nvSpPr>
              <p:cNvPr id="55543" name="Rectangle 421">
                <a:extLst>
                  <a:ext uri="{FF2B5EF4-FFF2-40B4-BE49-F238E27FC236}">
                    <a16:creationId xmlns:a16="http://schemas.microsoft.com/office/drawing/2014/main" id="{AEE49817-50A5-D856-4A06-C2B43E913D60}"/>
                  </a:ext>
                </a:extLst>
              </p:cNvPr>
              <p:cNvSpPr>
                <a:spLocks noChangeArrowheads="1"/>
              </p:cNvSpPr>
              <p:nvPr/>
            </p:nvSpPr>
            <p:spPr bwMode="auto">
              <a:xfrm>
                <a:off x="784"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544" name="Rectangle 422">
                <a:extLst>
                  <a:ext uri="{FF2B5EF4-FFF2-40B4-BE49-F238E27FC236}">
                    <a16:creationId xmlns:a16="http://schemas.microsoft.com/office/drawing/2014/main" id="{64A926AA-7D0D-0CB8-D5B7-A581CCE8F558}"/>
                  </a:ext>
                </a:extLst>
              </p:cNvPr>
              <p:cNvSpPr>
                <a:spLocks noChangeArrowheads="1"/>
              </p:cNvSpPr>
              <p:nvPr/>
            </p:nvSpPr>
            <p:spPr bwMode="auto">
              <a:xfrm>
                <a:off x="961"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5" name="Rectangle 423">
                <a:extLst>
                  <a:ext uri="{FF2B5EF4-FFF2-40B4-BE49-F238E27FC236}">
                    <a16:creationId xmlns:a16="http://schemas.microsoft.com/office/drawing/2014/main" id="{8F25B350-5DC1-9FA4-137A-C35B99898319}"/>
                  </a:ext>
                </a:extLst>
              </p:cNvPr>
              <p:cNvSpPr>
                <a:spLocks noChangeArrowheads="1"/>
              </p:cNvSpPr>
              <p:nvPr/>
            </p:nvSpPr>
            <p:spPr bwMode="auto">
              <a:xfrm>
                <a:off x="158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6" name="Rectangle 424">
                <a:extLst>
                  <a:ext uri="{FF2B5EF4-FFF2-40B4-BE49-F238E27FC236}">
                    <a16:creationId xmlns:a16="http://schemas.microsoft.com/office/drawing/2014/main" id="{9454128E-9721-2462-89E3-D3259013E66C}"/>
                  </a:ext>
                </a:extLst>
              </p:cNvPr>
              <p:cNvSpPr>
                <a:spLocks noChangeArrowheads="1"/>
              </p:cNvSpPr>
              <p:nvPr/>
            </p:nvSpPr>
            <p:spPr bwMode="auto">
              <a:xfrm>
                <a:off x="1010" y="1576"/>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7" name="Rectangle 425">
                <a:extLst>
                  <a:ext uri="{FF2B5EF4-FFF2-40B4-BE49-F238E27FC236}">
                    <a16:creationId xmlns:a16="http://schemas.microsoft.com/office/drawing/2014/main" id="{54F24546-BC1C-32C2-BCC5-ABD87AB7350D}"/>
                  </a:ext>
                </a:extLst>
              </p:cNvPr>
              <p:cNvSpPr>
                <a:spLocks noChangeArrowheads="1"/>
              </p:cNvSpPr>
              <p:nvPr/>
            </p:nvSpPr>
            <p:spPr bwMode="auto">
              <a:xfrm>
                <a:off x="1010" y="1565"/>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548" name="Rectangle 426">
                <a:extLst>
                  <a:ext uri="{FF2B5EF4-FFF2-40B4-BE49-F238E27FC236}">
                    <a16:creationId xmlns:a16="http://schemas.microsoft.com/office/drawing/2014/main" id="{DA6DBDC0-3B32-0EBC-AA3A-FF89EF5101E8}"/>
                  </a:ext>
                </a:extLst>
              </p:cNvPr>
              <p:cNvSpPr>
                <a:spLocks noChangeArrowheads="1"/>
              </p:cNvSpPr>
              <p:nvPr/>
            </p:nvSpPr>
            <p:spPr bwMode="auto">
              <a:xfrm>
                <a:off x="107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49" name="Rectangle 427">
                <a:extLst>
                  <a:ext uri="{FF2B5EF4-FFF2-40B4-BE49-F238E27FC236}">
                    <a16:creationId xmlns:a16="http://schemas.microsoft.com/office/drawing/2014/main" id="{115455C1-F0ED-E0B6-14D5-636808B0F7AA}"/>
                  </a:ext>
                </a:extLst>
              </p:cNvPr>
              <p:cNvSpPr>
                <a:spLocks noChangeArrowheads="1"/>
              </p:cNvSpPr>
              <p:nvPr/>
            </p:nvSpPr>
            <p:spPr bwMode="auto">
              <a:xfrm>
                <a:off x="1637"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0" name="Rectangle 428">
                <a:extLst>
                  <a:ext uri="{FF2B5EF4-FFF2-40B4-BE49-F238E27FC236}">
                    <a16:creationId xmlns:a16="http://schemas.microsoft.com/office/drawing/2014/main" id="{454C50BC-19E4-4A4C-541D-7BF6B0CB9F1C}"/>
                  </a:ext>
                </a:extLst>
              </p:cNvPr>
              <p:cNvSpPr>
                <a:spLocks noChangeArrowheads="1"/>
              </p:cNvSpPr>
              <p:nvPr/>
            </p:nvSpPr>
            <p:spPr bwMode="auto">
              <a:xfrm>
                <a:off x="2328" y="1576"/>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1" name="Rectangle 429">
                <a:extLst>
                  <a:ext uri="{FF2B5EF4-FFF2-40B4-BE49-F238E27FC236}">
                    <a16:creationId xmlns:a16="http://schemas.microsoft.com/office/drawing/2014/main" id="{E41FD91F-F98A-5C49-4378-EC85AD3B52D7}"/>
                  </a:ext>
                </a:extLst>
              </p:cNvPr>
              <p:cNvSpPr>
                <a:spLocks noChangeArrowheads="1"/>
              </p:cNvSpPr>
              <p:nvPr/>
            </p:nvSpPr>
            <p:spPr bwMode="auto">
              <a:xfrm>
                <a:off x="1687" y="1576"/>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2" name="Rectangle 430">
                <a:extLst>
                  <a:ext uri="{FF2B5EF4-FFF2-40B4-BE49-F238E27FC236}">
                    <a16:creationId xmlns:a16="http://schemas.microsoft.com/office/drawing/2014/main" id="{8924CDF7-007A-63B3-7B2B-D8E630C1512B}"/>
                  </a:ext>
                </a:extLst>
              </p:cNvPr>
              <p:cNvSpPr>
                <a:spLocks noChangeArrowheads="1"/>
              </p:cNvSpPr>
              <p:nvPr/>
            </p:nvSpPr>
            <p:spPr bwMode="auto">
              <a:xfrm>
                <a:off x="1687" y="1565"/>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553" name="Rectangle 431">
                <a:extLst>
                  <a:ext uri="{FF2B5EF4-FFF2-40B4-BE49-F238E27FC236}">
                    <a16:creationId xmlns:a16="http://schemas.microsoft.com/office/drawing/2014/main" id="{00EB9D29-ABC9-68FE-3044-B077425D8719}"/>
                  </a:ext>
                </a:extLst>
              </p:cNvPr>
              <p:cNvSpPr>
                <a:spLocks noChangeArrowheads="1"/>
              </p:cNvSpPr>
              <p:nvPr/>
            </p:nvSpPr>
            <p:spPr bwMode="auto">
              <a:xfrm>
                <a:off x="1749"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54" name="Rectangle 432">
                <a:extLst>
                  <a:ext uri="{FF2B5EF4-FFF2-40B4-BE49-F238E27FC236}">
                    <a16:creationId xmlns:a16="http://schemas.microsoft.com/office/drawing/2014/main" id="{6DA9E8E9-3E60-FA60-80FD-2B594F33BB86}"/>
                  </a:ext>
                </a:extLst>
              </p:cNvPr>
              <p:cNvSpPr>
                <a:spLocks noChangeArrowheads="1"/>
              </p:cNvSpPr>
              <p:nvPr/>
            </p:nvSpPr>
            <p:spPr bwMode="auto">
              <a:xfrm>
                <a:off x="2381"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5" name="Rectangle 433">
                <a:extLst>
                  <a:ext uri="{FF2B5EF4-FFF2-40B4-BE49-F238E27FC236}">
                    <a16:creationId xmlns:a16="http://schemas.microsoft.com/office/drawing/2014/main" id="{B6A76342-3149-8A1D-A092-0802FB666695}"/>
                  </a:ext>
                </a:extLst>
              </p:cNvPr>
              <p:cNvSpPr>
                <a:spLocks noChangeArrowheads="1"/>
              </p:cNvSpPr>
              <p:nvPr/>
            </p:nvSpPr>
            <p:spPr bwMode="auto">
              <a:xfrm>
                <a:off x="2868"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6" name="Rectangle 434">
                <a:extLst>
                  <a:ext uri="{FF2B5EF4-FFF2-40B4-BE49-F238E27FC236}">
                    <a16:creationId xmlns:a16="http://schemas.microsoft.com/office/drawing/2014/main" id="{B5928968-187C-BA47-4A0F-83BD90F79272}"/>
                  </a:ext>
                </a:extLst>
              </p:cNvPr>
              <p:cNvSpPr>
                <a:spLocks noChangeArrowheads="1"/>
              </p:cNvSpPr>
              <p:nvPr/>
            </p:nvSpPr>
            <p:spPr bwMode="auto">
              <a:xfrm>
                <a:off x="2430" y="1576"/>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7" name="Rectangle 435">
                <a:extLst>
                  <a:ext uri="{FF2B5EF4-FFF2-40B4-BE49-F238E27FC236}">
                    <a16:creationId xmlns:a16="http://schemas.microsoft.com/office/drawing/2014/main" id="{FF6F8FAD-1996-B275-9D6F-15FC30E65806}"/>
                  </a:ext>
                </a:extLst>
              </p:cNvPr>
              <p:cNvSpPr>
                <a:spLocks noChangeArrowheads="1"/>
              </p:cNvSpPr>
              <p:nvPr/>
            </p:nvSpPr>
            <p:spPr bwMode="auto">
              <a:xfrm>
                <a:off x="2430" y="1565"/>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558" name="Rectangle 436">
                <a:extLst>
                  <a:ext uri="{FF2B5EF4-FFF2-40B4-BE49-F238E27FC236}">
                    <a16:creationId xmlns:a16="http://schemas.microsoft.com/office/drawing/2014/main" id="{01C110B4-E767-D9F7-5A9A-A1340D80B8D5}"/>
                  </a:ext>
                </a:extLst>
              </p:cNvPr>
              <p:cNvSpPr>
                <a:spLocks noChangeArrowheads="1"/>
              </p:cNvSpPr>
              <p:nvPr/>
            </p:nvSpPr>
            <p:spPr bwMode="auto">
              <a:xfrm>
                <a:off x="2505"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59" name="Rectangle 437">
                <a:extLst>
                  <a:ext uri="{FF2B5EF4-FFF2-40B4-BE49-F238E27FC236}">
                    <a16:creationId xmlns:a16="http://schemas.microsoft.com/office/drawing/2014/main" id="{01DD3CD4-7DD8-B379-07DA-130D4195A8B8}"/>
                  </a:ext>
                </a:extLst>
              </p:cNvPr>
              <p:cNvSpPr>
                <a:spLocks noChangeArrowheads="1"/>
              </p:cNvSpPr>
              <p:nvPr/>
            </p:nvSpPr>
            <p:spPr bwMode="auto">
              <a:xfrm>
                <a:off x="2922"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0" name="Rectangle 438">
                <a:extLst>
                  <a:ext uri="{FF2B5EF4-FFF2-40B4-BE49-F238E27FC236}">
                    <a16:creationId xmlns:a16="http://schemas.microsoft.com/office/drawing/2014/main" id="{21254DDB-B368-A008-1526-6D27E613206F}"/>
                  </a:ext>
                </a:extLst>
              </p:cNvPr>
              <p:cNvSpPr>
                <a:spLocks noChangeArrowheads="1"/>
              </p:cNvSpPr>
              <p:nvPr/>
            </p:nvSpPr>
            <p:spPr bwMode="auto">
              <a:xfrm>
                <a:off x="3540"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1" name="Rectangle 439">
                <a:extLst>
                  <a:ext uri="{FF2B5EF4-FFF2-40B4-BE49-F238E27FC236}">
                    <a16:creationId xmlns:a16="http://schemas.microsoft.com/office/drawing/2014/main" id="{51AB2FBF-051A-DB09-1CBA-DE3908BCBDC6}"/>
                  </a:ext>
                </a:extLst>
              </p:cNvPr>
              <p:cNvSpPr>
                <a:spLocks noChangeArrowheads="1"/>
              </p:cNvSpPr>
              <p:nvPr/>
            </p:nvSpPr>
            <p:spPr bwMode="auto">
              <a:xfrm>
                <a:off x="2971" y="1576"/>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2" name="Rectangle 440">
                <a:extLst>
                  <a:ext uri="{FF2B5EF4-FFF2-40B4-BE49-F238E27FC236}">
                    <a16:creationId xmlns:a16="http://schemas.microsoft.com/office/drawing/2014/main" id="{6580D769-1A13-56E6-9BD2-742C800457AB}"/>
                  </a:ext>
                </a:extLst>
              </p:cNvPr>
              <p:cNvSpPr>
                <a:spLocks noChangeArrowheads="1"/>
              </p:cNvSpPr>
              <p:nvPr/>
            </p:nvSpPr>
            <p:spPr bwMode="auto">
              <a:xfrm>
                <a:off x="2971" y="1565"/>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563" name="Rectangle 441">
                <a:extLst>
                  <a:ext uri="{FF2B5EF4-FFF2-40B4-BE49-F238E27FC236}">
                    <a16:creationId xmlns:a16="http://schemas.microsoft.com/office/drawing/2014/main" id="{F6927AB1-07E7-92B3-54C6-3E16DC17F7CE}"/>
                  </a:ext>
                </a:extLst>
              </p:cNvPr>
              <p:cNvSpPr>
                <a:spLocks noChangeArrowheads="1"/>
              </p:cNvSpPr>
              <p:nvPr/>
            </p:nvSpPr>
            <p:spPr bwMode="auto">
              <a:xfrm>
                <a:off x="305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64" name="Rectangle 442">
                <a:extLst>
                  <a:ext uri="{FF2B5EF4-FFF2-40B4-BE49-F238E27FC236}">
                    <a16:creationId xmlns:a16="http://schemas.microsoft.com/office/drawing/2014/main" id="{CF4BB6D2-AE65-3B54-0722-3A9940F0FCE8}"/>
                  </a:ext>
                </a:extLst>
              </p:cNvPr>
              <p:cNvSpPr>
                <a:spLocks noChangeArrowheads="1"/>
              </p:cNvSpPr>
              <p:nvPr/>
            </p:nvSpPr>
            <p:spPr bwMode="auto">
              <a:xfrm>
                <a:off x="359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5" name="Rectangle 443">
                <a:extLst>
                  <a:ext uri="{FF2B5EF4-FFF2-40B4-BE49-F238E27FC236}">
                    <a16:creationId xmlns:a16="http://schemas.microsoft.com/office/drawing/2014/main" id="{8125A79A-5976-DFFF-41F9-1FFF38E82035}"/>
                  </a:ext>
                </a:extLst>
              </p:cNvPr>
              <p:cNvSpPr>
                <a:spLocks noChangeArrowheads="1"/>
              </p:cNvSpPr>
              <p:nvPr/>
            </p:nvSpPr>
            <p:spPr bwMode="auto">
              <a:xfrm>
                <a:off x="4212"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6" name="Rectangle 444">
                <a:extLst>
                  <a:ext uri="{FF2B5EF4-FFF2-40B4-BE49-F238E27FC236}">
                    <a16:creationId xmlns:a16="http://schemas.microsoft.com/office/drawing/2014/main" id="{3D0D7CC5-AD56-71B7-9699-49EA86B4F3AE}"/>
                  </a:ext>
                </a:extLst>
              </p:cNvPr>
              <p:cNvSpPr>
                <a:spLocks noChangeArrowheads="1"/>
              </p:cNvSpPr>
              <p:nvPr/>
            </p:nvSpPr>
            <p:spPr bwMode="auto">
              <a:xfrm>
                <a:off x="3643" y="1576"/>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7" name="Rectangle 445">
                <a:extLst>
                  <a:ext uri="{FF2B5EF4-FFF2-40B4-BE49-F238E27FC236}">
                    <a16:creationId xmlns:a16="http://schemas.microsoft.com/office/drawing/2014/main" id="{B4D9E241-3867-83F3-DDC4-924B7C3EB82C}"/>
                  </a:ext>
                </a:extLst>
              </p:cNvPr>
              <p:cNvSpPr>
                <a:spLocks noChangeArrowheads="1"/>
              </p:cNvSpPr>
              <p:nvPr/>
            </p:nvSpPr>
            <p:spPr bwMode="auto">
              <a:xfrm>
                <a:off x="3643" y="1565"/>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568" name="Rectangle 446">
                <a:extLst>
                  <a:ext uri="{FF2B5EF4-FFF2-40B4-BE49-F238E27FC236}">
                    <a16:creationId xmlns:a16="http://schemas.microsoft.com/office/drawing/2014/main" id="{2348C209-718C-4CB6-F96B-057810C53CD4}"/>
                  </a:ext>
                </a:extLst>
              </p:cNvPr>
              <p:cNvSpPr>
                <a:spLocks noChangeArrowheads="1"/>
              </p:cNvSpPr>
              <p:nvPr/>
            </p:nvSpPr>
            <p:spPr bwMode="auto">
              <a:xfrm>
                <a:off x="370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69" name="Rectangle 447">
                <a:extLst>
                  <a:ext uri="{FF2B5EF4-FFF2-40B4-BE49-F238E27FC236}">
                    <a16:creationId xmlns:a16="http://schemas.microsoft.com/office/drawing/2014/main" id="{8D2A00B2-F63A-AF28-1007-F32E395378BA}"/>
                  </a:ext>
                </a:extLst>
              </p:cNvPr>
              <p:cNvSpPr>
                <a:spLocks noChangeArrowheads="1"/>
              </p:cNvSpPr>
              <p:nvPr/>
            </p:nvSpPr>
            <p:spPr bwMode="auto">
              <a:xfrm>
                <a:off x="4266"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0" name="Rectangle 448">
                <a:extLst>
                  <a:ext uri="{FF2B5EF4-FFF2-40B4-BE49-F238E27FC236}">
                    <a16:creationId xmlns:a16="http://schemas.microsoft.com/office/drawing/2014/main" id="{4ECFDFA9-86B2-4429-8184-5BB99572F2DB}"/>
                  </a:ext>
                </a:extLst>
              </p:cNvPr>
              <p:cNvSpPr>
                <a:spLocks noChangeArrowheads="1"/>
              </p:cNvSpPr>
              <p:nvPr/>
            </p:nvSpPr>
            <p:spPr bwMode="auto">
              <a:xfrm>
                <a:off x="503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1" name="Rectangle 449">
                <a:extLst>
                  <a:ext uri="{FF2B5EF4-FFF2-40B4-BE49-F238E27FC236}">
                    <a16:creationId xmlns:a16="http://schemas.microsoft.com/office/drawing/2014/main" id="{4B538F97-4B9A-BD7D-40CA-108E0579A8F5}"/>
                  </a:ext>
                </a:extLst>
              </p:cNvPr>
              <p:cNvSpPr>
                <a:spLocks noChangeArrowheads="1"/>
              </p:cNvSpPr>
              <p:nvPr/>
            </p:nvSpPr>
            <p:spPr bwMode="auto">
              <a:xfrm>
                <a:off x="4316" y="1576"/>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2" name="Rectangle 450">
                <a:extLst>
                  <a:ext uri="{FF2B5EF4-FFF2-40B4-BE49-F238E27FC236}">
                    <a16:creationId xmlns:a16="http://schemas.microsoft.com/office/drawing/2014/main" id="{E99D3DC2-242B-E225-E64B-BD54309B1DE2}"/>
                  </a:ext>
                </a:extLst>
              </p:cNvPr>
              <p:cNvSpPr>
                <a:spLocks noChangeArrowheads="1"/>
              </p:cNvSpPr>
              <p:nvPr/>
            </p:nvSpPr>
            <p:spPr bwMode="auto">
              <a:xfrm>
                <a:off x="4316" y="1565"/>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573" name="Rectangle 451">
                <a:extLst>
                  <a:ext uri="{FF2B5EF4-FFF2-40B4-BE49-F238E27FC236}">
                    <a16:creationId xmlns:a16="http://schemas.microsoft.com/office/drawing/2014/main" id="{FCCE6E83-69E8-787B-FCBC-3CC5CECDDB46}"/>
                  </a:ext>
                </a:extLst>
              </p:cNvPr>
              <p:cNvSpPr>
                <a:spLocks noChangeArrowheads="1"/>
              </p:cNvSpPr>
              <p:nvPr/>
            </p:nvSpPr>
            <p:spPr bwMode="auto">
              <a:xfrm>
                <a:off x="4374"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74" name="Rectangle 452">
                <a:extLst>
                  <a:ext uri="{FF2B5EF4-FFF2-40B4-BE49-F238E27FC236}">
                    <a16:creationId xmlns:a16="http://schemas.microsoft.com/office/drawing/2014/main" id="{5ABD15E1-EB5E-231D-F794-8247AB09DAC6}"/>
                  </a:ext>
                </a:extLst>
              </p:cNvPr>
              <p:cNvSpPr>
                <a:spLocks noChangeArrowheads="1"/>
              </p:cNvSpPr>
              <p:nvPr/>
            </p:nvSpPr>
            <p:spPr bwMode="auto">
              <a:xfrm>
                <a:off x="295"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5" name="Line 453">
                <a:extLst>
                  <a:ext uri="{FF2B5EF4-FFF2-40B4-BE49-F238E27FC236}">
                    <a16:creationId xmlns:a16="http://schemas.microsoft.com/office/drawing/2014/main" id="{D9096F50-DF93-D2B7-2E4B-2708FB14835D}"/>
                  </a:ext>
                </a:extLst>
              </p:cNvPr>
              <p:cNvSpPr>
                <a:spLocks noChangeShapeType="1"/>
              </p:cNvSpPr>
              <p:nvPr/>
            </p:nvSpPr>
            <p:spPr bwMode="auto">
              <a:xfrm>
                <a:off x="295"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6" name="Line 454">
                <a:extLst>
                  <a:ext uri="{FF2B5EF4-FFF2-40B4-BE49-F238E27FC236}">
                    <a16:creationId xmlns:a16="http://schemas.microsoft.com/office/drawing/2014/main" id="{4A45C864-A51E-E82D-5F46-83BC80118353}"/>
                  </a:ext>
                </a:extLst>
              </p:cNvPr>
              <p:cNvSpPr>
                <a:spLocks noChangeShapeType="1"/>
              </p:cNvSpPr>
              <p:nvPr/>
            </p:nvSpPr>
            <p:spPr bwMode="auto">
              <a:xfrm>
                <a:off x="295"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7" name="Rectangle 455">
                <a:extLst>
                  <a:ext uri="{FF2B5EF4-FFF2-40B4-BE49-F238E27FC236}">
                    <a16:creationId xmlns:a16="http://schemas.microsoft.com/office/drawing/2014/main" id="{DD00A946-9580-B82A-D144-3FD5B80B42BD}"/>
                  </a:ext>
                </a:extLst>
              </p:cNvPr>
              <p:cNvSpPr>
                <a:spLocks noChangeArrowheads="1"/>
              </p:cNvSpPr>
              <p:nvPr/>
            </p:nvSpPr>
            <p:spPr bwMode="auto">
              <a:xfrm>
                <a:off x="300" y="1572"/>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8" name="Line 456">
                <a:extLst>
                  <a:ext uri="{FF2B5EF4-FFF2-40B4-BE49-F238E27FC236}">
                    <a16:creationId xmlns:a16="http://schemas.microsoft.com/office/drawing/2014/main" id="{A5729962-0AB4-8BF6-6548-729B40C736C3}"/>
                  </a:ext>
                </a:extLst>
              </p:cNvPr>
              <p:cNvSpPr>
                <a:spLocks noChangeShapeType="1"/>
              </p:cNvSpPr>
              <p:nvPr/>
            </p:nvSpPr>
            <p:spPr bwMode="auto">
              <a:xfrm>
                <a:off x="300" y="1572"/>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9" name="Rectangle 457">
                <a:extLst>
                  <a:ext uri="{FF2B5EF4-FFF2-40B4-BE49-F238E27FC236}">
                    <a16:creationId xmlns:a16="http://schemas.microsoft.com/office/drawing/2014/main" id="{F4A71A93-4A05-9A19-247E-5EFD8EBD7830}"/>
                  </a:ext>
                </a:extLst>
              </p:cNvPr>
              <p:cNvSpPr>
                <a:spLocks noChangeArrowheads="1"/>
              </p:cNvSpPr>
              <p:nvPr/>
            </p:nvSpPr>
            <p:spPr bwMode="auto">
              <a:xfrm>
                <a:off x="956"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0" name="Line 458">
                <a:extLst>
                  <a:ext uri="{FF2B5EF4-FFF2-40B4-BE49-F238E27FC236}">
                    <a16:creationId xmlns:a16="http://schemas.microsoft.com/office/drawing/2014/main" id="{A3C578E9-3EFA-E454-CAB5-F04B56E3B667}"/>
                  </a:ext>
                </a:extLst>
              </p:cNvPr>
              <p:cNvSpPr>
                <a:spLocks noChangeShapeType="1"/>
              </p:cNvSpPr>
              <p:nvPr/>
            </p:nvSpPr>
            <p:spPr bwMode="auto">
              <a:xfrm>
                <a:off x="956"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1" name="Line 459">
                <a:extLst>
                  <a:ext uri="{FF2B5EF4-FFF2-40B4-BE49-F238E27FC236}">
                    <a16:creationId xmlns:a16="http://schemas.microsoft.com/office/drawing/2014/main" id="{AFB7F5D7-5264-3CBA-95A9-FA1B68B8DACD}"/>
                  </a:ext>
                </a:extLst>
              </p:cNvPr>
              <p:cNvSpPr>
                <a:spLocks noChangeShapeType="1"/>
              </p:cNvSpPr>
              <p:nvPr/>
            </p:nvSpPr>
            <p:spPr bwMode="auto">
              <a:xfrm>
                <a:off x="956"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2" name="Rectangle 460">
                <a:extLst>
                  <a:ext uri="{FF2B5EF4-FFF2-40B4-BE49-F238E27FC236}">
                    <a16:creationId xmlns:a16="http://schemas.microsoft.com/office/drawing/2014/main" id="{A5646FFD-7661-2813-AE23-5D220A3A568F}"/>
                  </a:ext>
                </a:extLst>
              </p:cNvPr>
              <p:cNvSpPr>
                <a:spLocks noChangeArrowheads="1"/>
              </p:cNvSpPr>
              <p:nvPr/>
            </p:nvSpPr>
            <p:spPr bwMode="auto">
              <a:xfrm>
                <a:off x="961" y="1572"/>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3" name="Line 461">
                <a:extLst>
                  <a:ext uri="{FF2B5EF4-FFF2-40B4-BE49-F238E27FC236}">
                    <a16:creationId xmlns:a16="http://schemas.microsoft.com/office/drawing/2014/main" id="{7AAA94C7-9D4E-A917-C136-DE7566E1DE6A}"/>
                  </a:ext>
                </a:extLst>
              </p:cNvPr>
              <p:cNvSpPr>
                <a:spLocks noChangeShapeType="1"/>
              </p:cNvSpPr>
              <p:nvPr/>
            </p:nvSpPr>
            <p:spPr bwMode="auto">
              <a:xfrm>
                <a:off x="961" y="1572"/>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4" name="Rectangle 462">
                <a:extLst>
                  <a:ext uri="{FF2B5EF4-FFF2-40B4-BE49-F238E27FC236}">
                    <a16:creationId xmlns:a16="http://schemas.microsoft.com/office/drawing/2014/main" id="{4B3C44F2-5BAD-DE13-E74B-BE348B98AC40}"/>
                  </a:ext>
                </a:extLst>
              </p:cNvPr>
              <p:cNvSpPr>
                <a:spLocks noChangeArrowheads="1"/>
              </p:cNvSpPr>
              <p:nvPr/>
            </p:nvSpPr>
            <p:spPr bwMode="auto">
              <a:xfrm>
                <a:off x="1633" y="1572"/>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5" name="Line 463">
                <a:extLst>
                  <a:ext uri="{FF2B5EF4-FFF2-40B4-BE49-F238E27FC236}">
                    <a16:creationId xmlns:a16="http://schemas.microsoft.com/office/drawing/2014/main" id="{3344075E-7682-10D2-B37F-AA8E50DD218E}"/>
                  </a:ext>
                </a:extLst>
              </p:cNvPr>
              <p:cNvSpPr>
                <a:spLocks noChangeShapeType="1"/>
              </p:cNvSpPr>
              <p:nvPr/>
            </p:nvSpPr>
            <p:spPr bwMode="auto">
              <a:xfrm>
                <a:off x="1633" y="1572"/>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6" name="Line 464">
                <a:extLst>
                  <a:ext uri="{FF2B5EF4-FFF2-40B4-BE49-F238E27FC236}">
                    <a16:creationId xmlns:a16="http://schemas.microsoft.com/office/drawing/2014/main" id="{C70EDFCC-1B29-A0B7-265B-AAC4C3D4F346}"/>
                  </a:ext>
                </a:extLst>
              </p:cNvPr>
              <p:cNvSpPr>
                <a:spLocks noChangeShapeType="1"/>
              </p:cNvSpPr>
              <p:nvPr/>
            </p:nvSpPr>
            <p:spPr bwMode="auto">
              <a:xfrm>
                <a:off x="1633"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7" name="Rectangle 465">
                <a:extLst>
                  <a:ext uri="{FF2B5EF4-FFF2-40B4-BE49-F238E27FC236}">
                    <a16:creationId xmlns:a16="http://schemas.microsoft.com/office/drawing/2014/main" id="{28B36400-4894-0380-9A53-A375E20D8BA7}"/>
                  </a:ext>
                </a:extLst>
              </p:cNvPr>
              <p:cNvSpPr>
                <a:spLocks noChangeArrowheads="1"/>
              </p:cNvSpPr>
              <p:nvPr/>
            </p:nvSpPr>
            <p:spPr bwMode="auto">
              <a:xfrm>
                <a:off x="1637" y="1572"/>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8" name="Line 466">
                <a:extLst>
                  <a:ext uri="{FF2B5EF4-FFF2-40B4-BE49-F238E27FC236}">
                    <a16:creationId xmlns:a16="http://schemas.microsoft.com/office/drawing/2014/main" id="{35572C1D-64AB-07E0-88B7-510B329F4A25}"/>
                  </a:ext>
                </a:extLst>
              </p:cNvPr>
              <p:cNvSpPr>
                <a:spLocks noChangeShapeType="1"/>
              </p:cNvSpPr>
              <p:nvPr/>
            </p:nvSpPr>
            <p:spPr bwMode="auto">
              <a:xfrm>
                <a:off x="1637" y="1572"/>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9" name="Rectangle 467">
                <a:extLst>
                  <a:ext uri="{FF2B5EF4-FFF2-40B4-BE49-F238E27FC236}">
                    <a16:creationId xmlns:a16="http://schemas.microsoft.com/office/drawing/2014/main" id="{09C6F725-9864-3805-1665-7E838D4A4FC0}"/>
                  </a:ext>
                </a:extLst>
              </p:cNvPr>
              <p:cNvSpPr>
                <a:spLocks noChangeArrowheads="1"/>
              </p:cNvSpPr>
              <p:nvPr/>
            </p:nvSpPr>
            <p:spPr bwMode="auto">
              <a:xfrm>
                <a:off x="2376"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0" name="Line 468">
                <a:extLst>
                  <a:ext uri="{FF2B5EF4-FFF2-40B4-BE49-F238E27FC236}">
                    <a16:creationId xmlns:a16="http://schemas.microsoft.com/office/drawing/2014/main" id="{81DDB629-E54E-1208-9C05-DA6CCBBE5E5C}"/>
                  </a:ext>
                </a:extLst>
              </p:cNvPr>
              <p:cNvSpPr>
                <a:spLocks noChangeShapeType="1"/>
              </p:cNvSpPr>
              <p:nvPr/>
            </p:nvSpPr>
            <p:spPr bwMode="auto">
              <a:xfrm>
                <a:off x="2376"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1" name="Line 469">
                <a:extLst>
                  <a:ext uri="{FF2B5EF4-FFF2-40B4-BE49-F238E27FC236}">
                    <a16:creationId xmlns:a16="http://schemas.microsoft.com/office/drawing/2014/main" id="{B055F8B4-8C2E-E685-68B5-26661808D616}"/>
                  </a:ext>
                </a:extLst>
              </p:cNvPr>
              <p:cNvSpPr>
                <a:spLocks noChangeShapeType="1"/>
              </p:cNvSpPr>
              <p:nvPr/>
            </p:nvSpPr>
            <p:spPr bwMode="auto">
              <a:xfrm>
                <a:off x="2376"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2" name="Rectangle 470">
                <a:extLst>
                  <a:ext uri="{FF2B5EF4-FFF2-40B4-BE49-F238E27FC236}">
                    <a16:creationId xmlns:a16="http://schemas.microsoft.com/office/drawing/2014/main" id="{A682DE21-8562-A1AF-C5BD-47703755EF22}"/>
                  </a:ext>
                </a:extLst>
              </p:cNvPr>
              <p:cNvSpPr>
                <a:spLocks noChangeArrowheads="1"/>
              </p:cNvSpPr>
              <p:nvPr/>
            </p:nvSpPr>
            <p:spPr bwMode="auto">
              <a:xfrm>
                <a:off x="2381" y="1572"/>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3" name="Line 471">
                <a:extLst>
                  <a:ext uri="{FF2B5EF4-FFF2-40B4-BE49-F238E27FC236}">
                    <a16:creationId xmlns:a16="http://schemas.microsoft.com/office/drawing/2014/main" id="{0EB4F983-4F2D-EE32-B536-EED543A0D97B}"/>
                  </a:ext>
                </a:extLst>
              </p:cNvPr>
              <p:cNvSpPr>
                <a:spLocks noChangeShapeType="1"/>
              </p:cNvSpPr>
              <p:nvPr/>
            </p:nvSpPr>
            <p:spPr bwMode="auto">
              <a:xfrm>
                <a:off x="2381" y="1572"/>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4" name="Rectangle 472">
                <a:extLst>
                  <a:ext uri="{FF2B5EF4-FFF2-40B4-BE49-F238E27FC236}">
                    <a16:creationId xmlns:a16="http://schemas.microsoft.com/office/drawing/2014/main" id="{483949C6-71FA-0414-D147-80BEC484EC52}"/>
                  </a:ext>
                </a:extLst>
              </p:cNvPr>
              <p:cNvSpPr>
                <a:spLocks noChangeArrowheads="1"/>
              </p:cNvSpPr>
              <p:nvPr/>
            </p:nvSpPr>
            <p:spPr bwMode="auto">
              <a:xfrm>
                <a:off x="2917"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5" name="Line 473">
                <a:extLst>
                  <a:ext uri="{FF2B5EF4-FFF2-40B4-BE49-F238E27FC236}">
                    <a16:creationId xmlns:a16="http://schemas.microsoft.com/office/drawing/2014/main" id="{27F7BC37-B3D5-C935-3F81-74E86F5B10CD}"/>
                  </a:ext>
                </a:extLst>
              </p:cNvPr>
              <p:cNvSpPr>
                <a:spLocks noChangeShapeType="1"/>
              </p:cNvSpPr>
              <p:nvPr/>
            </p:nvSpPr>
            <p:spPr bwMode="auto">
              <a:xfrm>
                <a:off x="2917"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6" name="Line 474">
                <a:extLst>
                  <a:ext uri="{FF2B5EF4-FFF2-40B4-BE49-F238E27FC236}">
                    <a16:creationId xmlns:a16="http://schemas.microsoft.com/office/drawing/2014/main" id="{8A2CD6BC-CD9B-F46B-EC70-0CE146B22E62}"/>
                  </a:ext>
                </a:extLst>
              </p:cNvPr>
              <p:cNvSpPr>
                <a:spLocks noChangeShapeType="1"/>
              </p:cNvSpPr>
              <p:nvPr/>
            </p:nvSpPr>
            <p:spPr bwMode="auto">
              <a:xfrm>
                <a:off x="2917"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7" name="Rectangle 475">
                <a:extLst>
                  <a:ext uri="{FF2B5EF4-FFF2-40B4-BE49-F238E27FC236}">
                    <a16:creationId xmlns:a16="http://schemas.microsoft.com/office/drawing/2014/main" id="{3A7F8938-42C3-568F-D589-58853C7B2B5E}"/>
                  </a:ext>
                </a:extLst>
              </p:cNvPr>
              <p:cNvSpPr>
                <a:spLocks noChangeArrowheads="1"/>
              </p:cNvSpPr>
              <p:nvPr/>
            </p:nvSpPr>
            <p:spPr bwMode="auto">
              <a:xfrm>
                <a:off x="2922" y="1572"/>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8" name="Line 476">
                <a:extLst>
                  <a:ext uri="{FF2B5EF4-FFF2-40B4-BE49-F238E27FC236}">
                    <a16:creationId xmlns:a16="http://schemas.microsoft.com/office/drawing/2014/main" id="{82E850E2-0F5A-F83A-89A6-85C2AA92CEEA}"/>
                  </a:ext>
                </a:extLst>
              </p:cNvPr>
              <p:cNvSpPr>
                <a:spLocks noChangeShapeType="1"/>
              </p:cNvSpPr>
              <p:nvPr/>
            </p:nvSpPr>
            <p:spPr bwMode="auto">
              <a:xfrm>
                <a:off x="2922" y="1572"/>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9" name="Rectangle 477">
                <a:extLst>
                  <a:ext uri="{FF2B5EF4-FFF2-40B4-BE49-F238E27FC236}">
                    <a16:creationId xmlns:a16="http://schemas.microsoft.com/office/drawing/2014/main" id="{9F8AB5A2-863F-34E0-5BE4-C0D382C7594A}"/>
                  </a:ext>
                </a:extLst>
              </p:cNvPr>
              <p:cNvSpPr>
                <a:spLocks noChangeArrowheads="1"/>
              </p:cNvSpPr>
              <p:nvPr/>
            </p:nvSpPr>
            <p:spPr bwMode="auto">
              <a:xfrm>
                <a:off x="3589"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0" name="Line 478">
                <a:extLst>
                  <a:ext uri="{FF2B5EF4-FFF2-40B4-BE49-F238E27FC236}">
                    <a16:creationId xmlns:a16="http://schemas.microsoft.com/office/drawing/2014/main" id="{357EA41E-AFD3-1F66-8CCD-4BC4AEB38A78}"/>
                  </a:ext>
                </a:extLst>
              </p:cNvPr>
              <p:cNvSpPr>
                <a:spLocks noChangeShapeType="1"/>
              </p:cNvSpPr>
              <p:nvPr/>
            </p:nvSpPr>
            <p:spPr bwMode="auto">
              <a:xfrm>
                <a:off x="3589"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1" name="Line 479">
                <a:extLst>
                  <a:ext uri="{FF2B5EF4-FFF2-40B4-BE49-F238E27FC236}">
                    <a16:creationId xmlns:a16="http://schemas.microsoft.com/office/drawing/2014/main" id="{BB905441-9C4A-3050-5D6E-02085014D855}"/>
                  </a:ext>
                </a:extLst>
              </p:cNvPr>
              <p:cNvSpPr>
                <a:spLocks noChangeShapeType="1"/>
              </p:cNvSpPr>
              <p:nvPr/>
            </p:nvSpPr>
            <p:spPr bwMode="auto">
              <a:xfrm>
                <a:off x="3589"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2" name="Rectangle 480">
                <a:extLst>
                  <a:ext uri="{FF2B5EF4-FFF2-40B4-BE49-F238E27FC236}">
                    <a16:creationId xmlns:a16="http://schemas.microsoft.com/office/drawing/2014/main" id="{3B972369-A361-7060-B9A0-861167663067}"/>
                  </a:ext>
                </a:extLst>
              </p:cNvPr>
              <p:cNvSpPr>
                <a:spLocks noChangeArrowheads="1"/>
              </p:cNvSpPr>
              <p:nvPr/>
            </p:nvSpPr>
            <p:spPr bwMode="auto">
              <a:xfrm>
                <a:off x="3594" y="1572"/>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3" name="Line 481">
                <a:extLst>
                  <a:ext uri="{FF2B5EF4-FFF2-40B4-BE49-F238E27FC236}">
                    <a16:creationId xmlns:a16="http://schemas.microsoft.com/office/drawing/2014/main" id="{5EE86770-EC09-B86B-0E8B-4C881AA855AE}"/>
                  </a:ext>
                </a:extLst>
              </p:cNvPr>
              <p:cNvSpPr>
                <a:spLocks noChangeShapeType="1"/>
              </p:cNvSpPr>
              <p:nvPr/>
            </p:nvSpPr>
            <p:spPr bwMode="auto">
              <a:xfrm>
                <a:off x="3594" y="1572"/>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4" name="Rectangle 482">
                <a:extLst>
                  <a:ext uri="{FF2B5EF4-FFF2-40B4-BE49-F238E27FC236}">
                    <a16:creationId xmlns:a16="http://schemas.microsoft.com/office/drawing/2014/main" id="{A748CE85-430A-5E29-DE03-F4DD273D8938}"/>
                  </a:ext>
                </a:extLst>
              </p:cNvPr>
              <p:cNvSpPr>
                <a:spLocks noChangeArrowheads="1"/>
              </p:cNvSpPr>
              <p:nvPr/>
            </p:nvSpPr>
            <p:spPr bwMode="auto">
              <a:xfrm>
                <a:off x="4262" y="1572"/>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5" name="Line 483">
                <a:extLst>
                  <a:ext uri="{FF2B5EF4-FFF2-40B4-BE49-F238E27FC236}">
                    <a16:creationId xmlns:a16="http://schemas.microsoft.com/office/drawing/2014/main" id="{D6806D56-3540-FB5F-61C0-BFE56BA154C6}"/>
                  </a:ext>
                </a:extLst>
              </p:cNvPr>
              <p:cNvSpPr>
                <a:spLocks noChangeShapeType="1"/>
              </p:cNvSpPr>
              <p:nvPr/>
            </p:nvSpPr>
            <p:spPr bwMode="auto">
              <a:xfrm>
                <a:off x="4262" y="1572"/>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6" name="Line 484">
                <a:extLst>
                  <a:ext uri="{FF2B5EF4-FFF2-40B4-BE49-F238E27FC236}">
                    <a16:creationId xmlns:a16="http://schemas.microsoft.com/office/drawing/2014/main" id="{EAEA6576-A484-0D02-0417-C5EF0501067D}"/>
                  </a:ext>
                </a:extLst>
              </p:cNvPr>
              <p:cNvSpPr>
                <a:spLocks noChangeShapeType="1"/>
              </p:cNvSpPr>
              <p:nvPr/>
            </p:nvSpPr>
            <p:spPr bwMode="auto">
              <a:xfrm>
                <a:off x="4262"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7" name="Rectangle 485">
                <a:extLst>
                  <a:ext uri="{FF2B5EF4-FFF2-40B4-BE49-F238E27FC236}">
                    <a16:creationId xmlns:a16="http://schemas.microsoft.com/office/drawing/2014/main" id="{2F0E10CD-1449-3D72-0194-3E581BF833D5}"/>
                  </a:ext>
                </a:extLst>
              </p:cNvPr>
              <p:cNvSpPr>
                <a:spLocks noChangeArrowheads="1"/>
              </p:cNvSpPr>
              <p:nvPr/>
            </p:nvSpPr>
            <p:spPr bwMode="auto">
              <a:xfrm>
                <a:off x="4266" y="1572"/>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8" name="Line 486">
                <a:extLst>
                  <a:ext uri="{FF2B5EF4-FFF2-40B4-BE49-F238E27FC236}">
                    <a16:creationId xmlns:a16="http://schemas.microsoft.com/office/drawing/2014/main" id="{1A04C1A2-F890-5D92-21AB-7799FF2BEAC2}"/>
                  </a:ext>
                </a:extLst>
              </p:cNvPr>
              <p:cNvSpPr>
                <a:spLocks noChangeShapeType="1"/>
              </p:cNvSpPr>
              <p:nvPr/>
            </p:nvSpPr>
            <p:spPr bwMode="auto">
              <a:xfrm>
                <a:off x="4266" y="1572"/>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9" name="Rectangle 487">
                <a:extLst>
                  <a:ext uri="{FF2B5EF4-FFF2-40B4-BE49-F238E27FC236}">
                    <a16:creationId xmlns:a16="http://schemas.microsoft.com/office/drawing/2014/main" id="{653A7E44-E91E-123E-F662-BB664F8B7AD2}"/>
                  </a:ext>
                </a:extLst>
              </p:cNvPr>
              <p:cNvSpPr>
                <a:spLocks noChangeArrowheads="1"/>
              </p:cNvSpPr>
              <p:nvPr/>
            </p:nvSpPr>
            <p:spPr bwMode="auto">
              <a:xfrm>
                <a:off x="5083"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0" name="Line 488">
                <a:extLst>
                  <a:ext uri="{FF2B5EF4-FFF2-40B4-BE49-F238E27FC236}">
                    <a16:creationId xmlns:a16="http://schemas.microsoft.com/office/drawing/2014/main" id="{020F3F51-39E9-718E-DDF9-DED7A17E59F8}"/>
                  </a:ext>
                </a:extLst>
              </p:cNvPr>
              <p:cNvSpPr>
                <a:spLocks noChangeShapeType="1"/>
              </p:cNvSpPr>
              <p:nvPr/>
            </p:nvSpPr>
            <p:spPr bwMode="auto">
              <a:xfrm>
                <a:off x="5083"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1" name="Line 489">
                <a:extLst>
                  <a:ext uri="{FF2B5EF4-FFF2-40B4-BE49-F238E27FC236}">
                    <a16:creationId xmlns:a16="http://schemas.microsoft.com/office/drawing/2014/main" id="{CB8AC9D8-7C27-3CB1-A603-D5AFB78E17BD}"/>
                  </a:ext>
                </a:extLst>
              </p:cNvPr>
              <p:cNvSpPr>
                <a:spLocks noChangeShapeType="1"/>
              </p:cNvSpPr>
              <p:nvPr/>
            </p:nvSpPr>
            <p:spPr bwMode="auto">
              <a:xfrm>
                <a:off x="5083"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2" name="Rectangle 490">
                <a:extLst>
                  <a:ext uri="{FF2B5EF4-FFF2-40B4-BE49-F238E27FC236}">
                    <a16:creationId xmlns:a16="http://schemas.microsoft.com/office/drawing/2014/main" id="{37D8C75D-B19A-07B2-4B9E-CB2C30109197}"/>
                  </a:ext>
                </a:extLst>
              </p:cNvPr>
              <p:cNvSpPr>
                <a:spLocks noChangeArrowheads="1"/>
              </p:cNvSpPr>
              <p:nvPr/>
            </p:nvSpPr>
            <p:spPr bwMode="auto">
              <a:xfrm>
                <a:off x="295"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3" name="Line 491">
                <a:extLst>
                  <a:ext uri="{FF2B5EF4-FFF2-40B4-BE49-F238E27FC236}">
                    <a16:creationId xmlns:a16="http://schemas.microsoft.com/office/drawing/2014/main" id="{E69B09A5-2FFE-A46E-8EF1-83BF88E59AD3}"/>
                  </a:ext>
                </a:extLst>
              </p:cNvPr>
              <p:cNvSpPr>
                <a:spLocks noChangeShapeType="1"/>
              </p:cNvSpPr>
              <p:nvPr/>
            </p:nvSpPr>
            <p:spPr bwMode="auto">
              <a:xfrm>
                <a:off x="295"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4" name="Rectangle 492">
                <a:extLst>
                  <a:ext uri="{FF2B5EF4-FFF2-40B4-BE49-F238E27FC236}">
                    <a16:creationId xmlns:a16="http://schemas.microsoft.com/office/drawing/2014/main" id="{301F1FFF-14F2-AFB6-7DC9-E58EF782B86E}"/>
                  </a:ext>
                </a:extLst>
              </p:cNvPr>
              <p:cNvSpPr>
                <a:spLocks noChangeArrowheads="1"/>
              </p:cNvSpPr>
              <p:nvPr/>
            </p:nvSpPr>
            <p:spPr bwMode="auto">
              <a:xfrm>
                <a:off x="956"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5" name="Line 493">
                <a:extLst>
                  <a:ext uri="{FF2B5EF4-FFF2-40B4-BE49-F238E27FC236}">
                    <a16:creationId xmlns:a16="http://schemas.microsoft.com/office/drawing/2014/main" id="{E3CD9EB3-83E2-4065-5108-99F389F0A3E7}"/>
                  </a:ext>
                </a:extLst>
              </p:cNvPr>
              <p:cNvSpPr>
                <a:spLocks noChangeShapeType="1"/>
              </p:cNvSpPr>
              <p:nvPr/>
            </p:nvSpPr>
            <p:spPr bwMode="auto">
              <a:xfrm>
                <a:off x="956"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6" name="Rectangle 494">
                <a:extLst>
                  <a:ext uri="{FF2B5EF4-FFF2-40B4-BE49-F238E27FC236}">
                    <a16:creationId xmlns:a16="http://schemas.microsoft.com/office/drawing/2014/main" id="{6812C791-B9DE-443B-44C4-7A5974170F17}"/>
                  </a:ext>
                </a:extLst>
              </p:cNvPr>
              <p:cNvSpPr>
                <a:spLocks noChangeArrowheads="1"/>
              </p:cNvSpPr>
              <p:nvPr/>
            </p:nvSpPr>
            <p:spPr bwMode="auto">
              <a:xfrm>
                <a:off x="1633" y="1576"/>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7" name="Line 495">
                <a:extLst>
                  <a:ext uri="{FF2B5EF4-FFF2-40B4-BE49-F238E27FC236}">
                    <a16:creationId xmlns:a16="http://schemas.microsoft.com/office/drawing/2014/main" id="{119E40C1-8AA1-A069-E91C-EFAA20B786F3}"/>
                  </a:ext>
                </a:extLst>
              </p:cNvPr>
              <p:cNvSpPr>
                <a:spLocks noChangeShapeType="1"/>
              </p:cNvSpPr>
              <p:nvPr/>
            </p:nvSpPr>
            <p:spPr bwMode="auto">
              <a:xfrm>
                <a:off x="1633"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8" name="Rectangle 496">
                <a:extLst>
                  <a:ext uri="{FF2B5EF4-FFF2-40B4-BE49-F238E27FC236}">
                    <a16:creationId xmlns:a16="http://schemas.microsoft.com/office/drawing/2014/main" id="{091EEC4F-86C0-2148-50A3-EEBB819A22BC}"/>
                  </a:ext>
                </a:extLst>
              </p:cNvPr>
              <p:cNvSpPr>
                <a:spLocks noChangeArrowheads="1"/>
              </p:cNvSpPr>
              <p:nvPr/>
            </p:nvSpPr>
            <p:spPr bwMode="auto">
              <a:xfrm>
                <a:off x="2376"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9" name="Line 497">
                <a:extLst>
                  <a:ext uri="{FF2B5EF4-FFF2-40B4-BE49-F238E27FC236}">
                    <a16:creationId xmlns:a16="http://schemas.microsoft.com/office/drawing/2014/main" id="{FFCBD039-D45E-395C-49EA-6B87B8FDE836}"/>
                  </a:ext>
                </a:extLst>
              </p:cNvPr>
              <p:cNvSpPr>
                <a:spLocks noChangeShapeType="1"/>
              </p:cNvSpPr>
              <p:nvPr/>
            </p:nvSpPr>
            <p:spPr bwMode="auto">
              <a:xfrm>
                <a:off x="2376"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0" name="Rectangle 498">
                <a:extLst>
                  <a:ext uri="{FF2B5EF4-FFF2-40B4-BE49-F238E27FC236}">
                    <a16:creationId xmlns:a16="http://schemas.microsoft.com/office/drawing/2014/main" id="{884044A0-C0E5-AD7D-C8BF-41DD395D7A53}"/>
                  </a:ext>
                </a:extLst>
              </p:cNvPr>
              <p:cNvSpPr>
                <a:spLocks noChangeArrowheads="1"/>
              </p:cNvSpPr>
              <p:nvPr/>
            </p:nvSpPr>
            <p:spPr bwMode="auto">
              <a:xfrm>
                <a:off x="2917"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1" name="Line 499">
                <a:extLst>
                  <a:ext uri="{FF2B5EF4-FFF2-40B4-BE49-F238E27FC236}">
                    <a16:creationId xmlns:a16="http://schemas.microsoft.com/office/drawing/2014/main" id="{47287E60-3924-E6E4-C8C3-3CCBCB3CD7B8}"/>
                  </a:ext>
                </a:extLst>
              </p:cNvPr>
              <p:cNvSpPr>
                <a:spLocks noChangeShapeType="1"/>
              </p:cNvSpPr>
              <p:nvPr/>
            </p:nvSpPr>
            <p:spPr bwMode="auto">
              <a:xfrm>
                <a:off x="2917"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2" name="Rectangle 500">
                <a:extLst>
                  <a:ext uri="{FF2B5EF4-FFF2-40B4-BE49-F238E27FC236}">
                    <a16:creationId xmlns:a16="http://schemas.microsoft.com/office/drawing/2014/main" id="{A4D4F2F8-0CE6-6E11-56BB-12B91CF34F93}"/>
                  </a:ext>
                </a:extLst>
              </p:cNvPr>
              <p:cNvSpPr>
                <a:spLocks noChangeArrowheads="1"/>
              </p:cNvSpPr>
              <p:nvPr/>
            </p:nvSpPr>
            <p:spPr bwMode="auto">
              <a:xfrm>
                <a:off x="3589"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3" name="Line 501">
                <a:extLst>
                  <a:ext uri="{FF2B5EF4-FFF2-40B4-BE49-F238E27FC236}">
                    <a16:creationId xmlns:a16="http://schemas.microsoft.com/office/drawing/2014/main" id="{0A258E79-2CAA-47AA-E48F-F00BEF892156}"/>
                  </a:ext>
                </a:extLst>
              </p:cNvPr>
              <p:cNvSpPr>
                <a:spLocks noChangeShapeType="1"/>
              </p:cNvSpPr>
              <p:nvPr/>
            </p:nvSpPr>
            <p:spPr bwMode="auto">
              <a:xfrm>
                <a:off x="3589"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4" name="Rectangle 502">
                <a:extLst>
                  <a:ext uri="{FF2B5EF4-FFF2-40B4-BE49-F238E27FC236}">
                    <a16:creationId xmlns:a16="http://schemas.microsoft.com/office/drawing/2014/main" id="{9A5DB6C8-0706-D925-F81C-AC38E55A3787}"/>
                  </a:ext>
                </a:extLst>
              </p:cNvPr>
              <p:cNvSpPr>
                <a:spLocks noChangeArrowheads="1"/>
              </p:cNvSpPr>
              <p:nvPr/>
            </p:nvSpPr>
            <p:spPr bwMode="auto">
              <a:xfrm>
                <a:off x="4262" y="1576"/>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5" name="Line 503">
                <a:extLst>
                  <a:ext uri="{FF2B5EF4-FFF2-40B4-BE49-F238E27FC236}">
                    <a16:creationId xmlns:a16="http://schemas.microsoft.com/office/drawing/2014/main" id="{7DD4D583-869A-69DC-A51A-EA776B46B767}"/>
                  </a:ext>
                </a:extLst>
              </p:cNvPr>
              <p:cNvSpPr>
                <a:spLocks noChangeShapeType="1"/>
              </p:cNvSpPr>
              <p:nvPr/>
            </p:nvSpPr>
            <p:spPr bwMode="auto">
              <a:xfrm>
                <a:off x="4262"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6" name="Rectangle 504">
                <a:extLst>
                  <a:ext uri="{FF2B5EF4-FFF2-40B4-BE49-F238E27FC236}">
                    <a16:creationId xmlns:a16="http://schemas.microsoft.com/office/drawing/2014/main" id="{04D1D461-BAC9-7C46-00EA-C9A0A924F109}"/>
                  </a:ext>
                </a:extLst>
              </p:cNvPr>
              <p:cNvSpPr>
                <a:spLocks noChangeArrowheads="1"/>
              </p:cNvSpPr>
              <p:nvPr/>
            </p:nvSpPr>
            <p:spPr bwMode="auto">
              <a:xfrm>
                <a:off x="5083"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7" name="Line 505">
                <a:extLst>
                  <a:ext uri="{FF2B5EF4-FFF2-40B4-BE49-F238E27FC236}">
                    <a16:creationId xmlns:a16="http://schemas.microsoft.com/office/drawing/2014/main" id="{AE4115FD-976B-9306-B21E-47812E2358EC}"/>
                  </a:ext>
                </a:extLst>
              </p:cNvPr>
              <p:cNvSpPr>
                <a:spLocks noChangeShapeType="1"/>
              </p:cNvSpPr>
              <p:nvPr/>
            </p:nvSpPr>
            <p:spPr bwMode="auto">
              <a:xfrm>
                <a:off x="5083"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8" name="Rectangle 506">
                <a:extLst>
                  <a:ext uri="{FF2B5EF4-FFF2-40B4-BE49-F238E27FC236}">
                    <a16:creationId xmlns:a16="http://schemas.microsoft.com/office/drawing/2014/main" id="{1D1230F7-3558-CCF4-0F33-14198013D723}"/>
                  </a:ext>
                </a:extLst>
              </p:cNvPr>
              <p:cNvSpPr>
                <a:spLocks noChangeArrowheads="1"/>
              </p:cNvSpPr>
              <p:nvPr/>
            </p:nvSpPr>
            <p:spPr bwMode="auto">
              <a:xfrm>
                <a:off x="300"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9" name="Rectangle 507">
                <a:extLst>
                  <a:ext uri="{FF2B5EF4-FFF2-40B4-BE49-F238E27FC236}">
                    <a16:creationId xmlns:a16="http://schemas.microsoft.com/office/drawing/2014/main" id="{32379AA5-5339-8DE4-2070-C72FDFC44E25}"/>
                  </a:ext>
                </a:extLst>
              </p:cNvPr>
              <p:cNvSpPr>
                <a:spLocks noChangeArrowheads="1"/>
              </p:cNvSpPr>
              <p:nvPr/>
            </p:nvSpPr>
            <p:spPr bwMode="auto">
              <a:xfrm>
                <a:off x="907"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0" name="Rectangle 508">
                <a:extLst>
                  <a:ext uri="{FF2B5EF4-FFF2-40B4-BE49-F238E27FC236}">
                    <a16:creationId xmlns:a16="http://schemas.microsoft.com/office/drawing/2014/main" id="{99C47D13-B43E-6C7A-3CF0-ACDF7B9D70FE}"/>
                  </a:ext>
                </a:extLst>
              </p:cNvPr>
              <p:cNvSpPr>
                <a:spLocks noChangeArrowheads="1"/>
              </p:cNvSpPr>
              <p:nvPr/>
            </p:nvSpPr>
            <p:spPr bwMode="auto">
              <a:xfrm>
                <a:off x="349" y="1714"/>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1" name="Rectangle 509">
                <a:extLst>
                  <a:ext uri="{FF2B5EF4-FFF2-40B4-BE49-F238E27FC236}">
                    <a16:creationId xmlns:a16="http://schemas.microsoft.com/office/drawing/2014/main" id="{DBC845B9-2400-02A5-CC5A-762B3DCBEFB1}"/>
                  </a:ext>
                </a:extLst>
              </p:cNvPr>
              <p:cNvSpPr>
                <a:spLocks noChangeArrowheads="1"/>
              </p:cNvSpPr>
              <p:nvPr/>
            </p:nvSpPr>
            <p:spPr bwMode="auto">
              <a:xfrm>
                <a:off x="349" y="1702"/>
                <a:ext cx="2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Rare</a:t>
                </a:r>
                <a:endParaRPr lang="en-US" altLang="en-US"/>
              </a:p>
            </p:txBody>
          </p:sp>
          <p:sp>
            <p:nvSpPr>
              <p:cNvPr id="55632" name="Rectangle 510">
                <a:extLst>
                  <a:ext uri="{FF2B5EF4-FFF2-40B4-BE49-F238E27FC236}">
                    <a16:creationId xmlns:a16="http://schemas.microsoft.com/office/drawing/2014/main" id="{EAADA7C5-CB29-5384-FC04-17B25351F355}"/>
                  </a:ext>
                </a:extLst>
              </p:cNvPr>
              <p:cNvSpPr>
                <a:spLocks noChangeArrowheads="1"/>
              </p:cNvSpPr>
              <p:nvPr/>
            </p:nvSpPr>
            <p:spPr bwMode="auto">
              <a:xfrm>
                <a:off x="594"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633" name="Rectangle 511">
                <a:extLst>
                  <a:ext uri="{FF2B5EF4-FFF2-40B4-BE49-F238E27FC236}">
                    <a16:creationId xmlns:a16="http://schemas.microsoft.com/office/drawing/2014/main" id="{31483A0A-9EDE-1AE6-476F-740B5AF687AA}"/>
                  </a:ext>
                </a:extLst>
              </p:cNvPr>
              <p:cNvSpPr>
                <a:spLocks noChangeArrowheads="1"/>
              </p:cNvSpPr>
              <p:nvPr/>
            </p:nvSpPr>
            <p:spPr bwMode="auto">
              <a:xfrm>
                <a:off x="961"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4" name="Rectangle 512">
                <a:extLst>
                  <a:ext uri="{FF2B5EF4-FFF2-40B4-BE49-F238E27FC236}">
                    <a16:creationId xmlns:a16="http://schemas.microsoft.com/office/drawing/2014/main" id="{FDF15ADD-FDCE-77C4-3031-70F1B3AC1BD5}"/>
                  </a:ext>
                </a:extLst>
              </p:cNvPr>
              <p:cNvSpPr>
                <a:spLocks noChangeArrowheads="1"/>
              </p:cNvSpPr>
              <p:nvPr/>
            </p:nvSpPr>
            <p:spPr bwMode="auto">
              <a:xfrm>
                <a:off x="158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5" name="Rectangle 513">
                <a:extLst>
                  <a:ext uri="{FF2B5EF4-FFF2-40B4-BE49-F238E27FC236}">
                    <a16:creationId xmlns:a16="http://schemas.microsoft.com/office/drawing/2014/main" id="{9EE9052C-273F-68E3-3A57-620EE955F3E4}"/>
                  </a:ext>
                </a:extLst>
              </p:cNvPr>
              <p:cNvSpPr>
                <a:spLocks noChangeArrowheads="1"/>
              </p:cNvSpPr>
              <p:nvPr/>
            </p:nvSpPr>
            <p:spPr bwMode="auto">
              <a:xfrm>
                <a:off x="1010" y="1714"/>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6" name="Rectangle 514">
                <a:extLst>
                  <a:ext uri="{FF2B5EF4-FFF2-40B4-BE49-F238E27FC236}">
                    <a16:creationId xmlns:a16="http://schemas.microsoft.com/office/drawing/2014/main" id="{161C2065-C84C-7A28-9660-67F4CF5722C7}"/>
                  </a:ext>
                </a:extLst>
              </p:cNvPr>
              <p:cNvSpPr>
                <a:spLocks noChangeArrowheads="1"/>
              </p:cNvSpPr>
              <p:nvPr/>
            </p:nvSpPr>
            <p:spPr bwMode="auto">
              <a:xfrm>
                <a:off x="1010" y="1702"/>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637" name="Rectangle 515">
                <a:extLst>
                  <a:ext uri="{FF2B5EF4-FFF2-40B4-BE49-F238E27FC236}">
                    <a16:creationId xmlns:a16="http://schemas.microsoft.com/office/drawing/2014/main" id="{B0B51E29-C977-2E3B-1BDE-B19E815D6277}"/>
                  </a:ext>
                </a:extLst>
              </p:cNvPr>
              <p:cNvSpPr>
                <a:spLocks noChangeArrowheads="1"/>
              </p:cNvSpPr>
              <p:nvPr/>
            </p:nvSpPr>
            <p:spPr bwMode="auto">
              <a:xfrm>
                <a:off x="107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38" name="Rectangle 516">
                <a:extLst>
                  <a:ext uri="{FF2B5EF4-FFF2-40B4-BE49-F238E27FC236}">
                    <a16:creationId xmlns:a16="http://schemas.microsoft.com/office/drawing/2014/main" id="{E60D43F4-8EA8-BF51-C466-BC64C49594B5}"/>
                  </a:ext>
                </a:extLst>
              </p:cNvPr>
              <p:cNvSpPr>
                <a:spLocks noChangeArrowheads="1"/>
              </p:cNvSpPr>
              <p:nvPr/>
            </p:nvSpPr>
            <p:spPr bwMode="auto">
              <a:xfrm>
                <a:off x="1637"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9" name="Rectangle 517">
                <a:extLst>
                  <a:ext uri="{FF2B5EF4-FFF2-40B4-BE49-F238E27FC236}">
                    <a16:creationId xmlns:a16="http://schemas.microsoft.com/office/drawing/2014/main" id="{D89343A1-C5BB-4376-DDDF-567D1E8AA9D2}"/>
                  </a:ext>
                </a:extLst>
              </p:cNvPr>
              <p:cNvSpPr>
                <a:spLocks noChangeArrowheads="1"/>
              </p:cNvSpPr>
              <p:nvPr/>
            </p:nvSpPr>
            <p:spPr bwMode="auto">
              <a:xfrm>
                <a:off x="2328" y="1714"/>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0" name="Rectangle 518">
                <a:extLst>
                  <a:ext uri="{FF2B5EF4-FFF2-40B4-BE49-F238E27FC236}">
                    <a16:creationId xmlns:a16="http://schemas.microsoft.com/office/drawing/2014/main" id="{3540BE07-E0B8-E7C0-8501-9A4A83A94BB8}"/>
                  </a:ext>
                </a:extLst>
              </p:cNvPr>
              <p:cNvSpPr>
                <a:spLocks noChangeArrowheads="1"/>
              </p:cNvSpPr>
              <p:nvPr/>
            </p:nvSpPr>
            <p:spPr bwMode="auto">
              <a:xfrm>
                <a:off x="1687" y="1714"/>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1" name="Rectangle 519">
                <a:extLst>
                  <a:ext uri="{FF2B5EF4-FFF2-40B4-BE49-F238E27FC236}">
                    <a16:creationId xmlns:a16="http://schemas.microsoft.com/office/drawing/2014/main" id="{83DE7EFA-5FF8-C08A-135F-7243C6791FAE}"/>
                  </a:ext>
                </a:extLst>
              </p:cNvPr>
              <p:cNvSpPr>
                <a:spLocks noChangeArrowheads="1"/>
              </p:cNvSpPr>
              <p:nvPr/>
            </p:nvSpPr>
            <p:spPr bwMode="auto">
              <a:xfrm>
                <a:off x="1687" y="1702"/>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642" name="Rectangle 520">
                <a:extLst>
                  <a:ext uri="{FF2B5EF4-FFF2-40B4-BE49-F238E27FC236}">
                    <a16:creationId xmlns:a16="http://schemas.microsoft.com/office/drawing/2014/main" id="{B096CDFD-5F5D-02A1-3235-25BF48149DE0}"/>
                  </a:ext>
                </a:extLst>
              </p:cNvPr>
              <p:cNvSpPr>
                <a:spLocks noChangeArrowheads="1"/>
              </p:cNvSpPr>
              <p:nvPr/>
            </p:nvSpPr>
            <p:spPr bwMode="auto">
              <a:xfrm>
                <a:off x="1761"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43" name="Rectangle 521">
                <a:extLst>
                  <a:ext uri="{FF2B5EF4-FFF2-40B4-BE49-F238E27FC236}">
                    <a16:creationId xmlns:a16="http://schemas.microsoft.com/office/drawing/2014/main" id="{3CD30283-01C3-36BA-2C00-3D8250A719DF}"/>
                  </a:ext>
                </a:extLst>
              </p:cNvPr>
              <p:cNvSpPr>
                <a:spLocks noChangeArrowheads="1"/>
              </p:cNvSpPr>
              <p:nvPr/>
            </p:nvSpPr>
            <p:spPr bwMode="auto">
              <a:xfrm>
                <a:off x="2381"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4" name="Rectangle 522">
                <a:extLst>
                  <a:ext uri="{FF2B5EF4-FFF2-40B4-BE49-F238E27FC236}">
                    <a16:creationId xmlns:a16="http://schemas.microsoft.com/office/drawing/2014/main" id="{A2002AD7-1DB8-0A17-5053-3A4E4B5F065C}"/>
                  </a:ext>
                </a:extLst>
              </p:cNvPr>
              <p:cNvSpPr>
                <a:spLocks noChangeArrowheads="1"/>
              </p:cNvSpPr>
              <p:nvPr/>
            </p:nvSpPr>
            <p:spPr bwMode="auto">
              <a:xfrm>
                <a:off x="2868"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5" name="Rectangle 523">
                <a:extLst>
                  <a:ext uri="{FF2B5EF4-FFF2-40B4-BE49-F238E27FC236}">
                    <a16:creationId xmlns:a16="http://schemas.microsoft.com/office/drawing/2014/main" id="{2748E0CF-5F0C-97DB-E9B6-5D87DF7E1A87}"/>
                  </a:ext>
                </a:extLst>
              </p:cNvPr>
              <p:cNvSpPr>
                <a:spLocks noChangeArrowheads="1"/>
              </p:cNvSpPr>
              <p:nvPr/>
            </p:nvSpPr>
            <p:spPr bwMode="auto">
              <a:xfrm>
                <a:off x="2430" y="1714"/>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6" name="Rectangle 524">
                <a:extLst>
                  <a:ext uri="{FF2B5EF4-FFF2-40B4-BE49-F238E27FC236}">
                    <a16:creationId xmlns:a16="http://schemas.microsoft.com/office/drawing/2014/main" id="{4D8E5CF0-3F78-34E3-530D-C35BEB5556DA}"/>
                  </a:ext>
                </a:extLst>
              </p:cNvPr>
              <p:cNvSpPr>
                <a:spLocks noChangeArrowheads="1"/>
              </p:cNvSpPr>
              <p:nvPr/>
            </p:nvSpPr>
            <p:spPr bwMode="auto">
              <a:xfrm>
                <a:off x="2430" y="1702"/>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647" name="Rectangle 525">
                <a:extLst>
                  <a:ext uri="{FF2B5EF4-FFF2-40B4-BE49-F238E27FC236}">
                    <a16:creationId xmlns:a16="http://schemas.microsoft.com/office/drawing/2014/main" id="{82C3AE1F-1751-083D-1000-D67AC620FAA5}"/>
                  </a:ext>
                </a:extLst>
              </p:cNvPr>
              <p:cNvSpPr>
                <a:spLocks noChangeArrowheads="1"/>
              </p:cNvSpPr>
              <p:nvPr/>
            </p:nvSpPr>
            <p:spPr bwMode="auto">
              <a:xfrm>
                <a:off x="2505"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48" name="Rectangle 526">
                <a:extLst>
                  <a:ext uri="{FF2B5EF4-FFF2-40B4-BE49-F238E27FC236}">
                    <a16:creationId xmlns:a16="http://schemas.microsoft.com/office/drawing/2014/main" id="{B86CF8DB-EE80-DB8B-3812-6C8D19ECFB35}"/>
                  </a:ext>
                </a:extLst>
              </p:cNvPr>
              <p:cNvSpPr>
                <a:spLocks noChangeArrowheads="1"/>
              </p:cNvSpPr>
              <p:nvPr/>
            </p:nvSpPr>
            <p:spPr bwMode="auto">
              <a:xfrm>
                <a:off x="2922"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9" name="Rectangle 527">
                <a:extLst>
                  <a:ext uri="{FF2B5EF4-FFF2-40B4-BE49-F238E27FC236}">
                    <a16:creationId xmlns:a16="http://schemas.microsoft.com/office/drawing/2014/main" id="{A8971CA4-8D1A-31C6-A13C-6708765AA949}"/>
                  </a:ext>
                </a:extLst>
              </p:cNvPr>
              <p:cNvSpPr>
                <a:spLocks noChangeArrowheads="1"/>
              </p:cNvSpPr>
              <p:nvPr/>
            </p:nvSpPr>
            <p:spPr bwMode="auto">
              <a:xfrm>
                <a:off x="3540"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0" name="Rectangle 528">
                <a:extLst>
                  <a:ext uri="{FF2B5EF4-FFF2-40B4-BE49-F238E27FC236}">
                    <a16:creationId xmlns:a16="http://schemas.microsoft.com/office/drawing/2014/main" id="{EE8E5960-E96B-CC82-16FF-DB16F76A6F44}"/>
                  </a:ext>
                </a:extLst>
              </p:cNvPr>
              <p:cNvSpPr>
                <a:spLocks noChangeArrowheads="1"/>
              </p:cNvSpPr>
              <p:nvPr/>
            </p:nvSpPr>
            <p:spPr bwMode="auto">
              <a:xfrm>
                <a:off x="2971" y="1714"/>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1" name="Rectangle 529">
                <a:extLst>
                  <a:ext uri="{FF2B5EF4-FFF2-40B4-BE49-F238E27FC236}">
                    <a16:creationId xmlns:a16="http://schemas.microsoft.com/office/drawing/2014/main" id="{0199AEFB-BA20-E268-CF10-6AFD09D691A7}"/>
                  </a:ext>
                </a:extLst>
              </p:cNvPr>
              <p:cNvSpPr>
                <a:spLocks noChangeArrowheads="1"/>
              </p:cNvSpPr>
              <p:nvPr/>
            </p:nvSpPr>
            <p:spPr bwMode="auto">
              <a:xfrm>
                <a:off x="2971" y="1702"/>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652" name="Rectangle 530">
                <a:extLst>
                  <a:ext uri="{FF2B5EF4-FFF2-40B4-BE49-F238E27FC236}">
                    <a16:creationId xmlns:a16="http://schemas.microsoft.com/office/drawing/2014/main" id="{076C5C4E-D0E1-CC5D-684C-F6C0DEB70645}"/>
                  </a:ext>
                </a:extLst>
              </p:cNvPr>
              <p:cNvSpPr>
                <a:spLocks noChangeArrowheads="1"/>
              </p:cNvSpPr>
              <p:nvPr/>
            </p:nvSpPr>
            <p:spPr bwMode="auto">
              <a:xfrm>
                <a:off x="305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53" name="Rectangle 531">
                <a:extLst>
                  <a:ext uri="{FF2B5EF4-FFF2-40B4-BE49-F238E27FC236}">
                    <a16:creationId xmlns:a16="http://schemas.microsoft.com/office/drawing/2014/main" id="{D8C2935D-4C9D-B9E6-03D3-9900B8E15A11}"/>
                  </a:ext>
                </a:extLst>
              </p:cNvPr>
              <p:cNvSpPr>
                <a:spLocks noChangeArrowheads="1"/>
              </p:cNvSpPr>
              <p:nvPr/>
            </p:nvSpPr>
            <p:spPr bwMode="auto">
              <a:xfrm>
                <a:off x="359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4" name="Rectangle 532">
                <a:extLst>
                  <a:ext uri="{FF2B5EF4-FFF2-40B4-BE49-F238E27FC236}">
                    <a16:creationId xmlns:a16="http://schemas.microsoft.com/office/drawing/2014/main" id="{AF08670D-047D-6A96-66F6-A7252347EA31}"/>
                  </a:ext>
                </a:extLst>
              </p:cNvPr>
              <p:cNvSpPr>
                <a:spLocks noChangeArrowheads="1"/>
              </p:cNvSpPr>
              <p:nvPr/>
            </p:nvSpPr>
            <p:spPr bwMode="auto">
              <a:xfrm>
                <a:off x="4212"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5" name="Rectangle 533">
                <a:extLst>
                  <a:ext uri="{FF2B5EF4-FFF2-40B4-BE49-F238E27FC236}">
                    <a16:creationId xmlns:a16="http://schemas.microsoft.com/office/drawing/2014/main" id="{3C943C26-A4D0-BCD3-651A-C2005A95CF1F}"/>
                  </a:ext>
                </a:extLst>
              </p:cNvPr>
              <p:cNvSpPr>
                <a:spLocks noChangeArrowheads="1"/>
              </p:cNvSpPr>
              <p:nvPr/>
            </p:nvSpPr>
            <p:spPr bwMode="auto">
              <a:xfrm>
                <a:off x="3643" y="1714"/>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6" name="Rectangle 534">
                <a:extLst>
                  <a:ext uri="{FF2B5EF4-FFF2-40B4-BE49-F238E27FC236}">
                    <a16:creationId xmlns:a16="http://schemas.microsoft.com/office/drawing/2014/main" id="{CAE8ADA9-276B-48D3-A57D-977BA2635E13}"/>
                  </a:ext>
                </a:extLst>
              </p:cNvPr>
              <p:cNvSpPr>
                <a:spLocks noChangeArrowheads="1"/>
              </p:cNvSpPr>
              <p:nvPr/>
            </p:nvSpPr>
            <p:spPr bwMode="auto">
              <a:xfrm>
                <a:off x="3643" y="1702"/>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657" name="Rectangle 535">
                <a:extLst>
                  <a:ext uri="{FF2B5EF4-FFF2-40B4-BE49-F238E27FC236}">
                    <a16:creationId xmlns:a16="http://schemas.microsoft.com/office/drawing/2014/main" id="{6D79E813-6D04-F6C3-C34C-2AE1BE2920E7}"/>
                  </a:ext>
                </a:extLst>
              </p:cNvPr>
              <p:cNvSpPr>
                <a:spLocks noChangeArrowheads="1"/>
              </p:cNvSpPr>
              <p:nvPr/>
            </p:nvSpPr>
            <p:spPr bwMode="auto">
              <a:xfrm>
                <a:off x="370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58" name="Rectangle 536">
                <a:extLst>
                  <a:ext uri="{FF2B5EF4-FFF2-40B4-BE49-F238E27FC236}">
                    <a16:creationId xmlns:a16="http://schemas.microsoft.com/office/drawing/2014/main" id="{262EF30B-4C97-3D56-2D6A-3CFEB9F9F575}"/>
                  </a:ext>
                </a:extLst>
              </p:cNvPr>
              <p:cNvSpPr>
                <a:spLocks noChangeArrowheads="1"/>
              </p:cNvSpPr>
              <p:nvPr/>
            </p:nvSpPr>
            <p:spPr bwMode="auto">
              <a:xfrm>
                <a:off x="4266"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9" name="Rectangle 537">
                <a:extLst>
                  <a:ext uri="{FF2B5EF4-FFF2-40B4-BE49-F238E27FC236}">
                    <a16:creationId xmlns:a16="http://schemas.microsoft.com/office/drawing/2014/main" id="{F0604A38-BD15-10F3-8F41-DB36235F1948}"/>
                  </a:ext>
                </a:extLst>
              </p:cNvPr>
              <p:cNvSpPr>
                <a:spLocks noChangeArrowheads="1"/>
              </p:cNvSpPr>
              <p:nvPr/>
            </p:nvSpPr>
            <p:spPr bwMode="auto">
              <a:xfrm>
                <a:off x="503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0" name="Rectangle 538">
                <a:extLst>
                  <a:ext uri="{FF2B5EF4-FFF2-40B4-BE49-F238E27FC236}">
                    <a16:creationId xmlns:a16="http://schemas.microsoft.com/office/drawing/2014/main" id="{E6CBEAD8-C0F2-009F-7B16-382BFB717547}"/>
                  </a:ext>
                </a:extLst>
              </p:cNvPr>
              <p:cNvSpPr>
                <a:spLocks noChangeArrowheads="1"/>
              </p:cNvSpPr>
              <p:nvPr/>
            </p:nvSpPr>
            <p:spPr bwMode="auto">
              <a:xfrm>
                <a:off x="4316" y="1714"/>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1" name="Rectangle 539">
                <a:extLst>
                  <a:ext uri="{FF2B5EF4-FFF2-40B4-BE49-F238E27FC236}">
                    <a16:creationId xmlns:a16="http://schemas.microsoft.com/office/drawing/2014/main" id="{3F90BFBC-5BD6-0783-3560-32AC7B18CE87}"/>
                  </a:ext>
                </a:extLst>
              </p:cNvPr>
              <p:cNvSpPr>
                <a:spLocks noChangeArrowheads="1"/>
              </p:cNvSpPr>
              <p:nvPr/>
            </p:nvSpPr>
            <p:spPr bwMode="auto">
              <a:xfrm>
                <a:off x="4316" y="1702"/>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662" name="Rectangle 540">
                <a:extLst>
                  <a:ext uri="{FF2B5EF4-FFF2-40B4-BE49-F238E27FC236}">
                    <a16:creationId xmlns:a16="http://schemas.microsoft.com/office/drawing/2014/main" id="{C2862CC2-1883-0E87-F87D-92BF2F17C22B}"/>
                  </a:ext>
                </a:extLst>
              </p:cNvPr>
              <p:cNvSpPr>
                <a:spLocks noChangeArrowheads="1"/>
              </p:cNvSpPr>
              <p:nvPr/>
            </p:nvSpPr>
            <p:spPr bwMode="auto">
              <a:xfrm>
                <a:off x="4374"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63" name="Rectangle 541">
                <a:extLst>
                  <a:ext uri="{FF2B5EF4-FFF2-40B4-BE49-F238E27FC236}">
                    <a16:creationId xmlns:a16="http://schemas.microsoft.com/office/drawing/2014/main" id="{D56D7687-B216-70F2-E193-AE5CCAF91D68}"/>
                  </a:ext>
                </a:extLst>
              </p:cNvPr>
              <p:cNvSpPr>
                <a:spLocks noChangeArrowheads="1"/>
              </p:cNvSpPr>
              <p:nvPr/>
            </p:nvSpPr>
            <p:spPr bwMode="auto">
              <a:xfrm>
                <a:off x="295"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4" name="Line 542">
                <a:extLst>
                  <a:ext uri="{FF2B5EF4-FFF2-40B4-BE49-F238E27FC236}">
                    <a16:creationId xmlns:a16="http://schemas.microsoft.com/office/drawing/2014/main" id="{FA089E62-CA26-1DCC-B63D-88F05BF90891}"/>
                  </a:ext>
                </a:extLst>
              </p:cNvPr>
              <p:cNvSpPr>
                <a:spLocks noChangeShapeType="1"/>
              </p:cNvSpPr>
              <p:nvPr/>
            </p:nvSpPr>
            <p:spPr bwMode="auto">
              <a:xfrm>
                <a:off x="295"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5" name="Line 543">
                <a:extLst>
                  <a:ext uri="{FF2B5EF4-FFF2-40B4-BE49-F238E27FC236}">
                    <a16:creationId xmlns:a16="http://schemas.microsoft.com/office/drawing/2014/main" id="{A51E5D97-0B5E-4A2F-B8C7-DF144F8CE384}"/>
                  </a:ext>
                </a:extLst>
              </p:cNvPr>
              <p:cNvSpPr>
                <a:spLocks noChangeShapeType="1"/>
              </p:cNvSpPr>
              <p:nvPr/>
            </p:nvSpPr>
            <p:spPr bwMode="auto">
              <a:xfrm>
                <a:off x="295"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6" name="Rectangle 544">
                <a:extLst>
                  <a:ext uri="{FF2B5EF4-FFF2-40B4-BE49-F238E27FC236}">
                    <a16:creationId xmlns:a16="http://schemas.microsoft.com/office/drawing/2014/main" id="{0073716A-322A-78A2-CC70-C2C68BE247F4}"/>
                  </a:ext>
                </a:extLst>
              </p:cNvPr>
              <p:cNvSpPr>
                <a:spLocks noChangeArrowheads="1"/>
              </p:cNvSpPr>
              <p:nvPr/>
            </p:nvSpPr>
            <p:spPr bwMode="auto">
              <a:xfrm>
                <a:off x="300" y="1709"/>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7" name="Line 545">
                <a:extLst>
                  <a:ext uri="{FF2B5EF4-FFF2-40B4-BE49-F238E27FC236}">
                    <a16:creationId xmlns:a16="http://schemas.microsoft.com/office/drawing/2014/main" id="{0FFFE751-BCA7-A08F-75C1-CE042AA19086}"/>
                  </a:ext>
                </a:extLst>
              </p:cNvPr>
              <p:cNvSpPr>
                <a:spLocks noChangeShapeType="1"/>
              </p:cNvSpPr>
              <p:nvPr/>
            </p:nvSpPr>
            <p:spPr bwMode="auto">
              <a:xfrm>
                <a:off x="300" y="1709"/>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8" name="Rectangle 546">
                <a:extLst>
                  <a:ext uri="{FF2B5EF4-FFF2-40B4-BE49-F238E27FC236}">
                    <a16:creationId xmlns:a16="http://schemas.microsoft.com/office/drawing/2014/main" id="{67957575-8A13-0155-CD72-FFC3D2CEB9C1}"/>
                  </a:ext>
                </a:extLst>
              </p:cNvPr>
              <p:cNvSpPr>
                <a:spLocks noChangeArrowheads="1"/>
              </p:cNvSpPr>
              <p:nvPr/>
            </p:nvSpPr>
            <p:spPr bwMode="auto">
              <a:xfrm>
                <a:off x="956"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9" name="Line 547">
                <a:extLst>
                  <a:ext uri="{FF2B5EF4-FFF2-40B4-BE49-F238E27FC236}">
                    <a16:creationId xmlns:a16="http://schemas.microsoft.com/office/drawing/2014/main" id="{7AEDF61B-8B70-A6E4-7150-27F70B1CA58B}"/>
                  </a:ext>
                </a:extLst>
              </p:cNvPr>
              <p:cNvSpPr>
                <a:spLocks noChangeShapeType="1"/>
              </p:cNvSpPr>
              <p:nvPr/>
            </p:nvSpPr>
            <p:spPr bwMode="auto">
              <a:xfrm>
                <a:off x="956"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0" name="Line 548">
                <a:extLst>
                  <a:ext uri="{FF2B5EF4-FFF2-40B4-BE49-F238E27FC236}">
                    <a16:creationId xmlns:a16="http://schemas.microsoft.com/office/drawing/2014/main" id="{D9E1AB62-885B-E207-5A0B-D2613A428E98}"/>
                  </a:ext>
                </a:extLst>
              </p:cNvPr>
              <p:cNvSpPr>
                <a:spLocks noChangeShapeType="1"/>
              </p:cNvSpPr>
              <p:nvPr/>
            </p:nvSpPr>
            <p:spPr bwMode="auto">
              <a:xfrm>
                <a:off x="956"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1" name="Rectangle 549">
                <a:extLst>
                  <a:ext uri="{FF2B5EF4-FFF2-40B4-BE49-F238E27FC236}">
                    <a16:creationId xmlns:a16="http://schemas.microsoft.com/office/drawing/2014/main" id="{C92E4570-E701-0499-89D6-2E2DB1BE334C}"/>
                  </a:ext>
                </a:extLst>
              </p:cNvPr>
              <p:cNvSpPr>
                <a:spLocks noChangeArrowheads="1"/>
              </p:cNvSpPr>
              <p:nvPr/>
            </p:nvSpPr>
            <p:spPr bwMode="auto">
              <a:xfrm>
                <a:off x="961" y="1709"/>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2" name="Line 550">
                <a:extLst>
                  <a:ext uri="{FF2B5EF4-FFF2-40B4-BE49-F238E27FC236}">
                    <a16:creationId xmlns:a16="http://schemas.microsoft.com/office/drawing/2014/main" id="{D5FC8B61-6617-D4A8-5A5F-D264B1D78CDD}"/>
                  </a:ext>
                </a:extLst>
              </p:cNvPr>
              <p:cNvSpPr>
                <a:spLocks noChangeShapeType="1"/>
              </p:cNvSpPr>
              <p:nvPr/>
            </p:nvSpPr>
            <p:spPr bwMode="auto">
              <a:xfrm>
                <a:off x="961" y="1709"/>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3" name="Rectangle 551">
                <a:extLst>
                  <a:ext uri="{FF2B5EF4-FFF2-40B4-BE49-F238E27FC236}">
                    <a16:creationId xmlns:a16="http://schemas.microsoft.com/office/drawing/2014/main" id="{1036101E-10A6-9E47-5B4F-E7C051FB3130}"/>
                  </a:ext>
                </a:extLst>
              </p:cNvPr>
              <p:cNvSpPr>
                <a:spLocks noChangeArrowheads="1"/>
              </p:cNvSpPr>
              <p:nvPr/>
            </p:nvSpPr>
            <p:spPr bwMode="auto">
              <a:xfrm>
                <a:off x="1633" y="170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4" name="Line 552">
                <a:extLst>
                  <a:ext uri="{FF2B5EF4-FFF2-40B4-BE49-F238E27FC236}">
                    <a16:creationId xmlns:a16="http://schemas.microsoft.com/office/drawing/2014/main" id="{8996AB6C-39FD-D280-CDD8-C99FB8FB45AD}"/>
                  </a:ext>
                </a:extLst>
              </p:cNvPr>
              <p:cNvSpPr>
                <a:spLocks noChangeShapeType="1"/>
              </p:cNvSpPr>
              <p:nvPr/>
            </p:nvSpPr>
            <p:spPr bwMode="auto">
              <a:xfrm>
                <a:off x="1633" y="1709"/>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5" name="Line 553">
                <a:extLst>
                  <a:ext uri="{FF2B5EF4-FFF2-40B4-BE49-F238E27FC236}">
                    <a16:creationId xmlns:a16="http://schemas.microsoft.com/office/drawing/2014/main" id="{2BFBA978-DBE2-1C7A-70FE-8886B2755EB7}"/>
                  </a:ext>
                </a:extLst>
              </p:cNvPr>
              <p:cNvSpPr>
                <a:spLocks noChangeShapeType="1"/>
              </p:cNvSpPr>
              <p:nvPr/>
            </p:nvSpPr>
            <p:spPr bwMode="auto">
              <a:xfrm>
                <a:off x="1633"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6" name="Rectangle 554">
                <a:extLst>
                  <a:ext uri="{FF2B5EF4-FFF2-40B4-BE49-F238E27FC236}">
                    <a16:creationId xmlns:a16="http://schemas.microsoft.com/office/drawing/2014/main" id="{60881373-979A-A88F-4234-C0C810FE7A93}"/>
                  </a:ext>
                </a:extLst>
              </p:cNvPr>
              <p:cNvSpPr>
                <a:spLocks noChangeArrowheads="1"/>
              </p:cNvSpPr>
              <p:nvPr/>
            </p:nvSpPr>
            <p:spPr bwMode="auto">
              <a:xfrm>
                <a:off x="1637" y="1709"/>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7" name="Line 555">
                <a:extLst>
                  <a:ext uri="{FF2B5EF4-FFF2-40B4-BE49-F238E27FC236}">
                    <a16:creationId xmlns:a16="http://schemas.microsoft.com/office/drawing/2014/main" id="{132E3E76-2E85-E07C-18E1-799555001778}"/>
                  </a:ext>
                </a:extLst>
              </p:cNvPr>
              <p:cNvSpPr>
                <a:spLocks noChangeShapeType="1"/>
              </p:cNvSpPr>
              <p:nvPr/>
            </p:nvSpPr>
            <p:spPr bwMode="auto">
              <a:xfrm>
                <a:off x="1637" y="1709"/>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8" name="Rectangle 556">
                <a:extLst>
                  <a:ext uri="{FF2B5EF4-FFF2-40B4-BE49-F238E27FC236}">
                    <a16:creationId xmlns:a16="http://schemas.microsoft.com/office/drawing/2014/main" id="{52EE3C61-E08A-94EE-C21E-87F294ECD03B}"/>
                  </a:ext>
                </a:extLst>
              </p:cNvPr>
              <p:cNvSpPr>
                <a:spLocks noChangeArrowheads="1"/>
              </p:cNvSpPr>
              <p:nvPr/>
            </p:nvSpPr>
            <p:spPr bwMode="auto">
              <a:xfrm>
                <a:off x="2376"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9" name="Line 557">
                <a:extLst>
                  <a:ext uri="{FF2B5EF4-FFF2-40B4-BE49-F238E27FC236}">
                    <a16:creationId xmlns:a16="http://schemas.microsoft.com/office/drawing/2014/main" id="{FFC6CD07-085E-5A86-DEDE-F80D627E5477}"/>
                  </a:ext>
                </a:extLst>
              </p:cNvPr>
              <p:cNvSpPr>
                <a:spLocks noChangeShapeType="1"/>
              </p:cNvSpPr>
              <p:nvPr/>
            </p:nvSpPr>
            <p:spPr bwMode="auto">
              <a:xfrm>
                <a:off x="2376"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0" name="Line 558">
                <a:extLst>
                  <a:ext uri="{FF2B5EF4-FFF2-40B4-BE49-F238E27FC236}">
                    <a16:creationId xmlns:a16="http://schemas.microsoft.com/office/drawing/2014/main" id="{74D2B079-55CB-A326-5D5F-7FE46B8BEE4B}"/>
                  </a:ext>
                </a:extLst>
              </p:cNvPr>
              <p:cNvSpPr>
                <a:spLocks noChangeShapeType="1"/>
              </p:cNvSpPr>
              <p:nvPr/>
            </p:nvSpPr>
            <p:spPr bwMode="auto">
              <a:xfrm>
                <a:off x="2376"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1" name="Rectangle 559">
                <a:extLst>
                  <a:ext uri="{FF2B5EF4-FFF2-40B4-BE49-F238E27FC236}">
                    <a16:creationId xmlns:a16="http://schemas.microsoft.com/office/drawing/2014/main" id="{6E17E901-3786-15E3-F2AD-0CDED14416AD}"/>
                  </a:ext>
                </a:extLst>
              </p:cNvPr>
              <p:cNvSpPr>
                <a:spLocks noChangeArrowheads="1"/>
              </p:cNvSpPr>
              <p:nvPr/>
            </p:nvSpPr>
            <p:spPr bwMode="auto">
              <a:xfrm>
                <a:off x="2381" y="1709"/>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2" name="Line 560">
                <a:extLst>
                  <a:ext uri="{FF2B5EF4-FFF2-40B4-BE49-F238E27FC236}">
                    <a16:creationId xmlns:a16="http://schemas.microsoft.com/office/drawing/2014/main" id="{696EB3BB-5931-131E-8A1D-13CD8F520E15}"/>
                  </a:ext>
                </a:extLst>
              </p:cNvPr>
              <p:cNvSpPr>
                <a:spLocks noChangeShapeType="1"/>
              </p:cNvSpPr>
              <p:nvPr/>
            </p:nvSpPr>
            <p:spPr bwMode="auto">
              <a:xfrm>
                <a:off x="2381" y="1709"/>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3" name="Rectangle 561">
                <a:extLst>
                  <a:ext uri="{FF2B5EF4-FFF2-40B4-BE49-F238E27FC236}">
                    <a16:creationId xmlns:a16="http://schemas.microsoft.com/office/drawing/2014/main" id="{42EC9035-463F-58D0-6D30-4E2A5672997F}"/>
                  </a:ext>
                </a:extLst>
              </p:cNvPr>
              <p:cNvSpPr>
                <a:spLocks noChangeArrowheads="1"/>
              </p:cNvSpPr>
              <p:nvPr/>
            </p:nvSpPr>
            <p:spPr bwMode="auto">
              <a:xfrm>
                <a:off x="2917"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4" name="Line 562">
                <a:extLst>
                  <a:ext uri="{FF2B5EF4-FFF2-40B4-BE49-F238E27FC236}">
                    <a16:creationId xmlns:a16="http://schemas.microsoft.com/office/drawing/2014/main" id="{0ACEDA8D-93CF-8FF4-3D7D-ED2FD660C36C}"/>
                  </a:ext>
                </a:extLst>
              </p:cNvPr>
              <p:cNvSpPr>
                <a:spLocks noChangeShapeType="1"/>
              </p:cNvSpPr>
              <p:nvPr/>
            </p:nvSpPr>
            <p:spPr bwMode="auto">
              <a:xfrm>
                <a:off x="2917"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5" name="Line 563">
                <a:extLst>
                  <a:ext uri="{FF2B5EF4-FFF2-40B4-BE49-F238E27FC236}">
                    <a16:creationId xmlns:a16="http://schemas.microsoft.com/office/drawing/2014/main" id="{EAD93994-95AE-C4F1-54F0-97A84F80FF24}"/>
                  </a:ext>
                </a:extLst>
              </p:cNvPr>
              <p:cNvSpPr>
                <a:spLocks noChangeShapeType="1"/>
              </p:cNvSpPr>
              <p:nvPr/>
            </p:nvSpPr>
            <p:spPr bwMode="auto">
              <a:xfrm>
                <a:off x="2917"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6" name="Rectangle 564">
                <a:extLst>
                  <a:ext uri="{FF2B5EF4-FFF2-40B4-BE49-F238E27FC236}">
                    <a16:creationId xmlns:a16="http://schemas.microsoft.com/office/drawing/2014/main" id="{652D25D9-DA3D-DBC1-0445-AD32DE1ACA58}"/>
                  </a:ext>
                </a:extLst>
              </p:cNvPr>
              <p:cNvSpPr>
                <a:spLocks noChangeArrowheads="1"/>
              </p:cNvSpPr>
              <p:nvPr/>
            </p:nvSpPr>
            <p:spPr bwMode="auto">
              <a:xfrm>
                <a:off x="2922" y="1709"/>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7" name="Line 565">
                <a:extLst>
                  <a:ext uri="{FF2B5EF4-FFF2-40B4-BE49-F238E27FC236}">
                    <a16:creationId xmlns:a16="http://schemas.microsoft.com/office/drawing/2014/main" id="{C2CA1778-800C-A84A-AA21-BCAF7CB16906}"/>
                  </a:ext>
                </a:extLst>
              </p:cNvPr>
              <p:cNvSpPr>
                <a:spLocks noChangeShapeType="1"/>
              </p:cNvSpPr>
              <p:nvPr/>
            </p:nvSpPr>
            <p:spPr bwMode="auto">
              <a:xfrm>
                <a:off x="2922" y="1709"/>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8" name="Rectangle 566">
                <a:extLst>
                  <a:ext uri="{FF2B5EF4-FFF2-40B4-BE49-F238E27FC236}">
                    <a16:creationId xmlns:a16="http://schemas.microsoft.com/office/drawing/2014/main" id="{B06C7BFE-B38D-7E10-BB19-B291E1457DDE}"/>
                  </a:ext>
                </a:extLst>
              </p:cNvPr>
              <p:cNvSpPr>
                <a:spLocks noChangeArrowheads="1"/>
              </p:cNvSpPr>
              <p:nvPr/>
            </p:nvSpPr>
            <p:spPr bwMode="auto">
              <a:xfrm>
                <a:off x="3589"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9" name="Line 567">
                <a:extLst>
                  <a:ext uri="{FF2B5EF4-FFF2-40B4-BE49-F238E27FC236}">
                    <a16:creationId xmlns:a16="http://schemas.microsoft.com/office/drawing/2014/main" id="{F8EC6534-12B1-5758-8FF7-0DE70D984A68}"/>
                  </a:ext>
                </a:extLst>
              </p:cNvPr>
              <p:cNvSpPr>
                <a:spLocks noChangeShapeType="1"/>
              </p:cNvSpPr>
              <p:nvPr/>
            </p:nvSpPr>
            <p:spPr bwMode="auto">
              <a:xfrm>
                <a:off x="3589"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0" name="Line 568">
                <a:extLst>
                  <a:ext uri="{FF2B5EF4-FFF2-40B4-BE49-F238E27FC236}">
                    <a16:creationId xmlns:a16="http://schemas.microsoft.com/office/drawing/2014/main" id="{22078331-E38B-075A-1F3A-7F46C3F82BD3}"/>
                  </a:ext>
                </a:extLst>
              </p:cNvPr>
              <p:cNvSpPr>
                <a:spLocks noChangeShapeType="1"/>
              </p:cNvSpPr>
              <p:nvPr/>
            </p:nvSpPr>
            <p:spPr bwMode="auto">
              <a:xfrm>
                <a:off x="3589"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1" name="Rectangle 569">
                <a:extLst>
                  <a:ext uri="{FF2B5EF4-FFF2-40B4-BE49-F238E27FC236}">
                    <a16:creationId xmlns:a16="http://schemas.microsoft.com/office/drawing/2014/main" id="{0C1F8851-A509-9226-0BDE-FFF5DD46EEB0}"/>
                  </a:ext>
                </a:extLst>
              </p:cNvPr>
              <p:cNvSpPr>
                <a:spLocks noChangeArrowheads="1"/>
              </p:cNvSpPr>
              <p:nvPr/>
            </p:nvSpPr>
            <p:spPr bwMode="auto">
              <a:xfrm>
                <a:off x="3594" y="1709"/>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2" name="Line 570">
                <a:extLst>
                  <a:ext uri="{FF2B5EF4-FFF2-40B4-BE49-F238E27FC236}">
                    <a16:creationId xmlns:a16="http://schemas.microsoft.com/office/drawing/2014/main" id="{809FC0CD-713D-3B4F-E265-056556888053}"/>
                  </a:ext>
                </a:extLst>
              </p:cNvPr>
              <p:cNvSpPr>
                <a:spLocks noChangeShapeType="1"/>
              </p:cNvSpPr>
              <p:nvPr/>
            </p:nvSpPr>
            <p:spPr bwMode="auto">
              <a:xfrm>
                <a:off x="3594" y="1709"/>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3" name="Rectangle 571">
                <a:extLst>
                  <a:ext uri="{FF2B5EF4-FFF2-40B4-BE49-F238E27FC236}">
                    <a16:creationId xmlns:a16="http://schemas.microsoft.com/office/drawing/2014/main" id="{D539E5CE-EBA0-802D-2C67-8FFD9072074A}"/>
                  </a:ext>
                </a:extLst>
              </p:cNvPr>
              <p:cNvSpPr>
                <a:spLocks noChangeArrowheads="1"/>
              </p:cNvSpPr>
              <p:nvPr/>
            </p:nvSpPr>
            <p:spPr bwMode="auto">
              <a:xfrm>
                <a:off x="4262" y="170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4" name="Line 572">
                <a:extLst>
                  <a:ext uri="{FF2B5EF4-FFF2-40B4-BE49-F238E27FC236}">
                    <a16:creationId xmlns:a16="http://schemas.microsoft.com/office/drawing/2014/main" id="{C0A84BF8-6F6A-49A5-6C41-43C871390507}"/>
                  </a:ext>
                </a:extLst>
              </p:cNvPr>
              <p:cNvSpPr>
                <a:spLocks noChangeShapeType="1"/>
              </p:cNvSpPr>
              <p:nvPr/>
            </p:nvSpPr>
            <p:spPr bwMode="auto">
              <a:xfrm>
                <a:off x="4262" y="1709"/>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5" name="Line 573">
                <a:extLst>
                  <a:ext uri="{FF2B5EF4-FFF2-40B4-BE49-F238E27FC236}">
                    <a16:creationId xmlns:a16="http://schemas.microsoft.com/office/drawing/2014/main" id="{3B83145F-026A-EB6C-4316-30232FAA8E81}"/>
                  </a:ext>
                </a:extLst>
              </p:cNvPr>
              <p:cNvSpPr>
                <a:spLocks noChangeShapeType="1"/>
              </p:cNvSpPr>
              <p:nvPr/>
            </p:nvSpPr>
            <p:spPr bwMode="auto">
              <a:xfrm>
                <a:off x="4262"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6" name="Rectangle 574">
                <a:extLst>
                  <a:ext uri="{FF2B5EF4-FFF2-40B4-BE49-F238E27FC236}">
                    <a16:creationId xmlns:a16="http://schemas.microsoft.com/office/drawing/2014/main" id="{DC1051A8-D717-EFFD-63E4-49529875705A}"/>
                  </a:ext>
                </a:extLst>
              </p:cNvPr>
              <p:cNvSpPr>
                <a:spLocks noChangeArrowheads="1"/>
              </p:cNvSpPr>
              <p:nvPr/>
            </p:nvSpPr>
            <p:spPr bwMode="auto">
              <a:xfrm>
                <a:off x="4266" y="1709"/>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7" name="Line 575">
                <a:extLst>
                  <a:ext uri="{FF2B5EF4-FFF2-40B4-BE49-F238E27FC236}">
                    <a16:creationId xmlns:a16="http://schemas.microsoft.com/office/drawing/2014/main" id="{B183AC93-AC02-517C-6DB6-C2C6C0AF0A3F}"/>
                  </a:ext>
                </a:extLst>
              </p:cNvPr>
              <p:cNvSpPr>
                <a:spLocks noChangeShapeType="1"/>
              </p:cNvSpPr>
              <p:nvPr/>
            </p:nvSpPr>
            <p:spPr bwMode="auto">
              <a:xfrm>
                <a:off x="4266" y="1709"/>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8" name="Rectangle 576">
                <a:extLst>
                  <a:ext uri="{FF2B5EF4-FFF2-40B4-BE49-F238E27FC236}">
                    <a16:creationId xmlns:a16="http://schemas.microsoft.com/office/drawing/2014/main" id="{055CFCF5-8A0F-A92E-5BB8-C82A1E53644A}"/>
                  </a:ext>
                </a:extLst>
              </p:cNvPr>
              <p:cNvSpPr>
                <a:spLocks noChangeArrowheads="1"/>
              </p:cNvSpPr>
              <p:nvPr/>
            </p:nvSpPr>
            <p:spPr bwMode="auto">
              <a:xfrm>
                <a:off x="5083"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9" name="Line 577">
                <a:extLst>
                  <a:ext uri="{FF2B5EF4-FFF2-40B4-BE49-F238E27FC236}">
                    <a16:creationId xmlns:a16="http://schemas.microsoft.com/office/drawing/2014/main" id="{11A2E607-628E-9381-EA79-A9A5D51ADB30}"/>
                  </a:ext>
                </a:extLst>
              </p:cNvPr>
              <p:cNvSpPr>
                <a:spLocks noChangeShapeType="1"/>
              </p:cNvSpPr>
              <p:nvPr/>
            </p:nvSpPr>
            <p:spPr bwMode="auto">
              <a:xfrm>
                <a:off x="5083"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0" name="Line 578">
                <a:extLst>
                  <a:ext uri="{FF2B5EF4-FFF2-40B4-BE49-F238E27FC236}">
                    <a16:creationId xmlns:a16="http://schemas.microsoft.com/office/drawing/2014/main" id="{C1EF07E4-6F80-C9A0-0DD8-76A0BCE78660}"/>
                  </a:ext>
                </a:extLst>
              </p:cNvPr>
              <p:cNvSpPr>
                <a:spLocks noChangeShapeType="1"/>
              </p:cNvSpPr>
              <p:nvPr/>
            </p:nvSpPr>
            <p:spPr bwMode="auto">
              <a:xfrm>
                <a:off x="5083"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1" name="Rectangle 579">
                <a:extLst>
                  <a:ext uri="{FF2B5EF4-FFF2-40B4-BE49-F238E27FC236}">
                    <a16:creationId xmlns:a16="http://schemas.microsoft.com/office/drawing/2014/main" id="{01D8073C-A037-33B7-C4BE-958C2CA9BC6E}"/>
                  </a:ext>
                </a:extLst>
              </p:cNvPr>
              <p:cNvSpPr>
                <a:spLocks noChangeArrowheads="1"/>
              </p:cNvSpPr>
              <p:nvPr/>
            </p:nvSpPr>
            <p:spPr bwMode="auto">
              <a:xfrm>
                <a:off x="295"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2" name="Line 580">
                <a:extLst>
                  <a:ext uri="{FF2B5EF4-FFF2-40B4-BE49-F238E27FC236}">
                    <a16:creationId xmlns:a16="http://schemas.microsoft.com/office/drawing/2014/main" id="{54CC7139-DA1C-224D-6420-FEF2553ACECB}"/>
                  </a:ext>
                </a:extLst>
              </p:cNvPr>
              <p:cNvSpPr>
                <a:spLocks noChangeShapeType="1"/>
              </p:cNvSpPr>
              <p:nvPr/>
            </p:nvSpPr>
            <p:spPr bwMode="auto">
              <a:xfrm>
                <a:off x="295"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3" name="Rectangle 581">
                <a:extLst>
                  <a:ext uri="{FF2B5EF4-FFF2-40B4-BE49-F238E27FC236}">
                    <a16:creationId xmlns:a16="http://schemas.microsoft.com/office/drawing/2014/main" id="{DA38DFD7-AAF6-9222-0B22-1D5B5253A618}"/>
                  </a:ext>
                </a:extLst>
              </p:cNvPr>
              <p:cNvSpPr>
                <a:spLocks noChangeArrowheads="1"/>
              </p:cNvSpPr>
              <p:nvPr/>
            </p:nvSpPr>
            <p:spPr bwMode="auto">
              <a:xfrm>
                <a:off x="295"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4" name="Line 582">
                <a:extLst>
                  <a:ext uri="{FF2B5EF4-FFF2-40B4-BE49-F238E27FC236}">
                    <a16:creationId xmlns:a16="http://schemas.microsoft.com/office/drawing/2014/main" id="{C1952A67-8B24-DB94-CA18-BF9381E58C29}"/>
                  </a:ext>
                </a:extLst>
              </p:cNvPr>
              <p:cNvSpPr>
                <a:spLocks noChangeShapeType="1"/>
              </p:cNvSpPr>
              <p:nvPr/>
            </p:nvSpPr>
            <p:spPr bwMode="auto">
              <a:xfrm>
                <a:off x="295"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5" name="Line 583">
                <a:extLst>
                  <a:ext uri="{FF2B5EF4-FFF2-40B4-BE49-F238E27FC236}">
                    <a16:creationId xmlns:a16="http://schemas.microsoft.com/office/drawing/2014/main" id="{B1EFA70F-7A5C-8E38-EDD1-7FF27E3B9413}"/>
                  </a:ext>
                </a:extLst>
              </p:cNvPr>
              <p:cNvSpPr>
                <a:spLocks noChangeShapeType="1"/>
              </p:cNvSpPr>
              <p:nvPr/>
            </p:nvSpPr>
            <p:spPr bwMode="auto">
              <a:xfrm>
                <a:off x="295"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6" name="Rectangle 584">
                <a:extLst>
                  <a:ext uri="{FF2B5EF4-FFF2-40B4-BE49-F238E27FC236}">
                    <a16:creationId xmlns:a16="http://schemas.microsoft.com/office/drawing/2014/main" id="{D5DA91F2-74E3-09A1-C774-A3B046FCCEBA}"/>
                  </a:ext>
                </a:extLst>
              </p:cNvPr>
              <p:cNvSpPr>
                <a:spLocks noChangeArrowheads="1"/>
              </p:cNvSpPr>
              <p:nvPr/>
            </p:nvSpPr>
            <p:spPr bwMode="auto">
              <a:xfrm>
                <a:off x="295"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7" name="Line 585">
                <a:extLst>
                  <a:ext uri="{FF2B5EF4-FFF2-40B4-BE49-F238E27FC236}">
                    <a16:creationId xmlns:a16="http://schemas.microsoft.com/office/drawing/2014/main" id="{70F09047-0268-232A-D398-428D0BD8BA9E}"/>
                  </a:ext>
                </a:extLst>
              </p:cNvPr>
              <p:cNvSpPr>
                <a:spLocks noChangeShapeType="1"/>
              </p:cNvSpPr>
              <p:nvPr/>
            </p:nvSpPr>
            <p:spPr bwMode="auto">
              <a:xfrm>
                <a:off x="295"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8" name="Line 586">
                <a:extLst>
                  <a:ext uri="{FF2B5EF4-FFF2-40B4-BE49-F238E27FC236}">
                    <a16:creationId xmlns:a16="http://schemas.microsoft.com/office/drawing/2014/main" id="{9D27E9EE-0268-6096-9735-FCF6FF38A2D8}"/>
                  </a:ext>
                </a:extLst>
              </p:cNvPr>
              <p:cNvSpPr>
                <a:spLocks noChangeShapeType="1"/>
              </p:cNvSpPr>
              <p:nvPr/>
            </p:nvSpPr>
            <p:spPr bwMode="auto">
              <a:xfrm>
                <a:off x="295"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9" name="Rectangle 587">
                <a:extLst>
                  <a:ext uri="{FF2B5EF4-FFF2-40B4-BE49-F238E27FC236}">
                    <a16:creationId xmlns:a16="http://schemas.microsoft.com/office/drawing/2014/main" id="{6C3FD10B-2C5D-F8C8-F5A3-A2766786D135}"/>
                  </a:ext>
                </a:extLst>
              </p:cNvPr>
              <p:cNvSpPr>
                <a:spLocks noChangeArrowheads="1"/>
              </p:cNvSpPr>
              <p:nvPr/>
            </p:nvSpPr>
            <p:spPr bwMode="auto">
              <a:xfrm>
                <a:off x="300" y="1847"/>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0" name="Line 588">
                <a:extLst>
                  <a:ext uri="{FF2B5EF4-FFF2-40B4-BE49-F238E27FC236}">
                    <a16:creationId xmlns:a16="http://schemas.microsoft.com/office/drawing/2014/main" id="{8941EC43-5484-8CE6-5F5F-999C928CB42B}"/>
                  </a:ext>
                </a:extLst>
              </p:cNvPr>
              <p:cNvSpPr>
                <a:spLocks noChangeShapeType="1"/>
              </p:cNvSpPr>
              <p:nvPr/>
            </p:nvSpPr>
            <p:spPr bwMode="auto">
              <a:xfrm>
                <a:off x="300" y="1847"/>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1" name="Rectangle 589">
                <a:extLst>
                  <a:ext uri="{FF2B5EF4-FFF2-40B4-BE49-F238E27FC236}">
                    <a16:creationId xmlns:a16="http://schemas.microsoft.com/office/drawing/2014/main" id="{720E4ECF-5E66-1467-414B-A08CA3165D8A}"/>
                  </a:ext>
                </a:extLst>
              </p:cNvPr>
              <p:cNvSpPr>
                <a:spLocks noChangeArrowheads="1"/>
              </p:cNvSpPr>
              <p:nvPr/>
            </p:nvSpPr>
            <p:spPr bwMode="auto">
              <a:xfrm>
                <a:off x="956"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2" name="Line 590">
                <a:extLst>
                  <a:ext uri="{FF2B5EF4-FFF2-40B4-BE49-F238E27FC236}">
                    <a16:creationId xmlns:a16="http://schemas.microsoft.com/office/drawing/2014/main" id="{5D2F0B80-9510-96B4-0371-D222B89FCC07}"/>
                  </a:ext>
                </a:extLst>
              </p:cNvPr>
              <p:cNvSpPr>
                <a:spLocks noChangeShapeType="1"/>
              </p:cNvSpPr>
              <p:nvPr/>
            </p:nvSpPr>
            <p:spPr bwMode="auto">
              <a:xfrm>
                <a:off x="956"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3" name="Rectangle 591">
                <a:extLst>
                  <a:ext uri="{FF2B5EF4-FFF2-40B4-BE49-F238E27FC236}">
                    <a16:creationId xmlns:a16="http://schemas.microsoft.com/office/drawing/2014/main" id="{C099FDD3-B9AC-2111-D5D6-3D5D54E83732}"/>
                  </a:ext>
                </a:extLst>
              </p:cNvPr>
              <p:cNvSpPr>
                <a:spLocks noChangeArrowheads="1"/>
              </p:cNvSpPr>
              <p:nvPr/>
            </p:nvSpPr>
            <p:spPr bwMode="auto">
              <a:xfrm>
                <a:off x="956"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4" name="Line 592">
                <a:extLst>
                  <a:ext uri="{FF2B5EF4-FFF2-40B4-BE49-F238E27FC236}">
                    <a16:creationId xmlns:a16="http://schemas.microsoft.com/office/drawing/2014/main" id="{4452F5FA-D416-FEFC-9346-1743A87D685C}"/>
                  </a:ext>
                </a:extLst>
              </p:cNvPr>
              <p:cNvSpPr>
                <a:spLocks noChangeShapeType="1"/>
              </p:cNvSpPr>
              <p:nvPr/>
            </p:nvSpPr>
            <p:spPr bwMode="auto">
              <a:xfrm>
                <a:off x="956"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5" name="Line 593">
                <a:extLst>
                  <a:ext uri="{FF2B5EF4-FFF2-40B4-BE49-F238E27FC236}">
                    <a16:creationId xmlns:a16="http://schemas.microsoft.com/office/drawing/2014/main" id="{EACEBC36-99EE-125D-C856-C97C67CBCCEF}"/>
                  </a:ext>
                </a:extLst>
              </p:cNvPr>
              <p:cNvSpPr>
                <a:spLocks noChangeShapeType="1"/>
              </p:cNvSpPr>
              <p:nvPr/>
            </p:nvSpPr>
            <p:spPr bwMode="auto">
              <a:xfrm>
                <a:off x="956"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6" name="Rectangle 594">
                <a:extLst>
                  <a:ext uri="{FF2B5EF4-FFF2-40B4-BE49-F238E27FC236}">
                    <a16:creationId xmlns:a16="http://schemas.microsoft.com/office/drawing/2014/main" id="{4F1A3F07-EABF-0B10-DF4A-6D0E6AE9E49D}"/>
                  </a:ext>
                </a:extLst>
              </p:cNvPr>
              <p:cNvSpPr>
                <a:spLocks noChangeArrowheads="1"/>
              </p:cNvSpPr>
              <p:nvPr/>
            </p:nvSpPr>
            <p:spPr bwMode="auto">
              <a:xfrm>
                <a:off x="961" y="1847"/>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7" name="Line 595">
                <a:extLst>
                  <a:ext uri="{FF2B5EF4-FFF2-40B4-BE49-F238E27FC236}">
                    <a16:creationId xmlns:a16="http://schemas.microsoft.com/office/drawing/2014/main" id="{0F33F8BA-7500-790D-E844-0E7B67EF4272}"/>
                  </a:ext>
                </a:extLst>
              </p:cNvPr>
              <p:cNvSpPr>
                <a:spLocks noChangeShapeType="1"/>
              </p:cNvSpPr>
              <p:nvPr/>
            </p:nvSpPr>
            <p:spPr bwMode="auto">
              <a:xfrm>
                <a:off x="961" y="1847"/>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8" name="Rectangle 596">
                <a:extLst>
                  <a:ext uri="{FF2B5EF4-FFF2-40B4-BE49-F238E27FC236}">
                    <a16:creationId xmlns:a16="http://schemas.microsoft.com/office/drawing/2014/main" id="{EB38FDE6-4928-708A-8839-75E18E85AF10}"/>
                  </a:ext>
                </a:extLst>
              </p:cNvPr>
              <p:cNvSpPr>
                <a:spLocks noChangeArrowheads="1"/>
              </p:cNvSpPr>
              <p:nvPr/>
            </p:nvSpPr>
            <p:spPr bwMode="auto">
              <a:xfrm>
                <a:off x="1633" y="1714"/>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9" name="Line 597">
                <a:extLst>
                  <a:ext uri="{FF2B5EF4-FFF2-40B4-BE49-F238E27FC236}">
                    <a16:creationId xmlns:a16="http://schemas.microsoft.com/office/drawing/2014/main" id="{24E73DA6-9130-A331-677E-83C0C9B0FAD8}"/>
                  </a:ext>
                </a:extLst>
              </p:cNvPr>
              <p:cNvSpPr>
                <a:spLocks noChangeShapeType="1"/>
              </p:cNvSpPr>
              <p:nvPr/>
            </p:nvSpPr>
            <p:spPr bwMode="auto">
              <a:xfrm>
                <a:off x="1633"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0" name="Rectangle 598">
                <a:extLst>
                  <a:ext uri="{FF2B5EF4-FFF2-40B4-BE49-F238E27FC236}">
                    <a16:creationId xmlns:a16="http://schemas.microsoft.com/office/drawing/2014/main" id="{3A2B142D-7399-5536-7B15-474A25A6DEC0}"/>
                  </a:ext>
                </a:extLst>
              </p:cNvPr>
              <p:cNvSpPr>
                <a:spLocks noChangeArrowheads="1"/>
              </p:cNvSpPr>
              <p:nvPr/>
            </p:nvSpPr>
            <p:spPr bwMode="auto">
              <a:xfrm>
                <a:off x="1633" y="1847"/>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1" name="Line 599">
                <a:extLst>
                  <a:ext uri="{FF2B5EF4-FFF2-40B4-BE49-F238E27FC236}">
                    <a16:creationId xmlns:a16="http://schemas.microsoft.com/office/drawing/2014/main" id="{099B26F0-D5E4-497E-DB1A-AE57D884E4A5}"/>
                  </a:ext>
                </a:extLst>
              </p:cNvPr>
              <p:cNvSpPr>
                <a:spLocks noChangeShapeType="1"/>
              </p:cNvSpPr>
              <p:nvPr/>
            </p:nvSpPr>
            <p:spPr bwMode="auto">
              <a:xfrm>
                <a:off x="1633" y="1847"/>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2" name="Line 600">
                <a:extLst>
                  <a:ext uri="{FF2B5EF4-FFF2-40B4-BE49-F238E27FC236}">
                    <a16:creationId xmlns:a16="http://schemas.microsoft.com/office/drawing/2014/main" id="{D455E933-35D8-38D3-3EF4-12FC751BA1CB}"/>
                  </a:ext>
                </a:extLst>
              </p:cNvPr>
              <p:cNvSpPr>
                <a:spLocks noChangeShapeType="1"/>
              </p:cNvSpPr>
              <p:nvPr/>
            </p:nvSpPr>
            <p:spPr bwMode="auto">
              <a:xfrm>
                <a:off x="163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3" name="Rectangle 601">
                <a:extLst>
                  <a:ext uri="{FF2B5EF4-FFF2-40B4-BE49-F238E27FC236}">
                    <a16:creationId xmlns:a16="http://schemas.microsoft.com/office/drawing/2014/main" id="{3712375E-37AE-EA55-9D8C-B0745BF811A0}"/>
                  </a:ext>
                </a:extLst>
              </p:cNvPr>
              <p:cNvSpPr>
                <a:spLocks noChangeArrowheads="1"/>
              </p:cNvSpPr>
              <p:nvPr/>
            </p:nvSpPr>
            <p:spPr bwMode="auto">
              <a:xfrm>
                <a:off x="1637" y="1847"/>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4" name="Line 602">
                <a:extLst>
                  <a:ext uri="{FF2B5EF4-FFF2-40B4-BE49-F238E27FC236}">
                    <a16:creationId xmlns:a16="http://schemas.microsoft.com/office/drawing/2014/main" id="{5692C8FA-4537-B3A2-B81D-6436C1C5B53E}"/>
                  </a:ext>
                </a:extLst>
              </p:cNvPr>
              <p:cNvSpPr>
                <a:spLocks noChangeShapeType="1"/>
              </p:cNvSpPr>
              <p:nvPr/>
            </p:nvSpPr>
            <p:spPr bwMode="auto">
              <a:xfrm>
                <a:off x="1637" y="1847"/>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5" name="Rectangle 603">
                <a:extLst>
                  <a:ext uri="{FF2B5EF4-FFF2-40B4-BE49-F238E27FC236}">
                    <a16:creationId xmlns:a16="http://schemas.microsoft.com/office/drawing/2014/main" id="{7A893063-66DE-0D6D-1C6C-13341CA02121}"/>
                  </a:ext>
                </a:extLst>
              </p:cNvPr>
              <p:cNvSpPr>
                <a:spLocks noChangeArrowheads="1"/>
              </p:cNvSpPr>
              <p:nvPr/>
            </p:nvSpPr>
            <p:spPr bwMode="auto">
              <a:xfrm>
                <a:off x="2376"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6" name="Line 604">
                <a:extLst>
                  <a:ext uri="{FF2B5EF4-FFF2-40B4-BE49-F238E27FC236}">
                    <a16:creationId xmlns:a16="http://schemas.microsoft.com/office/drawing/2014/main" id="{B3FA2A50-B9A1-3076-AEDD-E26ADD90197D}"/>
                  </a:ext>
                </a:extLst>
              </p:cNvPr>
              <p:cNvSpPr>
                <a:spLocks noChangeShapeType="1"/>
              </p:cNvSpPr>
              <p:nvPr/>
            </p:nvSpPr>
            <p:spPr bwMode="auto">
              <a:xfrm>
                <a:off x="2376"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7" name="Rectangle 605">
                <a:extLst>
                  <a:ext uri="{FF2B5EF4-FFF2-40B4-BE49-F238E27FC236}">
                    <a16:creationId xmlns:a16="http://schemas.microsoft.com/office/drawing/2014/main" id="{377895F1-1062-5638-2ABB-C8B5EE0CD312}"/>
                  </a:ext>
                </a:extLst>
              </p:cNvPr>
              <p:cNvSpPr>
                <a:spLocks noChangeArrowheads="1"/>
              </p:cNvSpPr>
              <p:nvPr/>
            </p:nvSpPr>
            <p:spPr bwMode="auto">
              <a:xfrm>
                <a:off x="2376"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8" name="Line 606">
                <a:extLst>
                  <a:ext uri="{FF2B5EF4-FFF2-40B4-BE49-F238E27FC236}">
                    <a16:creationId xmlns:a16="http://schemas.microsoft.com/office/drawing/2014/main" id="{6EFB2D2A-E3DD-B1F5-3AAB-F79E9F93D402}"/>
                  </a:ext>
                </a:extLst>
              </p:cNvPr>
              <p:cNvSpPr>
                <a:spLocks noChangeShapeType="1"/>
              </p:cNvSpPr>
              <p:nvPr/>
            </p:nvSpPr>
            <p:spPr bwMode="auto">
              <a:xfrm>
                <a:off x="2376"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9" name="Line 607">
                <a:extLst>
                  <a:ext uri="{FF2B5EF4-FFF2-40B4-BE49-F238E27FC236}">
                    <a16:creationId xmlns:a16="http://schemas.microsoft.com/office/drawing/2014/main" id="{EBDD6750-C812-07B3-A1F1-E45EDE27A350}"/>
                  </a:ext>
                </a:extLst>
              </p:cNvPr>
              <p:cNvSpPr>
                <a:spLocks noChangeShapeType="1"/>
              </p:cNvSpPr>
              <p:nvPr/>
            </p:nvSpPr>
            <p:spPr bwMode="auto">
              <a:xfrm>
                <a:off x="2376"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0" name="Rectangle 608">
                <a:extLst>
                  <a:ext uri="{FF2B5EF4-FFF2-40B4-BE49-F238E27FC236}">
                    <a16:creationId xmlns:a16="http://schemas.microsoft.com/office/drawing/2014/main" id="{D4F22395-FD27-C683-9403-6729FC20F99E}"/>
                  </a:ext>
                </a:extLst>
              </p:cNvPr>
              <p:cNvSpPr>
                <a:spLocks noChangeArrowheads="1"/>
              </p:cNvSpPr>
              <p:nvPr/>
            </p:nvSpPr>
            <p:spPr bwMode="auto">
              <a:xfrm>
                <a:off x="2381" y="1847"/>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grpSp>
        <p:grpSp>
          <p:nvGrpSpPr>
            <p:cNvPr id="55304" name="Group 810">
              <a:extLst>
                <a:ext uri="{FF2B5EF4-FFF2-40B4-BE49-F238E27FC236}">
                  <a16:creationId xmlns:a16="http://schemas.microsoft.com/office/drawing/2014/main" id="{39BE408D-9A11-BF7F-80B6-E60C96F2BA85}"/>
                </a:ext>
              </a:extLst>
            </p:cNvPr>
            <p:cNvGrpSpPr>
              <a:grpSpLocks/>
            </p:cNvGrpSpPr>
            <p:nvPr/>
          </p:nvGrpSpPr>
          <p:grpSpPr bwMode="auto">
            <a:xfrm>
              <a:off x="295" y="1714"/>
              <a:ext cx="4793" cy="2160"/>
              <a:chOff x="295" y="1714"/>
              <a:chExt cx="4793" cy="2160"/>
            </a:xfrm>
          </p:grpSpPr>
          <p:sp>
            <p:nvSpPr>
              <p:cNvPr id="55331" name="Line 610">
                <a:extLst>
                  <a:ext uri="{FF2B5EF4-FFF2-40B4-BE49-F238E27FC236}">
                    <a16:creationId xmlns:a16="http://schemas.microsoft.com/office/drawing/2014/main" id="{18165AAF-3020-8D80-8737-A2CA43433D55}"/>
                  </a:ext>
                </a:extLst>
              </p:cNvPr>
              <p:cNvSpPr>
                <a:spLocks noChangeShapeType="1"/>
              </p:cNvSpPr>
              <p:nvPr/>
            </p:nvSpPr>
            <p:spPr bwMode="auto">
              <a:xfrm>
                <a:off x="2381" y="1847"/>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2" name="Rectangle 611">
                <a:extLst>
                  <a:ext uri="{FF2B5EF4-FFF2-40B4-BE49-F238E27FC236}">
                    <a16:creationId xmlns:a16="http://schemas.microsoft.com/office/drawing/2014/main" id="{63455949-F487-069F-8F60-1F254C2BBB6C}"/>
                  </a:ext>
                </a:extLst>
              </p:cNvPr>
              <p:cNvSpPr>
                <a:spLocks noChangeArrowheads="1"/>
              </p:cNvSpPr>
              <p:nvPr/>
            </p:nvSpPr>
            <p:spPr bwMode="auto">
              <a:xfrm>
                <a:off x="2917"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3" name="Line 612">
                <a:extLst>
                  <a:ext uri="{FF2B5EF4-FFF2-40B4-BE49-F238E27FC236}">
                    <a16:creationId xmlns:a16="http://schemas.microsoft.com/office/drawing/2014/main" id="{BAA3C2D1-D46C-560E-7928-3234030010CF}"/>
                  </a:ext>
                </a:extLst>
              </p:cNvPr>
              <p:cNvSpPr>
                <a:spLocks noChangeShapeType="1"/>
              </p:cNvSpPr>
              <p:nvPr/>
            </p:nvSpPr>
            <p:spPr bwMode="auto">
              <a:xfrm>
                <a:off x="2917"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4" name="Rectangle 613">
                <a:extLst>
                  <a:ext uri="{FF2B5EF4-FFF2-40B4-BE49-F238E27FC236}">
                    <a16:creationId xmlns:a16="http://schemas.microsoft.com/office/drawing/2014/main" id="{131009E4-5110-9A1F-6641-4770128ED3A9}"/>
                  </a:ext>
                </a:extLst>
              </p:cNvPr>
              <p:cNvSpPr>
                <a:spLocks noChangeArrowheads="1"/>
              </p:cNvSpPr>
              <p:nvPr/>
            </p:nvSpPr>
            <p:spPr bwMode="auto">
              <a:xfrm>
                <a:off x="2917"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5" name="Line 614">
                <a:extLst>
                  <a:ext uri="{FF2B5EF4-FFF2-40B4-BE49-F238E27FC236}">
                    <a16:creationId xmlns:a16="http://schemas.microsoft.com/office/drawing/2014/main" id="{82E63976-B813-49DF-7BF9-7ADADAC3DF38}"/>
                  </a:ext>
                </a:extLst>
              </p:cNvPr>
              <p:cNvSpPr>
                <a:spLocks noChangeShapeType="1"/>
              </p:cNvSpPr>
              <p:nvPr/>
            </p:nvSpPr>
            <p:spPr bwMode="auto">
              <a:xfrm>
                <a:off x="2917"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6" name="Line 615">
                <a:extLst>
                  <a:ext uri="{FF2B5EF4-FFF2-40B4-BE49-F238E27FC236}">
                    <a16:creationId xmlns:a16="http://schemas.microsoft.com/office/drawing/2014/main" id="{8ABED2FE-713C-81F3-FB0E-4B8CE7ADE21E}"/>
                  </a:ext>
                </a:extLst>
              </p:cNvPr>
              <p:cNvSpPr>
                <a:spLocks noChangeShapeType="1"/>
              </p:cNvSpPr>
              <p:nvPr/>
            </p:nvSpPr>
            <p:spPr bwMode="auto">
              <a:xfrm>
                <a:off x="2917"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7" name="Rectangle 616">
                <a:extLst>
                  <a:ext uri="{FF2B5EF4-FFF2-40B4-BE49-F238E27FC236}">
                    <a16:creationId xmlns:a16="http://schemas.microsoft.com/office/drawing/2014/main" id="{B329535D-67E6-A832-45F4-D9D7C198217B}"/>
                  </a:ext>
                </a:extLst>
              </p:cNvPr>
              <p:cNvSpPr>
                <a:spLocks noChangeArrowheads="1"/>
              </p:cNvSpPr>
              <p:nvPr/>
            </p:nvSpPr>
            <p:spPr bwMode="auto">
              <a:xfrm>
                <a:off x="2922" y="1847"/>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8" name="Line 617">
                <a:extLst>
                  <a:ext uri="{FF2B5EF4-FFF2-40B4-BE49-F238E27FC236}">
                    <a16:creationId xmlns:a16="http://schemas.microsoft.com/office/drawing/2014/main" id="{28057BB3-9821-01FB-1FA0-CD43AA3F7EFA}"/>
                  </a:ext>
                </a:extLst>
              </p:cNvPr>
              <p:cNvSpPr>
                <a:spLocks noChangeShapeType="1"/>
              </p:cNvSpPr>
              <p:nvPr/>
            </p:nvSpPr>
            <p:spPr bwMode="auto">
              <a:xfrm>
                <a:off x="2922" y="1847"/>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9" name="Rectangle 618">
                <a:extLst>
                  <a:ext uri="{FF2B5EF4-FFF2-40B4-BE49-F238E27FC236}">
                    <a16:creationId xmlns:a16="http://schemas.microsoft.com/office/drawing/2014/main" id="{A5207536-6ABF-D828-7C6A-768FBF5C22B3}"/>
                  </a:ext>
                </a:extLst>
              </p:cNvPr>
              <p:cNvSpPr>
                <a:spLocks noChangeArrowheads="1"/>
              </p:cNvSpPr>
              <p:nvPr/>
            </p:nvSpPr>
            <p:spPr bwMode="auto">
              <a:xfrm>
                <a:off x="3589"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0" name="Line 619">
                <a:extLst>
                  <a:ext uri="{FF2B5EF4-FFF2-40B4-BE49-F238E27FC236}">
                    <a16:creationId xmlns:a16="http://schemas.microsoft.com/office/drawing/2014/main" id="{207F851E-6F62-9836-E219-1BC614852742}"/>
                  </a:ext>
                </a:extLst>
              </p:cNvPr>
              <p:cNvSpPr>
                <a:spLocks noChangeShapeType="1"/>
              </p:cNvSpPr>
              <p:nvPr/>
            </p:nvSpPr>
            <p:spPr bwMode="auto">
              <a:xfrm>
                <a:off x="3589"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1" name="Rectangle 620">
                <a:extLst>
                  <a:ext uri="{FF2B5EF4-FFF2-40B4-BE49-F238E27FC236}">
                    <a16:creationId xmlns:a16="http://schemas.microsoft.com/office/drawing/2014/main" id="{7D090883-DC09-9A40-10E0-3684B5D2FA38}"/>
                  </a:ext>
                </a:extLst>
              </p:cNvPr>
              <p:cNvSpPr>
                <a:spLocks noChangeArrowheads="1"/>
              </p:cNvSpPr>
              <p:nvPr/>
            </p:nvSpPr>
            <p:spPr bwMode="auto">
              <a:xfrm>
                <a:off x="3589"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2" name="Line 621">
                <a:extLst>
                  <a:ext uri="{FF2B5EF4-FFF2-40B4-BE49-F238E27FC236}">
                    <a16:creationId xmlns:a16="http://schemas.microsoft.com/office/drawing/2014/main" id="{39B60A41-C4D1-76D0-521B-6071D7F3CC95}"/>
                  </a:ext>
                </a:extLst>
              </p:cNvPr>
              <p:cNvSpPr>
                <a:spLocks noChangeShapeType="1"/>
              </p:cNvSpPr>
              <p:nvPr/>
            </p:nvSpPr>
            <p:spPr bwMode="auto">
              <a:xfrm>
                <a:off x="3589"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3" name="Line 622">
                <a:extLst>
                  <a:ext uri="{FF2B5EF4-FFF2-40B4-BE49-F238E27FC236}">
                    <a16:creationId xmlns:a16="http://schemas.microsoft.com/office/drawing/2014/main" id="{A8C3EE57-7FE4-68CD-1254-183779BDAA6E}"/>
                  </a:ext>
                </a:extLst>
              </p:cNvPr>
              <p:cNvSpPr>
                <a:spLocks noChangeShapeType="1"/>
              </p:cNvSpPr>
              <p:nvPr/>
            </p:nvSpPr>
            <p:spPr bwMode="auto">
              <a:xfrm>
                <a:off x="3589"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4" name="Rectangle 623">
                <a:extLst>
                  <a:ext uri="{FF2B5EF4-FFF2-40B4-BE49-F238E27FC236}">
                    <a16:creationId xmlns:a16="http://schemas.microsoft.com/office/drawing/2014/main" id="{B7ACFC75-210D-2A4A-079F-F5663E6DD101}"/>
                  </a:ext>
                </a:extLst>
              </p:cNvPr>
              <p:cNvSpPr>
                <a:spLocks noChangeArrowheads="1"/>
              </p:cNvSpPr>
              <p:nvPr/>
            </p:nvSpPr>
            <p:spPr bwMode="auto">
              <a:xfrm>
                <a:off x="3594" y="1847"/>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5" name="Line 624">
                <a:extLst>
                  <a:ext uri="{FF2B5EF4-FFF2-40B4-BE49-F238E27FC236}">
                    <a16:creationId xmlns:a16="http://schemas.microsoft.com/office/drawing/2014/main" id="{4B29ED1A-2E22-01EA-ECB4-C464ED70FBB5}"/>
                  </a:ext>
                </a:extLst>
              </p:cNvPr>
              <p:cNvSpPr>
                <a:spLocks noChangeShapeType="1"/>
              </p:cNvSpPr>
              <p:nvPr/>
            </p:nvSpPr>
            <p:spPr bwMode="auto">
              <a:xfrm>
                <a:off x="3594" y="1847"/>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6" name="Rectangle 625">
                <a:extLst>
                  <a:ext uri="{FF2B5EF4-FFF2-40B4-BE49-F238E27FC236}">
                    <a16:creationId xmlns:a16="http://schemas.microsoft.com/office/drawing/2014/main" id="{FDDBDB9B-AFC1-2FB9-17D1-3B8E0635C075}"/>
                  </a:ext>
                </a:extLst>
              </p:cNvPr>
              <p:cNvSpPr>
                <a:spLocks noChangeArrowheads="1"/>
              </p:cNvSpPr>
              <p:nvPr/>
            </p:nvSpPr>
            <p:spPr bwMode="auto">
              <a:xfrm>
                <a:off x="4262" y="1714"/>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7" name="Line 626">
                <a:extLst>
                  <a:ext uri="{FF2B5EF4-FFF2-40B4-BE49-F238E27FC236}">
                    <a16:creationId xmlns:a16="http://schemas.microsoft.com/office/drawing/2014/main" id="{C945DF2B-5DC4-54DE-F87F-A82E73B508FD}"/>
                  </a:ext>
                </a:extLst>
              </p:cNvPr>
              <p:cNvSpPr>
                <a:spLocks noChangeShapeType="1"/>
              </p:cNvSpPr>
              <p:nvPr/>
            </p:nvSpPr>
            <p:spPr bwMode="auto">
              <a:xfrm>
                <a:off x="4262"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8" name="Rectangle 627">
                <a:extLst>
                  <a:ext uri="{FF2B5EF4-FFF2-40B4-BE49-F238E27FC236}">
                    <a16:creationId xmlns:a16="http://schemas.microsoft.com/office/drawing/2014/main" id="{F223E272-79D0-402A-F458-D086BFB64A4C}"/>
                  </a:ext>
                </a:extLst>
              </p:cNvPr>
              <p:cNvSpPr>
                <a:spLocks noChangeArrowheads="1"/>
              </p:cNvSpPr>
              <p:nvPr/>
            </p:nvSpPr>
            <p:spPr bwMode="auto">
              <a:xfrm>
                <a:off x="4262" y="1847"/>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9" name="Line 628">
                <a:extLst>
                  <a:ext uri="{FF2B5EF4-FFF2-40B4-BE49-F238E27FC236}">
                    <a16:creationId xmlns:a16="http://schemas.microsoft.com/office/drawing/2014/main" id="{C51824D5-0FFB-FC63-60DE-61ECB10CCD52}"/>
                  </a:ext>
                </a:extLst>
              </p:cNvPr>
              <p:cNvSpPr>
                <a:spLocks noChangeShapeType="1"/>
              </p:cNvSpPr>
              <p:nvPr/>
            </p:nvSpPr>
            <p:spPr bwMode="auto">
              <a:xfrm>
                <a:off x="4262" y="1847"/>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0" name="Line 629">
                <a:extLst>
                  <a:ext uri="{FF2B5EF4-FFF2-40B4-BE49-F238E27FC236}">
                    <a16:creationId xmlns:a16="http://schemas.microsoft.com/office/drawing/2014/main" id="{A7B68BCE-7504-CC2B-9934-72D8B38E27DE}"/>
                  </a:ext>
                </a:extLst>
              </p:cNvPr>
              <p:cNvSpPr>
                <a:spLocks noChangeShapeType="1"/>
              </p:cNvSpPr>
              <p:nvPr/>
            </p:nvSpPr>
            <p:spPr bwMode="auto">
              <a:xfrm>
                <a:off x="4262"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1" name="Rectangle 630">
                <a:extLst>
                  <a:ext uri="{FF2B5EF4-FFF2-40B4-BE49-F238E27FC236}">
                    <a16:creationId xmlns:a16="http://schemas.microsoft.com/office/drawing/2014/main" id="{C8839E9C-87D8-F76B-BEFE-B7614A8696BA}"/>
                  </a:ext>
                </a:extLst>
              </p:cNvPr>
              <p:cNvSpPr>
                <a:spLocks noChangeArrowheads="1"/>
              </p:cNvSpPr>
              <p:nvPr/>
            </p:nvSpPr>
            <p:spPr bwMode="auto">
              <a:xfrm>
                <a:off x="4266" y="1847"/>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2" name="Line 631">
                <a:extLst>
                  <a:ext uri="{FF2B5EF4-FFF2-40B4-BE49-F238E27FC236}">
                    <a16:creationId xmlns:a16="http://schemas.microsoft.com/office/drawing/2014/main" id="{EC6379FB-82F7-E780-61A6-3D39FA072457}"/>
                  </a:ext>
                </a:extLst>
              </p:cNvPr>
              <p:cNvSpPr>
                <a:spLocks noChangeShapeType="1"/>
              </p:cNvSpPr>
              <p:nvPr/>
            </p:nvSpPr>
            <p:spPr bwMode="auto">
              <a:xfrm>
                <a:off x="4266" y="1847"/>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Rectangle 632">
                <a:extLst>
                  <a:ext uri="{FF2B5EF4-FFF2-40B4-BE49-F238E27FC236}">
                    <a16:creationId xmlns:a16="http://schemas.microsoft.com/office/drawing/2014/main" id="{0C1215B8-EE43-F2FE-2253-09FB14257387}"/>
                  </a:ext>
                </a:extLst>
              </p:cNvPr>
              <p:cNvSpPr>
                <a:spLocks noChangeArrowheads="1"/>
              </p:cNvSpPr>
              <p:nvPr/>
            </p:nvSpPr>
            <p:spPr bwMode="auto">
              <a:xfrm>
                <a:off x="5083"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4" name="Line 633">
                <a:extLst>
                  <a:ext uri="{FF2B5EF4-FFF2-40B4-BE49-F238E27FC236}">
                    <a16:creationId xmlns:a16="http://schemas.microsoft.com/office/drawing/2014/main" id="{BF0DCFE8-DB0B-6C78-9414-51974BC996BC}"/>
                  </a:ext>
                </a:extLst>
              </p:cNvPr>
              <p:cNvSpPr>
                <a:spLocks noChangeShapeType="1"/>
              </p:cNvSpPr>
              <p:nvPr/>
            </p:nvSpPr>
            <p:spPr bwMode="auto">
              <a:xfrm>
                <a:off x="5083"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5" name="Rectangle 634">
                <a:extLst>
                  <a:ext uri="{FF2B5EF4-FFF2-40B4-BE49-F238E27FC236}">
                    <a16:creationId xmlns:a16="http://schemas.microsoft.com/office/drawing/2014/main" id="{D1545228-09E5-ABCC-8AB0-4615928145DB}"/>
                  </a:ext>
                </a:extLst>
              </p:cNvPr>
              <p:cNvSpPr>
                <a:spLocks noChangeArrowheads="1"/>
              </p:cNvSpPr>
              <p:nvPr/>
            </p:nvSpPr>
            <p:spPr bwMode="auto">
              <a:xfrm>
                <a:off x="5083"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6" name="Line 635">
                <a:extLst>
                  <a:ext uri="{FF2B5EF4-FFF2-40B4-BE49-F238E27FC236}">
                    <a16:creationId xmlns:a16="http://schemas.microsoft.com/office/drawing/2014/main" id="{3C5CF68E-1574-62F9-5F4B-0CFBB86E021F}"/>
                  </a:ext>
                </a:extLst>
              </p:cNvPr>
              <p:cNvSpPr>
                <a:spLocks noChangeShapeType="1"/>
              </p:cNvSpPr>
              <p:nvPr/>
            </p:nvSpPr>
            <p:spPr bwMode="auto">
              <a:xfrm>
                <a:off x="5083"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7" name="Line 636">
                <a:extLst>
                  <a:ext uri="{FF2B5EF4-FFF2-40B4-BE49-F238E27FC236}">
                    <a16:creationId xmlns:a16="http://schemas.microsoft.com/office/drawing/2014/main" id="{704FD165-7A5B-A695-DF06-AEBFDA8AB8B6}"/>
                  </a:ext>
                </a:extLst>
              </p:cNvPr>
              <p:cNvSpPr>
                <a:spLocks noChangeShapeType="1"/>
              </p:cNvSpPr>
              <p:nvPr/>
            </p:nvSpPr>
            <p:spPr bwMode="auto">
              <a:xfrm>
                <a:off x="508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8" name="Rectangle 637">
                <a:extLst>
                  <a:ext uri="{FF2B5EF4-FFF2-40B4-BE49-F238E27FC236}">
                    <a16:creationId xmlns:a16="http://schemas.microsoft.com/office/drawing/2014/main" id="{F3DA3B4D-EDA5-38E5-5C57-7A17C31D196B}"/>
                  </a:ext>
                </a:extLst>
              </p:cNvPr>
              <p:cNvSpPr>
                <a:spLocks noChangeArrowheads="1"/>
              </p:cNvSpPr>
              <p:nvPr/>
            </p:nvSpPr>
            <p:spPr bwMode="auto">
              <a:xfrm>
                <a:off x="5083"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9" name="Line 638">
                <a:extLst>
                  <a:ext uri="{FF2B5EF4-FFF2-40B4-BE49-F238E27FC236}">
                    <a16:creationId xmlns:a16="http://schemas.microsoft.com/office/drawing/2014/main" id="{A97BC2BF-8B59-9222-703D-B31EB98BD2AB}"/>
                  </a:ext>
                </a:extLst>
              </p:cNvPr>
              <p:cNvSpPr>
                <a:spLocks noChangeShapeType="1"/>
              </p:cNvSpPr>
              <p:nvPr/>
            </p:nvSpPr>
            <p:spPr bwMode="auto">
              <a:xfrm>
                <a:off x="5083"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0" name="Line 639">
                <a:extLst>
                  <a:ext uri="{FF2B5EF4-FFF2-40B4-BE49-F238E27FC236}">
                    <a16:creationId xmlns:a16="http://schemas.microsoft.com/office/drawing/2014/main" id="{763E9A0D-4150-5C1D-2615-FA5E709D8278}"/>
                  </a:ext>
                </a:extLst>
              </p:cNvPr>
              <p:cNvSpPr>
                <a:spLocks noChangeShapeType="1"/>
              </p:cNvSpPr>
              <p:nvPr/>
            </p:nvSpPr>
            <p:spPr bwMode="auto">
              <a:xfrm>
                <a:off x="508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1" name="Rectangle 640">
                <a:extLst>
                  <a:ext uri="{FF2B5EF4-FFF2-40B4-BE49-F238E27FC236}">
                    <a16:creationId xmlns:a16="http://schemas.microsoft.com/office/drawing/2014/main" id="{285B6A29-E44B-F664-5B1A-40B1A45EB247}"/>
                  </a:ext>
                </a:extLst>
              </p:cNvPr>
              <p:cNvSpPr>
                <a:spLocks noChangeArrowheads="1"/>
              </p:cNvSpPr>
              <p:nvPr/>
            </p:nvSpPr>
            <p:spPr bwMode="auto">
              <a:xfrm>
                <a:off x="349" y="184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362" name="Rectangle 641">
                <a:extLst>
                  <a:ext uri="{FF2B5EF4-FFF2-40B4-BE49-F238E27FC236}">
                    <a16:creationId xmlns:a16="http://schemas.microsoft.com/office/drawing/2014/main" id="{19B9DE18-EAB5-CE8A-756C-54276DEF66AB}"/>
                  </a:ext>
                </a:extLst>
              </p:cNvPr>
              <p:cNvSpPr>
                <a:spLocks noChangeArrowheads="1"/>
              </p:cNvSpPr>
              <p:nvPr/>
            </p:nvSpPr>
            <p:spPr bwMode="auto">
              <a:xfrm>
                <a:off x="349" y="1974"/>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363" name="Rectangle 642">
                <a:extLst>
                  <a:ext uri="{FF2B5EF4-FFF2-40B4-BE49-F238E27FC236}">
                    <a16:creationId xmlns:a16="http://schemas.microsoft.com/office/drawing/2014/main" id="{A99DED5B-C00B-1CF7-65A1-5FDD94229803}"/>
                  </a:ext>
                </a:extLst>
              </p:cNvPr>
              <p:cNvSpPr>
                <a:spLocks noChangeArrowheads="1"/>
              </p:cNvSpPr>
              <p:nvPr/>
            </p:nvSpPr>
            <p:spPr bwMode="auto">
              <a:xfrm>
                <a:off x="300"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4" name="Rectangle 643">
                <a:extLst>
                  <a:ext uri="{FF2B5EF4-FFF2-40B4-BE49-F238E27FC236}">
                    <a16:creationId xmlns:a16="http://schemas.microsoft.com/office/drawing/2014/main" id="{D3D8AA09-2FD1-9124-3CFF-A6A7F223BEAD}"/>
                  </a:ext>
                </a:extLst>
              </p:cNvPr>
              <p:cNvSpPr>
                <a:spLocks noChangeArrowheads="1"/>
              </p:cNvSpPr>
              <p:nvPr/>
            </p:nvSpPr>
            <p:spPr bwMode="auto">
              <a:xfrm>
                <a:off x="1042"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5" name="Rectangle 644">
                <a:extLst>
                  <a:ext uri="{FF2B5EF4-FFF2-40B4-BE49-F238E27FC236}">
                    <a16:creationId xmlns:a16="http://schemas.microsoft.com/office/drawing/2014/main" id="{F4B3131B-5DD6-AFD2-9D5A-1644C4315751}"/>
                  </a:ext>
                </a:extLst>
              </p:cNvPr>
              <p:cNvSpPr>
                <a:spLocks noChangeArrowheads="1"/>
              </p:cNvSpPr>
              <p:nvPr/>
            </p:nvSpPr>
            <p:spPr bwMode="auto">
              <a:xfrm>
                <a:off x="349" y="2124"/>
                <a:ext cx="693"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6" name="Rectangle 645">
                <a:extLst>
                  <a:ext uri="{FF2B5EF4-FFF2-40B4-BE49-F238E27FC236}">
                    <a16:creationId xmlns:a16="http://schemas.microsoft.com/office/drawing/2014/main" id="{95D1203F-CD75-85B0-0746-34EEDDCC670A}"/>
                  </a:ext>
                </a:extLst>
              </p:cNvPr>
              <p:cNvSpPr>
                <a:spLocks noChangeArrowheads="1"/>
              </p:cNvSpPr>
              <p:nvPr/>
            </p:nvSpPr>
            <p:spPr bwMode="auto">
              <a:xfrm>
                <a:off x="349" y="2112"/>
                <a:ext cx="52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Risk Level</a:t>
                </a:r>
                <a:endParaRPr lang="en-US" altLang="en-US"/>
              </a:p>
            </p:txBody>
          </p:sp>
          <p:sp>
            <p:nvSpPr>
              <p:cNvPr id="55367" name="Rectangle 646">
                <a:extLst>
                  <a:ext uri="{FF2B5EF4-FFF2-40B4-BE49-F238E27FC236}">
                    <a16:creationId xmlns:a16="http://schemas.microsoft.com/office/drawing/2014/main" id="{452F78F1-8A41-9F78-256C-BAC5099A9430}"/>
                  </a:ext>
                </a:extLst>
              </p:cNvPr>
              <p:cNvSpPr>
                <a:spLocks noChangeArrowheads="1"/>
              </p:cNvSpPr>
              <p:nvPr/>
            </p:nvSpPr>
            <p:spPr bwMode="auto">
              <a:xfrm>
                <a:off x="887" y="211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368" name="Rectangle 647">
                <a:extLst>
                  <a:ext uri="{FF2B5EF4-FFF2-40B4-BE49-F238E27FC236}">
                    <a16:creationId xmlns:a16="http://schemas.microsoft.com/office/drawing/2014/main" id="{B18758D9-36D9-E878-7DC3-4D0A4EBC81F6}"/>
                  </a:ext>
                </a:extLst>
              </p:cNvPr>
              <p:cNvSpPr>
                <a:spLocks noChangeArrowheads="1"/>
              </p:cNvSpPr>
              <p:nvPr/>
            </p:nvSpPr>
            <p:spPr bwMode="auto">
              <a:xfrm>
                <a:off x="1096"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9" name="Rectangle 648">
                <a:extLst>
                  <a:ext uri="{FF2B5EF4-FFF2-40B4-BE49-F238E27FC236}">
                    <a16:creationId xmlns:a16="http://schemas.microsoft.com/office/drawing/2014/main" id="{2341B9C4-9375-B09F-78E5-F1800537DAE3}"/>
                  </a:ext>
                </a:extLst>
              </p:cNvPr>
              <p:cNvSpPr>
                <a:spLocks noChangeArrowheads="1"/>
              </p:cNvSpPr>
              <p:nvPr/>
            </p:nvSpPr>
            <p:spPr bwMode="auto">
              <a:xfrm>
                <a:off x="5034"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0" name="Rectangle 649">
                <a:extLst>
                  <a:ext uri="{FF2B5EF4-FFF2-40B4-BE49-F238E27FC236}">
                    <a16:creationId xmlns:a16="http://schemas.microsoft.com/office/drawing/2014/main" id="{993479EC-301E-42F5-F36B-BF5770A5BD71}"/>
                  </a:ext>
                </a:extLst>
              </p:cNvPr>
              <p:cNvSpPr>
                <a:spLocks noChangeArrowheads="1"/>
              </p:cNvSpPr>
              <p:nvPr/>
            </p:nvSpPr>
            <p:spPr bwMode="auto">
              <a:xfrm>
                <a:off x="1145" y="2124"/>
                <a:ext cx="388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1" name="Rectangle 650">
                <a:extLst>
                  <a:ext uri="{FF2B5EF4-FFF2-40B4-BE49-F238E27FC236}">
                    <a16:creationId xmlns:a16="http://schemas.microsoft.com/office/drawing/2014/main" id="{9FEE520C-5ECE-0128-D04D-3653BD61218B}"/>
                  </a:ext>
                </a:extLst>
              </p:cNvPr>
              <p:cNvSpPr>
                <a:spLocks noChangeArrowheads="1"/>
              </p:cNvSpPr>
              <p:nvPr/>
            </p:nvSpPr>
            <p:spPr bwMode="auto">
              <a:xfrm>
                <a:off x="1145" y="2112"/>
                <a:ext cx="5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Description</a:t>
                </a:r>
                <a:endParaRPr lang="en-US" altLang="en-US"/>
              </a:p>
            </p:txBody>
          </p:sp>
          <p:sp>
            <p:nvSpPr>
              <p:cNvPr id="55372" name="Rectangle 651">
                <a:extLst>
                  <a:ext uri="{FF2B5EF4-FFF2-40B4-BE49-F238E27FC236}">
                    <a16:creationId xmlns:a16="http://schemas.microsoft.com/office/drawing/2014/main" id="{740E8A60-4C61-605A-ED8D-323FB7218D02}"/>
                  </a:ext>
                </a:extLst>
              </p:cNvPr>
              <p:cNvSpPr>
                <a:spLocks noChangeArrowheads="1"/>
              </p:cNvSpPr>
              <p:nvPr/>
            </p:nvSpPr>
            <p:spPr bwMode="auto">
              <a:xfrm>
                <a:off x="1754" y="211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373" name="Rectangle 652">
                <a:extLst>
                  <a:ext uri="{FF2B5EF4-FFF2-40B4-BE49-F238E27FC236}">
                    <a16:creationId xmlns:a16="http://schemas.microsoft.com/office/drawing/2014/main" id="{14258DB6-7759-EA62-2A46-153DB0E507BC}"/>
                  </a:ext>
                </a:extLst>
              </p:cNvPr>
              <p:cNvSpPr>
                <a:spLocks noChangeArrowheads="1"/>
              </p:cNvSpPr>
              <p:nvPr/>
            </p:nvSpPr>
            <p:spPr bwMode="auto">
              <a:xfrm>
                <a:off x="295"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4" name="Line 653">
                <a:extLst>
                  <a:ext uri="{FF2B5EF4-FFF2-40B4-BE49-F238E27FC236}">
                    <a16:creationId xmlns:a16="http://schemas.microsoft.com/office/drawing/2014/main" id="{87457237-5310-ABD0-48BD-242D3C416879}"/>
                  </a:ext>
                </a:extLst>
              </p:cNvPr>
              <p:cNvSpPr>
                <a:spLocks noChangeShapeType="1"/>
              </p:cNvSpPr>
              <p:nvPr/>
            </p:nvSpPr>
            <p:spPr bwMode="auto">
              <a:xfrm>
                <a:off x="295"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5" name="Line 654">
                <a:extLst>
                  <a:ext uri="{FF2B5EF4-FFF2-40B4-BE49-F238E27FC236}">
                    <a16:creationId xmlns:a16="http://schemas.microsoft.com/office/drawing/2014/main" id="{9C0C0EE2-FA33-68BB-8571-813AD46FF7EF}"/>
                  </a:ext>
                </a:extLst>
              </p:cNvPr>
              <p:cNvSpPr>
                <a:spLocks noChangeShapeType="1"/>
              </p:cNvSpPr>
              <p:nvPr/>
            </p:nvSpPr>
            <p:spPr bwMode="auto">
              <a:xfrm>
                <a:off x="295"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6" name="Rectangle 655">
                <a:extLst>
                  <a:ext uri="{FF2B5EF4-FFF2-40B4-BE49-F238E27FC236}">
                    <a16:creationId xmlns:a16="http://schemas.microsoft.com/office/drawing/2014/main" id="{3C105FAB-6C0F-FC62-276A-424E9A2CF184}"/>
                  </a:ext>
                </a:extLst>
              </p:cNvPr>
              <p:cNvSpPr>
                <a:spLocks noChangeArrowheads="1"/>
              </p:cNvSpPr>
              <p:nvPr/>
            </p:nvSpPr>
            <p:spPr bwMode="auto">
              <a:xfrm>
                <a:off x="295"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7" name="Line 656">
                <a:extLst>
                  <a:ext uri="{FF2B5EF4-FFF2-40B4-BE49-F238E27FC236}">
                    <a16:creationId xmlns:a16="http://schemas.microsoft.com/office/drawing/2014/main" id="{1B0B4E92-E716-C5CA-C7CC-95433BA73CFF}"/>
                  </a:ext>
                </a:extLst>
              </p:cNvPr>
              <p:cNvSpPr>
                <a:spLocks noChangeShapeType="1"/>
              </p:cNvSpPr>
              <p:nvPr/>
            </p:nvSpPr>
            <p:spPr bwMode="auto">
              <a:xfrm>
                <a:off x="295"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8" name="Line 657">
                <a:extLst>
                  <a:ext uri="{FF2B5EF4-FFF2-40B4-BE49-F238E27FC236}">
                    <a16:creationId xmlns:a16="http://schemas.microsoft.com/office/drawing/2014/main" id="{DFDC171B-D728-507A-84B3-F385BD6E4830}"/>
                  </a:ext>
                </a:extLst>
              </p:cNvPr>
              <p:cNvSpPr>
                <a:spLocks noChangeShapeType="1"/>
              </p:cNvSpPr>
              <p:nvPr/>
            </p:nvSpPr>
            <p:spPr bwMode="auto">
              <a:xfrm>
                <a:off x="295"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9" name="Rectangle 658">
                <a:extLst>
                  <a:ext uri="{FF2B5EF4-FFF2-40B4-BE49-F238E27FC236}">
                    <a16:creationId xmlns:a16="http://schemas.microsoft.com/office/drawing/2014/main" id="{395FDE07-9EE3-44EF-AD43-52E4C5EF276C}"/>
                  </a:ext>
                </a:extLst>
              </p:cNvPr>
              <p:cNvSpPr>
                <a:spLocks noChangeArrowheads="1"/>
              </p:cNvSpPr>
              <p:nvPr/>
            </p:nvSpPr>
            <p:spPr bwMode="auto">
              <a:xfrm>
                <a:off x="300" y="2119"/>
                <a:ext cx="7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0" name="Line 659">
                <a:extLst>
                  <a:ext uri="{FF2B5EF4-FFF2-40B4-BE49-F238E27FC236}">
                    <a16:creationId xmlns:a16="http://schemas.microsoft.com/office/drawing/2014/main" id="{9C440693-3C93-308E-E141-7AD098FD520C}"/>
                  </a:ext>
                </a:extLst>
              </p:cNvPr>
              <p:cNvSpPr>
                <a:spLocks noChangeShapeType="1"/>
              </p:cNvSpPr>
              <p:nvPr/>
            </p:nvSpPr>
            <p:spPr bwMode="auto">
              <a:xfrm>
                <a:off x="300" y="2119"/>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1" name="Rectangle 660">
                <a:extLst>
                  <a:ext uri="{FF2B5EF4-FFF2-40B4-BE49-F238E27FC236}">
                    <a16:creationId xmlns:a16="http://schemas.microsoft.com/office/drawing/2014/main" id="{5A06058E-9415-305F-6687-42398B22BDE2}"/>
                  </a:ext>
                </a:extLst>
              </p:cNvPr>
              <p:cNvSpPr>
                <a:spLocks noChangeArrowheads="1"/>
              </p:cNvSpPr>
              <p:nvPr/>
            </p:nvSpPr>
            <p:spPr bwMode="auto">
              <a:xfrm>
                <a:off x="1091"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2" name="Line 661">
                <a:extLst>
                  <a:ext uri="{FF2B5EF4-FFF2-40B4-BE49-F238E27FC236}">
                    <a16:creationId xmlns:a16="http://schemas.microsoft.com/office/drawing/2014/main" id="{CF491822-8F53-D209-4FB8-163256C50547}"/>
                  </a:ext>
                </a:extLst>
              </p:cNvPr>
              <p:cNvSpPr>
                <a:spLocks noChangeShapeType="1"/>
              </p:cNvSpPr>
              <p:nvPr/>
            </p:nvSpPr>
            <p:spPr bwMode="auto">
              <a:xfrm>
                <a:off x="1091"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3" name="Line 662">
                <a:extLst>
                  <a:ext uri="{FF2B5EF4-FFF2-40B4-BE49-F238E27FC236}">
                    <a16:creationId xmlns:a16="http://schemas.microsoft.com/office/drawing/2014/main" id="{44905B49-C360-A380-54C7-54813A0CBE27}"/>
                  </a:ext>
                </a:extLst>
              </p:cNvPr>
              <p:cNvSpPr>
                <a:spLocks noChangeShapeType="1"/>
              </p:cNvSpPr>
              <p:nvPr/>
            </p:nvSpPr>
            <p:spPr bwMode="auto">
              <a:xfrm>
                <a:off x="1091"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4" name="Rectangle 663">
                <a:extLst>
                  <a:ext uri="{FF2B5EF4-FFF2-40B4-BE49-F238E27FC236}">
                    <a16:creationId xmlns:a16="http://schemas.microsoft.com/office/drawing/2014/main" id="{07903725-7786-5C7E-68CA-5A5996677390}"/>
                  </a:ext>
                </a:extLst>
              </p:cNvPr>
              <p:cNvSpPr>
                <a:spLocks noChangeArrowheads="1"/>
              </p:cNvSpPr>
              <p:nvPr/>
            </p:nvSpPr>
            <p:spPr bwMode="auto">
              <a:xfrm>
                <a:off x="1096" y="2119"/>
                <a:ext cx="398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5" name="Line 664">
                <a:extLst>
                  <a:ext uri="{FF2B5EF4-FFF2-40B4-BE49-F238E27FC236}">
                    <a16:creationId xmlns:a16="http://schemas.microsoft.com/office/drawing/2014/main" id="{80F789DC-71A6-8435-6B18-6D848D2A3240}"/>
                  </a:ext>
                </a:extLst>
              </p:cNvPr>
              <p:cNvSpPr>
                <a:spLocks noChangeShapeType="1"/>
              </p:cNvSpPr>
              <p:nvPr/>
            </p:nvSpPr>
            <p:spPr bwMode="auto">
              <a:xfrm>
                <a:off x="1096" y="2119"/>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6" name="Rectangle 665">
                <a:extLst>
                  <a:ext uri="{FF2B5EF4-FFF2-40B4-BE49-F238E27FC236}">
                    <a16:creationId xmlns:a16="http://schemas.microsoft.com/office/drawing/2014/main" id="{F082FC17-3104-BC0A-869C-29445BDCDAAD}"/>
                  </a:ext>
                </a:extLst>
              </p:cNvPr>
              <p:cNvSpPr>
                <a:spLocks noChangeArrowheads="1"/>
              </p:cNvSpPr>
              <p:nvPr/>
            </p:nvSpPr>
            <p:spPr bwMode="auto">
              <a:xfrm>
                <a:off x="5083"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7" name="Line 666">
                <a:extLst>
                  <a:ext uri="{FF2B5EF4-FFF2-40B4-BE49-F238E27FC236}">
                    <a16:creationId xmlns:a16="http://schemas.microsoft.com/office/drawing/2014/main" id="{66918F06-D8A0-7214-1352-0B0BD8C854EF}"/>
                  </a:ext>
                </a:extLst>
              </p:cNvPr>
              <p:cNvSpPr>
                <a:spLocks noChangeShapeType="1"/>
              </p:cNvSpPr>
              <p:nvPr/>
            </p:nvSpPr>
            <p:spPr bwMode="auto">
              <a:xfrm>
                <a:off x="5083"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8" name="Line 667">
                <a:extLst>
                  <a:ext uri="{FF2B5EF4-FFF2-40B4-BE49-F238E27FC236}">
                    <a16:creationId xmlns:a16="http://schemas.microsoft.com/office/drawing/2014/main" id="{1E1E2EB6-A9F0-F269-D109-3B558DB37A42}"/>
                  </a:ext>
                </a:extLst>
              </p:cNvPr>
              <p:cNvSpPr>
                <a:spLocks noChangeShapeType="1"/>
              </p:cNvSpPr>
              <p:nvPr/>
            </p:nvSpPr>
            <p:spPr bwMode="auto">
              <a:xfrm>
                <a:off x="5083"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9" name="Rectangle 668">
                <a:extLst>
                  <a:ext uri="{FF2B5EF4-FFF2-40B4-BE49-F238E27FC236}">
                    <a16:creationId xmlns:a16="http://schemas.microsoft.com/office/drawing/2014/main" id="{35F1F59C-2A5A-C038-F264-54C4CDE3EC4D}"/>
                  </a:ext>
                </a:extLst>
              </p:cNvPr>
              <p:cNvSpPr>
                <a:spLocks noChangeArrowheads="1"/>
              </p:cNvSpPr>
              <p:nvPr/>
            </p:nvSpPr>
            <p:spPr bwMode="auto">
              <a:xfrm>
                <a:off x="5083"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0" name="Line 669">
                <a:extLst>
                  <a:ext uri="{FF2B5EF4-FFF2-40B4-BE49-F238E27FC236}">
                    <a16:creationId xmlns:a16="http://schemas.microsoft.com/office/drawing/2014/main" id="{B3983DB7-DE28-D4BA-530F-E56DF593C68E}"/>
                  </a:ext>
                </a:extLst>
              </p:cNvPr>
              <p:cNvSpPr>
                <a:spLocks noChangeShapeType="1"/>
              </p:cNvSpPr>
              <p:nvPr/>
            </p:nvSpPr>
            <p:spPr bwMode="auto">
              <a:xfrm>
                <a:off x="5083"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1" name="Line 670">
                <a:extLst>
                  <a:ext uri="{FF2B5EF4-FFF2-40B4-BE49-F238E27FC236}">
                    <a16:creationId xmlns:a16="http://schemas.microsoft.com/office/drawing/2014/main" id="{0768F867-739D-252F-922D-5278E24EBDDA}"/>
                  </a:ext>
                </a:extLst>
              </p:cNvPr>
              <p:cNvSpPr>
                <a:spLocks noChangeShapeType="1"/>
              </p:cNvSpPr>
              <p:nvPr/>
            </p:nvSpPr>
            <p:spPr bwMode="auto">
              <a:xfrm>
                <a:off x="5083"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2" name="Rectangle 671">
                <a:extLst>
                  <a:ext uri="{FF2B5EF4-FFF2-40B4-BE49-F238E27FC236}">
                    <a16:creationId xmlns:a16="http://schemas.microsoft.com/office/drawing/2014/main" id="{375481D3-F9A3-1F5D-8E30-23CCBB945111}"/>
                  </a:ext>
                </a:extLst>
              </p:cNvPr>
              <p:cNvSpPr>
                <a:spLocks noChangeArrowheads="1"/>
              </p:cNvSpPr>
              <p:nvPr/>
            </p:nvSpPr>
            <p:spPr bwMode="auto">
              <a:xfrm>
                <a:off x="295"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3" name="Line 672">
                <a:extLst>
                  <a:ext uri="{FF2B5EF4-FFF2-40B4-BE49-F238E27FC236}">
                    <a16:creationId xmlns:a16="http://schemas.microsoft.com/office/drawing/2014/main" id="{A7318E9B-6B6D-3FF6-D051-F33EA14AF621}"/>
                  </a:ext>
                </a:extLst>
              </p:cNvPr>
              <p:cNvSpPr>
                <a:spLocks noChangeShapeType="1"/>
              </p:cNvSpPr>
              <p:nvPr/>
            </p:nvSpPr>
            <p:spPr bwMode="auto">
              <a:xfrm>
                <a:off x="295"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4" name="Rectangle 673">
                <a:extLst>
                  <a:ext uri="{FF2B5EF4-FFF2-40B4-BE49-F238E27FC236}">
                    <a16:creationId xmlns:a16="http://schemas.microsoft.com/office/drawing/2014/main" id="{9D260FE8-1C91-1AE1-D58B-9BEA86504DEC}"/>
                  </a:ext>
                </a:extLst>
              </p:cNvPr>
              <p:cNvSpPr>
                <a:spLocks noChangeArrowheads="1"/>
              </p:cNvSpPr>
              <p:nvPr/>
            </p:nvSpPr>
            <p:spPr bwMode="auto">
              <a:xfrm>
                <a:off x="1091"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5" name="Line 674">
                <a:extLst>
                  <a:ext uri="{FF2B5EF4-FFF2-40B4-BE49-F238E27FC236}">
                    <a16:creationId xmlns:a16="http://schemas.microsoft.com/office/drawing/2014/main" id="{0E07436E-5884-6734-31D8-F5EF70D0B1C9}"/>
                  </a:ext>
                </a:extLst>
              </p:cNvPr>
              <p:cNvSpPr>
                <a:spLocks noChangeShapeType="1"/>
              </p:cNvSpPr>
              <p:nvPr/>
            </p:nvSpPr>
            <p:spPr bwMode="auto">
              <a:xfrm>
                <a:off x="1091"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6" name="Rectangle 675">
                <a:extLst>
                  <a:ext uri="{FF2B5EF4-FFF2-40B4-BE49-F238E27FC236}">
                    <a16:creationId xmlns:a16="http://schemas.microsoft.com/office/drawing/2014/main" id="{ED483045-612C-F0EC-61FA-B4A68B530D8D}"/>
                  </a:ext>
                </a:extLst>
              </p:cNvPr>
              <p:cNvSpPr>
                <a:spLocks noChangeArrowheads="1"/>
              </p:cNvSpPr>
              <p:nvPr/>
            </p:nvSpPr>
            <p:spPr bwMode="auto">
              <a:xfrm>
                <a:off x="5083"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7" name="Line 676">
                <a:extLst>
                  <a:ext uri="{FF2B5EF4-FFF2-40B4-BE49-F238E27FC236}">
                    <a16:creationId xmlns:a16="http://schemas.microsoft.com/office/drawing/2014/main" id="{EBF24051-97D7-27A5-DEA4-C2B070E2E96D}"/>
                  </a:ext>
                </a:extLst>
              </p:cNvPr>
              <p:cNvSpPr>
                <a:spLocks noChangeShapeType="1"/>
              </p:cNvSpPr>
              <p:nvPr/>
            </p:nvSpPr>
            <p:spPr bwMode="auto">
              <a:xfrm>
                <a:off x="5083"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8" name="Rectangle 677">
                <a:extLst>
                  <a:ext uri="{FF2B5EF4-FFF2-40B4-BE49-F238E27FC236}">
                    <a16:creationId xmlns:a16="http://schemas.microsoft.com/office/drawing/2014/main" id="{3D0AE098-4A52-803F-D8CB-84ED3C6331AC}"/>
                  </a:ext>
                </a:extLst>
              </p:cNvPr>
              <p:cNvSpPr>
                <a:spLocks noChangeArrowheads="1"/>
              </p:cNvSpPr>
              <p:nvPr/>
            </p:nvSpPr>
            <p:spPr bwMode="auto">
              <a:xfrm>
                <a:off x="300" y="226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9" name="Rectangle 678">
                <a:extLst>
                  <a:ext uri="{FF2B5EF4-FFF2-40B4-BE49-F238E27FC236}">
                    <a16:creationId xmlns:a16="http://schemas.microsoft.com/office/drawing/2014/main" id="{5EF0E169-E7D5-4E0D-478D-BC29C9F98886}"/>
                  </a:ext>
                </a:extLst>
              </p:cNvPr>
              <p:cNvSpPr>
                <a:spLocks noChangeArrowheads="1"/>
              </p:cNvSpPr>
              <p:nvPr/>
            </p:nvSpPr>
            <p:spPr bwMode="auto">
              <a:xfrm>
                <a:off x="1042" y="226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0" name="Rectangle 679">
                <a:extLst>
                  <a:ext uri="{FF2B5EF4-FFF2-40B4-BE49-F238E27FC236}">
                    <a16:creationId xmlns:a16="http://schemas.microsoft.com/office/drawing/2014/main" id="{E74232C3-2A4B-00DC-D0F3-566791D9B4C1}"/>
                  </a:ext>
                </a:extLst>
              </p:cNvPr>
              <p:cNvSpPr>
                <a:spLocks noChangeArrowheads="1"/>
              </p:cNvSpPr>
              <p:nvPr/>
            </p:nvSpPr>
            <p:spPr bwMode="auto">
              <a:xfrm>
                <a:off x="300" y="2394"/>
                <a:ext cx="791"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1" name="Rectangle 680">
                <a:extLst>
                  <a:ext uri="{FF2B5EF4-FFF2-40B4-BE49-F238E27FC236}">
                    <a16:creationId xmlns:a16="http://schemas.microsoft.com/office/drawing/2014/main" id="{DEC730F6-D84D-1CB3-D3C1-59C17A1A6797}"/>
                  </a:ext>
                </a:extLst>
              </p:cNvPr>
              <p:cNvSpPr>
                <a:spLocks noChangeArrowheads="1"/>
              </p:cNvSpPr>
              <p:nvPr/>
            </p:nvSpPr>
            <p:spPr bwMode="auto">
              <a:xfrm>
                <a:off x="349" y="2261"/>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2" name="Rectangle 681">
                <a:extLst>
                  <a:ext uri="{FF2B5EF4-FFF2-40B4-BE49-F238E27FC236}">
                    <a16:creationId xmlns:a16="http://schemas.microsoft.com/office/drawing/2014/main" id="{DA03C82B-4F3F-5069-26B6-20E2585BD4C4}"/>
                  </a:ext>
                </a:extLst>
              </p:cNvPr>
              <p:cNvSpPr>
                <a:spLocks noChangeArrowheads="1"/>
              </p:cNvSpPr>
              <p:nvPr/>
            </p:nvSpPr>
            <p:spPr bwMode="auto">
              <a:xfrm>
                <a:off x="349" y="2249"/>
                <a:ext cx="62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Extreme (E)</a:t>
                </a:r>
                <a:endParaRPr lang="en-US" altLang="en-US"/>
              </a:p>
            </p:txBody>
          </p:sp>
          <p:sp>
            <p:nvSpPr>
              <p:cNvPr id="55403" name="Rectangle 682">
                <a:extLst>
                  <a:ext uri="{FF2B5EF4-FFF2-40B4-BE49-F238E27FC236}">
                    <a16:creationId xmlns:a16="http://schemas.microsoft.com/office/drawing/2014/main" id="{D37FC548-0AD9-9193-72BE-04BCE6AA6D4C}"/>
                  </a:ext>
                </a:extLst>
              </p:cNvPr>
              <p:cNvSpPr>
                <a:spLocks noChangeArrowheads="1"/>
              </p:cNvSpPr>
              <p:nvPr/>
            </p:nvSpPr>
            <p:spPr bwMode="auto">
              <a:xfrm>
                <a:off x="986" y="224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04" name="Rectangle 683">
                <a:extLst>
                  <a:ext uri="{FF2B5EF4-FFF2-40B4-BE49-F238E27FC236}">
                    <a16:creationId xmlns:a16="http://schemas.microsoft.com/office/drawing/2014/main" id="{E0926254-0A66-7B9E-57D8-CC2F4844CCD3}"/>
                  </a:ext>
                </a:extLst>
              </p:cNvPr>
              <p:cNvSpPr>
                <a:spLocks noChangeArrowheads="1"/>
              </p:cNvSpPr>
              <p:nvPr/>
            </p:nvSpPr>
            <p:spPr bwMode="auto">
              <a:xfrm>
                <a:off x="1096" y="2261"/>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5" name="Rectangle 684">
                <a:extLst>
                  <a:ext uri="{FF2B5EF4-FFF2-40B4-BE49-F238E27FC236}">
                    <a16:creationId xmlns:a16="http://schemas.microsoft.com/office/drawing/2014/main" id="{F772D6B9-97A9-AE22-AED6-B0747D68B0EA}"/>
                  </a:ext>
                </a:extLst>
              </p:cNvPr>
              <p:cNvSpPr>
                <a:spLocks noChangeArrowheads="1"/>
              </p:cNvSpPr>
              <p:nvPr/>
            </p:nvSpPr>
            <p:spPr bwMode="auto">
              <a:xfrm>
                <a:off x="5034" y="2261"/>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6" name="Rectangle 685">
                <a:extLst>
                  <a:ext uri="{FF2B5EF4-FFF2-40B4-BE49-F238E27FC236}">
                    <a16:creationId xmlns:a16="http://schemas.microsoft.com/office/drawing/2014/main" id="{39EF11D3-BAB5-E146-C52C-26EAD68E8DC5}"/>
                  </a:ext>
                </a:extLst>
              </p:cNvPr>
              <p:cNvSpPr>
                <a:spLocks noChangeArrowheads="1"/>
              </p:cNvSpPr>
              <p:nvPr/>
            </p:nvSpPr>
            <p:spPr bwMode="auto">
              <a:xfrm>
                <a:off x="1096" y="2794"/>
                <a:ext cx="3987" cy="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7" name="Rectangle 686">
                <a:extLst>
                  <a:ext uri="{FF2B5EF4-FFF2-40B4-BE49-F238E27FC236}">
                    <a16:creationId xmlns:a16="http://schemas.microsoft.com/office/drawing/2014/main" id="{034378B9-8741-0FF8-2208-5C0CEA639A31}"/>
                  </a:ext>
                </a:extLst>
              </p:cNvPr>
              <p:cNvSpPr>
                <a:spLocks noChangeArrowheads="1"/>
              </p:cNvSpPr>
              <p:nvPr/>
            </p:nvSpPr>
            <p:spPr bwMode="auto">
              <a:xfrm>
                <a:off x="1145" y="2261"/>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8" name="Rectangle 687">
                <a:extLst>
                  <a:ext uri="{FF2B5EF4-FFF2-40B4-BE49-F238E27FC236}">
                    <a16:creationId xmlns:a16="http://schemas.microsoft.com/office/drawing/2014/main" id="{014E5C6F-939C-29C7-F811-A4B7B1463165}"/>
                  </a:ext>
                </a:extLst>
              </p:cNvPr>
              <p:cNvSpPr>
                <a:spLocks noChangeArrowheads="1"/>
              </p:cNvSpPr>
              <p:nvPr/>
            </p:nvSpPr>
            <p:spPr bwMode="auto">
              <a:xfrm>
                <a:off x="1145" y="2249"/>
                <a:ext cx="11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Will require detailed r</a:t>
                </a:r>
                <a:endParaRPr lang="en-US" altLang="en-US"/>
              </a:p>
            </p:txBody>
          </p:sp>
          <p:sp>
            <p:nvSpPr>
              <p:cNvPr id="55409" name="Rectangle 688">
                <a:extLst>
                  <a:ext uri="{FF2B5EF4-FFF2-40B4-BE49-F238E27FC236}">
                    <a16:creationId xmlns:a16="http://schemas.microsoft.com/office/drawing/2014/main" id="{EED427F4-A2C1-FD75-B6BE-E5D7B78CA3AA}"/>
                  </a:ext>
                </a:extLst>
              </p:cNvPr>
              <p:cNvSpPr>
                <a:spLocks noChangeArrowheads="1"/>
              </p:cNvSpPr>
              <p:nvPr/>
            </p:nvSpPr>
            <p:spPr bwMode="auto">
              <a:xfrm>
                <a:off x="2288" y="2249"/>
                <a:ext cx="20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esearch and management planning at an </a:t>
                </a:r>
                <a:endParaRPr lang="en-US" altLang="en-US"/>
              </a:p>
            </p:txBody>
          </p:sp>
          <p:sp>
            <p:nvSpPr>
              <p:cNvPr id="55410" name="Rectangle 689">
                <a:extLst>
                  <a:ext uri="{FF2B5EF4-FFF2-40B4-BE49-F238E27FC236}">
                    <a16:creationId xmlns:a16="http://schemas.microsoft.com/office/drawing/2014/main" id="{B15FDECB-CF67-F395-8503-0024B3DAA29F}"/>
                  </a:ext>
                </a:extLst>
              </p:cNvPr>
              <p:cNvSpPr>
                <a:spLocks noChangeArrowheads="1"/>
              </p:cNvSpPr>
              <p:nvPr/>
            </p:nvSpPr>
            <p:spPr bwMode="auto">
              <a:xfrm>
                <a:off x="1145" y="2394"/>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1" name="Rectangle 690">
                <a:extLst>
                  <a:ext uri="{FF2B5EF4-FFF2-40B4-BE49-F238E27FC236}">
                    <a16:creationId xmlns:a16="http://schemas.microsoft.com/office/drawing/2014/main" id="{88D36F0B-F895-B395-8489-511F01AAFB6B}"/>
                  </a:ext>
                </a:extLst>
              </p:cNvPr>
              <p:cNvSpPr>
                <a:spLocks noChangeArrowheads="1"/>
              </p:cNvSpPr>
              <p:nvPr/>
            </p:nvSpPr>
            <p:spPr bwMode="auto">
              <a:xfrm>
                <a:off x="1145" y="2382"/>
                <a:ext cx="381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executive/director level. Ongoing planning and monitoring will be required </a:t>
                </a:r>
                <a:endParaRPr lang="en-US" altLang="en-US"/>
              </a:p>
            </p:txBody>
          </p:sp>
          <p:sp>
            <p:nvSpPr>
              <p:cNvPr id="55412" name="Rectangle 691">
                <a:extLst>
                  <a:ext uri="{FF2B5EF4-FFF2-40B4-BE49-F238E27FC236}">
                    <a16:creationId xmlns:a16="http://schemas.microsoft.com/office/drawing/2014/main" id="{3C456302-7544-C29D-37BD-E168B8F3C067}"/>
                  </a:ext>
                </a:extLst>
              </p:cNvPr>
              <p:cNvSpPr>
                <a:spLocks noChangeArrowheads="1"/>
              </p:cNvSpPr>
              <p:nvPr/>
            </p:nvSpPr>
            <p:spPr bwMode="auto">
              <a:xfrm>
                <a:off x="1145" y="2527"/>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3" name="Rectangle 692">
                <a:extLst>
                  <a:ext uri="{FF2B5EF4-FFF2-40B4-BE49-F238E27FC236}">
                    <a16:creationId xmlns:a16="http://schemas.microsoft.com/office/drawing/2014/main" id="{6417F655-B5DA-5DE1-0E67-0A03C9681CC7}"/>
                  </a:ext>
                </a:extLst>
              </p:cNvPr>
              <p:cNvSpPr>
                <a:spLocks noChangeArrowheads="1"/>
              </p:cNvSpPr>
              <p:nvPr/>
            </p:nvSpPr>
            <p:spPr bwMode="auto">
              <a:xfrm>
                <a:off x="1145" y="2516"/>
                <a:ext cx="362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with regular reviews. Substantial adjustment of controls to manage the </a:t>
                </a:r>
                <a:endParaRPr lang="en-US" altLang="en-US"/>
              </a:p>
            </p:txBody>
          </p:sp>
          <p:sp>
            <p:nvSpPr>
              <p:cNvPr id="55414" name="Rectangle 693">
                <a:extLst>
                  <a:ext uri="{FF2B5EF4-FFF2-40B4-BE49-F238E27FC236}">
                    <a16:creationId xmlns:a16="http://schemas.microsoft.com/office/drawing/2014/main" id="{A31A5F3C-5104-5248-238B-12D30DFBB4BC}"/>
                  </a:ext>
                </a:extLst>
              </p:cNvPr>
              <p:cNvSpPr>
                <a:spLocks noChangeArrowheads="1"/>
              </p:cNvSpPr>
              <p:nvPr/>
            </p:nvSpPr>
            <p:spPr bwMode="auto">
              <a:xfrm>
                <a:off x="1145" y="2660"/>
                <a:ext cx="388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5" name="Rectangle 694">
                <a:extLst>
                  <a:ext uri="{FF2B5EF4-FFF2-40B4-BE49-F238E27FC236}">
                    <a16:creationId xmlns:a16="http://schemas.microsoft.com/office/drawing/2014/main" id="{440CEB24-4805-127E-0C20-3C883F580EB5}"/>
                  </a:ext>
                </a:extLst>
              </p:cNvPr>
              <p:cNvSpPr>
                <a:spLocks noChangeArrowheads="1"/>
              </p:cNvSpPr>
              <p:nvPr/>
            </p:nvSpPr>
            <p:spPr bwMode="auto">
              <a:xfrm>
                <a:off x="1145" y="2649"/>
                <a:ext cx="33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risk are expected, with costs possibly exceeding original forecasts. </a:t>
                </a:r>
                <a:endParaRPr lang="en-US" altLang="en-US"/>
              </a:p>
            </p:txBody>
          </p:sp>
          <p:sp>
            <p:nvSpPr>
              <p:cNvPr id="55416" name="Rectangle 695">
                <a:extLst>
                  <a:ext uri="{FF2B5EF4-FFF2-40B4-BE49-F238E27FC236}">
                    <a16:creationId xmlns:a16="http://schemas.microsoft.com/office/drawing/2014/main" id="{E46D8102-8CC7-C55E-5D79-CA49379132B3}"/>
                  </a:ext>
                </a:extLst>
              </p:cNvPr>
              <p:cNvSpPr>
                <a:spLocks noChangeArrowheads="1"/>
              </p:cNvSpPr>
              <p:nvPr/>
            </p:nvSpPr>
            <p:spPr bwMode="auto">
              <a:xfrm>
                <a:off x="4619" y="264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17" name="Rectangle 696">
                <a:extLst>
                  <a:ext uri="{FF2B5EF4-FFF2-40B4-BE49-F238E27FC236}">
                    <a16:creationId xmlns:a16="http://schemas.microsoft.com/office/drawing/2014/main" id="{CA4C4CD1-8E8B-E1EF-D9CE-401BFE76CD80}"/>
                  </a:ext>
                </a:extLst>
              </p:cNvPr>
              <p:cNvSpPr>
                <a:spLocks noChangeArrowheads="1"/>
              </p:cNvSpPr>
              <p:nvPr/>
            </p:nvSpPr>
            <p:spPr bwMode="auto">
              <a:xfrm>
                <a:off x="295"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8" name="Line 697">
                <a:extLst>
                  <a:ext uri="{FF2B5EF4-FFF2-40B4-BE49-F238E27FC236}">
                    <a16:creationId xmlns:a16="http://schemas.microsoft.com/office/drawing/2014/main" id="{3C2444B2-73EE-4144-05F4-58DCDD727AC2}"/>
                  </a:ext>
                </a:extLst>
              </p:cNvPr>
              <p:cNvSpPr>
                <a:spLocks noChangeShapeType="1"/>
              </p:cNvSpPr>
              <p:nvPr/>
            </p:nvSpPr>
            <p:spPr bwMode="auto">
              <a:xfrm>
                <a:off x="295"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19" name="Line 698">
                <a:extLst>
                  <a:ext uri="{FF2B5EF4-FFF2-40B4-BE49-F238E27FC236}">
                    <a16:creationId xmlns:a16="http://schemas.microsoft.com/office/drawing/2014/main" id="{3F48E70C-C396-CC86-6F00-DA92F7B313A4}"/>
                  </a:ext>
                </a:extLst>
              </p:cNvPr>
              <p:cNvSpPr>
                <a:spLocks noChangeShapeType="1"/>
              </p:cNvSpPr>
              <p:nvPr/>
            </p:nvSpPr>
            <p:spPr bwMode="auto">
              <a:xfrm>
                <a:off x="295"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0" name="Rectangle 699">
                <a:extLst>
                  <a:ext uri="{FF2B5EF4-FFF2-40B4-BE49-F238E27FC236}">
                    <a16:creationId xmlns:a16="http://schemas.microsoft.com/office/drawing/2014/main" id="{52696FC9-BF09-986E-F810-3E8928E79E90}"/>
                  </a:ext>
                </a:extLst>
              </p:cNvPr>
              <p:cNvSpPr>
                <a:spLocks noChangeArrowheads="1"/>
              </p:cNvSpPr>
              <p:nvPr/>
            </p:nvSpPr>
            <p:spPr bwMode="auto">
              <a:xfrm>
                <a:off x="300" y="2257"/>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1" name="Line 700">
                <a:extLst>
                  <a:ext uri="{FF2B5EF4-FFF2-40B4-BE49-F238E27FC236}">
                    <a16:creationId xmlns:a16="http://schemas.microsoft.com/office/drawing/2014/main" id="{630A9A77-0CF1-56F8-EA42-0B10E5FEF315}"/>
                  </a:ext>
                </a:extLst>
              </p:cNvPr>
              <p:cNvSpPr>
                <a:spLocks noChangeShapeType="1"/>
              </p:cNvSpPr>
              <p:nvPr/>
            </p:nvSpPr>
            <p:spPr bwMode="auto">
              <a:xfrm>
                <a:off x="300" y="2257"/>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2" name="Rectangle 701">
                <a:extLst>
                  <a:ext uri="{FF2B5EF4-FFF2-40B4-BE49-F238E27FC236}">
                    <a16:creationId xmlns:a16="http://schemas.microsoft.com/office/drawing/2014/main" id="{B095CBA2-415D-B12D-9DD6-36947013F564}"/>
                  </a:ext>
                </a:extLst>
              </p:cNvPr>
              <p:cNvSpPr>
                <a:spLocks noChangeArrowheads="1"/>
              </p:cNvSpPr>
              <p:nvPr/>
            </p:nvSpPr>
            <p:spPr bwMode="auto">
              <a:xfrm>
                <a:off x="1091"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3" name="Line 702">
                <a:extLst>
                  <a:ext uri="{FF2B5EF4-FFF2-40B4-BE49-F238E27FC236}">
                    <a16:creationId xmlns:a16="http://schemas.microsoft.com/office/drawing/2014/main" id="{B00E9193-A340-6F6B-144A-08DE12485125}"/>
                  </a:ext>
                </a:extLst>
              </p:cNvPr>
              <p:cNvSpPr>
                <a:spLocks noChangeShapeType="1"/>
              </p:cNvSpPr>
              <p:nvPr/>
            </p:nvSpPr>
            <p:spPr bwMode="auto">
              <a:xfrm>
                <a:off x="1091"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4" name="Line 703">
                <a:extLst>
                  <a:ext uri="{FF2B5EF4-FFF2-40B4-BE49-F238E27FC236}">
                    <a16:creationId xmlns:a16="http://schemas.microsoft.com/office/drawing/2014/main" id="{751AAFB1-7DFA-E5AD-EDA5-231A6A91EC8A}"/>
                  </a:ext>
                </a:extLst>
              </p:cNvPr>
              <p:cNvSpPr>
                <a:spLocks noChangeShapeType="1"/>
              </p:cNvSpPr>
              <p:nvPr/>
            </p:nvSpPr>
            <p:spPr bwMode="auto">
              <a:xfrm>
                <a:off x="1091"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5" name="Rectangle 704">
                <a:extLst>
                  <a:ext uri="{FF2B5EF4-FFF2-40B4-BE49-F238E27FC236}">
                    <a16:creationId xmlns:a16="http://schemas.microsoft.com/office/drawing/2014/main" id="{D9DC95F6-2D44-3D81-8A14-D9F5A2CA8AC4}"/>
                  </a:ext>
                </a:extLst>
              </p:cNvPr>
              <p:cNvSpPr>
                <a:spLocks noChangeArrowheads="1"/>
              </p:cNvSpPr>
              <p:nvPr/>
            </p:nvSpPr>
            <p:spPr bwMode="auto">
              <a:xfrm>
                <a:off x="1096" y="2257"/>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6" name="Line 705">
                <a:extLst>
                  <a:ext uri="{FF2B5EF4-FFF2-40B4-BE49-F238E27FC236}">
                    <a16:creationId xmlns:a16="http://schemas.microsoft.com/office/drawing/2014/main" id="{18819742-1A8B-632E-8E44-3F947F163DE2}"/>
                  </a:ext>
                </a:extLst>
              </p:cNvPr>
              <p:cNvSpPr>
                <a:spLocks noChangeShapeType="1"/>
              </p:cNvSpPr>
              <p:nvPr/>
            </p:nvSpPr>
            <p:spPr bwMode="auto">
              <a:xfrm>
                <a:off x="1096" y="2257"/>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7" name="Rectangle 706">
                <a:extLst>
                  <a:ext uri="{FF2B5EF4-FFF2-40B4-BE49-F238E27FC236}">
                    <a16:creationId xmlns:a16="http://schemas.microsoft.com/office/drawing/2014/main" id="{BE41FB3E-DA9F-8D7E-23DC-B742ACBEE1A5}"/>
                  </a:ext>
                </a:extLst>
              </p:cNvPr>
              <p:cNvSpPr>
                <a:spLocks noChangeArrowheads="1"/>
              </p:cNvSpPr>
              <p:nvPr/>
            </p:nvSpPr>
            <p:spPr bwMode="auto">
              <a:xfrm>
                <a:off x="5083"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8" name="Line 707">
                <a:extLst>
                  <a:ext uri="{FF2B5EF4-FFF2-40B4-BE49-F238E27FC236}">
                    <a16:creationId xmlns:a16="http://schemas.microsoft.com/office/drawing/2014/main" id="{B91F49E5-F8F9-6330-D062-D17D42EE5F04}"/>
                  </a:ext>
                </a:extLst>
              </p:cNvPr>
              <p:cNvSpPr>
                <a:spLocks noChangeShapeType="1"/>
              </p:cNvSpPr>
              <p:nvPr/>
            </p:nvSpPr>
            <p:spPr bwMode="auto">
              <a:xfrm>
                <a:off x="5083"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9" name="Line 708">
                <a:extLst>
                  <a:ext uri="{FF2B5EF4-FFF2-40B4-BE49-F238E27FC236}">
                    <a16:creationId xmlns:a16="http://schemas.microsoft.com/office/drawing/2014/main" id="{A5CEF55D-03F1-1E5A-927C-4066752F5A0B}"/>
                  </a:ext>
                </a:extLst>
              </p:cNvPr>
              <p:cNvSpPr>
                <a:spLocks noChangeShapeType="1"/>
              </p:cNvSpPr>
              <p:nvPr/>
            </p:nvSpPr>
            <p:spPr bwMode="auto">
              <a:xfrm>
                <a:off x="5083"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0" name="Rectangle 709">
                <a:extLst>
                  <a:ext uri="{FF2B5EF4-FFF2-40B4-BE49-F238E27FC236}">
                    <a16:creationId xmlns:a16="http://schemas.microsoft.com/office/drawing/2014/main" id="{EE25C8C8-0257-F4B7-C634-A0755F70987D}"/>
                  </a:ext>
                </a:extLst>
              </p:cNvPr>
              <p:cNvSpPr>
                <a:spLocks noChangeArrowheads="1"/>
              </p:cNvSpPr>
              <p:nvPr/>
            </p:nvSpPr>
            <p:spPr bwMode="auto">
              <a:xfrm>
                <a:off x="295"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1" name="Line 710">
                <a:extLst>
                  <a:ext uri="{FF2B5EF4-FFF2-40B4-BE49-F238E27FC236}">
                    <a16:creationId xmlns:a16="http://schemas.microsoft.com/office/drawing/2014/main" id="{61E0C00F-BA43-0A21-E3A4-CA36D208554E}"/>
                  </a:ext>
                </a:extLst>
              </p:cNvPr>
              <p:cNvSpPr>
                <a:spLocks noChangeShapeType="1"/>
              </p:cNvSpPr>
              <p:nvPr/>
            </p:nvSpPr>
            <p:spPr bwMode="auto">
              <a:xfrm>
                <a:off x="295"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2" name="Rectangle 711">
                <a:extLst>
                  <a:ext uri="{FF2B5EF4-FFF2-40B4-BE49-F238E27FC236}">
                    <a16:creationId xmlns:a16="http://schemas.microsoft.com/office/drawing/2014/main" id="{0BA4BA81-0763-8569-5C30-5C98FA251EE4}"/>
                  </a:ext>
                </a:extLst>
              </p:cNvPr>
              <p:cNvSpPr>
                <a:spLocks noChangeArrowheads="1"/>
              </p:cNvSpPr>
              <p:nvPr/>
            </p:nvSpPr>
            <p:spPr bwMode="auto">
              <a:xfrm>
                <a:off x="1091"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3" name="Line 712">
                <a:extLst>
                  <a:ext uri="{FF2B5EF4-FFF2-40B4-BE49-F238E27FC236}">
                    <a16:creationId xmlns:a16="http://schemas.microsoft.com/office/drawing/2014/main" id="{9D541463-0016-7796-D1CB-D1AC3E18B5E9}"/>
                  </a:ext>
                </a:extLst>
              </p:cNvPr>
              <p:cNvSpPr>
                <a:spLocks noChangeShapeType="1"/>
              </p:cNvSpPr>
              <p:nvPr/>
            </p:nvSpPr>
            <p:spPr bwMode="auto">
              <a:xfrm>
                <a:off x="1091"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4" name="Rectangle 713">
                <a:extLst>
                  <a:ext uri="{FF2B5EF4-FFF2-40B4-BE49-F238E27FC236}">
                    <a16:creationId xmlns:a16="http://schemas.microsoft.com/office/drawing/2014/main" id="{3B1BA407-C244-80A2-86DE-BA307DF431F1}"/>
                  </a:ext>
                </a:extLst>
              </p:cNvPr>
              <p:cNvSpPr>
                <a:spLocks noChangeArrowheads="1"/>
              </p:cNvSpPr>
              <p:nvPr/>
            </p:nvSpPr>
            <p:spPr bwMode="auto">
              <a:xfrm>
                <a:off x="5083"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5" name="Line 714">
                <a:extLst>
                  <a:ext uri="{FF2B5EF4-FFF2-40B4-BE49-F238E27FC236}">
                    <a16:creationId xmlns:a16="http://schemas.microsoft.com/office/drawing/2014/main" id="{AAAEF4EB-F26B-9D0B-754A-E5F80D530502}"/>
                  </a:ext>
                </a:extLst>
              </p:cNvPr>
              <p:cNvSpPr>
                <a:spLocks noChangeShapeType="1"/>
              </p:cNvSpPr>
              <p:nvPr/>
            </p:nvSpPr>
            <p:spPr bwMode="auto">
              <a:xfrm>
                <a:off x="5083"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6" name="Rectangle 715">
                <a:extLst>
                  <a:ext uri="{FF2B5EF4-FFF2-40B4-BE49-F238E27FC236}">
                    <a16:creationId xmlns:a16="http://schemas.microsoft.com/office/drawing/2014/main" id="{CF75F260-B96E-15F4-D5D4-E56158B3BF9D}"/>
                  </a:ext>
                </a:extLst>
              </p:cNvPr>
              <p:cNvSpPr>
                <a:spLocks noChangeArrowheads="1"/>
              </p:cNvSpPr>
              <p:nvPr/>
            </p:nvSpPr>
            <p:spPr bwMode="auto">
              <a:xfrm>
                <a:off x="300" y="279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7" name="Rectangle 716">
                <a:extLst>
                  <a:ext uri="{FF2B5EF4-FFF2-40B4-BE49-F238E27FC236}">
                    <a16:creationId xmlns:a16="http://schemas.microsoft.com/office/drawing/2014/main" id="{DB3BCE1A-52D1-C99F-E535-3B9E7C40CF69}"/>
                  </a:ext>
                </a:extLst>
              </p:cNvPr>
              <p:cNvSpPr>
                <a:spLocks noChangeArrowheads="1"/>
              </p:cNvSpPr>
              <p:nvPr/>
            </p:nvSpPr>
            <p:spPr bwMode="auto">
              <a:xfrm>
                <a:off x="1042" y="279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8" name="Rectangle 717">
                <a:extLst>
                  <a:ext uri="{FF2B5EF4-FFF2-40B4-BE49-F238E27FC236}">
                    <a16:creationId xmlns:a16="http://schemas.microsoft.com/office/drawing/2014/main" id="{ADA0B075-BCB9-1F83-31E7-B948D86BF228}"/>
                  </a:ext>
                </a:extLst>
              </p:cNvPr>
              <p:cNvSpPr>
                <a:spLocks noChangeArrowheads="1"/>
              </p:cNvSpPr>
              <p:nvPr/>
            </p:nvSpPr>
            <p:spPr bwMode="auto">
              <a:xfrm>
                <a:off x="300" y="2932"/>
                <a:ext cx="791" cy="4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9" name="Rectangle 718">
                <a:extLst>
                  <a:ext uri="{FF2B5EF4-FFF2-40B4-BE49-F238E27FC236}">
                    <a16:creationId xmlns:a16="http://schemas.microsoft.com/office/drawing/2014/main" id="{9ECAB1E9-D680-9DA4-2436-F95912BA7B6E}"/>
                  </a:ext>
                </a:extLst>
              </p:cNvPr>
              <p:cNvSpPr>
                <a:spLocks noChangeArrowheads="1"/>
              </p:cNvSpPr>
              <p:nvPr/>
            </p:nvSpPr>
            <p:spPr bwMode="auto">
              <a:xfrm>
                <a:off x="349" y="2799"/>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0" name="Rectangle 719">
                <a:extLst>
                  <a:ext uri="{FF2B5EF4-FFF2-40B4-BE49-F238E27FC236}">
                    <a16:creationId xmlns:a16="http://schemas.microsoft.com/office/drawing/2014/main" id="{405026D2-AA2E-FA8B-155B-F38383C225E5}"/>
                  </a:ext>
                </a:extLst>
              </p:cNvPr>
              <p:cNvSpPr>
                <a:spLocks noChangeArrowheads="1"/>
              </p:cNvSpPr>
              <p:nvPr/>
            </p:nvSpPr>
            <p:spPr bwMode="auto">
              <a:xfrm>
                <a:off x="349" y="2787"/>
                <a:ext cx="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H</a:t>
                </a:r>
                <a:endParaRPr lang="en-US" altLang="en-US"/>
              </a:p>
            </p:txBody>
          </p:sp>
          <p:sp>
            <p:nvSpPr>
              <p:cNvPr id="55441" name="Rectangle 720">
                <a:extLst>
                  <a:ext uri="{FF2B5EF4-FFF2-40B4-BE49-F238E27FC236}">
                    <a16:creationId xmlns:a16="http://schemas.microsoft.com/office/drawing/2014/main" id="{6683A0A5-5B78-51F6-641B-8AF5D92582F9}"/>
                  </a:ext>
                </a:extLst>
              </p:cNvPr>
              <p:cNvSpPr>
                <a:spLocks noChangeArrowheads="1"/>
              </p:cNvSpPr>
              <p:nvPr/>
            </p:nvSpPr>
            <p:spPr bwMode="auto">
              <a:xfrm>
                <a:off x="427" y="2787"/>
                <a:ext cx="3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igh (H)</a:t>
                </a:r>
                <a:endParaRPr lang="en-US" altLang="en-US"/>
              </a:p>
            </p:txBody>
          </p:sp>
          <p:sp>
            <p:nvSpPr>
              <p:cNvPr id="55442" name="Rectangle 721">
                <a:extLst>
                  <a:ext uri="{FF2B5EF4-FFF2-40B4-BE49-F238E27FC236}">
                    <a16:creationId xmlns:a16="http://schemas.microsoft.com/office/drawing/2014/main" id="{DF804157-A2B3-F93A-2336-622148C7DA9F}"/>
                  </a:ext>
                </a:extLst>
              </p:cNvPr>
              <p:cNvSpPr>
                <a:spLocks noChangeArrowheads="1"/>
              </p:cNvSpPr>
              <p:nvPr/>
            </p:nvSpPr>
            <p:spPr bwMode="auto">
              <a:xfrm>
                <a:off x="783" y="278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43" name="Rectangle 722">
                <a:extLst>
                  <a:ext uri="{FF2B5EF4-FFF2-40B4-BE49-F238E27FC236}">
                    <a16:creationId xmlns:a16="http://schemas.microsoft.com/office/drawing/2014/main" id="{CFDFF5D7-2170-C673-CF64-4B50D6BA3D46}"/>
                  </a:ext>
                </a:extLst>
              </p:cNvPr>
              <p:cNvSpPr>
                <a:spLocks noChangeArrowheads="1"/>
              </p:cNvSpPr>
              <p:nvPr/>
            </p:nvSpPr>
            <p:spPr bwMode="auto">
              <a:xfrm>
                <a:off x="1096" y="2799"/>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4" name="Rectangle 723">
                <a:extLst>
                  <a:ext uri="{FF2B5EF4-FFF2-40B4-BE49-F238E27FC236}">
                    <a16:creationId xmlns:a16="http://schemas.microsoft.com/office/drawing/2014/main" id="{1562F481-7F7C-9C55-92D4-61A83BBE7F71}"/>
                  </a:ext>
                </a:extLst>
              </p:cNvPr>
              <p:cNvSpPr>
                <a:spLocks noChangeArrowheads="1"/>
              </p:cNvSpPr>
              <p:nvPr/>
            </p:nvSpPr>
            <p:spPr bwMode="auto">
              <a:xfrm>
                <a:off x="5034" y="2799"/>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5" name="Rectangle 724">
                <a:extLst>
                  <a:ext uri="{FF2B5EF4-FFF2-40B4-BE49-F238E27FC236}">
                    <a16:creationId xmlns:a16="http://schemas.microsoft.com/office/drawing/2014/main" id="{91C33C4F-88DF-70D2-995B-11AEBD514B25}"/>
                  </a:ext>
                </a:extLst>
              </p:cNvPr>
              <p:cNvSpPr>
                <a:spLocks noChangeArrowheads="1"/>
              </p:cNvSpPr>
              <p:nvPr/>
            </p:nvSpPr>
            <p:spPr bwMode="auto">
              <a:xfrm>
                <a:off x="1145" y="279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6" name="Rectangle 725">
                <a:extLst>
                  <a:ext uri="{FF2B5EF4-FFF2-40B4-BE49-F238E27FC236}">
                    <a16:creationId xmlns:a16="http://schemas.microsoft.com/office/drawing/2014/main" id="{A78F6D33-9430-8794-9174-737F2BACC559}"/>
                  </a:ext>
                </a:extLst>
              </p:cNvPr>
              <p:cNvSpPr>
                <a:spLocks noChangeArrowheads="1"/>
              </p:cNvSpPr>
              <p:nvPr/>
            </p:nvSpPr>
            <p:spPr bwMode="auto">
              <a:xfrm>
                <a:off x="1145" y="2787"/>
                <a:ext cx="38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Requires management attention, but management and planning can be left </a:t>
                </a:r>
                <a:endParaRPr lang="en-US" altLang="en-US"/>
              </a:p>
            </p:txBody>
          </p:sp>
          <p:sp>
            <p:nvSpPr>
              <p:cNvPr id="55447" name="Rectangle 726">
                <a:extLst>
                  <a:ext uri="{FF2B5EF4-FFF2-40B4-BE49-F238E27FC236}">
                    <a16:creationId xmlns:a16="http://schemas.microsoft.com/office/drawing/2014/main" id="{6641A206-2EDB-99C4-505A-4E2F10C46862}"/>
                  </a:ext>
                </a:extLst>
              </p:cNvPr>
              <p:cNvSpPr>
                <a:spLocks noChangeArrowheads="1"/>
              </p:cNvSpPr>
              <p:nvPr/>
            </p:nvSpPr>
            <p:spPr bwMode="auto">
              <a:xfrm>
                <a:off x="1145" y="2932"/>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8" name="Rectangle 727">
                <a:extLst>
                  <a:ext uri="{FF2B5EF4-FFF2-40B4-BE49-F238E27FC236}">
                    <a16:creationId xmlns:a16="http://schemas.microsoft.com/office/drawing/2014/main" id="{41942A9D-68B6-74DD-8270-D284BE68A385}"/>
                  </a:ext>
                </a:extLst>
              </p:cNvPr>
              <p:cNvSpPr>
                <a:spLocks noChangeArrowheads="1"/>
              </p:cNvSpPr>
              <p:nvPr/>
            </p:nvSpPr>
            <p:spPr bwMode="auto">
              <a:xfrm>
                <a:off x="1145" y="2920"/>
                <a:ext cx="368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to senior project or team leaders. Ongoing planning and monitoring with </a:t>
                </a:r>
                <a:endParaRPr lang="en-US" altLang="en-US"/>
              </a:p>
            </p:txBody>
          </p:sp>
          <p:sp>
            <p:nvSpPr>
              <p:cNvPr id="55449" name="Rectangle 728">
                <a:extLst>
                  <a:ext uri="{FF2B5EF4-FFF2-40B4-BE49-F238E27FC236}">
                    <a16:creationId xmlns:a16="http://schemas.microsoft.com/office/drawing/2014/main" id="{3CDC0AF5-D9DB-A414-C089-08B598352C8F}"/>
                  </a:ext>
                </a:extLst>
              </p:cNvPr>
              <p:cNvSpPr>
                <a:spLocks noChangeArrowheads="1"/>
              </p:cNvSpPr>
              <p:nvPr/>
            </p:nvSpPr>
            <p:spPr bwMode="auto">
              <a:xfrm>
                <a:off x="1145" y="3065"/>
                <a:ext cx="388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0" name="Rectangle 729">
                <a:extLst>
                  <a:ext uri="{FF2B5EF4-FFF2-40B4-BE49-F238E27FC236}">
                    <a16:creationId xmlns:a16="http://schemas.microsoft.com/office/drawing/2014/main" id="{65881B4A-601A-37C4-FA9F-F15FDACA42FB}"/>
                  </a:ext>
                </a:extLst>
              </p:cNvPr>
              <p:cNvSpPr>
                <a:spLocks noChangeArrowheads="1"/>
              </p:cNvSpPr>
              <p:nvPr/>
            </p:nvSpPr>
            <p:spPr bwMode="auto">
              <a:xfrm>
                <a:off x="1145" y="3054"/>
                <a:ext cx="37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regular reviews are likely, though adjustment of controls are likely to be </a:t>
                </a:r>
                <a:endParaRPr lang="en-US" altLang="en-US"/>
              </a:p>
            </p:txBody>
          </p:sp>
          <p:sp>
            <p:nvSpPr>
              <p:cNvPr id="55451" name="Rectangle 730">
                <a:extLst>
                  <a:ext uri="{FF2B5EF4-FFF2-40B4-BE49-F238E27FC236}">
                    <a16:creationId xmlns:a16="http://schemas.microsoft.com/office/drawing/2014/main" id="{B1E6E713-C6F8-8737-2343-CAF5C3283C9A}"/>
                  </a:ext>
                </a:extLst>
              </p:cNvPr>
              <p:cNvSpPr>
                <a:spLocks noChangeArrowheads="1"/>
              </p:cNvSpPr>
              <p:nvPr/>
            </p:nvSpPr>
            <p:spPr bwMode="auto">
              <a:xfrm>
                <a:off x="1145" y="319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2" name="Rectangle 731">
                <a:extLst>
                  <a:ext uri="{FF2B5EF4-FFF2-40B4-BE49-F238E27FC236}">
                    <a16:creationId xmlns:a16="http://schemas.microsoft.com/office/drawing/2014/main" id="{B9DE2222-847C-5DD3-5924-513D15B8EB66}"/>
                  </a:ext>
                </a:extLst>
              </p:cNvPr>
              <p:cNvSpPr>
                <a:spLocks noChangeArrowheads="1"/>
              </p:cNvSpPr>
              <p:nvPr/>
            </p:nvSpPr>
            <p:spPr bwMode="auto">
              <a:xfrm>
                <a:off x="1145" y="3187"/>
                <a:ext cx="17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met from within existing resources</a:t>
                </a:r>
                <a:endParaRPr lang="en-US" altLang="en-US"/>
              </a:p>
            </p:txBody>
          </p:sp>
          <p:sp>
            <p:nvSpPr>
              <p:cNvPr id="55453" name="Rectangle 732">
                <a:extLst>
                  <a:ext uri="{FF2B5EF4-FFF2-40B4-BE49-F238E27FC236}">
                    <a16:creationId xmlns:a16="http://schemas.microsoft.com/office/drawing/2014/main" id="{FEC7BD82-DF9A-78B2-574D-5464CD9F5FA2}"/>
                  </a:ext>
                </a:extLst>
              </p:cNvPr>
              <p:cNvSpPr>
                <a:spLocks noChangeArrowheads="1"/>
              </p:cNvSpPr>
              <p:nvPr/>
            </p:nvSpPr>
            <p:spPr bwMode="auto">
              <a:xfrm>
                <a:off x="2726" y="3187"/>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4" name="Rectangle 733">
                <a:extLst>
                  <a:ext uri="{FF2B5EF4-FFF2-40B4-BE49-F238E27FC236}">
                    <a16:creationId xmlns:a16="http://schemas.microsoft.com/office/drawing/2014/main" id="{DD1B8FAC-1E8E-EABD-4C94-F0E8DBAD3475}"/>
                  </a:ext>
                </a:extLst>
              </p:cNvPr>
              <p:cNvSpPr>
                <a:spLocks noChangeArrowheads="1"/>
              </p:cNvSpPr>
              <p:nvPr/>
            </p:nvSpPr>
            <p:spPr bwMode="auto">
              <a:xfrm>
                <a:off x="3012" y="318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55" name="Rectangle 734">
                <a:extLst>
                  <a:ext uri="{FF2B5EF4-FFF2-40B4-BE49-F238E27FC236}">
                    <a16:creationId xmlns:a16="http://schemas.microsoft.com/office/drawing/2014/main" id="{EEDC8F8C-4E00-1BA3-0680-54B0BCDB8EFC}"/>
                  </a:ext>
                </a:extLst>
              </p:cNvPr>
              <p:cNvSpPr>
                <a:spLocks noChangeArrowheads="1"/>
              </p:cNvSpPr>
              <p:nvPr/>
            </p:nvSpPr>
            <p:spPr bwMode="auto">
              <a:xfrm>
                <a:off x="295"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6" name="Line 735">
                <a:extLst>
                  <a:ext uri="{FF2B5EF4-FFF2-40B4-BE49-F238E27FC236}">
                    <a16:creationId xmlns:a16="http://schemas.microsoft.com/office/drawing/2014/main" id="{E3832217-BB4F-6F8A-F894-2AB0BED0C2A3}"/>
                  </a:ext>
                </a:extLst>
              </p:cNvPr>
              <p:cNvSpPr>
                <a:spLocks noChangeShapeType="1"/>
              </p:cNvSpPr>
              <p:nvPr/>
            </p:nvSpPr>
            <p:spPr bwMode="auto">
              <a:xfrm>
                <a:off x="295"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57" name="Line 736">
                <a:extLst>
                  <a:ext uri="{FF2B5EF4-FFF2-40B4-BE49-F238E27FC236}">
                    <a16:creationId xmlns:a16="http://schemas.microsoft.com/office/drawing/2014/main" id="{B1E4EF6A-90F6-F8F1-F6AD-0063576931FA}"/>
                  </a:ext>
                </a:extLst>
              </p:cNvPr>
              <p:cNvSpPr>
                <a:spLocks noChangeShapeType="1"/>
              </p:cNvSpPr>
              <p:nvPr/>
            </p:nvSpPr>
            <p:spPr bwMode="auto">
              <a:xfrm>
                <a:off x="295"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58" name="Rectangle 737">
                <a:extLst>
                  <a:ext uri="{FF2B5EF4-FFF2-40B4-BE49-F238E27FC236}">
                    <a16:creationId xmlns:a16="http://schemas.microsoft.com/office/drawing/2014/main" id="{E9811DCE-0E4D-438A-29A8-91E9A80F9BF2}"/>
                  </a:ext>
                </a:extLst>
              </p:cNvPr>
              <p:cNvSpPr>
                <a:spLocks noChangeArrowheads="1"/>
              </p:cNvSpPr>
              <p:nvPr/>
            </p:nvSpPr>
            <p:spPr bwMode="auto">
              <a:xfrm>
                <a:off x="300" y="2795"/>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9" name="Line 738">
                <a:extLst>
                  <a:ext uri="{FF2B5EF4-FFF2-40B4-BE49-F238E27FC236}">
                    <a16:creationId xmlns:a16="http://schemas.microsoft.com/office/drawing/2014/main" id="{75101784-92A8-4446-0BEB-629279CE498A}"/>
                  </a:ext>
                </a:extLst>
              </p:cNvPr>
              <p:cNvSpPr>
                <a:spLocks noChangeShapeType="1"/>
              </p:cNvSpPr>
              <p:nvPr/>
            </p:nvSpPr>
            <p:spPr bwMode="auto">
              <a:xfrm>
                <a:off x="300" y="2795"/>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0" name="Rectangle 739">
                <a:extLst>
                  <a:ext uri="{FF2B5EF4-FFF2-40B4-BE49-F238E27FC236}">
                    <a16:creationId xmlns:a16="http://schemas.microsoft.com/office/drawing/2014/main" id="{F632FF20-0C4C-AE9B-F7A0-BDB1ABF5E4B2}"/>
                  </a:ext>
                </a:extLst>
              </p:cNvPr>
              <p:cNvSpPr>
                <a:spLocks noChangeArrowheads="1"/>
              </p:cNvSpPr>
              <p:nvPr/>
            </p:nvSpPr>
            <p:spPr bwMode="auto">
              <a:xfrm>
                <a:off x="1091"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1" name="Line 740">
                <a:extLst>
                  <a:ext uri="{FF2B5EF4-FFF2-40B4-BE49-F238E27FC236}">
                    <a16:creationId xmlns:a16="http://schemas.microsoft.com/office/drawing/2014/main" id="{0C867CDD-A302-1D64-20AC-A953A00A1F56}"/>
                  </a:ext>
                </a:extLst>
              </p:cNvPr>
              <p:cNvSpPr>
                <a:spLocks noChangeShapeType="1"/>
              </p:cNvSpPr>
              <p:nvPr/>
            </p:nvSpPr>
            <p:spPr bwMode="auto">
              <a:xfrm>
                <a:off x="1091"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2" name="Line 741">
                <a:extLst>
                  <a:ext uri="{FF2B5EF4-FFF2-40B4-BE49-F238E27FC236}">
                    <a16:creationId xmlns:a16="http://schemas.microsoft.com/office/drawing/2014/main" id="{CED5D0DE-FAF8-4530-DBFE-D9C50854EB67}"/>
                  </a:ext>
                </a:extLst>
              </p:cNvPr>
              <p:cNvSpPr>
                <a:spLocks noChangeShapeType="1"/>
              </p:cNvSpPr>
              <p:nvPr/>
            </p:nvSpPr>
            <p:spPr bwMode="auto">
              <a:xfrm>
                <a:off x="1091"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3" name="Rectangle 742">
                <a:extLst>
                  <a:ext uri="{FF2B5EF4-FFF2-40B4-BE49-F238E27FC236}">
                    <a16:creationId xmlns:a16="http://schemas.microsoft.com/office/drawing/2014/main" id="{927AE789-5F93-2B0C-6505-E530FE239FB3}"/>
                  </a:ext>
                </a:extLst>
              </p:cNvPr>
              <p:cNvSpPr>
                <a:spLocks noChangeArrowheads="1"/>
              </p:cNvSpPr>
              <p:nvPr/>
            </p:nvSpPr>
            <p:spPr bwMode="auto">
              <a:xfrm>
                <a:off x="1096" y="2795"/>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4" name="Line 743">
                <a:extLst>
                  <a:ext uri="{FF2B5EF4-FFF2-40B4-BE49-F238E27FC236}">
                    <a16:creationId xmlns:a16="http://schemas.microsoft.com/office/drawing/2014/main" id="{76B83B28-73AC-FF59-9142-83A023634389}"/>
                  </a:ext>
                </a:extLst>
              </p:cNvPr>
              <p:cNvSpPr>
                <a:spLocks noChangeShapeType="1"/>
              </p:cNvSpPr>
              <p:nvPr/>
            </p:nvSpPr>
            <p:spPr bwMode="auto">
              <a:xfrm>
                <a:off x="1096" y="2795"/>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5" name="Rectangle 744">
                <a:extLst>
                  <a:ext uri="{FF2B5EF4-FFF2-40B4-BE49-F238E27FC236}">
                    <a16:creationId xmlns:a16="http://schemas.microsoft.com/office/drawing/2014/main" id="{452F80BA-3E9A-20FC-2A1E-EAFEDA5F61EC}"/>
                  </a:ext>
                </a:extLst>
              </p:cNvPr>
              <p:cNvSpPr>
                <a:spLocks noChangeArrowheads="1"/>
              </p:cNvSpPr>
              <p:nvPr/>
            </p:nvSpPr>
            <p:spPr bwMode="auto">
              <a:xfrm>
                <a:off x="5083"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6" name="Line 745">
                <a:extLst>
                  <a:ext uri="{FF2B5EF4-FFF2-40B4-BE49-F238E27FC236}">
                    <a16:creationId xmlns:a16="http://schemas.microsoft.com/office/drawing/2014/main" id="{9ED60093-8204-9EDB-8442-5E40B821D486}"/>
                  </a:ext>
                </a:extLst>
              </p:cNvPr>
              <p:cNvSpPr>
                <a:spLocks noChangeShapeType="1"/>
              </p:cNvSpPr>
              <p:nvPr/>
            </p:nvSpPr>
            <p:spPr bwMode="auto">
              <a:xfrm>
                <a:off x="5083"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7" name="Line 746">
                <a:extLst>
                  <a:ext uri="{FF2B5EF4-FFF2-40B4-BE49-F238E27FC236}">
                    <a16:creationId xmlns:a16="http://schemas.microsoft.com/office/drawing/2014/main" id="{FA26799F-4281-A9D7-4926-7FE75B85E5BF}"/>
                  </a:ext>
                </a:extLst>
              </p:cNvPr>
              <p:cNvSpPr>
                <a:spLocks noChangeShapeType="1"/>
              </p:cNvSpPr>
              <p:nvPr/>
            </p:nvSpPr>
            <p:spPr bwMode="auto">
              <a:xfrm>
                <a:off x="5083"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8" name="Rectangle 747">
                <a:extLst>
                  <a:ext uri="{FF2B5EF4-FFF2-40B4-BE49-F238E27FC236}">
                    <a16:creationId xmlns:a16="http://schemas.microsoft.com/office/drawing/2014/main" id="{AC7C53E9-BBAB-5D0C-C209-ECD99502CE1A}"/>
                  </a:ext>
                </a:extLst>
              </p:cNvPr>
              <p:cNvSpPr>
                <a:spLocks noChangeArrowheads="1"/>
              </p:cNvSpPr>
              <p:nvPr/>
            </p:nvSpPr>
            <p:spPr bwMode="auto">
              <a:xfrm>
                <a:off x="295"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9" name="Line 748">
                <a:extLst>
                  <a:ext uri="{FF2B5EF4-FFF2-40B4-BE49-F238E27FC236}">
                    <a16:creationId xmlns:a16="http://schemas.microsoft.com/office/drawing/2014/main" id="{B9664732-7C12-8E44-72B4-267C10724581}"/>
                  </a:ext>
                </a:extLst>
              </p:cNvPr>
              <p:cNvSpPr>
                <a:spLocks noChangeShapeType="1"/>
              </p:cNvSpPr>
              <p:nvPr/>
            </p:nvSpPr>
            <p:spPr bwMode="auto">
              <a:xfrm>
                <a:off x="295"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0" name="Rectangle 749">
                <a:extLst>
                  <a:ext uri="{FF2B5EF4-FFF2-40B4-BE49-F238E27FC236}">
                    <a16:creationId xmlns:a16="http://schemas.microsoft.com/office/drawing/2014/main" id="{D0B8C54A-C45E-8288-366F-E6D699D639A3}"/>
                  </a:ext>
                </a:extLst>
              </p:cNvPr>
              <p:cNvSpPr>
                <a:spLocks noChangeArrowheads="1"/>
              </p:cNvSpPr>
              <p:nvPr/>
            </p:nvSpPr>
            <p:spPr bwMode="auto">
              <a:xfrm>
                <a:off x="1091"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1" name="Line 750">
                <a:extLst>
                  <a:ext uri="{FF2B5EF4-FFF2-40B4-BE49-F238E27FC236}">
                    <a16:creationId xmlns:a16="http://schemas.microsoft.com/office/drawing/2014/main" id="{4A5CA395-2225-57B7-60C4-57E6978AF06E}"/>
                  </a:ext>
                </a:extLst>
              </p:cNvPr>
              <p:cNvSpPr>
                <a:spLocks noChangeShapeType="1"/>
              </p:cNvSpPr>
              <p:nvPr/>
            </p:nvSpPr>
            <p:spPr bwMode="auto">
              <a:xfrm>
                <a:off x="1091"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2" name="Rectangle 751">
                <a:extLst>
                  <a:ext uri="{FF2B5EF4-FFF2-40B4-BE49-F238E27FC236}">
                    <a16:creationId xmlns:a16="http://schemas.microsoft.com/office/drawing/2014/main" id="{97810EF1-7173-073C-7B6A-0BDBC0DA2AA1}"/>
                  </a:ext>
                </a:extLst>
              </p:cNvPr>
              <p:cNvSpPr>
                <a:spLocks noChangeArrowheads="1"/>
              </p:cNvSpPr>
              <p:nvPr/>
            </p:nvSpPr>
            <p:spPr bwMode="auto">
              <a:xfrm>
                <a:off x="5083"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3" name="Line 752">
                <a:extLst>
                  <a:ext uri="{FF2B5EF4-FFF2-40B4-BE49-F238E27FC236}">
                    <a16:creationId xmlns:a16="http://schemas.microsoft.com/office/drawing/2014/main" id="{77E36553-4E52-994C-47E8-4D8099A9CFD1}"/>
                  </a:ext>
                </a:extLst>
              </p:cNvPr>
              <p:cNvSpPr>
                <a:spLocks noChangeShapeType="1"/>
              </p:cNvSpPr>
              <p:nvPr/>
            </p:nvSpPr>
            <p:spPr bwMode="auto">
              <a:xfrm>
                <a:off x="5083"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4" name="Rectangle 753">
                <a:extLst>
                  <a:ext uri="{FF2B5EF4-FFF2-40B4-BE49-F238E27FC236}">
                    <a16:creationId xmlns:a16="http://schemas.microsoft.com/office/drawing/2014/main" id="{9839D5ED-B3BF-F879-CFE4-BE504F1239B9}"/>
                  </a:ext>
                </a:extLst>
              </p:cNvPr>
              <p:cNvSpPr>
                <a:spLocks noChangeArrowheads="1"/>
              </p:cNvSpPr>
              <p:nvPr/>
            </p:nvSpPr>
            <p:spPr bwMode="auto">
              <a:xfrm>
                <a:off x="300" y="333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5" name="Rectangle 754">
                <a:extLst>
                  <a:ext uri="{FF2B5EF4-FFF2-40B4-BE49-F238E27FC236}">
                    <a16:creationId xmlns:a16="http://schemas.microsoft.com/office/drawing/2014/main" id="{1D7078E5-2C96-D628-8980-7D0D2D35EC4F}"/>
                  </a:ext>
                </a:extLst>
              </p:cNvPr>
              <p:cNvSpPr>
                <a:spLocks noChangeArrowheads="1"/>
              </p:cNvSpPr>
              <p:nvPr/>
            </p:nvSpPr>
            <p:spPr bwMode="auto">
              <a:xfrm>
                <a:off x="1042" y="333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6" name="Rectangle 755">
                <a:extLst>
                  <a:ext uri="{FF2B5EF4-FFF2-40B4-BE49-F238E27FC236}">
                    <a16:creationId xmlns:a16="http://schemas.microsoft.com/office/drawing/2014/main" id="{5E4B544B-F864-4520-C5BE-DD95518F8C5A}"/>
                  </a:ext>
                </a:extLst>
              </p:cNvPr>
              <p:cNvSpPr>
                <a:spLocks noChangeArrowheads="1"/>
              </p:cNvSpPr>
              <p:nvPr/>
            </p:nvSpPr>
            <p:spPr bwMode="auto">
              <a:xfrm>
                <a:off x="300" y="3469"/>
                <a:ext cx="791"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7" name="Rectangle 756">
                <a:extLst>
                  <a:ext uri="{FF2B5EF4-FFF2-40B4-BE49-F238E27FC236}">
                    <a16:creationId xmlns:a16="http://schemas.microsoft.com/office/drawing/2014/main" id="{A870696B-6A28-F8DB-4D45-15F838318891}"/>
                  </a:ext>
                </a:extLst>
              </p:cNvPr>
              <p:cNvSpPr>
                <a:spLocks noChangeArrowheads="1"/>
              </p:cNvSpPr>
              <p:nvPr/>
            </p:nvSpPr>
            <p:spPr bwMode="auto">
              <a:xfrm>
                <a:off x="349" y="3336"/>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8" name="Rectangle 757">
                <a:extLst>
                  <a:ext uri="{FF2B5EF4-FFF2-40B4-BE49-F238E27FC236}">
                    <a16:creationId xmlns:a16="http://schemas.microsoft.com/office/drawing/2014/main" id="{B47BF597-0705-4CA3-28F8-5E5BF9D72591}"/>
                  </a:ext>
                </a:extLst>
              </p:cNvPr>
              <p:cNvSpPr>
                <a:spLocks noChangeArrowheads="1"/>
              </p:cNvSpPr>
              <p:nvPr/>
            </p:nvSpPr>
            <p:spPr bwMode="auto">
              <a:xfrm>
                <a:off x="349" y="3324"/>
                <a:ext cx="6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Medium (M)</a:t>
                </a:r>
                <a:endParaRPr lang="en-US" altLang="en-US"/>
              </a:p>
            </p:txBody>
          </p:sp>
          <p:sp>
            <p:nvSpPr>
              <p:cNvPr id="55479" name="Rectangle 758">
                <a:extLst>
                  <a:ext uri="{FF2B5EF4-FFF2-40B4-BE49-F238E27FC236}">
                    <a16:creationId xmlns:a16="http://schemas.microsoft.com/office/drawing/2014/main" id="{B9F4AA78-E7C1-8E8A-574E-256993A5E4B6}"/>
                  </a:ext>
                </a:extLst>
              </p:cNvPr>
              <p:cNvSpPr>
                <a:spLocks noChangeArrowheads="1"/>
              </p:cNvSpPr>
              <p:nvPr/>
            </p:nvSpPr>
            <p:spPr bwMode="auto">
              <a:xfrm>
                <a:off x="972" y="3324"/>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80" name="Rectangle 759">
                <a:extLst>
                  <a:ext uri="{FF2B5EF4-FFF2-40B4-BE49-F238E27FC236}">
                    <a16:creationId xmlns:a16="http://schemas.microsoft.com/office/drawing/2014/main" id="{967AB853-B598-833C-7595-818DE09C7670}"/>
                  </a:ext>
                </a:extLst>
              </p:cNvPr>
              <p:cNvSpPr>
                <a:spLocks noChangeArrowheads="1"/>
              </p:cNvSpPr>
              <p:nvPr/>
            </p:nvSpPr>
            <p:spPr bwMode="auto">
              <a:xfrm>
                <a:off x="1096" y="3336"/>
                <a:ext cx="49"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1" name="Rectangle 760">
                <a:extLst>
                  <a:ext uri="{FF2B5EF4-FFF2-40B4-BE49-F238E27FC236}">
                    <a16:creationId xmlns:a16="http://schemas.microsoft.com/office/drawing/2014/main" id="{FA2D51B5-DD3C-9B36-3E18-5F34CEBE6F47}"/>
                  </a:ext>
                </a:extLst>
              </p:cNvPr>
              <p:cNvSpPr>
                <a:spLocks noChangeArrowheads="1"/>
              </p:cNvSpPr>
              <p:nvPr/>
            </p:nvSpPr>
            <p:spPr bwMode="auto">
              <a:xfrm>
                <a:off x="5034" y="3336"/>
                <a:ext cx="49"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2" name="Rectangle 761">
                <a:extLst>
                  <a:ext uri="{FF2B5EF4-FFF2-40B4-BE49-F238E27FC236}">
                    <a16:creationId xmlns:a16="http://schemas.microsoft.com/office/drawing/2014/main" id="{11E39654-0E81-FF9E-24DC-FBB09F1E9E71}"/>
                  </a:ext>
                </a:extLst>
              </p:cNvPr>
              <p:cNvSpPr>
                <a:spLocks noChangeArrowheads="1"/>
              </p:cNvSpPr>
              <p:nvPr/>
            </p:nvSpPr>
            <p:spPr bwMode="auto">
              <a:xfrm>
                <a:off x="1145" y="3336"/>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3" name="Rectangle 762">
                <a:extLst>
                  <a:ext uri="{FF2B5EF4-FFF2-40B4-BE49-F238E27FC236}">
                    <a16:creationId xmlns:a16="http://schemas.microsoft.com/office/drawing/2014/main" id="{0515979A-1B6A-92AF-2243-7DEC8DDD738E}"/>
                  </a:ext>
                </a:extLst>
              </p:cNvPr>
              <p:cNvSpPr>
                <a:spLocks noChangeArrowheads="1"/>
              </p:cNvSpPr>
              <p:nvPr/>
            </p:nvSpPr>
            <p:spPr bwMode="auto">
              <a:xfrm>
                <a:off x="1145" y="3324"/>
                <a:ext cx="37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Can be managed by existing specific monitoring and response procedures. </a:t>
                </a:r>
                <a:endParaRPr lang="en-US" altLang="en-US"/>
              </a:p>
            </p:txBody>
          </p:sp>
          <p:sp>
            <p:nvSpPr>
              <p:cNvPr id="55484" name="Rectangle 763">
                <a:extLst>
                  <a:ext uri="{FF2B5EF4-FFF2-40B4-BE49-F238E27FC236}">
                    <a16:creationId xmlns:a16="http://schemas.microsoft.com/office/drawing/2014/main" id="{3C9AC7C1-C32B-9E07-BEC9-8F677BA1AA2D}"/>
                  </a:ext>
                </a:extLst>
              </p:cNvPr>
              <p:cNvSpPr>
                <a:spLocks noChangeArrowheads="1"/>
              </p:cNvSpPr>
              <p:nvPr/>
            </p:nvSpPr>
            <p:spPr bwMode="auto">
              <a:xfrm>
                <a:off x="1145" y="346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5" name="Rectangle 764">
                <a:extLst>
                  <a:ext uri="{FF2B5EF4-FFF2-40B4-BE49-F238E27FC236}">
                    <a16:creationId xmlns:a16="http://schemas.microsoft.com/office/drawing/2014/main" id="{B9214BAF-2543-4069-5C1F-FC5EAF582D71}"/>
                  </a:ext>
                </a:extLst>
              </p:cNvPr>
              <p:cNvSpPr>
                <a:spLocks noChangeArrowheads="1"/>
              </p:cNvSpPr>
              <p:nvPr/>
            </p:nvSpPr>
            <p:spPr bwMode="auto">
              <a:xfrm>
                <a:off x="1145" y="3457"/>
                <a:ext cx="35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Management by employees is suitable with appropriate monitoring and </a:t>
                </a:r>
                <a:endParaRPr lang="en-US" altLang="en-US"/>
              </a:p>
            </p:txBody>
          </p:sp>
          <p:sp>
            <p:nvSpPr>
              <p:cNvPr id="55486" name="Rectangle 765">
                <a:extLst>
                  <a:ext uri="{FF2B5EF4-FFF2-40B4-BE49-F238E27FC236}">
                    <a16:creationId xmlns:a16="http://schemas.microsoft.com/office/drawing/2014/main" id="{9A576106-3591-79D9-46CD-452CDC77CB87}"/>
                  </a:ext>
                </a:extLst>
              </p:cNvPr>
              <p:cNvSpPr>
                <a:spLocks noChangeArrowheads="1"/>
              </p:cNvSpPr>
              <p:nvPr/>
            </p:nvSpPr>
            <p:spPr bwMode="auto">
              <a:xfrm>
                <a:off x="1145" y="3602"/>
                <a:ext cx="388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7" name="Rectangle 766">
                <a:extLst>
                  <a:ext uri="{FF2B5EF4-FFF2-40B4-BE49-F238E27FC236}">
                    <a16:creationId xmlns:a16="http://schemas.microsoft.com/office/drawing/2014/main" id="{B99E79DB-1034-ADE3-3614-2E00235A3285}"/>
                  </a:ext>
                </a:extLst>
              </p:cNvPr>
              <p:cNvSpPr>
                <a:spLocks noChangeArrowheads="1"/>
              </p:cNvSpPr>
              <p:nvPr/>
            </p:nvSpPr>
            <p:spPr bwMode="auto">
              <a:xfrm>
                <a:off x="1145" y="3590"/>
                <a:ext cx="4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reviews. </a:t>
                </a:r>
                <a:endParaRPr lang="en-US" altLang="en-US"/>
              </a:p>
            </p:txBody>
          </p:sp>
          <p:sp>
            <p:nvSpPr>
              <p:cNvPr id="55488" name="Rectangle 767">
                <a:extLst>
                  <a:ext uri="{FF2B5EF4-FFF2-40B4-BE49-F238E27FC236}">
                    <a16:creationId xmlns:a16="http://schemas.microsoft.com/office/drawing/2014/main" id="{5B01890B-C97A-22E6-E18E-4B8D6BD5A67E}"/>
                  </a:ext>
                </a:extLst>
              </p:cNvPr>
              <p:cNvSpPr>
                <a:spLocks noChangeArrowheads="1"/>
              </p:cNvSpPr>
              <p:nvPr/>
            </p:nvSpPr>
            <p:spPr bwMode="auto">
              <a:xfrm>
                <a:off x="1611" y="359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89" name="Rectangle 768">
                <a:extLst>
                  <a:ext uri="{FF2B5EF4-FFF2-40B4-BE49-F238E27FC236}">
                    <a16:creationId xmlns:a16="http://schemas.microsoft.com/office/drawing/2014/main" id="{30C8C6F0-A999-6B63-4C0F-2AB10B0D110E}"/>
                  </a:ext>
                </a:extLst>
              </p:cNvPr>
              <p:cNvSpPr>
                <a:spLocks noChangeArrowheads="1"/>
              </p:cNvSpPr>
              <p:nvPr/>
            </p:nvSpPr>
            <p:spPr bwMode="auto">
              <a:xfrm>
                <a:off x="295"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0" name="Line 769">
                <a:extLst>
                  <a:ext uri="{FF2B5EF4-FFF2-40B4-BE49-F238E27FC236}">
                    <a16:creationId xmlns:a16="http://schemas.microsoft.com/office/drawing/2014/main" id="{D4E5ADE0-E3E9-23A4-052C-C6B813CBD6AF}"/>
                  </a:ext>
                </a:extLst>
              </p:cNvPr>
              <p:cNvSpPr>
                <a:spLocks noChangeShapeType="1"/>
              </p:cNvSpPr>
              <p:nvPr/>
            </p:nvSpPr>
            <p:spPr bwMode="auto">
              <a:xfrm>
                <a:off x="295"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1" name="Line 770">
                <a:extLst>
                  <a:ext uri="{FF2B5EF4-FFF2-40B4-BE49-F238E27FC236}">
                    <a16:creationId xmlns:a16="http://schemas.microsoft.com/office/drawing/2014/main" id="{AB2EF35B-B508-BB47-C7BD-6850C1E3C311}"/>
                  </a:ext>
                </a:extLst>
              </p:cNvPr>
              <p:cNvSpPr>
                <a:spLocks noChangeShapeType="1"/>
              </p:cNvSpPr>
              <p:nvPr/>
            </p:nvSpPr>
            <p:spPr bwMode="auto">
              <a:xfrm>
                <a:off x="295"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2" name="Rectangle 771">
                <a:extLst>
                  <a:ext uri="{FF2B5EF4-FFF2-40B4-BE49-F238E27FC236}">
                    <a16:creationId xmlns:a16="http://schemas.microsoft.com/office/drawing/2014/main" id="{3A916D38-461D-5A30-D781-AD74C7463E0B}"/>
                  </a:ext>
                </a:extLst>
              </p:cNvPr>
              <p:cNvSpPr>
                <a:spLocks noChangeArrowheads="1"/>
              </p:cNvSpPr>
              <p:nvPr/>
            </p:nvSpPr>
            <p:spPr bwMode="auto">
              <a:xfrm>
                <a:off x="300" y="3332"/>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3" name="Line 772">
                <a:extLst>
                  <a:ext uri="{FF2B5EF4-FFF2-40B4-BE49-F238E27FC236}">
                    <a16:creationId xmlns:a16="http://schemas.microsoft.com/office/drawing/2014/main" id="{FE02C7A1-178B-1ACA-DC50-F5EDFF7495DC}"/>
                  </a:ext>
                </a:extLst>
              </p:cNvPr>
              <p:cNvSpPr>
                <a:spLocks noChangeShapeType="1"/>
              </p:cNvSpPr>
              <p:nvPr/>
            </p:nvSpPr>
            <p:spPr bwMode="auto">
              <a:xfrm>
                <a:off x="300" y="3332"/>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4" name="Rectangle 773">
                <a:extLst>
                  <a:ext uri="{FF2B5EF4-FFF2-40B4-BE49-F238E27FC236}">
                    <a16:creationId xmlns:a16="http://schemas.microsoft.com/office/drawing/2014/main" id="{2FDA89F8-1C43-B647-D68F-4FDC86848058}"/>
                  </a:ext>
                </a:extLst>
              </p:cNvPr>
              <p:cNvSpPr>
                <a:spLocks noChangeArrowheads="1"/>
              </p:cNvSpPr>
              <p:nvPr/>
            </p:nvSpPr>
            <p:spPr bwMode="auto">
              <a:xfrm>
                <a:off x="1091"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5" name="Line 774">
                <a:extLst>
                  <a:ext uri="{FF2B5EF4-FFF2-40B4-BE49-F238E27FC236}">
                    <a16:creationId xmlns:a16="http://schemas.microsoft.com/office/drawing/2014/main" id="{1A8F0D67-AC21-A71D-C41D-4FE67A901EC2}"/>
                  </a:ext>
                </a:extLst>
              </p:cNvPr>
              <p:cNvSpPr>
                <a:spLocks noChangeShapeType="1"/>
              </p:cNvSpPr>
              <p:nvPr/>
            </p:nvSpPr>
            <p:spPr bwMode="auto">
              <a:xfrm>
                <a:off x="1091"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6" name="Line 775">
                <a:extLst>
                  <a:ext uri="{FF2B5EF4-FFF2-40B4-BE49-F238E27FC236}">
                    <a16:creationId xmlns:a16="http://schemas.microsoft.com/office/drawing/2014/main" id="{33A03C41-3D7E-F4AE-4087-E87F815D93A5}"/>
                  </a:ext>
                </a:extLst>
              </p:cNvPr>
              <p:cNvSpPr>
                <a:spLocks noChangeShapeType="1"/>
              </p:cNvSpPr>
              <p:nvPr/>
            </p:nvSpPr>
            <p:spPr bwMode="auto">
              <a:xfrm>
                <a:off x="1091"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7" name="Rectangle 776">
                <a:extLst>
                  <a:ext uri="{FF2B5EF4-FFF2-40B4-BE49-F238E27FC236}">
                    <a16:creationId xmlns:a16="http://schemas.microsoft.com/office/drawing/2014/main" id="{299064F7-D560-E253-ECB4-8AB4218FB427}"/>
                  </a:ext>
                </a:extLst>
              </p:cNvPr>
              <p:cNvSpPr>
                <a:spLocks noChangeArrowheads="1"/>
              </p:cNvSpPr>
              <p:nvPr/>
            </p:nvSpPr>
            <p:spPr bwMode="auto">
              <a:xfrm>
                <a:off x="1096" y="3332"/>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8" name="Line 777">
                <a:extLst>
                  <a:ext uri="{FF2B5EF4-FFF2-40B4-BE49-F238E27FC236}">
                    <a16:creationId xmlns:a16="http://schemas.microsoft.com/office/drawing/2014/main" id="{8461EFB5-5A54-F9BC-91B4-87638DCC9505}"/>
                  </a:ext>
                </a:extLst>
              </p:cNvPr>
              <p:cNvSpPr>
                <a:spLocks noChangeShapeType="1"/>
              </p:cNvSpPr>
              <p:nvPr/>
            </p:nvSpPr>
            <p:spPr bwMode="auto">
              <a:xfrm>
                <a:off x="1096" y="3332"/>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9" name="Rectangle 778">
                <a:extLst>
                  <a:ext uri="{FF2B5EF4-FFF2-40B4-BE49-F238E27FC236}">
                    <a16:creationId xmlns:a16="http://schemas.microsoft.com/office/drawing/2014/main" id="{D5ADFEF6-8C8E-A318-B1BB-9A3C2682A2B4}"/>
                  </a:ext>
                </a:extLst>
              </p:cNvPr>
              <p:cNvSpPr>
                <a:spLocks noChangeArrowheads="1"/>
              </p:cNvSpPr>
              <p:nvPr/>
            </p:nvSpPr>
            <p:spPr bwMode="auto">
              <a:xfrm>
                <a:off x="5083"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0" name="Line 779">
                <a:extLst>
                  <a:ext uri="{FF2B5EF4-FFF2-40B4-BE49-F238E27FC236}">
                    <a16:creationId xmlns:a16="http://schemas.microsoft.com/office/drawing/2014/main" id="{5B376414-E331-9DE6-8BEF-3A3AB6249BA8}"/>
                  </a:ext>
                </a:extLst>
              </p:cNvPr>
              <p:cNvSpPr>
                <a:spLocks noChangeShapeType="1"/>
              </p:cNvSpPr>
              <p:nvPr/>
            </p:nvSpPr>
            <p:spPr bwMode="auto">
              <a:xfrm>
                <a:off x="5083"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1" name="Line 780">
                <a:extLst>
                  <a:ext uri="{FF2B5EF4-FFF2-40B4-BE49-F238E27FC236}">
                    <a16:creationId xmlns:a16="http://schemas.microsoft.com/office/drawing/2014/main" id="{A47B3028-DC4F-A4FC-2DA2-BF3F52C30CE4}"/>
                  </a:ext>
                </a:extLst>
              </p:cNvPr>
              <p:cNvSpPr>
                <a:spLocks noChangeShapeType="1"/>
              </p:cNvSpPr>
              <p:nvPr/>
            </p:nvSpPr>
            <p:spPr bwMode="auto">
              <a:xfrm>
                <a:off x="5083"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2" name="Rectangle 781">
                <a:extLst>
                  <a:ext uri="{FF2B5EF4-FFF2-40B4-BE49-F238E27FC236}">
                    <a16:creationId xmlns:a16="http://schemas.microsoft.com/office/drawing/2014/main" id="{0285E149-A26A-0C45-F6DF-1547C9D1CFD5}"/>
                  </a:ext>
                </a:extLst>
              </p:cNvPr>
              <p:cNvSpPr>
                <a:spLocks noChangeArrowheads="1"/>
              </p:cNvSpPr>
              <p:nvPr/>
            </p:nvSpPr>
            <p:spPr bwMode="auto">
              <a:xfrm>
                <a:off x="295"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3" name="Line 782">
                <a:extLst>
                  <a:ext uri="{FF2B5EF4-FFF2-40B4-BE49-F238E27FC236}">
                    <a16:creationId xmlns:a16="http://schemas.microsoft.com/office/drawing/2014/main" id="{7DF592DE-D372-468F-5B9D-DF4BC57E42D5}"/>
                  </a:ext>
                </a:extLst>
              </p:cNvPr>
              <p:cNvSpPr>
                <a:spLocks noChangeShapeType="1"/>
              </p:cNvSpPr>
              <p:nvPr/>
            </p:nvSpPr>
            <p:spPr bwMode="auto">
              <a:xfrm>
                <a:off x="295"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4" name="Rectangle 783">
                <a:extLst>
                  <a:ext uri="{FF2B5EF4-FFF2-40B4-BE49-F238E27FC236}">
                    <a16:creationId xmlns:a16="http://schemas.microsoft.com/office/drawing/2014/main" id="{400418D3-4C1B-AB56-E054-427EA999792C}"/>
                  </a:ext>
                </a:extLst>
              </p:cNvPr>
              <p:cNvSpPr>
                <a:spLocks noChangeArrowheads="1"/>
              </p:cNvSpPr>
              <p:nvPr/>
            </p:nvSpPr>
            <p:spPr bwMode="auto">
              <a:xfrm>
                <a:off x="1091"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5" name="Line 784">
                <a:extLst>
                  <a:ext uri="{FF2B5EF4-FFF2-40B4-BE49-F238E27FC236}">
                    <a16:creationId xmlns:a16="http://schemas.microsoft.com/office/drawing/2014/main" id="{6CE018DA-69B9-9661-AE8D-77926FBA7CA3}"/>
                  </a:ext>
                </a:extLst>
              </p:cNvPr>
              <p:cNvSpPr>
                <a:spLocks noChangeShapeType="1"/>
              </p:cNvSpPr>
              <p:nvPr/>
            </p:nvSpPr>
            <p:spPr bwMode="auto">
              <a:xfrm>
                <a:off x="1091"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6" name="Rectangle 785">
                <a:extLst>
                  <a:ext uri="{FF2B5EF4-FFF2-40B4-BE49-F238E27FC236}">
                    <a16:creationId xmlns:a16="http://schemas.microsoft.com/office/drawing/2014/main" id="{3DCB8173-151B-4E74-AFF2-17B2BDB2792A}"/>
                  </a:ext>
                </a:extLst>
              </p:cNvPr>
              <p:cNvSpPr>
                <a:spLocks noChangeArrowheads="1"/>
              </p:cNvSpPr>
              <p:nvPr/>
            </p:nvSpPr>
            <p:spPr bwMode="auto">
              <a:xfrm>
                <a:off x="5083"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7" name="Line 786">
                <a:extLst>
                  <a:ext uri="{FF2B5EF4-FFF2-40B4-BE49-F238E27FC236}">
                    <a16:creationId xmlns:a16="http://schemas.microsoft.com/office/drawing/2014/main" id="{7E451621-C3B0-FF3D-5BFA-0D82120A04BE}"/>
                  </a:ext>
                </a:extLst>
              </p:cNvPr>
              <p:cNvSpPr>
                <a:spLocks noChangeShapeType="1"/>
              </p:cNvSpPr>
              <p:nvPr/>
            </p:nvSpPr>
            <p:spPr bwMode="auto">
              <a:xfrm>
                <a:off x="5083"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8" name="Rectangle 787">
                <a:extLst>
                  <a:ext uri="{FF2B5EF4-FFF2-40B4-BE49-F238E27FC236}">
                    <a16:creationId xmlns:a16="http://schemas.microsoft.com/office/drawing/2014/main" id="{07E03E4E-64DE-DEE9-8CEA-6B75312C36CF}"/>
                  </a:ext>
                </a:extLst>
              </p:cNvPr>
              <p:cNvSpPr>
                <a:spLocks noChangeArrowheads="1"/>
              </p:cNvSpPr>
              <p:nvPr/>
            </p:nvSpPr>
            <p:spPr bwMode="auto">
              <a:xfrm>
                <a:off x="300"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9" name="Rectangle 788">
                <a:extLst>
                  <a:ext uri="{FF2B5EF4-FFF2-40B4-BE49-F238E27FC236}">
                    <a16:creationId xmlns:a16="http://schemas.microsoft.com/office/drawing/2014/main" id="{A52C2719-895C-12D2-0D9F-806D0051B6E2}"/>
                  </a:ext>
                </a:extLst>
              </p:cNvPr>
              <p:cNvSpPr>
                <a:spLocks noChangeArrowheads="1"/>
              </p:cNvSpPr>
              <p:nvPr/>
            </p:nvSpPr>
            <p:spPr bwMode="auto">
              <a:xfrm>
                <a:off x="1042"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0" name="Rectangle 789">
                <a:extLst>
                  <a:ext uri="{FF2B5EF4-FFF2-40B4-BE49-F238E27FC236}">
                    <a16:creationId xmlns:a16="http://schemas.microsoft.com/office/drawing/2014/main" id="{124FE69F-88C6-CE0C-4566-BD64B1AEFA06}"/>
                  </a:ext>
                </a:extLst>
              </p:cNvPr>
              <p:cNvSpPr>
                <a:spLocks noChangeArrowheads="1"/>
              </p:cNvSpPr>
              <p:nvPr/>
            </p:nvSpPr>
            <p:spPr bwMode="auto">
              <a:xfrm>
                <a:off x="349" y="3741"/>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1" name="Rectangle 790">
                <a:extLst>
                  <a:ext uri="{FF2B5EF4-FFF2-40B4-BE49-F238E27FC236}">
                    <a16:creationId xmlns:a16="http://schemas.microsoft.com/office/drawing/2014/main" id="{C23E39FD-A8D3-F0D3-EA1B-CEF5057BBB4A}"/>
                  </a:ext>
                </a:extLst>
              </p:cNvPr>
              <p:cNvSpPr>
                <a:spLocks noChangeArrowheads="1"/>
              </p:cNvSpPr>
              <p:nvPr/>
            </p:nvSpPr>
            <p:spPr bwMode="auto">
              <a:xfrm>
                <a:off x="349" y="3729"/>
                <a:ext cx="39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Low (L)</a:t>
                </a:r>
                <a:endParaRPr lang="en-US" altLang="en-US"/>
              </a:p>
            </p:txBody>
          </p:sp>
          <p:sp>
            <p:nvSpPr>
              <p:cNvPr id="55512" name="Rectangle 791">
                <a:extLst>
                  <a:ext uri="{FF2B5EF4-FFF2-40B4-BE49-F238E27FC236}">
                    <a16:creationId xmlns:a16="http://schemas.microsoft.com/office/drawing/2014/main" id="{BB9218A9-A357-81FF-79CF-A1CBD31D226F}"/>
                  </a:ext>
                </a:extLst>
              </p:cNvPr>
              <p:cNvSpPr>
                <a:spLocks noChangeArrowheads="1"/>
              </p:cNvSpPr>
              <p:nvPr/>
            </p:nvSpPr>
            <p:spPr bwMode="auto">
              <a:xfrm>
                <a:off x="749" y="372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513" name="Rectangle 792">
                <a:extLst>
                  <a:ext uri="{FF2B5EF4-FFF2-40B4-BE49-F238E27FC236}">
                    <a16:creationId xmlns:a16="http://schemas.microsoft.com/office/drawing/2014/main" id="{31692C2F-77DE-DEBB-1D50-0EF6736FB69A}"/>
                  </a:ext>
                </a:extLst>
              </p:cNvPr>
              <p:cNvSpPr>
                <a:spLocks noChangeArrowheads="1"/>
              </p:cNvSpPr>
              <p:nvPr/>
            </p:nvSpPr>
            <p:spPr bwMode="auto">
              <a:xfrm>
                <a:off x="1096"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4" name="Rectangle 793">
                <a:extLst>
                  <a:ext uri="{FF2B5EF4-FFF2-40B4-BE49-F238E27FC236}">
                    <a16:creationId xmlns:a16="http://schemas.microsoft.com/office/drawing/2014/main" id="{322C3468-CD00-C55A-C6A9-9B3D51F15A23}"/>
                  </a:ext>
                </a:extLst>
              </p:cNvPr>
              <p:cNvSpPr>
                <a:spLocks noChangeArrowheads="1"/>
              </p:cNvSpPr>
              <p:nvPr/>
            </p:nvSpPr>
            <p:spPr bwMode="auto">
              <a:xfrm>
                <a:off x="5034"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5" name="Rectangle 794">
                <a:extLst>
                  <a:ext uri="{FF2B5EF4-FFF2-40B4-BE49-F238E27FC236}">
                    <a16:creationId xmlns:a16="http://schemas.microsoft.com/office/drawing/2014/main" id="{E7E0BB8D-5BCA-0C61-358D-AF87508765AD}"/>
                  </a:ext>
                </a:extLst>
              </p:cNvPr>
              <p:cNvSpPr>
                <a:spLocks noChangeArrowheads="1"/>
              </p:cNvSpPr>
              <p:nvPr/>
            </p:nvSpPr>
            <p:spPr bwMode="auto">
              <a:xfrm>
                <a:off x="1145" y="3741"/>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6" name="Rectangle 795">
                <a:extLst>
                  <a:ext uri="{FF2B5EF4-FFF2-40B4-BE49-F238E27FC236}">
                    <a16:creationId xmlns:a16="http://schemas.microsoft.com/office/drawing/2014/main" id="{F1F7ED14-2F58-645D-664E-394057B49321}"/>
                  </a:ext>
                </a:extLst>
              </p:cNvPr>
              <p:cNvSpPr>
                <a:spLocks noChangeArrowheads="1"/>
              </p:cNvSpPr>
              <p:nvPr/>
            </p:nvSpPr>
            <p:spPr bwMode="auto">
              <a:xfrm>
                <a:off x="1145" y="3729"/>
                <a:ext cx="231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Can be managed through routine procedures. </a:t>
                </a:r>
                <a:endParaRPr lang="en-US" altLang="en-US"/>
              </a:p>
            </p:txBody>
          </p:sp>
          <p:sp>
            <p:nvSpPr>
              <p:cNvPr id="55517" name="Rectangle 796">
                <a:extLst>
                  <a:ext uri="{FF2B5EF4-FFF2-40B4-BE49-F238E27FC236}">
                    <a16:creationId xmlns:a16="http://schemas.microsoft.com/office/drawing/2014/main" id="{5CAA17F4-263B-8381-5AC2-221259CC7542}"/>
                  </a:ext>
                </a:extLst>
              </p:cNvPr>
              <p:cNvSpPr>
                <a:spLocks noChangeArrowheads="1"/>
              </p:cNvSpPr>
              <p:nvPr/>
            </p:nvSpPr>
            <p:spPr bwMode="auto">
              <a:xfrm>
                <a:off x="3510" y="372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18" name="Rectangle 797">
                <a:extLst>
                  <a:ext uri="{FF2B5EF4-FFF2-40B4-BE49-F238E27FC236}">
                    <a16:creationId xmlns:a16="http://schemas.microsoft.com/office/drawing/2014/main" id="{6D424BFA-747A-B458-72F1-B93A6FA2E3E1}"/>
                  </a:ext>
                </a:extLst>
              </p:cNvPr>
              <p:cNvSpPr>
                <a:spLocks noChangeArrowheads="1"/>
              </p:cNvSpPr>
              <p:nvPr/>
            </p:nvSpPr>
            <p:spPr bwMode="auto">
              <a:xfrm>
                <a:off x="295"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9" name="Line 798">
                <a:extLst>
                  <a:ext uri="{FF2B5EF4-FFF2-40B4-BE49-F238E27FC236}">
                    <a16:creationId xmlns:a16="http://schemas.microsoft.com/office/drawing/2014/main" id="{43AFD477-3649-86FB-DBDF-1CA795B03EA1}"/>
                  </a:ext>
                </a:extLst>
              </p:cNvPr>
              <p:cNvSpPr>
                <a:spLocks noChangeShapeType="1"/>
              </p:cNvSpPr>
              <p:nvPr/>
            </p:nvSpPr>
            <p:spPr bwMode="auto">
              <a:xfrm>
                <a:off x="295"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0" name="Line 799">
                <a:extLst>
                  <a:ext uri="{FF2B5EF4-FFF2-40B4-BE49-F238E27FC236}">
                    <a16:creationId xmlns:a16="http://schemas.microsoft.com/office/drawing/2014/main" id="{7B2BDE87-7B20-8ACD-5BB6-72662A4D3C32}"/>
                  </a:ext>
                </a:extLst>
              </p:cNvPr>
              <p:cNvSpPr>
                <a:spLocks noChangeShapeType="1"/>
              </p:cNvSpPr>
              <p:nvPr/>
            </p:nvSpPr>
            <p:spPr bwMode="auto">
              <a:xfrm>
                <a:off x="295"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1" name="Rectangle 800">
                <a:extLst>
                  <a:ext uri="{FF2B5EF4-FFF2-40B4-BE49-F238E27FC236}">
                    <a16:creationId xmlns:a16="http://schemas.microsoft.com/office/drawing/2014/main" id="{C2FA5D8E-AB3B-9D3D-731A-78624C57E959}"/>
                  </a:ext>
                </a:extLst>
              </p:cNvPr>
              <p:cNvSpPr>
                <a:spLocks noChangeArrowheads="1"/>
              </p:cNvSpPr>
              <p:nvPr/>
            </p:nvSpPr>
            <p:spPr bwMode="auto">
              <a:xfrm>
                <a:off x="300" y="3737"/>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2" name="Line 801">
                <a:extLst>
                  <a:ext uri="{FF2B5EF4-FFF2-40B4-BE49-F238E27FC236}">
                    <a16:creationId xmlns:a16="http://schemas.microsoft.com/office/drawing/2014/main" id="{5677282F-335B-0FE7-01FE-85F70316ACDC}"/>
                  </a:ext>
                </a:extLst>
              </p:cNvPr>
              <p:cNvSpPr>
                <a:spLocks noChangeShapeType="1"/>
              </p:cNvSpPr>
              <p:nvPr/>
            </p:nvSpPr>
            <p:spPr bwMode="auto">
              <a:xfrm>
                <a:off x="300" y="3737"/>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3" name="Rectangle 802">
                <a:extLst>
                  <a:ext uri="{FF2B5EF4-FFF2-40B4-BE49-F238E27FC236}">
                    <a16:creationId xmlns:a16="http://schemas.microsoft.com/office/drawing/2014/main" id="{1A94483E-1834-7997-462C-00E883EEA548}"/>
                  </a:ext>
                </a:extLst>
              </p:cNvPr>
              <p:cNvSpPr>
                <a:spLocks noChangeArrowheads="1"/>
              </p:cNvSpPr>
              <p:nvPr/>
            </p:nvSpPr>
            <p:spPr bwMode="auto">
              <a:xfrm>
                <a:off x="1091"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4" name="Line 803">
                <a:extLst>
                  <a:ext uri="{FF2B5EF4-FFF2-40B4-BE49-F238E27FC236}">
                    <a16:creationId xmlns:a16="http://schemas.microsoft.com/office/drawing/2014/main" id="{25A2D699-16E4-4787-8368-B3594742EAB3}"/>
                  </a:ext>
                </a:extLst>
              </p:cNvPr>
              <p:cNvSpPr>
                <a:spLocks noChangeShapeType="1"/>
              </p:cNvSpPr>
              <p:nvPr/>
            </p:nvSpPr>
            <p:spPr bwMode="auto">
              <a:xfrm>
                <a:off x="1091"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5" name="Line 804">
                <a:extLst>
                  <a:ext uri="{FF2B5EF4-FFF2-40B4-BE49-F238E27FC236}">
                    <a16:creationId xmlns:a16="http://schemas.microsoft.com/office/drawing/2014/main" id="{8C9C2ACA-6429-7B0B-8857-543058286A1C}"/>
                  </a:ext>
                </a:extLst>
              </p:cNvPr>
              <p:cNvSpPr>
                <a:spLocks noChangeShapeType="1"/>
              </p:cNvSpPr>
              <p:nvPr/>
            </p:nvSpPr>
            <p:spPr bwMode="auto">
              <a:xfrm>
                <a:off x="1091"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6" name="Rectangle 805">
                <a:extLst>
                  <a:ext uri="{FF2B5EF4-FFF2-40B4-BE49-F238E27FC236}">
                    <a16:creationId xmlns:a16="http://schemas.microsoft.com/office/drawing/2014/main" id="{9AAEC1E9-B56F-CD1B-1019-2E553F526A91}"/>
                  </a:ext>
                </a:extLst>
              </p:cNvPr>
              <p:cNvSpPr>
                <a:spLocks noChangeArrowheads="1"/>
              </p:cNvSpPr>
              <p:nvPr/>
            </p:nvSpPr>
            <p:spPr bwMode="auto">
              <a:xfrm>
                <a:off x="1096" y="3737"/>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7" name="Line 806">
                <a:extLst>
                  <a:ext uri="{FF2B5EF4-FFF2-40B4-BE49-F238E27FC236}">
                    <a16:creationId xmlns:a16="http://schemas.microsoft.com/office/drawing/2014/main" id="{461D8AB9-5D4B-44E2-89D3-0B018B913945}"/>
                  </a:ext>
                </a:extLst>
              </p:cNvPr>
              <p:cNvSpPr>
                <a:spLocks noChangeShapeType="1"/>
              </p:cNvSpPr>
              <p:nvPr/>
            </p:nvSpPr>
            <p:spPr bwMode="auto">
              <a:xfrm>
                <a:off x="1096" y="3737"/>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8" name="Rectangle 807">
                <a:extLst>
                  <a:ext uri="{FF2B5EF4-FFF2-40B4-BE49-F238E27FC236}">
                    <a16:creationId xmlns:a16="http://schemas.microsoft.com/office/drawing/2014/main" id="{8B29C05F-E0AC-7CFB-9C99-C376A55D9682}"/>
                  </a:ext>
                </a:extLst>
              </p:cNvPr>
              <p:cNvSpPr>
                <a:spLocks noChangeArrowheads="1"/>
              </p:cNvSpPr>
              <p:nvPr/>
            </p:nvSpPr>
            <p:spPr bwMode="auto">
              <a:xfrm>
                <a:off x="5083"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9" name="Line 808">
                <a:extLst>
                  <a:ext uri="{FF2B5EF4-FFF2-40B4-BE49-F238E27FC236}">
                    <a16:creationId xmlns:a16="http://schemas.microsoft.com/office/drawing/2014/main" id="{F0574803-8348-003B-84A7-3933EFE6365D}"/>
                  </a:ext>
                </a:extLst>
              </p:cNvPr>
              <p:cNvSpPr>
                <a:spLocks noChangeShapeType="1"/>
              </p:cNvSpPr>
              <p:nvPr/>
            </p:nvSpPr>
            <p:spPr bwMode="auto">
              <a:xfrm>
                <a:off x="5083"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0" name="Line 809">
                <a:extLst>
                  <a:ext uri="{FF2B5EF4-FFF2-40B4-BE49-F238E27FC236}">
                    <a16:creationId xmlns:a16="http://schemas.microsoft.com/office/drawing/2014/main" id="{BD071850-4BFB-9D19-6763-2352320E52FA}"/>
                  </a:ext>
                </a:extLst>
              </p:cNvPr>
              <p:cNvSpPr>
                <a:spLocks noChangeShapeType="1"/>
              </p:cNvSpPr>
              <p:nvPr/>
            </p:nvSpPr>
            <p:spPr bwMode="auto">
              <a:xfrm>
                <a:off x="5083"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05" name="Rectangle 811">
              <a:extLst>
                <a:ext uri="{FF2B5EF4-FFF2-40B4-BE49-F238E27FC236}">
                  <a16:creationId xmlns:a16="http://schemas.microsoft.com/office/drawing/2014/main" id="{DEB2715D-0E0F-A3AB-9084-177BB25B4A85}"/>
                </a:ext>
              </a:extLst>
            </p:cNvPr>
            <p:cNvSpPr>
              <a:spLocks noChangeArrowheads="1"/>
            </p:cNvSpPr>
            <p:nvPr/>
          </p:nvSpPr>
          <p:spPr bwMode="auto">
            <a:xfrm>
              <a:off x="295"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06" name="Line 812">
              <a:extLst>
                <a:ext uri="{FF2B5EF4-FFF2-40B4-BE49-F238E27FC236}">
                  <a16:creationId xmlns:a16="http://schemas.microsoft.com/office/drawing/2014/main" id="{C46A7E67-2C9F-87E6-B048-B998A43FBA65}"/>
                </a:ext>
              </a:extLst>
            </p:cNvPr>
            <p:cNvSpPr>
              <a:spLocks noChangeShapeType="1"/>
            </p:cNvSpPr>
            <p:nvPr/>
          </p:nvSpPr>
          <p:spPr bwMode="auto">
            <a:xfrm>
              <a:off x="295"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Rectangle 813">
              <a:extLst>
                <a:ext uri="{FF2B5EF4-FFF2-40B4-BE49-F238E27FC236}">
                  <a16:creationId xmlns:a16="http://schemas.microsoft.com/office/drawing/2014/main" id="{BE61644A-951B-FB45-54D8-4DE669F2D2DE}"/>
                </a:ext>
              </a:extLst>
            </p:cNvPr>
            <p:cNvSpPr>
              <a:spLocks noChangeArrowheads="1"/>
            </p:cNvSpPr>
            <p:nvPr/>
          </p:nvSpPr>
          <p:spPr bwMode="auto">
            <a:xfrm>
              <a:off x="295"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08" name="Line 814">
              <a:extLst>
                <a:ext uri="{FF2B5EF4-FFF2-40B4-BE49-F238E27FC236}">
                  <a16:creationId xmlns:a16="http://schemas.microsoft.com/office/drawing/2014/main" id="{A113E90A-E778-F78D-0723-A3BDED11A0B1}"/>
                </a:ext>
              </a:extLst>
            </p:cNvPr>
            <p:cNvSpPr>
              <a:spLocks noChangeShapeType="1"/>
            </p:cNvSpPr>
            <p:nvPr/>
          </p:nvSpPr>
          <p:spPr bwMode="auto">
            <a:xfrm>
              <a:off x="295"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9" name="Line 815">
              <a:extLst>
                <a:ext uri="{FF2B5EF4-FFF2-40B4-BE49-F238E27FC236}">
                  <a16:creationId xmlns:a16="http://schemas.microsoft.com/office/drawing/2014/main" id="{A7B541D6-5A91-C018-CAA0-F9045C87B02A}"/>
                </a:ext>
              </a:extLst>
            </p:cNvPr>
            <p:cNvSpPr>
              <a:spLocks noChangeShapeType="1"/>
            </p:cNvSpPr>
            <p:nvPr/>
          </p:nvSpPr>
          <p:spPr bwMode="auto">
            <a:xfrm>
              <a:off x="295"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0" name="Rectangle 816">
              <a:extLst>
                <a:ext uri="{FF2B5EF4-FFF2-40B4-BE49-F238E27FC236}">
                  <a16:creationId xmlns:a16="http://schemas.microsoft.com/office/drawing/2014/main" id="{AACBDF87-D40C-C431-9D48-F7AF8AB24270}"/>
                </a:ext>
              </a:extLst>
            </p:cNvPr>
            <p:cNvSpPr>
              <a:spLocks noChangeArrowheads="1"/>
            </p:cNvSpPr>
            <p:nvPr/>
          </p:nvSpPr>
          <p:spPr bwMode="auto">
            <a:xfrm>
              <a:off x="295"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1" name="Line 817">
              <a:extLst>
                <a:ext uri="{FF2B5EF4-FFF2-40B4-BE49-F238E27FC236}">
                  <a16:creationId xmlns:a16="http://schemas.microsoft.com/office/drawing/2014/main" id="{10E4A10D-7525-4AB4-6431-7DD752CA6F80}"/>
                </a:ext>
              </a:extLst>
            </p:cNvPr>
            <p:cNvSpPr>
              <a:spLocks noChangeShapeType="1"/>
            </p:cNvSpPr>
            <p:nvPr/>
          </p:nvSpPr>
          <p:spPr bwMode="auto">
            <a:xfrm>
              <a:off x="295"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2" name="Line 818">
              <a:extLst>
                <a:ext uri="{FF2B5EF4-FFF2-40B4-BE49-F238E27FC236}">
                  <a16:creationId xmlns:a16="http://schemas.microsoft.com/office/drawing/2014/main" id="{4AFA1EA0-F310-BBD1-53A4-3455892770FE}"/>
                </a:ext>
              </a:extLst>
            </p:cNvPr>
            <p:cNvSpPr>
              <a:spLocks noChangeShapeType="1"/>
            </p:cNvSpPr>
            <p:nvPr/>
          </p:nvSpPr>
          <p:spPr bwMode="auto">
            <a:xfrm>
              <a:off x="295"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3" name="Rectangle 819">
              <a:extLst>
                <a:ext uri="{FF2B5EF4-FFF2-40B4-BE49-F238E27FC236}">
                  <a16:creationId xmlns:a16="http://schemas.microsoft.com/office/drawing/2014/main" id="{C9DB0842-FC47-EE6D-5AE9-D1963DA728B4}"/>
                </a:ext>
              </a:extLst>
            </p:cNvPr>
            <p:cNvSpPr>
              <a:spLocks noChangeArrowheads="1"/>
            </p:cNvSpPr>
            <p:nvPr/>
          </p:nvSpPr>
          <p:spPr bwMode="auto">
            <a:xfrm>
              <a:off x="300" y="3874"/>
              <a:ext cx="7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4" name="Line 820">
              <a:extLst>
                <a:ext uri="{FF2B5EF4-FFF2-40B4-BE49-F238E27FC236}">
                  <a16:creationId xmlns:a16="http://schemas.microsoft.com/office/drawing/2014/main" id="{A174106F-ACD9-418A-9AE2-E00FD4ABDDDC}"/>
                </a:ext>
              </a:extLst>
            </p:cNvPr>
            <p:cNvSpPr>
              <a:spLocks noChangeShapeType="1"/>
            </p:cNvSpPr>
            <p:nvPr/>
          </p:nvSpPr>
          <p:spPr bwMode="auto">
            <a:xfrm>
              <a:off x="300" y="3874"/>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5" name="Rectangle 821">
              <a:extLst>
                <a:ext uri="{FF2B5EF4-FFF2-40B4-BE49-F238E27FC236}">
                  <a16:creationId xmlns:a16="http://schemas.microsoft.com/office/drawing/2014/main" id="{9594C72C-D08E-0D53-D16F-E41B913F3189}"/>
                </a:ext>
              </a:extLst>
            </p:cNvPr>
            <p:cNvSpPr>
              <a:spLocks noChangeArrowheads="1"/>
            </p:cNvSpPr>
            <p:nvPr/>
          </p:nvSpPr>
          <p:spPr bwMode="auto">
            <a:xfrm>
              <a:off x="1091"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6" name="Line 822">
              <a:extLst>
                <a:ext uri="{FF2B5EF4-FFF2-40B4-BE49-F238E27FC236}">
                  <a16:creationId xmlns:a16="http://schemas.microsoft.com/office/drawing/2014/main" id="{AD8E1F7C-BCED-0FB2-74A1-5865A34A81ED}"/>
                </a:ext>
              </a:extLst>
            </p:cNvPr>
            <p:cNvSpPr>
              <a:spLocks noChangeShapeType="1"/>
            </p:cNvSpPr>
            <p:nvPr/>
          </p:nvSpPr>
          <p:spPr bwMode="auto">
            <a:xfrm>
              <a:off x="1091"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7" name="Rectangle 823">
              <a:extLst>
                <a:ext uri="{FF2B5EF4-FFF2-40B4-BE49-F238E27FC236}">
                  <a16:creationId xmlns:a16="http://schemas.microsoft.com/office/drawing/2014/main" id="{C4F060F1-7ADF-6E55-6FC1-1D61FEA91315}"/>
                </a:ext>
              </a:extLst>
            </p:cNvPr>
            <p:cNvSpPr>
              <a:spLocks noChangeArrowheads="1"/>
            </p:cNvSpPr>
            <p:nvPr/>
          </p:nvSpPr>
          <p:spPr bwMode="auto">
            <a:xfrm>
              <a:off x="1091"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8" name="Line 824">
              <a:extLst>
                <a:ext uri="{FF2B5EF4-FFF2-40B4-BE49-F238E27FC236}">
                  <a16:creationId xmlns:a16="http://schemas.microsoft.com/office/drawing/2014/main" id="{B506A3C1-19EA-06C1-636C-D1F02153C05A}"/>
                </a:ext>
              </a:extLst>
            </p:cNvPr>
            <p:cNvSpPr>
              <a:spLocks noChangeShapeType="1"/>
            </p:cNvSpPr>
            <p:nvPr/>
          </p:nvSpPr>
          <p:spPr bwMode="auto">
            <a:xfrm>
              <a:off x="1091"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Line 825">
              <a:extLst>
                <a:ext uri="{FF2B5EF4-FFF2-40B4-BE49-F238E27FC236}">
                  <a16:creationId xmlns:a16="http://schemas.microsoft.com/office/drawing/2014/main" id="{FBD3F7F1-DB85-C8AD-5F8E-83690685B0EA}"/>
                </a:ext>
              </a:extLst>
            </p:cNvPr>
            <p:cNvSpPr>
              <a:spLocks noChangeShapeType="1"/>
            </p:cNvSpPr>
            <p:nvPr/>
          </p:nvSpPr>
          <p:spPr bwMode="auto">
            <a:xfrm>
              <a:off x="1091"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0" name="Rectangle 826">
              <a:extLst>
                <a:ext uri="{FF2B5EF4-FFF2-40B4-BE49-F238E27FC236}">
                  <a16:creationId xmlns:a16="http://schemas.microsoft.com/office/drawing/2014/main" id="{F98231C5-8FE0-5A35-91F1-82CADFC0BB67}"/>
                </a:ext>
              </a:extLst>
            </p:cNvPr>
            <p:cNvSpPr>
              <a:spLocks noChangeArrowheads="1"/>
            </p:cNvSpPr>
            <p:nvPr/>
          </p:nvSpPr>
          <p:spPr bwMode="auto">
            <a:xfrm>
              <a:off x="1096" y="3874"/>
              <a:ext cx="398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1" name="Line 827">
              <a:extLst>
                <a:ext uri="{FF2B5EF4-FFF2-40B4-BE49-F238E27FC236}">
                  <a16:creationId xmlns:a16="http://schemas.microsoft.com/office/drawing/2014/main" id="{96D95F2B-216E-1DA1-FA47-19DE545A2C7D}"/>
                </a:ext>
              </a:extLst>
            </p:cNvPr>
            <p:cNvSpPr>
              <a:spLocks noChangeShapeType="1"/>
            </p:cNvSpPr>
            <p:nvPr/>
          </p:nvSpPr>
          <p:spPr bwMode="auto">
            <a:xfrm>
              <a:off x="1096" y="3874"/>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2" name="Rectangle 828">
              <a:extLst>
                <a:ext uri="{FF2B5EF4-FFF2-40B4-BE49-F238E27FC236}">
                  <a16:creationId xmlns:a16="http://schemas.microsoft.com/office/drawing/2014/main" id="{754F7777-E29B-5DBD-3C96-86BEF96895E4}"/>
                </a:ext>
              </a:extLst>
            </p:cNvPr>
            <p:cNvSpPr>
              <a:spLocks noChangeArrowheads="1"/>
            </p:cNvSpPr>
            <p:nvPr/>
          </p:nvSpPr>
          <p:spPr bwMode="auto">
            <a:xfrm>
              <a:off x="5083"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3" name="Line 829">
              <a:extLst>
                <a:ext uri="{FF2B5EF4-FFF2-40B4-BE49-F238E27FC236}">
                  <a16:creationId xmlns:a16="http://schemas.microsoft.com/office/drawing/2014/main" id="{CD9D192E-A1BB-D899-FE7C-66724E77C01C}"/>
                </a:ext>
              </a:extLst>
            </p:cNvPr>
            <p:cNvSpPr>
              <a:spLocks noChangeShapeType="1"/>
            </p:cNvSpPr>
            <p:nvPr/>
          </p:nvSpPr>
          <p:spPr bwMode="auto">
            <a:xfrm>
              <a:off x="5083"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4" name="Rectangle 830">
              <a:extLst>
                <a:ext uri="{FF2B5EF4-FFF2-40B4-BE49-F238E27FC236}">
                  <a16:creationId xmlns:a16="http://schemas.microsoft.com/office/drawing/2014/main" id="{85B0F9E0-4576-1833-606F-27DB25D55DD7}"/>
                </a:ext>
              </a:extLst>
            </p:cNvPr>
            <p:cNvSpPr>
              <a:spLocks noChangeArrowheads="1"/>
            </p:cNvSpPr>
            <p:nvPr/>
          </p:nvSpPr>
          <p:spPr bwMode="auto">
            <a:xfrm>
              <a:off x="5083"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5" name="Line 831">
              <a:extLst>
                <a:ext uri="{FF2B5EF4-FFF2-40B4-BE49-F238E27FC236}">
                  <a16:creationId xmlns:a16="http://schemas.microsoft.com/office/drawing/2014/main" id="{55CBBBC5-B099-1C7B-0FE1-093709D1A634}"/>
                </a:ext>
              </a:extLst>
            </p:cNvPr>
            <p:cNvSpPr>
              <a:spLocks noChangeShapeType="1"/>
            </p:cNvSpPr>
            <p:nvPr/>
          </p:nvSpPr>
          <p:spPr bwMode="auto">
            <a:xfrm>
              <a:off x="5083"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6" name="Line 832">
              <a:extLst>
                <a:ext uri="{FF2B5EF4-FFF2-40B4-BE49-F238E27FC236}">
                  <a16:creationId xmlns:a16="http://schemas.microsoft.com/office/drawing/2014/main" id="{A0D7339C-3162-F241-413D-D9B4A52F857C}"/>
                </a:ext>
              </a:extLst>
            </p:cNvPr>
            <p:cNvSpPr>
              <a:spLocks noChangeShapeType="1"/>
            </p:cNvSpPr>
            <p:nvPr/>
          </p:nvSpPr>
          <p:spPr bwMode="auto">
            <a:xfrm>
              <a:off x="5083"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7" name="Rectangle 833">
              <a:extLst>
                <a:ext uri="{FF2B5EF4-FFF2-40B4-BE49-F238E27FC236}">
                  <a16:creationId xmlns:a16="http://schemas.microsoft.com/office/drawing/2014/main" id="{D820B0E8-8C40-3DA2-0CDE-D6A7AC1566BA}"/>
                </a:ext>
              </a:extLst>
            </p:cNvPr>
            <p:cNvSpPr>
              <a:spLocks noChangeArrowheads="1"/>
            </p:cNvSpPr>
            <p:nvPr/>
          </p:nvSpPr>
          <p:spPr bwMode="auto">
            <a:xfrm>
              <a:off x="5083"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8" name="Line 834">
              <a:extLst>
                <a:ext uri="{FF2B5EF4-FFF2-40B4-BE49-F238E27FC236}">
                  <a16:creationId xmlns:a16="http://schemas.microsoft.com/office/drawing/2014/main" id="{C3798D38-EAC8-AD8F-8466-E5224D620D81}"/>
                </a:ext>
              </a:extLst>
            </p:cNvPr>
            <p:cNvSpPr>
              <a:spLocks noChangeShapeType="1"/>
            </p:cNvSpPr>
            <p:nvPr/>
          </p:nvSpPr>
          <p:spPr bwMode="auto">
            <a:xfrm>
              <a:off x="5083"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9" name="Line 835">
              <a:extLst>
                <a:ext uri="{FF2B5EF4-FFF2-40B4-BE49-F238E27FC236}">
                  <a16:creationId xmlns:a16="http://schemas.microsoft.com/office/drawing/2014/main" id="{4453755E-3625-C040-3241-FC6EAAE65B8E}"/>
                </a:ext>
              </a:extLst>
            </p:cNvPr>
            <p:cNvSpPr>
              <a:spLocks noChangeShapeType="1"/>
            </p:cNvSpPr>
            <p:nvPr/>
          </p:nvSpPr>
          <p:spPr bwMode="auto">
            <a:xfrm>
              <a:off x="5083"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0" name="Rectangle 836">
              <a:extLst>
                <a:ext uri="{FF2B5EF4-FFF2-40B4-BE49-F238E27FC236}">
                  <a16:creationId xmlns:a16="http://schemas.microsoft.com/office/drawing/2014/main" id="{5BC1C794-4A8A-6A6F-E991-1CFBC4E5F30E}"/>
                </a:ext>
              </a:extLst>
            </p:cNvPr>
            <p:cNvSpPr>
              <a:spLocks noChangeArrowheads="1"/>
            </p:cNvSpPr>
            <p:nvPr/>
          </p:nvSpPr>
          <p:spPr bwMode="auto">
            <a:xfrm>
              <a:off x="349" y="386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grpSp>
      <p:sp>
        <p:nvSpPr>
          <p:cNvPr id="2" name="TextBox 1">
            <a:extLst>
              <a:ext uri="{FF2B5EF4-FFF2-40B4-BE49-F238E27FC236}">
                <a16:creationId xmlns:a16="http://schemas.microsoft.com/office/drawing/2014/main" id="{67B02DDF-43F3-845C-A821-626E1C5F5C45}"/>
              </a:ext>
            </a:extLst>
          </p:cNvPr>
          <p:cNvSpPr txBox="1"/>
          <p:nvPr/>
        </p:nvSpPr>
        <p:spPr>
          <a:xfrm>
            <a:off x="698680" y="5622193"/>
            <a:ext cx="7455888" cy="954107"/>
          </a:xfrm>
          <a:prstGeom prst="rect">
            <a:avLst/>
          </a:prstGeom>
          <a:noFill/>
        </p:spPr>
        <p:txBody>
          <a:bodyPr wrap="none" rtlCol="0">
            <a:spAutoFit/>
          </a:bodyPr>
          <a:lstStyle/>
          <a:p>
            <a:pPr algn="l"/>
            <a:r>
              <a:rPr lang="en-US" sz="1400" dirty="0"/>
              <a:t>Hardware </a:t>
            </a:r>
            <a:r>
              <a:rPr lang="en-US" sz="1400" dirty="0" err="1"/>
              <a:t>Integrity:Low</a:t>
            </a:r>
            <a:r>
              <a:rPr lang="en-US" sz="1400" dirty="0"/>
              <a:t>: Fewer possible attacks, lower consequences, relatively easy to safeguards</a:t>
            </a:r>
          </a:p>
          <a:p>
            <a:pPr algn="l"/>
            <a:r>
              <a:rPr lang="en-US" sz="1400" dirty="0"/>
              <a:t>Software integrity: High: More possible attacks, higher consequences, relatively harder to safeguards</a:t>
            </a:r>
          </a:p>
          <a:p>
            <a:pPr algn="l"/>
            <a:endParaRPr lang="en-US" sz="1400" dirty="0"/>
          </a:p>
        </p:txBody>
      </p:sp>
      <p:sp>
        <p:nvSpPr>
          <p:cNvPr id="3" name="TextBox 2">
            <a:extLst>
              <a:ext uri="{FF2B5EF4-FFF2-40B4-BE49-F238E27FC236}">
                <a16:creationId xmlns:a16="http://schemas.microsoft.com/office/drawing/2014/main" id="{C12A25AB-1CB5-1F34-DEDD-FCA7AA9AAB47}"/>
              </a:ext>
            </a:extLst>
          </p:cNvPr>
          <p:cNvSpPr txBox="1"/>
          <p:nvPr/>
        </p:nvSpPr>
        <p:spPr>
          <a:xfrm>
            <a:off x="799838" y="6260829"/>
            <a:ext cx="4027064" cy="630942"/>
          </a:xfrm>
          <a:prstGeom prst="rect">
            <a:avLst/>
          </a:prstGeom>
          <a:noFill/>
        </p:spPr>
        <p:txBody>
          <a:bodyPr wrap="none" rtlCol="0">
            <a:spAutoFit/>
          </a:bodyPr>
          <a:lstStyle/>
          <a:p>
            <a:pPr algn="l"/>
            <a:r>
              <a:rPr lang="en-US" sz="1400" dirty="0"/>
              <a:t>Qualitative: Low, Medium, High. </a:t>
            </a:r>
          </a:p>
          <a:p>
            <a:pPr algn="l"/>
            <a:r>
              <a:rPr lang="en-US" sz="1400" dirty="0"/>
              <a:t>Quantitative: 1- 5, 1-10, 1-100 (Nuclear Power Plant)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21FD8A-6E00-F3B2-13F8-A8E4AF5BE358}"/>
              </a:ext>
            </a:extLst>
          </p:cNvPr>
          <p:cNvSpPr>
            <a:spLocks noGrp="1" noChangeArrowheads="1"/>
          </p:cNvSpPr>
          <p:nvPr>
            <p:ph type="title"/>
          </p:nvPr>
        </p:nvSpPr>
        <p:spPr/>
        <p:txBody>
          <a:bodyPr/>
          <a:lstStyle/>
          <a:p>
            <a:r>
              <a:rPr lang="en-US" altLang="en-US" dirty="0"/>
              <a:t>Risk Treatment</a:t>
            </a:r>
          </a:p>
        </p:txBody>
      </p:sp>
      <p:pic>
        <p:nvPicPr>
          <p:cNvPr id="59395" name="Picture 4">
            <a:extLst>
              <a:ext uri="{FF2B5EF4-FFF2-40B4-BE49-F238E27FC236}">
                <a16:creationId xmlns:a16="http://schemas.microsoft.com/office/drawing/2014/main" id="{277D0DF9-D1B7-6AA3-1241-400FF3113C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529" t="17897" r="23161" b="42955"/>
          <a:stretch>
            <a:fillRect/>
          </a:stretch>
        </p:blipFill>
        <p:spPr bwMode="auto">
          <a:xfrm>
            <a:off x="2225357" y="1595120"/>
            <a:ext cx="4530725" cy="3937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1646191-D0D1-584D-2AE8-9F11B40EDCB1}"/>
              </a:ext>
            </a:extLst>
          </p:cNvPr>
          <p:cNvSpPr txBox="1"/>
          <p:nvPr/>
        </p:nvSpPr>
        <p:spPr>
          <a:xfrm>
            <a:off x="2448456" y="5948680"/>
            <a:ext cx="2977098" cy="461665"/>
          </a:xfrm>
          <a:prstGeom prst="rect">
            <a:avLst/>
          </a:prstGeom>
          <a:noFill/>
        </p:spPr>
        <p:txBody>
          <a:bodyPr wrap="none" rtlCol="0">
            <a:spAutoFit/>
          </a:bodyPr>
          <a:lstStyle/>
          <a:p>
            <a:pPr algn="l"/>
            <a:r>
              <a:rPr lang="en-US" dirty="0"/>
              <a:t>Judgements: </a:t>
            </a:r>
            <a:r>
              <a:rPr lang="en-US" dirty="0" err="1"/>
              <a:t>Justfiable</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50CD764-E496-61C9-220E-8531F39A0676}"/>
              </a:ext>
            </a:extLst>
          </p:cNvPr>
          <p:cNvSpPr>
            <a:spLocks noGrp="1" noChangeArrowheads="1"/>
          </p:cNvSpPr>
          <p:nvPr>
            <p:ph type="title"/>
          </p:nvPr>
        </p:nvSpPr>
        <p:spPr/>
        <p:txBody>
          <a:bodyPr/>
          <a:lstStyle/>
          <a:p>
            <a:r>
              <a:rPr lang="en-US" altLang="en-US"/>
              <a:t>Risk Treatment Alternatives</a:t>
            </a:r>
          </a:p>
        </p:txBody>
      </p:sp>
      <p:sp>
        <p:nvSpPr>
          <p:cNvPr id="61443" name="Rectangle 3">
            <a:extLst>
              <a:ext uri="{FF2B5EF4-FFF2-40B4-BE49-F238E27FC236}">
                <a16:creationId xmlns:a16="http://schemas.microsoft.com/office/drawing/2014/main" id="{69737F88-ABCD-C227-C729-006050DBD156}"/>
              </a:ext>
            </a:extLst>
          </p:cNvPr>
          <p:cNvSpPr>
            <a:spLocks noGrp="1" noChangeArrowheads="1"/>
          </p:cNvSpPr>
          <p:nvPr>
            <p:ph type="body" idx="1"/>
          </p:nvPr>
        </p:nvSpPr>
        <p:spPr>
          <a:xfrm>
            <a:off x="457200" y="1676400"/>
            <a:ext cx="8229600" cy="4876800"/>
          </a:xfrm>
        </p:spPr>
        <p:txBody>
          <a:bodyPr/>
          <a:lstStyle/>
          <a:p>
            <a:r>
              <a:rPr lang="en-US" altLang="en-US" b="1"/>
              <a:t>risk acceptance</a:t>
            </a:r>
            <a:r>
              <a:rPr lang="en-US" altLang="en-US"/>
              <a:t>: </a:t>
            </a:r>
            <a:r>
              <a:rPr lang="en-US" altLang="en-US" sz="2400" i="1"/>
              <a:t>accept risk (perhaps because of excessive cost of risk treatment)</a:t>
            </a:r>
          </a:p>
          <a:p>
            <a:r>
              <a:rPr lang="en-US" altLang="en-US" b="1"/>
              <a:t>risk avoidance</a:t>
            </a:r>
            <a:r>
              <a:rPr lang="en-US" altLang="en-US"/>
              <a:t>: </a:t>
            </a:r>
            <a:r>
              <a:rPr lang="en-US" altLang="en-US" sz="2400" i="1"/>
              <a:t>do not proceed with the activity that causes the risk (loss of convenience)</a:t>
            </a:r>
          </a:p>
          <a:p>
            <a:r>
              <a:rPr lang="en-US" altLang="en-US" b="1"/>
              <a:t>risk transfer</a:t>
            </a:r>
            <a:r>
              <a:rPr lang="en-US" altLang="en-US"/>
              <a:t>: </a:t>
            </a:r>
            <a:r>
              <a:rPr lang="en-US" altLang="en-US" sz="2400"/>
              <a:t>buy insurance; outsource</a:t>
            </a:r>
            <a:r>
              <a:rPr lang="en-US" altLang="en-US"/>
              <a:t> </a:t>
            </a:r>
          </a:p>
          <a:p>
            <a:r>
              <a:rPr lang="en-US" altLang="en-US" b="1"/>
              <a:t>reduce consequence</a:t>
            </a:r>
            <a:r>
              <a:rPr lang="en-US" altLang="en-US"/>
              <a:t>: </a:t>
            </a:r>
            <a:r>
              <a:rPr lang="en-US" altLang="en-US" sz="2400" i="1"/>
              <a:t>modify the uses of an asset to reduce risk impact (e.g., offsite backup)</a:t>
            </a:r>
          </a:p>
          <a:p>
            <a:r>
              <a:rPr lang="en-US" altLang="en-US" b="1"/>
              <a:t>reduce likelihood</a:t>
            </a:r>
            <a:r>
              <a:rPr lang="en-US" altLang="en-US"/>
              <a:t>: </a:t>
            </a:r>
            <a:r>
              <a:rPr lang="en-US" altLang="en-US" sz="2400" i="1"/>
              <a:t>implement suitable controls</a:t>
            </a:r>
          </a:p>
          <a:p>
            <a:endParaRPr lang="en-US" altLang="en-US"/>
          </a:p>
          <a:p>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a:xfrm>
            <a:off x="457200" y="0"/>
            <a:ext cx="8229600" cy="1143000"/>
          </a:xfrm>
        </p:spPr>
        <p:txBody>
          <a:bodyPr>
            <a:normAutofit/>
          </a:bodyPr>
          <a:lstStyle/>
          <a:p>
            <a:r>
              <a:rPr lang="en-US" altLang="en-US" sz="3200" dirty="0">
                <a:solidFill>
                  <a:srgbClr val="C00000"/>
                </a:solidFill>
              </a:rPr>
              <a:t>Risk Management – Iterative Process</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1173480"/>
            <a:ext cx="8229600" cy="4800600"/>
          </a:xfrm>
        </p:spPr>
        <p:txBody>
          <a:bodyPr>
            <a:normAutofit fontScale="92500" lnSpcReduction="10000"/>
          </a:bodyPr>
          <a:lstStyle/>
          <a:p>
            <a:r>
              <a:rPr lang="en-US" altLang="en-US" sz="1800" dirty="0"/>
              <a:t>Context </a:t>
            </a:r>
            <a:r>
              <a:rPr lang="en-US" altLang="en-US" sz="1800" dirty="0">
                <a:sym typeface="Wingdings" pitchFamily="2" charset="2"/>
              </a:rPr>
              <a:t> Assessment -- &gt;Treatment   Acceptance  Context…</a:t>
            </a:r>
          </a:p>
          <a:p>
            <a:endParaRPr lang="en-US" altLang="en-US" sz="1800" dirty="0">
              <a:sym typeface="Wingdings" pitchFamily="2" charset="2"/>
            </a:endParaRPr>
          </a:p>
          <a:p>
            <a:r>
              <a:rPr lang="en-US" altLang="en-US" sz="1800" dirty="0">
                <a:sym typeface="Wingdings" pitchFamily="2" charset="2"/>
              </a:rPr>
              <a:t>Establish the context </a:t>
            </a:r>
            <a:endParaRPr lang="en-US" altLang="en-US" sz="1800" dirty="0"/>
          </a:p>
          <a:p>
            <a:r>
              <a:rPr lang="en-US" altLang="en-US" sz="1800" dirty="0"/>
              <a:t>Risk Assessment</a:t>
            </a:r>
          </a:p>
          <a:p>
            <a:pPr lvl="1"/>
            <a:r>
              <a:rPr lang="en-US" altLang="en-US" sz="1800" dirty="0"/>
              <a:t>Identify</a:t>
            </a:r>
          </a:p>
          <a:p>
            <a:pPr lvl="1"/>
            <a:r>
              <a:rPr lang="en-US" altLang="en-US" sz="1800" dirty="0"/>
              <a:t>Measure</a:t>
            </a:r>
          </a:p>
          <a:p>
            <a:pPr lvl="1"/>
            <a:r>
              <a:rPr lang="en-US" altLang="en-US" sz="1800" dirty="0" err="1"/>
              <a:t>Prioritise</a:t>
            </a:r>
            <a:endParaRPr lang="en-US" altLang="en-US" sz="1800" dirty="0"/>
          </a:p>
          <a:p>
            <a:r>
              <a:rPr lang="en-US" altLang="en-US" sz="1800" dirty="0"/>
              <a:t>Treatment : Treat the risk</a:t>
            </a:r>
          </a:p>
          <a:p>
            <a:pPr lvl="1"/>
            <a:r>
              <a:rPr lang="en-US" altLang="en-US" sz="1800" dirty="0"/>
              <a:t>Reduce </a:t>
            </a:r>
          </a:p>
          <a:p>
            <a:pPr lvl="1"/>
            <a:r>
              <a:rPr lang="en-US" altLang="en-US" sz="1800" dirty="0"/>
              <a:t>Avoid</a:t>
            </a:r>
          </a:p>
          <a:p>
            <a:pPr lvl="1"/>
            <a:r>
              <a:rPr lang="en-US" altLang="en-US" sz="1800" dirty="0"/>
              <a:t>Share</a:t>
            </a:r>
          </a:p>
          <a:p>
            <a:pPr lvl="1"/>
            <a:r>
              <a:rPr lang="en-US" altLang="en-US" sz="1800" dirty="0"/>
              <a:t>Accept (Not enough resources)</a:t>
            </a:r>
          </a:p>
          <a:p>
            <a:pPr marL="57150" indent="0"/>
            <a:r>
              <a:rPr lang="en-US" altLang="en-US" sz="1800" dirty="0"/>
              <a:t>Risk Communication: (to the management and senior management)</a:t>
            </a:r>
          </a:p>
          <a:p>
            <a:pPr marL="457200" lvl="1" indent="0"/>
            <a:r>
              <a:rPr lang="en-US" altLang="en-US" sz="1800" dirty="0"/>
              <a:t>Risks</a:t>
            </a:r>
          </a:p>
          <a:p>
            <a:pPr marL="457200" lvl="1" indent="0"/>
            <a:r>
              <a:rPr lang="en-US" altLang="en-US" sz="1800" dirty="0"/>
              <a:t>Security Controls</a:t>
            </a:r>
          </a:p>
          <a:p>
            <a:r>
              <a:rPr lang="en-US" altLang="en-US" sz="1800" dirty="0"/>
              <a:t>Monitor and Review – Iterative Process</a:t>
            </a:r>
          </a:p>
        </p:txBody>
      </p:sp>
    </p:spTree>
    <p:extLst>
      <p:ext uri="{BB962C8B-B14F-4D97-AF65-F5344CB8AC3E}">
        <p14:creationId xmlns:p14="http://schemas.microsoft.com/office/powerpoint/2010/main" val="16721492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200" dirty="0">
                <a:solidFill>
                  <a:srgbClr val="C00000"/>
                </a:solidFill>
              </a:rPr>
              <a:t>Figure 15.1 I</a:t>
            </a:r>
            <a:r>
              <a:rPr lang="en-US" sz="100" dirty="0">
                <a:solidFill>
                  <a:srgbClr val="C00000"/>
                </a:solidFill>
              </a:rPr>
              <a:t> </a:t>
            </a:r>
            <a:r>
              <a:rPr lang="en-US" sz="3200" dirty="0">
                <a:solidFill>
                  <a:srgbClr val="C00000"/>
                </a:solidFill>
              </a:rPr>
              <a:t>T Security Management Controls and Implementation</a:t>
            </a:r>
          </a:p>
        </p:txBody>
      </p:sp>
      <p:pic>
        <p:nvPicPr>
          <p:cNvPr id="7" name="Content Placeholder 6" descr="An illustration depicts the I T security Management Controls and Implementatio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836758" y="1575353"/>
            <a:ext cx="3470484" cy="4650669"/>
          </a:xfrm>
        </p:spPr>
      </p:pic>
    </p:spTree>
    <p:extLst>
      <p:ext uri="{BB962C8B-B14F-4D97-AF65-F5344CB8AC3E}">
        <p14:creationId xmlns:p14="http://schemas.microsoft.com/office/powerpoint/2010/main" val="17038780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Control Classifications</a:t>
            </a:r>
          </a:p>
        </p:txBody>
      </p:sp>
      <p:sp>
        <p:nvSpPr>
          <p:cNvPr id="4" name="Content Placeholder 3"/>
          <p:cNvSpPr>
            <a:spLocks noGrp="1"/>
          </p:cNvSpPr>
          <p:nvPr>
            <p:ph sz="quarter" idx="13"/>
          </p:nvPr>
        </p:nvSpPr>
        <p:spPr>
          <a:xfrm>
            <a:off x="457200" y="1556326"/>
            <a:ext cx="8229600" cy="4788911"/>
          </a:xfrm>
        </p:spPr>
        <p:txBody>
          <a:bodyPr/>
          <a:lstStyle/>
          <a:p>
            <a:pPr>
              <a:spcBef>
                <a:spcPts val="600"/>
              </a:spcBef>
            </a:pPr>
            <a:r>
              <a:rPr lang="en-US" sz="1600" dirty="0"/>
              <a:t>Management controls</a:t>
            </a:r>
          </a:p>
          <a:p>
            <a:pPr lvl="1"/>
            <a:r>
              <a:rPr lang="en-US" sz="1600" dirty="0">
                <a:solidFill>
                  <a:schemeClr val="accent2"/>
                </a:solidFill>
              </a:rPr>
              <a:t>Focus on security policies, planning, guidelines, and standards that influence the selection of operational and technical controls to reduce the risk of loss and to protect the organization’s mission</a:t>
            </a:r>
          </a:p>
          <a:p>
            <a:pPr lvl="1"/>
            <a:r>
              <a:rPr lang="en-US" sz="1600" dirty="0"/>
              <a:t>These controls refer to issues that management needs to address</a:t>
            </a:r>
          </a:p>
          <a:p>
            <a:pPr>
              <a:spcBef>
                <a:spcPts val="600"/>
              </a:spcBef>
            </a:pPr>
            <a:r>
              <a:rPr lang="en-US" sz="1600" dirty="0"/>
              <a:t>Operational controls</a:t>
            </a:r>
          </a:p>
          <a:p>
            <a:pPr lvl="1"/>
            <a:r>
              <a:rPr lang="en-US" sz="1600" dirty="0"/>
              <a:t>Address the correct implementation and use of security policies and standards, ensuring consistency in security operations and correcting identified operational deficiencies</a:t>
            </a:r>
          </a:p>
          <a:p>
            <a:pPr lvl="1"/>
            <a:r>
              <a:rPr lang="en-US" sz="1600" dirty="0">
                <a:solidFill>
                  <a:schemeClr val="accent2"/>
                </a:solidFill>
              </a:rPr>
              <a:t>These controls relate to mechanisms and procedures that are primarily implemented by people rather than systems</a:t>
            </a:r>
          </a:p>
          <a:p>
            <a:pPr lvl="1"/>
            <a:r>
              <a:rPr lang="en-US" sz="1600" dirty="0"/>
              <a:t>They are used to improve the security of a system or group of systems</a:t>
            </a:r>
          </a:p>
          <a:p>
            <a:pPr>
              <a:spcBef>
                <a:spcPts val="600"/>
              </a:spcBef>
            </a:pPr>
            <a:r>
              <a:rPr lang="en-US" sz="1600" dirty="0"/>
              <a:t>Technical controls</a:t>
            </a:r>
          </a:p>
          <a:p>
            <a:pPr lvl="1"/>
            <a:r>
              <a:rPr lang="en-US" sz="1600" dirty="0">
                <a:solidFill>
                  <a:schemeClr val="accent2"/>
                </a:solidFill>
              </a:rPr>
              <a:t>Involve the correct use of hardware and software security capabilities in systems</a:t>
            </a:r>
          </a:p>
          <a:p>
            <a:pPr lvl="1"/>
            <a:r>
              <a:rPr lang="en-US" sz="1600" dirty="0"/>
              <a:t>These range from simple to complex measures that work together to secure critical and sensitive data, information, and I</a:t>
            </a:r>
            <a:r>
              <a:rPr lang="en-US" sz="100" dirty="0"/>
              <a:t> </a:t>
            </a:r>
            <a:r>
              <a:rPr lang="en-US" sz="1600" dirty="0"/>
              <a:t>T systems functions</a:t>
            </a:r>
          </a:p>
        </p:txBody>
      </p:sp>
    </p:spTree>
    <p:extLst>
      <p:ext uri="{BB962C8B-B14F-4D97-AF65-F5344CB8AC3E}">
        <p14:creationId xmlns:p14="http://schemas.microsoft.com/office/powerpoint/2010/main" val="25706179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Security Controls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71</a:t>
            </a:fld>
            <a:endParaRPr lang="en-US" altLang="zh-CN" dirty="0"/>
          </a:p>
        </p:txBody>
      </p:sp>
      <p:graphicFrame>
        <p:nvGraphicFramePr>
          <p:cNvPr id="6" name="Table 7">
            <a:extLst>
              <a:ext uri="{FF2B5EF4-FFF2-40B4-BE49-F238E27FC236}">
                <a16:creationId xmlns:a16="http://schemas.microsoft.com/office/drawing/2014/main" id="{7325C797-4C01-546E-C252-09DAE8443D22}"/>
              </a:ext>
            </a:extLst>
          </p:cNvPr>
          <p:cNvGraphicFramePr>
            <a:graphicFrameLocks noGrp="1"/>
          </p:cNvGraphicFramePr>
          <p:nvPr>
            <p:ph idx="1"/>
            <p:extLst/>
          </p:nvPr>
        </p:nvGraphicFramePr>
        <p:xfrm>
          <a:off x="457200" y="2212340"/>
          <a:ext cx="8229600" cy="34747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646642827"/>
                    </a:ext>
                  </a:extLst>
                </a:gridCol>
                <a:gridCol w="4114800">
                  <a:extLst>
                    <a:ext uri="{9D8B030D-6E8A-4147-A177-3AD203B41FA5}">
                      <a16:colId xmlns:a16="http://schemas.microsoft.com/office/drawing/2014/main" val="3589056529"/>
                    </a:ext>
                  </a:extLst>
                </a:gridCol>
              </a:tblGrid>
              <a:tr h="370840">
                <a:tc>
                  <a:txBody>
                    <a:bodyPr/>
                    <a:lstStyle/>
                    <a:p>
                      <a:r>
                        <a:rPr lang="en-US" sz="2000" dirty="0"/>
                        <a:t>Family</a:t>
                      </a:r>
                    </a:p>
                  </a:txBody>
                  <a:tcPr/>
                </a:tc>
                <a:tc>
                  <a:txBody>
                    <a:bodyPr/>
                    <a:lstStyle/>
                    <a:p>
                      <a:r>
                        <a:rPr lang="en-US" sz="2000" dirty="0"/>
                        <a:t>Family</a:t>
                      </a:r>
                    </a:p>
                  </a:txBody>
                  <a:tcPr/>
                </a:tc>
                <a:extLst>
                  <a:ext uri="{0D108BD9-81ED-4DB2-BD59-A6C34878D82A}">
                    <a16:rowId xmlns:a16="http://schemas.microsoft.com/office/drawing/2014/main" val="4105401289"/>
                  </a:ext>
                </a:extLst>
              </a:tr>
              <a:tr h="370840">
                <a:tc>
                  <a:txBody>
                    <a:bodyPr/>
                    <a:lstStyle/>
                    <a:p>
                      <a:r>
                        <a:rPr lang="en-US" sz="2000" dirty="0"/>
                        <a:t>Access Control</a:t>
                      </a:r>
                    </a:p>
                  </a:txBody>
                  <a:tcPr/>
                </a:tc>
                <a:tc>
                  <a:txBody>
                    <a:bodyPr/>
                    <a:lstStyle/>
                    <a:p>
                      <a:r>
                        <a:rPr lang="en-US" sz="2000" dirty="0"/>
                        <a:t>Media Protection</a:t>
                      </a:r>
                    </a:p>
                  </a:txBody>
                  <a:tcPr/>
                </a:tc>
                <a:extLst>
                  <a:ext uri="{0D108BD9-81ED-4DB2-BD59-A6C34878D82A}">
                    <a16:rowId xmlns:a16="http://schemas.microsoft.com/office/drawing/2014/main" val="4237513340"/>
                  </a:ext>
                </a:extLst>
              </a:tr>
              <a:tr h="370840">
                <a:tc>
                  <a:txBody>
                    <a:bodyPr/>
                    <a:lstStyle/>
                    <a:p>
                      <a:r>
                        <a:rPr lang="en-US" sz="2000" dirty="0"/>
                        <a:t>Awareness and Training</a:t>
                      </a:r>
                    </a:p>
                  </a:txBody>
                  <a:tcPr/>
                </a:tc>
                <a:tc>
                  <a:txBody>
                    <a:bodyPr/>
                    <a:lstStyle/>
                    <a:p>
                      <a:r>
                        <a:rPr lang="en-US" sz="2000" dirty="0"/>
                        <a:t>Personnel Security</a:t>
                      </a:r>
                    </a:p>
                  </a:txBody>
                  <a:tcPr/>
                </a:tc>
                <a:extLst>
                  <a:ext uri="{0D108BD9-81ED-4DB2-BD59-A6C34878D82A}">
                    <a16:rowId xmlns:a16="http://schemas.microsoft.com/office/drawing/2014/main" val="2279573256"/>
                  </a:ext>
                </a:extLst>
              </a:tr>
              <a:tr h="370840">
                <a:tc>
                  <a:txBody>
                    <a:bodyPr/>
                    <a:lstStyle/>
                    <a:p>
                      <a:r>
                        <a:rPr lang="en-US" sz="2000" dirty="0"/>
                        <a:t>Audit and Accountability</a:t>
                      </a:r>
                    </a:p>
                  </a:txBody>
                  <a:tcPr/>
                </a:tc>
                <a:tc>
                  <a:txBody>
                    <a:bodyPr/>
                    <a:lstStyle/>
                    <a:p>
                      <a:r>
                        <a:rPr lang="en-US" sz="2000" dirty="0"/>
                        <a:t>Physical Protection</a:t>
                      </a:r>
                    </a:p>
                  </a:txBody>
                  <a:tcPr/>
                </a:tc>
                <a:extLst>
                  <a:ext uri="{0D108BD9-81ED-4DB2-BD59-A6C34878D82A}">
                    <a16:rowId xmlns:a16="http://schemas.microsoft.com/office/drawing/2014/main" val="1553935126"/>
                  </a:ext>
                </a:extLst>
              </a:tr>
              <a:tr h="370840">
                <a:tc>
                  <a:txBody>
                    <a:bodyPr/>
                    <a:lstStyle/>
                    <a:p>
                      <a:r>
                        <a:rPr lang="en-US" sz="2000" dirty="0"/>
                        <a:t>Configuration Management</a:t>
                      </a:r>
                    </a:p>
                  </a:txBody>
                  <a:tcPr/>
                </a:tc>
                <a:tc>
                  <a:txBody>
                    <a:bodyPr/>
                    <a:lstStyle/>
                    <a:p>
                      <a:r>
                        <a:rPr lang="en-US" sz="2000" dirty="0"/>
                        <a:t>Risk Assessment</a:t>
                      </a:r>
                    </a:p>
                  </a:txBody>
                  <a:tcPr/>
                </a:tc>
                <a:extLst>
                  <a:ext uri="{0D108BD9-81ED-4DB2-BD59-A6C34878D82A}">
                    <a16:rowId xmlns:a16="http://schemas.microsoft.com/office/drawing/2014/main" val="3205250018"/>
                  </a:ext>
                </a:extLst>
              </a:tr>
              <a:tr h="370840">
                <a:tc>
                  <a:txBody>
                    <a:bodyPr/>
                    <a:lstStyle/>
                    <a:p>
                      <a:r>
                        <a:rPr lang="en-US" sz="2000" dirty="0"/>
                        <a:t>Identification and Authentication</a:t>
                      </a:r>
                    </a:p>
                  </a:txBody>
                  <a:tcPr/>
                </a:tc>
                <a:tc>
                  <a:txBody>
                    <a:bodyPr/>
                    <a:lstStyle/>
                    <a:p>
                      <a:r>
                        <a:rPr lang="en-US" sz="2000" dirty="0"/>
                        <a:t>Security Assessment</a:t>
                      </a:r>
                    </a:p>
                  </a:txBody>
                  <a:tcPr/>
                </a:tc>
                <a:extLst>
                  <a:ext uri="{0D108BD9-81ED-4DB2-BD59-A6C34878D82A}">
                    <a16:rowId xmlns:a16="http://schemas.microsoft.com/office/drawing/2014/main" val="3779224963"/>
                  </a:ext>
                </a:extLst>
              </a:tr>
              <a:tr h="370840">
                <a:tc>
                  <a:txBody>
                    <a:bodyPr/>
                    <a:lstStyle/>
                    <a:p>
                      <a:r>
                        <a:rPr lang="en-US" sz="2000" dirty="0"/>
                        <a:t>Incident Response</a:t>
                      </a:r>
                    </a:p>
                  </a:txBody>
                  <a:tcPr/>
                </a:tc>
                <a:tc>
                  <a:txBody>
                    <a:bodyPr/>
                    <a:lstStyle/>
                    <a:p>
                      <a:r>
                        <a:rPr lang="en-US" sz="2000" dirty="0"/>
                        <a:t>System and Communications Protection</a:t>
                      </a:r>
                    </a:p>
                  </a:txBody>
                  <a:tcPr/>
                </a:tc>
                <a:extLst>
                  <a:ext uri="{0D108BD9-81ED-4DB2-BD59-A6C34878D82A}">
                    <a16:rowId xmlns:a16="http://schemas.microsoft.com/office/drawing/2014/main" val="1723878278"/>
                  </a:ext>
                </a:extLst>
              </a:tr>
              <a:tr h="370840">
                <a:tc>
                  <a:txBody>
                    <a:bodyPr/>
                    <a:lstStyle/>
                    <a:p>
                      <a:r>
                        <a:rPr lang="en-US" sz="2000" dirty="0"/>
                        <a:t>Maintenance</a:t>
                      </a:r>
                    </a:p>
                  </a:txBody>
                  <a:tcPr/>
                </a:tc>
                <a:tc>
                  <a:txBody>
                    <a:bodyPr/>
                    <a:lstStyle/>
                    <a:p>
                      <a:r>
                        <a:rPr lang="en-US" sz="2000" dirty="0"/>
                        <a:t>System and Information Integrity</a:t>
                      </a:r>
                    </a:p>
                  </a:txBody>
                  <a:tcPr/>
                </a:tc>
                <a:extLst>
                  <a:ext uri="{0D108BD9-81ED-4DB2-BD59-A6C34878D82A}">
                    <a16:rowId xmlns:a16="http://schemas.microsoft.com/office/drawing/2014/main" val="1481814350"/>
                  </a:ext>
                </a:extLst>
              </a:tr>
            </a:tbl>
          </a:graphicData>
        </a:graphic>
      </p:graphicFrame>
      <p:sp>
        <p:nvSpPr>
          <p:cNvPr id="8" name="TextBox 7">
            <a:extLst>
              <a:ext uri="{FF2B5EF4-FFF2-40B4-BE49-F238E27FC236}">
                <a16:creationId xmlns:a16="http://schemas.microsoft.com/office/drawing/2014/main" id="{4677F9CA-966B-A583-ECE3-2CAD4904FE6F}"/>
              </a:ext>
            </a:extLst>
          </p:cNvPr>
          <p:cNvSpPr txBox="1"/>
          <p:nvPr/>
        </p:nvSpPr>
        <p:spPr>
          <a:xfrm>
            <a:off x="1522370" y="1463593"/>
            <a:ext cx="5291833" cy="584775"/>
          </a:xfrm>
          <a:prstGeom prst="rect">
            <a:avLst/>
          </a:prstGeom>
          <a:noFill/>
        </p:spPr>
        <p:txBody>
          <a:bodyPr wrap="none" rtlCol="0">
            <a:spAutoFit/>
          </a:bodyPr>
          <a:lstStyle/>
          <a:p>
            <a:r>
              <a:rPr lang="en-US" sz="3200" dirty="0"/>
              <a:t>Security Requirement Families</a:t>
            </a:r>
          </a:p>
        </p:txBody>
      </p:sp>
    </p:spTree>
    <p:extLst>
      <p:ext uri="{BB962C8B-B14F-4D97-AF65-F5344CB8AC3E}">
        <p14:creationId xmlns:p14="http://schemas.microsoft.com/office/powerpoint/2010/main" val="34246124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 </a:t>
            </a:r>
          </a:p>
          <a:p>
            <a:pPr marL="432" indent="0">
              <a:spcBef>
                <a:spcPts val="600"/>
              </a:spcBef>
              <a:buNone/>
            </a:pPr>
            <a:r>
              <a:rPr lang="en-US" sz="1600" b="1" dirty="0"/>
              <a:t>Investigation</a:t>
            </a:r>
          </a:p>
          <a:p>
            <a:pPr marL="432" indent="0">
              <a:spcBef>
                <a:spcPts val="600"/>
              </a:spcBef>
              <a:buNone/>
            </a:pPr>
            <a:r>
              <a:rPr lang="en-US" sz="1600" b="1" dirty="0"/>
              <a:t>Assessment</a:t>
            </a:r>
          </a:p>
          <a:p>
            <a:pPr marL="432" indent="0">
              <a:spcBef>
                <a:spcPts val="600"/>
              </a:spcBef>
              <a:buNone/>
            </a:pPr>
            <a:r>
              <a:rPr lang="en-US" sz="1600" b="1" dirty="0"/>
              <a:t>Corrections</a:t>
            </a:r>
          </a:p>
          <a:p>
            <a:pPr marL="432" indent="0">
              <a:spcBef>
                <a:spcPts val="600"/>
              </a:spcBef>
              <a:buNone/>
            </a:pPr>
            <a:r>
              <a:rPr lang="en-US" sz="1600" b="1" dirty="0"/>
              <a:t>Review</a:t>
            </a:r>
          </a:p>
        </p:txBody>
      </p:sp>
    </p:spTree>
    <p:extLst>
      <p:ext uri="{BB962C8B-B14F-4D97-AF65-F5344CB8AC3E}">
        <p14:creationId xmlns:p14="http://schemas.microsoft.com/office/powerpoint/2010/main" val="14376753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A49B728-89D9-4AFA-8702-146C788FD568}"/>
              </a:ext>
            </a:extLst>
          </p:cNvPr>
          <p:cNvSpPr>
            <a:spLocks noGrp="1" noChangeArrowheads="1"/>
          </p:cNvSpPr>
          <p:nvPr>
            <p:ph type="title"/>
          </p:nvPr>
        </p:nvSpPr>
        <p:spPr/>
        <p:txBody>
          <a:bodyPr/>
          <a:lstStyle/>
          <a:p>
            <a:r>
              <a:rPr lang="en-US" altLang="en-US" dirty="0">
                <a:solidFill>
                  <a:srgbClr val="C00000"/>
                </a:solidFill>
              </a:rPr>
              <a:t>Web Security</a:t>
            </a:r>
          </a:p>
        </p:txBody>
      </p:sp>
      <p:sp>
        <p:nvSpPr>
          <p:cNvPr id="6147" name="Content Placeholder 2">
            <a:extLst>
              <a:ext uri="{FF2B5EF4-FFF2-40B4-BE49-F238E27FC236}">
                <a16:creationId xmlns:a16="http://schemas.microsoft.com/office/drawing/2014/main" id="{894B92CF-A7DA-46CA-9944-9712931584E1}"/>
              </a:ext>
            </a:extLst>
          </p:cNvPr>
          <p:cNvSpPr>
            <a:spLocks noGrp="1" noChangeArrowheads="1"/>
          </p:cNvSpPr>
          <p:nvPr>
            <p:ph idx="1"/>
          </p:nvPr>
        </p:nvSpPr>
        <p:spPr/>
        <p:txBody>
          <a:bodyPr/>
          <a:lstStyle/>
          <a:p>
            <a:r>
              <a:rPr lang="en-US" altLang="en-US"/>
              <a:t>The World Wide Web (web)</a:t>
            </a:r>
          </a:p>
          <a:p>
            <a:pPr lvl="1"/>
            <a:r>
              <a:rPr lang="en-US" altLang="en-US"/>
              <a:t>WWW is everywhere</a:t>
            </a:r>
          </a:p>
          <a:p>
            <a:pPr lvl="2"/>
            <a:r>
              <a:rPr lang="en-US" altLang="en-US"/>
              <a:t>Banking, shopping, education, communicating, news, …</a:t>
            </a:r>
          </a:p>
          <a:p>
            <a:pPr lvl="1"/>
            <a:r>
              <a:rPr lang="en-US" altLang="en-US"/>
              <a:t>A lot of applications to support WWW</a:t>
            </a:r>
          </a:p>
          <a:p>
            <a:pPr lvl="2"/>
            <a:r>
              <a:rPr lang="en-US" altLang="en-US"/>
              <a:t>Browsers</a:t>
            </a:r>
          </a:p>
          <a:p>
            <a:pPr lvl="2"/>
            <a:r>
              <a:rPr lang="en-US" altLang="en-US"/>
              <a:t>Servers</a:t>
            </a:r>
          </a:p>
        </p:txBody>
      </p:sp>
      <p:pic>
        <p:nvPicPr>
          <p:cNvPr id="6148" name="Picture 3" descr="images-4.jpeg">
            <a:extLst>
              <a:ext uri="{FF2B5EF4-FFF2-40B4-BE49-F238E27FC236}">
                <a16:creationId xmlns:a16="http://schemas.microsoft.com/office/drawing/2014/main" id="{59922320-4970-4F1A-8030-534960EB3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988" y="3919538"/>
            <a:ext cx="2357437"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descr="microsoft-iis.png">
            <a:extLst>
              <a:ext uri="{FF2B5EF4-FFF2-40B4-BE49-F238E27FC236}">
                <a16:creationId xmlns:a16="http://schemas.microsoft.com/office/drawing/2014/main" id="{983F4647-F4CE-49DE-BE0B-2E90BF4BA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75" y="3903663"/>
            <a:ext cx="25400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583EA938-A207-4646-8229-BE2DD9DDB25B}"/>
              </a:ext>
            </a:extLst>
          </p:cNvPr>
          <p:cNvSpPr>
            <a:spLocks noGrp="1" noChangeArrowheads="1"/>
          </p:cNvSpPr>
          <p:nvPr>
            <p:ph type="title"/>
          </p:nvPr>
        </p:nvSpPr>
        <p:spPr/>
        <p:txBody>
          <a:bodyPr/>
          <a:lstStyle/>
          <a:p>
            <a:r>
              <a:rPr lang="en-US" altLang="en-US" dirty="0">
                <a:solidFill>
                  <a:srgbClr val="C00000"/>
                </a:solidFill>
              </a:rPr>
              <a:t>Web Security Issues</a:t>
            </a:r>
          </a:p>
        </p:txBody>
      </p:sp>
      <p:sp>
        <p:nvSpPr>
          <p:cNvPr id="40963" name="Content Placeholder 2">
            <a:extLst>
              <a:ext uri="{FF2B5EF4-FFF2-40B4-BE49-F238E27FC236}">
                <a16:creationId xmlns:a16="http://schemas.microsoft.com/office/drawing/2014/main" id="{A8ABB377-9EBF-4112-A6C7-1ECEBBAD6ADE}"/>
              </a:ext>
            </a:extLst>
          </p:cNvPr>
          <p:cNvSpPr>
            <a:spLocks noGrp="1" noChangeArrowheads="1"/>
          </p:cNvSpPr>
          <p:nvPr>
            <p:ph idx="1"/>
          </p:nvPr>
        </p:nvSpPr>
        <p:spPr>
          <a:xfrm>
            <a:off x="457200" y="1417638"/>
            <a:ext cx="8229600" cy="4525963"/>
          </a:xfrm>
        </p:spPr>
        <p:txBody>
          <a:bodyPr>
            <a:normAutofit fontScale="92500" lnSpcReduction="10000"/>
          </a:bodyPr>
          <a:lstStyle/>
          <a:p>
            <a:r>
              <a:rPr lang="en-US" altLang="en-US" dirty="0"/>
              <a:t>Secure communications between client &amp; server </a:t>
            </a:r>
          </a:p>
          <a:p>
            <a:pPr lvl="1"/>
            <a:r>
              <a:rPr lang="en-US" altLang="en-US" dirty="0"/>
              <a:t>HTTPS (HTTP over SSL/TLS) </a:t>
            </a:r>
          </a:p>
          <a:p>
            <a:r>
              <a:rPr lang="en-US" altLang="en-US" dirty="0"/>
              <a:t>User authentication &amp; session management </a:t>
            </a:r>
          </a:p>
          <a:p>
            <a:pPr lvl="1"/>
            <a:r>
              <a:rPr lang="en-US" altLang="en-US" dirty="0"/>
              <a:t>Cookies &amp; other methods </a:t>
            </a:r>
          </a:p>
          <a:p>
            <a:r>
              <a:rPr lang="en-US" altLang="en-US" dirty="0"/>
              <a:t>Active contents from different websites </a:t>
            </a:r>
          </a:p>
          <a:p>
            <a:pPr lvl="1"/>
            <a:r>
              <a:rPr lang="en-US" altLang="en-US" dirty="0"/>
              <a:t>Protecting resources maintained by browsers</a:t>
            </a:r>
          </a:p>
          <a:p>
            <a:r>
              <a:rPr lang="en-US" altLang="en-US" dirty="0"/>
              <a:t>Web application security</a:t>
            </a:r>
          </a:p>
          <a:p>
            <a:r>
              <a:rPr lang="en-US" altLang="en-US" dirty="0"/>
              <a:t>Web site authentication (e.g., anti-phishing)</a:t>
            </a:r>
          </a:p>
          <a:p>
            <a:r>
              <a:rPr lang="en-US" altLang="en-US" dirty="0"/>
              <a:t>Privacy concerns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2BD6F2-A98A-4CA2-AE88-FB6A2A3991CC}"/>
              </a:ext>
            </a:extLst>
          </p:cNvPr>
          <p:cNvSpPr>
            <a:spLocks noGrp="1" noChangeArrowheads="1"/>
          </p:cNvSpPr>
          <p:nvPr>
            <p:ph type="title"/>
          </p:nvPr>
        </p:nvSpPr>
        <p:spPr/>
        <p:txBody>
          <a:bodyPr/>
          <a:lstStyle/>
          <a:p>
            <a:pPr eaLnBrk="1" hangingPunct="1"/>
            <a:r>
              <a:rPr lang="en-US" altLang="zh-CN">
                <a:ea typeface="宋体" panose="02010600030101010101" pitchFamily="2" charset="-122"/>
              </a:rPr>
              <a:t>Use Cookies to Store State Info</a:t>
            </a:r>
          </a:p>
        </p:txBody>
      </p:sp>
      <p:sp>
        <p:nvSpPr>
          <p:cNvPr id="27651" name="Rectangle 3">
            <a:extLst>
              <a:ext uri="{FF2B5EF4-FFF2-40B4-BE49-F238E27FC236}">
                <a16:creationId xmlns:a16="http://schemas.microsoft.com/office/drawing/2014/main" id="{7F64765D-7238-4F07-8804-7177F06A86D4}"/>
              </a:ext>
            </a:extLst>
          </p:cNvPr>
          <p:cNvSpPr>
            <a:spLocks noGrp="1" noChangeArrowheads="1"/>
          </p:cNvSpPr>
          <p:nvPr>
            <p:ph type="body" idx="1"/>
          </p:nvPr>
        </p:nvSpPr>
        <p:spPr/>
        <p:txBody>
          <a:bodyPr/>
          <a:lstStyle/>
          <a:p>
            <a:pPr eaLnBrk="1" hangingPunct="1"/>
            <a:r>
              <a:rPr lang="en-US" altLang="zh-CN">
                <a:ea typeface="宋体" panose="02010600030101010101" pitchFamily="2" charset="-122"/>
              </a:rPr>
              <a:t>Cookies</a:t>
            </a:r>
          </a:p>
          <a:p>
            <a:pPr lvl="1" eaLnBrk="1" hangingPunct="1"/>
            <a:r>
              <a:rPr lang="en-US" altLang="zh-CN">
                <a:ea typeface="宋体" panose="02010600030101010101" pitchFamily="2" charset="-122"/>
              </a:rPr>
              <a:t>A cookie is a name/value pair created by a website to store information on your computer</a:t>
            </a:r>
          </a:p>
        </p:txBody>
      </p:sp>
      <p:sp>
        <p:nvSpPr>
          <p:cNvPr id="27652" name="Rectangle 4">
            <a:extLst>
              <a:ext uri="{FF2B5EF4-FFF2-40B4-BE49-F238E27FC236}">
                <a16:creationId xmlns:a16="http://schemas.microsoft.com/office/drawing/2014/main" id="{7794CB59-710E-4BCB-B0FC-1EA5A3897B07}"/>
              </a:ext>
            </a:extLst>
          </p:cNvPr>
          <p:cNvSpPr>
            <a:spLocks noChangeArrowheads="1"/>
          </p:cNvSpPr>
          <p:nvPr/>
        </p:nvSpPr>
        <p:spPr bwMode="auto">
          <a:xfrm>
            <a:off x="1447800" y="3063875"/>
            <a:ext cx="1128713" cy="838200"/>
          </a:xfrm>
          <a:prstGeom prst="rect">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53" name="AutoShape 5">
            <a:extLst>
              <a:ext uri="{FF2B5EF4-FFF2-40B4-BE49-F238E27FC236}">
                <a16:creationId xmlns:a16="http://schemas.microsoft.com/office/drawing/2014/main" id="{0DD24F4F-BEEC-49F7-A507-F6B0F97E459F}"/>
              </a:ext>
            </a:extLst>
          </p:cNvPr>
          <p:cNvSpPr>
            <a:spLocks noChangeArrowheads="1"/>
          </p:cNvSpPr>
          <p:nvPr/>
        </p:nvSpPr>
        <p:spPr bwMode="auto">
          <a:xfrm>
            <a:off x="1547813" y="3163888"/>
            <a:ext cx="914400" cy="609600"/>
          </a:xfrm>
          <a:prstGeom prst="roundRect">
            <a:avLst>
              <a:gd name="adj" fmla="val 16667"/>
            </a:avLst>
          </a:prstGeom>
          <a:solidFill>
            <a:schemeClr val="accent1"/>
          </a:solidFill>
          <a:ln w="9525">
            <a:solidFill>
              <a:schemeClr val="tx1"/>
            </a:solidFill>
            <a:round/>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Browser</a:t>
            </a:r>
          </a:p>
        </p:txBody>
      </p:sp>
      <p:sp>
        <p:nvSpPr>
          <p:cNvPr id="27654" name="AutoShape 6">
            <a:extLst>
              <a:ext uri="{FF2B5EF4-FFF2-40B4-BE49-F238E27FC236}">
                <a16:creationId xmlns:a16="http://schemas.microsoft.com/office/drawing/2014/main" id="{66D3A6FD-BAB3-4294-938A-5373E67E738D}"/>
              </a:ext>
            </a:extLst>
          </p:cNvPr>
          <p:cNvSpPr>
            <a:spLocks noChangeArrowheads="1"/>
          </p:cNvSpPr>
          <p:nvPr/>
        </p:nvSpPr>
        <p:spPr bwMode="auto">
          <a:xfrm>
            <a:off x="1066800" y="3902075"/>
            <a:ext cx="1524000" cy="228600"/>
          </a:xfrm>
          <a:prstGeom prst="parallelogram">
            <a:avLst>
              <a:gd name="adj" fmla="val 166667"/>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55" name="Rectangle 7">
            <a:extLst>
              <a:ext uri="{FF2B5EF4-FFF2-40B4-BE49-F238E27FC236}">
                <a16:creationId xmlns:a16="http://schemas.microsoft.com/office/drawing/2014/main" id="{E334454C-15A6-4935-A5EC-F15E92BE3A3C}"/>
              </a:ext>
            </a:extLst>
          </p:cNvPr>
          <p:cNvSpPr>
            <a:spLocks noChangeArrowheads="1"/>
          </p:cNvSpPr>
          <p:nvPr/>
        </p:nvSpPr>
        <p:spPr bwMode="auto">
          <a:xfrm>
            <a:off x="1066800" y="4130675"/>
            <a:ext cx="1143000" cy="152400"/>
          </a:xfrm>
          <a:prstGeom prst="rect">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56" name="Freeform 8">
            <a:extLst>
              <a:ext uri="{FF2B5EF4-FFF2-40B4-BE49-F238E27FC236}">
                <a16:creationId xmlns:a16="http://schemas.microsoft.com/office/drawing/2014/main" id="{F6ACA728-92BC-4681-94A9-5CA1DD9D9558}"/>
              </a:ext>
            </a:extLst>
          </p:cNvPr>
          <p:cNvSpPr>
            <a:spLocks/>
          </p:cNvSpPr>
          <p:nvPr/>
        </p:nvSpPr>
        <p:spPr bwMode="auto">
          <a:xfrm>
            <a:off x="2190750" y="3897313"/>
            <a:ext cx="400050" cy="385762"/>
          </a:xfrm>
          <a:custGeom>
            <a:avLst/>
            <a:gdLst>
              <a:gd name="T0" fmla="*/ 0 w 252"/>
              <a:gd name="T1" fmla="*/ 2147483646 h 243"/>
              <a:gd name="T2" fmla="*/ 2147483646 w 252"/>
              <a:gd name="T3" fmla="*/ 2147483646 h 243"/>
              <a:gd name="T4" fmla="*/ 2147483646 w 252"/>
              <a:gd name="T5" fmla="*/ 0 h 243"/>
              <a:gd name="T6" fmla="*/ 0 w 252"/>
              <a:gd name="T7" fmla="*/ 2147483646 h 243"/>
              <a:gd name="T8" fmla="*/ 0 w 252"/>
              <a:gd name="T9" fmla="*/ 2147483646 h 243"/>
              <a:gd name="T10" fmla="*/ 0 60000 65536"/>
              <a:gd name="T11" fmla="*/ 0 60000 65536"/>
              <a:gd name="T12" fmla="*/ 0 60000 65536"/>
              <a:gd name="T13" fmla="*/ 0 60000 65536"/>
              <a:gd name="T14" fmla="*/ 0 60000 65536"/>
              <a:gd name="T15" fmla="*/ 0 w 252"/>
              <a:gd name="T16" fmla="*/ 0 h 243"/>
              <a:gd name="T17" fmla="*/ 252 w 252"/>
              <a:gd name="T18" fmla="*/ 243 h 243"/>
            </a:gdLst>
            <a:ahLst/>
            <a:cxnLst>
              <a:cxn ang="T10">
                <a:pos x="T0" y="T1"/>
              </a:cxn>
              <a:cxn ang="T11">
                <a:pos x="T2" y="T3"/>
              </a:cxn>
              <a:cxn ang="T12">
                <a:pos x="T4" y="T5"/>
              </a:cxn>
              <a:cxn ang="T13">
                <a:pos x="T6" y="T7"/>
              </a:cxn>
              <a:cxn ang="T14">
                <a:pos x="T8" y="T9"/>
              </a:cxn>
            </a:cxnLst>
            <a:rect l="T15" t="T16" r="T17" b="T18"/>
            <a:pathLst>
              <a:path w="252" h="243">
                <a:moveTo>
                  <a:pt x="0" y="243"/>
                </a:moveTo>
                <a:lnTo>
                  <a:pt x="252" y="81"/>
                </a:lnTo>
                <a:lnTo>
                  <a:pt x="249" y="0"/>
                </a:lnTo>
                <a:lnTo>
                  <a:pt x="0" y="147"/>
                </a:lnTo>
                <a:lnTo>
                  <a:pt x="0" y="243"/>
                </a:lnTo>
                <a:close/>
              </a:path>
            </a:pathLst>
          </a:custGeom>
          <a:solidFill>
            <a:schemeClr val="accent1"/>
          </a:solidFill>
          <a:ln w="9525">
            <a:solidFill>
              <a:schemeClr val="tx1"/>
            </a:solidFill>
            <a:round/>
            <a:headEnd/>
            <a:tailEnd/>
          </a:ln>
        </p:spPr>
        <p:txBody>
          <a:bodyPr anchor="ctr"/>
          <a:lstStyle/>
          <a:p>
            <a:endParaRPr lang="en-US"/>
          </a:p>
        </p:txBody>
      </p:sp>
      <p:sp>
        <p:nvSpPr>
          <p:cNvPr id="27657" name="AutoShape 9">
            <a:extLst>
              <a:ext uri="{FF2B5EF4-FFF2-40B4-BE49-F238E27FC236}">
                <a16:creationId xmlns:a16="http://schemas.microsoft.com/office/drawing/2014/main" id="{978FECF1-74D4-4406-9E5E-EAE6C9CB7E17}"/>
              </a:ext>
            </a:extLst>
          </p:cNvPr>
          <p:cNvSpPr>
            <a:spLocks noChangeArrowheads="1"/>
          </p:cNvSpPr>
          <p:nvPr/>
        </p:nvSpPr>
        <p:spPr bwMode="auto">
          <a:xfrm>
            <a:off x="6172200" y="2987675"/>
            <a:ext cx="1219200" cy="1271588"/>
          </a:xfrm>
          <a:prstGeom prst="can">
            <a:avLst>
              <a:gd name="adj" fmla="val 26074"/>
            </a:avLst>
          </a:prstGeom>
          <a:solidFill>
            <a:schemeClr val="accent1"/>
          </a:solidFill>
          <a:ln w="9525">
            <a:solidFill>
              <a:schemeClr val="tx1"/>
            </a:solidFill>
            <a:round/>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a:solidFill>
                  <a:srgbClr val="808000"/>
                </a:solidFill>
                <a:latin typeface="Tahoma" panose="020B0604030504040204" pitchFamily="34" charset="0"/>
                <a:ea typeface="宋体" panose="02010600030101010101" pitchFamily="2" charset="-122"/>
              </a:rPr>
              <a:t>Server</a:t>
            </a:r>
          </a:p>
        </p:txBody>
      </p:sp>
      <p:sp>
        <p:nvSpPr>
          <p:cNvPr id="27658" name="Line 10">
            <a:extLst>
              <a:ext uri="{FF2B5EF4-FFF2-40B4-BE49-F238E27FC236}">
                <a16:creationId xmlns:a16="http://schemas.microsoft.com/office/drawing/2014/main" id="{B3514870-9492-4824-8DB7-4DD6351561A3}"/>
              </a:ext>
            </a:extLst>
          </p:cNvPr>
          <p:cNvSpPr>
            <a:spLocks noChangeShapeType="1"/>
          </p:cNvSpPr>
          <p:nvPr/>
        </p:nvSpPr>
        <p:spPr bwMode="auto">
          <a:xfrm>
            <a:off x="2590800" y="3444875"/>
            <a:ext cx="3581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59" name="Text Box 11">
            <a:extLst>
              <a:ext uri="{FF2B5EF4-FFF2-40B4-BE49-F238E27FC236}">
                <a16:creationId xmlns:a16="http://schemas.microsoft.com/office/drawing/2014/main" id="{A5E7AC5B-1ED3-41BB-8F1B-08ADFDBD057A}"/>
              </a:ext>
            </a:extLst>
          </p:cNvPr>
          <p:cNvSpPr txBox="1">
            <a:spLocks noChangeArrowheads="1"/>
          </p:cNvSpPr>
          <p:nvPr/>
        </p:nvSpPr>
        <p:spPr bwMode="auto">
          <a:xfrm>
            <a:off x="3138488" y="2971800"/>
            <a:ext cx="2066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Enters form data</a:t>
            </a:r>
          </a:p>
        </p:txBody>
      </p:sp>
      <p:sp>
        <p:nvSpPr>
          <p:cNvPr id="27660" name="Line 12">
            <a:extLst>
              <a:ext uri="{FF2B5EF4-FFF2-40B4-BE49-F238E27FC236}">
                <a16:creationId xmlns:a16="http://schemas.microsoft.com/office/drawing/2014/main" id="{E5F2FFD7-65F8-478E-B396-02BF24C4226F}"/>
              </a:ext>
            </a:extLst>
          </p:cNvPr>
          <p:cNvSpPr>
            <a:spLocks noChangeShapeType="1"/>
          </p:cNvSpPr>
          <p:nvPr/>
        </p:nvSpPr>
        <p:spPr bwMode="auto">
          <a:xfrm>
            <a:off x="2590800" y="3673475"/>
            <a:ext cx="3581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
        <p:nvSpPr>
          <p:cNvPr id="27661" name="Text Box 13">
            <a:extLst>
              <a:ext uri="{FF2B5EF4-FFF2-40B4-BE49-F238E27FC236}">
                <a16:creationId xmlns:a16="http://schemas.microsoft.com/office/drawing/2014/main" id="{3A9DB45E-4493-4D1E-BA2C-E600B9ABBFDB}"/>
              </a:ext>
            </a:extLst>
          </p:cNvPr>
          <p:cNvSpPr txBox="1">
            <a:spLocks noChangeArrowheads="1"/>
          </p:cNvSpPr>
          <p:nvPr/>
        </p:nvSpPr>
        <p:spPr bwMode="auto">
          <a:xfrm>
            <a:off x="2967038" y="3733800"/>
            <a:ext cx="2420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Response + cookies</a:t>
            </a:r>
          </a:p>
        </p:txBody>
      </p:sp>
      <p:sp>
        <p:nvSpPr>
          <p:cNvPr id="27662" name="Rectangle 14">
            <a:extLst>
              <a:ext uri="{FF2B5EF4-FFF2-40B4-BE49-F238E27FC236}">
                <a16:creationId xmlns:a16="http://schemas.microsoft.com/office/drawing/2014/main" id="{DD7A5EC2-05BF-42F3-B651-EE6B0C013B02}"/>
              </a:ext>
            </a:extLst>
          </p:cNvPr>
          <p:cNvSpPr>
            <a:spLocks noChangeArrowheads="1"/>
          </p:cNvSpPr>
          <p:nvPr/>
        </p:nvSpPr>
        <p:spPr bwMode="auto">
          <a:xfrm>
            <a:off x="1447800" y="4724400"/>
            <a:ext cx="1128713" cy="838200"/>
          </a:xfrm>
          <a:prstGeom prst="rect">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63" name="AutoShape 15">
            <a:extLst>
              <a:ext uri="{FF2B5EF4-FFF2-40B4-BE49-F238E27FC236}">
                <a16:creationId xmlns:a16="http://schemas.microsoft.com/office/drawing/2014/main" id="{FC02624E-8307-404C-91F6-E8B6AFDF068D}"/>
              </a:ext>
            </a:extLst>
          </p:cNvPr>
          <p:cNvSpPr>
            <a:spLocks noChangeArrowheads="1"/>
          </p:cNvSpPr>
          <p:nvPr/>
        </p:nvSpPr>
        <p:spPr bwMode="auto">
          <a:xfrm>
            <a:off x="1547813" y="4824413"/>
            <a:ext cx="914400" cy="609600"/>
          </a:xfrm>
          <a:prstGeom prst="roundRect">
            <a:avLst>
              <a:gd name="adj" fmla="val 16667"/>
            </a:avLst>
          </a:prstGeom>
          <a:solidFill>
            <a:schemeClr val="accent1"/>
          </a:solidFill>
          <a:ln w="9525">
            <a:solidFill>
              <a:schemeClr val="tx1"/>
            </a:solidFill>
            <a:round/>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Browser</a:t>
            </a:r>
          </a:p>
        </p:txBody>
      </p:sp>
      <p:sp>
        <p:nvSpPr>
          <p:cNvPr id="27664" name="AutoShape 16">
            <a:extLst>
              <a:ext uri="{FF2B5EF4-FFF2-40B4-BE49-F238E27FC236}">
                <a16:creationId xmlns:a16="http://schemas.microsoft.com/office/drawing/2014/main" id="{572DB11D-E6F9-42B5-B946-29E133009EA8}"/>
              </a:ext>
            </a:extLst>
          </p:cNvPr>
          <p:cNvSpPr>
            <a:spLocks noChangeArrowheads="1"/>
          </p:cNvSpPr>
          <p:nvPr/>
        </p:nvSpPr>
        <p:spPr bwMode="auto">
          <a:xfrm>
            <a:off x="1066800" y="5562600"/>
            <a:ext cx="1524000" cy="228600"/>
          </a:xfrm>
          <a:prstGeom prst="parallelogram">
            <a:avLst>
              <a:gd name="adj" fmla="val 166667"/>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65" name="Rectangle 17">
            <a:extLst>
              <a:ext uri="{FF2B5EF4-FFF2-40B4-BE49-F238E27FC236}">
                <a16:creationId xmlns:a16="http://schemas.microsoft.com/office/drawing/2014/main" id="{EB4C54EE-86B0-409D-816F-4CB7004486DB}"/>
              </a:ext>
            </a:extLst>
          </p:cNvPr>
          <p:cNvSpPr>
            <a:spLocks noChangeArrowheads="1"/>
          </p:cNvSpPr>
          <p:nvPr/>
        </p:nvSpPr>
        <p:spPr bwMode="auto">
          <a:xfrm>
            <a:off x="1066800" y="5791200"/>
            <a:ext cx="1143000" cy="152400"/>
          </a:xfrm>
          <a:prstGeom prst="rect">
            <a:avLst/>
          </a:prstGeom>
          <a:solidFill>
            <a:schemeClr val="accent1"/>
          </a:solidFill>
          <a:ln w="9525">
            <a:solidFill>
              <a:schemeClr val="tx1"/>
            </a:solidFill>
            <a:miter lim="800000"/>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27666" name="Freeform 18">
            <a:extLst>
              <a:ext uri="{FF2B5EF4-FFF2-40B4-BE49-F238E27FC236}">
                <a16:creationId xmlns:a16="http://schemas.microsoft.com/office/drawing/2014/main" id="{B279755E-7074-4515-9B43-08DC949F44D6}"/>
              </a:ext>
            </a:extLst>
          </p:cNvPr>
          <p:cNvSpPr>
            <a:spLocks/>
          </p:cNvSpPr>
          <p:nvPr/>
        </p:nvSpPr>
        <p:spPr bwMode="auto">
          <a:xfrm>
            <a:off x="2190750" y="5557838"/>
            <a:ext cx="400050" cy="385762"/>
          </a:xfrm>
          <a:custGeom>
            <a:avLst/>
            <a:gdLst>
              <a:gd name="T0" fmla="*/ 0 w 252"/>
              <a:gd name="T1" fmla="*/ 2147483646 h 243"/>
              <a:gd name="T2" fmla="*/ 2147483646 w 252"/>
              <a:gd name="T3" fmla="*/ 2147483646 h 243"/>
              <a:gd name="T4" fmla="*/ 2147483646 w 252"/>
              <a:gd name="T5" fmla="*/ 0 h 243"/>
              <a:gd name="T6" fmla="*/ 0 w 252"/>
              <a:gd name="T7" fmla="*/ 2147483646 h 243"/>
              <a:gd name="T8" fmla="*/ 0 w 252"/>
              <a:gd name="T9" fmla="*/ 2147483646 h 243"/>
              <a:gd name="T10" fmla="*/ 0 60000 65536"/>
              <a:gd name="T11" fmla="*/ 0 60000 65536"/>
              <a:gd name="T12" fmla="*/ 0 60000 65536"/>
              <a:gd name="T13" fmla="*/ 0 60000 65536"/>
              <a:gd name="T14" fmla="*/ 0 60000 65536"/>
              <a:gd name="T15" fmla="*/ 0 w 252"/>
              <a:gd name="T16" fmla="*/ 0 h 243"/>
              <a:gd name="T17" fmla="*/ 252 w 252"/>
              <a:gd name="T18" fmla="*/ 243 h 243"/>
            </a:gdLst>
            <a:ahLst/>
            <a:cxnLst>
              <a:cxn ang="T10">
                <a:pos x="T0" y="T1"/>
              </a:cxn>
              <a:cxn ang="T11">
                <a:pos x="T2" y="T3"/>
              </a:cxn>
              <a:cxn ang="T12">
                <a:pos x="T4" y="T5"/>
              </a:cxn>
              <a:cxn ang="T13">
                <a:pos x="T6" y="T7"/>
              </a:cxn>
              <a:cxn ang="T14">
                <a:pos x="T8" y="T9"/>
              </a:cxn>
            </a:cxnLst>
            <a:rect l="T15" t="T16" r="T17" b="T18"/>
            <a:pathLst>
              <a:path w="252" h="243">
                <a:moveTo>
                  <a:pt x="0" y="243"/>
                </a:moveTo>
                <a:lnTo>
                  <a:pt x="252" y="81"/>
                </a:lnTo>
                <a:lnTo>
                  <a:pt x="249" y="0"/>
                </a:lnTo>
                <a:lnTo>
                  <a:pt x="0" y="147"/>
                </a:lnTo>
                <a:lnTo>
                  <a:pt x="0" y="243"/>
                </a:lnTo>
                <a:close/>
              </a:path>
            </a:pathLst>
          </a:custGeom>
          <a:solidFill>
            <a:schemeClr val="accent1"/>
          </a:solidFill>
          <a:ln w="9525">
            <a:solidFill>
              <a:schemeClr val="tx1"/>
            </a:solidFill>
            <a:round/>
            <a:headEnd/>
            <a:tailEnd/>
          </a:ln>
        </p:spPr>
        <p:txBody>
          <a:bodyPr anchor="ctr"/>
          <a:lstStyle/>
          <a:p>
            <a:endParaRPr lang="en-US"/>
          </a:p>
        </p:txBody>
      </p:sp>
      <p:sp>
        <p:nvSpPr>
          <p:cNvPr id="27667" name="AutoShape 19">
            <a:extLst>
              <a:ext uri="{FF2B5EF4-FFF2-40B4-BE49-F238E27FC236}">
                <a16:creationId xmlns:a16="http://schemas.microsoft.com/office/drawing/2014/main" id="{5B6760E1-9B81-4E80-810F-166E1EC47F3D}"/>
              </a:ext>
            </a:extLst>
          </p:cNvPr>
          <p:cNvSpPr>
            <a:spLocks noChangeArrowheads="1"/>
          </p:cNvSpPr>
          <p:nvPr/>
        </p:nvSpPr>
        <p:spPr bwMode="auto">
          <a:xfrm>
            <a:off x="6172200" y="4648200"/>
            <a:ext cx="1219200" cy="1271588"/>
          </a:xfrm>
          <a:prstGeom prst="can">
            <a:avLst>
              <a:gd name="adj" fmla="val 26074"/>
            </a:avLst>
          </a:prstGeom>
          <a:solidFill>
            <a:schemeClr val="accent1"/>
          </a:solidFill>
          <a:ln w="9525">
            <a:solidFill>
              <a:schemeClr val="tx1"/>
            </a:solidFill>
            <a:round/>
            <a:headEnd/>
            <a:tailEnd/>
          </a:ln>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a:solidFill>
                  <a:srgbClr val="808000"/>
                </a:solidFill>
                <a:latin typeface="Tahoma" panose="020B0604030504040204" pitchFamily="34" charset="0"/>
                <a:ea typeface="宋体" panose="02010600030101010101" pitchFamily="2" charset="-122"/>
              </a:rPr>
              <a:t>Server</a:t>
            </a:r>
          </a:p>
        </p:txBody>
      </p:sp>
      <p:sp>
        <p:nvSpPr>
          <p:cNvPr id="27668" name="Text Box 21">
            <a:extLst>
              <a:ext uri="{FF2B5EF4-FFF2-40B4-BE49-F238E27FC236}">
                <a16:creationId xmlns:a16="http://schemas.microsoft.com/office/drawing/2014/main" id="{2DF1E2D0-EB8F-4558-ADF9-DC9353FEDED4}"/>
              </a:ext>
            </a:extLst>
          </p:cNvPr>
          <p:cNvSpPr txBox="1">
            <a:spLocks noChangeArrowheads="1"/>
          </p:cNvSpPr>
          <p:nvPr/>
        </p:nvSpPr>
        <p:spPr bwMode="auto">
          <a:xfrm>
            <a:off x="3048000" y="4632325"/>
            <a:ext cx="2255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Request + cookies</a:t>
            </a:r>
          </a:p>
        </p:txBody>
      </p:sp>
      <p:sp>
        <p:nvSpPr>
          <p:cNvPr id="27669" name="Text Box 23">
            <a:extLst>
              <a:ext uri="{FF2B5EF4-FFF2-40B4-BE49-F238E27FC236}">
                <a16:creationId xmlns:a16="http://schemas.microsoft.com/office/drawing/2014/main" id="{8E91C3A1-9897-4477-A4AA-1A86EEA0553A}"/>
              </a:ext>
            </a:extLst>
          </p:cNvPr>
          <p:cNvSpPr txBox="1">
            <a:spLocks noChangeArrowheads="1"/>
          </p:cNvSpPr>
          <p:nvPr/>
        </p:nvSpPr>
        <p:spPr bwMode="auto">
          <a:xfrm>
            <a:off x="3365500" y="5394325"/>
            <a:ext cx="1619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accent2"/>
              </a:buClr>
            </a:pPr>
            <a:r>
              <a:rPr lang="en-US" altLang="zh-CN" sz="2000">
                <a:solidFill>
                  <a:srgbClr val="808000"/>
                </a:solidFill>
                <a:latin typeface="Tahoma" panose="020B0604030504040204" pitchFamily="34" charset="0"/>
                <a:ea typeface="宋体" panose="02010600030101010101" pitchFamily="2" charset="-122"/>
              </a:rPr>
              <a:t>Returns data</a:t>
            </a:r>
          </a:p>
        </p:txBody>
      </p:sp>
      <p:sp>
        <p:nvSpPr>
          <p:cNvPr id="27670" name="Text Box 24">
            <a:extLst>
              <a:ext uri="{FF2B5EF4-FFF2-40B4-BE49-F238E27FC236}">
                <a16:creationId xmlns:a16="http://schemas.microsoft.com/office/drawing/2014/main" id="{A55477B4-F1E0-4BC4-80CC-F1E8F22973AD}"/>
              </a:ext>
            </a:extLst>
          </p:cNvPr>
          <p:cNvSpPr txBox="1">
            <a:spLocks noChangeArrowheads="1"/>
          </p:cNvSpPr>
          <p:nvPr/>
        </p:nvSpPr>
        <p:spPr bwMode="auto">
          <a:xfrm>
            <a:off x="2352675" y="6092825"/>
            <a:ext cx="5070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buClr>
                <a:schemeClr val="tx2"/>
              </a:buClr>
              <a:buFont typeface="Monotype Sorts"/>
              <a:buNone/>
            </a:pPr>
            <a:r>
              <a:rPr kumimoji="1" lang="en-US" altLang="zh-CN" sz="2000">
                <a:latin typeface="Tahoma" panose="020B0604030504040204" pitchFamily="34" charset="0"/>
                <a:ea typeface="宋体" panose="02010600030101010101" pitchFamily="2" charset="-122"/>
              </a:rPr>
              <a:t>Http is stateless protocol; cookies add state</a:t>
            </a:r>
            <a:endParaRPr lang="en-US" altLang="zh-CN" sz="1800">
              <a:solidFill>
                <a:schemeClr val="bg2"/>
              </a:solidFill>
              <a:latin typeface="Tahoma" panose="020B0604030504040204" pitchFamily="34" charset="0"/>
              <a:ea typeface="宋体" panose="02010600030101010101" pitchFamily="2" charset="-122"/>
            </a:endParaRPr>
          </a:p>
        </p:txBody>
      </p:sp>
      <p:sp>
        <p:nvSpPr>
          <p:cNvPr id="27671" name="Line 10">
            <a:extLst>
              <a:ext uri="{FF2B5EF4-FFF2-40B4-BE49-F238E27FC236}">
                <a16:creationId xmlns:a16="http://schemas.microsoft.com/office/drawing/2014/main" id="{9FD3D944-7CFC-4762-88B6-2FDB1BE4B979}"/>
              </a:ext>
            </a:extLst>
          </p:cNvPr>
          <p:cNvSpPr>
            <a:spLocks noChangeShapeType="1"/>
          </p:cNvSpPr>
          <p:nvPr/>
        </p:nvSpPr>
        <p:spPr bwMode="auto">
          <a:xfrm>
            <a:off x="2590800" y="5029200"/>
            <a:ext cx="3581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72" name="Line 12">
            <a:extLst>
              <a:ext uri="{FF2B5EF4-FFF2-40B4-BE49-F238E27FC236}">
                <a16:creationId xmlns:a16="http://schemas.microsoft.com/office/drawing/2014/main" id="{57FBFEA4-1E38-42B4-B5C3-A99F7BEA0955}"/>
              </a:ext>
            </a:extLst>
          </p:cNvPr>
          <p:cNvSpPr>
            <a:spLocks noChangeShapeType="1"/>
          </p:cNvSpPr>
          <p:nvPr/>
        </p:nvSpPr>
        <p:spPr bwMode="auto">
          <a:xfrm>
            <a:off x="2590800" y="5410200"/>
            <a:ext cx="3581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854C01B6-F2F2-45FD-A9A5-4B8B31E9D7D8}"/>
              </a:ext>
            </a:extLst>
          </p:cNvPr>
          <p:cNvSpPr>
            <a:spLocks noGrp="1" noChangeArrowheads="1"/>
          </p:cNvSpPr>
          <p:nvPr>
            <p:ph type="title"/>
          </p:nvPr>
        </p:nvSpPr>
        <p:spPr/>
        <p:txBody>
          <a:bodyPr/>
          <a:lstStyle/>
          <a:p>
            <a:r>
              <a:rPr lang="en-US" altLang="en-US"/>
              <a:t>Same Origin Policy (SOP)</a:t>
            </a:r>
          </a:p>
        </p:txBody>
      </p:sp>
      <p:sp>
        <p:nvSpPr>
          <p:cNvPr id="35843" name="Content Placeholder 2">
            <a:extLst>
              <a:ext uri="{FF2B5EF4-FFF2-40B4-BE49-F238E27FC236}">
                <a16:creationId xmlns:a16="http://schemas.microsoft.com/office/drawing/2014/main" id="{F50E770C-CDD5-4A5F-A759-CC7465DFFD6F}"/>
              </a:ext>
            </a:extLst>
          </p:cNvPr>
          <p:cNvSpPr>
            <a:spLocks noGrp="1" noChangeArrowheads="1"/>
          </p:cNvSpPr>
          <p:nvPr>
            <p:ph idx="1"/>
          </p:nvPr>
        </p:nvSpPr>
        <p:spPr/>
        <p:txBody>
          <a:bodyPr>
            <a:normAutofit fontScale="85000" lnSpcReduction="10000"/>
          </a:bodyPr>
          <a:lstStyle/>
          <a:p>
            <a:pPr eaLnBrk="1" hangingPunct="1"/>
            <a:r>
              <a:rPr lang="en-US" altLang="zh-CN">
                <a:ea typeface="宋体" panose="02010600030101010101" pitchFamily="2" charset="-122"/>
              </a:rPr>
              <a:t>The basic security model enforced in the browser</a:t>
            </a:r>
          </a:p>
          <a:p>
            <a:pPr eaLnBrk="1" hangingPunct="1"/>
            <a:r>
              <a:rPr lang="en-US" altLang="zh-CN">
                <a:ea typeface="宋体" panose="02010600030101010101" pitchFamily="2" charset="-122"/>
              </a:rPr>
              <a:t>SoP isolates the scripts and resources downloaded from different origins</a:t>
            </a:r>
          </a:p>
          <a:p>
            <a:pPr lvl="1" eaLnBrk="1" hangingPunct="1"/>
            <a:r>
              <a:rPr lang="en-US" altLang="zh-CN">
                <a:ea typeface="宋体" panose="02010600030101010101" pitchFamily="2" charset="-122"/>
              </a:rPr>
              <a:t>E.g., evil.org scripts cannot access bank.com resources</a:t>
            </a:r>
          </a:p>
          <a:p>
            <a:pPr eaLnBrk="1" hangingPunct="1"/>
            <a:r>
              <a:rPr lang="en-US" altLang="zh-CN">
                <a:ea typeface="宋体" panose="02010600030101010101" pitchFamily="2" charset="-122"/>
              </a:rPr>
              <a:t>Use origin as the security principal</a:t>
            </a:r>
          </a:p>
          <a:p>
            <a:pPr lvl="1" eaLnBrk="1" hangingPunct="1"/>
            <a:r>
              <a:rPr lang="en-US" altLang="zh-CN">
                <a:ea typeface="宋体" panose="02010600030101010101" pitchFamily="2" charset="-122"/>
              </a:rPr>
              <a:t>Note that the concept of user accounts does not apply here as security principals</a:t>
            </a:r>
          </a:p>
          <a:p>
            <a:pPr eaLnBrk="1" hangingPunct="1"/>
            <a:r>
              <a:rPr lang="en-US" altLang="zh-CN">
                <a:ea typeface="宋体" panose="02010600030101010101" pitchFamily="2" charset="-122"/>
              </a:rPr>
              <a:t>Origin = domain name + protocol + port</a:t>
            </a:r>
          </a:p>
          <a:p>
            <a:pPr lvl="1" eaLnBrk="1" hangingPunct="1"/>
            <a:r>
              <a:rPr lang="en-US" altLang="zh-CN">
                <a:ea typeface="宋体" panose="02010600030101010101" pitchFamily="2" charset="-122"/>
              </a:rPr>
              <a:t>all three must be equal for origin to be considered the same</a:t>
            </a:r>
          </a:p>
          <a:p>
            <a:pPr eaLnBrk="1" hangingPunct="1"/>
            <a:r>
              <a:rPr lang="en-US" altLang="en-US"/>
              <a:t>Same-origin policy also applies to XMLHttpRequest</a:t>
            </a:r>
            <a:endParaRPr lang="en-US" altLang="zh-CN">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054360F0-0C1E-4861-B652-E6E1D208EF5E}"/>
              </a:ext>
            </a:extLst>
          </p:cNvPr>
          <p:cNvSpPr>
            <a:spLocks noGrp="1" noChangeArrowheads="1"/>
          </p:cNvSpPr>
          <p:nvPr>
            <p:ph type="title"/>
          </p:nvPr>
        </p:nvSpPr>
        <p:spPr/>
        <p:txBody>
          <a:bodyPr>
            <a:normAutofit fontScale="90000"/>
          </a:bodyPr>
          <a:lstStyle/>
          <a:p>
            <a:r>
              <a:rPr lang="en-US" altLang="en-US" dirty="0">
                <a:solidFill>
                  <a:srgbClr val="C00000"/>
                </a:solidFill>
              </a:rPr>
              <a:t>OWASP Top 10 Web Application Security Risks</a:t>
            </a:r>
            <a:br>
              <a:rPr lang="en-US" altLang="en-US" dirty="0">
                <a:solidFill>
                  <a:srgbClr val="000000"/>
                </a:solidFill>
                <a:latin typeface="roboto" pitchFamily="2" charset="0"/>
              </a:rPr>
            </a:br>
            <a:endParaRPr lang="en-US" altLang="en-US" dirty="0"/>
          </a:p>
        </p:txBody>
      </p:sp>
      <p:pic>
        <p:nvPicPr>
          <p:cNvPr id="41987" name="Content Placeholder 2" descr="A diagram of a diagram&#10;&#10;Description automatically generated with medium confidence">
            <a:extLst>
              <a:ext uri="{FF2B5EF4-FFF2-40B4-BE49-F238E27FC236}">
                <a16:creationId xmlns:a16="http://schemas.microsoft.com/office/drawing/2014/main" id="{1DBB28E5-7FDC-4A41-A7FF-1AD7BF69330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2743200"/>
            <a:ext cx="8991600" cy="3257550"/>
          </a:xfrm>
        </p:spPr>
      </p:pic>
      <p:sp>
        <p:nvSpPr>
          <p:cNvPr id="41988" name="TextBox 3">
            <a:extLst>
              <a:ext uri="{FF2B5EF4-FFF2-40B4-BE49-F238E27FC236}">
                <a16:creationId xmlns:a16="http://schemas.microsoft.com/office/drawing/2014/main" id="{DC7950A2-369E-464D-B2A5-B4B16B26CC98}"/>
              </a:ext>
            </a:extLst>
          </p:cNvPr>
          <p:cNvSpPr txBox="1">
            <a:spLocks noChangeArrowheads="1"/>
          </p:cNvSpPr>
          <p:nvPr/>
        </p:nvSpPr>
        <p:spPr bwMode="auto">
          <a:xfrm>
            <a:off x="381000" y="1443038"/>
            <a:ext cx="6245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en-US"/>
              <a:t>OWASP: Open Web Application Security Project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D8B4DA19-3860-4944-82E6-845FB659F339}"/>
              </a:ext>
            </a:extLst>
          </p:cNvPr>
          <p:cNvSpPr>
            <a:spLocks noGrp="1" noChangeArrowheads="1"/>
          </p:cNvSpPr>
          <p:nvPr>
            <p:ph type="title"/>
          </p:nvPr>
        </p:nvSpPr>
        <p:spPr/>
        <p:txBody>
          <a:bodyPr/>
          <a:lstStyle/>
          <a:p>
            <a:r>
              <a:rPr lang="en-US" altLang="en-US" dirty="0">
                <a:solidFill>
                  <a:srgbClr val="C00000"/>
                </a:solidFill>
              </a:rPr>
              <a:t>Three Top Web Site Vulnerabilities</a:t>
            </a:r>
          </a:p>
        </p:txBody>
      </p:sp>
      <p:sp>
        <p:nvSpPr>
          <p:cNvPr id="46083" name="Content Placeholder 2">
            <a:extLst>
              <a:ext uri="{FF2B5EF4-FFF2-40B4-BE49-F238E27FC236}">
                <a16:creationId xmlns:a16="http://schemas.microsoft.com/office/drawing/2014/main" id="{63AEA40E-C55E-4713-89F2-62DD48877CFF}"/>
              </a:ext>
            </a:extLst>
          </p:cNvPr>
          <p:cNvSpPr>
            <a:spLocks noGrp="1" noChangeArrowheads="1"/>
          </p:cNvSpPr>
          <p:nvPr>
            <p:ph idx="1"/>
          </p:nvPr>
        </p:nvSpPr>
        <p:spPr/>
        <p:txBody>
          <a:bodyPr>
            <a:normAutofit lnSpcReduction="10000"/>
          </a:bodyPr>
          <a:lstStyle/>
          <a:p>
            <a:r>
              <a:rPr lang="en-US" altLang="en-US" dirty="0"/>
              <a:t>XSS – Cross-site scripting</a:t>
            </a:r>
          </a:p>
          <a:p>
            <a:pPr lvl="1"/>
            <a:r>
              <a:rPr lang="en-US" altLang="en-US" dirty="0"/>
              <a:t> Bad web site sends innocent victim a script that steals information from an honest web site</a:t>
            </a:r>
          </a:p>
          <a:p>
            <a:r>
              <a:rPr lang="en-US" altLang="en-US" dirty="0"/>
              <a:t>CSRF – Cross-site request forgery</a:t>
            </a:r>
          </a:p>
          <a:p>
            <a:pPr lvl="1"/>
            <a:r>
              <a:rPr lang="en-US" altLang="en-US" dirty="0"/>
              <a:t>Bad web site sends browser request to good web site, using credentials of an innocent victim</a:t>
            </a:r>
          </a:p>
          <a:p>
            <a:r>
              <a:rPr lang="en-US" altLang="en-US" dirty="0"/>
              <a:t> SQL Injection</a:t>
            </a:r>
          </a:p>
          <a:p>
            <a:pPr lvl="1"/>
            <a:r>
              <a:rPr lang="en-US" altLang="en-US" dirty="0"/>
              <a:t> Browser sends malicious input to server</a:t>
            </a:r>
          </a:p>
          <a:p>
            <a:pPr lvl="1"/>
            <a:r>
              <a:rPr lang="en-US" altLang="en-US" dirty="0"/>
              <a:t>Bad input checking leads to malicious SQL query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AA9A864D-E5E9-42D9-BC0F-B092D4E1C35B}"/>
              </a:ext>
            </a:extLst>
          </p:cNvPr>
          <p:cNvSpPr>
            <a:spLocks noGrp="1" noChangeArrowheads="1"/>
          </p:cNvSpPr>
          <p:nvPr>
            <p:ph type="title"/>
          </p:nvPr>
        </p:nvSpPr>
        <p:spPr>
          <a:xfrm>
            <a:off x="685800" y="76200"/>
            <a:ext cx="7772400" cy="762000"/>
          </a:xfrm>
        </p:spPr>
        <p:txBody>
          <a:bodyPr/>
          <a:lstStyle/>
          <a:p>
            <a:r>
              <a:rPr lang="en-US" altLang="en-US" sz="3200" b="0">
                <a:solidFill>
                  <a:srgbClr val="C00000"/>
                </a:solidFill>
                <a:cs typeface="Times New Roman" panose="02020603050405020304" pitchFamily="18" charset="0"/>
              </a:rPr>
              <a:t>Types of XSS</a:t>
            </a:r>
            <a:endParaRPr lang="en-US" altLang="en-US" sz="3200">
              <a:solidFill>
                <a:srgbClr val="C00000"/>
              </a:solidFill>
              <a:cs typeface="Times New Roman" panose="02020603050405020304" pitchFamily="18" charset="0"/>
            </a:endParaRPr>
          </a:p>
        </p:txBody>
      </p:sp>
      <p:sp>
        <p:nvSpPr>
          <p:cNvPr id="55299" name="Content Placeholder 2">
            <a:extLst>
              <a:ext uri="{FF2B5EF4-FFF2-40B4-BE49-F238E27FC236}">
                <a16:creationId xmlns:a16="http://schemas.microsoft.com/office/drawing/2014/main" id="{395208A2-E944-4E8D-BFB2-6A0286C48BDC}"/>
              </a:ext>
            </a:extLst>
          </p:cNvPr>
          <p:cNvSpPr>
            <a:spLocks noGrp="1" noChangeArrowheads="1"/>
          </p:cNvSpPr>
          <p:nvPr>
            <p:ph idx="1"/>
          </p:nvPr>
        </p:nvSpPr>
        <p:spPr>
          <a:xfrm>
            <a:off x="457200" y="841375"/>
            <a:ext cx="8001000" cy="5559425"/>
          </a:xfrm>
        </p:spPr>
        <p:txBody>
          <a:bodyPr>
            <a:normAutofit fontScale="92500" lnSpcReduction="20000"/>
          </a:bodyPr>
          <a:lstStyle/>
          <a:p>
            <a:r>
              <a:rPr lang="en-US" altLang="en-US"/>
              <a:t>Types of XSS: </a:t>
            </a:r>
          </a:p>
          <a:p>
            <a:r>
              <a:rPr lang="en-US" altLang="en-US"/>
              <a:t>Reflected XSS: A reflected XSS vulnerability happens when the user input from a URL or POST data is reflected on the page without being stored. </a:t>
            </a:r>
          </a:p>
          <a:p>
            <a:r>
              <a:rPr lang="en-US" altLang="en-US"/>
              <a:t>Persistent or Stored XSS: Stored Cross-site scripting vulnerabilities happens when the payload is saved, for example in a database and then is executed when a user opens the page. Stored cross-site scripting is very dangerous for a number of reasons </a:t>
            </a:r>
          </a:p>
          <a:p>
            <a:r>
              <a:rPr lang="en-US" altLang="en-US"/>
              <a:t>DOM-based XSS: The DOM Based XSS vulnerability happens in the DOM (Document Object Model) instead of part of the HTML.</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7CE3D51-E029-4BDE-8701-1AAEF8B93AEC}"/>
              </a:ext>
            </a:extLst>
          </p:cNvPr>
          <p:cNvSpPr>
            <a:spLocks noChangeArrowheads="1"/>
          </p:cNvSpPr>
          <p:nvPr/>
        </p:nvSpPr>
        <p:spPr bwMode="auto">
          <a:xfrm>
            <a:off x="609600" y="3529013"/>
            <a:ext cx="8229600" cy="1219200"/>
          </a:xfrm>
          <a:prstGeom prst="rect">
            <a:avLst/>
          </a:prstGeom>
          <a:solidFill>
            <a:srgbClr val="CCFFFF"/>
          </a:solidFill>
          <a:ln>
            <a:noFill/>
          </a:ln>
          <a:extLst>
            <a:ext uri="{91240B29-F687-4F45-9708-019B960494DF}">
              <a14:hiddenLine xmlns:a14="http://schemas.microsoft.com/office/drawing/2010/main" w="12700" algn="ctr">
                <a:solidFill>
                  <a:srgbClr val="000000"/>
                </a:solidFill>
                <a:miter lim="800000"/>
                <a:headEnd/>
                <a:tailEnd type="none" w="lg" len="med"/>
              </a14:hiddenLine>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p>
        </p:txBody>
      </p:sp>
      <p:sp>
        <p:nvSpPr>
          <p:cNvPr id="73731" name="Rectangle 3">
            <a:extLst>
              <a:ext uri="{FF2B5EF4-FFF2-40B4-BE49-F238E27FC236}">
                <a16:creationId xmlns:a16="http://schemas.microsoft.com/office/drawing/2014/main" id="{FAAE3130-55C7-4F1C-9CEE-74ACB3626DEB}"/>
              </a:ext>
            </a:extLst>
          </p:cNvPr>
          <p:cNvSpPr>
            <a:spLocks noGrp="1" noChangeArrowheads="1"/>
          </p:cNvSpPr>
          <p:nvPr>
            <p:ph type="title"/>
          </p:nvPr>
        </p:nvSpPr>
        <p:spPr/>
        <p:txBody>
          <a:bodyPr>
            <a:normAutofit fontScale="90000"/>
          </a:bodyPr>
          <a:lstStyle/>
          <a:p>
            <a:pPr eaLnBrk="1" hangingPunct="1"/>
            <a:r>
              <a:rPr lang="en-US" altLang="zh-CN" dirty="0">
                <a:solidFill>
                  <a:srgbClr val="C00000"/>
                </a:solidFill>
                <a:ea typeface="宋体" panose="02010600030101010101" pitchFamily="2" charset="-122"/>
              </a:rPr>
              <a:t>Defenses of XSS - </a:t>
            </a:r>
            <a:r>
              <a:rPr lang="en-US" altLang="en-US" dirty="0">
                <a:solidFill>
                  <a:srgbClr val="C00000"/>
                </a:solidFill>
              </a:rPr>
              <a:t>Input Data Validation &amp; Filtering</a:t>
            </a:r>
            <a:endParaRPr lang="en-US" altLang="zh-CN" sz="2400" dirty="0">
              <a:solidFill>
                <a:srgbClr val="C00000"/>
              </a:solidFill>
              <a:ea typeface="宋体" panose="02010600030101010101" pitchFamily="2" charset="-122"/>
            </a:endParaRPr>
          </a:p>
        </p:txBody>
      </p:sp>
      <p:sp>
        <p:nvSpPr>
          <p:cNvPr id="1071108" name="Rectangle 4">
            <a:extLst>
              <a:ext uri="{FF2B5EF4-FFF2-40B4-BE49-F238E27FC236}">
                <a16:creationId xmlns:a16="http://schemas.microsoft.com/office/drawing/2014/main" id="{A0712939-9AB1-41FF-86C9-7D4A0B9B8AEF}"/>
              </a:ext>
            </a:extLst>
          </p:cNvPr>
          <p:cNvSpPr>
            <a:spLocks noGrp="1" noChangeArrowheads="1"/>
          </p:cNvSpPr>
          <p:nvPr>
            <p:ph type="body" idx="1"/>
          </p:nvPr>
        </p:nvSpPr>
        <p:spPr>
          <a:xfrm>
            <a:off x="457200" y="1447800"/>
            <a:ext cx="8305800" cy="4114800"/>
          </a:xfrm>
        </p:spPr>
        <p:txBody>
          <a:bodyPr>
            <a:normAutofit fontScale="70000" lnSpcReduction="20000"/>
          </a:bodyPr>
          <a:lstStyle/>
          <a:p>
            <a:pPr eaLnBrk="1" hangingPunct="1">
              <a:spcBef>
                <a:spcPct val="25000"/>
              </a:spcBef>
            </a:pPr>
            <a:r>
              <a:rPr lang="en-US" altLang="zh-CN">
                <a:ea typeface="宋体" panose="02010600030101010101" pitchFamily="2" charset="-122"/>
              </a:rPr>
              <a:t>Main problem:   </a:t>
            </a:r>
          </a:p>
          <a:p>
            <a:pPr lvl="1" eaLnBrk="1" hangingPunct="1">
              <a:spcBef>
                <a:spcPct val="25000"/>
              </a:spcBef>
            </a:pPr>
            <a:r>
              <a:rPr lang="en-US" altLang="zh-CN">
                <a:ea typeface="宋体" panose="02010600030101010101" pitchFamily="2" charset="-122"/>
              </a:rPr>
              <a:t>Input checking is difficult  ---  many ways to inject scripts into HTML.</a:t>
            </a:r>
          </a:p>
          <a:p>
            <a:pPr eaLnBrk="1" hangingPunct="1">
              <a:spcBef>
                <a:spcPct val="25000"/>
              </a:spcBef>
            </a:pPr>
            <a:r>
              <a:rPr lang="en-US" altLang="zh-CN">
                <a:ea typeface="宋体" panose="02010600030101010101" pitchFamily="2" charset="-122"/>
              </a:rPr>
              <a:t>Preprocess input from user before echoing it</a:t>
            </a:r>
          </a:p>
          <a:p>
            <a:pPr eaLnBrk="1" hangingPunct="1">
              <a:spcBef>
                <a:spcPct val="25000"/>
              </a:spcBef>
            </a:pPr>
            <a:r>
              <a:rPr lang="en-US" altLang="zh-CN">
                <a:ea typeface="宋体" panose="02010600030101010101" pitchFamily="2" charset="-122"/>
              </a:rPr>
              <a:t>PHP:  </a:t>
            </a:r>
            <a:r>
              <a:rPr lang="en-US" altLang="zh-CN" b="1">
                <a:ea typeface="宋体" panose="02010600030101010101" pitchFamily="2" charset="-122"/>
              </a:rPr>
              <a:t>htmlspecialchars</a:t>
            </a:r>
            <a:r>
              <a:rPr lang="en-US" altLang="zh-CN">
                <a:ea typeface="宋体" panose="02010600030101010101" pitchFamily="2" charset="-122"/>
              </a:rPr>
              <a:t>(string)</a:t>
            </a:r>
          </a:p>
          <a:p>
            <a:pPr eaLnBrk="1" hangingPunct="1">
              <a:spcBef>
                <a:spcPct val="25000"/>
              </a:spcBef>
              <a:buFont typeface="Times" panose="02020603050405020304" pitchFamily="18" charset="0"/>
              <a:buNone/>
            </a:pPr>
            <a:r>
              <a:rPr lang="en-US" altLang="zh-CN">
                <a:ea typeface="宋体" panose="02010600030101010101" pitchFamily="2" charset="-122"/>
              </a:rPr>
              <a:t>		</a:t>
            </a:r>
            <a:r>
              <a:rPr lang="en-US" altLang="zh-CN">
                <a:solidFill>
                  <a:srgbClr val="009900"/>
                </a:solidFill>
                <a:ea typeface="宋体" panose="02010600030101010101" pitchFamily="2" charset="-122"/>
              </a:rPr>
              <a:t>&amp;  </a:t>
            </a:r>
            <a:r>
              <a:rPr lang="en-US" altLang="zh-CN">
                <a:solidFill>
                  <a:srgbClr val="009900"/>
                </a:solidFill>
                <a:ea typeface="宋体" panose="02010600030101010101" pitchFamily="2" charset="-122"/>
                <a:sym typeface="Symbol" panose="05050102010706020507" pitchFamily="18" charset="2"/>
              </a:rPr>
              <a:t></a:t>
            </a:r>
            <a:r>
              <a:rPr lang="en-US" altLang="zh-CN">
                <a:solidFill>
                  <a:srgbClr val="009900"/>
                </a:solidFill>
                <a:ea typeface="宋体" panose="02010600030101010101" pitchFamily="2" charset="-122"/>
              </a:rPr>
              <a:t>  &amp;amp;      "  </a:t>
            </a:r>
            <a:r>
              <a:rPr lang="en-US" altLang="zh-CN">
                <a:solidFill>
                  <a:srgbClr val="009900"/>
                </a:solidFill>
                <a:ea typeface="宋体" panose="02010600030101010101" pitchFamily="2" charset="-122"/>
                <a:sym typeface="Symbol" panose="05050102010706020507" pitchFamily="18" charset="2"/>
              </a:rPr>
              <a:t></a:t>
            </a:r>
            <a:r>
              <a:rPr lang="en-US" altLang="zh-CN">
                <a:solidFill>
                  <a:srgbClr val="009900"/>
                </a:solidFill>
                <a:ea typeface="宋体" panose="02010600030101010101" pitchFamily="2" charset="-122"/>
              </a:rPr>
              <a:t> &amp;quot;      '  </a:t>
            </a:r>
            <a:r>
              <a:rPr lang="en-US" altLang="zh-CN">
                <a:solidFill>
                  <a:srgbClr val="009900"/>
                </a:solidFill>
                <a:ea typeface="宋体" panose="02010600030101010101" pitchFamily="2" charset="-122"/>
                <a:sym typeface="Symbol" panose="05050102010706020507" pitchFamily="18" charset="2"/>
              </a:rPr>
              <a:t>  </a:t>
            </a:r>
            <a:r>
              <a:rPr lang="en-US" altLang="zh-CN">
                <a:solidFill>
                  <a:srgbClr val="009900"/>
                </a:solidFill>
                <a:ea typeface="宋体" panose="02010600030101010101" pitchFamily="2" charset="-122"/>
              </a:rPr>
              <a:t>&amp;#039;       	</a:t>
            </a:r>
          </a:p>
          <a:p>
            <a:pPr eaLnBrk="1" hangingPunct="1">
              <a:spcBef>
                <a:spcPct val="25000"/>
              </a:spcBef>
              <a:buFont typeface="Times" panose="02020603050405020304" pitchFamily="18" charset="0"/>
              <a:buNone/>
            </a:pPr>
            <a:r>
              <a:rPr lang="en-US" altLang="zh-CN">
                <a:solidFill>
                  <a:srgbClr val="009900"/>
                </a:solidFill>
                <a:ea typeface="宋体" panose="02010600030101010101" pitchFamily="2" charset="-122"/>
              </a:rPr>
              <a:t>		&lt;  </a:t>
            </a:r>
            <a:r>
              <a:rPr lang="en-US" altLang="zh-CN">
                <a:solidFill>
                  <a:srgbClr val="009900"/>
                </a:solidFill>
                <a:ea typeface="宋体" panose="02010600030101010101" pitchFamily="2" charset="-122"/>
                <a:sym typeface="Symbol" panose="05050102010706020507" pitchFamily="18" charset="2"/>
              </a:rPr>
              <a:t>   </a:t>
            </a:r>
            <a:r>
              <a:rPr lang="en-US" altLang="zh-CN">
                <a:solidFill>
                  <a:srgbClr val="009900"/>
                </a:solidFill>
                <a:ea typeface="宋体" panose="02010600030101010101" pitchFamily="2" charset="-122"/>
              </a:rPr>
              <a:t>&amp;lt;        &gt; </a:t>
            </a:r>
            <a:r>
              <a:rPr lang="en-US" altLang="zh-CN">
                <a:solidFill>
                  <a:srgbClr val="009900"/>
                </a:solidFill>
                <a:ea typeface="宋体" panose="02010600030101010101" pitchFamily="2" charset="-122"/>
                <a:sym typeface="Symbol" panose="05050102010706020507" pitchFamily="18" charset="2"/>
              </a:rPr>
              <a:t>  </a:t>
            </a:r>
            <a:r>
              <a:rPr lang="en-US" altLang="zh-CN">
                <a:solidFill>
                  <a:srgbClr val="009900"/>
                </a:solidFill>
                <a:ea typeface="宋体" panose="02010600030101010101" pitchFamily="2" charset="-122"/>
              </a:rPr>
              <a:t>&amp;gt; </a:t>
            </a:r>
          </a:p>
          <a:p>
            <a:pPr eaLnBrk="1" hangingPunct="1">
              <a:spcBef>
                <a:spcPct val="25000"/>
              </a:spcBef>
              <a:buFont typeface="Times" panose="02020603050405020304" pitchFamily="18" charset="0"/>
              <a:buNone/>
            </a:pPr>
            <a:endParaRPr lang="en-US" altLang="zh-CN">
              <a:solidFill>
                <a:srgbClr val="009900"/>
              </a:solidFill>
              <a:ea typeface="宋体" panose="02010600030101010101" pitchFamily="2" charset="-122"/>
            </a:endParaRPr>
          </a:p>
          <a:p>
            <a:pPr lvl="1" eaLnBrk="1" hangingPunct="1">
              <a:spcBef>
                <a:spcPct val="25000"/>
              </a:spcBef>
            </a:pPr>
            <a:r>
              <a:rPr lang="en-US" altLang="zh-CN" b="1">
                <a:ea typeface="宋体" panose="02010600030101010101" pitchFamily="2" charset="-122"/>
              </a:rPr>
              <a:t>htmlspecialchars</a:t>
            </a:r>
            <a:r>
              <a:rPr lang="en-US" altLang="zh-CN">
                <a:ea typeface="宋体" panose="02010600030101010101" pitchFamily="2" charset="-122"/>
              </a:rPr>
              <a:t>(</a:t>
            </a:r>
            <a:br>
              <a:rPr lang="en-US" altLang="zh-CN">
                <a:ea typeface="宋体" panose="02010600030101010101" pitchFamily="2" charset="-122"/>
              </a:rPr>
            </a:br>
            <a:r>
              <a:rPr lang="en-US" altLang="zh-CN">
                <a:ea typeface="宋体" panose="02010600030101010101" pitchFamily="2" charset="-122"/>
              </a:rPr>
              <a:t>	     "</a:t>
            </a:r>
            <a:r>
              <a:rPr lang="en-US" altLang="zh-CN">
                <a:solidFill>
                  <a:srgbClr val="009900"/>
                </a:solidFill>
                <a:ea typeface="宋体" panose="02010600030101010101" pitchFamily="2" charset="-122"/>
              </a:rPr>
              <a:t>&lt;a href='test'&gt;Test&lt;/a&gt;</a:t>
            </a:r>
            <a:r>
              <a:rPr lang="en-US" altLang="zh-CN">
                <a:ea typeface="宋体" panose="02010600030101010101" pitchFamily="2" charset="-122"/>
              </a:rPr>
              <a:t>",   </a:t>
            </a:r>
            <a:r>
              <a:rPr lang="en-US" altLang="zh-CN" sz="1800">
                <a:ea typeface="宋体" panose="02010600030101010101" pitchFamily="2" charset="-122"/>
              </a:rPr>
              <a:t>ENT_QUOTES</a:t>
            </a:r>
            <a:r>
              <a:rPr lang="en-US" altLang="zh-CN">
                <a:ea typeface="宋体" panose="02010600030101010101" pitchFamily="2" charset="-122"/>
              </a:rPr>
              <a:t>); </a:t>
            </a:r>
          </a:p>
          <a:p>
            <a:pPr lvl="1" eaLnBrk="1" hangingPunct="1">
              <a:spcBef>
                <a:spcPct val="25000"/>
              </a:spcBef>
              <a:buFontTx/>
              <a:buNone/>
            </a:pPr>
            <a:r>
              <a:rPr lang="en-US" altLang="zh-CN">
                <a:ea typeface="宋体" panose="02010600030101010101" pitchFamily="2" charset="-122"/>
              </a:rPr>
              <a:t>	Outputs:  </a:t>
            </a:r>
            <a:br>
              <a:rPr lang="en-US" altLang="zh-CN">
                <a:ea typeface="宋体" panose="02010600030101010101" pitchFamily="2" charset="-122"/>
              </a:rPr>
            </a:br>
            <a:r>
              <a:rPr lang="en-US" altLang="zh-CN">
                <a:ea typeface="宋体" panose="02010600030101010101" pitchFamily="2" charset="-122"/>
              </a:rPr>
              <a:t>   </a:t>
            </a:r>
            <a:r>
              <a:rPr lang="en-US" altLang="zh-CN">
                <a:solidFill>
                  <a:srgbClr val="009900"/>
                </a:solidFill>
                <a:ea typeface="宋体" panose="02010600030101010101" pitchFamily="2" charset="-122"/>
              </a:rPr>
              <a:t>&amp;lt;a href=&amp;#039;test&amp;#039;&amp;gt;Test&amp;lt;/a&amp;gt;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7110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110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50F3E84D-A92F-4B90-BDB1-279D50D172AA}"/>
              </a:ext>
            </a:extLst>
          </p:cNvPr>
          <p:cNvSpPr>
            <a:spLocks noGrp="1" noChangeArrowheads="1"/>
          </p:cNvSpPr>
          <p:nvPr>
            <p:ph type="title"/>
          </p:nvPr>
        </p:nvSpPr>
        <p:spPr/>
        <p:txBody>
          <a:bodyPr/>
          <a:lstStyle/>
          <a:p>
            <a:r>
              <a:rPr lang="en-US" altLang="en-US" dirty="0">
                <a:solidFill>
                  <a:srgbClr val="C00000"/>
                </a:solidFill>
              </a:rPr>
              <a:t>Cross-Site Request Forgery (CSRF)</a:t>
            </a:r>
          </a:p>
        </p:txBody>
      </p:sp>
      <p:sp>
        <p:nvSpPr>
          <p:cNvPr id="80899" name="Content Placeholder 1">
            <a:extLst>
              <a:ext uri="{FF2B5EF4-FFF2-40B4-BE49-F238E27FC236}">
                <a16:creationId xmlns:a16="http://schemas.microsoft.com/office/drawing/2014/main" id="{7699759B-6CDD-4A2F-9DDD-EA638D3A1D4C}"/>
              </a:ext>
            </a:extLst>
          </p:cNvPr>
          <p:cNvSpPr>
            <a:spLocks noGrp="1" noChangeArrowheads="1"/>
          </p:cNvSpPr>
          <p:nvPr>
            <p:ph idx="1"/>
          </p:nvPr>
        </p:nvSpPr>
        <p:spPr>
          <a:xfrm>
            <a:off x="533400" y="1371600"/>
            <a:ext cx="8229600" cy="4724400"/>
          </a:xfrm>
        </p:spPr>
        <p:txBody>
          <a:bodyPr/>
          <a:lstStyle/>
          <a:p>
            <a:r>
              <a:rPr lang="en-US" altLang="en-US" sz="2000">
                <a:solidFill>
                  <a:srgbClr val="000000"/>
                </a:solidFill>
                <a:cs typeface="Times New Roman" panose="02020603050405020304" pitchFamily="18" charset="0"/>
              </a:rPr>
              <a:t>When a web server is designed to receive a request from a client without any mechanism for verifying that it was intentionally sent, then it might be possible for an attacker to trick a client into making an unintentional request to the web server which will be treated as an authentic request. This can be done via a URL, image load, XML,Http Request, etc. and can result in exposure of data or unintended code execution.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hape 65">
            <a:extLst>
              <a:ext uri="{FF2B5EF4-FFF2-40B4-BE49-F238E27FC236}">
                <a16:creationId xmlns:a16="http://schemas.microsoft.com/office/drawing/2014/main" id="{CBF56CDD-6A61-4CA4-8AB8-8CC6DE6087D7}"/>
              </a:ext>
            </a:extLst>
          </p:cNvPr>
          <p:cNvSpPr>
            <a:spLocks noGrp="1" noChangeArrowheads="1"/>
          </p:cNvSpPr>
          <p:nvPr>
            <p:ph type="title"/>
          </p:nvPr>
        </p:nvSpPr>
        <p:spPr>
          <a:xfrm>
            <a:off x="482600" y="304800"/>
            <a:ext cx="8520113" cy="573088"/>
          </a:xfrm>
        </p:spPr>
        <p:txBody>
          <a:bodyPr/>
          <a:lstStyle/>
          <a:p>
            <a:pPr>
              <a:spcBef>
                <a:spcPct val="0"/>
              </a:spcBef>
            </a:pPr>
            <a:r>
              <a:rPr lang="en-GB" altLang="en-US"/>
              <a:t>Cross-Site Requests and Its Problems</a:t>
            </a:r>
          </a:p>
        </p:txBody>
      </p:sp>
      <p:pic>
        <p:nvPicPr>
          <p:cNvPr id="84995" name="Shape 66">
            <a:extLst>
              <a:ext uri="{FF2B5EF4-FFF2-40B4-BE49-F238E27FC236}">
                <a16:creationId xmlns:a16="http://schemas.microsoft.com/office/drawing/2014/main" id="{731072F7-248A-4867-91FE-CF54CFF2D946}"/>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4419600" cy="353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Shape 67">
            <a:extLst>
              <a:ext uri="{FF2B5EF4-FFF2-40B4-BE49-F238E27FC236}">
                <a16:creationId xmlns:a16="http://schemas.microsoft.com/office/drawing/2014/main" id="{BD5EF691-C97A-4CBA-9481-8FA8B5D5FC4D}"/>
              </a:ext>
            </a:extLst>
          </p:cNvPr>
          <p:cNvSpPr txBox="1"/>
          <p:nvPr/>
        </p:nvSpPr>
        <p:spPr>
          <a:xfrm>
            <a:off x="4741863" y="1847850"/>
            <a:ext cx="4090987" cy="3954463"/>
          </a:xfrm>
          <a:prstGeom prst="rect">
            <a:avLst/>
          </a:prstGeom>
          <a:noFill/>
          <a:ln>
            <a:noFill/>
          </a:ln>
        </p:spPr>
        <p:txBody>
          <a:bodyPr lIns="91425" tIns="91425" rIns="91425" bIns="91425"/>
          <a:lstStyle/>
          <a:p>
            <a:pPr marL="457200" indent="-342900">
              <a:spcBef>
                <a:spcPts val="0"/>
              </a:spcBef>
              <a:spcAft>
                <a:spcPts val="0"/>
              </a:spcAft>
              <a:buSzPts val="1800"/>
              <a:buFontTx/>
              <a:buChar char="●"/>
              <a:defRPr/>
            </a:pPr>
            <a:r>
              <a:rPr lang="en-GB" sz="1800" dirty="0"/>
              <a:t>When a page from a website sends an HTTP request back to the website, it is called same-site request.</a:t>
            </a:r>
          </a:p>
          <a:p>
            <a:pPr marL="457200" indent="-342900">
              <a:spcBef>
                <a:spcPts val="0"/>
              </a:spcBef>
              <a:buSzPts val="1800"/>
              <a:buFontTx/>
              <a:buChar char="●"/>
              <a:defRPr/>
            </a:pPr>
            <a:r>
              <a:rPr lang="en-GB" sz="1800" dirty="0"/>
              <a:t>If a request is sent to a different website, it is called cross-site request because the where the page comes from and where the request goes are different.</a:t>
            </a:r>
          </a:p>
          <a:p>
            <a:pPr>
              <a:spcBef>
                <a:spcPts val="0"/>
              </a:spcBef>
              <a:defRPr/>
            </a:pPr>
            <a:endParaRPr sz="1800" dirty="0"/>
          </a:p>
          <a:p>
            <a:pPr>
              <a:spcBef>
                <a:spcPts val="0"/>
              </a:spcBef>
              <a:defRPr/>
            </a:pPr>
            <a:r>
              <a:rPr lang="en-GB" sz="1800" dirty="0" err="1"/>
              <a:t>Eg</a:t>
            </a:r>
            <a:r>
              <a:rPr lang="en-GB" sz="1800" dirty="0"/>
              <a:t> : A webpage (not Facebook) can include a Facebook link, so when users click on the link, HTTP request is sent to Facebook.</a:t>
            </a:r>
          </a:p>
          <a:p>
            <a:pPr>
              <a:spcBef>
                <a:spcPts val="0"/>
              </a:spcBef>
              <a:defRPr/>
            </a:pPr>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1FA4223-E8F4-440E-87BB-BB779C605760}"/>
              </a:ext>
            </a:extLst>
          </p:cNvPr>
          <p:cNvSpPr>
            <a:spLocks noGrp="1" noChangeArrowheads="1"/>
          </p:cNvSpPr>
          <p:nvPr>
            <p:ph type="title"/>
          </p:nvPr>
        </p:nvSpPr>
        <p:spPr/>
        <p:txBody>
          <a:bodyPr/>
          <a:lstStyle/>
          <a:p>
            <a:pPr eaLnBrk="1" hangingPunct="1"/>
            <a:r>
              <a:rPr lang="en-US" altLang="zh-CN" dirty="0">
                <a:solidFill>
                  <a:srgbClr val="C00000"/>
                </a:solidFill>
                <a:ea typeface="宋体" panose="02010600030101010101" pitchFamily="2" charset="-122"/>
              </a:rPr>
              <a:t>Defenses - </a:t>
            </a:r>
            <a:r>
              <a:rPr lang="en-US" altLang="en-US" dirty="0">
                <a:solidFill>
                  <a:srgbClr val="C00000"/>
                </a:solidFill>
              </a:rPr>
              <a:t>Check CSRF Token</a:t>
            </a:r>
            <a:endParaRPr lang="en-US" altLang="zh-CN" dirty="0">
              <a:solidFill>
                <a:srgbClr val="C00000"/>
              </a:solidFill>
              <a:ea typeface="宋体" panose="02010600030101010101" pitchFamily="2" charset="-122"/>
            </a:endParaRPr>
          </a:p>
        </p:txBody>
      </p:sp>
      <p:sp>
        <p:nvSpPr>
          <p:cNvPr id="86019" name="Rectangle 3">
            <a:extLst>
              <a:ext uri="{FF2B5EF4-FFF2-40B4-BE49-F238E27FC236}">
                <a16:creationId xmlns:a16="http://schemas.microsoft.com/office/drawing/2014/main" id="{767914C4-90BF-4642-9130-B3A53EBB2A91}"/>
              </a:ext>
            </a:extLst>
          </p:cNvPr>
          <p:cNvSpPr>
            <a:spLocks noGrp="1" noChangeArrowheads="1"/>
          </p:cNvSpPr>
          <p:nvPr>
            <p:ph type="body" idx="1"/>
          </p:nvPr>
        </p:nvSpPr>
        <p:spPr>
          <a:xfrm>
            <a:off x="457200" y="1219200"/>
            <a:ext cx="8305800" cy="4648200"/>
          </a:xfrm>
        </p:spPr>
        <p:txBody>
          <a:bodyPr>
            <a:normAutofit fontScale="85000" lnSpcReduction="10000"/>
          </a:bodyPr>
          <a:lstStyle/>
          <a:p>
            <a:pPr eaLnBrk="1" hangingPunct="1"/>
            <a:r>
              <a:rPr lang="en-US" altLang="en-US"/>
              <a:t>Any state changing operation requires a secure random token (e.g., CSRF token) to prevent CSRF attacks</a:t>
            </a:r>
          </a:p>
          <a:p>
            <a:pPr eaLnBrk="1" hangingPunct="1"/>
            <a:r>
              <a:rPr lang="en-US" altLang="en-US"/>
              <a:t>Characteristics of a CSRF Token </a:t>
            </a:r>
          </a:p>
          <a:p>
            <a:pPr lvl="1" eaLnBrk="1" hangingPunct="1"/>
            <a:r>
              <a:rPr lang="en-US" altLang="en-US" sz="2400"/>
              <a:t> Unique per user session </a:t>
            </a:r>
          </a:p>
          <a:p>
            <a:pPr lvl="1" eaLnBrk="1" hangingPunct="1"/>
            <a:r>
              <a:rPr lang="en-US" altLang="en-US" sz="2400"/>
              <a:t>Large random value </a:t>
            </a:r>
          </a:p>
          <a:p>
            <a:pPr lvl="1" eaLnBrk="1" hangingPunct="1"/>
            <a:r>
              <a:rPr lang="en-US" altLang="en-US" sz="2400"/>
              <a:t>Generated by a cryptographically secure random number generator </a:t>
            </a:r>
          </a:p>
          <a:p>
            <a:pPr eaLnBrk="1" hangingPunct="1"/>
            <a:r>
              <a:rPr lang="en-US" altLang="en-US"/>
              <a:t>The CSRF token is added as a hidden field for forms or within the URL if the state changing operation occurs via a GET</a:t>
            </a:r>
          </a:p>
          <a:p>
            <a:pPr eaLnBrk="1" hangingPunct="1"/>
            <a:r>
              <a:rPr lang="en-US" altLang="en-US"/>
              <a:t>The server rejects the requested action if the CSRF token fails validation</a:t>
            </a:r>
          </a:p>
          <a:p>
            <a:pPr eaLnBrk="1" hangingPunct="1"/>
            <a:endParaRPr lang="en-US" altLang="zh-CN" sz="200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hape 190">
            <a:extLst>
              <a:ext uri="{FF2B5EF4-FFF2-40B4-BE49-F238E27FC236}">
                <a16:creationId xmlns:a16="http://schemas.microsoft.com/office/drawing/2014/main" id="{A31A0692-47B0-487C-A89F-D237D8E72FCB}"/>
              </a:ext>
            </a:extLst>
          </p:cNvPr>
          <p:cNvSpPr>
            <a:spLocks noGrp="1" noChangeArrowheads="1"/>
          </p:cNvSpPr>
          <p:nvPr>
            <p:ph type="title"/>
          </p:nvPr>
        </p:nvSpPr>
        <p:spPr>
          <a:xfrm>
            <a:off x="311150" y="593725"/>
            <a:ext cx="8521700" cy="763588"/>
          </a:xfrm>
        </p:spPr>
        <p:txBody>
          <a:bodyPr/>
          <a:lstStyle/>
          <a:p>
            <a:pPr>
              <a:spcBef>
                <a:spcPct val="0"/>
              </a:spcBef>
            </a:pPr>
            <a:r>
              <a:rPr lang="en-GB" altLang="en-US"/>
              <a:t>Defenses: Referer Header</a:t>
            </a:r>
          </a:p>
        </p:txBody>
      </p:sp>
      <p:sp>
        <p:nvSpPr>
          <p:cNvPr id="91139" name="Shape 191">
            <a:extLst>
              <a:ext uri="{FF2B5EF4-FFF2-40B4-BE49-F238E27FC236}">
                <a16:creationId xmlns:a16="http://schemas.microsoft.com/office/drawing/2014/main" id="{DDF6101E-C078-40B7-9D4C-2F8BEB9B3B24}"/>
              </a:ext>
            </a:extLst>
          </p:cNvPr>
          <p:cNvSpPr>
            <a:spLocks noGrp="1" noChangeArrowheads="1"/>
          </p:cNvSpPr>
          <p:nvPr>
            <p:ph type="body" idx="1"/>
          </p:nvPr>
        </p:nvSpPr>
        <p:spPr>
          <a:xfrm>
            <a:off x="311150" y="1536700"/>
            <a:ext cx="8521700" cy="4554538"/>
          </a:xfrm>
        </p:spPr>
        <p:txBody>
          <a:bodyPr/>
          <a:lstStyle/>
          <a:p>
            <a:pPr marL="457200">
              <a:spcBef>
                <a:spcPct val="0"/>
              </a:spcBef>
              <a:spcAft>
                <a:spcPts val="600"/>
              </a:spcAft>
              <a:buClr>
                <a:srgbClr val="000000"/>
              </a:buClr>
            </a:pPr>
            <a:r>
              <a:rPr lang="en-GB" altLang="en-US">
                <a:solidFill>
                  <a:srgbClr val="000000"/>
                </a:solidFill>
              </a:rPr>
              <a:t>HTTP header field identifying the address of the web page from where the request is generated.</a:t>
            </a:r>
          </a:p>
          <a:p>
            <a:pPr marL="457200">
              <a:spcBef>
                <a:spcPct val="0"/>
              </a:spcBef>
              <a:spcAft>
                <a:spcPts val="600"/>
              </a:spcAft>
              <a:buClr>
                <a:srgbClr val="000000"/>
              </a:buClr>
            </a:pPr>
            <a:r>
              <a:rPr lang="en-GB" altLang="en-US">
                <a:solidFill>
                  <a:srgbClr val="000000"/>
                </a:solidFill>
              </a:rPr>
              <a:t>A server can check whether the request is originated from its own pages or not.</a:t>
            </a:r>
          </a:p>
          <a:p>
            <a:pPr marL="457200">
              <a:spcBef>
                <a:spcPct val="0"/>
              </a:spcBef>
              <a:spcAft>
                <a:spcPts val="600"/>
              </a:spcAft>
              <a:buClr>
                <a:srgbClr val="000000"/>
              </a:buClr>
            </a:pPr>
            <a:r>
              <a:rPr lang="en-GB" altLang="en-US">
                <a:solidFill>
                  <a:srgbClr val="000000"/>
                </a:solidFill>
              </a:rPr>
              <a:t>This field reveals part of browsing history causing privacy concern and hence, this field is mostly removed from the header.</a:t>
            </a:r>
          </a:p>
          <a:p>
            <a:pPr marL="457200">
              <a:spcBef>
                <a:spcPct val="0"/>
              </a:spcBef>
              <a:spcAft>
                <a:spcPts val="600"/>
              </a:spcAft>
              <a:buClr>
                <a:srgbClr val="000000"/>
              </a:buClr>
            </a:pPr>
            <a:r>
              <a:rPr lang="en-GB" altLang="en-US">
                <a:solidFill>
                  <a:srgbClr val="000000"/>
                </a:solidFill>
              </a:rPr>
              <a:t>The server cannot use this unreliable source.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hape 196">
            <a:extLst>
              <a:ext uri="{FF2B5EF4-FFF2-40B4-BE49-F238E27FC236}">
                <a16:creationId xmlns:a16="http://schemas.microsoft.com/office/drawing/2014/main" id="{68AEB3B6-10A4-4F96-92B7-8DA410A93426}"/>
              </a:ext>
            </a:extLst>
          </p:cNvPr>
          <p:cNvSpPr>
            <a:spLocks noGrp="1" noChangeArrowheads="1"/>
          </p:cNvSpPr>
          <p:nvPr>
            <p:ph type="title"/>
          </p:nvPr>
        </p:nvSpPr>
        <p:spPr>
          <a:xfrm>
            <a:off x="311150" y="593725"/>
            <a:ext cx="8521700" cy="763588"/>
          </a:xfrm>
        </p:spPr>
        <p:txBody>
          <a:bodyPr/>
          <a:lstStyle/>
          <a:p>
            <a:pPr indent="-69850">
              <a:spcBef>
                <a:spcPct val="0"/>
              </a:spcBef>
              <a:buClr>
                <a:srgbClr val="000000"/>
              </a:buClr>
              <a:buSzPts val="1100"/>
            </a:pPr>
            <a:r>
              <a:rPr lang="en-GB" altLang="en-US"/>
              <a:t>Defenses: Same-Site Cookies</a:t>
            </a:r>
          </a:p>
        </p:txBody>
      </p:sp>
      <p:sp>
        <p:nvSpPr>
          <p:cNvPr id="93187" name="Shape 197">
            <a:extLst>
              <a:ext uri="{FF2B5EF4-FFF2-40B4-BE49-F238E27FC236}">
                <a16:creationId xmlns:a16="http://schemas.microsoft.com/office/drawing/2014/main" id="{09064DA6-18EF-4369-8ADD-EE2D1CC2619E}"/>
              </a:ext>
            </a:extLst>
          </p:cNvPr>
          <p:cNvSpPr>
            <a:spLocks noGrp="1" noChangeArrowheads="1"/>
          </p:cNvSpPr>
          <p:nvPr>
            <p:ph type="body" idx="1"/>
          </p:nvPr>
        </p:nvSpPr>
        <p:spPr>
          <a:xfrm>
            <a:off x="311150" y="1676400"/>
            <a:ext cx="8521700" cy="3897313"/>
          </a:xfrm>
        </p:spPr>
        <p:txBody>
          <a:bodyPr/>
          <a:lstStyle/>
          <a:p>
            <a:pPr marL="457200">
              <a:spcBef>
                <a:spcPct val="0"/>
              </a:spcBef>
              <a:spcAft>
                <a:spcPts val="600"/>
              </a:spcAft>
              <a:buClr>
                <a:srgbClr val="000000"/>
              </a:buClr>
            </a:pPr>
            <a:r>
              <a:rPr lang="en-GB" altLang="en-US">
                <a:solidFill>
                  <a:srgbClr val="000000"/>
                </a:solidFill>
              </a:rPr>
              <a:t>A special type of cookie in browsers like Chrome and Opera, which provide a special attribute to cookies called </a:t>
            </a:r>
            <a:r>
              <a:rPr lang="en-GB" altLang="en-US">
                <a:solidFill>
                  <a:srgbClr val="000000"/>
                </a:solidFill>
                <a:latin typeface="Courier New" panose="02070309020205020404" pitchFamily="49" charset="0"/>
                <a:cs typeface="Courier New" panose="02070309020205020404" pitchFamily="49" charset="0"/>
              </a:rPr>
              <a:t>SameSite</a:t>
            </a:r>
            <a:r>
              <a:rPr lang="en-GB" altLang="en-US" i="1">
                <a:solidFill>
                  <a:srgbClr val="000000"/>
                </a:solidFill>
              </a:rPr>
              <a:t>.</a:t>
            </a:r>
          </a:p>
          <a:p>
            <a:pPr marL="457200">
              <a:spcBef>
                <a:spcPct val="0"/>
              </a:spcBef>
              <a:spcAft>
                <a:spcPts val="600"/>
              </a:spcAft>
              <a:buClr>
                <a:srgbClr val="000000"/>
              </a:buClr>
            </a:pPr>
            <a:r>
              <a:rPr lang="en-GB" altLang="en-US">
                <a:solidFill>
                  <a:srgbClr val="000000"/>
                </a:solidFill>
              </a:rPr>
              <a:t>This attribute is set by the servers and it tells the browsers whether a cookie should be attached to a cross-site request or not.</a:t>
            </a:r>
          </a:p>
          <a:p>
            <a:pPr marL="457200">
              <a:spcBef>
                <a:spcPct val="0"/>
              </a:spcBef>
              <a:spcAft>
                <a:spcPts val="600"/>
              </a:spcAft>
              <a:buClr>
                <a:srgbClr val="000000"/>
              </a:buClr>
            </a:pPr>
            <a:r>
              <a:rPr lang="en-GB" altLang="en-US">
                <a:solidFill>
                  <a:srgbClr val="000000"/>
                </a:solidFill>
              </a:rPr>
              <a:t>Cookies with this attribute are always sent along with same-site requests, but whether they are sent along with cross-site depends on the value of this attribute.</a:t>
            </a:r>
          </a:p>
          <a:p>
            <a:pPr marL="457200">
              <a:lnSpc>
                <a:spcPct val="100000"/>
              </a:lnSpc>
              <a:spcBef>
                <a:spcPct val="0"/>
              </a:spcBef>
              <a:spcAft>
                <a:spcPts val="600"/>
              </a:spcAft>
              <a:buClr>
                <a:srgbClr val="000000"/>
              </a:buClr>
            </a:pPr>
            <a:r>
              <a:rPr lang="en-GB" altLang="en-US">
                <a:solidFill>
                  <a:srgbClr val="000000"/>
                </a:solidFill>
              </a:rPr>
              <a:t>Values</a:t>
            </a:r>
          </a:p>
          <a:p>
            <a:pPr marL="800100" lvl="1" indent="-342900">
              <a:lnSpc>
                <a:spcPct val="100000"/>
              </a:lnSpc>
              <a:spcBef>
                <a:spcPct val="0"/>
              </a:spcBef>
              <a:spcAft>
                <a:spcPts val="600"/>
              </a:spcAft>
              <a:buClr>
                <a:srgbClr val="000000"/>
              </a:buClr>
              <a:buSzPts val="1800"/>
              <a:buFont typeface="Wingdings" panose="05000000000000000000" pitchFamily="2" charset="2"/>
              <a:buChar char="●"/>
            </a:pPr>
            <a:r>
              <a:rPr lang="en-GB" altLang="en-US">
                <a:solidFill>
                  <a:srgbClr val="000000"/>
                </a:solidFill>
              </a:rPr>
              <a:t>Strict (Not sent along with cross-site requests)</a:t>
            </a:r>
          </a:p>
          <a:p>
            <a:pPr marL="800100" lvl="1" indent="-342900">
              <a:lnSpc>
                <a:spcPct val="100000"/>
              </a:lnSpc>
              <a:spcBef>
                <a:spcPct val="0"/>
              </a:spcBef>
              <a:spcAft>
                <a:spcPts val="600"/>
              </a:spcAft>
              <a:buClr>
                <a:srgbClr val="000000"/>
              </a:buClr>
              <a:buSzPts val="1800"/>
              <a:buFont typeface="Wingdings" panose="05000000000000000000" pitchFamily="2" charset="2"/>
              <a:buChar char="●"/>
            </a:pPr>
            <a:r>
              <a:rPr lang="en-GB" altLang="en-US">
                <a:solidFill>
                  <a:srgbClr val="000000"/>
                </a:solidFill>
              </a:rPr>
              <a:t>Lax (Sent with cross-site requests)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9446968A-A8C4-4058-8C5D-7EE211549768}"/>
              </a:ext>
            </a:extLst>
          </p:cNvPr>
          <p:cNvSpPr>
            <a:spLocks noGrp="1" noChangeArrowheads="1"/>
          </p:cNvSpPr>
          <p:nvPr>
            <p:ph type="title"/>
          </p:nvPr>
        </p:nvSpPr>
        <p:spPr/>
        <p:txBody>
          <a:bodyPr/>
          <a:lstStyle/>
          <a:p>
            <a:r>
              <a:rPr lang="en-US" altLang="en-US" dirty="0">
                <a:solidFill>
                  <a:srgbClr val="C00000"/>
                </a:solidFill>
              </a:rPr>
              <a:t>SQL Injection Attack</a:t>
            </a:r>
          </a:p>
        </p:txBody>
      </p:sp>
      <p:sp>
        <p:nvSpPr>
          <p:cNvPr id="87043" name="Content Placeholder 2">
            <a:extLst>
              <a:ext uri="{FF2B5EF4-FFF2-40B4-BE49-F238E27FC236}">
                <a16:creationId xmlns:a16="http://schemas.microsoft.com/office/drawing/2014/main" id="{B54D39E1-387D-4F68-B053-FAC319283D03}"/>
              </a:ext>
            </a:extLst>
          </p:cNvPr>
          <p:cNvSpPr>
            <a:spLocks noGrp="1" noChangeArrowheads="1"/>
          </p:cNvSpPr>
          <p:nvPr>
            <p:ph idx="1"/>
          </p:nvPr>
        </p:nvSpPr>
        <p:spPr/>
        <p:txBody>
          <a:bodyPr>
            <a:normAutofit fontScale="85000" lnSpcReduction="20000"/>
          </a:bodyPr>
          <a:lstStyle/>
          <a:p>
            <a:r>
              <a:rPr lang="en-US" altLang="en-US"/>
              <a:t>Exploit a security vulnerability in an SQL application (e.g., web application)</a:t>
            </a:r>
          </a:p>
          <a:p>
            <a:pPr lvl="1"/>
            <a:r>
              <a:rPr lang="en-US" altLang="en-US"/>
              <a:t>A specific case of “incomplete mediation”</a:t>
            </a:r>
          </a:p>
          <a:p>
            <a:pPr lvl="1"/>
            <a:endParaRPr lang="en-US" altLang="en-US"/>
          </a:p>
          <a:p>
            <a:r>
              <a:rPr lang="en-US" altLang="en-US"/>
              <a:t>Targets User Input Handlers</a:t>
            </a:r>
          </a:p>
          <a:p>
            <a:pPr lvl="1"/>
            <a:r>
              <a:rPr lang="en-US" altLang="en-US"/>
              <a:t>Many web applications take user input from a form</a:t>
            </a:r>
          </a:p>
          <a:p>
            <a:pPr lvl="1"/>
            <a:r>
              <a:rPr lang="en-US" altLang="en-US"/>
              <a:t>Often this user input is used literally in the construction of a SQL query submitted to a database. </a:t>
            </a:r>
          </a:p>
          <a:p>
            <a:pPr lvl="2"/>
            <a:r>
              <a:rPr lang="en-US" altLang="en-US"/>
              <a:t>For example: • SELECT productdata FROM table WHERE productname = ‘user input product name’; </a:t>
            </a:r>
          </a:p>
          <a:p>
            <a:r>
              <a:rPr lang="en-US" altLang="en-US"/>
              <a:t>A SQL injection attack involves placing SQL statements in the user input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4284E598-86C6-49D5-B0BB-1DFEFAA5525C}"/>
              </a:ext>
            </a:extLst>
          </p:cNvPr>
          <p:cNvSpPr>
            <a:spLocks noGrp="1" noChangeArrowheads="1"/>
          </p:cNvSpPr>
          <p:nvPr>
            <p:ph type="title"/>
          </p:nvPr>
        </p:nvSpPr>
        <p:spPr/>
        <p:txBody>
          <a:bodyPr/>
          <a:lstStyle/>
          <a:p>
            <a:r>
              <a:rPr lang="en-US" altLang="en-US" dirty="0">
                <a:solidFill>
                  <a:srgbClr val="C00000"/>
                </a:solidFill>
              </a:rPr>
              <a:t>Web Application</a:t>
            </a:r>
          </a:p>
        </p:txBody>
      </p:sp>
      <p:sp>
        <p:nvSpPr>
          <p:cNvPr id="88067" name="Content Placeholder 2">
            <a:extLst>
              <a:ext uri="{FF2B5EF4-FFF2-40B4-BE49-F238E27FC236}">
                <a16:creationId xmlns:a16="http://schemas.microsoft.com/office/drawing/2014/main" id="{5E38C09A-5223-4BFC-8C2F-5C2D2C462665}"/>
              </a:ext>
            </a:extLst>
          </p:cNvPr>
          <p:cNvSpPr>
            <a:spLocks noGrp="1" noChangeArrowheads="1"/>
          </p:cNvSpPr>
          <p:nvPr>
            <p:ph idx="1"/>
          </p:nvPr>
        </p:nvSpPr>
        <p:spPr>
          <a:xfrm>
            <a:off x="457200" y="1600200"/>
            <a:ext cx="8229600" cy="673100"/>
          </a:xfrm>
        </p:spPr>
        <p:txBody>
          <a:bodyPr/>
          <a:lstStyle/>
          <a:p>
            <a:r>
              <a:rPr lang="en-US" altLang="en-US"/>
              <a:t>One of the most popular Internet applications</a:t>
            </a:r>
          </a:p>
        </p:txBody>
      </p:sp>
      <p:pic>
        <p:nvPicPr>
          <p:cNvPr id="88068" name="Picture 3">
            <a:extLst>
              <a:ext uri="{FF2B5EF4-FFF2-40B4-BE49-F238E27FC236}">
                <a16:creationId xmlns:a16="http://schemas.microsoft.com/office/drawing/2014/main" id="{5E3E7472-C6AE-42D0-963C-015480309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175" y="2438400"/>
            <a:ext cx="75057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E762A843-8746-420F-ACAA-5D5B702B8D41}"/>
              </a:ext>
            </a:extLst>
          </p:cNvPr>
          <p:cNvSpPr>
            <a:spLocks noGrp="1" noChangeArrowheads="1"/>
          </p:cNvSpPr>
          <p:nvPr>
            <p:ph type="title"/>
          </p:nvPr>
        </p:nvSpPr>
        <p:spPr/>
        <p:txBody>
          <a:bodyPr/>
          <a:lstStyle/>
          <a:p>
            <a:r>
              <a:rPr lang="en-US" altLang="en-US" dirty="0">
                <a:solidFill>
                  <a:srgbClr val="C00000"/>
                </a:solidFill>
              </a:rPr>
              <a:t>Under the Hood</a:t>
            </a:r>
          </a:p>
        </p:txBody>
      </p:sp>
      <p:pic>
        <p:nvPicPr>
          <p:cNvPr id="89091" name="Picture 3">
            <a:extLst>
              <a:ext uri="{FF2B5EF4-FFF2-40B4-BE49-F238E27FC236}">
                <a16:creationId xmlns:a16="http://schemas.microsoft.com/office/drawing/2014/main" id="{89D7943C-2702-49A8-BED2-B41258F9A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8075" y="1703388"/>
            <a:ext cx="43497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9092" name="Group 4">
            <a:extLst>
              <a:ext uri="{FF2B5EF4-FFF2-40B4-BE49-F238E27FC236}">
                <a16:creationId xmlns:a16="http://schemas.microsoft.com/office/drawing/2014/main" id="{1B9E8504-84D6-4E5B-92E4-0CA37A2601DC}"/>
              </a:ext>
            </a:extLst>
          </p:cNvPr>
          <p:cNvGrpSpPr>
            <a:grpSpLocks/>
          </p:cNvGrpSpPr>
          <p:nvPr/>
        </p:nvGrpSpPr>
        <p:grpSpPr bwMode="auto">
          <a:xfrm>
            <a:off x="1792288" y="4318000"/>
            <a:ext cx="6492875" cy="1333500"/>
            <a:chOff x="144" y="2496"/>
            <a:chExt cx="5520" cy="1249"/>
          </a:xfrm>
        </p:grpSpPr>
        <p:sp>
          <p:nvSpPr>
            <p:cNvPr id="89093" name="Text Box 4">
              <a:extLst>
                <a:ext uri="{FF2B5EF4-FFF2-40B4-BE49-F238E27FC236}">
                  <a16:creationId xmlns:a16="http://schemas.microsoft.com/office/drawing/2014/main" id="{76D97DAD-AAE1-462F-B02F-32E2FB1C0436}"/>
                </a:ext>
              </a:extLst>
            </p:cNvPr>
            <p:cNvSpPr txBox="1">
              <a:spLocks noChangeArrowheads="1"/>
            </p:cNvSpPr>
            <p:nvPr/>
          </p:nvSpPr>
          <p:spPr bwMode="auto">
            <a:xfrm>
              <a:off x="144" y="2969"/>
              <a:ext cx="80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5000"/>
                </a:lnSpc>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9pPr>
            </a:lstStyle>
            <a:p>
              <a:pPr>
                <a:lnSpc>
                  <a:spcPct val="104000"/>
                </a:lnSpc>
                <a:spcBef>
                  <a:spcPts val="1750"/>
                </a:spcBef>
                <a:buClr>
                  <a:srgbClr val="000000"/>
                </a:buClr>
                <a:buFont typeface="굴림" panose="020B0600000101010101" pitchFamily="34" charset="-127"/>
                <a:buNone/>
              </a:pPr>
              <a:r>
                <a:rPr lang="en-GB" altLang="en-US" sz="2800">
                  <a:solidFill>
                    <a:srgbClr val="000000"/>
                  </a:solidFill>
                  <a:latin typeface="Trebuchet MS" panose="020B0603020202020204" pitchFamily="34" charset="0"/>
                  <a:ea typeface="宋体" panose="02010600030101010101" pitchFamily="2" charset="-122"/>
                </a:rPr>
                <a:t>User</a:t>
              </a:r>
            </a:p>
          </p:txBody>
        </p:sp>
        <p:sp>
          <p:nvSpPr>
            <p:cNvPr id="89094" name="Line 5">
              <a:extLst>
                <a:ext uri="{FF2B5EF4-FFF2-40B4-BE49-F238E27FC236}">
                  <a16:creationId xmlns:a16="http://schemas.microsoft.com/office/drawing/2014/main" id="{21F89F2D-E87B-4FAA-B676-9BE4A6BEE981}"/>
                </a:ext>
              </a:extLst>
            </p:cNvPr>
            <p:cNvSpPr>
              <a:spLocks noChangeShapeType="1"/>
            </p:cNvSpPr>
            <p:nvPr/>
          </p:nvSpPr>
          <p:spPr bwMode="auto">
            <a:xfrm>
              <a:off x="987" y="3136"/>
              <a:ext cx="632" cy="1"/>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9095" name="Rectangle 7">
              <a:extLst>
                <a:ext uri="{FF2B5EF4-FFF2-40B4-BE49-F238E27FC236}">
                  <a16:creationId xmlns:a16="http://schemas.microsoft.com/office/drawing/2014/main" id="{3222EE6E-4510-4C91-B0D2-43683E56E621}"/>
                </a:ext>
              </a:extLst>
            </p:cNvPr>
            <p:cNvSpPr>
              <a:spLocks noChangeArrowheads="1"/>
            </p:cNvSpPr>
            <p:nvPr/>
          </p:nvSpPr>
          <p:spPr bwMode="auto">
            <a:xfrm>
              <a:off x="1745" y="2496"/>
              <a:ext cx="1559" cy="1215"/>
            </a:xfrm>
            <a:prstGeom prst="rect">
              <a:avLst/>
            </a:prstGeom>
            <a:solidFill>
              <a:srgbClr val="BBE0E3"/>
            </a:solidFill>
            <a:ln w="9360">
              <a:solidFill>
                <a:srgbClr val="000000"/>
              </a:solidFill>
              <a:miter lim="800000"/>
              <a:headEnd/>
              <a:tailEnd/>
            </a:ln>
          </p:spPr>
          <p:txBody>
            <a:bodyPr lIns="90000" tIns="46800" rIns="90000" bIns="46800" anchor="ctr"/>
            <a:lstStyle>
              <a:lvl1pPr>
                <a:lnSpc>
                  <a:spcPct val="95000"/>
                </a:lnSpc>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9pPr>
            </a:lstStyle>
            <a:p>
              <a:pPr algn="ctr">
                <a:lnSpc>
                  <a:spcPct val="104000"/>
                </a:lnSpc>
                <a:spcBef>
                  <a:spcPct val="0"/>
                </a:spcBef>
                <a:buClr>
                  <a:srgbClr val="000000"/>
                </a:buClr>
                <a:buFont typeface="굴림" panose="020B0600000101010101" pitchFamily="34" charset="-127"/>
                <a:buNone/>
              </a:pPr>
              <a:r>
                <a:rPr lang="en-GB" altLang="en-US" sz="2800">
                  <a:solidFill>
                    <a:srgbClr val="000000"/>
                  </a:solidFill>
                  <a:latin typeface="Trebuchet MS" panose="020B0603020202020204" pitchFamily="34" charset="0"/>
                </a:rPr>
                <a:t>Web Server</a:t>
              </a:r>
              <a:endParaRPr lang="en-GB" altLang="en-US" sz="2800" b="1">
                <a:solidFill>
                  <a:srgbClr val="000000"/>
                </a:solidFill>
                <a:latin typeface="Trebuchet MS" panose="020B0603020202020204" pitchFamily="34" charset="0"/>
              </a:endParaRPr>
            </a:p>
          </p:txBody>
        </p:sp>
        <p:sp>
          <p:nvSpPr>
            <p:cNvPr id="89096" name="Line 7">
              <a:extLst>
                <a:ext uri="{FF2B5EF4-FFF2-40B4-BE49-F238E27FC236}">
                  <a16:creationId xmlns:a16="http://schemas.microsoft.com/office/drawing/2014/main" id="{134C3307-3009-469C-8E47-1B714EA28FFF}"/>
                </a:ext>
              </a:extLst>
            </p:cNvPr>
            <p:cNvSpPr>
              <a:spLocks noChangeShapeType="1"/>
            </p:cNvSpPr>
            <p:nvPr/>
          </p:nvSpPr>
          <p:spPr bwMode="auto">
            <a:xfrm>
              <a:off x="3431" y="3137"/>
              <a:ext cx="590" cy="1"/>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9097" name="AutoShape 8">
              <a:extLst>
                <a:ext uri="{FF2B5EF4-FFF2-40B4-BE49-F238E27FC236}">
                  <a16:creationId xmlns:a16="http://schemas.microsoft.com/office/drawing/2014/main" id="{D13F6E50-2229-46A4-86D8-3B003691F64D}"/>
                </a:ext>
              </a:extLst>
            </p:cNvPr>
            <p:cNvSpPr>
              <a:spLocks noChangeArrowheads="1"/>
            </p:cNvSpPr>
            <p:nvPr/>
          </p:nvSpPr>
          <p:spPr bwMode="auto">
            <a:xfrm>
              <a:off x="4105" y="2530"/>
              <a:ext cx="1559" cy="1215"/>
            </a:xfrm>
            <a:prstGeom prst="can">
              <a:avLst>
                <a:gd name="adj" fmla="val 20713"/>
              </a:avLst>
            </a:prstGeom>
            <a:solidFill>
              <a:srgbClr val="BBE0E3"/>
            </a:solidFill>
            <a:ln w="9360">
              <a:solidFill>
                <a:srgbClr val="000000"/>
              </a:solidFill>
              <a:miter lim="800000"/>
              <a:headEnd/>
              <a:tailEnd/>
            </a:ln>
          </p:spPr>
          <p:txBody>
            <a:bodyPr lIns="90000" tIns="46800" rIns="90000" bIns="46800" anchor="ctr"/>
            <a:lstStyle>
              <a:lvl1pPr>
                <a:lnSpc>
                  <a:spcPct val="95000"/>
                </a:lnSpc>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Times New Roman" panose="02020603050405020304" pitchFamily="18" charset="0"/>
                </a:defRPr>
              </a:lvl9pPr>
            </a:lstStyle>
            <a:p>
              <a:pPr algn="ctr">
                <a:lnSpc>
                  <a:spcPct val="104000"/>
                </a:lnSpc>
                <a:spcBef>
                  <a:spcPct val="0"/>
                </a:spcBef>
                <a:buClr>
                  <a:srgbClr val="000000"/>
                </a:buClr>
                <a:buFont typeface="굴림" panose="020B0600000101010101" pitchFamily="34" charset="-127"/>
                <a:buNone/>
              </a:pPr>
              <a:r>
                <a:rPr lang="en-GB" altLang="en-US" sz="2800">
                  <a:solidFill>
                    <a:srgbClr val="000000"/>
                  </a:solidFill>
                  <a:latin typeface="Trebuchet MS" panose="020B0603020202020204" pitchFamily="34" charset="0"/>
                </a:rPr>
                <a:t>Database</a:t>
              </a: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80305437-DC93-4293-987E-7445FFDC8657}"/>
              </a:ext>
            </a:extLst>
          </p:cNvPr>
          <p:cNvSpPr>
            <a:spLocks noGrp="1" noChangeArrowheads="1"/>
          </p:cNvSpPr>
          <p:nvPr>
            <p:ph type="title"/>
          </p:nvPr>
        </p:nvSpPr>
        <p:spPr/>
        <p:txBody>
          <a:bodyPr/>
          <a:lstStyle/>
          <a:p>
            <a:r>
              <a:rPr lang="en-US" altLang="en-US" dirty="0">
                <a:solidFill>
                  <a:srgbClr val="C00000"/>
                </a:solidFill>
              </a:rPr>
              <a:t>SQL Injection</a:t>
            </a:r>
          </a:p>
        </p:txBody>
      </p:sp>
      <p:sp>
        <p:nvSpPr>
          <p:cNvPr id="4" name="Rectangle 3">
            <a:extLst>
              <a:ext uri="{FF2B5EF4-FFF2-40B4-BE49-F238E27FC236}">
                <a16:creationId xmlns:a16="http://schemas.microsoft.com/office/drawing/2014/main" id="{F45A8808-3E77-419A-BFA0-440960B3B46B}"/>
              </a:ext>
            </a:extLst>
          </p:cNvPr>
          <p:cNvSpPr>
            <a:spLocks noChangeArrowheads="1"/>
          </p:cNvSpPr>
          <p:nvPr/>
        </p:nvSpPr>
        <p:spPr bwMode="auto">
          <a:xfrm>
            <a:off x="3111500" y="2463800"/>
            <a:ext cx="1274763"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b="1"/>
              <a:t>Web</a:t>
            </a:r>
          </a:p>
          <a:p>
            <a:pPr algn="ctr">
              <a:defRPr/>
            </a:pPr>
            <a:r>
              <a:rPr lang="en-US" b="1"/>
              <a:t>Server</a:t>
            </a:r>
          </a:p>
        </p:txBody>
      </p:sp>
      <p:sp>
        <p:nvSpPr>
          <p:cNvPr id="5" name="Rectangle 4">
            <a:extLst>
              <a:ext uri="{FF2B5EF4-FFF2-40B4-BE49-F238E27FC236}">
                <a16:creationId xmlns:a16="http://schemas.microsoft.com/office/drawing/2014/main" id="{0A37795C-6116-49A7-8749-5E825316EDF7}"/>
              </a:ext>
            </a:extLst>
          </p:cNvPr>
          <p:cNvSpPr>
            <a:spLocks noChangeArrowheads="1"/>
          </p:cNvSpPr>
          <p:nvPr/>
        </p:nvSpPr>
        <p:spPr bwMode="auto">
          <a:xfrm>
            <a:off x="457200" y="2463800"/>
            <a:ext cx="1395413"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b="1"/>
              <a:t>Web</a:t>
            </a:r>
          </a:p>
          <a:p>
            <a:pPr algn="ctr">
              <a:defRPr/>
            </a:pPr>
            <a:r>
              <a:rPr lang="en-US" b="1"/>
              <a:t>Browser</a:t>
            </a:r>
            <a:br>
              <a:rPr lang="en-US" b="1"/>
            </a:br>
            <a:r>
              <a:rPr lang="en-US" b="1"/>
              <a:t>(Client)</a:t>
            </a:r>
          </a:p>
        </p:txBody>
      </p:sp>
      <p:sp>
        <p:nvSpPr>
          <p:cNvPr id="6" name="Rectangle 5">
            <a:extLst>
              <a:ext uri="{FF2B5EF4-FFF2-40B4-BE49-F238E27FC236}">
                <a16:creationId xmlns:a16="http://schemas.microsoft.com/office/drawing/2014/main" id="{B1A79CCA-7D15-4F9B-9704-FB8ED8E843AF}"/>
              </a:ext>
            </a:extLst>
          </p:cNvPr>
          <p:cNvSpPr>
            <a:spLocks noChangeArrowheads="1"/>
          </p:cNvSpPr>
          <p:nvPr/>
        </p:nvSpPr>
        <p:spPr bwMode="auto">
          <a:xfrm>
            <a:off x="7412038" y="2463800"/>
            <a:ext cx="1274762"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200" b="1"/>
              <a:t>DB</a:t>
            </a:r>
          </a:p>
        </p:txBody>
      </p:sp>
      <p:sp>
        <p:nvSpPr>
          <p:cNvPr id="7" name="Line 6">
            <a:extLst>
              <a:ext uri="{FF2B5EF4-FFF2-40B4-BE49-F238E27FC236}">
                <a16:creationId xmlns:a16="http://schemas.microsoft.com/office/drawing/2014/main" id="{50C8ED83-B333-49D2-A6A3-EFF2216074F7}"/>
              </a:ext>
            </a:extLst>
          </p:cNvPr>
          <p:cNvSpPr>
            <a:spLocks noChangeShapeType="1"/>
          </p:cNvSpPr>
          <p:nvPr/>
        </p:nvSpPr>
        <p:spPr bwMode="auto">
          <a:xfrm>
            <a:off x="1833563" y="3643313"/>
            <a:ext cx="1298575"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anchor="ctr"/>
          <a:lstStyle/>
          <a:p>
            <a:pPr>
              <a:defRPr/>
            </a:pPr>
            <a:endParaRPr lang="en-US"/>
          </a:p>
        </p:txBody>
      </p:sp>
      <p:sp>
        <p:nvSpPr>
          <p:cNvPr id="8" name="Line 7">
            <a:extLst>
              <a:ext uri="{FF2B5EF4-FFF2-40B4-BE49-F238E27FC236}">
                <a16:creationId xmlns:a16="http://schemas.microsoft.com/office/drawing/2014/main" id="{231B937D-7A7F-494C-B87E-E5728024F760}"/>
              </a:ext>
            </a:extLst>
          </p:cNvPr>
          <p:cNvSpPr>
            <a:spLocks noChangeShapeType="1"/>
          </p:cNvSpPr>
          <p:nvPr/>
        </p:nvSpPr>
        <p:spPr bwMode="auto">
          <a:xfrm flipH="1">
            <a:off x="1866900" y="4652963"/>
            <a:ext cx="1181100"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anchor="ctr"/>
          <a:lstStyle/>
          <a:p>
            <a:pPr>
              <a:defRPr/>
            </a:pPr>
            <a:endParaRPr lang="en-US"/>
          </a:p>
        </p:txBody>
      </p:sp>
      <p:sp>
        <p:nvSpPr>
          <p:cNvPr id="90120" name="Text Box 8">
            <a:extLst>
              <a:ext uri="{FF2B5EF4-FFF2-40B4-BE49-F238E27FC236}">
                <a16:creationId xmlns:a16="http://schemas.microsoft.com/office/drawing/2014/main" id="{772AA0C3-BF08-41D0-81EF-109D34C732E5}"/>
              </a:ext>
            </a:extLst>
          </p:cNvPr>
          <p:cNvSpPr txBox="1">
            <a:spLocks noChangeArrowheads="1"/>
          </p:cNvSpPr>
          <p:nvPr/>
        </p:nvSpPr>
        <p:spPr bwMode="auto">
          <a:xfrm>
            <a:off x="1812925" y="2438400"/>
            <a:ext cx="134143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0"/>
              </a:spcBef>
            </a:pPr>
            <a:r>
              <a:rPr lang="en-US" altLang="en-US" sz="1800" b="1"/>
              <a:t>Enter</a:t>
            </a:r>
          </a:p>
          <a:p>
            <a:pPr algn="ctr">
              <a:lnSpc>
                <a:spcPct val="100000"/>
              </a:lnSpc>
              <a:spcBef>
                <a:spcPct val="0"/>
              </a:spcBef>
            </a:pPr>
            <a:r>
              <a:rPr lang="en-US" altLang="en-US" sz="1800" b="1"/>
              <a:t>Username</a:t>
            </a:r>
          </a:p>
          <a:p>
            <a:pPr algn="ctr">
              <a:lnSpc>
                <a:spcPct val="100000"/>
              </a:lnSpc>
              <a:spcBef>
                <a:spcPct val="0"/>
              </a:spcBef>
            </a:pPr>
            <a:r>
              <a:rPr lang="en-US" altLang="en-US" sz="1800" b="1"/>
              <a:t>&amp;</a:t>
            </a:r>
          </a:p>
          <a:p>
            <a:pPr algn="ctr">
              <a:lnSpc>
                <a:spcPct val="100000"/>
              </a:lnSpc>
              <a:spcBef>
                <a:spcPct val="0"/>
              </a:spcBef>
            </a:pPr>
            <a:r>
              <a:rPr lang="en-US" altLang="en-US" sz="1800" b="1"/>
              <a:t>Password</a:t>
            </a:r>
          </a:p>
        </p:txBody>
      </p:sp>
      <p:sp>
        <p:nvSpPr>
          <p:cNvPr id="90121" name="Rectangle 9">
            <a:extLst>
              <a:ext uri="{FF2B5EF4-FFF2-40B4-BE49-F238E27FC236}">
                <a16:creationId xmlns:a16="http://schemas.microsoft.com/office/drawing/2014/main" id="{B7009401-C19E-45AA-BB2A-F715F3FC7256}"/>
              </a:ext>
            </a:extLst>
          </p:cNvPr>
          <p:cNvSpPr>
            <a:spLocks noChangeArrowheads="1"/>
          </p:cNvSpPr>
          <p:nvPr/>
        </p:nvSpPr>
        <p:spPr bwMode="auto">
          <a:xfrm>
            <a:off x="4386263" y="2532063"/>
            <a:ext cx="3025775"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ts val="2800"/>
              </a:lnSpc>
              <a:spcBef>
                <a:spcPct val="0"/>
              </a:spcBef>
            </a:pPr>
            <a:r>
              <a:rPr lang="en-US" altLang="en-US" b="1"/>
              <a:t>SELECT * </a:t>
            </a:r>
          </a:p>
          <a:p>
            <a:pPr algn="ctr">
              <a:lnSpc>
                <a:spcPts val="2800"/>
              </a:lnSpc>
              <a:spcBef>
                <a:spcPct val="0"/>
              </a:spcBef>
            </a:pPr>
            <a:r>
              <a:rPr lang="en-US" altLang="en-US" b="1"/>
              <a:t>FROM Users</a:t>
            </a:r>
          </a:p>
          <a:p>
            <a:pPr algn="ctr">
              <a:lnSpc>
                <a:spcPts val="2800"/>
              </a:lnSpc>
              <a:spcBef>
                <a:spcPct val="0"/>
              </a:spcBef>
            </a:pPr>
            <a:r>
              <a:rPr lang="en-US" altLang="en-US" b="1"/>
              <a:t>WHERE user=</a:t>
            </a:r>
            <a:r>
              <a:rPr lang="en-US" altLang="en-US" b="1">
                <a:solidFill>
                  <a:srgbClr val="0070C0"/>
                </a:solidFill>
              </a:rPr>
              <a:t>'me</a:t>
            </a:r>
            <a:r>
              <a:rPr lang="en-US" altLang="en-US" b="1"/>
              <a:t>'</a:t>
            </a:r>
            <a:br>
              <a:rPr lang="en-US" altLang="en-US" b="1"/>
            </a:br>
            <a:r>
              <a:rPr lang="en-US" altLang="en-US" b="1"/>
              <a:t>AND pwd=</a:t>
            </a:r>
            <a:r>
              <a:rPr lang="en-US" altLang="en-US" b="1">
                <a:solidFill>
                  <a:srgbClr val="0070C0"/>
                </a:solidFill>
              </a:rPr>
              <a:t>'1234</a:t>
            </a:r>
            <a:r>
              <a:rPr lang="en-US" altLang="en-US" b="1"/>
              <a:t>'</a:t>
            </a:r>
          </a:p>
        </p:txBody>
      </p:sp>
      <p:cxnSp>
        <p:nvCxnSpPr>
          <p:cNvPr id="11" name="Straight Arrow Connector 10">
            <a:extLst>
              <a:ext uri="{FF2B5EF4-FFF2-40B4-BE49-F238E27FC236}">
                <a16:creationId xmlns:a16="http://schemas.microsoft.com/office/drawing/2014/main" id="{284351AF-6F6B-4CF7-903B-E93A106DB83F}"/>
              </a:ext>
            </a:extLst>
          </p:cNvPr>
          <p:cNvCxnSpPr/>
          <p:nvPr/>
        </p:nvCxnSpPr>
        <p:spPr bwMode="auto">
          <a:xfrm>
            <a:off x="4386263" y="4076700"/>
            <a:ext cx="3025775" cy="1588"/>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76D2B6C3-74ED-4627-BDDE-79976BECCB51}"/>
              </a:ext>
            </a:extLst>
          </p:cNvPr>
          <p:cNvCxnSpPr/>
          <p:nvPr/>
        </p:nvCxnSpPr>
        <p:spPr bwMode="auto">
          <a:xfrm rot="10800000">
            <a:off x="4386263" y="4435475"/>
            <a:ext cx="3059112" cy="1588"/>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C08EAC2D-91D7-4D0E-80D4-64B8FE675F11}"/>
              </a:ext>
            </a:extLst>
          </p:cNvPr>
          <p:cNvSpPr>
            <a:spLocks noGrp="1" noChangeArrowheads="1"/>
          </p:cNvSpPr>
          <p:nvPr>
            <p:ph type="title"/>
          </p:nvPr>
        </p:nvSpPr>
        <p:spPr/>
        <p:txBody>
          <a:bodyPr/>
          <a:lstStyle/>
          <a:p>
            <a:r>
              <a:rPr lang="en-US" altLang="en-US" dirty="0">
                <a:solidFill>
                  <a:srgbClr val="C00000"/>
                </a:solidFill>
              </a:rPr>
              <a:t>SQL Injection</a:t>
            </a:r>
          </a:p>
        </p:txBody>
      </p:sp>
      <p:sp>
        <p:nvSpPr>
          <p:cNvPr id="4" name="Rectangle 3">
            <a:extLst>
              <a:ext uri="{FF2B5EF4-FFF2-40B4-BE49-F238E27FC236}">
                <a16:creationId xmlns:a16="http://schemas.microsoft.com/office/drawing/2014/main" id="{A8EA58C6-EFD9-4A5E-94F7-F31FBA7DDC7C}"/>
              </a:ext>
            </a:extLst>
          </p:cNvPr>
          <p:cNvSpPr>
            <a:spLocks noChangeArrowheads="1"/>
          </p:cNvSpPr>
          <p:nvPr/>
        </p:nvSpPr>
        <p:spPr bwMode="auto">
          <a:xfrm>
            <a:off x="3111500" y="2463800"/>
            <a:ext cx="1274763"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b="1"/>
              <a:t>Web</a:t>
            </a:r>
          </a:p>
          <a:p>
            <a:pPr algn="ctr">
              <a:defRPr/>
            </a:pPr>
            <a:r>
              <a:rPr lang="en-US" b="1"/>
              <a:t>Server</a:t>
            </a:r>
          </a:p>
        </p:txBody>
      </p:sp>
      <p:sp>
        <p:nvSpPr>
          <p:cNvPr id="5" name="Rectangle 4">
            <a:extLst>
              <a:ext uri="{FF2B5EF4-FFF2-40B4-BE49-F238E27FC236}">
                <a16:creationId xmlns:a16="http://schemas.microsoft.com/office/drawing/2014/main" id="{9315C0C5-52A0-4FFB-A3B2-8F27A497EC32}"/>
              </a:ext>
            </a:extLst>
          </p:cNvPr>
          <p:cNvSpPr>
            <a:spLocks noChangeArrowheads="1"/>
          </p:cNvSpPr>
          <p:nvPr/>
        </p:nvSpPr>
        <p:spPr bwMode="auto">
          <a:xfrm>
            <a:off x="457200" y="2463800"/>
            <a:ext cx="1395413"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b="1"/>
              <a:t>Web</a:t>
            </a:r>
          </a:p>
          <a:p>
            <a:pPr algn="ctr">
              <a:defRPr/>
            </a:pPr>
            <a:r>
              <a:rPr lang="en-US" b="1"/>
              <a:t>Browser</a:t>
            </a:r>
            <a:br>
              <a:rPr lang="en-US" b="1"/>
            </a:br>
            <a:r>
              <a:rPr lang="en-US" b="1"/>
              <a:t>(Client)</a:t>
            </a:r>
          </a:p>
        </p:txBody>
      </p:sp>
      <p:sp>
        <p:nvSpPr>
          <p:cNvPr id="6" name="Rectangle 5">
            <a:extLst>
              <a:ext uri="{FF2B5EF4-FFF2-40B4-BE49-F238E27FC236}">
                <a16:creationId xmlns:a16="http://schemas.microsoft.com/office/drawing/2014/main" id="{0790C000-050A-401A-957A-18E667CE9057}"/>
              </a:ext>
            </a:extLst>
          </p:cNvPr>
          <p:cNvSpPr>
            <a:spLocks noChangeArrowheads="1"/>
          </p:cNvSpPr>
          <p:nvPr/>
        </p:nvSpPr>
        <p:spPr bwMode="auto">
          <a:xfrm>
            <a:off x="7412038" y="2463800"/>
            <a:ext cx="1274762" cy="24066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200" b="1"/>
              <a:t>DB</a:t>
            </a:r>
          </a:p>
        </p:txBody>
      </p:sp>
      <p:sp>
        <p:nvSpPr>
          <p:cNvPr id="7" name="Line 6">
            <a:extLst>
              <a:ext uri="{FF2B5EF4-FFF2-40B4-BE49-F238E27FC236}">
                <a16:creationId xmlns:a16="http://schemas.microsoft.com/office/drawing/2014/main" id="{B032E332-9C53-4744-9F75-9D61EB80DF49}"/>
              </a:ext>
            </a:extLst>
          </p:cNvPr>
          <p:cNvSpPr>
            <a:spLocks noChangeShapeType="1"/>
          </p:cNvSpPr>
          <p:nvPr/>
        </p:nvSpPr>
        <p:spPr bwMode="auto">
          <a:xfrm>
            <a:off x="1833563" y="3643313"/>
            <a:ext cx="1298575"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anchor="ctr"/>
          <a:lstStyle/>
          <a:p>
            <a:pPr>
              <a:defRPr/>
            </a:pPr>
            <a:endParaRPr lang="en-US"/>
          </a:p>
        </p:txBody>
      </p:sp>
      <p:sp>
        <p:nvSpPr>
          <p:cNvPr id="8" name="Line 7">
            <a:extLst>
              <a:ext uri="{FF2B5EF4-FFF2-40B4-BE49-F238E27FC236}">
                <a16:creationId xmlns:a16="http://schemas.microsoft.com/office/drawing/2014/main" id="{9C2767DC-F3E2-4128-A49D-D753117A2CD9}"/>
              </a:ext>
            </a:extLst>
          </p:cNvPr>
          <p:cNvSpPr>
            <a:spLocks noChangeShapeType="1"/>
          </p:cNvSpPr>
          <p:nvPr/>
        </p:nvSpPr>
        <p:spPr bwMode="auto">
          <a:xfrm flipH="1">
            <a:off x="1866900" y="4652963"/>
            <a:ext cx="1181100" cy="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anchor="ctr"/>
          <a:lstStyle/>
          <a:p>
            <a:pPr>
              <a:defRPr/>
            </a:pPr>
            <a:endParaRPr lang="en-US"/>
          </a:p>
        </p:txBody>
      </p:sp>
      <p:sp>
        <p:nvSpPr>
          <p:cNvPr id="95240" name="Text Box 8">
            <a:extLst>
              <a:ext uri="{FF2B5EF4-FFF2-40B4-BE49-F238E27FC236}">
                <a16:creationId xmlns:a16="http://schemas.microsoft.com/office/drawing/2014/main" id="{C2BD13AE-2F21-40B2-B3B3-687857202FF3}"/>
              </a:ext>
            </a:extLst>
          </p:cNvPr>
          <p:cNvSpPr txBox="1">
            <a:spLocks noChangeArrowheads="1"/>
          </p:cNvSpPr>
          <p:nvPr/>
        </p:nvSpPr>
        <p:spPr bwMode="auto">
          <a:xfrm>
            <a:off x="1812925" y="2438400"/>
            <a:ext cx="134143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ct val="100000"/>
              </a:lnSpc>
              <a:spcBef>
                <a:spcPct val="0"/>
              </a:spcBef>
            </a:pPr>
            <a:r>
              <a:rPr lang="en-US" altLang="en-US" sz="1800" b="1"/>
              <a:t>Enter</a:t>
            </a:r>
          </a:p>
          <a:p>
            <a:pPr algn="ctr">
              <a:lnSpc>
                <a:spcPct val="100000"/>
              </a:lnSpc>
              <a:spcBef>
                <a:spcPct val="0"/>
              </a:spcBef>
            </a:pPr>
            <a:r>
              <a:rPr lang="en-US" altLang="en-US" sz="1800" b="1"/>
              <a:t>Username</a:t>
            </a:r>
          </a:p>
          <a:p>
            <a:pPr algn="ctr">
              <a:lnSpc>
                <a:spcPct val="100000"/>
              </a:lnSpc>
              <a:spcBef>
                <a:spcPct val="0"/>
              </a:spcBef>
            </a:pPr>
            <a:r>
              <a:rPr lang="en-US" altLang="en-US" sz="1800" b="1"/>
              <a:t>&amp;</a:t>
            </a:r>
          </a:p>
          <a:p>
            <a:pPr algn="ctr">
              <a:lnSpc>
                <a:spcPct val="100000"/>
              </a:lnSpc>
              <a:spcBef>
                <a:spcPct val="0"/>
              </a:spcBef>
            </a:pPr>
            <a:r>
              <a:rPr lang="en-US" altLang="en-US" sz="1800" b="1"/>
              <a:t>Password</a:t>
            </a:r>
          </a:p>
        </p:txBody>
      </p:sp>
      <p:sp>
        <p:nvSpPr>
          <p:cNvPr id="95241" name="Rectangle 9">
            <a:extLst>
              <a:ext uri="{FF2B5EF4-FFF2-40B4-BE49-F238E27FC236}">
                <a16:creationId xmlns:a16="http://schemas.microsoft.com/office/drawing/2014/main" id="{9ED1AAEC-00F8-4E0C-99FE-B1F4A2B96CF5}"/>
              </a:ext>
            </a:extLst>
          </p:cNvPr>
          <p:cNvSpPr>
            <a:spLocks noChangeArrowheads="1"/>
          </p:cNvSpPr>
          <p:nvPr/>
        </p:nvSpPr>
        <p:spPr bwMode="auto">
          <a:xfrm>
            <a:off x="4386263" y="2532063"/>
            <a:ext cx="3025775"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a:lnSpc>
                <a:spcPts val="2800"/>
              </a:lnSpc>
              <a:spcBef>
                <a:spcPct val="0"/>
              </a:spcBef>
            </a:pPr>
            <a:r>
              <a:rPr lang="en-US" altLang="en-US" b="1"/>
              <a:t>SELECT * </a:t>
            </a:r>
          </a:p>
          <a:p>
            <a:pPr algn="ctr">
              <a:lnSpc>
                <a:spcPts val="2800"/>
              </a:lnSpc>
              <a:spcBef>
                <a:spcPct val="0"/>
              </a:spcBef>
            </a:pPr>
            <a:r>
              <a:rPr lang="en-US" altLang="en-US" b="1"/>
              <a:t>FROM Users</a:t>
            </a:r>
          </a:p>
          <a:p>
            <a:pPr algn="ctr">
              <a:lnSpc>
                <a:spcPts val="2800"/>
              </a:lnSpc>
              <a:spcBef>
                <a:spcPct val="0"/>
              </a:spcBef>
            </a:pPr>
            <a:r>
              <a:rPr lang="en-US" altLang="en-US" b="1"/>
              <a:t>WHERE user='</a:t>
            </a:r>
            <a:r>
              <a:rPr lang="en-US" altLang="en-US" b="1">
                <a:solidFill>
                  <a:srgbClr val="0070C0"/>
                </a:solidFill>
              </a:rPr>
              <a:t>me</a:t>
            </a:r>
            <a:r>
              <a:rPr lang="en-US" altLang="en-US" b="1"/>
              <a:t>'</a:t>
            </a:r>
            <a:br>
              <a:rPr lang="en-US" altLang="en-US" b="1"/>
            </a:br>
            <a:r>
              <a:rPr lang="en-US" altLang="en-US" b="1"/>
              <a:t>AND pwd='</a:t>
            </a:r>
            <a:r>
              <a:rPr lang="en-US" altLang="en-US" b="1">
                <a:solidFill>
                  <a:srgbClr val="0070C0"/>
                </a:solidFill>
              </a:rPr>
              <a:t>1234</a:t>
            </a:r>
            <a:r>
              <a:rPr lang="en-US" altLang="en-US" b="1"/>
              <a:t>'</a:t>
            </a:r>
          </a:p>
        </p:txBody>
      </p:sp>
      <p:cxnSp>
        <p:nvCxnSpPr>
          <p:cNvPr id="11" name="Straight Arrow Connector 10">
            <a:extLst>
              <a:ext uri="{FF2B5EF4-FFF2-40B4-BE49-F238E27FC236}">
                <a16:creationId xmlns:a16="http://schemas.microsoft.com/office/drawing/2014/main" id="{C93024BC-966F-4238-8FCB-4F949A1EF454}"/>
              </a:ext>
            </a:extLst>
          </p:cNvPr>
          <p:cNvCxnSpPr/>
          <p:nvPr/>
        </p:nvCxnSpPr>
        <p:spPr bwMode="auto">
          <a:xfrm>
            <a:off x="4386263" y="4076700"/>
            <a:ext cx="3025775" cy="1588"/>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EC16F208-7614-4C36-B97D-55B4A65CFC88}"/>
              </a:ext>
            </a:extLst>
          </p:cNvPr>
          <p:cNvCxnSpPr/>
          <p:nvPr/>
        </p:nvCxnSpPr>
        <p:spPr bwMode="auto">
          <a:xfrm rot="10800000">
            <a:off x="4386263" y="4435475"/>
            <a:ext cx="3059112" cy="1588"/>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sp>
        <p:nvSpPr>
          <p:cNvPr id="3" name="TextBox 2">
            <a:extLst>
              <a:ext uri="{FF2B5EF4-FFF2-40B4-BE49-F238E27FC236}">
                <a16:creationId xmlns:a16="http://schemas.microsoft.com/office/drawing/2014/main" id="{2757B91E-28FF-4C3B-97C4-AE1693EA9861}"/>
              </a:ext>
            </a:extLst>
          </p:cNvPr>
          <p:cNvSpPr txBox="1">
            <a:spLocks noChangeArrowheads="1"/>
          </p:cNvSpPr>
          <p:nvPr/>
        </p:nvSpPr>
        <p:spPr bwMode="auto">
          <a:xfrm>
            <a:off x="1938338" y="5562600"/>
            <a:ext cx="5267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en-US" sz="2800"/>
              <a:t>What if user = “</a:t>
            </a:r>
            <a:r>
              <a:rPr lang="en-US" altLang="en-US" sz="2800">
                <a:solidFill>
                  <a:srgbClr val="0070C0"/>
                </a:solidFill>
              </a:rPr>
              <a:t>  </a:t>
            </a:r>
            <a:r>
              <a:rPr lang="en-US" altLang="en-US" sz="2800" b="1">
                <a:solidFill>
                  <a:srgbClr val="0070C0"/>
                </a:solidFill>
                <a:latin typeface="Arial" panose="020B0604020202020204" pitchFamily="34" charset="0"/>
                <a:cs typeface="Arial" panose="020B0604020202020204" pitchFamily="34" charset="0"/>
              </a:rPr>
              <a:t>'</a:t>
            </a:r>
            <a:r>
              <a:rPr lang="en-US" altLang="en-US" sz="2800" b="1">
                <a:solidFill>
                  <a:srgbClr val="0070C0"/>
                </a:solidFill>
              </a:rPr>
              <a:t> </a:t>
            </a:r>
            <a:r>
              <a:rPr lang="en-US" altLang="en-US" sz="2800" b="1">
                <a:solidFill>
                  <a:srgbClr val="0070C0"/>
                </a:solidFill>
                <a:latin typeface="Courier New" panose="02070309020205020404" pitchFamily="49" charset="0"/>
              </a:rPr>
              <a:t>or 1=1 --</a:t>
            </a:r>
            <a:r>
              <a:rPr lang="en-US" altLang="en-US" sz="2800">
                <a:solidFill>
                  <a:srgbClr val="0070C0"/>
                </a:solidFill>
              </a:rPr>
              <a:t> </a:t>
            </a:r>
            <a:r>
              <a:rPr lang="en-US" altLang="en-US" sz="2800"/>
              <a:t> </a:t>
            </a:r>
            <a:r>
              <a:rPr lang="en-US" altLang="en-US" sz="2800">
                <a:cs typeface="Tahoma" panose="020B0604030504040204" pitchFamily="34" charset="0"/>
              </a:rPr>
              <a:t>”</a:t>
            </a: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191D6D48-777A-4B4E-BA37-2AB696052A0A}"/>
              </a:ext>
            </a:extLst>
          </p:cNvPr>
          <p:cNvSpPr>
            <a:spLocks noGrp="1" noChangeArrowheads="1"/>
          </p:cNvSpPr>
          <p:nvPr>
            <p:ph type="title"/>
          </p:nvPr>
        </p:nvSpPr>
        <p:spPr/>
        <p:txBody>
          <a:bodyPr/>
          <a:lstStyle/>
          <a:p>
            <a:r>
              <a:rPr lang="en-US" altLang="en-US" dirty="0">
                <a:solidFill>
                  <a:srgbClr val="C00000"/>
                </a:solidFill>
              </a:rPr>
              <a:t>Defenses</a:t>
            </a:r>
          </a:p>
        </p:txBody>
      </p:sp>
      <p:sp>
        <p:nvSpPr>
          <p:cNvPr id="108547" name="Content Placeholder 2">
            <a:extLst>
              <a:ext uri="{FF2B5EF4-FFF2-40B4-BE49-F238E27FC236}">
                <a16:creationId xmlns:a16="http://schemas.microsoft.com/office/drawing/2014/main" id="{4F7DB3CC-1C5B-4A2E-B4A1-D862F9521965}"/>
              </a:ext>
            </a:extLst>
          </p:cNvPr>
          <p:cNvSpPr>
            <a:spLocks noGrp="1" noChangeArrowheads="1"/>
          </p:cNvSpPr>
          <p:nvPr>
            <p:ph idx="1"/>
          </p:nvPr>
        </p:nvSpPr>
        <p:spPr/>
        <p:txBody>
          <a:bodyPr>
            <a:normAutofit fontScale="92500" lnSpcReduction="20000"/>
          </a:bodyPr>
          <a:lstStyle/>
          <a:p>
            <a:pPr eaLnBrk="1" hangingPunct="1"/>
            <a:r>
              <a:rPr lang="en-US" altLang="en-US" dirty="0"/>
              <a:t>URL based injection: </a:t>
            </a:r>
          </a:p>
          <a:p>
            <a:pPr lvl="1" eaLnBrk="1" hangingPunct="1"/>
            <a:r>
              <a:rPr lang="en-US" altLang="en-US" dirty="0"/>
              <a:t>Avoid using clear text when coding in SQL. </a:t>
            </a:r>
          </a:p>
          <a:p>
            <a:pPr lvl="2" eaLnBrk="1" hangingPunct="1"/>
            <a:r>
              <a:rPr lang="en-US" altLang="en-US" dirty="0"/>
              <a:t>If your database and webpage are constructed in a way where you can view the data, it’s open to injection. http://mysite.com/listauthordetails.aspx?SSN=172-32-9999 </a:t>
            </a:r>
          </a:p>
          <a:p>
            <a:pPr eaLnBrk="1" hangingPunct="1"/>
            <a:r>
              <a:rPr lang="en-US" altLang="en-US" dirty="0"/>
              <a:t> Passwords, and other sensitive information need to be encrypted or hashed </a:t>
            </a:r>
          </a:p>
          <a:p>
            <a:pPr eaLnBrk="1" hangingPunct="1"/>
            <a:r>
              <a:rPr lang="en-US" altLang="en-US" dirty="0"/>
              <a:t>There is no full proof way to defend from injection, but by limiting sensitive information, you can ensure that your information is at least somewhat protected.</a:t>
            </a:r>
            <a:endParaRPr lang="en-US" altLang="zh-CN" dirty="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B00F8C5D-78E8-4F56-9975-2416DA078B20}"/>
              </a:ext>
            </a:extLst>
          </p:cNvPr>
          <p:cNvSpPr>
            <a:spLocks noGrp="1" noChangeArrowheads="1"/>
          </p:cNvSpPr>
          <p:nvPr>
            <p:ph type="title"/>
          </p:nvPr>
        </p:nvSpPr>
        <p:spPr/>
        <p:txBody>
          <a:bodyPr/>
          <a:lstStyle/>
          <a:p>
            <a:r>
              <a:rPr lang="en-US" altLang="en-US" dirty="0">
                <a:solidFill>
                  <a:srgbClr val="C00000"/>
                </a:solidFill>
              </a:rPr>
              <a:t>Defenses</a:t>
            </a:r>
          </a:p>
        </p:txBody>
      </p:sp>
      <p:sp>
        <p:nvSpPr>
          <p:cNvPr id="110595" name="Content Placeholder 2">
            <a:extLst>
              <a:ext uri="{FF2B5EF4-FFF2-40B4-BE49-F238E27FC236}">
                <a16:creationId xmlns:a16="http://schemas.microsoft.com/office/drawing/2014/main" id="{62F88F5A-E29C-4162-A879-032E8AE4E578}"/>
              </a:ext>
            </a:extLst>
          </p:cNvPr>
          <p:cNvSpPr>
            <a:spLocks noGrp="1" noChangeArrowheads="1"/>
          </p:cNvSpPr>
          <p:nvPr>
            <p:ph idx="1"/>
          </p:nvPr>
        </p:nvSpPr>
        <p:spPr/>
        <p:txBody>
          <a:bodyPr>
            <a:normAutofit fontScale="77500" lnSpcReduction="20000"/>
          </a:bodyPr>
          <a:lstStyle/>
          <a:p>
            <a:pPr eaLnBrk="1" hangingPunct="1"/>
            <a:r>
              <a:rPr lang="en-US" altLang="en-US" dirty="0"/>
              <a:t>Using prepared statements - separate the data from the query </a:t>
            </a:r>
          </a:p>
          <a:p>
            <a:pPr lvl="1" eaLnBrk="1" hangingPunct="1"/>
            <a:r>
              <a:rPr lang="en-US" altLang="en-US" dirty="0"/>
              <a:t>sending program to the server first </a:t>
            </a:r>
          </a:p>
          <a:p>
            <a:pPr lvl="2" eaLnBrk="1" hangingPunct="1"/>
            <a:r>
              <a:rPr lang="en-US" altLang="en-US" dirty="0"/>
              <a:t>$</a:t>
            </a:r>
            <a:r>
              <a:rPr lang="en-US" altLang="en-US" dirty="0" err="1"/>
              <a:t>db</a:t>
            </a:r>
            <a:r>
              <a:rPr lang="en-US" altLang="en-US" dirty="0"/>
              <a:t>-&gt;prepare("SELECT * FROM users where id=?"); </a:t>
            </a:r>
          </a:p>
          <a:p>
            <a:pPr lvl="1" eaLnBrk="1" hangingPunct="1"/>
            <a:r>
              <a:rPr lang="en-US" altLang="en-US" dirty="0"/>
              <a:t> where the data is substituted by some variable called "placeholder“</a:t>
            </a:r>
          </a:p>
          <a:p>
            <a:pPr lvl="1" eaLnBrk="1" hangingPunct="1"/>
            <a:endParaRPr lang="en-US" altLang="en-US" dirty="0"/>
          </a:p>
          <a:p>
            <a:pPr eaLnBrk="1" hangingPunct="1"/>
            <a:r>
              <a:rPr lang="en-US" altLang="en-US" dirty="0"/>
              <a:t>Note that the very same query being sent to the server, without any data in it</a:t>
            </a:r>
          </a:p>
          <a:p>
            <a:pPr eaLnBrk="1" hangingPunct="1"/>
            <a:r>
              <a:rPr lang="en-US" altLang="en-US" dirty="0"/>
              <a:t>Then sending the data with the second request, totally separated from the query itself: </a:t>
            </a:r>
          </a:p>
          <a:p>
            <a:pPr lvl="1" eaLnBrk="1" hangingPunct="1"/>
            <a:r>
              <a:rPr lang="en-US" altLang="en-US" dirty="0"/>
              <a:t>$</a:t>
            </a:r>
            <a:r>
              <a:rPr lang="en-US" altLang="en-US" dirty="0" err="1"/>
              <a:t>db</a:t>
            </a:r>
            <a:r>
              <a:rPr lang="en-US" altLang="en-US" dirty="0"/>
              <a:t>-&gt;execute($data); </a:t>
            </a:r>
          </a:p>
          <a:p>
            <a:pPr eaLnBrk="1" hangingPunct="1"/>
            <a:r>
              <a:rPr lang="en-US" altLang="en-US" dirty="0"/>
              <a:t>It can't alter our program and do any harm</a:t>
            </a:r>
            <a:endParaRPr lang="en-US" altLang="zh-CN" dirty="0">
              <a:ea typeface="宋体" panose="02010600030101010101"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9728</Words>
  <Application>Microsoft Office PowerPoint</Application>
  <PresentationFormat>On-screen Show (4:3)</PresentationFormat>
  <Paragraphs>1539</Paragraphs>
  <Slides>92</Slides>
  <Notes>49</Notes>
  <HiddenSlides>0</HiddenSlides>
  <MMClips>0</MMClips>
  <ScaleCrop>false</ScaleCrop>
  <HeadingPairs>
    <vt:vector size="8" baseType="variant">
      <vt:variant>
        <vt:lpstr>Fonts Used</vt:lpstr>
      </vt:variant>
      <vt:variant>
        <vt:i4>24</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18" baseType="lpstr">
      <vt:lpstr>Bodoni</vt:lpstr>
      <vt:lpstr>Courier</vt:lpstr>
      <vt:lpstr>DengXian</vt:lpstr>
      <vt:lpstr>굴림</vt:lpstr>
      <vt:lpstr>MS PGothic</vt:lpstr>
      <vt:lpstr>新細明體</vt:lpstr>
      <vt:lpstr>宋体</vt:lpstr>
      <vt:lpstr>StarSymbol</vt:lpstr>
      <vt:lpstr>Yu Gothic</vt:lpstr>
      <vt:lpstr>Arial</vt:lpstr>
      <vt:lpstr>Calibri</vt:lpstr>
      <vt:lpstr>Comic Sans MS</vt:lpstr>
      <vt:lpstr>Courier New</vt:lpstr>
      <vt:lpstr>Lucida Sans Unicode</vt:lpstr>
      <vt:lpstr>Monotype Sorts</vt:lpstr>
      <vt:lpstr>roboto</vt:lpstr>
      <vt:lpstr>Segoe UI Semibold</vt:lpstr>
      <vt:lpstr>Symbol</vt:lpstr>
      <vt:lpstr>Tahoma</vt:lpstr>
      <vt:lpstr>Times</vt:lpstr>
      <vt:lpstr>Times New Roman</vt:lpstr>
      <vt:lpstr>Trebuchet MS</vt:lpstr>
      <vt:lpstr>Verdana</vt:lpstr>
      <vt:lpstr>Wingdings</vt:lpstr>
      <vt:lpstr>Office Theme</vt:lpstr>
      <vt:lpstr>Document</vt:lpstr>
      <vt:lpstr>CEG 4424/6424 Final Exam Review</vt:lpstr>
      <vt:lpstr>Final Exam Time and Location</vt:lpstr>
      <vt:lpstr>Policy</vt:lpstr>
      <vt:lpstr>Policy (Cont.)</vt:lpstr>
      <vt:lpstr>Questions</vt:lpstr>
      <vt:lpstr>Topics</vt:lpstr>
      <vt:lpstr>BOF - An Example</vt:lpstr>
      <vt:lpstr>BOF - An Example</vt:lpstr>
      <vt:lpstr>BOF - An Example</vt:lpstr>
      <vt:lpstr>A snapshot of the stack frame</vt:lpstr>
      <vt:lpstr>BOF - An Example</vt:lpstr>
      <vt:lpstr>BOF - An Example</vt:lpstr>
      <vt:lpstr>BOF - An Example</vt:lpstr>
      <vt:lpstr>BOF - An Example</vt:lpstr>
      <vt:lpstr>BOF - An Example</vt:lpstr>
      <vt:lpstr>Pad Shellcode with NOPs</vt:lpstr>
      <vt:lpstr>BOF - Defenses</vt:lpstr>
      <vt:lpstr>A snapshot of the stack frame</vt:lpstr>
      <vt:lpstr>A snapshot of the stack frame: An Example</vt:lpstr>
      <vt:lpstr>What Security Goals Does Operating System Provide? </vt:lpstr>
      <vt:lpstr>User-Land vs. Kernel-Land</vt:lpstr>
      <vt:lpstr>High-level View of Kernel Space vs. User Space</vt:lpstr>
      <vt:lpstr>Access control</vt:lpstr>
      <vt:lpstr>Access Control Matrix</vt:lpstr>
      <vt:lpstr>Access Control Lists (ACLs)</vt:lpstr>
      <vt:lpstr>Access Control Lists (ACLs)</vt:lpstr>
      <vt:lpstr>Capabilities (or C-Lists)</vt:lpstr>
      <vt:lpstr>Capabilities (or C-Lists)</vt:lpstr>
      <vt:lpstr>TCP/IP suite</vt:lpstr>
      <vt:lpstr>Packet Encapsulation </vt:lpstr>
      <vt:lpstr>The TCP 3-Way Handshake </vt:lpstr>
      <vt:lpstr>SYN Flood Attack</vt:lpstr>
      <vt:lpstr>Distributed SYN Flood Attack</vt:lpstr>
      <vt:lpstr>SYN Cookies</vt:lpstr>
      <vt:lpstr>SYN Cookies</vt:lpstr>
      <vt:lpstr>SYN Cookies</vt:lpstr>
      <vt:lpstr>Malicious Usage: RST Reset</vt:lpstr>
      <vt:lpstr>How DNS Works</vt:lpstr>
      <vt:lpstr>DNS Poisoning Attack</vt:lpstr>
      <vt:lpstr>General Objective of 0x20</vt:lpstr>
      <vt:lpstr>0x20 in a Nutshell</vt:lpstr>
      <vt:lpstr>Topics</vt:lpstr>
      <vt:lpstr>A High-Level Overview of IDS</vt:lpstr>
      <vt:lpstr>Topics</vt:lpstr>
      <vt:lpstr>Misuse V.S. Anomaly</vt:lpstr>
      <vt:lpstr>Misuse V.S. Anomaly</vt:lpstr>
      <vt:lpstr>Topics</vt:lpstr>
      <vt:lpstr>Invariant Bytes in the Signature</vt:lpstr>
      <vt:lpstr>NSF’s definition of Cyber-Physical Systems</vt:lpstr>
      <vt:lpstr>NSF’s definition of Cyber-Physical Systems</vt:lpstr>
      <vt:lpstr>CPS Framework</vt:lpstr>
      <vt:lpstr>CPS Framework</vt:lpstr>
      <vt:lpstr>Methodology initially developed at AFAR</vt:lpstr>
      <vt:lpstr>The Solutions</vt:lpstr>
      <vt:lpstr>The Solutions</vt:lpstr>
      <vt:lpstr>The Solutions</vt:lpstr>
      <vt:lpstr>Risk Management</vt:lpstr>
      <vt:lpstr>Security Risk Assessment</vt:lpstr>
      <vt:lpstr>Figure 14.3 Risk Assessment Process</vt:lpstr>
      <vt:lpstr>Terminology</vt:lpstr>
      <vt:lpstr>Asset Identification</vt:lpstr>
      <vt:lpstr>Analyze Risks</vt:lpstr>
      <vt:lpstr>Determine Likelihood</vt:lpstr>
      <vt:lpstr>Determine Consequence</vt:lpstr>
      <vt:lpstr>Determine Resultant Risk</vt:lpstr>
      <vt:lpstr>Risk Treatment</vt:lpstr>
      <vt:lpstr>Risk Treatment Alternatives</vt:lpstr>
      <vt:lpstr>Risk Management – Iterative Process</vt:lpstr>
      <vt:lpstr>Figure 15.1 I T Security Management Controls and Implementation</vt:lpstr>
      <vt:lpstr>Control Classifications</vt:lpstr>
      <vt:lpstr>Security Controls</vt:lpstr>
      <vt:lpstr>Incident Management – ISO 27002</vt:lpstr>
      <vt:lpstr>Web Security</vt:lpstr>
      <vt:lpstr>Web Security Issues</vt:lpstr>
      <vt:lpstr>Use Cookies to Store State Info</vt:lpstr>
      <vt:lpstr>Same Origin Policy (SOP)</vt:lpstr>
      <vt:lpstr>OWASP Top 10 Web Application Security Risks </vt:lpstr>
      <vt:lpstr>Three Top Web Site Vulnerabilities</vt:lpstr>
      <vt:lpstr>Types of XSS</vt:lpstr>
      <vt:lpstr>Defenses of XSS - Input Data Validation &amp; Filtering</vt:lpstr>
      <vt:lpstr>Cross-Site Request Forgery (CSRF)</vt:lpstr>
      <vt:lpstr>Cross-Site Requests and Its Problems</vt:lpstr>
      <vt:lpstr>Defenses - Check CSRF Token</vt:lpstr>
      <vt:lpstr>Defenses: Referer Header</vt:lpstr>
      <vt:lpstr>Defenses: Same-Site Cookies</vt:lpstr>
      <vt:lpstr>SQL Injection Attack</vt:lpstr>
      <vt:lpstr>Web Application</vt:lpstr>
      <vt:lpstr>Under the Hood</vt:lpstr>
      <vt:lpstr>SQL Injection</vt:lpstr>
      <vt:lpstr>SQL Injection</vt:lpstr>
      <vt:lpstr>Defenses</vt:lpstr>
      <vt:lpstr>Defenses</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Junjie Zhang</dc:creator>
  <cp:lastModifiedBy>Meilin</cp:lastModifiedBy>
  <cp:revision>220</cp:revision>
  <dcterms:created xsi:type="dcterms:W3CDTF">2015-10-14T13:10:36Z</dcterms:created>
  <dcterms:modified xsi:type="dcterms:W3CDTF">2025-12-04T21:24:46Z</dcterms:modified>
</cp:coreProperties>
</file>