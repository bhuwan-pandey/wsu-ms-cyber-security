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av" ContentType="audio/x-wav"/>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0"/>
  </p:notesMasterIdLst>
  <p:sldIdLst>
    <p:sldId id="256" r:id="rId2"/>
    <p:sldId id="328" r:id="rId3"/>
    <p:sldId id="257" r:id="rId4"/>
    <p:sldId id="258" r:id="rId5"/>
    <p:sldId id="259" r:id="rId6"/>
    <p:sldId id="260" r:id="rId7"/>
    <p:sldId id="329" r:id="rId8"/>
    <p:sldId id="261" r:id="rId9"/>
    <p:sldId id="262" r:id="rId10"/>
    <p:sldId id="268" r:id="rId11"/>
    <p:sldId id="337" r:id="rId12"/>
    <p:sldId id="263" r:id="rId13"/>
    <p:sldId id="330" r:id="rId14"/>
    <p:sldId id="331" r:id="rId15"/>
    <p:sldId id="332" r:id="rId16"/>
    <p:sldId id="333" r:id="rId17"/>
    <p:sldId id="345" r:id="rId18"/>
    <p:sldId id="369" r:id="rId19"/>
    <p:sldId id="370" r:id="rId20"/>
    <p:sldId id="371" r:id="rId21"/>
    <p:sldId id="270" r:id="rId22"/>
    <p:sldId id="271" r:id="rId23"/>
    <p:sldId id="346" r:id="rId24"/>
    <p:sldId id="347" r:id="rId25"/>
    <p:sldId id="348" r:id="rId26"/>
    <p:sldId id="264" r:id="rId27"/>
    <p:sldId id="265" r:id="rId28"/>
    <p:sldId id="266" r:id="rId29"/>
    <p:sldId id="334" r:id="rId30"/>
    <p:sldId id="267" r:id="rId31"/>
    <p:sldId id="335" r:id="rId32"/>
    <p:sldId id="269" r:id="rId33"/>
    <p:sldId id="272" r:id="rId34"/>
    <p:sldId id="273" r:id="rId35"/>
    <p:sldId id="274" r:id="rId36"/>
    <p:sldId id="275" r:id="rId37"/>
    <p:sldId id="276" r:id="rId38"/>
    <p:sldId id="277" r:id="rId39"/>
    <p:sldId id="278" r:id="rId40"/>
    <p:sldId id="372" r:id="rId41"/>
    <p:sldId id="339" r:id="rId42"/>
    <p:sldId id="338" r:id="rId43"/>
    <p:sldId id="340" r:id="rId44"/>
    <p:sldId id="341" r:id="rId45"/>
    <p:sldId id="342" r:id="rId46"/>
    <p:sldId id="343" r:id="rId47"/>
    <p:sldId id="344" r:id="rId48"/>
    <p:sldId id="298" r:id="rId49"/>
    <p:sldId id="368" r:id="rId50"/>
    <p:sldId id="351" r:id="rId51"/>
    <p:sldId id="279" r:id="rId52"/>
    <p:sldId id="297" r:id="rId53"/>
    <p:sldId id="299" r:id="rId54"/>
    <p:sldId id="300" r:id="rId55"/>
    <p:sldId id="301" r:id="rId56"/>
    <p:sldId id="302" r:id="rId57"/>
    <p:sldId id="303" r:id="rId58"/>
    <p:sldId id="304" r:id="rId59"/>
    <p:sldId id="305" r:id="rId60"/>
    <p:sldId id="306" r:id="rId61"/>
    <p:sldId id="307" r:id="rId62"/>
    <p:sldId id="308" r:id="rId63"/>
    <p:sldId id="336" r:id="rId64"/>
    <p:sldId id="309" r:id="rId65"/>
    <p:sldId id="310" r:id="rId66"/>
    <p:sldId id="311" r:id="rId67"/>
    <p:sldId id="375" r:id="rId68"/>
    <p:sldId id="374" r:id="rId6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395"/>
    <p:restoredTop sz="83510" autoAdjust="0"/>
  </p:normalViewPr>
  <p:slideViewPr>
    <p:cSldViewPr snapToGrid="0" snapToObjects="1">
      <p:cViewPr varScale="1">
        <p:scale>
          <a:sx n="81" d="100"/>
          <a:sy n="81" d="100"/>
        </p:scale>
        <p:origin x="1925" y="67"/>
      </p:cViewPr>
      <p:guideLst>
        <p:guide orient="horz" pos="2160"/>
        <p:guide pos="2880"/>
      </p:guideLst>
    </p:cSldViewPr>
  </p:slideViewPr>
  <p:notesTextViewPr>
    <p:cViewPr>
      <p:scale>
        <a:sx n="100" d="100"/>
        <a:sy n="100" d="100"/>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 Type="http://schemas.openxmlformats.org/officeDocument/2006/relationships/slide" Target="slides/slide6.xml"/><Relationship Id="rId71"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96B3843-6ACA-7B40-89CA-D68065E5D983}" type="datetimeFigureOut">
              <a:rPr lang="en-US" smtClean="0"/>
              <a:t>10/22/2025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89CF254-E47E-2C44-98AF-85D52326CB77}" type="slidenum">
              <a:rPr lang="en-US" smtClean="0"/>
              <a:t>‹#›</a:t>
            </a:fld>
            <a:endParaRPr lang="en-US"/>
          </a:p>
        </p:txBody>
      </p:sp>
    </p:spTree>
    <p:extLst>
      <p:ext uri="{BB962C8B-B14F-4D97-AF65-F5344CB8AC3E}">
        <p14:creationId xmlns:p14="http://schemas.microsoft.com/office/powerpoint/2010/main" val="3870438756"/>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OS: Controls and coordinates the use of the hardware among the various application programs.</a:t>
            </a:r>
          </a:p>
          <a:p>
            <a:endParaRPr lang="en-US" dirty="0"/>
          </a:p>
        </p:txBody>
      </p:sp>
      <p:sp>
        <p:nvSpPr>
          <p:cNvPr id="4" name="Slide Number Placeholder 3"/>
          <p:cNvSpPr>
            <a:spLocks noGrp="1"/>
          </p:cNvSpPr>
          <p:nvPr>
            <p:ph type="sldNum" sz="quarter" idx="5"/>
          </p:nvPr>
        </p:nvSpPr>
        <p:spPr/>
        <p:txBody>
          <a:bodyPr/>
          <a:lstStyle/>
          <a:p>
            <a:fld id="{A89CF254-E47E-2C44-98AF-85D52326CB77}" type="slidenum">
              <a:rPr lang="en-US" smtClean="0"/>
              <a:t>1</a:t>
            </a:fld>
            <a:endParaRPr lang="en-US"/>
          </a:p>
        </p:txBody>
      </p:sp>
    </p:spTree>
    <p:extLst>
      <p:ext uri="{BB962C8B-B14F-4D97-AF65-F5344CB8AC3E}">
        <p14:creationId xmlns:p14="http://schemas.microsoft.com/office/powerpoint/2010/main" val="41321621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OS: Controls and coordinates the use of the hardware among the various application programs.</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alt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Operating system manages system</a:t>
            </a:r>
            <a:r>
              <a:rPr lang="en-US" altLang="en-US" baseline="0" dirty="0"/>
              <a:t> resources, creating an environment that can be shared by multiple processes, and abstract away the low-level hardware details </a:t>
            </a:r>
          </a:p>
          <a:p>
            <a:endParaRPr lang="en-US" altLang="en-US" baseline="0" dirty="0"/>
          </a:p>
          <a:p>
            <a:r>
              <a:rPr lang="en-US" altLang="en-US" dirty="0"/>
              <a:t>(1) Operating system is a piece</a:t>
            </a:r>
            <a:r>
              <a:rPr lang="en-US" altLang="en-US" baseline="0" dirty="0"/>
              <a:t> of software</a:t>
            </a:r>
            <a:endParaRPr lang="en-US" altLang="en-US" dirty="0"/>
          </a:p>
          <a:p>
            <a:r>
              <a:rPr lang="en-US" altLang="en-US" dirty="0"/>
              <a:t>(2) Operating system integrates</a:t>
            </a:r>
            <a:r>
              <a:rPr lang="en-US" altLang="en-US" baseline="0" dirty="0"/>
              <a:t> security mechanisms to enforce security policies</a:t>
            </a:r>
          </a:p>
          <a:p>
            <a:endParaRPr lang="en-US" altLang="en-US" baseline="0" dirty="0"/>
          </a:p>
          <a:p>
            <a:r>
              <a:rPr lang="en-US" altLang="en-US" baseline="0" dirty="0"/>
              <a:t>(3) Operating system is very complicated</a:t>
            </a:r>
          </a:p>
          <a:p>
            <a:r>
              <a:rPr lang="en-US" altLang="en-US" baseline="0" dirty="0"/>
              <a:t>(4) OS protects the security of hardware and software</a:t>
            </a:r>
          </a:p>
          <a:p>
            <a:endParaRPr lang="en-US" altLang="en-US" baseline="0" dirty="0"/>
          </a:p>
          <a:p>
            <a:r>
              <a:rPr lang="en-US" altLang="en-US" baseline="0" dirty="0"/>
              <a:t>OS: (1) separation of User space and OS Kernel space</a:t>
            </a:r>
          </a:p>
          <a:p>
            <a:r>
              <a:rPr lang="en-US" altLang="en-US" baseline="0" dirty="0"/>
              <a:t>(2) Separation of processes</a:t>
            </a:r>
          </a:p>
          <a:p>
            <a:endParaRPr lang="en-US" altLang="en-US" baseline="0" dirty="0"/>
          </a:p>
          <a:p>
            <a:r>
              <a:rPr lang="en-US" altLang="en-US" baseline="0" dirty="0"/>
              <a:t>OS: Sharing resources: Share library functions, share physical memory, share caches</a:t>
            </a:r>
            <a:endParaRPr lang="en-US" altLang="en-US" dirty="0"/>
          </a:p>
          <a:p>
            <a:endParaRPr lang="en-US" dirty="0"/>
          </a:p>
        </p:txBody>
      </p:sp>
      <p:sp>
        <p:nvSpPr>
          <p:cNvPr id="4" name="Slide Number Placeholder 3"/>
          <p:cNvSpPr>
            <a:spLocks noGrp="1"/>
          </p:cNvSpPr>
          <p:nvPr>
            <p:ph type="sldNum" sz="quarter" idx="10"/>
          </p:nvPr>
        </p:nvSpPr>
        <p:spPr/>
        <p:txBody>
          <a:bodyPr/>
          <a:lstStyle/>
          <a:p>
            <a:fld id="{A89CF254-E47E-2C44-98AF-85D52326CB77}" type="slidenum">
              <a:rPr lang="en-US" smtClean="0"/>
              <a:t>2</a:t>
            </a:fld>
            <a:endParaRPr lang="en-US"/>
          </a:p>
        </p:txBody>
      </p:sp>
    </p:spTree>
    <p:extLst>
      <p:ext uri="{BB962C8B-B14F-4D97-AF65-F5344CB8AC3E}">
        <p14:creationId xmlns:p14="http://schemas.microsoft.com/office/powerpoint/2010/main" val="3023539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Image Placeholder 1"/>
          <p:cNvSpPr>
            <a:spLocks noGrp="1" noRot="1" noChangeAspect="1" noTextEdit="1"/>
          </p:cNvSpPr>
          <p:nvPr>
            <p:ph type="sldImg"/>
          </p:nvPr>
        </p:nvSpPr>
        <p:spPr>
          <a:ln/>
        </p:spPr>
      </p:sp>
      <p:sp>
        <p:nvSpPr>
          <p:cNvPr id="7270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Operating system manages system</a:t>
            </a:r>
            <a:r>
              <a:rPr lang="en-US" altLang="en-US" baseline="0" dirty="0"/>
              <a:t> </a:t>
            </a:r>
            <a:r>
              <a:rPr lang="en-US" altLang="en-US" baseline="0" dirty="0" err="1"/>
              <a:t>resourses</a:t>
            </a:r>
            <a:r>
              <a:rPr lang="en-US" altLang="en-US" baseline="0" dirty="0"/>
              <a:t>, and abstract away the low-level hardware details </a:t>
            </a:r>
          </a:p>
          <a:p>
            <a:endParaRPr lang="en-US" altLang="en-US" baseline="0" dirty="0"/>
          </a:p>
          <a:p>
            <a:r>
              <a:rPr lang="en-US" altLang="en-US" dirty="0"/>
              <a:t>(1) Operating system is a piece</a:t>
            </a:r>
            <a:r>
              <a:rPr lang="en-US" altLang="en-US" baseline="0" dirty="0"/>
              <a:t> of software</a:t>
            </a:r>
          </a:p>
          <a:p>
            <a:endParaRPr lang="en-US" altLang="en-US" dirty="0"/>
          </a:p>
          <a:p>
            <a:r>
              <a:rPr lang="en-US" altLang="en-US" dirty="0"/>
              <a:t>(2) Operating system integrates</a:t>
            </a:r>
            <a:r>
              <a:rPr lang="en-US" altLang="en-US" baseline="0" dirty="0"/>
              <a:t> security </a:t>
            </a:r>
            <a:r>
              <a:rPr lang="en-US" altLang="en-US" baseline="0" dirty="0" err="1"/>
              <a:t>mechnisms</a:t>
            </a:r>
            <a:r>
              <a:rPr lang="en-US" altLang="en-US" baseline="0" dirty="0"/>
              <a:t> to enforce security policies</a:t>
            </a:r>
          </a:p>
          <a:p>
            <a:endParaRPr lang="en-US" altLang="en-US" baseline="0" dirty="0"/>
          </a:p>
          <a:p>
            <a:r>
              <a:rPr lang="en-US" altLang="en-US" baseline="0" dirty="0"/>
              <a:t>(3) Operating system is very complicated</a:t>
            </a:r>
          </a:p>
          <a:p>
            <a:r>
              <a:rPr lang="en-US" altLang="en-US" baseline="0" dirty="0"/>
              <a:t>(4) OS protects the security of hardware and software</a:t>
            </a:r>
          </a:p>
          <a:p>
            <a:endParaRPr lang="en-US" altLang="en-US" baseline="0" dirty="0"/>
          </a:p>
          <a:p>
            <a:r>
              <a:rPr lang="en-US" altLang="en-US" baseline="0" dirty="0"/>
              <a:t>OS: (1) separation of User space and OS Kernel space</a:t>
            </a:r>
          </a:p>
          <a:p>
            <a:r>
              <a:rPr lang="en-US" altLang="en-US" baseline="0" dirty="0"/>
              <a:t>(2) </a:t>
            </a:r>
            <a:r>
              <a:rPr lang="en-US" altLang="en-US" baseline="0" dirty="0" err="1"/>
              <a:t>Seperation</a:t>
            </a:r>
            <a:r>
              <a:rPr lang="en-US" altLang="en-US" baseline="0" dirty="0"/>
              <a:t> of processes</a:t>
            </a:r>
          </a:p>
          <a:p>
            <a:endParaRPr lang="en-US" altLang="en-US" baseline="0" dirty="0"/>
          </a:p>
          <a:p>
            <a:r>
              <a:rPr lang="en-US" altLang="en-US" baseline="0" dirty="0"/>
              <a:t>OS: Sharing resources: Share library functions, share physical memory, share caches</a:t>
            </a:r>
            <a:endParaRPr lang="en-US" altLang="en-US" dirty="0"/>
          </a:p>
          <a:p>
            <a:endParaRPr lang="en-US" altLang="en-US" dirty="0"/>
          </a:p>
          <a:p>
            <a:r>
              <a:rPr lang="en-US" altLang="en-US" dirty="0"/>
              <a:t>Threat model: users may be malicious, users have terminal access to computers, software may be malicious/buggy.</a:t>
            </a:r>
          </a:p>
          <a:p>
            <a:endParaRPr lang="en-US" altLang="en-US" dirty="0"/>
          </a:p>
        </p:txBody>
      </p:sp>
      <p:sp>
        <p:nvSpPr>
          <p:cNvPr id="7270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9013" eaLnBrk="0" hangingPunct="0">
              <a:spcBef>
                <a:spcPct val="30000"/>
              </a:spcBef>
              <a:defRPr kumimoji="1" sz="1200">
                <a:solidFill>
                  <a:schemeClr val="tx1"/>
                </a:solidFill>
                <a:latin typeface="Times New Roman" panose="02020603050405020304" pitchFamily="18" charset="0"/>
              </a:defRPr>
            </a:lvl1pPr>
            <a:lvl2pPr marL="742950" indent="-285750" defTabSz="989013" eaLnBrk="0" hangingPunct="0">
              <a:spcBef>
                <a:spcPct val="30000"/>
              </a:spcBef>
              <a:defRPr kumimoji="1" sz="1200">
                <a:solidFill>
                  <a:schemeClr val="tx1"/>
                </a:solidFill>
                <a:latin typeface="Times New Roman" panose="02020603050405020304" pitchFamily="18" charset="0"/>
              </a:defRPr>
            </a:lvl2pPr>
            <a:lvl3pPr marL="1143000" indent="-228600" defTabSz="989013" eaLnBrk="0" hangingPunct="0">
              <a:spcBef>
                <a:spcPct val="30000"/>
              </a:spcBef>
              <a:defRPr kumimoji="1" sz="1200">
                <a:solidFill>
                  <a:schemeClr val="tx1"/>
                </a:solidFill>
                <a:latin typeface="Times New Roman" panose="02020603050405020304" pitchFamily="18" charset="0"/>
              </a:defRPr>
            </a:lvl3pPr>
            <a:lvl4pPr marL="1600200" indent="-228600" defTabSz="989013" eaLnBrk="0" hangingPunct="0">
              <a:spcBef>
                <a:spcPct val="30000"/>
              </a:spcBef>
              <a:defRPr kumimoji="1" sz="1200">
                <a:solidFill>
                  <a:schemeClr val="tx1"/>
                </a:solidFill>
                <a:latin typeface="Times New Roman" panose="02020603050405020304" pitchFamily="18" charset="0"/>
              </a:defRPr>
            </a:lvl4pPr>
            <a:lvl5pPr marL="2057400" indent="-228600" defTabSz="989013" eaLnBrk="0" hangingPunct="0">
              <a:spcBef>
                <a:spcPct val="30000"/>
              </a:spcBef>
              <a:defRPr kumimoji="1" sz="1200">
                <a:solidFill>
                  <a:schemeClr val="tx1"/>
                </a:solidFill>
                <a:latin typeface="Times New Roman" panose="02020603050405020304" pitchFamily="18" charset="0"/>
              </a:defRPr>
            </a:lvl5pPr>
            <a:lvl6pPr marL="2514600" indent="-228600" defTabSz="989013"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89013"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89013"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89013"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eaLnBrk="1" hangingPunct="1">
              <a:spcBef>
                <a:spcPct val="0"/>
              </a:spcBef>
            </a:pPr>
            <a:fld id="{18954BE4-3C9B-4D25-96CA-F89A84A9E833}" type="slidenum">
              <a:rPr kumimoji="0" lang="en-US" altLang="en-US" sz="1300"/>
              <a:pPr eaLnBrk="1" hangingPunct="1">
                <a:spcBef>
                  <a:spcPct val="0"/>
                </a:spcBef>
              </a:pPr>
              <a:t>3</a:t>
            </a:fld>
            <a:endParaRPr kumimoji="0" lang="en-US" altLang="en-US" sz="1300"/>
          </a:p>
        </p:txBody>
      </p:sp>
    </p:spTree>
    <p:extLst>
      <p:ext uri="{BB962C8B-B14F-4D97-AF65-F5344CB8AC3E}">
        <p14:creationId xmlns:p14="http://schemas.microsoft.com/office/powerpoint/2010/main" val="7987126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p:cNvSpPr>
            <a:spLocks noGrp="1" noRot="1" noChangeAspect="1" noTextEdit="1"/>
          </p:cNvSpPr>
          <p:nvPr>
            <p:ph type="sldImg"/>
          </p:nvPr>
        </p:nvSpPr>
        <p:spPr>
          <a:ln/>
        </p:spPr>
      </p:sp>
      <p:sp>
        <p:nvSpPr>
          <p:cNvPr id="7373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Threat model: adversaries control the network; can communicate with computers; </a:t>
            </a:r>
          </a:p>
          <a:p>
            <a:endParaRPr lang="en-US" altLang="en-US" dirty="0"/>
          </a:p>
          <a:p>
            <a:r>
              <a:rPr lang="en-US" altLang="en-US" dirty="0"/>
              <a:t>Security Goal: Confidentiality, Integrity, Availability </a:t>
            </a:r>
          </a:p>
          <a:p>
            <a:endParaRPr lang="en-US" alt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dirty="0"/>
              <a:t>Principle of Complete Mediation: All accesses to objects be checked to ensure that they are allowed. </a:t>
            </a:r>
          </a:p>
          <a:p>
            <a:pPr marL="0" marR="0" indent="0" algn="l" defTabSz="457200" rtl="0" eaLnBrk="1" fontAlgn="auto" latinLnBrk="0" hangingPunct="1">
              <a:lnSpc>
                <a:spcPct val="100000"/>
              </a:lnSpc>
              <a:spcBef>
                <a:spcPts val="0"/>
              </a:spcBef>
              <a:spcAft>
                <a:spcPts val="0"/>
              </a:spcAft>
              <a:buClrTx/>
              <a:buSzTx/>
              <a:buFontTx/>
              <a:buNone/>
              <a:tabLst/>
              <a:defRPr/>
            </a:pP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dirty="0"/>
              <a:t>Principle of Separation of Privilege: A system should not grant permission based on a single condition.</a:t>
            </a:r>
          </a:p>
          <a:p>
            <a:pPr marL="0" marR="0" indent="0" algn="l" defTabSz="457200" rtl="0" eaLnBrk="1" fontAlgn="auto" latinLnBrk="0" hangingPunct="1">
              <a:lnSpc>
                <a:spcPct val="100000"/>
              </a:lnSpc>
              <a:spcBef>
                <a:spcPts val="0"/>
              </a:spcBef>
              <a:spcAft>
                <a:spcPts val="0"/>
              </a:spcAft>
              <a:buClrTx/>
              <a:buSzTx/>
              <a:buFontTx/>
              <a:buNone/>
              <a:tabLst/>
              <a:defRPr/>
            </a:pP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endParaRPr lang="en-US" dirty="0"/>
          </a:p>
          <a:p>
            <a:endParaRPr lang="en-US" altLang="en-US" dirty="0"/>
          </a:p>
        </p:txBody>
      </p:sp>
      <p:sp>
        <p:nvSpPr>
          <p:cNvPr id="7373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9013" eaLnBrk="0" hangingPunct="0">
              <a:spcBef>
                <a:spcPct val="30000"/>
              </a:spcBef>
              <a:defRPr kumimoji="1" sz="1200">
                <a:solidFill>
                  <a:schemeClr val="tx1"/>
                </a:solidFill>
                <a:latin typeface="Times New Roman" panose="02020603050405020304" pitchFamily="18" charset="0"/>
              </a:defRPr>
            </a:lvl1pPr>
            <a:lvl2pPr marL="742950" indent="-285750" defTabSz="989013" eaLnBrk="0" hangingPunct="0">
              <a:spcBef>
                <a:spcPct val="30000"/>
              </a:spcBef>
              <a:defRPr kumimoji="1" sz="1200">
                <a:solidFill>
                  <a:schemeClr val="tx1"/>
                </a:solidFill>
                <a:latin typeface="Times New Roman" panose="02020603050405020304" pitchFamily="18" charset="0"/>
              </a:defRPr>
            </a:lvl2pPr>
            <a:lvl3pPr marL="1143000" indent="-228600" defTabSz="989013" eaLnBrk="0" hangingPunct="0">
              <a:spcBef>
                <a:spcPct val="30000"/>
              </a:spcBef>
              <a:defRPr kumimoji="1" sz="1200">
                <a:solidFill>
                  <a:schemeClr val="tx1"/>
                </a:solidFill>
                <a:latin typeface="Times New Roman" panose="02020603050405020304" pitchFamily="18" charset="0"/>
              </a:defRPr>
            </a:lvl3pPr>
            <a:lvl4pPr marL="1600200" indent="-228600" defTabSz="989013" eaLnBrk="0" hangingPunct="0">
              <a:spcBef>
                <a:spcPct val="30000"/>
              </a:spcBef>
              <a:defRPr kumimoji="1" sz="1200">
                <a:solidFill>
                  <a:schemeClr val="tx1"/>
                </a:solidFill>
                <a:latin typeface="Times New Roman" panose="02020603050405020304" pitchFamily="18" charset="0"/>
              </a:defRPr>
            </a:lvl4pPr>
            <a:lvl5pPr marL="2057400" indent="-228600" defTabSz="989013" eaLnBrk="0" hangingPunct="0">
              <a:spcBef>
                <a:spcPct val="30000"/>
              </a:spcBef>
              <a:defRPr kumimoji="1" sz="1200">
                <a:solidFill>
                  <a:schemeClr val="tx1"/>
                </a:solidFill>
                <a:latin typeface="Times New Roman" panose="02020603050405020304" pitchFamily="18" charset="0"/>
              </a:defRPr>
            </a:lvl5pPr>
            <a:lvl6pPr marL="2514600" indent="-228600" defTabSz="989013"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89013"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89013"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89013"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eaLnBrk="1" hangingPunct="1">
              <a:spcBef>
                <a:spcPct val="0"/>
              </a:spcBef>
            </a:pPr>
            <a:fld id="{E613ACF5-D34E-460F-9771-445373769ECD}" type="slidenum">
              <a:rPr kumimoji="0" lang="en-US" altLang="en-US" sz="1300"/>
              <a:pPr eaLnBrk="1" hangingPunct="1">
                <a:spcBef>
                  <a:spcPct val="0"/>
                </a:spcBef>
              </a:pPr>
              <a:t>4</a:t>
            </a:fld>
            <a:endParaRPr kumimoji="0" lang="en-US" altLang="en-US" sz="1300"/>
          </a:p>
        </p:txBody>
      </p:sp>
    </p:spTree>
    <p:extLst>
      <p:ext uri="{BB962C8B-B14F-4D97-AF65-F5344CB8AC3E}">
        <p14:creationId xmlns:p14="http://schemas.microsoft.com/office/powerpoint/2010/main" val="11307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p:cNvSpPr>
            <a:spLocks noGrp="1" noRot="1" noChangeAspect="1" noTextEdit="1"/>
          </p:cNvSpPr>
          <p:nvPr>
            <p:ph type="sldImg"/>
          </p:nvPr>
        </p:nvSpPr>
        <p:spPr>
          <a:ln/>
        </p:spPr>
      </p:sp>
      <p:sp>
        <p:nvSpPr>
          <p:cNvPr id="747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OS,</a:t>
            </a:r>
            <a:r>
              <a:rPr lang="en-US" altLang="en-US" baseline="0" dirty="0"/>
              <a:t> security principles: Separation of Privilege, Complete Mediation</a:t>
            </a:r>
          </a:p>
          <a:p>
            <a:endParaRPr lang="en-US" altLang="en-US" baseline="0" dirty="0"/>
          </a:p>
          <a:p>
            <a:r>
              <a:rPr lang="en-US" altLang="en-US" baseline="0" dirty="0"/>
              <a:t>With more advanced hardware architectures: SGX instructions (Intel </a:t>
            </a:r>
            <a:r>
              <a:rPr lang="en-US" sz="1200" b="0" i="0" kern="1200" dirty="0">
                <a:solidFill>
                  <a:schemeClr val="tx1"/>
                </a:solidFill>
                <a:effectLst/>
                <a:latin typeface="+mn-lt"/>
                <a:ea typeface="+mn-ea"/>
                <a:cs typeface="+mn-cs"/>
              </a:rPr>
              <a:t>Software Guard Extensions (SGX) is a security technology built into Intel processors that helps protect data in use via unique application isolation technology. Selected code and data are protected from modification using hardened enclaves.</a:t>
            </a:r>
            <a:r>
              <a:rPr lang="en-US" altLang="en-US" baseline="0" dirty="0"/>
              <a:t>)</a:t>
            </a:r>
            <a:endParaRPr lang="en-US" altLang="en-US" dirty="0"/>
          </a:p>
        </p:txBody>
      </p:sp>
      <p:sp>
        <p:nvSpPr>
          <p:cNvPr id="7475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9013" eaLnBrk="0" hangingPunct="0">
              <a:spcBef>
                <a:spcPct val="30000"/>
              </a:spcBef>
              <a:defRPr kumimoji="1" sz="1200">
                <a:solidFill>
                  <a:schemeClr val="tx1"/>
                </a:solidFill>
                <a:latin typeface="Times New Roman" panose="02020603050405020304" pitchFamily="18" charset="0"/>
              </a:defRPr>
            </a:lvl1pPr>
            <a:lvl2pPr marL="742950" indent="-285750" defTabSz="989013" eaLnBrk="0" hangingPunct="0">
              <a:spcBef>
                <a:spcPct val="30000"/>
              </a:spcBef>
              <a:defRPr kumimoji="1" sz="1200">
                <a:solidFill>
                  <a:schemeClr val="tx1"/>
                </a:solidFill>
                <a:latin typeface="Times New Roman" panose="02020603050405020304" pitchFamily="18" charset="0"/>
              </a:defRPr>
            </a:lvl2pPr>
            <a:lvl3pPr marL="1143000" indent="-228600" defTabSz="989013" eaLnBrk="0" hangingPunct="0">
              <a:spcBef>
                <a:spcPct val="30000"/>
              </a:spcBef>
              <a:defRPr kumimoji="1" sz="1200">
                <a:solidFill>
                  <a:schemeClr val="tx1"/>
                </a:solidFill>
                <a:latin typeface="Times New Roman" panose="02020603050405020304" pitchFamily="18" charset="0"/>
              </a:defRPr>
            </a:lvl3pPr>
            <a:lvl4pPr marL="1600200" indent="-228600" defTabSz="989013" eaLnBrk="0" hangingPunct="0">
              <a:spcBef>
                <a:spcPct val="30000"/>
              </a:spcBef>
              <a:defRPr kumimoji="1" sz="1200">
                <a:solidFill>
                  <a:schemeClr val="tx1"/>
                </a:solidFill>
                <a:latin typeface="Times New Roman" panose="02020603050405020304" pitchFamily="18" charset="0"/>
              </a:defRPr>
            </a:lvl4pPr>
            <a:lvl5pPr marL="2057400" indent="-228600" defTabSz="989013" eaLnBrk="0" hangingPunct="0">
              <a:spcBef>
                <a:spcPct val="30000"/>
              </a:spcBef>
              <a:defRPr kumimoji="1" sz="1200">
                <a:solidFill>
                  <a:schemeClr val="tx1"/>
                </a:solidFill>
                <a:latin typeface="Times New Roman" panose="02020603050405020304" pitchFamily="18" charset="0"/>
              </a:defRPr>
            </a:lvl5pPr>
            <a:lvl6pPr marL="2514600" indent="-228600" defTabSz="989013"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89013"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89013"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89013"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eaLnBrk="1" hangingPunct="1">
              <a:spcBef>
                <a:spcPct val="0"/>
              </a:spcBef>
            </a:pPr>
            <a:fld id="{85D05E30-0C4C-4230-BCEE-EC5942782E87}" type="slidenum">
              <a:rPr kumimoji="0" lang="en-US" altLang="en-US" sz="1300"/>
              <a:pPr eaLnBrk="1" hangingPunct="1">
                <a:spcBef>
                  <a:spcPct val="0"/>
                </a:spcBef>
              </a:pPr>
              <a:t>6</a:t>
            </a:fld>
            <a:endParaRPr kumimoji="0" lang="en-US" altLang="en-US" sz="1300"/>
          </a:p>
        </p:txBody>
      </p:sp>
    </p:spTree>
    <p:extLst>
      <p:ext uri="{BB962C8B-B14F-4D97-AF65-F5344CB8AC3E}">
        <p14:creationId xmlns:p14="http://schemas.microsoft.com/office/powerpoint/2010/main" val="26636921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baseline="0" dirty="0"/>
              <a:t>With more advanced hardware architectures: SGX instructions (Intel </a:t>
            </a:r>
            <a:r>
              <a:rPr lang="en-US" sz="1200" b="0" i="0" kern="1200" dirty="0">
                <a:solidFill>
                  <a:schemeClr val="tx1"/>
                </a:solidFill>
                <a:effectLst/>
                <a:latin typeface="+mn-lt"/>
                <a:ea typeface="+mn-ea"/>
                <a:cs typeface="+mn-cs"/>
              </a:rPr>
              <a:t>Software Guard Extensions (SGX) is a security technology built into Intel processors that helps protect data in use via unique application isolation technology. Selected code and data are protected from modification using hardened enclaves.</a:t>
            </a:r>
            <a:r>
              <a:rPr lang="en-US" altLang="en-US" baseline="0" dirty="0"/>
              <a:t>)</a:t>
            </a:r>
            <a:endParaRPr lang="en-US" altLang="en-US" dirty="0"/>
          </a:p>
          <a:p>
            <a:endParaRPr lang="en-US" dirty="0"/>
          </a:p>
          <a:p>
            <a:r>
              <a:rPr lang="en-US" sz="1200" b="0" i="0" kern="1200" dirty="0">
                <a:solidFill>
                  <a:schemeClr val="tx1"/>
                </a:solidFill>
                <a:effectLst/>
                <a:latin typeface="+mn-lt"/>
                <a:ea typeface="+mn-ea"/>
                <a:cs typeface="+mn-cs"/>
              </a:rPr>
              <a:t>Intel Software Guard Extensions (SGX) is a set of instruction codes implementing trusted execution environment that are built into some Intel central processing units (CPUs). They allow user-level and operating system code to define protected private regions of memory, called enclaves.</a:t>
            </a:r>
            <a:endParaRPr lang="en-US" dirty="0"/>
          </a:p>
        </p:txBody>
      </p:sp>
      <p:sp>
        <p:nvSpPr>
          <p:cNvPr id="4" name="Slide Number Placeholder 3"/>
          <p:cNvSpPr>
            <a:spLocks noGrp="1"/>
          </p:cNvSpPr>
          <p:nvPr>
            <p:ph type="sldNum" sz="quarter" idx="5"/>
          </p:nvPr>
        </p:nvSpPr>
        <p:spPr/>
        <p:txBody>
          <a:bodyPr/>
          <a:lstStyle/>
          <a:p>
            <a:fld id="{A89CF254-E47E-2C44-98AF-85D52326CB77}" type="slidenum">
              <a:rPr lang="en-US" smtClean="0"/>
              <a:t>7</a:t>
            </a:fld>
            <a:endParaRPr lang="en-US"/>
          </a:p>
        </p:txBody>
      </p:sp>
    </p:spTree>
    <p:extLst>
      <p:ext uri="{BB962C8B-B14F-4D97-AF65-F5344CB8AC3E}">
        <p14:creationId xmlns:p14="http://schemas.microsoft.com/office/powerpoint/2010/main" val="20535430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9013" eaLnBrk="0" hangingPunct="0">
              <a:spcBef>
                <a:spcPct val="30000"/>
              </a:spcBef>
              <a:defRPr kumimoji="1" sz="1200">
                <a:solidFill>
                  <a:schemeClr val="tx1"/>
                </a:solidFill>
                <a:latin typeface="Times New Roman" panose="02020603050405020304" pitchFamily="18" charset="0"/>
              </a:defRPr>
            </a:lvl1pPr>
            <a:lvl2pPr marL="742950" indent="-285750" defTabSz="989013" eaLnBrk="0" hangingPunct="0">
              <a:spcBef>
                <a:spcPct val="30000"/>
              </a:spcBef>
              <a:defRPr kumimoji="1" sz="1200">
                <a:solidFill>
                  <a:schemeClr val="tx1"/>
                </a:solidFill>
                <a:latin typeface="Times New Roman" panose="02020603050405020304" pitchFamily="18" charset="0"/>
              </a:defRPr>
            </a:lvl2pPr>
            <a:lvl3pPr marL="1143000" indent="-228600" defTabSz="989013" eaLnBrk="0" hangingPunct="0">
              <a:spcBef>
                <a:spcPct val="30000"/>
              </a:spcBef>
              <a:defRPr kumimoji="1" sz="1200">
                <a:solidFill>
                  <a:schemeClr val="tx1"/>
                </a:solidFill>
                <a:latin typeface="Times New Roman" panose="02020603050405020304" pitchFamily="18" charset="0"/>
              </a:defRPr>
            </a:lvl3pPr>
            <a:lvl4pPr marL="1600200" indent="-228600" defTabSz="989013" eaLnBrk="0" hangingPunct="0">
              <a:spcBef>
                <a:spcPct val="30000"/>
              </a:spcBef>
              <a:defRPr kumimoji="1" sz="1200">
                <a:solidFill>
                  <a:schemeClr val="tx1"/>
                </a:solidFill>
                <a:latin typeface="Times New Roman" panose="02020603050405020304" pitchFamily="18" charset="0"/>
              </a:defRPr>
            </a:lvl4pPr>
            <a:lvl5pPr marL="2057400" indent="-228600" defTabSz="989013" eaLnBrk="0" hangingPunct="0">
              <a:spcBef>
                <a:spcPct val="30000"/>
              </a:spcBef>
              <a:defRPr kumimoji="1" sz="1200">
                <a:solidFill>
                  <a:schemeClr val="tx1"/>
                </a:solidFill>
                <a:latin typeface="Times New Roman" panose="02020603050405020304" pitchFamily="18" charset="0"/>
              </a:defRPr>
            </a:lvl5pPr>
            <a:lvl6pPr marL="2514600" indent="-228600" defTabSz="989013"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89013"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89013"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89013"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eaLnBrk="1" hangingPunct="1">
              <a:spcBef>
                <a:spcPct val="0"/>
              </a:spcBef>
            </a:pPr>
            <a:fld id="{666D66DB-E6E6-4E33-BEF1-C224C7415B9A}" type="slidenum">
              <a:rPr kumimoji="0" lang="en-US" altLang="en-US" sz="1300"/>
              <a:pPr eaLnBrk="1" hangingPunct="1">
                <a:spcBef>
                  <a:spcPct val="0"/>
                </a:spcBef>
              </a:pPr>
              <a:t>8</a:t>
            </a:fld>
            <a:endParaRPr kumimoji="0" lang="en-US" altLang="en-US" sz="1300"/>
          </a:p>
        </p:txBody>
      </p:sp>
      <p:sp>
        <p:nvSpPr>
          <p:cNvPr id="75779" name="Rectangle 2"/>
          <p:cNvSpPr>
            <a:spLocks noGrp="1" noRot="1" noChangeAspect="1" noChangeArrowheads="1" noTextEdit="1"/>
          </p:cNvSpPr>
          <p:nvPr>
            <p:ph type="sldImg"/>
          </p:nvPr>
        </p:nvSpPr>
        <p:spPr>
          <a:xfrm>
            <a:off x="1258888" y="719138"/>
            <a:ext cx="4802187" cy="3600450"/>
          </a:xfrm>
          <a:ln/>
        </p:spPr>
      </p:sp>
      <p:sp>
        <p:nvSpPr>
          <p:cNvPr id="75780" name="Rectangle 3"/>
          <p:cNvSpPr>
            <a:spLocks noGrp="1" noChangeArrowheads="1"/>
          </p:cNvSpPr>
          <p:nvPr>
            <p:ph type="body" idx="1"/>
          </p:nvPr>
        </p:nvSpPr>
        <p:spPr>
          <a:xfrm>
            <a:off x="974725" y="4559300"/>
            <a:ext cx="5365750" cy="43227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7475" tIns="48737" rIns="97475" bIns="48737"/>
          <a:lstStyle/>
          <a:p>
            <a:pPr eaLnBrk="1" hangingPunct="1"/>
            <a:endParaRPr lang="en-US" altLang="en-US"/>
          </a:p>
        </p:txBody>
      </p:sp>
    </p:spTree>
    <p:extLst>
      <p:ext uri="{BB962C8B-B14F-4D97-AF65-F5344CB8AC3E}">
        <p14:creationId xmlns:p14="http://schemas.microsoft.com/office/powerpoint/2010/main" val="656802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6"/>
          <p:cNvSpPr>
            <a:spLocks noGrp="1" noChangeArrowheads="1"/>
          </p:cNvSpPr>
          <p:nvPr>
            <p:ph type="ftr" sz="quarter" idx="4"/>
          </p:nvPr>
        </p:nvSpPr>
        <p:spPr>
          <a:noFill/>
        </p:spPr>
        <p:txBody>
          <a:bodyPr/>
          <a:lstStyle>
            <a:lvl1pPr defTabSz="947738">
              <a:spcBef>
                <a:spcPct val="30000"/>
              </a:spcBef>
              <a:defRPr sz="1200">
                <a:solidFill>
                  <a:schemeClr val="tx1"/>
                </a:solidFill>
                <a:latin typeface="Times New Roman" panose="02020603050405020304" pitchFamily="18" charset="0"/>
              </a:defRPr>
            </a:lvl1pPr>
            <a:lvl2pPr marL="742950" indent="-285750" defTabSz="947738">
              <a:spcBef>
                <a:spcPct val="30000"/>
              </a:spcBef>
              <a:defRPr sz="1200">
                <a:solidFill>
                  <a:schemeClr val="tx1"/>
                </a:solidFill>
                <a:latin typeface="Times New Roman" panose="02020603050405020304" pitchFamily="18" charset="0"/>
              </a:defRPr>
            </a:lvl2pPr>
            <a:lvl3pPr marL="1143000" indent="-228600" defTabSz="947738">
              <a:spcBef>
                <a:spcPct val="30000"/>
              </a:spcBef>
              <a:defRPr sz="1200">
                <a:solidFill>
                  <a:schemeClr val="tx1"/>
                </a:solidFill>
                <a:latin typeface="Times New Roman" panose="02020603050405020304" pitchFamily="18" charset="0"/>
              </a:defRPr>
            </a:lvl3pPr>
            <a:lvl4pPr marL="1600200" indent="-228600" defTabSz="947738">
              <a:spcBef>
                <a:spcPct val="30000"/>
              </a:spcBef>
              <a:defRPr sz="1200">
                <a:solidFill>
                  <a:schemeClr val="tx1"/>
                </a:solidFill>
                <a:latin typeface="Times New Roman" panose="02020603050405020304" pitchFamily="18" charset="0"/>
              </a:defRPr>
            </a:lvl4pPr>
            <a:lvl5pPr marL="2057400" indent="-228600" defTabSz="947738">
              <a:spcBef>
                <a:spcPct val="30000"/>
              </a:spcBef>
              <a:defRPr sz="1200">
                <a:solidFill>
                  <a:schemeClr val="tx1"/>
                </a:solidFill>
                <a:latin typeface="Times New Roman" panose="02020603050405020304" pitchFamily="18" charset="0"/>
              </a:defRPr>
            </a:lvl5pPr>
            <a:lvl6pPr marL="2514600" indent="-228600" defTabSz="9477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477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477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4773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r>
              <a:rPr lang="zh-CN" altLang="en-US"/>
              <a:t>Zili Shao</a:t>
            </a:r>
            <a:endParaRPr lang="en-US" altLang="zh-CN"/>
          </a:p>
        </p:txBody>
      </p:sp>
      <p:sp>
        <p:nvSpPr>
          <p:cNvPr id="25603" name="Rectangle 7"/>
          <p:cNvSpPr>
            <a:spLocks noGrp="1" noChangeArrowheads="1"/>
          </p:cNvSpPr>
          <p:nvPr>
            <p:ph type="sldNum" sz="quarter" idx="5"/>
          </p:nvPr>
        </p:nvSpPr>
        <p:spPr>
          <a:noFill/>
        </p:spPr>
        <p:txBody>
          <a:bodyPr/>
          <a:lstStyle>
            <a:lvl1pPr defTabSz="947738">
              <a:spcBef>
                <a:spcPct val="30000"/>
              </a:spcBef>
              <a:defRPr sz="1200">
                <a:solidFill>
                  <a:schemeClr val="tx1"/>
                </a:solidFill>
                <a:latin typeface="Times New Roman" panose="02020603050405020304" pitchFamily="18" charset="0"/>
              </a:defRPr>
            </a:lvl1pPr>
            <a:lvl2pPr marL="742950" indent="-285750" defTabSz="947738">
              <a:spcBef>
                <a:spcPct val="30000"/>
              </a:spcBef>
              <a:defRPr sz="1200">
                <a:solidFill>
                  <a:schemeClr val="tx1"/>
                </a:solidFill>
                <a:latin typeface="Times New Roman" panose="02020603050405020304" pitchFamily="18" charset="0"/>
              </a:defRPr>
            </a:lvl2pPr>
            <a:lvl3pPr marL="1143000" indent="-228600" defTabSz="947738">
              <a:spcBef>
                <a:spcPct val="30000"/>
              </a:spcBef>
              <a:defRPr sz="1200">
                <a:solidFill>
                  <a:schemeClr val="tx1"/>
                </a:solidFill>
                <a:latin typeface="Times New Roman" panose="02020603050405020304" pitchFamily="18" charset="0"/>
              </a:defRPr>
            </a:lvl3pPr>
            <a:lvl4pPr marL="1600200" indent="-228600" defTabSz="947738">
              <a:spcBef>
                <a:spcPct val="30000"/>
              </a:spcBef>
              <a:defRPr sz="1200">
                <a:solidFill>
                  <a:schemeClr val="tx1"/>
                </a:solidFill>
                <a:latin typeface="Times New Roman" panose="02020603050405020304" pitchFamily="18" charset="0"/>
              </a:defRPr>
            </a:lvl4pPr>
            <a:lvl5pPr marL="2057400" indent="-228600" defTabSz="947738">
              <a:spcBef>
                <a:spcPct val="30000"/>
              </a:spcBef>
              <a:defRPr sz="1200">
                <a:solidFill>
                  <a:schemeClr val="tx1"/>
                </a:solidFill>
                <a:latin typeface="Times New Roman" panose="02020603050405020304" pitchFamily="18" charset="0"/>
              </a:defRPr>
            </a:lvl5pPr>
            <a:lvl6pPr marL="2514600" indent="-228600" defTabSz="9477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477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477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4773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03F26720-B942-4074-BFFB-525AC415BA52}" type="slidenum">
              <a:rPr lang="zh-CN" altLang="en-US" smtClean="0"/>
              <a:pPr>
                <a:spcBef>
                  <a:spcPct val="0"/>
                </a:spcBef>
              </a:pPr>
              <a:t>11</a:t>
            </a:fld>
            <a:endParaRPr lang="en-US" altLang="zh-CN"/>
          </a:p>
        </p:txBody>
      </p:sp>
      <p:sp>
        <p:nvSpPr>
          <p:cNvPr id="25604" name="Rectangle 2"/>
          <p:cNvSpPr>
            <a:spLocks noGrp="1" noRot="1" noChangeAspect="1" noChangeArrowheads="1" noTextEdit="1"/>
          </p:cNvSpPr>
          <p:nvPr>
            <p:ph type="sldImg"/>
          </p:nvPr>
        </p:nvSpPr>
        <p:spPr>
          <a:ln/>
        </p:spPr>
      </p:sp>
      <p:sp>
        <p:nvSpPr>
          <p:cNvPr id="25605" name="Rectangle 3"/>
          <p:cNvSpPr>
            <a:spLocks noGrp="1" noChangeArrowheads="1"/>
          </p:cNvSpPr>
          <p:nvPr>
            <p:ph type="body" idx="1"/>
          </p:nvPr>
        </p:nvSpPr>
        <p:spPr>
          <a:xfrm>
            <a:off x="715963" y="4487863"/>
            <a:ext cx="5730875" cy="4252912"/>
          </a:xfrm>
          <a:noFill/>
        </p:spPr>
        <p:txBody>
          <a:bodyPr/>
          <a:lstStyle/>
          <a:p>
            <a:pPr eaLnBrk="1" hangingPunct="1"/>
            <a:r>
              <a:rPr lang="en-AU" altLang="en-US"/>
              <a:t>Briefly review some terminology used throughout the course. </a:t>
            </a:r>
          </a:p>
        </p:txBody>
      </p:sp>
    </p:spTree>
    <p:extLst>
      <p:ext uri="{BB962C8B-B14F-4D97-AF65-F5344CB8AC3E}">
        <p14:creationId xmlns:p14="http://schemas.microsoft.com/office/powerpoint/2010/main" val="1855708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Slide Image Placeholder 1"/>
          <p:cNvSpPr>
            <a:spLocks noGrp="1" noRot="1" noChangeAspect="1" noTextEdit="1"/>
          </p:cNvSpPr>
          <p:nvPr>
            <p:ph type="sldImg"/>
          </p:nvPr>
        </p:nvSpPr>
        <p:spPr>
          <a:ln/>
        </p:spPr>
      </p:sp>
      <p:sp>
        <p:nvSpPr>
          <p:cNvPr id="7680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Kernel needs to maintain separation among user processes.</a:t>
            </a:r>
          </a:p>
          <a:p>
            <a:r>
              <a:rPr lang="en-US" altLang="en-US" dirty="0"/>
              <a:t>OS kernel needs to access all memory, and user processes cannot</a:t>
            </a:r>
          </a:p>
          <a:p>
            <a:r>
              <a:rPr lang="en-US" altLang="en-US" dirty="0"/>
              <a:t>Kernel needs to have more power than user processes.  </a:t>
            </a:r>
          </a:p>
          <a:p>
            <a:r>
              <a:rPr lang="en-US" altLang="en-US" dirty="0"/>
              <a:t>Earliest PC are not like this.  In MS DOS, all processes have the same power. </a:t>
            </a:r>
          </a:p>
          <a:p>
            <a:endParaRPr lang="en-US" altLang="en-US" dirty="0"/>
          </a:p>
          <a:p>
            <a:r>
              <a:rPr lang="en-US" altLang="en-US" dirty="0"/>
              <a:t>Use segments to contain logically related things </a:t>
            </a:r>
          </a:p>
          <a:p>
            <a:pPr lvl="1"/>
            <a:r>
              <a:rPr lang="en-US" altLang="en-US" dirty="0"/>
              <a:t>code, data, stack</a:t>
            </a:r>
          </a:p>
          <a:p>
            <a:pPr lvl="1"/>
            <a:r>
              <a:rPr lang="en-US" altLang="en-US" dirty="0"/>
              <a:t>can vary in size but are generally large.</a:t>
            </a:r>
          </a:p>
          <a:p>
            <a:endParaRPr lang="en-US" altLang="en-US" dirty="0"/>
          </a:p>
          <a:p>
            <a:endParaRPr lang="en-US" altLang="en-US" dirty="0"/>
          </a:p>
        </p:txBody>
      </p:sp>
      <p:sp>
        <p:nvSpPr>
          <p:cNvPr id="7680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9013" eaLnBrk="0" hangingPunct="0">
              <a:spcBef>
                <a:spcPct val="30000"/>
              </a:spcBef>
              <a:defRPr kumimoji="1" sz="1200">
                <a:solidFill>
                  <a:schemeClr val="tx1"/>
                </a:solidFill>
                <a:latin typeface="Times New Roman" panose="02020603050405020304" pitchFamily="18" charset="0"/>
              </a:defRPr>
            </a:lvl1pPr>
            <a:lvl2pPr marL="742950" indent="-285750" defTabSz="989013" eaLnBrk="0" hangingPunct="0">
              <a:spcBef>
                <a:spcPct val="30000"/>
              </a:spcBef>
              <a:defRPr kumimoji="1" sz="1200">
                <a:solidFill>
                  <a:schemeClr val="tx1"/>
                </a:solidFill>
                <a:latin typeface="Times New Roman" panose="02020603050405020304" pitchFamily="18" charset="0"/>
              </a:defRPr>
            </a:lvl2pPr>
            <a:lvl3pPr marL="1143000" indent="-228600" defTabSz="989013" eaLnBrk="0" hangingPunct="0">
              <a:spcBef>
                <a:spcPct val="30000"/>
              </a:spcBef>
              <a:defRPr kumimoji="1" sz="1200">
                <a:solidFill>
                  <a:schemeClr val="tx1"/>
                </a:solidFill>
                <a:latin typeface="Times New Roman" panose="02020603050405020304" pitchFamily="18" charset="0"/>
              </a:defRPr>
            </a:lvl3pPr>
            <a:lvl4pPr marL="1600200" indent="-228600" defTabSz="989013" eaLnBrk="0" hangingPunct="0">
              <a:spcBef>
                <a:spcPct val="30000"/>
              </a:spcBef>
              <a:defRPr kumimoji="1" sz="1200">
                <a:solidFill>
                  <a:schemeClr val="tx1"/>
                </a:solidFill>
                <a:latin typeface="Times New Roman" panose="02020603050405020304" pitchFamily="18" charset="0"/>
              </a:defRPr>
            </a:lvl4pPr>
            <a:lvl5pPr marL="2057400" indent="-228600" defTabSz="989013" eaLnBrk="0" hangingPunct="0">
              <a:spcBef>
                <a:spcPct val="30000"/>
              </a:spcBef>
              <a:defRPr kumimoji="1" sz="1200">
                <a:solidFill>
                  <a:schemeClr val="tx1"/>
                </a:solidFill>
                <a:latin typeface="Times New Roman" panose="02020603050405020304" pitchFamily="18" charset="0"/>
              </a:defRPr>
            </a:lvl5pPr>
            <a:lvl6pPr marL="2514600" indent="-228600" defTabSz="989013"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89013"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89013"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89013"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eaLnBrk="1" hangingPunct="1">
              <a:spcBef>
                <a:spcPct val="0"/>
              </a:spcBef>
            </a:pPr>
            <a:fld id="{A9E78FBB-2B94-4F68-9192-1F5C1256996F}" type="slidenum">
              <a:rPr kumimoji="0" lang="en-US" altLang="en-US" sz="1300"/>
              <a:pPr eaLnBrk="1" hangingPunct="1">
                <a:spcBef>
                  <a:spcPct val="0"/>
                </a:spcBef>
              </a:pPr>
              <a:t>12</a:t>
            </a:fld>
            <a:endParaRPr kumimoji="0" lang="en-US" altLang="en-US" sz="1300"/>
          </a:p>
        </p:txBody>
      </p:sp>
    </p:spTree>
    <p:extLst>
      <p:ext uri="{BB962C8B-B14F-4D97-AF65-F5344CB8AC3E}">
        <p14:creationId xmlns:p14="http://schemas.microsoft.com/office/powerpoint/2010/main" val="28529929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System calls.</a:t>
            </a:r>
          </a:p>
          <a:p>
            <a:endParaRPr lang="en-US" dirty="0"/>
          </a:p>
          <a:p>
            <a:r>
              <a:rPr lang="en-US" altLang="en-US" dirty="0"/>
              <a:t>Use segments to contain logically related things </a:t>
            </a:r>
          </a:p>
          <a:p>
            <a:pPr lvl="1"/>
            <a:r>
              <a:rPr lang="en-US" altLang="en-US" dirty="0"/>
              <a:t>code, data, stack</a:t>
            </a:r>
          </a:p>
          <a:p>
            <a:pPr lvl="1"/>
            <a:r>
              <a:rPr lang="en-US" altLang="en-US"/>
              <a:t>can vary in size but are generally large.</a:t>
            </a:r>
          </a:p>
          <a:p>
            <a:endParaRPr lang="en-US" dirty="0"/>
          </a:p>
        </p:txBody>
      </p:sp>
      <p:sp>
        <p:nvSpPr>
          <p:cNvPr id="4" name="Slide Number Placeholder 3"/>
          <p:cNvSpPr>
            <a:spLocks noGrp="1"/>
          </p:cNvSpPr>
          <p:nvPr>
            <p:ph type="sldNum" sz="quarter" idx="10"/>
          </p:nvPr>
        </p:nvSpPr>
        <p:spPr/>
        <p:txBody>
          <a:bodyPr/>
          <a:lstStyle/>
          <a:p>
            <a:fld id="{A89CF254-E47E-2C44-98AF-85D52326CB77}" type="slidenum">
              <a:rPr lang="en-US" smtClean="0"/>
              <a:t>13</a:t>
            </a:fld>
            <a:endParaRPr lang="en-US"/>
          </a:p>
        </p:txBody>
      </p:sp>
    </p:spTree>
    <p:extLst>
      <p:ext uri="{BB962C8B-B14F-4D97-AF65-F5344CB8AC3E}">
        <p14:creationId xmlns:p14="http://schemas.microsoft.com/office/powerpoint/2010/main" val="23917400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a:t>
            </a:r>
            <a:r>
              <a:rPr lang="en-US" baseline="0" dirty="0"/>
              <a:t> process has its own virtual address space.</a:t>
            </a:r>
          </a:p>
          <a:p>
            <a:r>
              <a:rPr lang="en-US" baseline="0" dirty="0"/>
              <a:t>The virtual address space will be translated to the physical address. </a:t>
            </a:r>
            <a:endParaRPr lang="en-US" dirty="0"/>
          </a:p>
        </p:txBody>
      </p:sp>
      <p:sp>
        <p:nvSpPr>
          <p:cNvPr id="4" name="Slide Number Placeholder 3"/>
          <p:cNvSpPr>
            <a:spLocks noGrp="1"/>
          </p:cNvSpPr>
          <p:nvPr>
            <p:ph type="sldNum" sz="quarter" idx="10"/>
          </p:nvPr>
        </p:nvSpPr>
        <p:spPr/>
        <p:txBody>
          <a:bodyPr/>
          <a:lstStyle/>
          <a:p>
            <a:fld id="{A89CF254-E47E-2C44-98AF-85D52326CB77}" type="slidenum">
              <a:rPr lang="en-US" smtClean="0"/>
              <a:t>14</a:t>
            </a:fld>
            <a:endParaRPr lang="en-US"/>
          </a:p>
        </p:txBody>
      </p:sp>
    </p:spTree>
    <p:extLst>
      <p:ext uri="{BB962C8B-B14F-4D97-AF65-F5344CB8AC3E}">
        <p14:creationId xmlns:p14="http://schemas.microsoft.com/office/powerpoint/2010/main" val="19787620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a:t>
            </a:r>
            <a:r>
              <a:rPr lang="en-US" baseline="0" dirty="0"/>
              <a:t> process has its own virtual address space.</a:t>
            </a:r>
          </a:p>
          <a:p>
            <a:r>
              <a:rPr lang="en-US" baseline="0" dirty="0"/>
              <a:t>The virtual address space will be translated to the physical address. </a:t>
            </a:r>
            <a:endParaRPr lang="en-US" dirty="0"/>
          </a:p>
          <a:p>
            <a:endParaRPr lang="en-US" dirty="0"/>
          </a:p>
        </p:txBody>
      </p:sp>
      <p:sp>
        <p:nvSpPr>
          <p:cNvPr id="4" name="Slide Number Placeholder 3"/>
          <p:cNvSpPr>
            <a:spLocks noGrp="1"/>
          </p:cNvSpPr>
          <p:nvPr>
            <p:ph type="sldNum" sz="quarter" idx="10"/>
          </p:nvPr>
        </p:nvSpPr>
        <p:spPr/>
        <p:txBody>
          <a:bodyPr/>
          <a:lstStyle/>
          <a:p>
            <a:fld id="{A89CF254-E47E-2C44-98AF-85D52326CB77}" type="slidenum">
              <a:rPr lang="en-US" smtClean="0"/>
              <a:t>15</a:t>
            </a:fld>
            <a:endParaRPr lang="en-US"/>
          </a:p>
        </p:txBody>
      </p:sp>
    </p:spTree>
    <p:extLst>
      <p:ext uri="{BB962C8B-B14F-4D97-AF65-F5344CB8AC3E}">
        <p14:creationId xmlns:p14="http://schemas.microsoft.com/office/powerpoint/2010/main" val="7449043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OS </a:t>
            </a:r>
            <a:r>
              <a:rPr lang="en-US" dirty="0" err="1"/>
              <a:t>segmenation</a:t>
            </a:r>
            <a:r>
              <a:rPr lang="en-US" dirty="0"/>
              <a:t>: OS </a:t>
            </a:r>
            <a:r>
              <a:rPr lang="en-US" sz="1200" b="0" i="0" kern="1200" dirty="0">
                <a:solidFill>
                  <a:schemeClr val="tx1"/>
                </a:solidFill>
                <a:effectLst/>
                <a:latin typeface="+mn-lt"/>
                <a:ea typeface="+mn-ea"/>
                <a:cs typeface="+mn-cs"/>
              </a:rPr>
              <a:t>Segmentation is another memory management technique that gives the user's view of a process. The user's view is mapped into the Physical Memory. In Segmentation, a process is divided into multiple segments. The size of each segment is not necessarily the same which is different from paging.</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Code segment, data segment, stack segment and heap segments. </a:t>
            </a:r>
          </a:p>
          <a:p>
            <a:endParaRPr lang="en-US" sz="1200" b="0" i="0" kern="1200" dirty="0">
              <a:solidFill>
                <a:schemeClr val="tx1"/>
              </a:solidFill>
              <a:effectLst/>
              <a:latin typeface="+mn-lt"/>
              <a:ea typeface="+mn-ea"/>
              <a:cs typeface="+mn-cs"/>
            </a:endParaRPr>
          </a:p>
          <a:p>
            <a:r>
              <a:rPr lang="en-US" dirty="0"/>
              <a:t>Paging offers efficiency and segmentation offers logical protection</a:t>
            </a:r>
          </a:p>
          <a:p>
            <a:r>
              <a:rPr lang="en-US" dirty="0"/>
              <a:t>They are often combined to take advantage of the strengths of each</a:t>
            </a:r>
          </a:p>
          <a:p>
            <a:r>
              <a:rPr lang="en-US" dirty="0"/>
              <a:t>Programs divided into logical segments</a:t>
            </a:r>
          </a:p>
          <a:p>
            <a:r>
              <a:rPr lang="en-US" dirty="0"/>
              <a:t>Each segment broken into fixed-size pages</a:t>
            </a:r>
          </a:p>
          <a:p>
            <a:r>
              <a:rPr lang="en-US" dirty="0"/>
              <a:t>Retains logical unity of segmentation, provides differentiated protection for segments</a:t>
            </a:r>
          </a:p>
          <a:p>
            <a:r>
              <a:rPr lang="en-US" dirty="0"/>
              <a:t>Added additional layer of translation for each address</a:t>
            </a:r>
          </a:p>
          <a:p>
            <a:endParaRPr lang="en-US" dirty="0"/>
          </a:p>
        </p:txBody>
      </p:sp>
      <p:sp>
        <p:nvSpPr>
          <p:cNvPr id="4" name="Slide Number Placeholder 3"/>
          <p:cNvSpPr>
            <a:spLocks noGrp="1"/>
          </p:cNvSpPr>
          <p:nvPr>
            <p:ph type="sldNum" sz="quarter" idx="5"/>
          </p:nvPr>
        </p:nvSpPr>
        <p:spPr/>
        <p:txBody>
          <a:bodyPr/>
          <a:lstStyle/>
          <a:p>
            <a:fld id="{A89CF254-E47E-2C44-98AF-85D52326CB77}" type="slidenum">
              <a:rPr lang="en-US" smtClean="0"/>
              <a:t>16</a:t>
            </a:fld>
            <a:endParaRPr lang="en-US"/>
          </a:p>
        </p:txBody>
      </p:sp>
    </p:spTree>
    <p:extLst>
      <p:ext uri="{BB962C8B-B14F-4D97-AF65-F5344CB8AC3E}">
        <p14:creationId xmlns:p14="http://schemas.microsoft.com/office/powerpoint/2010/main" val="1865466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While doing the address translation, you can enforce the access control</a:t>
            </a:r>
          </a:p>
          <a:p>
            <a:endParaRPr lang="en-US" dirty="0"/>
          </a:p>
        </p:txBody>
      </p:sp>
      <p:sp>
        <p:nvSpPr>
          <p:cNvPr id="4" name="Slide Number Placeholder 3"/>
          <p:cNvSpPr>
            <a:spLocks noGrp="1"/>
          </p:cNvSpPr>
          <p:nvPr>
            <p:ph type="sldNum" sz="quarter" idx="5"/>
          </p:nvPr>
        </p:nvSpPr>
        <p:spPr/>
        <p:txBody>
          <a:bodyPr/>
          <a:lstStyle/>
          <a:p>
            <a:fld id="{A89CF254-E47E-2C44-98AF-85D52326CB77}" type="slidenum">
              <a:rPr lang="en-US" smtClean="0"/>
              <a:t>23</a:t>
            </a:fld>
            <a:endParaRPr lang="en-US"/>
          </a:p>
        </p:txBody>
      </p:sp>
    </p:spTree>
    <p:extLst>
      <p:ext uri="{BB962C8B-B14F-4D97-AF65-F5344CB8AC3E}">
        <p14:creationId xmlns:p14="http://schemas.microsoft.com/office/powerpoint/2010/main" val="4473847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Paged segmentation: Combined Paging and Segmentation</a:t>
            </a:r>
          </a:p>
          <a:p>
            <a:endParaRPr lang="en-US" dirty="0"/>
          </a:p>
          <a:p>
            <a:r>
              <a:rPr lang="en-US" dirty="0"/>
              <a:t>While doing the address translation, you can enforce the access control</a:t>
            </a:r>
          </a:p>
        </p:txBody>
      </p:sp>
      <p:sp>
        <p:nvSpPr>
          <p:cNvPr id="4" name="Slide Number Placeholder 3"/>
          <p:cNvSpPr>
            <a:spLocks noGrp="1"/>
          </p:cNvSpPr>
          <p:nvPr>
            <p:ph type="sldNum" sz="quarter" idx="5"/>
          </p:nvPr>
        </p:nvSpPr>
        <p:spPr/>
        <p:txBody>
          <a:bodyPr/>
          <a:lstStyle/>
          <a:p>
            <a:fld id="{A89CF254-E47E-2C44-98AF-85D52326CB77}" type="slidenum">
              <a:rPr lang="en-US" smtClean="0"/>
              <a:t>25</a:t>
            </a:fld>
            <a:endParaRPr lang="en-US"/>
          </a:p>
        </p:txBody>
      </p:sp>
    </p:spTree>
    <p:extLst>
      <p:ext uri="{BB962C8B-B14F-4D97-AF65-F5344CB8AC3E}">
        <p14:creationId xmlns:p14="http://schemas.microsoft.com/office/powerpoint/2010/main" val="83375977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Slide Image Placeholder 1"/>
          <p:cNvSpPr>
            <a:spLocks noGrp="1" noRot="1" noChangeAspect="1" noTextEdit="1"/>
          </p:cNvSpPr>
          <p:nvPr>
            <p:ph type="sldImg"/>
          </p:nvPr>
        </p:nvSpPr>
        <p:spPr>
          <a:ln/>
        </p:spPr>
      </p:sp>
      <p:sp>
        <p:nvSpPr>
          <p:cNvPr id="778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The separation from different modes are like walls, protecting the kernel from the other processes.</a:t>
            </a:r>
          </a:p>
        </p:txBody>
      </p:sp>
      <p:sp>
        <p:nvSpPr>
          <p:cNvPr id="778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9013" eaLnBrk="0" hangingPunct="0">
              <a:spcBef>
                <a:spcPct val="30000"/>
              </a:spcBef>
              <a:defRPr kumimoji="1" sz="1200">
                <a:solidFill>
                  <a:schemeClr val="tx1"/>
                </a:solidFill>
                <a:latin typeface="Times New Roman" panose="02020603050405020304" pitchFamily="18" charset="0"/>
              </a:defRPr>
            </a:lvl1pPr>
            <a:lvl2pPr marL="742950" indent="-285750" defTabSz="989013" eaLnBrk="0" hangingPunct="0">
              <a:spcBef>
                <a:spcPct val="30000"/>
              </a:spcBef>
              <a:defRPr kumimoji="1" sz="1200">
                <a:solidFill>
                  <a:schemeClr val="tx1"/>
                </a:solidFill>
                <a:latin typeface="Times New Roman" panose="02020603050405020304" pitchFamily="18" charset="0"/>
              </a:defRPr>
            </a:lvl2pPr>
            <a:lvl3pPr marL="1143000" indent="-228600" defTabSz="989013" eaLnBrk="0" hangingPunct="0">
              <a:spcBef>
                <a:spcPct val="30000"/>
              </a:spcBef>
              <a:defRPr kumimoji="1" sz="1200">
                <a:solidFill>
                  <a:schemeClr val="tx1"/>
                </a:solidFill>
                <a:latin typeface="Times New Roman" panose="02020603050405020304" pitchFamily="18" charset="0"/>
              </a:defRPr>
            </a:lvl3pPr>
            <a:lvl4pPr marL="1600200" indent="-228600" defTabSz="989013" eaLnBrk="0" hangingPunct="0">
              <a:spcBef>
                <a:spcPct val="30000"/>
              </a:spcBef>
              <a:defRPr kumimoji="1" sz="1200">
                <a:solidFill>
                  <a:schemeClr val="tx1"/>
                </a:solidFill>
                <a:latin typeface="Times New Roman" panose="02020603050405020304" pitchFamily="18" charset="0"/>
              </a:defRPr>
            </a:lvl4pPr>
            <a:lvl5pPr marL="2057400" indent="-228600" defTabSz="989013" eaLnBrk="0" hangingPunct="0">
              <a:spcBef>
                <a:spcPct val="30000"/>
              </a:spcBef>
              <a:defRPr kumimoji="1" sz="1200">
                <a:solidFill>
                  <a:schemeClr val="tx1"/>
                </a:solidFill>
                <a:latin typeface="Times New Roman" panose="02020603050405020304" pitchFamily="18" charset="0"/>
              </a:defRPr>
            </a:lvl5pPr>
            <a:lvl6pPr marL="2514600" indent="-228600" defTabSz="989013"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89013"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89013"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89013"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eaLnBrk="1" hangingPunct="1">
              <a:spcBef>
                <a:spcPct val="0"/>
              </a:spcBef>
            </a:pPr>
            <a:fld id="{F03470EC-E903-4E47-8F8F-F1E1CBBA4B03}" type="slidenum">
              <a:rPr kumimoji="0" lang="en-US" altLang="en-US" sz="1300"/>
              <a:pPr eaLnBrk="1" hangingPunct="1">
                <a:spcBef>
                  <a:spcPct val="0"/>
                </a:spcBef>
              </a:pPr>
              <a:t>26</a:t>
            </a:fld>
            <a:endParaRPr kumimoji="0" lang="en-US" altLang="en-US" sz="1300"/>
          </a:p>
        </p:txBody>
      </p:sp>
    </p:spTree>
    <p:extLst>
      <p:ext uri="{BB962C8B-B14F-4D97-AF65-F5344CB8AC3E}">
        <p14:creationId xmlns:p14="http://schemas.microsoft.com/office/powerpoint/2010/main" val="272662452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Slide Image Placeholder 1"/>
          <p:cNvSpPr>
            <a:spLocks noGrp="1" noRot="1" noChangeAspect="1" noTextEdit="1"/>
          </p:cNvSpPr>
          <p:nvPr>
            <p:ph type="sldImg"/>
          </p:nvPr>
        </p:nvSpPr>
        <p:spPr>
          <a:ln/>
        </p:spPr>
      </p:sp>
      <p:sp>
        <p:nvSpPr>
          <p:cNvPr id="7885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A wall separates the user mode with the system mode. </a:t>
            </a:r>
          </a:p>
          <a:p>
            <a:r>
              <a:rPr lang="en-US" altLang="en-US" dirty="0"/>
              <a:t>The wall need gates; and system call are the gates.</a:t>
            </a:r>
          </a:p>
        </p:txBody>
      </p:sp>
      <p:sp>
        <p:nvSpPr>
          <p:cNvPr id="7885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9013" eaLnBrk="0" hangingPunct="0">
              <a:spcBef>
                <a:spcPct val="30000"/>
              </a:spcBef>
              <a:defRPr kumimoji="1" sz="1200">
                <a:solidFill>
                  <a:schemeClr val="tx1"/>
                </a:solidFill>
                <a:latin typeface="Times New Roman" panose="02020603050405020304" pitchFamily="18" charset="0"/>
              </a:defRPr>
            </a:lvl1pPr>
            <a:lvl2pPr marL="742950" indent="-285750" defTabSz="989013" eaLnBrk="0" hangingPunct="0">
              <a:spcBef>
                <a:spcPct val="30000"/>
              </a:spcBef>
              <a:defRPr kumimoji="1" sz="1200">
                <a:solidFill>
                  <a:schemeClr val="tx1"/>
                </a:solidFill>
                <a:latin typeface="Times New Roman" panose="02020603050405020304" pitchFamily="18" charset="0"/>
              </a:defRPr>
            </a:lvl2pPr>
            <a:lvl3pPr marL="1143000" indent="-228600" defTabSz="989013" eaLnBrk="0" hangingPunct="0">
              <a:spcBef>
                <a:spcPct val="30000"/>
              </a:spcBef>
              <a:defRPr kumimoji="1" sz="1200">
                <a:solidFill>
                  <a:schemeClr val="tx1"/>
                </a:solidFill>
                <a:latin typeface="Times New Roman" panose="02020603050405020304" pitchFamily="18" charset="0"/>
              </a:defRPr>
            </a:lvl3pPr>
            <a:lvl4pPr marL="1600200" indent="-228600" defTabSz="989013" eaLnBrk="0" hangingPunct="0">
              <a:spcBef>
                <a:spcPct val="30000"/>
              </a:spcBef>
              <a:defRPr kumimoji="1" sz="1200">
                <a:solidFill>
                  <a:schemeClr val="tx1"/>
                </a:solidFill>
                <a:latin typeface="Times New Roman" panose="02020603050405020304" pitchFamily="18" charset="0"/>
              </a:defRPr>
            </a:lvl4pPr>
            <a:lvl5pPr marL="2057400" indent="-228600" defTabSz="989013" eaLnBrk="0" hangingPunct="0">
              <a:spcBef>
                <a:spcPct val="30000"/>
              </a:spcBef>
              <a:defRPr kumimoji="1" sz="1200">
                <a:solidFill>
                  <a:schemeClr val="tx1"/>
                </a:solidFill>
                <a:latin typeface="Times New Roman" panose="02020603050405020304" pitchFamily="18" charset="0"/>
              </a:defRPr>
            </a:lvl5pPr>
            <a:lvl6pPr marL="2514600" indent="-228600" defTabSz="989013"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89013"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89013"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89013"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eaLnBrk="1" hangingPunct="1">
              <a:spcBef>
                <a:spcPct val="0"/>
              </a:spcBef>
            </a:pPr>
            <a:fld id="{471FBB50-0FEE-4BD3-A1D1-32D97A6E66FB}" type="slidenum">
              <a:rPr kumimoji="0" lang="en-US" altLang="en-US" sz="1300"/>
              <a:pPr eaLnBrk="1" hangingPunct="1">
                <a:spcBef>
                  <a:spcPct val="0"/>
                </a:spcBef>
              </a:pPr>
              <a:t>27</a:t>
            </a:fld>
            <a:endParaRPr kumimoji="0" lang="en-US" altLang="en-US" sz="1300"/>
          </a:p>
        </p:txBody>
      </p:sp>
    </p:spTree>
    <p:extLst>
      <p:ext uri="{BB962C8B-B14F-4D97-AF65-F5344CB8AC3E}">
        <p14:creationId xmlns:p14="http://schemas.microsoft.com/office/powerpoint/2010/main" val="66168853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tagged architecture: example:  non executable stack </a:t>
            </a:r>
          </a:p>
          <a:p>
            <a:endParaRPr lang="en-US" dirty="0"/>
          </a:p>
          <a:p>
            <a:r>
              <a:rPr lang="en-US" dirty="0"/>
              <a:t>A </a:t>
            </a:r>
            <a:r>
              <a:rPr lang="en-US" b="1" dirty="0"/>
              <a:t>tagged architecture</a:t>
            </a:r>
            <a:r>
              <a:rPr lang="en-US" dirty="0"/>
              <a:t> providing every word of machine memory with one or more access bits is too expensive, so usually a tag is for a memory region, not for a memory word. </a:t>
            </a:r>
          </a:p>
        </p:txBody>
      </p:sp>
      <p:sp>
        <p:nvSpPr>
          <p:cNvPr id="4" name="Slide Number Placeholder 3"/>
          <p:cNvSpPr>
            <a:spLocks noGrp="1"/>
          </p:cNvSpPr>
          <p:nvPr>
            <p:ph type="sldNum" sz="quarter" idx="5"/>
          </p:nvPr>
        </p:nvSpPr>
        <p:spPr/>
        <p:txBody>
          <a:bodyPr/>
          <a:lstStyle/>
          <a:p>
            <a:fld id="{A89CF254-E47E-2C44-98AF-85D52326CB77}" type="slidenum">
              <a:rPr lang="en-US" smtClean="0"/>
              <a:t>29</a:t>
            </a:fld>
            <a:endParaRPr lang="en-US"/>
          </a:p>
        </p:txBody>
      </p:sp>
    </p:spTree>
    <p:extLst>
      <p:ext uri="{BB962C8B-B14F-4D97-AF65-F5344CB8AC3E}">
        <p14:creationId xmlns:p14="http://schemas.microsoft.com/office/powerpoint/2010/main" val="36908599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lide Image Placeholder 1"/>
          <p:cNvSpPr>
            <a:spLocks noGrp="1" noRot="1" noChangeAspect="1" noTextEdit="1"/>
          </p:cNvSpPr>
          <p:nvPr>
            <p:ph type="sldImg"/>
          </p:nvPr>
        </p:nvSpPr>
        <p:spPr>
          <a:ln/>
        </p:spPr>
      </p:sp>
      <p:sp>
        <p:nvSpPr>
          <p:cNvPr id="7987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7987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9013" eaLnBrk="0" hangingPunct="0">
              <a:spcBef>
                <a:spcPct val="30000"/>
              </a:spcBef>
              <a:defRPr kumimoji="1" sz="1200">
                <a:solidFill>
                  <a:schemeClr val="tx1"/>
                </a:solidFill>
                <a:latin typeface="Times New Roman" panose="02020603050405020304" pitchFamily="18" charset="0"/>
              </a:defRPr>
            </a:lvl1pPr>
            <a:lvl2pPr marL="742950" indent="-285750" defTabSz="989013" eaLnBrk="0" hangingPunct="0">
              <a:spcBef>
                <a:spcPct val="30000"/>
              </a:spcBef>
              <a:defRPr kumimoji="1" sz="1200">
                <a:solidFill>
                  <a:schemeClr val="tx1"/>
                </a:solidFill>
                <a:latin typeface="Times New Roman" panose="02020603050405020304" pitchFamily="18" charset="0"/>
              </a:defRPr>
            </a:lvl2pPr>
            <a:lvl3pPr marL="1143000" indent="-228600" defTabSz="989013" eaLnBrk="0" hangingPunct="0">
              <a:spcBef>
                <a:spcPct val="30000"/>
              </a:spcBef>
              <a:defRPr kumimoji="1" sz="1200">
                <a:solidFill>
                  <a:schemeClr val="tx1"/>
                </a:solidFill>
                <a:latin typeface="Times New Roman" panose="02020603050405020304" pitchFamily="18" charset="0"/>
              </a:defRPr>
            </a:lvl3pPr>
            <a:lvl4pPr marL="1600200" indent="-228600" defTabSz="989013" eaLnBrk="0" hangingPunct="0">
              <a:spcBef>
                <a:spcPct val="30000"/>
              </a:spcBef>
              <a:defRPr kumimoji="1" sz="1200">
                <a:solidFill>
                  <a:schemeClr val="tx1"/>
                </a:solidFill>
                <a:latin typeface="Times New Roman" panose="02020603050405020304" pitchFamily="18" charset="0"/>
              </a:defRPr>
            </a:lvl4pPr>
            <a:lvl5pPr marL="2057400" indent="-228600" defTabSz="989013" eaLnBrk="0" hangingPunct="0">
              <a:spcBef>
                <a:spcPct val="30000"/>
              </a:spcBef>
              <a:defRPr kumimoji="1" sz="1200">
                <a:solidFill>
                  <a:schemeClr val="tx1"/>
                </a:solidFill>
                <a:latin typeface="Times New Roman" panose="02020603050405020304" pitchFamily="18" charset="0"/>
              </a:defRPr>
            </a:lvl5pPr>
            <a:lvl6pPr marL="2514600" indent="-228600" defTabSz="989013"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89013"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89013"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89013"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eaLnBrk="1" hangingPunct="1">
              <a:spcBef>
                <a:spcPct val="0"/>
              </a:spcBef>
            </a:pPr>
            <a:fld id="{B130D758-6791-4E97-863A-4D7793533794}" type="slidenum">
              <a:rPr kumimoji="0" lang="en-US" altLang="en-US" sz="1300"/>
              <a:pPr eaLnBrk="1" hangingPunct="1">
                <a:spcBef>
                  <a:spcPct val="0"/>
                </a:spcBef>
              </a:pPr>
              <a:t>30</a:t>
            </a:fld>
            <a:endParaRPr kumimoji="0" lang="en-US" altLang="en-US" sz="1300"/>
          </a:p>
        </p:txBody>
      </p:sp>
    </p:spTree>
    <p:extLst>
      <p:ext uri="{BB962C8B-B14F-4D97-AF65-F5344CB8AC3E}">
        <p14:creationId xmlns:p14="http://schemas.microsoft.com/office/powerpoint/2010/main" val="302647570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6"/>
          <p:cNvSpPr>
            <a:spLocks noGrp="1" noChangeArrowheads="1"/>
          </p:cNvSpPr>
          <p:nvPr>
            <p:ph type="ftr" sz="quarter" idx="4"/>
          </p:nvPr>
        </p:nvSpPr>
        <p:spPr>
          <a:noFill/>
        </p:spPr>
        <p:txBody>
          <a:bodyPr/>
          <a:lstStyle>
            <a:lvl1pPr defTabSz="947738">
              <a:spcBef>
                <a:spcPct val="30000"/>
              </a:spcBef>
              <a:defRPr sz="1200">
                <a:solidFill>
                  <a:schemeClr val="tx1"/>
                </a:solidFill>
                <a:latin typeface="Times New Roman" panose="02020603050405020304" pitchFamily="18" charset="0"/>
              </a:defRPr>
            </a:lvl1pPr>
            <a:lvl2pPr marL="742950" indent="-285750" defTabSz="947738">
              <a:spcBef>
                <a:spcPct val="30000"/>
              </a:spcBef>
              <a:defRPr sz="1200">
                <a:solidFill>
                  <a:schemeClr val="tx1"/>
                </a:solidFill>
                <a:latin typeface="Times New Roman" panose="02020603050405020304" pitchFamily="18" charset="0"/>
              </a:defRPr>
            </a:lvl2pPr>
            <a:lvl3pPr marL="1143000" indent="-228600" defTabSz="947738">
              <a:spcBef>
                <a:spcPct val="30000"/>
              </a:spcBef>
              <a:defRPr sz="1200">
                <a:solidFill>
                  <a:schemeClr val="tx1"/>
                </a:solidFill>
                <a:latin typeface="Times New Roman" panose="02020603050405020304" pitchFamily="18" charset="0"/>
              </a:defRPr>
            </a:lvl3pPr>
            <a:lvl4pPr marL="1600200" indent="-228600" defTabSz="947738">
              <a:spcBef>
                <a:spcPct val="30000"/>
              </a:spcBef>
              <a:defRPr sz="1200">
                <a:solidFill>
                  <a:schemeClr val="tx1"/>
                </a:solidFill>
                <a:latin typeface="Times New Roman" panose="02020603050405020304" pitchFamily="18" charset="0"/>
              </a:defRPr>
            </a:lvl4pPr>
            <a:lvl5pPr marL="2057400" indent="-228600" defTabSz="947738">
              <a:spcBef>
                <a:spcPct val="30000"/>
              </a:spcBef>
              <a:defRPr sz="1200">
                <a:solidFill>
                  <a:schemeClr val="tx1"/>
                </a:solidFill>
                <a:latin typeface="Times New Roman" panose="02020603050405020304" pitchFamily="18" charset="0"/>
              </a:defRPr>
            </a:lvl5pPr>
            <a:lvl6pPr marL="2514600" indent="-228600" defTabSz="9477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477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477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4773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r>
              <a:rPr lang="zh-CN" altLang="en-US"/>
              <a:t>Zili Shao</a:t>
            </a:r>
            <a:endParaRPr lang="en-US" altLang="zh-CN"/>
          </a:p>
        </p:txBody>
      </p:sp>
      <p:sp>
        <p:nvSpPr>
          <p:cNvPr id="25603" name="Rectangle 7"/>
          <p:cNvSpPr>
            <a:spLocks noGrp="1" noChangeArrowheads="1"/>
          </p:cNvSpPr>
          <p:nvPr>
            <p:ph type="sldNum" sz="quarter" idx="5"/>
          </p:nvPr>
        </p:nvSpPr>
        <p:spPr>
          <a:noFill/>
        </p:spPr>
        <p:txBody>
          <a:bodyPr/>
          <a:lstStyle>
            <a:lvl1pPr defTabSz="947738">
              <a:spcBef>
                <a:spcPct val="30000"/>
              </a:spcBef>
              <a:defRPr sz="1200">
                <a:solidFill>
                  <a:schemeClr val="tx1"/>
                </a:solidFill>
                <a:latin typeface="Times New Roman" panose="02020603050405020304" pitchFamily="18" charset="0"/>
              </a:defRPr>
            </a:lvl1pPr>
            <a:lvl2pPr marL="742950" indent="-285750" defTabSz="947738">
              <a:spcBef>
                <a:spcPct val="30000"/>
              </a:spcBef>
              <a:defRPr sz="1200">
                <a:solidFill>
                  <a:schemeClr val="tx1"/>
                </a:solidFill>
                <a:latin typeface="Times New Roman" panose="02020603050405020304" pitchFamily="18" charset="0"/>
              </a:defRPr>
            </a:lvl2pPr>
            <a:lvl3pPr marL="1143000" indent="-228600" defTabSz="947738">
              <a:spcBef>
                <a:spcPct val="30000"/>
              </a:spcBef>
              <a:defRPr sz="1200">
                <a:solidFill>
                  <a:schemeClr val="tx1"/>
                </a:solidFill>
                <a:latin typeface="Times New Roman" panose="02020603050405020304" pitchFamily="18" charset="0"/>
              </a:defRPr>
            </a:lvl3pPr>
            <a:lvl4pPr marL="1600200" indent="-228600" defTabSz="947738">
              <a:spcBef>
                <a:spcPct val="30000"/>
              </a:spcBef>
              <a:defRPr sz="1200">
                <a:solidFill>
                  <a:schemeClr val="tx1"/>
                </a:solidFill>
                <a:latin typeface="Times New Roman" panose="02020603050405020304" pitchFamily="18" charset="0"/>
              </a:defRPr>
            </a:lvl4pPr>
            <a:lvl5pPr marL="2057400" indent="-228600" defTabSz="947738">
              <a:spcBef>
                <a:spcPct val="30000"/>
              </a:spcBef>
              <a:defRPr sz="1200">
                <a:solidFill>
                  <a:schemeClr val="tx1"/>
                </a:solidFill>
                <a:latin typeface="Times New Roman" panose="02020603050405020304" pitchFamily="18" charset="0"/>
              </a:defRPr>
            </a:lvl5pPr>
            <a:lvl6pPr marL="2514600" indent="-228600" defTabSz="9477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477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477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4773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03F26720-B942-4074-BFFB-525AC415BA52}" type="slidenum">
              <a:rPr lang="zh-CN" altLang="en-US" smtClean="0"/>
              <a:pPr>
                <a:spcBef>
                  <a:spcPct val="0"/>
                </a:spcBef>
              </a:pPr>
              <a:t>31</a:t>
            </a:fld>
            <a:endParaRPr lang="en-US" altLang="zh-CN"/>
          </a:p>
        </p:txBody>
      </p:sp>
      <p:sp>
        <p:nvSpPr>
          <p:cNvPr id="25604" name="Rectangle 2"/>
          <p:cNvSpPr>
            <a:spLocks noGrp="1" noRot="1" noChangeAspect="1" noChangeArrowheads="1" noTextEdit="1"/>
          </p:cNvSpPr>
          <p:nvPr>
            <p:ph type="sldImg"/>
          </p:nvPr>
        </p:nvSpPr>
        <p:spPr>
          <a:ln/>
        </p:spPr>
      </p:sp>
      <p:sp>
        <p:nvSpPr>
          <p:cNvPr id="25605" name="Rectangle 3"/>
          <p:cNvSpPr>
            <a:spLocks noGrp="1" noChangeArrowheads="1"/>
          </p:cNvSpPr>
          <p:nvPr>
            <p:ph type="body" idx="1"/>
          </p:nvPr>
        </p:nvSpPr>
        <p:spPr>
          <a:xfrm>
            <a:off x="715963" y="4487863"/>
            <a:ext cx="5730875" cy="4252912"/>
          </a:xfrm>
          <a:noFill/>
        </p:spPr>
        <p:txBody>
          <a:bodyPr/>
          <a:lstStyle/>
          <a:p>
            <a:pPr eaLnBrk="1" hangingPunct="1"/>
            <a:r>
              <a:rPr lang="en-AU" altLang="en-US"/>
              <a:t>Briefly review some terminology used throughout the course. </a:t>
            </a:r>
          </a:p>
        </p:txBody>
      </p:sp>
    </p:spTree>
    <p:extLst>
      <p:ext uri="{BB962C8B-B14F-4D97-AF65-F5344CB8AC3E}">
        <p14:creationId xmlns:p14="http://schemas.microsoft.com/office/powerpoint/2010/main" val="386767689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Slide Image Placeholder 1"/>
          <p:cNvSpPr>
            <a:spLocks noGrp="1" noRot="1" noChangeAspect="1" noTextEdit="1"/>
          </p:cNvSpPr>
          <p:nvPr>
            <p:ph type="sldImg"/>
          </p:nvPr>
        </p:nvSpPr>
        <p:spPr>
          <a:ln/>
        </p:spPr>
      </p:sp>
      <p:sp>
        <p:nvSpPr>
          <p:cNvPr id="8089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System call gates actually performs access control.  </a:t>
            </a:r>
          </a:p>
          <a:p>
            <a:endParaRPr lang="en-US" alt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dirty="0"/>
              <a:t>Principle of Complete Mediation: All accesses to objects be checked to ensure that they are allowed. </a:t>
            </a:r>
          </a:p>
          <a:p>
            <a:pPr marL="0" marR="0" indent="0" algn="l" defTabSz="457200" rtl="0" eaLnBrk="1" fontAlgn="auto" latinLnBrk="0" hangingPunct="1">
              <a:lnSpc>
                <a:spcPct val="100000"/>
              </a:lnSpc>
              <a:spcBef>
                <a:spcPts val="0"/>
              </a:spcBef>
              <a:spcAft>
                <a:spcPts val="0"/>
              </a:spcAft>
              <a:buClrTx/>
              <a:buSzTx/>
              <a:buFontTx/>
              <a:buNone/>
              <a:tabLst/>
              <a:defRPr/>
            </a:pP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dirty="0"/>
              <a:t>Principle of Separation of Privilege: A system should not grant permission based on a single condition.</a:t>
            </a:r>
          </a:p>
          <a:p>
            <a:endParaRPr lang="en-US" altLang="en-US" dirty="0"/>
          </a:p>
        </p:txBody>
      </p:sp>
      <p:sp>
        <p:nvSpPr>
          <p:cNvPr id="8090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9013" eaLnBrk="0" hangingPunct="0">
              <a:spcBef>
                <a:spcPct val="30000"/>
              </a:spcBef>
              <a:defRPr kumimoji="1" sz="1200">
                <a:solidFill>
                  <a:schemeClr val="tx1"/>
                </a:solidFill>
                <a:latin typeface="Times New Roman" panose="02020603050405020304" pitchFamily="18" charset="0"/>
              </a:defRPr>
            </a:lvl1pPr>
            <a:lvl2pPr marL="742950" indent="-285750" defTabSz="989013" eaLnBrk="0" hangingPunct="0">
              <a:spcBef>
                <a:spcPct val="30000"/>
              </a:spcBef>
              <a:defRPr kumimoji="1" sz="1200">
                <a:solidFill>
                  <a:schemeClr val="tx1"/>
                </a:solidFill>
                <a:latin typeface="Times New Roman" panose="02020603050405020304" pitchFamily="18" charset="0"/>
              </a:defRPr>
            </a:lvl2pPr>
            <a:lvl3pPr marL="1143000" indent="-228600" defTabSz="989013" eaLnBrk="0" hangingPunct="0">
              <a:spcBef>
                <a:spcPct val="30000"/>
              </a:spcBef>
              <a:defRPr kumimoji="1" sz="1200">
                <a:solidFill>
                  <a:schemeClr val="tx1"/>
                </a:solidFill>
                <a:latin typeface="Times New Roman" panose="02020603050405020304" pitchFamily="18" charset="0"/>
              </a:defRPr>
            </a:lvl3pPr>
            <a:lvl4pPr marL="1600200" indent="-228600" defTabSz="989013" eaLnBrk="0" hangingPunct="0">
              <a:spcBef>
                <a:spcPct val="30000"/>
              </a:spcBef>
              <a:defRPr kumimoji="1" sz="1200">
                <a:solidFill>
                  <a:schemeClr val="tx1"/>
                </a:solidFill>
                <a:latin typeface="Times New Roman" panose="02020603050405020304" pitchFamily="18" charset="0"/>
              </a:defRPr>
            </a:lvl4pPr>
            <a:lvl5pPr marL="2057400" indent="-228600" defTabSz="989013" eaLnBrk="0" hangingPunct="0">
              <a:spcBef>
                <a:spcPct val="30000"/>
              </a:spcBef>
              <a:defRPr kumimoji="1" sz="1200">
                <a:solidFill>
                  <a:schemeClr val="tx1"/>
                </a:solidFill>
                <a:latin typeface="Times New Roman" panose="02020603050405020304" pitchFamily="18" charset="0"/>
              </a:defRPr>
            </a:lvl5pPr>
            <a:lvl6pPr marL="2514600" indent="-228600" defTabSz="989013"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89013"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89013"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89013"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eaLnBrk="1" hangingPunct="1">
              <a:spcBef>
                <a:spcPct val="0"/>
              </a:spcBef>
            </a:pPr>
            <a:fld id="{BDF55764-0B6A-41A0-9A2E-D29EF6BB08F1}" type="slidenum">
              <a:rPr kumimoji="0" lang="en-US" altLang="en-US" sz="1300"/>
              <a:pPr eaLnBrk="1" hangingPunct="1">
                <a:spcBef>
                  <a:spcPct val="0"/>
                </a:spcBef>
              </a:pPr>
              <a:t>32</a:t>
            </a:fld>
            <a:endParaRPr kumimoji="0" lang="en-US" altLang="en-US" sz="1300"/>
          </a:p>
        </p:txBody>
      </p:sp>
    </p:spTree>
    <p:extLst>
      <p:ext uri="{BB962C8B-B14F-4D97-AF65-F5344CB8AC3E}">
        <p14:creationId xmlns:p14="http://schemas.microsoft.com/office/powerpoint/2010/main" val="233632795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Euid</a:t>
            </a:r>
            <a:r>
              <a:rPr lang="en-US" dirty="0"/>
              <a:t>: effective</a:t>
            </a:r>
            <a:r>
              <a:rPr lang="en-US" baseline="0" dirty="0"/>
              <a:t> user id, </a:t>
            </a:r>
            <a:r>
              <a:rPr lang="en-US" baseline="0" dirty="0" err="1"/>
              <a:t>Egid</a:t>
            </a:r>
            <a:r>
              <a:rPr lang="en-US" baseline="0" dirty="0"/>
              <a:t>:  effective group id</a:t>
            </a:r>
          </a:p>
          <a:p>
            <a:r>
              <a:rPr lang="en-US" baseline="0" dirty="0" err="1"/>
              <a:t>Ruid</a:t>
            </a:r>
            <a:r>
              <a:rPr lang="en-US" baseline="0" dirty="0"/>
              <a:t>: Real user id, </a:t>
            </a:r>
            <a:r>
              <a:rPr lang="en-US" baseline="0" dirty="0" err="1"/>
              <a:t>Rgid</a:t>
            </a:r>
            <a:r>
              <a:rPr lang="en-US" baseline="0" dirty="0"/>
              <a:t>: real group id.</a:t>
            </a:r>
          </a:p>
          <a:p>
            <a:r>
              <a:rPr lang="en-US" baseline="0" dirty="0" err="1"/>
              <a:t>Suid</a:t>
            </a:r>
            <a:r>
              <a:rPr lang="en-US" baseline="0" dirty="0"/>
              <a:t>: set user id, </a:t>
            </a:r>
            <a:r>
              <a:rPr lang="en-US" baseline="0" dirty="0" err="1"/>
              <a:t>sgid</a:t>
            </a:r>
            <a:r>
              <a:rPr lang="en-US" baseline="0" dirty="0"/>
              <a:t>: set group id. </a:t>
            </a:r>
            <a:r>
              <a:rPr lang="en-US" baseline="0" dirty="0" err="1"/>
              <a:t>Suid</a:t>
            </a:r>
            <a:r>
              <a:rPr lang="en-US" baseline="0" dirty="0"/>
              <a:t> sometimes represents saved </a:t>
            </a:r>
            <a:r>
              <a:rPr lang="en-US" baseline="0" dirty="0" err="1"/>
              <a:t>uid</a:t>
            </a:r>
            <a:r>
              <a:rPr lang="en-US" baseline="0" dirty="0"/>
              <a:t>. </a:t>
            </a:r>
            <a:endParaRPr lang="en-US" dirty="0"/>
          </a:p>
        </p:txBody>
      </p:sp>
      <p:sp>
        <p:nvSpPr>
          <p:cNvPr id="4" name="Slide Number Placeholder 3"/>
          <p:cNvSpPr>
            <a:spLocks noGrp="1"/>
          </p:cNvSpPr>
          <p:nvPr>
            <p:ph type="sldNum" sz="quarter" idx="10"/>
          </p:nvPr>
        </p:nvSpPr>
        <p:spPr/>
        <p:txBody>
          <a:bodyPr/>
          <a:lstStyle/>
          <a:p>
            <a:fld id="{A89CF254-E47E-2C44-98AF-85D52326CB77}" type="slidenum">
              <a:rPr lang="en-US" smtClean="0"/>
              <a:t>35</a:t>
            </a:fld>
            <a:endParaRPr lang="en-US"/>
          </a:p>
        </p:txBody>
      </p:sp>
    </p:spTree>
    <p:extLst>
      <p:ext uri="{BB962C8B-B14F-4D97-AF65-F5344CB8AC3E}">
        <p14:creationId xmlns:p14="http://schemas.microsoft.com/office/powerpoint/2010/main" val="30525072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latin typeface="Times New Roman" panose="02020603050405020304" pitchFamily="18" charset="0"/>
              </a:rPr>
              <a:t>Windows has two forms of access control list (ACL). The first is Discretionary ACL (DACL), which grants or denies access to protected resources in Windows such as files, shared memory, named pipes, and so on. The other kind of ACL is the System ACL (ACL), which is used for auditing and in Windows Vista used to enforce mandatory integrity policy. </a:t>
            </a:r>
          </a:p>
          <a:p>
            <a:endParaRPr lang="en-US" dirty="0"/>
          </a:p>
        </p:txBody>
      </p:sp>
      <p:sp>
        <p:nvSpPr>
          <p:cNvPr id="4" name="Slide Number Placeholder 3"/>
          <p:cNvSpPr>
            <a:spLocks noGrp="1"/>
          </p:cNvSpPr>
          <p:nvPr>
            <p:ph type="sldNum" sz="quarter" idx="10"/>
          </p:nvPr>
        </p:nvSpPr>
        <p:spPr/>
        <p:txBody>
          <a:bodyPr/>
          <a:lstStyle/>
          <a:p>
            <a:fld id="{A89CF254-E47E-2C44-98AF-85D52326CB77}" type="slidenum">
              <a:rPr lang="en-US" smtClean="0"/>
              <a:t>39</a:t>
            </a:fld>
            <a:endParaRPr lang="en-US"/>
          </a:p>
        </p:txBody>
      </p:sp>
    </p:spTree>
    <p:extLst>
      <p:ext uri="{BB962C8B-B14F-4D97-AF65-F5344CB8AC3E}">
        <p14:creationId xmlns:p14="http://schemas.microsoft.com/office/powerpoint/2010/main" val="359197006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ORW: </a:t>
            </a:r>
            <a:r>
              <a:rPr lang="en-US" i="1" dirty="0"/>
              <a:t>read, write, </a:t>
            </a:r>
            <a:r>
              <a:rPr lang="en-US" dirty="0"/>
              <a:t>and </a:t>
            </a:r>
            <a:r>
              <a:rPr lang="en-US" i="1" dirty="0"/>
              <a:t>execute </a:t>
            </a:r>
            <a:r>
              <a:rPr lang="en-US" dirty="0"/>
              <a:t>along with </a:t>
            </a:r>
            <a:r>
              <a:rPr lang="en-US" i="1" dirty="0"/>
              <a:t>owner</a:t>
            </a:r>
            <a:r>
              <a:rPr lang="en-US" dirty="0"/>
              <a:t> access</a:t>
            </a:r>
          </a:p>
        </p:txBody>
      </p:sp>
      <p:sp>
        <p:nvSpPr>
          <p:cNvPr id="4" name="Slide Number Placeholder 3"/>
          <p:cNvSpPr>
            <a:spLocks noGrp="1"/>
          </p:cNvSpPr>
          <p:nvPr>
            <p:ph type="sldNum" sz="quarter" idx="5"/>
          </p:nvPr>
        </p:nvSpPr>
        <p:spPr/>
        <p:txBody>
          <a:bodyPr/>
          <a:lstStyle/>
          <a:p>
            <a:fld id="{A89CF254-E47E-2C44-98AF-85D52326CB77}" type="slidenum">
              <a:rPr lang="en-US" smtClean="0"/>
              <a:t>40</a:t>
            </a:fld>
            <a:endParaRPr lang="en-US"/>
          </a:p>
        </p:txBody>
      </p:sp>
    </p:spTree>
    <p:extLst>
      <p:ext uri="{BB962C8B-B14F-4D97-AF65-F5344CB8AC3E}">
        <p14:creationId xmlns:p14="http://schemas.microsoft.com/office/powerpoint/2010/main" val="348864353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sz="1200" dirty="0"/>
              <a:t>Mandatory access control (MAC) is an access policy determined by the system, not the owner. MAC is used in multilevel systems that process highly sensitive data, such as classified government and military information. </a:t>
            </a:r>
          </a:p>
          <a:p>
            <a:endParaRPr lang="en-US" altLang="en-US" sz="1200"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sz="1200" dirty="0"/>
              <a:t>Mandatory access control (MAC): </a:t>
            </a:r>
            <a:r>
              <a:rPr lang="en-US" altLang="en-US" dirty="0"/>
              <a:t>denying users full control over the access to resources that they create. The system security policy (as set by the administrator) entirely determines the access rights granted</a:t>
            </a:r>
          </a:p>
          <a:p>
            <a:endParaRPr lang="en-US" altLang="en-US" sz="1200" dirty="0"/>
          </a:p>
          <a:p>
            <a:endParaRPr lang="en-US" sz="1200"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sz="1200" dirty="0"/>
              <a:t>Discretionary access control:  (DAC) is an access policy determined by the owner of an object. The owner decides who is allowed to access the object and what privileges they have.</a:t>
            </a:r>
          </a:p>
          <a:p>
            <a:endParaRPr lang="en-US" dirty="0"/>
          </a:p>
        </p:txBody>
      </p:sp>
      <p:sp>
        <p:nvSpPr>
          <p:cNvPr id="4" name="Slide Number Placeholder 3"/>
          <p:cNvSpPr>
            <a:spLocks noGrp="1"/>
          </p:cNvSpPr>
          <p:nvPr>
            <p:ph type="sldNum" sz="quarter" idx="5"/>
          </p:nvPr>
        </p:nvSpPr>
        <p:spPr/>
        <p:txBody>
          <a:bodyPr/>
          <a:lstStyle/>
          <a:p>
            <a:fld id="{A89CF254-E47E-2C44-98AF-85D52326CB77}" type="slidenum">
              <a:rPr lang="en-US" smtClean="0"/>
              <a:t>48</a:t>
            </a:fld>
            <a:endParaRPr lang="en-US"/>
          </a:p>
        </p:txBody>
      </p:sp>
    </p:spTree>
    <p:extLst>
      <p:ext uri="{BB962C8B-B14F-4D97-AF65-F5344CB8AC3E}">
        <p14:creationId xmlns:p14="http://schemas.microsoft.com/office/powerpoint/2010/main" val="292299749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7">
            <a:extLst>
              <a:ext uri="{FF2B5EF4-FFF2-40B4-BE49-F238E27FC236}">
                <a16:creationId xmlns:a16="http://schemas.microsoft.com/office/drawing/2014/main" id="{02E934C7-4974-4F5D-BC5C-D7409447BFC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D30C097-91E7-4BBE-AE8D-5832002919A7}" type="slidenum">
              <a:rPr lang="en-US" altLang="en-US" sz="1300" smtClean="0">
                <a:latin typeface="Helvetica" panose="020B0604020202020204" pitchFamily="34" charset="0"/>
              </a:rPr>
              <a:pPr/>
              <a:t>49</a:t>
            </a:fld>
            <a:endParaRPr lang="en-US" altLang="en-US" sz="1300">
              <a:latin typeface="Helvetica" panose="020B0604020202020204" pitchFamily="34" charset="0"/>
            </a:endParaRPr>
          </a:p>
        </p:txBody>
      </p:sp>
      <p:sp>
        <p:nvSpPr>
          <p:cNvPr id="61442" name="Rectangle 2">
            <a:extLst>
              <a:ext uri="{FF2B5EF4-FFF2-40B4-BE49-F238E27FC236}">
                <a16:creationId xmlns:a16="http://schemas.microsoft.com/office/drawing/2014/main" id="{887D4ABE-C98C-4473-B629-9C753C3683A1}"/>
              </a:ext>
            </a:extLst>
          </p:cNvPr>
          <p:cNvSpPr>
            <a:spLocks noGrp="1" noRot="1" noChangeAspect="1" noChangeArrowheads="1" noTextEdit="1"/>
          </p:cNvSpPr>
          <p:nvPr>
            <p:ph type="sldImg"/>
          </p:nvPr>
        </p:nvSpPr>
        <p:spPr>
          <a:ln/>
        </p:spPr>
      </p:sp>
      <p:sp>
        <p:nvSpPr>
          <p:cNvPr id="61443" name="Rectangle 3">
            <a:extLst>
              <a:ext uri="{FF2B5EF4-FFF2-40B4-BE49-F238E27FC236}">
                <a16:creationId xmlns:a16="http://schemas.microsoft.com/office/drawing/2014/main" id="{D4A1167B-2F7C-4D24-AE6E-CD8FCB145C9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7">
            <a:extLst>
              <a:ext uri="{FF2B5EF4-FFF2-40B4-BE49-F238E27FC236}">
                <a16:creationId xmlns:a16="http://schemas.microsoft.com/office/drawing/2014/main" id="{2421547A-EE69-44D7-8088-38E0DED1426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80309A5-F919-4B7C-91E6-1B3DE53E4ABA}" type="slidenum">
              <a:rPr lang="en-US" altLang="en-US" sz="1300" smtClean="0">
                <a:latin typeface="Helvetica" panose="020B0604020202020204" pitchFamily="34" charset="0"/>
              </a:rPr>
              <a:pPr/>
              <a:t>50</a:t>
            </a:fld>
            <a:endParaRPr lang="en-US" altLang="en-US" sz="1300">
              <a:latin typeface="Helvetica" panose="020B0604020202020204" pitchFamily="34" charset="0"/>
            </a:endParaRPr>
          </a:p>
        </p:txBody>
      </p:sp>
      <p:sp>
        <p:nvSpPr>
          <p:cNvPr id="59394" name="Rectangle 2">
            <a:extLst>
              <a:ext uri="{FF2B5EF4-FFF2-40B4-BE49-F238E27FC236}">
                <a16:creationId xmlns:a16="http://schemas.microsoft.com/office/drawing/2014/main" id="{17CF7F9F-FBB2-465E-942D-FDBDF80454F6}"/>
              </a:ext>
            </a:extLst>
          </p:cNvPr>
          <p:cNvSpPr>
            <a:spLocks noGrp="1" noRot="1" noChangeAspect="1" noChangeArrowheads="1" noTextEdit="1"/>
          </p:cNvSpPr>
          <p:nvPr>
            <p:ph type="sldImg"/>
          </p:nvPr>
        </p:nvSpPr>
        <p:spPr>
          <a:ln/>
        </p:spPr>
      </p:sp>
      <p:sp>
        <p:nvSpPr>
          <p:cNvPr id="59395" name="Rectangle 3">
            <a:extLst>
              <a:ext uri="{FF2B5EF4-FFF2-40B4-BE49-F238E27FC236}">
                <a16:creationId xmlns:a16="http://schemas.microsoft.com/office/drawing/2014/main" id="{A5453376-9E22-4DBE-A746-241C1B35B45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16FD8AD-EACC-4D34-BB7A-74D97041A7E2}" type="slidenum">
              <a:rPr lang="en-US" altLang="en-US"/>
              <a:pPr/>
              <a:t>63</a:t>
            </a:fld>
            <a:endParaRPr lang="en-US" altLang="en-US"/>
          </a:p>
        </p:txBody>
      </p:sp>
      <p:sp>
        <p:nvSpPr>
          <p:cNvPr id="235522" name="Rectangle 2"/>
          <p:cNvSpPr>
            <a:spLocks noGrp="1" noRot="1" noChangeAspect="1" noChangeArrowheads="1" noTextEdit="1"/>
          </p:cNvSpPr>
          <p:nvPr>
            <p:ph type="sldImg"/>
          </p:nvPr>
        </p:nvSpPr>
        <p:spPr>
          <a:ln/>
        </p:spPr>
      </p:sp>
      <p:sp>
        <p:nvSpPr>
          <p:cNvPr id="235523" name="Rectangle 3"/>
          <p:cNvSpPr>
            <a:spLocks noGrp="1" noChangeArrowheads="1"/>
          </p:cNvSpPr>
          <p:nvPr>
            <p:ph type="body" idx="1"/>
          </p:nvPr>
        </p:nvSpPr>
        <p:spPr/>
        <p:txBody>
          <a:bodyPr/>
          <a:lstStyle/>
          <a:p>
            <a:pPr lvl="1"/>
            <a:r>
              <a:rPr lang="en-US" altLang="en-US" dirty="0"/>
              <a:t>In order to police the interactions between objects, Windows must first determine the trustworthiness, or integrity level of each object. WIC assigns one of the following six integrity levels to each object:</a:t>
            </a:r>
          </a:p>
          <a:p>
            <a:pPr lvl="1"/>
            <a:endParaRPr lang="en-US" altLang="en-US" dirty="0"/>
          </a:p>
          <a:p>
            <a:pPr lvl="2"/>
            <a:r>
              <a:rPr lang="en-US" altLang="en-US" b="1" dirty="0"/>
              <a:t>Untrusted. </a:t>
            </a:r>
            <a:r>
              <a:rPr lang="en-US" altLang="en-US" dirty="0"/>
              <a:t>Rarely seen; for anonymous logons.</a:t>
            </a:r>
          </a:p>
          <a:p>
            <a:pPr lvl="2"/>
            <a:r>
              <a:rPr lang="en-US" altLang="en-US" b="1" dirty="0"/>
              <a:t>Low. </a:t>
            </a:r>
            <a:r>
              <a:rPr lang="en-US" altLang="en-US" dirty="0"/>
              <a:t>Internet features (including IE 7 and the Temporary Internet Files folder).</a:t>
            </a:r>
          </a:p>
          <a:p>
            <a:pPr lvl="2"/>
            <a:r>
              <a:rPr lang="en-US" altLang="en-US" b="1" dirty="0"/>
              <a:t>Medium. </a:t>
            </a:r>
            <a:r>
              <a:rPr lang="en-US" altLang="en-US" dirty="0"/>
              <a:t>The default integrity level. Used for Standard User accounts and most files.</a:t>
            </a:r>
          </a:p>
          <a:p>
            <a:pPr lvl="2"/>
            <a:r>
              <a:rPr lang="en-US" altLang="en-US" b="1" dirty="0"/>
              <a:t>High. </a:t>
            </a:r>
            <a:r>
              <a:rPr lang="en-US" altLang="en-US" dirty="0"/>
              <a:t>Administrator accounts.</a:t>
            </a:r>
          </a:p>
          <a:p>
            <a:pPr lvl="2"/>
            <a:r>
              <a:rPr lang="en-US" altLang="en-US" b="1" dirty="0"/>
              <a:t>System. </a:t>
            </a:r>
            <a:r>
              <a:rPr lang="en-US" altLang="en-US" dirty="0"/>
              <a:t>Most of the kernel and system services.</a:t>
            </a:r>
          </a:p>
          <a:p>
            <a:pPr lvl="2"/>
            <a:r>
              <a:rPr lang="en-US" altLang="en-US" b="1" dirty="0"/>
              <a:t>Installer. </a:t>
            </a:r>
            <a:r>
              <a:rPr lang="en-US" altLang="en-US" dirty="0"/>
              <a:t>Why? Because installers need to have a higher integrity level than other objects in order to ensure uninstall works properly.</a:t>
            </a:r>
          </a:p>
          <a:p>
            <a:pPr lvl="2"/>
            <a:endParaRPr lang="en-US" altLang="en-US" dirty="0"/>
          </a:p>
          <a:p>
            <a:endParaRPr lang="en-US" altLang="en-US" dirty="0"/>
          </a:p>
        </p:txBody>
      </p:sp>
    </p:spTree>
    <p:extLst>
      <p:ext uri="{BB962C8B-B14F-4D97-AF65-F5344CB8AC3E}">
        <p14:creationId xmlns:p14="http://schemas.microsoft.com/office/powerpoint/2010/main" val="32794939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58F2609-EDBF-2143-8AA0-E9E74E1D3492}" type="datetimeFigureOut">
              <a:rPr lang="en-US" smtClean="0"/>
              <a:t>10/22/2025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79DEDD2-6753-354F-B3EC-25E3BB2E17CD}" type="slidenum">
              <a:rPr lang="en-US" smtClean="0"/>
              <a:t>‹#›</a:t>
            </a:fld>
            <a:endParaRPr lang="en-US"/>
          </a:p>
        </p:txBody>
      </p:sp>
    </p:spTree>
    <p:extLst>
      <p:ext uri="{BB962C8B-B14F-4D97-AF65-F5344CB8AC3E}">
        <p14:creationId xmlns:p14="http://schemas.microsoft.com/office/powerpoint/2010/main" val="9209017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58F2609-EDBF-2143-8AA0-E9E74E1D3492}" type="datetimeFigureOut">
              <a:rPr lang="en-US" smtClean="0"/>
              <a:t>10/22/2025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79DEDD2-6753-354F-B3EC-25E3BB2E17CD}" type="slidenum">
              <a:rPr lang="en-US" smtClean="0"/>
              <a:t>‹#›</a:t>
            </a:fld>
            <a:endParaRPr lang="en-US"/>
          </a:p>
        </p:txBody>
      </p:sp>
    </p:spTree>
    <p:extLst>
      <p:ext uri="{BB962C8B-B14F-4D97-AF65-F5344CB8AC3E}">
        <p14:creationId xmlns:p14="http://schemas.microsoft.com/office/powerpoint/2010/main" val="3810622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58F2609-EDBF-2143-8AA0-E9E74E1D3492}" type="datetimeFigureOut">
              <a:rPr lang="en-US" smtClean="0"/>
              <a:t>10/22/2025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79DEDD2-6753-354F-B3EC-25E3BB2E17CD}" type="slidenum">
              <a:rPr lang="en-US" smtClean="0"/>
              <a:t>‹#›</a:t>
            </a:fld>
            <a:endParaRPr lang="en-US"/>
          </a:p>
        </p:txBody>
      </p:sp>
    </p:spTree>
    <p:extLst>
      <p:ext uri="{BB962C8B-B14F-4D97-AF65-F5344CB8AC3E}">
        <p14:creationId xmlns:p14="http://schemas.microsoft.com/office/powerpoint/2010/main" val="29951632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58F2609-EDBF-2143-8AA0-E9E74E1D3492}" type="datetimeFigureOut">
              <a:rPr lang="en-US" smtClean="0"/>
              <a:t>10/22/2025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79DEDD2-6753-354F-B3EC-25E3BB2E17CD}" type="slidenum">
              <a:rPr lang="en-US" smtClean="0"/>
              <a:t>‹#›</a:t>
            </a:fld>
            <a:endParaRPr lang="en-US"/>
          </a:p>
        </p:txBody>
      </p:sp>
    </p:spTree>
    <p:extLst>
      <p:ext uri="{BB962C8B-B14F-4D97-AF65-F5344CB8AC3E}">
        <p14:creationId xmlns:p14="http://schemas.microsoft.com/office/powerpoint/2010/main" val="16975283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58F2609-EDBF-2143-8AA0-E9E74E1D3492}" type="datetimeFigureOut">
              <a:rPr lang="en-US" smtClean="0"/>
              <a:t>10/22/2025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79DEDD2-6753-354F-B3EC-25E3BB2E17CD}" type="slidenum">
              <a:rPr lang="en-US" smtClean="0"/>
              <a:t>‹#›</a:t>
            </a:fld>
            <a:endParaRPr lang="en-US"/>
          </a:p>
        </p:txBody>
      </p:sp>
    </p:spTree>
    <p:extLst>
      <p:ext uri="{BB962C8B-B14F-4D97-AF65-F5344CB8AC3E}">
        <p14:creationId xmlns:p14="http://schemas.microsoft.com/office/powerpoint/2010/main" val="29817929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58F2609-EDBF-2143-8AA0-E9E74E1D3492}" type="datetimeFigureOut">
              <a:rPr lang="en-US" smtClean="0"/>
              <a:t>10/22/2025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79DEDD2-6753-354F-B3EC-25E3BB2E17CD}" type="slidenum">
              <a:rPr lang="en-US" smtClean="0"/>
              <a:t>‹#›</a:t>
            </a:fld>
            <a:endParaRPr lang="en-US"/>
          </a:p>
        </p:txBody>
      </p:sp>
    </p:spTree>
    <p:extLst>
      <p:ext uri="{BB962C8B-B14F-4D97-AF65-F5344CB8AC3E}">
        <p14:creationId xmlns:p14="http://schemas.microsoft.com/office/powerpoint/2010/main" val="16210586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58F2609-EDBF-2143-8AA0-E9E74E1D3492}" type="datetimeFigureOut">
              <a:rPr lang="en-US" smtClean="0"/>
              <a:t>10/22/2025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79DEDD2-6753-354F-B3EC-25E3BB2E17CD}" type="slidenum">
              <a:rPr lang="en-US" smtClean="0"/>
              <a:t>‹#›</a:t>
            </a:fld>
            <a:endParaRPr lang="en-US"/>
          </a:p>
        </p:txBody>
      </p:sp>
    </p:spTree>
    <p:extLst>
      <p:ext uri="{BB962C8B-B14F-4D97-AF65-F5344CB8AC3E}">
        <p14:creationId xmlns:p14="http://schemas.microsoft.com/office/powerpoint/2010/main" val="12964098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58F2609-EDBF-2143-8AA0-E9E74E1D3492}" type="datetimeFigureOut">
              <a:rPr lang="en-US" smtClean="0"/>
              <a:t>10/22/2025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79DEDD2-6753-354F-B3EC-25E3BB2E17CD}" type="slidenum">
              <a:rPr lang="en-US" smtClean="0"/>
              <a:t>‹#›</a:t>
            </a:fld>
            <a:endParaRPr lang="en-US"/>
          </a:p>
        </p:txBody>
      </p:sp>
    </p:spTree>
    <p:extLst>
      <p:ext uri="{BB962C8B-B14F-4D97-AF65-F5344CB8AC3E}">
        <p14:creationId xmlns:p14="http://schemas.microsoft.com/office/powerpoint/2010/main" val="35521315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58F2609-EDBF-2143-8AA0-E9E74E1D3492}" type="datetimeFigureOut">
              <a:rPr lang="en-US" smtClean="0"/>
              <a:t>10/22/2025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79DEDD2-6753-354F-B3EC-25E3BB2E17CD}" type="slidenum">
              <a:rPr lang="en-US" smtClean="0"/>
              <a:t>‹#›</a:t>
            </a:fld>
            <a:endParaRPr lang="en-US"/>
          </a:p>
        </p:txBody>
      </p:sp>
    </p:spTree>
    <p:extLst>
      <p:ext uri="{BB962C8B-B14F-4D97-AF65-F5344CB8AC3E}">
        <p14:creationId xmlns:p14="http://schemas.microsoft.com/office/powerpoint/2010/main" val="12306188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58F2609-EDBF-2143-8AA0-E9E74E1D3492}" type="datetimeFigureOut">
              <a:rPr lang="en-US" smtClean="0"/>
              <a:t>10/22/2025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79DEDD2-6753-354F-B3EC-25E3BB2E17CD}" type="slidenum">
              <a:rPr lang="en-US" smtClean="0"/>
              <a:t>‹#›</a:t>
            </a:fld>
            <a:endParaRPr lang="en-US"/>
          </a:p>
        </p:txBody>
      </p:sp>
    </p:spTree>
    <p:extLst>
      <p:ext uri="{BB962C8B-B14F-4D97-AF65-F5344CB8AC3E}">
        <p14:creationId xmlns:p14="http://schemas.microsoft.com/office/powerpoint/2010/main" val="30007162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58F2609-EDBF-2143-8AA0-E9E74E1D3492}" type="datetimeFigureOut">
              <a:rPr lang="en-US" smtClean="0"/>
              <a:t>10/22/2025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79DEDD2-6753-354F-B3EC-25E3BB2E17CD}" type="slidenum">
              <a:rPr lang="en-US" smtClean="0"/>
              <a:t>‹#›</a:t>
            </a:fld>
            <a:endParaRPr lang="en-US"/>
          </a:p>
        </p:txBody>
      </p:sp>
    </p:spTree>
    <p:extLst>
      <p:ext uri="{BB962C8B-B14F-4D97-AF65-F5344CB8AC3E}">
        <p14:creationId xmlns:p14="http://schemas.microsoft.com/office/powerpoint/2010/main" val="11566453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58F2609-EDBF-2143-8AA0-E9E74E1D3492}" type="datetimeFigureOut">
              <a:rPr lang="en-US" smtClean="0"/>
              <a:t>10/22/2025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79DEDD2-6753-354F-B3EC-25E3BB2E17CD}" type="slidenum">
              <a:rPr lang="en-US" smtClean="0"/>
              <a:t>‹#›</a:t>
            </a:fld>
            <a:endParaRPr lang="en-US"/>
          </a:p>
        </p:txBody>
      </p:sp>
    </p:spTree>
    <p:extLst>
      <p:ext uri="{BB962C8B-B14F-4D97-AF65-F5344CB8AC3E}">
        <p14:creationId xmlns:p14="http://schemas.microsoft.com/office/powerpoint/2010/main" val="40809835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2.wav"/><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audio" Target="../media/audio2.wav"/><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46.xml.rels><?xml version="1.0" encoding="UTF-8" standalone="yes"?>
<Relationships xmlns="http://schemas.openxmlformats.org/package/2006/relationships"><Relationship Id="rId2" Type="http://schemas.openxmlformats.org/officeDocument/2006/relationships/audio" Target="../media/audio2.wav"/><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hyperlink" Target="http://www.cis.upenn.edu/~KeyKOS/ConfusedDeputy.html" TargetMode="External"/><Relationship Id="rId2" Type="http://schemas.openxmlformats.org/officeDocument/2006/relationships/audio" Target="../media/audio2.wav"/><Relationship Id="rId1" Type="http://schemas.openxmlformats.org/officeDocument/2006/relationships/slideLayout" Target="../slideLayouts/slideLayout2.xml"/><Relationship Id="rId4" Type="http://schemas.openxmlformats.org/officeDocument/2006/relationships/hyperlink" Target="http://www.erights.org/elib/capability/duals/myths.html" TargetMode="Externa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Operating System -- Security</a:t>
            </a:r>
          </a:p>
        </p:txBody>
      </p:sp>
      <p:sp>
        <p:nvSpPr>
          <p:cNvPr id="3" name="Subtitle 2"/>
          <p:cNvSpPr>
            <a:spLocks noGrp="1"/>
          </p:cNvSpPr>
          <p:nvPr>
            <p:ph type="subTitle" idx="1"/>
          </p:nvPr>
        </p:nvSpPr>
        <p:spPr/>
        <p:txBody>
          <a:bodyPr/>
          <a:lstStyle/>
          <a:p>
            <a:pPr algn="l" eaLnBrk="1" hangingPunct="1">
              <a:lnSpc>
                <a:spcPct val="100000"/>
              </a:lnSpc>
              <a:spcBef>
                <a:spcPct val="50000"/>
              </a:spcBef>
            </a:pPr>
            <a:r>
              <a:rPr lang="en-US" altLang="en-US" dirty="0">
                <a:solidFill>
                  <a:srgbClr val="00B0F0"/>
                </a:solidFill>
              </a:rPr>
              <a:t>This lecture slide is mainly based on the power point slides by Professor Lawrie Brown, and Dr. </a:t>
            </a:r>
            <a:r>
              <a:rPr lang="en-US" altLang="en-US" dirty="0" err="1">
                <a:solidFill>
                  <a:srgbClr val="00B0F0"/>
                </a:solidFill>
              </a:rPr>
              <a:t>Junjie</a:t>
            </a:r>
            <a:r>
              <a:rPr lang="en-US" altLang="en-US" dirty="0">
                <a:solidFill>
                  <a:srgbClr val="00B0F0"/>
                </a:solidFill>
              </a:rPr>
              <a:t> Zhang.</a:t>
            </a:r>
          </a:p>
        </p:txBody>
      </p:sp>
    </p:spTree>
    <p:extLst>
      <p:ext uri="{BB962C8B-B14F-4D97-AF65-F5344CB8AC3E}">
        <p14:creationId xmlns:p14="http://schemas.microsoft.com/office/powerpoint/2010/main" val="14660284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Security in Operating Systems</a:t>
            </a:r>
          </a:p>
        </p:txBody>
      </p:sp>
      <p:sp>
        <p:nvSpPr>
          <p:cNvPr id="3" name="Content Placeholder 2"/>
          <p:cNvSpPr>
            <a:spLocks noGrp="1"/>
          </p:cNvSpPr>
          <p:nvPr>
            <p:ph idx="1"/>
          </p:nvPr>
        </p:nvSpPr>
        <p:spPr>
          <a:xfrm>
            <a:off x="457200" y="1259958"/>
            <a:ext cx="8229600" cy="4525963"/>
          </a:xfrm>
        </p:spPr>
        <p:txBody>
          <a:bodyPr>
            <a:normAutofit fontScale="77500" lnSpcReduction="20000"/>
          </a:bodyPr>
          <a:lstStyle/>
          <a:p>
            <a:r>
              <a:rPr lang="en-US" altLang="en-US" dirty="0"/>
              <a:t>OS: Controls and coordinates the use of the hardware among the various application programs.</a:t>
            </a:r>
          </a:p>
          <a:p>
            <a:r>
              <a:rPr lang="en-US" dirty="0"/>
              <a:t>Originally no operating systems, users entered binary directly with physical switches</a:t>
            </a:r>
          </a:p>
          <a:p>
            <a:r>
              <a:rPr lang="en-US" b="1" dirty="0"/>
              <a:t>Executives</a:t>
            </a:r>
            <a:r>
              <a:rPr lang="en-US" dirty="0"/>
              <a:t> were rudimentary utilities to assist programmers</a:t>
            </a:r>
          </a:p>
          <a:p>
            <a:r>
              <a:rPr lang="en-US" b="1" dirty="0" err="1"/>
              <a:t>Multiprogrammed</a:t>
            </a:r>
            <a:r>
              <a:rPr lang="en-US" b="1" dirty="0"/>
              <a:t> operating systems</a:t>
            </a:r>
            <a:r>
              <a:rPr lang="en-US" dirty="0"/>
              <a:t> actively oversaw each program's execution</a:t>
            </a:r>
          </a:p>
          <a:p>
            <a:r>
              <a:rPr lang="en-US" dirty="0"/>
              <a:t>Operating systems mean that several aspects of computing systems require protection: </a:t>
            </a:r>
          </a:p>
          <a:p>
            <a:pPr lvl="1"/>
            <a:r>
              <a:rPr lang="en-US" dirty="0"/>
              <a:t>Memory, shareable I/O (disks, etc.), serial I/O (printers, etc.), sharable programs and </a:t>
            </a:r>
            <a:r>
              <a:rPr lang="en-US" dirty="0" err="1"/>
              <a:t>subprocedures</a:t>
            </a:r>
            <a:r>
              <a:rPr lang="en-US" dirty="0"/>
              <a:t>, networks, sharable data</a:t>
            </a:r>
          </a:p>
        </p:txBody>
      </p:sp>
    </p:spTree>
    <p:extLst>
      <p:ext uri="{BB962C8B-B14F-4D97-AF65-F5344CB8AC3E}">
        <p14:creationId xmlns:p14="http://schemas.microsoft.com/office/powerpoint/2010/main" val="31551366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7" name="Rectangle 2"/>
          <p:cNvSpPr>
            <a:spLocks noGrp="1" noChangeArrowheads="1"/>
          </p:cNvSpPr>
          <p:nvPr>
            <p:ph type="title"/>
          </p:nvPr>
        </p:nvSpPr>
        <p:spPr>
          <a:xfrm>
            <a:off x="457200" y="152400"/>
            <a:ext cx="8229600" cy="1143000"/>
          </a:xfrm>
        </p:spPr>
        <p:txBody>
          <a:bodyPr>
            <a:normAutofit fontScale="90000"/>
          </a:bodyPr>
          <a:lstStyle/>
          <a:p>
            <a:pPr eaLnBrk="1" hangingPunct="1"/>
            <a:r>
              <a:rPr lang="en-US" altLang="en-US" sz="4000"/>
              <a:t>What Security Goals Does Operating System Provide?</a:t>
            </a:r>
          </a:p>
        </p:txBody>
      </p:sp>
      <p:sp>
        <p:nvSpPr>
          <p:cNvPr id="338947" name="Rectangle 3"/>
          <p:cNvSpPr>
            <a:spLocks noGrp="1" noChangeArrowheads="1"/>
          </p:cNvSpPr>
          <p:nvPr>
            <p:ph type="body" idx="1"/>
          </p:nvPr>
        </p:nvSpPr>
        <p:spPr>
          <a:xfrm>
            <a:off x="457200" y="1524000"/>
            <a:ext cx="8305800" cy="4648200"/>
          </a:xfrm>
        </p:spPr>
        <p:txBody>
          <a:bodyPr/>
          <a:lstStyle/>
          <a:p>
            <a:pPr eaLnBrk="1" hangingPunct="1"/>
            <a:r>
              <a:rPr lang="en-US" altLang="en-US" sz="2400" dirty="0"/>
              <a:t>Originally: time-sharing computers: enabling multiple users to securely share a computer</a:t>
            </a:r>
          </a:p>
          <a:p>
            <a:pPr lvl="1" eaLnBrk="1" hangingPunct="1"/>
            <a:r>
              <a:rPr lang="en-US" altLang="en-US" sz="2000" dirty="0"/>
              <a:t>Separation and sharing of processes, memory, files, devices, etc.</a:t>
            </a:r>
          </a:p>
          <a:p>
            <a:pPr eaLnBrk="1" hangingPunct="1"/>
            <a:r>
              <a:rPr lang="en-US" altLang="en-US" sz="2400" dirty="0"/>
              <a:t>What is the threat model?</a:t>
            </a:r>
          </a:p>
          <a:p>
            <a:pPr lvl="1" eaLnBrk="1" hangingPunct="1"/>
            <a:r>
              <a:rPr lang="en-US" altLang="en-US" sz="2000" dirty="0"/>
              <a:t>Users may be malicious, users have terminal access to computers, software may be malicious/buggy, and so on</a:t>
            </a:r>
          </a:p>
          <a:p>
            <a:pPr eaLnBrk="1" hangingPunct="1"/>
            <a:r>
              <a:rPr lang="en-US" altLang="en-US" sz="2400" dirty="0"/>
              <a:t>Security mechanisms</a:t>
            </a:r>
          </a:p>
          <a:p>
            <a:pPr lvl="1" eaLnBrk="1" hangingPunct="1"/>
            <a:r>
              <a:rPr lang="en-US" altLang="en-US" sz="2000" dirty="0"/>
              <a:t>Memory protection</a:t>
            </a:r>
          </a:p>
          <a:p>
            <a:pPr lvl="1" eaLnBrk="1" hangingPunct="1"/>
            <a:r>
              <a:rPr lang="en-US" altLang="en-US" sz="2000" dirty="0"/>
              <a:t>Processor modes</a:t>
            </a:r>
          </a:p>
          <a:p>
            <a:pPr lvl="1" eaLnBrk="1" hangingPunct="1"/>
            <a:r>
              <a:rPr lang="en-US" altLang="en-US" sz="2000" dirty="0"/>
              <a:t>User authentication</a:t>
            </a:r>
          </a:p>
          <a:p>
            <a:pPr lvl="1" eaLnBrk="1" hangingPunct="1"/>
            <a:r>
              <a:rPr lang="en-US" altLang="en-US" sz="2000" dirty="0"/>
              <a:t>File access control</a:t>
            </a:r>
          </a:p>
        </p:txBody>
      </p:sp>
    </p:spTree>
    <p:extLst>
      <p:ext uri="{BB962C8B-B14F-4D97-AF65-F5344CB8AC3E}">
        <p14:creationId xmlns:p14="http://schemas.microsoft.com/office/powerpoint/2010/main" val="416536816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894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38947">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38947">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38947">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38947">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38947">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38947">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38947">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3894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8947" grpId="0" build="p"/>
    </p:bld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461" name="Rectangle 2"/>
          <p:cNvSpPr>
            <a:spLocks noGrp="1" noChangeArrowheads="1"/>
          </p:cNvSpPr>
          <p:nvPr>
            <p:ph type="title"/>
          </p:nvPr>
        </p:nvSpPr>
        <p:spPr>
          <a:xfrm>
            <a:off x="457200" y="76200"/>
            <a:ext cx="8229600" cy="1143000"/>
          </a:xfrm>
        </p:spPr>
        <p:txBody>
          <a:bodyPr>
            <a:normAutofit fontScale="90000"/>
          </a:bodyPr>
          <a:lstStyle/>
          <a:p>
            <a:pPr eaLnBrk="1" hangingPunct="1"/>
            <a:r>
              <a:rPr lang="en-US" altLang="en-US" sz="4000"/>
              <a:t>What Security Goals Does Operating System Provide? </a:t>
            </a:r>
          </a:p>
        </p:txBody>
      </p:sp>
      <p:sp>
        <p:nvSpPr>
          <p:cNvPr id="339971" name="Rectangle 3"/>
          <p:cNvSpPr>
            <a:spLocks noGrp="1" noChangeArrowheads="1"/>
          </p:cNvSpPr>
          <p:nvPr>
            <p:ph type="body" idx="1"/>
          </p:nvPr>
        </p:nvSpPr>
        <p:spPr/>
        <p:txBody>
          <a:bodyPr>
            <a:normAutofit lnSpcReduction="10000"/>
          </a:bodyPr>
          <a:lstStyle/>
          <a:p>
            <a:pPr eaLnBrk="1" hangingPunct="1"/>
            <a:r>
              <a:rPr lang="en-US" altLang="en-US" sz="2400" dirty="0"/>
              <a:t>More recent past and present: Networked desktop computers: ensure secure operation in networked environment</a:t>
            </a:r>
          </a:p>
          <a:p>
            <a:pPr eaLnBrk="1" hangingPunct="1"/>
            <a:r>
              <a:rPr lang="en-US" altLang="en-US" sz="2400" dirty="0"/>
              <a:t>New threat?</a:t>
            </a:r>
          </a:p>
          <a:p>
            <a:pPr lvl="1" eaLnBrk="1" hangingPunct="1"/>
            <a:r>
              <a:rPr lang="en-US" altLang="en-US" sz="2000" dirty="0"/>
              <a:t>Attackers coming from the network. Network-facing programs on computers may be buggy.  Users may be hurt via online communication.</a:t>
            </a:r>
          </a:p>
          <a:p>
            <a:pPr eaLnBrk="1" hangingPunct="1"/>
            <a:r>
              <a:rPr lang="en-US" altLang="en-US" sz="2400" dirty="0"/>
              <a:t>Security mechanisms</a:t>
            </a:r>
          </a:p>
          <a:p>
            <a:pPr lvl="1" eaLnBrk="1" hangingPunct="1"/>
            <a:r>
              <a:rPr lang="en-US" altLang="en-US" sz="2000" dirty="0"/>
              <a:t>Authentication; Access Control</a:t>
            </a:r>
          </a:p>
          <a:p>
            <a:pPr lvl="1" eaLnBrk="1" hangingPunct="1"/>
            <a:r>
              <a:rPr lang="en-US" altLang="en-US" sz="2000" dirty="0"/>
              <a:t>Secure Communication (using cryptography)</a:t>
            </a:r>
          </a:p>
          <a:p>
            <a:pPr lvl="1" eaLnBrk="1" hangingPunct="1"/>
            <a:r>
              <a:rPr lang="en-US" altLang="en-US" sz="2000" dirty="0"/>
              <a:t>Logging &amp; Auditing</a:t>
            </a:r>
          </a:p>
          <a:p>
            <a:pPr lvl="1" eaLnBrk="1" hangingPunct="1"/>
            <a:r>
              <a:rPr lang="en-US" altLang="en-US" sz="2000" dirty="0"/>
              <a:t>Intrusion Prevention and Detection </a:t>
            </a:r>
          </a:p>
          <a:p>
            <a:pPr lvl="1" eaLnBrk="1" hangingPunct="1"/>
            <a:r>
              <a:rPr lang="en-US" altLang="en-US" sz="2000" dirty="0"/>
              <a:t>Recovery</a:t>
            </a:r>
          </a:p>
        </p:txBody>
      </p:sp>
    </p:spTree>
    <p:extLst>
      <p:ext uri="{BB962C8B-B14F-4D97-AF65-F5344CB8AC3E}">
        <p14:creationId xmlns:p14="http://schemas.microsoft.com/office/powerpoint/2010/main" val="337452786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997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39971">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39971">
                                            <p:txEl>
                                              <p:pRg st="2" end="2"/>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39971">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39971">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39971">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39971">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39971">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3997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9971"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a:xfrm>
            <a:off x="457200" y="152400"/>
            <a:ext cx="8229600" cy="1143000"/>
          </a:xfrm>
        </p:spPr>
        <p:txBody>
          <a:bodyPr>
            <a:normAutofit fontScale="90000"/>
          </a:bodyPr>
          <a:lstStyle/>
          <a:p>
            <a:r>
              <a:rPr lang="en-US" altLang="en-US"/>
              <a:t>What Security Goals Does Operating System Provide?</a:t>
            </a:r>
          </a:p>
        </p:txBody>
      </p:sp>
      <p:sp>
        <p:nvSpPr>
          <p:cNvPr id="20483" name="Content Placeholder 2"/>
          <p:cNvSpPr>
            <a:spLocks noGrp="1"/>
          </p:cNvSpPr>
          <p:nvPr>
            <p:ph idx="1"/>
          </p:nvPr>
        </p:nvSpPr>
        <p:spPr/>
        <p:txBody>
          <a:bodyPr>
            <a:normAutofit fontScale="92500" lnSpcReduction="10000"/>
          </a:bodyPr>
          <a:lstStyle/>
          <a:p>
            <a:r>
              <a:rPr lang="en-US" altLang="en-US" dirty="0"/>
              <a:t>Present and near future: mobile computing devices: </a:t>
            </a:r>
          </a:p>
          <a:p>
            <a:r>
              <a:rPr lang="en-US" altLang="en-US" dirty="0"/>
              <a:t>New threat?</a:t>
            </a:r>
          </a:p>
          <a:p>
            <a:pPr lvl="1"/>
            <a:r>
              <a:rPr lang="en-US" altLang="en-US" dirty="0"/>
              <a:t>Apps (programs) may be malicious.</a:t>
            </a:r>
          </a:p>
          <a:p>
            <a:pPr lvl="1"/>
            <a:r>
              <a:rPr lang="en-US" altLang="en-US" dirty="0"/>
              <a:t>More tightly connected with personal life of the owner.</a:t>
            </a:r>
          </a:p>
          <a:p>
            <a:r>
              <a:rPr lang="en-US" altLang="en-US" dirty="0"/>
              <a:t>Security mechanisms?</a:t>
            </a:r>
          </a:p>
          <a:p>
            <a:pPr lvl="1"/>
            <a:r>
              <a:rPr lang="en-US" altLang="en-US" dirty="0"/>
              <a:t>Isolation of each app. </a:t>
            </a:r>
          </a:p>
          <a:p>
            <a:pPr lvl="1"/>
            <a:r>
              <a:rPr lang="en-US" altLang="en-US" dirty="0"/>
              <a:t>Help users assess risks of apps. </a:t>
            </a:r>
          </a:p>
          <a:p>
            <a:pPr lvl="1"/>
            <a:r>
              <a:rPr lang="en-US" altLang="en-US" dirty="0"/>
              <a:t>Risk communication. </a:t>
            </a:r>
          </a:p>
          <a:p>
            <a:endParaRPr lang="en-US" altLang="en-US" dirty="0"/>
          </a:p>
        </p:txBody>
      </p:sp>
    </p:spTree>
    <p:extLst>
      <p:ext uri="{BB962C8B-B14F-4D97-AF65-F5344CB8AC3E}">
        <p14:creationId xmlns:p14="http://schemas.microsoft.com/office/powerpoint/2010/main" val="4966440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1506" name="Title 1"/>
          <p:cNvSpPr>
            <a:spLocks noGrp="1"/>
          </p:cNvSpPr>
          <p:nvPr>
            <p:ph type="title"/>
          </p:nvPr>
        </p:nvSpPr>
        <p:spPr>
          <a:xfrm>
            <a:off x="457200" y="152400"/>
            <a:ext cx="8229600" cy="1143000"/>
          </a:xfrm>
        </p:spPr>
        <p:txBody>
          <a:bodyPr>
            <a:normAutofit fontScale="90000"/>
          </a:bodyPr>
          <a:lstStyle/>
          <a:p>
            <a:r>
              <a:rPr lang="en-US" altLang="en-US"/>
              <a:t>Security is About Reconciling Separation and Sharing</a:t>
            </a:r>
          </a:p>
        </p:txBody>
      </p:sp>
      <p:sp>
        <p:nvSpPr>
          <p:cNvPr id="21507" name="Content Placeholder 2"/>
          <p:cNvSpPr>
            <a:spLocks noGrp="1"/>
          </p:cNvSpPr>
          <p:nvPr>
            <p:ph idx="1"/>
          </p:nvPr>
        </p:nvSpPr>
        <p:spPr/>
        <p:txBody>
          <a:bodyPr>
            <a:normAutofit fontScale="85000" lnSpcReduction="20000"/>
          </a:bodyPr>
          <a:lstStyle/>
          <a:p>
            <a:r>
              <a:rPr lang="en-US" altLang="en-US" dirty="0"/>
              <a:t>Ensure separation</a:t>
            </a:r>
          </a:p>
          <a:p>
            <a:pPr lvl="1"/>
            <a:r>
              <a:rPr lang="en-US" altLang="en-US" dirty="0"/>
              <a:t>Physical Separation: </a:t>
            </a:r>
            <a:r>
              <a:rPr lang="en-US" dirty="0"/>
              <a:t>processes use different physical objects</a:t>
            </a:r>
          </a:p>
          <a:p>
            <a:pPr lvl="1"/>
            <a:r>
              <a:rPr lang="en-US" altLang="en-US" dirty="0"/>
              <a:t>Temporal </a:t>
            </a:r>
            <a:r>
              <a:rPr lang="en-US" dirty="0"/>
              <a:t>separation - processes are executed at different times</a:t>
            </a:r>
            <a:endParaRPr lang="en-US" altLang="en-US" dirty="0"/>
          </a:p>
          <a:p>
            <a:pPr lvl="1"/>
            <a:r>
              <a:rPr lang="en-US" altLang="en-US" dirty="0"/>
              <a:t>Logical </a:t>
            </a:r>
            <a:r>
              <a:rPr lang="en-US" dirty="0"/>
              <a:t>separation - processes operate as if they are the only process</a:t>
            </a:r>
          </a:p>
          <a:p>
            <a:pPr lvl="1"/>
            <a:r>
              <a:rPr lang="en-US" altLang="en-US" dirty="0" err="1"/>
              <a:t>Cryptographical</a:t>
            </a:r>
            <a:r>
              <a:rPr lang="en-US" altLang="en-US" dirty="0"/>
              <a:t> </a:t>
            </a:r>
            <a:r>
              <a:rPr lang="en-US" dirty="0"/>
              <a:t>separation - processes conceal data and computations</a:t>
            </a:r>
          </a:p>
          <a:p>
            <a:pPr lvl="1"/>
            <a:endParaRPr lang="en-US" altLang="en-US" dirty="0"/>
          </a:p>
          <a:p>
            <a:endParaRPr lang="en-US" altLang="en-US" dirty="0"/>
          </a:p>
          <a:p>
            <a:r>
              <a:rPr lang="en-US" altLang="en-US" dirty="0"/>
              <a:t>OS also needs to ensure sharing</a:t>
            </a:r>
          </a:p>
          <a:p>
            <a:endParaRPr lang="en-US" altLang="en-US" dirty="0"/>
          </a:p>
        </p:txBody>
      </p:sp>
    </p:spTree>
    <p:extLst>
      <p:ext uri="{BB962C8B-B14F-4D97-AF65-F5344CB8AC3E}">
        <p14:creationId xmlns:p14="http://schemas.microsoft.com/office/powerpoint/2010/main" val="2127646334"/>
      </p:ext>
    </p:extLst>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Basic Principles of Operating System Security</a:t>
            </a:r>
          </a:p>
        </p:txBody>
      </p:sp>
      <p:sp>
        <p:nvSpPr>
          <p:cNvPr id="3" name="Content Placeholder 2"/>
          <p:cNvSpPr>
            <a:spLocks noGrp="1"/>
          </p:cNvSpPr>
          <p:nvPr>
            <p:ph idx="1"/>
          </p:nvPr>
        </p:nvSpPr>
        <p:spPr/>
        <p:txBody>
          <a:bodyPr>
            <a:normAutofit fontScale="92500" lnSpcReduction="20000"/>
          </a:bodyPr>
          <a:lstStyle/>
          <a:p>
            <a:r>
              <a:rPr lang="en-US" dirty="0"/>
              <a:t>Operating system security at several levels:</a:t>
            </a:r>
          </a:p>
          <a:p>
            <a:pPr lvl="1"/>
            <a:r>
              <a:rPr lang="en-US" dirty="0"/>
              <a:t>Do not protect - often for sensitive procedures</a:t>
            </a:r>
          </a:p>
          <a:p>
            <a:pPr lvl="1"/>
            <a:r>
              <a:rPr lang="en-US" dirty="0"/>
              <a:t>Isolate - processes are unaware of presence of one another</a:t>
            </a:r>
          </a:p>
          <a:p>
            <a:pPr lvl="1"/>
            <a:r>
              <a:rPr lang="en-US" dirty="0"/>
              <a:t>Share all or share nothing - owner declares object </a:t>
            </a:r>
            <a:r>
              <a:rPr lang="en-US" i="1" dirty="0"/>
              <a:t>public</a:t>
            </a:r>
            <a:r>
              <a:rPr lang="en-US" dirty="0"/>
              <a:t> or </a:t>
            </a:r>
            <a:r>
              <a:rPr lang="en-US" i="1" dirty="0"/>
              <a:t>private</a:t>
            </a:r>
            <a:endParaRPr lang="en-US" dirty="0"/>
          </a:p>
          <a:p>
            <a:pPr lvl="1"/>
            <a:r>
              <a:rPr lang="en-US" dirty="0"/>
              <a:t>Share via access limitation - OS checks user's access to an object</a:t>
            </a:r>
          </a:p>
          <a:p>
            <a:pPr lvl="1"/>
            <a:r>
              <a:rPr lang="en-US" dirty="0"/>
              <a:t>Share by capabilities - dynamic creation of sharing rights for objects</a:t>
            </a:r>
          </a:p>
          <a:p>
            <a:pPr lvl="1"/>
            <a:r>
              <a:rPr lang="en-US" dirty="0"/>
              <a:t>Limit use of an object - determines ways in which an object can be accessed</a:t>
            </a:r>
          </a:p>
        </p:txBody>
      </p:sp>
    </p:spTree>
    <p:extLst>
      <p:ext uri="{BB962C8B-B14F-4D97-AF65-F5344CB8AC3E}">
        <p14:creationId xmlns:p14="http://schemas.microsoft.com/office/powerpoint/2010/main" val="2644442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3" name="Rectangle 2"/>
          <p:cNvSpPr>
            <a:spLocks noGrp="1" noChangeArrowheads="1"/>
          </p:cNvSpPr>
          <p:nvPr>
            <p:ph type="title"/>
          </p:nvPr>
        </p:nvSpPr>
        <p:spPr/>
        <p:txBody>
          <a:bodyPr/>
          <a:lstStyle/>
          <a:p>
            <a:pPr eaLnBrk="1" hangingPunct="1"/>
            <a:r>
              <a:rPr lang="en-US" altLang="en-US"/>
              <a:t>Computer System Components</a:t>
            </a:r>
          </a:p>
        </p:txBody>
      </p:sp>
      <p:sp>
        <p:nvSpPr>
          <p:cNvPr id="22534" name="Rectangle 3"/>
          <p:cNvSpPr>
            <a:spLocks noGrp="1" noChangeArrowheads="1"/>
          </p:cNvSpPr>
          <p:nvPr>
            <p:ph type="body" idx="1"/>
          </p:nvPr>
        </p:nvSpPr>
        <p:spPr>
          <a:xfrm>
            <a:off x="582613" y="1524000"/>
            <a:ext cx="8267700" cy="4598988"/>
          </a:xfrm>
        </p:spPr>
        <p:txBody>
          <a:bodyPr>
            <a:normAutofit fontScale="92500" lnSpcReduction="10000"/>
          </a:bodyPr>
          <a:lstStyle/>
          <a:p>
            <a:pPr marL="533400" indent="-533400" eaLnBrk="1" hangingPunct="1">
              <a:lnSpc>
                <a:spcPct val="90000"/>
              </a:lnSpc>
            </a:pPr>
            <a:r>
              <a:rPr lang="en-US" altLang="en-US" dirty="0"/>
              <a:t>Hardware </a:t>
            </a:r>
          </a:p>
          <a:p>
            <a:pPr marL="914400" lvl="1" indent="-457200" eaLnBrk="1" hangingPunct="1">
              <a:lnSpc>
                <a:spcPct val="90000"/>
              </a:lnSpc>
            </a:pPr>
            <a:r>
              <a:rPr lang="en-US" altLang="en-US" dirty="0"/>
              <a:t>Provides basic computing resources (CPU, memory, I/O devices).</a:t>
            </a:r>
          </a:p>
          <a:p>
            <a:pPr marL="533400" indent="-533400" eaLnBrk="1" hangingPunct="1">
              <a:lnSpc>
                <a:spcPct val="90000"/>
              </a:lnSpc>
            </a:pPr>
            <a:r>
              <a:rPr lang="en-US" altLang="en-US" dirty="0"/>
              <a:t>Operating system </a:t>
            </a:r>
          </a:p>
          <a:p>
            <a:pPr marL="914400" lvl="1" indent="-457200" eaLnBrk="1" hangingPunct="1">
              <a:lnSpc>
                <a:spcPct val="90000"/>
              </a:lnSpc>
            </a:pPr>
            <a:r>
              <a:rPr lang="en-US" altLang="en-US" dirty="0"/>
              <a:t>Controls and coordinates the use of the hardware among the various application programs.</a:t>
            </a:r>
          </a:p>
          <a:p>
            <a:pPr marL="533400" indent="-533400" eaLnBrk="1" hangingPunct="1">
              <a:lnSpc>
                <a:spcPct val="90000"/>
              </a:lnSpc>
            </a:pPr>
            <a:r>
              <a:rPr lang="en-US" altLang="en-US" dirty="0"/>
              <a:t>Applications programs </a:t>
            </a:r>
          </a:p>
          <a:p>
            <a:pPr marL="914400" lvl="1" indent="-457200" eaLnBrk="1" hangingPunct="1">
              <a:lnSpc>
                <a:spcPct val="90000"/>
              </a:lnSpc>
            </a:pPr>
            <a:r>
              <a:rPr lang="en-US" altLang="en-US" dirty="0"/>
              <a:t>Define the ways in which the system resources are used to solve the computing problems of the users.</a:t>
            </a:r>
          </a:p>
          <a:p>
            <a:pPr marL="533400" indent="-533400" eaLnBrk="1" hangingPunct="1">
              <a:lnSpc>
                <a:spcPct val="90000"/>
              </a:lnSpc>
            </a:pPr>
            <a:r>
              <a:rPr lang="en-US" altLang="en-US" dirty="0"/>
              <a:t>Users </a:t>
            </a:r>
          </a:p>
          <a:p>
            <a:pPr marL="914400" lvl="1" indent="-457200" eaLnBrk="1" hangingPunct="1">
              <a:lnSpc>
                <a:spcPct val="90000"/>
              </a:lnSpc>
            </a:pPr>
            <a:r>
              <a:rPr lang="en-US" altLang="en-US" dirty="0"/>
              <a:t>E.g., people, machines, other computers. </a:t>
            </a:r>
          </a:p>
        </p:txBody>
      </p:sp>
    </p:spTree>
    <p:extLst>
      <p:ext uri="{BB962C8B-B14F-4D97-AF65-F5344CB8AC3E}">
        <p14:creationId xmlns:p14="http://schemas.microsoft.com/office/powerpoint/2010/main" val="19726646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7" name="Rectangle 2"/>
          <p:cNvSpPr>
            <a:spLocks noGrp="1" noChangeArrowheads="1"/>
          </p:cNvSpPr>
          <p:nvPr>
            <p:ph type="title"/>
          </p:nvPr>
        </p:nvSpPr>
        <p:spPr>
          <a:xfrm>
            <a:off x="574675" y="304800"/>
            <a:ext cx="8393113" cy="1216025"/>
          </a:xfrm>
        </p:spPr>
        <p:txBody>
          <a:bodyPr>
            <a:normAutofit fontScale="90000"/>
          </a:bodyPr>
          <a:lstStyle/>
          <a:p>
            <a:pPr eaLnBrk="1" hangingPunct="1"/>
            <a:r>
              <a:rPr lang="en-US" altLang="en-US">
                <a:latin typeface="Arial" panose="020B0604020202020204" pitchFamily="34" charset="0"/>
              </a:rPr>
              <a:t>Abstract View of System Components</a:t>
            </a:r>
            <a:endParaRPr lang="en-US" altLang="en-US"/>
          </a:p>
        </p:txBody>
      </p:sp>
      <p:pic>
        <p:nvPicPr>
          <p:cNvPr id="23558" name="Picture 3"/>
          <p:cNvPicPr>
            <a:picLocks noChangeAspect="1" noChangeArrowheads="1"/>
          </p:cNvPicPr>
          <p:nvPr/>
        </p:nvPicPr>
        <p:blipFill>
          <a:blip r:embed="rId2">
            <a:extLst>
              <a:ext uri="{28A0092B-C50C-407E-A947-70E740481C1C}">
                <a14:useLocalDpi xmlns:a14="http://schemas.microsoft.com/office/drawing/2010/main" val="0"/>
              </a:ext>
            </a:extLst>
          </a:blip>
          <a:srcRect l="6995" t="7478" r="7574" b="5096"/>
          <a:stretch>
            <a:fillRect/>
          </a:stretch>
        </p:blipFill>
        <p:spPr bwMode="auto">
          <a:xfrm>
            <a:off x="1566863" y="1920875"/>
            <a:ext cx="6076950" cy="415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519238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1" name="Rectangle 2"/>
          <p:cNvSpPr>
            <a:spLocks noGrp="1" noChangeArrowheads="1"/>
          </p:cNvSpPr>
          <p:nvPr>
            <p:ph type="title"/>
          </p:nvPr>
        </p:nvSpPr>
        <p:spPr/>
        <p:txBody>
          <a:bodyPr>
            <a:normAutofit fontScale="90000"/>
          </a:bodyPr>
          <a:lstStyle/>
          <a:p>
            <a:pPr eaLnBrk="1" hangingPunct="1"/>
            <a:r>
              <a:rPr lang="en-US" altLang="en-US" sz="4000"/>
              <a:t>High-level View of Kernel Space vs. User Space</a:t>
            </a:r>
          </a:p>
        </p:txBody>
      </p:sp>
      <p:sp>
        <p:nvSpPr>
          <p:cNvPr id="29702" name="Rectangle 3"/>
          <p:cNvSpPr>
            <a:spLocks noChangeArrowheads="1"/>
          </p:cNvSpPr>
          <p:nvPr/>
        </p:nvSpPr>
        <p:spPr bwMode="auto">
          <a:xfrm>
            <a:off x="838200" y="1752600"/>
            <a:ext cx="7315200" cy="3581400"/>
          </a:xfrm>
          <a:prstGeom prst="rect">
            <a:avLst/>
          </a:prstGeom>
          <a:solidFill>
            <a:schemeClr val="folHlink"/>
          </a:solidFill>
          <a:ln w="9525">
            <a:solidFill>
              <a:schemeClr val="tx1"/>
            </a:solidFill>
            <a:miter lim="800000"/>
            <a:headEnd/>
            <a:tailEnd/>
          </a:ln>
        </p:spPr>
        <p:txBody>
          <a:bodyPr wrap="none" anchor="ctr"/>
          <a:lstStyle>
            <a:lvl1pPr eaLnBrk="0" hangingPunct="0">
              <a:spcBef>
                <a:spcPct val="20000"/>
              </a:spcBef>
              <a:buClr>
                <a:schemeClr val="accent2"/>
              </a:buClr>
              <a:buSzPct val="100000"/>
              <a:buFont typeface="Times" panose="02020603050405020304" pitchFamily="18" charset="0"/>
              <a:buChar char="•"/>
              <a:defRPr sz="2800">
                <a:solidFill>
                  <a:schemeClr val="tx1"/>
                </a:solidFill>
                <a:latin typeface="Arial" panose="020B0604020202020204" pitchFamily="34" charset="0"/>
              </a:defRPr>
            </a:lvl1pPr>
            <a:lvl2pPr marL="742950" indent="-285750" eaLnBrk="0" hangingPunct="0">
              <a:spcBef>
                <a:spcPct val="20000"/>
              </a:spcBef>
              <a:buChar char="–"/>
              <a:defRPr sz="2400">
                <a:solidFill>
                  <a:schemeClr val="tx1"/>
                </a:solidFill>
                <a:latin typeface="Arial" panose="020B0604020202020204" pitchFamily="34" charset="0"/>
              </a:defRPr>
            </a:lvl2pPr>
            <a:lvl3pPr marL="1143000" indent="-228600" eaLnBrk="0" hangingPunct="0">
              <a:spcBef>
                <a:spcPct val="20000"/>
              </a:spcBef>
              <a:buChar char="•"/>
              <a:defRPr sz="22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29703" name="Text Box 4"/>
          <p:cNvSpPr txBox="1">
            <a:spLocks noChangeArrowheads="1"/>
          </p:cNvSpPr>
          <p:nvPr/>
        </p:nvSpPr>
        <p:spPr bwMode="auto">
          <a:xfrm>
            <a:off x="1219200" y="4191000"/>
            <a:ext cx="6629400" cy="466725"/>
          </a:xfrm>
          <a:prstGeom prst="rect">
            <a:avLst/>
          </a:prstGeom>
          <a:solidFill>
            <a:srgbClr val="FFFFFF"/>
          </a:solidFill>
          <a:ln w="9525" algn="ctr">
            <a:solidFill>
              <a:schemeClr val="tx1"/>
            </a:solidFill>
            <a:miter lim="800000"/>
            <a:headEnd/>
            <a:tailEnd/>
          </a:ln>
        </p:spPr>
        <p:txBody>
          <a:bodyPr>
            <a:spAutoFit/>
          </a:bodyPr>
          <a:lstStyle>
            <a:lvl1pPr eaLnBrk="0" hangingPunct="0">
              <a:spcBef>
                <a:spcPct val="20000"/>
              </a:spcBef>
              <a:buClr>
                <a:schemeClr val="accent2"/>
              </a:buClr>
              <a:buSzPct val="100000"/>
              <a:buFont typeface="Times" panose="02020603050405020304" pitchFamily="18" charset="0"/>
              <a:buChar char="•"/>
              <a:defRPr sz="2800">
                <a:solidFill>
                  <a:schemeClr val="tx1"/>
                </a:solidFill>
                <a:latin typeface="Arial" panose="020B0604020202020204" pitchFamily="34" charset="0"/>
              </a:defRPr>
            </a:lvl1pPr>
            <a:lvl2pPr marL="742950" indent="-285750" eaLnBrk="0" hangingPunct="0">
              <a:spcBef>
                <a:spcPct val="20000"/>
              </a:spcBef>
              <a:buChar char="–"/>
              <a:defRPr sz="2400">
                <a:solidFill>
                  <a:schemeClr val="tx1"/>
                </a:solidFill>
                <a:latin typeface="Arial" panose="020B0604020202020204" pitchFamily="34" charset="0"/>
              </a:defRPr>
            </a:lvl2pPr>
            <a:lvl3pPr marL="1143000" indent="-228600" eaLnBrk="0" hangingPunct="0">
              <a:spcBef>
                <a:spcPct val="20000"/>
              </a:spcBef>
              <a:buChar char="•"/>
              <a:defRPr sz="22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ClrTx/>
              <a:buSzTx/>
              <a:buFontTx/>
              <a:buNone/>
            </a:pPr>
            <a:r>
              <a:rPr lang="en-US" altLang="en-US" sz="2400">
                <a:latin typeface="Times New Roman" panose="02020603050405020304" pitchFamily="18" charset="0"/>
              </a:rPr>
              <a:t>Hardware (disks, network interfaces, etc.)</a:t>
            </a:r>
          </a:p>
        </p:txBody>
      </p:sp>
      <p:sp>
        <p:nvSpPr>
          <p:cNvPr id="29704" name="Text Box 5"/>
          <p:cNvSpPr txBox="1">
            <a:spLocks noChangeArrowheads="1"/>
          </p:cNvSpPr>
          <p:nvPr/>
        </p:nvSpPr>
        <p:spPr bwMode="auto">
          <a:xfrm>
            <a:off x="1219200" y="3352800"/>
            <a:ext cx="6629400" cy="466725"/>
          </a:xfrm>
          <a:prstGeom prst="rect">
            <a:avLst/>
          </a:prstGeom>
          <a:solidFill>
            <a:srgbClr val="FFFFFF"/>
          </a:solidFill>
          <a:ln w="9525" algn="ctr">
            <a:solidFill>
              <a:schemeClr val="tx1"/>
            </a:solidFill>
            <a:miter lim="800000"/>
            <a:headEnd/>
            <a:tailEnd/>
          </a:ln>
        </p:spPr>
        <p:txBody>
          <a:bodyPr>
            <a:spAutoFit/>
          </a:bodyPr>
          <a:lstStyle>
            <a:lvl1pPr eaLnBrk="0" hangingPunct="0">
              <a:spcBef>
                <a:spcPct val="20000"/>
              </a:spcBef>
              <a:buClr>
                <a:schemeClr val="accent2"/>
              </a:buClr>
              <a:buSzPct val="100000"/>
              <a:buFont typeface="Times" panose="02020603050405020304" pitchFamily="18" charset="0"/>
              <a:buChar char="•"/>
              <a:defRPr sz="2800">
                <a:solidFill>
                  <a:schemeClr val="tx1"/>
                </a:solidFill>
                <a:latin typeface="Arial" panose="020B0604020202020204" pitchFamily="34" charset="0"/>
              </a:defRPr>
            </a:lvl1pPr>
            <a:lvl2pPr marL="742950" indent="-285750" eaLnBrk="0" hangingPunct="0">
              <a:spcBef>
                <a:spcPct val="20000"/>
              </a:spcBef>
              <a:buChar char="–"/>
              <a:defRPr sz="2400">
                <a:solidFill>
                  <a:schemeClr val="tx1"/>
                </a:solidFill>
                <a:latin typeface="Arial" panose="020B0604020202020204" pitchFamily="34" charset="0"/>
              </a:defRPr>
            </a:lvl2pPr>
            <a:lvl3pPr marL="1143000" indent="-228600" eaLnBrk="0" hangingPunct="0">
              <a:spcBef>
                <a:spcPct val="20000"/>
              </a:spcBef>
              <a:buChar char="•"/>
              <a:defRPr sz="22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ClrTx/>
              <a:buSzTx/>
              <a:buFontTx/>
              <a:buNone/>
            </a:pPr>
            <a:r>
              <a:rPr lang="en-US" altLang="en-US" sz="2400">
                <a:latin typeface="Times New Roman" panose="02020603050405020304" pitchFamily="18" charset="0"/>
              </a:rPr>
              <a:t>The Kernel</a:t>
            </a:r>
          </a:p>
        </p:txBody>
      </p:sp>
      <p:sp>
        <p:nvSpPr>
          <p:cNvPr id="29705" name="Oval 6"/>
          <p:cNvSpPr>
            <a:spLocks noChangeArrowheads="1"/>
          </p:cNvSpPr>
          <p:nvPr/>
        </p:nvSpPr>
        <p:spPr bwMode="auto">
          <a:xfrm>
            <a:off x="1371600" y="2133600"/>
            <a:ext cx="1600200" cy="762000"/>
          </a:xfrm>
          <a:prstGeom prst="ellipse">
            <a:avLst/>
          </a:prstGeom>
          <a:solidFill>
            <a:srgbClr val="FFFFFF"/>
          </a:solidFill>
          <a:ln w="9525" algn="ctr">
            <a:solidFill>
              <a:schemeClr val="tx1"/>
            </a:solidFill>
            <a:round/>
            <a:headEnd/>
            <a:tailEnd/>
          </a:ln>
        </p:spPr>
        <p:txBody>
          <a:bodyPr wrap="none" anchor="ctr"/>
          <a:lstStyle>
            <a:lvl1pPr eaLnBrk="0" hangingPunct="0">
              <a:spcBef>
                <a:spcPct val="20000"/>
              </a:spcBef>
              <a:buClr>
                <a:schemeClr val="accent2"/>
              </a:buClr>
              <a:buSzPct val="100000"/>
              <a:buFont typeface="Times" panose="02020603050405020304" pitchFamily="18" charset="0"/>
              <a:buChar char="•"/>
              <a:defRPr sz="2800">
                <a:solidFill>
                  <a:schemeClr val="tx1"/>
                </a:solidFill>
                <a:latin typeface="Arial" panose="020B0604020202020204" pitchFamily="34" charset="0"/>
              </a:defRPr>
            </a:lvl1pPr>
            <a:lvl2pPr marL="742950" indent="-285750" eaLnBrk="0" hangingPunct="0">
              <a:spcBef>
                <a:spcPct val="20000"/>
              </a:spcBef>
              <a:buChar char="–"/>
              <a:defRPr sz="2400">
                <a:solidFill>
                  <a:schemeClr val="tx1"/>
                </a:solidFill>
                <a:latin typeface="Arial" panose="020B0604020202020204" pitchFamily="34" charset="0"/>
              </a:defRPr>
            </a:lvl2pPr>
            <a:lvl3pPr marL="1143000" indent="-228600" eaLnBrk="0" hangingPunct="0">
              <a:spcBef>
                <a:spcPct val="20000"/>
              </a:spcBef>
              <a:buChar char="•"/>
              <a:defRPr sz="22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29706" name="Text Box 7"/>
          <p:cNvSpPr txBox="1">
            <a:spLocks noChangeArrowheads="1"/>
          </p:cNvSpPr>
          <p:nvPr/>
        </p:nvSpPr>
        <p:spPr bwMode="auto">
          <a:xfrm>
            <a:off x="1600200" y="2286000"/>
            <a:ext cx="1219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spcBef>
                <a:spcPct val="20000"/>
              </a:spcBef>
              <a:buClr>
                <a:schemeClr val="accent2"/>
              </a:buClr>
              <a:buSzPct val="100000"/>
              <a:buFont typeface="Times" panose="02020603050405020304" pitchFamily="18" charset="0"/>
              <a:buChar char="•"/>
              <a:defRPr sz="2800">
                <a:solidFill>
                  <a:schemeClr val="tx1"/>
                </a:solidFill>
                <a:latin typeface="Arial" panose="020B0604020202020204" pitchFamily="34" charset="0"/>
              </a:defRPr>
            </a:lvl1pPr>
            <a:lvl2pPr marL="742950" indent="-285750" eaLnBrk="0" hangingPunct="0">
              <a:spcBef>
                <a:spcPct val="20000"/>
              </a:spcBef>
              <a:buChar char="–"/>
              <a:defRPr sz="2400">
                <a:solidFill>
                  <a:schemeClr val="tx1"/>
                </a:solidFill>
                <a:latin typeface="Arial" panose="020B0604020202020204" pitchFamily="34" charset="0"/>
              </a:defRPr>
            </a:lvl2pPr>
            <a:lvl3pPr marL="1143000" indent="-228600" eaLnBrk="0" hangingPunct="0">
              <a:spcBef>
                <a:spcPct val="20000"/>
              </a:spcBef>
              <a:buChar char="•"/>
              <a:defRPr sz="22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ClrTx/>
              <a:buSzTx/>
              <a:buFontTx/>
              <a:buNone/>
            </a:pPr>
            <a:r>
              <a:rPr lang="en-US" altLang="en-US" sz="2000">
                <a:latin typeface="Times New Roman" panose="02020603050405020304" pitchFamily="18" charset="0"/>
              </a:rPr>
              <a:t>Process 1</a:t>
            </a:r>
          </a:p>
        </p:txBody>
      </p:sp>
      <p:sp>
        <p:nvSpPr>
          <p:cNvPr id="29707" name="Oval 8"/>
          <p:cNvSpPr>
            <a:spLocks noChangeArrowheads="1"/>
          </p:cNvSpPr>
          <p:nvPr/>
        </p:nvSpPr>
        <p:spPr bwMode="auto">
          <a:xfrm>
            <a:off x="3200400" y="2133600"/>
            <a:ext cx="1600200" cy="762000"/>
          </a:xfrm>
          <a:prstGeom prst="ellipse">
            <a:avLst/>
          </a:prstGeom>
          <a:solidFill>
            <a:srgbClr val="FFFFFF"/>
          </a:solidFill>
          <a:ln w="9525" algn="ctr">
            <a:solidFill>
              <a:schemeClr val="tx1"/>
            </a:solidFill>
            <a:round/>
            <a:headEnd/>
            <a:tailEnd/>
          </a:ln>
        </p:spPr>
        <p:txBody>
          <a:bodyPr wrap="none" anchor="ctr"/>
          <a:lstStyle>
            <a:lvl1pPr eaLnBrk="0" hangingPunct="0">
              <a:spcBef>
                <a:spcPct val="20000"/>
              </a:spcBef>
              <a:buClr>
                <a:schemeClr val="accent2"/>
              </a:buClr>
              <a:buSzPct val="100000"/>
              <a:buFont typeface="Times" panose="02020603050405020304" pitchFamily="18" charset="0"/>
              <a:buChar char="•"/>
              <a:defRPr sz="2800">
                <a:solidFill>
                  <a:schemeClr val="tx1"/>
                </a:solidFill>
                <a:latin typeface="Arial" panose="020B0604020202020204" pitchFamily="34" charset="0"/>
              </a:defRPr>
            </a:lvl1pPr>
            <a:lvl2pPr marL="742950" indent="-285750" eaLnBrk="0" hangingPunct="0">
              <a:spcBef>
                <a:spcPct val="20000"/>
              </a:spcBef>
              <a:buChar char="–"/>
              <a:defRPr sz="2400">
                <a:solidFill>
                  <a:schemeClr val="tx1"/>
                </a:solidFill>
                <a:latin typeface="Arial" panose="020B0604020202020204" pitchFamily="34" charset="0"/>
              </a:defRPr>
            </a:lvl2pPr>
            <a:lvl3pPr marL="1143000" indent="-228600" eaLnBrk="0" hangingPunct="0">
              <a:spcBef>
                <a:spcPct val="20000"/>
              </a:spcBef>
              <a:buChar char="•"/>
              <a:defRPr sz="22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29708" name="Text Box 9"/>
          <p:cNvSpPr txBox="1">
            <a:spLocks noChangeArrowheads="1"/>
          </p:cNvSpPr>
          <p:nvPr/>
        </p:nvSpPr>
        <p:spPr bwMode="auto">
          <a:xfrm>
            <a:off x="3429000" y="2286000"/>
            <a:ext cx="1219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spcBef>
                <a:spcPct val="20000"/>
              </a:spcBef>
              <a:buClr>
                <a:schemeClr val="accent2"/>
              </a:buClr>
              <a:buSzPct val="100000"/>
              <a:buFont typeface="Times" panose="02020603050405020304" pitchFamily="18" charset="0"/>
              <a:buChar char="•"/>
              <a:defRPr sz="2800">
                <a:solidFill>
                  <a:schemeClr val="tx1"/>
                </a:solidFill>
                <a:latin typeface="Arial" panose="020B0604020202020204" pitchFamily="34" charset="0"/>
              </a:defRPr>
            </a:lvl1pPr>
            <a:lvl2pPr marL="742950" indent="-285750" eaLnBrk="0" hangingPunct="0">
              <a:spcBef>
                <a:spcPct val="20000"/>
              </a:spcBef>
              <a:buChar char="–"/>
              <a:defRPr sz="2400">
                <a:solidFill>
                  <a:schemeClr val="tx1"/>
                </a:solidFill>
                <a:latin typeface="Arial" panose="020B0604020202020204" pitchFamily="34" charset="0"/>
              </a:defRPr>
            </a:lvl2pPr>
            <a:lvl3pPr marL="1143000" indent="-228600" eaLnBrk="0" hangingPunct="0">
              <a:spcBef>
                <a:spcPct val="20000"/>
              </a:spcBef>
              <a:buChar char="•"/>
              <a:defRPr sz="22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ClrTx/>
              <a:buSzTx/>
              <a:buFontTx/>
              <a:buNone/>
            </a:pPr>
            <a:r>
              <a:rPr lang="en-US" altLang="en-US" sz="2000">
                <a:latin typeface="Times New Roman" panose="02020603050405020304" pitchFamily="18" charset="0"/>
              </a:rPr>
              <a:t>Process 2</a:t>
            </a:r>
          </a:p>
        </p:txBody>
      </p:sp>
      <p:sp>
        <p:nvSpPr>
          <p:cNvPr id="29709" name="Oval 10"/>
          <p:cNvSpPr>
            <a:spLocks noChangeArrowheads="1"/>
          </p:cNvSpPr>
          <p:nvPr/>
        </p:nvSpPr>
        <p:spPr bwMode="auto">
          <a:xfrm>
            <a:off x="6096000" y="2133600"/>
            <a:ext cx="1600200" cy="762000"/>
          </a:xfrm>
          <a:prstGeom prst="ellipse">
            <a:avLst/>
          </a:prstGeom>
          <a:solidFill>
            <a:srgbClr val="FFFFFF"/>
          </a:solidFill>
          <a:ln w="9525" algn="ctr">
            <a:solidFill>
              <a:schemeClr val="tx1"/>
            </a:solidFill>
            <a:round/>
            <a:headEnd/>
            <a:tailEnd/>
          </a:ln>
        </p:spPr>
        <p:txBody>
          <a:bodyPr wrap="none" anchor="ctr"/>
          <a:lstStyle>
            <a:lvl1pPr eaLnBrk="0" hangingPunct="0">
              <a:spcBef>
                <a:spcPct val="20000"/>
              </a:spcBef>
              <a:buClr>
                <a:schemeClr val="accent2"/>
              </a:buClr>
              <a:buSzPct val="100000"/>
              <a:buFont typeface="Times" panose="02020603050405020304" pitchFamily="18" charset="0"/>
              <a:buChar char="•"/>
              <a:defRPr sz="2800">
                <a:solidFill>
                  <a:schemeClr val="tx1"/>
                </a:solidFill>
                <a:latin typeface="Arial" panose="020B0604020202020204" pitchFamily="34" charset="0"/>
              </a:defRPr>
            </a:lvl1pPr>
            <a:lvl2pPr marL="742950" indent="-285750" eaLnBrk="0" hangingPunct="0">
              <a:spcBef>
                <a:spcPct val="20000"/>
              </a:spcBef>
              <a:buChar char="–"/>
              <a:defRPr sz="2400">
                <a:solidFill>
                  <a:schemeClr val="tx1"/>
                </a:solidFill>
                <a:latin typeface="Arial" panose="020B0604020202020204" pitchFamily="34" charset="0"/>
              </a:defRPr>
            </a:lvl2pPr>
            <a:lvl3pPr marL="1143000" indent="-228600" eaLnBrk="0" hangingPunct="0">
              <a:spcBef>
                <a:spcPct val="20000"/>
              </a:spcBef>
              <a:buChar char="•"/>
              <a:defRPr sz="22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29710" name="Text Box 11"/>
          <p:cNvSpPr txBox="1">
            <a:spLocks noChangeArrowheads="1"/>
          </p:cNvSpPr>
          <p:nvPr/>
        </p:nvSpPr>
        <p:spPr bwMode="auto">
          <a:xfrm>
            <a:off x="6324600" y="2286000"/>
            <a:ext cx="1219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spcBef>
                <a:spcPct val="20000"/>
              </a:spcBef>
              <a:buClr>
                <a:schemeClr val="accent2"/>
              </a:buClr>
              <a:buSzPct val="100000"/>
              <a:buFont typeface="Times" panose="02020603050405020304" pitchFamily="18" charset="0"/>
              <a:buChar char="•"/>
              <a:defRPr sz="2800">
                <a:solidFill>
                  <a:schemeClr val="tx1"/>
                </a:solidFill>
                <a:latin typeface="Arial" panose="020B0604020202020204" pitchFamily="34" charset="0"/>
              </a:defRPr>
            </a:lvl1pPr>
            <a:lvl2pPr marL="742950" indent="-285750" eaLnBrk="0" hangingPunct="0">
              <a:spcBef>
                <a:spcPct val="20000"/>
              </a:spcBef>
              <a:buChar char="–"/>
              <a:defRPr sz="2400">
                <a:solidFill>
                  <a:schemeClr val="tx1"/>
                </a:solidFill>
                <a:latin typeface="Arial" panose="020B0604020202020204" pitchFamily="34" charset="0"/>
              </a:defRPr>
            </a:lvl2pPr>
            <a:lvl3pPr marL="1143000" indent="-228600" eaLnBrk="0" hangingPunct="0">
              <a:spcBef>
                <a:spcPct val="20000"/>
              </a:spcBef>
              <a:buChar char="•"/>
              <a:defRPr sz="22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ClrTx/>
              <a:buSzTx/>
              <a:buFontTx/>
              <a:buNone/>
            </a:pPr>
            <a:r>
              <a:rPr lang="en-US" altLang="en-US" sz="2000">
                <a:latin typeface="Times New Roman" panose="02020603050405020304" pitchFamily="18" charset="0"/>
              </a:rPr>
              <a:t>Process n</a:t>
            </a:r>
          </a:p>
        </p:txBody>
      </p:sp>
      <p:sp>
        <p:nvSpPr>
          <p:cNvPr id="29711" name="Text Box 12"/>
          <p:cNvSpPr txBox="1">
            <a:spLocks noChangeArrowheads="1"/>
          </p:cNvSpPr>
          <p:nvPr/>
        </p:nvSpPr>
        <p:spPr bwMode="auto">
          <a:xfrm>
            <a:off x="5029200" y="2133600"/>
            <a:ext cx="838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spcBef>
                <a:spcPct val="20000"/>
              </a:spcBef>
              <a:buClr>
                <a:schemeClr val="accent2"/>
              </a:buClr>
              <a:buSzPct val="100000"/>
              <a:buFont typeface="Times" panose="02020603050405020304" pitchFamily="18" charset="0"/>
              <a:buChar char="•"/>
              <a:defRPr sz="2800">
                <a:solidFill>
                  <a:schemeClr val="tx1"/>
                </a:solidFill>
                <a:latin typeface="Arial" panose="020B0604020202020204" pitchFamily="34" charset="0"/>
              </a:defRPr>
            </a:lvl1pPr>
            <a:lvl2pPr marL="742950" indent="-285750" eaLnBrk="0" hangingPunct="0">
              <a:spcBef>
                <a:spcPct val="20000"/>
              </a:spcBef>
              <a:buChar char="–"/>
              <a:defRPr sz="2400">
                <a:solidFill>
                  <a:schemeClr val="tx1"/>
                </a:solidFill>
                <a:latin typeface="Arial" panose="020B0604020202020204" pitchFamily="34" charset="0"/>
              </a:defRPr>
            </a:lvl2pPr>
            <a:lvl3pPr marL="1143000" indent="-228600" eaLnBrk="0" hangingPunct="0">
              <a:spcBef>
                <a:spcPct val="20000"/>
              </a:spcBef>
              <a:buChar char="•"/>
              <a:defRPr sz="22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ClrTx/>
              <a:buSzTx/>
              <a:buFontTx/>
              <a:buNone/>
            </a:pPr>
            <a:r>
              <a:rPr lang="en-US" altLang="en-US" sz="2400">
                <a:latin typeface="Times New Roman" panose="02020603050405020304" pitchFamily="18" charset="0"/>
                <a:sym typeface="Symbol" panose="05050102010706020507" pitchFamily="18" charset="2"/>
              </a:rPr>
              <a:t></a:t>
            </a:r>
          </a:p>
        </p:txBody>
      </p:sp>
    </p:spTree>
    <p:extLst>
      <p:ext uri="{BB962C8B-B14F-4D97-AF65-F5344CB8AC3E}">
        <p14:creationId xmlns:p14="http://schemas.microsoft.com/office/powerpoint/2010/main" val="25681602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Slide Number Placeholder 5"/>
          <p:cNvSpPr>
            <a:spLocks noGrp="1"/>
          </p:cNvSpPr>
          <p:nvPr>
            <p:ph type="sldNum" sz="quarter" idx="12"/>
          </p:nvPr>
        </p:nvSpPr>
        <p:spPr>
          <a:noFill/>
        </p:spPr>
        <p:txBody>
          <a:bodyPr/>
          <a:lstStyle>
            <a:lvl1pPr>
              <a:lnSpc>
                <a:spcPct val="95000"/>
              </a:lnSpc>
              <a:spcBef>
                <a:spcPct val="20000"/>
              </a:spcBef>
              <a:defRPr sz="2400">
                <a:solidFill>
                  <a:schemeClr val="tx1"/>
                </a:solidFill>
                <a:latin typeface="Times New Roman" panose="02020603050405020304" pitchFamily="18" charset="0"/>
              </a:defRPr>
            </a:lvl1pPr>
            <a:lvl2pPr marL="742950" indent="-28575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nSpc>
                <a:spcPct val="100000"/>
              </a:lnSpc>
              <a:spcBef>
                <a:spcPct val="0"/>
              </a:spcBef>
            </a:pPr>
            <a:fld id="{CB54AD11-43F6-4CDA-94D3-AF2DE5D5C1B4}" type="slidenum">
              <a:rPr lang="zh-CN" altLang="en-US" sz="1400" smtClean="0"/>
              <a:pPr>
                <a:lnSpc>
                  <a:spcPct val="100000"/>
                </a:lnSpc>
                <a:spcBef>
                  <a:spcPct val="0"/>
                </a:spcBef>
              </a:pPr>
              <a:t>11</a:t>
            </a:fld>
            <a:endParaRPr lang="en-US" altLang="zh-CN" sz="1400"/>
          </a:p>
        </p:txBody>
      </p:sp>
      <p:sp>
        <p:nvSpPr>
          <p:cNvPr id="24580" name="Rectangle 2"/>
          <p:cNvSpPr>
            <a:spLocks noGrp="1" noChangeArrowheads="1"/>
          </p:cNvSpPr>
          <p:nvPr>
            <p:ph type="title"/>
          </p:nvPr>
        </p:nvSpPr>
        <p:spPr/>
        <p:txBody>
          <a:bodyPr>
            <a:normAutofit/>
          </a:bodyPr>
          <a:lstStyle/>
          <a:p>
            <a:pPr eaLnBrk="1" hangingPunct="1"/>
            <a:r>
              <a:rPr lang="en-US" altLang="en-US" dirty="0"/>
              <a:t>User-Land vs. Kernel-Land</a:t>
            </a:r>
            <a:endParaRPr lang="en-AU" altLang="en-US" dirty="0"/>
          </a:p>
        </p:txBody>
      </p:sp>
      <p:grpSp>
        <p:nvGrpSpPr>
          <p:cNvPr id="24581" name="Group 35"/>
          <p:cNvGrpSpPr>
            <a:grpSpLocks/>
          </p:cNvGrpSpPr>
          <p:nvPr/>
        </p:nvGrpSpPr>
        <p:grpSpPr bwMode="auto">
          <a:xfrm>
            <a:off x="2259013" y="1871663"/>
            <a:ext cx="2286000" cy="4168775"/>
            <a:chOff x="2658867" y="1690487"/>
            <a:chExt cx="2286001" cy="4188845"/>
          </a:xfrm>
        </p:grpSpPr>
        <p:sp>
          <p:nvSpPr>
            <p:cNvPr id="37" name="Rectangle 8"/>
            <p:cNvSpPr>
              <a:spLocks noChangeArrowheads="1"/>
            </p:cNvSpPr>
            <p:nvPr/>
          </p:nvSpPr>
          <p:spPr bwMode="auto">
            <a:xfrm>
              <a:off x="2658867" y="2567816"/>
              <a:ext cx="2286001" cy="727385"/>
            </a:xfrm>
            <a:prstGeom prst="rect">
              <a:avLst/>
            </a:prstGeom>
            <a:solidFill>
              <a:schemeClr val="accent6">
                <a:lumMod val="60000"/>
                <a:lumOff val="40000"/>
              </a:schemeClr>
            </a:solidFill>
            <a:ln w="9525">
              <a:solidFill>
                <a:schemeClr val="tx1"/>
              </a:solidFill>
              <a:miter lim="800000"/>
              <a:headEnd/>
              <a:tailEnd/>
            </a:ln>
            <a:effectLst/>
          </p:spPr>
          <p:txBody>
            <a:bodyPr wrap="none" anchor="ctr"/>
            <a:lstStyle/>
            <a:p>
              <a:pPr algn="ctr">
                <a:defRPr/>
              </a:pPr>
              <a:r>
                <a:rPr kumimoji="1" lang="en-US" altLang="zh-TW" dirty="0">
                  <a:latin typeface="Times New Roman" charset="0"/>
                  <a:ea typeface="新細明體" charset="0"/>
                  <a:cs typeface="新細明體" charset="0"/>
                </a:rPr>
                <a:t>Non-Essential</a:t>
              </a:r>
            </a:p>
            <a:p>
              <a:pPr algn="ctr">
                <a:defRPr/>
              </a:pPr>
              <a:r>
                <a:rPr kumimoji="1" lang="en-US" altLang="zh-TW" dirty="0">
                  <a:latin typeface="Times New Roman" charset="0"/>
                  <a:ea typeface="新細明體" charset="0"/>
                  <a:cs typeface="新細明體" charset="0"/>
                </a:rPr>
                <a:t>OS Applications</a:t>
              </a:r>
            </a:p>
          </p:txBody>
        </p:sp>
        <p:sp>
          <p:nvSpPr>
            <p:cNvPr id="38" name="Rectangle 9"/>
            <p:cNvSpPr>
              <a:spLocks noChangeArrowheads="1"/>
            </p:cNvSpPr>
            <p:nvPr/>
          </p:nvSpPr>
          <p:spPr bwMode="auto">
            <a:xfrm>
              <a:off x="2658867" y="3561589"/>
              <a:ext cx="2286001" cy="788001"/>
            </a:xfrm>
            <a:prstGeom prst="rect">
              <a:avLst/>
            </a:prstGeom>
            <a:solidFill>
              <a:schemeClr val="tx2">
                <a:lumMod val="60000"/>
                <a:lumOff val="40000"/>
              </a:schemeClr>
            </a:solidFill>
            <a:ln w="9525">
              <a:solidFill>
                <a:schemeClr val="tx1"/>
              </a:solidFill>
              <a:miter lim="800000"/>
              <a:headEnd/>
              <a:tailEnd/>
            </a:ln>
            <a:effectLst/>
          </p:spPr>
          <p:txBody>
            <a:bodyPr wrap="none" anchor="ctr"/>
            <a:lstStyle/>
            <a:p>
              <a:pPr algn="ctr">
                <a:defRPr/>
              </a:pPr>
              <a:r>
                <a:rPr kumimoji="1" lang="en-US" altLang="zh-TW" dirty="0">
                  <a:latin typeface="Times New Roman" charset="0"/>
                  <a:ea typeface="新細明體" charset="0"/>
                  <a:cs typeface="新細明體" charset="0"/>
                </a:rPr>
                <a:t>The OS Kernel</a:t>
              </a:r>
            </a:p>
          </p:txBody>
        </p:sp>
        <p:sp>
          <p:nvSpPr>
            <p:cNvPr id="39" name="Rectangle 14"/>
            <p:cNvSpPr>
              <a:spLocks noChangeArrowheads="1"/>
            </p:cNvSpPr>
            <p:nvPr/>
          </p:nvSpPr>
          <p:spPr bwMode="auto">
            <a:xfrm>
              <a:off x="2658867" y="4548983"/>
              <a:ext cx="2286001" cy="1330349"/>
            </a:xfrm>
            <a:prstGeom prst="rect">
              <a:avLst/>
            </a:prstGeom>
            <a:solidFill>
              <a:schemeClr val="accent3">
                <a:lumMod val="75000"/>
              </a:schemeClr>
            </a:solidFill>
            <a:ln w="9525">
              <a:solidFill>
                <a:schemeClr val="tx1"/>
              </a:solidFill>
              <a:miter lim="800000"/>
              <a:headEnd/>
              <a:tailEnd/>
            </a:ln>
            <a:effectLst/>
          </p:spPr>
          <p:txBody>
            <a:bodyPr wrap="none" anchor="ctr"/>
            <a:lstStyle/>
            <a:p>
              <a:pPr algn="ctr" eaLnBrk="1" hangingPunct="1">
                <a:defRPr/>
              </a:pPr>
              <a:endParaRPr kumimoji="1" lang="en-US" altLang="zh-TW" dirty="0">
                <a:solidFill>
                  <a:schemeClr val="accent2"/>
                </a:solidFill>
                <a:latin typeface="Times New Roman" charset="0"/>
                <a:ea typeface="新細明體" charset="0"/>
                <a:cs typeface="新細明體" charset="0"/>
              </a:endParaRPr>
            </a:p>
            <a:p>
              <a:pPr algn="ctr" eaLnBrk="1" hangingPunct="1">
                <a:defRPr/>
              </a:pPr>
              <a:endParaRPr kumimoji="1" lang="en-US" altLang="zh-TW" dirty="0">
                <a:solidFill>
                  <a:schemeClr val="accent2"/>
                </a:solidFill>
                <a:latin typeface="Times New Roman" charset="0"/>
                <a:ea typeface="新細明體" charset="0"/>
                <a:cs typeface="新細明體" charset="0"/>
              </a:endParaRPr>
            </a:p>
            <a:p>
              <a:pPr algn="ctr" eaLnBrk="1" hangingPunct="1">
                <a:defRPr/>
              </a:pPr>
              <a:r>
                <a:rPr kumimoji="1" lang="en-US" altLang="zh-TW" dirty="0">
                  <a:solidFill>
                    <a:schemeClr val="accent2"/>
                  </a:solidFill>
                  <a:latin typeface="Times New Roman" charset="0"/>
                  <a:ea typeface="新細明體" charset="0"/>
                  <a:cs typeface="新細明體" charset="0"/>
                </a:rPr>
                <a:t>CPU, Memory, </a:t>
              </a:r>
            </a:p>
            <a:p>
              <a:pPr algn="ctr" eaLnBrk="1" hangingPunct="1">
                <a:defRPr/>
              </a:pPr>
              <a:r>
                <a:rPr kumimoji="1" lang="en-US" altLang="zh-TW" dirty="0" err="1">
                  <a:solidFill>
                    <a:schemeClr val="accent2"/>
                  </a:solidFill>
                  <a:latin typeface="Times New Roman" charset="0"/>
                  <a:ea typeface="新細明體" charset="0"/>
                  <a:cs typeface="新細明體" charset="0"/>
                </a:rPr>
                <a:t>Input/Output</a:t>
              </a:r>
              <a:endParaRPr kumimoji="1" lang="en-US" altLang="zh-TW" dirty="0">
                <a:solidFill>
                  <a:schemeClr val="accent2"/>
                </a:solidFill>
                <a:latin typeface="Times New Roman" charset="0"/>
                <a:ea typeface="新細明體" charset="0"/>
                <a:cs typeface="新細明體" charset="0"/>
              </a:endParaRPr>
            </a:p>
            <a:p>
              <a:pPr algn="ctr" eaLnBrk="1" hangingPunct="1">
                <a:defRPr/>
              </a:pPr>
              <a:endParaRPr kumimoji="1" lang="en-US" altLang="zh-TW" dirty="0">
                <a:solidFill>
                  <a:schemeClr val="accent2"/>
                </a:solidFill>
                <a:latin typeface="Times New Roman" charset="0"/>
                <a:ea typeface="新細明體" charset="0"/>
                <a:cs typeface="新細明體" charset="0"/>
              </a:endParaRPr>
            </a:p>
            <a:p>
              <a:pPr algn="ctr" eaLnBrk="1" hangingPunct="1">
                <a:defRPr/>
              </a:pPr>
              <a:endParaRPr kumimoji="1" lang="en-US" altLang="zh-TW" dirty="0">
                <a:solidFill>
                  <a:schemeClr val="accent2"/>
                </a:solidFill>
                <a:latin typeface="Times New Roman" charset="0"/>
                <a:ea typeface="新細明體" charset="0"/>
                <a:cs typeface="新細明體" charset="0"/>
              </a:endParaRPr>
            </a:p>
            <a:p>
              <a:pPr algn="ctr" eaLnBrk="1" hangingPunct="1">
                <a:defRPr/>
              </a:pPr>
              <a:endParaRPr kumimoji="1" lang="en-US" altLang="zh-TW" dirty="0">
                <a:solidFill>
                  <a:schemeClr val="accent2"/>
                </a:solidFill>
                <a:latin typeface="Times New Roman" charset="0"/>
                <a:ea typeface="新細明體" charset="0"/>
                <a:cs typeface="新細明體" charset="0"/>
              </a:endParaRPr>
            </a:p>
          </p:txBody>
        </p:sp>
        <p:sp>
          <p:nvSpPr>
            <p:cNvPr id="40" name="Rectangle 8"/>
            <p:cNvSpPr>
              <a:spLocks noChangeArrowheads="1"/>
            </p:cNvSpPr>
            <p:nvPr/>
          </p:nvSpPr>
          <p:spPr bwMode="auto">
            <a:xfrm>
              <a:off x="2658867" y="1690487"/>
              <a:ext cx="2286001" cy="725789"/>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kumimoji="1" lang="en-US" altLang="zh-TW" dirty="0">
                <a:solidFill>
                  <a:schemeClr val="tx1"/>
                </a:solidFill>
                <a:ea typeface="新細明體" charset="0"/>
                <a:cs typeface="新細明體" charset="0"/>
              </a:endParaRPr>
            </a:p>
          </p:txBody>
        </p:sp>
      </p:grpSp>
      <p:grpSp>
        <p:nvGrpSpPr>
          <p:cNvPr id="24582" name="Group 40"/>
          <p:cNvGrpSpPr>
            <a:grpSpLocks/>
          </p:cNvGrpSpPr>
          <p:nvPr/>
        </p:nvGrpSpPr>
        <p:grpSpPr bwMode="auto">
          <a:xfrm>
            <a:off x="809625" y="4711700"/>
            <a:ext cx="1449388" cy="1322388"/>
            <a:chOff x="1209492" y="2450589"/>
            <a:chExt cx="1449375" cy="3428743"/>
          </a:xfrm>
        </p:grpSpPr>
        <p:sp>
          <p:nvSpPr>
            <p:cNvPr id="24590" name="Text Box 13"/>
            <p:cNvSpPr txBox="1">
              <a:spLocks noChangeArrowheads="1"/>
            </p:cNvSpPr>
            <p:nvPr/>
          </p:nvSpPr>
          <p:spPr bwMode="auto">
            <a:xfrm>
              <a:off x="1209492" y="3946694"/>
              <a:ext cx="1196161" cy="1036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5000"/>
                </a:lnSpc>
                <a:spcBef>
                  <a:spcPct val="20000"/>
                </a:spcBef>
                <a:defRPr sz="2400">
                  <a:solidFill>
                    <a:schemeClr val="tx1"/>
                  </a:solidFill>
                  <a:latin typeface="Times New Roman" panose="02020603050405020304" pitchFamily="18" charset="0"/>
                </a:defRPr>
              </a:lvl1pPr>
              <a:lvl2pPr marL="742950" indent="-28575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eaLnBrk="1" hangingPunct="1">
                <a:lnSpc>
                  <a:spcPct val="100000"/>
                </a:lnSpc>
                <a:spcBef>
                  <a:spcPct val="0"/>
                </a:spcBef>
              </a:pPr>
              <a:r>
                <a:rPr kumimoji="1" lang="en-US" altLang="zh-TW" sz="2000">
                  <a:ea typeface="新細明體"/>
                  <a:cs typeface="新細明體"/>
                </a:rPr>
                <a:t>Hardware</a:t>
              </a:r>
            </a:p>
          </p:txBody>
        </p:sp>
        <p:sp>
          <p:nvSpPr>
            <p:cNvPr id="43" name="Left Brace 42"/>
            <p:cNvSpPr/>
            <p:nvPr/>
          </p:nvSpPr>
          <p:spPr>
            <a:xfrm>
              <a:off x="2123884" y="2450589"/>
              <a:ext cx="534983" cy="3428743"/>
            </a:xfrm>
            <a:prstGeom prst="leftBrace">
              <a:avLst/>
            </a:prstGeom>
          </p:spPr>
          <p:style>
            <a:lnRef idx="2">
              <a:schemeClr val="accent1"/>
            </a:lnRef>
            <a:fillRef idx="0">
              <a:schemeClr val="accent1"/>
            </a:fillRef>
            <a:effectRef idx="1">
              <a:schemeClr val="accent1"/>
            </a:effectRef>
            <a:fontRef idx="minor">
              <a:schemeClr val="tx1"/>
            </a:fontRef>
          </p:style>
          <p:txBody>
            <a:bodyPr anchor="ctr"/>
            <a:lstStyle/>
            <a:p>
              <a:pPr algn="ctr">
                <a:defRPr/>
              </a:pPr>
              <a:endParaRPr lang="en-US"/>
            </a:p>
          </p:txBody>
        </p:sp>
      </p:grpSp>
      <p:sp>
        <p:nvSpPr>
          <p:cNvPr id="24583" name="Rectangle 1"/>
          <p:cNvSpPr>
            <a:spLocks noChangeArrowheads="1"/>
          </p:cNvSpPr>
          <p:nvPr/>
        </p:nvSpPr>
        <p:spPr bwMode="auto">
          <a:xfrm>
            <a:off x="1219200" y="1828800"/>
            <a:ext cx="45720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5000"/>
              </a:lnSpc>
              <a:spcBef>
                <a:spcPct val="20000"/>
              </a:spcBef>
              <a:defRPr sz="2400">
                <a:solidFill>
                  <a:schemeClr val="tx1"/>
                </a:solidFill>
                <a:latin typeface="Times New Roman" panose="02020603050405020304" pitchFamily="18" charset="0"/>
              </a:defRPr>
            </a:lvl1pPr>
            <a:lvl2pPr marL="742950" indent="-28575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gn="ctr">
              <a:lnSpc>
                <a:spcPct val="100000"/>
              </a:lnSpc>
              <a:spcBef>
                <a:spcPct val="0"/>
              </a:spcBef>
            </a:pPr>
            <a:r>
              <a:rPr kumimoji="1" lang="en-US" altLang="zh-TW">
                <a:ea typeface="新細明體"/>
                <a:cs typeface="新細明體"/>
              </a:rPr>
              <a:t>User </a:t>
            </a:r>
          </a:p>
          <a:p>
            <a:pPr algn="ctr">
              <a:lnSpc>
                <a:spcPct val="100000"/>
              </a:lnSpc>
              <a:spcBef>
                <a:spcPct val="0"/>
              </a:spcBef>
            </a:pPr>
            <a:r>
              <a:rPr kumimoji="1" lang="en-US" altLang="zh-TW">
                <a:ea typeface="新細明體"/>
                <a:cs typeface="新細明體"/>
              </a:rPr>
              <a:t>Applications</a:t>
            </a:r>
          </a:p>
        </p:txBody>
      </p:sp>
      <p:grpSp>
        <p:nvGrpSpPr>
          <p:cNvPr id="24584" name="Group 45"/>
          <p:cNvGrpSpPr>
            <a:grpSpLocks/>
          </p:cNvGrpSpPr>
          <p:nvPr/>
        </p:nvGrpSpPr>
        <p:grpSpPr bwMode="auto">
          <a:xfrm>
            <a:off x="685800" y="2811463"/>
            <a:ext cx="1449388" cy="1706562"/>
            <a:chOff x="1209492" y="2450589"/>
            <a:chExt cx="1449375" cy="3428743"/>
          </a:xfrm>
        </p:grpSpPr>
        <p:sp>
          <p:nvSpPr>
            <p:cNvPr id="24588" name="Text Box 13"/>
            <p:cNvSpPr txBox="1">
              <a:spLocks noChangeArrowheads="1"/>
            </p:cNvSpPr>
            <p:nvPr/>
          </p:nvSpPr>
          <p:spPr bwMode="auto">
            <a:xfrm>
              <a:off x="1209492" y="3946694"/>
              <a:ext cx="1273105" cy="1245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5000"/>
                </a:lnSpc>
                <a:spcBef>
                  <a:spcPct val="20000"/>
                </a:spcBef>
                <a:defRPr sz="2400">
                  <a:solidFill>
                    <a:schemeClr val="tx1"/>
                  </a:solidFill>
                  <a:latin typeface="Times New Roman" panose="02020603050405020304" pitchFamily="18" charset="0"/>
                </a:defRPr>
              </a:lvl1pPr>
              <a:lvl2pPr marL="742950" indent="-28575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eaLnBrk="1" hangingPunct="1">
                <a:lnSpc>
                  <a:spcPct val="100000"/>
                </a:lnSpc>
                <a:spcBef>
                  <a:spcPct val="0"/>
                </a:spcBef>
              </a:pPr>
              <a:r>
                <a:rPr kumimoji="1" lang="en-US" altLang="zh-TW" sz="2000">
                  <a:ea typeface="新細明體"/>
                  <a:cs typeface="新細明體"/>
                </a:rPr>
                <a:t>Operating </a:t>
              </a:r>
            </a:p>
            <a:p>
              <a:pPr eaLnBrk="1" hangingPunct="1">
                <a:lnSpc>
                  <a:spcPct val="100000"/>
                </a:lnSpc>
                <a:spcBef>
                  <a:spcPct val="0"/>
                </a:spcBef>
              </a:pPr>
              <a:r>
                <a:rPr kumimoji="1" lang="en-US" altLang="zh-TW" sz="2000">
                  <a:ea typeface="新細明體"/>
                  <a:cs typeface="新細明體"/>
                </a:rPr>
                <a:t>Systems</a:t>
              </a:r>
            </a:p>
          </p:txBody>
        </p:sp>
        <p:sp>
          <p:nvSpPr>
            <p:cNvPr id="48" name="Left Brace 47"/>
            <p:cNvSpPr/>
            <p:nvPr/>
          </p:nvSpPr>
          <p:spPr>
            <a:xfrm>
              <a:off x="2123884" y="2450589"/>
              <a:ext cx="534983" cy="3428743"/>
            </a:xfrm>
            <a:prstGeom prst="leftBrace">
              <a:avLst/>
            </a:prstGeom>
          </p:spPr>
          <p:style>
            <a:lnRef idx="2">
              <a:schemeClr val="accent1"/>
            </a:lnRef>
            <a:fillRef idx="0">
              <a:schemeClr val="accent1"/>
            </a:fillRef>
            <a:effectRef idx="1">
              <a:schemeClr val="accent1"/>
            </a:effectRef>
            <a:fontRef idx="minor">
              <a:schemeClr val="tx1"/>
            </a:fontRef>
          </p:style>
          <p:txBody>
            <a:bodyPr anchor="ctr"/>
            <a:lstStyle/>
            <a:p>
              <a:pPr algn="ctr">
                <a:defRPr/>
              </a:pPr>
              <a:endParaRPr lang="en-US"/>
            </a:p>
          </p:txBody>
        </p:sp>
      </p:grpSp>
      <p:grpSp>
        <p:nvGrpSpPr>
          <p:cNvPr id="24585" name="Group 49"/>
          <p:cNvGrpSpPr>
            <a:grpSpLocks/>
          </p:cNvGrpSpPr>
          <p:nvPr/>
        </p:nvGrpSpPr>
        <p:grpSpPr bwMode="auto">
          <a:xfrm>
            <a:off x="685800" y="1800225"/>
            <a:ext cx="1449388" cy="720725"/>
            <a:chOff x="1209492" y="2450589"/>
            <a:chExt cx="1449375" cy="3428743"/>
          </a:xfrm>
        </p:grpSpPr>
        <p:sp>
          <p:nvSpPr>
            <p:cNvPr id="24586" name="Text Box 13"/>
            <p:cNvSpPr txBox="1">
              <a:spLocks noChangeArrowheads="1"/>
            </p:cNvSpPr>
            <p:nvPr/>
          </p:nvSpPr>
          <p:spPr bwMode="auto">
            <a:xfrm>
              <a:off x="1209492" y="3946692"/>
              <a:ext cx="1109599" cy="19028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5000"/>
                </a:lnSpc>
                <a:spcBef>
                  <a:spcPct val="20000"/>
                </a:spcBef>
                <a:defRPr sz="2400">
                  <a:solidFill>
                    <a:schemeClr val="tx1"/>
                  </a:solidFill>
                  <a:latin typeface="Times New Roman" panose="02020603050405020304" pitchFamily="18" charset="0"/>
                </a:defRPr>
              </a:lvl1pPr>
              <a:lvl2pPr marL="742950" indent="-28575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eaLnBrk="1" hangingPunct="1">
                <a:lnSpc>
                  <a:spcPct val="100000"/>
                </a:lnSpc>
                <a:spcBef>
                  <a:spcPct val="0"/>
                </a:spcBef>
              </a:pPr>
              <a:r>
                <a:rPr kumimoji="1" lang="en-US" altLang="zh-TW" sz="2000">
                  <a:ea typeface="新細明體"/>
                  <a:cs typeface="新細明體"/>
                </a:rPr>
                <a:t>Userland</a:t>
              </a:r>
            </a:p>
          </p:txBody>
        </p:sp>
        <p:sp>
          <p:nvSpPr>
            <p:cNvPr id="52" name="Left Brace 51"/>
            <p:cNvSpPr/>
            <p:nvPr/>
          </p:nvSpPr>
          <p:spPr>
            <a:xfrm>
              <a:off x="2123884" y="2450589"/>
              <a:ext cx="534983" cy="3428743"/>
            </a:xfrm>
            <a:prstGeom prst="leftBrace">
              <a:avLst/>
            </a:prstGeom>
          </p:spPr>
          <p:style>
            <a:lnRef idx="2">
              <a:schemeClr val="accent1"/>
            </a:lnRef>
            <a:fillRef idx="0">
              <a:schemeClr val="accent1"/>
            </a:fillRef>
            <a:effectRef idx="1">
              <a:schemeClr val="accent1"/>
            </a:effectRef>
            <a:fontRef idx="minor">
              <a:schemeClr val="tx1"/>
            </a:fontRef>
          </p:style>
          <p:txBody>
            <a:bodyPr anchor="ctr"/>
            <a:lstStyle/>
            <a:p>
              <a:pPr algn="ctr">
                <a:defRPr/>
              </a:pPr>
              <a:endParaRPr lang="en-US"/>
            </a:p>
          </p:txBody>
        </p:sp>
      </p:grpSp>
    </p:spTree>
    <p:extLst>
      <p:ext uri="{BB962C8B-B14F-4D97-AF65-F5344CB8AC3E}">
        <p14:creationId xmlns:p14="http://schemas.microsoft.com/office/powerpoint/2010/main" val="20000032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1" name="Rectangle 2"/>
          <p:cNvSpPr>
            <a:spLocks noGrp="1" noChangeArrowheads="1"/>
          </p:cNvSpPr>
          <p:nvPr>
            <p:ph type="title"/>
          </p:nvPr>
        </p:nvSpPr>
        <p:spPr/>
        <p:txBody>
          <a:bodyPr>
            <a:normAutofit fontScale="90000"/>
          </a:bodyPr>
          <a:lstStyle/>
          <a:p>
            <a:pPr eaLnBrk="1" hangingPunct="1"/>
            <a:r>
              <a:rPr lang="en-US" altLang="en-US" sz="4000"/>
              <a:t>Memory Protection: Access Control to Memory</a:t>
            </a:r>
          </a:p>
        </p:txBody>
      </p:sp>
      <p:sp>
        <p:nvSpPr>
          <p:cNvPr id="24582" name="Rectangle 3"/>
          <p:cNvSpPr>
            <a:spLocks noGrp="1" noChangeArrowheads="1"/>
          </p:cNvSpPr>
          <p:nvPr>
            <p:ph type="body" idx="1"/>
          </p:nvPr>
        </p:nvSpPr>
        <p:spPr>
          <a:xfrm>
            <a:off x="457200" y="1524000"/>
            <a:ext cx="8305800" cy="4343400"/>
          </a:xfrm>
        </p:spPr>
        <p:txBody>
          <a:bodyPr>
            <a:normAutofit fontScale="77500" lnSpcReduction="20000"/>
          </a:bodyPr>
          <a:lstStyle/>
          <a:p>
            <a:pPr eaLnBrk="1" hangingPunct="1">
              <a:lnSpc>
                <a:spcPct val="90000"/>
              </a:lnSpc>
            </a:pPr>
            <a:r>
              <a:rPr lang="en-US" altLang="en-US" sz="3400" dirty="0"/>
              <a:t>Ensures that one user’s process cannot access other’s memory</a:t>
            </a:r>
          </a:p>
          <a:p>
            <a:pPr lvl="1" eaLnBrk="1" hangingPunct="1">
              <a:lnSpc>
                <a:spcPct val="90000"/>
              </a:lnSpc>
            </a:pPr>
            <a:r>
              <a:rPr lang="en-US" altLang="en-US" dirty="0"/>
              <a:t>fence</a:t>
            </a:r>
          </a:p>
          <a:p>
            <a:pPr lvl="1" eaLnBrk="1" hangingPunct="1">
              <a:lnSpc>
                <a:spcPct val="90000"/>
              </a:lnSpc>
            </a:pPr>
            <a:r>
              <a:rPr lang="en-US" altLang="en-US" dirty="0"/>
              <a:t>relocation</a:t>
            </a:r>
          </a:p>
          <a:p>
            <a:pPr lvl="1" eaLnBrk="1" hangingPunct="1">
              <a:lnSpc>
                <a:spcPct val="90000"/>
              </a:lnSpc>
            </a:pPr>
            <a:r>
              <a:rPr lang="en-US" altLang="en-US" dirty="0"/>
              <a:t>base/bounds register</a:t>
            </a:r>
          </a:p>
          <a:p>
            <a:pPr lvl="1" eaLnBrk="1" hangingPunct="1">
              <a:lnSpc>
                <a:spcPct val="90000"/>
              </a:lnSpc>
            </a:pPr>
            <a:r>
              <a:rPr lang="en-US" altLang="en-US" dirty="0"/>
              <a:t>segmentation</a:t>
            </a:r>
          </a:p>
          <a:p>
            <a:pPr lvl="1" eaLnBrk="1" hangingPunct="1">
              <a:lnSpc>
                <a:spcPct val="90000"/>
              </a:lnSpc>
            </a:pPr>
            <a:r>
              <a:rPr lang="en-US" altLang="en-US" dirty="0"/>
              <a:t>paging</a:t>
            </a:r>
          </a:p>
          <a:p>
            <a:pPr lvl="1" eaLnBrk="1" hangingPunct="1">
              <a:lnSpc>
                <a:spcPct val="90000"/>
              </a:lnSpc>
            </a:pPr>
            <a:r>
              <a:rPr lang="en-US" altLang="en-US" dirty="0"/>
              <a:t>…</a:t>
            </a:r>
          </a:p>
          <a:p>
            <a:pPr eaLnBrk="1" hangingPunct="1">
              <a:lnSpc>
                <a:spcPct val="90000"/>
              </a:lnSpc>
            </a:pPr>
            <a:r>
              <a:rPr lang="en-US" altLang="en-US" dirty="0">
                <a:solidFill>
                  <a:srgbClr val="FF0000"/>
                </a:solidFill>
              </a:rPr>
              <a:t>Operating system and user processes need to have different privileges</a:t>
            </a:r>
          </a:p>
          <a:p>
            <a:pPr lvl="1"/>
            <a:r>
              <a:rPr lang="en-US" altLang="en-US" dirty="0"/>
              <a:t>Kernel needs to maintain separation among user processes.</a:t>
            </a:r>
          </a:p>
          <a:p>
            <a:pPr lvl="1"/>
            <a:r>
              <a:rPr lang="en-US" altLang="en-US" dirty="0"/>
              <a:t>OS kernel needs to access all memory, and user processes cannot</a:t>
            </a:r>
          </a:p>
          <a:p>
            <a:pPr lvl="1"/>
            <a:r>
              <a:rPr lang="en-US" altLang="en-US" dirty="0"/>
              <a:t>Kernel needs to have more power than user processes.  </a:t>
            </a:r>
          </a:p>
          <a:p>
            <a:pPr lvl="1">
              <a:lnSpc>
                <a:spcPct val="90000"/>
              </a:lnSpc>
            </a:pPr>
            <a:endParaRPr lang="en-US" altLang="en-US" dirty="0">
              <a:solidFill>
                <a:srgbClr val="FF0000"/>
              </a:solidFill>
            </a:endParaRPr>
          </a:p>
        </p:txBody>
      </p:sp>
    </p:spTree>
    <p:extLst>
      <p:ext uri="{BB962C8B-B14F-4D97-AF65-F5344CB8AC3E}">
        <p14:creationId xmlns:p14="http://schemas.microsoft.com/office/powerpoint/2010/main" val="33200197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Screen Shot 2014-09-09 at 10.52.15 A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03700" y="1940790"/>
            <a:ext cx="4940300" cy="4686300"/>
          </a:xfrm>
          <a:prstGeom prst="rect">
            <a:avLst/>
          </a:prstGeom>
        </p:spPr>
      </p:pic>
      <p:sp>
        <p:nvSpPr>
          <p:cNvPr id="2" name="Title 1"/>
          <p:cNvSpPr>
            <a:spLocks noGrp="1"/>
          </p:cNvSpPr>
          <p:nvPr>
            <p:ph type="title"/>
          </p:nvPr>
        </p:nvSpPr>
        <p:spPr/>
        <p:txBody>
          <a:bodyPr/>
          <a:lstStyle/>
          <a:p>
            <a:r>
              <a:rPr lang="en-US" dirty="0"/>
              <a:t>Memory and Address Protection</a:t>
            </a:r>
          </a:p>
        </p:txBody>
      </p:sp>
      <p:sp>
        <p:nvSpPr>
          <p:cNvPr id="3" name="Content Placeholder 2"/>
          <p:cNvSpPr>
            <a:spLocks noGrp="1"/>
          </p:cNvSpPr>
          <p:nvPr>
            <p:ph idx="1"/>
          </p:nvPr>
        </p:nvSpPr>
        <p:spPr>
          <a:xfrm>
            <a:off x="180108" y="1276926"/>
            <a:ext cx="4368800" cy="4525963"/>
          </a:xfrm>
        </p:spPr>
        <p:txBody>
          <a:bodyPr>
            <a:normAutofit fontScale="85000" lnSpcReduction="20000"/>
          </a:bodyPr>
          <a:lstStyle/>
          <a:p>
            <a:r>
              <a:rPr lang="en-US" dirty="0"/>
              <a:t>Aimed at preventing one program from affecting data and programs in memory space of other users</a:t>
            </a:r>
          </a:p>
          <a:p>
            <a:r>
              <a:rPr lang="en-US" dirty="0"/>
              <a:t>A </a:t>
            </a:r>
            <a:r>
              <a:rPr lang="en-US" b="1" dirty="0"/>
              <a:t>fence</a:t>
            </a:r>
            <a:r>
              <a:rPr lang="en-US" dirty="0"/>
              <a:t> confines users to one side of a boundary</a:t>
            </a:r>
          </a:p>
          <a:p>
            <a:r>
              <a:rPr lang="en-US" dirty="0"/>
              <a:t>Originally checked if above a predefined memory address to</a:t>
            </a:r>
          </a:p>
          <a:p>
            <a:pPr lvl="1"/>
            <a:r>
              <a:rPr lang="en-US" dirty="0"/>
              <a:t>Required predefined space for OS, needed or not</a:t>
            </a:r>
          </a:p>
          <a:p>
            <a:endParaRPr lang="en-US" dirty="0"/>
          </a:p>
          <a:p>
            <a:endParaRPr lang="en-US" dirty="0"/>
          </a:p>
        </p:txBody>
      </p:sp>
    </p:spTree>
    <p:extLst>
      <p:ext uri="{BB962C8B-B14F-4D97-AF65-F5344CB8AC3E}">
        <p14:creationId xmlns:p14="http://schemas.microsoft.com/office/powerpoint/2010/main" val="20600702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creen Shot 2014-09-09 at 10.55.17 A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10181" y="2659487"/>
            <a:ext cx="5010727" cy="3848685"/>
          </a:xfrm>
          <a:prstGeom prst="rect">
            <a:avLst/>
          </a:prstGeom>
        </p:spPr>
      </p:pic>
      <p:sp>
        <p:nvSpPr>
          <p:cNvPr id="2" name="Title 1"/>
          <p:cNvSpPr>
            <a:spLocks noGrp="1"/>
          </p:cNvSpPr>
          <p:nvPr>
            <p:ph type="title"/>
          </p:nvPr>
        </p:nvSpPr>
        <p:spPr>
          <a:xfrm>
            <a:off x="444832" y="-4331"/>
            <a:ext cx="8229600" cy="1143000"/>
          </a:xfrm>
        </p:spPr>
        <p:txBody>
          <a:bodyPr/>
          <a:lstStyle/>
          <a:p>
            <a:r>
              <a:rPr lang="en-US" dirty="0"/>
              <a:t>Hardware Fence</a:t>
            </a:r>
          </a:p>
        </p:txBody>
      </p:sp>
      <p:sp>
        <p:nvSpPr>
          <p:cNvPr id="3" name="Content Placeholder 2"/>
          <p:cNvSpPr>
            <a:spLocks noGrp="1"/>
          </p:cNvSpPr>
          <p:nvPr>
            <p:ph idx="1"/>
          </p:nvPr>
        </p:nvSpPr>
        <p:spPr>
          <a:xfrm>
            <a:off x="203199" y="2286000"/>
            <a:ext cx="4299527" cy="3840163"/>
          </a:xfrm>
        </p:spPr>
        <p:txBody>
          <a:bodyPr>
            <a:normAutofit fontScale="85000" lnSpcReduction="20000"/>
          </a:bodyPr>
          <a:lstStyle/>
          <a:p>
            <a:r>
              <a:rPr lang="en-US" dirty="0"/>
              <a:t>Hardware register (</a:t>
            </a:r>
            <a:r>
              <a:rPr lang="en-US" b="1" dirty="0"/>
              <a:t>fence register</a:t>
            </a:r>
            <a:r>
              <a:rPr lang="en-US" dirty="0"/>
              <a:t>) contained address of end of OS</a:t>
            </a:r>
          </a:p>
          <a:p>
            <a:r>
              <a:rPr lang="en-US" dirty="0"/>
              <a:t>As operating system needs less space, fence register can contain address of lower address</a:t>
            </a:r>
          </a:p>
          <a:p>
            <a:r>
              <a:rPr lang="en-US" dirty="0"/>
              <a:t>Variable fence register often called a </a:t>
            </a:r>
            <a:r>
              <a:rPr lang="en-US" b="1" dirty="0"/>
              <a:t>base register</a:t>
            </a:r>
            <a:endParaRPr lang="en-US" dirty="0"/>
          </a:p>
        </p:txBody>
      </p:sp>
      <p:sp>
        <p:nvSpPr>
          <p:cNvPr id="5" name="Rectangle 4"/>
          <p:cNvSpPr/>
          <p:nvPr/>
        </p:nvSpPr>
        <p:spPr>
          <a:xfrm>
            <a:off x="444832" y="898927"/>
            <a:ext cx="7986246" cy="1200329"/>
          </a:xfrm>
          <a:prstGeom prst="rect">
            <a:avLst/>
          </a:prstGeom>
        </p:spPr>
        <p:txBody>
          <a:bodyPr wrap="square">
            <a:spAutoFit/>
          </a:bodyPr>
          <a:lstStyle/>
          <a:p>
            <a:r>
              <a:rPr lang="en-US" sz="2400" dirty="0"/>
              <a:t>Each process has its own virtual address space.</a:t>
            </a:r>
          </a:p>
          <a:p>
            <a:r>
              <a:rPr lang="en-US" sz="2400" dirty="0"/>
              <a:t>The virtual address space will be translated to the physical address. </a:t>
            </a:r>
          </a:p>
        </p:txBody>
      </p:sp>
    </p:spTree>
    <p:extLst>
      <p:ext uri="{BB962C8B-B14F-4D97-AF65-F5344CB8AC3E}">
        <p14:creationId xmlns:p14="http://schemas.microsoft.com/office/powerpoint/2010/main" val="32701419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Relocation</a:t>
            </a:r>
          </a:p>
        </p:txBody>
      </p:sp>
      <p:sp>
        <p:nvSpPr>
          <p:cNvPr id="3" name="Content Placeholder 2"/>
          <p:cNvSpPr>
            <a:spLocks noGrp="1"/>
          </p:cNvSpPr>
          <p:nvPr>
            <p:ph idx="1"/>
          </p:nvPr>
        </p:nvSpPr>
        <p:spPr/>
        <p:txBody>
          <a:bodyPr>
            <a:normAutofit fontScale="92500" lnSpcReduction="10000"/>
          </a:bodyPr>
          <a:lstStyle/>
          <a:p>
            <a:r>
              <a:rPr lang="en-US" dirty="0"/>
              <a:t>If the size of the operating system is allowed to change, programs have to not depend on a program or data structure being at a specific address</a:t>
            </a:r>
          </a:p>
          <a:p>
            <a:r>
              <a:rPr lang="en-US" b="1" dirty="0"/>
              <a:t>Relocation</a:t>
            </a:r>
            <a:r>
              <a:rPr lang="en-US" dirty="0"/>
              <a:t> updates all the program's initial addresses (starting from 0) to reflect the actual address located in memory. Usually uses a constant </a:t>
            </a:r>
            <a:r>
              <a:rPr lang="en-US" b="1" dirty="0"/>
              <a:t>relocation factor</a:t>
            </a:r>
          </a:p>
          <a:p>
            <a:r>
              <a:rPr lang="en-US" dirty="0"/>
              <a:t>Each user has its own </a:t>
            </a:r>
            <a:r>
              <a:rPr lang="en-US" b="1" dirty="0"/>
              <a:t>address space, </a:t>
            </a:r>
            <a:r>
              <a:rPr lang="en-US" dirty="0"/>
              <a:t>which is the range of addresses its processes can run in</a:t>
            </a:r>
          </a:p>
          <a:p>
            <a:endParaRPr lang="en-US" b="1" dirty="0"/>
          </a:p>
        </p:txBody>
      </p:sp>
    </p:spTree>
    <p:extLst>
      <p:ext uri="{BB962C8B-B14F-4D97-AF65-F5344CB8AC3E}">
        <p14:creationId xmlns:p14="http://schemas.microsoft.com/office/powerpoint/2010/main" val="32023168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creen Shot 2014-09-09 at 11.01.03 A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70975" y="2082464"/>
            <a:ext cx="4373025" cy="3467060"/>
          </a:xfrm>
          <a:prstGeom prst="rect">
            <a:avLst/>
          </a:prstGeom>
        </p:spPr>
      </p:pic>
      <p:sp>
        <p:nvSpPr>
          <p:cNvPr id="2" name="Title 1"/>
          <p:cNvSpPr>
            <a:spLocks noGrp="1"/>
          </p:cNvSpPr>
          <p:nvPr>
            <p:ph type="title"/>
          </p:nvPr>
        </p:nvSpPr>
        <p:spPr/>
        <p:txBody>
          <a:bodyPr/>
          <a:lstStyle/>
          <a:p>
            <a:r>
              <a:rPr lang="en-US" dirty="0"/>
              <a:t>Base and Bounds Registers</a:t>
            </a:r>
          </a:p>
        </p:txBody>
      </p:sp>
      <p:sp>
        <p:nvSpPr>
          <p:cNvPr id="3" name="Content Placeholder 2"/>
          <p:cNvSpPr>
            <a:spLocks noGrp="1"/>
          </p:cNvSpPr>
          <p:nvPr>
            <p:ph idx="1"/>
          </p:nvPr>
        </p:nvSpPr>
        <p:spPr>
          <a:xfrm>
            <a:off x="457201" y="1600200"/>
            <a:ext cx="4313774" cy="4525963"/>
          </a:xfrm>
        </p:spPr>
        <p:txBody>
          <a:bodyPr>
            <a:normAutofit fontScale="77500" lnSpcReduction="20000"/>
          </a:bodyPr>
          <a:lstStyle/>
          <a:p>
            <a:r>
              <a:rPr lang="en-US" dirty="0"/>
              <a:t>Base register has bottom of the process</a:t>
            </a:r>
          </a:p>
          <a:p>
            <a:r>
              <a:rPr lang="en-US" dirty="0"/>
              <a:t>Bounds register has upper limit of the process</a:t>
            </a:r>
          </a:p>
          <a:p>
            <a:r>
              <a:rPr lang="en-US" dirty="0"/>
              <a:t>A </a:t>
            </a:r>
            <a:r>
              <a:rPr lang="en-US" b="1" dirty="0"/>
              <a:t>context switch</a:t>
            </a:r>
            <a:r>
              <a:rPr lang="en-US" dirty="0"/>
              <a:t> changes the base and bounds registers from one user's processes to another user's processes</a:t>
            </a:r>
          </a:p>
          <a:p>
            <a:r>
              <a:rPr lang="en-US" dirty="0"/>
              <a:t>Reduces effect of data-manipulating instructions</a:t>
            </a:r>
          </a:p>
          <a:p>
            <a:r>
              <a:rPr lang="en-US" dirty="0"/>
              <a:t>Encapsulate </a:t>
            </a:r>
            <a:r>
              <a:rPr lang="en-US" b="1" dirty="0"/>
              <a:t>instructions </a:t>
            </a:r>
            <a:r>
              <a:rPr lang="en-US" dirty="0"/>
              <a:t>with one pair of registers, </a:t>
            </a:r>
            <a:r>
              <a:rPr lang="en-US" b="1" dirty="0"/>
              <a:t>data </a:t>
            </a:r>
            <a:r>
              <a:rPr lang="en-US" dirty="0"/>
              <a:t>with another pair</a:t>
            </a:r>
          </a:p>
        </p:txBody>
      </p:sp>
    </p:spTree>
    <p:extLst>
      <p:ext uri="{BB962C8B-B14F-4D97-AF65-F5344CB8AC3E}">
        <p14:creationId xmlns:p14="http://schemas.microsoft.com/office/powerpoint/2010/main" val="30882725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Logical and Physical Segments</a:t>
            </a:r>
          </a:p>
        </p:txBody>
      </p:sp>
      <p:sp>
        <p:nvSpPr>
          <p:cNvPr id="3" name="Content Placeholder 2"/>
          <p:cNvSpPr>
            <a:spLocks noGrp="1"/>
          </p:cNvSpPr>
          <p:nvPr>
            <p:ph idx="1"/>
          </p:nvPr>
        </p:nvSpPr>
        <p:spPr/>
        <p:txBody>
          <a:bodyPr/>
          <a:lstStyle/>
          <a:p>
            <a:endParaRPr lang="en-US"/>
          </a:p>
        </p:txBody>
      </p:sp>
      <p:pic>
        <p:nvPicPr>
          <p:cNvPr id="4" name="Picture 3" descr="Screen Shot 2014-09-09 at 11.11.05 A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5090" y="1411780"/>
            <a:ext cx="8045552" cy="5446220"/>
          </a:xfrm>
          <a:prstGeom prst="rect">
            <a:avLst/>
          </a:prstGeom>
        </p:spPr>
      </p:pic>
    </p:spTree>
    <p:extLst>
      <p:ext uri="{BB962C8B-B14F-4D97-AF65-F5344CB8AC3E}">
        <p14:creationId xmlns:p14="http://schemas.microsoft.com/office/powerpoint/2010/main" val="23431235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Segment Addresses</a:t>
            </a:r>
          </a:p>
        </p:txBody>
      </p:sp>
      <p:sp>
        <p:nvSpPr>
          <p:cNvPr id="3" name="Content Placeholder 2"/>
          <p:cNvSpPr>
            <a:spLocks noGrp="1"/>
          </p:cNvSpPr>
          <p:nvPr>
            <p:ph idx="1"/>
          </p:nvPr>
        </p:nvSpPr>
        <p:spPr/>
        <p:txBody>
          <a:bodyPr>
            <a:normAutofit fontScale="92500"/>
          </a:bodyPr>
          <a:lstStyle/>
          <a:p>
            <a:r>
              <a:rPr lang="en-US" sz="2600" dirty="0">
                <a:latin typeface="Times New Roman" panose="02020603050405020304" pitchFamily="18" charset="0"/>
                <a:cs typeface="Times New Roman" panose="02020603050405020304" pitchFamily="18" charset="0"/>
              </a:rPr>
              <a:t>Program has an address given by &lt;name, offset&gt;, and the operating system looks up name and finds its real start address</a:t>
            </a:r>
          </a:p>
          <a:p>
            <a:pPr lvl="1"/>
            <a:r>
              <a:rPr lang="en-US" sz="2600" dirty="0">
                <a:latin typeface="Times New Roman" panose="02020603050405020304" pitchFamily="18" charset="0"/>
                <a:cs typeface="Times New Roman" panose="02020603050405020304" pitchFamily="18" charset="0"/>
              </a:rPr>
              <a:t>Address + offset</a:t>
            </a:r>
          </a:p>
          <a:p>
            <a:r>
              <a:rPr lang="en-US" sz="2600" dirty="0">
                <a:latin typeface="Times New Roman" panose="02020603050405020304" pitchFamily="18" charset="0"/>
                <a:cs typeface="Times New Roman" panose="02020603050405020304" pitchFamily="18" charset="0"/>
              </a:rPr>
              <a:t>Usually one operating system </a:t>
            </a:r>
            <a:r>
              <a:rPr lang="en-US" sz="2600" b="1" dirty="0">
                <a:latin typeface="Times New Roman" panose="02020603050405020304" pitchFamily="18" charset="0"/>
                <a:cs typeface="Times New Roman" panose="02020603050405020304" pitchFamily="18" charset="0"/>
              </a:rPr>
              <a:t>segment address table</a:t>
            </a:r>
            <a:r>
              <a:rPr lang="en-US" sz="2600" dirty="0">
                <a:latin typeface="Times New Roman" panose="02020603050405020304" pitchFamily="18" charset="0"/>
                <a:cs typeface="Times New Roman" panose="02020603050405020304" pitchFamily="18" charset="0"/>
              </a:rPr>
              <a:t> for each process (unless processes need to share access to segments)</a:t>
            </a:r>
          </a:p>
          <a:p>
            <a:r>
              <a:rPr lang="en-US" sz="2600" dirty="0">
                <a:latin typeface="Times New Roman" panose="02020603050405020304" pitchFamily="18" charset="0"/>
                <a:cs typeface="Times New Roman" panose="02020603050405020304" pitchFamily="18" charset="0"/>
              </a:rPr>
              <a:t>User's program doesn't know what true memory address it uses</a:t>
            </a:r>
          </a:p>
          <a:p>
            <a:r>
              <a:rPr lang="en-US" sz="2600" dirty="0">
                <a:latin typeface="Times New Roman" panose="02020603050405020304" pitchFamily="18" charset="0"/>
                <a:cs typeface="Times New Roman" panose="02020603050405020304" pitchFamily="18" charset="0"/>
              </a:rPr>
              <a:t>OS can move segments around, even after program starts</a:t>
            </a:r>
          </a:p>
          <a:p>
            <a:r>
              <a:rPr lang="en-US" sz="2600" dirty="0">
                <a:latin typeface="Times New Roman" panose="02020603050405020304" pitchFamily="18" charset="0"/>
                <a:cs typeface="Times New Roman" panose="02020603050405020304" pitchFamily="18" charset="0"/>
              </a:rPr>
              <a:t>Segment can be removed from main memory and stored</a:t>
            </a:r>
          </a:p>
          <a:p>
            <a:r>
              <a:rPr lang="en-US" sz="2600" dirty="0">
                <a:latin typeface="Times New Roman" panose="02020603050405020304" pitchFamily="18" charset="0"/>
                <a:cs typeface="Times New Roman" panose="02020603050405020304" pitchFamily="18" charset="0"/>
              </a:rPr>
              <a:t>OS has ability to check each address reference for protection</a:t>
            </a:r>
          </a:p>
          <a:p>
            <a:endParaRPr lang="en-US" dirty="0"/>
          </a:p>
        </p:txBody>
      </p:sp>
    </p:spTree>
    <p:extLst>
      <p:ext uri="{BB962C8B-B14F-4D97-AF65-F5344CB8AC3E}">
        <p14:creationId xmlns:p14="http://schemas.microsoft.com/office/powerpoint/2010/main" val="29599633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Segment Addresses</a:t>
            </a:r>
          </a:p>
        </p:txBody>
      </p:sp>
      <p:sp>
        <p:nvSpPr>
          <p:cNvPr id="3" name="Content Placeholder 2"/>
          <p:cNvSpPr>
            <a:spLocks noGrp="1"/>
          </p:cNvSpPr>
          <p:nvPr>
            <p:ph idx="1"/>
          </p:nvPr>
        </p:nvSpPr>
        <p:spPr/>
        <p:txBody>
          <a:bodyPr/>
          <a:lstStyle/>
          <a:p>
            <a:endParaRPr lang="en-US"/>
          </a:p>
        </p:txBody>
      </p:sp>
      <p:pic>
        <p:nvPicPr>
          <p:cNvPr id="4" name="Picture 3" descr="Screen Shot 2014-09-09 at 11.13.43 A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86551" y="1600200"/>
            <a:ext cx="6350645" cy="5257800"/>
          </a:xfrm>
          <a:prstGeom prst="rect">
            <a:avLst/>
          </a:prstGeom>
        </p:spPr>
      </p:pic>
    </p:spTree>
    <p:extLst>
      <p:ext uri="{BB962C8B-B14F-4D97-AF65-F5344CB8AC3E}">
        <p14:creationId xmlns:p14="http://schemas.microsoft.com/office/powerpoint/2010/main" val="36991150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Segmentation, contd.</a:t>
            </a:r>
          </a:p>
        </p:txBody>
      </p:sp>
      <p:sp>
        <p:nvSpPr>
          <p:cNvPr id="3" name="Content Placeholder 2"/>
          <p:cNvSpPr>
            <a:spLocks noGrp="1"/>
          </p:cNvSpPr>
          <p:nvPr>
            <p:ph idx="1"/>
          </p:nvPr>
        </p:nvSpPr>
        <p:spPr/>
        <p:txBody>
          <a:bodyPr>
            <a:normAutofit fontScale="85000" lnSpcReduction="20000"/>
          </a:bodyPr>
          <a:lstStyle/>
          <a:p>
            <a:r>
              <a:rPr lang="en-US" dirty="0"/>
              <a:t>Program can only access a segment if the segment is in it's </a:t>
            </a:r>
            <a:r>
              <a:rPr lang="en-US" b="1" dirty="0"/>
              <a:t>process segment translation table</a:t>
            </a:r>
            <a:endParaRPr lang="en-US" dirty="0"/>
          </a:p>
          <a:p>
            <a:r>
              <a:rPr lang="en-US" dirty="0"/>
              <a:t>One segment could be read-only data, another execute-only code, a third might be writable data</a:t>
            </a:r>
          </a:p>
          <a:p>
            <a:r>
              <a:rPr lang="en-US" dirty="0"/>
              <a:t>Several advantages:</a:t>
            </a:r>
          </a:p>
          <a:p>
            <a:pPr lvl="1"/>
            <a:r>
              <a:rPr lang="en-US" dirty="0"/>
              <a:t>Each address reference is checked for protection</a:t>
            </a:r>
          </a:p>
          <a:p>
            <a:pPr lvl="1"/>
            <a:r>
              <a:rPr lang="en-US" dirty="0"/>
              <a:t>Classes of data items can be assigned different levels of protection</a:t>
            </a:r>
          </a:p>
          <a:p>
            <a:pPr lvl="1"/>
            <a:r>
              <a:rPr lang="en-US" dirty="0"/>
              <a:t>Multiple users can share access to a segment with different rights</a:t>
            </a:r>
          </a:p>
          <a:p>
            <a:pPr lvl="1"/>
            <a:r>
              <a:rPr lang="en-US" dirty="0"/>
              <a:t>User can't generate an address or access an unpermitted segment</a:t>
            </a:r>
          </a:p>
          <a:p>
            <a:endParaRPr lang="en-US" dirty="0"/>
          </a:p>
        </p:txBody>
      </p:sp>
    </p:spTree>
    <p:extLst>
      <p:ext uri="{BB962C8B-B14F-4D97-AF65-F5344CB8AC3E}">
        <p14:creationId xmlns:p14="http://schemas.microsoft.com/office/powerpoint/2010/main" val="37418884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Segmentation, contd.</a:t>
            </a:r>
          </a:p>
        </p:txBody>
      </p:sp>
      <p:sp>
        <p:nvSpPr>
          <p:cNvPr id="3" name="Content Placeholder 2"/>
          <p:cNvSpPr>
            <a:spLocks noGrp="1"/>
          </p:cNvSpPr>
          <p:nvPr>
            <p:ph idx="1"/>
          </p:nvPr>
        </p:nvSpPr>
        <p:spPr/>
        <p:txBody>
          <a:bodyPr>
            <a:normAutofit fontScale="77500" lnSpcReduction="20000"/>
          </a:bodyPr>
          <a:lstStyle/>
          <a:p>
            <a:r>
              <a:rPr lang="en-US" dirty="0"/>
              <a:t>Each segment has particular size</a:t>
            </a:r>
          </a:p>
          <a:p>
            <a:r>
              <a:rPr lang="en-US" dirty="0"/>
              <a:t>However, program can generate reference past segment bounds:</a:t>
            </a:r>
          </a:p>
          <a:p>
            <a:pPr lvl="1"/>
            <a:r>
              <a:rPr lang="en-US" dirty="0"/>
              <a:t>&lt;</a:t>
            </a:r>
            <a:r>
              <a:rPr lang="en-US" dirty="0" err="1"/>
              <a:t>SegmentA</a:t>
            </a:r>
            <a:r>
              <a:rPr lang="en-US" dirty="0"/>
              <a:t>, 9999&gt; in a 200 byte segment</a:t>
            </a:r>
          </a:p>
          <a:p>
            <a:pPr lvl="1"/>
            <a:r>
              <a:rPr lang="en-US" dirty="0"/>
              <a:t>Can't be stopped during compilation or at loading time, because segments have to be able to grow during execution (so the bounds are not known in advance)</a:t>
            </a:r>
          </a:p>
          <a:p>
            <a:pPr lvl="1"/>
            <a:r>
              <a:rPr lang="en-US" dirty="0"/>
              <a:t>Segmentation systems must check if address is beyond </a:t>
            </a:r>
            <a:r>
              <a:rPr lang="en-US" b="1" dirty="0"/>
              <a:t>segment length</a:t>
            </a:r>
            <a:r>
              <a:rPr lang="en-US" dirty="0"/>
              <a:t> in the </a:t>
            </a:r>
            <a:r>
              <a:rPr lang="en-US" b="1" dirty="0"/>
              <a:t>segment translation table</a:t>
            </a:r>
          </a:p>
          <a:p>
            <a:r>
              <a:rPr lang="en-US" b="1" dirty="0"/>
              <a:t>Segment names</a:t>
            </a:r>
            <a:r>
              <a:rPr lang="en-US" dirty="0"/>
              <a:t> are converted to </a:t>
            </a:r>
            <a:r>
              <a:rPr lang="en-US" b="1" dirty="0"/>
              <a:t>segment numbers </a:t>
            </a:r>
            <a:r>
              <a:rPr lang="en-US" dirty="0"/>
              <a:t>by the compiler when the program is translated</a:t>
            </a:r>
          </a:p>
          <a:p>
            <a:r>
              <a:rPr lang="en-US" dirty="0"/>
              <a:t>Compiler appends </a:t>
            </a:r>
            <a:r>
              <a:rPr lang="en-US" b="1" dirty="0"/>
              <a:t>linkage table</a:t>
            </a:r>
            <a:r>
              <a:rPr lang="en-US" dirty="0"/>
              <a:t> that matches numbers to segment names</a:t>
            </a:r>
          </a:p>
        </p:txBody>
      </p:sp>
    </p:spTree>
    <p:extLst>
      <p:ext uri="{BB962C8B-B14F-4D97-AF65-F5344CB8AC3E}">
        <p14:creationId xmlns:p14="http://schemas.microsoft.com/office/powerpoint/2010/main" val="13180848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Paging</a:t>
            </a:r>
          </a:p>
        </p:txBody>
      </p:sp>
      <p:sp>
        <p:nvSpPr>
          <p:cNvPr id="3" name="Content Placeholder 2"/>
          <p:cNvSpPr>
            <a:spLocks noGrp="1"/>
          </p:cNvSpPr>
          <p:nvPr>
            <p:ph idx="1"/>
          </p:nvPr>
        </p:nvSpPr>
        <p:spPr/>
        <p:txBody>
          <a:bodyPr>
            <a:normAutofit fontScale="92500" lnSpcReduction="20000"/>
          </a:bodyPr>
          <a:lstStyle/>
          <a:p>
            <a:r>
              <a:rPr lang="en-US" dirty="0"/>
              <a:t>In </a:t>
            </a:r>
            <a:r>
              <a:rPr lang="en-US" b="1" dirty="0"/>
              <a:t>paging, </a:t>
            </a:r>
            <a:r>
              <a:rPr lang="en-US" dirty="0"/>
              <a:t>a program is divided into equal-size pieces called </a:t>
            </a:r>
            <a:r>
              <a:rPr lang="en-US" b="1" dirty="0"/>
              <a:t>pages </a:t>
            </a:r>
            <a:r>
              <a:rPr lang="en-US" dirty="0"/>
              <a:t>(power of 2 between 512 and 4096 bytes), and then into </a:t>
            </a:r>
            <a:r>
              <a:rPr lang="en-US" b="1" dirty="0"/>
              <a:t>page frames</a:t>
            </a:r>
            <a:endParaRPr lang="en-US" dirty="0"/>
          </a:p>
          <a:p>
            <a:r>
              <a:rPr lang="en-US" dirty="0"/>
              <a:t>Each address given by </a:t>
            </a:r>
            <a:r>
              <a:rPr lang="en-US" i="1" dirty="0"/>
              <a:t>&lt;page, offset&gt;</a:t>
            </a:r>
          </a:p>
          <a:p>
            <a:r>
              <a:rPr lang="en-US" dirty="0"/>
              <a:t>The </a:t>
            </a:r>
            <a:r>
              <a:rPr lang="en-US" i="1" dirty="0"/>
              <a:t>page</a:t>
            </a:r>
            <a:r>
              <a:rPr lang="en-US" dirty="0"/>
              <a:t> portion is converted to page frame address through table lookup</a:t>
            </a:r>
          </a:p>
          <a:p>
            <a:r>
              <a:rPr lang="en-US" dirty="0"/>
              <a:t>The </a:t>
            </a:r>
            <a:r>
              <a:rPr lang="en-US" i="1" dirty="0"/>
              <a:t>offset</a:t>
            </a:r>
            <a:r>
              <a:rPr lang="en-US" dirty="0"/>
              <a:t> portion is added to the page frame address to produce the real memory address of </a:t>
            </a:r>
            <a:r>
              <a:rPr lang="en-US" i="1" dirty="0"/>
              <a:t>&lt;page, offset&gt;</a:t>
            </a:r>
            <a:endParaRPr lang="en-US" dirty="0"/>
          </a:p>
          <a:p>
            <a:r>
              <a:rPr lang="en-US" i="1" dirty="0" err="1"/>
              <a:t>true_address</a:t>
            </a:r>
            <a:r>
              <a:rPr lang="en-US" i="1" dirty="0"/>
              <a:t> = page + offset</a:t>
            </a:r>
            <a:endParaRPr lang="en-US" b="1" dirty="0"/>
          </a:p>
          <a:p>
            <a:endParaRPr lang="en-US" dirty="0"/>
          </a:p>
          <a:p>
            <a:endParaRPr lang="en-US" dirty="0"/>
          </a:p>
        </p:txBody>
      </p:sp>
    </p:spTree>
    <p:extLst>
      <p:ext uri="{BB962C8B-B14F-4D97-AF65-F5344CB8AC3E}">
        <p14:creationId xmlns:p14="http://schemas.microsoft.com/office/powerpoint/2010/main" val="30636507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Page Translation</a:t>
            </a:r>
          </a:p>
        </p:txBody>
      </p:sp>
      <p:pic>
        <p:nvPicPr>
          <p:cNvPr id="4" name="Picture 3" descr="Screen Shot 2014-09-09 at 11.26.20 A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3277" y="1370822"/>
            <a:ext cx="6184900" cy="5487178"/>
          </a:xfrm>
          <a:prstGeom prst="rect">
            <a:avLst/>
          </a:prstGeom>
        </p:spPr>
      </p:pic>
    </p:spTree>
    <p:extLst>
      <p:ext uri="{BB962C8B-B14F-4D97-AF65-F5344CB8AC3E}">
        <p14:creationId xmlns:p14="http://schemas.microsoft.com/office/powerpoint/2010/main" val="37632480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Memory Pages</a:t>
            </a:r>
          </a:p>
        </p:txBody>
      </p:sp>
      <p:sp>
        <p:nvSpPr>
          <p:cNvPr id="3" name="Content Placeholder 2"/>
          <p:cNvSpPr>
            <a:spLocks noGrp="1"/>
          </p:cNvSpPr>
          <p:nvPr>
            <p:ph idx="1"/>
          </p:nvPr>
        </p:nvSpPr>
        <p:spPr/>
        <p:txBody>
          <a:bodyPr>
            <a:normAutofit fontScale="85000" lnSpcReduction="10000"/>
          </a:bodyPr>
          <a:lstStyle/>
          <a:p>
            <a:r>
              <a:rPr lang="en-US" dirty="0"/>
              <a:t>All pages in paging approach are fixed size (unlike segmentation)</a:t>
            </a:r>
          </a:p>
          <a:p>
            <a:r>
              <a:rPr lang="en-US" dirty="0"/>
              <a:t>No problem addressing beyond end of a page</a:t>
            </a:r>
          </a:p>
          <a:p>
            <a:r>
              <a:rPr lang="en-US" dirty="0"/>
              <a:t>Page can only fit in the available page in memory based on bit-length of the offset value</a:t>
            </a:r>
          </a:p>
          <a:p>
            <a:r>
              <a:rPr lang="en-US" dirty="0"/>
              <a:t>Example: </a:t>
            </a:r>
          </a:p>
          <a:p>
            <a:pPr lvl="1"/>
            <a:r>
              <a:rPr lang="en-US" dirty="0"/>
              <a:t>Page size of 1024 bytes = 2</a:t>
            </a:r>
            <a:r>
              <a:rPr lang="en-US" baseline="30000" dirty="0"/>
              <a:t>10</a:t>
            </a:r>
          </a:p>
          <a:p>
            <a:pPr lvl="1"/>
            <a:r>
              <a:rPr lang="en-US" dirty="0"/>
              <a:t>10 bits allocated for offset of each address</a:t>
            </a:r>
          </a:p>
          <a:p>
            <a:pPr lvl="1"/>
            <a:r>
              <a:rPr lang="en-US" dirty="0"/>
              <a:t>Can't generate offset larger than 1023</a:t>
            </a:r>
          </a:p>
          <a:p>
            <a:pPr lvl="1"/>
            <a:r>
              <a:rPr lang="en-US" dirty="0"/>
              <a:t>Any location after &lt;x, 1023&gt; causes carry into </a:t>
            </a:r>
            <a:r>
              <a:rPr lang="en-US" i="1" dirty="0"/>
              <a:t>page </a:t>
            </a:r>
            <a:r>
              <a:rPr lang="en-US" dirty="0"/>
              <a:t>portion moving into the next page (but not past the last page) </a:t>
            </a:r>
          </a:p>
        </p:txBody>
      </p:sp>
    </p:spTree>
    <p:extLst>
      <p:ext uri="{BB962C8B-B14F-4D97-AF65-F5344CB8AC3E}">
        <p14:creationId xmlns:p14="http://schemas.microsoft.com/office/powerpoint/2010/main" val="7394596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Combined Paging and Segmentation</a:t>
            </a:r>
          </a:p>
        </p:txBody>
      </p:sp>
      <p:sp>
        <p:nvSpPr>
          <p:cNvPr id="3" name="Content Placeholder 2"/>
          <p:cNvSpPr>
            <a:spLocks noGrp="1"/>
          </p:cNvSpPr>
          <p:nvPr>
            <p:ph idx="1"/>
          </p:nvPr>
        </p:nvSpPr>
        <p:spPr/>
        <p:txBody>
          <a:bodyPr>
            <a:normAutofit fontScale="92500" lnSpcReduction="20000"/>
          </a:bodyPr>
          <a:lstStyle/>
          <a:p>
            <a:r>
              <a:rPr lang="en-US" dirty="0"/>
              <a:t>Paging offers efficiency and segmentation offers logical protection</a:t>
            </a:r>
          </a:p>
          <a:p>
            <a:r>
              <a:rPr lang="en-US" dirty="0"/>
              <a:t>They are often combined to take advantage of the strengths of each</a:t>
            </a:r>
          </a:p>
          <a:p>
            <a:r>
              <a:rPr lang="en-US" dirty="0"/>
              <a:t>Programs divided into logical segments</a:t>
            </a:r>
          </a:p>
          <a:p>
            <a:r>
              <a:rPr lang="en-US" dirty="0"/>
              <a:t>Each segment broken into fixed-size pages</a:t>
            </a:r>
          </a:p>
          <a:p>
            <a:r>
              <a:rPr lang="en-US" dirty="0"/>
              <a:t>Retains logical unity of segmentation, provides differentiated protection for segments</a:t>
            </a:r>
          </a:p>
          <a:p>
            <a:r>
              <a:rPr lang="en-US" dirty="0"/>
              <a:t>Added additional layer of translation for each address</a:t>
            </a:r>
          </a:p>
        </p:txBody>
      </p:sp>
    </p:spTree>
    <p:extLst>
      <p:ext uri="{BB962C8B-B14F-4D97-AF65-F5344CB8AC3E}">
        <p14:creationId xmlns:p14="http://schemas.microsoft.com/office/powerpoint/2010/main" val="18667348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5" name="Rectangle 2"/>
          <p:cNvSpPr>
            <a:spLocks noGrp="1" noChangeArrowheads="1"/>
          </p:cNvSpPr>
          <p:nvPr>
            <p:ph type="title"/>
          </p:nvPr>
        </p:nvSpPr>
        <p:spPr/>
        <p:txBody>
          <a:bodyPr>
            <a:normAutofit fontScale="90000"/>
          </a:bodyPr>
          <a:lstStyle/>
          <a:p>
            <a:pPr eaLnBrk="1" hangingPunct="1"/>
            <a:r>
              <a:rPr lang="en-US" altLang="en-US" sz="4000"/>
              <a:t>CPU Modes (a.k.a. processor modes or privilege </a:t>
            </a:r>
          </a:p>
        </p:txBody>
      </p:sp>
      <p:sp>
        <p:nvSpPr>
          <p:cNvPr id="25606" name="Rectangle 3"/>
          <p:cNvSpPr>
            <a:spLocks noGrp="1" noChangeArrowheads="1"/>
          </p:cNvSpPr>
          <p:nvPr>
            <p:ph type="body" idx="1"/>
          </p:nvPr>
        </p:nvSpPr>
        <p:spPr/>
        <p:txBody>
          <a:bodyPr>
            <a:normAutofit lnSpcReduction="10000"/>
          </a:bodyPr>
          <a:lstStyle/>
          <a:p>
            <a:pPr eaLnBrk="1" hangingPunct="1"/>
            <a:r>
              <a:rPr lang="en-US" altLang="en-US" dirty="0"/>
              <a:t>System mode (privileged mode, master mode, supervisor mode, kernel mode)</a:t>
            </a:r>
          </a:p>
          <a:p>
            <a:pPr lvl="1" eaLnBrk="1" hangingPunct="1"/>
            <a:r>
              <a:rPr lang="en-US" altLang="en-US" dirty="0"/>
              <a:t>Can execute any instruction</a:t>
            </a:r>
          </a:p>
          <a:p>
            <a:pPr lvl="1" eaLnBrk="1" hangingPunct="1"/>
            <a:r>
              <a:rPr lang="en-US" altLang="en-US" dirty="0"/>
              <a:t>Can access any memory locations, e.g., accessing hardware devices, </a:t>
            </a:r>
          </a:p>
          <a:p>
            <a:pPr lvl="1" eaLnBrk="1" hangingPunct="1"/>
            <a:r>
              <a:rPr lang="en-US" altLang="en-US" dirty="0"/>
              <a:t>Can enable and disable interrupts, </a:t>
            </a:r>
          </a:p>
          <a:p>
            <a:pPr lvl="1" eaLnBrk="1" hangingPunct="1"/>
            <a:r>
              <a:rPr lang="en-US" altLang="en-US" dirty="0"/>
              <a:t>Can change privileged processor state, </a:t>
            </a:r>
          </a:p>
          <a:p>
            <a:pPr lvl="1" eaLnBrk="1" hangingPunct="1"/>
            <a:r>
              <a:rPr lang="en-US" altLang="en-US" dirty="0"/>
              <a:t>Can access memory management units, </a:t>
            </a:r>
          </a:p>
          <a:p>
            <a:pPr lvl="1" eaLnBrk="1" hangingPunct="1"/>
            <a:r>
              <a:rPr lang="en-US" altLang="en-US" dirty="0"/>
              <a:t>Can modify registers for various descriptor tables . </a:t>
            </a:r>
          </a:p>
        </p:txBody>
      </p:sp>
      <p:sp>
        <p:nvSpPr>
          <p:cNvPr id="25607" name="Text Box 4"/>
          <p:cNvSpPr txBox="1">
            <a:spLocks noChangeArrowheads="1"/>
          </p:cNvSpPr>
          <p:nvPr/>
        </p:nvSpPr>
        <p:spPr bwMode="auto">
          <a:xfrm>
            <a:off x="1143000" y="5791200"/>
            <a:ext cx="7010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2"/>
              </a:buClr>
              <a:buSzPct val="100000"/>
              <a:buFont typeface="Times" panose="02020603050405020304" pitchFamily="18" charset="0"/>
              <a:buChar char="•"/>
              <a:defRPr sz="2800">
                <a:solidFill>
                  <a:schemeClr val="tx1"/>
                </a:solidFill>
                <a:latin typeface="Arial" panose="020B0604020202020204" pitchFamily="34" charset="0"/>
              </a:defRPr>
            </a:lvl1pPr>
            <a:lvl2pPr marL="742950" indent="-285750" eaLnBrk="0" hangingPunct="0">
              <a:spcBef>
                <a:spcPct val="20000"/>
              </a:spcBef>
              <a:buChar char="–"/>
              <a:defRPr sz="2400">
                <a:solidFill>
                  <a:schemeClr val="tx1"/>
                </a:solidFill>
                <a:latin typeface="Arial" panose="020B0604020202020204" pitchFamily="34" charset="0"/>
              </a:defRPr>
            </a:lvl2pPr>
            <a:lvl3pPr marL="1143000" indent="-228600" eaLnBrk="0" hangingPunct="0">
              <a:spcBef>
                <a:spcPct val="20000"/>
              </a:spcBef>
              <a:buChar char="•"/>
              <a:defRPr sz="22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en-US" altLang="en-US" sz="2400">
                <a:latin typeface="Times New Roman" panose="02020603050405020304" pitchFamily="18" charset="0"/>
              </a:rPr>
              <a:t>Reading:  http://en.wikipedia.org/wiki/CPU_modes</a:t>
            </a:r>
          </a:p>
        </p:txBody>
      </p:sp>
    </p:spTree>
    <p:extLst>
      <p:ext uri="{BB962C8B-B14F-4D97-AF65-F5344CB8AC3E}">
        <p14:creationId xmlns:p14="http://schemas.microsoft.com/office/powerpoint/2010/main" val="23351780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9" name="Rectangle 2"/>
          <p:cNvSpPr>
            <a:spLocks noGrp="1" noChangeArrowheads="1"/>
          </p:cNvSpPr>
          <p:nvPr>
            <p:ph type="title"/>
          </p:nvPr>
        </p:nvSpPr>
        <p:spPr/>
        <p:txBody>
          <a:bodyPr/>
          <a:lstStyle/>
          <a:p>
            <a:pPr eaLnBrk="1" hangingPunct="1"/>
            <a:r>
              <a:rPr lang="en-US" altLang="en-US" sz="4000"/>
              <a:t>User Mode </a:t>
            </a:r>
          </a:p>
        </p:txBody>
      </p:sp>
      <p:sp>
        <p:nvSpPr>
          <p:cNvPr id="26630" name="Rectangle 3"/>
          <p:cNvSpPr>
            <a:spLocks noGrp="1" noChangeArrowheads="1"/>
          </p:cNvSpPr>
          <p:nvPr>
            <p:ph type="body" idx="1"/>
          </p:nvPr>
        </p:nvSpPr>
        <p:spPr>
          <a:xfrm>
            <a:off x="457200" y="1265237"/>
            <a:ext cx="8229600" cy="4525963"/>
          </a:xfrm>
        </p:spPr>
        <p:txBody>
          <a:bodyPr>
            <a:normAutofit lnSpcReduction="10000"/>
          </a:bodyPr>
          <a:lstStyle/>
          <a:p>
            <a:pPr eaLnBrk="1" hangingPunct="1"/>
            <a:r>
              <a:rPr lang="en-US" altLang="en-US" dirty="0"/>
              <a:t>User mode </a:t>
            </a:r>
          </a:p>
          <a:p>
            <a:pPr lvl="1" eaLnBrk="1" hangingPunct="1"/>
            <a:r>
              <a:rPr lang="en-US" altLang="en-US" dirty="0"/>
              <a:t>Access to memory is limited, </a:t>
            </a:r>
          </a:p>
          <a:p>
            <a:pPr lvl="1" eaLnBrk="1" hangingPunct="1"/>
            <a:r>
              <a:rPr lang="en-US" altLang="en-US" dirty="0"/>
              <a:t>Cannot execute some  instructions</a:t>
            </a:r>
          </a:p>
          <a:p>
            <a:pPr lvl="1" eaLnBrk="1" hangingPunct="1"/>
            <a:r>
              <a:rPr lang="en-US" altLang="en-US" dirty="0"/>
              <a:t>Cannot disable interrupts, </a:t>
            </a:r>
          </a:p>
          <a:p>
            <a:pPr lvl="1" eaLnBrk="1" hangingPunct="1"/>
            <a:r>
              <a:rPr lang="en-US" altLang="en-US" dirty="0"/>
              <a:t>Cannot change arbitrary processor state, </a:t>
            </a:r>
          </a:p>
          <a:p>
            <a:pPr lvl="1" eaLnBrk="1" hangingPunct="1"/>
            <a:r>
              <a:rPr lang="en-US" altLang="en-US" dirty="0"/>
              <a:t>Cannot access memory management units</a:t>
            </a:r>
          </a:p>
          <a:p>
            <a:pPr eaLnBrk="1" hangingPunct="1"/>
            <a:r>
              <a:rPr lang="en-US" altLang="en-US" dirty="0"/>
              <a:t>Transition from user mode to system mode can only happen via well defined entry points, i.e., through system calls</a:t>
            </a:r>
          </a:p>
        </p:txBody>
      </p:sp>
      <p:sp>
        <p:nvSpPr>
          <p:cNvPr id="26631" name="Text Box 4"/>
          <p:cNvSpPr txBox="1">
            <a:spLocks noChangeArrowheads="1"/>
          </p:cNvSpPr>
          <p:nvPr/>
        </p:nvSpPr>
        <p:spPr bwMode="auto">
          <a:xfrm>
            <a:off x="1143000" y="5791200"/>
            <a:ext cx="7010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2"/>
              </a:buClr>
              <a:buSzPct val="100000"/>
              <a:buFont typeface="Times" panose="02020603050405020304" pitchFamily="18" charset="0"/>
              <a:buChar char="•"/>
              <a:defRPr sz="2800">
                <a:solidFill>
                  <a:schemeClr val="tx1"/>
                </a:solidFill>
                <a:latin typeface="Arial" panose="020B0604020202020204" pitchFamily="34" charset="0"/>
              </a:defRPr>
            </a:lvl1pPr>
            <a:lvl2pPr marL="742950" indent="-285750" eaLnBrk="0" hangingPunct="0">
              <a:spcBef>
                <a:spcPct val="20000"/>
              </a:spcBef>
              <a:buChar char="–"/>
              <a:defRPr sz="2400">
                <a:solidFill>
                  <a:schemeClr val="tx1"/>
                </a:solidFill>
                <a:latin typeface="Arial" panose="020B0604020202020204" pitchFamily="34" charset="0"/>
              </a:defRPr>
            </a:lvl2pPr>
            <a:lvl3pPr marL="1143000" indent="-228600" eaLnBrk="0" hangingPunct="0">
              <a:spcBef>
                <a:spcPct val="20000"/>
              </a:spcBef>
              <a:buChar char="•"/>
              <a:defRPr sz="22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en-US" altLang="en-US" sz="2400">
                <a:latin typeface="Times New Roman" panose="02020603050405020304" pitchFamily="18" charset="0"/>
              </a:rPr>
              <a:t>Reading:  http://en.wikipedia.org/wiki/CPU_modes</a:t>
            </a:r>
          </a:p>
        </p:txBody>
      </p:sp>
    </p:spTree>
    <p:extLst>
      <p:ext uri="{BB962C8B-B14F-4D97-AF65-F5344CB8AC3E}">
        <p14:creationId xmlns:p14="http://schemas.microsoft.com/office/powerpoint/2010/main" val="19243048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3" name="Rectangle 2"/>
          <p:cNvSpPr>
            <a:spLocks noGrp="1" noChangeArrowheads="1"/>
          </p:cNvSpPr>
          <p:nvPr>
            <p:ph type="title"/>
          </p:nvPr>
        </p:nvSpPr>
        <p:spPr/>
        <p:txBody>
          <a:bodyPr/>
          <a:lstStyle/>
          <a:p>
            <a:pPr eaLnBrk="1" hangingPunct="1"/>
            <a:r>
              <a:rPr lang="en-US" altLang="en-US"/>
              <a:t>System Calls</a:t>
            </a:r>
          </a:p>
        </p:txBody>
      </p:sp>
      <p:sp>
        <p:nvSpPr>
          <p:cNvPr id="27654" name="Rectangle 3"/>
          <p:cNvSpPr>
            <a:spLocks noGrp="1" noChangeArrowheads="1"/>
          </p:cNvSpPr>
          <p:nvPr>
            <p:ph type="body" idx="1"/>
          </p:nvPr>
        </p:nvSpPr>
        <p:spPr/>
        <p:txBody>
          <a:bodyPr>
            <a:normAutofit/>
          </a:bodyPr>
          <a:lstStyle/>
          <a:p>
            <a:pPr eaLnBrk="1" hangingPunct="1">
              <a:lnSpc>
                <a:spcPct val="90000"/>
              </a:lnSpc>
            </a:pPr>
            <a:r>
              <a:rPr lang="en-US" altLang="en-US" dirty="0"/>
              <a:t>Guarded gates from user mode (space, land) into kernel mode (space, land)</a:t>
            </a:r>
          </a:p>
          <a:p>
            <a:pPr lvl="1" eaLnBrk="1" hangingPunct="1">
              <a:lnSpc>
                <a:spcPct val="90000"/>
              </a:lnSpc>
            </a:pPr>
            <a:r>
              <a:rPr lang="en-US" altLang="en-US" sz="2400" dirty="0"/>
              <a:t>use a special CPU instruction (often an interruption), transfers control to predefined entry point in more privileged code; allows the more privileged code to specify where it will be entered as well as important processor state at the time of entry.</a:t>
            </a:r>
          </a:p>
          <a:p>
            <a:pPr lvl="1" eaLnBrk="1" hangingPunct="1">
              <a:lnSpc>
                <a:spcPct val="90000"/>
              </a:lnSpc>
            </a:pPr>
            <a:r>
              <a:rPr lang="en-US" altLang="en-US" sz="2400" dirty="0"/>
              <a:t>the higher privileged code, by examining processor state set by the less privileged code and/or its stack, determines what is being requested and whether to allow it. </a:t>
            </a:r>
          </a:p>
        </p:txBody>
      </p:sp>
      <p:sp>
        <p:nvSpPr>
          <p:cNvPr id="27655" name="Text Box 4"/>
          <p:cNvSpPr txBox="1">
            <a:spLocks noChangeArrowheads="1"/>
          </p:cNvSpPr>
          <p:nvPr/>
        </p:nvSpPr>
        <p:spPr bwMode="auto">
          <a:xfrm>
            <a:off x="845127" y="5458691"/>
            <a:ext cx="6553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2"/>
              </a:buClr>
              <a:buSzPct val="100000"/>
              <a:buFont typeface="Times" panose="02020603050405020304" pitchFamily="18" charset="0"/>
              <a:buChar char="•"/>
              <a:defRPr sz="2800">
                <a:solidFill>
                  <a:schemeClr val="tx1"/>
                </a:solidFill>
                <a:latin typeface="Arial" panose="020B0604020202020204" pitchFamily="34" charset="0"/>
              </a:defRPr>
            </a:lvl1pPr>
            <a:lvl2pPr marL="742950" indent="-285750" eaLnBrk="0" hangingPunct="0">
              <a:spcBef>
                <a:spcPct val="20000"/>
              </a:spcBef>
              <a:buChar char="–"/>
              <a:defRPr sz="2400">
                <a:solidFill>
                  <a:schemeClr val="tx1"/>
                </a:solidFill>
                <a:latin typeface="Arial" panose="020B0604020202020204" pitchFamily="34" charset="0"/>
              </a:defRPr>
            </a:lvl2pPr>
            <a:lvl3pPr marL="1143000" indent="-228600" eaLnBrk="0" hangingPunct="0">
              <a:spcBef>
                <a:spcPct val="20000"/>
              </a:spcBef>
              <a:buChar char="•"/>
              <a:defRPr sz="22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en-US" altLang="en-US" sz="2400" dirty="0">
                <a:latin typeface="Times New Roman" panose="02020603050405020304" pitchFamily="18" charset="0"/>
              </a:rPr>
              <a:t>http://en.wikipedia.org/wiki/System_call</a:t>
            </a:r>
          </a:p>
        </p:txBody>
      </p:sp>
    </p:spTree>
    <p:extLst>
      <p:ext uri="{BB962C8B-B14F-4D97-AF65-F5344CB8AC3E}">
        <p14:creationId xmlns:p14="http://schemas.microsoft.com/office/powerpoint/2010/main" val="28745397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Tagged Architecture </a:t>
            </a:r>
          </a:p>
        </p:txBody>
      </p:sp>
      <p:sp>
        <p:nvSpPr>
          <p:cNvPr id="3" name="Content Placeholder 2"/>
          <p:cNvSpPr>
            <a:spLocks noGrp="1"/>
          </p:cNvSpPr>
          <p:nvPr>
            <p:ph idx="1"/>
          </p:nvPr>
        </p:nvSpPr>
        <p:spPr/>
        <p:txBody>
          <a:bodyPr>
            <a:normAutofit fontScale="92500" lnSpcReduction="10000"/>
          </a:bodyPr>
          <a:lstStyle/>
          <a:p>
            <a:r>
              <a:rPr lang="en-US" dirty="0"/>
              <a:t>Compiler or program loader can rearrange a program so all code sections are adjacent and all data sections are adjacent</a:t>
            </a:r>
          </a:p>
          <a:p>
            <a:r>
              <a:rPr lang="en-US" dirty="0"/>
              <a:t>May want to allow data to be written at program initialization, but not modified later</a:t>
            </a:r>
          </a:p>
          <a:p>
            <a:r>
              <a:rPr lang="en-US" dirty="0"/>
              <a:t>Base/bounds registers force all-or-nothing sharing situations</a:t>
            </a:r>
          </a:p>
          <a:p>
            <a:r>
              <a:rPr lang="en-US" dirty="0"/>
              <a:t>A </a:t>
            </a:r>
            <a:r>
              <a:rPr lang="en-US" b="1" dirty="0"/>
              <a:t>tagged architecture</a:t>
            </a:r>
            <a:r>
              <a:rPr lang="en-US" dirty="0"/>
              <a:t> provides every word of machine memory with one or more access bits, set by OS instructions and tested at run-time</a:t>
            </a:r>
          </a:p>
          <a:p>
            <a:endParaRPr lang="en-US" dirty="0"/>
          </a:p>
        </p:txBody>
      </p:sp>
    </p:spTree>
    <p:extLst>
      <p:ext uri="{BB962C8B-B14F-4D97-AF65-F5344CB8AC3E}">
        <p14:creationId xmlns:p14="http://schemas.microsoft.com/office/powerpoint/2010/main" val="41125527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7" name="Rectangle 2"/>
          <p:cNvSpPr>
            <a:spLocks noGrp="1" noChangeArrowheads="1"/>
          </p:cNvSpPr>
          <p:nvPr>
            <p:ph type="title"/>
          </p:nvPr>
        </p:nvSpPr>
        <p:spPr>
          <a:xfrm>
            <a:off x="346363" y="-9380"/>
            <a:ext cx="8229600" cy="1143000"/>
          </a:xfrm>
        </p:spPr>
        <p:txBody>
          <a:bodyPr/>
          <a:lstStyle/>
          <a:p>
            <a:pPr eaLnBrk="1" hangingPunct="1"/>
            <a:r>
              <a:rPr lang="en-US" altLang="en-US" dirty="0"/>
              <a:t>Kernel space vs User space</a:t>
            </a:r>
          </a:p>
        </p:txBody>
      </p:sp>
      <p:sp>
        <p:nvSpPr>
          <p:cNvPr id="28678" name="Rectangle 3"/>
          <p:cNvSpPr>
            <a:spLocks noGrp="1" noChangeArrowheads="1"/>
          </p:cNvSpPr>
          <p:nvPr>
            <p:ph type="body" idx="1"/>
          </p:nvPr>
        </p:nvSpPr>
        <p:spPr>
          <a:xfrm>
            <a:off x="381000" y="1141341"/>
            <a:ext cx="8305800" cy="4495800"/>
          </a:xfrm>
        </p:spPr>
        <p:txBody>
          <a:bodyPr>
            <a:normAutofit fontScale="92500" lnSpcReduction="10000"/>
          </a:bodyPr>
          <a:lstStyle/>
          <a:p>
            <a:pPr eaLnBrk="1" hangingPunct="1"/>
            <a:r>
              <a:rPr lang="en-US" altLang="en-US" dirty="0"/>
              <a:t>Part of the OS runs in the kernel model</a:t>
            </a:r>
          </a:p>
          <a:p>
            <a:pPr lvl="1" eaLnBrk="1" hangingPunct="1"/>
            <a:r>
              <a:rPr lang="en-US" altLang="en-US" dirty="0"/>
              <a:t>known as the </a:t>
            </a:r>
            <a:r>
              <a:rPr lang="en-US" altLang="en-US" dirty="0">
                <a:solidFill>
                  <a:schemeClr val="accent2"/>
                </a:solidFill>
              </a:rPr>
              <a:t>OS kernel</a:t>
            </a:r>
          </a:p>
          <a:p>
            <a:pPr eaLnBrk="1" hangingPunct="1"/>
            <a:r>
              <a:rPr lang="en-US" altLang="en-US" dirty="0"/>
              <a:t>Other parts of the OS run in the user mode, including service programs (daemon programs), user applications, etc.</a:t>
            </a:r>
          </a:p>
          <a:p>
            <a:pPr lvl="1" eaLnBrk="1" hangingPunct="1"/>
            <a:r>
              <a:rPr lang="en-US" altLang="en-US" dirty="0"/>
              <a:t>they run as </a:t>
            </a:r>
            <a:r>
              <a:rPr lang="en-US" altLang="en-US" dirty="0">
                <a:solidFill>
                  <a:schemeClr val="accent2"/>
                </a:solidFill>
              </a:rPr>
              <a:t>processes</a:t>
            </a:r>
          </a:p>
          <a:p>
            <a:pPr lvl="1" eaLnBrk="1" hangingPunct="1"/>
            <a:r>
              <a:rPr lang="en-US" altLang="en-US" dirty="0"/>
              <a:t>they form the user space (or the user land)</a:t>
            </a:r>
          </a:p>
          <a:p>
            <a:pPr eaLnBrk="1" hangingPunct="1"/>
            <a:r>
              <a:rPr lang="en-US" altLang="en-US" dirty="0"/>
              <a:t>What is the difference between kernel mode and processes running as root (or </a:t>
            </a:r>
            <a:r>
              <a:rPr lang="en-US" altLang="en-US" dirty="0" err="1"/>
              <a:t>superuser</a:t>
            </a:r>
            <a:r>
              <a:rPr lang="en-US" altLang="en-US" dirty="0"/>
              <a:t>, administrator)?</a:t>
            </a:r>
          </a:p>
        </p:txBody>
      </p:sp>
    </p:spTree>
    <p:extLst>
      <p:ext uri="{BB962C8B-B14F-4D97-AF65-F5344CB8AC3E}">
        <p14:creationId xmlns:p14="http://schemas.microsoft.com/office/powerpoint/2010/main" val="197497955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Slide Number Placeholder 5"/>
          <p:cNvSpPr>
            <a:spLocks noGrp="1"/>
          </p:cNvSpPr>
          <p:nvPr>
            <p:ph type="sldNum" sz="quarter" idx="12"/>
          </p:nvPr>
        </p:nvSpPr>
        <p:spPr>
          <a:noFill/>
        </p:spPr>
        <p:txBody>
          <a:bodyPr/>
          <a:lstStyle>
            <a:lvl1pPr>
              <a:lnSpc>
                <a:spcPct val="95000"/>
              </a:lnSpc>
              <a:spcBef>
                <a:spcPct val="20000"/>
              </a:spcBef>
              <a:defRPr sz="2400">
                <a:solidFill>
                  <a:schemeClr val="tx1"/>
                </a:solidFill>
                <a:latin typeface="Times New Roman" panose="02020603050405020304" pitchFamily="18" charset="0"/>
              </a:defRPr>
            </a:lvl1pPr>
            <a:lvl2pPr marL="742950" indent="-28575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nSpc>
                <a:spcPct val="100000"/>
              </a:lnSpc>
              <a:spcBef>
                <a:spcPct val="0"/>
              </a:spcBef>
            </a:pPr>
            <a:fld id="{CB54AD11-43F6-4CDA-94D3-AF2DE5D5C1B4}" type="slidenum">
              <a:rPr lang="zh-CN" altLang="en-US" sz="1400" smtClean="0"/>
              <a:pPr>
                <a:lnSpc>
                  <a:spcPct val="100000"/>
                </a:lnSpc>
                <a:spcBef>
                  <a:spcPct val="0"/>
                </a:spcBef>
              </a:pPr>
              <a:t>31</a:t>
            </a:fld>
            <a:endParaRPr lang="en-US" altLang="zh-CN" sz="1400"/>
          </a:p>
        </p:txBody>
      </p:sp>
      <p:sp>
        <p:nvSpPr>
          <p:cNvPr id="24580" name="Rectangle 2"/>
          <p:cNvSpPr>
            <a:spLocks noGrp="1" noChangeArrowheads="1"/>
          </p:cNvSpPr>
          <p:nvPr>
            <p:ph type="title"/>
          </p:nvPr>
        </p:nvSpPr>
        <p:spPr/>
        <p:txBody>
          <a:bodyPr>
            <a:normAutofit/>
          </a:bodyPr>
          <a:lstStyle/>
          <a:p>
            <a:pPr eaLnBrk="1" hangingPunct="1"/>
            <a:r>
              <a:rPr lang="en-US" altLang="en-US" dirty="0"/>
              <a:t>User-Land vs. Kernel-Land</a:t>
            </a:r>
            <a:endParaRPr lang="en-AU" altLang="en-US" dirty="0"/>
          </a:p>
        </p:txBody>
      </p:sp>
      <p:grpSp>
        <p:nvGrpSpPr>
          <p:cNvPr id="24581" name="Group 35"/>
          <p:cNvGrpSpPr>
            <a:grpSpLocks/>
          </p:cNvGrpSpPr>
          <p:nvPr/>
        </p:nvGrpSpPr>
        <p:grpSpPr bwMode="auto">
          <a:xfrm>
            <a:off x="2259013" y="1871663"/>
            <a:ext cx="2286000" cy="4168775"/>
            <a:chOff x="2658867" y="1690487"/>
            <a:chExt cx="2286001" cy="4188845"/>
          </a:xfrm>
        </p:grpSpPr>
        <p:sp>
          <p:nvSpPr>
            <p:cNvPr id="37" name="Rectangle 8"/>
            <p:cNvSpPr>
              <a:spLocks noChangeArrowheads="1"/>
            </p:cNvSpPr>
            <p:nvPr/>
          </p:nvSpPr>
          <p:spPr bwMode="auto">
            <a:xfrm>
              <a:off x="2658867" y="2567816"/>
              <a:ext cx="2286001" cy="727385"/>
            </a:xfrm>
            <a:prstGeom prst="rect">
              <a:avLst/>
            </a:prstGeom>
            <a:solidFill>
              <a:schemeClr val="accent6">
                <a:lumMod val="60000"/>
                <a:lumOff val="40000"/>
              </a:schemeClr>
            </a:solidFill>
            <a:ln w="9525">
              <a:solidFill>
                <a:schemeClr val="tx1"/>
              </a:solidFill>
              <a:miter lim="800000"/>
              <a:headEnd/>
              <a:tailEnd/>
            </a:ln>
            <a:effectLst/>
          </p:spPr>
          <p:txBody>
            <a:bodyPr wrap="none" anchor="ctr"/>
            <a:lstStyle/>
            <a:p>
              <a:pPr algn="ctr">
                <a:defRPr/>
              </a:pPr>
              <a:r>
                <a:rPr kumimoji="1" lang="en-US" altLang="zh-TW" dirty="0">
                  <a:latin typeface="Times New Roman" charset="0"/>
                  <a:ea typeface="新細明體" charset="0"/>
                  <a:cs typeface="新細明體" charset="0"/>
                </a:rPr>
                <a:t>Non-Essential</a:t>
              </a:r>
            </a:p>
            <a:p>
              <a:pPr algn="ctr">
                <a:defRPr/>
              </a:pPr>
              <a:r>
                <a:rPr kumimoji="1" lang="en-US" altLang="zh-TW" dirty="0">
                  <a:latin typeface="Times New Roman" charset="0"/>
                  <a:ea typeface="新細明體" charset="0"/>
                  <a:cs typeface="新細明體" charset="0"/>
                </a:rPr>
                <a:t>OS Applications</a:t>
              </a:r>
            </a:p>
          </p:txBody>
        </p:sp>
        <p:sp>
          <p:nvSpPr>
            <p:cNvPr id="38" name="Rectangle 9"/>
            <p:cNvSpPr>
              <a:spLocks noChangeArrowheads="1"/>
            </p:cNvSpPr>
            <p:nvPr/>
          </p:nvSpPr>
          <p:spPr bwMode="auto">
            <a:xfrm>
              <a:off x="2658867" y="3561589"/>
              <a:ext cx="2286001" cy="788001"/>
            </a:xfrm>
            <a:prstGeom prst="rect">
              <a:avLst/>
            </a:prstGeom>
            <a:solidFill>
              <a:schemeClr val="tx2">
                <a:lumMod val="60000"/>
                <a:lumOff val="40000"/>
              </a:schemeClr>
            </a:solidFill>
            <a:ln w="9525">
              <a:solidFill>
                <a:schemeClr val="tx1"/>
              </a:solidFill>
              <a:miter lim="800000"/>
              <a:headEnd/>
              <a:tailEnd/>
            </a:ln>
            <a:effectLst/>
          </p:spPr>
          <p:txBody>
            <a:bodyPr wrap="none" anchor="ctr"/>
            <a:lstStyle/>
            <a:p>
              <a:pPr algn="ctr">
                <a:defRPr/>
              </a:pPr>
              <a:r>
                <a:rPr kumimoji="1" lang="en-US" altLang="zh-TW" dirty="0">
                  <a:latin typeface="Times New Roman" charset="0"/>
                  <a:ea typeface="新細明體" charset="0"/>
                  <a:cs typeface="新細明體" charset="0"/>
                </a:rPr>
                <a:t>The OS Kernel</a:t>
              </a:r>
            </a:p>
          </p:txBody>
        </p:sp>
        <p:sp>
          <p:nvSpPr>
            <p:cNvPr id="39" name="Rectangle 14"/>
            <p:cNvSpPr>
              <a:spLocks noChangeArrowheads="1"/>
            </p:cNvSpPr>
            <p:nvPr/>
          </p:nvSpPr>
          <p:spPr bwMode="auto">
            <a:xfrm>
              <a:off x="2658867" y="4548983"/>
              <a:ext cx="2286001" cy="1330349"/>
            </a:xfrm>
            <a:prstGeom prst="rect">
              <a:avLst/>
            </a:prstGeom>
            <a:solidFill>
              <a:schemeClr val="accent3">
                <a:lumMod val="75000"/>
              </a:schemeClr>
            </a:solidFill>
            <a:ln w="9525">
              <a:solidFill>
                <a:schemeClr val="tx1"/>
              </a:solidFill>
              <a:miter lim="800000"/>
              <a:headEnd/>
              <a:tailEnd/>
            </a:ln>
            <a:effectLst/>
          </p:spPr>
          <p:txBody>
            <a:bodyPr wrap="none" anchor="ctr"/>
            <a:lstStyle/>
            <a:p>
              <a:pPr algn="ctr" eaLnBrk="1" hangingPunct="1">
                <a:defRPr/>
              </a:pPr>
              <a:endParaRPr kumimoji="1" lang="en-US" altLang="zh-TW" dirty="0">
                <a:solidFill>
                  <a:schemeClr val="accent2"/>
                </a:solidFill>
                <a:latin typeface="Times New Roman" charset="0"/>
                <a:ea typeface="新細明體" charset="0"/>
                <a:cs typeface="新細明體" charset="0"/>
              </a:endParaRPr>
            </a:p>
            <a:p>
              <a:pPr algn="ctr" eaLnBrk="1" hangingPunct="1">
                <a:defRPr/>
              </a:pPr>
              <a:endParaRPr kumimoji="1" lang="en-US" altLang="zh-TW" dirty="0">
                <a:solidFill>
                  <a:schemeClr val="accent2"/>
                </a:solidFill>
                <a:latin typeface="Times New Roman" charset="0"/>
                <a:ea typeface="新細明體" charset="0"/>
                <a:cs typeface="新細明體" charset="0"/>
              </a:endParaRPr>
            </a:p>
            <a:p>
              <a:pPr algn="ctr" eaLnBrk="1" hangingPunct="1">
                <a:defRPr/>
              </a:pPr>
              <a:r>
                <a:rPr kumimoji="1" lang="en-US" altLang="zh-TW" dirty="0">
                  <a:solidFill>
                    <a:schemeClr val="accent2"/>
                  </a:solidFill>
                  <a:latin typeface="Times New Roman" charset="0"/>
                  <a:ea typeface="新細明體" charset="0"/>
                  <a:cs typeface="新細明體" charset="0"/>
                </a:rPr>
                <a:t>CPU, Memory, </a:t>
              </a:r>
            </a:p>
            <a:p>
              <a:pPr algn="ctr" eaLnBrk="1" hangingPunct="1">
                <a:defRPr/>
              </a:pPr>
              <a:r>
                <a:rPr kumimoji="1" lang="en-US" altLang="zh-TW" dirty="0" err="1">
                  <a:solidFill>
                    <a:schemeClr val="accent2"/>
                  </a:solidFill>
                  <a:latin typeface="Times New Roman" charset="0"/>
                  <a:ea typeface="新細明體" charset="0"/>
                  <a:cs typeface="新細明體" charset="0"/>
                </a:rPr>
                <a:t>Input/Output</a:t>
              </a:r>
              <a:endParaRPr kumimoji="1" lang="en-US" altLang="zh-TW" dirty="0">
                <a:solidFill>
                  <a:schemeClr val="accent2"/>
                </a:solidFill>
                <a:latin typeface="Times New Roman" charset="0"/>
                <a:ea typeface="新細明體" charset="0"/>
                <a:cs typeface="新細明體" charset="0"/>
              </a:endParaRPr>
            </a:p>
            <a:p>
              <a:pPr algn="ctr" eaLnBrk="1" hangingPunct="1">
                <a:defRPr/>
              </a:pPr>
              <a:endParaRPr kumimoji="1" lang="en-US" altLang="zh-TW" dirty="0">
                <a:solidFill>
                  <a:schemeClr val="accent2"/>
                </a:solidFill>
                <a:latin typeface="Times New Roman" charset="0"/>
                <a:ea typeface="新細明體" charset="0"/>
                <a:cs typeface="新細明體" charset="0"/>
              </a:endParaRPr>
            </a:p>
            <a:p>
              <a:pPr algn="ctr" eaLnBrk="1" hangingPunct="1">
                <a:defRPr/>
              </a:pPr>
              <a:endParaRPr kumimoji="1" lang="en-US" altLang="zh-TW" dirty="0">
                <a:solidFill>
                  <a:schemeClr val="accent2"/>
                </a:solidFill>
                <a:latin typeface="Times New Roman" charset="0"/>
                <a:ea typeface="新細明體" charset="0"/>
                <a:cs typeface="新細明體" charset="0"/>
              </a:endParaRPr>
            </a:p>
            <a:p>
              <a:pPr algn="ctr" eaLnBrk="1" hangingPunct="1">
                <a:defRPr/>
              </a:pPr>
              <a:endParaRPr kumimoji="1" lang="en-US" altLang="zh-TW" dirty="0">
                <a:solidFill>
                  <a:schemeClr val="accent2"/>
                </a:solidFill>
                <a:latin typeface="Times New Roman" charset="0"/>
                <a:ea typeface="新細明體" charset="0"/>
                <a:cs typeface="新細明體" charset="0"/>
              </a:endParaRPr>
            </a:p>
          </p:txBody>
        </p:sp>
        <p:sp>
          <p:nvSpPr>
            <p:cNvPr id="40" name="Rectangle 8"/>
            <p:cNvSpPr>
              <a:spLocks noChangeArrowheads="1"/>
            </p:cNvSpPr>
            <p:nvPr/>
          </p:nvSpPr>
          <p:spPr bwMode="auto">
            <a:xfrm>
              <a:off x="2658867" y="1690487"/>
              <a:ext cx="2286001" cy="725789"/>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kumimoji="1" lang="en-US" altLang="zh-TW" dirty="0">
                <a:solidFill>
                  <a:schemeClr val="tx1"/>
                </a:solidFill>
                <a:ea typeface="新細明體" charset="0"/>
                <a:cs typeface="新細明體" charset="0"/>
              </a:endParaRPr>
            </a:p>
          </p:txBody>
        </p:sp>
      </p:grpSp>
      <p:grpSp>
        <p:nvGrpSpPr>
          <p:cNvPr id="24582" name="Group 40"/>
          <p:cNvGrpSpPr>
            <a:grpSpLocks/>
          </p:cNvGrpSpPr>
          <p:nvPr/>
        </p:nvGrpSpPr>
        <p:grpSpPr bwMode="auto">
          <a:xfrm>
            <a:off x="809625" y="4711700"/>
            <a:ext cx="1449388" cy="1322388"/>
            <a:chOff x="1209492" y="2450589"/>
            <a:chExt cx="1449375" cy="3428743"/>
          </a:xfrm>
        </p:grpSpPr>
        <p:sp>
          <p:nvSpPr>
            <p:cNvPr id="24590" name="Text Box 13"/>
            <p:cNvSpPr txBox="1">
              <a:spLocks noChangeArrowheads="1"/>
            </p:cNvSpPr>
            <p:nvPr/>
          </p:nvSpPr>
          <p:spPr bwMode="auto">
            <a:xfrm>
              <a:off x="1209492" y="3946694"/>
              <a:ext cx="1196161" cy="1036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5000"/>
                </a:lnSpc>
                <a:spcBef>
                  <a:spcPct val="20000"/>
                </a:spcBef>
                <a:defRPr sz="2400">
                  <a:solidFill>
                    <a:schemeClr val="tx1"/>
                  </a:solidFill>
                  <a:latin typeface="Times New Roman" panose="02020603050405020304" pitchFamily="18" charset="0"/>
                </a:defRPr>
              </a:lvl1pPr>
              <a:lvl2pPr marL="742950" indent="-28575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eaLnBrk="1" hangingPunct="1">
                <a:lnSpc>
                  <a:spcPct val="100000"/>
                </a:lnSpc>
                <a:spcBef>
                  <a:spcPct val="0"/>
                </a:spcBef>
              </a:pPr>
              <a:r>
                <a:rPr kumimoji="1" lang="en-US" altLang="zh-TW" sz="2000">
                  <a:ea typeface="新細明體"/>
                  <a:cs typeface="新細明體"/>
                </a:rPr>
                <a:t>Hardware</a:t>
              </a:r>
            </a:p>
          </p:txBody>
        </p:sp>
        <p:sp>
          <p:nvSpPr>
            <p:cNvPr id="43" name="Left Brace 42"/>
            <p:cNvSpPr/>
            <p:nvPr/>
          </p:nvSpPr>
          <p:spPr>
            <a:xfrm>
              <a:off x="2123884" y="2450589"/>
              <a:ext cx="534983" cy="3428743"/>
            </a:xfrm>
            <a:prstGeom prst="leftBrace">
              <a:avLst/>
            </a:prstGeom>
          </p:spPr>
          <p:style>
            <a:lnRef idx="2">
              <a:schemeClr val="accent1"/>
            </a:lnRef>
            <a:fillRef idx="0">
              <a:schemeClr val="accent1"/>
            </a:fillRef>
            <a:effectRef idx="1">
              <a:schemeClr val="accent1"/>
            </a:effectRef>
            <a:fontRef idx="minor">
              <a:schemeClr val="tx1"/>
            </a:fontRef>
          </p:style>
          <p:txBody>
            <a:bodyPr anchor="ctr"/>
            <a:lstStyle/>
            <a:p>
              <a:pPr algn="ctr">
                <a:defRPr/>
              </a:pPr>
              <a:endParaRPr lang="en-US"/>
            </a:p>
          </p:txBody>
        </p:sp>
      </p:grpSp>
      <p:sp>
        <p:nvSpPr>
          <p:cNvPr id="24583" name="Rectangle 1"/>
          <p:cNvSpPr>
            <a:spLocks noChangeArrowheads="1"/>
          </p:cNvSpPr>
          <p:nvPr/>
        </p:nvSpPr>
        <p:spPr bwMode="auto">
          <a:xfrm>
            <a:off x="1219200" y="1828800"/>
            <a:ext cx="45720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5000"/>
              </a:lnSpc>
              <a:spcBef>
                <a:spcPct val="20000"/>
              </a:spcBef>
              <a:defRPr sz="2400">
                <a:solidFill>
                  <a:schemeClr val="tx1"/>
                </a:solidFill>
                <a:latin typeface="Times New Roman" panose="02020603050405020304" pitchFamily="18" charset="0"/>
              </a:defRPr>
            </a:lvl1pPr>
            <a:lvl2pPr marL="742950" indent="-28575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gn="ctr">
              <a:lnSpc>
                <a:spcPct val="100000"/>
              </a:lnSpc>
              <a:spcBef>
                <a:spcPct val="0"/>
              </a:spcBef>
            </a:pPr>
            <a:r>
              <a:rPr kumimoji="1" lang="en-US" altLang="zh-TW">
                <a:ea typeface="新細明體"/>
                <a:cs typeface="新細明體"/>
              </a:rPr>
              <a:t>User </a:t>
            </a:r>
          </a:p>
          <a:p>
            <a:pPr algn="ctr">
              <a:lnSpc>
                <a:spcPct val="100000"/>
              </a:lnSpc>
              <a:spcBef>
                <a:spcPct val="0"/>
              </a:spcBef>
            </a:pPr>
            <a:r>
              <a:rPr kumimoji="1" lang="en-US" altLang="zh-TW">
                <a:ea typeface="新細明體"/>
                <a:cs typeface="新細明體"/>
              </a:rPr>
              <a:t>Applications</a:t>
            </a:r>
          </a:p>
        </p:txBody>
      </p:sp>
      <p:grpSp>
        <p:nvGrpSpPr>
          <p:cNvPr id="24584" name="Group 45"/>
          <p:cNvGrpSpPr>
            <a:grpSpLocks/>
          </p:cNvGrpSpPr>
          <p:nvPr/>
        </p:nvGrpSpPr>
        <p:grpSpPr bwMode="auto">
          <a:xfrm>
            <a:off x="685800" y="2811463"/>
            <a:ext cx="1449388" cy="1706562"/>
            <a:chOff x="1209492" y="2450589"/>
            <a:chExt cx="1449375" cy="3428743"/>
          </a:xfrm>
        </p:grpSpPr>
        <p:sp>
          <p:nvSpPr>
            <p:cNvPr id="24588" name="Text Box 13"/>
            <p:cNvSpPr txBox="1">
              <a:spLocks noChangeArrowheads="1"/>
            </p:cNvSpPr>
            <p:nvPr/>
          </p:nvSpPr>
          <p:spPr bwMode="auto">
            <a:xfrm>
              <a:off x="1209492" y="3946694"/>
              <a:ext cx="1273105" cy="1245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5000"/>
                </a:lnSpc>
                <a:spcBef>
                  <a:spcPct val="20000"/>
                </a:spcBef>
                <a:defRPr sz="2400">
                  <a:solidFill>
                    <a:schemeClr val="tx1"/>
                  </a:solidFill>
                  <a:latin typeface="Times New Roman" panose="02020603050405020304" pitchFamily="18" charset="0"/>
                </a:defRPr>
              </a:lvl1pPr>
              <a:lvl2pPr marL="742950" indent="-28575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eaLnBrk="1" hangingPunct="1">
                <a:lnSpc>
                  <a:spcPct val="100000"/>
                </a:lnSpc>
                <a:spcBef>
                  <a:spcPct val="0"/>
                </a:spcBef>
              </a:pPr>
              <a:r>
                <a:rPr kumimoji="1" lang="en-US" altLang="zh-TW" sz="2000">
                  <a:ea typeface="新細明體"/>
                  <a:cs typeface="新細明體"/>
                </a:rPr>
                <a:t>Operating </a:t>
              </a:r>
            </a:p>
            <a:p>
              <a:pPr eaLnBrk="1" hangingPunct="1">
                <a:lnSpc>
                  <a:spcPct val="100000"/>
                </a:lnSpc>
                <a:spcBef>
                  <a:spcPct val="0"/>
                </a:spcBef>
              </a:pPr>
              <a:r>
                <a:rPr kumimoji="1" lang="en-US" altLang="zh-TW" sz="2000">
                  <a:ea typeface="新細明體"/>
                  <a:cs typeface="新細明體"/>
                </a:rPr>
                <a:t>Systems</a:t>
              </a:r>
            </a:p>
          </p:txBody>
        </p:sp>
        <p:sp>
          <p:nvSpPr>
            <p:cNvPr id="48" name="Left Brace 47"/>
            <p:cNvSpPr/>
            <p:nvPr/>
          </p:nvSpPr>
          <p:spPr>
            <a:xfrm>
              <a:off x="2123884" y="2450589"/>
              <a:ext cx="534983" cy="3428743"/>
            </a:xfrm>
            <a:prstGeom prst="leftBrace">
              <a:avLst/>
            </a:prstGeom>
          </p:spPr>
          <p:style>
            <a:lnRef idx="2">
              <a:schemeClr val="accent1"/>
            </a:lnRef>
            <a:fillRef idx="0">
              <a:schemeClr val="accent1"/>
            </a:fillRef>
            <a:effectRef idx="1">
              <a:schemeClr val="accent1"/>
            </a:effectRef>
            <a:fontRef idx="minor">
              <a:schemeClr val="tx1"/>
            </a:fontRef>
          </p:style>
          <p:txBody>
            <a:bodyPr anchor="ctr"/>
            <a:lstStyle/>
            <a:p>
              <a:pPr algn="ctr">
                <a:defRPr/>
              </a:pPr>
              <a:endParaRPr lang="en-US"/>
            </a:p>
          </p:txBody>
        </p:sp>
      </p:grpSp>
      <p:grpSp>
        <p:nvGrpSpPr>
          <p:cNvPr id="24585" name="Group 49"/>
          <p:cNvGrpSpPr>
            <a:grpSpLocks/>
          </p:cNvGrpSpPr>
          <p:nvPr/>
        </p:nvGrpSpPr>
        <p:grpSpPr bwMode="auto">
          <a:xfrm>
            <a:off x="685800" y="1800225"/>
            <a:ext cx="1449388" cy="720725"/>
            <a:chOff x="1209492" y="2450589"/>
            <a:chExt cx="1449375" cy="3428743"/>
          </a:xfrm>
        </p:grpSpPr>
        <p:sp>
          <p:nvSpPr>
            <p:cNvPr id="24586" name="Text Box 13"/>
            <p:cNvSpPr txBox="1">
              <a:spLocks noChangeArrowheads="1"/>
            </p:cNvSpPr>
            <p:nvPr/>
          </p:nvSpPr>
          <p:spPr bwMode="auto">
            <a:xfrm>
              <a:off x="1209492" y="3946692"/>
              <a:ext cx="1109599" cy="19028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5000"/>
                </a:lnSpc>
                <a:spcBef>
                  <a:spcPct val="20000"/>
                </a:spcBef>
                <a:defRPr sz="2400">
                  <a:solidFill>
                    <a:schemeClr val="tx1"/>
                  </a:solidFill>
                  <a:latin typeface="Times New Roman" panose="02020603050405020304" pitchFamily="18" charset="0"/>
                </a:defRPr>
              </a:lvl1pPr>
              <a:lvl2pPr marL="742950" indent="-28575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eaLnBrk="1" hangingPunct="1">
                <a:lnSpc>
                  <a:spcPct val="100000"/>
                </a:lnSpc>
                <a:spcBef>
                  <a:spcPct val="0"/>
                </a:spcBef>
              </a:pPr>
              <a:r>
                <a:rPr kumimoji="1" lang="en-US" altLang="zh-TW" sz="2000">
                  <a:ea typeface="新細明體"/>
                  <a:cs typeface="新細明體"/>
                </a:rPr>
                <a:t>Userland</a:t>
              </a:r>
            </a:p>
          </p:txBody>
        </p:sp>
        <p:sp>
          <p:nvSpPr>
            <p:cNvPr id="52" name="Left Brace 51"/>
            <p:cNvSpPr/>
            <p:nvPr/>
          </p:nvSpPr>
          <p:spPr>
            <a:xfrm>
              <a:off x="2123884" y="2450589"/>
              <a:ext cx="534983" cy="3428743"/>
            </a:xfrm>
            <a:prstGeom prst="leftBrace">
              <a:avLst/>
            </a:prstGeom>
          </p:spPr>
          <p:style>
            <a:lnRef idx="2">
              <a:schemeClr val="accent1"/>
            </a:lnRef>
            <a:fillRef idx="0">
              <a:schemeClr val="accent1"/>
            </a:fillRef>
            <a:effectRef idx="1">
              <a:schemeClr val="accent1"/>
            </a:effectRef>
            <a:fontRef idx="minor">
              <a:schemeClr val="tx1"/>
            </a:fontRef>
          </p:style>
          <p:txBody>
            <a:bodyPr anchor="ctr"/>
            <a:lstStyle/>
            <a:p>
              <a:pPr algn="ctr">
                <a:defRPr/>
              </a:pPr>
              <a:endParaRPr lang="en-US"/>
            </a:p>
          </p:txBody>
        </p:sp>
      </p:grpSp>
    </p:spTree>
    <p:extLst>
      <p:ext uri="{BB962C8B-B14F-4D97-AF65-F5344CB8AC3E}">
        <p14:creationId xmlns:p14="http://schemas.microsoft.com/office/powerpoint/2010/main" val="36154926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5" name="Rectangle 2"/>
          <p:cNvSpPr>
            <a:spLocks noGrp="1" noChangeArrowheads="1"/>
          </p:cNvSpPr>
          <p:nvPr>
            <p:ph type="title"/>
          </p:nvPr>
        </p:nvSpPr>
        <p:spPr/>
        <p:txBody>
          <a:bodyPr/>
          <a:lstStyle/>
          <a:p>
            <a:pPr eaLnBrk="1" hangingPunct="1"/>
            <a:r>
              <a:rPr lang="en-US" altLang="en-US"/>
              <a:t>Access control</a:t>
            </a:r>
          </a:p>
        </p:txBody>
      </p:sp>
      <p:sp>
        <p:nvSpPr>
          <p:cNvPr id="30726" name="Rectangle 3"/>
          <p:cNvSpPr>
            <a:spLocks noGrp="1" noChangeArrowheads="1"/>
          </p:cNvSpPr>
          <p:nvPr>
            <p:ph type="body" idx="4294967295"/>
          </p:nvPr>
        </p:nvSpPr>
        <p:spPr>
          <a:xfrm>
            <a:off x="609600" y="1295400"/>
            <a:ext cx="7924800" cy="2057400"/>
          </a:xfrm>
        </p:spPr>
        <p:txBody>
          <a:bodyPr/>
          <a:lstStyle/>
          <a:p>
            <a:pPr eaLnBrk="1" hangingPunct="1"/>
            <a:r>
              <a:rPr lang="en-US" altLang="en-US" sz="2400" dirty="0"/>
              <a:t>A </a:t>
            </a:r>
            <a:r>
              <a:rPr lang="en-US" altLang="en-US" sz="2400" dirty="0">
                <a:solidFill>
                  <a:srgbClr val="FF3300"/>
                </a:solidFill>
              </a:rPr>
              <a:t>reference monitor</a:t>
            </a:r>
            <a:r>
              <a:rPr lang="en-US" altLang="en-US" sz="2400" dirty="0"/>
              <a:t> mediates all access to resources</a:t>
            </a:r>
          </a:p>
          <a:p>
            <a:pPr lvl="1" eaLnBrk="1" hangingPunct="1"/>
            <a:r>
              <a:rPr lang="en-US" altLang="en-US" dirty="0">
                <a:solidFill>
                  <a:schemeClr val="tx2"/>
                </a:solidFill>
              </a:rPr>
              <a:t>Principle: Complete mediation</a:t>
            </a:r>
            <a:r>
              <a:rPr lang="en-US" altLang="en-US" dirty="0"/>
              <a:t>: control </a:t>
            </a:r>
            <a:r>
              <a:rPr lang="en-US" altLang="en-US" b="1" dirty="0"/>
              <a:t>all</a:t>
            </a:r>
            <a:r>
              <a:rPr lang="en-US" altLang="en-US" dirty="0"/>
              <a:t> accesses to resources</a:t>
            </a:r>
          </a:p>
        </p:txBody>
      </p:sp>
      <p:sp>
        <p:nvSpPr>
          <p:cNvPr id="30727" name="AutoShape 4"/>
          <p:cNvSpPr>
            <a:spLocks noChangeArrowheads="1"/>
          </p:cNvSpPr>
          <p:nvPr/>
        </p:nvSpPr>
        <p:spPr bwMode="auto">
          <a:xfrm>
            <a:off x="6705600" y="3702050"/>
            <a:ext cx="1371600" cy="1752600"/>
          </a:xfrm>
          <a:prstGeom prst="can">
            <a:avLst>
              <a:gd name="adj" fmla="val 31944"/>
            </a:avLst>
          </a:prstGeom>
          <a:solidFill>
            <a:schemeClr val="accent1"/>
          </a:solidFill>
          <a:ln w="9525">
            <a:solidFill>
              <a:schemeClr val="tx1"/>
            </a:solidFill>
            <a:round/>
            <a:headEnd/>
            <a:tailEnd/>
          </a:ln>
        </p:spPr>
        <p:txBody>
          <a:bodyPr wrap="none" anchor="ctr"/>
          <a:lstStyle>
            <a:lvl1pPr eaLnBrk="0" hangingPunct="0">
              <a:spcBef>
                <a:spcPct val="20000"/>
              </a:spcBef>
              <a:buClr>
                <a:schemeClr val="accent2"/>
              </a:buClr>
              <a:buSzPct val="100000"/>
              <a:buFont typeface="Times" panose="02020603050405020304" pitchFamily="18" charset="0"/>
              <a:buChar char="•"/>
              <a:defRPr sz="2800">
                <a:solidFill>
                  <a:schemeClr val="tx1"/>
                </a:solidFill>
                <a:latin typeface="Arial" panose="020B0604020202020204" pitchFamily="34" charset="0"/>
              </a:defRPr>
            </a:lvl1pPr>
            <a:lvl2pPr marL="742950" indent="-285750" eaLnBrk="0" hangingPunct="0">
              <a:spcBef>
                <a:spcPct val="20000"/>
              </a:spcBef>
              <a:buChar char="–"/>
              <a:defRPr sz="2400">
                <a:solidFill>
                  <a:schemeClr val="tx1"/>
                </a:solidFill>
                <a:latin typeface="Arial" panose="020B0604020202020204" pitchFamily="34" charset="0"/>
              </a:defRPr>
            </a:lvl2pPr>
            <a:lvl3pPr marL="1143000" indent="-228600" eaLnBrk="0" hangingPunct="0">
              <a:spcBef>
                <a:spcPct val="20000"/>
              </a:spcBef>
              <a:buChar char="•"/>
              <a:defRPr sz="22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buSzTx/>
              <a:buFontTx/>
              <a:buNone/>
            </a:pPr>
            <a:r>
              <a:rPr lang="en-US" altLang="en-US" sz="2400">
                <a:latin typeface="Tahoma" panose="020B0604030504040204" pitchFamily="34" charset="0"/>
              </a:rPr>
              <a:t>Resource</a:t>
            </a:r>
          </a:p>
        </p:txBody>
      </p:sp>
      <p:sp>
        <p:nvSpPr>
          <p:cNvPr id="30728" name="Oval 5"/>
          <p:cNvSpPr>
            <a:spLocks noChangeArrowheads="1"/>
          </p:cNvSpPr>
          <p:nvPr/>
        </p:nvSpPr>
        <p:spPr bwMode="auto">
          <a:xfrm>
            <a:off x="685800" y="4006850"/>
            <a:ext cx="1828800" cy="1219200"/>
          </a:xfrm>
          <a:prstGeom prst="ellipse">
            <a:avLst/>
          </a:prstGeom>
          <a:solidFill>
            <a:schemeClr val="accent1"/>
          </a:solidFill>
          <a:ln w="9525">
            <a:solidFill>
              <a:schemeClr val="tx1"/>
            </a:solidFill>
            <a:round/>
            <a:headEnd/>
            <a:tailEnd/>
          </a:ln>
        </p:spPr>
        <p:txBody>
          <a:bodyPr anchor="ctr"/>
          <a:lstStyle>
            <a:lvl1pPr eaLnBrk="0" hangingPunct="0">
              <a:spcBef>
                <a:spcPct val="20000"/>
              </a:spcBef>
              <a:buClr>
                <a:schemeClr val="accent2"/>
              </a:buClr>
              <a:buSzPct val="100000"/>
              <a:buFont typeface="Times" panose="02020603050405020304" pitchFamily="18" charset="0"/>
              <a:buChar char="•"/>
              <a:defRPr sz="2800">
                <a:solidFill>
                  <a:schemeClr val="tx1"/>
                </a:solidFill>
                <a:latin typeface="Arial" panose="020B0604020202020204" pitchFamily="34" charset="0"/>
              </a:defRPr>
            </a:lvl1pPr>
            <a:lvl2pPr marL="742950" indent="-285750" eaLnBrk="0" hangingPunct="0">
              <a:spcBef>
                <a:spcPct val="20000"/>
              </a:spcBef>
              <a:buChar char="–"/>
              <a:defRPr sz="2400">
                <a:solidFill>
                  <a:schemeClr val="tx1"/>
                </a:solidFill>
                <a:latin typeface="Arial" panose="020B0604020202020204" pitchFamily="34" charset="0"/>
              </a:defRPr>
            </a:lvl2pPr>
            <a:lvl3pPr marL="1143000" indent="-228600" eaLnBrk="0" hangingPunct="0">
              <a:spcBef>
                <a:spcPct val="20000"/>
              </a:spcBef>
              <a:buChar char="•"/>
              <a:defRPr sz="22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buSzTx/>
              <a:buFontTx/>
              <a:buNone/>
            </a:pPr>
            <a:r>
              <a:rPr lang="en-US" altLang="en-US" sz="2400">
                <a:latin typeface="Tahoma" panose="020B0604030504040204" pitchFamily="34" charset="0"/>
              </a:rPr>
              <a:t>User process</a:t>
            </a:r>
          </a:p>
        </p:txBody>
      </p:sp>
      <p:sp>
        <p:nvSpPr>
          <p:cNvPr id="30729" name="Line 6"/>
          <p:cNvSpPr>
            <a:spLocks noChangeShapeType="1"/>
          </p:cNvSpPr>
          <p:nvPr/>
        </p:nvSpPr>
        <p:spPr bwMode="auto">
          <a:xfrm>
            <a:off x="2514600" y="4616450"/>
            <a:ext cx="171450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nchor="ctr"/>
          <a:lstStyle/>
          <a:p>
            <a:endParaRPr lang="en-US"/>
          </a:p>
        </p:txBody>
      </p:sp>
      <p:sp>
        <p:nvSpPr>
          <p:cNvPr id="30730" name="Line 7"/>
          <p:cNvSpPr>
            <a:spLocks noChangeShapeType="1"/>
          </p:cNvSpPr>
          <p:nvPr/>
        </p:nvSpPr>
        <p:spPr bwMode="auto">
          <a:xfrm>
            <a:off x="5791200" y="4616450"/>
            <a:ext cx="91440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nchor="ctr"/>
          <a:lstStyle/>
          <a:p>
            <a:endParaRPr lang="en-US"/>
          </a:p>
        </p:txBody>
      </p:sp>
      <p:sp>
        <p:nvSpPr>
          <p:cNvPr id="30731" name="Text Box 8"/>
          <p:cNvSpPr txBox="1">
            <a:spLocks noChangeArrowheads="1"/>
          </p:cNvSpPr>
          <p:nvPr/>
        </p:nvSpPr>
        <p:spPr bwMode="auto">
          <a:xfrm>
            <a:off x="3505200" y="3657600"/>
            <a:ext cx="1306513"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accent2"/>
              </a:buClr>
              <a:buSzPct val="100000"/>
              <a:buFont typeface="Times" panose="02020603050405020304" pitchFamily="18" charset="0"/>
              <a:buChar char="•"/>
              <a:defRPr sz="2800">
                <a:solidFill>
                  <a:schemeClr val="tx1"/>
                </a:solidFill>
                <a:latin typeface="Arial" panose="020B0604020202020204" pitchFamily="34" charset="0"/>
              </a:defRPr>
            </a:lvl1pPr>
            <a:lvl2pPr marL="742950" indent="-285750" eaLnBrk="0" hangingPunct="0">
              <a:spcBef>
                <a:spcPct val="20000"/>
              </a:spcBef>
              <a:buChar char="–"/>
              <a:defRPr sz="2400">
                <a:solidFill>
                  <a:schemeClr val="tx1"/>
                </a:solidFill>
                <a:latin typeface="Arial" panose="020B0604020202020204" pitchFamily="34" charset="0"/>
              </a:defRPr>
            </a:lvl2pPr>
            <a:lvl3pPr marL="1143000" indent="-228600" eaLnBrk="0" hangingPunct="0">
              <a:spcBef>
                <a:spcPct val="20000"/>
              </a:spcBef>
              <a:buChar char="•"/>
              <a:defRPr sz="22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lnSpc>
                <a:spcPct val="70000"/>
              </a:lnSpc>
              <a:buSzTx/>
              <a:buFontTx/>
              <a:buNone/>
            </a:pPr>
            <a:r>
              <a:rPr lang="en-US" altLang="en-US" sz="2000" dirty="0">
                <a:latin typeface="Tahoma" panose="020B0604030504040204" pitchFamily="34" charset="0"/>
              </a:rPr>
              <a:t>Reference</a:t>
            </a:r>
          </a:p>
          <a:p>
            <a:pPr algn="ctr">
              <a:lnSpc>
                <a:spcPct val="70000"/>
              </a:lnSpc>
              <a:buSzTx/>
              <a:buFontTx/>
              <a:buNone/>
            </a:pPr>
            <a:r>
              <a:rPr lang="en-US" altLang="en-US" sz="2000" dirty="0">
                <a:latin typeface="Tahoma" panose="020B0604030504040204" pitchFamily="34" charset="0"/>
              </a:rPr>
              <a:t>monitor</a:t>
            </a:r>
          </a:p>
        </p:txBody>
      </p:sp>
      <p:sp>
        <p:nvSpPr>
          <p:cNvPr id="30732" name="Text Box 9"/>
          <p:cNvSpPr txBox="1">
            <a:spLocks noChangeArrowheads="1"/>
          </p:cNvSpPr>
          <p:nvPr/>
        </p:nvSpPr>
        <p:spPr bwMode="auto">
          <a:xfrm>
            <a:off x="2438400" y="4616450"/>
            <a:ext cx="22637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med"/>
              </a14:hiddenLine>
            </a:ext>
          </a:extLst>
        </p:spPr>
        <p:txBody>
          <a:bodyPr>
            <a:spAutoFit/>
          </a:bodyPr>
          <a:lstStyle>
            <a:lvl1pPr eaLnBrk="0" hangingPunct="0">
              <a:spcBef>
                <a:spcPct val="20000"/>
              </a:spcBef>
              <a:buClr>
                <a:schemeClr val="accent2"/>
              </a:buClr>
              <a:buSzPct val="100000"/>
              <a:buFont typeface="Times" panose="02020603050405020304" pitchFamily="18" charset="0"/>
              <a:buChar char="•"/>
              <a:defRPr sz="2800">
                <a:solidFill>
                  <a:schemeClr val="tx1"/>
                </a:solidFill>
                <a:latin typeface="Arial" panose="020B0604020202020204" pitchFamily="34" charset="0"/>
              </a:defRPr>
            </a:lvl1pPr>
            <a:lvl2pPr marL="742950" indent="-285750" eaLnBrk="0" hangingPunct="0">
              <a:spcBef>
                <a:spcPct val="20000"/>
              </a:spcBef>
              <a:buChar char="–"/>
              <a:defRPr sz="2400">
                <a:solidFill>
                  <a:schemeClr val="tx1"/>
                </a:solidFill>
                <a:latin typeface="Arial" panose="020B0604020202020204" pitchFamily="34" charset="0"/>
              </a:defRPr>
            </a:lvl2pPr>
            <a:lvl3pPr marL="1143000" indent="-228600" eaLnBrk="0" hangingPunct="0">
              <a:spcBef>
                <a:spcPct val="20000"/>
              </a:spcBef>
              <a:buChar char="•"/>
              <a:defRPr sz="22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2000">
                <a:latin typeface="Tahoma" panose="020B0604030504040204" pitchFamily="34" charset="0"/>
              </a:rPr>
              <a:t>access request</a:t>
            </a:r>
          </a:p>
        </p:txBody>
      </p:sp>
      <p:sp>
        <p:nvSpPr>
          <p:cNvPr id="30733" name="Text Box 10"/>
          <p:cNvSpPr txBox="1">
            <a:spLocks noChangeArrowheads="1"/>
          </p:cNvSpPr>
          <p:nvPr/>
        </p:nvSpPr>
        <p:spPr bwMode="auto">
          <a:xfrm>
            <a:off x="4899025" y="5849938"/>
            <a:ext cx="22637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med"/>
              </a14:hiddenLine>
            </a:ext>
          </a:extLst>
        </p:spPr>
        <p:txBody>
          <a:bodyPr>
            <a:spAutoFit/>
          </a:bodyPr>
          <a:lstStyle>
            <a:lvl1pPr eaLnBrk="0" hangingPunct="0">
              <a:spcBef>
                <a:spcPct val="20000"/>
              </a:spcBef>
              <a:buClr>
                <a:schemeClr val="accent2"/>
              </a:buClr>
              <a:buSzPct val="100000"/>
              <a:buFont typeface="Times" panose="02020603050405020304" pitchFamily="18" charset="0"/>
              <a:buChar char="•"/>
              <a:defRPr sz="2800">
                <a:solidFill>
                  <a:schemeClr val="tx1"/>
                </a:solidFill>
                <a:latin typeface="Arial" panose="020B0604020202020204" pitchFamily="34" charset="0"/>
              </a:defRPr>
            </a:lvl1pPr>
            <a:lvl2pPr marL="742950" indent="-285750" eaLnBrk="0" hangingPunct="0">
              <a:spcBef>
                <a:spcPct val="20000"/>
              </a:spcBef>
              <a:buChar char="–"/>
              <a:defRPr sz="2400">
                <a:solidFill>
                  <a:schemeClr val="tx1"/>
                </a:solidFill>
                <a:latin typeface="Arial" panose="020B0604020202020204" pitchFamily="34" charset="0"/>
              </a:defRPr>
            </a:lvl2pPr>
            <a:lvl3pPr marL="1143000" indent="-228600" eaLnBrk="0" hangingPunct="0">
              <a:spcBef>
                <a:spcPct val="20000"/>
              </a:spcBef>
              <a:buChar char="•"/>
              <a:defRPr sz="22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2000">
                <a:latin typeface="Tahoma" panose="020B0604030504040204" pitchFamily="34" charset="0"/>
              </a:rPr>
              <a:t>policy</a:t>
            </a:r>
          </a:p>
        </p:txBody>
      </p:sp>
      <p:sp>
        <p:nvSpPr>
          <p:cNvPr id="30734" name="AutoShape 11"/>
          <p:cNvSpPr>
            <a:spLocks noChangeArrowheads="1"/>
          </p:cNvSpPr>
          <p:nvPr/>
        </p:nvSpPr>
        <p:spPr bwMode="auto">
          <a:xfrm>
            <a:off x="4267200" y="3740150"/>
            <a:ext cx="1752600" cy="1752600"/>
          </a:xfrm>
          <a:prstGeom prst="diamond">
            <a:avLst/>
          </a:prstGeom>
          <a:solidFill>
            <a:schemeClr val="tx2"/>
          </a:solidFill>
          <a:ln w="12700" algn="ctr">
            <a:solidFill>
              <a:schemeClr val="tx1"/>
            </a:solidFill>
            <a:miter lim="800000"/>
            <a:headEnd/>
            <a:tailEnd type="none" w="lg" len="med"/>
          </a:ln>
        </p:spPr>
        <p:txBody>
          <a:bodyPr wrap="none" anchor="ctr"/>
          <a:lstStyle>
            <a:lvl1pPr eaLnBrk="0" hangingPunct="0">
              <a:spcBef>
                <a:spcPct val="20000"/>
              </a:spcBef>
              <a:buClr>
                <a:schemeClr val="accent2"/>
              </a:buClr>
              <a:buSzPct val="100000"/>
              <a:buFont typeface="Times" panose="02020603050405020304" pitchFamily="18" charset="0"/>
              <a:buChar char="•"/>
              <a:defRPr sz="2800">
                <a:solidFill>
                  <a:schemeClr val="tx1"/>
                </a:solidFill>
                <a:latin typeface="Arial" panose="020B0604020202020204" pitchFamily="34" charset="0"/>
              </a:defRPr>
            </a:lvl1pPr>
            <a:lvl2pPr marL="742950" indent="-285750" eaLnBrk="0" hangingPunct="0">
              <a:spcBef>
                <a:spcPct val="20000"/>
              </a:spcBef>
              <a:buChar char="–"/>
              <a:defRPr sz="2400">
                <a:solidFill>
                  <a:schemeClr val="tx1"/>
                </a:solidFill>
                <a:latin typeface="Arial" panose="020B0604020202020204" pitchFamily="34" charset="0"/>
              </a:defRPr>
            </a:lvl2pPr>
            <a:lvl3pPr marL="1143000" indent="-228600" eaLnBrk="0" hangingPunct="0">
              <a:spcBef>
                <a:spcPct val="20000"/>
              </a:spcBef>
              <a:buChar char="•"/>
              <a:defRPr sz="22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4800">
                <a:solidFill>
                  <a:schemeClr val="bg1"/>
                </a:solidFill>
                <a:latin typeface="Tahoma" panose="020B0604030504040204" pitchFamily="34" charset="0"/>
              </a:rPr>
              <a:t>?</a:t>
            </a:r>
          </a:p>
        </p:txBody>
      </p:sp>
      <p:sp>
        <p:nvSpPr>
          <p:cNvPr id="30735" name="Line 12"/>
          <p:cNvSpPr>
            <a:spLocks noChangeShapeType="1"/>
          </p:cNvSpPr>
          <p:nvPr/>
        </p:nvSpPr>
        <p:spPr bwMode="auto">
          <a:xfrm>
            <a:off x="5151438" y="5540375"/>
            <a:ext cx="0" cy="357188"/>
          </a:xfrm>
          <a:prstGeom prst="line">
            <a:avLst/>
          </a:prstGeom>
          <a:noFill/>
          <a:ln w="19050">
            <a:solidFill>
              <a:schemeClr val="tx1"/>
            </a:solidFill>
            <a:round/>
            <a:headEnd type="triangle" w="med" len="med"/>
            <a:tailEnd type="none" w="lg" len="med"/>
          </a:ln>
          <a:extLst>
            <a:ext uri="{909E8E84-426E-40DD-AFC4-6F175D3DCCD1}">
              <a14:hiddenFill xmlns:a14="http://schemas.microsoft.com/office/drawing/2010/main">
                <a:noFill/>
              </a14:hiddenFill>
            </a:ext>
          </a:extLst>
        </p:spPr>
        <p:txBody>
          <a:bodyPr wrap="none"/>
          <a:lstStyle/>
          <a:p>
            <a:endParaRPr lang="en-US"/>
          </a:p>
        </p:txBody>
      </p:sp>
    </p:spTree>
    <p:extLst>
      <p:ext uri="{BB962C8B-B14F-4D97-AF65-F5344CB8AC3E}">
        <p14:creationId xmlns:p14="http://schemas.microsoft.com/office/powerpoint/2010/main" val="361068375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7" name="Rectangle 2"/>
          <p:cNvSpPr>
            <a:spLocks noGrp="1" noChangeArrowheads="1"/>
          </p:cNvSpPr>
          <p:nvPr>
            <p:ph type="title"/>
          </p:nvPr>
        </p:nvSpPr>
        <p:spPr>
          <a:xfrm>
            <a:off x="3562447" y="685800"/>
            <a:ext cx="2339781" cy="727599"/>
          </a:xfrm>
          <a:noFill/>
        </p:spPr>
        <p:txBody>
          <a:bodyPr wrap="none" lIns="62503" tIns="25001" rIns="62503" bIns="25001" anchor="t">
            <a:spAutoFit/>
          </a:bodyPr>
          <a:lstStyle/>
          <a:p>
            <a:pPr eaLnBrk="1" hangingPunct="1"/>
            <a:r>
              <a:rPr lang="en-US" altLang="en-US" dirty="0"/>
              <a:t>SUBJECTS</a:t>
            </a:r>
          </a:p>
        </p:txBody>
      </p:sp>
      <p:sp>
        <p:nvSpPr>
          <p:cNvPr id="33798" name="Rectangle 3"/>
          <p:cNvSpPr>
            <a:spLocks noGrp="1" noChangeArrowheads="1"/>
          </p:cNvSpPr>
          <p:nvPr>
            <p:ph type="body" idx="1"/>
          </p:nvPr>
        </p:nvSpPr>
        <p:spPr>
          <a:xfrm>
            <a:off x="1685925" y="1828800"/>
            <a:ext cx="5911850" cy="1409709"/>
          </a:xfrm>
          <a:noFill/>
        </p:spPr>
        <p:txBody>
          <a:bodyPr lIns="62503" tIns="25001" rIns="62503" bIns="25001">
            <a:spAutoFit/>
          </a:bodyPr>
          <a:lstStyle/>
          <a:p>
            <a:pPr marL="482600" indent="-482600" eaLnBrk="1" hangingPunct="1">
              <a:lnSpc>
                <a:spcPct val="92000"/>
              </a:lnSpc>
              <a:spcBef>
                <a:spcPct val="46000"/>
              </a:spcBef>
            </a:pPr>
            <a:r>
              <a:rPr lang="en-US" altLang="en-US" dirty="0"/>
              <a:t>A subject is a program (application) executing on behalf of some principal(s)</a:t>
            </a:r>
          </a:p>
        </p:txBody>
      </p:sp>
    </p:spTree>
    <p:extLst>
      <p:ext uri="{BB962C8B-B14F-4D97-AF65-F5344CB8AC3E}">
        <p14:creationId xmlns:p14="http://schemas.microsoft.com/office/powerpoint/2010/main" val="22243735"/>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1" name="Rectangle 2"/>
          <p:cNvSpPr>
            <a:spLocks noGrp="1" noChangeArrowheads="1"/>
          </p:cNvSpPr>
          <p:nvPr>
            <p:ph type="title"/>
          </p:nvPr>
        </p:nvSpPr>
        <p:spPr>
          <a:xfrm>
            <a:off x="2286000" y="346075"/>
            <a:ext cx="2484438" cy="720725"/>
          </a:xfrm>
          <a:noFill/>
        </p:spPr>
        <p:txBody>
          <a:bodyPr wrap="none" lIns="62503" tIns="25001" rIns="62503" bIns="25001" anchor="t">
            <a:spAutoFit/>
          </a:bodyPr>
          <a:lstStyle/>
          <a:p>
            <a:pPr eaLnBrk="1" hangingPunct="1"/>
            <a:r>
              <a:rPr lang="en-US" altLang="en-US"/>
              <a:t>OBJECTS</a:t>
            </a:r>
          </a:p>
        </p:txBody>
      </p:sp>
      <p:sp>
        <p:nvSpPr>
          <p:cNvPr id="34822" name="Rectangle 3"/>
          <p:cNvSpPr>
            <a:spLocks noGrp="1" noChangeArrowheads="1"/>
          </p:cNvSpPr>
          <p:nvPr>
            <p:ph type="body" idx="1"/>
          </p:nvPr>
        </p:nvSpPr>
        <p:spPr>
          <a:xfrm>
            <a:off x="508794" y="1169843"/>
            <a:ext cx="8523287" cy="4332288"/>
          </a:xfrm>
          <a:noFill/>
        </p:spPr>
        <p:txBody>
          <a:bodyPr lIns="62503" tIns="25001" rIns="62503" bIns="25001">
            <a:spAutoFit/>
          </a:bodyPr>
          <a:lstStyle/>
          <a:p>
            <a:pPr marL="482600" indent="-482600" eaLnBrk="1" hangingPunct="1">
              <a:lnSpc>
                <a:spcPct val="89000"/>
              </a:lnSpc>
              <a:spcBef>
                <a:spcPct val="43000"/>
              </a:spcBef>
            </a:pPr>
            <a:r>
              <a:rPr lang="en-US" altLang="en-US" dirty="0"/>
              <a:t>An object is anything on which a subject can perform operations (mediated by rights)</a:t>
            </a:r>
          </a:p>
          <a:p>
            <a:pPr marL="482600" indent="-482600" eaLnBrk="1" hangingPunct="1">
              <a:lnSpc>
                <a:spcPct val="89000"/>
              </a:lnSpc>
              <a:spcBef>
                <a:spcPct val="43000"/>
              </a:spcBef>
            </a:pPr>
            <a:r>
              <a:rPr lang="en-US" altLang="en-US" dirty="0"/>
              <a:t>Usually objects are passive, for example:</a:t>
            </a:r>
          </a:p>
          <a:p>
            <a:pPr marL="927100" lvl="1" indent="-330200" eaLnBrk="1" hangingPunct="1">
              <a:spcBef>
                <a:spcPct val="10000"/>
              </a:spcBef>
              <a:buFontTx/>
              <a:buChar char="•"/>
            </a:pPr>
            <a:r>
              <a:rPr lang="en-US" altLang="en-US" dirty="0"/>
              <a:t>File</a:t>
            </a:r>
          </a:p>
          <a:p>
            <a:pPr marL="927100" lvl="1" indent="-330200" eaLnBrk="1" hangingPunct="1">
              <a:spcBef>
                <a:spcPct val="10000"/>
              </a:spcBef>
              <a:buFontTx/>
              <a:buChar char="•"/>
            </a:pPr>
            <a:r>
              <a:rPr lang="en-US" altLang="en-US" dirty="0"/>
              <a:t>Directory (or Folder)</a:t>
            </a:r>
          </a:p>
          <a:p>
            <a:pPr marL="927100" lvl="1" indent="-330200" eaLnBrk="1" hangingPunct="1">
              <a:spcBef>
                <a:spcPct val="10000"/>
              </a:spcBef>
              <a:buFontTx/>
              <a:buChar char="•"/>
            </a:pPr>
            <a:r>
              <a:rPr lang="en-US" altLang="en-US" dirty="0"/>
              <a:t>Memory segment</a:t>
            </a:r>
          </a:p>
          <a:p>
            <a:pPr marL="482600" indent="-482600" eaLnBrk="1" hangingPunct="1">
              <a:lnSpc>
                <a:spcPct val="89000"/>
              </a:lnSpc>
              <a:spcBef>
                <a:spcPct val="43000"/>
              </a:spcBef>
            </a:pPr>
            <a:r>
              <a:rPr lang="en-US" altLang="en-US" dirty="0"/>
              <a:t>But, subjects (i.e. processes) can also be objects, with operations performed on them</a:t>
            </a:r>
          </a:p>
          <a:p>
            <a:pPr marL="927100" lvl="1" indent="-330200" eaLnBrk="1" hangingPunct="1">
              <a:spcBef>
                <a:spcPct val="10000"/>
              </a:spcBef>
              <a:buFontTx/>
              <a:buChar char="•"/>
            </a:pPr>
            <a:r>
              <a:rPr lang="en-US" altLang="en-US" dirty="0"/>
              <a:t>kill, suspend, resume, send </a:t>
            </a:r>
            <a:r>
              <a:rPr lang="en-US" altLang="en-US" dirty="0" err="1"/>
              <a:t>interprocess</a:t>
            </a:r>
            <a:r>
              <a:rPr lang="en-US" altLang="en-US" dirty="0"/>
              <a:t> communication, etc.</a:t>
            </a:r>
          </a:p>
        </p:txBody>
      </p:sp>
    </p:spTree>
    <p:extLst>
      <p:ext uri="{BB962C8B-B14F-4D97-AF65-F5344CB8AC3E}">
        <p14:creationId xmlns:p14="http://schemas.microsoft.com/office/powerpoint/2010/main" val="2362054523"/>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5" name="Rectangle 2"/>
          <p:cNvSpPr>
            <a:spLocks noGrp="1" noChangeArrowheads="1"/>
          </p:cNvSpPr>
          <p:nvPr>
            <p:ph type="title"/>
          </p:nvPr>
        </p:nvSpPr>
        <p:spPr/>
        <p:txBody>
          <a:bodyPr>
            <a:normAutofit fontScale="90000"/>
          </a:bodyPr>
          <a:lstStyle/>
          <a:p>
            <a:pPr eaLnBrk="1" hangingPunct="1"/>
            <a:r>
              <a:rPr lang="en-US" altLang="en-US" sz="3600"/>
              <a:t>Basic Concepts of UNIX Access Control: Users, Groups, Files, Processes</a:t>
            </a:r>
          </a:p>
        </p:txBody>
      </p:sp>
      <p:sp>
        <p:nvSpPr>
          <p:cNvPr id="35846" name="Rectangle 3"/>
          <p:cNvSpPr>
            <a:spLocks noGrp="1" noChangeArrowheads="1"/>
          </p:cNvSpPr>
          <p:nvPr>
            <p:ph type="body" idx="1"/>
          </p:nvPr>
        </p:nvSpPr>
        <p:spPr>
          <a:xfrm>
            <a:off x="457200" y="1524000"/>
            <a:ext cx="8305800" cy="4648200"/>
          </a:xfrm>
        </p:spPr>
        <p:txBody>
          <a:bodyPr/>
          <a:lstStyle/>
          <a:p>
            <a:pPr eaLnBrk="1" hangingPunct="1"/>
            <a:r>
              <a:rPr lang="en-US" altLang="en-US" dirty="0"/>
              <a:t>Each user account has a unique UID</a:t>
            </a:r>
          </a:p>
          <a:p>
            <a:pPr lvl="1" eaLnBrk="1" hangingPunct="1"/>
            <a:r>
              <a:rPr lang="en-US" altLang="en-US" dirty="0"/>
              <a:t>The UID 0 means the super user (system admin)</a:t>
            </a:r>
          </a:p>
          <a:p>
            <a:pPr eaLnBrk="1" hangingPunct="1"/>
            <a:r>
              <a:rPr lang="en-US" altLang="en-US" dirty="0"/>
              <a:t>A user account belongs to multiple groups</a:t>
            </a:r>
          </a:p>
          <a:p>
            <a:pPr eaLnBrk="1" hangingPunct="1"/>
            <a:r>
              <a:rPr lang="en-US" altLang="en-US" dirty="0"/>
              <a:t>Subjects are processes</a:t>
            </a:r>
          </a:p>
          <a:p>
            <a:pPr lvl="1" eaLnBrk="1" hangingPunct="1"/>
            <a:r>
              <a:rPr lang="en-US" altLang="en-US" dirty="0"/>
              <a:t>associated with </a:t>
            </a:r>
            <a:r>
              <a:rPr lang="en-US" altLang="en-US" dirty="0" err="1"/>
              <a:t>uid</a:t>
            </a:r>
            <a:r>
              <a:rPr lang="en-US" altLang="en-US" dirty="0"/>
              <a:t>/</a:t>
            </a:r>
            <a:r>
              <a:rPr lang="en-US" altLang="en-US" dirty="0" err="1"/>
              <a:t>gid</a:t>
            </a:r>
            <a:r>
              <a:rPr lang="en-US" altLang="en-US" dirty="0"/>
              <a:t> pairs, e.g., (</a:t>
            </a:r>
            <a:r>
              <a:rPr lang="en-US" altLang="en-US" dirty="0" err="1"/>
              <a:t>euid</a:t>
            </a:r>
            <a:r>
              <a:rPr lang="en-US" altLang="en-US" dirty="0"/>
              <a:t>, </a:t>
            </a:r>
            <a:r>
              <a:rPr lang="en-US" altLang="en-US" dirty="0" err="1"/>
              <a:t>egid</a:t>
            </a:r>
            <a:r>
              <a:rPr lang="en-US" altLang="en-US" dirty="0"/>
              <a:t>), (</a:t>
            </a:r>
            <a:r>
              <a:rPr lang="en-US" altLang="en-US" dirty="0" err="1"/>
              <a:t>ruid</a:t>
            </a:r>
            <a:r>
              <a:rPr lang="en-US" altLang="en-US" dirty="0"/>
              <a:t>, </a:t>
            </a:r>
            <a:r>
              <a:rPr lang="en-US" altLang="en-US" dirty="0" err="1"/>
              <a:t>rgid</a:t>
            </a:r>
            <a:r>
              <a:rPr lang="en-US" altLang="en-US" dirty="0"/>
              <a:t>), (</a:t>
            </a:r>
            <a:r>
              <a:rPr lang="en-US" altLang="en-US" dirty="0" err="1"/>
              <a:t>suid</a:t>
            </a:r>
            <a:r>
              <a:rPr lang="en-US" altLang="en-US" dirty="0"/>
              <a:t>, </a:t>
            </a:r>
            <a:r>
              <a:rPr lang="en-US" altLang="en-US" dirty="0" err="1"/>
              <a:t>sgid</a:t>
            </a:r>
            <a:r>
              <a:rPr lang="en-US" altLang="en-US" dirty="0"/>
              <a:t>)</a:t>
            </a:r>
          </a:p>
          <a:p>
            <a:pPr eaLnBrk="1" hangingPunct="1"/>
            <a:r>
              <a:rPr lang="en-US" altLang="en-US" dirty="0"/>
              <a:t>Objects are files</a:t>
            </a:r>
          </a:p>
          <a:p>
            <a:pPr eaLnBrk="1" hangingPunct="1"/>
            <a:endParaRPr lang="en-US" altLang="en-US" dirty="0"/>
          </a:p>
        </p:txBody>
      </p:sp>
    </p:spTree>
    <p:extLst>
      <p:ext uri="{BB962C8B-B14F-4D97-AF65-F5344CB8AC3E}">
        <p14:creationId xmlns:p14="http://schemas.microsoft.com/office/powerpoint/2010/main" val="377426159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304800" y="228600"/>
            <a:ext cx="8610600" cy="838200"/>
          </a:xfrm>
        </p:spPr>
        <p:txBody>
          <a:bodyPr/>
          <a:lstStyle/>
          <a:p>
            <a:pPr eaLnBrk="1" hangingPunct="1"/>
            <a:r>
              <a:rPr lang="en-US" altLang="en-US" sz="4000" dirty="0"/>
              <a:t>Access Control Matrix</a:t>
            </a:r>
            <a:endParaRPr lang="en-US" altLang="en-US" dirty="0"/>
          </a:p>
        </p:txBody>
      </p:sp>
      <p:graphicFrame>
        <p:nvGraphicFramePr>
          <p:cNvPr id="163887" name="Group 47"/>
          <p:cNvGraphicFramePr>
            <a:graphicFrameLocks noGrp="1"/>
          </p:cNvGraphicFramePr>
          <p:nvPr/>
        </p:nvGraphicFramePr>
        <p:xfrm>
          <a:off x="1600200" y="2971800"/>
          <a:ext cx="6324600" cy="3200400"/>
        </p:xfrm>
        <a:graphic>
          <a:graphicData uri="http://schemas.openxmlformats.org/drawingml/2006/table">
            <a:tbl>
              <a:tblPr/>
              <a:tblGrid>
                <a:gridCol w="1265238">
                  <a:extLst>
                    <a:ext uri="{9D8B030D-6E8A-4147-A177-3AD203B41FA5}">
                      <a16:colId xmlns:a16="http://schemas.microsoft.com/office/drawing/2014/main" val="20000"/>
                    </a:ext>
                  </a:extLst>
                </a:gridCol>
                <a:gridCol w="1265237">
                  <a:extLst>
                    <a:ext uri="{9D8B030D-6E8A-4147-A177-3AD203B41FA5}">
                      <a16:colId xmlns:a16="http://schemas.microsoft.com/office/drawing/2014/main" val="20001"/>
                    </a:ext>
                  </a:extLst>
                </a:gridCol>
                <a:gridCol w="1263650">
                  <a:extLst>
                    <a:ext uri="{9D8B030D-6E8A-4147-A177-3AD203B41FA5}">
                      <a16:colId xmlns:a16="http://schemas.microsoft.com/office/drawing/2014/main" val="20002"/>
                    </a:ext>
                  </a:extLst>
                </a:gridCol>
                <a:gridCol w="1265238">
                  <a:extLst>
                    <a:ext uri="{9D8B030D-6E8A-4147-A177-3AD203B41FA5}">
                      <a16:colId xmlns:a16="http://schemas.microsoft.com/office/drawing/2014/main" val="20003"/>
                    </a:ext>
                  </a:extLst>
                </a:gridCol>
                <a:gridCol w="1265237">
                  <a:extLst>
                    <a:ext uri="{9D8B030D-6E8A-4147-A177-3AD203B41FA5}">
                      <a16:colId xmlns:a16="http://schemas.microsoft.com/office/drawing/2014/main" val="20004"/>
                    </a:ext>
                  </a:extLst>
                </a:gridCol>
              </a:tblGrid>
              <a:tr h="800100">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Comic Sans MS" charset="0"/>
                        </a:rPr>
                        <a:t>rx</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Comic Sans MS" charset="0"/>
                        </a:rPr>
                        <a:t>rx</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Comic Sans MS" charset="0"/>
                        </a:rPr>
                        <a:t>r</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Comic Sans MS" charset="0"/>
                        </a:rPr>
                        <a:t>---</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Comic Sans MS" charset="0"/>
                        </a:rPr>
                        <a:t>---</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800100">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Comic Sans MS" charset="0"/>
                        </a:rPr>
                        <a:t>rx</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Comic Sans MS" charset="0"/>
                        </a:rPr>
                        <a:t>rx</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Comic Sans MS" charset="0"/>
                        </a:rPr>
                        <a:t>r</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Comic Sans MS" charset="0"/>
                        </a:rPr>
                        <a:t>rw</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Comic Sans MS" charset="0"/>
                        </a:rPr>
                        <a:t>rw</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800100">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Comic Sans MS" charset="0"/>
                        </a:rPr>
                        <a:t>rwx</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Comic Sans MS" charset="0"/>
                        </a:rPr>
                        <a:t>rwx</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Comic Sans MS" charset="0"/>
                        </a:rPr>
                        <a:t>r</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Comic Sans MS" charset="0"/>
                        </a:rPr>
                        <a:t>rw</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Comic Sans MS" charset="0"/>
                        </a:rPr>
                        <a:t>rw</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800100">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Comic Sans MS" charset="0"/>
                        </a:rPr>
                        <a:t>rx</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Comic Sans MS" charset="0"/>
                        </a:rPr>
                        <a:t>rx</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Comic Sans MS" charset="0"/>
                        </a:rPr>
                        <a:t>rw</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Comic Sans MS" charset="0"/>
                        </a:rPr>
                        <a:t>rw</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Comic Sans MS" charset="0"/>
                        </a:rPr>
                        <a:t>rw</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5155" name="Rectangle 38"/>
          <p:cNvSpPr>
            <a:spLocks noChangeArrowheads="1"/>
          </p:cNvSpPr>
          <p:nvPr/>
        </p:nvSpPr>
        <p:spPr bwMode="auto">
          <a:xfrm>
            <a:off x="1905000" y="2454275"/>
            <a:ext cx="6381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lnSpc>
                <a:spcPct val="95000"/>
              </a:lnSpc>
              <a:spcBef>
                <a:spcPct val="20000"/>
              </a:spcBef>
              <a:defRPr sz="2400">
                <a:solidFill>
                  <a:schemeClr val="tx1"/>
                </a:solidFill>
                <a:latin typeface="Times New Roman" panose="02020603050405020304" pitchFamily="18" charset="0"/>
              </a:defRPr>
            </a:lvl1pPr>
            <a:lvl2pPr marL="742950" indent="-285750" algn="l" eaLnBrk="0" hangingPunct="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gn="l" eaLnBrk="0" hangingPunct="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gn="ctr" eaLnBrk="1" hangingPunct="1">
              <a:lnSpc>
                <a:spcPct val="100000"/>
              </a:lnSpc>
              <a:spcBef>
                <a:spcPct val="50000"/>
              </a:spcBef>
            </a:pPr>
            <a:r>
              <a:rPr lang="en-US" altLang="en-US"/>
              <a:t>OS</a:t>
            </a:r>
          </a:p>
        </p:txBody>
      </p:sp>
      <p:sp>
        <p:nvSpPr>
          <p:cNvPr id="5156" name="Rectangle 39"/>
          <p:cNvSpPr>
            <a:spLocks noChangeArrowheads="1"/>
          </p:cNvSpPr>
          <p:nvPr/>
        </p:nvSpPr>
        <p:spPr bwMode="auto">
          <a:xfrm>
            <a:off x="2819400" y="2209800"/>
            <a:ext cx="1357313"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lnSpc>
                <a:spcPct val="95000"/>
              </a:lnSpc>
              <a:spcBef>
                <a:spcPct val="20000"/>
              </a:spcBef>
              <a:defRPr sz="2400">
                <a:solidFill>
                  <a:schemeClr val="tx1"/>
                </a:solidFill>
                <a:latin typeface="Times New Roman" panose="02020603050405020304" pitchFamily="18" charset="0"/>
              </a:defRPr>
            </a:lvl1pPr>
            <a:lvl2pPr marL="742950" indent="-285750" algn="l" eaLnBrk="0" hangingPunct="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gn="l" eaLnBrk="0" hangingPunct="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gn="ctr" eaLnBrk="1" hangingPunct="1">
              <a:lnSpc>
                <a:spcPct val="100000"/>
              </a:lnSpc>
              <a:spcBef>
                <a:spcPct val="50000"/>
              </a:spcBef>
            </a:pPr>
            <a:r>
              <a:rPr lang="en-US" altLang="en-US" sz="1800"/>
              <a:t>Accounting</a:t>
            </a:r>
          </a:p>
          <a:p>
            <a:pPr algn="ctr" eaLnBrk="1" hangingPunct="1">
              <a:lnSpc>
                <a:spcPct val="100000"/>
              </a:lnSpc>
              <a:spcBef>
                <a:spcPct val="50000"/>
              </a:spcBef>
            </a:pPr>
            <a:r>
              <a:rPr lang="en-US" altLang="en-US" sz="1800"/>
              <a:t>program</a:t>
            </a:r>
          </a:p>
        </p:txBody>
      </p:sp>
      <p:sp>
        <p:nvSpPr>
          <p:cNvPr id="5157" name="Rectangle 40"/>
          <p:cNvSpPr>
            <a:spLocks noChangeArrowheads="1"/>
          </p:cNvSpPr>
          <p:nvPr/>
        </p:nvSpPr>
        <p:spPr bwMode="auto">
          <a:xfrm>
            <a:off x="4205288" y="2241550"/>
            <a:ext cx="1357312"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lnSpc>
                <a:spcPct val="95000"/>
              </a:lnSpc>
              <a:spcBef>
                <a:spcPct val="20000"/>
              </a:spcBef>
              <a:defRPr sz="2400">
                <a:solidFill>
                  <a:schemeClr val="tx1"/>
                </a:solidFill>
                <a:latin typeface="Times New Roman" panose="02020603050405020304" pitchFamily="18" charset="0"/>
              </a:defRPr>
            </a:lvl1pPr>
            <a:lvl2pPr marL="742950" indent="-285750" algn="l" eaLnBrk="0" hangingPunct="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gn="l" eaLnBrk="0" hangingPunct="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gn="ctr" eaLnBrk="1" hangingPunct="1">
              <a:lnSpc>
                <a:spcPct val="100000"/>
              </a:lnSpc>
              <a:spcBef>
                <a:spcPct val="50000"/>
              </a:spcBef>
            </a:pPr>
            <a:r>
              <a:rPr lang="en-US" altLang="en-US" sz="1800"/>
              <a:t>Accounting</a:t>
            </a:r>
          </a:p>
          <a:p>
            <a:pPr algn="ctr" eaLnBrk="1" hangingPunct="1">
              <a:lnSpc>
                <a:spcPct val="100000"/>
              </a:lnSpc>
              <a:spcBef>
                <a:spcPct val="50000"/>
              </a:spcBef>
            </a:pPr>
            <a:r>
              <a:rPr lang="en-US" altLang="en-US" sz="1800"/>
              <a:t>data</a:t>
            </a:r>
          </a:p>
        </p:txBody>
      </p:sp>
      <p:sp>
        <p:nvSpPr>
          <p:cNvPr id="5158" name="Rectangle 41"/>
          <p:cNvSpPr>
            <a:spLocks noChangeArrowheads="1"/>
          </p:cNvSpPr>
          <p:nvPr/>
        </p:nvSpPr>
        <p:spPr bwMode="auto">
          <a:xfrm>
            <a:off x="5562600" y="2209800"/>
            <a:ext cx="1247775"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lnSpc>
                <a:spcPct val="95000"/>
              </a:lnSpc>
              <a:spcBef>
                <a:spcPct val="20000"/>
              </a:spcBef>
              <a:defRPr sz="2400">
                <a:solidFill>
                  <a:schemeClr val="tx1"/>
                </a:solidFill>
                <a:latin typeface="Times New Roman" panose="02020603050405020304" pitchFamily="18" charset="0"/>
              </a:defRPr>
            </a:lvl1pPr>
            <a:lvl2pPr marL="742950" indent="-285750" algn="l" eaLnBrk="0" hangingPunct="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gn="l" eaLnBrk="0" hangingPunct="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gn="ctr" eaLnBrk="1" hangingPunct="1">
              <a:lnSpc>
                <a:spcPct val="100000"/>
              </a:lnSpc>
              <a:spcBef>
                <a:spcPct val="50000"/>
              </a:spcBef>
            </a:pPr>
            <a:r>
              <a:rPr lang="en-US" altLang="en-US" sz="1800"/>
              <a:t>Insurance</a:t>
            </a:r>
          </a:p>
          <a:p>
            <a:pPr algn="ctr" eaLnBrk="1" hangingPunct="1">
              <a:lnSpc>
                <a:spcPct val="100000"/>
              </a:lnSpc>
              <a:spcBef>
                <a:spcPct val="50000"/>
              </a:spcBef>
            </a:pPr>
            <a:r>
              <a:rPr lang="en-US" altLang="en-US" sz="1800"/>
              <a:t>data</a:t>
            </a:r>
          </a:p>
        </p:txBody>
      </p:sp>
      <p:sp>
        <p:nvSpPr>
          <p:cNvPr id="5159" name="Rectangle 42"/>
          <p:cNvSpPr>
            <a:spLocks noChangeArrowheads="1"/>
          </p:cNvSpPr>
          <p:nvPr/>
        </p:nvSpPr>
        <p:spPr bwMode="auto">
          <a:xfrm>
            <a:off x="6878638" y="2241550"/>
            <a:ext cx="893762"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lnSpc>
                <a:spcPct val="95000"/>
              </a:lnSpc>
              <a:spcBef>
                <a:spcPct val="20000"/>
              </a:spcBef>
              <a:defRPr sz="2400">
                <a:solidFill>
                  <a:schemeClr val="tx1"/>
                </a:solidFill>
                <a:latin typeface="Times New Roman" panose="02020603050405020304" pitchFamily="18" charset="0"/>
              </a:defRPr>
            </a:lvl1pPr>
            <a:lvl2pPr marL="742950" indent="-285750" algn="l" eaLnBrk="0" hangingPunct="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gn="l" eaLnBrk="0" hangingPunct="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gn="ctr" eaLnBrk="1" hangingPunct="1">
              <a:lnSpc>
                <a:spcPct val="100000"/>
              </a:lnSpc>
              <a:spcBef>
                <a:spcPct val="50000"/>
              </a:spcBef>
            </a:pPr>
            <a:r>
              <a:rPr lang="en-US" altLang="en-US" sz="1800"/>
              <a:t>Payroll</a:t>
            </a:r>
          </a:p>
          <a:p>
            <a:pPr algn="ctr" eaLnBrk="1" hangingPunct="1">
              <a:lnSpc>
                <a:spcPct val="100000"/>
              </a:lnSpc>
              <a:spcBef>
                <a:spcPct val="50000"/>
              </a:spcBef>
            </a:pPr>
            <a:r>
              <a:rPr lang="en-US" altLang="en-US" sz="1800"/>
              <a:t>data</a:t>
            </a:r>
          </a:p>
        </p:txBody>
      </p:sp>
      <p:sp>
        <p:nvSpPr>
          <p:cNvPr id="5160" name="Rectangle 43"/>
          <p:cNvSpPr>
            <a:spLocks noChangeArrowheads="1"/>
          </p:cNvSpPr>
          <p:nvPr/>
        </p:nvSpPr>
        <p:spPr bwMode="auto">
          <a:xfrm>
            <a:off x="882650" y="3140075"/>
            <a:ext cx="71755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lnSpc>
                <a:spcPct val="95000"/>
              </a:lnSpc>
              <a:spcBef>
                <a:spcPct val="20000"/>
              </a:spcBef>
              <a:defRPr sz="2400">
                <a:solidFill>
                  <a:schemeClr val="tx1"/>
                </a:solidFill>
                <a:latin typeface="Times New Roman" panose="02020603050405020304" pitchFamily="18" charset="0"/>
              </a:defRPr>
            </a:lvl1pPr>
            <a:lvl2pPr marL="742950" indent="-285750" algn="l" eaLnBrk="0" hangingPunct="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gn="l" eaLnBrk="0" hangingPunct="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gn="ctr" eaLnBrk="1" hangingPunct="1">
              <a:lnSpc>
                <a:spcPct val="100000"/>
              </a:lnSpc>
              <a:spcBef>
                <a:spcPct val="50000"/>
              </a:spcBef>
            </a:pPr>
            <a:r>
              <a:rPr lang="en-US" altLang="en-US"/>
              <a:t>Bob</a:t>
            </a:r>
          </a:p>
        </p:txBody>
      </p:sp>
      <p:sp>
        <p:nvSpPr>
          <p:cNvPr id="5161" name="Rectangle 44"/>
          <p:cNvSpPr>
            <a:spLocks noChangeArrowheads="1"/>
          </p:cNvSpPr>
          <p:nvPr/>
        </p:nvSpPr>
        <p:spPr bwMode="auto">
          <a:xfrm>
            <a:off x="700088" y="3902075"/>
            <a:ext cx="900112"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lnSpc>
                <a:spcPct val="95000"/>
              </a:lnSpc>
              <a:spcBef>
                <a:spcPct val="20000"/>
              </a:spcBef>
              <a:defRPr sz="2400">
                <a:solidFill>
                  <a:schemeClr val="tx1"/>
                </a:solidFill>
                <a:latin typeface="Times New Roman" panose="02020603050405020304" pitchFamily="18" charset="0"/>
              </a:defRPr>
            </a:lvl1pPr>
            <a:lvl2pPr marL="742950" indent="-285750" algn="l" eaLnBrk="0" hangingPunct="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gn="l" eaLnBrk="0" hangingPunct="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gn="ctr" eaLnBrk="1" hangingPunct="1">
              <a:lnSpc>
                <a:spcPct val="100000"/>
              </a:lnSpc>
              <a:spcBef>
                <a:spcPct val="50000"/>
              </a:spcBef>
            </a:pPr>
            <a:r>
              <a:rPr lang="en-US" altLang="en-US"/>
              <a:t>Alice</a:t>
            </a:r>
          </a:p>
        </p:txBody>
      </p:sp>
      <p:sp>
        <p:nvSpPr>
          <p:cNvPr id="5162" name="Rectangle 45"/>
          <p:cNvSpPr>
            <a:spLocks noChangeArrowheads="1"/>
          </p:cNvSpPr>
          <p:nvPr/>
        </p:nvSpPr>
        <p:spPr bwMode="auto">
          <a:xfrm>
            <a:off x="735013" y="4740275"/>
            <a:ext cx="788987"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lnSpc>
                <a:spcPct val="95000"/>
              </a:lnSpc>
              <a:spcBef>
                <a:spcPct val="20000"/>
              </a:spcBef>
              <a:defRPr sz="2400">
                <a:solidFill>
                  <a:schemeClr val="tx1"/>
                </a:solidFill>
                <a:latin typeface="Times New Roman" panose="02020603050405020304" pitchFamily="18" charset="0"/>
              </a:defRPr>
            </a:lvl1pPr>
            <a:lvl2pPr marL="742950" indent="-285750" algn="l" eaLnBrk="0" hangingPunct="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gn="l" eaLnBrk="0" hangingPunct="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gn="ctr" eaLnBrk="1" hangingPunct="1">
              <a:lnSpc>
                <a:spcPct val="100000"/>
              </a:lnSpc>
              <a:spcBef>
                <a:spcPct val="50000"/>
              </a:spcBef>
            </a:pPr>
            <a:r>
              <a:rPr lang="en-US" altLang="en-US"/>
              <a:t>Sam</a:t>
            </a:r>
          </a:p>
        </p:txBody>
      </p:sp>
      <p:sp>
        <p:nvSpPr>
          <p:cNvPr id="5163" name="Rectangle 46"/>
          <p:cNvSpPr>
            <a:spLocks noChangeArrowheads="1"/>
          </p:cNvSpPr>
          <p:nvPr/>
        </p:nvSpPr>
        <p:spPr bwMode="auto">
          <a:xfrm>
            <a:off x="76200" y="5410200"/>
            <a:ext cx="1487488"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lnSpc>
                <a:spcPct val="95000"/>
              </a:lnSpc>
              <a:spcBef>
                <a:spcPct val="20000"/>
              </a:spcBef>
              <a:defRPr sz="2400">
                <a:solidFill>
                  <a:schemeClr val="tx1"/>
                </a:solidFill>
                <a:latin typeface="Times New Roman" panose="02020603050405020304" pitchFamily="18" charset="0"/>
              </a:defRPr>
            </a:lvl1pPr>
            <a:lvl2pPr marL="742950" indent="-285750" algn="l" eaLnBrk="0" hangingPunct="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gn="l" eaLnBrk="0" hangingPunct="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gn="r" eaLnBrk="1" hangingPunct="1">
              <a:lnSpc>
                <a:spcPct val="100000"/>
              </a:lnSpc>
              <a:spcBef>
                <a:spcPct val="50000"/>
              </a:spcBef>
            </a:pPr>
            <a:r>
              <a:rPr lang="en-US" altLang="en-US" sz="2000"/>
              <a:t>Accounting</a:t>
            </a:r>
          </a:p>
          <a:p>
            <a:pPr algn="r" eaLnBrk="1" hangingPunct="1">
              <a:lnSpc>
                <a:spcPct val="100000"/>
              </a:lnSpc>
              <a:spcBef>
                <a:spcPct val="50000"/>
              </a:spcBef>
            </a:pPr>
            <a:r>
              <a:rPr lang="en-US" altLang="en-US" sz="2000"/>
              <a:t>program</a:t>
            </a:r>
          </a:p>
        </p:txBody>
      </p:sp>
      <p:sp>
        <p:nvSpPr>
          <p:cNvPr id="163888" name="Rectangle 48"/>
          <p:cNvSpPr>
            <a:spLocks noGrp="1" noChangeArrowheads="1"/>
          </p:cNvSpPr>
          <p:nvPr>
            <p:ph type="body" idx="1"/>
          </p:nvPr>
        </p:nvSpPr>
        <p:spPr>
          <a:xfrm>
            <a:off x="685800" y="1219200"/>
            <a:ext cx="8001000" cy="990600"/>
          </a:xfrm>
        </p:spPr>
        <p:txBody>
          <a:bodyPr>
            <a:normAutofit lnSpcReduction="10000"/>
          </a:bodyPr>
          <a:lstStyle/>
          <a:p>
            <a:pPr eaLnBrk="1" hangingPunct="1">
              <a:lnSpc>
                <a:spcPct val="90000"/>
              </a:lnSpc>
            </a:pPr>
            <a:r>
              <a:rPr lang="en-US" altLang="en-US" sz="2800" b="1">
                <a:solidFill>
                  <a:schemeClr val="accent2"/>
                </a:solidFill>
              </a:rPr>
              <a:t>Subjects</a:t>
            </a:r>
            <a:r>
              <a:rPr lang="en-US" altLang="en-US" sz="2800"/>
              <a:t> (users) index the rows</a:t>
            </a:r>
          </a:p>
          <a:p>
            <a:pPr eaLnBrk="1" hangingPunct="1">
              <a:lnSpc>
                <a:spcPct val="90000"/>
              </a:lnSpc>
            </a:pPr>
            <a:r>
              <a:rPr lang="en-US" altLang="en-US" sz="2800" b="1">
                <a:solidFill>
                  <a:schemeClr val="accent2"/>
                </a:solidFill>
              </a:rPr>
              <a:t>Objects</a:t>
            </a:r>
            <a:r>
              <a:rPr lang="en-US" altLang="en-US" sz="2800"/>
              <a:t> (resources) index the columns</a:t>
            </a:r>
            <a:r>
              <a:rPr lang="en-US" altLang="en-US"/>
              <a:t> </a:t>
            </a:r>
            <a:endParaRPr lang="en-US" altLang="en-US">
              <a:solidFill>
                <a:srgbClr val="FF0000"/>
              </a:solidFill>
            </a:endParaRPr>
          </a:p>
        </p:txBody>
      </p:sp>
      <p:sp>
        <p:nvSpPr>
          <p:cNvPr id="5165" name="Date Placeholder 1"/>
          <p:cNvSpPr>
            <a:spLocks noGrp="1"/>
          </p:cNvSpPr>
          <p:nvPr>
            <p:ph type="dt" sz="quarter" idx="10"/>
          </p:nvPr>
        </p:nvSpPr>
        <p:spPr>
          <a:noFill/>
        </p:spPr>
        <p:txBody>
          <a:bodyPr/>
          <a:lstStyle>
            <a:lvl1pPr algn="l" eaLnBrk="0" hangingPunct="0">
              <a:lnSpc>
                <a:spcPct val="95000"/>
              </a:lnSpc>
              <a:spcBef>
                <a:spcPct val="20000"/>
              </a:spcBef>
              <a:defRPr sz="2400">
                <a:solidFill>
                  <a:schemeClr val="tx1"/>
                </a:solidFill>
                <a:latin typeface="Times New Roman" panose="02020603050405020304" pitchFamily="18" charset="0"/>
              </a:defRPr>
            </a:lvl1pPr>
            <a:lvl2pPr marL="742950" indent="-285750" algn="l" eaLnBrk="0" hangingPunct="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gn="l" eaLnBrk="0" hangingPunct="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eaLnBrk="1" hangingPunct="1">
              <a:lnSpc>
                <a:spcPct val="100000"/>
              </a:lnSpc>
              <a:spcBef>
                <a:spcPct val="0"/>
              </a:spcBef>
            </a:pPr>
            <a:r>
              <a:rPr lang="en-US" altLang="zh-CN" sz="1600">
                <a:ea typeface="宋体" panose="02010600030101010101" pitchFamily="2" charset="-122"/>
              </a:rPr>
              <a:t>CS7900, Meilin Liu </a:t>
            </a:r>
          </a:p>
        </p:txBody>
      </p:sp>
      <p:sp>
        <p:nvSpPr>
          <p:cNvPr id="5166" name="Slide Number Placeholder 2"/>
          <p:cNvSpPr>
            <a:spLocks noGrp="1"/>
          </p:cNvSpPr>
          <p:nvPr>
            <p:ph type="sldNum" sz="quarter" idx="12"/>
          </p:nvPr>
        </p:nvSpPr>
        <p:spPr>
          <a:noFill/>
        </p:spPr>
        <p:txBody>
          <a:bodyPr/>
          <a:lstStyle>
            <a:lvl1pPr algn="l" eaLnBrk="0" hangingPunct="0">
              <a:lnSpc>
                <a:spcPct val="95000"/>
              </a:lnSpc>
              <a:spcBef>
                <a:spcPct val="20000"/>
              </a:spcBef>
              <a:defRPr sz="2400">
                <a:solidFill>
                  <a:schemeClr val="tx1"/>
                </a:solidFill>
                <a:latin typeface="Times New Roman" panose="02020603050405020304" pitchFamily="18" charset="0"/>
              </a:defRPr>
            </a:lvl1pPr>
            <a:lvl2pPr marL="742950" indent="-285750" algn="l" eaLnBrk="0" hangingPunct="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gn="l" eaLnBrk="0" hangingPunct="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gn="r" eaLnBrk="1" hangingPunct="1">
              <a:lnSpc>
                <a:spcPct val="100000"/>
              </a:lnSpc>
              <a:spcBef>
                <a:spcPct val="0"/>
              </a:spcBef>
            </a:pPr>
            <a:fld id="{ECADBFD2-9CD1-4B29-A8E5-892BDE1F3AE4}" type="slidenum">
              <a:rPr lang="zh-CN" altLang="en-US" sz="1400"/>
              <a:pPr algn="r" eaLnBrk="1" hangingPunct="1">
                <a:lnSpc>
                  <a:spcPct val="100000"/>
                </a:lnSpc>
                <a:spcBef>
                  <a:spcPct val="0"/>
                </a:spcBef>
              </a:pPr>
              <a:t>36</a:t>
            </a:fld>
            <a:endParaRPr lang="en-US" altLang="zh-CN" sz="1400"/>
          </a:p>
        </p:txBody>
      </p:sp>
    </p:spTree>
    <p:extLst>
      <p:ext uri="{BB962C8B-B14F-4D97-AF65-F5344CB8AC3E}">
        <p14:creationId xmlns:p14="http://schemas.microsoft.com/office/powerpoint/2010/main" val="331228205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63888">
                                            <p:txEl>
                                              <p:pRg st="0" end="0"/>
                                            </p:txEl>
                                          </p:spTgt>
                                        </p:tgtEl>
                                        <p:attrNameLst>
                                          <p:attrName>style.visibility</p:attrName>
                                        </p:attrNameLst>
                                      </p:cBhvr>
                                      <p:to>
                                        <p:strVal val="visible"/>
                                      </p:to>
                                    </p:set>
                                    <p:animEffect transition="in" filter="blinds(horizontal)">
                                      <p:cBhvr>
                                        <p:cTn id="7" dur="500"/>
                                        <p:tgtEl>
                                          <p:spTgt spid="163888">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63888">
                                            <p:txEl>
                                              <p:pRg st="1" end="1"/>
                                            </p:txEl>
                                          </p:spTgt>
                                        </p:tgtEl>
                                        <p:attrNameLst>
                                          <p:attrName>style.visibility</p:attrName>
                                        </p:attrNameLst>
                                      </p:cBhvr>
                                      <p:to>
                                        <p:strVal val="visible"/>
                                      </p:to>
                                    </p:set>
                                    <p:animEffect transition="in" filter="blinds(horizontal)">
                                      <p:cBhvr>
                                        <p:cTn id="12" dur="500"/>
                                        <p:tgtEl>
                                          <p:spTgt spid="16388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88" grpId="0" build="p"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685800" y="457200"/>
            <a:ext cx="7848600" cy="1066800"/>
          </a:xfrm>
        </p:spPr>
        <p:txBody>
          <a:bodyPr/>
          <a:lstStyle/>
          <a:p>
            <a:pPr eaLnBrk="1" hangingPunct="1"/>
            <a:r>
              <a:rPr lang="en-US" altLang="en-US"/>
              <a:t>Are You Allowed to Do That? </a:t>
            </a:r>
          </a:p>
        </p:txBody>
      </p:sp>
      <p:sp>
        <p:nvSpPr>
          <p:cNvPr id="6147" name="Rectangle 3"/>
          <p:cNvSpPr>
            <a:spLocks noGrp="1" noChangeArrowheads="1"/>
          </p:cNvSpPr>
          <p:nvPr>
            <p:ph type="body" idx="1"/>
          </p:nvPr>
        </p:nvSpPr>
        <p:spPr>
          <a:xfrm>
            <a:off x="533400" y="1752600"/>
            <a:ext cx="8229600" cy="4343400"/>
          </a:xfrm>
        </p:spPr>
        <p:txBody>
          <a:bodyPr/>
          <a:lstStyle/>
          <a:p>
            <a:pPr eaLnBrk="1" hangingPunct="1">
              <a:spcAft>
                <a:spcPts val="600"/>
              </a:spcAft>
            </a:pPr>
            <a:r>
              <a:rPr lang="en-US" altLang="en-US" sz="2800" b="1" dirty="0">
                <a:solidFill>
                  <a:schemeClr val="accent2"/>
                </a:solidFill>
              </a:rPr>
              <a:t>Access control matrix</a:t>
            </a:r>
            <a:r>
              <a:rPr lang="en-US" altLang="en-US" sz="2800" dirty="0"/>
              <a:t> has </a:t>
            </a:r>
            <a:r>
              <a:rPr lang="en-US" altLang="en-US" sz="2800" b="1" dirty="0">
                <a:solidFill>
                  <a:schemeClr val="accent2"/>
                </a:solidFill>
              </a:rPr>
              <a:t>all</a:t>
            </a:r>
            <a:r>
              <a:rPr lang="en-US" altLang="en-US" sz="2800" dirty="0"/>
              <a:t> relevant info</a:t>
            </a:r>
          </a:p>
          <a:p>
            <a:pPr eaLnBrk="1" hangingPunct="1">
              <a:spcAft>
                <a:spcPts val="600"/>
              </a:spcAft>
            </a:pPr>
            <a:r>
              <a:rPr lang="en-US" altLang="en-US" sz="2800" dirty="0"/>
              <a:t>Could be 1000’s of users, 1000’s of resources</a:t>
            </a:r>
          </a:p>
          <a:p>
            <a:pPr eaLnBrk="1" hangingPunct="1">
              <a:spcAft>
                <a:spcPts val="600"/>
              </a:spcAft>
            </a:pPr>
            <a:r>
              <a:rPr lang="en-US" altLang="en-US" sz="2800" dirty="0"/>
              <a:t>Then matrix with 1,000,000’s of entries</a:t>
            </a:r>
          </a:p>
          <a:p>
            <a:pPr eaLnBrk="1" hangingPunct="1">
              <a:spcAft>
                <a:spcPts val="600"/>
              </a:spcAft>
            </a:pPr>
            <a:r>
              <a:rPr lang="en-US" altLang="en-US" sz="2800" dirty="0"/>
              <a:t>How to manage such a large matrix? Might become a performance bottle neck. </a:t>
            </a:r>
          </a:p>
          <a:p>
            <a:pPr eaLnBrk="1" hangingPunct="1">
              <a:spcAft>
                <a:spcPts val="600"/>
              </a:spcAft>
            </a:pPr>
            <a:r>
              <a:rPr lang="en-US" altLang="en-US" sz="2800" dirty="0"/>
              <a:t>Need to check this matrix before access to any resource is allowed</a:t>
            </a:r>
          </a:p>
          <a:p>
            <a:pPr eaLnBrk="1" hangingPunct="1">
              <a:spcAft>
                <a:spcPts val="600"/>
              </a:spcAft>
            </a:pPr>
            <a:r>
              <a:rPr lang="en-US" altLang="en-US" sz="2800" dirty="0"/>
              <a:t>How to make this efficient?</a:t>
            </a:r>
          </a:p>
        </p:txBody>
      </p:sp>
      <p:sp>
        <p:nvSpPr>
          <p:cNvPr id="6148" name="Date Placeholder 1"/>
          <p:cNvSpPr>
            <a:spLocks noGrp="1"/>
          </p:cNvSpPr>
          <p:nvPr>
            <p:ph type="dt" sz="quarter" idx="10"/>
          </p:nvPr>
        </p:nvSpPr>
        <p:spPr>
          <a:noFill/>
        </p:spPr>
        <p:txBody>
          <a:bodyPr/>
          <a:lstStyle>
            <a:lvl1pPr algn="l" eaLnBrk="0" hangingPunct="0">
              <a:lnSpc>
                <a:spcPct val="95000"/>
              </a:lnSpc>
              <a:spcBef>
                <a:spcPct val="20000"/>
              </a:spcBef>
              <a:defRPr sz="2400">
                <a:solidFill>
                  <a:schemeClr val="tx1"/>
                </a:solidFill>
                <a:latin typeface="Times New Roman" panose="02020603050405020304" pitchFamily="18" charset="0"/>
              </a:defRPr>
            </a:lvl1pPr>
            <a:lvl2pPr marL="742950" indent="-285750" algn="l" eaLnBrk="0" hangingPunct="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gn="l" eaLnBrk="0" hangingPunct="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eaLnBrk="1" hangingPunct="1">
              <a:lnSpc>
                <a:spcPct val="100000"/>
              </a:lnSpc>
              <a:spcBef>
                <a:spcPct val="0"/>
              </a:spcBef>
            </a:pPr>
            <a:r>
              <a:rPr lang="en-US" altLang="zh-CN" sz="1600">
                <a:ea typeface="宋体" panose="02010600030101010101" pitchFamily="2" charset="-122"/>
              </a:rPr>
              <a:t>CS7900, Meilin Liu </a:t>
            </a:r>
          </a:p>
        </p:txBody>
      </p:sp>
      <p:sp>
        <p:nvSpPr>
          <p:cNvPr id="6149" name="Slide Number Placeholder 2"/>
          <p:cNvSpPr>
            <a:spLocks noGrp="1"/>
          </p:cNvSpPr>
          <p:nvPr>
            <p:ph type="sldNum" sz="quarter" idx="12"/>
          </p:nvPr>
        </p:nvSpPr>
        <p:spPr>
          <a:noFill/>
        </p:spPr>
        <p:txBody>
          <a:bodyPr/>
          <a:lstStyle>
            <a:lvl1pPr algn="l" eaLnBrk="0" hangingPunct="0">
              <a:lnSpc>
                <a:spcPct val="95000"/>
              </a:lnSpc>
              <a:spcBef>
                <a:spcPct val="20000"/>
              </a:spcBef>
              <a:defRPr sz="2400">
                <a:solidFill>
                  <a:schemeClr val="tx1"/>
                </a:solidFill>
                <a:latin typeface="Times New Roman" panose="02020603050405020304" pitchFamily="18" charset="0"/>
              </a:defRPr>
            </a:lvl1pPr>
            <a:lvl2pPr marL="742950" indent="-285750" algn="l" eaLnBrk="0" hangingPunct="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gn="l" eaLnBrk="0" hangingPunct="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gn="r" eaLnBrk="1" hangingPunct="1">
              <a:lnSpc>
                <a:spcPct val="100000"/>
              </a:lnSpc>
              <a:spcBef>
                <a:spcPct val="0"/>
              </a:spcBef>
            </a:pPr>
            <a:fld id="{833246D2-7C19-44D9-995D-18D72FBBBDB8}" type="slidenum">
              <a:rPr lang="zh-CN" altLang="en-US" sz="1400"/>
              <a:pPr algn="r" eaLnBrk="1" hangingPunct="1">
                <a:lnSpc>
                  <a:spcPct val="100000"/>
                </a:lnSpc>
                <a:spcBef>
                  <a:spcPct val="0"/>
                </a:spcBef>
              </a:pPr>
              <a:t>37</a:t>
            </a:fld>
            <a:endParaRPr lang="en-US" altLang="zh-CN" sz="1400"/>
          </a:p>
        </p:txBody>
      </p:sp>
    </p:spTree>
    <p:extLst>
      <p:ext uri="{BB962C8B-B14F-4D97-AF65-F5344CB8AC3E}">
        <p14:creationId xmlns:p14="http://schemas.microsoft.com/office/powerpoint/2010/main" val="53850719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609600" y="304800"/>
            <a:ext cx="7848600" cy="685800"/>
          </a:xfrm>
        </p:spPr>
        <p:txBody>
          <a:bodyPr>
            <a:normAutofit fontScale="90000"/>
          </a:bodyPr>
          <a:lstStyle/>
          <a:p>
            <a:pPr eaLnBrk="1" hangingPunct="1"/>
            <a:r>
              <a:rPr lang="en-US" altLang="en-US"/>
              <a:t>Access Control Lists (ACLs)</a:t>
            </a:r>
          </a:p>
        </p:txBody>
      </p:sp>
      <p:sp>
        <p:nvSpPr>
          <p:cNvPr id="164867" name="Rectangle 3"/>
          <p:cNvSpPr>
            <a:spLocks noGrp="1" noChangeArrowheads="1"/>
          </p:cNvSpPr>
          <p:nvPr>
            <p:ph type="body" idx="1"/>
          </p:nvPr>
        </p:nvSpPr>
        <p:spPr>
          <a:xfrm>
            <a:off x="685800" y="1066800"/>
            <a:ext cx="7848600" cy="1143000"/>
          </a:xfrm>
        </p:spPr>
        <p:txBody>
          <a:bodyPr/>
          <a:lstStyle/>
          <a:p>
            <a:pPr eaLnBrk="1" hangingPunct="1">
              <a:lnSpc>
                <a:spcPct val="90000"/>
              </a:lnSpc>
            </a:pPr>
            <a:r>
              <a:rPr lang="en-US" altLang="en-US" sz="2800"/>
              <a:t>ACL: store access control matrix by </a:t>
            </a:r>
            <a:r>
              <a:rPr lang="en-US" altLang="en-US" sz="2800" b="1">
                <a:solidFill>
                  <a:srgbClr val="C00000"/>
                </a:solidFill>
              </a:rPr>
              <a:t>column</a:t>
            </a:r>
            <a:endParaRPr lang="en-US" altLang="en-US" sz="2800">
              <a:solidFill>
                <a:srgbClr val="C00000"/>
              </a:solidFill>
            </a:endParaRPr>
          </a:p>
          <a:p>
            <a:pPr eaLnBrk="1" hangingPunct="1">
              <a:lnSpc>
                <a:spcPct val="90000"/>
              </a:lnSpc>
            </a:pPr>
            <a:r>
              <a:rPr lang="en-US" altLang="en-US" sz="2800"/>
              <a:t>Example: ACL for </a:t>
            </a:r>
            <a:r>
              <a:rPr lang="en-US" altLang="en-US" sz="2800" b="1">
                <a:solidFill>
                  <a:srgbClr val="C00000"/>
                </a:solidFill>
              </a:rPr>
              <a:t>insurance data</a:t>
            </a:r>
            <a:r>
              <a:rPr lang="en-US" altLang="en-US" sz="2800">
                <a:solidFill>
                  <a:srgbClr val="C00000"/>
                </a:solidFill>
              </a:rPr>
              <a:t> </a:t>
            </a:r>
            <a:r>
              <a:rPr lang="en-US" altLang="en-US" sz="2800"/>
              <a:t>is in </a:t>
            </a:r>
            <a:r>
              <a:rPr lang="en-US" altLang="en-US" sz="2800" b="1">
                <a:solidFill>
                  <a:schemeClr val="accent2"/>
                </a:solidFill>
              </a:rPr>
              <a:t>blue</a:t>
            </a:r>
            <a:endParaRPr lang="en-US" altLang="en-US" sz="2800">
              <a:solidFill>
                <a:schemeClr val="accent2"/>
              </a:solidFill>
            </a:endParaRPr>
          </a:p>
        </p:txBody>
      </p:sp>
      <p:graphicFrame>
        <p:nvGraphicFramePr>
          <p:cNvPr id="164868" name="Group 4"/>
          <p:cNvGraphicFramePr>
            <a:graphicFrameLocks noGrp="1"/>
          </p:cNvGraphicFramePr>
          <p:nvPr/>
        </p:nvGraphicFramePr>
        <p:xfrm>
          <a:off x="1600200" y="2895600"/>
          <a:ext cx="6324600" cy="3200400"/>
        </p:xfrm>
        <a:graphic>
          <a:graphicData uri="http://schemas.openxmlformats.org/drawingml/2006/table">
            <a:tbl>
              <a:tblPr/>
              <a:tblGrid>
                <a:gridCol w="1265238">
                  <a:extLst>
                    <a:ext uri="{9D8B030D-6E8A-4147-A177-3AD203B41FA5}">
                      <a16:colId xmlns:a16="http://schemas.microsoft.com/office/drawing/2014/main" val="20000"/>
                    </a:ext>
                  </a:extLst>
                </a:gridCol>
                <a:gridCol w="1265237">
                  <a:extLst>
                    <a:ext uri="{9D8B030D-6E8A-4147-A177-3AD203B41FA5}">
                      <a16:colId xmlns:a16="http://schemas.microsoft.com/office/drawing/2014/main" val="20001"/>
                    </a:ext>
                  </a:extLst>
                </a:gridCol>
                <a:gridCol w="1263650">
                  <a:extLst>
                    <a:ext uri="{9D8B030D-6E8A-4147-A177-3AD203B41FA5}">
                      <a16:colId xmlns:a16="http://schemas.microsoft.com/office/drawing/2014/main" val="20002"/>
                    </a:ext>
                  </a:extLst>
                </a:gridCol>
                <a:gridCol w="1265238">
                  <a:extLst>
                    <a:ext uri="{9D8B030D-6E8A-4147-A177-3AD203B41FA5}">
                      <a16:colId xmlns:a16="http://schemas.microsoft.com/office/drawing/2014/main" val="20003"/>
                    </a:ext>
                  </a:extLst>
                </a:gridCol>
                <a:gridCol w="1265237">
                  <a:extLst>
                    <a:ext uri="{9D8B030D-6E8A-4147-A177-3AD203B41FA5}">
                      <a16:colId xmlns:a16="http://schemas.microsoft.com/office/drawing/2014/main" val="20004"/>
                    </a:ext>
                  </a:extLst>
                </a:gridCol>
              </a:tblGrid>
              <a:tr h="800100">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dirty="0" err="1">
                          <a:ln>
                            <a:noFill/>
                          </a:ln>
                          <a:solidFill>
                            <a:schemeClr val="tx1"/>
                          </a:solidFill>
                          <a:effectLst/>
                          <a:latin typeface="Comic Sans MS" charset="0"/>
                        </a:rPr>
                        <a:t>rx</a:t>
                      </a:r>
                      <a:endParaRPr kumimoji="0" lang="en-US" sz="2800" b="0" i="0" u="none" strike="noStrike" cap="none" normalizeH="0" baseline="0" dirty="0">
                        <a:ln>
                          <a:noFill/>
                        </a:ln>
                        <a:solidFill>
                          <a:schemeClr val="tx1"/>
                        </a:solidFill>
                        <a:effectLst/>
                        <a:latin typeface="Comic Sans MS" charset="0"/>
                      </a:endParaRP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Comic Sans MS" charset="0"/>
                        </a:rPr>
                        <a:t>rx</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Comic Sans MS" charset="0"/>
                        </a:rPr>
                        <a:t>r</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dirty="0">
                          <a:ln>
                            <a:noFill/>
                          </a:ln>
                          <a:solidFill>
                            <a:schemeClr val="accent2"/>
                          </a:solidFill>
                          <a:effectLst/>
                          <a:latin typeface="Comic Sans MS" charset="0"/>
                        </a:rPr>
                        <a:t>---</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Comic Sans MS" charset="0"/>
                        </a:rPr>
                        <a:t>---</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800100">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Comic Sans MS" charset="0"/>
                        </a:rPr>
                        <a:t>rx</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Comic Sans MS" charset="0"/>
                        </a:rPr>
                        <a:t>rx</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Comic Sans MS" charset="0"/>
                        </a:rPr>
                        <a:t>r</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dirty="0" err="1">
                          <a:ln>
                            <a:noFill/>
                          </a:ln>
                          <a:solidFill>
                            <a:schemeClr val="accent2"/>
                          </a:solidFill>
                          <a:effectLst/>
                          <a:latin typeface="Comic Sans MS" charset="0"/>
                        </a:rPr>
                        <a:t>rw</a:t>
                      </a:r>
                      <a:endParaRPr kumimoji="0" lang="en-US" sz="2800" b="0" i="0" u="none" strike="noStrike" cap="none" normalizeH="0" baseline="0" dirty="0">
                        <a:ln>
                          <a:noFill/>
                        </a:ln>
                        <a:solidFill>
                          <a:schemeClr val="accent2"/>
                        </a:solidFill>
                        <a:effectLst/>
                        <a:latin typeface="Comic Sans MS"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Comic Sans MS" charset="0"/>
                        </a:rPr>
                        <a:t>rw</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800100">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Comic Sans MS" charset="0"/>
                        </a:rPr>
                        <a:t>rwx</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Comic Sans MS" charset="0"/>
                        </a:rPr>
                        <a:t>rwx</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Comic Sans MS" charset="0"/>
                        </a:rPr>
                        <a:t>r</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dirty="0" err="1">
                          <a:ln>
                            <a:noFill/>
                          </a:ln>
                          <a:solidFill>
                            <a:schemeClr val="accent2"/>
                          </a:solidFill>
                          <a:effectLst/>
                          <a:latin typeface="Comic Sans MS" charset="0"/>
                        </a:rPr>
                        <a:t>rw</a:t>
                      </a:r>
                      <a:endParaRPr kumimoji="0" lang="en-US" sz="2800" b="0" i="0" u="none" strike="noStrike" cap="none" normalizeH="0" baseline="0" dirty="0">
                        <a:ln>
                          <a:noFill/>
                        </a:ln>
                        <a:solidFill>
                          <a:schemeClr val="accent2"/>
                        </a:solidFill>
                        <a:effectLst/>
                        <a:latin typeface="Comic Sans MS"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Comic Sans MS" charset="0"/>
                        </a:rPr>
                        <a:t>rw</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800100">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Comic Sans MS" charset="0"/>
                        </a:rPr>
                        <a:t>rx</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Comic Sans MS" charset="0"/>
                        </a:rPr>
                        <a:t>rx</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Comic Sans MS" charset="0"/>
                        </a:rPr>
                        <a:t>rw</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dirty="0" err="1">
                          <a:ln>
                            <a:noFill/>
                          </a:ln>
                          <a:solidFill>
                            <a:schemeClr val="accent2"/>
                          </a:solidFill>
                          <a:effectLst/>
                          <a:latin typeface="Comic Sans MS" charset="0"/>
                        </a:rPr>
                        <a:t>rw</a:t>
                      </a:r>
                      <a:endParaRPr kumimoji="0" lang="en-US" sz="2800" b="0" i="0" u="none" strike="noStrike" cap="none" normalizeH="0" baseline="0" dirty="0">
                        <a:ln>
                          <a:noFill/>
                        </a:ln>
                        <a:solidFill>
                          <a:schemeClr val="accent2"/>
                        </a:solidFill>
                        <a:effectLst/>
                        <a:latin typeface="Comic Sans MS"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Comic Sans MS" charset="0"/>
                        </a:rPr>
                        <a:t>rw</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164900" name="Rectangle 36"/>
          <p:cNvSpPr>
            <a:spLocks noChangeArrowheads="1"/>
          </p:cNvSpPr>
          <p:nvPr/>
        </p:nvSpPr>
        <p:spPr bwMode="auto">
          <a:xfrm>
            <a:off x="1905000" y="2378075"/>
            <a:ext cx="6381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lnSpc>
                <a:spcPct val="95000"/>
              </a:lnSpc>
              <a:spcBef>
                <a:spcPct val="20000"/>
              </a:spcBef>
              <a:defRPr sz="2400">
                <a:solidFill>
                  <a:schemeClr val="tx1"/>
                </a:solidFill>
                <a:latin typeface="Times New Roman" panose="02020603050405020304" pitchFamily="18" charset="0"/>
              </a:defRPr>
            </a:lvl1pPr>
            <a:lvl2pPr marL="742950" indent="-285750" algn="l" eaLnBrk="0" hangingPunct="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gn="l" eaLnBrk="0" hangingPunct="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gn="ctr" eaLnBrk="1" hangingPunct="1">
              <a:lnSpc>
                <a:spcPct val="100000"/>
              </a:lnSpc>
              <a:spcBef>
                <a:spcPct val="50000"/>
              </a:spcBef>
            </a:pPr>
            <a:r>
              <a:rPr lang="en-US" altLang="en-US"/>
              <a:t>OS</a:t>
            </a:r>
          </a:p>
        </p:txBody>
      </p:sp>
      <p:sp>
        <p:nvSpPr>
          <p:cNvPr id="164901" name="Rectangle 37"/>
          <p:cNvSpPr>
            <a:spLocks noChangeArrowheads="1"/>
          </p:cNvSpPr>
          <p:nvPr/>
        </p:nvSpPr>
        <p:spPr bwMode="auto">
          <a:xfrm>
            <a:off x="2819400" y="2133600"/>
            <a:ext cx="1357313"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lnSpc>
                <a:spcPct val="95000"/>
              </a:lnSpc>
              <a:spcBef>
                <a:spcPct val="20000"/>
              </a:spcBef>
              <a:defRPr sz="2400">
                <a:solidFill>
                  <a:schemeClr val="tx1"/>
                </a:solidFill>
                <a:latin typeface="Times New Roman" panose="02020603050405020304" pitchFamily="18" charset="0"/>
              </a:defRPr>
            </a:lvl1pPr>
            <a:lvl2pPr marL="742950" indent="-285750" algn="l" eaLnBrk="0" hangingPunct="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gn="l" eaLnBrk="0" hangingPunct="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gn="ctr" eaLnBrk="1" hangingPunct="1">
              <a:lnSpc>
                <a:spcPct val="100000"/>
              </a:lnSpc>
              <a:spcBef>
                <a:spcPct val="50000"/>
              </a:spcBef>
            </a:pPr>
            <a:r>
              <a:rPr lang="en-US" altLang="en-US" sz="1800"/>
              <a:t>Accounting</a:t>
            </a:r>
          </a:p>
          <a:p>
            <a:pPr algn="ctr" eaLnBrk="1" hangingPunct="1">
              <a:lnSpc>
                <a:spcPct val="100000"/>
              </a:lnSpc>
              <a:spcBef>
                <a:spcPct val="50000"/>
              </a:spcBef>
            </a:pPr>
            <a:r>
              <a:rPr lang="en-US" altLang="en-US" sz="1800"/>
              <a:t>program</a:t>
            </a:r>
          </a:p>
        </p:txBody>
      </p:sp>
      <p:sp>
        <p:nvSpPr>
          <p:cNvPr id="164902" name="Rectangle 38"/>
          <p:cNvSpPr>
            <a:spLocks noChangeArrowheads="1"/>
          </p:cNvSpPr>
          <p:nvPr/>
        </p:nvSpPr>
        <p:spPr bwMode="auto">
          <a:xfrm>
            <a:off x="4205288" y="2165350"/>
            <a:ext cx="1357312"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lnSpc>
                <a:spcPct val="95000"/>
              </a:lnSpc>
              <a:spcBef>
                <a:spcPct val="20000"/>
              </a:spcBef>
              <a:defRPr sz="2400">
                <a:solidFill>
                  <a:schemeClr val="tx1"/>
                </a:solidFill>
                <a:latin typeface="Times New Roman" panose="02020603050405020304" pitchFamily="18" charset="0"/>
              </a:defRPr>
            </a:lvl1pPr>
            <a:lvl2pPr marL="742950" indent="-285750" algn="l" eaLnBrk="0" hangingPunct="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gn="l" eaLnBrk="0" hangingPunct="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gn="ctr" eaLnBrk="1" hangingPunct="1">
              <a:lnSpc>
                <a:spcPct val="100000"/>
              </a:lnSpc>
              <a:spcBef>
                <a:spcPct val="50000"/>
              </a:spcBef>
            </a:pPr>
            <a:r>
              <a:rPr lang="en-US" altLang="en-US" sz="1800"/>
              <a:t>Accounting</a:t>
            </a:r>
          </a:p>
          <a:p>
            <a:pPr algn="ctr" eaLnBrk="1" hangingPunct="1">
              <a:lnSpc>
                <a:spcPct val="100000"/>
              </a:lnSpc>
              <a:spcBef>
                <a:spcPct val="50000"/>
              </a:spcBef>
            </a:pPr>
            <a:r>
              <a:rPr lang="en-US" altLang="en-US" sz="1800"/>
              <a:t>data</a:t>
            </a:r>
          </a:p>
        </p:txBody>
      </p:sp>
      <p:sp>
        <p:nvSpPr>
          <p:cNvPr id="164903" name="Rectangle 39"/>
          <p:cNvSpPr>
            <a:spLocks noChangeArrowheads="1"/>
          </p:cNvSpPr>
          <p:nvPr/>
        </p:nvSpPr>
        <p:spPr bwMode="auto">
          <a:xfrm>
            <a:off x="5607050" y="2133600"/>
            <a:ext cx="1171575" cy="78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lnSpc>
                <a:spcPct val="95000"/>
              </a:lnSpc>
              <a:spcBef>
                <a:spcPct val="20000"/>
              </a:spcBef>
              <a:defRPr sz="2400">
                <a:solidFill>
                  <a:schemeClr val="tx1"/>
                </a:solidFill>
                <a:latin typeface="Times New Roman" panose="02020603050405020304" pitchFamily="18" charset="0"/>
              </a:defRPr>
            </a:lvl1pPr>
            <a:lvl2pPr marL="742950" indent="-285750" algn="l" eaLnBrk="0" hangingPunct="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gn="l" eaLnBrk="0" hangingPunct="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gn="ctr" eaLnBrk="1" hangingPunct="1">
              <a:lnSpc>
                <a:spcPct val="100000"/>
              </a:lnSpc>
              <a:spcBef>
                <a:spcPct val="50000"/>
              </a:spcBef>
            </a:pPr>
            <a:r>
              <a:rPr lang="en-US" altLang="en-US" sz="1800" b="1">
                <a:solidFill>
                  <a:schemeClr val="accent2"/>
                </a:solidFill>
              </a:rPr>
              <a:t>Insurance</a:t>
            </a:r>
          </a:p>
          <a:p>
            <a:pPr algn="ctr" eaLnBrk="1" hangingPunct="1">
              <a:lnSpc>
                <a:spcPct val="100000"/>
              </a:lnSpc>
              <a:spcBef>
                <a:spcPct val="50000"/>
              </a:spcBef>
            </a:pPr>
            <a:r>
              <a:rPr lang="en-US" altLang="en-US" sz="1800" b="1">
                <a:solidFill>
                  <a:schemeClr val="accent2"/>
                </a:solidFill>
              </a:rPr>
              <a:t>data</a:t>
            </a:r>
          </a:p>
        </p:txBody>
      </p:sp>
      <p:sp>
        <p:nvSpPr>
          <p:cNvPr id="164904" name="Rectangle 40"/>
          <p:cNvSpPr>
            <a:spLocks noChangeArrowheads="1"/>
          </p:cNvSpPr>
          <p:nvPr/>
        </p:nvSpPr>
        <p:spPr bwMode="auto">
          <a:xfrm>
            <a:off x="6878638" y="2165350"/>
            <a:ext cx="893762"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lnSpc>
                <a:spcPct val="95000"/>
              </a:lnSpc>
              <a:spcBef>
                <a:spcPct val="20000"/>
              </a:spcBef>
              <a:defRPr sz="2400">
                <a:solidFill>
                  <a:schemeClr val="tx1"/>
                </a:solidFill>
                <a:latin typeface="Times New Roman" panose="02020603050405020304" pitchFamily="18" charset="0"/>
              </a:defRPr>
            </a:lvl1pPr>
            <a:lvl2pPr marL="742950" indent="-285750" algn="l" eaLnBrk="0" hangingPunct="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gn="l" eaLnBrk="0" hangingPunct="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gn="ctr" eaLnBrk="1" hangingPunct="1">
              <a:lnSpc>
                <a:spcPct val="100000"/>
              </a:lnSpc>
              <a:spcBef>
                <a:spcPct val="50000"/>
              </a:spcBef>
            </a:pPr>
            <a:r>
              <a:rPr lang="en-US" altLang="en-US" sz="1800"/>
              <a:t>Payroll</a:t>
            </a:r>
          </a:p>
          <a:p>
            <a:pPr algn="ctr" eaLnBrk="1" hangingPunct="1">
              <a:lnSpc>
                <a:spcPct val="100000"/>
              </a:lnSpc>
              <a:spcBef>
                <a:spcPct val="50000"/>
              </a:spcBef>
            </a:pPr>
            <a:r>
              <a:rPr lang="en-US" altLang="en-US" sz="1800"/>
              <a:t>data</a:t>
            </a:r>
          </a:p>
        </p:txBody>
      </p:sp>
      <p:sp>
        <p:nvSpPr>
          <p:cNvPr id="164905" name="Rectangle 41"/>
          <p:cNvSpPr>
            <a:spLocks noChangeArrowheads="1"/>
          </p:cNvSpPr>
          <p:nvPr/>
        </p:nvSpPr>
        <p:spPr bwMode="auto">
          <a:xfrm>
            <a:off x="882650" y="3063875"/>
            <a:ext cx="71755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lnSpc>
                <a:spcPct val="95000"/>
              </a:lnSpc>
              <a:spcBef>
                <a:spcPct val="20000"/>
              </a:spcBef>
              <a:defRPr sz="2400">
                <a:solidFill>
                  <a:schemeClr val="tx1"/>
                </a:solidFill>
                <a:latin typeface="Times New Roman" panose="02020603050405020304" pitchFamily="18" charset="0"/>
              </a:defRPr>
            </a:lvl1pPr>
            <a:lvl2pPr marL="742950" indent="-285750" algn="l" eaLnBrk="0" hangingPunct="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gn="l" eaLnBrk="0" hangingPunct="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gn="ctr" eaLnBrk="1" hangingPunct="1">
              <a:lnSpc>
                <a:spcPct val="100000"/>
              </a:lnSpc>
              <a:spcBef>
                <a:spcPct val="50000"/>
              </a:spcBef>
            </a:pPr>
            <a:r>
              <a:rPr lang="en-US" altLang="en-US"/>
              <a:t>Bob</a:t>
            </a:r>
          </a:p>
        </p:txBody>
      </p:sp>
      <p:sp>
        <p:nvSpPr>
          <p:cNvPr id="164906" name="Rectangle 42"/>
          <p:cNvSpPr>
            <a:spLocks noChangeArrowheads="1"/>
          </p:cNvSpPr>
          <p:nvPr/>
        </p:nvSpPr>
        <p:spPr bwMode="auto">
          <a:xfrm>
            <a:off x="700088" y="3825875"/>
            <a:ext cx="900112"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lnSpc>
                <a:spcPct val="95000"/>
              </a:lnSpc>
              <a:spcBef>
                <a:spcPct val="20000"/>
              </a:spcBef>
              <a:defRPr sz="2400">
                <a:solidFill>
                  <a:schemeClr val="tx1"/>
                </a:solidFill>
                <a:latin typeface="Times New Roman" panose="02020603050405020304" pitchFamily="18" charset="0"/>
              </a:defRPr>
            </a:lvl1pPr>
            <a:lvl2pPr marL="742950" indent="-285750" algn="l" eaLnBrk="0" hangingPunct="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gn="l" eaLnBrk="0" hangingPunct="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gn="ctr" eaLnBrk="1" hangingPunct="1">
              <a:lnSpc>
                <a:spcPct val="100000"/>
              </a:lnSpc>
              <a:spcBef>
                <a:spcPct val="50000"/>
              </a:spcBef>
            </a:pPr>
            <a:r>
              <a:rPr lang="en-US" altLang="en-US"/>
              <a:t>Alice</a:t>
            </a:r>
            <a:endParaRPr lang="en-US" altLang="en-US">
              <a:solidFill>
                <a:srgbClr val="FF0000"/>
              </a:solidFill>
            </a:endParaRPr>
          </a:p>
        </p:txBody>
      </p:sp>
      <p:sp>
        <p:nvSpPr>
          <p:cNvPr id="164907" name="Rectangle 43"/>
          <p:cNvSpPr>
            <a:spLocks noChangeArrowheads="1"/>
          </p:cNvSpPr>
          <p:nvPr/>
        </p:nvSpPr>
        <p:spPr bwMode="auto">
          <a:xfrm>
            <a:off x="735013" y="4664075"/>
            <a:ext cx="788987"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lnSpc>
                <a:spcPct val="95000"/>
              </a:lnSpc>
              <a:spcBef>
                <a:spcPct val="20000"/>
              </a:spcBef>
              <a:defRPr sz="2400">
                <a:solidFill>
                  <a:schemeClr val="tx1"/>
                </a:solidFill>
                <a:latin typeface="Times New Roman" panose="02020603050405020304" pitchFamily="18" charset="0"/>
              </a:defRPr>
            </a:lvl1pPr>
            <a:lvl2pPr marL="742950" indent="-285750" algn="l" eaLnBrk="0" hangingPunct="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gn="l" eaLnBrk="0" hangingPunct="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gn="ctr" eaLnBrk="1" hangingPunct="1">
              <a:lnSpc>
                <a:spcPct val="100000"/>
              </a:lnSpc>
              <a:spcBef>
                <a:spcPct val="50000"/>
              </a:spcBef>
            </a:pPr>
            <a:r>
              <a:rPr lang="en-US" altLang="en-US"/>
              <a:t>Sam</a:t>
            </a:r>
          </a:p>
        </p:txBody>
      </p:sp>
      <p:sp>
        <p:nvSpPr>
          <p:cNvPr id="164909" name="Rectangle 45"/>
          <p:cNvSpPr>
            <a:spLocks noChangeArrowheads="1"/>
          </p:cNvSpPr>
          <p:nvPr/>
        </p:nvSpPr>
        <p:spPr bwMode="auto">
          <a:xfrm>
            <a:off x="0" y="5295900"/>
            <a:ext cx="1487488"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lnSpc>
                <a:spcPct val="95000"/>
              </a:lnSpc>
              <a:spcBef>
                <a:spcPct val="20000"/>
              </a:spcBef>
              <a:defRPr sz="2400">
                <a:solidFill>
                  <a:schemeClr val="tx1"/>
                </a:solidFill>
                <a:latin typeface="Times New Roman" panose="02020603050405020304" pitchFamily="18" charset="0"/>
              </a:defRPr>
            </a:lvl1pPr>
            <a:lvl2pPr marL="742950" indent="-285750" algn="l" eaLnBrk="0" hangingPunct="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gn="l" eaLnBrk="0" hangingPunct="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gn="r" eaLnBrk="1" hangingPunct="1">
              <a:lnSpc>
                <a:spcPct val="100000"/>
              </a:lnSpc>
              <a:spcBef>
                <a:spcPct val="50000"/>
              </a:spcBef>
            </a:pPr>
            <a:r>
              <a:rPr lang="en-US" altLang="en-US" sz="2000"/>
              <a:t>Accounting</a:t>
            </a:r>
          </a:p>
          <a:p>
            <a:pPr algn="r" eaLnBrk="1" hangingPunct="1">
              <a:lnSpc>
                <a:spcPct val="100000"/>
              </a:lnSpc>
              <a:spcBef>
                <a:spcPct val="50000"/>
              </a:spcBef>
            </a:pPr>
            <a:r>
              <a:rPr lang="en-US" altLang="en-US" sz="2000"/>
              <a:t>program</a:t>
            </a:r>
          </a:p>
        </p:txBody>
      </p:sp>
      <p:sp>
        <p:nvSpPr>
          <p:cNvPr id="7213" name="Date Placeholder 1"/>
          <p:cNvSpPr>
            <a:spLocks noGrp="1"/>
          </p:cNvSpPr>
          <p:nvPr>
            <p:ph type="dt" sz="quarter" idx="10"/>
          </p:nvPr>
        </p:nvSpPr>
        <p:spPr>
          <a:noFill/>
        </p:spPr>
        <p:txBody>
          <a:bodyPr/>
          <a:lstStyle>
            <a:lvl1pPr algn="l" eaLnBrk="0" hangingPunct="0">
              <a:lnSpc>
                <a:spcPct val="95000"/>
              </a:lnSpc>
              <a:spcBef>
                <a:spcPct val="20000"/>
              </a:spcBef>
              <a:defRPr sz="2400">
                <a:solidFill>
                  <a:schemeClr val="tx1"/>
                </a:solidFill>
                <a:latin typeface="Times New Roman" panose="02020603050405020304" pitchFamily="18" charset="0"/>
              </a:defRPr>
            </a:lvl1pPr>
            <a:lvl2pPr marL="742950" indent="-285750" algn="l" eaLnBrk="0" hangingPunct="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gn="l" eaLnBrk="0" hangingPunct="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eaLnBrk="1" hangingPunct="1">
              <a:lnSpc>
                <a:spcPct val="100000"/>
              </a:lnSpc>
              <a:spcBef>
                <a:spcPct val="0"/>
              </a:spcBef>
            </a:pPr>
            <a:r>
              <a:rPr lang="en-US" altLang="zh-CN" sz="1600">
                <a:ea typeface="宋体" panose="02010600030101010101" pitchFamily="2" charset="-122"/>
              </a:rPr>
              <a:t>CS7900, Meilin Liu </a:t>
            </a:r>
          </a:p>
        </p:txBody>
      </p:sp>
      <p:sp>
        <p:nvSpPr>
          <p:cNvPr id="7214" name="Slide Number Placeholder 2"/>
          <p:cNvSpPr>
            <a:spLocks noGrp="1"/>
          </p:cNvSpPr>
          <p:nvPr>
            <p:ph type="sldNum" sz="quarter" idx="12"/>
          </p:nvPr>
        </p:nvSpPr>
        <p:spPr>
          <a:noFill/>
        </p:spPr>
        <p:txBody>
          <a:bodyPr/>
          <a:lstStyle>
            <a:lvl1pPr algn="l" eaLnBrk="0" hangingPunct="0">
              <a:lnSpc>
                <a:spcPct val="95000"/>
              </a:lnSpc>
              <a:spcBef>
                <a:spcPct val="20000"/>
              </a:spcBef>
              <a:defRPr sz="2400">
                <a:solidFill>
                  <a:schemeClr val="tx1"/>
                </a:solidFill>
                <a:latin typeface="Times New Roman" panose="02020603050405020304" pitchFamily="18" charset="0"/>
              </a:defRPr>
            </a:lvl1pPr>
            <a:lvl2pPr marL="742950" indent="-285750" algn="l" eaLnBrk="0" hangingPunct="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gn="l" eaLnBrk="0" hangingPunct="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gn="r" eaLnBrk="1" hangingPunct="1">
              <a:lnSpc>
                <a:spcPct val="100000"/>
              </a:lnSpc>
              <a:spcBef>
                <a:spcPct val="0"/>
              </a:spcBef>
            </a:pPr>
            <a:fld id="{091D3277-5144-40DB-9B41-DC570AEFE1F9}" type="slidenum">
              <a:rPr lang="zh-CN" altLang="en-US" sz="1400"/>
              <a:pPr algn="r" eaLnBrk="1" hangingPunct="1">
                <a:lnSpc>
                  <a:spcPct val="100000"/>
                </a:lnSpc>
                <a:spcBef>
                  <a:spcPct val="0"/>
                </a:spcBef>
              </a:pPr>
              <a:t>38</a:t>
            </a:fld>
            <a:endParaRPr lang="en-US" altLang="zh-CN" sz="1400"/>
          </a:p>
        </p:txBody>
      </p:sp>
    </p:spTree>
    <p:extLst>
      <p:ext uri="{BB962C8B-B14F-4D97-AF65-F5344CB8AC3E}">
        <p14:creationId xmlns:p14="http://schemas.microsoft.com/office/powerpoint/2010/main" val="141748598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64867">
                                            <p:txEl>
                                              <p:pRg st="0" end="0"/>
                                            </p:txEl>
                                          </p:spTgt>
                                        </p:tgtEl>
                                        <p:attrNameLst>
                                          <p:attrName>style.visibility</p:attrName>
                                        </p:attrNameLst>
                                      </p:cBhvr>
                                      <p:to>
                                        <p:strVal val="visible"/>
                                      </p:to>
                                    </p:set>
                                    <p:animEffect transition="in" filter="blinds(horizontal)">
                                      <p:cBhvr>
                                        <p:cTn id="7" dur="500"/>
                                        <p:tgtEl>
                                          <p:spTgt spid="16486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64867">
                                            <p:txEl>
                                              <p:pRg st="1" end="1"/>
                                            </p:txEl>
                                          </p:spTgt>
                                        </p:tgtEl>
                                        <p:attrNameLst>
                                          <p:attrName>style.visibility</p:attrName>
                                        </p:attrNameLst>
                                      </p:cBhvr>
                                      <p:to>
                                        <p:strVal val="visible"/>
                                      </p:to>
                                    </p:set>
                                    <p:animEffect transition="in" filter="blinds(horizontal)">
                                      <p:cBhvr>
                                        <p:cTn id="12" dur="500"/>
                                        <p:tgtEl>
                                          <p:spTgt spid="164867">
                                            <p:txEl>
                                              <p:pRg st="1" end="1"/>
                                            </p:txEl>
                                          </p:spTgt>
                                        </p:tgtEl>
                                      </p:cBhvr>
                                    </p:animEffect>
                                  </p:childTnLst>
                                </p:cTn>
                              </p:par>
                            </p:childTnLst>
                          </p:cTn>
                        </p:par>
                        <p:par>
                          <p:cTn id="13" fill="hold" nodeType="afterGroup">
                            <p:stCondLst>
                              <p:cond delay="500"/>
                            </p:stCondLst>
                            <p:childTnLst>
                              <p:par>
                                <p:cTn id="14" presetID="1" presetClass="entr" presetSubtype="0" fill="hold" nodeType="afterEffect">
                                  <p:stCondLst>
                                    <p:cond delay="0"/>
                                  </p:stCondLst>
                                  <p:childTnLst>
                                    <p:set>
                                      <p:cBhvr>
                                        <p:cTn id="15" dur="1" fill="hold">
                                          <p:stCondLst>
                                            <p:cond delay="499"/>
                                          </p:stCondLst>
                                        </p:cTn>
                                        <p:tgtEl>
                                          <p:spTgt spid="164868"/>
                                        </p:tgtEl>
                                        <p:attrNameLst>
                                          <p:attrName>style.visibility</p:attrName>
                                        </p:attrNameLst>
                                      </p:cBhvr>
                                      <p:to>
                                        <p:strVal val="visible"/>
                                      </p:to>
                                    </p:set>
                                  </p:childTnLst>
                                </p:cTn>
                              </p:par>
                            </p:childTnLst>
                          </p:cTn>
                        </p:par>
                        <p:par>
                          <p:cTn id="16" fill="hold" nodeType="afterGroup">
                            <p:stCondLst>
                              <p:cond delay="1000"/>
                            </p:stCondLst>
                            <p:childTnLst>
                              <p:par>
                                <p:cTn id="17" presetID="1" presetClass="entr" presetSubtype="0" fill="hold" grpId="0" nodeType="afterEffect">
                                  <p:stCondLst>
                                    <p:cond delay="0"/>
                                  </p:stCondLst>
                                  <p:childTnLst>
                                    <p:set>
                                      <p:cBhvr>
                                        <p:cTn id="18" dur="1" fill="hold">
                                          <p:stCondLst>
                                            <p:cond delay="499"/>
                                          </p:stCondLst>
                                        </p:cTn>
                                        <p:tgtEl>
                                          <p:spTgt spid="164900"/>
                                        </p:tgtEl>
                                        <p:attrNameLst>
                                          <p:attrName>style.visibility</p:attrName>
                                        </p:attrNameLst>
                                      </p:cBhvr>
                                      <p:to>
                                        <p:strVal val="visible"/>
                                      </p:to>
                                    </p:set>
                                  </p:childTnLst>
                                </p:cTn>
                              </p:par>
                            </p:childTnLst>
                          </p:cTn>
                        </p:par>
                        <p:par>
                          <p:cTn id="19" fill="hold" nodeType="afterGroup">
                            <p:stCondLst>
                              <p:cond delay="1500"/>
                            </p:stCondLst>
                            <p:childTnLst>
                              <p:par>
                                <p:cTn id="20" presetID="1" presetClass="entr" presetSubtype="0" fill="hold" grpId="0" nodeType="afterEffect">
                                  <p:stCondLst>
                                    <p:cond delay="0"/>
                                  </p:stCondLst>
                                  <p:childTnLst>
                                    <p:set>
                                      <p:cBhvr>
                                        <p:cTn id="21" dur="1" fill="hold">
                                          <p:stCondLst>
                                            <p:cond delay="499"/>
                                          </p:stCondLst>
                                        </p:cTn>
                                        <p:tgtEl>
                                          <p:spTgt spid="164901"/>
                                        </p:tgtEl>
                                        <p:attrNameLst>
                                          <p:attrName>style.visibility</p:attrName>
                                        </p:attrNameLst>
                                      </p:cBhvr>
                                      <p:to>
                                        <p:strVal val="visible"/>
                                      </p:to>
                                    </p:set>
                                  </p:childTnLst>
                                </p:cTn>
                              </p:par>
                            </p:childTnLst>
                          </p:cTn>
                        </p:par>
                        <p:par>
                          <p:cTn id="22" fill="hold" nodeType="afterGroup">
                            <p:stCondLst>
                              <p:cond delay="2000"/>
                            </p:stCondLst>
                            <p:childTnLst>
                              <p:par>
                                <p:cTn id="23" presetID="1" presetClass="entr" presetSubtype="0" fill="hold" grpId="0" nodeType="afterEffect">
                                  <p:stCondLst>
                                    <p:cond delay="0"/>
                                  </p:stCondLst>
                                  <p:childTnLst>
                                    <p:set>
                                      <p:cBhvr>
                                        <p:cTn id="24" dur="1" fill="hold">
                                          <p:stCondLst>
                                            <p:cond delay="499"/>
                                          </p:stCondLst>
                                        </p:cTn>
                                        <p:tgtEl>
                                          <p:spTgt spid="164902"/>
                                        </p:tgtEl>
                                        <p:attrNameLst>
                                          <p:attrName>style.visibility</p:attrName>
                                        </p:attrNameLst>
                                      </p:cBhvr>
                                      <p:to>
                                        <p:strVal val="visible"/>
                                      </p:to>
                                    </p:set>
                                  </p:childTnLst>
                                </p:cTn>
                              </p:par>
                            </p:childTnLst>
                          </p:cTn>
                        </p:par>
                        <p:par>
                          <p:cTn id="25" fill="hold" nodeType="afterGroup">
                            <p:stCondLst>
                              <p:cond delay="2500"/>
                            </p:stCondLst>
                            <p:childTnLst>
                              <p:par>
                                <p:cTn id="26" presetID="1" presetClass="entr" presetSubtype="0" fill="hold" grpId="0" nodeType="afterEffect">
                                  <p:stCondLst>
                                    <p:cond delay="0"/>
                                  </p:stCondLst>
                                  <p:childTnLst>
                                    <p:set>
                                      <p:cBhvr>
                                        <p:cTn id="27" dur="1" fill="hold">
                                          <p:stCondLst>
                                            <p:cond delay="499"/>
                                          </p:stCondLst>
                                        </p:cTn>
                                        <p:tgtEl>
                                          <p:spTgt spid="164903"/>
                                        </p:tgtEl>
                                        <p:attrNameLst>
                                          <p:attrName>style.visibility</p:attrName>
                                        </p:attrNameLst>
                                      </p:cBhvr>
                                      <p:to>
                                        <p:strVal val="visible"/>
                                      </p:to>
                                    </p:set>
                                  </p:childTnLst>
                                </p:cTn>
                              </p:par>
                            </p:childTnLst>
                          </p:cTn>
                        </p:par>
                        <p:par>
                          <p:cTn id="28" fill="hold" nodeType="afterGroup">
                            <p:stCondLst>
                              <p:cond delay="3000"/>
                            </p:stCondLst>
                            <p:childTnLst>
                              <p:par>
                                <p:cTn id="29" presetID="1" presetClass="entr" presetSubtype="0" fill="hold" grpId="0" nodeType="afterEffect">
                                  <p:stCondLst>
                                    <p:cond delay="0"/>
                                  </p:stCondLst>
                                  <p:childTnLst>
                                    <p:set>
                                      <p:cBhvr>
                                        <p:cTn id="30" dur="1" fill="hold">
                                          <p:stCondLst>
                                            <p:cond delay="499"/>
                                          </p:stCondLst>
                                        </p:cTn>
                                        <p:tgtEl>
                                          <p:spTgt spid="164904"/>
                                        </p:tgtEl>
                                        <p:attrNameLst>
                                          <p:attrName>style.visibility</p:attrName>
                                        </p:attrNameLst>
                                      </p:cBhvr>
                                      <p:to>
                                        <p:strVal val="visible"/>
                                      </p:to>
                                    </p:set>
                                  </p:childTnLst>
                                </p:cTn>
                              </p:par>
                            </p:childTnLst>
                          </p:cTn>
                        </p:par>
                        <p:par>
                          <p:cTn id="31" fill="hold" nodeType="afterGroup">
                            <p:stCondLst>
                              <p:cond delay="3500"/>
                            </p:stCondLst>
                            <p:childTnLst>
                              <p:par>
                                <p:cTn id="32" presetID="1" presetClass="entr" presetSubtype="0" fill="hold" grpId="0" nodeType="afterEffect">
                                  <p:stCondLst>
                                    <p:cond delay="0"/>
                                  </p:stCondLst>
                                  <p:childTnLst>
                                    <p:set>
                                      <p:cBhvr>
                                        <p:cTn id="33" dur="1" fill="hold">
                                          <p:stCondLst>
                                            <p:cond delay="499"/>
                                          </p:stCondLst>
                                        </p:cTn>
                                        <p:tgtEl>
                                          <p:spTgt spid="164905"/>
                                        </p:tgtEl>
                                        <p:attrNameLst>
                                          <p:attrName>style.visibility</p:attrName>
                                        </p:attrNameLst>
                                      </p:cBhvr>
                                      <p:to>
                                        <p:strVal val="visible"/>
                                      </p:to>
                                    </p:set>
                                  </p:childTnLst>
                                </p:cTn>
                              </p:par>
                            </p:childTnLst>
                          </p:cTn>
                        </p:par>
                        <p:par>
                          <p:cTn id="34" fill="hold" nodeType="afterGroup">
                            <p:stCondLst>
                              <p:cond delay="4000"/>
                            </p:stCondLst>
                            <p:childTnLst>
                              <p:par>
                                <p:cTn id="35" presetID="1" presetClass="entr" presetSubtype="0" fill="hold" grpId="0" nodeType="afterEffect">
                                  <p:stCondLst>
                                    <p:cond delay="0"/>
                                  </p:stCondLst>
                                  <p:childTnLst>
                                    <p:set>
                                      <p:cBhvr>
                                        <p:cTn id="36" dur="1" fill="hold">
                                          <p:stCondLst>
                                            <p:cond delay="499"/>
                                          </p:stCondLst>
                                        </p:cTn>
                                        <p:tgtEl>
                                          <p:spTgt spid="164906"/>
                                        </p:tgtEl>
                                        <p:attrNameLst>
                                          <p:attrName>style.visibility</p:attrName>
                                        </p:attrNameLst>
                                      </p:cBhvr>
                                      <p:to>
                                        <p:strVal val="visible"/>
                                      </p:to>
                                    </p:set>
                                  </p:childTnLst>
                                </p:cTn>
                              </p:par>
                            </p:childTnLst>
                          </p:cTn>
                        </p:par>
                        <p:par>
                          <p:cTn id="37" fill="hold" nodeType="afterGroup">
                            <p:stCondLst>
                              <p:cond delay="4500"/>
                            </p:stCondLst>
                            <p:childTnLst>
                              <p:par>
                                <p:cTn id="38" presetID="1" presetClass="entr" presetSubtype="0" fill="hold" grpId="0" nodeType="afterEffect">
                                  <p:stCondLst>
                                    <p:cond delay="0"/>
                                  </p:stCondLst>
                                  <p:childTnLst>
                                    <p:set>
                                      <p:cBhvr>
                                        <p:cTn id="39" dur="1" fill="hold">
                                          <p:stCondLst>
                                            <p:cond delay="499"/>
                                          </p:stCondLst>
                                        </p:cTn>
                                        <p:tgtEl>
                                          <p:spTgt spid="164907"/>
                                        </p:tgtEl>
                                        <p:attrNameLst>
                                          <p:attrName>style.visibility</p:attrName>
                                        </p:attrNameLst>
                                      </p:cBhvr>
                                      <p:to>
                                        <p:strVal val="visible"/>
                                      </p:to>
                                    </p:set>
                                  </p:childTnLst>
                                </p:cTn>
                              </p:par>
                            </p:childTnLst>
                          </p:cTn>
                        </p:par>
                        <p:par>
                          <p:cTn id="40" fill="hold" nodeType="afterGroup">
                            <p:stCondLst>
                              <p:cond delay="5000"/>
                            </p:stCondLst>
                            <p:childTnLst>
                              <p:par>
                                <p:cTn id="41" presetID="1" presetClass="entr" presetSubtype="0" fill="hold" grpId="0" nodeType="afterEffect">
                                  <p:stCondLst>
                                    <p:cond delay="0"/>
                                  </p:stCondLst>
                                  <p:childTnLst>
                                    <p:set>
                                      <p:cBhvr>
                                        <p:cTn id="42" dur="1" fill="hold">
                                          <p:stCondLst>
                                            <p:cond delay="499"/>
                                          </p:stCondLst>
                                        </p:cTn>
                                        <p:tgtEl>
                                          <p:spTgt spid="16490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867" grpId="0" build="p" autoUpdateAnimBg="0"/>
      <p:bldP spid="164900" grpId="0" autoUpdateAnimBg="0"/>
      <p:bldP spid="164901" grpId="0" autoUpdateAnimBg="0"/>
      <p:bldP spid="164902" grpId="0" autoUpdateAnimBg="0"/>
      <p:bldP spid="164903" grpId="0" autoUpdateAnimBg="0"/>
      <p:bldP spid="164904" grpId="0" autoUpdateAnimBg="0"/>
      <p:bldP spid="164905" grpId="0" autoUpdateAnimBg="0"/>
      <p:bldP spid="164906" grpId="0" autoUpdateAnimBg="0"/>
      <p:bldP spid="164907" grpId="0" autoUpdateAnimBg="0"/>
      <p:bldP spid="164909" grpId="0"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609600" y="304800"/>
            <a:ext cx="7848600" cy="685800"/>
          </a:xfrm>
        </p:spPr>
        <p:txBody>
          <a:bodyPr>
            <a:normAutofit fontScale="90000"/>
          </a:bodyPr>
          <a:lstStyle/>
          <a:p>
            <a:pPr eaLnBrk="1" hangingPunct="1"/>
            <a:r>
              <a:rPr lang="en-US" altLang="en-US"/>
              <a:t>Access Control Lists (ACLs)</a:t>
            </a:r>
          </a:p>
        </p:txBody>
      </p:sp>
      <p:sp>
        <p:nvSpPr>
          <p:cNvPr id="164867" name="Rectangle 3"/>
          <p:cNvSpPr>
            <a:spLocks noGrp="1" noChangeArrowheads="1"/>
          </p:cNvSpPr>
          <p:nvPr>
            <p:ph type="body" idx="1"/>
          </p:nvPr>
        </p:nvSpPr>
        <p:spPr>
          <a:xfrm>
            <a:off x="685800" y="1066800"/>
            <a:ext cx="7848600" cy="1143000"/>
          </a:xfrm>
        </p:spPr>
        <p:txBody>
          <a:bodyPr/>
          <a:lstStyle/>
          <a:p>
            <a:pPr eaLnBrk="1" hangingPunct="1">
              <a:lnSpc>
                <a:spcPct val="90000"/>
              </a:lnSpc>
            </a:pPr>
            <a:r>
              <a:rPr lang="en-US" altLang="en-US" sz="2800"/>
              <a:t>ACL: store access control matrix by </a:t>
            </a:r>
            <a:r>
              <a:rPr lang="en-US" altLang="en-US" sz="2800" b="1">
                <a:solidFill>
                  <a:srgbClr val="C00000"/>
                </a:solidFill>
              </a:rPr>
              <a:t>column</a:t>
            </a:r>
            <a:endParaRPr lang="en-US" altLang="en-US" sz="2800">
              <a:solidFill>
                <a:srgbClr val="C00000"/>
              </a:solidFill>
            </a:endParaRPr>
          </a:p>
          <a:p>
            <a:pPr eaLnBrk="1" hangingPunct="1">
              <a:lnSpc>
                <a:spcPct val="90000"/>
              </a:lnSpc>
            </a:pPr>
            <a:r>
              <a:rPr lang="en-US" altLang="en-US" sz="2800"/>
              <a:t>Example: ACL for </a:t>
            </a:r>
            <a:r>
              <a:rPr lang="en-US" altLang="en-US" sz="2800" b="1">
                <a:solidFill>
                  <a:srgbClr val="C00000"/>
                </a:solidFill>
              </a:rPr>
              <a:t>insurance data</a:t>
            </a:r>
            <a:r>
              <a:rPr lang="en-US" altLang="en-US" sz="2800">
                <a:solidFill>
                  <a:srgbClr val="C00000"/>
                </a:solidFill>
              </a:rPr>
              <a:t> </a:t>
            </a:r>
            <a:r>
              <a:rPr lang="en-US" altLang="en-US" sz="2800"/>
              <a:t>is in </a:t>
            </a:r>
            <a:r>
              <a:rPr lang="en-US" altLang="en-US" sz="2800" b="1">
                <a:solidFill>
                  <a:schemeClr val="accent2"/>
                </a:solidFill>
              </a:rPr>
              <a:t>blue</a:t>
            </a:r>
            <a:endParaRPr lang="en-US" altLang="en-US" sz="2800">
              <a:solidFill>
                <a:schemeClr val="accent2"/>
              </a:solidFill>
            </a:endParaRPr>
          </a:p>
        </p:txBody>
      </p:sp>
      <p:sp>
        <p:nvSpPr>
          <p:cNvPr id="164903" name="Rectangle 39"/>
          <p:cNvSpPr>
            <a:spLocks noChangeArrowheads="1"/>
          </p:cNvSpPr>
          <p:nvPr/>
        </p:nvSpPr>
        <p:spPr bwMode="auto">
          <a:xfrm>
            <a:off x="1028700" y="2738438"/>
            <a:ext cx="72390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eaLnBrk="0" hangingPunct="0">
              <a:lnSpc>
                <a:spcPct val="95000"/>
              </a:lnSpc>
              <a:spcBef>
                <a:spcPct val="20000"/>
              </a:spcBef>
              <a:defRPr sz="2400">
                <a:solidFill>
                  <a:schemeClr val="tx1"/>
                </a:solidFill>
                <a:latin typeface="Times New Roman" panose="02020603050405020304" pitchFamily="18" charset="0"/>
              </a:defRPr>
            </a:lvl1pPr>
            <a:lvl2pPr marL="742950" indent="-285750" algn="l" eaLnBrk="0" hangingPunct="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gn="l" eaLnBrk="0" hangingPunct="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eaLnBrk="1" hangingPunct="1">
              <a:lnSpc>
                <a:spcPct val="100000"/>
              </a:lnSpc>
              <a:spcBef>
                <a:spcPct val="50000"/>
              </a:spcBef>
            </a:pPr>
            <a:r>
              <a:rPr lang="en-US" altLang="en-US" sz="1800" b="1">
                <a:solidFill>
                  <a:schemeClr val="accent2"/>
                </a:solidFill>
              </a:rPr>
              <a:t>(Bob, ---), (Alice, rw), (Sam, rw), (accounting program, rw)</a:t>
            </a:r>
          </a:p>
        </p:txBody>
      </p:sp>
      <p:sp>
        <p:nvSpPr>
          <p:cNvPr id="15" name="Rectangle 39"/>
          <p:cNvSpPr>
            <a:spLocks noChangeArrowheads="1"/>
          </p:cNvSpPr>
          <p:nvPr/>
        </p:nvSpPr>
        <p:spPr bwMode="auto">
          <a:xfrm>
            <a:off x="838200" y="2209800"/>
            <a:ext cx="7239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eaLnBrk="0" hangingPunct="0">
              <a:lnSpc>
                <a:spcPct val="95000"/>
              </a:lnSpc>
              <a:spcBef>
                <a:spcPct val="20000"/>
              </a:spcBef>
              <a:defRPr sz="2400">
                <a:solidFill>
                  <a:schemeClr val="tx1"/>
                </a:solidFill>
                <a:latin typeface="Times New Roman" panose="02020603050405020304" pitchFamily="18" charset="0"/>
              </a:defRPr>
            </a:lvl1pPr>
            <a:lvl2pPr marL="742950" indent="-285750" algn="l" eaLnBrk="0" hangingPunct="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gn="l" eaLnBrk="0" hangingPunct="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eaLnBrk="1" hangingPunct="1">
              <a:lnSpc>
                <a:spcPct val="100000"/>
              </a:lnSpc>
              <a:spcBef>
                <a:spcPct val="50000"/>
              </a:spcBef>
            </a:pPr>
            <a:r>
              <a:rPr lang="en-US" altLang="en-US" sz="1800" b="1">
                <a:solidFill>
                  <a:schemeClr val="accent2"/>
                </a:solidFill>
              </a:rPr>
              <a:t>Insurance data: </a:t>
            </a:r>
          </a:p>
        </p:txBody>
      </p:sp>
      <p:sp>
        <p:nvSpPr>
          <p:cNvPr id="8198" name="Date Placeholder 1"/>
          <p:cNvSpPr>
            <a:spLocks noGrp="1"/>
          </p:cNvSpPr>
          <p:nvPr>
            <p:ph type="dt" sz="quarter" idx="10"/>
          </p:nvPr>
        </p:nvSpPr>
        <p:spPr>
          <a:noFill/>
        </p:spPr>
        <p:txBody>
          <a:bodyPr/>
          <a:lstStyle>
            <a:lvl1pPr algn="l" eaLnBrk="0" hangingPunct="0">
              <a:lnSpc>
                <a:spcPct val="95000"/>
              </a:lnSpc>
              <a:spcBef>
                <a:spcPct val="20000"/>
              </a:spcBef>
              <a:defRPr sz="2400">
                <a:solidFill>
                  <a:schemeClr val="tx1"/>
                </a:solidFill>
                <a:latin typeface="Times New Roman" panose="02020603050405020304" pitchFamily="18" charset="0"/>
              </a:defRPr>
            </a:lvl1pPr>
            <a:lvl2pPr marL="742950" indent="-285750" algn="l" eaLnBrk="0" hangingPunct="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gn="l" eaLnBrk="0" hangingPunct="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eaLnBrk="1" hangingPunct="1">
              <a:lnSpc>
                <a:spcPct val="100000"/>
              </a:lnSpc>
              <a:spcBef>
                <a:spcPct val="0"/>
              </a:spcBef>
            </a:pPr>
            <a:r>
              <a:rPr lang="en-US" altLang="zh-CN" sz="1600">
                <a:ea typeface="宋体" panose="02010600030101010101" pitchFamily="2" charset="-122"/>
              </a:rPr>
              <a:t>CS7900, Meilin Liu </a:t>
            </a:r>
          </a:p>
        </p:txBody>
      </p:sp>
      <p:sp>
        <p:nvSpPr>
          <p:cNvPr id="8199" name="Slide Number Placeholder 2"/>
          <p:cNvSpPr>
            <a:spLocks noGrp="1"/>
          </p:cNvSpPr>
          <p:nvPr>
            <p:ph type="sldNum" sz="quarter" idx="12"/>
          </p:nvPr>
        </p:nvSpPr>
        <p:spPr>
          <a:noFill/>
        </p:spPr>
        <p:txBody>
          <a:bodyPr/>
          <a:lstStyle>
            <a:lvl1pPr algn="l" eaLnBrk="0" hangingPunct="0">
              <a:lnSpc>
                <a:spcPct val="95000"/>
              </a:lnSpc>
              <a:spcBef>
                <a:spcPct val="20000"/>
              </a:spcBef>
              <a:defRPr sz="2400">
                <a:solidFill>
                  <a:schemeClr val="tx1"/>
                </a:solidFill>
                <a:latin typeface="Times New Roman" panose="02020603050405020304" pitchFamily="18" charset="0"/>
              </a:defRPr>
            </a:lvl1pPr>
            <a:lvl2pPr marL="742950" indent="-285750" algn="l" eaLnBrk="0" hangingPunct="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gn="l" eaLnBrk="0" hangingPunct="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gn="r" eaLnBrk="1" hangingPunct="1">
              <a:lnSpc>
                <a:spcPct val="100000"/>
              </a:lnSpc>
              <a:spcBef>
                <a:spcPct val="0"/>
              </a:spcBef>
            </a:pPr>
            <a:fld id="{620E3D2A-EC66-4316-B904-B39F16857D10}" type="slidenum">
              <a:rPr lang="zh-CN" altLang="en-US" sz="1400"/>
              <a:pPr algn="r" eaLnBrk="1" hangingPunct="1">
                <a:lnSpc>
                  <a:spcPct val="100000"/>
                </a:lnSpc>
                <a:spcBef>
                  <a:spcPct val="0"/>
                </a:spcBef>
              </a:pPr>
              <a:t>39</a:t>
            </a:fld>
            <a:endParaRPr lang="en-US" altLang="zh-CN" sz="1400"/>
          </a:p>
        </p:txBody>
      </p:sp>
    </p:spTree>
    <p:extLst>
      <p:ext uri="{BB962C8B-B14F-4D97-AF65-F5344CB8AC3E}">
        <p14:creationId xmlns:p14="http://schemas.microsoft.com/office/powerpoint/2010/main" val="33785579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64867">
                                            <p:txEl>
                                              <p:pRg st="0" end="0"/>
                                            </p:txEl>
                                          </p:spTgt>
                                        </p:tgtEl>
                                        <p:attrNameLst>
                                          <p:attrName>style.visibility</p:attrName>
                                        </p:attrNameLst>
                                      </p:cBhvr>
                                      <p:to>
                                        <p:strVal val="visible"/>
                                      </p:to>
                                    </p:set>
                                    <p:animEffect transition="in" filter="blinds(horizontal)">
                                      <p:cBhvr>
                                        <p:cTn id="7" dur="500"/>
                                        <p:tgtEl>
                                          <p:spTgt spid="16486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64867">
                                            <p:txEl>
                                              <p:pRg st="1" end="1"/>
                                            </p:txEl>
                                          </p:spTgt>
                                        </p:tgtEl>
                                        <p:attrNameLst>
                                          <p:attrName>style.visibility</p:attrName>
                                        </p:attrNameLst>
                                      </p:cBhvr>
                                      <p:to>
                                        <p:strVal val="visible"/>
                                      </p:to>
                                    </p:set>
                                    <p:animEffect transition="in" filter="blinds(horizontal)">
                                      <p:cBhvr>
                                        <p:cTn id="12" dur="500"/>
                                        <p:tgtEl>
                                          <p:spTgt spid="164867">
                                            <p:txEl>
                                              <p:pRg st="1" end="1"/>
                                            </p:txEl>
                                          </p:spTgt>
                                        </p:tgtEl>
                                      </p:cBhvr>
                                    </p:animEffect>
                                  </p:childTnLst>
                                </p:cTn>
                              </p:par>
                            </p:childTnLst>
                          </p:cTn>
                        </p:par>
                        <p:par>
                          <p:cTn id="13" fill="hold" nodeType="afterGroup">
                            <p:stCondLst>
                              <p:cond delay="500"/>
                            </p:stCondLst>
                            <p:childTnLst>
                              <p:par>
                                <p:cTn id="14" presetID="1" presetClass="entr" presetSubtype="0" fill="hold" grpId="0" nodeType="afterEffect">
                                  <p:stCondLst>
                                    <p:cond delay="0"/>
                                  </p:stCondLst>
                                  <p:childTnLst>
                                    <p:set>
                                      <p:cBhvr>
                                        <p:cTn id="15" dur="1" fill="hold">
                                          <p:stCondLst>
                                            <p:cond delay="499"/>
                                          </p:stCondLst>
                                        </p:cTn>
                                        <p:tgtEl>
                                          <p:spTgt spid="164903"/>
                                        </p:tgtEl>
                                        <p:attrNameLst>
                                          <p:attrName>style.visibility</p:attrName>
                                        </p:attrNameLst>
                                      </p:cBhvr>
                                      <p:to>
                                        <p:strVal val="visible"/>
                                      </p:to>
                                    </p:set>
                                  </p:childTnLst>
                                </p:cTn>
                              </p:par>
                            </p:childTnLst>
                          </p:cTn>
                        </p:par>
                        <p:par>
                          <p:cTn id="16" fill="hold" nodeType="afterGroup">
                            <p:stCondLst>
                              <p:cond delay="1000"/>
                            </p:stCondLst>
                            <p:childTnLst>
                              <p:par>
                                <p:cTn id="17" presetID="1" presetClass="entr" presetSubtype="0" fill="hold" grpId="0" nodeType="afterEffect">
                                  <p:stCondLst>
                                    <p:cond delay="0"/>
                                  </p:stCondLst>
                                  <p:childTnLst>
                                    <p:set>
                                      <p:cBhvr>
                                        <p:cTn id="18" dur="1" fill="hold">
                                          <p:stCondLst>
                                            <p:cond delay="499"/>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867" grpId="0" build="p" autoUpdateAnimBg="0"/>
      <p:bldP spid="164903" grpId="0" autoUpdateAnimBg="0"/>
      <p:bldP spid="15" grpId="0"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114"/>
            <a:ext cx="8229600" cy="1143000"/>
          </a:xfrm>
        </p:spPr>
        <p:txBody>
          <a:bodyPr/>
          <a:lstStyle/>
          <a:p>
            <a:r>
              <a:rPr lang="en-US" dirty="0"/>
              <a:t>Access Control List (ACL)</a:t>
            </a:r>
          </a:p>
        </p:txBody>
      </p:sp>
      <p:sp>
        <p:nvSpPr>
          <p:cNvPr id="3" name="Content Placeholder 2"/>
          <p:cNvSpPr>
            <a:spLocks noGrp="1"/>
          </p:cNvSpPr>
          <p:nvPr>
            <p:ph idx="1"/>
          </p:nvPr>
        </p:nvSpPr>
        <p:spPr>
          <a:xfrm>
            <a:off x="457200" y="1025165"/>
            <a:ext cx="8017497" cy="1246696"/>
          </a:xfrm>
        </p:spPr>
        <p:txBody>
          <a:bodyPr/>
          <a:lstStyle/>
          <a:p>
            <a:r>
              <a:rPr lang="en-US" sz="2400" dirty="0">
                <a:latin typeface="Times New Roman" panose="02020603050405020304" pitchFamily="18" charset="0"/>
                <a:cs typeface="Times New Roman" panose="02020603050405020304" pitchFamily="18" charset="0"/>
              </a:rPr>
              <a:t>One list for each object, showing subjects and their access</a:t>
            </a:r>
          </a:p>
          <a:p>
            <a:endParaRPr lang="en-US" dirty="0"/>
          </a:p>
        </p:txBody>
      </p:sp>
      <p:pic>
        <p:nvPicPr>
          <p:cNvPr id="4" name="Picture 3" descr="Screen Shot 2014-09-16 at 9.41.16 A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40703" y="1725243"/>
            <a:ext cx="4233994" cy="4359446"/>
          </a:xfrm>
          <a:prstGeom prst="rect">
            <a:avLst/>
          </a:prstGeom>
        </p:spPr>
      </p:pic>
      <p:sp>
        <p:nvSpPr>
          <p:cNvPr id="5" name="Rectangle 4">
            <a:extLst>
              <a:ext uri="{FF2B5EF4-FFF2-40B4-BE49-F238E27FC236}">
                <a16:creationId xmlns:a16="http://schemas.microsoft.com/office/drawing/2014/main" id="{E64E7E2C-A87A-4303-8043-9794F6C366BF}"/>
              </a:ext>
            </a:extLst>
          </p:cNvPr>
          <p:cNvSpPr/>
          <p:nvPr/>
        </p:nvSpPr>
        <p:spPr>
          <a:xfrm>
            <a:off x="768285" y="5433348"/>
            <a:ext cx="4572000" cy="646331"/>
          </a:xfrm>
          <a:prstGeom prst="rect">
            <a:avLst/>
          </a:prstGeom>
        </p:spPr>
        <p:txBody>
          <a:bodyPr>
            <a:spAutoFit/>
          </a:bodyPr>
          <a:lstStyle/>
          <a:p>
            <a:r>
              <a:rPr lang="en-US" dirty="0">
                <a:latin typeface="Times New Roman" panose="02020603050405020304" pitchFamily="18" charset="0"/>
                <a:cs typeface="Times New Roman" panose="02020603050405020304" pitchFamily="18" charset="0"/>
              </a:rPr>
              <a:t>ORW: </a:t>
            </a:r>
            <a:r>
              <a:rPr lang="en-US" i="1" dirty="0">
                <a:latin typeface="Times New Roman" panose="02020603050405020304" pitchFamily="18" charset="0"/>
                <a:cs typeface="Times New Roman" panose="02020603050405020304" pitchFamily="18" charset="0"/>
              </a:rPr>
              <a:t>read, write, </a:t>
            </a:r>
            <a:r>
              <a:rPr lang="en-US" dirty="0">
                <a:latin typeface="Times New Roman" panose="02020603050405020304" pitchFamily="18" charset="0"/>
                <a:cs typeface="Times New Roman" panose="02020603050405020304" pitchFamily="18" charset="0"/>
              </a:rPr>
              <a:t>and </a:t>
            </a:r>
            <a:r>
              <a:rPr lang="en-US" i="1" dirty="0">
                <a:latin typeface="Times New Roman" panose="02020603050405020304" pitchFamily="18" charset="0"/>
                <a:cs typeface="Times New Roman" panose="02020603050405020304" pitchFamily="18" charset="0"/>
              </a:rPr>
              <a:t>execute </a:t>
            </a:r>
            <a:r>
              <a:rPr lang="en-US" dirty="0">
                <a:latin typeface="Times New Roman" panose="02020603050405020304" pitchFamily="18" charset="0"/>
                <a:cs typeface="Times New Roman" panose="02020603050405020304" pitchFamily="18" charset="0"/>
              </a:rPr>
              <a:t>along with </a:t>
            </a:r>
            <a:r>
              <a:rPr lang="en-US" i="1" dirty="0">
                <a:latin typeface="Times New Roman" panose="02020603050405020304" pitchFamily="18" charset="0"/>
                <a:cs typeface="Times New Roman" panose="02020603050405020304" pitchFamily="18" charset="0"/>
              </a:rPr>
              <a:t>owner</a:t>
            </a:r>
            <a:r>
              <a:rPr lang="en-US" dirty="0">
                <a:latin typeface="Times New Roman" panose="02020603050405020304" pitchFamily="18" charset="0"/>
                <a:cs typeface="Times New Roman" panose="02020603050405020304" pitchFamily="18" charset="0"/>
              </a:rPr>
              <a:t> access</a:t>
            </a:r>
          </a:p>
        </p:txBody>
      </p:sp>
    </p:spTree>
    <p:extLst>
      <p:ext uri="{BB962C8B-B14F-4D97-AF65-F5344CB8AC3E}">
        <p14:creationId xmlns:p14="http://schemas.microsoft.com/office/powerpoint/2010/main" val="5053169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685800" y="152400"/>
            <a:ext cx="7772400" cy="990600"/>
          </a:xfrm>
        </p:spPr>
        <p:txBody>
          <a:bodyPr/>
          <a:lstStyle/>
          <a:p>
            <a:pPr eaLnBrk="1" hangingPunct="1"/>
            <a:r>
              <a:rPr lang="en-US" altLang="en-US"/>
              <a:t>Capabilities (or C-Lists)</a:t>
            </a:r>
          </a:p>
        </p:txBody>
      </p:sp>
      <p:sp>
        <p:nvSpPr>
          <p:cNvPr id="10243" name="Rectangle 3"/>
          <p:cNvSpPr>
            <a:spLocks noGrp="1" noChangeArrowheads="1"/>
          </p:cNvSpPr>
          <p:nvPr>
            <p:ph type="body" idx="1"/>
          </p:nvPr>
        </p:nvSpPr>
        <p:spPr>
          <a:xfrm>
            <a:off x="685800" y="1066800"/>
            <a:ext cx="7772400" cy="1143000"/>
          </a:xfrm>
        </p:spPr>
        <p:txBody>
          <a:bodyPr/>
          <a:lstStyle/>
          <a:p>
            <a:pPr eaLnBrk="1" hangingPunct="1">
              <a:lnSpc>
                <a:spcPct val="90000"/>
              </a:lnSpc>
            </a:pPr>
            <a:r>
              <a:rPr lang="en-US" altLang="en-US" sz="2800"/>
              <a:t>Store access control matrix by </a:t>
            </a:r>
            <a:r>
              <a:rPr lang="en-US" altLang="en-US" sz="2800" b="1">
                <a:solidFill>
                  <a:srgbClr val="FF0000"/>
                </a:solidFill>
              </a:rPr>
              <a:t>row</a:t>
            </a:r>
            <a:endParaRPr lang="en-US" altLang="en-US" sz="2800"/>
          </a:p>
          <a:p>
            <a:pPr eaLnBrk="1" hangingPunct="1">
              <a:lnSpc>
                <a:spcPct val="90000"/>
              </a:lnSpc>
            </a:pPr>
            <a:r>
              <a:rPr lang="en-US" altLang="en-US" sz="2800"/>
              <a:t>Example: Capability for </a:t>
            </a:r>
            <a:r>
              <a:rPr lang="en-US" altLang="en-US" sz="2800" b="1">
                <a:solidFill>
                  <a:srgbClr val="FF0000"/>
                </a:solidFill>
              </a:rPr>
              <a:t>Alice</a:t>
            </a:r>
            <a:r>
              <a:rPr lang="en-US" altLang="en-US" sz="2800"/>
              <a:t> is in </a:t>
            </a:r>
            <a:r>
              <a:rPr lang="en-US" altLang="en-US" sz="2800" b="1">
                <a:solidFill>
                  <a:srgbClr val="FF0000"/>
                </a:solidFill>
              </a:rPr>
              <a:t>red</a:t>
            </a:r>
            <a:endParaRPr lang="en-US" altLang="en-US" sz="2800"/>
          </a:p>
        </p:txBody>
      </p:sp>
      <p:graphicFrame>
        <p:nvGraphicFramePr>
          <p:cNvPr id="165892" name="Group 4"/>
          <p:cNvGraphicFramePr>
            <a:graphicFrameLocks noGrp="1"/>
          </p:cNvGraphicFramePr>
          <p:nvPr/>
        </p:nvGraphicFramePr>
        <p:xfrm>
          <a:off x="1600200" y="2895600"/>
          <a:ext cx="6324600" cy="3200400"/>
        </p:xfrm>
        <a:graphic>
          <a:graphicData uri="http://schemas.openxmlformats.org/drawingml/2006/table">
            <a:tbl>
              <a:tblPr/>
              <a:tblGrid>
                <a:gridCol w="1265238">
                  <a:extLst>
                    <a:ext uri="{9D8B030D-6E8A-4147-A177-3AD203B41FA5}">
                      <a16:colId xmlns:a16="http://schemas.microsoft.com/office/drawing/2014/main" val="20000"/>
                    </a:ext>
                  </a:extLst>
                </a:gridCol>
                <a:gridCol w="1265237">
                  <a:extLst>
                    <a:ext uri="{9D8B030D-6E8A-4147-A177-3AD203B41FA5}">
                      <a16:colId xmlns:a16="http://schemas.microsoft.com/office/drawing/2014/main" val="20001"/>
                    </a:ext>
                  </a:extLst>
                </a:gridCol>
                <a:gridCol w="1263650">
                  <a:extLst>
                    <a:ext uri="{9D8B030D-6E8A-4147-A177-3AD203B41FA5}">
                      <a16:colId xmlns:a16="http://schemas.microsoft.com/office/drawing/2014/main" val="20002"/>
                    </a:ext>
                  </a:extLst>
                </a:gridCol>
                <a:gridCol w="1265238">
                  <a:extLst>
                    <a:ext uri="{9D8B030D-6E8A-4147-A177-3AD203B41FA5}">
                      <a16:colId xmlns:a16="http://schemas.microsoft.com/office/drawing/2014/main" val="20003"/>
                    </a:ext>
                  </a:extLst>
                </a:gridCol>
                <a:gridCol w="1265237">
                  <a:extLst>
                    <a:ext uri="{9D8B030D-6E8A-4147-A177-3AD203B41FA5}">
                      <a16:colId xmlns:a16="http://schemas.microsoft.com/office/drawing/2014/main" val="20004"/>
                    </a:ext>
                  </a:extLst>
                </a:gridCol>
              </a:tblGrid>
              <a:tr h="800100">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Comic Sans MS" charset="0"/>
                        </a:rPr>
                        <a:t>rx</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Comic Sans MS" charset="0"/>
                        </a:rPr>
                        <a:t>rx</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Comic Sans MS" charset="0"/>
                        </a:rPr>
                        <a:t>r</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Comic Sans MS" charset="0"/>
                        </a:rPr>
                        <a:t>---</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Comic Sans MS" charset="0"/>
                        </a:rPr>
                        <a:t>---</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800100">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rgbClr val="FF0000"/>
                          </a:solidFill>
                          <a:effectLst/>
                          <a:latin typeface="Comic Sans MS" charset="0"/>
                        </a:rPr>
                        <a:t>rx</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rgbClr val="FF0000"/>
                          </a:solidFill>
                          <a:effectLst/>
                          <a:latin typeface="Comic Sans MS" charset="0"/>
                        </a:rPr>
                        <a:t>rx</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rgbClr val="FF0000"/>
                          </a:solidFill>
                          <a:effectLst/>
                          <a:latin typeface="Comic Sans MS" charset="0"/>
                        </a:rPr>
                        <a:t>r</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rgbClr val="FF0000"/>
                          </a:solidFill>
                          <a:effectLst/>
                          <a:latin typeface="Comic Sans MS" charset="0"/>
                        </a:rPr>
                        <a:t>rw</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rgbClr val="FF0000"/>
                          </a:solidFill>
                          <a:effectLst/>
                          <a:latin typeface="Comic Sans MS" charset="0"/>
                        </a:rPr>
                        <a:t>rw</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800100">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Comic Sans MS" charset="0"/>
                        </a:rPr>
                        <a:t>rwx</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Comic Sans MS" charset="0"/>
                        </a:rPr>
                        <a:t>rwx</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Comic Sans MS" charset="0"/>
                        </a:rPr>
                        <a:t>r</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Comic Sans MS" charset="0"/>
                        </a:rPr>
                        <a:t>rw</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Comic Sans MS" charset="0"/>
                        </a:rPr>
                        <a:t>rw</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800100">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Comic Sans MS" charset="0"/>
                        </a:rPr>
                        <a:t>rx</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Comic Sans MS" charset="0"/>
                        </a:rPr>
                        <a:t>rx</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Comic Sans MS" charset="0"/>
                        </a:rPr>
                        <a:t>rw</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Comic Sans MS" charset="0"/>
                        </a:rPr>
                        <a:t>rw</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Comic Sans MS" charset="0"/>
                        </a:rPr>
                        <a:t>rw</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165924" name="Rectangle 36"/>
          <p:cNvSpPr>
            <a:spLocks noChangeArrowheads="1"/>
          </p:cNvSpPr>
          <p:nvPr/>
        </p:nvSpPr>
        <p:spPr bwMode="auto">
          <a:xfrm>
            <a:off x="1905000" y="2378075"/>
            <a:ext cx="6381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lnSpc>
                <a:spcPct val="95000"/>
              </a:lnSpc>
              <a:spcBef>
                <a:spcPct val="20000"/>
              </a:spcBef>
              <a:defRPr sz="2400">
                <a:solidFill>
                  <a:schemeClr val="tx1"/>
                </a:solidFill>
                <a:latin typeface="Times New Roman" panose="02020603050405020304" pitchFamily="18" charset="0"/>
              </a:defRPr>
            </a:lvl1pPr>
            <a:lvl2pPr marL="742950" indent="-285750" algn="l" eaLnBrk="0" hangingPunct="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gn="l" eaLnBrk="0" hangingPunct="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gn="ctr" eaLnBrk="1" hangingPunct="1">
              <a:lnSpc>
                <a:spcPct val="100000"/>
              </a:lnSpc>
              <a:spcBef>
                <a:spcPct val="50000"/>
              </a:spcBef>
            </a:pPr>
            <a:r>
              <a:rPr lang="en-US" altLang="en-US"/>
              <a:t>OS</a:t>
            </a:r>
          </a:p>
        </p:txBody>
      </p:sp>
      <p:sp>
        <p:nvSpPr>
          <p:cNvPr id="165925" name="Rectangle 37"/>
          <p:cNvSpPr>
            <a:spLocks noChangeArrowheads="1"/>
          </p:cNvSpPr>
          <p:nvPr/>
        </p:nvSpPr>
        <p:spPr bwMode="auto">
          <a:xfrm>
            <a:off x="2819400" y="2133600"/>
            <a:ext cx="1357313"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lnSpc>
                <a:spcPct val="95000"/>
              </a:lnSpc>
              <a:spcBef>
                <a:spcPct val="20000"/>
              </a:spcBef>
              <a:defRPr sz="2400">
                <a:solidFill>
                  <a:schemeClr val="tx1"/>
                </a:solidFill>
                <a:latin typeface="Times New Roman" panose="02020603050405020304" pitchFamily="18" charset="0"/>
              </a:defRPr>
            </a:lvl1pPr>
            <a:lvl2pPr marL="742950" indent="-285750" algn="l" eaLnBrk="0" hangingPunct="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gn="l" eaLnBrk="0" hangingPunct="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gn="ctr" eaLnBrk="1" hangingPunct="1">
              <a:lnSpc>
                <a:spcPct val="100000"/>
              </a:lnSpc>
              <a:spcBef>
                <a:spcPct val="50000"/>
              </a:spcBef>
            </a:pPr>
            <a:r>
              <a:rPr lang="en-US" altLang="en-US" sz="1800"/>
              <a:t>Accounting</a:t>
            </a:r>
          </a:p>
          <a:p>
            <a:pPr algn="ctr" eaLnBrk="1" hangingPunct="1">
              <a:lnSpc>
                <a:spcPct val="100000"/>
              </a:lnSpc>
              <a:spcBef>
                <a:spcPct val="50000"/>
              </a:spcBef>
            </a:pPr>
            <a:r>
              <a:rPr lang="en-US" altLang="en-US" sz="1800"/>
              <a:t>program</a:t>
            </a:r>
          </a:p>
        </p:txBody>
      </p:sp>
      <p:sp>
        <p:nvSpPr>
          <p:cNvPr id="165926" name="Rectangle 38"/>
          <p:cNvSpPr>
            <a:spLocks noChangeArrowheads="1"/>
          </p:cNvSpPr>
          <p:nvPr/>
        </p:nvSpPr>
        <p:spPr bwMode="auto">
          <a:xfrm>
            <a:off x="4205288" y="2165350"/>
            <a:ext cx="1357312"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lnSpc>
                <a:spcPct val="95000"/>
              </a:lnSpc>
              <a:spcBef>
                <a:spcPct val="20000"/>
              </a:spcBef>
              <a:defRPr sz="2400">
                <a:solidFill>
                  <a:schemeClr val="tx1"/>
                </a:solidFill>
                <a:latin typeface="Times New Roman" panose="02020603050405020304" pitchFamily="18" charset="0"/>
              </a:defRPr>
            </a:lvl1pPr>
            <a:lvl2pPr marL="742950" indent="-285750" algn="l" eaLnBrk="0" hangingPunct="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gn="l" eaLnBrk="0" hangingPunct="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gn="ctr" eaLnBrk="1" hangingPunct="1">
              <a:lnSpc>
                <a:spcPct val="100000"/>
              </a:lnSpc>
              <a:spcBef>
                <a:spcPct val="50000"/>
              </a:spcBef>
            </a:pPr>
            <a:r>
              <a:rPr lang="en-US" altLang="en-US" sz="1800"/>
              <a:t>Accounting</a:t>
            </a:r>
          </a:p>
          <a:p>
            <a:pPr algn="ctr" eaLnBrk="1" hangingPunct="1">
              <a:lnSpc>
                <a:spcPct val="100000"/>
              </a:lnSpc>
              <a:spcBef>
                <a:spcPct val="50000"/>
              </a:spcBef>
            </a:pPr>
            <a:r>
              <a:rPr lang="en-US" altLang="en-US" sz="1800"/>
              <a:t>data</a:t>
            </a:r>
          </a:p>
        </p:txBody>
      </p:sp>
      <p:sp>
        <p:nvSpPr>
          <p:cNvPr id="165927" name="Rectangle 39"/>
          <p:cNvSpPr>
            <a:spLocks noChangeArrowheads="1"/>
          </p:cNvSpPr>
          <p:nvPr/>
        </p:nvSpPr>
        <p:spPr bwMode="auto">
          <a:xfrm>
            <a:off x="5562600" y="2133600"/>
            <a:ext cx="1247775"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lnSpc>
                <a:spcPct val="95000"/>
              </a:lnSpc>
              <a:spcBef>
                <a:spcPct val="20000"/>
              </a:spcBef>
              <a:defRPr sz="2400">
                <a:solidFill>
                  <a:schemeClr val="tx1"/>
                </a:solidFill>
                <a:latin typeface="Times New Roman" panose="02020603050405020304" pitchFamily="18" charset="0"/>
              </a:defRPr>
            </a:lvl1pPr>
            <a:lvl2pPr marL="742950" indent="-285750" algn="l" eaLnBrk="0" hangingPunct="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gn="l" eaLnBrk="0" hangingPunct="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gn="ctr" eaLnBrk="1" hangingPunct="1">
              <a:lnSpc>
                <a:spcPct val="100000"/>
              </a:lnSpc>
              <a:spcBef>
                <a:spcPct val="50000"/>
              </a:spcBef>
            </a:pPr>
            <a:r>
              <a:rPr lang="en-US" altLang="en-US" sz="1800"/>
              <a:t>Insurance</a:t>
            </a:r>
          </a:p>
          <a:p>
            <a:pPr algn="ctr" eaLnBrk="1" hangingPunct="1">
              <a:lnSpc>
                <a:spcPct val="100000"/>
              </a:lnSpc>
              <a:spcBef>
                <a:spcPct val="50000"/>
              </a:spcBef>
            </a:pPr>
            <a:r>
              <a:rPr lang="en-US" altLang="en-US" sz="1800"/>
              <a:t>data</a:t>
            </a:r>
          </a:p>
        </p:txBody>
      </p:sp>
      <p:sp>
        <p:nvSpPr>
          <p:cNvPr id="165928" name="Rectangle 40"/>
          <p:cNvSpPr>
            <a:spLocks noChangeArrowheads="1"/>
          </p:cNvSpPr>
          <p:nvPr/>
        </p:nvSpPr>
        <p:spPr bwMode="auto">
          <a:xfrm>
            <a:off x="6878638" y="2165350"/>
            <a:ext cx="893762"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lnSpc>
                <a:spcPct val="95000"/>
              </a:lnSpc>
              <a:spcBef>
                <a:spcPct val="20000"/>
              </a:spcBef>
              <a:defRPr sz="2400">
                <a:solidFill>
                  <a:schemeClr val="tx1"/>
                </a:solidFill>
                <a:latin typeface="Times New Roman" panose="02020603050405020304" pitchFamily="18" charset="0"/>
              </a:defRPr>
            </a:lvl1pPr>
            <a:lvl2pPr marL="742950" indent="-285750" algn="l" eaLnBrk="0" hangingPunct="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gn="l" eaLnBrk="0" hangingPunct="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gn="ctr" eaLnBrk="1" hangingPunct="1">
              <a:lnSpc>
                <a:spcPct val="100000"/>
              </a:lnSpc>
              <a:spcBef>
                <a:spcPct val="50000"/>
              </a:spcBef>
            </a:pPr>
            <a:r>
              <a:rPr lang="en-US" altLang="en-US" sz="1800"/>
              <a:t>Payroll</a:t>
            </a:r>
          </a:p>
          <a:p>
            <a:pPr algn="ctr" eaLnBrk="1" hangingPunct="1">
              <a:lnSpc>
                <a:spcPct val="100000"/>
              </a:lnSpc>
              <a:spcBef>
                <a:spcPct val="50000"/>
              </a:spcBef>
            </a:pPr>
            <a:r>
              <a:rPr lang="en-US" altLang="en-US" sz="1800"/>
              <a:t>data</a:t>
            </a:r>
          </a:p>
        </p:txBody>
      </p:sp>
      <p:sp>
        <p:nvSpPr>
          <p:cNvPr id="165929" name="Rectangle 41"/>
          <p:cNvSpPr>
            <a:spLocks noChangeArrowheads="1"/>
          </p:cNvSpPr>
          <p:nvPr/>
        </p:nvSpPr>
        <p:spPr bwMode="auto">
          <a:xfrm>
            <a:off x="882650" y="3063875"/>
            <a:ext cx="71755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lnSpc>
                <a:spcPct val="95000"/>
              </a:lnSpc>
              <a:spcBef>
                <a:spcPct val="20000"/>
              </a:spcBef>
              <a:defRPr sz="2400">
                <a:solidFill>
                  <a:schemeClr val="tx1"/>
                </a:solidFill>
                <a:latin typeface="Times New Roman" panose="02020603050405020304" pitchFamily="18" charset="0"/>
              </a:defRPr>
            </a:lvl1pPr>
            <a:lvl2pPr marL="742950" indent="-285750" algn="l" eaLnBrk="0" hangingPunct="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gn="l" eaLnBrk="0" hangingPunct="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gn="ctr" eaLnBrk="1" hangingPunct="1">
              <a:lnSpc>
                <a:spcPct val="100000"/>
              </a:lnSpc>
              <a:spcBef>
                <a:spcPct val="50000"/>
              </a:spcBef>
            </a:pPr>
            <a:r>
              <a:rPr lang="en-US" altLang="en-US"/>
              <a:t>Bob</a:t>
            </a:r>
          </a:p>
        </p:txBody>
      </p:sp>
      <p:sp>
        <p:nvSpPr>
          <p:cNvPr id="165930" name="Rectangle 42"/>
          <p:cNvSpPr>
            <a:spLocks noChangeArrowheads="1"/>
          </p:cNvSpPr>
          <p:nvPr/>
        </p:nvSpPr>
        <p:spPr bwMode="auto">
          <a:xfrm>
            <a:off x="620713" y="3825875"/>
            <a:ext cx="903287"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lnSpc>
                <a:spcPct val="95000"/>
              </a:lnSpc>
              <a:spcBef>
                <a:spcPct val="20000"/>
              </a:spcBef>
              <a:defRPr sz="2400">
                <a:solidFill>
                  <a:schemeClr val="tx1"/>
                </a:solidFill>
                <a:latin typeface="Times New Roman" panose="02020603050405020304" pitchFamily="18" charset="0"/>
              </a:defRPr>
            </a:lvl1pPr>
            <a:lvl2pPr marL="742950" indent="-285750" algn="l" eaLnBrk="0" hangingPunct="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gn="l" eaLnBrk="0" hangingPunct="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gn="ctr" eaLnBrk="1" hangingPunct="1">
              <a:lnSpc>
                <a:spcPct val="100000"/>
              </a:lnSpc>
              <a:spcBef>
                <a:spcPct val="50000"/>
              </a:spcBef>
            </a:pPr>
            <a:r>
              <a:rPr lang="en-US" altLang="en-US" b="1">
                <a:solidFill>
                  <a:srgbClr val="FF0000"/>
                </a:solidFill>
              </a:rPr>
              <a:t>Alice</a:t>
            </a:r>
            <a:endParaRPr lang="en-US" altLang="en-US">
              <a:solidFill>
                <a:srgbClr val="FF0000"/>
              </a:solidFill>
            </a:endParaRPr>
          </a:p>
        </p:txBody>
      </p:sp>
      <p:sp>
        <p:nvSpPr>
          <p:cNvPr id="165931" name="Rectangle 43"/>
          <p:cNvSpPr>
            <a:spLocks noChangeArrowheads="1"/>
          </p:cNvSpPr>
          <p:nvPr/>
        </p:nvSpPr>
        <p:spPr bwMode="auto">
          <a:xfrm>
            <a:off x="735013" y="4664075"/>
            <a:ext cx="788987"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lnSpc>
                <a:spcPct val="95000"/>
              </a:lnSpc>
              <a:spcBef>
                <a:spcPct val="20000"/>
              </a:spcBef>
              <a:defRPr sz="2400">
                <a:solidFill>
                  <a:schemeClr val="tx1"/>
                </a:solidFill>
                <a:latin typeface="Times New Roman" panose="02020603050405020304" pitchFamily="18" charset="0"/>
              </a:defRPr>
            </a:lvl1pPr>
            <a:lvl2pPr marL="742950" indent="-285750" algn="l" eaLnBrk="0" hangingPunct="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gn="l" eaLnBrk="0" hangingPunct="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gn="ctr" eaLnBrk="1" hangingPunct="1">
              <a:lnSpc>
                <a:spcPct val="100000"/>
              </a:lnSpc>
              <a:spcBef>
                <a:spcPct val="50000"/>
              </a:spcBef>
            </a:pPr>
            <a:r>
              <a:rPr lang="en-US" altLang="en-US"/>
              <a:t>Sam</a:t>
            </a:r>
          </a:p>
        </p:txBody>
      </p:sp>
      <p:sp>
        <p:nvSpPr>
          <p:cNvPr id="165932" name="Rectangle 44"/>
          <p:cNvSpPr>
            <a:spLocks noChangeArrowheads="1"/>
          </p:cNvSpPr>
          <p:nvPr/>
        </p:nvSpPr>
        <p:spPr bwMode="auto">
          <a:xfrm>
            <a:off x="0" y="5295900"/>
            <a:ext cx="1487488"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lnSpc>
                <a:spcPct val="95000"/>
              </a:lnSpc>
              <a:spcBef>
                <a:spcPct val="20000"/>
              </a:spcBef>
              <a:defRPr sz="2400">
                <a:solidFill>
                  <a:schemeClr val="tx1"/>
                </a:solidFill>
                <a:latin typeface="Times New Roman" panose="02020603050405020304" pitchFamily="18" charset="0"/>
              </a:defRPr>
            </a:lvl1pPr>
            <a:lvl2pPr marL="742950" indent="-285750" algn="l" eaLnBrk="0" hangingPunct="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gn="l" eaLnBrk="0" hangingPunct="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gn="r" eaLnBrk="1" hangingPunct="1">
              <a:lnSpc>
                <a:spcPct val="100000"/>
              </a:lnSpc>
              <a:spcBef>
                <a:spcPct val="50000"/>
              </a:spcBef>
            </a:pPr>
            <a:r>
              <a:rPr lang="en-US" altLang="en-US" sz="2000"/>
              <a:t>Accounting</a:t>
            </a:r>
          </a:p>
          <a:p>
            <a:pPr algn="r" eaLnBrk="1" hangingPunct="1">
              <a:lnSpc>
                <a:spcPct val="100000"/>
              </a:lnSpc>
              <a:spcBef>
                <a:spcPct val="50000"/>
              </a:spcBef>
            </a:pPr>
            <a:r>
              <a:rPr lang="en-US" altLang="en-US" sz="2000"/>
              <a:t>program</a:t>
            </a:r>
          </a:p>
        </p:txBody>
      </p:sp>
      <p:sp>
        <p:nvSpPr>
          <p:cNvPr id="10285" name="Date Placeholder 1"/>
          <p:cNvSpPr>
            <a:spLocks noGrp="1"/>
          </p:cNvSpPr>
          <p:nvPr>
            <p:ph type="dt" sz="quarter" idx="10"/>
          </p:nvPr>
        </p:nvSpPr>
        <p:spPr>
          <a:noFill/>
        </p:spPr>
        <p:txBody>
          <a:bodyPr/>
          <a:lstStyle>
            <a:lvl1pPr algn="l" eaLnBrk="0" hangingPunct="0">
              <a:lnSpc>
                <a:spcPct val="95000"/>
              </a:lnSpc>
              <a:spcBef>
                <a:spcPct val="20000"/>
              </a:spcBef>
              <a:defRPr sz="2400">
                <a:solidFill>
                  <a:schemeClr val="tx1"/>
                </a:solidFill>
                <a:latin typeface="Times New Roman" panose="02020603050405020304" pitchFamily="18" charset="0"/>
              </a:defRPr>
            </a:lvl1pPr>
            <a:lvl2pPr marL="742950" indent="-285750" algn="l" eaLnBrk="0" hangingPunct="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gn="l" eaLnBrk="0" hangingPunct="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eaLnBrk="1" hangingPunct="1">
              <a:lnSpc>
                <a:spcPct val="100000"/>
              </a:lnSpc>
              <a:spcBef>
                <a:spcPct val="0"/>
              </a:spcBef>
            </a:pPr>
            <a:r>
              <a:rPr lang="en-US" altLang="zh-CN" sz="1600">
                <a:ea typeface="宋体" panose="02010600030101010101" pitchFamily="2" charset="-122"/>
              </a:rPr>
              <a:t>CS7900, Meilin Liu </a:t>
            </a:r>
          </a:p>
        </p:txBody>
      </p:sp>
      <p:sp>
        <p:nvSpPr>
          <p:cNvPr id="10286" name="Slide Number Placeholder 2"/>
          <p:cNvSpPr>
            <a:spLocks noGrp="1"/>
          </p:cNvSpPr>
          <p:nvPr>
            <p:ph type="sldNum" sz="quarter" idx="12"/>
          </p:nvPr>
        </p:nvSpPr>
        <p:spPr>
          <a:noFill/>
        </p:spPr>
        <p:txBody>
          <a:bodyPr/>
          <a:lstStyle>
            <a:lvl1pPr algn="l" eaLnBrk="0" hangingPunct="0">
              <a:lnSpc>
                <a:spcPct val="95000"/>
              </a:lnSpc>
              <a:spcBef>
                <a:spcPct val="20000"/>
              </a:spcBef>
              <a:defRPr sz="2400">
                <a:solidFill>
                  <a:schemeClr val="tx1"/>
                </a:solidFill>
                <a:latin typeface="Times New Roman" panose="02020603050405020304" pitchFamily="18" charset="0"/>
              </a:defRPr>
            </a:lvl1pPr>
            <a:lvl2pPr marL="742950" indent="-285750" algn="l" eaLnBrk="0" hangingPunct="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gn="l" eaLnBrk="0" hangingPunct="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gn="r" eaLnBrk="1" hangingPunct="1">
              <a:lnSpc>
                <a:spcPct val="100000"/>
              </a:lnSpc>
              <a:spcBef>
                <a:spcPct val="0"/>
              </a:spcBef>
            </a:pPr>
            <a:fld id="{2EDED8AA-7105-4DBD-B30A-351A04CCA262}" type="slidenum">
              <a:rPr lang="zh-CN" altLang="en-US" sz="1400"/>
              <a:pPr algn="r" eaLnBrk="1" hangingPunct="1">
                <a:lnSpc>
                  <a:spcPct val="100000"/>
                </a:lnSpc>
                <a:spcBef>
                  <a:spcPct val="0"/>
                </a:spcBef>
              </a:pPr>
              <a:t>41</a:t>
            </a:fld>
            <a:endParaRPr lang="en-US" altLang="zh-CN" sz="1400"/>
          </a:p>
        </p:txBody>
      </p:sp>
    </p:spTree>
    <p:extLst>
      <p:ext uri="{BB962C8B-B14F-4D97-AF65-F5344CB8AC3E}">
        <p14:creationId xmlns:p14="http://schemas.microsoft.com/office/powerpoint/2010/main" val="387892237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afterEffect">
                                  <p:stCondLst>
                                    <p:cond delay="0"/>
                                  </p:stCondLst>
                                  <p:childTnLst>
                                    <p:set>
                                      <p:cBhvr>
                                        <p:cTn id="6" dur="1" fill="hold">
                                          <p:stCondLst>
                                            <p:cond delay="499"/>
                                          </p:stCondLst>
                                        </p:cTn>
                                        <p:tgtEl>
                                          <p:spTgt spid="165892"/>
                                        </p:tgtEl>
                                        <p:attrNameLst>
                                          <p:attrName>style.visibility</p:attrName>
                                        </p:attrNameLst>
                                      </p:cBhvr>
                                      <p:to>
                                        <p:strVal val="visible"/>
                                      </p:to>
                                    </p:set>
                                  </p:childTnLst>
                                </p:cTn>
                              </p:par>
                            </p:childTnLst>
                          </p:cTn>
                        </p:par>
                        <p:par>
                          <p:cTn id="7" fill="hold" nodeType="afterGroup">
                            <p:stCondLst>
                              <p:cond delay="500"/>
                            </p:stCondLst>
                            <p:childTnLst>
                              <p:par>
                                <p:cTn id="8" presetID="1" presetClass="entr" presetSubtype="0" fill="hold" grpId="0" nodeType="afterEffect">
                                  <p:stCondLst>
                                    <p:cond delay="0"/>
                                  </p:stCondLst>
                                  <p:childTnLst>
                                    <p:set>
                                      <p:cBhvr>
                                        <p:cTn id="9" dur="1" fill="hold">
                                          <p:stCondLst>
                                            <p:cond delay="499"/>
                                          </p:stCondLst>
                                        </p:cTn>
                                        <p:tgtEl>
                                          <p:spTgt spid="165924"/>
                                        </p:tgtEl>
                                        <p:attrNameLst>
                                          <p:attrName>style.visibility</p:attrName>
                                        </p:attrNameLst>
                                      </p:cBhvr>
                                      <p:to>
                                        <p:strVal val="visible"/>
                                      </p:to>
                                    </p:set>
                                  </p:childTnLst>
                                </p:cTn>
                              </p:par>
                            </p:childTnLst>
                          </p:cTn>
                        </p:par>
                        <p:par>
                          <p:cTn id="10" fill="hold" nodeType="afterGroup">
                            <p:stCondLst>
                              <p:cond delay="1000"/>
                            </p:stCondLst>
                            <p:childTnLst>
                              <p:par>
                                <p:cTn id="11" presetID="1" presetClass="entr" presetSubtype="0" fill="hold" grpId="0" nodeType="afterEffect">
                                  <p:stCondLst>
                                    <p:cond delay="0"/>
                                  </p:stCondLst>
                                  <p:childTnLst>
                                    <p:set>
                                      <p:cBhvr>
                                        <p:cTn id="12" dur="1" fill="hold">
                                          <p:stCondLst>
                                            <p:cond delay="499"/>
                                          </p:stCondLst>
                                        </p:cTn>
                                        <p:tgtEl>
                                          <p:spTgt spid="165925"/>
                                        </p:tgtEl>
                                        <p:attrNameLst>
                                          <p:attrName>style.visibility</p:attrName>
                                        </p:attrNameLst>
                                      </p:cBhvr>
                                      <p:to>
                                        <p:strVal val="visible"/>
                                      </p:to>
                                    </p:set>
                                  </p:childTnLst>
                                </p:cTn>
                              </p:par>
                            </p:childTnLst>
                          </p:cTn>
                        </p:par>
                        <p:par>
                          <p:cTn id="13" fill="hold" nodeType="afterGroup">
                            <p:stCondLst>
                              <p:cond delay="1500"/>
                            </p:stCondLst>
                            <p:childTnLst>
                              <p:par>
                                <p:cTn id="14" presetID="1" presetClass="entr" presetSubtype="0" fill="hold" grpId="0" nodeType="afterEffect">
                                  <p:stCondLst>
                                    <p:cond delay="0"/>
                                  </p:stCondLst>
                                  <p:childTnLst>
                                    <p:set>
                                      <p:cBhvr>
                                        <p:cTn id="15" dur="1" fill="hold">
                                          <p:stCondLst>
                                            <p:cond delay="499"/>
                                          </p:stCondLst>
                                        </p:cTn>
                                        <p:tgtEl>
                                          <p:spTgt spid="165926"/>
                                        </p:tgtEl>
                                        <p:attrNameLst>
                                          <p:attrName>style.visibility</p:attrName>
                                        </p:attrNameLst>
                                      </p:cBhvr>
                                      <p:to>
                                        <p:strVal val="visible"/>
                                      </p:to>
                                    </p:set>
                                  </p:childTnLst>
                                </p:cTn>
                              </p:par>
                            </p:childTnLst>
                          </p:cTn>
                        </p:par>
                        <p:par>
                          <p:cTn id="16" fill="hold" nodeType="afterGroup">
                            <p:stCondLst>
                              <p:cond delay="2000"/>
                            </p:stCondLst>
                            <p:childTnLst>
                              <p:par>
                                <p:cTn id="17" presetID="1" presetClass="entr" presetSubtype="0" fill="hold" grpId="0" nodeType="afterEffect">
                                  <p:stCondLst>
                                    <p:cond delay="0"/>
                                  </p:stCondLst>
                                  <p:childTnLst>
                                    <p:set>
                                      <p:cBhvr>
                                        <p:cTn id="18" dur="1" fill="hold">
                                          <p:stCondLst>
                                            <p:cond delay="499"/>
                                          </p:stCondLst>
                                        </p:cTn>
                                        <p:tgtEl>
                                          <p:spTgt spid="165927"/>
                                        </p:tgtEl>
                                        <p:attrNameLst>
                                          <p:attrName>style.visibility</p:attrName>
                                        </p:attrNameLst>
                                      </p:cBhvr>
                                      <p:to>
                                        <p:strVal val="visible"/>
                                      </p:to>
                                    </p:set>
                                  </p:childTnLst>
                                </p:cTn>
                              </p:par>
                            </p:childTnLst>
                          </p:cTn>
                        </p:par>
                        <p:par>
                          <p:cTn id="19" fill="hold" nodeType="afterGroup">
                            <p:stCondLst>
                              <p:cond delay="2500"/>
                            </p:stCondLst>
                            <p:childTnLst>
                              <p:par>
                                <p:cTn id="20" presetID="1" presetClass="entr" presetSubtype="0" fill="hold" grpId="0" nodeType="afterEffect">
                                  <p:stCondLst>
                                    <p:cond delay="0"/>
                                  </p:stCondLst>
                                  <p:childTnLst>
                                    <p:set>
                                      <p:cBhvr>
                                        <p:cTn id="21" dur="1" fill="hold">
                                          <p:stCondLst>
                                            <p:cond delay="499"/>
                                          </p:stCondLst>
                                        </p:cTn>
                                        <p:tgtEl>
                                          <p:spTgt spid="165928"/>
                                        </p:tgtEl>
                                        <p:attrNameLst>
                                          <p:attrName>style.visibility</p:attrName>
                                        </p:attrNameLst>
                                      </p:cBhvr>
                                      <p:to>
                                        <p:strVal val="visible"/>
                                      </p:to>
                                    </p:set>
                                  </p:childTnLst>
                                </p:cTn>
                              </p:par>
                            </p:childTnLst>
                          </p:cTn>
                        </p:par>
                        <p:par>
                          <p:cTn id="22" fill="hold" nodeType="afterGroup">
                            <p:stCondLst>
                              <p:cond delay="3000"/>
                            </p:stCondLst>
                            <p:childTnLst>
                              <p:par>
                                <p:cTn id="23" presetID="1" presetClass="entr" presetSubtype="0" fill="hold" grpId="0" nodeType="afterEffect">
                                  <p:stCondLst>
                                    <p:cond delay="0"/>
                                  </p:stCondLst>
                                  <p:childTnLst>
                                    <p:set>
                                      <p:cBhvr>
                                        <p:cTn id="24" dur="1" fill="hold">
                                          <p:stCondLst>
                                            <p:cond delay="499"/>
                                          </p:stCondLst>
                                        </p:cTn>
                                        <p:tgtEl>
                                          <p:spTgt spid="165929"/>
                                        </p:tgtEl>
                                        <p:attrNameLst>
                                          <p:attrName>style.visibility</p:attrName>
                                        </p:attrNameLst>
                                      </p:cBhvr>
                                      <p:to>
                                        <p:strVal val="visible"/>
                                      </p:to>
                                    </p:set>
                                  </p:childTnLst>
                                </p:cTn>
                              </p:par>
                            </p:childTnLst>
                          </p:cTn>
                        </p:par>
                        <p:par>
                          <p:cTn id="25" fill="hold" nodeType="afterGroup">
                            <p:stCondLst>
                              <p:cond delay="3500"/>
                            </p:stCondLst>
                            <p:childTnLst>
                              <p:par>
                                <p:cTn id="26" presetID="1" presetClass="entr" presetSubtype="0" fill="hold" grpId="0" nodeType="afterEffect">
                                  <p:stCondLst>
                                    <p:cond delay="0"/>
                                  </p:stCondLst>
                                  <p:childTnLst>
                                    <p:set>
                                      <p:cBhvr>
                                        <p:cTn id="27" dur="1" fill="hold">
                                          <p:stCondLst>
                                            <p:cond delay="499"/>
                                          </p:stCondLst>
                                        </p:cTn>
                                        <p:tgtEl>
                                          <p:spTgt spid="165930"/>
                                        </p:tgtEl>
                                        <p:attrNameLst>
                                          <p:attrName>style.visibility</p:attrName>
                                        </p:attrNameLst>
                                      </p:cBhvr>
                                      <p:to>
                                        <p:strVal val="visible"/>
                                      </p:to>
                                    </p:set>
                                  </p:childTnLst>
                                </p:cTn>
                              </p:par>
                            </p:childTnLst>
                          </p:cTn>
                        </p:par>
                        <p:par>
                          <p:cTn id="28" fill="hold" nodeType="afterGroup">
                            <p:stCondLst>
                              <p:cond delay="4000"/>
                            </p:stCondLst>
                            <p:childTnLst>
                              <p:par>
                                <p:cTn id="29" presetID="1" presetClass="entr" presetSubtype="0" fill="hold" grpId="0" nodeType="afterEffect">
                                  <p:stCondLst>
                                    <p:cond delay="0"/>
                                  </p:stCondLst>
                                  <p:childTnLst>
                                    <p:set>
                                      <p:cBhvr>
                                        <p:cTn id="30" dur="1" fill="hold">
                                          <p:stCondLst>
                                            <p:cond delay="499"/>
                                          </p:stCondLst>
                                        </p:cTn>
                                        <p:tgtEl>
                                          <p:spTgt spid="165931"/>
                                        </p:tgtEl>
                                        <p:attrNameLst>
                                          <p:attrName>style.visibility</p:attrName>
                                        </p:attrNameLst>
                                      </p:cBhvr>
                                      <p:to>
                                        <p:strVal val="visible"/>
                                      </p:to>
                                    </p:set>
                                  </p:childTnLst>
                                </p:cTn>
                              </p:par>
                            </p:childTnLst>
                          </p:cTn>
                        </p:par>
                        <p:par>
                          <p:cTn id="31" fill="hold" nodeType="afterGroup">
                            <p:stCondLst>
                              <p:cond delay="4500"/>
                            </p:stCondLst>
                            <p:childTnLst>
                              <p:par>
                                <p:cTn id="32" presetID="1" presetClass="entr" presetSubtype="0" fill="hold" grpId="0" nodeType="afterEffect">
                                  <p:stCondLst>
                                    <p:cond delay="0"/>
                                  </p:stCondLst>
                                  <p:childTnLst>
                                    <p:set>
                                      <p:cBhvr>
                                        <p:cTn id="33" dur="1" fill="hold">
                                          <p:stCondLst>
                                            <p:cond delay="499"/>
                                          </p:stCondLst>
                                        </p:cTn>
                                        <p:tgtEl>
                                          <p:spTgt spid="1659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5924" grpId="0" autoUpdateAnimBg="0"/>
      <p:bldP spid="165925" grpId="0" autoUpdateAnimBg="0"/>
      <p:bldP spid="165926" grpId="0" autoUpdateAnimBg="0"/>
      <p:bldP spid="165927" grpId="0" autoUpdateAnimBg="0"/>
      <p:bldP spid="165928" grpId="0" autoUpdateAnimBg="0"/>
      <p:bldP spid="165929" grpId="0" autoUpdateAnimBg="0"/>
      <p:bldP spid="165930" grpId="0" autoUpdateAnimBg="0"/>
      <p:bldP spid="165931" grpId="0" autoUpdateAnimBg="0"/>
      <p:bldP spid="165932" grpId="0"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685800" y="152400"/>
            <a:ext cx="7772400" cy="990600"/>
          </a:xfrm>
        </p:spPr>
        <p:txBody>
          <a:bodyPr/>
          <a:lstStyle/>
          <a:p>
            <a:pPr eaLnBrk="1" hangingPunct="1"/>
            <a:r>
              <a:rPr lang="en-US" altLang="en-US"/>
              <a:t>Capabilities (or C-Lists)</a:t>
            </a:r>
          </a:p>
        </p:txBody>
      </p:sp>
      <p:sp>
        <p:nvSpPr>
          <p:cNvPr id="9219" name="Rectangle 3"/>
          <p:cNvSpPr>
            <a:spLocks noGrp="1" noChangeArrowheads="1"/>
          </p:cNvSpPr>
          <p:nvPr>
            <p:ph type="body" idx="1"/>
          </p:nvPr>
        </p:nvSpPr>
        <p:spPr>
          <a:xfrm>
            <a:off x="685800" y="1066800"/>
            <a:ext cx="7772400" cy="1143000"/>
          </a:xfrm>
        </p:spPr>
        <p:txBody>
          <a:bodyPr/>
          <a:lstStyle/>
          <a:p>
            <a:pPr eaLnBrk="1" hangingPunct="1">
              <a:lnSpc>
                <a:spcPct val="90000"/>
              </a:lnSpc>
            </a:pPr>
            <a:r>
              <a:rPr lang="en-US" altLang="en-US" sz="2800"/>
              <a:t>Store access control matrix by </a:t>
            </a:r>
            <a:r>
              <a:rPr lang="en-US" altLang="en-US" sz="2800" b="1">
                <a:solidFill>
                  <a:srgbClr val="FF0000"/>
                </a:solidFill>
              </a:rPr>
              <a:t>row</a:t>
            </a:r>
            <a:endParaRPr lang="en-US" altLang="en-US" sz="2800"/>
          </a:p>
          <a:p>
            <a:pPr eaLnBrk="1" hangingPunct="1">
              <a:lnSpc>
                <a:spcPct val="90000"/>
              </a:lnSpc>
            </a:pPr>
            <a:r>
              <a:rPr lang="en-US" altLang="en-US" sz="2800"/>
              <a:t>Example: Capability for </a:t>
            </a:r>
            <a:r>
              <a:rPr lang="en-US" altLang="en-US" sz="2800" b="1">
                <a:solidFill>
                  <a:srgbClr val="FF0000"/>
                </a:solidFill>
              </a:rPr>
              <a:t>Alice</a:t>
            </a:r>
            <a:r>
              <a:rPr lang="en-US" altLang="en-US" sz="2800"/>
              <a:t> is in </a:t>
            </a:r>
            <a:r>
              <a:rPr lang="en-US" altLang="en-US" sz="2800" b="1">
                <a:solidFill>
                  <a:srgbClr val="FF0000"/>
                </a:solidFill>
              </a:rPr>
              <a:t>red</a:t>
            </a:r>
            <a:endParaRPr lang="en-US" altLang="en-US" sz="2800"/>
          </a:p>
        </p:txBody>
      </p:sp>
      <p:sp>
        <p:nvSpPr>
          <p:cNvPr id="165930" name="Rectangle 42"/>
          <p:cNvSpPr>
            <a:spLocks noChangeArrowheads="1"/>
          </p:cNvSpPr>
          <p:nvPr/>
        </p:nvSpPr>
        <p:spPr bwMode="auto">
          <a:xfrm>
            <a:off x="506413" y="3825875"/>
            <a:ext cx="8561387"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eaLnBrk="0" hangingPunct="0">
              <a:lnSpc>
                <a:spcPct val="95000"/>
              </a:lnSpc>
              <a:spcBef>
                <a:spcPct val="20000"/>
              </a:spcBef>
              <a:defRPr sz="2400">
                <a:solidFill>
                  <a:schemeClr val="tx1"/>
                </a:solidFill>
                <a:latin typeface="Times New Roman" panose="02020603050405020304" pitchFamily="18" charset="0"/>
              </a:defRPr>
            </a:lvl1pPr>
            <a:lvl2pPr marL="742950" indent="-285750" algn="l" eaLnBrk="0" hangingPunct="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gn="l" eaLnBrk="0" hangingPunct="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eaLnBrk="1" hangingPunct="1">
              <a:lnSpc>
                <a:spcPct val="100000"/>
              </a:lnSpc>
              <a:spcBef>
                <a:spcPct val="50000"/>
              </a:spcBef>
            </a:pPr>
            <a:r>
              <a:rPr lang="en-US" altLang="en-US" b="1">
                <a:solidFill>
                  <a:srgbClr val="FF0000"/>
                </a:solidFill>
              </a:rPr>
              <a:t>Alice: (OS, rx), (accounting program, rx), (accounting data, r),</a:t>
            </a:r>
          </a:p>
          <a:p>
            <a:pPr eaLnBrk="1" hangingPunct="1">
              <a:lnSpc>
                <a:spcPct val="100000"/>
              </a:lnSpc>
              <a:spcBef>
                <a:spcPct val="50000"/>
              </a:spcBef>
            </a:pPr>
            <a:r>
              <a:rPr lang="en-US" altLang="en-US" b="1">
                <a:solidFill>
                  <a:srgbClr val="FF0000"/>
                </a:solidFill>
              </a:rPr>
              <a:t>(insurance data, rw), (payroll data, rw). </a:t>
            </a:r>
            <a:endParaRPr lang="en-US" altLang="en-US">
              <a:solidFill>
                <a:srgbClr val="FF0000"/>
              </a:solidFill>
            </a:endParaRPr>
          </a:p>
        </p:txBody>
      </p:sp>
      <p:sp>
        <p:nvSpPr>
          <p:cNvPr id="9221" name="Date Placeholder 1"/>
          <p:cNvSpPr>
            <a:spLocks noGrp="1"/>
          </p:cNvSpPr>
          <p:nvPr>
            <p:ph type="dt" sz="quarter" idx="10"/>
          </p:nvPr>
        </p:nvSpPr>
        <p:spPr>
          <a:noFill/>
        </p:spPr>
        <p:txBody>
          <a:bodyPr/>
          <a:lstStyle>
            <a:lvl1pPr algn="l" eaLnBrk="0" hangingPunct="0">
              <a:lnSpc>
                <a:spcPct val="95000"/>
              </a:lnSpc>
              <a:spcBef>
                <a:spcPct val="20000"/>
              </a:spcBef>
              <a:defRPr sz="2400">
                <a:solidFill>
                  <a:schemeClr val="tx1"/>
                </a:solidFill>
                <a:latin typeface="Times New Roman" panose="02020603050405020304" pitchFamily="18" charset="0"/>
              </a:defRPr>
            </a:lvl1pPr>
            <a:lvl2pPr marL="742950" indent="-285750" algn="l" eaLnBrk="0" hangingPunct="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gn="l" eaLnBrk="0" hangingPunct="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eaLnBrk="1" hangingPunct="1">
              <a:lnSpc>
                <a:spcPct val="100000"/>
              </a:lnSpc>
              <a:spcBef>
                <a:spcPct val="0"/>
              </a:spcBef>
            </a:pPr>
            <a:r>
              <a:rPr lang="en-US" altLang="zh-CN" sz="1600">
                <a:ea typeface="宋体" panose="02010600030101010101" pitchFamily="2" charset="-122"/>
              </a:rPr>
              <a:t>CS7900, Meilin Liu </a:t>
            </a:r>
          </a:p>
        </p:txBody>
      </p:sp>
      <p:sp>
        <p:nvSpPr>
          <p:cNvPr id="9222" name="Slide Number Placeholder 2"/>
          <p:cNvSpPr>
            <a:spLocks noGrp="1"/>
          </p:cNvSpPr>
          <p:nvPr>
            <p:ph type="sldNum" sz="quarter" idx="12"/>
          </p:nvPr>
        </p:nvSpPr>
        <p:spPr>
          <a:noFill/>
        </p:spPr>
        <p:txBody>
          <a:bodyPr/>
          <a:lstStyle>
            <a:lvl1pPr algn="l" eaLnBrk="0" hangingPunct="0">
              <a:lnSpc>
                <a:spcPct val="95000"/>
              </a:lnSpc>
              <a:spcBef>
                <a:spcPct val="20000"/>
              </a:spcBef>
              <a:defRPr sz="2400">
                <a:solidFill>
                  <a:schemeClr val="tx1"/>
                </a:solidFill>
                <a:latin typeface="Times New Roman" panose="02020603050405020304" pitchFamily="18" charset="0"/>
              </a:defRPr>
            </a:lvl1pPr>
            <a:lvl2pPr marL="742950" indent="-285750" algn="l" eaLnBrk="0" hangingPunct="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gn="l" eaLnBrk="0" hangingPunct="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gn="r" eaLnBrk="1" hangingPunct="1">
              <a:lnSpc>
                <a:spcPct val="100000"/>
              </a:lnSpc>
              <a:spcBef>
                <a:spcPct val="0"/>
              </a:spcBef>
            </a:pPr>
            <a:fld id="{015AD7C5-D356-4100-89BA-5AF941907C89}" type="slidenum">
              <a:rPr lang="zh-CN" altLang="en-US" sz="1400"/>
              <a:pPr algn="r" eaLnBrk="1" hangingPunct="1">
                <a:lnSpc>
                  <a:spcPct val="100000"/>
                </a:lnSpc>
                <a:spcBef>
                  <a:spcPct val="0"/>
                </a:spcBef>
              </a:pPr>
              <a:t>42</a:t>
            </a:fld>
            <a:endParaRPr lang="en-US" altLang="zh-CN" sz="1400"/>
          </a:p>
        </p:txBody>
      </p:sp>
    </p:spTree>
    <p:extLst>
      <p:ext uri="{BB962C8B-B14F-4D97-AF65-F5344CB8AC3E}">
        <p14:creationId xmlns:p14="http://schemas.microsoft.com/office/powerpoint/2010/main" val="276860732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1659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5930" grpId="0"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685800" y="152400"/>
            <a:ext cx="7772400" cy="838200"/>
          </a:xfrm>
        </p:spPr>
        <p:txBody>
          <a:bodyPr/>
          <a:lstStyle/>
          <a:p>
            <a:pPr eaLnBrk="1" hangingPunct="1"/>
            <a:r>
              <a:rPr lang="en-US" altLang="en-US"/>
              <a:t>ACLs </a:t>
            </a:r>
            <a:r>
              <a:rPr lang="en-US" altLang="en-US">
                <a:solidFill>
                  <a:schemeClr val="tx1"/>
                </a:solidFill>
              </a:rPr>
              <a:t>vs</a:t>
            </a:r>
            <a:r>
              <a:rPr lang="en-US" altLang="en-US"/>
              <a:t> </a:t>
            </a:r>
            <a:r>
              <a:rPr lang="en-US" altLang="en-US">
                <a:solidFill>
                  <a:srgbClr val="FF0000"/>
                </a:solidFill>
              </a:rPr>
              <a:t>Capabilities</a:t>
            </a:r>
            <a:endParaRPr lang="en-US" altLang="en-US"/>
          </a:p>
        </p:txBody>
      </p:sp>
      <p:sp>
        <p:nvSpPr>
          <p:cNvPr id="345100" name="Rectangle 12"/>
          <p:cNvSpPr>
            <a:spLocks noGrp="1" noChangeArrowheads="1"/>
          </p:cNvSpPr>
          <p:nvPr>
            <p:ph type="body" idx="1"/>
          </p:nvPr>
        </p:nvSpPr>
        <p:spPr>
          <a:xfrm>
            <a:off x="685800" y="5257800"/>
            <a:ext cx="7772400" cy="990600"/>
          </a:xfrm>
        </p:spPr>
        <p:txBody>
          <a:bodyPr>
            <a:normAutofit fontScale="92500" lnSpcReduction="20000"/>
          </a:bodyPr>
          <a:lstStyle/>
          <a:p>
            <a:pPr eaLnBrk="1" hangingPunct="1">
              <a:lnSpc>
                <a:spcPct val="90000"/>
              </a:lnSpc>
              <a:spcAft>
                <a:spcPts val="600"/>
              </a:spcAft>
            </a:pPr>
            <a:r>
              <a:rPr lang="en-US" altLang="en-US"/>
              <a:t>Note that arrows point in opposite directions…</a:t>
            </a:r>
          </a:p>
          <a:p>
            <a:pPr eaLnBrk="1" hangingPunct="1">
              <a:lnSpc>
                <a:spcPct val="90000"/>
              </a:lnSpc>
              <a:spcAft>
                <a:spcPts val="600"/>
              </a:spcAft>
            </a:pPr>
            <a:r>
              <a:rPr lang="en-US" altLang="en-US"/>
              <a:t>With ACLs, still need to associate users to files</a:t>
            </a:r>
          </a:p>
        </p:txBody>
      </p:sp>
      <p:pic>
        <p:nvPicPr>
          <p:cNvPr id="11268" name="Picture 7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825" y="914400"/>
            <a:ext cx="8667750" cy="433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269" name="Date Placeholder 1"/>
          <p:cNvSpPr>
            <a:spLocks noGrp="1"/>
          </p:cNvSpPr>
          <p:nvPr>
            <p:ph type="dt" sz="quarter" idx="10"/>
          </p:nvPr>
        </p:nvSpPr>
        <p:spPr>
          <a:noFill/>
        </p:spPr>
        <p:txBody>
          <a:bodyPr/>
          <a:lstStyle>
            <a:lvl1pPr algn="l" eaLnBrk="0" hangingPunct="0">
              <a:lnSpc>
                <a:spcPct val="95000"/>
              </a:lnSpc>
              <a:spcBef>
                <a:spcPct val="20000"/>
              </a:spcBef>
              <a:defRPr sz="2400">
                <a:solidFill>
                  <a:schemeClr val="tx1"/>
                </a:solidFill>
                <a:latin typeface="Times New Roman" panose="02020603050405020304" pitchFamily="18" charset="0"/>
              </a:defRPr>
            </a:lvl1pPr>
            <a:lvl2pPr marL="742950" indent="-285750" algn="l" eaLnBrk="0" hangingPunct="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gn="l" eaLnBrk="0" hangingPunct="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eaLnBrk="1" hangingPunct="1">
              <a:lnSpc>
                <a:spcPct val="100000"/>
              </a:lnSpc>
              <a:spcBef>
                <a:spcPct val="0"/>
              </a:spcBef>
            </a:pPr>
            <a:r>
              <a:rPr lang="en-US" altLang="zh-CN" sz="1600">
                <a:ea typeface="宋体" panose="02010600030101010101" pitchFamily="2" charset="-122"/>
              </a:rPr>
              <a:t>CS7900, Meilin Liu </a:t>
            </a:r>
          </a:p>
        </p:txBody>
      </p:sp>
      <p:sp>
        <p:nvSpPr>
          <p:cNvPr id="11270" name="Slide Number Placeholder 2"/>
          <p:cNvSpPr>
            <a:spLocks noGrp="1"/>
          </p:cNvSpPr>
          <p:nvPr>
            <p:ph type="sldNum" sz="quarter" idx="12"/>
          </p:nvPr>
        </p:nvSpPr>
        <p:spPr>
          <a:noFill/>
        </p:spPr>
        <p:txBody>
          <a:bodyPr/>
          <a:lstStyle>
            <a:lvl1pPr algn="l" eaLnBrk="0" hangingPunct="0">
              <a:lnSpc>
                <a:spcPct val="95000"/>
              </a:lnSpc>
              <a:spcBef>
                <a:spcPct val="20000"/>
              </a:spcBef>
              <a:defRPr sz="2400">
                <a:solidFill>
                  <a:schemeClr val="tx1"/>
                </a:solidFill>
                <a:latin typeface="Times New Roman" panose="02020603050405020304" pitchFamily="18" charset="0"/>
              </a:defRPr>
            </a:lvl1pPr>
            <a:lvl2pPr marL="742950" indent="-285750" algn="l" eaLnBrk="0" hangingPunct="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gn="l" eaLnBrk="0" hangingPunct="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gn="r" eaLnBrk="1" hangingPunct="1">
              <a:lnSpc>
                <a:spcPct val="100000"/>
              </a:lnSpc>
              <a:spcBef>
                <a:spcPct val="0"/>
              </a:spcBef>
            </a:pPr>
            <a:fld id="{E62F47C4-D729-4AF1-940B-5960DBD107BE}" type="slidenum">
              <a:rPr lang="zh-CN" altLang="en-US" sz="1400"/>
              <a:pPr algn="r" eaLnBrk="1" hangingPunct="1">
                <a:lnSpc>
                  <a:spcPct val="100000"/>
                </a:lnSpc>
                <a:spcBef>
                  <a:spcPct val="0"/>
                </a:spcBef>
              </a:pPr>
              <a:t>43</a:t>
            </a:fld>
            <a:endParaRPr lang="en-US" altLang="zh-CN" sz="1400"/>
          </a:p>
        </p:txBody>
      </p:sp>
    </p:spTree>
    <p:extLst>
      <p:ext uri="{BB962C8B-B14F-4D97-AF65-F5344CB8AC3E}">
        <p14:creationId xmlns:p14="http://schemas.microsoft.com/office/powerpoint/2010/main" val="216426735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45100">
                                            <p:txEl>
                                              <p:pRg st="0" end="0"/>
                                            </p:txEl>
                                          </p:spTgt>
                                        </p:tgtEl>
                                        <p:attrNameLst>
                                          <p:attrName>style.visibility</p:attrName>
                                        </p:attrNameLst>
                                      </p:cBhvr>
                                      <p:to>
                                        <p:strVal val="visible"/>
                                      </p:to>
                                    </p:set>
                                    <p:anim calcmode="lin" valueType="num">
                                      <p:cBhvr additive="base">
                                        <p:cTn id="7" dur="500" fill="hold"/>
                                        <p:tgtEl>
                                          <p:spTgt spid="34510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45100">
                                            <p:txEl>
                                              <p:pRg st="0" end="0"/>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
                                        </p:tgtEl>
                                      </p:cMediaNode>
                                    </p:audio>
                                  </p:sub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45100">
                                            <p:txEl>
                                              <p:pRg st="1" end="1"/>
                                            </p:txEl>
                                          </p:spTgt>
                                        </p:tgtEl>
                                        <p:attrNameLst>
                                          <p:attrName>style.visibility</p:attrName>
                                        </p:attrNameLst>
                                      </p:cBhvr>
                                      <p:to>
                                        <p:strVal val="visible"/>
                                      </p:to>
                                    </p:set>
                                    <p:anim calcmode="lin" valueType="num">
                                      <p:cBhvr additive="base">
                                        <p:cTn id="13" dur="500" fill="hold"/>
                                        <p:tgtEl>
                                          <p:spTgt spid="345100">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45100">
                                            <p:txEl>
                                              <p:pRg st="1" end="1"/>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Whoosh"/>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5100" grpId="0" build="p"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685800" y="457200"/>
            <a:ext cx="7772400" cy="1143000"/>
          </a:xfrm>
        </p:spPr>
        <p:txBody>
          <a:bodyPr/>
          <a:lstStyle/>
          <a:p>
            <a:pPr eaLnBrk="1" hangingPunct="1"/>
            <a:r>
              <a:rPr lang="en-US" altLang="en-US"/>
              <a:t>Confused Deputy</a:t>
            </a:r>
          </a:p>
        </p:txBody>
      </p:sp>
      <p:sp>
        <p:nvSpPr>
          <p:cNvPr id="209923" name="Rectangle 3"/>
          <p:cNvSpPr>
            <a:spLocks noGrp="1" noChangeArrowheads="1"/>
          </p:cNvSpPr>
          <p:nvPr>
            <p:ph type="body" idx="1"/>
          </p:nvPr>
        </p:nvSpPr>
        <p:spPr>
          <a:xfrm>
            <a:off x="685800" y="1600200"/>
            <a:ext cx="3810000" cy="4495800"/>
          </a:xfrm>
        </p:spPr>
        <p:txBody>
          <a:bodyPr/>
          <a:lstStyle/>
          <a:p>
            <a:pPr eaLnBrk="1" hangingPunct="1">
              <a:lnSpc>
                <a:spcPct val="85000"/>
              </a:lnSpc>
              <a:spcAft>
                <a:spcPts val="600"/>
              </a:spcAft>
            </a:pPr>
            <a:r>
              <a:rPr lang="en-US" altLang="en-US" sz="2800" dirty="0"/>
              <a:t>Two resources</a:t>
            </a:r>
          </a:p>
          <a:p>
            <a:pPr lvl="1" eaLnBrk="1" hangingPunct="1">
              <a:lnSpc>
                <a:spcPct val="85000"/>
              </a:lnSpc>
              <a:spcAft>
                <a:spcPts val="600"/>
              </a:spcAft>
            </a:pPr>
            <a:r>
              <a:rPr lang="en-US" altLang="en-US" sz="2400" dirty="0"/>
              <a:t>Compiler and </a:t>
            </a:r>
            <a:r>
              <a:rPr lang="en-US" altLang="en-US" sz="2400" dirty="0">
                <a:latin typeface="Times-Roman"/>
              </a:rPr>
              <a:t>BILL</a:t>
            </a:r>
            <a:r>
              <a:rPr lang="en-US" altLang="en-US" sz="2400" dirty="0"/>
              <a:t> file (billing info)</a:t>
            </a:r>
          </a:p>
          <a:p>
            <a:pPr eaLnBrk="1" hangingPunct="1">
              <a:lnSpc>
                <a:spcPct val="85000"/>
              </a:lnSpc>
              <a:spcAft>
                <a:spcPts val="600"/>
              </a:spcAft>
            </a:pPr>
            <a:r>
              <a:rPr lang="en-US" altLang="en-US" sz="2800" dirty="0"/>
              <a:t>Compiler can write file </a:t>
            </a:r>
            <a:r>
              <a:rPr lang="en-US" altLang="en-US" sz="2800" dirty="0">
                <a:latin typeface="Times-Roman"/>
              </a:rPr>
              <a:t>BILL</a:t>
            </a:r>
            <a:endParaRPr lang="en-US" altLang="en-US" sz="2800" dirty="0"/>
          </a:p>
          <a:p>
            <a:pPr eaLnBrk="1" hangingPunct="1">
              <a:lnSpc>
                <a:spcPct val="85000"/>
              </a:lnSpc>
              <a:spcAft>
                <a:spcPts val="600"/>
              </a:spcAft>
            </a:pPr>
            <a:r>
              <a:rPr lang="en-US" altLang="en-US" sz="2800" dirty="0"/>
              <a:t>Alice can invoke compiler with a debug filename</a:t>
            </a:r>
          </a:p>
          <a:p>
            <a:pPr eaLnBrk="1" hangingPunct="1">
              <a:lnSpc>
                <a:spcPct val="85000"/>
              </a:lnSpc>
              <a:spcAft>
                <a:spcPts val="600"/>
              </a:spcAft>
            </a:pPr>
            <a:r>
              <a:rPr lang="en-US" altLang="en-US" sz="2800" dirty="0"/>
              <a:t>Alice not allowed to write to </a:t>
            </a:r>
            <a:r>
              <a:rPr lang="en-US" altLang="en-US" sz="2800" dirty="0">
                <a:latin typeface="Times-Roman"/>
              </a:rPr>
              <a:t>BILL</a:t>
            </a:r>
            <a:endParaRPr lang="en-US" altLang="en-US" sz="2800" dirty="0"/>
          </a:p>
        </p:txBody>
      </p:sp>
      <p:sp>
        <p:nvSpPr>
          <p:cNvPr id="209925" name="Rectangle 5"/>
          <p:cNvSpPr>
            <a:spLocks noChangeArrowheads="1"/>
          </p:cNvSpPr>
          <p:nvPr/>
        </p:nvSpPr>
        <p:spPr bwMode="auto">
          <a:xfrm>
            <a:off x="4648200" y="1600200"/>
            <a:ext cx="42672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eaLnBrk="0" hangingPunct="0">
              <a:lnSpc>
                <a:spcPct val="95000"/>
              </a:lnSpc>
              <a:spcBef>
                <a:spcPct val="20000"/>
              </a:spcBef>
              <a:defRPr sz="2400">
                <a:solidFill>
                  <a:schemeClr val="tx1"/>
                </a:solidFill>
                <a:latin typeface="Times New Roman" panose="02020603050405020304" pitchFamily="18" charset="0"/>
              </a:defRPr>
            </a:lvl1pPr>
            <a:lvl2pPr marL="742950" indent="-285750" algn="l" eaLnBrk="0" hangingPunct="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gn="l" eaLnBrk="0" hangingPunct="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gn="ctr" eaLnBrk="1" hangingPunct="1">
              <a:lnSpc>
                <a:spcPct val="90000"/>
              </a:lnSpc>
              <a:buClr>
                <a:schemeClr val="accent2"/>
              </a:buClr>
              <a:buSzPct val="75000"/>
              <a:buFont typeface="Wingdings" panose="05000000000000000000" pitchFamily="2" charset="2"/>
              <a:buChar char="q"/>
            </a:pPr>
            <a:r>
              <a:rPr lang="en-US" altLang="en-US" sz="2800"/>
              <a:t>Access control matrix </a:t>
            </a:r>
          </a:p>
        </p:txBody>
      </p:sp>
      <p:graphicFrame>
        <p:nvGraphicFramePr>
          <p:cNvPr id="209926" name="Group 6"/>
          <p:cNvGraphicFramePr>
            <a:graphicFrameLocks noGrp="1"/>
          </p:cNvGraphicFramePr>
          <p:nvPr/>
        </p:nvGraphicFramePr>
        <p:xfrm>
          <a:off x="6096000" y="2819400"/>
          <a:ext cx="2530475" cy="1600200"/>
        </p:xfrm>
        <a:graphic>
          <a:graphicData uri="http://schemas.openxmlformats.org/drawingml/2006/table">
            <a:tbl>
              <a:tblPr/>
              <a:tblGrid>
                <a:gridCol w="1265238">
                  <a:extLst>
                    <a:ext uri="{9D8B030D-6E8A-4147-A177-3AD203B41FA5}">
                      <a16:colId xmlns:a16="http://schemas.microsoft.com/office/drawing/2014/main" val="20000"/>
                    </a:ext>
                  </a:extLst>
                </a:gridCol>
                <a:gridCol w="1265237">
                  <a:extLst>
                    <a:ext uri="{9D8B030D-6E8A-4147-A177-3AD203B41FA5}">
                      <a16:colId xmlns:a16="http://schemas.microsoft.com/office/drawing/2014/main" val="20001"/>
                    </a:ext>
                  </a:extLst>
                </a:gridCol>
              </a:tblGrid>
              <a:tr h="800100">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Comic Sans MS" charset="0"/>
                        </a:rPr>
                        <a:t>x</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Comic Sans MS" charset="0"/>
                          <a:sym typeface="Symbol" charset="2"/>
                        </a:rPr>
                        <a:t>---</a:t>
                      </a:r>
                      <a:endParaRPr kumimoji="0" lang="en-US" sz="2800" b="0" i="0" u="none" strike="noStrike" cap="none" normalizeH="0" baseline="0">
                        <a:ln>
                          <a:noFill/>
                        </a:ln>
                        <a:solidFill>
                          <a:schemeClr val="tx1"/>
                        </a:solidFill>
                        <a:effectLst/>
                        <a:latin typeface="Comic Sans MS" charset="0"/>
                      </a:endParaRP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800100">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Comic Sans MS" charset="0"/>
                        </a:rPr>
                        <a:t>rx</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Comic Sans MS" charset="0"/>
                        </a:rPr>
                        <a:t>rw</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209937" name="Rectangle 17"/>
          <p:cNvSpPr>
            <a:spLocks noChangeArrowheads="1"/>
          </p:cNvSpPr>
          <p:nvPr/>
        </p:nvSpPr>
        <p:spPr bwMode="auto">
          <a:xfrm>
            <a:off x="6019800" y="2286000"/>
            <a:ext cx="140970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lnSpc>
                <a:spcPct val="95000"/>
              </a:lnSpc>
              <a:spcBef>
                <a:spcPct val="20000"/>
              </a:spcBef>
              <a:defRPr sz="2400">
                <a:solidFill>
                  <a:schemeClr val="tx1"/>
                </a:solidFill>
                <a:latin typeface="Times New Roman" panose="02020603050405020304" pitchFamily="18" charset="0"/>
              </a:defRPr>
            </a:lvl1pPr>
            <a:lvl2pPr marL="742950" indent="-285750" algn="l" eaLnBrk="0" hangingPunct="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gn="l" eaLnBrk="0" hangingPunct="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gn="ctr" eaLnBrk="1" hangingPunct="1">
              <a:lnSpc>
                <a:spcPct val="100000"/>
              </a:lnSpc>
              <a:spcBef>
                <a:spcPct val="50000"/>
              </a:spcBef>
            </a:pPr>
            <a:r>
              <a:rPr lang="en-US" altLang="en-US"/>
              <a:t>Compiler</a:t>
            </a:r>
          </a:p>
        </p:txBody>
      </p:sp>
      <p:sp>
        <p:nvSpPr>
          <p:cNvPr id="209938" name="Rectangle 18"/>
          <p:cNvSpPr>
            <a:spLocks noChangeArrowheads="1"/>
          </p:cNvSpPr>
          <p:nvPr/>
        </p:nvSpPr>
        <p:spPr bwMode="auto">
          <a:xfrm>
            <a:off x="7596188" y="2286000"/>
            <a:ext cx="8112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lnSpc>
                <a:spcPct val="95000"/>
              </a:lnSpc>
              <a:spcBef>
                <a:spcPct val="20000"/>
              </a:spcBef>
              <a:defRPr sz="2400">
                <a:solidFill>
                  <a:schemeClr val="tx1"/>
                </a:solidFill>
                <a:latin typeface="Times New Roman" panose="02020603050405020304" pitchFamily="18" charset="0"/>
              </a:defRPr>
            </a:lvl1pPr>
            <a:lvl2pPr marL="742950" indent="-285750" algn="l" eaLnBrk="0" hangingPunct="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gn="l" eaLnBrk="0" hangingPunct="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gn="ctr" eaLnBrk="1" hangingPunct="1">
              <a:lnSpc>
                <a:spcPct val="100000"/>
              </a:lnSpc>
              <a:spcBef>
                <a:spcPct val="50000"/>
              </a:spcBef>
            </a:pPr>
            <a:r>
              <a:rPr lang="en-US" altLang="en-US">
                <a:latin typeface="Times-Roman"/>
              </a:rPr>
              <a:t>BILL</a:t>
            </a:r>
            <a:endParaRPr lang="en-US" altLang="en-US"/>
          </a:p>
        </p:txBody>
      </p:sp>
      <p:sp>
        <p:nvSpPr>
          <p:cNvPr id="209939" name="Rectangle 19"/>
          <p:cNvSpPr>
            <a:spLocks noChangeArrowheads="1"/>
          </p:cNvSpPr>
          <p:nvPr/>
        </p:nvSpPr>
        <p:spPr bwMode="auto">
          <a:xfrm>
            <a:off x="5105400" y="2987675"/>
            <a:ext cx="900113"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lnSpc>
                <a:spcPct val="95000"/>
              </a:lnSpc>
              <a:spcBef>
                <a:spcPct val="20000"/>
              </a:spcBef>
              <a:defRPr sz="2400">
                <a:solidFill>
                  <a:schemeClr val="tx1"/>
                </a:solidFill>
                <a:latin typeface="Times New Roman" panose="02020603050405020304" pitchFamily="18" charset="0"/>
              </a:defRPr>
            </a:lvl1pPr>
            <a:lvl2pPr marL="742950" indent="-285750" algn="l" eaLnBrk="0" hangingPunct="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gn="l" eaLnBrk="0" hangingPunct="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gn="ctr" eaLnBrk="1" hangingPunct="1">
              <a:lnSpc>
                <a:spcPct val="100000"/>
              </a:lnSpc>
              <a:spcBef>
                <a:spcPct val="50000"/>
              </a:spcBef>
            </a:pPr>
            <a:r>
              <a:rPr lang="en-US" altLang="en-US"/>
              <a:t>Alice</a:t>
            </a:r>
          </a:p>
        </p:txBody>
      </p:sp>
      <p:sp>
        <p:nvSpPr>
          <p:cNvPr id="209940" name="Rectangle 20"/>
          <p:cNvSpPr>
            <a:spLocks noChangeArrowheads="1"/>
          </p:cNvSpPr>
          <p:nvPr/>
        </p:nvSpPr>
        <p:spPr bwMode="auto">
          <a:xfrm>
            <a:off x="4572000" y="3749675"/>
            <a:ext cx="140970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lnSpc>
                <a:spcPct val="95000"/>
              </a:lnSpc>
              <a:spcBef>
                <a:spcPct val="20000"/>
              </a:spcBef>
              <a:defRPr sz="2400">
                <a:solidFill>
                  <a:schemeClr val="tx1"/>
                </a:solidFill>
                <a:latin typeface="Times New Roman" panose="02020603050405020304" pitchFamily="18" charset="0"/>
              </a:defRPr>
            </a:lvl1pPr>
            <a:lvl2pPr marL="742950" indent="-285750" algn="l" eaLnBrk="0" hangingPunct="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gn="l" eaLnBrk="0" hangingPunct="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gn="ctr" eaLnBrk="1" hangingPunct="1">
              <a:lnSpc>
                <a:spcPct val="100000"/>
              </a:lnSpc>
              <a:spcBef>
                <a:spcPct val="50000"/>
              </a:spcBef>
            </a:pPr>
            <a:r>
              <a:rPr lang="en-US" altLang="en-US"/>
              <a:t>Compiler</a:t>
            </a:r>
          </a:p>
        </p:txBody>
      </p:sp>
      <p:sp>
        <p:nvSpPr>
          <p:cNvPr id="12308" name="Date Placeholder 1"/>
          <p:cNvSpPr>
            <a:spLocks noGrp="1"/>
          </p:cNvSpPr>
          <p:nvPr>
            <p:ph type="dt" sz="quarter" idx="10"/>
          </p:nvPr>
        </p:nvSpPr>
        <p:spPr>
          <a:noFill/>
        </p:spPr>
        <p:txBody>
          <a:bodyPr/>
          <a:lstStyle>
            <a:lvl1pPr algn="l" eaLnBrk="0" hangingPunct="0">
              <a:lnSpc>
                <a:spcPct val="95000"/>
              </a:lnSpc>
              <a:spcBef>
                <a:spcPct val="20000"/>
              </a:spcBef>
              <a:defRPr sz="2400">
                <a:solidFill>
                  <a:schemeClr val="tx1"/>
                </a:solidFill>
                <a:latin typeface="Times New Roman" panose="02020603050405020304" pitchFamily="18" charset="0"/>
              </a:defRPr>
            </a:lvl1pPr>
            <a:lvl2pPr marL="742950" indent="-285750" algn="l" eaLnBrk="0" hangingPunct="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gn="l" eaLnBrk="0" hangingPunct="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eaLnBrk="1" hangingPunct="1">
              <a:lnSpc>
                <a:spcPct val="100000"/>
              </a:lnSpc>
              <a:spcBef>
                <a:spcPct val="0"/>
              </a:spcBef>
            </a:pPr>
            <a:r>
              <a:rPr lang="en-US" altLang="zh-CN" sz="1600">
                <a:ea typeface="宋体" panose="02010600030101010101" pitchFamily="2" charset="-122"/>
              </a:rPr>
              <a:t>CS7900, Meilin Liu </a:t>
            </a:r>
          </a:p>
        </p:txBody>
      </p:sp>
      <p:sp>
        <p:nvSpPr>
          <p:cNvPr id="12309" name="Slide Number Placeholder 2"/>
          <p:cNvSpPr>
            <a:spLocks noGrp="1"/>
          </p:cNvSpPr>
          <p:nvPr>
            <p:ph type="sldNum" sz="quarter" idx="12"/>
          </p:nvPr>
        </p:nvSpPr>
        <p:spPr>
          <a:noFill/>
        </p:spPr>
        <p:txBody>
          <a:bodyPr/>
          <a:lstStyle>
            <a:lvl1pPr algn="l" eaLnBrk="0" hangingPunct="0">
              <a:lnSpc>
                <a:spcPct val="95000"/>
              </a:lnSpc>
              <a:spcBef>
                <a:spcPct val="20000"/>
              </a:spcBef>
              <a:defRPr sz="2400">
                <a:solidFill>
                  <a:schemeClr val="tx1"/>
                </a:solidFill>
                <a:latin typeface="Times New Roman" panose="02020603050405020304" pitchFamily="18" charset="0"/>
              </a:defRPr>
            </a:lvl1pPr>
            <a:lvl2pPr marL="742950" indent="-285750" algn="l" eaLnBrk="0" hangingPunct="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gn="l" eaLnBrk="0" hangingPunct="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gn="r" eaLnBrk="1" hangingPunct="1">
              <a:lnSpc>
                <a:spcPct val="100000"/>
              </a:lnSpc>
              <a:spcBef>
                <a:spcPct val="0"/>
              </a:spcBef>
            </a:pPr>
            <a:fld id="{078B9F9F-2024-4E79-B3F2-F0175CFA0038}" type="slidenum">
              <a:rPr lang="zh-CN" altLang="en-US" sz="1400"/>
              <a:pPr algn="r" eaLnBrk="1" hangingPunct="1">
                <a:lnSpc>
                  <a:spcPct val="100000"/>
                </a:lnSpc>
                <a:spcBef>
                  <a:spcPct val="0"/>
                </a:spcBef>
              </a:pPr>
              <a:t>44</a:t>
            </a:fld>
            <a:endParaRPr lang="en-US" altLang="zh-CN" sz="1400"/>
          </a:p>
        </p:txBody>
      </p:sp>
    </p:spTree>
    <p:extLst>
      <p:ext uri="{BB962C8B-B14F-4D97-AF65-F5344CB8AC3E}">
        <p14:creationId xmlns:p14="http://schemas.microsoft.com/office/powerpoint/2010/main" val="266257496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209923">
                                            <p:txEl>
                                              <p:pRg st="0" end="0"/>
                                            </p:txEl>
                                          </p:spTgt>
                                        </p:tgtEl>
                                        <p:attrNameLst>
                                          <p:attrName>style.visibility</p:attrName>
                                        </p:attrNameLst>
                                      </p:cBhvr>
                                      <p:to>
                                        <p:strVal val="visible"/>
                                      </p:to>
                                    </p:set>
                                    <p:animEffect transition="in" filter="box(out)">
                                      <p:cBhvr>
                                        <p:cTn id="7" dur="500"/>
                                        <p:tgtEl>
                                          <p:spTgt spid="209923">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
                                        </p:tgtEl>
                                      </p:cMediaNode>
                                    </p:audio>
                                  </p:subTnLst>
                                </p:cTn>
                              </p:par>
                              <p:par>
                                <p:cTn id="8" presetID="4" presetClass="entr" presetSubtype="32" fill="hold" grpId="0" nodeType="withEffect">
                                  <p:stCondLst>
                                    <p:cond delay="0"/>
                                  </p:stCondLst>
                                  <p:childTnLst>
                                    <p:set>
                                      <p:cBhvr>
                                        <p:cTn id="9" dur="1" fill="hold">
                                          <p:stCondLst>
                                            <p:cond delay="0"/>
                                          </p:stCondLst>
                                        </p:cTn>
                                        <p:tgtEl>
                                          <p:spTgt spid="209923">
                                            <p:txEl>
                                              <p:pRg st="1" end="1"/>
                                            </p:txEl>
                                          </p:spTgt>
                                        </p:tgtEl>
                                        <p:attrNameLst>
                                          <p:attrName>style.visibility</p:attrName>
                                        </p:attrNameLst>
                                      </p:cBhvr>
                                      <p:to>
                                        <p:strVal val="visible"/>
                                      </p:to>
                                    </p:set>
                                    <p:animEffect transition="in" filter="box(out)">
                                      <p:cBhvr>
                                        <p:cTn id="10" dur="500"/>
                                        <p:tgtEl>
                                          <p:spTgt spid="209923">
                                            <p:txEl>
                                              <p:pRg st="1" end="1"/>
                                            </p:txEl>
                                          </p:spTgt>
                                        </p:tgtEl>
                                      </p:cBhvr>
                                    </p:animEffect>
                                  </p:childTnLst>
                                  <p:subTnLst>
                                    <p:audio>
                                      <p:cMediaNode>
                                        <p:cTn display="0" masterRel="sameClick">
                                          <p:stCondLst>
                                            <p:cond evt="begin" delay="0">
                                              <p:tn val="8"/>
                                            </p:cond>
                                          </p:stCondLst>
                                          <p:endCondLst>
                                            <p:cond evt="onStopAudio" delay="0">
                                              <p:tgtEl>
                                                <p:sldTgt/>
                                              </p:tgtEl>
                                            </p:cond>
                                          </p:endCondLst>
                                        </p:cTn>
                                        <p:tgtEl>
                                          <p:sndTgt r:embed="rId2" name="Camera"/>
                                        </p:tgtEl>
                                      </p:cMediaNode>
                                    </p:audio>
                                  </p:subTnLst>
                                </p:cTn>
                              </p:par>
                            </p:childTnLst>
                          </p:cTn>
                        </p:par>
                      </p:childTnLst>
                    </p:cTn>
                  </p:par>
                  <p:par>
                    <p:cTn id="11" fill="hold" nodeType="clickPar">
                      <p:stCondLst>
                        <p:cond delay="indefinite"/>
                      </p:stCondLst>
                      <p:childTnLst>
                        <p:par>
                          <p:cTn id="12" fill="hold" nodeType="withGroup">
                            <p:stCondLst>
                              <p:cond delay="0"/>
                            </p:stCondLst>
                            <p:childTnLst>
                              <p:par>
                                <p:cTn id="13" presetID="4" presetClass="entr" presetSubtype="32" fill="hold" grpId="0" nodeType="clickEffect">
                                  <p:stCondLst>
                                    <p:cond delay="0"/>
                                  </p:stCondLst>
                                  <p:childTnLst>
                                    <p:set>
                                      <p:cBhvr>
                                        <p:cTn id="14" dur="1" fill="hold">
                                          <p:stCondLst>
                                            <p:cond delay="0"/>
                                          </p:stCondLst>
                                        </p:cTn>
                                        <p:tgtEl>
                                          <p:spTgt spid="209923">
                                            <p:txEl>
                                              <p:pRg st="2" end="2"/>
                                            </p:txEl>
                                          </p:spTgt>
                                        </p:tgtEl>
                                        <p:attrNameLst>
                                          <p:attrName>style.visibility</p:attrName>
                                        </p:attrNameLst>
                                      </p:cBhvr>
                                      <p:to>
                                        <p:strVal val="visible"/>
                                      </p:to>
                                    </p:set>
                                    <p:animEffect transition="in" filter="box(out)">
                                      <p:cBhvr>
                                        <p:cTn id="15" dur="500"/>
                                        <p:tgtEl>
                                          <p:spTgt spid="209923">
                                            <p:txEl>
                                              <p:pRg st="2" end="2"/>
                                            </p:txEl>
                                          </p:spTgt>
                                        </p:tgtEl>
                                      </p:cBhvr>
                                    </p:animEffect>
                                  </p:childTnLst>
                                  <p:subTnLst>
                                    <p:audio>
                                      <p:cMediaNode>
                                        <p:cTn display="0" masterRel="sameClick">
                                          <p:stCondLst>
                                            <p:cond evt="begin" delay="0">
                                              <p:tn val="13"/>
                                            </p:cond>
                                          </p:stCondLst>
                                          <p:endCondLst>
                                            <p:cond evt="onStopAudio" delay="0">
                                              <p:tgtEl>
                                                <p:sldTgt/>
                                              </p:tgtEl>
                                            </p:cond>
                                          </p:endCondLst>
                                        </p:cTn>
                                        <p:tgtEl>
                                          <p:sndTgt r:embed="rId2" name="Camera"/>
                                        </p:tgtEl>
                                      </p:cMediaNode>
                                    </p:audio>
                                  </p:subTnLst>
                                </p:cTn>
                              </p:par>
                            </p:childTnLst>
                          </p:cTn>
                        </p:par>
                      </p:childTnLst>
                    </p:cTn>
                  </p:par>
                  <p:par>
                    <p:cTn id="16" fill="hold" nodeType="clickPar">
                      <p:stCondLst>
                        <p:cond delay="indefinite"/>
                      </p:stCondLst>
                      <p:childTnLst>
                        <p:par>
                          <p:cTn id="17" fill="hold" nodeType="withGroup">
                            <p:stCondLst>
                              <p:cond delay="0"/>
                            </p:stCondLst>
                            <p:childTnLst>
                              <p:par>
                                <p:cTn id="18" presetID="4" presetClass="entr" presetSubtype="32" fill="hold" grpId="0" nodeType="clickEffect">
                                  <p:stCondLst>
                                    <p:cond delay="0"/>
                                  </p:stCondLst>
                                  <p:childTnLst>
                                    <p:set>
                                      <p:cBhvr>
                                        <p:cTn id="19" dur="1" fill="hold">
                                          <p:stCondLst>
                                            <p:cond delay="0"/>
                                          </p:stCondLst>
                                        </p:cTn>
                                        <p:tgtEl>
                                          <p:spTgt spid="209923">
                                            <p:txEl>
                                              <p:pRg st="3" end="3"/>
                                            </p:txEl>
                                          </p:spTgt>
                                        </p:tgtEl>
                                        <p:attrNameLst>
                                          <p:attrName>style.visibility</p:attrName>
                                        </p:attrNameLst>
                                      </p:cBhvr>
                                      <p:to>
                                        <p:strVal val="visible"/>
                                      </p:to>
                                    </p:set>
                                    <p:animEffect transition="in" filter="box(out)">
                                      <p:cBhvr>
                                        <p:cTn id="20" dur="500"/>
                                        <p:tgtEl>
                                          <p:spTgt spid="209923">
                                            <p:txEl>
                                              <p:pRg st="3" end="3"/>
                                            </p:txEl>
                                          </p:spTgt>
                                        </p:tgtEl>
                                      </p:cBhvr>
                                    </p:animEffect>
                                  </p:childTnLst>
                                  <p:subTnLst>
                                    <p:audio>
                                      <p:cMediaNode>
                                        <p:cTn display="0" masterRel="sameClick">
                                          <p:stCondLst>
                                            <p:cond evt="begin" delay="0">
                                              <p:tn val="18"/>
                                            </p:cond>
                                          </p:stCondLst>
                                          <p:endCondLst>
                                            <p:cond evt="onStopAudio" delay="0">
                                              <p:tgtEl>
                                                <p:sldTgt/>
                                              </p:tgtEl>
                                            </p:cond>
                                          </p:endCondLst>
                                        </p:cTn>
                                        <p:tgtEl>
                                          <p:sndTgt r:embed="rId2" name="Camera"/>
                                        </p:tgtEl>
                                      </p:cMediaNode>
                                    </p:audio>
                                  </p:subTnLst>
                                </p:cTn>
                              </p:par>
                            </p:childTnLst>
                          </p:cTn>
                        </p:par>
                      </p:childTnLst>
                    </p:cTn>
                  </p:par>
                  <p:par>
                    <p:cTn id="21" fill="hold" nodeType="clickPar">
                      <p:stCondLst>
                        <p:cond delay="indefinite"/>
                      </p:stCondLst>
                      <p:childTnLst>
                        <p:par>
                          <p:cTn id="22" fill="hold" nodeType="withGroup">
                            <p:stCondLst>
                              <p:cond delay="0"/>
                            </p:stCondLst>
                            <p:childTnLst>
                              <p:par>
                                <p:cTn id="23" presetID="4" presetClass="entr" presetSubtype="32" fill="hold" grpId="0" nodeType="clickEffect">
                                  <p:stCondLst>
                                    <p:cond delay="0"/>
                                  </p:stCondLst>
                                  <p:childTnLst>
                                    <p:set>
                                      <p:cBhvr>
                                        <p:cTn id="24" dur="1" fill="hold">
                                          <p:stCondLst>
                                            <p:cond delay="0"/>
                                          </p:stCondLst>
                                        </p:cTn>
                                        <p:tgtEl>
                                          <p:spTgt spid="209923">
                                            <p:txEl>
                                              <p:pRg st="4" end="4"/>
                                            </p:txEl>
                                          </p:spTgt>
                                        </p:tgtEl>
                                        <p:attrNameLst>
                                          <p:attrName>style.visibility</p:attrName>
                                        </p:attrNameLst>
                                      </p:cBhvr>
                                      <p:to>
                                        <p:strVal val="visible"/>
                                      </p:to>
                                    </p:set>
                                    <p:animEffect transition="in" filter="box(out)">
                                      <p:cBhvr>
                                        <p:cTn id="25" dur="500"/>
                                        <p:tgtEl>
                                          <p:spTgt spid="209923">
                                            <p:txEl>
                                              <p:pRg st="4" end="4"/>
                                            </p:txEl>
                                          </p:spTgt>
                                        </p:tgtEl>
                                      </p:cBhvr>
                                    </p:animEffect>
                                  </p:childTnLst>
                                  <p:subTnLst>
                                    <p:audio>
                                      <p:cMediaNode>
                                        <p:cTn display="0" masterRel="sameClick">
                                          <p:stCondLst>
                                            <p:cond evt="begin" delay="0">
                                              <p:tn val="23"/>
                                            </p:cond>
                                          </p:stCondLst>
                                          <p:endCondLst>
                                            <p:cond evt="onStopAudio" delay="0">
                                              <p:tgtEl>
                                                <p:sldTgt/>
                                              </p:tgtEl>
                                            </p:cond>
                                          </p:endCondLst>
                                        </p:cTn>
                                        <p:tgtEl>
                                          <p:sndTgt r:embed="rId2" name="Camera"/>
                                        </p:tgtEl>
                                      </p:cMediaNode>
                                    </p:audio>
                                  </p:subTnLst>
                                </p:cTn>
                              </p:par>
                            </p:childTnLst>
                          </p:cTn>
                        </p:par>
                      </p:childTnLst>
                    </p:cTn>
                  </p:par>
                  <p:par>
                    <p:cTn id="26" fill="hold" nodeType="clickPar">
                      <p:stCondLst>
                        <p:cond delay="indefinite"/>
                      </p:stCondLst>
                      <p:childTnLst>
                        <p:par>
                          <p:cTn id="27" fill="hold" nodeType="withGroup">
                            <p:stCondLst>
                              <p:cond delay="0"/>
                            </p:stCondLst>
                            <p:childTnLst>
                              <p:par>
                                <p:cTn id="28" presetID="4" presetClass="entr" presetSubtype="16" fill="hold" grpId="0" nodeType="clickEffect">
                                  <p:stCondLst>
                                    <p:cond delay="0"/>
                                  </p:stCondLst>
                                  <p:childTnLst>
                                    <p:set>
                                      <p:cBhvr>
                                        <p:cTn id="29" dur="1" fill="hold">
                                          <p:stCondLst>
                                            <p:cond delay="0"/>
                                          </p:stCondLst>
                                        </p:cTn>
                                        <p:tgtEl>
                                          <p:spTgt spid="209925">
                                            <p:txEl>
                                              <p:pRg st="0" end="0"/>
                                            </p:txEl>
                                          </p:spTgt>
                                        </p:tgtEl>
                                        <p:attrNameLst>
                                          <p:attrName>style.visibility</p:attrName>
                                        </p:attrNameLst>
                                      </p:cBhvr>
                                      <p:to>
                                        <p:strVal val="visible"/>
                                      </p:to>
                                    </p:set>
                                    <p:animEffect transition="in" filter="box(in)">
                                      <p:cBhvr>
                                        <p:cTn id="30" dur="500"/>
                                        <p:tgtEl>
                                          <p:spTgt spid="209925">
                                            <p:txEl>
                                              <p:pRg st="0" end="0"/>
                                            </p:txEl>
                                          </p:spTgt>
                                        </p:tgtEl>
                                      </p:cBhvr>
                                    </p:animEffect>
                                  </p:childTnLst>
                                  <p:subTnLst>
                                    <p:audio>
                                      <p:cMediaNode>
                                        <p:cTn display="0" masterRel="sameClick">
                                          <p:stCondLst>
                                            <p:cond evt="begin" delay="0">
                                              <p:tn val="28"/>
                                            </p:cond>
                                          </p:stCondLst>
                                          <p:endCondLst>
                                            <p:cond evt="onStopAudio" delay="0">
                                              <p:tgtEl>
                                                <p:sldTgt/>
                                              </p:tgtEl>
                                            </p:cond>
                                          </p:endCondLst>
                                        </p:cTn>
                                        <p:tgtEl>
                                          <p:sndTgt r:embed="rId3" name="Whoosh"/>
                                        </p:tgtEl>
                                      </p:cMediaNode>
                                    </p:audio>
                                  </p:subTnLst>
                                </p:cTn>
                              </p:par>
                            </p:childTnLst>
                          </p:cTn>
                        </p:par>
                        <p:par>
                          <p:cTn id="31" fill="hold" nodeType="afterGroup">
                            <p:stCondLst>
                              <p:cond delay="500"/>
                            </p:stCondLst>
                            <p:childTnLst>
                              <p:par>
                                <p:cTn id="32" presetID="1" presetClass="entr" presetSubtype="0" fill="hold" nodeType="afterEffect">
                                  <p:stCondLst>
                                    <p:cond delay="0"/>
                                  </p:stCondLst>
                                  <p:childTnLst>
                                    <p:set>
                                      <p:cBhvr>
                                        <p:cTn id="33" dur="1" fill="hold">
                                          <p:stCondLst>
                                            <p:cond delay="499"/>
                                          </p:stCondLst>
                                        </p:cTn>
                                        <p:tgtEl>
                                          <p:spTgt spid="209926"/>
                                        </p:tgtEl>
                                        <p:attrNameLst>
                                          <p:attrName>style.visibility</p:attrName>
                                        </p:attrNameLst>
                                      </p:cBhvr>
                                      <p:to>
                                        <p:strVal val="visible"/>
                                      </p:to>
                                    </p:set>
                                  </p:childTnLst>
                                </p:cTn>
                              </p:par>
                            </p:childTnLst>
                          </p:cTn>
                        </p:par>
                        <p:par>
                          <p:cTn id="34" fill="hold" nodeType="afterGroup">
                            <p:stCondLst>
                              <p:cond delay="1000"/>
                            </p:stCondLst>
                            <p:childTnLst>
                              <p:par>
                                <p:cTn id="35" presetID="1" presetClass="entr" presetSubtype="0" fill="hold" grpId="0" nodeType="afterEffect">
                                  <p:stCondLst>
                                    <p:cond delay="0"/>
                                  </p:stCondLst>
                                  <p:childTnLst>
                                    <p:set>
                                      <p:cBhvr>
                                        <p:cTn id="36" dur="1" fill="hold">
                                          <p:stCondLst>
                                            <p:cond delay="499"/>
                                          </p:stCondLst>
                                        </p:cTn>
                                        <p:tgtEl>
                                          <p:spTgt spid="209937">
                                            <p:txEl>
                                              <p:pRg st="0" end="0"/>
                                            </p:txEl>
                                          </p:spTgt>
                                        </p:tgtEl>
                                        <p:attrNameLst>
                                          <p:attrName>style.visibility</p:attrName>
                                        </p:attrNameLst>
                                      </p:cBhvr>
                                      <p:to>
                                        <p:strVal val="visible"/>
                                      </p:to>
                                    </p:set>
                                  </p:childTnLst>
                                </p:cTn>
                              </p:par>
                            </p:childTnLst>
                          </p:cTn>
                        </p:par>
                        <p:par>
                          <p:cTn id="37" fill="hold" nodeType="afterGroup">
                            <p:stCondLst>
                              <p:cond delay="1500"/>
                            </p:stCondLst>
                            <p:childTnLst>
                              <p:par>
                                <p:cTn id="38" presetID="1" presetClass="entr" presetSubtype="0" fill="hold" grpId="0" nodeType="afterEffect">
                                  <p:stCondLst>
                                    <p:cond delay="0"/>
                                  </p:stCondLst>
                                  <p:childTnLst>
                                    <p:set>
                                      <p:cBhvr>
                                        <p:cTn id="39" dur="1" fill="hold">
                                          <p:stCondLst>
                                            <p:cond delay="499"/>
                                          </p:stCondLst>
                                        </p:cTn>
                                        <p:tgtEl>
                                          <p:spTgt spid="209938">
                                            <p:txEl>
                                              <p:pRg st="0" end="0"/>
                                            </p:txEl>
                                          </p:spTgt>
                                        </p:tgtEl>
                                        <p:attrNameLst>
                                          <p:attrName>style.visibility</p:attrName>
                                        </p:attrNameLst>
                                      </p:cBhvr>
                                      <p:to>
                                        <p:strVal val="visible"/>
                                      </p:to>
                                    </p:set>
                                  </p:childTnLst>
                                </p:cTn>
                              </p:par>
                            </p:childTnLst>
                          </p:cTn>
                        </p:par>
                        <p:par>
                          <p:cTn id="40" fill="hold" nodeType="afterGroup">
                            <p:stCondLst>
                              <p:cond delay="2000"/>
                            </p:stCondLst>
                            <p:childTnLst>
                              <p:par>
                                <p:cTn id="41" presetID="1" presetClass="entr" presetSubtype="0" fill="hold" grpId="0" nodeType="afterEffect">
                                  <p:stCondLst>
                                    <p:cond delay="0"/>
                                  </p:stCondLst>
                                  <p:childTnLst>
                                    <p:set>
                                      <p:cBhvr>
                                        <p:cTn id="42" dur="1" fill="hold">
                                          <p:stCondLst>
                                            <p:cond delay="499"/>
                                          </p:stCondLst>
                                        </p:cTn>
                                        <p:tgtEl>
                                          <p:spTgt spid="209939">
                                            <p:txEl>
                                              <p:pRg st="0" end="0"/>
                                            </p:txEl>
                                          </p:spTgt>
                                        </p:tgtEl>
                                        <p:attrNameLst>
                                          <p:attrName>style.visibility</p:attrName>
                                        </p:attrNameLst>
                                      </p:cBhvr>
                                      <p:to>
                                        <p:strVal val="visible"/>
                                      </p:to>
                                    </p:set>
                                  </p:childTnLst>
                                </p:cTn>
                              </p:par>
                            </p:childTnLst>
                          </p:cTn>
                        </p:par>
                        <p:par>
                          <p:cTn id="43" fill="hold" nodeType="afterGroup">
                            <p:stCondLst>
                              <p:cond delay="2500"/>
                            </p:stCondLst>
                            <p:childTnLst>
                              <p:par>
                                <p:cTn id="44" presetID="1" presetClass="entr" presetSubtype="0" fill="hold" grpId="0" nodeType="afterEffect">
                                  <p:stCondLst>
                                    <p:cond delay="0"/>
                                  </p:stCondLst>
                                  <p:childTnLst>
                                    <p:set>
                                      <p:cBhvr>
                                        <p:cTn id="45" dur="1" fill="hold">
                                          <p:stCondLst>
                                            <p:cond delay="499"/>
                                          </p:stCondLst>
                                        </p:cTn>
                                        <p:tgtEl>
                                          <p:spTgt spid="20994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9923" grpId="0" build="p" autoUpdateAnimBg="0"/>
      <p:bldP spid="209925" grpId="0" build="p" autoUpdateAnimBg="0"/>
      <p:bldP spid="209937" grpId="0" build="p" autoUpdateAnimBg="0" advAuto="0"/>
      <p:bldP spid="209938" grpId="0" build="p" autoUpdateAnimBg="0" advAuto="0"/>
      <p:bldP spid="209939" grpId="0" build="p" autoUpdateAnimBg="0" advAuto="0"/>
      <p:bldP spid="209940" grpId="0" build="p" autoUpdateAnimBg="0" advAuto="0"/>
    </p:bldLst>
  </p:timing>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685800" y="457200"/>
            <a:ext cx="7772400" cy="1143000"/>
          </a:xfrm>
        </p:spPr>
        <p:txBody>
          <a:bodyPr/>
          <a:lstStyle/>
          <a:p>
            <a:pPr eaLnBrk="1" hangingPunct="1"/>
            <a:r>
              <a:rPr lang="en-US" altLang="en-US"/>
              <a:t>ACL’s and Confused Deputy</a:t>
            </a:r>
          </a:p>
        </p:txBody>
      </p:sp>
      <p:sp>
        <p:nvSpPr>
          <p:cNvPr id="210947" name="Rectangle 3"/>
          <p:cNvSpPr>
            <a:spLocks noGrp="1" noChangeArrowheads="1"/>
          </p:cNvSpPr>
          <p:nvPr>
            <p:ph type="body" idx="1"/>
          </p:nvPr>
        </p:nvSpPr>
        <p:spPr>
          <a:xfrm>
            <a:off x="685800" y="4267200"/>
            <a:ext cx="8077200" cy="1828800"/>
          </a:xfrm>
        </p:spPr>
        <p:txBody>
          <a:bodyPr>
            <a:normAutofit lnSpcReduction="10000"/>
          </a:bodyPr>
          <a:lstStyle/>
          <a:p>
            <a:pPr eaLnBrk="1" hangingPunct="1">
              <a:lnSpc>
                <a:spcPct val="80000"/>
              </a:lnSpc>
              <a:spcAft>
                <a:spcPts val="600"/>
              </a:spcAft>
            </a:pPr>
            <a:r>
              <a:rPr lang="en-US" altLang="en-US" sz="2800" dirty="0"/>
              <a:t>Compiler is </a:t>
            </a:r>
            <a:r>
              <a:rPr lang="en-US" altLang="en-US" sz="2800" b="1" dirty="0">
                <a:solidFill>
                  <a:schemeClr val="accent2"/>
                </a:solidFill>
              </a:rPr>
              <a:t>deputy</a:t>
            </a:r>
            <a:r>
              <a:rPr lang="en-US" altLang="en-US" sz="2800" dirty="0"/>
              <a:t> acting on behalf of Alice</a:t>
            </a:r>
          </a:p>
          <a:p>
            <a:pPr eaLnBrk="1" hangingPunct="1">
              <a:lnSpc>
                <a:spcPct val="80000"/>
              </a:lnSpc>
              <a:spcAft>
                <a:spcPts val="600"/>
              </a:spcAft>
            </a:pPr>
            <a:r>
              <a:rPr lang="en-US" altLang="en-US" sz="2800" dirty="0"/>
              <a:t>Compiler is </a:t>
            </a:r>
            <a:r>
              <a:rPr lang="en-US" altLang="en-US" sz="2800" b="1" dirty="0">
                <a:solidFill>
                  <a:schemeClr val="accent2"/>
                </a:solidFill>
              </a:rPr>
              <a:t>confused</a:t>
            </a:r>
          </a:p>
          <a:p>
            <a:pPr lvl="1" eaLnBrk="1" hangingPunct="1">
              <a:lnSpc>
                <a:spcPct val="80000"/>
              </a:lnSpc>
              <a:spcAft>
                <a:spcPts val="600"/>
              </a:spcAft>
            </a:pPr>
            <a:r>
              <a:rPr lang="en-US" altLang="en-US" sz="2400" dirty="0"/>
              <a:t>Alice is not allowed to write </a:t>
            </a:r>
            <a:r>
              <a:rPr lang="en-US" altLang="en-US" sz="2400" dirty="0">
                <a:latin typeface="Times-Roman"/>
              </a:rPr>
              <a:t>BILL</a:t>
            </a:r>
            <a:endParaRPr lang="en-US" altLang="en-US" sz="2400" dirty="0"/>
          </a:p>
          <a:p>
            <a:pPr eaLnBrk="1" hangingPunct="1">
              <a:lnSpc>
                <a:spcPct val="80000"/>
              </a:lnSpc>
              <a:spcAft>
                <a:spcPts val="600"/>
              </a:spcAft>
            </a:pPr>
            <a:r>
              <a:rPr lang="en-US" altLang="en-US" sz="2800" dirty="0"/>
              <a:t>Compiler has confused its rights with Alice’s</a:t>
            </a:r>
          </a:p>
        </p:txBody>
      </p:sp>
      <p:grpSp>
        <p:nvGrpSpPr>
          <p:cNvPr id="13316" name="Group 28"/>
          <p:cNvGrpSpPr>
            <a:grpSpLocks/>
          </p:cNvGrpSpPr>
          <p:nvPr/>
        </p:nvGrpSpPr>
        <p:grpSpPr bwMode="auto">
          <a:xfrm>
            <a:off x="685800" y="1752600"/>
            <a:ext cx="7539038" cy="2312988"/>
            <a:chOff x="432" y="1104"/>
            <a:chExt cx="4749" cy="1457"/>
          </a:xfrm>
        </p:grpSpPr>
        <p:sp>
          <p:nvSpPr>
            <p:cNvPr id="13319" name="Line 6"/>
            <p:cNvSpPr>
              <a:spLocks noChangeShapeType="1"/>
            </p:cNvSpPr>
            <p:nvPr/>
          </p:nvSpPr>
          <p:spPr bwMode="auto">
            <a:xfrm flipV="1">
              <a:off x="1133" y="1440"/>
              <a:ext cx="1152" cy="240"/>
            </a:xfrm>
            <a:prstGeom prst="line">
              <a:avLst/>
            </a:prstGeom>
            <a:noFill/>
            <a:ln w="508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3320" name="Rectangle 8"/>
            <p:cNvSpPr>
              <a:spLocks noChangeArrowheads="1"/>
            </p:cNvSpPr>
            <p:nvPr/>
          </p:nvSpPr>
          <p:spPr bwMode="auto">
            <a:xfrm>
              <a:off x="508" y="2235"/>
              <a:ext cx="567"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lnSpc>
                  <a:spcPct val="95000"/>
                </a:lnSpc>
                <a:spcBef>
                  <a:spcPct val="20000"/>
                </a:spcBef>
                <a:defRPr sz="2400">
                  <a:solidFill>
                    <a:schemeClr val="tx1"/>
                  </a:solidFill>
                  <a:latin typeface="Times New Roman" panose="02020603050405020304" pitchFamily="18" charset="0"/>
                </a:defRPr>
              </a:lvl1pPr>
              <a:lvl2pPr marL="742950" indent="-285750" algn="l" eaLnBrk="0" hangingPunct="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gn="l" eaLnBrk="0" hangingPunct="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gn="ctr">
                <a:lnSpc>
                  <a:spcPct val="100000"/>
                </a:lnSpc>
                <a:spcBef>
                  <a:spcPct val="50000"/>
                </a:spcBef>
              </a:pPr>
              <a:r>
                <a:rPr lang="en-US" altLang="en-US"/>
                <a:t>Alice</a:t>
              </a:r>
            </a:p>
          </p:txBody>
        </p:sp>
        <p:sp>
          <p:nvSpPr>
            <p:cNvPr id="13321" name="Rectangle 9"/>
            <p:cNvSpPr>
              <a:spLocks noChangeArrowheads="1"/>
            </p:cNvSpPr>
            <p:nvPr/>
          </p:nvSpPr>
          <p:spPr bwMode="auto">
            <a:xfrm>
              <a:off x="4577" y="2256"/>
              <a:ext cx="51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lnSpc>
                  <a:spcPct val="95000"/>
                </a:lnSpc>
                <a:spcBef>
                  <a:spcPct val="20000"/>
                </a:spcBef>
                <a:defRPr sz="2400">
                  <a:solidFill>
                    <a:schemeClr val="tx1"/>
                  </a:solidFill>
                  <a:latin typeface="Times New Roman" panose="02020603050405020304" pitchFamily="18" charset="0"/>
                </a:defRPr>
              </a:lvl1pPr>
              <a:lvl2pPr marL="742950" indent="-285750" algn="l" eaLnBrk="0" hangingPunct="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gn="l" eaLnBrk="0" hangingPunct="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gn="ctr">
                <a:lnSpc>
                  <a:spcPct val="100000"/>
                </a:lnSpc>
                <a:spcBef>
                  <a:spcPct val="50000"/>
                </a:spcBef>
              </a:pPr>
              <a:r>
                <a:rPr lang="en-US" altLang="en-US">
                  <a:latin typeface="Times-Roman"/>
                </a:rPr>
                <a:t>BILL</a:t>
              </a:r>
            </a:p>
          </p:txBody>
        </p:sp>
        <p:sp>
          <p:nvSpPr>
            <p:cNvPr id="13322" name="Line 10"/>
            <p:cNvSpPr>
              <a:spLocks noChangeShapeType="1"/>
            </p:cNvSpPr>
            <p:nvPr/>
          </p:nvSpPr>
          <p:spPr bwMode="auto">
            <a:xfrm>
              <a:off x="3293" y="1440"/>
              <a:ext cx="1008" cy="288"/>
            </a:xfrm>
            <a:prstGeom prst="line">
              <a:avLst/>
            </a:prstGeom>
            <a:noFill/>
            <a:ln w="508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3323" name="Rectangle 18"/>
            <p:cNvSpPr>
              <a:spLocks noChangeArrowheads="1"/>
            </p:cNvSpPr>
            <p:nvPr/>
          </p:nvSpPr>
          <p:spPr bwMode="auto">
            <a:xfrm>
              <a:off x="2357" y="1834"/>
              <a:ext cx="888"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lnSpc>
                  <a:spcPct val="95000"/>
                </a:lnSpc>
                <a:spcBef>
                  <a:spcPct val="20000"/>
                </a:spcBef>
                <a:defRPr sz="2400">
                  <a:solidFill>
                    <a:schemeClr val="tx1"/>
                  </a:solidFill>
                  <a:latin typeface="Times New Roman" panose="02020603050405020304" pitchFamily="18" charset="0"/>
                </a:defRPr>
              </a:lvl1pPr>
              <a:lvl2pPr marL="742950" indent="-285750" algn="l" eaLnBrk="0" hangingPunct="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gn="l" eaLnBrk="0" hangingPunct="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gn="ctr">
                <a:lnSpc>
                  <a:spcPct val="100000"/>
                </a:lnSpc>
                <a:spcBef>
                  <a:spcPct val="50000"/>
                </a:spcBef>
              </a:pPr>
              <a:r>
                <a:rPr lang="en-US" altLang="en-US"/>
                <a:t>Compiler</a:t>
              </a:r>
            </a:p>
          </p:txBody>
        </p:sp>
        <p:sp>
          <p:nvSpPr>
            <p:cNvPr id="13324" name="Rectangle 19"/>
            <p:cNvSpPr>
              <a:spLocks noChangeArrowheads="1"/>
            </p:cNvSpPr>
            <p:nvPr/>
          </p:nvSpPr>
          <p:spPr bwMode="auto">
            <a:xfrm rot="-651942">
              <a:off x="1251" y="1248"/>
              <a:ext cx="650"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lnSpc>
                  <a:spcPct val="95000"/>
                </a:lnSpc>
                <a:spcBef>
                  <a:spcPct val="20000"/>
                </a:spcBef>
                <a:defRPr sz="2400">
                  <a:solidFill>
                    <a:schemeClr val="tx1"/>
                  </a:solidFill>
                  <a:latin typeface="Times New Roman" panose="02020603050405020304" pitchFamily="18" charset="0"/>
                </a:defRPr>
              </a:lvl1pPr>
              <a:lvl2pPr marL="742950" indent="-285750" algn="l" eaLnBrk="0" hangingPunct="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gn="l" eaLnBrk="0" hangingPunct="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gn="ctr">
                <a:lnSpc>
                  <a:spcPct val="100000"/>
                </a:lnSpc>
                <a:spcBef>
                  <a:spcPct val="50000"/>
                </a:spcBef>
              </a:pPr>
              <a:r>
                <a:rPr lang="en-US" altLang="en-US"/>
                <a:t>debug</a:t>
              </a:r>
            </a:p>
          </p:txBody>
        </p:sp>
        <p:sp>
          <p:nvSpPr>
            <p:cNvPr id="13325" name="Rectangle 20"/>
            <p:cNvSpPr>
              <a:spLocks noChangeArrowheads="1"/>
            </p:cNvSpPr>
            <p:nvPr/>
          </p:nvSpPr>
          <p:spPr bwMode="auto">
            <a:xfrm rot="-627964">
              <a:off x="1104" y="1584"/>
              <a:ext cx="1128"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lnSpc>
                  <a:spcPct val="95000"/>
                </a:lnSpc>
                <a:spcBef>
                  <a:spcPct val="20000"/>
                </a:spcBef>
                <a:defRPr sz="2400">
                  <a:solidFill>
                    <a:schemeClr val="tx1"/>
                  </a:solidFill>
                  <a:latin typeface="Times New Roman" panose="02020603050405020304" pitchFamily="18" charset="0"/>
                </a:defRPr>
              </a:lvl1pPr>
              <a:lvl2pPr marL="742950" indent="-285750" algn="l" eaLnBrk="0" hangingPunct="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gn="l" eaLnBrk="0" hangingPunct="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gn="ctr">
                <a:lnSpc>
                  <a:spcPct val="100000"/>
                </a:lnSpc>
                <a:spcBef>
                  <a:spcPct val="50000"/>
                </a:spcBef>
              </a:pPr>
              <a:r>
                <a:rPr lang="en-US" altLang="en-US" sz="2000"/>
                <a:t>filename </a:t>
              </a:r>
              <a:r>
                <a:rPr lang="en-US" altLang="en-US" sz="2000">
                  <a:latin typeface="Times-Roman"/>
                </a:rPr>
                <a:t>BILL</a:t>
              </a:r>
              <a:endParaRPr lang="en-US" altLang="en-US">
                <a:latin typeface="Times-Roman"/>
              </a:endParaRPr>
            </a:p>
          </p:txBody>
        </p:sp>
        <p:sp>
          <p:nvSpPr>
            <p:cNvPr id="13326" name="Rectangle 21"/>
            <p:cNvSpPr>
              <a:spLocks noChangeArrowheads="1"/>
            </p:cNvSpPr>
            <p:nvPr/>
          </p:nvSpPr>
          <p:spPr bwMode="auto">
            <a:xfrm rot="891162">
              <a:off x="3550" y="1296"/>
              <a:ext cx="51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lnSpc>
                  <a:spcPct val="95000"/>
                </a:lnSpc>
                <a:spcBef>
                  <a:spcPct val="20000"/>
                </a:spcBef>
                <a:defRPr sz="2400">
                  <a:solidFill>
                    <a:schemeClr val="tx1"/>
                  </a:solidFill>
                  <a:latin typeface="Times New Roman" panose="02020603050405020304" pitchFamily="18" charset="0"/>
                </a:defRPr>
              </a:lvl1pPr>
              <a:lvl2pPr marL="742950" indent="-285750" algn="l" eaLnBrk="0" hangingPunct="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gn="l" eaLnBrk="0" hangingPunct="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gn="ctr">
                <a:lnSpc>
                  <a:spcPct val="100000"/>
                </a:lnSpc>
                <a:spcBef>
                  <a:spcPct val="50000"/>
                </a:spcBef>
              </a:pPr>
              <a:r>
                <a:rPr lang="en-US" altLang="en-US">
                  <a:latin typeface="Times-Roman"/>
                </a:rPr>
                <a:t>BILL</a:t>
              </a:r>
            </a:p>
          </p:txBody>
        </p:sp>
        <p:pic>
          <p:nvPicPr>
            <p:cNvPr id="13327" name="Picture 24" descr="alice3Rev.tiff                                                 0010273EMacintosh HD                   BC93A1C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2" y="1248"/>
              <a:ext cx="596" cy="10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28" name="Picture 25" descr="billGood2.tiff                                                 0010273EMacintosh HD                   BC93A1CC:"/>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64" y="1200"/>
              <a:ext cx="717" cy="9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29" name="Picture 26" descr="&#10;billBad2.tiff                                                  0010273EMacintosh HD                   BC93A1CC:"/>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77" y="1104"/>
              <a:ext cx="659" cy="1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30" name="Picture 27" descr="Green 55.tif                                                   00118CF0Macintosh HD                   BC93A1CC:"/>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14" y="1152"/>
              <a:ext cx="960" cy="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3317" name="Date Placeholder 1"/>
          <p:cNvSpPr>
            <a:spLocks noGrp="1"/>
          </p:cNvSpPr>
          <p:nvPr>
            <p:ph type="dt" sz="quarter" idx="10"/>
          </p:nvPr>
        </p:nvSpPr>
        <p:spPr>
          <a:noFill/>
        </p:spPr>
        <p:txBody>
          <a:bodyPr/>
          <a:lstStyle>
            <a:lvl1pPr algn="l" eaLnBrk="0" hangingPunct="0">
              <a:lnSpc>
                <a:spcPct val="95000"/>
              </a:lnSpc>
              <a:spcBef>
                <a:spcPct val="20000"/>
              </a:spcBef>
              <a:defRPr sz="2400">
                <a:solidFill>
                  <a:schemeClr val="tx1"/>
                </a:solidFill>
                <a:latin typeface="Times New Roman" panose="02020603050405020304" pitchFamily="18" charset="0"/>
              </a:defRPr>
            </a:lvl1pPr>
            <a:lvl2pPr marL="742950" indent="-285750" algn="l" eaLnBrk="0" hangingPunct="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gn="l" eaLnBrk="0" hangingPunct="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eaLnBrk="1" hangingPunct="1">
              <a:lnSpc>
                <a:spcPct val="100000"/>
              </a:lnSpc>
              <a:spcBef>
                <a:spcPct val="0"/>
              </a:spcBef>
            </a:pPr>
            <a:r>
              <a:rPr lang="en-US" altLang="zh-CN" sz="1600">
                <a:ea typeface="宋体" panose="02010600030101010101" pitchFamily="2" charset="-122"/>
              </a:rPr>
              <a:t>CS7900, Meilin Liu </a:t>
            </a:r>
          </a:p>
        </p:txBody>
      </p:sp>
      <p:sp>
        <p:nvSpPr>
          <p:cNvPr id="13318" name="Slide Number Placeholder 2"/>
          <p:cNvSpPr>
            <a:spLocks noGrp="1"/>
          </p:cNvSpPr>
          <p:nvPr>
            <p:ph type="sldNum" sz="quarter" idx="12"/>
          </p:nvPr>
        </p:nvSpPr>
        <p:spPr>
          <a:noFill/>
        </p:spPr>
        <p:txBody>
          <a:bodyPr/>
          <a:lstStyle>
            <a:lvl1pPr algn="l" eaLnBrk="0" hangingPunct="0">
              <a:lnSpc>
                <a:spcPct val="95000"/>
              </a:lnSpc>
              <a:spcBef>
                <a:spcPct val="20000"/>
              </a:spcBef>
              <a:defRPr sz="2400">
                <a:solidFill>
                  <a:schemeClr val="tx1"/>
                </a:solidFill>
                <a:latin typeface="Times New Roman" panose="02020603050405020304" pitchFamily="18" charset="0"/>
              </a:defRPr>
            </a:lvl1pPr>
            <a:lvl2pPr marL="742950" indent="-285750" algn="l" eaLnBrk="0" hangingPunct="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gn="l" eaLnBrk="0" hangingPunct="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gn="r" eaLnBrk="1" hangingPunct="1">
              <a:lnSpc>
                <a:spcPct val="100000"/>
              </a:lnSpc>
              <a:spcBef>
                <a:spcPct val="0"/>
              </a:spcBef>
            </a:pPr>
            <a:fld id="{70BC6962-BF3B-4A4C-A034-4E2C3B41A846}" type="slidenum">
              <a:rPr lang="zh-CN" altLang="en-US" sz="1400"/>
              <a:pPr algn="r" eaLnBrk="1" hangingPunct="1">
                <a:lnSpc>
                  <a:spcPct val="100000"/>
                </a:lnSpc>
                <a:spcBef>
                  <a:spcPct val="0"/>
                </a:spcBef>
              </a:pPr>
              <a:t>45</a:t>
            </a:fld>
            <a:endParaRPr lang="en-US" altLang="zh-CN" sz="1400"/>
          </a:p>
        </p:txBody>
      </p:sp>
    </p:spTree>
    <p:extLst>
      <p:ext uri="{BB962C8B-B14F-4D97-AF65-F5344CB8AC3E}">
        <p14:creationId xmlns:p14="http://schemas.microsoft.com/office/powerpoint/2010/main" val="4434853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10947">
                                            <p:txEl>
                                              <p:pRg st="0" end="0"/>
                                            </p:txEl>
                                          </p:spTgt>
                                        </p:tgtEl>
                                        <p:attrNameLst>
                                          <p:attrName>style.visibility</p:attrName>
                                        </p:attrNameLst>
                                      </p:cBhvr>
                                      <p:to>
                                        <p:strVal val="visible"/>
                                      </p:to>
                                    </p:set>
                                    <p:animEffect transition="in" filter="checkerboard(across)">
                                      <p:cBhvr>
                                        <p:cTn id="7" dur="500"/>
                                        <p:tgtEl>
                                          <p:spTgt spid="210947">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210947">
                                            <p:txEl>
                                              <p:pRg st="1" end="1"/>
                                            </p:txEl>
                                          </p:spTgt>
                                        </p:tgtEl>
                                        <p:attrNameLst>
                                          <p:attrName>style.visibility</p:attrName>
                                        </p:attrNameLst>
                                      </p:cBhvr>
                                      <p:to>
                                        <p:strVal val="visible"/>
                                      </p:to>
                                    </p:set>
                                    <p:animEffect transition="in" filter="checkerboard(across)">
                                      <p:cBhvr>
                                        <p:cTn id="12" dur="500"/>
                                        <p:tgtEl>
                                          <p:spTgt spid="210947">
                                            <p:txEl>
                                              <p:pRg st="1" end="1"/>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
                                        </p:tgtEl>
                                      </p:cMediaNode>
                                    </p:audio>
                                  </p:subTnLst>
                                </p:cTn>
                              </p:par>
                              <p:par>
                                <p:cTn id="13" presetID="5" presetClass="entr" presetSubtype="10" fill="hold" grpId="0" nodeType="withEffect">
                                  <p:stCondLst>
                                    <p:cond delay="0"/>
                                  </p:stCondLst>
                                  <p:childTnLst>
                                    <p:set>
                                      <p:cBhvr>
                                        <p:cTn id="14" dur="1" fill="hold">
                                          <p:stCondLst>
                                            <p:cond delay="0"/>
                                          </p:stCondLst>
                                        </p:cTn>
                                        <p:tgtEl>
                                          <p:spTgt spid="210947">
                                            <p:txEl>
                                              <p:pRg st="2" end="2"/>
                                            </p:txEl>
                                          </p:spTgt>
                                        </p:tgtEl>
                                        <p:attrNameLst>
                                          <p:attrName>style.visibility</p:attrName>
                                        </p:attrNameLst>
                                      </p:cBhvr>
                                      <p:to>
                                        <p:strVal val="visible"/>
                                      </p:to>
                                    </p:set>
                                    <p:animEffect transition="in" filter="checkerboard(across)">
                                      <p:cBhvr>
                                        <p:cTn id="15" dur="500"/>
                                        <p:tgtEl>
                                          <p:spTgt spid="210947">
                                            <p:txEl>
                                              <p:pRg st="2" end="2"/>
                                            </p:txEl>
                                          </p:spTgt>
                                        </p:tgtEl>
                                      </p:cBhvr>
                                    </p:animEffect>
                                  </p:childTnLst>
                                  <p:subTnLst>
                                    <p:audio>
                                      <p:cMediaNode>
                                        <p:cTn display="0" masterRel="sameClick">
                                          <p:stCondLst>
                                            <p:cond evt="begin" delay="0">
                                              <p:tn val="13"/>
                                            </p:cond>
                                          </p:stCondLst>
                                          <p:endCondLst>
                                            <p:cond evt="onStopAudio" delay="0">
                                              <p:tgtEl>
                                                <p:sldTgt/>
                                              </p:tgtEl>
                                            </p:cond>
                                          </p:endCondLst>
                                        </p:cTn>
                                        <p:tgtEl>
                                          <p:sndTgt r:embed="rId2" name="Camera"/>
                                        </p:tgtEl>
                                      </p:cMediaNode>
                                    </p:audio>
                                  </p:subTnLst>
                                </p:cTn>
                              </p:par>
                            </p:childTnLst>
                          </p:cTn>
                        </p:par>
                      </p:childTnLst>
                    </p:cTn>
                  </p:par>
                  <p:par>
                    <p:cTn id="16" fill="hold" nodeType="clickPar">
                      <p:stCondLst>
                        <p:cond delay="indefinite"/>
                      </p:stCondLst>
                      <p:childTnLst>
                        <p:par>
                          <p:cTn id="17" fill="hold" nodeType="withGroup">
                            <p:stCondLst>
                              <p:cond delay="0"/>
                            </p:stCondLst>
                            <p:childTnLst>
                              <p:par>
                                <p:cTn id="18" presetID="5" presetClass="entr" presetSubtype="10" fill="hold" grpId="0" nodeType="clickEffect">
                                  <p:stCondLst>
                                    <p:cond delay="0"/>
                                  </p:stCondLst>
                                  <p:childTnLst>
                                    <p:set>
                                      <p:cBhvr>
                                        <p:cTn id="19" dur="1" fill="hold">
                                          <p:stCondLst>
                                            <p:cond delay="0"/>
                                          </p:stCondLst>
                                        </p:cTn>
                                        <p:tgtEl>
                                          <p:spTgt spid="210947">
                                            <p:txEl>
                                              <p:pRg st="3" end="3"/>
                                            </p:txEl>
                                          </p:spTgt>
                                        </p:tgtEl>
                                        <p:attrNameLst>
                                          <p:attrName>style.visibility</p:attrName>
                                        </p:attrNameLst>
                                      </p:cBhvr>
                                      <p:to>
                                        <p:strVal val="visible"/>
                                      </p:to>
                                    </p:set>
                                    <p:animEffect transition="in" filter="checkerboard(across)">
                                      <p:cBhvr>
                                        <p:cTn id="20" dur="500"/>
                                        <p:tgtEl>
                                          <p:spTgt spid="210947">
                                            <p:txEl>
                                              <p:pRg st="3" end="3"/>
                                            </p:txEl>
                                          </p:spTgt>
                                        </p:tgtEl>
                                      </p:cBhvr>
                                    </p:animEffect>
                                  </p:childTnLst>
                                  <p:subTnLst>
                                    <p:audio>
                                      <p:cMediaNode>
                                        <p:cTn display="0" masterRel="sameClick">
                                          <p:stCondLst>
                                            <p:cond evt="begin" delay="0">
                                              <p:tn val="18"/>
                                            </p:cond>
                                          </p:stCondLst>
                                          <p:endCondLst>
                                            <p:cond evt="onStopAudio" delay="0">
                                              <p:tgtEl>
                                                <p:sldTgt/>
                                              </p:tgtEl>
                                            </p:cond>
                                          </p:endCondLst>
                                        </p:cTn>
                                        <p:tgtEl>
                                          <p:sndTgt r:embed="rId2" name="Camera"/>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0947" grpId="0" build="p"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685800" y="228600"/>
            <a:ext cx="7772400" cy="1066800"/>
          </a:xfrm>
        </p:spPr>
        <p:txBody>
          <a:bodyPr/>
          <a:lstStyle/>
          <a:p>
            <a:pPr eaLnBrk="1" hangingPunct="1"/>
            <a:r>
              <a:rPr lang="en-US" altLang="en-US"/>
              <a:t>Confused Deputy</a:t>
            </a:r>
          </a:p>
        </p:txBody>
      </p:sp>
      <p:sp>
        <p:nvSpPr>
          <p:cNvPr id="211971" name="Rectangle 3"/>
          <p:cNvSpPr>
            <a:spLocks noGrp="1" noChangeArrowheads="1"/>
          </p:cNvSpPr>
          <p:nvPr>
            <p:ph type="body" idx="1"/>
          </p:nvPr>
        </p:nvSpPr>
        <p:spPr>
          <a:xfrm>
            <a:off x="685800" y="1447800"/>
            <a:ext cx="7924800" cy="4572000"/>
          </a:xfrm>
        </p:spPr>
        <p:txBody>
          <a:bodyPr/>
          <a:lstStyle/>
          <a:p>
            <a:pPr eaLnBrk="1" hangingPunct="1">
              <a:spcAft>
                <a:spcPts val="600"/>
              </a:spcAft>
            </a:pPr>
            <a:r>
              <a:rPr lang="en-US" altLang="en-US" sz="2800" dirty="0"/>
              <a:t>Compiler acting for Alice is confused</a:t>
            </a:r>
          </a:p>
          <a:p>
            <a:pPr eaLnBrk="1" hangingPunct="1">
              <a:spcAft>
                <a:spcPts val="600"/>
              </a:spcAft>
            </a:pPr>
            <a:r>
              <a:rPr lang="en-US" altLang="en-US" sz="2800" dirty="0"/>
              <a:t>There has been a separation of </a:t>
            </a:r>
            <a:r>
              <a:rPr lang="en-US" altLang="en-US" sz="2800" b="1" dirty="0">
                <a:solidFill>
                  <a:schemeClr val="accent2"/>
                </a:solidFill>
              </a:rPr>
              <a:t>authority</a:t>
            </a:r>
            <a:r>
              <a:rPr lang="en-US" altLang="en-US" sz="2800" dirty="0"/>
              <a:t> from the </a:t>
            </a:r>
            <a:r>
              <a:rPr lang="en-US" altLang="en-US" sz="2800" b="1" dirty="0">
                <a:solidFill>
                  <a:schemeClr val="accent2"/>
                </a:solidFill>
              </a:rPr>
              <a:t>purpose</a:t>
            </a:r>
            <a:r>
              <a:rPr lang="en-US" altLang="en-US" sz="2800" dirty="0"/>
              <a:t> for which it is used</a:t>
            </a:r>
          </a:p>
          <a:p>
            <a:pPr eaLnBrk="1" hangingPunct="1">
              <a:spcAft>
                <a:spcPts val="600"/>
              </a:spcAft>
            </a:pPr>
            <a:r>
              <a:rPr lang="en-US" altLang="en-US" sz="2800" dirty="0"/>
              <a:t>With ACLs, difficult to avoid this problem</a:t>
            </a:r>
          </a:p>
          <a:p>
            <a:pPr eaLnBrk="1" hangingPunct="1">
              <a:spcAft>
                <a:spcPts val="600"/>
              </a:spcAft>
            </a:pPr>
            <a:r>
              <a:rPr lang="en-US" altLang="en-US" sz="2800" dirty="0"/>
              <a:t>With Capabilities, easier to prevent problem</a:t>
            </a:r>
          </a:p>
          <a:p>
            <a:pPr lvl="1" eaLnBrk="1" hangingPunct="1">
              <a:spcAft>
                <a:spcPts val="600"/>
              </a:spcAft>
            </a:pPr>
            <a:r>
              <a:rPr lang="en-US" altLang="en-US" sz="2400" dirty="0"/>
              <a:t>Must maintain association between authority and intended purpose</a:t>
            </a:r>
          </a:p>
          <a:p>
            <a:pPr lvl="1" eaLnBrk="1" hangingPunct="1">
              <a:spcAft>
                <a:spcPts val="600"/>
              </a:spcAft>
            </a:pPr>
            <a:r>
              <a:rPr lang="en-US" altLang="en-US" sz="2400" dirty="0"/>
              <a:t>Capabilities make it easy to </a:t>
            </a:r>
            <a:r>
              <a:rPr lang="en-US" altLang="en-US" sz="2400" b="1" dirty="0">
                <a:solidFill>
                  <a:schemeClr val="accent2"/>
                </a:solidFill>
              </a:rPr>
              <a:t>delegate</a:t>
            </a:r>
            <a:r>
              <a:rPr lang="en-US" altLang="en-US" sz="2400" dirty="0"/>
              <a:t> authority</a:t>
            </a:r>
          </a:p>
        </p:txBody>
      </p:sp>
      <p:sp>
        <p:nvSpPr>
          <p:cNvPr id="14340" name="Date Placeholder 1"/>
          <p:cNvSpPr>
            <a:spLocks noGrp="1"/>
          </p:cNvSpPr>
          <p:nvPr>
            <p:ph type="dt" sz="quarter" idx="10"/>
          </p:nvPr>
        </p:nvSpPr>
        <p:spPr>
          <a:noFill/>
        </p:spPr>
        <p:txBody>
          <a:bodyPr/>
          <a:lstStyle>
            <a:lvl1pPr algn="l" eaLnBrk="0" hangingPunct="0">
              <a:lnSpc>
                <a:spcPct val="95000"/>
              </a:lnSpc>
              <a:spcBef>
                <a:spcPct val="20000"/>
              </a:spcBef>
              <a:defRPr sz="2400">
                <a:solidFill>
                  <a:schemeClr val="tx1"/>
                </a:solidFill>
                <a:latin typeface="Times New Roman" panose="02020603050405020304" pitchFamily="18" charset="0"/>
              </a:defRPr>
            </a:lvl1pPr>
            <a:lvl2pPr marL="742950" indent="-285750" algn="l" eaLnBrk="0" hangingPunct="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gn="l" eaLnBrk="0" hangingPunct="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eaLnBrk="1" hangingPunct="1">
              <a:lnSpc>
                <a:spcPct val="100000"/>
              </a:lnSpc>
              <a:spcBef>
                <a:spcPct val="0"/>
              </a:spcBef>
            </a:pPr>
            <a:r>
              <a:rPr lang="en-US" altLang="zh-CN" sz="1600">
                <a:ea typeface="宋体" panose="02010600030101010101" pitchFamily="2" charset="-122"/>
              </a:rPr>
              <a:t>CS7900, Meilin Liu </a:t>
            </a:r>
          </a:p>
        </p:txBody>
      </p:sp>
      <p:sp>
        <p:nvSpPr>
          <p:cNvPr id="14341" name="Slide Number Placeholder 2"/>
          <p:cNvSpPr>
            <a:spLocks noGrp="1"/>
          </p:cNvSpPr>
          <p:nvPr>
            <p:ph type="sldNum" sz="quarter" idx="12"/>
          </p:nvPr>
        </p:nvSpPr>
        <p:spPr>
          <a:noFill/>
        </p:spPr>
        <p:txBody>
          <a:bodyPr/>
          <a:lstStyle>
            <a:lvl1pPr algn="l" eaLnBrk="0" hangingPunct="0">
              <a:lnSpc>
                <a:spcPct val="95000"/>
              </a:lnSpc>
              <a:spcBef>
                <a:spcPct val="20000"/>
              </a:spcBef>
              <a:defRPr sz="2400">
                <a:solidFill>
                  <a:schemeClr val="tx1"/>
                </a:solidFill>
                <a:latin typeface="Times New Roman" panose="02020603050405020304" pitchFamily="18" charset="0"/>
              </a:defRPr>
            </a:lvl1pPr>
            <a:lvl2pPr marL="742950" indent="-285750" algn="l" eaLnBrk="0" hangingPunct="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gn="l" eaLnBrk="0" hangingPunct="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gn="r" eaLnBrk="1" hangingPunct="1">
              <a:lnSpc>
                <a:spcPct val="100000"/>
              </a:lnSpc>
              <a:spcBef>
                <a:spcPct val="0"/>
              </a:spcBef>
            </a:pPr>
            <a:fld id="{A795F4BB-C011-43DC-A461-27F5A319A5C4}" type="slidenum">
              <a:rPr lang="zh-CN" altLang="en-US" sz="1400"/>
              <a:pPr algn="r" eaLnBrk="1" hangingPunct="1">
                <a:lnSpc>
                  <a:spcPct val="100000"/>
                </a:lnSpc>
                <a:spcBef>
                  <a:spcPct val="0"/>
                </a:spcBef>
              </a:pPr>
              <a:t>46</a:t>
            </a:fld>
            <a:endParaRPr lang="en-US" altLang="zh-CN" sz="1400"/>
          </a:p>
        </p:txBody>
      </p:sp>
    </p:spTree>
    <p:extLst>
      <p:ext uri="{BB962C8B-B14F-4D97-AF65-F5344CB8AC3E}">
        <p14:creationId xmlns:p14="http://schemas.microsoft.com/office/powerpoint/2010/main" val="267064960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211971">
                                            <p:txEl>
                                              <p:pRg st="0" end="0"/>
                                            </p:txEl>
                                          </p:spTgt>
                                        </p:tgtEl>
                                        <p:attrNameLst>
                                          <p:attrName>style.visibility</p:attrName>
                                        </p:attrNameLst>
                                      </p:cBhvr>
                                      <p:to>
                                        <p:strVal val="visible"/>
                                      </p:to>
                                    </p:set>
                                    <p:animEffect transition="in" filter="box(out)">
                                      <p:cBhvr>
                                        <p:cTn id="7" dur="500"/>
                                        <p:tgtEl>
                                          <p:spTgt spid="211971">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211971">
                                            <p:txEl>
                                              <p:pRg st="1" end="1"/>
                                            </p:txEl>
                                          </p:spTgt>
                                        </p:tgtEl>
                                        <p:attrNameLst>
                                          <p:attrName>style.visibility</p:attrName>
                                        </p:attrNameLst>
                                      </p:cBhvr>
                                      <p:to>
                                        <p:strVal val="visible"/>
                                      </p:to>
                                    </p:set>
                                    <p:animEffect transition="in" filter="box(out)">
                                      <p:cBhvr>
                                        <p:cTn id="12" dur="500"/>
                                        <p:tgtEl>
                                          <p:spTgt spid="211971">
                                            <p:txEl>
                                              <p:pRg st="1" end="1"/>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
                                        </p:tgtEl>
                                      </p:cMediaNode>
                                    </p:audio>
                                  </p:sub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211971">
                                            <p:txEl>
                                              <p:pRg st="2" end="2"/>
                                            </p:txEl>
                                          </p:spTgt>
                                        </p:tgtEl>
                                        <p:attrNameLst>
                                          <p:attrName>style.visibility</p:attrName>
                                        </p:attrNameLst>
                                      </p:cBhvr>
                                      <p:to>
                                        <p:strVal val="visible"/>
                                      </p:to>
                                    </p:set>
                                    <p:animEffect transition="in" filter="box(out)">
                                      <p:cBhvr>
                                        <p:cTn id="17" dur="500"/>
                                        <p:tgtEl>
                                          <p:spTgt spid="211971">
                                            <p:txEl>
                                              <p:pRg st="2" end="2"/>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
                                        </p:tgtEl>
                                      </p:cMediaNode>
                                    </p:audio>
                                  </p:sub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211971">
                                            <p:txEl>
                                              <p:pRg st="3" end="3"/>
                                            </p:txEl>
                                          </p:spTgt>
                                        </p:tgtEl>
                                        <p:attrNameLst>
                                          <p:attrName>style.visibility</p:attrName>
                                        </p:attrNameLst>
                                      </p:cBhvr>
                                      <p:to>
                                        <p:strVal val="visible"/>
                                      </p:to>
                                    </p:set>
                                    <p:animEffect transition="in" filter="box(out)">
                                      <p:cBhvr>
                                        <p:cTn id="22" dur="500"/>
                                        <p:tgtEl>
                                          <p:spTgt spid="211971">
                                            <p:txEl>
                                              <p:pRg st="3" end="3"/>
                                            </p:txEl>
                                          </p:spTgt>
                                        </p:tgtEl>
                                      </p:cBhvr>
                                    </p:animEffect>
                                  </p:childTnLst>
                                  <p:subTnLst>
                                    <p:audio>
                                      <p:cMediaNode>
                                        <p:cTn display="0" masterRel="sameClick">
                                          <p:stCondLst>
                                            <p:cond evt="begin" delay="0">
                                              <p:tn val="20"/>
                                            </p:cond>
                                          </p:stCondLst>
                                          <p:endCondLst>
                                            <p:cond evt="onStopAudio" delay="0">
                                              <p:tgtEl>
                                                <p:sldTgt/>
                                              </p:tgtEl>
                                            </p:cond>
                                          </p:endCondLst>
                                        </p:cTn>
                                        <p:tgtEl>
                                          <p:sndTgt r:embed="rId2" name="Camera"/>
                                        </p:tgtEl>
                                      </p:cMediaNode>
                                    </p:audio>
                                  </p:sub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211971">
                                            <p:txEl>
                                              <p:pRg st="4" end="4"/>
                                            </p:txEl>
                                          </p:spTgt>
                                        </p:tgtEl>
                                        <p:attrNameLst>
                                          <p:attrName>style.visibility</p:attrName>
                                        </p:attrNameLst>
                                      </p:cBhvr>
                                      <p:to>
                                        <p:strVal val="visible"/>
                                      </p:to>
                                    </p:set>
                                    <p:animEffect transition="in" filter="box(out)">
                                      <p:cBhvr>
                                        <p:cTn id="27" dur="500"/>
                                        <p:tgtEl>
                                          <p:spTgt spid="211971">
                                            <p:txEl>
                                              <p:pRg st="4" end="4"/>
                                            </p:txEl>
                                          </p:spTgt>
                                        </p:tgtEl>
                                      </p:cBhvr>
                                    </p:animEffect>
                                  </p:childTnLst>
                                  <p:subTnLst>
                                    <p:audio>
                                      <p:cMediaNode>
                                        <p:cTn display="0" masterRel="sameClick">
                                          <p:stCondLst>
                                            <p:cond evt="begin" delay="0">
                                              <p:tn val="25"/>
                                            </p:cond>
                                          </p:stCondLst>
                                          <p:endCondLst>
                                            <p:cond evt="onStopAudio" delay="0">
                                              <p:tgtEl>
                                                <p:sldTgt/>
                                              </p:tgtEl>
                                            </p:cond>
                                          </p:endCondLst>
                                        </p:cTn>
                                        <p:tgtEl>
                                          <p:sndTgt r:embed="rId2" name="Camera"/>
                                        </p:tgtEl>
                                      </p:cMediaNode>
                                    </p:audio>
                                  </p:sub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211971">
                                            <p:txEl>
                                              <p:pRg st="5" end="5"/>
                                            </p:txEl>
                                          </p:spTgt>
                                        </p:tgtEl>
                                        <p:attrNameLst>
                                          <p:attrName>style.visibility</p:attrName>
                                        </p:attrNameLst>
                                      </p:cBhvr>
                                      <p:to>
                                        <p:strVal val="visible"/>
                                      </p:to>
                                    </p:set>
                                    <p:animEffect transition="in" filter="box(out)">
                                      <p:cBhvr>
                                        <p:cTn id="32" dur="500"/>
                                        <p:tgtEl>
                                          <p:spTgt spid="211971">
                                            <p:txEl>
                                              <p:pRg st="5" end="5"/>
                                            </p:txEl>
                                          </p:spTgt>
                                        </p:tgtEl>
                                      </p:cBhvr>
                                    </p:animEffect>
                                  </p:childTnLst>
                                  <p:subTnLst>
                                    <p:audio>
                                      <p:cMediaNode>
                                        <p:cTn display="0" masterRel="sameClick">
                                          <p:stCondLst>
                                            <p:cond evt="begin" delay="0">
                                              <p:tn val="30"/>
                                            </p:cond>
                                          </p:stCondLst>
                                          <p:endCondLst>
                                            <p:cond evt="onStopAudio" delay="0">
                                              <p:tgtEl>
                                                <p:sldTgt/>
                                              </p:tgtEl>
                                            </p:cond>
                                          </p:endCondLst>
                                        </p:cTn>
                                        <p:tgtEl>
                                          <p:sndTgt r:embed="rId2" name="Camera"/>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1971" grpId="0" build="p" bldLvl="2"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685800" y="381000"/>
            <a:ext cx="7772400" cy="914400"/>
          </a:xfrm>
        </p:spPr>
        <p:txBody>
          <a:bodyPr/>
          <a:lstStyle/>
          <a:p>
            <a:pPr eaLnBrk="1" hangingPunct="1"/>
            <a:r>
              <a:rPr lang="en-US" altLang="en-US"/>
              <a:t>ACLs vs Capabilities</a:t>
            </a:r>
          </a:p>
        </p:txBody>
      </p:sp>
      <p:sp>
        <p:nvSpPr>
          <p:cNvPr id="343043" name="Rectangle 3"/>
          <p:cNvSpPr>
            <a:spLocks noGrp="1" noChangeArrowheads="1"/>
          </p:cNvSpPr>
          <p:nvPr>
            <p:ph type="body" idx="1"/>
          </p:nvPr>
        </p:nvSpPr>
        <p:spPr>
          <a:xfrm>
            <a:off x="685800" y="1371600"/>
            <a:ext cx="7848600" cy="4724400"/>
          </a:xfrm>
        </p:spPr>
        <p:txBody>
          <a:bodyPr>
            <a:normAutofit lnSpcReduction="10000"/>
          </a:bodyPr>
          <a:lstStyle/>
          <a:p>
            <a:pPr eaLnBrk="1" hangingPunct="1">
              <a:lnSpc>
                <a:spcPct val="90000"/>
              </a:lnSpc>
            </a:pPr>
            <a:r>
              <a:rPr lang="en-US" altLang="en-US" sz="2800" dirty="0"/>
              <a:t>ACLs</a:t>
            </a:r>
          </a:p>
          <a:p>
            <a:pPr lvl="1" eaLnBrk="1" hangingPunct="1"/>
            <a:r>
              <a:rPr lang="en-US" altLang="en-US" sz="2400" dirty="0"/>
              <a:t>Good when users manage their own files</a:t>
            </a:r>
          </a:p>
          <a:p>
            <a:pPr lvl="1" eaLnBrk="1" hangingPunct="1"/>
            <a:r>
              <a:rPr lang="en-US" altLang="en-US" sz="2400" dirty="0"/>
              <a:t>Protection is data-oriented</a:t>
            </a:r>
          </a:p>
          <a:p>
            <a:pPr lvl="1" eaLnBrk="1" hangingPunct="1"/>
            <a:r>
              <a:rPr lang="en-US" altLang="en-US" sz="2400" dirty="0"/>
              <a:t>Easy to change rights to a resource</a:t>
            </a:r>
          </a:p>
          <a:p>
            <a:pPr eaLnBrk="1" hangingPunct="1">
              <a:lnSpc>
                <a:spcPct val="90000"/>
              </a:lnSpc>
            </a:pPr>
            <a:r>
              <a:rPr lang="en-US" altLang="en-US" sz="2800" dirty="0"/>
              <a:t>Capabilities</a:t>
            </a:r>
          </a:p>
          <a:p>
            <a:pPr lvl="1" eaLnBrk="1" hangingPunct="1"/>
            <a:r>
              <a:rPr lang="en-US" altLang="en-US" sz="2400" dirty="0"/>
              <a:t>Easy to delegate---avoid the </a:t>
            </a:r>
            <a:r>
              <a:rPr lang="en-US" altLang="en-US" sz="2400" dirty="0">
                <a:solidFill>
                  <a:schemeClr val="accent2"/>
                </a:solidFill>
                <a:hlinkClick r:id="rId3"/>
              </a:rPr>
              <a:t>confused deputy</a:t>
            </a:r>
            <a:endParaRPr lang="en-US" altLang="en-US" sz="2400" dirty="0">
              <a:solidFill>
                <a:schemeClr val="accent2"/>
              </a:solidFill>
            </a:endParaRPr>
          </a:p>
          <a:p>
            <a:pPr lvl="1" eaLnBrk="1" hangingPunct="1"/>
            <a:r>
              <a:rPr lang="en-US" altLang="en-US" sz="2400" dirty="0"/>
              <a:t>Easy to add/delete users</a:t>
            </a:r>
          </a:p>
          <a:p>
            <a:pPr lvl="1" eaLnBrk="1" hangingPunct="1"/>
            <a:r>
              <a:rPr lang="en-US" altLang="en-US" sz="2400" dirty="0"/>
              <a:t>More difficult to implement</a:t>
            </a:r>
          </a:p>
          <a:p>
            <a:pPr lvl="1" eaLnBrk="1" hangingPunct="1"/>
            <a:r>
              <a:rPr lang="en-US" altLang="en-US" sz="2400" dirty="0"/>
              <a:t>The “Zen of information security”</a:t>
            </a:r>
          </a:p>
          <a:p>
            <a:pPr eaLnBrk="1" hangingPunct="1">
              <a:lnSpc>
                <a:spcPct val="90000"/>
              </a:lnSpc>
            </a:pPr>
            <a:r>
              <a:rPr lang="en-US" altLang="en-US" sz="2800" dirty="0"/>
              <a:t>Capabilities loved by academics </a:t>
            </a:r>
          </a:p>
          <a:p>
            <a:pPr lvl="1" eaLnBrk="1" hangingPunct="1"/>
            <a:r>
              <a:rPr lang="en-US" altLang="en-US" sz="2400" dirty="0">
                <a:hlinkClick r:id="rId4"/>
              </a:rPr>
              <a:t>Capability Myths Demolished</a:t>
            </a:r>
            <a:endParaRPr lang="en-US" altLang="en-US" sz="2400" dirty="0"/>
          </a:p>
        </p:txBody>
      </p:sp>
      <p:sp>
        <p:nvSpPr>
          <p:cNvPr id="15364" name="Date Placeholder 1"/>
          <p:cNvSpPr>
            <a:spLocks noGrp="1"/>
          </p:cNvSpPr>
          <p:nvPr>
            <p:ph type="dt" sz="quarter" idx="10"/>
          </p:nvPr>
        </p:nvSpPr>
        <p:spPr>
          <a:noFill/>
        </p:spPr>
        <p:txBody>
          <a:bodyPr/>
          <a:lstStyle>
            <a:lvl1pPr algn="l" eaLnBrk="0" hangingPunct="0">
              <a:lnSpc>
                <a:spcPct val="95000"/>
              </a:lnSpc>
              <a:spcBef>
                <a:spcPct val="20000"/>
              </a:spcBef>
              <a:defRPr sz="2400">
                <a:solidFill>
                  <a:schemeClr val="tx1"/>
                </a:solidFill>
                <a:latin typeface="Times New Roman" panose="02020603050405020304" pitchFamily="18" charset="0"/>
              </a:defRPr>
            </a:lvl1pPr>
            <a:lvl2pPr marL="742950" indent="-285750" algn="l" eaLnBrk="0" hangingPunct="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gn="l" eaLnBrk="0" hangingPunct="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eaLnBrk="1" hangingPunct="1">
              <a:lnSpc>
                <a:spcPct val="100000"/>
              </a:lnSpc>
              <a:spcBef>
                <a:spcPct val="0"/>
              </a:spcBef>
            </a:pPr>
            <a:r>
              <a:rPr lang="en-US" altLang="zh-CN" sz="1600">
                <a:ea typeface="宋体" panose="02010600030101010101" pitchFamily="2" charset="-122"/>
              </a:rPr>
              <a:t>CS7900, Meilin Liu </a:t>
            </a:r>
          </a:p>
        </p:txBody>
      </p:sp>
      <p:sp>
        <p:nvSpPr>
          <p:cNvPr id="15365" name="Slide Number Placeholder 2"/>
          <p:cNvSpPr>
            <a:spLocks noGrp="1"/>
          </p:cNvSpPr>
          <p:nvPr>
            <p:ph type="sldNum" sz="quarter" idx="12"/>
          </p:nvPr>
        </p:nvSpPr>
        <p:spPr>
          <a:noFill/>
        </p:spPr>
        <p:txBody>
          <a:bodyPr/>
          <a:lstStyle>
            <a:lvl1pPr algn="l" eaLnBrk="0" hangingPunct="0">
              <a:lnSpc>
                <a:spcPct val="95000"/>
              </a:lnSpc>
              <a:spcBef>
                <a:spcPct val="20000"/>
              </a:spcBef>
              <a:defRPr sz="2400">
                <a:solidFill>
                  <a:schemeClr val="tx1"/>
                </a:solidFill>
                <a:latin typeface="Times New Roman" panose="02020603050405020304" pitchFamily="18" charset="0"/>
              </a:defRPr>
            </a:lvl1pPr>
            <a:lvl2pPr marL="742950" indent="-285750" algn="l" eaLnBrk="0" hangingPunct="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gn="l" eaLnBrk="0" hangingPunct="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gn="r" eaLnBrk="1" hangingPunct="1">
              <a:lnSpc>
                <a:spcPct val="100000"/>
              </a:lnSpc>
              <a:spcBef>
                <a:spcPct val="0"/>
              </a:spcBef>
            </a:pPr>
            <a:fld id="{BF2DF4C2-B3FE-4A94-A32A-0DB92BB3EB46}" type="slidenum">
              <a:rPr lang="zh-CN" altLang="en-US" sz="1400"/>
              <a:pPr algn="r" eaLnBrk="1" hangingPunct="1">
                <a:lnSpc>
                  <a:spcPct val="100000"/>
                </a:lnSpc>
                <a:spcBef>
                  <a:spcPct val="0"/>
                </a:spcBef>
              </a:pPr>
              <a:t>47</a:t>
            </a:fld>
            <a:endParaRPr lang="en-US" altLang="zh-CN" sz="1400"/>
          </a:p>
        </p:txBody>
      </p:sp>
    </p:spTree>
    <p:extLst>
      <p:ext uri="{BB962C8B-B14F-4D97-AF65-F5344CB8AC3E}">
        <p14:creationId xmlns:p14="http://schemas.microsoft.com/office/powerpoint/2010/main" val="190290149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343043">
                                            <p:txEl>
                                              <p:pRg st="0" end="0"/>
                                            </p:txEl>
                                          </p:spTgt>
                                        </p:tgtEl>
                                        <p:attrNameLst>
                                          <p:attrName>style.visibility</p:attrName>
                                        </p:attrNameLst>
                                      </p:cBhvr>
                                      <p:to>
                                        <p:strVal val="visible"/>
                                      </p:to>
                                    </p:set>
                                    <p:animEffect transition="in" filter="box(out)">
                                      <p:cBhvr>
                                        <p:cTn id="7" dur="500"/>
                                        <p:tgtEl>
                                          <p:spTgt spid="343043">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
                                        </p:tgtEl>
                                      </p:cMediaNode>
                                    </p:audio>
                                  </p:subTnLst>
                                </p:cTn>
                              </p:par>
                              <p:par>
                                <p:cTn id="8" presetID="4" presetClass="entr" presetSubtype="32" fill="hold" grpId="0" nodeType="withEffect">
                                  <p:stCondLst>
                                    <p:cond delay="0"/>
                                  </p:stCondLst>
                                  <p:childTnLst>
                                    <p:set>
                                      <p:cBhvr>
                                        <p:cTn id="9" dur="1" fill="hold">
                                          <p:stCondLst>
                                            <p:cond delay="0"/>
                                          </p:stCondLst>
                                        </p:cTn>
                                        <p:tgtEl>
                                          <p:spTgt spid="343043">
                                            <p:txEl>
                                              <p:pRg st="1" end="1"/>
                                            </p:txEl>
                                          </p:spTgt>
                                        </p:tgtEl>
                                        <p:attrNameLst>
                                          <p:attrName>style.visibility</p:attrName>
                                        </p:attrNameLst>
                                      </p:cBhvr>
                                      <p:to>
                                        <p:strVal val="visible"/>
                                      </p:to>
                                    </p:set>
                                    <p:animEffect transition="in" filter="box(out)">
                                      <p:cBhvr>
                                        <p:cTn id="10" dur="500"/>
                                        <p:tgtEl>
                                          <p:spTgt spid="343043">
                                            <p:txEl>
                                              <p:pRg st="1" end="1"/>
                                            </p:txEl>
                                          </p:spTgt>
                                        </p:tgtEl>
                                      </p:cBhvr>
                                    </p:animEffect>
                                  </p:childTnLst>
                                  <p:subTnLst>
                                    <p:audio>
                                      <p:cMediaNode>
                                        <p:cTn display="0" masterRel="sameClick">
                                          <p:stCondLst>
                                            <p:cond evt="begin" delay="0">
                                              <p:tn val="8"/>
                                            </p:cond>
                                          </p:stCondLst>
                                          <p:endCondLst>
                                            <p:cond evt="onStopAudio" delay="0">
                                              <p:tgtEl>
                                                <p:sldTgt/>
                                              </p:tgtEl>
                                            </p:cond>
                                          </p:endCondLst>
                                        </p:cTn>
                                        <p:tgtEl>
                                          <p:sndTgt r:embed="rId2" name="Camera"/>
                                        </p:tgtEl>
                                      </p:cMediaNode>
                                    </p:audio>
                                  </p:subTnLst>
                                </p:cTn>
                              </p:par>
                              <p:par>
                                <p:cTn id="11" presetID="4" presetClass="entr" presetSubtype="32" fill="hold" grpId="0" nodeType="withEffect">
                                  <p:stCondLst>
                                    <p:cond delay="0"/>
                                  </p:stCondLst>
                                  <p:childTnLst>
                                    <p:set>
                                      <p:cBhvr>
                                        <p:cTn id="12" dur="1" fill="hold">
                                          <p:stCondLst>
                                            <p:cond delay="0"/>
                                          </p:stCondLst>
                                        </p:cTn>
                                        <p:tgtEl>
                                          <p:spTgt spid="343043">
                                            <p:txEl>
                                              <p:pRg st="2" end="2"/>
                                            </p:txEl>
                                          </p:spTgt>
                                        </p:tgtEl>
                                        <p:attrNameLst>
                                          <p:attrName>style.visibility</p:attrName>
                                        </p:attrNameLst>
                                      </p:cBhvr>
                                      <p:to>
                                        <p:strVal val="visible"/>
                                      </p:to>
                                    </p:set>
                                    <p:animEffect transition="in" filter="box(out)">
                                      <p:cBhvr>
                                        <p:cTn id="13" dur="500"/>
                                        <p:tgtEl>
                                          <p:spTgt spid="343043">
                                            <p:txEl>
                                              <p:pRg st="2" end="2"/>
                                            </p:txEl>
                                          </p:spTgt>
                                        </p:tgtEl>
                                      </p:cBhvr>
                                    </p:animEffect>
                                  </p:childTnLst>
                                  <p:subTnLst>
                                    <p:audio>
                                      <p:cMediaNode>
                                        <p:cTn display="0" masterRel="sameClick">
                                          <p:stCondLst>
                                            <p:cond evt="begin" delay="0">
                                              <p:tn val="11"/>
                                            </p:cond>
                                          </p:stCondLst>
                                          <p:endCondLst>
                                            <p:cond evt="onStopAudio" delay="0">
                                              <p:tgtEl>
                                                <p:sldTgt/>
                                              </p:tgtEl>
                                            </p:cond>
                                          </p:endCondLst>
                                        </p:cTn>
                                        <p:tgtEl>
                                          <p:sndTgt r:embed="rId2" name="Camera"/>
                                        </p:tgtEl>
                                      </p:cMediaNode>
                                    </p:audio>
                                  </p:subTnLst>
                                </p:cTn>
                              </p:par>
                              <p:par>
                                <p:cTn id="14" presetID="4" presetClass="entr" presetSubtype="32" fill="hold" grpId="0" nodeType="withEffect">
                                  <p:stCondLst>
                                    <p:cond delay="0"/>
                                  </p:stCondLst>
                                  <p:childTnLst>
                                    <p:set>
                                      <p:cBhvr>
                                        <p:cTn id="15" dur="1" fill="hold">
                                          <p:stCondLst>
                                            <p:cond delay="0"/>
                                          </p:stCondLst>
                                        </p:cTn>
                                        <p:tgtEl>
                                          <p:spTgt spid="343043">
                                            <p:txEl>
                                              <p:pRg st="3" end="3"/>
                                            </p:txEl>
                                          </p:spTgt>
                                        </p:tgtEl>
                                        <p:attrNameLst>
                                          <p:attrName>style.visibility</p:attrName>
                                        </p:attrNameLst>
                                      </p:cBhvr>
                                      <p:to>
                                        <p:strVal val="visible"/>
                                      </p:to>
                                    </p:set>
                                    <p:animEffect transition="in" filter="box(out)">
                                      <p:cBhvr>
                                        <p:cTn id="16" dur="500"/>
                                        <p:tgtEl>
                                          <p:spTgt spid="343043">
                                            <p:txEl>
                                              <p:pRg st="3" end="3"/>
                                            </p:txEl>
                                          </p:spTgt>
                                        </p:tgtEl>
                                      </p:cBhvr>
                                    </p:animEffect>
                                  </p:childTnLst>
                                  <p:subTnLst>
                                    <p:audio>
                                      <p:cMediaNode>
                                        <p:cTn display="0" masterRel="sameClick">
                                          <p:stCondLst>
                                            <p:cond evt="begin" delay="0">
                                              <p:tn val="14"/>
                                            </p:cond>
                                          </p:stCondLst>
                                          <p:endCondLst>
                                            <p:cond evt="onStopAudio" delay="0">
                                              <p:tgtEl>
                                                <p:sldTgt/>
                                              </p:tgtEl>
                                            </p:cond>
                                          </p:endCondLst>
                                        </p:cTn>
                                        <p:tgtEl>
                                          <p:sndTgt r:embed="rId2" name="Camera"/>
                                        </p:tgtEl>
                                      </p:cMediaNode>
                                    </p:audio>
                                  </p:subTnLst>
                                </p:cTn>
                              </p:par>
                            </p:childTnLst>
                          </p:cTn>
                        </p:par>
                      </p:childTnLst>
                    </p:cTn>
                  </p:par>
                  <p:par>
                    <p:cTn id="17" fill="hold" nodeType="clickPar">
                      <p:stCondLst>
                        <p:cond delay="indefinite"/>
                      </p:stCondLst>
                      <p:childTnLst>
                        <p:par>
                          <p:cTn id="18" fill="hold" nodeType="withGroup">
                            <p:stCondLst>
                              <p:cond delay="0"/>
                            </p:stCondLst>
                            <p:childTnLst>
                              <p:par>
                                <p:cTn id="19" presetID="4" presetClass="entr" presetSubtype="32" fill="hold" grpId="0" nodeType="clickEffect">
                                  <p:stCondLst>
                                    <p:cond delay="0"/>
                                  </p:stCondLst>
                                  <p:childTnLst>
                                    <p:set>
                                      <p:cBhvr>
                                        <p:cTn id="20" dur="1" fill="hold">
                                          <p:stCondLst>
                                            <p:cond delay="0"/>
                                          </p:stCondLst>
                                        </p:cTn>
                                        <p:tgtEl>
                                          <p:spTgt spid="343043">
                                            <p:txEl>
                                              <p:pRg st="4" end="4"/>
                                            </p:txEl>
                                          </p:spTgt>
                                        </p:tgtEl>
                                        <p:attrNameLst>
                                          <p:attrName>style.visibility</p:attrName>
                                        </p:attrNameLst>
                                      </p:cBhvr>
                                      <p:to>
                                        <p:strVal val="visible"/>
                                      </p:to>
                                    </p:set>
                                    <p:animEffect transition="in" filter="box(out)">
                                      <p:cBhvr>
                                        <p:cTn id="21" dur="500"/>
                                        <p:tgtEl>
                                          <p:spTgt spid="343043">
                                            <p:txEl>
                                              <p:pRg st="4" end="4"/>
                                            </p:txEl>
                                          </p:spTgt>
                                        </p:tgtEl>
                                      </p:cBhvr>
                                    </p:animEffect>
                                  </p:childTnLst>
                                  <p:subTnLst>
                                    <p:audio>
                                      <p:cMediaNode>
                                        <p:cTn display="0" masterRel="sameClick">
                                          <p:stCondLst>
                                            <p:cond evt="begin" delay="0">
                                              <p:tn val="19"/>
                                            </p:cond>
                                          </p:stCondLst>
                                          <p:endCondLst>
                                            <p:cond evt="onStopAudio" delay="0">
                                              <p:tgtEl>
                                                <p:sldTgt/>
                                              </p:tgtEl>
                                            </p:cond>
                                          </p:endCondLst>
                                        </p:cTn>
                                        <p:tgtEl>
                                          <p:sndTgt r:embed="rId2" name="Camera"/>
                                        </p:tgtEl>
                                      </p:cMediaNode>
                                    </p:audio>
                                  </p:subTnLst>
                                </p:cTn>
                              </p:par>
                              <p:par>
                                <p:cTn id="22" presetID="4" presetClass="entr" presetSubtype="32" fill="hold" grpId="0" nodeType="withEffect">
                                  <p:stCondLst>
                                    <p:cond delay="0"/>
                                  </p:stCondLst>
                                  <p:childTnLst>
                                    <p:set>
                                      <p:cBhvr>
                                        <p:cTn id="23" dur="1" fill="hold">
                                          <p:stCondLst>
                                            <p:cond delay="0"/>
                                          </p:stCondLst>
                                        </p:cTn>
                                        <p:tgtEl>
                                          <p:spTgt spid="343043">
                                            <p:txEl>
                                              <p:pRg st="5" end="5"/>
                                            </p:txEl>
                                          </p:spTgt>
                                        </p:tgtEl>
                                        <p:attrNameLst>
                                          <p:attrName>style.visibility</p:attrName>
                                        </p:attrNameLst>
                                      </p:cBhvr>
                                      <p:to>
                                        <p:strVal val="visible"/>
                                      </p:to>
                                    </p:set>
                                    <p:animEffect transition="in" filter="box(out)">
                                      <p:cBhvr>
                                        <p:cTn id="24" dur="500"/>
                                        <p:tgtEl>
                                          <p:spTgt spid="343043">
                                            <p:txEl>
                                              <p:pRg st="5" end="5"/>
                                            </p:txEl>
                                          </p:spTgt>
                                        </p:tgtEl>
                                      </p:cBhvr>
                                    </p:animEffect>
                                  </p:childTnLst>
                                  <p:subTnLst>
                                    <p:audio>
                                      <p:cMediaNode>
                                        <p:cTn display="0" masterRel="sameClick">
                                          <p:stCondLst>
                                            <p:cond evt="begin" delay="0">
                                              <p:tn val="22"/>
                                            </p:cond>
                                          </p:stCondLst>
                                          <p:endCondLst>
                                            <p:cond evt="onStopAudio" delay="0">
                                              <p:tgtEl>
                                                <p:sldTgt/>
                                              </p:tgtEl>
                                            </p:cond>
                                          </p:endCondLst>
                                        </p:cTn>
                                        <p:tgtEl>
                                          <p:sndTgt r:embed="rId2" name="Camera"/>
                                        </p:tgtEl>
                                      </p:cMediaNode>
                                    </p:audio>
                                  </p:subTnLst>
                                </p:cTn>
                              </p:par>
                              <p:par>
                                <p:cTn id="25" presetID="4" presetClass="entr" presetSubtype="32" fill="hold" grpId="0" nodeType="withEffect">
                                  <p:stCondLst>
                                    <p:cond delay="0"/>
                                  </p:stCondLst>
                                  <p:childTnLst>
                                    <p:set>
                                      <p:cBhvr>
                                        <p:cTn id="26" dur="1" fill="hold">
                                          <p:stCondLst>
                                            <p:cond delay="0"/>
                                          </p:stCondLst>
                                        </p:cTn>
                                        <p:tgtEl>
                                          <p:spTgt spid="343043">
                                            <p:txEl>
                                              <p:pRg st="6" end="6"/>
                                            </p:txEl>
                                          </p:spTgt>
                                        </p:tgtEl>
                                        <p:attrNameLst>
                                          <p:attrName>style.visibility</p:attrName>
                                        </p:attrNameLst>
                                      </p:cBhvr>
                                      <p:to>
                                        <p:strVal val="visible"/>
                                      </p:to>
                                    </p:set>
                                    <p:animEffect transition="in" filter="box(out)">
                                      <p:cBhvr>
                                        <p:cTn id="27" dur="500"/>
                                        <p:tgtEl>
                                          <p:spTgt spid="343043">
                                            <p:txEl>
                                              <p:pRg st="6" end="6"/>
                                            </p:txEl>
                                          </p:spTgt>
                                        </p:tgtEl>
                                      </p:cBhvr>
                                    </p:animEffect>
                                  </p:childTnLst>
                                  <p:subTnLst>
                                    <p:audio>
                                      <p:cMediaNode>
                                        <p:cTn display="0" masterRel="sameClick">
                                          <p:stCondLst>
                                            <p:cond evt="begin" delay="0">
                                              <p:tn val="25"/>
                                            </p:cond>
                                          </p:stCondLst>
                                          <p:endCondLst>
                                            <p:cond evt="onStopAudio" delay="0">
                                              <p:tgtEl>
                                                <p:sldTgt/>
                                              </p:tgtEl>
                                            </p:cond>
                                          </p:endCondLst>
                                        </p:cTn>
                                        <p:tgtEl>
                                          <p:sndTgt r:embed="rId2" name="Camera"/>
                                        </p:tgtEl>
                                      </p:cMediaNode>
                                    </p:audio>
                                  </p:subTnLst>
                                </p:cTn>
                              </p:par>
                              <p:par>
                                <p:cTn id="28" presetID="4" presetClass="entr" presetSubtype="32" fill="hold" grpId="0" nodeType="withEffect">
                                  <p:stCondLst>
                                    <p:cond delay="0"/>
                                  </p:stCondLst>
                                  <p:childTnLst>
                                    <p:set>
                                      <p:cBhvr>
                                        <p:cTn id="29" dur="1" fill="hold">
                                          <p:stCondLst>
                                            <p:cond delay="0"/>
                                          </p:stCondLst>
                                        </p:cTn>
                                        <p:tgtEl>
                                          <p:spTgt spid="343043">
                                            <p:txEl>
                                              <p:pRg st="7" end="7"/>
                                            </p:txEl>
                                          </p:spTgt>
                                        </p:tgtEl>
                                        <p:attrNameLst>
                                          <p:attrName>style.visibility</p:attrName>
                                        </p:attrNameLst>
                                      </p:cBhvr>
                                      <p:to>
                                        <p:strVal val="visible"/>
                                      </p:to>
                                    </p:set>
                                    <p:animEffect transition="in" filter="box(out)">
                                      <p:cBhvr>
                                        <p:cTn id="30" dur="500"/>
                                        <p:tgtEl>
                                          <p:spTgt spid="343043">
                                            <p:txEl>
                                              <p:pRg st="7" end="7"/>
                                            </p:txEl>
                                          </p:spTgt>
                                        </p:tgtEl>
                                      </p:cBhvr>
                                    </p:animEffect>
                                  </p:childTnLst>
                                  <p:subTnLst>
                                    <p:audio>
                                      <p:cMediaNode>
                                        <p:cTn display="0" masterRel="sameClick">
                                          <p:stCondLst>
                                            <p:cond evt="begin" delay="0">
                                              <p:tn val="28"/>
                                            </p:cond>
                                          </p:stCondLst>
                                          <p:endCondLst>
                                            <p:cond evt="onStopAudio" delay="0">
                                              <p:tgtEl>
                                                <p:sldTgt/>
                                              </p:tgtEl>
                                            </p:cond>
                                          </p:endCondLst>
                                        </p:cTn>
                                        <p:tgtEl>
                                          <p:sndTgt r:embed="rId2" name="Camera"/>
                                        </p:tgtEl>
                                      </p:cMediaNode>
                                    </p:audio>
                                  </p:subTnLst>
                                </p:cTn>
                              </p:par>
                              <p:par>
                                <p:cTn id="31" presetID="4" presetClass="entr" presetSubtype="32" fill="hold" grpId="0" nodeType="withEffect">
                                  <p:stCondLst>
                                    <p:cond delay="0"/>
                                  </p:stCondLst>
                                  <p:childTnLst>
                                    <p:set>
                                      <p:cBhvr>
                                        <p:cTn id="32" dur="1" fill="hold">
                                          <p:stCondLst>
                                            <p:cond delay="0"/>
                                          </p:stCondLst>
                                        </p:cTn>
                                        <p:tgtEl>
                                          <p:spTgt spid="343043">
                                            <p:txEl>
                                              <p:pRg st="8" end="8"/>
                                            </p:txEl>
                                          </p:spTgt>
                                        </p:tgtEl>
                                        <p:attrNameLst>
                                          <p:attrName>style.visibility</p:attrName>
                                        </p:attrNameLst>
                                      </p:cBhvr>
                                      <p:to>
                                        <p:strVal val="visible"/>
                                      </p:to>
                                    </p:set>
                                    <p:animEffect transition="in" filter="box(out)">
                                      <p:cBhvr>
                                        <p:cTn id="33" dur="500"/>
                                        <p:tgtEl>
                                          <p:spTgt spid="343043">
                                            <p:txEl>
                                              <p:pRg st="8" end="8"/>
                                            </p:txEl>
                                          </p:spTgt>
                                        </p:tgtEl>
                                      </p:cBhvr>
                                    </p:animEffect>
                                  </p:childTnLst>
                                  <p:subTnLst>
                                    <p:audio>
                                      <p:cMediaNode>
                                        <p:cTn display="0" masterRel="sameClick">
                                          <p:stCondLst>
                                            <p:cond evt="begin" delay="0">
                                              <p:tn val="31"/>
                                            </p:cond>
                                          </p:stCondLst>
                                          <p:endCondLst>
                                            <p:cond evt="onStopAudio" delay="0">
                                              <p:tgtEl>
                                                <p:sldTgt/>
                                              </p:tgtEl>
                                            </p:cond>
                                          </p:endCondLst>
                                        </p:cTn>
                                        <p:tgtEl>
                                          <p:sndTgt r:embed="rId2" name="Camera"/>
                                        </p:tgtEl>
                                      </p:cMediaNode>
                                    </p:audio>
                                  </p:subTnLst>
                                </p:cTn>
                              </p:par>
                            </p:childTnLst>
                          </p:cTn>
                        </p:par>
                      </p:childTnLst>
                    </p:cTn>
                  </p:par>
                  <p:par>
                    <p:cTn id="34" fill="hold" nodeType="clickPar">
                      <p:stCondLst>
                        <p:cond delay="indefinite"/>
                      </p:stCondLst>
                      <p:childTnLst>
                        <p:par>
                          <p:cTn id="35" fill="hold" nodeType="withGroup">
                            <p:stCondLst>
                              <p:cond delay="0"/>
                            </p:stCondLst>
                            <p:childTnLst>
                              <p:par>
                                <p:cTn id="36" presetID="4" presetClass="entr" presetSubtype="32" fill="hold" grpId="0" nodeType="clickEffect">
                                  <p:stCondLst>
                                    <p:cond delay="0"/>
                                  </p:stCondLst>
                                  <p:childTnLst>
                                    <p:set>
                                      <p:cBhvr>
                                        <p:cTn id="37" dur="1" fill="hold">
                                          <p:stCondLst>
                                            <p:cond delay="0"/>
                                          </p:stCondLst>
                                        </p:cTn>
                                        <p:tgtEl>
                                          <p:spTgt spid="343043">
                                            <p:txEl>
                                              <p:pRg st="9" end="9"/>
                                            </p:txEl>
                                          </p:spTgt>
                                        </p:tgtEl>
                                        <p:attrNameLst>
                                          <p:attrName>style.visibility</p:attrName>
                                        </p:attrNameLst>
                                      </p:cBhvr>
                                      <p:to>
                                        <p:strVal val="visible"/>
                                      </p:to>
                                    </p:set>
                                    <p:animEffect transition="in" filter="box(out)">
                                      <p:cBhvr>
                                        <p:cTn id="38" dur="500"/>
                                        <p:tgtEl>
                                          <p:spTgt spid="343043">
                                            <p:txEl>
                                              <p:pRg st="9" end="9"/>
                                            </p:txEl>
                                          </p:spTgt>
                                        </p:tgtEl>
                                      </p:cBhvr>
                                    </p:animEffect>
                                  </p:childTnLst>
                                  <p:subTnLst>
                                    <p:audio>
                                      <p:cMediaNode>
                                        <p:cTn display="0" masterRel="sameClick">
                                          <p:stCondLst>
                                            <p:cond evt="begin" delay="0">
                                              <p:tn val="36"/>
                                            </p:cond>
                                          </p:stCondLst>
                                          <p:endCondLst>
                                            <p:cond evt="onStopAudio" delay="0">
                                              <p:tgtEl>
                                                <p:sldTgt/>
                                              </p:tgtEl>
                                            </p:cond>
                                          </p:endCondLst>
                                        </p:cTn>
                                        <p:tgtEl>
                                          <p:sndTgt r:embed="rId2" name="Camera"/>
                                        </p:tgtEl>
                                      </p:cMediaNode>
                                    </p:audio>
                                  </p:subTnLst>
                                </p:cTn>
                              </p:par>
                              <p:par>
                                <p:cTn id="39" presetID="4" presetClass="entr" presetSubtype="32" fill="hold" grpId="0" nodeType="withEffect">
                                  <p:stCondLst>
                                    <p:cond delay="0"/>
                                  </p:stCondLst>
                                  <p:childTnLst>
                                    <p:set>
                                      <p:cBhvr>
                                        <p:cTn id="40" dur="1" fill="hold">
                                          <p:stCondLst>
                                            <p:cond delay="0"/>
                                          </p:stCondLst>
                                        </p:cTn>
                                        <p:tgtEl>
                                          <p:spTgt spid="343043">
                                            <p:txEl>
                                              <p:pRg st="10" end="10"/>
                                            </p:txEl>
                                          </p:spTgt>
                                        </p:tgtEl>
                                        <p:attrNameLst>
                                          <p:attrName>style.visibility</p:attrName>
                                        </p:attrNameLst>
                                      </p:cBhvr>
                                      <p:to>
                                        <p:strVal val="visible"/>
                                      </p:to>
                                    </p:set>
                                    <p:animEffect transition="in" filter="box(out)">
                                      <p:cBhvr>
                                        <p:cTn id="41" dur="500"/>
                                        <p:tgtEl>
                                          <p:spTgt spid="343043">
                                            <p:txEl>
                                              <p:pRg st="10" end="10"/>
                                            </p:txEl>
                                          </p:spTgt>
                                        </p:tgtEl>
                                      </p:cBhvr>
                                    </p:animEffect>
                                  </p:childTnLst>
                                  <p:subTnLst>
                                    <p:audio>
                                      <p:cMediaNode>
                                        <p:cTn display="0" masterRel="sameClick">
                                          <p:stCondLst>
                                            <p:cond evt="begin" delay="0">
                                              <p:tn val="39"/>
                                            </p:cond>
                                          </p:stCondLst>
                                          <p:endCondLst>
                                            <p:cond evt="onStopAudio" delay="0">
                                              <p:tgtEl>
                                                <p:sldTgt/>
                                              </p:tgtEl>
                                            </p:cond>
                                          </p:endCondLst>
                                        </p:cTn>
                                        <p:tgtEl>
                                          <p:sndTgt r:embed="rId2" name="Camera"/>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3043" grpId="0" build="p" autoUpdateAnimBg="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p:txBody>
          <a:bodyPr/>
          <a:lstStyle/>
          <a:p>
            <a:r>
              <a:rPr lang="en-US" altLang="en-US"/>
              <a:t>Multilevel Security</a:t>
            </a:r>
          </a:p>
        </p:txBody>
      </p:sp>
      <p:sp>
        <p:nvSpPr>
          <p:cNvPr id="1027" name="Rectangle 3"/>
          <p:cNvSpPr>
            <a:spLocks noGrp="1" noChangeArrowheads="1"/>
          </p:cNvSpPr>
          <p:nvPr>
            <p:ph type="body" idx="1"/>
          </p:nvPr>
        </p:nvSpPr>
        <p:spPr/>
        <p:txBody>
          <a:bodyPr>
            <a:normAutofit fontScale="92500" lnSpcReduction="10000"/>
          </a:bodyPr>
          <a:lstStyle/>
          <a:p>
            <a:r>
              <a:rPr lang="en-US" altLang="en-US" sz="2400" dirty="0"/>
              <a:t>Users with different needs to know sharing computer or network</a:t>
            </a:r>
          </a:p>
          <a:p>
            <a:r>
              <a:rPr lang="en-US" altLang="en-US" sz="2400" dirty="0"/>
              <a:t>If don’t need to know – shouldn’t even be able to determine if information exists</a:t>
            </a:r>
          </a:p>
          <a:p>
            <a:r>
              <a:rPr lang="en-US" altLang="en-US" sz="2400" dirty="0"/>
              <a:t>Should be able to filter functionality based on allowable information</a:t>
            </a:r>
          </a:p>
          <a:p>
            <a:r>
              <a:rPr lang="en-US" altLang="en-US" sz="2400" dirty="0">
                <a:solidFill>
                  <a:srgbClr val="FF0000"/>
                </a:solidFill>
              </a:rPr>
              <a:t>Mandatory and Discretionary </a:t>
            </a:r>
            <a:r>
              <a:rPr lang="en-US" altLang="en-US" sz="2400" dirty="0"/>
              <a:t>protections</a:t>
            </a:r>
          </a:p>
          <a:p>
            <a:pPr marL="400050" lvl="1" indent="0">
              <a:buNone/>
            </a:pPr>
            <a:r>
              <a:rPr lang="en-US" altLang="en-US" sz="2200" dirty="0">
                <a:solidFill>
                  <a:srgbClr val="FF0000"/>
                </a:solidFill>
              </a:rPr>
              <a:t>Mandatory access control: </a:t>
            </a:r>
            <a:r>
              <a:rPr lang="en-US" altLang="en-US" sz="2200" dirty="0"/>
              <a:t>(MAC) is an access policy determined by the system, not the owner. MAC is used in multilevel systems that process highly sensitive data, such as classified government and military information. </a:t>
            </a:r>
          </a:p>
          <a:p>
            <a:endParaRPr lang="en-US" sz="2200" dirty="0"/>
          </a:p>
          <a:p>
            <a:pPr marL="400050" lvl="1" indent="0">
              <a:spcBef>
                <a:spcPts val="0"/>
              </a:spcBef>
              <a:buNone/>
              <a:defRPr/>
            </a:pPr>
            <a:r>
              <a:rPr lang="en-US" altLang="en-US" sz="2200" dirty="0">
                <a:solidFill>
                  <a:srgbClr val="FF0000"/>
                </a:solidFill>
              </a:rPr>
              <a:t>Discretionary access control:  </a:t>
            </a:r>
            <a:r>
              <a:rPr lang="en-US" altLang="en-US" sz="2200" dirty="0"/>
              <a:t>(DAC) is an access policy determined by the owner of an object. The owner decides who is allowed to access the object and what privileges they have.</a:t>
            </a:r>
          </a:p>
          <a:p>
            <a:pPr lvl="1"/>
            <a:endParaRPr lang="en-US" altLang="en-US" sz="2000" dirty="0"/>
          </a:p>
        </p:txBody>
      </p:sp>
    </p:spTree>
    <p:extLst>
      <p:ext uri="{BB962C8B-B14F-4D97-AF65-F5344CB8AC3E}">
        <p14:creationId xmlns:p14="http://schemas.microsoft.com/office/powerpoint/2010/main" val="22297321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2">
            <a:extLst>
              <a:ext uri="{FF2B5EF4-FFF2-40B4-BE49-F238E27FC236}">
                <a16:creationId xmlns:a16="http://schemas.microsoft.com/office/drawing/2014/main" id="{E998D989-77BD-480D-A5D5-61CB5790C301}"/>
              </a:ext>
            </a:extLst>
          </p:cNvPr>
          <p:cNvSpPr>
            <a:spLocks noGrp="1" noChangeArrowheads="1"/>
          </p:cNvSpPr>
          <p:nvPr>
            <p:ph type="title"/>
          </p:nvPr>
        </p:nvSpPr>
        <p:spPr>
          <a:xfrm>
            <a:off x="690563" y="127000"/>
            <a:ext cx="7996237" cy="576263"/>
          </a:xfrm>
        </p:spPr>
        <p:txBody>
          <a:bodyPr>
            <a:normAutofit fontScale="90000"/>
          </a:bodyPr>
          <a:lstStyle/>
          <a:p>
            <a:pPr eaLnBrk="1" hangingPunct="1"/>
            <a:r>
              <a:rPr lang="en-US" altLang="en-US" dirty="0">
                <a:solidFill>
                  <a:srgbClr val="C00000"/>
                </a:solidFill>
              </a:rPr>
              <a:t>Mandatory Access Control (MAC)</a:t>
            </a:r>
          </a:p>
        </p:txBody>
      </p:sp>
      <p:sp>
        <p:nvSpPr>
          <p:cNvPr id="60418" name="Rectangle 3">
            <a:extLst>
              <a:ext uri="{FF2B5EF4-FFF2-40B4-BE49-F238E27FC236}">
                <a16:creationId xmlns:a16="http://schemas.microsoft.com/office/drawing/2014/main" id="{3323FF21-8C8A-42E1-8331-5A0DDA7649E1}"/>
              </a:ext>
            </a:extLst>
          </p:cNvPr>
          <p:cNvSpPr>
            <a:spLocks noGrp="1" noChangeArrowheads="1"/>
          </p:cNvSpPr>
          <p:nvPr>
            <p:ph type="body" idx="1"/>
          </p:nvPr>
        </p:nvSpPr>
        <p:spPr>
          <a:xfrm>
            <a:off x="820738" y="1096963"/>
            <a:ext cx="7748587" cy="4813300"/>
          </a:xfrm>
        </p:spPr>
        <p:txBody>
          <a:bodyPr>
            <a:normAutofit fontScale="70000" lnSpcReduction="20000"/>
          </a:bodyPr>
          <a:lstStyle/>
          <a:p>
            <a:r>
              <a:rPr lang="en-US" altLang="en-US" sz="2900" dirty="0">
                <a:latin typeface="Times New Roman" panose="02020603050405020304" pitchFamily="18" charset="0"/>
                <a:cs typeface="Times New Roman" panose="02020603050405020304" pitchFamily="18" charset="0"/>
              </a:rPr>
              <a:t>Operating systems traditionally had discretionary access control (DAC) to limit access to files and other objects (for example UNIX file permissions and Windows access control lists (ACLs))</a:t>
            </a:r>
          </a:p>
          <a:p>
            <a:pPr lvl="1"/>
            <a:r>
              <a:rPr lang="en-US" altLang="en-US" sz="2900" dirty="0">
                <a:latin typeface="Times New Roman" panose="02020603050405020304" pitchFamily="18" charset="0"/>
                <a:cs typeface="Times New Roman" panose="02020603050405020304" pitchFamily="18" charset="0"/>
              </a:rPr>
              <a:t>Discretionary is a weakness – users / admins need to do something to increase protection</a:t>
            </a:r>
          </a:p>
          <a:p>
            <a:r>
              <a:rPr lang="en-US" altLang="en-US" sz="2900" dirty="0">
                <a:latin typeface="Times New Roman" panose="02020603050405020304" pitchFamily="18" charset="0"/>
                <a:cs typeface="Times New Roman" panose="02020603050405020304" pitchFamily="18" charset="0"/>
              </a:rPr>
              <a:t>Stronger form is mandatory access control, which even root user can’t circumvent</a:t>
            </a:r>
          </a:p>
          <a:p>
            <a:pPr lvl="1"/>
            <a:r>
              <a:rPr lang="en-US" altLang="en-US" sz="2900" dirty="0">
                <a:latin typeface="Times New Roman" panose="02020603050405020304" pitchFamily="18" charset="0"/>
                <a:cs typeface="Times New Roman" panose="02020603050405020304" pitchFamily="18" charset="0"/>
              </a:rPr>
              <a:t>Makes resources inaccessible except to their intended owners</a:t>
            </a:r>
          </a:p>
          <a:p>
            <a:pPr lvl="1"/>
            <a:r>
              <a:rPr lang="en-US" altLang="en-US" sz="2900" dirty="0">
                <a:latin typeface="Times New Roman" panose="02020603050405020304" pitchFamily="18" charset="0"/>
                <a:cs typeface="Times New Roman" panose="02020603050405020304" pitchFamily="18" charset="0"/>
              </a:rPr>
              <a:t>Modern systems implement both MAC and DAC, with MAC usually a more secure, optional configuration (Trusted Solaris, </a:t>
            </a:r>
            <a:r>
              <a:rPr lang="en-US" altLang="en-US" sz="2900" dirty="0" err="1">
                <a:latin typeface="Times New Roman" panose="02020603050405020304" pitchFamily="18" charset="0"/>
                <a:cs typeface="Times New Roman" panose="02020603050405020304" pitchFamily="18" charset="0"/>
              </a:rPr>
              <a:t>TrustedBSD</a:t>
            </a:r>
            <a:r>
              <a:rPr lang="en-US" altLang="en-US" sz="2900" dirty="0">
                <a:latin typeface="Times New Roman" panose="02020603050405020304" pitchFamily="18" charset="0"/>
                <a:cs typeface="Times New Roman" panose="02020603050405020304" pitchFamily="18" charset="0"/>
              </a:rPr>
              <a:t> (used in macOS), </a:t>
            </a:r>
            <a:r>
              <a:rPr lang="en-US" altLang="en-US" sz="2900" dirty="0" err="1">
                <a:latin typeface="Times New Roman" panose="02020603050405020304" pitchFamily="18" charset="0"/>
                <a:cs typeface="Times New Roman" panose="02020603050405020304" pitchFamily="18" charset="0"/>
              </a:rPr>
              <a:t>SELinux</a:t>
            </a:r>
            <a:r>
              <a:rPr lang="en-US" altLang="en-US" sz="2900" dirty="0">
                <a:latin typeface="Times New Roman" panose="02020603050405020304" pitchFamily="18" charset="0"/>
                <a:cs typeface="Times New Roman" panose="02020603050405020304" pitchFamily="18" charset="0"/>
              </a:rPr>
              <a:t>), Windows Vista MAC)</a:t>
            </a:r>
          </a:p>
          <a:p>
            <a:r>
              <a:rPr lang="en-US" altLang="en-US" sz="2900" dirty="0">
                <a:latin typeface="Times New Roman" panose="02020603050405020304" pitchFamily="18" charset="0"/>
                <a:cs typeface="Times New Roman" panose="02020603050405020304" pitchFamily="18" charset="0"/>
              </a:rPr>
              <a:t>At its heart, labels assigned to objects and subjects (including processes)</a:t>
            </a:r>
          </a:p>
          <a:p>
            <a:pPr lvl="1"/>
            <a:r>
              <a:rPr lang="en-US" altLang="en-US" sz="2900" dirty="0">
                <a:latin typeface="Times New Roman" panose="02020603050405020304" pitchFamily="18" charset="0"/>
                <a:cs typeface="Times New Roman" panose="02020603050405020304" pitchFamily="18" charset="0"/>
              </a:rPr>
              <a:t>When a subject requests access to an object, policy checked to determine whether or not a given label-holding subject is allowed to perform the action on the object </a:t>
            </a:r>
          </a:p>
          <a:p>
            <a:endParaRPr lang="en-US" altLang="en-US" sz="2900" dirty="0">
              <a:latin typeface="Times New Roman" panose="02020603050405020304" pitchFamily="18" charset="0"/>
              <a:cs typeface="Times New Roman" panose="02020603050405020304" pitchFamily="18" charset="0"/>
            </a:endParaRPr>
          </a:p>
          <a:p>
            <a:pPr lvl="1"/>
            <a:endParaRPr lang="en-US" altLang="en-US" sz="2900" dirty="0">
              <a:latin typeface="Times New Roman" panose="02020603050405020304" pitchFamily="18" charset="0"/>
              <a:cs typeface="Times New Roman" panose="02020603050405020304" pitchFamily="18" charset="0"/>
            </a:endParaRPr>
          </a:p>
          <a:p>
            <a:pPr lvl="1">
              <a:buFont typeface="Monotype Sorts" pitchFamily="-84" charset="2"/>
              <a:buNone/>
            </a:pPr>
            <a:endParaRPr lang="en-US" alt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2">
            <a:extLst>
              <a:ext uri="{FF2B5EF4-FFF2-40B4-BE49-F238E27FC236}">
                <a16:creationId xmlns:a16="http://schemas.microsoft.com/office/drawing/2014/main" id="{0CBD9E1C-AAF9-494C-A430-2C50CEFA3653}"/>
              </a:ext>
            </a:extLst>
          </p:cNvPr>
          <p:cNvSpPr>
            <a:spLocks noGrp="1" noChangeArrowheads="1"/>
          </p:cNvSpPr>
          <p:nvPr>
            <p:ph type="title"/>
          </p:nvPr>
        </p:nvSpPr>
        <p:spPr>
          <a:xfrm>
            <a:off x="690563" y="127000"/>
            <a:ext cx="7996237" cy="576263"/>
          </a:xfrm>
        </p:spPr>
        <p:txBody>
          <a:bodyPr>
            <a:normAutofit fontScale="90000"/>
          </a:bodyPr>
          <a:lstStyle/>
          <a:p>
            <a:pPr eaLnBrk="1" hangingPunct="1"/>
            <a:r>
              <a:rPr lang="en-US" altLang="en-US"/>
              <a:t>Role-based Access Control</a:t>
            </a:r>
          </a:p>
        </p:txBody>
      </p:sp>
      <p:sp>
        <p:nvSpPr>
          <p:cNvPr id="58370" name="Rectangle 3">
            <a:extLst>
              <a:ext uri="{FF2B5EF4-FFF2-40B4-BE49-F238E27FC236}">
                <a16:creationId xmlns:a16="http://schemas.microsoft.com/office/drawing/2014/main" id="{F29D70F3-0A2F-41CB-8D0F-825F7814F6E6}"/>
              </a:ext>
            </a:extLst>
          </p:cNvPr>
          <p:cNvSpPr>
            <a:spLocks noGrp="1" noChangeArrowheads="1"/>
          </p:cNvSpPr>
          <p:nvPr>
            <p:ph type="body" idx="1"/>
          </p:nvPr>
        </p:nvSpPr>
        <p:spPr>
          <a:xfrm>
            <a:off x="820738" y="1096963"/>
            <a:ext cx="4310062" cy="4813300"/>
          </a:xfrm>
        </p:spPr>
        <p:txBody>
          <a:bodyPr>
            <a:normAutofit fontScale="70000" lnSpcReduction="20000"/>
          </a:bodyPr>
          <a:lstStyle/>
          <a:p>
            <a:r>
              <a:rPr lang="en-US" altLang="en-US"/>
              <a:t>Protection can be applied to non-file resources</a:t>
            </a:r>
          </a:p>
          <a:p>
            <a:r>
              <a:rPr lang="en-US" altLang="en-US"/>
              <a:t>Oracle Solaris 10 provides </a:t>
            </a:r>
            <a:r>
              <a:rPr lang="en-US" altLang="en-US" b="1">
                <a:solidFill>
                  <a:srgbClr val="3366FF"/>
                </a:solidFill>
              </a:rPr>
              <a:t>role-based access control </a:t>
            </a:r>
            <a:r>
              <a:rPr lang="en-US" altLang="en-US"/>
              <a:t>(</a:t>
            </a:r>
            <a:r>
              <a:rPr lang="en-US" altLang="en-US" b="1">
                <a:solidFill>
                  <a:srgbClr val="3366FF"/>
                </a:solidFill>
              </a:rPr>
              <a:t>RBAC</a:t>
            </a:r>
            <a:r>
              <a:rPr lang="en-US" altLang="en-US"/>
              <a:t>)</a:t>
            </a:r>
            <a:r>
              <a:rPr lang="en-US" altLang="en-US" b="1"/>
              <a:t> </a:t>
            </a:r>
            <a:r>
              <a:rPr lang="en-US" altLang="en-US"/>
              <a:t>to implement least privilege</a:t>
            </a:r>
          </a:p>
          <a:p>
            <a:pPr lvl="1"/>
            <a:r>
              <a:rPr lang="en-US" altLang="en-US" b="1" i="1"/>
              <a:t>Privilege</a:t>
            </a:r>
            <a:r>
              <a:rPr lang="en-US" altLang="en-US" i="1"/>
              <a:t> </a:t>
            </a:r>
            <a:r>
              <a:rPr lang="en-US" altLang="en-US"/>
              <a:t>is right to execute system call or use an option within a system call</a:t>
            </a:r>
          </a:p>
          <a:p>
            <a:pPr lvl="1"/>
            <a:r>
              <a:rPr lang="en-US" altLang="en-US"/>
              <a:t>Can be assigned to processes</a:t>
            </a:r>
          </a:p>
          <a:p>
            <a:pPr lvl="1"/>
            <a:r>
              <a:rPr lang="en-US" altLang="en-US"/>
              <a:t>Users assigned </a:t>
            </a:r>
            <a:r>
              <a:rPr lang="en-US" altLang="en-US" b="1" i="1"/>
              <a:t>roles</a:t>
            </a:r>
            <a:r>
              <a:rPr lang="en-US" altLang="en-US" i="1"/>
              <a:t> </a:t>
            </a:r>
            <a:r>
              <a:rPr lang="en-US" altLang="en-US"/>
              <a:t>granting access to privileges and programs</a:t>
            </a:r>
          </a:p>
          <a:p>
            <a:pPr lvl="2"/>
            <a:r>
              <a:rPr lang="en-US" altLang="en-US"/>
              <a:t>Enable role via password to gain its privileges</a:t>
            </a:r>
          </a:p>
          <a:p>
            <a:pPr lvl="1"/>
            <a:r>
              <a:rPr lang="en-US" altLang="en-US"/>
              <a:t>Similar to access matrix</a:t>
            </a:r>
          </a:p>
          <a:p>
            <a:pPr lvl="1"/>
            <a:endParaRPr lang="en-US" altLang="en-US"/>
          </a:p>
          <a:p>
            <a:pPr lvl="1">
              <a:buFont typeface="Monotype Sorts" pitchFamily="-84" charset="2"/>
              <a:buNone/>
            </a:pPr>
            <a:endParaRPr lang="en-US" altLang="en-US"/>
          </a:p>
        </p:txBody>
      </p:sp>
      <p:pic>
        <p:nvPicPr>
          <p:cNvPr id="58371" name="Picture 2">
            <a:extLst>
              <a:ext uri="{FF2B5EF4-FFF2-40B4-BE49-F238E27FC236}">
                <a16:creationId xmlns:a16="http://schemas.microsoft.com/office/drawing/2014/main" id="{9EBE8452-2AB5-42D2-8AC5-0708F5E12D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72113" y="1223963"/>
            <a:ext cx="3486150" cy="468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Role-Based Access Control</a:t>
            </a:r>
          </a:p>
        </p:txBody>
      </p:sp>
      <p:sp>
        <p:nvSpPr>
          <p:cNvPr id="3" name="Content Placeholder 2"/>
          <p:cNvSpPr>
            <a:spLocks noGrp="1"/>
          </p:cNvSpPr>
          <p:nvPr>
            <p:ph idx="1"/>
          </p:nvPr>
        </p:nvSpPr>
        <p:spPr/>
        <p:txBody>
          <a:bodyPr/>
          <a:lstStyle/>
          <a:p>
            <a:r>
              <a:rPr lang="en-US" b="1" dirty="0"/>
              <a:t>Role-based access control</a:t>
            </a:r>
            <a:r>
              <a:rPr lang="en-US" dirty="0"/>
              <a:t> associates privileges with groups</a:t>
            </a:r>
          </a:p>
          <a:p>
            <a:pPr lvl="1"/>
            <a:r>
              <a:rPr lang="en-US" dirty="0"/>
              <a:t>Administrators, faculty, teaching assistants, students</a:t>
            </a:r>
          </a:p>
          <a:p>
            <a:r>
              <a:rPr lang="en-US" dirty="0"/>
              <a:t>Access control changes user's role to provide needed privileges</a:t>
            </a:r>
          </a:p>
        </p:txBody>
      </p:sp>
    </p:spTree>
    <p:extLst>
      <p:ext uri="{BB962C8B-B14F-4D97-AF65-F5344CB8AC3E}">
        <p14:creationId xmlns:p14="http://schemas.microsoft.com/office/powerpoint/2010/main" val="300507973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762000" y="0"/>
            <a:ext cx="7772400" cy="1143000"/>
          </a:xfrm>
        </p:spPr>
        <p:txBody>
          <a:bodyPr/>
          <a:lstStyle/>
          <a:p>
            <a:r>
              <a:rPr lang="en-US" altLang="en-US"/>
              <a:t>User Policy</a:t>
            </a:r>
          </a:p>
        </p:txBody>
      </p:sp>
      <p:sp>
        <p:nvSpPr>
          <p:cNvPr id="9219" name="Rectangle 3"/>
          <p:cNvSpPr>
            <a:spLocks noGrp="1" noChangeArrowheads="1"/>
          </p:cNvSpPr>
          <p:nvPr>
            <p:ph type="body" idx="1"/>
          </p:nvPr>
        </p:nvSpPr>
        <p:spPr>
          <a:xfrm>
            <a:off x="685800" y="990600"/>
            <a:ext cx="7772400" cy="5105400"/>
          </a:xfrm>
        </p:spPr>
        <p:txBody>
          <a:bodyPr/>
          <a:lstStyle/>
          <a:p>
            <a:pPr>
              <a:lnSpc>
                <a:spcPct val="90000"/>
              </a:lnSpc>
            </a:pPr>
            <a:r>
              <a:rPr lang="en-US" altLang="en-US" sz="2800" dirty="0"/>
              <a:t>Restricting access</a:t>
            </a:r>
          </a:p>
          <a:p>
            <a:pPr lvl="1">
              <a:lnSpc>
                <a:spcPct val="90000"/>
              </a:lnSpc>
            </a:pPr>
            <a:r>
              <a:rPr lang="en-US" altLang="en-US" sz="2400" dirty="0"/>
              <a:t>commands</a:t>
            </a:r>
          </a:p>
          <a:p>
            <a:pPr lvl="1">
              <a:lnSpc>
                <a:spcPct val="90000"/>
              </a:lnSpc>
            </a:pPr>
            <a:r>
              <a:rPr lang="en-US" altLang="en-US" sz="2400" dirty="0"/>
              <a:t>file access</a:t>
            </a:r>
          </a:p>
          <a:p>
            <a:pPr lvl="1">
              <a:lnSpc>
                <a:spcPct val="90000"/>
              </a:lnSpc>
            </a:pPr>
            <a:r>
              <a:rPr lang="en-US" altLang="en-US" sz="2400" dirty="0"/>
              <a:t>login times</a:t>
            </a:r>
          </a:p>
          <a:p>
            <a:pPr lvl="1">
              <a:lnSpc>
                <a:spcPct val="90000"/>
              </a:lnSpc>
            </a:pPr>
            <a:r>
              <a:rPr lang="en-US" altLang="en-US" sz="2400" dirty="0"/>
              <a:t>network access</a:t>
            </a:r>
          </a:p>
          <a:p>
            <a:pPr lvl="1">
              <a:lnSpc>
                <a:spcPct val="90000"/>
              </a:lnSpc>
            </a:pPr>
            <a:r>
              <a:rPr lang="en-US" altLang="en-US" sz="2400" dirty="0"/>
              <a:t>terminal access</a:t>
            </a:r>
          </a:p>
          <a:p>
            <a:pPr>
              <a:lnSpc>
                <a:spcPct val="90000"/>
              </a:lnSpc>
            </a:pPr>
            <a:r>
              <a:rPr lang="en-US" altLang="en-US" sz="2800" dirty="0"/>
              <a:t>Inactive users</a:t>
            </a:r>
          </a:p>
          <a:p>
            <a:pPr lvl="1">
              <a:lnSpc>
                <a:spcPct val="90000"/>
              </a:lnSpc>
            </a:pPr>
            <a:r>
              <a:rPr lang="en-US" altLang="en-US" sz="2400" dirty="0"/>
              <a:t>Detection</a:t>
            </a:r>
          </a:p>
          <a:p>
            <a:pPr lvl="1">
              <a:lnSpc>
                <a:spcPct val="90000"/>
              </a:lnSpc>
            </a:pPr>
            <a:r>
              <a:rPr lang="en-US" altLang="en-US" sz="2400" dirty="0"/>
              <a:t>Password change</a:t>
            </a:r>
          </a:p>
          <a:p>
            <a:pPr lvl="1">
              <a:lnSpc>
                <a:spcPct val="90000"/>
              </a:lnSpc>
            </a:pPr>
            <a:r>
              <a:rPr lang="en-US" altLang="en-US" sz="2400" dirty="0"/>
              <a:t>Locking (change shell)</a:t>
            </a:r>
          </a:p>
          <a:p>
            <a:pPr lvl="1">
              <a:lnSpc>
                <a:spcPct val="90000"/>
              </a:lnSpc>
            </a:pPr>
            <a:r>
              <a:rPr lang="en-US" altLang="en-US" sz="2400" dirty="0"/>
              <a:t>Deletion (after backup)</a:t>
            </a:r>
          </a:p>
          <a:p>
            <a:pPr>
              <a:lnSpc>
                <a:spcPct val="90000"/>
              </a:lnSpc>
            </a:pPr>
            <a:r>
              <a:rPr lang="en-US" altLang="en-US" sz="2800" dirty="0"/>
              <a:t>Ultimately - need multilevel security</a:t>
            </a:r>
          </a:p>
        </p:txBody>
      </p:sp>
    </p:spTree>
    <p:extLst>
      <p:ext uri="{BB962C8B-B14F-4D97-AF65-F5344CB8AC3E}">
        <p14:creationId xmlns:p14="http://schemas.microsoft.com/office/powerpoint/2010/main" val="21128163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r>
              <a:rPr lang="en-US" altLang="en-US"/>
              <a:t>Monitor Model</a:t>
            </a:r>
          </a:p>
        </p:txBody>
      </p:sp>
      <p:sp>
        <p:nvSpPr>
          <p:cNvPr id="10243" name="Rectangle 3"/>
          <p:cNvSpPr>
            <a:spLocks noGrp="1" noChangeArrowheads="1"/>
          </p:cNvSpPr>
          <p:nvPr>
            <p:ph type="body" idx="1"/>
          </p:nvPr>
        </p:nvSpPr>
        <p:spPr/>
        <p:txBody>
          <a:bodyPr/>
          <a:lstStyle/>
          <a:p>
            <a:pPr>
              <a:lnSpc>
                <a:spcPct val="90000"/>
              </a:lnSpc>
            </a:pPr>
            <a:r>
              <a:rPr lang="en-US" altLang="en-US" sz="2800" dirty="0"/>
              <a:t>General Schema:</a:t>
            </a:r>
          </a:p>
          <a:p>
            <a:pPr lvl="1">
              <a:lnSpc>
                <a:spcPct val="90000"/>
              </a:lnSpc>
            </a:pPr>
            <a:r>
              <a:rPr lang="en-US" altLang="en-US" sz="2400" dirty="0"/>
              <a:t>Takes user's request.</a:t>
            </a:r>
          </a:p>
          <a:p>
            <a:pPr lvl="1">
              <a:lnSpc>
                <a:spcPct val="90000"/>
              </a:lnSpc>
            </a:pPr>
            <a:r>
              <a:rPr lang="en-US" altLang="en-US" sz="2400" dirty="0"/>
              <a:t>Consults access control information.</a:t>
            </a:r>
          </a:p>
          <a:p>
            <a:pPr lvl="1">
              <a:lnSpc>
                <a:spcPct val="90000"/>
              </a:lnSpc>
            </a:pPr>
            <a:r>
              <a:rPr lang="en-US" altLang="en-US" sz="2400" dirty="0"/>
              <a:t>Allows or disallows request.</a:t>
            </a:r>
          </a:p>
          <a:p>
            <a:pPr>
              <a:lnSpc>
                <a:spcPct val="90000"/>
              </a:lnSpc>
            </a:pPr>
            <a:r>
              <a:rPr lang="en-US" altLang="en-US" sz="2800" dirty="0"/>
              <a:t>Advantages</a:t>
            </a:r>
          </a:p>
          <a:p>
            <a:pPr lvl="1">
              <a:lnSpc>
                <a:spcPct val="90000"/>
              </a:lnSpc>
            </a:pPr>
            <a:r>
              <a:rPr lang="en-US" altLang="en-US" sz="2400" dirty="0"/>
              <a:t>Easy to implement.</a:t>
            </a:r>
          </a:p>
          <a:p>
            <a:pPr lvl="1">
              <a:lnSpc>
                <a:spcPct val="90000"/>
              </a:lnSpc>
            </a:pPr>
            <a:r>
              <a:rPr lang="en-US" altLang="en-US" sz="2400" dirty="0"/>
              <a:t>Easy to understand</a:t>
            </a:r>
          </a:p>
          <a:p>
            <a:pPr>
              <a:lnSpc>
                <a:spcPct val="90000"/>
              </a:lnSpc>
            </a:pPr>
            <a:r>
              <a:rPr lang="en-US" altLang="en-US" sz="2800" dirty="0"/>
              <a:t>Disadvantages</a:t>
            </a:r>
          </a:p>
          <a:p>
            <a:pPr lvl="1">
              <a:lnSpc>
                <a:spcPct val="90000"/>
              </a:lnSpc>
            </a:pPr>
            <a:r>
              <a:rPr lang="en-US" altLang="en-US" sz="2400" dirty="0"/>
              <a:t>Bottleneck in system</a:t>
            </a:r>
          </a:p>
          <a:p>
            <a:pPr lvl="1">
              <a:lnSpc>
                <a:spcPct val="90000"/>
              </a:lnSpc>
            </a:pPr>
            <a:r>
              <a:rPr lang="en-US" altLang="en-US" sz="2400" dirty="0"/>
              <a:t>Controls only direct accesses (not inferences)</a:t>
            </a:r>
          </a:p>
        </p:txBody>
      </p:sp>
    </p:spTree>
    <p:extLst>
      <p:ext uri="{BB962C8B-B14F-4D97-AF65-F5344CB8AC3E}">
        <p14:creationId xmlns:p14="http://schemas.microsoft.com/office/powerpoint/2010/main" val="327871018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r>
              <a:rPr lang="en-US" altLang="en-US"/>
              <a:t>Military Security Model</a:t>
            </a:r>
          </a:p>
        </p:txBody>
      </p:sp>
      <p:sp>
        <p:nvSpPr>
          <p:cNvPr id="13315" name="Rectangle 3"/>
          <p:cNvSpPr>
            <a:spLocks noGrp="1" noChangeArrowheads="1"/>
          </p:cNvSpPr>
          <p:nvPr>
            <p:ph type="body" idx="1"/>
          </p:nvPr>
        </p:nvSpPr>
        <p:spPr/>
        <p:txBody>
          <a:bodyPr/>
          <a:lstStyle/>
          <a:p>
            <a:pPr>
              <a:lnSpc>
                <a:spcPct val="90000"/>
              </a:lnSpc>
            </a:pPr>
            <a:r>
              <a:rPr lang="en-US" altLang="en-US" sz="2800" dirty="0"/>
              <a:t>Information is ranked:</a:t>
            </a:r>
          </a:p>
          <a:p>
            <a:pPr lvl="1">
              <a:lnSpc>
                <a:spcPct val="90000"/>
              </a:lnSpc>
            </a:pPr>
            <a:r>
              <a:rPr lang="en-US" altLang="en-US" sz="2400" dirty="0"/>
              <a:t>Unclassified</a:t>
            </a:r>
          </a:p>
          <a:p>
            <a:pPr lvl="1">
              <a:lnSpc>
                <a:spcPct val="90000"/>
              </a:lnSpc>
            </a:pPr>
            <a:r>
              <a:rPr lang="en-US" altLang="en-US" sz="2400" dirty="0"/>
              <a:t>Confidential</a:t>
            </a:r>
          </a:p>
          <a:p>
            <a:pPr lvl="1">
              <a:lnSpc>
                <a:spcPct val="90000"/>
              </a:lnSpc>
            </a:pPr>
            <a:r>
              <a:rPr lang="en-US" altLang="en-US" sz="2400" dirty="0"/>
              <a:t>Secret</a:t>
            </a:r>
          </a:p>
          <a:p>
            <a:pPr lvl="1">
              <a:lnSpc>
                <a:spcPct val="90000"/>
              </a:lnSpc>
            </a:pPr>
            <a:r>
              <a:rPr lang="en-US" altLang="en-US" sz="2400" dirty="0"/>
              <a:t>Top Secret		</a:t>
            </a:r>
          </a:p>
          <a:p>
            <a:pPr>
              <a:lnSpc>
                <a:spcPct val="90000"/>
              </a:lnSpc>
            </a:pPr>
            <a:r>
              <a:rPr lang="en-US" altLang="en-US" sz="2800" dirty="0"/>
              <a:t>Least Privilege: Subject should have access to fewest objects needed for successful work</a:t>
            </a:r>
          </a:p>
          <a:p>
            <a:pPr lvl="1">
              <a:lnSpc>
                <a:spcPct val="90000"/>
              </a:lnSpc>
            </a:pPr>
            <a:r>
              <a:rPr lang="en-US" altLang="en-US" sz="2400" dirty="0"/>
              <a:t>The system backup program may be allowed to bypass read restrictions on files, but it would not have the ability to modify files. </a:t>
            </a:r>
          </a:p>
          <a:p>
            <a:pPr lvl="1">
              <a:lnSpc>
                <a:spcPct val="90000"/>
              </a:lnSpc>
            </a:pPr>
            <a:r>
              <a:rPr lang="en-US" altLang="en-US" sz="2400" dirty="0"/>
              <a:t>Need to Know</a:t>
            </a:r>
          </a:p>
        </p:txBody>
      </p:sp>
      <p:grpSp>
        <p:nvGrpSpPr>
          <p:cNvPr id="13323" name="Group 11"/>
          <p:cNvGrpSpPr>
            <a:grpSpLocks/>
          </p:cNvGrpSpPr>
          <p:nvPr/>
        </p:nvGrpSpPr>
        <p:grpSpPr bwMode="auto">
          <a:xfrm>
            <a:off x="5694218" y="1274618"/>
            <a:ext cx="2362200" cy="2362200"/>
            <a:chOff x="3648" y="1008"/>
            <a:chExt cx="1488" cy="1488"/>
          </a:xfrm>
        </p:grpSpPr>
        <p:sp>
          <p:nvSpPr>
            <p:cNvPr id="13321" name="Oval 9"/>
            <p:cNvSpPr>
              <a:spLocks noChangeArrowheads="1"/>
            </p:cNvSpPr>
            <p:nvPr/>
          </p:nvSpPr>
          <p:spPr bwMode="auto">
            <a:xfrm>
              <a:off x="3648" y="1008"/>
              <a:ext cx="1488" cy="148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320" name="Oval 8"/>
            <p:cNvSpPr>
              <a:spLocks noChangeArrowheads="1"/>
            </p:cNvSpPr>
            <p:nvPr/>
          </p:nvSpPr>
          <p:spPr bwMode="auto">
            <a:xfrm>
              <a:off x="3816" y="1176"/>
              <a:ext cx="1152" cy="1152"/>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319" name="Oval 7"/>
            <p:cNvSpPr>
              <a:spLocks noChangeArrowheads="1"/>
            </p:cNvSpPr>
            <p:nvPr/>
          </p:nvSpPr>
          <p:spPr bwMode="auto">
            <a:xfrm>
              <a:off x="3936" y="1296"/>
              <a:ext cx="912" cy="91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318" name="Oval 6"/>
            <p:cNvSpPr>
              <a:spLocks noChangeArrowheads="1"/>
            </p:cNvSpPr>
            <p:nvPr/>
          </p:nvSpPr>
          <p:spPr bwMode="auto">
            <a:xfrm>
              <a:off x="4128" y="1488"/>
              <a:ext cx="528" cy="528"/>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Tree>
    <p:extLst>
      <p:ext uri="{BB962C8B-B14F-4D97-AF65-F5344CB8AC3E}">
        <p14:creationId xmlns:p14="http://schemas.microsoft.com/office/powerpoint/2010/main" val="275423644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762000" y="0"/>
            <a:ext cx="7772400" cy="1143000"/>
          </a:xfrm>
        </p:spPr>
        <p:txBody>
          <a:bodyPr/>
          <a:lstStyle/>
          <a:p>
            <a:r>
              <a:rPr lang="en-US" altLang="en-US"/>
              <a:t>Compartmentalization</a:t>
            </a:r>
          </a:p>
        </p:txBody>
      </p:sp>
      <p:sp>
        <p:nvSpPr>
          <p:cNvPr id="14339" name="Rectangle 3"/>
          <p:cNvSpPr>
            <a:spLocks noGrp="1" noChangeArrowheads="1"/>
          </p:cNvSpPr>
          <p:nvPr>
            <p:ph type="body" idx="1"/>
          </p:nvPr>
        </p:nvSpPr>
        <p:spPr>
          <a:xfrm>
            <a:off x="685800" y="990600"/>
            <a:ext cx="7772400" cy="5105400"/>
          </a:xfrm>
        </p:spPr>
        <p:txBody>
          <a:bodyPr/>
          <a:lstStyle/>
          <a:p>
            <a:pPr>
              <a:lnSpc>
                <a:spcPct val="90000"/>
              </a:lnSpc>
              <a:buFontTx/>
              <a:buNone/>
            </a:pPr>
            <a:r>
              <a:rPr lang="en-US" altLang="en-US" sz="2800" dirty="0"/>
              <a:t>Information may belong to one or more compartments</a:t>
            </a:r>
          </a:p>
          <a:p>
            <a:pPr>
              <a:lnSpc>
                <a:spcPct val="90000"/>
              </a:lnSpc>
              <a:buFontTx/>
              <a:buNone/>
            </a:pPr>
            <a:r>
              <a:rPr lang="en-US" altLang="en-US" sz="2800" dirty="0"/>
              <a:t>Compartments are used to enforce need-to-know.</a:t>
            </a:r>
          </a:p>
          <a:p>
            <a:pPr>
              <a:lnSpc>
                <a:spcPct val="90000"/>
              </a:lnSpc>
            </a:pPr>
            <a:r>
              <a:rPr lang="en-US" altLang="en-US" sz="2800" dirty="0"/>
              <a:t>Classification of Information: </a:t>
            </a:r>
            <a:br>
              <a:rPr lang="en-US" altLang="en-US" sz="2800" dirty="0"/>
            </a:br>
            <a:r>
              <a:rPr lang="en-US" altLang="en-US" sz="2800" dirty="0"/>
              <a:t>&lt;rank; compartments&gt;</a:t>
            </a:r>
          </a:p>
          <a:p>
            <a:pPr>
              <a:lnSpc>
                <a:spcPct val="90000"/>
              </a:lnSpc>
            </a:pPr>
            <a:r>
              <a:rPr lang="en-US" altLang="en-US" sz="2800" dirty="0"/>
              <a:t>Clearance: &lt;rank; compartments&gt;</a:t>
            </a:r>
          </a:p>
          <a:p>
            <a:pPr lvl="1">
              <a:lnSpc>
                <a:spcPct val="90000"/>
              </a:lnSpc>
            </a:pPr>
            <a:r>
              <a:rPr lang="en-US" altLang="en-US" sz="2400" dirty="0"/>
              <a:t>an indication of a level of trust</a:t>
            </a:r>
          </a:p>
          <a:p>
            <a:pPr>
              <a:lnSpc>
                <a:spcPct val="90000"/>
              </a:lnSpc>
            </a:pPr>
            <a:r>
              <a:rPr lang="en-US" altLang="en-US" sz="2800" dirty="0"/>
              <a:t>A subject can access an object only if</a:t>
            </a:r>
          </a:p>
          <a:p>
            <a:pPr lvl="1">
              <a:lnSpc>
                <a:spcPct val="90000"/>
              </a:lnSpc>
            </a:pPr>
            <a:r>
              <a:rPr lang="en-US" altLang="en-US" sz="2400" dirty="0"/>
              <a:t>The clearance level of the subject is at least as high as that of the information.</a:t>
            </a:r>
          </a:p>
          <a:p>
            <a:pPr lvl="1">
              <a:lnSpc>
                <a:spcPct val="90000"/>
              </a:lnSpc>
            </a:pPr>
            <a:r>
              <a:rPr lang="en-US" altLang="en-US" sz="2400" dirty="0"/>
              <a:t>The subject has a need to know about all compartments for which the information is classified.</a:t>
            </a:r>
          </a:p>
        </p:txBody>
      </p:sp>
    </p:spTree>
    <p:extLst>
      <p:ext uri="{BB962C8B-B14F-4D97-AF65-F5344CB8AC3E}">
        <p14:creationId xmlns:p14="http://schemas.microsoft.com/office/powerpoint/2010/main" val="205909354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r>
              <a:rPr lang="en-US" altLang="en-US"/>
              <a:t>Information Flow Models</a:t>
            </a:r>
          </a:p>
        </p:txBody>
      </p:sp>
      <p:sp>
        <p:nvSpPr>
          <p:cNvPr id="15363" name="Rectangle 3"/>
          <p:cNvSpPr>
            <a:spLocks noGrp="1" noChangeArrowheads="1"/>
          </p:cNvSpPr>
          <p:nvPr>
            <p:ph type="body" idx="1"/>
          </p:nvPr>
        </p:nvSpPr>
        <p:spPr/>
        <p:txBody>
          <a:bodyPr/>
          <a:lstStyle/>
          <a:p>
            <a:r>
              <a:rPr lang="en-US" altLang="en-US" dirty="0"/>
              <a:t>Acts as an intelligent filter to control the transfer of information permitted by access to a particular object.</a:t>
            </a:r>
          </a:p>
          <a:p>
            <a:r>
              <a:rPr lang="en-US" altLang="en-US" dirty="0"/>
              <a:t>Information flow analysis can assure that operating system modules that have access to sensitive data cannot leak that data to calling modules.</a:t>
            </a:r>
          </a:p>
        </p:txBody>
      </p:sp>
    </p:spTree>
    <p:extLst>
      <p:ext uri="{BB962C8B-B14F-4D97-AF65-F5344CB8AC3E}">
        <p14:creationId xmlns:p14="http://schemas.microsoft.com/office/powerpoint/2010/main" val="394248803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762000" y="0"/>
            <a:ext cx="7772400" cy="1143000"/>
          </a:xfrm>
        </p:spPr>
        <p:txBody>
          <a:bodyPr/>
          <a:lstStyle/>
          <a:p>
            <a:r>
              <a:rPr lang="en-US" altLang="en-US"/>
              <a:t>Bell-LaPadula Model</a:t>
            </a:r>
          </a:p>
        </p:txBody>
      </p:sp>
      <p:sp>
        <p:nvSpPr>
          <p:cNvPr id="16387" name="Rectangle 3"/>
          <p:cNvSpPr>
            <a:spLocks noGrp="1" noChangeArrowheads="1"/>
          </p:cNvSpPr>
          <p:nvPr>
            <p:ph type="body" idx="1"/>
          </p:nvPr>
        </p:nvSpPr>
        <p:spPr>
          <a:xfrm>
            <a:off x="685800" y="990600"/>
            <a:ext cx="7772400" cy="5105400"/>
          </a:xfrm>
        </p:spPr>
        <p:txBody>
          <a:bodyPr>
            <a:normAutofit lnSpcReduction="10000"/>
          </a:bodyPr>
          <a:lstStyle/>
          <a:p>
            <a:r>
              <a:rPr lang="en-US" altLang="en-US" sz="2800" dirty="0"/>
              <a:t>A formal description of the allowable paths of information flow in a secure system.</a:t>
            </a:r>
          </a:p>
          <a:p>
            <a:pPr lvl="1"/>
            <a:r>
              <a:rPr lang="en-US" altLang="en-US" sz="2400" dirty="0"/>
              <a:t>Applies only to privacy</a:t>
            </a:r>
          </a:p>
          <a:p>
            <a:pPr lvl="1"/>
            <a:r>
              <a:rPr lang="en-US" altLang="en-US" sz="2400" dirty="0"/>
              <a:t>Identifies paths that could lead to inappropriate disclosures.</a:t>
            </a:r>
          </a:p>
          <a:p>
            <a:pPr lvl="1"/>
            <a:r>
              <a:rPr lang="en-US" altLang="en-US" sz="2400" dirty="0"/>
              <a:t>Is used as the basis for the design of systems that handle data of multiple levels.</a:t>
            </a:r>
          </a:p>
          <a:p>
            <a:pPr lvl="1"/>
            <a:r>
              <a:rPr lang="en-US" altLang="en-US" sz="2400" dirty="0"/>
              <a:t>Includes both discretionary and mandatory access rules</a:t>
            </a:r>
          </a:p>
          <a:p>
            <a:r>
              <a:rPr lang="en-US" altLang="en-US" sz="2800" dirty="0"/>
              <a:t>B-LP Discretionary Access Control</a:t>
            </a:r>
          </a:p>
          <a:p>
            <a:pPr lvl="1"/>
            <a:r>
              <a:rPr lang="en-US" altLang="en-US" sz="2400" dirty="0"/>
              <a:t>Uses Access Matrix similar to Graham-Denning Model</a:t>
            </a:r>
          </a:p>
          <a:p>
            <a:pPr lvl="1"/>
            <a:r>
              <a:rPr lang="en-US" altLang="en-US" sz="2400" dirty="0"/>
              <a:t>Includes functions for dealing with the access matrix.</a:t>
            </a:r>
          </a:p>
        </p:txBody>
      </p:sp>
    </p:spTree>
    <p:extLst>
      <p:ext uri="{BB962C8B-B14F-4D97-AF65-F5344CB8AC3E}">
        <p14:creationId xmlns:p14="http://schemas.microsoft.com/office/powerpoint/2010/main" val="309895456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609600" y="0"/>
            <a:ext cx="7772400" cy="1143000"/>
          </a:xfrm>
        </p:spPr>
        <p:txBody>
          <a:bodyPr>
            <a:normAutofit fontScale="90000"/>
          </a:bodyPr>
          <a:lstStyle/>
          <a:p>
            <a:r>
              <a:rPr lang="en-US" altLang="en-US"/>
              <a:t>Bell-LaPadula Mandatory Controls</a:t>
            </a:r>
          </a:p>
        </p:txBody>
      </p:sp>
      <p:sp>
        <p:nvSpPr>
          <p:cNvPr id="17411" name="Rectangle 3"/>
          <p:cNvSpPr>
            <a:spLocks noGrp="1" noChangeArrowheads="1"/>
          </p:cNvSpPr>
          <p:nvPr>
            <p:ph type="body" idx="1"/>
          </p:nvPr>
        </p:nvSpPr>
        <p:spPr>
          <a:xfrm>
            <a:off x="685800" y="1219200"/>
            <a:ext cx="7772400" cy="4876800"/>
          </a:xfrm>
        </p:spPr>
        <p:txBody>
          <a:bodyPr/>
          <a:lstStyle/>
          <a:p>
            <a:r>
              <a:rPr lang="en-US" altLang="en-US" dirty="0"/>
              <a:t>Fixed security classes for each subject and each object</a:t>
            </a:r>
          </a:p>
          <a:p>
            <a:r>
              <a:rPr lang="en-US" altLang="en-US" dirty="0"/>
              <a:t>Security classes ordered by a relation</a:t>
            </a:r>
          </a:p>
          <a:p>
            <a:pPr lvl="1"/>
            <a:r>
              <a:rPr lang="en-US" altLang="en-US" dirty="0"/>
              <a:t>Tranquility constraint prevents access classes of objects from changing</a:t>
            </a:r>
          </a:p>
          <a:p>
            <a:r>
              <a:rPr lang="en-US" altLang="en-US" dirty="0"/>
              <a:t>Simple Security Property</a:t>
            </a:r>
          </a:p>
          <a:p>
            <a:r>
              <a:rPr lang="en-US" altLang="en-US" dirty="0"/>
              <a:t>* Property</a:t>
            </a:r>
          </a:p>
        </p:txBody>
      </p:sp>
    </p:spTree>
    <p:extLst>
      <p:ext uri="{BB962C8B-B14F-4D97-AF65-F5344CB8AC3E}">
        <p14:creationId xmlns:p14="http://schemas.microsoft.com/office/powerpoint/2010/main" val="269340551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r>
              <a:rPr lang="en-US" altLang="en-US"/>
              <a:t>Bell-LaPadula Properties</a:t>
            </a:r>
          </a:p>
        </p:txBody>
      </p:sp>
      <p:sp>
        <p:nvSpPr>
          <p:cNvPr id="18435" name="Rectangle 3"/>
          <p:cNvSpPr>
            <a:spLocks noGrp="1" noChangeArrowheads="1"/>
          </p:cNvSpPr>
          <p:nvPr>
            <p:ph type="body" idx="1"/>
          </p:nvPr>
        </p:nvSpPr>
        <p:spPr/>
        <p:txBody>
          <a:bodyPr/>
          <a:lstStyle/>
          <a:p>
            <a:pPr>
              <a:buFontTx/>
              <a:buNone/>
            </a:pPr>
            <a:r>
              <a:rPr lang="en-US" altLang="en-US" dirty="0"/>
              <a:t>Simple Security Property:</a:t>
            </a:r>
          </a:p>
          <a:p>
            <a:r>
              <a:rPr lang="en-US" altLang="en-US" dirty="0"/>
              <a:t>Subject may have read access only if object classified at same level or lower.</a:t>
            </a:r>
          </a:p>
          <a:p>
            <a:pPr>
              <a:buFontTx/>
              <a:buNone/>
            </a:pPr>
            <a:r>
              <a:rPr lang="en-US" altLang="en-US" dirty="0"/>
              <a:t>* - Property</a:t>
            </a:r>
          </a:p>
          <a:p>
            <a:r>
              <a:rPr lang="en-US" altLang="en-US" dirty="0"/>
              <a:t>Subject may have write access only if all objects read are at same level or higher than object to be written.</a:t>
            </a:r>
          </a:p>
        </p:txBody>
      </p:sp>
    </p:spTree>
    <p:extLst>
      <p:ext uri="{BB962C8B-B14F-4D97-AF65-F5344CB8AC3E}">
        <p14:creationId xmlns:p14="http://schemas.microsoft.com/office/powerpoint/2010/main" val="81946504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r>
              <a:rPr lang="en-US" altLang="en-US"/>
              <a:t>Biba Model</a:t>
            </a:r>
          </a:p>
        </p:txBody>
      </p:sp>
      <p:sp>
        <p:nvSpPr>
          <p:cNvPr id="19459" name="Rectangle 3"/>
          <p:cNvSpPr>
            <a:spLocks noGrp="1" noChangeArrowheads="1"/>
          </p:cNvSpPr>
          <p:nvPr>
            <p:ph type="body" idx="1"/>
          </p:nvPr>
        </p:nvSpPr>
        <p:spPr/>
        <p:txBody>
          <a:bodyPr/>
          <a:lstStyle/>
          <a:p>
            <a:r>
              <a:rPr lang="en-US" altLang="en-US" dirty="0"/>
              <a:t>Concerned with integrity rather than secrecy.</a:t>
            </a:r>
          </a:p>
          <a:p>
            <a:r>
              <a:rPr lang="en-US" altLang="en-US" dirty="0"/>
              <a:t>Defines integrity levels much like sensitivity levels.</a:t>
            </a:r>
          </a:p>
          <a:p>
            <a:pPr lvl="1"/>
            <a:r>
              <a:rPr lang="en-US" altLang="en-US" dirty="0"/>
              <a:t>Fixed integrity classes for each subject and each object</a:t>
            </a:r>
          </a:p>
          <a:p>
            <a:pPr lvl="1"/>
            <a:r>
              <a:rPr lang="en-US" altLang="en-US" dirty="0"/>
              <a:t>Ordered integrity classes</a:t>
            </a:r>
          </a:p>
        </p:txBody>
      </p:sp>
    </p:spTree>
    <p:extLst>
      <p:ext uri="{BB962C8B-B14F-4D97-AF65-F5344CB8AC3E}">
        <p14:creationId xmlns:p14="http://schemas.microsoft.com/office/powerpoint/2010/main" val="121627102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r>
              <a:rPr lang="en-US" altLang="en-US"/>
              <a:t>Biba Properties</a:t>
            </a:r>
          </a:p>
        </p:txBody>
      </p:sp>
      <p:sp>
        <p:nvSpPr>
          <p:cNvPr id="20483" name="Rectangle 3"/>
          <p:cNvSpPr>
            <a:spLocks noGrp="1" noChangeArrowheads="1"/>
          </p:cNvSpPr>
          <p:nvPr>
            <p:ph type="body" idx="1"/>
          </p:nvPr>
        </p:nvSpPr>
        <p:spPr/>
        <p:txBody>
          <a:bodyPr/>
          <a:lstStyle/>
          <a:p>
            <a:pPr>
              <a:lnSpc>
                <a:spcPct val="90000"/>
              </a:lnSpc>
              <a:buFontTx/>
              <a:buNone/>
            </a:pPr>
            <a:r>
              <a:rPr lang="en-US" altLang="en-US" sz="2800" dirty="0"/>
              <a:t>Simple Integrity Property:</a:t>
            </a:r>
          </a:p>
          <a:p>
            <a:pPr>
              <a:lnSpc>
                <a:spcPct val="90000"/>
              </a:lnSpc>
            </a:pPr>
            <a:r>
              <a:rPr lang="en-US" altLang="en-US" sz="2800" dirty="0"/>
              <a:t>Subject can modify object only if integrity class at least as high as the object. (untrusted subjects reduce integrity class when writing)</a:t>
            </a:r>
          </a:p>
          <a:p>
            <a:pPr>
              <a:lnSpc>
                <a:spcPct val="90000"/>
              </a:lnSpc>
              <a:buFontTx/>
              <a:buNone/>
            </a:pPr>
            <a:r>
              <a:rPr lang="en-US" altLang="en-US" sz="2800" dirty="0"/>
              <a:t>* - Property:</a:t>
            </a:r>
          </a:p>
          <a:p>
            <a:pPr>
              <a:lnSpc>
                <a:spcPct val="90000"/>
              </a:lnSpc>
            </a:pPr>
            <a:r>
              <a:rPr lang="en-US" altLang="en-US" sz="2800" dirty="0"/>
              <a:t>Subjects may have write access only if the integrity of objects they are reading is at least as high as the object to be written. (untrusted sources reduce integrity of results)</a:t>
            </a:r>
          </a:p>
        </p:txBody>
      </p:sp>
    </p:spTree>
    <p:extLst>
      <p:ext uri="{BB962C8B-B14F-4D97-AF65-F5344CB8AC3E}">
        <p14:creationId xmlns:p14="http://schemas.microsoft.com/office/powerpoint/2010/main" val="282149513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r>
              <a:rPr lang="en-US" altLang="en-US"/>
              <a:t>Integrity Preservation</a:t>
            </a:r>
          </a:p>
        </p:txBody>
      </p:sp>
      <p:sp>
        <p:nvSpPr>
          <p:cNvPr id="21507" name="Rectangle 3"/>
          <p:cNvSpPr>
            <a:spLocks noGrp="1" noChangeArrowheads="1"/>
          </p:cNvSpPr>
          <p:nvPr>
            <p:ph type="body" idx="1"/>
          </p:nvPr>
        </p:nvSpPr>
        <p:spPr/>
        <p:txBody>
          <a:bodyPr/>
          <a:lstStyle/>
          <a:p>
            <a:pPr>
              <a:lnSpc>
                <a:spcPct val="90000"/>
              </a:lnSpc>
              <a:buFontTx/>
              <a:buNone/>
            </a:pPr>
            <a:r>
              <a:rPr lang="en-US" altLang="en-US" sz="2800" dirty="0"/>
              <a:t>A high integrity file is one whose contents are created by high-integrity processes.</a:t>
            </a:r>
          </a:p>
          <a:p>
            <a:pPr>
              <a:lnSpc>
                <a:spcPct val="90000"/>
              </a:lnSpc>
            </a:pPr>
            <a:r>
              <a:rPr lang="en-US" altLang="en-US" sz="2800" dirty="0"/>
              <a:t>high-integrity file cannot be contaminated by information from low-integrity processes.</a:t>
            </a:r>
          </a:p>
          <a:p>
            <a:pPr>
              <a:lnSpc>
                <a:spcPct val="90000"/>
              </a:lnSpc>
            </a:pPr>
            <a:r>
              <a:rPr lang="en-US" altLang="en-US" sz="2800" dirty="0"/>
              <a:t>high-integrity process cannot be subverted by low integrity processes or data.</a:t>
            </a:r>
          </a:p>
          <a:p>
            <a:pPr>
              <a:lnSpc>
                <a:spcPct val="90000"/>
              </a:lnSpc>
              <a:buFontTx/>
              <a:buNone/>
            </a:pPr>
            <a:r>
              <a:rPr lang="en-US" altLang="en-US" sz="2800" dirty="0"/>
              <a:t>The integrity class label on a file guarantees that the contents came only from sources of at least that degree of integrity.</a:t>
            </a:r>
          </a:p>
        </p:txBody>
      </p:sp>
    </p:spTree>
    <p:extLst>
      <p:ext uri="{BB962C8B-B14F-4D97-AF65-F5344CB8AC3E}">
        <p14:creationId xmlns:p14="http://schemas.microsoft.com/office/powerpoint/2010/main" val="168302348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normAutofit fontScale="90000"/>
          </a:bodyPr>
          <a:lstStyle/>
          <a:p>
            <a:pPr algn="l"/>
            <a:r>
              <a:rPr lang="en-US" altLang="en-US" dirty="0"/>
              <a:t>Windows Vista and later versions-- Six Integrity Levels</a:t>
            </a:r>
          </a:p>
        </p:txBody>
      </p:sp>
      <p:sp>
        <p:nvSpPr>
          <p:cNvPr id="39939" name="Rectangle 3"/>
          <p:cNvSpPr>
            <a:spLocks noGrp="1" noChangeArrowheads="1"/>
          </p:cNvSpPr>
          <p:nvPr>
            <p:ph type="body" idx="1"/>
          </p:nvPr>
        </p:nvSpPr>
        <p:spPr/>
        <p:txBody>
          <a:bodyPr>
            <a:normAutofit/>
          </a:bodyPr>
          <a:lstStyle/>
          <a:p>
            <a:pPr marL="533400" indent="-533400">
              <a:buFontTx/>
              <a:buNone/>
            </a:pPr>
            <a:r>
              <a:rPr lang="en-US" altLang="en-US" sz="2000" dirty="0">
                <a:latin typeface="Times New Roman" panose="02020603050405020304" pitchFamily="18" charset="0"/>
                <a:cs typeface="Times New Roman" panose="02020603050405020304" pitchFamily="18" charset="0"/>
              </a:rPr>
              <a:t>Object and Principals are labeled</a:t>
            </a:r>
          </a:p>
          <a:p>
            <a:pPr marL="533400" indent="-533400"/>
            <a:r>
              <a:rPr lang="en-US" altLang="en-US" sz="2000" dirty="0">
                <a:latin typeface="Times New Roman" panose="02020603050405020304" pitchFamily="18" charset="0"/>
                <a:cs typeface="Times New Roman" panose="02020603050405020304" pitchFamily="18" charset="0"/>
              </a:rPr>
              <a:t>Untrusted</a:t>
            </a:r>
          </a:p>
          <a:p>
            <a:pPr marL="533400" indent="-533400"/>
            <a:r>
              <a:rPr lang="en-US" altLang="en-US" sz="2000" dirty="0">
                <a:latin typeface="Times New Roman" panose="02020603050405020304" pitchFamily="18" charset="0"/>
                <a:cs typeface="Times New Roman" panose="02020603050405020304" pitchFamily="18" charset="0"/>
              </a:rPr>
              <a:t>Low</a:t>
            </a:r>
          </a:p>
          <a:p>
            <a:pPr marL="533400" indent="-533400"/>
            <a:r>
              <a:rPr lang="en-US" altLang="en-US" sz="2000" dirty="0">
                <a:latin typeface="Times New Roman" panose="02020603050405020304" pitchFamily="18" charset="0"/>
                <a:cs typeface="Times New Roman" panose="02020603050405020304" pitchFamily="18" charset="0"/>
              </a:rPr>
              <a:t>Medium</a:t>
            </a:r>
          </a:p>
          <a:p>
            <a:pPr marL="533400" indent="-533400"/>
            <a:r>
              <a:rPr lang="en-US" altLang="en-US" sz="2000" dirty="0">
                <a:latin typeface="Times New Roman" panose="02020603050405020304" pitchFamily="18" charset="0"/>
                <a:cs typeface="Times New Roman" panose="02020603050405020304" pitchFamily="18" charset="0"/>
              </a:rPr>
              <a:t>High</a:t>
            </a:r>
          </a:p>
          <a:p>
            <a:pPr marL="533400" indent="-533400"/>
            <a:r>
              <a:rPr lang="en-US" altLang="en-US" sz="2000" dirty="0">
                <a:latin typeface="Times New Roman" panose="02020603050405020304" pitchFamily="18" charset="0"/>
                <a:cs typeface="Times New Roman" panose="02020603050405020304" pitchFamily="18" charset="0"/>
              </a:rPr>
              <a:t>System</a:t>
            </a:r>
          </a:p>
          <a:p>
            <a:pPr marL="533400" indent="-533400"/>
            <a:r>
              <a:rPr lang="en-US" altLang="en-US" sz="2000" dirty="0">
                <a:latin typeface="Times New Roman" panose="02020603050405020304" pitchFamily="18" charset="0"/>
                <a:cs typeface="Times New Roman" panose="02020603050405020304" pitchFamily="18" charset="0"/>
              </a:rPr>
              <a:t>Installer</a:t>
            </a:r>
          </a:p>
          <a:p>
            <a:pPr marL="533400" indent="-533400"/>
            <a:endParaRPr lang="en-US" altLang="en-US" sz="2000" dirty="0">
              <a:latin typeface="Times New Roman" panose="02020603050405020304" pitchFamily="18" charset="0"/>
              <a:cs typeface="Times New Roman" panose="02020603050405020304" pitchFamily="18" charset="0"/>
            </a:endParaRPr>
          </a:p>
          <a:p>
            <a:pPr marL="533400" indent="-533400"/>
            <a:endParaRPr lang="en-US" altLang="en-US" sz="2000" dirty="0">
              <a:latin typeface="Times New Roman" panose="02020603050405020304" pitchFamily="18" charset="0"/>
              <a:cs typeface="Times New Roman" panose="02020603050405020304" pitchFamily="18" charset="0"/>
            </a:endParaRPr>
          </a:p>
          <a:p>
            <a:pPr marL="0" indent="0">
              <a:buNone/>
            </a:pPr>
            <a:r>
              <a:rPr lang="en-US" sz="2000" dirty="0"/>
              <a:t>four primary security levels</a:t>
            </a:r>
            <a:r>
              <a:rPr lang="en-US" sz="2000" dirty="0">
                <a:latin typeface="Times New Roman" panose="02020603050405020304" pitchFamily="18" charset="0"/>
                <a:cs typeface="Times New Roman" panose="02020603050405020304" pitchFamily="18" charset="0"/>
              </a:rPr>
              <a:t>: low, medium, high, and system.</a:t>
            </a:r>
            <a:endParaRPr lang="en-US" alt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4075120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685800" y="0"/>
            <a:ext cx="7772400" cy="1143000"/>
          </a:xfrm>
        </p:spPr>
        <p:txBody>
          <a:bodyPr/>
          <a:lstStyle/>
          <a:p>
            <a:r>
              <a:rPr lang="en-US" altLang="en-US"/>
              <a:t>Secure Operating Systems</a:t>
            </a:r>
          </a:p>
        </p:txBody>
      </p:sp>
      <p:sp>
        <p:nvSpPr>
          <p:cNvPr id="22531" name="Rectangle 3"/>
          <p:cNvSpPr>
            <a:spLocks noGrp="1" noChangeArrowheads="1"/>
          </p:cNvSpPr>
          <p:nvPr>
            <p:ph type="body" idx="1"/>
          </p:nvPr>
        </p:nvSpPr>
        <p:spPr>
          <a:xfrm>
            <a:off x="685800" y="1066800"/>
            <a:ext cx="7772400" cy="5029200"/>
          </a:xfrm>
        </p:spPr>
        <p:txBody>
          <a:bodyPr>
            <a:normAutofit lnSpcReduction="10000"/>
          </a:bodyPr>
          <a:lstStyle/>
          <a:p>
            <a:pPr>
              <a:lnSpc>
                <a:spcPct val="90000"/>
              </a:lnSpc>
              <a:buFontTx/>
              <a:buNone/>
            </a:pPr>
            <a:r>
              <a:rPr lang="en-US" altLang="en-US" sz="2800" dirty="0"/>
              <a:t>Basic Features of a Multiprogramming OS</a:t>
            </a:r>
          </a:p>
          <a:p>
            <a:pPr lvl="1">
              <a:lnSpc>
                <a:spcPct val="90000"/>
              </a:lnSpc>
            </a:pPr>
            <a:r>
              <a:rPr lang="en-US" altLang="en-US" sz="2400" dirty="0"/>
              <a:t>Authentication of users.</a:t>
            </a:r>
          </a:p>
          <a:p>
            <a:pPr lvl="1">
              <a:lnSpc>
                <a:spcPct val="90000"/>
              </a:lnSpc>
            </a:pPr>
            <a:r>
              <a:rPr lang="en-US" altLang="en-US" sz="2400" dirty="0"/>
              <a:t>Protection of memory –segmentation, paging, paged </a:t>
            </a:r>
            <a:r>
              <a:rPr lang="en-US" altLang="en-US" sz="2400" dirty="0" err="1"/>
              <a:t>segmenation</a:t>
            </a:r>
            <a:r>
              <a:rPr lang="en-US" altLang="en-US" sz="2400" dirty="0"/>
              <a:t> (combining segmentation with paging).</a:t>
            </a:r>
          </a:p>
          <a:p>
            <a:pPr lvl="1">
              <a:lnSpc>
                <a:spcPct val="90000"/>
              </a:lnSpc>
            </a:pPr>
            <a:r>
              <a:rPr lang="en-US" altLang="en-US" sz="2400" dirty="0"/>
              <a:t>File and I/O device access control.</a:t>
            </a:r>
          </a:p>
          <a:p>
            <a:pPr lvl="1">
              <a:lnSpc>
                <a:spcPct val="90000"/>
              </a:lnSpc>
            </a:pPr>
            <a:r>
              <a:rPr lang="en-US" altLang="en-US" sz="2400" dirty="0"/>
              <a:t>Allocation and access control to general objects.</a:t>
            </a:r>
          </a:p>
          <a:p>
            <a:pPr lvl="1">
              <a:lnSpc>
                <a:spcPct val="90000"/>
              </a:lnSpc>
            </a:pPr>
            <a:r>
              <a:rPr lang="en-US" altLang="en-US" sz="2400" dirty="0"/>
              <a:t>Enforcement of sharing.</a:t>
            </a:r>
          </a:p>
          <a:p>
            <a:pPr lvl="1">
              <a:lnSpc>
                <a:spcPct val="90000"/>
              </a:lnSpc>
            </a:pPr>
            <a:r>
              <a:rPr lang="en-US" altLang="en-US" sz="2400" dirty="0"/>
              <a:t>Guarantee of fair service.</a:t>
            </a:r>
          </a:p>
          <a:p>
            <a:pPr lvl="1">
              <a:lnSpc>
                <a:spcPct val="90000"/>
              </a:lnSpc>
            </a:pPr>
            <a:r>
              <a:rPr lang="en-US" altLang="en-US" sz="2400" dirty="0" err="1"/>
              <a:t>Interprocess</a:t>
            </a:r>
            <a:r>
              <a:rPr lang="en-US" altLang="en-US" sz="2400" dirty="0"/>
              <a:t> communication and synchronization.</a:t>
            </a:r>
          </a:p>
          <a:p>
            <a:pPr>
              <a:lnSpc>
                <a:spcPct val="90000"/>
              </a:lnSpc>
            </a:pPr>
            <a:r>
              <a:rPr lang="en-US" altLang="en-US" sz="2800" dirty="0"/>
              <a:t>Basic Considerations</a:t>
            </a:r>
          </a:p>
          <a:p>
            <a:pPr lvl="1">
              <a:lnSpc>
                <a:spcPct val="90000"/>
              </a:lnSpc>
            </a:pPr>
            <a:r>
              <a:rPr lang="en-US" altLang="en-US" sz="2400" dirty="0"/>
              <a:t>Security must be considered in every aspect of the design of operating systems.</a:t>
            </a:r>
          </a:p>
          <a:p>
            <a:pPr lvl="1">
              <a:lnSpc>
                <a:spcPct val="90000"/>
              </a:lnSpc>
            </a:pPr>
            <a:r>
              <a:rPr lang="en-US" altLang="en-US" sz="2400" dirty="0"/>
              <a:t>It is difficult to add on security features.</a:t>
            </a:r>
          </a:p>
        </p:txBody>
      </p:sp>
    </p:spTree>
    <p:extLst>
      <p:ext uri="{BB962C8B-B14F-4D97-AF65-F5344CB8AC3E}">
        <p14:creationId xmlns:p14="http://schemas.microsoft.com/office/powerpoint/2010/main" val="133873701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685800" y="0"/>
            <a:ext cx="7772400" cy="1143000"/>
          </a:xfrm>
        </p:spPr>
        <p:txBody>
          <a:bodyPr/>
          <a:lstStyle/>
          <a:p>
            <a:r>
              <a:rPr lang="en-US" altLang="en-US"/>
              <a:t>Basic Design Principles</a:t>
            </a:r>
          </a:p>
        </p:txBody>
      </p:sp>
      <p:sp>
        <p:nvSpPr>
          <p:cNvPr id="23555" name="Rectangle 3"/>
          <p:cNvSpPr>
            <a:spLocks noGrp="1" noChangeArrowheads="1"/>
          </p:cNvSpPr>
          <p:nvPr>
            <p:ph type="body" idx="1"/>
          </p:nvPr>
        </p:nvSpPr>
        <p:spPr>
          <a:xfrm>
            <a:off x="685800" y="914400"/>
            <a:ext cx="7772400" cy="5181600"/>
          </a:xfrm>
        </p:spPr>
        <p:txBody>
          <a:bodyPr/>
          <a:lstStyle/>
          <a:p>
            <a:r>
              <a:rPr lang="en-US" altLang="en-US" sz="2800" dirty="0"/>
              <a:t>Least privilege - fewest possible privileges for user.</a:t>
            </a:r>
          </a:p>
          <a:p>
            <a:r>
              <a:rPr lang="en-US" altLang="en-US" sz="2800" dirty="0"/>
              <a:t>Economy of mechanism - small, simple, straight forward.</a:t>
            </a:r>
          </a:p>
          <a:p>
            <a:r>
              <a:rPr lang="en-US" altLang="en-US" sz="2800" dirty="0"/>
              <a:t>Open design </a:t>
            </a:r>
          </a:p>
          <a:p>
            <a:r>
              <a:rPr lang="en-US" altLang="en-US" sz="2800" dirty="0"/>
              <a:t>Complete mediation - check every access</a:t>
            </a:r>
          </a:p>
          <a:p>
            <a:r>
              <a:rPr lang="en-US" altLang="en-US" sz="2800" dirty="0"/>
              <a:t>Permission based - default is denial of access.</a:t>
            </a:r>
          </a:p>
          <a:p>
            <a:r>
              <a:rPr lang="en-US" altLang="en-US" sz="2800" dirty="0"/>
              <a:t>Separation of privilege - no single super user.</a:t>
            </a:r>
          </a:p>
          <a:p>
            <a:r>
              <a:rPr lang="en-US" altLang="en-US" sz="2800" dirty="0"/>
              <a:t>Least common mechanism - avoid shared objects.</a:t>
            </a:r>
          </a:p>
          <a:p>
            <a:r>
              <a:rPr lang="en-US" altLang="en-US" sz="2800" dirty="0"/>
              <a:t>Easy to use.</a:t>
            </a:r>
          </a:p>
        </p:txBody>
      </p:sp>
    </p:spTree>
    <p:extLst>
      <p:ext uri="{BB962C8B-B14F-4D97-AF65-F5344CB8AC3E}">
        <p14:creationId xmlns:p14="http://schemas.microsoft.com/office/powerpoint/2010/main" val="43884383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685800" y="0"/>
            <a:ext cx="7772400" cy="1143000"/>
          </a:xfrm>
        </p:spPr>
        <p:txBody>
          <a:bodyPr/>
          <a:lstStyle/>
          <a:p>
            <a:r>
              <a:rPr lang="en-US" altLang="en-US" dirty="0">
                <a:solidFill>
                  <a:srgbClr val="C00000"/>
                </a:solidFill>
              </a:rPr>
              <a:t>Security Kernel</a:t>
            </a:r>
          </a:p>
        </p:txBody>
      </p:sp>
      <p:sp>
        <p:nvSpPr>
          <p:cNvPr id="24579" name="Rectangle 3"/>
          <p:cNvSpPr>
            <a:spLocks noGrp="1" noChangeArrowheads="1"/>
          </p:cNvSpPr>
          <p:nvPr>
            <p:ph type="body" idx="1"/>
          </p:nvPr>
        </p:nvSpPr>
        <p:spPr>
          <a:xfrm>
            <a:off x="685800" y="914400"/>
            <a:ext cx="7772400" cy="5181600"/>
          </a:xfrm>
        </p:spPr>
        <p:txBody>
          <a:bodyPr/>
          <a:lstStyle/>
          <a:p>
            <a:r>
              <a:rPr lang="en-US" altLang="en-US" dirty="0"/>
              <a:t>Responsible for implementing the security mechanisms of the entire operating system.</a:t>
            </a:r>
          </a:p>
          <a:p>
            <a:r>
              <a:rPr lang="en-US" altLang="en-US" dirty="0"/>
              <a:t>Provides the security interfaces among the hardware, the operating system, and the other parts of the computing system.</a:t>
            </a:r>
          </a:p>
          <a:p>
            <a:r>
              <a:rPr lang="en-US" altLang="en-US" dirty="0"/>
              <a:t>Implementation of a security kernel:</a:t>
            </a:r>
          </a:p>
          <a:p>
            <a:pPr lvl="1"/>
            <a:r>
              <a:rPr lang="en-US" altLang="en-US" dirty="0"/>
              <a:t>May degrade system performance (one more layer).</a:t>
            </a:r>
          </a:p>
          <a:p>
            <a:pPr lvl="1"/>
            <a:r>
              <a:rPr lang="en-US" altLang="en-US" dirty="0"/>
              <a:t>May be large.</a:t>
            </a:r>
          </a:p>
          <a:p>
            <a:pPr lvl="1"/>
            <a:r>
              <a:rPr lang="en-US" altLang="en-US" dirty="0"/>
              <a:t>No guarantees.</a:t>
            </a:r>
          </a:p>
        </p:txBody>
      </p:sp>
    </p:spTree>
    <p:extLst>
      <p:ext uri="{BB962C8B-B14F-4D97-AF65-F5344CB8AC3E}">
        <p14:creationId xmlns:p14="http://schemas.microsoft.com/office/powerpoint/2010/main" val="240734813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685800" y="0"/>
            <a:ext cx="7772400" cy="1143000"/>
          </a:xfrm>
        </p:spPr>
        <p:txBody>
          <a:bodyPr/>
          <a:lstStyle/>
          <a:p>
            <a:r>
              <a:rPr lang="en-US" altLang="en-US" dirty="0">
                <a:solidFill>
                  <a:srgbClr val="C00000"/>
                </a:solidFill>
              </a:rPr>
              <a:t>Tripwire</a:t>
            </a:r>
          </a:p>
        </p:txBody>
      </p:sp>
      <p:sp>
        <p:nvSpPr>
          <p:cNvPr id="24579" name="Rectangle 3"/>
          <p:cNvSpPr>
            <a:spLocks noGrp="1" noChangeArrowheads="1"/>
          </p:cNvSpPr>
          <p:nvPr>
            <p:ph type="body" idx="1"/>
          </p:nvPr>
        </p:nvSpPr>
        <p:spPr>
          <a:xfrm>
            <a:off x="685800" y="914400"/>
            <a:ext cx="7772400" cy="5181600"/>
          </a:xfrm>
        </p:spPr>
        <p:txBody>
          <a:bodyPr>
            <a:normAutofit/>
          </a:bodyPr>
          <a:lstStyle/>
          <a:p>
            <a:pPr marL="0" lvl="1" indent="0">
              <a:buNone/>
            </a:pPr>
            <a:r>
              <a:rPr lang="en-US" altLang="en-US" sz="2400" dirty="0"/>
              <a:t>A number of commercial and open-source tools available to perform system security scanning and vulnerability testing.</a:t>
            </a:r>
          </a:p>
          <a:p>
            <a:pPr marL="0" indent="0">
              <a:buNone/>
            </a:pPr>
            <a:endParaRPr lang="en-US" altLang="en-US" sz="2400" dirty="0"/>
          </a:p>
          <a:p>
            <a:pPr marL="0" indent="0">
              <a:buNone/>
            </a:pPr>
            <a:r>
              <a:rPr lang="en-US" altLang="en-US" sz="2400" dirty="0"/>
              <a:t>Tripwire is a well-known file integrity checking tool that maintains a database of cryptographic hashes of monitored files and scans to detect any changes, whether as a result of malicious attack or simply accidental or incorrectly managed update. This also was originally an open-source tool but now has both commercial and free variants available.</a:t>
            </a:r>
          </a:p>
        </p:txBody>
      </p:sp>
    </p:spTree>
    <p:extLst>
      <p:ext uri="{BB962C8B-B14F-4D97-AF65-F5344CB8AC3E}">
        <p14:creationId xmlns:p14="http://schemas.microsoft.com/office/powerpoint/2010/main" val="35806210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685800" y="0"/>
            <a:ext cx="7772400" cy="1143000"/>
          </a:xfrm>
        </p:spPr>
        <p:txBody>
          <a:bodyPr>
            <a:normAutofit fontScale="90000"/>
          </a:bodyPr>
          <a:lstStyle/>
          <a:p>
            <a:r>
              <a:rPr lang="en-US" altLang="en-US" dirty="0">
                <a:solidFill>
                  <a:srgbClr val="C00000"/>
                </a:solidFill>
              </a:rPr>
              <a:t>Strategies to Mitigate Cyber Security Incidents</a:t>
            </a:r>
          </a:p>
        </p:txBody>
      </p:sp>
      <p:sp>
        <p:nvSpPr>
          <p:cNvPr id="24579" name="Rectangle 3"/>
          <p:cNvSpPr>
            <a:spLocks noGrp="1" noChangeArrowheads="1"/>
          </p:cNvSpPr>
          <p:nvPr>
            <p:ph type="body" idx="1"/>
          </p:nvPr>
        </p:nvSpPr>
        <p:spPr>
          <a:xfrm>
            <a:off x="685800" y="914400"/>
            <a:ext cx="7772400" cy="5181600"/>
          </a:xfrm>
        </p:spPr>
        <p:txBody>
          <a:bodyPr>
            <a:normAutofit fontScale="25000" lnSpcReduction="20000"/>
          </a:bodyPr>
          <a:lstStyle/>
          <a:p>
            <a:pPr marL="0" indent="0" fontAlgn="base">
              <a:buNone/>
            </a:pPr>
            <a:br>
              <a:rPr lang="en-US" dirty="0"/>
            </a:br>
            <a:r>
              <a:rPr lang="en-US" sz="8000" dirty="0"/>
              <a:t>The Australian Signals Directorate (ASD) list of the “Strategies to Mitigate Cyber Security Incidents”</a:t>
            </a:r>
          </a:p>
          <a:p>
            <a:pPr fontAlgn="base"/>
            <a:endParaRPr lang="en-US" dirty="0"/>
          </a:p>
          <a:p>
            <a:pPr fontAlgn="base"/>
            <a:r>
              <a:rPr lang="en-US" sz="5500" dirty="0"/>
              <a:t>Allow-list approved applications</a:t>
            </a:r>
          </a:p>
          <a:p>
            <a:pPr fontAlgn="base"/>
            <a:endParaRPr lang="en-US" sz="5500" dirty="0"/>
          </a:p>
          <a:p>
            <a:pPr fontAlgn="base"/>
            <a:r>
              <a:rPr lang="en-US" sz="5500" dirty="0"/>
              <a:t>Patch third-party applications</a:t>
            </a:r>
          </a:p>
          <a:p>
            <a:pPr fontAlgn="base"/>
            <a:endParaRPr lang="en-US" sz="5500" dirty="0"/>
          </a:p>
          <a:p>
            <a:pPr fontAlgn="base"/>
            <a:r>
              <a:rPr lang="en-US" sz="5500" dirty="0"/>
              <a:t>Patch operating system vulnerabilities and use the latest versions</a:t>
            </a:r>
          </a:p>
          <a:p>
            <a:pPr fontAlgn="base"/>
            <a:endParaRPr lang="en-US" sz="5500" dirty="0"/>
          </a:p>
          <a:p>
            <a:pPr fontAlgn="base"/>
            <a:r>
              <a:rPr lang="en-US" sz="5500" dirty="0"/>
              <a:t>Restrict administrative privileges</a:t>
            </a:r>
          </a:p>
          <a:p>
            <a:pPr fontAlgn="base"/>
            <a:endParaRPr lang="en-US" sz="5500" dirty="0"/>
          </a:p>
          <a:p>
            <a:pPr fontAlgn="base"/>
            <a:r>
              <a:rPr lang="en-US" sz="5500" dirty="0"/>
              <a:t>Configure Microsoft Office macro settings (For Windows OS)</a:t>
            </a:r>
          </a:p>
          <a:p>
            <a:pPr fontAlgn="base"/>
            <a:endParaRPr lang="en-US" sz="5500" dirty="0"/>
          </a:p>
          <a:p>
            <a:pPr fontAlgn="base"/>
            <a:r>
              <a:rPr lang="en-US" sz="5500" dirty="0"/>
              <a:t>User application hardening</a:t>
            </a:r>
          </a:p>
          <a:p>
            <a:pPr fontAlgn="base"/>
            <a:endParaRPr lang="en-US" sz="5500" dirty="0"/>
          </a:p>
          <a:p>
            <a:pPr fontAlgn="base"/>
            <a:r>
              <a:rPr lang="en-US" sz="5500" dirty="0"/>
              <a:t>Multifactor authentication</a:t>
            </a:r>
          </a:p>
          <a:p>
            <a:pPr fontAlgn="base"/>
            <a:endParaRPr lang="en-US" sz="5500" dirty="0"/>
          </a:p>
          <a:p>
            <a:pPr fontAlgn="base"/>
            <a:r>
              <a:rPr lang="en-US" sz="5500" dirty="0"/>
              <a:t>Regular backups</a:t>
            </a:r>
          </a:p>
          <a:p>
            <a:pPr fontAlgn="base"/>
            <a:endParaRPr lang="en-US" sz="3100" dirty="0"/>
          </a:p>
          <a:p>
            <a:pPr marL="0" indent="0" fontAlgn="base">
              <a:buNone/>
            </a:pPr>
            <a:r>
              <a:rPr lang="en-US" sz="8000" dirty="0"/>
              <a:t>Collectively these assist in creating a defense-in-depth system</a:t>
            </a:r>
          </a:p>
          <a:p>
            <a:pPr marL="0" indent="0" fontAlgn="base">
              <a:buNone/>
            </a:pPr>
            <a:endParaRPr lang="en-US" sz="8000" dirty="0"/>
          </a:p>
          <a:p>
            <a:pPr marL="0" indent="0" fontAlgn="base">
              <a:buNone/>
            </a:pPr>
            <a:r>
              <a:rPr lang="en-US" sz="8000" dirty="0"/>
              <a:t>NIST SP 800-123: General Server Security</a:t>
            </a:r>
            <a:br>
              <a:rPr lang="en-US" sz="8000" dirty="0"/>
            </a:br>
            <a:br>
              <a:rPr lang="en-US" dirty="0"/>
            </a:br>
            <a:br>
              <a:rPr lang="en-US" dirty="0"/>
            </a:br>
            <a:endParaRPr lang="en-US" dirty="0"/>
          </a:p>
          <a:p>
            <a:endParaRPr lang="en-US" altLang="en-US" dirty="0"/>
          </a:p>
        </p:txBody>
      </p:sp>
    </p:spTree>
    <p:extLst>
      <p:ext uri="{BB962C8B-B14F-4D97-AF65-F5344CB8AC3E}">
        <p14:creationId xmlns:p14="http://schemas.microsoft.com/office/powerpoint/2010/main" val="9320899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4751</Words>
  <Application>Microsoft Office PowerPoint</Application>
  <PresentationFormat>On-screen Show (4:3)</PresentationFormat>
  <Paragraphs>761</Paragraphs>
  <Slides>68</Slides>
  <Notes>28</Notes>
  <HiddenSlides>2</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68</vt:i4>
      </vt:variant>
    </vt:vector>
  </HeadingPairs>
  <TitlesOfParts>
    <vt:vector size="82" baseType="lpstr">
      <vt:lpstr>Monotype Sorts</vt:lpstr>
      <vt:lpstr>MS PGothic</vt:lpstr>
      <vt:lpstr>新細明體</vt:lpstr>
      <vt:lpstr>宋体</vt:lpstr>
      <vt:lpstr>Times-Roman</vt:lpstr>
      <vt:lpstr>Arial</vt:lpstr>
      <vt:lpstr>Calibri</vt:lpstr>
      <vt:lpstr>Comic Sans MS</vt:lpstr>
      <vt:lpstr>Helvetica</vt:lpstr>
      <vt:lpstr>Symbol</vt:lpstr>
      <vt:lpstr>Tahoma</vt:lpstr>
      <vt:lpstr>Times New Roman</vt:lpstr>
      <vt:lpstr>Wingdings</vt:lpstr>
      <vt:lpstr>Office Theme</vt:lpstr>
      <vt:lpstr>Operating System -- Security</vt:lpstr>
      <vt:lpstr>Security in Operating Systems</vt:lpstr>
      <vt:lpstr>What Security Goals Does Operating System Provide?</vt:lpstr>
      <vt:lpstr>What Security Goals Does Operating System Provide? </vt:lpstr>
      <vt:lpstr>What Security Goals Does Operating System Provide?</vt:lpstr>
      <vt:lpstr>Security is About Reconciling Separation and Sharing</vt:lpstr>
      <vt:lpstr>Basic Principles of Operating System Security</vt:lpstr>
      <vt:lpstr>Computer System Components</vt:lpstr>
      <vt:lpstr>Abstract View of System Components</vt:lpstr>
      <vt:lpstr>High-level View of Kernel Space vs. User Space</vt:lpstr>
      <vt:lpstr>User-Land vs. Kernel-Land</vt:lpstr>
      <vt:lpstr>Memory Protection: Access Control to Memory</vt:lpstr>
      <vt:lpstr>Memory and Address Protection</vt:lpstr>
      <vt:lpstr>Hardware Fence</vt:lpstr>
      <vt:lpstr>Relocation</vt:lpstr>
      <vt:lpstr>Base and Bounds Registers</vt:lpstr>
      <vt:lpstr>Logical and Physical Segments</vt:lpstr>
      <vt:lpstr>Segment Addresses</vt:lpstr>
      <vt:lpstr>Segment Addresses</vt:lpstr>
      <vt:lpstr>Segmentation, contd.</vt:lpstr>
      <vt:lpstr>Segmentation, contd.</vt:lpstr>
      <vt:lpstr>Paging</vt:lpstr>
      <vt:lpstr>Page Translation</vt:lpstr>
      <vt:lpstr>Memory Pages</vt:lpstr>
      <vt:lpstr>Combined Paging and Segmentation</vt:lpstr>
      <vt:lpstr>CPU Modes (a.k.a. processor modes or privilege </vt:lpstr>
      <vt:lpstr>User Mode </vt:lpstr>
      <vt:lpstr>System Calls</vt:lpstr>
      <vt:lpstr>Tagged Architecture </vt:lpstr>
      <vt:lpstr>Kernel space vs User space</vt:lpstr>
      <vt:lpstr>User-Land vs. Kernel-Land</vt:lpstr>
      <vt:lpstr>Access control</vt:lpstr>
      <vt:lpstr>SUBJECTS</vt:lpstr>
      <vt:lpstr>OBJECTS</vt:lpstr>
      <vt:lpstr>Basic Concepts of UNIX Access Control: Users, Groups, Files, Processes</vt:lpstr>
      <vt:lpstr>Access Control Matrix</vt:lpstr>
      <vt:lpstr>Are You Allowed to Do That? </vt:lpstr>
      <vt:lpstr>Access Control Lists (ACLs)</vt:lpstr>
      <vt:lpstr>Access Control Lists (ACLs)</vt:lpstr>
      <vt:lpstr>Access Control List (ACL)</vt:lpstr>
      <vt:lpstr>Capabilities (or C-Lists)</vt:lpstr>
      <vt:lpstr>Capabilities (or C-Lists)</vt:lpstr>
      <vt:lpstr>ACLs vs Capabilities</vt:lpstr>
      <vt:lpstr>Confused Deputy</vt:lpstr>
      <vt:lpstr>ACL’s and Confused Deputy</vt:lpstr>
      <vt:lpstr>Confused Deputy</vt:lpstr>
      <vt:lpstr>ACLs vs Capabilities</vt:lpstr>
      <vt:lpstr>Multilevel Security</vt:lpstr>
      <vt:lpstr>Mandatory Access Control (MAC)</vt:lpstr>
      <vt:lpstr>Role-based Access Control</vt:lpstr>
      <vt:lpstr>Role-Based Access Control</vt:lpstr>
      <vt:lpstr>User Policy</vt:lpstr>
      <vt:lpstr>Monitor Model</vt:lpstr>
      <vt:lpstr>Military Security Model</vt:lpstr>
      <vt:lpstr>Compartmentalization</vt:lpstr>
      <vt:lpstr>Information Flow Models</vt:lpstr>
      <vt:lpstr>Bell-LaPadula Model</vt:lpstr>
      <vt:lpstr>Bell-LaPadula Mandatory Controls</vt:lpstr>
      <vt:lpstr>Bell-LaPadula Properties</vt:lpstr>
      <vt:lpstr>Biba Model</vt:lpstr>
      <vt:lpstr>Biba Properties</vt:lpstr>
      <vt:lpstr>Integrity Preservation</vt:lpstr>
      <vt:lpstr>Windows Vista and later versions-- Six Integrity Levels</vt:lpstr>
      <vt:lpstr>Secure Operating Systems</vt:lpstr>
      <vt:lpstr>Basic Design Principles</vt:lpstr>
      <vt:lpstr>Security Kernel</vt:lpstr>
      <vt:lpstr>Tripwire</vt:lpstr>
      <vt:lpstr>Strategies to Mitigate Cyber Security Incidents</vt:lpstr>
    </vt:vector>
  </TitlesOfParts>
  <Company>Wright State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Application Vulnerabilities</dc:title>
  <dc:creator>Junjie Zhang</dc:creator>
  <cp:lastModifiedBy>Meilin</cp:lastModifiedBy>
  <cp:revision>907</cp:revision>
  <dcterms:created xsi:type="dcterms:W3CDTF">2014-07-22T20:51:22Z</dcterms:created>
  <dcterms:modified xsi:type="dcterms:W3CDTF">2025-10-22T19:15:24Z</dcterms:modified>
</cp:coreProperties>
</file>