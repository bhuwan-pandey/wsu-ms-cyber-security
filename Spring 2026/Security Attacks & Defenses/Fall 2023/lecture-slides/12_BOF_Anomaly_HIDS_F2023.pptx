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24" r:id="rId1"/>
  </p:sldMasterIdLst>
  <p:notesMasterIdLst>
    <p:notesMasterId r:id="rId25"/>
  </p:notesMasterIdLst>
  <p:handoutMasterIdLst>
    <p:handoutMasterId r:id="rId26"/>
  </p:handoutMasterIdLst>
  <p:sldIdLst>
    <p:sldId id="256" r:id="rId2"/>
    <p:sldId id="348" r:id="rId3"/>
    <p:sldId id="349" r:id="rId4"/>
    <p:sldId id="351" r:id="rId5"/>
    <p:sldId id="352" r:id="rId6"/>
    <p:sldId id="354" r:id="rId7"/>
    <p:sldId id="380" r:id="rId8"/>
    <p:sldId id="356" r:id="rId9"/>
    <p:sldId id="357" r:id="rId10"/>
    <p:sldId id="358" r:id="rId11"/>
    <p:sldId id="359" r:id="rId12"/>
    <p:sldId id="360" r:id="rId13"/>
    <p:sldId id="361" r:id="rId14"/>
    <p:sldId id="366" r:id="rId15"/>
    <p:sldId id="363" r:id="rId16"/>
    <p:sldId id="364" r:id="rId17"/>
    <p:sldId id="367" r:id="rId18"/>
    <p:sldId id="365" r:id="rId19"/>
    <p:sldId id="368" r:id="rId20"/>
    <p:sldId id="369" r:id="rId21"/>
    <p:sldId id="370" r:id="rId22"/>
    <p:sldId id="381" r:id="rId23"/>
    <p:sldId id="38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667"/>
    <p:restoredTop sz="90815" autoAdjust="0"/>
  </p:normalViewPr>
  <p:slideViewPr>
    <p:cSldViewPr snapToGrid="0" snapToObjects="1">
      <p:cViewPr varScale="1">
        <p:scale>
          <a:sx n="78" d="100"/>
          <a:sy n="78" d="100"/>
        </p:scale>
        <p:origin x="163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2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436E0-77FE-B84C-BEAA-BDB411C2A9B5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F5E8A-7052-F841-A960-53365FC35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156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FE774-5358-C94F-9F0B-5BA4481ED1A6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3C5C6-1586-944C-B8CA-E66F27D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764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Storing</a:t>
            </a:r>
            <a:r>
              <a:rPr lang="en-US" baseline="0" dirty="0"/>
              <a:t> all the executed systems calls would be the perfect case, however, the problem is that the storage problem.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53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S0, S1, … S4 represent the</a:t>
            </a:r>
            <a:r>
              <a:rPr lang="en-US" baseline="0" dirty="0"/>
              <a:t> system calls. 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The left side comparison actually simulates the scenario that we record all the system call in sequence.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22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24D-BE6C-E840-9F73-1EE44F53C0AF}" type="datetime1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FFA9B-33F8-8244-A5F7-A913D46CE0D2}" type="datetime1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3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81B12-363E-394B-A328-BE159F361F4E}" type="datetime1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5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21455-FE3F-5848-8B48-E283C999E8BD}" type="datetime1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98BAC-0252-3940-8DCD-3505BA3636EA}" type="datetime1">
              <a:rPr lang="en-US" smtClean="0"/>
              <a:t>10/30/2023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8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91878-7D8B-5D49-A0DD-B8BA039B4C15}" type="datetime1">
              <a:rPr lang="en-US" smtClean="0"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9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40A7-764C-E445-8FA3-647072C54943}" type="datetime1">
              <a:rPr lang="en-US" smtClean="0"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5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B4C4-C70C-1B4F-B263-BC5B315AB1B0}" type="datetime1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7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1DD9-A9E5-6B42-98AE-8076AF76AA4B}" type="datetime1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5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CC9F-4629-2046-AA57-F941F835B53D}" type="datetime1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2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B39E-74F0-ED4B-A381-363E0F5377A9}" type="datetime1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29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DB19-5E5E-2E41-8015-C971245FF009}" type="datetime1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8BE15-7F0B-0840-A9A0-04D3C81E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9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Anomaly Detection</a:t>
            </a:r>
            <a:br>
              <a:rPr lang="en-US" b="1" dirty="0"/>
            </a:br>
            <a:r>
              <a:rPr lang="en-US" b="1" dirty="0"/>
              <a:t>Buffer Overflow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en-US" dirty="0">
                <a:solidFill>
                  <a:srgbClr val="00B0F0"/>
                </a:solidFill>
              </a:rPr>
              <a:t>This lecture slide is mainly based on the power point slides by Dr. </a:t>
            </a:r>
            <a:r>
              <a:rPr lang="en-US" altLang="en-US" dirty="0" err="1">
                <a:solidFill>
                  <a:srgbClr val="00B0F0"/>
                </a:solidFill>
              </a:rPr>
              <a:t>Junjie</a:t>
            </a:r>
            <a:r>
              <a:rPr lang="en-US" altLang="en-US">
                <a:solidFill>
                  <a:srgbClr val="00B0F0"/>
                </a:solidFill>
              </a:rPr>
              <a:t> Zhang.</a:t>
            </a:r>
            <a:endParaRPr lang="en-US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42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Host Intrusion Detection System (HIDS)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895503" y="3931319"/>
            <a:ext cx="4889368" cy="1814628"/>
            <a:chOff x="3144756" y="1670456"/>
            <a:chExt cx="4889368" cy="1814628"/>
          </a:xfrm>
        </p:grpSpPr>
        <p:pic>
          <p:nvPicPr>
            <p:cNvPr id="5" name="Picture 4" descr="1194983813750083554server_mimooh_.svg.med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4756" y="2105129"/>
              <a:ext cx="810518" cy="1127173"/>
            </a:xfrm>
            <a:prstGeom prst="rect">
              <a:avLst/>
            </a:prstGeom>
          </p:spPr>
        </p:pic>
        <p:grpSp>
          <p:nvGrpSpPr>
            <p:cNvPr id="3" name="Group 2"/>
            <p:cNvGrpSpPr/>
            <p:nvPr/>
          </p:nvGrpSpPr>
          <p:grpSpPr>
            <a:xfrm>
              <a:off x="4788301" y="1670456"/>
              <a:ext cx="3245823" cy="1814628"/>
              <a:chOff x="4756245" y="2691375"/>
              <a:chExt cx="3245823" cy="181462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4756245" y="2691375"/>
                <a:ext cx="3245823" cy="181462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5113950" y="2906464"/>
                <a:ext cx="1297263" cy="365600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processes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6538745" y="2868708"/>
                <a:ext cx="1297263" cy="369762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dk1"/>
                    </a:solidFill>
                  </a:rPr>
                  <a:t>File system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5113950" y="3329109"/>
                <a:ext cx="1297263" cy="367962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dk1"/>
                    </a:solidFill>
                  </a:rPr>
                  <a:t>networks</a:t>
                </a:r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5113950" y="3789139"/>
                <a:ext cx="2601354" cy="396264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Detector</a:t>
                </a: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6542913" y="3297358"/>
                <a:ext cx="1297263" cy="387042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dk1"/>
                    </a:solidFill>
                  </a:rPr>
                  <a:t>……</a:t>
                </a:r>
              </a:p>
            </p:txBody>
          </p:sp>
        </p:grpSp>
        <p:cxnSp>
          <p:nvCxnSpPr>
            <p:cNvPr id="20" name="Straight Connector 19"/>
            <p:cNvCxnSpPr>
              <a:stCxn id="5" idx="3"/>
              <a:endCxn id="17" idx="1"/>
            </p:cNvCxnSpPr>
            <p:nvPr/>
          </p:nvCxnSpPr>
          <p:spPr>
            <a:xfrm flipV="1">
              <a:off x="3955274" y="2577770"/>
              <a:ext cx="833027" cy="909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1535528"/>
            <a:ext cx="8229600" cy="251494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Leverage system information for detection</a:t>
            </a:r>
          </a:p>
          <a:p>
            <a:pPr lvl="1"/>
            <a:r>
              <a:rPr lang="en-US" dirty="0"/>
              <a:t>Process state (e.g., program state, registers)</a:t>
            </a:r>
          </a:p>
          <a:p>
            <a:pPr lvl="1"/>
            <a:r>
              <a:rPr lang="en-US" dirty="0"/>
              <a:t>Interactions between processes and systems (e.g., system calls)</a:t>
            </a:r>
          </a:p>
          <a:p>
            <a:pPr lvl="1"/>
            <a:r>
              <a:rPr lang="en-US" dirty="0"/>
              <a:t>File system information</a:t>
            </a:r>
          </a:p>
          <a:p>
            <a:pPr lvl="1"/>
            <a:r>
              <a:rPr lang="en-US" dirty="0"/>
              <a:t>Network states</a:t>
            </a:r>
          </a:p>
          <a:p>
            <a:pPr lvl="1"/>
            <a:r>
              <a:rPr lang="en-US" dirty="0"/>
              <a:t>….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178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Anomaly-Based HIDS: Detecting BOF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I: Training Phase</a:t>
            </a:r>
          </a:p>
          <a:p>
            <a:pPr lvl="1"/>
            <a:r>
              <a:rPr lang="en-US" dirty="0"/>
              <a:t>Build the normal profile of a process (e.g., an HTTP service process) based on the information acquired from the host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Phase II: Detection Phase</a:t>
            </a:r>
          </a:p>
          <a:p>
            <a:pPr lvl="1"/>
            <a:r>
              <a:rPr lang="en-US" dirty="0"/>
              <a:t>Detect anomaly behaviors (e.g., the HTTP service process is compromised by a BOF attack)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3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Anomaly-Based HIDS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2328"/>
            <a:ext cx="8229600" cy="46238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this lecture, we will discuss anomaly-based HIDS that leverages</a:t>
            </a:r>
          </a:p>
          <a:p>
            <a:endParaRPr lang="en-US" dirty="0"/>
          </a:p>
          <a:p>
            <a:pPr lvl="1"/>
            <a:r>
              <a:rPr lang="en-US" dirty="0"/>
              <a:t>System call</a:t>
            </a:r>
          </a:p>
          <a:p>
            <a:pPr lvl="2"/>
            <a:r>
              <a:rPr lang="en-US" dirty="0"/>
              <a:t>“</a:t>
            </a:r>
            <a:r>
              <a:rPr lang="en-US" b="1" i="1" dirty="0"/>
              <a:t>A Sense of Self for Unix Processes</a:t>
            </a:r>
            <a:r>
              <a:rPr lang="en-US" dirty="0"/>
              <a:t>”, S. Forrest et. al, IEEE S&amp;P 96.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System call and program state</a:t>
            </a:r>
          </a:p>
          <a:p>
            <a:pPr lvl="2"/>
            <a:r>
              <a:rPr lang="en-US" dirty="0"/>
              <a:t>“</a:t>
            </a:r>
            <a:r>
              <a:rPr lang="en-US" b="1" i="1" dirty="0"/>
              <a:t>A Fast Automaton-Based Method for Detecting Anomalous Program Behaviors</a:t>
            </a:r>
            <a:r>
              <a:rPr lang="en-US" dirty="0"/>
              <a:t>”, R. </a:t>
            </a:r>
            <a:r>
              <a:rPr lang="en-US" dirty="0" err="1"/>
              <a:t>Sekar</a:t>
            </a:r>
            <a:r>
              <a:rPr lang="en-US" dirty="0"/>
              <a:t> et. al, IEEE S&amp;P 01.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System call and stack information</a:t>
            </a:r>
          </a:p>
          <a:p>
            <a:pPr lvl="2"/>
            <a:r>
              <a:rPr lang="en-US" dirty="0"/>
              <a:t>“</a:t>
            </a:r>
            <a:r>
              <a:rPr lang="en-US" b="1" i="1" dirty="0"/>
              <a:t>Anomaly Detection Using Call Stack Information</a:t>
            </a:r>
            <a:r>
              <a:rPr lang="en-US" dirty="0"/>
              <a:t>”, H. </a:t>
            </a:r>
            <a:r>
              <a:rPr lang="en-US" dirty="0" err="1"/>
              <a:t>Feng</a:t>
            </a:r>
            <a:r>
              <a:rPr lang="en-US" dirty="0"/>
              <a:t>, et al, IEEE S&amp;P 03.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0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094"/>
            <a:ext cx="8229600" cy="48241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is a system call?</a:t>
            </a:r>
          </a:p>
          <a:p>
            <a:pPr lvl="1"/>
            <a:r>
              <a:rPr lang="en-US" dirty="0"/>
              <a:t>A system call is the interface between the application (e.g., user processes) and the operating system (e.g., kernel)</a:t>
            </a:r>
          </a:p>
          <a:p>
            <a:pPr lvl="1"/>
            <a:endParaRPr lang="en-US" dirty="0"/>
          </a:p>
          <a:p>
            <a:r>
              <a:rPr lang="en-US" dirty="0"/>
              <a:t>The legitimate process uses system calls to</a:t>
            </a:r>
          </a:p>
          <a:p>
            <a:pPr lvl="1"/>
            <a:r>
              <a:rPr lang="en-US" dirty="0"/>
              <a:t>Open files; read files; create a directory….</a:t>
            </a:r>
          </a:p>
          <a:p>
            <a:pPr lvl="1"/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shellcode</a:t>
            </a:r>
            <a:r>
              <a:rPr lang="en-US" dirty="0"/>
              <a:t> (malicious instructions) uses system calls to</a:t>
            </a:r>
          </a:p>
          <a:p>
            <a:pPr lvl="1"/>
            <a:r>
              <a:rPr lang="en-US" dirty="0"/>
              <a:t>Launch a shell; modify a file; initiate network connections…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9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60214" y="1712908"/>
            <a:ext cx="3141054" cy="47997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ourier New"/>
                <a:cs typeface="Courier New"/>
              </a:rPr>
              <a:t>………</a:t>
            </a:r>
          </a:p>
          <a:p>
            <a:r>
              <a:rPr lang="en-US" sz="1600" dirty="0">
                <a:latin typeface="Courier New"/>
                <a:cs typeface="Courier New"/>
              </a:rPr>
              <a:t>F=</a:t>
            </a:r>
            <a:r>
              <a:rPr lang="en-US" sz="1600" b="1" dirty="0">
                <a:latin typeface="Courier New"/>
                <a:cs typeface="Courier New"/>
              </a:rPr>
              <a:t>open</a:t>
            </a:r>
            <a:r>
              <a:rPr lang="en-US" sz="1600" dirty="0">
                <a:latin typeface="Courier New"/>
                <a:cs typeface="Courier New"/>
              </a:rPr>
              <a:t>(“./</a:t>
            </a:r>
            <a:r>
              <a:rPr lang="en-US" sz="1600" dirty="0" err="1">
                <a:latin typeface="Courier New"/>
                <a:cs typeface="Courier New"/>
              </a:rPr>
              <a:t>t.txt</a:t>
            </a:r>
            <a:r>
              <a:rPr lang="en-US" sz="1600" dirty="0">
                <a:latin typeface="Courier New"/>
                <a:cs typeface="Courier New"/>
              </a:rPr>
              <a:t>”);</a:t>
            </a:r>
          </a:p>
          <a:p>
            <a:r>
              <a:rPr lang="en-US" sz="1600" dirty="0">
                <a:latin typeface="Courier New"/>
                <a:cs typeface="Courier New"/>
              </a:rPr>
              <a:t>for(</a:t>
            </a:r>
            <a:r>
              <a:rPr lang="en-US" sz="1600" dirty="0" err="1">
                <a:latin typeface="Courier New"/>
                <a:cs typeface="Courier New"/>
              </a:rPr>
              <a:t>i</a:t>
            </a:r>
            <a:r>
              <a:rPr lang="en-US" sz="1600" dirty="0">
                <a:latin typeface="Courier New"/>
                <a:cs typeface="Courier New"/>
              </a:rPr>
              <a:t>=0; </a:t>
            </a:r>
            <a:r>
              <a:rPr lang="en-US" sz="1600" dirty="0" err="1">
                <a:latin typeface="Courier New"/>
                <a:cs typeface="Courier New"/>
              </a:rPr>
              <a:t>i</a:t>
            </a:r>
            <a:r>
              <a:rPr lang="en-US" sz="1600" dirty="0">
                <a:latin typeface="Courier New"/>
                <a:cs typeface="Courier New"/>
              </a:rPr>
              <a:t>&lt;1; </a:t>
            </a:r>
            <a:r>
              <a:rPr lang="en-US" sz="1600" dirty="0" err="1">
                <a:latin typeface="Courier New"/>
                <a:cs typeface="Courier New"/>
              </a:rPr>
              <a:t>i</a:t>
            </a:r>
            <a:r>
              <a:rPr lang="en-US" sz="1600" dirty="0">
                <a:latin typeface="Courier New"/>
                <a:cs typeface="Courier New"/>
              </a:rPr>
              <a:t>++)</a:t>
            </a:r>
          </a:p>
          <a:p>
            <a:r>
              <a:rPr lang="en-US" sz="1600" dirty="0"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latin typeface="Courier New"/>
                <a:cs typeface="Courier New"/>
              </a:rPr>
              <a:t>	</a:t>
            </a:r>
            <a:r>
              <a:rPr lang="en-US" sz="1600" dirty="0" err="1">
                <a:latin typeface="Courier New"/>
                <a:cs typeface="Courier New"/>
              </a:rPr>
              <a:t>buf</a:t>
            </a:r>
            <a:r>
              <a:rPr lang="en-US" sz="1600" dirty="0">
                <a:latin typeface="Courier New"/>
                <a:cs typeface="Courier New"/>
              </a:rPr>
              <a:t>=</a:t>
            </a:r>
            <a:r>
              <a:rPr lang="en-US" sz="1600" b="1" dirty="0">
                <a:latin typeface="Courier New"/>
                <a:cs typeface="Courier New"/>
              </a:rPr>
              <a:t>read</a:t>
            </a:r>
            <a:r>
              <a:rPr lang="en-US" sz="1600" dirty="0">
                <a:latin typeface="Courier New"/>
                <a:cs typeface="Courier New"/>
              </a:rPr>
              <a:t>(F);</a:t>
            </a:r>
          </a:p>
          <a:p>
            <a:r>
              <a:rPr lang="en-US" sz="1600" dirty="0">
                <a:latin typeface="Courier New"/>
                <a:cs typeface="Courier New"/>
              </a:rPr>
              <a:t>	Z=</a:t>
            </a:r>
            <a:r>
              <a:rPr lang="en-US" sz="1600" b="1" dirty="0" err="1">
                <a:latin typeface="Courier New"/>
                <a:cs typeface="Courier New"/>
              </a:rPr>
              <a:t>mmap</a:t>
            </a:r>
            <a:r>
              <a:rPr lang="en-US" sz="1600" dirty="0">
                <a:latin typeface="Courier New"/>
                <a:cs typeface="Courier New"/>
              </a:rPr>
              <a:t>(</a:t>
            </a:r>
            <a:r>
              <a:rPr lang="en-US" sz="1600" dirty="0" err="1">
                <a:latin typeface="Courier New"/>
                <a:cs typeface="Courier New"/>
              </a:rPr>
              <a:t>buf</a:t>
            </a:r>
            <a:r>
              <a:rPr lang="en-US" sz="1600" dirty="0"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latin typeface="Courier New"/>
                <a:cs typeface="Courier New"/>
              </a:rPr>
              <a:t>	foo(</a:t>
            </a:r>
            <a:r>
              <a:rPr lang="en-US" sz="1600" dirty="0" err="1">
                <a:latin typeface="Courier New"/>
                <a:cs typeface="Courier New"/>
              </a:rPr>
              <a:t>buf</a:t>
            </a:r>
            <a:r>
              <a:rPr lang="en-US" sz="1600" dirty="0"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latin typeface="Courier New"/>
                <a:cs typeface="Courier New"/>
              </a:rPr>
              <a:t>}</a:t>
            </a:r>
          </a:p>
          <a:p>
            <a:r>
              <a:rPr lang="en-US" sz="1600" b="1" dirty="0" err="1">
                <a:latin typeface="Courier New"/>
                <a:cs typeface="Courier New"/>
              </a:rPr>
              <a:t>clsoe</a:t>
            </a:r>
            <a:r>
              <a:rPr lang="en-US" sz="1600" dirty="0">
                <a:latin typeface="Courier New"/>
                <a:cs typeface="Courier New"/>
              </a:rPr>
              <a:t>(F);</a:t>
            </a:r>
          </a:p>
          <a:p>
            <a:r>
              <a:rPr lang="en-US" sz="1600" dirty="0">
                <a:latin typeface="Courier New"/>
                <a:cs typeface="Courier New"/>
              </a:rPr>
              <a:t>……</a:t>
            </a:r>
          </a:p>
          <a:p>
            <a:endParaRPr lang="en-US" sz="1600" dirty="0">
              <a:latin typeface="Courier New"/>
              <a:cs typeface="Courier New"/>
            </a:endParaRPr>
          </a:p>
          <a:p>
            <a:r>
              <a:rPr lang="en-US" sz="1600" dirty="0">
                <a:latin typeface="Courier New"/>
                <a:cs typeface="Courier New"/>
              </a:rPr>
              <a:t>void foo (char *bar)</a:t>
            </a:r>
          </a:p>
          <a:p>
            <a:r>
              <a:rPr lang="en-US" sz="1600" dirty="0"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latin typeface="Courier New"/>
                <a:cs typeface="Courier New"/>
              </a:rPr>
              <a:t>   char c[12];</a:t>
            </a:r>
          </a:p>
          <a:p>
            <a:r>
              <a:rPr lang="en-US" sz="1600" dirty="0">
                <a:latin typeface="Courier New"/>
                <a:cs typeface="Courier New"/>
              </a:rPr>
              <a:t>   </a:t>
            </a:r>
            <a:r>
              <a:rPr lang="en-US" sz="1600" b="1" dirty="0" err="1">
                <a:latin typeface="Courier New"/>
                <a:cs typeface="Courier New"/>
              </a:rPr>
              <a:t>strcpy</a:t>
            </a:r>
            <a:r>
              <a:rPr lang="en-US" sz="1600" dirty="0">
                <a:latin typeface="Courier New"/>
                <a:cs typeface="Courier New"/>
              </a:rPr>
              <a:t> (c, bar); </a:t>
            </a:r>
          </a:p>
          <a:p>
            <a:r>
              <a:rPr lang="en-US" sz="1600" dirty="0">
                <a:latin typeface="Courier New"/>
                <a:cs typeface="Courier New"/>
              </a:rPr>
              <a:t>}</a:t>
            </a:r>
          </a:p>
          <a:p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0836" y="1911635"/>
            <a:ext cx="996845" cy="24851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0836" y="4410419"/>
            <a:ext cx="996845" cy="84658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401268" y="3427293"/>
            <a:ext cx="449568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662664" y="3427293"/>
            <a:ext cx="649306" cy="914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200932"/>
              </p:ext>
            </p:extLst>
          </p:nvPr>
        </p:nvGraphicFramePr>
        <p:xfrm>
          <a:off x="5311970" y="2821383"/>
          <a:ext cx="3727925" cy="755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System Call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05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open, read, </a:t>
                      </a:r>
                      <a:r>
                        <a:rPr lang="en-US" sz="1600" dirty="0" err="1"/>
                        <a:t>mmap</a:t>
                      </a:r>
                      <a:r>
                        <a:rPr lang="en-US" sz="1600" dirty="0"/>
                        <a:t>, read, </a:t>
                      </a:r>
                      <a:r>
                        <a:rPr lang="en-US" sz="1600" dirty="0" err="1"/>
                        <a:t>mmap</a:t>
                      </a:r>
                      <a:r>
                        <a:rPr lang="en-US" sz="1600" dirty="0"/>
                        <a:t>, 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141932" y="4322063"/>
            <a:ext cx="406723" cy="14940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ular Callout 12"/>
          <p:cNvSpPr/>
          <p:nvPr/>
        </p:nvSpPr>
        <p:spPr>
          <a:xfrm>
            <a:off x="5311970" y="5353597"/>
            <a:ext cx="1519314" cy="612648"/>
          </a:xfrm>
          <a:prstGeom prst="wedgeRoundRectCallout">
            <a:avLst>
              <a:gd name="adj1" fmla="val -113383"/>
              <a:gd name="adj2" fmla="val -19355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System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1978" y="3685269"/>
            <a:ext cx="1047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Intercept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245482" y="1125645"/>
            <a:ext cx="5794414" cy="1605105"/>
            <a:chOff x="3245482" y="1125645"/>
            <a:chExt cx="5794414" cy="1605105"/>
          </a:xfrm>
        </p:grpSpPr>
        <p:sp>
          <p:nvSpPr>
            <p:cNvPr id="19" name="Freeform 18"/>
            <p:cNvSpPr/>
            <p:nvPr/>
          </p:nvSpPr>
          <p:spPr>
            <a:xfrm>
              <a:off x="3245482" y="1448811"/>
              <a:ext cx="3378289" cy="1281939"/>
            </a:xfrm>
            <a:custGeom>
              <a:avLst/>
              <a:gdLst>
                <a:gd name="connsiteX0" fmla="*/ 0 w 3378289"/>
                <a:gd name="connsiteY0" fmla="*/ 335722 h 1281939"/>
                <a:gd name="connsiteX1" fmla="*/ 2174722 w 3378289"/>
                <a:gd name="connsiteY1" fmla="*/ 53516 h 1281939"/>
                <a:gd name="connsiteX2" fmla="*/ 3378289 w 3378289"/>
                <a:gd name="connsiteY2" fmla="*/ 1281939 h 128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8289" h="1281939">
                  <a:moveTo>
                    <a:pt x="0" y="335722"/>
                  </a:moveTo>
                  <a:cubicBezTo>
                    <a:pt x="805837" y="115767"/>
                    <a:pt x="1611674" y="-104187"/>
                    <a:pt x="2174722" y="53516"/>
                  </a:cubicBezTo>
                  <a:cubicBezTo>
                    <a:pt x="2737770" y="211219"/>
                    <a:pt x="3378289" y="1281939"/>
                    <a:pt x="3378289" y="1281939"/>
                  </a:cubicBezTo>
                </a:path>
              </a:pathLst>
            </a:custGeom>
            <a:ln>
              <a:solidFill>
                <a:schemeClr val="tx2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06534" y="1125645"/>
              <a:ext cx="33333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Use system call sequence to profile the behavior of a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53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6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60214" y="1712908"/>
            <a:ext cx="3141054" cy="47997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ourier New"/>
                <a:cs typeface="Courier New"/>
              </a:rPr>
              <a:t>………</a:t>
            </a:r>
          </a:p>
          <a:p>
            <a:r>
              <a:rPr lang="en-US" sz="1600" dirty="0">
                <a:latin typeface="Courier New"/>
                <a:cs typeface="Courier New"/>
              </a:rPr>
              <a:t>F=</a:t>
            </a:r>
            <a:r>
              <a:rPr lang="en-US" sz="1600" b="1" dirty="0">
                <a:latin typeface="Courier New"/>
                <a:cs typeface="Courier New"/>
              </a:rPr>
              <a:t>open</a:t>
            </a:r>
            <a:r>
              <a:rPr lang="en-US" sz="1600" dirty="0">
                <a:latin typeface="Courier New"/>
                <a:cs typeface="Courier New"/>
              </a:rPr>
              <a:t>(“./</a:t>
            </a:r>
            <a:r>
              <a:rPr lang="en-US" sz="1600" dirty="0" err="1">
                <a:latin typeface="Courier New"/>
                <a:cs typeface="Courier New"/>
              </a:rPr>
              <a:t>t.txt</a:t>
            </a:r>
            <a:r>
              <a:rPr lang="en-US" sz="1600" dirty="0">
                <a:latin typeface="Courier New"/>
                <a:cs typeface="Courier New"/>
              </a:rPr>
              <a:t>”);</a:t>
            </a:r>
          </a:p>
          <a:p>
            <a:r>
              <a:rPr lang="en-US" sz="1600" dirty="0">
                <a:latin typeface="Courier New"/>
                <a:cs typeface="Courier New"/>
              </a:rPr>
              <a:t>for(</a:t>
            </a:r>
            <a:r>
              <a:rPr lang="en-US" sz="1600" dirty="0" err="1">
                <a:latin typeface="Courier New"/>
                <a:cs typeface="Courier New"/>
              </a:rPr>
              <a:t>i</a:t>
            </a:r>
            <a:r>
              <a:rPr lang="en-US" sz="1600" dirty="0">
                <a:latin typeface="Courier New"/>
                <a:cs typeface="Courier New"/>
              </a:rPr>
              <a:t>=0; </a:t>
            </a:r>
            <a:r>
              <a:rPr lang="en-US" sz="1600" dirty="0" err="1">
                <a:latin typeface="Courier New"/>
                <a:cs typeface="Courier New"/>
              </a:rPr>
              <a:t>i</a:t>
            </a:r>
            <a:r>
              <a:rPr lang="en-US" sz="1600" dirty="0">
                <a:latin typeface="Courier New"/>
                <a:cs typeface="Courier New"/>
              </a:rPr>
              <a:t>&lt;1; </a:t>
            </a:r>
            <a:r>
              <a:rPr lang="en-US" sz="1600" dirty="0" err="1">
                <a:latin typeface="Courier New"/>
                <a:cs typeface="Courier New"/>
              </a:rPr>
              <a:t>i</a:t>
            </a:r>
            <a:r>
              <a:rPr lang="en-US" sz="1600" dirty="0">
                <a:latin typeface="Courier New"/>
                <a:cs typeface="Courier New"/>
              </a:rPr>
              <a:t>++)</a:t>
            </a:r>
          </a:p>
          <a:p>
            <a:r>
              <a:rPr lang="en-US" sz="1600" dirty="0"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latin typeface="Courier New"/>
                <a:cs typeface="Courier New"/>
              </a:rPr>
              <a:t>	</a:t>
            </a:r>
            <a:r>
              <a:rPr lang="en-US" sz="1600" dirty="0" err="1">
                <a:latin typeface="Courier New"/>
                <a:cs typeface="Courier New"/>
              </a:rPr>
              <a:t>buf</a:t>
            </a:r>
            <a:r>
              <a:rPr lang="en-US" sz="1600" dirty="0">
                <a:latin typeface="Courier New"/>
                <a:cs typeface="Courier New"/>
              </a:rPr>
              <a:t>=</a:t>
            </a:r>
            <a:r>
              <a:rPr lang="en-US" sz="1600" b="1" dirty="0">
                <a:latin typeface="Courier New"/>
                <a:cs typeface="Courier New"/>
              </a:rPr>
              <a:t>read</a:t>
            </a:r>
            <a:r>
              <a:rPr lang="en-US" sz="1600" dirty="0">
                <a:latin typeface="Courier New"/>
                <a:cs typeface="Courier New"/>
              </a:rPr>
              <a:t>(F);</a:t>
            </a:r>
          </a:p>
          <a:p>
            <a:r>
              <a:rPr lang="en-US" sz="1600" dirty="0">
                <a:latin typeface="Courier New"/>
                <a:cs typeface="Courier New"/>
              </a:rPr>
              <a:t>	Z=</a:t>
            </a:r>
            <a:r>
              <a:rPr lang="en-US" sz="1600" b="1" dirty="0" err="1">
                <a:latin typeface="Courier New"/>
                <a:cs typeface="Courier New"/>
              </a:rPr>
              <a:t>mmap</a:t>
            </a:r>
            <a:r>
              <a:rPr lang="en-US" sz="1600" dirty="0">
                <a:latin typeface="Courier New"/>
                <a:cs typeface="Courier New"/>
              </a:rPr>
              <a:t>(</a:t>
            </a:r>
            <a:r>
              <a:rPr lang="en-US" sz="1600" dirty="0" err="1">
                <a:latin typeface="Courier New"/>
                <a:cs typeface="Courier New"/>
              </a:rPr>
              <a:t>buf</a:t>
            </a:r>
            <a:r>
              <a:rPr lang="en-US" sz="1600" dirty="0"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latin typeface="Courier New"/>
                <a:cs typeface="Courier New"/>
              </a:rPr>
              <a:t>	foo(</a:t>
            </a:r>
            <a:r>
              <a:rPr lang="en-US" sz="1600" dirty="0" err="1">
                <a:latin typeface="Courier New"/>
                <a:cs typeface="Courier New"/>
              </a:rPr>
              <a:t>buf</a:t>
            </a:r>
            <a:r>
              <a:rPr lang="en-US" sz="1600" dirty="0"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latin typeface="Courier New"/>
                <a:cs typeface="Courier New"/>
              </a:rPr>
              <a:t>}</a:t>
            </a:r>
          </a:p>
          <a:p>
            <a:r>
              <a:rPr lang="en-US" sz="1600" b="1" dirty="0" err="1">
                <a:latin typeface="Courier New"/>
                <a:cs typeface="Courier New"/>
              </a:rPr>
              <a:t>clsoe</a:t>
            </a:r>
            <a:r>
              <a:rPr lang="en-US" sz="1600" dirty="0">
                <a:latin typeface="Courier New"/>
                <a:cs typeface="Courier New"/>
              </a:rPr>
              <a:t>(F);</a:t>
            </a:r>
          </a:p>
          <a:p>
            <a:r>
              <a:rPr lang="en-US" sz="1600" dirty="0">
                <a:latin typeface="Courier New"/>
                <a:cs typeface="Courier New"/>
              </a:rPr>
              <a:t>……</a:t>
            </a:r>
          </a:p>
          <a:p>
            <a:endParaRPr lang="en-US" sz="1600" dirty="0">
              <a:latin typeface="Courier New"/>
              <a:cs typeface="Courier New"/>
            </a:endParaRPr>
          </a:p>
          <a:p>
            <a:r>
              <a:rPr lang="en-US" sz="1600" dirty="0">
                <a:latin typeface="Courier New"/>
                <a:cs typeface="Courier New"/>
              </a:rPr>
              <a:t>void foo (char *bar)</a:t>
            </a:r>
          </a:p>
          <a:p>
            <a:r>
              <a:rPr lang="en-US" sz="1600" dirty="0"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latin typeface="Courier New"/>
                <a:cs typeface="Courier New"/>
              </a:rPr>
              <a:t>   char c[12];</a:t>
            </a:r>
          </a:p>
          <a:p>
            <a:r>
              <a:rPr lang="en-US" sz="1600" dirty="0">
                <a:latin typeface="Courier New"/>
                <a:cs typeface="Courier New"/>
              </a:rPr>
              <a:t>   </a:t>
            </a:r>
            <a:r>
              <a:rPr lang="en-US" sz="1600" b="1" dirty="0" err="1">
                <a:latin typeface="Courier New"/>
                <a:cs typeface="Courier New"/>
              </a:rPr>
              <a:t>strcpy</a:t>
            </a:r>
            <a:r>
              <a:rPr lang="en-US" sz="1600" dirty="0">
                <a:latin typeface="Courier New"/>
                <a:cs typeface="Courier New"/>
              </a:rPr>
              <a:t> (c, bar); </a:t>
            </a:r>
          </a:p>
          <a:p>
            <a:r>
              <a:rPr lang="en-US" sz="1600" dirty="0">
                <a:latin typeface="Courier New"/>
                <a:cs typeface="Courier New"/>
              </a:rPr>
              <a:t>}</a:t>
            </a:r>
          </a:p>
          <a:p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0836" y="1911635"/>
            <a:ext cx="996845" cy="24851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0836" y="4410419"/>
            <a:ext cx="996845" cy="84658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401268" y="3427293"/>
            <a:ext cx="449568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662664" y="3427293"/>
            <a:ext cx="649306" cy="914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98013"/>
              </p:ext>
            </p:extLst>
          </p:nvPr>
        </p:nvGraphicFramePr>
        <p:xfrm>
          <a:off x="5365742" y="2671978"/>
          <a:ext cx="3727925" cy="7553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2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System Call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05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open, read, </a:t>
                      </a:r>
                      <a:r>
                        <a:rPr lang="en-US" sz="1600" dirty="0" err="1"/>
                        <a:t>mmap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execv</a:t>
                      </a:r>
                      <a:r>
                        <a:rPr lang="en-US" sz="1600" dirty="0"/>
                        <a:t>, 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141932" y="4322063"/>
            <a:ext cx="406723" cy="14940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971978" y="3685269"/>
            <a:ext cx="1047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Intercept</a:t>
            </a:r>
          </a:p>
        </p:txBody>
      </p:sp>
      <p:sp>
        <p:nvSpPr>
          <p:cNvPr id="16" name="Explosion 2 15"/>
          <p:cNvSpPr/>
          <p:nvPr/>
        </p:nvSpPr>
        <p:spPr>
          <a:xfrm>
            <a:off x="2564127" y="4767477"/>
            <a:ext cx="4665578" cy="979049"/>
          </a:xfrm>
          <a:prstGeom prst="irregularSeal2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BOF: Get the shell</a:t>
            </a:r>
          </a:p>
          <a:p>
            <a:pPr algn="ctr"/>
            <a:r>
              <a:rPr lang="en-US" sz="1400" dirty="0" err="1"/>
              <a:t>execv</a:t>
            </a:r>
            <a:r>
              <a:rPr lang="en-US" sz="1400" dirty="0"/>
              <a:t>(“/</a:t>
            </a:r>
            <a:r>
              <a:rPr lang="en-US" sz="1400" dirty="0" err="1"/>
              <a:t>bih</a:t>
            </a:r>
            <a:r>
              <a:rPr lang="en-US" sz="1400" dirty="0"/>
              <a:t>/</a:t>
            </a:r>
            <a:r>
              <a:rPr lang="en-US" sz="1400" dirty="0" err="1"/>
              <a:t>sh</a:t>
            </a:r>
            <a:r>
              <a:rPr lang="en-US" sz="1400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47926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610351"/>
          </a:xfrm>
        </p:spPr>
        <p:txBody>
          <a:bodyPr/>
          <a:lstStyle/>
          <a:p>
            <a:r>
              <a:rPr lang="en-US" dirty="0"/>
              <a:t>A Motivating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076899"/>
              </p:ext>
            </p:extLst>
          </p:nvPr>
        </p:nvGraphicFramePr>
        <p:xfrm>
          <a:off x="984683" y="2665649"/>
          <a:ext cx="4020498" cy="928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4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System Call Sequence (Normal Profile)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255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open, read, </a:t>
                      </a:r>
                      <a:r>
                        <a:rPr lang="en-US" dirty="0" err="1"/>
                        <a:t>mmap</a:t>
                      </a:r>
                      <a:r>
                        <a:rPr lang="en-US" dirty="0"/>
                        <a:t>, read, </a:t>
                      </a:r>
                      <a:r>
                        <a:rPr lang="en-US" dirty="0" err="1"/>
                        <a:t>mmap</a:t>
                      </a:r>
                      <a:r>
                        <a:rPr lang="en-US" dirty="0"/>
                        <a:t>, 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561163"/>
              </p:ext>
            </p:extLst>
          </p:nvPr>
        </p:nvGraphicFramePr>
        <p:xfrm>
          <a:off x="984683" y="4170705"/>
          <a:ext cx="3954094" cy="9285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5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42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System Call Sequence (Unknown)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255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open, read, </a:t>
                      </a:r>
                      <a:r>
                        <a:rPr lang="en-US" dirty="0" err="1"/>
                        <a:t>mmap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execv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……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3162477" y="3445162"/>
            <a:ext cx="365221" cy="1310825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ght Arrow 8"/>
          <p:cNvSpPr/>
          <p:nvPr/>
        </p:nvSpPr>
        <p:spPr>
          <a:xfrm>
            <a:off x="5218180" y="4376447"/>
            <a:ext cx="978408" cy="48463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362940" y="4386655"/>
            <a:ext cx="196843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Anomaly behavior!</a:t>
            </a:r>
          </a:p>
        </p:txBody>
      </p:sp>
    </p:spTree>
    <p:extLst>
      <p:ext uri="{BB962C8B-B14F-4D97-AF65-F5344CB8AC3E}">
        <p14:creationId xmlns:p14="http://schemas.microsoft.com/office/powerpoint/2010/main" val="4210777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Forrest’s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Phase</a:t>
            </a:r>
          </a:p>
          <a:p>
            <a:pPr lvl="1"/>
            <a:r>
              <a:rPr lang="en-US" dirty="0"/>
              <a:t>Input</a:t>
            </a:r>
          </a:p>
          <a:p>
            <a:pPr lvl="2"/>
            <a:r>
              <a:rPr lang="en-US" dirty="0"/>
              <a:t>A sequence of system calls from a process that is free from attacks</a:t>
            </a:r>
          </a:p>
          <a:p>
            <a:pPr lvl="1"/>
            <a:r>
              <a:rPr lang="en-US" dirty="0"/>
              <a:t>Output: the normal profile</a:t>
            </a:r>
          </a:p>
          <a:p>
            <a:pPr lvl="2"/>
            <a:r>
              <a:rPr lang="en-US" dirty="0"/>
              <a:t>Slide a window of size k+1 across the trace of system calls and record which calls follow which within the sliding window.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86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Forrest’s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664486"/>
          </a:xfrm>
        </p:spPr>
        <p:txBody>
          <a:bodyPr>
            <a:normAutofit fontScale="92500"/>
          </a:bodyPr>
          <a:lstStyle/>
          <a:p>
            <a:r>
              <a:rPr lang="en-US" dirty="0"/>
              <a:t>An example, input and the normal profile (k=3)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24" y="2380888"/>
            <a:ext cx="7840133" cy="5575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24" y="3797526"/>
            <a:ext cx="4647263" cy="255272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Down Arrow 6"/>
          <p:cNvSpPr/>
          <p:nvPr/>
        </p:nvSpPr>
        <p:spPr>
          <a:xfrm>
            <a:off x="2668599" y="3046156"/>
            <a:ext cx="294666" cy="53120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05574" y="3701067"/>
            <a:ext cx="36484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dirty="0"/>
              <a:t>Question: Why do not we use a the complete sequence of system calls to build the normal profile? </a:t>
            </a:r>
          </a:p>
        </p:txBody>
      </p:sp>
    </p:spTree>
    <p:extLst>
      <p:ext uri="{BB962C8B-B14F-4D97-AF65-F5344CB8AC3E}">
        <p14:creationId xmlns:p14="http://schemas.microsoft.com/office/powerpoint/2010/main" val="184668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Forrest’s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3373"/>
            <a:ext cx="8229600" cy="40854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Detection Phase </a:t>
            </a:r>
          </a:p>
          <a:p>
            <a:pPr lvl="1"/>
            <a:r>
              <a:rPr lang="en-US" dirty="0"/>
              <a:t>Input</a:t>
            </a:r>
          </a:p>
          <a:p>
            <a:pPr lvl="2"/>
            <a:r>
              <a:rPr lang="en-US" dirty="0"/>
              <a:t>A sequence of system calls for a program </a:t>
            </a:r>
          </a:p>
          <a:p>
            <a:pPr lvl="1"/>
            <a:r>
              <a:rPr lang="en-US" dirty="0"/>
              <a:t>Detection</a:t>
            </a:r>
          </a:p>
          <a:p>
            <a:pPr lvl="2"/>
            <a:r>
              <a:rPr lang="en-US" dirty="0"/>
              <a:t>Get sequences of system calls using the sliding window (K+1)</a:t>
            </a:r>
          </a:p>
          <a:p>
            <a:pPr lvl="2"/>
            <a:r>
              <a:rPr lang="en-US" dirty="0"/>
              <a:t>Count the number of mismatches (M)</a:t>
            </a:r>
          </a:p>
          <a:p>
            <a:pPr lvl="2"/>
            <a:r>
              <a:rPr lang="en-US" dirty="0"/>
              <a:t>Count the total possible number of miss-matches (N)</a:t>
            </a:r>
          </a:p>
          <a:p>
            <a:pPr lvl="2"/>
            <a:r>
              <a:rPr lang="en-US" dirty="0"/>
              <a:t>If M/N is greater than a certain threshold, raise an alert.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25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Forrest’s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8829"/>
            <a:ext cx="8229600" cy="622109"/>
          </a:xfrm>
        </p:spPr>
        <p:txBody>
          <a:bodyPr>
            <a:normAutofit/>
          </a:bodyPr>
          <a:lstStyle/>
          <a:p>
            <a:r>
              <a:rPr lang="en-US" dirty="0"/>
              <a:t>An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80" y="1840938"/>
            <a:ext cx="5223408" cy="35293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095" y="2721903"/>
            <a:ext cx="4421705" cy="167647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1076820" y="4649713"/>
            <a:ext cx="5896412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4 mismatches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Total number of possible mismatches: 18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M/N = 22%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04" y="2721903"/>
            <a:ext cx="2918476" cy="160310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05145" y="2360871"/>
            <a:ext cx="194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Normal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7675" y="1417638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Input: a sequence of system calls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270383" y="2788210"/>
            <a:ext cx="94625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216636" y="2193871"/>
            <a:ext cx="0" cy="5943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472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Size of The Normal 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55" y="1501607"/>
            <a:ext cx="62738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3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FSA-based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80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FSA: finite-state automaton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934008" y="3735068"/>
            <a:ext cx="1593690" cy="56441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undergraduate</a:t>
            </a:r>
          </a:p>
        </p:txBody>
      </p:sp>
      <p:sp>
        <p:nvSpPr>
          <p:cNvPr id="6" name="Oval 5"/>
          <p:cNvSpPr/>
          <p:nvPr/>
        </p:nvSpPr>
        <p:spPr>
          <a:xfrm>
            <a:off x="4991571" y="3735068"/>
            <a:ext cx="1449590" cy="56441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graduate</a:t>
            </a:r>
          </a:p>
        </p:txBody>
      </p:sp>
      <p:sp>
        <p:nvSpPr>
          <p:cNvPr id="9" name="Freeform 8"/>
          <p:cNvSpPr/>
          <p:nvPr/>
        </p:nvSpPr>
        <p:spPr>
          <a:xfrm>
            <a:off x="3062872" y="2937809"/>
            <a:ext cx="2249426" cy="921761"/>
          </a:xfrm>
          <a:custGeom>
            <a:avLst/>
            <a:gdLst>
              <a:gd name="connsiteX0" fmla="*/ 0 w 2249426"/>
              <a:gd name="connsiteY0" fmla="*/ 921761 h 921761"/>
              <a:gd name="connsiteX1" fmla="*/ 664037 w 2249426"/>
              <a:gd name="connsiteY1" fmla="*/ 445 h 921761"/>
              <a:gd name="connsiteX2" fmla="*/ 2249426 w 2249426"/>
              <a:gd name="connsiteY2" fmla="*/ 788959 h 921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9426" h="921761">
                <a:moveTo>
                  <a:pt x="0" y="921761"/>
                </a:moveTo>
                <a:cubicBezTo>
                  <a:pt x="144566" y="472170"/>
                  <a:pt x="289133" y="22579"/>
                  <a:pt x="664037" y="445"/>
                </a:cubicBezTo>
                <a:cubicBezTo>
                  <a:pt x="1038941" y="-21689"/>
                  <a:pt x="2249426" y="788959"/>
                  <a:pt x="2249426" y="788959"/>
                </a:cubicBezTo>
              </a:path>
            </a:pathLst>
          </a:custGeom>
          <a:ln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82389" y="2471383"/>
            <a:ext cx="33950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Accept offer from graduate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6" y="3365736"/>
            <a:ext cx="67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4895" y="3381208"/>
            <a:ext cx="67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9205" y="247138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996322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FSA-based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3951"/>
            <a:ext cx="8229600" cy="5270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Motivating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4" y="1650999"/>
            <a:ext cx="2155825" cy="2958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6" name="Group 15"/>
          <p:cNvGrpSpPr/>
          <p:nvPr/>
        </p:nvGrpSpPr>
        <p:grpSpPr>
          <a:xfrm>
            <a:off x="2902585" y="1910913"/>
            <a:ext cx="6071235" cy="1734228"/>
            <a:chOff x="2902585" y="1910913"/>
            <a:chExt cx="6071235" cy="173422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2585" y="1910913"/>
              <a:ext cx="6055360" cy="94615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" name="Content Placeholder 2"/>
            <p:cNvSpPr txBox="1">
              <a:spLocks/>
            </p:cNvSpPr>
            <p:nvPr/>
          </p:nvSpPr>
          <p:spPr>
            <a:xfrm>
              <a:off x="2918460" y="2991091"/>
              <a:ext cx="6055360" cy="6540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The normal profile by using Forrest’s model </a:t>
              </a:r>
            </a:p>
            <a:p>
              <a:pPr marL="0" indent="0">
                <a:buNone/>
              </a:pPr>
              <a:r>
                <a:rPr lang="en-US" i="1" dirty="0"/>
                <a:t>The size of the sliding window: 3 -&gt; (K+1=3)</a:t>
              </a:r>
            </a:p>
          </p:txBody>
        </p:sp>
      </p:grpSp>
      <p:sp>
        <p:nvSpPr>
          <p:cNvPr id="11" name="Content Placeholder 2"/>
          <p:cNvSpPr txBox="1">
            <a:spLocks/>
          </p:cNvSpPr>
          <p:nvPr/>
        </p:nvSpPr>
        <p:spPr>
          <a:xfrm>
            <a:off x="147320" y="4609974"/>
            <a:ext cx="2771140" cy="3906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 program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108960" y="4208742"/>
            <a:ext cx="3370581" cy="816163"/>
            <a:chOff x="3108960" y="4208742"/>
            <a:chExt cx="3370581" cy="81616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95750" y="4208742"/>
              <a:ext cx="1327151" cy="401232"/>
            </a:xfrm>
            <a:prstGeom prst="rect">
              <a:avLst/>
            </a:prstGeom>
          </p:spPr>
        </p:pic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3108960" y="4477687"/>
              <a:ext cx="3370581" cy="54721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/>
                <a:t>An observed system call sequence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74700" y="4810125"/>
            <a:ext cx="3321050" cy="1292225"/>
            <a:chOff x="774700" y="4810125"/>
            <a:chExt cx="3321050" cy="1292225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>
            <a:xfrm>
              <a:off x="774700" y="5448300"/>
              <a:ext cx="3321050" cy="6540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625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Anomaly: it should never be generated by this program</a:t>
              </a:r>
            </a:p>
          </p:txBody>
        </p:sp>
        <p:cxnSp>
          <p:nvCxnSpPr>
            <p:cNvPr id="14" name="Straight Arrow Connector 13"/>
            <p:cNvCxnSpPr>
              <a:endCxn id="9" idx="0"/>
            </p:cNvCxnSpPr>
            <p:nvPr/>
          </p:nvCxnSpPr>
          <p:spPr>
            <a:xfrm>
              <a:off x="2016125" y="4984749"/>
              <a:ext cx="419100" cy="4635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2587625" y="4810125"/>
              <a:ext cx="1381126" cy="508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892674" y="4064000"/>
            <a:ext cx="3794125" cy="2085975"/>
            <a:chOff x="4892674" y="4064000"/>
            <a:chExt cx="3794125" cy="2085975"/>
          </a:xfrm>
        </p:grpSpPr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4892674" y="5432425"/>
              <a:ext cx="3794125" cy="71755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625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Benign: S</a:t>
              </a:r>
              <a:r>
                <a:rPr lang="en-US" sz="1900" dirty="0"/>
                <a:t>0</a:t>
              </a:r>
              <a:r>
                <a:rPr lang="en-US" dirty="0"/>
                <a:t>S</a:t>
              </a:r>
              <a:r>
                <a:rPr lang="en-US" sz="1900" dirty="0"/>
                <a:t>3</a:t>
              </a:r>
              <a:r>
                <a:rPr lang="en-US" dirty="0"/>
                <a:t>S</a:t>
              </a:r>
              <a:r>
                <a:rPr lang="en-US" sz="1900" dirty="0"/>
                <a:t>4</a:t>
              </a:r>
              <a:r>
                <a:rPr lang="en-US" dirty="0"/>
                <a:t> and S</a:t>
              </a:r>
              <a:r>
                <a:rPr lang="en-US" sz="1900" dirty="0"/>
                <a:t>3</a:t>
              </a:r>
              <a:r>
                <a:rPr lang="en-US" dirty="0"/>
                <a:t>S</a:t>
              </a:r>
              <a:r>
                <a:rPr lang="en-US" sz="1900" dirty="0"/>
                <a:t>4</a:t>
              </a:r>
              <a:r>
                <a:rPr lang="en-US" dirty="0"/>
                <a:t>S</a:t>
              </a:r>
              <a:r>
                <a:rPr lang="en-US" sz="1900" dirty="0"/>
                <a:t>2</a:t>
              </a:r>
              <a:r>
                <a:rPr lang="en-US" dirty="0"/>
                <a:t> are consistent with the normal profile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5422901" y="4810125"/>
              <a:ext cx="1130299" cy="508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6789737" y="4064000"/>
              <a:ext cx="306390" cy="125412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Explosion 2 34"/>
          <p:cNvSpPr/>
          <p:nvPr/>
        </p:nvSpPr>
        <p:spPr>
          <a:xfrm>
            <a:off x="5524500" y="5953125"/>
            <a:ext cx="2540000" cy="768350"/>
          </a:xfrm>
          <a:prstGeom prst="irregularSeal2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 Negative</a:t>
            </a:r>
          </a:p>
        </p:txBody>
      </p:sp>
    </p:spTree>
    <p:extLst>
      <p:ext uri="{BB962C8B-B14F-4D97-AF65-F5344CB8AC3E}">
        <p14:creationId xmlns:p14="http://schemas.microsoft.com/office/powerpoint/2010/main" val="38543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Increase the size of the sliding window for the Forrest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1439"/>
            <a:ext cx="8229600" cy="1734732"/>
          </a:xfrm>
        </p:spPr>
        <p:txBody>
          <a:bodyPr/>
          <a:lstStyle/>
          <a:p>
            <a:r>
              <a:rPr lang="en-US" dirty="0"/>
              <a:t>The number of system call subsequences grows exponentially with the size of the sliding window (K+1 in the Forrest model).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17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FSA-based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7418"/>
            <a:ext cx="8229600" cy="633433"/>
          </a:xfrm>
        </p:spPr>
        <p:txBody>
          <a:bodyPr/>
          <a:lstStyle/>
          <a:p>
            <a:r>
              <a:rPr lang="en-US" dirty="0"/>
              <a:t>The Training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8" y="2056376"/>
            <a:ext cx="2155825" cy="2958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403" y="4940300"/>
            <a:ext cx="5854788" cy="1781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ight Arrow 6"/>
          <p:cNvSpPr/>
          <p:nvPr/>
        </p:nvSpPr>
        <p:spPr>
          <a:xfrm>
            <a:off x="2760640" y="2199361"/>
            <a:ext cx="1799730" cy="29880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4318054" y="3842466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408642" y="1577722"/>
            <a:ext cx="406835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Execute the program; Get consecutive &lt;program-count, system-call&gt; pairs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152249"/>
              </p:ext>
            </p:extLst>
          </p:nvPr>
        </p:nvGraphicFramePr>
        <p:xfrm>
          <a:off x="4961465" y="2185927"/>
          <a:ext cx="3504726" cy="2499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75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1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Program Count </a:t>
                      </a:r>
                    </a:p>
                    <a:p>
                      <a:pPr algn="ctr"/>
                      <a:r>
                        <a:rPr lang="en-US" sz="1600" dirty="0"/>
                        <a:t>(Memory</a:t>
                      </a:r>
                      <a:r>
                        <a:rPr lang="en-US" sz="1600" baseline="0" dirty="0"/>
                        <a:t> Address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System</a:t>
                      </a:r>
                      <a:r>
                        <a:rPr lang="en-US" sz="1600" baseline="0" dirty="0"/>
                        <a:t> Call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696562" y="3249167"/>
            <a:ext cx="2264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Build FSA</a:t>
            </a:r>
          </a:p>
          <a:p>
            <a:r>
              <a:rPr lang="en-US" sz="1600" i="1" dirty="0"/>
              <a:t>State: program-count</a:t>
            </a:r>
          </a:p>
          <a:p>
            <a:r>
              <a:rPr lang="en-US" sz="1600" i="1" dirty="0"/>
              <a:t>Input: system-call</a:t>
            </a:r>
          </a:p>
        </p:txBody>
      </p:sp>
    </p:spTree>
    <p:extLst>
      <p:ext uri="{BB962C8B-B14F-4D97-AF65-F5344CB8AC3E}">
        <p14:creationId xmlns:p14="http://schemas.microsoft.com/office/powerpoint/2010/main" val="1212175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FSA-based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05833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Detection Phase</a:t>
            </a:r>
          </a:p>
          <a:p>
            <a:pPr lvl="1"/>
            <a:r>
              <a:rPr lang="en-US" dirty="0"/>
              <a:t>Any transition that is not consistent with the FSA-based normal profile will be considered as anomaly.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635375"/>
            <a:ext cx="2155825" cy="2958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014" y="5148938"/>
            <a:ext cx="5168988" cy="15725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1851557" y="3347623"/>
            <a:ext cx="1369735" cy="802101"/>
            <a:chOff x="1848662" y="3574882"/>
            <a:chExt cx="1235752" cy="802101"/>
          </a:xfrm>
        </p:grpSpPr>
        <p:sp>
          <p:nvSpPr>
            <p:cNvPr id="7" name="Isosceles Triangle 6"/>
            <p:cNvSpPr/>
            <p:nvPr/>
          </p:nvSpPr>
          <p:spPr>
            <a:xfrm rot="14556340">
              <a:off x="1887858" y="3894706"/>
              <a:ext cx="443081" cy="521473"/>
            </a:xfrm>
            <a:prstGeom prst="triangl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7525" y="3574882"/>
              <a:ext cx="796889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BOF: </a:t>
              </a:r>
              <a:r>
                <a:rPr lang="en-US" sz="1600" dirty="0" err="1">
                  <a:solidFill>
                    <a:srgbClr val="FF0000"/>
                  </a:solidFill>
                </a:rPr>
                <a:t>jmp</a:t>
              </a:r>
              <a:r>
                <a:rPr lang="en-US" sz="1600" dirty="0">
                  <a:solidFill>
                    <a:srgbClr val="FF0000"/>
                  </a:solidFill>
                </a:rPr>
                <a:t> 30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31202" y="5731133"/>
            <a:ext cx="2191323" cy="1060581"/>
          </a:xfrm>
          <a:prstGeom prst="rect">
            <a:avLst/>
          </a:prstGeom>
          <a:ln w="635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……  </a:t>
            </a:r>
          </a:p>
          <a:p>
            <a:r>
              <a:rPr lang="en-US" dirty="0"/>
              <a:t>   </a:t>
            </a:r>
            <a:r>
              <a:rPr lang="en-US" sz="2400" dirty="0"/>
              <a:t>30.</a:t>
            </a:r>
            <a:r>
              <a:rPr lang="en-US" dirty="0"/>
              <a:t> </a:t>
            </a:r>
            <a:r>
              <a:rPr lang="en-US" sz="2400" dirty="0"/>
              <a:t>S</a:t>
            </a:r>
            <a:r>
              <a:rPr lang="en-US" sz="1400" dirty="0"/>
              <a:t>5</a:t>
            </a:r>
          </a:p>
          <a:p>
            <a:r>
              <a:rPr lang="en-US" sz="1400" dirty="0"/>
              <a:t>……</a:t>
            </a:r>
          </a:p>
        </p:txBody>
      </p:sp>
      <p:sp>
        <p:nvSpPr>
          <p:cNvPr id="13" name="Freeform 12"/>
          <p:cNvSpPr/>
          <p:nvPr/>
        </p:nvSpPr>
        <p:spPr>
          <a:xfrm>
            <a:off x="510300" y="4100275"/>
            <a:ext cx="2573890" cy="2083338"/>
          </a:xfrm>
          <a:custGeom>
            <a:avLst/>
            <a:gdLst>
              <a:gd name="connsiteX0" fmla="*/ 1382206 w 2573890"/>
              <a:gd name="connsiteY0" fmla="*/ 0 h 2083338"/>
              <a:gd name="connsiteX1" fmla="*/ 2535971 w 2573890"/>
              <a:gd name="connsiteY1" fmla="*/ 937917 h 2083338"/>
              <a:gd name="connsiteX2" fmla="*/ 137136 w 2573890"/>
              <a:gd name="connsiteY2" fmla="*/ 1593629 h 2083338"/>
              <a:gd name="connsiteX3" fmla="*/ 278244 w 2573890"/>
              <a:gd name="connsiteY3" fmla="*/ 2083338 h 2083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890" h="2083338">
                <a:moveTo>
                  <a:pt x="1382206" y="0"/>
                </a:moveTo>
                <a:cubicBezTo>
                  <a:pt x="2062844" y="336156"/>
                  <a:pt x="2743483" y="672312"/>
                  <a:pt x="2535971" y="937917"/>
                </a:cubicBezTo>
                <a:cubicBezTo>
                  <a:pt x="2328459" y="1203522"/>
                  <a:pt x="513424" y="1402726"/>
                  <a:pt x="137136" y="1593629"/>
                </a:cubicBezTo>
                <a:cubicBezTo>
                  <a:pt x="-239152" y="1784532"/>
                  <a:pt x="278244" y="2083338"/>
                  <a:pt x="278244" y="2083338"/>
                </a:cubicBezTo>
              </a:path>
            </a:pathLst>
          </a:custGeom>
          <a:ln>
            <a:solidFill>
              <a:srgbClr val="FF000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090486"/>
              </p:ext>
            </p:extLst>
          </p:nvPr>
        </p:nvGraphicFramePr>
        <p:xfrm>
          <a:off x="4326465" y="2304460"/>
          <a:ext cx="3504726" cy="24993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5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1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Program Count </a:t>
                      </a:r>
                    </a:p>
                    <a:p>
                      <a:pPr algn="ctr"/>
                      <a:r>
                        <a:rPr lang="en-US" sz="1600" dirty="0"/>
                        <a:t>(Memory</a:t>
                      </a:r>
                      <a:r>
                        <a:rPr lang="en-US" sz="1600" baseline="0" dirty="0"/>
                        <a:t> Address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System</a:t>
                      </a:r>
                      <a:r>
                        <a:rPr lang="en-US" sz="1600" baseline="0" dirty="0"/>
                        <a:t> Call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7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ight Arrow 15"/>
          <p:cNvSpPr/>
          <p:nvPr/>
        </p:nvSpPr>
        <p:spPr>
          <a:xfrm>
            <a:off x="3084190" y="3110556"/>
            <a:ext cx="629119" cy="23706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4834468" y="4182533"/>
            <a:ext cx="364065" cy="15486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014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of The Training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6549"/>
            <a:ext cx="3749675" cy="30609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9" y="1555750"/>
            <a:ext cx="3462593" cy="311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85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 Positives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4" y="1790699"/>
            <a:ext cx="3994285" cy="3320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112" y="1790698"/>
            <a:ext cx="3940175" cy="332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59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Size of the Normal 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924" y="1946275"/>
            <a:ext cx="4387003" cy="191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16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Forrest’s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0977"/>
            <a:ext cx="8229600" cy="5633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Detection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133" y="1098520"/>
            <a:ext cx="4083529" cy="562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6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FSA-based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590675"/>
          </a:xfrm>
        </p:spPr>
        <p:txBody>
          <a:bodyPr>
            <a:normAutofit fontScale="92500"/>
          </a:bodyPr>
          <a:lstStyle/>
          <a:p>
            <a:r>
              <a:rPr lang="en-US" dirty="0"/>
              <a:t>The Detection Phase</a:t>
            </a:r>
          </a:p>
          <a:p>
            <a:pPr lvl="1"/>
            <a:r>
              <a:rPr lang="en-US" dirty="0"/>
              <a:t>Any transition that is not consistent with the FSA-based normal profile will be considered as anomaly.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635375"/>
            <a:ext cx="2155825" cy="2958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081" y="2739664"/>
            <a:ext cx="5168988" cy="15725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1851557" y="3347623"/>
            <a:ext cx="1369735" cy="802101"/>
            <a:chOff x="1848662" y="3574882"/>
            <a:chExt cx="1235752" cy="802101"/>
          </a:xfrm>
        </p:grpSpPr>
        <p:sp>
          <p:nvSpPr>
            <p:cNvPr id="7" name="Isosceles Triangle 6"/>
            <p:cNvSpPr/>
            <p:nvPr/>
          </p:nvSpPr>
          <p:spPr>
            <a:xfrm rot="14556340">
              <a:off x="1887858" y="3894706"/>
              <a:ext cx="443081" cy="521473"/>
            </a:xfrm>
            <a:prstGeom prst="triangl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7525" y="3574882"/>
              <a:ext cx="796889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BOF: </a:t>
              </a:r>
              <a:r>
                <a:rPr lang="en-US" sz="1600" dirty="0" err="1">
                  <a:solidFill>
                    <a:srgbClr val="FF0000"/>
                  </a:solidFill>
                </a:rPr>
                <a:t>jmp</a:t>
              </a:r>
              <a:r>
                <a:rPr lang="en-US" sz="1600" dirty="0">
                  <a:solidFill>
                    <a:srgbClr val="FF0000"/>
                  </a:solidFill>
                </a:rPr>
                <a:t> 30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612768" y="6037357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Forrest’s approach: S1, S2, S4, S5….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081" y="4612257"/>
            <a:ext cx="216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FSA-Based approach: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202" y="5731133"/>
            <a:ext cx="2191323" cy="1060581"/>
          </a:xfrm>
          <a:prstGeom prst="rect">
            <a:avLst/>
          </a:prstGeom>
          <a:ln w="635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……  </a:t>
            </a:r>
          </a:p>
          <a:p>
            <a:r>
              <a:rPr lang="en-US" dirty="0"/>
              <a:t>   </a:t>
            </a:r>
            <a:r>
              <a:rPr lang="en-US" sz="2400" dirty="0"/>
              <a:t>30.</a:t>
            </a:r>
            <a:r>
              <a:rPr lang="en-US" dirty="0"/>
              <a:t> </a:t>
            </a:r>
            <a:r>
              <a:rPr lang="en-US" sz="2400" dirty="0"/>
              <a:t>S</a:t>
            </a:r>
            <a:r>
              <a:rPr lang="en-US" sz="1400" dirty="0"/>
              <a:t>5</a:t>
            </a:r>
          </a:p>
          <a:p>
            <a:r>
              <a:rPr lang="en-US" sz="1400" dirty="0"/>
              <a:t>……</a:t>
            </a:r>
          </a:p>
        </p:txBody>
      </p:sp>
      <p:sp>
        <p:nvSpPr>
          <p:cNvPr id="13" name="Freeform 12"/>
          <p:cNvSpPr/>
          <p:nvPr/>
        </p:nvSpPr>
        <p:spPr>
          <a:xfrm>
            <a:off x="510300" y="4100275"/>
            <a:ext cx="2573890" cy="2083338"/>
          </a:xfrm>
          <a:custGeom>
            <a:avLst/>
            <a:gdLst>
              <a:gd name="connsiteX0" fmla="*/ 1382206 w 2573890"/>
              <a:gd name="connsiteY0" fmla="*/ 0 h 2083338"/>
              <a:gd name="connsiteX1" fmla="*/ 2535971 w 2573890"/>
              <a:gd name="connsiteY1" fmla="*/ 937917 h 2083338"/>
              <a:gd name="connsiteX2" fmla="*/ 137136 w 2573890"/>
              <a:gd name="connsiteY2" fmla="*/ 1593629 h 2083338"/>
              <a:gd name="connsiteX3" fmla="*/ 278244 w 2573890"/>
              <a:gd name="connsiteY3" fmla="*/ 2083338 h 2083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890" h="2083338">
                <a:moveTo>
                  <a:pt x="1382206" y="0"/>
                </a:moveTo>
                <a:cubicBezTo>
                  <a:pt x="2062844" y="336156"/>
                  <a:pt x="2743483" y="672312"/>
                  <a:pt x="2535971" y="937917"/>
                </a:cubicBezTo>
                <a:cubicBezTo>
                  <a:pt x="2328459" y="1203522"/>
                  <a:pt x="513424" y="1402726"/>
                  <a:pt x="137136" y="1593629"/>
                </a:cubicBezTo>
                <a:cubicBezTo>
                  <a:pt x="-239152" y="1784532"/>
                  <a:pt x="278244" y="2083338"/>
                  <a:pt x="278244" y="2083338"/>
                </a:cubicBezTo>
              </a:path>
            </a:pathLst>
          </a:custGeom>
          <a:ln>
            <a:solidFill>
              <a:srgbClr val="FF000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4286281" y="4812992"/>
            <a:ext cx="3971925" cy="781566"/>
            <a:chOff x="4286281" y="4812992"/>
            <a:chExt cx="3971925" cy="781566"/>
          </a:xfrm>
        </p:grpSpPr>
        <p:grpSp>
          <p:nvGrpSpPr>
            <p:cNvPr id="23" name="Group 22"/>
            <p:cNvGrpSpPr/>
            <p:nvPr/>
          </p:nvGrpSpPr>
          <p:grpSpPr>
            <a:xfrm>
              <a:off x="5032405" y="4812992"/>
              <a:ext cx="3225801" cy="781566"/>
              <a:chOff x="3784599" y="5409684"/>
              <a:chExt cx="3225801" cy="781566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3784599" y="5594350"/>
                <a:ext cx="660401" cy="5969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191124" y="5594350"/>
                <a:ext cx="619126" cy="5969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391274" y="5594350"/>
                <a:ext cx="619126" cy="5969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30</a:t>
                </a:r>
              </a:p>
            </p:txBody>
          </p:sp>
          <p:cxnSp>
            <p:nvCxnSpPr>
              <p:cNvPr id="17" name="Straight Arrow Connector 16"/>
              <p:cNvCxnSpPr>
                <a:stCxn id="11" idx="6"/>
                <a:endCxn id="12" idx="2"/>
              </p:cNvCxnSpPr>
              <p:nvPr/>
            </p:nvCxnSpPr>
            <p:spPr>
              <a:xfrm>
                <a:off x="4445000" y="5892800"/>
                <a:ext cx="74612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>
                <a:endCxn id="15" idx="2"/>
              </p:cNvCxnSpPr>
              <p:nvPr/>
            </p:nvCxnSpPr>
            <p:spPr>
              <a:xfrm>
                <a:off x="5807076" y="5889625"/>
                <a:ext cx="584198" cy="317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/>
              <p:cNvSpPr/>
              <p:nvPr/>
            </p:nvSpPr>
            <p:spPr>
              <a:xfrm>
                <a:off x="4571999" y="5409684"/>
                <a:ext cx="4077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S2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878245" y="5410200"/>
                <a:ext cx="4077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S4</a:t>
                </a:r>
              </a:p>
            </p:txBody>
          </p:sp>
        </p:grpSp>
        <p:cxnSp>
          <p:nvCxnSpPr>
            <p:cNvPr id="25" name="Straight Arrow Connector 24"/>
            <p:cNvCxnSpPr/>
            <p:nvPr/>
          </p:nvCxnSpPr>
          <p:spPr>
            <a:xfrm>
              <a:off x="4286281" y="5296108"/>
              <a:ext cx="746124" cy="0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2206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967</Words>
  <Application>Microsoft Office PowerPoint</Application>
  <PresentationFormat>On-screen Show (4:3)</PresentationFormat>
  <Paragraphs>228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Anomaly Detection Buffer Overflow Detection</vt:lpstr>
      <vt:lpstr>Host Intrusion Detection System (HIDS)</vt:lpstr>
      <vt:lpstr>Anomaly-Based HIDS: Detecting BOF</vt:lpstr>
      <vt:lpstr>Anomaly-Based HIDS</vt:lpstr>
      <vt:lpstr>System Calls</vt:lpstr>
      <vt:lpstr>System Calls</vt:lpstr>
      <vt:lpstr>System Calls</vt:lpstr>
      <vt:lpstr>System Calls</vt:lpstr>
      <vt:lpstr>Forrest’s approach</vt:lpstr>
      <vt:lpstr>Forrest’s Approach</vt:lpstr>
      <vt:lpstr>Forrest’s Approach</vt:lpstr>
      <vt:lpstr>Forrest’s Approach</vt:lpstr>
      <vt:lpstr>The Size of The Normal Profile</vt:lpstr>
      <vt:lpstr>FSA-based Detection</vt:lpstr>
      <vt:lpstr>FSA-based Detection</vt:lpstr>
      <vt:lpstr>Increase the size of the sliding window for the Forrest Model?</vt:lpstr>
      <vt:lpstr>FSA-based Detection</vt:lpstr>
      <vt:lpstr>FSA-based Detection</vt:lpstr>
      <vt:lpstr>Convergence of The Training Phase</vt:lpstr>
      <vt:lpstr>False Positives</vt:lpstr>
      <vt:lpstr>The Size of the Normal Profile</vt:lpstr>
      <vt:lpstr>Forrest’s Approach</vt:lpstr>
      <vt:lpstr>FSA-based Detection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 Overflow</dc:title>
  <dc:creator>Junjie Zhang</dc:creator>
  <cp:lastModifiedBy>Meilin</cp:lastModifiedBy>
  <cp:revision>1715</cp:revision>
  <dcterms:created xsi:type="dcterms:W3CDTF">2012-09-26T20:40:18Z</dcterms:created>
  <dcterms:modified xsi:type="dcterms:W3CDTF">2023-10-30T22:05:58Z</dcterms:modified>
</cp:coreProperties>
</file>