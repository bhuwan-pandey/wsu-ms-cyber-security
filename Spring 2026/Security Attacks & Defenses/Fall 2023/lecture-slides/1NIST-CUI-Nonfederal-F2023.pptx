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handoutMasterIdLst>
    <p:handoutMasterId r:id="rId37"/>
  </p:handoutMasterIdLst>
  <p:sldIdLst>
    <p:sldId id="308" r:id="rId2"/>
    <p:sldId id="310" r:id="rId3"/>
    <p:sldId id="314" r:id="rId4"/>
    <p:sldId id="312" r:id="rId5"/>
    <p:sldId id="315" r:id="rId6"/>
    <p:sldId id="316" r:id="rId7"/>
    <p:sldId id="318" r:id="rId8"/>
    <p:sldId id="323" r:id="rId9"/>
    <p:sldId id="324" r:id="rId10"/>
    <p:sldId id="337" r:id="rId11"/>
    <p:sldId id="325" r:id="rId12"/>
    <p:sldId id="339" r:id="rId13"/>
    <p:sldId id="335" r:id="rId14"/>
    <p:sldId id="326" r:id="rId15"/>
    <p:sldId id="327" r:id="rId16"/>
    <p:sldId id="328" r:id="rId17"/>
    <p:sldId id="329" r:id="rId18"/>
    <p:sldId id="330" r:id="rId19"/>
    <p:sldId id="331" r:id="rId20"/>
    <p:sldId id="333" r:id="rId21"/>
    <p:sldId id="341" r:id="rId22"/>
    <p:sldId id="342" r:id="rId23"/>
    <p:sldId id="332" r:id="rId24"/>
    <p:sldId id="343" r:id="rId25"/>
    <p:sldId id="336" r:id="rId26"/>
    <p:sldId id="344" r:id="rId27"/>
    <p:sldId id="345" r:id="rId28"/>
    <p:sldId id="346" r:id="rId29"/>
    <p:sldId id="347" r:id="rId30"/>
    <p:sldId id="348" r:id="rId31"/>
    <p:sldId id="349" r:id="rId32"/>
    <p:sldId id="350" r:id="rId33"/>
    <p:sldId id="351" r:id="rId34"/>
    <p:sldId id="352" r:id="rId35"/>
  </p:sldIdLst>
  <p:sldSz cx="9144000" cy="6858000" type="screen4x3"/>
  <p:notesSz cx="6858000" cy="9296400"/>
  <p:custDataLst>
    <p:tags r:id="rId38"/>
  </p:custDataLst>
  <p:defaultTextStyle>
    <a:defPPr>
      <a:defRPr lang="en-US"/>
    </a:defPPr>
    <a:lvl1pPr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1pPr>
    <a:lvl2pPr marL="4572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2pPr>
    <a:lvl3pPr marL="9144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3pPr>
    <a:lvl4pPr marL="13716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4pPr>
    <a:lvl5pPr marL="1828800" algn="ctr" rtl="0" fontAlgn="base">
      <a:spcBef>
        <a:spcPct val="5000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4735" autoAdjust="0"/>
    <p:restoredTop sz="88497" autoAdjust="0"/>
  </p:normalViewPr>
  <p:slideViewPr>
    <p:cSldViewPr>
      <p:cViewPr varScale="1">
        <p:scale>
          <a:sx n="76" d="100"/>
          <a:sy n="76" d="100"/>
        </p:scale>
        <p:origin x="2107"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 d="1"/>
        <a:sy n="1" d="1"/>
      </p:scale>
      <p:origin x="0" y="-598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22" name="Rectangle 2">
            <a:extLst>
              <a:ext uri="{FF2B5EF4-FFF2-40B4-BE49-F238E27FC236}">
                <a16:creationId xmlns:a16="http://schemas.microsoft.com/office/drawing/2014/main" id="{0D55BE43-3095-A5C8-C901-7099527F64B7}"/>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l" defTabSz="925513">
              <a:spcBef>
                <a:spcPct val="0"/>
              </a:spcBef>
              <a:defRPr sz="1200"/>
            </a:lvl1pPr>
          </a:lstStyle>
          <a:p>
            <a:pPr>
              <a:defRPr/>
            </a:pPr>
            <a:endParaRPr lang="en-US" altLang="zh-CN"/>
          </a:p>
        </p:txBody>
      </p:sp>
      <p:sp>
        <p:nvSpPr>
          <p:cNvPr id="286723" name="Rectangle 3">
            <a:extLst>
              <a:ext uri="{FF2B5EF4-FFF2-40B4-BE49-F238E27FC236}">
                <a16:creationId xmlns:a16="http://schemas.microsoft.com/office/drawing/2014/main" id="{23585146-7F02-8A00-0DF2-EF3E7974E8AF}"/>
              </a:ext>
            </a:extLst>
          </p:cNvPr>
          <p:cNvSpPr>
            <a:spLocks noGrp="1" noChangeArrowheads="1"/>
          </p:cNvSpPr>
          <p:nvPr>
            <p:ph type="dt" sz="quarter" idx="1"/>
          </p:nvPr>
        </p:nvSpPr>
        <p:spPr bwMode="auto">
          <a:xfrm>
            <a:off x="3884613"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r" defTabSz="925513">
              <a:spcBef>
                <a:spcPct val="0"/>
              </a:spcBef>
              <a:defRPr sz="1200"/>
            </a:lvl1pPr>
          </a:lstStyle>
          <a:p>
            <a:pPr>
              <a:defRPr/>
            </a:pPr>
            <a:endParaRPr lang="en-US" altLang="zh-CN"/>
          </a:p>
        </p:txBody>
      </p:sp>
      <p:sp>
        <p:nvSpPr>
          <p:cNvPr id="286724" name="Rectangle 4">
            <a:extLst>
              <a:ext uri="{FF2B5EF4-FFF2-40B4-BE49-F238E27FC236}">
                <a16:creationId xmlns:a16="http://schemas.microsoft.com/office/drawing/2014/main" id="{CAC71F3A-CF17-A5D5-7FA7-B0773672DEC0}"/>
              </a:ext>
            </a:extLst>
          </p:cNvPr>
          <p:cNvSpPr>
            <a:spLocks noGrp="1" noChangeArrowheads="1"/>
          </p:cNvSpPr>
          <p:nvPr>
            <p:ph type="ftr" sz="quarter" idx="2"/>
          </p:nvPr>
        </p:nvSpPr>
        <p:spPr bwMode="auto">
          <a:xfrm>
            <a:off x="0"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l" defTabSz="925513">
              <a:spcBef>
                <a:spcPct val="0"/>
              </a:spcBef>
              <a:defRPr sz="1200"/>
            </a:lvl1pPr>
          </a:lstStyle>
          <a:p>
            <a:pPr>
              <a:defRPr/>
            </a:pPr>
            <a:r>
              <a:rPr lang="zh-CN" altLang="en-US"/>
              <a:t>Zili Shao</a:t>
            </a:r>
            <a:endParaRPr lang="en-US" altLang="zh-CN"/>
          </a:p>
        </p:txBody>
      </p:sp>
      <p:sp>
        <p:nvSpPr>
          <p:cNvPr id="286725" name="Rectangle 5">
            <a:extLst>
              <a:ext uri="{FF2B5EF4-FFF2-40B4-BE49-F238E27FC236}">
                <a16:creationId xmlns:a16="http://schemas.microsoft.com/office/drawing/2014/main" id="{AD77CF0E-F95B-A828-0CFE-FA37C49A831A}"/>
              </a:ext>
            </a:extLst>
          </p:cNvPr>
          <p:cNvSpPr>
            <a:spLocks noGrp="1" noChangeArrowheads="1"/>
          </p:cNvSpPr>
          <p:nvPr>
            <p:ph type="sldNum" sz="quarter" idx="3"/>
          </p:nvPr>
        </p:nvSpPr>
        <p:spPr bwMode="auto">
          <a:xfrm>
            <a:off x="3884613" y="8829675"/>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r" defTabSz="925513">
              <a:spcBef>
                <a:spcPct val="0"/>
              </a:spcBef>
              <a:defRPr sz="1200"/>
            </a:lvl1pPr>
          </a:lstStyle>
          <a:p>
            <a:fld id="{10B93FAF-8ED3-3049-A27E-E70B410FAF5D}" type="slidenum">
              <a:rPr lang="zh-CN" altLang="en-US"/>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C0D5959-4C7A-C9F3-AE3D-E9B5AE56D1A0}"/>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l" defTabSz="925513">
              <a:spcBef>
                <a:spcPct val="0"/>
              </a:spcBef>
              <a:defRPr sz="1200"/>
            </a:lvl1pPr>
          </a:lstStyle>
          <a:p>
            <a:pPr>
              <a:defRPr/>
            </a:pPr>
            <a:endParaRPr lang="en-US" altLang="zh-CN"/>
          </a:p>
        </p:txBody>
      </p:sp>
      <p:sp>
        <p:nvSpPr>
          <p:cNvPr id="12291" name="Rectangle 3">
            <a:extLst>
              <a:ext uri="{FF2B5EF4-FFF2-40B4-BE49-F238E27FC236}">
                <a16:creationId xmlns:a16="http://schemas.microsoft.com/office/drawing/2014/main" id="{4A9294FF-C479-DA62-C57F-E597D350C53B}"/>
              </a:ext>
            </a:extLst>
          </p:cNvPr>
          <p:cNvSpPr>
            <a:spLocks noGrp="1" noChangeArrowheads="1"/>
          </p:cNvSpPr>
          <p:nvPr>
            <p:ph type="dt"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lvl1pPr algn="r" defTabSz="925513">
              <a:spcBef>
                <a:spcPct val="0"/>
              </a:spcBef>
              <a:defRPr sz="1200"/>
            </a:lvl1pPr>
          </a:lstStyle>
          <a:p>
            <a:pPr>
              <a:defRPr/>
            </a:pPr>
            <a:endParaRPr lang="en-US" altLang="zh-CN"/>
          </a:p>
        </p:txBody>
      </p:sp>
      <p:sp>
        <p:nvSpPr>
          <p:cNvPr id="52228" name="Rectangle 4">
            <a:extLst>
              <a:ext uri="{FF2B5EF4-FFF2-40B4-BE49-F238E27FC236}">
                <a16:creationId xmlns:a16="http://schemas.microsoft.com/office/drawing/2014/main" id="{8D1C08E9-45BA-5F6C-5B88-FCEF7CF9626D}"/>
              </a:ext>
            </a:extLst>
          </p:cNvPr>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293" name="Rectangle 5">
            <a:extLst>
              <a:ext uri="{FF2B5EF4-FFF2-40B4-BE49-F238E27FC236}">
                <a16:creationId xmlns:a16="http://schemas.microsoft.com/office/drawing/2014/main" id="{ABEC59FE-751B-11C4-750B-1FDF9E0B6BAF}"/>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2294" name="Rectangle 6">
            <a:extLst>
              <a:ext uri="{FF2B5EF4-FFF2-40B4-BE49-F238E27FC236}">
                <a16:creationId xmlns:a16="http://schemas.microsoft.com/office/drawing/2014/main" id="{7BFE6B3B-1338-8F22-CC20-74C1F9049703}"/>
              </a:ext>
            </a:extLst>
          </p:cNvPr>
          <p:cNvSpPr>
            <a:spLocks noGrp="1" noChangeArrowheads="1"/>
          </p:cNvSpPr>
          <p:nvPr>
            <p:ph type="ftr" sz="quarter" idx="4"/>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l" defTabSz="925513">
              <a:spcBef>
                <a:spcPct val="0"/>
              </a:spcBef>
              <a:defRPr sz="1200"/>
            </a:lvl1pPr>
          </a:lstStyle>
          <a:p>
            <a:pPr>
              <a:defRPr/>
            </a:pPr>
            <a:r>
              <a:rPr lang="zh-CN" altLang="en-US"/>
              <a:t>Zili Shao</a:t>
            </a:r>
            <a:endParaRPr lang="en-US" altLang="zh-CN"/>
          </a:p>
        </p:txBody>
      </p:sp>
      <p:sp>
        <p:nvSpPr>
          <p:cNvPr id="12295" name="Rectangle 7">
            <a:extLst>
              <a:ext uri="{FF2B5EF4-FFF2-40B4-BE49-F238E27FC236}">
                <a16:creationId xmlns:a16="http://schemas.microsoft.com/office/drawing/2014/main" id="{E7FAB52C-210D-29E0-E445-0C807328E9E0}"/>
              </a:ext>
            </a:extLst>
          </p:cNvPr>
          <p:cNvSpPr>
            <a:spLocks noGrp="1" noChangeArrowheads="1"/>
          </p:cNvSpPr>
          <p:nvPr>
            <p:ph type="sldNum" sz="quarter" idx="5"/>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14" tIns="46408" rIns="92814" bIns="46408" numCol="1" anchor="b" anchorCtr="0" compatLnSpc="1">
            <a:prstTxWarp prst="textNoShape">
              <a:avLst/>
            </a:prstTxWarp>
          </a:bodyPr>
          <a:lstStyle>
            <a:lvl1pPr algn="r" defTabSz="925513">
              <a:spcBef>
                <a:spcPct val="0"/>
              </a:spcBef>
              <a:defRPr sz="1200"/>
            </a:lvl1pPr>
          </a:lstStyle>
          <a:p>
            <a:fld id="{FE0A8324-FEF0-BE4F-8B2C-CAF0FA2DB3FD}" type="slidenum">
              <a:rPr lang="zh-CN" altLang="en-US"/>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E3AFBA09-6984-574C-5546-660BB23BC086}"/>
              </a:ext>
            </a:extLst>
          </p:cNvPr>
          <p:cNvSpPr>
            <a:spLocks noGrp="1" noChangeArrowheads="1"/>
          </p:cNvSpPr>
          <p:nvPr>
            <p:ph type="ftr" sz="quarter" idx="4"/>
          </p:nvPr>
        </p:nvSpPr>
        <p:spPr>
          <a:noFill/>
        </p:spPr>
        <p:txBody>
          <a:bodyPr/>
          <a:lstStyle>
            <a:lvl1pPr algn="l" defTabSz="925513" eaLnBrk="0" hangingPunct="0">
              <a:spcBef>
                <a:spcPct val="30000"/>
              </a:spcBef>
              <a:defRPr sz="1200">
                <a:solidFill>
                  <a:schemeClr val="tx1"/>
                </a:solidFill>
                <a:latin typeface="Times New Roman" panose="02020603050405020304" pitchFamily="18" charset="0"/>
              </a:defRPr>
            </a:lvl1pPr>
            <a:lvl2pPr marL="742950" indent="-285750" algn="l" defTabSz="925513" eaLnBrk="0" hangingPunct="0">
              <a:spcBef>
                <a:spcPct val="30000"/>
              </a:spcBef>
              <a:defRPr sz="1200">
                <a:solidFill>
                  <a:schemeClr val="tx1"/>
                </a:solidFill>
                <a:latin typeface="Times New Roman" panose="02020603050405020304" pitchFamily="18" charset="0"/>
              </a:defRPr>
            </a:lvl2pPr>
            <a:lvl3pPr marL="1143000" indent="-228600" algn="l" defTabSz="925513" eaLnBrk="0" hangingPunct="0">
              <a:spcBef>
                <a:spcPct val="30000"/>
              </a:spcBef>
              <a:defRPr sz="1200">
                <a:solidFill>
                  <a:schemeClr val="tx1"/>
                </a:solidFill>
                <a:latin typeface="Times New Roman" panose="02020603050405020304" pitchFamily="18" charset="0"/>
              </a:defRPr>
            </a:lvl3pPr>
            <a:lvl4pPr marL="1600200" indent="-228600" algn="l" defTabSz="925513" eaLnBrk="0" hangingPunct="0">
              <a:spcBef>
                <a:spcPct val="30000"/>
              </a:spcBef>
              <a:defRPr sz="1200">
                <a:solidFill>
                  <a:schemeClr val="tx1"/>
                </a:solidFill>
                <a:latin typeface="Times New Roman" panose="02020603050405020304" pitchFamily="18" charset="0"/>
              </a:defRPr>
            </a:lvl4pPr>
            <a:lvl5pPr marL="2057400" indent="-228600" algn="l" defTabSz="925513" eaLnBrk="0" hangingPunct="0">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zh-CN" altLang="en-US"/>
              <a:t>Zili Shao</a:t>
            </a:r>
            <a:endParaRPr lang="en-US" altLang="zh-CN"/>
          </a:p>
        </p:txBody>
      </p:sp>
      <p:sp>
        <p:nvSpPr>
          <p:cNvPr id="53251" name="Rectangle 7">
            <a:extLst>
              <a:ext uri="{FF2B5EF4-FFF2-40B4-BE49-F238E27FC236}">
                <a16:creationId xmlns:a16="http://schemas.microsoft.com/office/drawing/2014/main" id="{E77F6557-12AE-52BF-15E2-2678E319351D}"/>
              </a:ext>
            </a:extLst>
          </p:cNvPr>
          <p:cNvSpPr>
            <a:spLocks noGrp="1" noChangeArrowheads="1"/>
          </p:cNvSpPr>
          <p:nvPr>
            <p:ph type="sldNum" sz="quarter" idx="5"/>
          </p:nvPr>
        </p:nvSpPr>
        <p:spPr>
          <a:noFill/>
        </p:spPr>
        <p:txBody>
          <a:bodyPr/>
          <a:lstStyle>
            <a:lvl1pPr algn="l" defTabSz="925513" eaLnBrk="0" hangingPunct="0">
              <a:spcBef>
                <a:spcPct val="30000"/>
              </a:spcBef>
              <a:defRPr sz="1200">
                <a:solidFill>
                  <a:schemeClr val="tx1"/>
                </a:solidFill>
                <a:latin typeface="Times New Roman" panose="02020603050405020304" pitchFamily="18" charset="0"/>
              </a:defRPr>
            </a:lvl1pPr>
            <a:lvl2pPr marL="742950" indent="-285750" algn="l" defTabSz="925513" eaLnBrk="0" hangingPunct="0">
              <a:spcBef>
                <a:spcPct val="30000"/>
              </a:spcBef>
              <a:defRPr sz="1200">
                <a:solidFill>
                  <a:schemeClr val="tx1"/>
                </a:solidFill>
                <a:latin typeface="Times New Roman" panose="02020603050405020304" pitchFamily="18" charset="0"/>
              </a:defRPr>
            </a:lvl2pPr>
            <a:lvl3pPr marL="1143000" indent="-228600" algn="l" defTabSz="925513" eaLnBrk="0" hangingPunct="0">
              <a:spcBef>
                <a:spcPct val="30000"/>
              </a:spcBef>
              <a:defRPr sz="1200">
                <a:solidFill>
                  <a:schemeClr val="tx1"/>
                </a:solidFill>
                <a:latin typeface="Times New Roman" panose="02020603050405020304" pitchFamily="18" charset="0"/>
              </a:defRPr>
            </a:lvl3pPr>
            <a:lvl4pPr marL="1600200" indent="-228600" algn="l" defTabSz="925513" eaLnBrk="0" hangingPunct="0">
              <a:spcBef>
                <a:spcPct val="30000"/>
              </a:spcBef>
              <a:defRPr sz="1200">
                <a:solidFill>
                  <a:schemeClr val="tx1"/>
                </a:solidFill>
                <a:latin typeface="Times New Roman" panose="02020603050405020304" pitchFamily="18" charset="0"/>
              </a:defRPr>
            </a:lvl4pPr>
            <a:lvl5pPr marL="2057400" indent="-228600" algn="l" defTabSz="925513" eaLnBrk="0" hangingPunct="0">
              <a:spcBef>
                <a:spcPct val="30000"/>
              </a:spcBef>
              <a:defRPr sz="1200">
                <a:solidFill>
                  <a:schemeClr val="tx1"/>
                </a:solidFill>
                <a:latin typeface="Times New Roman" panose="02020603050405020304" pitchFamily="18" charset="0"/>
              </a:defRPr>
            </a:lvl5pPr>
            <a:lvl6pPr marL="2514600" indent="-228600" defTabSz="92551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551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551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5513"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901B4F7D-DD96-8848-A587-58B6CD98FABE}" type="slidenum">
              <a:rPr lang="zh-CN" altLang="en-US"/>
              <a:pPr algn="r" eaLnBrk="1" hangingPunct="1">
                <a:spcBef>
                  <a:spcPct val="0"/>
                </a:spcBef>
              </a:pPr>
              <a:t>1</a:t>
            </a:fld>
            <a:endParaRPr lang="en-US" altLang="zh-CN"/>
          </a:p>
        </p:txBody>
      </p:sp>
      <p:sp>
        <p:nvSpPr>
          <p:cNvPr id="53252" name="Rectangle 2">
            <a:extLst>
              <a:ext uri="{FF2B5EF4-FFF2-40B4-BE49-F238E27FC236}">
                <a16:creationId xmlns:a16="http://schemas.microsoft.com/office/drawing/2014/main" id="{37FBC97E-71B8-4AB6-F821-03B65FF04096}"/>
              </a:ext>
            </a:extLst>
          </p:cNvPr>
          <p:cNvSpPr>
            <a:spLocks noGrp="1" noRot="1" noChangeAspect="1" noChangeArrowheads="1" noTextEdit="1"/>
          </p:cNvSpPr>
          <p:nvPr>
            <p:ph type="sldImg"/>
          </p:nvPr>
        </p:nvSpPr>
        <p:spPr>
          <a:ln/>
        </p:spPr>
      </p:sp>
      <p:sp>
        <p:nvSpPr>
          <p:cNvPr id="53253" name="Rectangle 3">
            <a:extLst>
              <a:ext uri="{FF2B5EF4-FFF2-40B4-BE49-F238E27FC236}">
                <a16:creationId xmlns:a16="http://schemas.microsoft.com/office/drawing/2014/main" id="{F9A892B2-6805-E939-5718-58159526CC2A}"/>
              </a:ext>
            </a:extLst>
          </p:cNvPr>
          <p:cNvSpPr>
            <a:spLocks noGrp="1" noChangeArrowheads="1"/>
          </p:cNvSpPr>
          <p:nvPr>
            <p:ph type="body" idx="1"/>
          </p:nvPr>
        </p:nvSpPr>
        <p:spPr>
          <a:xfrm>
            <a:off x="914400" y="4414838"/>
            <a:ext cx="5029200" cy="4184650"/>
          </a:xfrm>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zh-CN" altLang="en-US"/>
              <a:t>Zili Shao</a:t>
            </a:r>
            <a:endParaRPr lang="en-US" altLang="zh-CN"/>
          </a:p>
        </p:txBody>
      </p:sp>
      <p:sp>
        <p:nvSpPr>
          <p:cNvPr id="5" name="Slide Number Placeholder 4"/>
          <p:cNvSpPr>
            <a:spLocks noGrp="1"/>
          </p:cNvSpPr>
          <p:nvPr>
            <p:ph type="sldNum" sz="quarter" idx="5"/>
          </p:nvPr>
        </p:nvSpPr>
        <p:spPr/>
        <p:txBody>
          <a:bodyPr/>
          <a:lstStyle/>
          <a:p>
            <a:fld id="{FE0A8324-FEF0-BE4F-8B2C-CAF0FA2DB3FD}" type="slidenum">
              <a:rPr lang="zh-CN" altLang="en-US" smtClean="0"/>
              <a:pPr/>
              <a:t>2</a:t>
            </a:fld>
            <a:endParaRPr lang="en-US" altLang="zh-CN"/>
          </a:p>
        </p:txBody>
      </p:sp>
    </p:spTree>
    <p:extLst>
      <p:ext uri="{BB962C8B-B14F-4D97-AF65-F5344CB8AC3E}">
        <p14:creationId xmlns:p14="http://schemas.microsoft.com/office/powerpoint/2010/main" val="3355532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pPr>
              <a:defRPr/>
            </a:pPr>
            <a:r>
              <a:rPr lang="zh-CN" altLang="en-US"/>
              <a:t>Zili Shao</a:t>
            </a:r>
            <a:endParaRPr lang="en-US" altLang="zh-CN"/>
          </a:p>
        </p:txBody>
      </p:sp>
      <p:sp>
        <p:nvSpPr>
          <p:cNvPr id="5" name="Slide Number Placeholder 4"/>
          <p:cNvSpPr>
            <a:spLocks noGrp="1"/>
          </p:cNvSpPr>
          <p:nvPr>
            <p:ph type="sldNum" sz="quarter" idx="5"/>
          </p:nvPr>
        </p:nvSpPr>
        <p:spPr/>
        <p:txBody>
          <a:bodyPr/>
          <a:lstStyle/>
          <a:p>
            <a:fld id="{FE0A8324-FEF0-BE4F-8B2C-CAF0FA2DB3FD}" type="slidenum">
              <a:rPr lang="zh-CN" altLang="en-US" smtClean="0"/>
              <a:pPr/>
              <a:t>10</a:t>
            </a:fld>
            <a:endParaRPr lang="en-US" altLang="zh-CN"/>
          </a:p>
        </p:txBody>
      </p:sp>
    </p:spTree>
    <p:extLst>
      <p:ext uri="{BB962C8B-B14F-4D97-AF65-F5344CB8AC3E}">
        <p14:creationId xmlns:p14="http://schemas.microsoft.com/office/powerpoint/2010/main" val="33884650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C12CD195-C445-0098-AC5F-0B682C827366}"/>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3CCFB09A-674A-2F6D-47CF-EA23C454F71E}"/>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551CA636-6153-7DD3-33C7-3486062C06D1}"/>
              </a:ext>
            </a:extLst>
          </p:cNvPr>
          <p:cNvSpPr>
            <a:spLocks noGrp="1" noChangeArrowheads="1"/>
          </p:cNvSpPr>
          <p:nvPr>
            <p:ph type="sldNum" sz="quarter" idx="12"/>
          </p:nvPr>
        </p:nvSpPr>
        <p:spPr>
          <a:ln/>
        </p:spPr>
        <p:txBody>
          <a:bodyPr/>
          <a:lstStyle>
            <a:lvl1pPr>
              <a:defRPr/>
            </a:lvl1pPr>
          </a:lstStyle>
          <a:p>
            <a:fld id="{C1C438F2-1020-A447-98A5-7A7EFD9A8F0D}" type="slidenum">
              <a:rPr lang="zh-CN" altLang="en-US"/>
              <a:pPr/>
              <a:t>‹#›</a:t>
            </a:fld>
            <a:endParaRPr lang="en-US" altLang="zh-CN"/>
          </a:p>
        </p:txBody>
      </p:sp>
    </p:spTree>
    <p:extLst>
      <p:ext uri="{BB962C8B-B14F-4D97-AF65-F5344CB8AC3E}">
        <p14:creationId xmlns:p14="http://schemas.microsoft.com/office/powerpoint/2010/main" val="4086900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a:t>Fifth level</a:t>
            </a:r>
          </a:p>
        </p:txBody>
      </p:sp>
      <p:sp>
        <p:nvSpPr>
          <p:cNvPr id="4" name="Rectangle 4">
            <a:extLst>
              <a:ext uri="{FF2B5EF4-FFF2-40B4-BE49-F238E27FC236}">
                <a16:creationId xmlns:a16="http://schemas.microsoft.com/office/drawing/2014/main" id="{B37F9F0A-3FEF-B580-FD82-9E48DC9822A8}"/>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6FFA311E-2FED-FF05-181D-9E3D3AF5DDC8}"/>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95BFA1E4-70E5-9A30-78E8-B019D31EF88D}"/>
              </a:ext>
            </a:extLst>
          </p:cNvPr>
          <p:cNvSpPr>
            <a:spLocks noGrp="1" noChangeArrowheads="1"/>
          </p:cNvSpPr>
          <p:nvPr>
            <p:ph type="sldNum" sz="quarter" idx="12"/>
          </p:nvPr>
        </p:nvSpPr>
        <p:spPr>
          <a:ln/>
        </p:spPr>
        <p:txBody>
          <a:bodyPr/>
          <a:lstStyle>
            <a:lvl1pPr>
              <a:defRPr/>
            </a:lvl1pPr>
          </a:lstStyle>
          <a:p>
            <a:fld id="{C229BFEB-A0E0-6248-B3FD-62DBB4A69257}" type="slidenum">
              <a:rPr lang="zh-CN" altLang="en-US"/>
              <a:pPr/>
              <a:t>‹#›</a:t>
            </a:fld>
            <a:endParaRPr lang="en-US" altLang="zh-CN"/>
          </a:p>
        </p:txBody>
      </p:sp>
    </p:spTree>
    <p:extLst>
      <p:ext uri="{BB962C8B-B14F-4D97-AF65-F5344CB8AC3E}">
        <p14:creationId xmlns:p14="http://schemas.microsoft.com/office/powerpoint/2010/main" val="3840278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7A4ECC3-1DAF-2FB4-D0CC-2E4CD4109081}"/>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4C52E7BB-0D49-0BDD-8A4E-D527FD0F83F5}"/>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E81AE05C-CCB2-A05D-0742-952CF577E0C7}"/>
              </a:ext>
            </a:extLst>
          </p:cNvPr>
          <p:cNvSpPr>
            <a:spLocks noGrp="1" noChangeArrowheads="1"/>
          </p:cNvSpPr>
          <p:nvPr>
            <p:ph type="sldNum" sz="quarter" idx="12"/>
          </p:nvPr>
        </p:nvSpPr>
        <p:spPr>
          <a:ln/>
        </p:spPr>
        <p:txBody>
          <a:bodyPr/>
          <a:lstStyle>
            <a:lvl1pPr>
              <a:defRPr/>
            </a:lvl1pPr>
          </a:lstStyle>
          <a:p>
            <a:fld id="{8E95A0A3-5CE3-9643-81BA-F6D816AE8259}" type="slidenum">
              <a:rPr lang="zh-CN" altLang="en-US"/>
              <a:pPr/>
              <a:t>‹#›</a:t>
            </a:fld>
            <a:endParaRPr lang="en-US" altLang="zh-CN"/>
          </a:p>
        </p:txBody>
      </p:sp>
    </p:spTree>
    <p:extLst>
      <p:ext uri="{BB962C8B-B14F-4D97-AF65-F5344CB8AC3E}">
        <p14:creationId xmlns:p14="http://schemas.microsoft.com/office/powerpoint/2010/main" val="1549221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716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71600"/>
            <a:ext cx="40386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7457478-8C20-6E7B-7778-B39C14BDCF8E}"/>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6" name="Rectangle 5">
            <a:extLst>
              <a:ext uri="{FF2B5EF4-FFF2-40B4-BE49-F238E27FC236}">
                <a16:creationId xmlns:a16="http://schemas.microsoft.com/office/drawing/2014/main" id="{3214AD66-49F9-B705-D684-18F446CF0EEE}"/>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7" name="Rectangle 6">
            <a:extLst>
              <a:ext uri="{FF2B5EF4-FFF2-40B4-BE49-F238E27FC236}">
                <a16:creationId xmlns:a16="http://schemas.microsoft.com/office/drawing/2014/main" id="{9FFC3627-74F9-8D66-8232-D033C18ED1E9}"/>
              </a:ext>
            </a:extLst>
          </p:cNvPr>
          <p:cNvSpPr>
            <a:spLocks noGrp="1" noChangeArrowheads="1"/>
          </p:cNvSpPr>
          <p:nvPr>
            <p:ph type="sldNum" sz="quarter" idx="12"/>
          </p:nvPr>
        </p:nvSpPr>
        <p:spPr>
          <a:ln/>
        </p:spPr>
        <p:txBody>
          <a:bodyPr/>
          <a:lstStyle>
            <a:lvl1pPr>
              <a:defRPr/>
            </a:lvl1pPr>
          </a:lstStyle>
          <a:p>
            <a:fld id="{135BE172-EF86-8049-A461-8B3BCEAA8A9A}" type="slidenum">
              <a:rPr lang="zh-CN" altLang="en-US"/>
              <a:pPr/>
              <a:t>‹#›</a:t>
            </a:fld>
            <a:endParaRPr lang="en-US" altLang="zh-CN"/>
          </a:p>
        </p:txBody>
      </p:sp>
    </p:spTree>
    <p:extLst>
      <p:ext uri="{BB962C8B-B14F-4D97-AF65-F5344CB8AC3E}">
        <p14:creationId xmlns:p14="http://schemas.microsoft.com/office/powerpoint/2010/main" val="2354776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B701D98-6F7D-3A95-EC92-D5FC5CC97FE4}"/>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8" name="Rectangle 5">
            <a:extLst>
              <a:ext uri="{FF2B5EF4-FFF2-40B4-BE49-F238E27FC236}">
                <a16:creationId xmlns:a16="http://schemas.microsoft.com/office/drawing/2014/main" id="{F9B62308-FAA7-D590-592D-0A1F7A56257F}"/>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9" name="Rectangle 6">
            <a:extLst>
              <a:ext uri="{FF2B5EF4-FFF2-40B4-BE49-F238E27FC236}">
                <a16:creationId xmlns:a16="http://schemas.microsoft.com/office/drawing/2014/main" id="{8A362DE4-9B3B-A1E4-3409-D171E4FCC10B}"/>
              </a:ext>
            </a:extLst>
          </p:cNvPr>
          <p:cNvSpPr>
            <a:spLocks noGrp="1" noChangeArrowheads="1"/>
          </p:cNvSpPr>
          <p:nvPr>
            <p:ph type="sldNum" sz="quarter" idx="12"/>
          </p:nvPr>
        </p:nvSpPr>
        <p:spPr>
          <a:ln/>
        </p:spPr>
        <p:txBody>
          <a:bodyPr/>
          <a:lstStyle>
            <a:lvl1pPr>
              <a:defRPr/>
            </a:lvl1pPr>
          </a:lstStyle>
          <a:p>
            <a:fld id="{A573A52F-980D-4442-9E1C-AA20B80F5026}" type="slidenum">
              <a:rPr lang="zh-CN" altLang="en-US"/>
              <a:pPr/>
              <a:t>‹#›</a:t>
            </a:fld>
            <a:endParaRPr lang="en-US" altLang="zh-CN"/>
          </a:p>
        </p:txBody>
      </p:sp>
    </p:spTree>
    <p:extLst>
      <p:ext uri="{BB962C8B-B14F-4D97-AF65-F5344CB8AC3E}">
        <p14:creationId xmlns:p14="http://schemas.microsoft.com/office/powerpoint/2010/main" val="4030668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0AA5924-652C-FA11-6CED-3246D9117ACD}"/>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4" name="Rectangle 5">
            <a:extLst>
              <a:ext uri="{FF2B5EF4-FFF2-40B4-BE49-F238E27FC236}">
                <a16:creationId xmlns:a16="http://schemas.microsoft.com/office/drawing/2014/main" id="{184A6EA6-1E95-D252-F03A-03036E96EC26}"/>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5" name="Rectangle 6">
            <a:extLst>
              <a:ext uri="{FF2B5EF4-FFF2-40B4-BE49-F238E27FC236}">
                <a16:creationId xmlns:a16="http://schemas.microsoft.com/office/drawing/2014/main" id="{1F417CA2-9066-6648-48E0-244E1525587A}"/>
              </a:ext>
            </a:extLst>
          </p:cNvPr>
          <p:cNvSpPr>
            <a:spLocks noGrp="1" noChangeArrowheads="1"/>
          </p:cNvSpPr>
          <p:nvPr>
            <p:ph type="sldNum" sz="quarter" idx="12"/>
          </p:nvPr>
        </p:nvSpPr>
        <p:spPr>
          <a:ln/>
        </p:spPr>
        <p:txBody>
          <a:bodyPr/>
          <a:lstStyle>
            <a:lvl1pPr>
              <a:defRPr/>
            </a:lvl1pPr>
          </a:lstStyle>
          <a:p>
            <a:fld id="{2E9FAF28-C14D-2F46-A0D8-98EFABDD2FEB}" type="slidenum">
              <a:rPr lang="zh-CN" altLang="en-US"/>
              <a:pPr/>
              <a:t>‹#›</a:t>
            </a:fld>
            <a:endParaRPr lang="en-US" altLang="zh-CN"/>
          </a:p>
        </p:txBody>
      </p:sp>
    </p:spTree>
    <p:extLst>
      <p:ext uri="{BB962C8B-B14F-4D97-AF65-F5344CB8AC3E}">
        <p14:creationId xmlns:p14="http://schemas.microsoft.com/office/powerpoint/2010/main" val="2437388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231CC9D-15DF-497D-6731-99A8CA128F18}"/>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3" name="Rectangle 5">
            <a:extLst>
              <a:ext uri="{FF2B5EF4-FFF2-40B4-BE49-F238E27FC236}">
                <a16:creationId xmlns:a16="http://schemas.microsoft.com/office/drawing/2014/main" id="{CF23DA2C-368E-0FFD-2666-00643D97D5AD}"/>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4" name="Rectangle 6">
            <a:extLst>
              <a:ext uri="{FF2B5EF4-FFF2-40B4-BE49-F238E27FC236}">
                <a16:creationId xmlns:a16="http://schemas.microsoft.com/office/drawing/2014/main" id="{D3704BD1-5BF9-F4D9-9D13-1D15ACCDB723}"/>
              </a:ext>
            </a:extLst>
          </p:cNvPr>
          <p:cNvSpPr>
            <a:spLocks noGrp="1" noChangeArrowheads="1"/>
          </p:cNvSpPr>
          <p:nvPr>
            <p:ph type="sldNum" sz="quarter" idx="12"/>
          </p:nvPr>
        </p:nvSpPr>
        <p:spPr>
          <a:ln/>
        </p:spPr>
        <p:txBody>
          <a:bodyPr/>
          <a:lstStyle>
            <a:lvl1pPr>
              <a:defRPr/>
            </a:lvl1pPr>
          </a:lstStyle>
          <a:p>
            <a:fld id="{770392A1-D0AE-E24A-9FC0-A5A8D63C4970}" type="slidenum">
              <a:rPr lang="zh-CN" altLang="en-US"/>
              <a:pPr/>
              <a:t>‹#›</a:t>
            </a:fld>
            <a:endParaRPr lang="en-US" altLang="zh-CN"/>
          </a:p>
        </p:txBody>
      </p:sp>
    </p:spTree>
    <p:extLst>
      <p:ext uri="{BB962C8B-B14F-4D97-AF65-F5344CB8AC3E}">
        <p14:creationId xmlns:p14="http://schemas.microsoft.com/office/powerpoint/2010/main" val="103484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1D9278C-73EA-0DB7-5384-DF5CB610D868}"/>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6" name="Rectangle 5">
            <a:extLst>
              <a:ext uri="{FF2B5EF4-FFF2-40B4-BE49-F238E27FC236}">
                <a16:creationId xmlns:a16="http://schemas.microsoft.com/office/drawing/2014/main" id="{C3E5C983-C7CD-C194-1440-113F3D4DBFAF}"/>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7" name="Rectangle 6">
            <a:extLst>
              <a:ext uri="{FF2B5EF4-FFF2-40B4-BE49-F238E27FC236}">
                <a16:creationId xmlns:a16="http://schemas.microsoft.com/office/drawing/2014/main" id="{5EF04C7D-2765-D30C-D855-F8A36C27C2F9}"/>
              </a:ext>
            </a:extLst>
          </p:cNvPr>
          <p:cNvSpPr>
            <a:spLocks noGrp="1" noChangeArrowheads="1"/>
          </p:cNvSpPr>
          <p:nvPr>
            <p:ph type="sldNum" sz="quarter" idx="12"/>
          </p:nvPr>
        </p:nvSpPr>
        <p:spPr>
          <a:ln/>
        </p:spPr>
        <p:txBody>
          <a:bodyPr/>
          <a:lstStyle>
            <a:lvl1pPr>
              <a:defRPr/>
            </a:lvl1pPr>
          </a:lstStyle>
          <a:p>
            <a:fld id="{DBFD484B-C277-334F-AC07-A2BD8BF6423E}" type="slidenum">
              <a:rPr lang="zh-CN" altLang="en-US"/>
              <a:pPr/>
              <a:t>‹#›</a:t>
            </a:fld>
            <a:endParaRPr lang="en-US" altLang="zh-CN"/>
          </a:p>
        </p:txBody>
      </p:sp>
    </p:spTree>
    <p:extLst>
      <p:ext uri="{BB962C8B-B14F-4D97-AF65-F5344CB8AC3E}">
        <p14:creationId xmlns:p14="http://schemas.microsoft.com/office/powerpoint/2010/main" val="158399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BA6C55D-7E62-DA89-BF67-0AAB7BDF13D3}"/>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6" name="Rectangle 5">
            <a:extLst>
              <a:ext uri="{FF2B5EF4-FFF2-40B4-BE49-F238E27FC236}">
                <a16:creationId xmlns:a16="http://schemas.microsoft.com/office/drawing/2014/main" id="{F924DD6D-27EB-23ED-8F67-3154A1341B09}"/>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7" name="Rectangle 6">
            <a:extLst>
              <a:ext uri="{FF2B5EF4-FFF2-40B4-BE49-F238E27FC236}">
                <a16:creationId xmlns:a16="http://schemas.microsoft.com/office/drawing/2014/main" id="{E3851B92-6C68-C1A8-2D8C-21EB52DD14BE}"/>
              </a:ext>
            </a:extLst>
          </p:cNvPr>
          <p:cNvSpPr>
            <a:spLocks noGrp="1" noChangeArrowheads="1"/>
          </p:cNvSpPr>
          <p:nvPr>
            <p:ph type="sldNum" sz="quarter" idx="12"/>
          </p:nvPr>
        </p:nvSpPr>
        <p:spPr>
          <a:ln/>
        </p:spPr>
        <p:txBody>
          <a:bodyPr/>
          <a:lstStyle>
            <a:lvl1pPr>
              <a:defRPr/>
            </a:lvl1pPr>
          </a:lstStyle>
          <a:p>
            <a:fld id="{024A82F4-0C46-1442-8CA7-F21DC82EF7BA}" type="slidenum">
              <a:rPr lang="zh-CN" altLang="en-US"/>
              <a:pPr/>
              <a:t>‹#›</a:t>
            </a:fld>
            <a:endParaRPr lang="en-US" altLang="zh-CN"/>
          </a:p>
        </p:txBody>
      </p:sp>
    </p:spTree>
    <p:extLst>
      <p:ext uri="{BB962C8B-B14F-4D97-AF65-F5344CB8AC3E}">
        <p14:creationId xmlns:p14="http://schemas.microsoft.com/office/powerpoint/2010/main" val="3887376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C408D14-7AD2-2F56-6D62-FD4B5D78171E}"/>
              </a:ext>
            </a:extLst>
          </p:cNvPr>
          <p:cNvSpPr>
            <a:spLocks noGrp="1" noChangeArrowheads="1"/>
          </p:cNvSpPr>
          <p:nvPr>
            <p:ph type="dt" sz="half" idx="10"/>
          </p:nvPr>
        </p:nvSpPr>
        <p:spPr>
          <a:ln/>
        </p:spPr>
        <p:txBody>
          <a:bodyPr/>
          <a:lstStyle>
            <a:lvl1pPr>
              <a:defRPr/>
            </a:lvl1pPr>
          </a:lstStyle>
          <a:p>
            <a:pPr>
              <a:defRPr/>
            </a:pPr>
            <a:r>
              <a:rPr lang="en-US" altLang="zh-CN"/>
              <a:t>CS7900, Meilin Liu </a:t>
            </a:r>
          </a:p>
        </p:txBody>
      </p:sp>
      <p:sp>
        <p:nvSpPr>
          <p:cNvPr id="5" name="Rectangle 5">
            <a:extLst>
              <a:ext uri="{FF2B5EF4-FFF2-40B4-BE49-F238E27FC236}">
                <a16:creationId xmlns:a16="http://schemas.microsoft.com/office/drawing/2014/main" id="{E3601CD5-8CA7-E909-F076-F62A8113AC36}"/>
              </a:ext>
            </a:extLst>
          </p:cNvPr>
          <p:cNvSpPr>
            <a:spLocks noGrp="1" noChangeArrowheads="1"/>
          </p:cNvSpPr>
          <p:nvPr>
            <p:ph type="ftr" sz="quarter" idx="11"/>
          </p:nvPr>
        </p:nvSpPr>
        <p:spPr>
          <a:ln/>
        </p:spPr>
        <p:txBody>
          <a:bodyPr/>
          <a:lstStyle>
            <a:lvl1pPr>
              <a:defRPr/>
            </a:lvl1pPr>
          </a:lstStyle>
          <a:p>
            <a:pPr>
              <a:defRPr/>
            </a:pPr>
            <a:r>
              <a:rPr lang="en-US" altLang="zh-CN"/>
              <a:t> Part 2  Access Control                                                                                                  12</a:t>
            </a:r>
          </a:p>
        </p:txBody>
      </p:sp>
      <p:sp>
        <p:nvSpPr>
          <p:cNvPr id="6" name="Rectangle 6">
            <a:extLst>
              <a:ext uri="{FF2B5EF4-FFF2-40B4-BE49-F238E27FC236}">
                <a16:creationId xmlns:a16="http://schemas.microsoft.com/office/drawing/2014/main" id="{1702DD43-94CA-1665-2E7F-8A0F978C6A78}"/>
              </a:ext>
            </a:extLst>
          </p:cNvPr>
          <p:cNvSpPr>
            <a:spLocks noGrp="1" noChangeArrowheads="1"/>
          </p:cNvSpPr>
          <p:nvPr>
            <p:ph type="sldNum" sz="quarter" idx="12"/>
          </p:nvPr>
        </p:nvSpPr>
        <p:spPr>
          <a:ln/>
        </p:spPr>
        <p:txBody>
          <a:bodyPr/>
          <a:lstStyle>
            <a:lvl1pPr>
              <a:defRPr/>
            </a:lvl1pPr>
          </a:lstStyle>
          <a:p>
            <a:fld id="{A00502C6-DE9C-AE46-9B88-9E5B31C7A0E4}" type="slidenum">
              <a:rPr lang="zh-CN" altLang="en-US"/>
              <a:pPr/>
              <a:t>‹#›</a:t>
            </a:fld>
            <a:endParaRPr lang="en-US" altLang="zh-CN"/>
          </a:p>
        </p:txBody>
      </p:sp>
    </p:spTree>
    <p:extLst>
      <p:ext uri="{BB962C8B-B14F-4D97-AF65-F5344CB8AC3E}">
        <p14:creationId xmlns:p14="http://schemas.microsoft.com/office/powerpoint/2010/main" val="3611426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88AB2DA-565A-803A-A4E4-5A8D1F99E4E9}"/>
              </a:ext>
            </a:extLst>
          </p:cNvPr>
          <p:cNvSpPr>
            <a:spLocks noGrp="1" noChangeArrowheads="1"/>
          </p:cNvSpPr>
          <p:nvPr>
            <p:ph type="title"/>
          </p:nvPr>
        </p:nvSpPr>
        <p:spPr bwMode="auto">
          <a:xfrm>
            <a:off x="685800" y="304800"/>
            <a:ext cx="7772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09705ED0-A531-0916-DB50-858DB18FB1E0}"/>
              </a:ext>
            </a:extLst>
          </p:cNvPr>
          <p:cNvSpPr>
            <a:spLocks noGrp="1" noChangeArrowheads="1"/>
          </p:cNvSpPr>
          <p:nvPr>
            <p:ph type="body" idx="1"/>
          </p:nvPr>
        </p:nvSpPr>
        <p:spPr bwMode="auto">
          <a:xfrm>
            <a:off x="457200" y="1371600"/>
            <a:ext cx="82296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E50E7A04-8660-EA8C-8858-E4848CB798D6}"/>
              </a:ext>
            </a:extLst>
          </p:cNvPr>
          <p:cNvSpPr>
            <a:spLocks noGrp="1" noChangeArrowheads="1"/>
          </p:cNvSpPr>
          <p:nvPr>
            <p:ph type="dt" sz="half" idx="2"/>
          </p:nvPr>
        </p:nvSpPr>
        <p:spPr bwMode="auto">
          <a:xfrm>
            <a:off x="381000" y="6324600"/>
            <a:ext cx="5791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defRPr sz="1600" b="1">
                <a:ea typeface="SimSun" pitchFamily="2" charset="-122"/>
              </a:defRPr>
            </a:lvl1pPr>
          </a:lstStyle>
          <a:p>
            <a:pPr>
              <a:defRPr/>
            </a:pPr>
            <a:r>
              <a:rPr lang="en-US" altLang="zh-CN"/>
              <a:t>CS7900, Meilin Liu </a:t>
            </a:r>
          </a:p>
        </p:txBody>
      </p:sp>
      <p:sp>
        <p:nvSpPr>
          <p:cNvPr id="1029" name="Rectangle 5">
            <a:extLst>
              <a:ext uri="{FF2B5EF4-FFF2-40B4-BE49-F238E27FC236}">
                <a16:creationId xmlns:a16="http://schemas.microsoft.com/office/drawing/2014/main" id="{7456268A-40CC-8519-FFCB-83695D88F283}"/>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defRPr sz="1400">
                <a:ea typeface="SimSun" pitchFamily="2" charset="-122"/>
              </a:defRPr>
            </a:lvl1pPr>
          </a:lstStyle>
          <a:p>
            <a:pPr>
              <a:defRPr/>
            </a:pPr>
            <a:r>
              <a:rPr lang="en-US" altLang="zh-CN"/>
              <a:t> Part 2  Access Control                                                                                                  12</a:t>
            </a:r>
          </a:p>
        </p:txBody>
      </p:sp>
      <p:sp>
        <p:nvSpPr>
          <p:cNvPr id="1030" name="Rectangle 6">
            <a:extLst>
              <a:ext uri="{FF2B5EF4-FFF2-40B4-BE49-F238E27FC236}">
                <a16:creationId xmlns:a16="http://schemas.microsoft.com/office/drawing/2014/main" id="{D5E7F46E-3BAC-4CA1-61D0-B92F785805A6}"/>
              </a:ext>
            </a:extLst>
          </p:cNvPr>
          <p:cNvSpPr>
            <a:spLocks noGrp="1" noChangeArrowheads="1"/>
          </p:cNvSpPr>
          <p:nvPr>
            <p:ph type="sldNum" sz="quarter" idx="4"/>
          </p:nvPr>
        </p:nvSpPr>
        <p:spPr bwMode="auto">
          <a:xfrm>
            <a:off x="6629400" y="6324600"/>
            <a:ext cx="1905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defRPr sz="1400">
                <a:ea typeface="宋体" panose="02010600030101010101" pitchFamily="2" charset="-122"/>
              </a:defRPr>
            </a:lvl1pPr>
          </a:lstStyle>
          <a:p>
            <a:fld id="{112C7EC4-8EE5-C642-B414-A9EA62F8025E}"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p:txStyles>
    <p:titleStyle>
      <a:lvl1pPr algn="ctr" rtl="0" eaLnBrk="0" fontAlgn="base" hangingPunct="0">
        <a:spcBef>
          <a:spcPct val="0"/>
        </a:spcBef>
        <a:spcAft>
          <a:spcPct val="0"/>
        </a:spcAft>
        <a:defRPr sz="3600" b="1">
          <a:solidFill>
            <a:srgbClr val="C60000"/>
          </a:solidFill>
          <a:latin typeface="+mj-lt"/>
          <a:ea typeface="+mj-ea"/>
          <a:cs typeface="+mj-cs"/>
        </a:defRPr>
      </a:lvl1pPr>
      <a:lvl2pPr algn="ctr" rtl="0" eaLnBrk="0" fontAlgn="base" hangingPunct="0">
        <a:spcBef>
          <a:spcPct val="0"/>
        </a:spcBef>
        <a:spcAft>
          <a:spcPct val="0"/>
        </a:spcAft>
        <a:defRPr sz="3600" b="1">
          <a:solidFill>
            <a:srgbClr val="C60000"/>
          </a:solidFill>
          <a:latin typeface="Times New Roman" pitchFamily="18" charset="0"/>
        </a:defRPr>
      </a:lvl2pPr>
      <a:lvl3pPr algn="ctr" rtl="0" eaLnBrk="0" fontAlgn="base" hangingPunct="0">
        <a:spcBef>
          <a:spcPct val="0"/>
        </a:spcBef>
        <a:spcAft>
          <a:spcPct val="0"/>
        </a:spcAft>
        <a:defRPr sz="3600" b="1">
          <a:solidFill>
            <a:srgbClr val="C60000"/>
          </a:solidFill>
          <a:latin typeface="Times New Roman" pitchFamily="18" charset="0"/>
        </a:defRPr>
      </a:lvl3pPr>
      <a:lvl4pPr algn="ctr" rtl="0" eaLnBrk="0" fontAlgn="base" hangingPunct="0">
        <a:spcBef>
          <a:spcPct val="0"/>
        </a:spcBef>
        <a:spcAft>
          <a:spcPct val="0"/>
        </a:spcAft>
        <a:defRPr sz="3600" b="1">
          <a:solidFill>
            <a:srgbClr val="C60000"/>
          </a:solidFill>
          <a:latin typeface="Times New Roman" pitchFamily="18" charset="0"/>
        </a:defRPr>
      </a:lvl4pPr>
      <a:lvl5pPr algn="ctr" rtl="0" eaLnBrk="0" fontAlgn="base" hangingPunct="0">
        <a:spcBef>
          <a:spcPct val="0"/>
        </a:spcBef>
        <a:spcAft>
          <a:spcPct val="0"/>
        </a:spcAft>
        <a:defRPr sz="3600" b="1">
          <a:solidFill>
            <a:srgbClr val="C60000"/>
          </a:solidFill>
          <a:latin typeface="Times New Roman" pitchFamily="18" charset="0"/>
        </a:defRPr>
      </a:lvl5pPr>
      <a:lvl6pPr marL="457200" algn="ctr" rtl="0" fontAlgn="base">
        <a:spcBef>
          <a:spcPct val="0"/>
        </a:spcBef>
        <a:spcAft>
          <a:spcPct val="0"/>
        </a:spcAft>
        <a:defRPr sz="3600" b="1">
          <a:solidFill>
            <a:srgbClr val="C60000"/>
          </a:solidFill>
          <a:latin typeface="Times New Roman" pitchFamily="18" charset="0"/>
        </a:defRPr>
      </a:lvl6pPr>
      <a:lvl7pPr marL="914400" algn="ctr" rtl="0" fontAlgn="base">
        <a:spcBef>
          <a:spcPct val="0"/>
        </a:spcBef>
        <a:spcAft>
          <a:spcPct val="0"/>
        </a:spcAft>
        <a:defRPr sz="3600" b="1">
          <a:solidFill>
            <a:srgbClr val="C60000"/>
          </a:solidFill>
          <a:latin typeface="Times New Roman" pitchFamily="18" charset="0"/>
        </a:defRPr>
      </a:lvl7pPr>
      <a:lvl8pPr marL="1371600" algn="ctr" rtl="0" fontAlgn="base">
        <a:spcBef>
          <a:spcPct val="0"/>
        </a:spcBef>
        <a:spcAft>
          <a:spcPct val="0"/>
        </a:spcAft>
        <a:defRPr sz="3600" b="1">
          <a:solidFill>
            <a:srgbClr val="C60000"/>
          </a:solidFill>
          <a:latin typeface="Times New Roman" pitchFamily="18" charset="0"/>
        </a:defRPr>
      </a:lvl8pPr>
      <a:lvl9pPr marL="1828800" algn="ctr" rtl="0" fontAlgn="base">
        <a:spcBef>
          <a:spcPct val="0"/>
        </a:spcBef>
        <a:spcAft>
          <a:spcPct val="0"/>
        </a:spcAft>
        <a:defRPr sz="3600" b="1">
          <a:solidFill>
            <a:srgbClr val="C60000"/>
          </a:solidFill>
          <a:latin typeface="Times New Roman" pitchFamily="18" charset="0"/>
        </a:defRPr>
      </a:lvl9pPr>
    </p:titleStyle>
    <p:bodyStyle>
      <a:lvl1pPr marL="342900" indent="-342900" algn="l" rtl="0" eaLnBrk="0" fontAlgn="base" hangingPunct="0">
        <a:lnSpc>
          <a:spcPct val="95000"/>
        </a:lnSpc>
        <a:spcBef>
          <a:spcPct val="20000"/>
        </a:spcBef>
        <a:spcAft>
          <a:spcPct val="0"/>
        </a:spcAft>
        <a:defRPr sz="2400">
          <a:solidFill>
            <a:schemeClr val="tx1"/>
          </a:solidFill>
          <a:latin typeface="+mn-lt"/>
          <a:ea typeface="+mn-ea"/>
          <a:cs typeface="+mn-cs"/>
        </a:defRPr>
      </a:lvl1pPr>
      <a:lvl2pPr marL="742950" indent="-285750" algn="l" rtl="0" eaLnBrk="0" fontAlgn="base" hangingPunct="0">
        <a:lnSpc>
          <a:spcPct val="90000"/>
        </a:lnSpc>
        <a:spcBef>
          <a:spcPct val="20000"/>
        </a:spcBef>
        <a:spcAft>
          <a:spcPct val="0"/>
        </a:spcAft>
        <a:buClr>
          <a:srgbClr val="000099"/>
        </a:buClr>
        <a:buFont typeface="Wingdings" pitchFamily="2" charset="2"/>
        <a:buChar char="Ø"/>
        <a:defRPr sz="2200">
          <a:solidFill>
            <a:schemeClr val="tx1"/>
          </a:solidFill>
          <a:latin typeface="+mn-lt"/>
        </a:defRPr>
      </a:lvl2pPr>
      <a:lvl3pPr marL="1143000" indent="-228600" algn="l" rtl="0" eaLnBrk="0" fontAlgn="base" hangingPunct="0">
        <a:lnSpc>
          <a:spcPct val="90000"/>
        </a:lnSpc>
        <a:spcBef>
          <a:spcPct val="20000"/>
        </a:spcBef>
        <a:spcAft>
          <a:spcPct val="0"/>
        </a:spcAft>
        <a:buClr>
          <a:srgbClr val="000099"/>
        </a:buClr>
        <a:buChar char="o"/>
        <a:defRPr sz="2000">
          <a:solidFill>
            <a:schemeClr val="tx1"/>
          </a:solidFill>
          <a:latin typeface="+mn-lt"/>
        </a:defRPr>
      </a:lvl3pPr>
      <a:lvl4pPr marL="1600200" indent="-228600" algn="l" rtl="0" eaLnBrk="0" fontAlgn="base" hangingPunct="0">
        <a:lnSpc>
          <a:spcPct val="90000"/>
        </a:lnSpc>
        <a:spcBef>
          <a:spcPct val="20000"/>
        </a:spcBef>
        <a:spcAft>
          <a:spcPct val="0"/>
        </a:spcAft>
        <a:buClr>
          <a:srgbClr val="000099"/>
        </a:buClr>
        <a:buChar char="–"/>
        <a:defRPr>
          <a:solidFill>
            <a:schemeClr val="tx1"/>
          </a:solidFill>
          <a:latin typeface="+mn-lt"/>
        </a:defRPr>
      </a:lvl4pPr>
      <a:lvl5pPr marL="2057400" indent="-228600" algn="l" rtl="0" eaLnBrk="0" fontAlgn="base" hangingPunct="0">
        <a:lnSpc>
          <a:spcPct val="90000"/>
        </a:lnSpc>
        <a:spcBef>
          <a:spcPct val="20000"/>
        </a:spcBef>
        <a:spcAft>
          <a:spcPct val="0"/>
        </a:spcAft>
        <a:buClr>
          <a:srgbClr val="000099"/>
        </a:buClr>
        <a:buChar char="»"/>
        <a:defRPr>
          <a:solidFill>
            <a:schemeClr val="tx1"/>
          </a:solidFill>
          <a:latin typeface="+mn-lt"/>
        </a:defRPr>
      </a:lvl5pPr>
      <a:lvl6pPr marL="2514600" indent="-228600" algn="l" rtl="0" fontAlgn="base">
        <a:lnSpc>
          <a:spcPct val="90000"/>
        </a:lnSpc>
        <a:spcBef>
          <a:spcPct val="20000"/>
        </a:spcBef>
        <a:spcAft>
          <a:spcPct val="0"/>
        </a:spcAft>
        <a:buClr>
          <a:srgbClr val="000099"/>
        </a:buClr>
        <a:buChar char="»"/>
        <a:defRPr>
          <a:solidFill>
            <a:schemeClr val="tx1"/>
          </a:solidFill>
          <a:latin typeface="+mn-lt"/>
        </a:defRPr>
      </a:lvl6pPr>
      <a:lvl7pPr marL="2971800" indent="-228600" algn="l" rtl="0" fontAlgn="base">
        <a:lnSpc>
          <a:spcPct val="90000"/>
        </a:lnSpc>
        <a:spcBef>
          <a:spcPct val="20000"/>
        </a:spcBef>
        <a:spcAft>
          <a:spcPct val="0"/>
        </a:spcAft>
        <a:buClr>
          <a:srgbClr val="000099"/>
        </a:buClr>
        <a:buChar char="»"/>
        <a:defRPr>
          <a:solidFill>
            <a:schemeClr val="tx1"/>
          </a:solidFill>
          <a:latin typeface="+mn-lt"/>
        </a:defRPr>
      </a:lvl7pPr>
      <a:lvl8pPr marL="3429000" indent="-228600" algn="l" rtl="0" fontAlgn="base">
        <a:lnSpc>
          <a:spcPct val="90000"/>
        </a:lnSpc>
        <a:spcBef>
          <a:spcPct val="20000"/>
        </a:spcBef>
        <a:spcAft>
          <a:spcPct val="0"/>
        </a:spcAft>
        <a:buClr>
          <a:srgbClr val="000099"/>
        </a:buClr>
        <a:buChar char="»"/>
        <a:defRPr>
          <a:solidFill>
            <a:schemeClr val="tx1"/>
          </a:solidFill>
          <a:latin typeface="+mn-lt"/>
        </a:defRPr>
      </a:lvl8pPr>
      <a:lvl9pPr marL="3886200" indent="-228600" algn="l" rtl="0" fontAlgn="base">
        <a:lnSpc>
          <a:spcPct val="90000"/>
        </a:lnSpc>
        <a:spcBef>
          <a:spcPct val="20000"/>
        </a:spcBef>
        <a:spcAft>
          <a:spcPct val="0"/>
        </a:spcAft>
        <a:buClr>
          <a:srgbClr val="000099"/>
        </a:buClr>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Date Placeholder 3">
            <a:extLst>
              <a:ext uri="{FF2B5EF4-FFF2-40B4-BE49-F238E27FC236}">
                <a16:creationId xmlns:a16="http://schemas.microsoft.com/office/drawing/2014/main" id="{B64236CE-93B2-4540-5405-27B83FA07B2A}"/>
              </a:ext>
            </a:extLst>
          </p:cNvPr>
          <p:cNvSpPr>
            <a:spLocks noGrp="1"/>
          </p:cNvSpPr>
          <p:nvPr>
            <p:ph type="dt" sz="quarter" idx="10"/>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0"/>
              </a:spcBef>
            </a:pPr>
            <a:r>
              <a:rPr lang="en-US" altLang="zh-CN" sz="1600">
                <a:ea typeface="宋体" panose="02010600030101010101" pitchFamily="2" charset="-122"/>
              </a:rPr>
              <a:t>CS7900, Meilin Liu </a:t>
            </a:r>
          </a:p>
        </p:txBody>
      </p:sp>
      <p:sp>
        <p:nvSpPr>
          <p:cNvPr id="2051" name="Slide Number Placeholder 5">
            <a:extLst>
              <a:ext uri="{FF2B5EF4-FFF2-40B4-BE49-F238E27FC236}">
                <a16:creationId xmlns:a16="http://schemas.microsoft.com/office/drawing/2014/main" id="{9F297168-6B09-706C-AFBA-2764F5DFDBC4}"/>
              </a:ext>
            </a:extLst>
          </p:cNvPr>
          <p:cNvSpPr>
            <a:spLocks noGrp="1"/>
          </p:cNvSpPr>
          <p:nvPr>
            <p:ph type="sldNum" sz="quarter" idx="12"/>
          </p:nvPr>
        </p:nvSpPr>
        <p:spPr>
          <a:noFill/>
        </p:spPr>
        <p:txBody>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algn="r" eaLnBrk="1" hangingPunct="1">
              <a:lnSpc>
                <a:spcPct val="100000"/>
              </a:lnSpc>
              <a:spcBef>
                <a:spcPct val="0"/>
              </a:spcBef>
            </a:pPr>
            <a:fld id="{D70575BF-BAB1-4D4D-9D5C-3B25744060D8}" type="slidenum">
              <a:rPr lang="zh-CN" altLang="en-US" sz="1400"/>
              <a:pPr algn="r" eaLnBrk="1" hangingPunct="1">
                <a:lnSpc>
                  <a:spcPct val="100000"/>
                </a:lnSpc>
                <a:spcBef>
                  <a:spcPct val="0"/>
                </a:spcBef>
              </a:pPr>
              <a:t>1</a:t>
            </a:fld>
            <a:endParaRPr lang="en-US" altLang="zh-CN" sz="1400"/>
          </a:p>
        </p:txBody>
      </p:sp>
      <p:sp>
        <p:nvSpPr>
          <p:cNvPr id="2052" name="Rectangle 2">
            <a:extLst>
              <a:ext uri="{FF2B5EF4-FFF2-40B4-BE49-F238E27FC236}">
                <a16:creationId xmlns:a16="http://schemas.microsoft.com/office/drawing/2014/main" id="{A1DE70E2-4065-1587-7CED-0F07833D4672}"/>
              </a:ext>
            </a:extLst>
          </p:cNvPr>
          <p:cNvSpPr>
            <a:spLocks noGrp="1" noChangeArrowheads="1"/>
          </p:cNvSpPr>
          <p:nvPr>
            <p:ph type="ctrTitle"/>
          </p:nvPr>
        </p:nvSpPr>
        <p:spPr>
          <a:xfrm>
            <a:off x="533400" y="609600"/>
            <a:ext cx="8305800" cy="2057400"/>
          </a:xfrm>
        </p:spPr>
        <p:txBody>
          <a:bodyPr/>
          <a:lstStyle/>
          <a:p>
            <a:pPr eaLnBrk="1" hangingPunct="1"/>
            <a:r>
              <a:rPr lang="en-US" altLang="en-US" dirty="0"/>
              <a:t>CEG4424/6424 Security Attacks and Defenses</a:t>
            </a:r>
            <a:br>
              <a:rPr lang="en-US" altLang="en-US" dirty="0"/>
            </a:br>
            <a:br>
              <a:rPr lang="en-US" altLang="en-US" dirty="0"/>
            </a:br>
            <a:r>
              <a:rPr lang="en-US" altLang="en-US" dirty="0"/>
              <a:t>Protecting </a:t>
            </a:r>
            <a:r>
              <a:rPr lang="en-US" dirty="0"/>
              <a:t>Controlled Unclassified Information (CUI) in Non-federal Systems and Organizations </a:t>
            </a:r>
            <a:endParaRPr lang="en-US" altLang="en-US" dirty="0"/>
          </a:p>
        </p:txBody>
      </p:sp>
      <p:sp>
        <p:nvSpPr>
          <p:cNvPr id="2053" name="Rectangle 1">
            <a:extLst>
              <a:ext uri="{FF2B5EF4-FFF2-40B4-BE49-F238E27FC236}">
                <a16:creationId xmlns:a16="http://schemas.microsoft.com/office/drawing/2014/main" id="{B7BCB673-6DBD-202A-490E-314418ED81A4}"/>
              </a:ext>
            </a:extLst>
          </p:cNvPr>
          <p:cNvSpPr>
            <a:spLocks noChangeArrowheads="1"/>
          </p:cNvSpPr>
          <p:nvPr/>
        </p:nvSpPr>
        <p:spPr bwMode="auto">
          <a:xfrm>
            <a:off x="762000" y="3429000"/>
            <a:ext cx="7696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lnSpc>
                <a:spcPct val="95000"/>
              </a:lnSpc>
              <a:spcBef>
                <a:spcPct val="20000"/>
              </a:spcBef>
              <a:defRPr sz="2400">
                <a:solidFill>
                  <a:schemeClr val="tx1"/>
                </a:solidFill>
                <a:latin typeface="Times New Roman" panose="02020603050405020304" pitchFamily="18" charset="0"/>
              </a:defRPr>
            </a:lvl1pPr>
            <a:lvl2pPr marL="742950" indent="-285750" algn="l" eaLnBrk="0" hangingPunct="0">
              <a:lnSpc>
                <a:spcPct val="90000"/>
              </a:lnSpc>
              <a:spcBef>
                <a:spcPct val="20000"/>
              </a:spcBef>
              <a:buClr>
                <a:srgbClr val="000099"/>
              </a:buClr>
              <a:buFont typeface="Wingdings" pitchFamily="2" charset="2"/>
              <a:buChar char="Ø"/>
              <a:defRPr sz="2200">
                <a:solidFill>
                  <a:schemeClr val="tx1"/>
                </a:solidFill>
                <a:latin typeface="Times New Roman" panose="02020603050405020304" pitchFamily="18" charset="0"/>
              </a:defRPr>
            </a:lvl2pPr>
            <a:lvl3pPr marL="1143000" indent="-228600" algn="l" eaLnBrk="0" hangingPunct="0">
              <a:lnSpc>
                <a:spcPct val="90000"/>
              </a:lnSpc>
              <a:spcBef>
                <a:spcPct val="20000"/>
              </a:spcBef>
              <a:buClr>
                <a:srgbClr val="000099"/>
              </a:buClr>
              <a:buChar char="o"/>
              <a:defRPr sz="2000">
                <a:solidFill>
                  <a:schemeClr val="tx1"/>
                </a:solidFill>
                <a:latin typeface="Times New Roman" panose="02020603050405020304" pitchFamily="18" charset="0"/>
              </a:defRPr>
            </a:lvl3pPr>
            <a:lvl4pPr marL="16002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4pPr>
            <a:lvl5pPr marL="2057400" indent="-228600" algn="l" eaLnBrk="0" hangingPunct="0">
              <a:lnSpc>
                <a:spcPct val="90000"/>
              </a:lnSpc>
              <a:spcBef>
                <a:spcPct val="20000"/>
              </a:spcBef>
              <a:buClr>
                <a:srgbClr val="000099"/>
              </a:buClr>
              <a:buChar char="»"/>
              <a:defRPr>
                <a:solidFill>
                  <a:schemeClr val="tx1"/>
                </a:solidFill>
                <a:latin typeface="Times New Roman" panose="02020603050405020304" pitchFamily="18" charset="0"/>
              </a:defRPr>
            </a:lvl5pPr>
            <a:lvl6pPr marL="25146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6pPr>
            <a:lvl7pPr marL="29718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7pPr>
            <a:lvl8pPr marL="34290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8pPr>
            <a:lvl9pPr marL="3886200" indent="-228600" eaLnBrk="0" fontAlgn="base" hangingPunct="0">
              <a:lnSpc>
                <a:spcPct val="90000"/>
              </a:lnSpc>
              <a:spcBef>
                <a:spcPct val="20000"/>
              </a:spcBef>
              <a:spcAft>
                <a:spcPct val="0"/>
              </a:spcAft>
              <a:buClr>
                <a:srgbClr val="000099"/>
              </a:buClr>
              <a:buChar char="»"/>
              <a:defRPr>
                <a:solidFill>
                  <a:schemeClr val="tx1"/>
                </a:solidFill>
                <a:latin typeface="Times New Roman" panose="02020603050405020304" pitchFamily="18" charset="0"/>
              </a:defRPr>
            </a:lvl9pPr>
          </a:lstStyle>
          <a:p>
            <a:pPr eaLnBrk="1" hangingPunct="1">
              <a:lnSpc>
                <a:spcPct val="100000"/>
              </a:lnSpc>
              <a:spcBef>
                <a:spcPct val="50000"/>
              </a:spcBef>
            </a:pPr>
            <a:r>
              <a:rPr lang="en-US" altLang="en-US" dirty="0"/>
              <a:t>This lecture slide is mainly based on NIST SP800-171r1.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What is Controlled Unclassified Information?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p:txBody>
          <a:bodyPr/>
          <a:lstStyle/>
          <a:p>
            <a:r>
              <a:rPr lang="en-US" dirty="0"/>
              <a:t>Controlled Unclassified Information (CUI) is sensitive information, but not classified. </a:t>
            </a:r>
          </a:p>
          <a:p>
            <a:endParaRPr lang="en-US" dirty="0"/>
          </a:p>
          <a:p>
            <a:r>
              <a:rPr lang="en-US" dirty="0"/>
              <a:t> CUI is data that must be specifically protected within an information system. CUI can be found in government contracts or provided to a contractor by the Department of Defense (DoD), as well as passed to any vendors that these contractors are working with. </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a:t>
            </a:fld>
            <a:endParaRPr lang="en-US" altLang="zh-CN"/>
          </a:p>
        </p:txBody>
      </p:sp>
    </p:spTree>
    <p:extLst>
      <p:ext uri="{BB962C8B-B14F-4D97-AF65-F5344CB8AC3E}">
        <p14:creationId xmlns:p14="http://schemas.microsoft.com/office/powerpoint/2010/main" val="285039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Controlled Unclassified Information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p:txBody>
          <a:bodyPr/>
          <a:lstStyle/>
          <a:p>
            <a:r>
              <a:rPr lang="en-US" dirty="0"/>
              <a:t>Historically, federal agencies developed their own practices for sensitive information, resulting in a patchwork of processes across federal agencies. Similar information might be labeled differently, or different types of information might have the same markings with different meanings.</a:t>
            </a:r>
          </a:p>
          <a:p>
            <a:endParaRPr lang="en-US" dirty="0"/>
          </a:p>
          <a:p>
            <a:r>
              <a:rPr lang="en-US" dirty="0"/>
              <a:t> For example, CUI replaces labels such as For Official Use Only (FOUO), Sensitive But Unclassified (SBU) and more.</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3</a:t>
            </a:fld>
            <a:endParaRPr lang="en-US" altLang="zh-CN"/>
          </a:p>
        </p:txBody>
      </p:sp>
    </p:spTree>
    <p:extLst>
      <p:ext uri="{BB962C8B-B14F-4D97-AF65-F5344CB8AC3E}">
        <p14:creationId xmlns:p14="http://schemas.microsoft.com/office/powerpoint/2010/main" val="2529297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Controlled Unclassified Information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p:txBody>
          <a:bodyPr/>
          <a:lstStyle/>
          <a:p>
            <a:r>
              <a:rPr lang="en-US" sz="1800" dirty="0"/>
              <a:t>Any CUI residing in nonfederal information systems and organizations must be protected using the control requirements of NIST SP 800-171. </a:t>
            </a:r>
          </a:p>
          <a:p>
            <a:endParaRPr lang="en-US" sz="1800" dirty="0"/>
          </a:p>
          <a:p>
            <a:r>
              <a:rPr lang="en-US" sz="1800" dirty="0"/>
              <a:t>Universities might have research projects which have been identified as having CUI data. </a:t>
            </a:r>
          </a:p>
          <a:p>
            <a:endParaRPr lang="en-US" sz="1800" dirty="0"/>
          </a:p>
          <a:p>
            <a:r>
              <a:rPr lang="en-US" sz="1800" dirty="0"/>
              <a:t> Universities agreed to protect this data and meet the required controls when these contracts and grants were accepted by the University.  Researchers in Universities  work together to ensure that each project or contract which requires compliance, meets that compliance. </a:t>
            </a:r>
          </a:p>
          <a:p>
            <a:r>
              <a:rPr lang="en-US" sz="1800" dirty="0"/>
              <a:t>By developing a standard compliance methodology for all University research requiring compliance, it is hoped that researchers will be able to dedicate more time on research and less time on meeting the requirements of the controls. </a:t>
            </a:r>
          </a:p>
          <a:p>
            <a:r>
              <a:rPr lang="en-US" sz="1800" dirty="0"/>
              <a:t> University Researcher also sees compliance as a possible competitive advantage for researchers when competing with other universities which cannot meet these compliance requirements.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4</a:t>
            </a:fld>
            <a:endParaRPr lang="en-US" altLang="zh-CN"/>
          </a:p>
        </p:txBody>
      </p:sp>
    </p:spTree>
    <p:extLst>
      <p:ext uri="{BB962C8B-B14F-4D97-AF65-F5344CB8AC3E}">
        <p14:creationId xmlns:p14="http://schemas.microsoft.com/office/powerpoint/2010/main" val="3105750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Why these rules</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p:txBody>
          <a:bodyPr/>
          <a:lstStyle/>
          <a:p>
            <a:r>
              <a:rPr lang="en-US" dirty="0"/>
              <a:t>The protection of Controlled Unclassified Information while residing in nonfederal information systems and organizations is of paramount importance to federal agencies and can directly impact the ability of the federal government to successfully carry out its designated missions and business operations. </a:t>
            </a:r>
          </a:p>
          <a:p>
            <a:r>
              <a:rPr lang="en-US" dirty="0"/>
              <a:t>--NIST Special Publication 800-171</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5</a:t>
            </a:fld>
            <a:endParaRPr lang="en-US" altLang="zh-CN"/>
          </a:p>
        </p:txBody>
      </p:sp>
    </p:spTree>
    <p:extLst>
      <p:ext uri="{BB962C8B-B14F-4D97-AF65-F5344CB8AC3E}">
        <p14:creationId xmlns:p14="http://schemas.microsoft.com/office/powerpoint/2010/main" val="2219263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How to Identify CUI</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p:txBody>
          <a:bodyPr/>
          <a:lstStyle/>
          <a:p>
            <a:r>
              <a:rPr lang="en-US" dirty="0"/>
              <a:t>If it is not clear, the nonfederal organization should ASK the federal organization.</a:t>
            </a:r>
          </a:p>
          <a:p>
            <a:endParaRPr lang="en-US" dirty="0"/>
          </a:p>
          <a:p>
            <a:r>
              <a:rPr lang="en-US" dirty="0"/>
              <a:t>Identify a contract or grant as having CUI by the inclusion of the following clauses within the contract: </a:t>
            </a:r>
          </a:p>
          <a:p>
            <a:pPr lvl="1"/>
            <a:r>
              <a:rPr lang="en-US" sz="2400" dirty="0"/>
              <a:t>FAR (</a:t>
            </a:r>
            <a:r>
              <a:rPr lang="en-US" sz="2400" dirty="0">
                <a:ea typeface="+mn-ea"/>
                <a:cs typeface="+mn-cs"/>
              </a:rPr>
              <a:t>Federal Acquisition Regulation</a:t>
            </a:r>
            <a:r>
              <a:rPr lang="en-US" sz="2400" dirty="0"/>
              <a:t>) Clauses 52.204-2, 52.204-21, and any others that may require compliance. </a:t>
            </a:r>
          </a:p>
          <a:p>
            <a:pPr lvl="1"/>
            <a:r>
              <a:rPr lang="en-US" sz="2400" dirty="0"/>
              <a:t>DFARS (</a:t>
            </a:r>
            <a:r>
              <a:rPr lang="en-US" sz="2400" dirty="0">
                <a:ea typeface="+mn-ea"/>
                <a:cs typeface="+mn-cs"/>
              </a:rPr>
              <a:t>Defense Federal Acquisition Regulation Supplement</a:t>
            </a:r>
            <a:r>
              <a:rPr lang="en-US" sz="2400" dirty="0"/>
              <a:t>) Clauses 252.204-7008, 252.204-7009, 252.204-7012, 252.204-7019 and any others that may require compliance.</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6</a:t>
            </a:fld>
            <a:endParaRPr lang="en-US" altLang="zh-CN"/>
          </a:p>
        </p:txBody>
      </p:sp>
    </p:spTree>
    <p:extLst>
      <p:ext uri="{BB962C8B-B14F-4D97-AF65-F5344CB8AC3E}">
        <p14:creationId xmlns:p14="http://schemas.microsoft.com/office/powerpoint/2010/main" val="2159157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CUI Example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r>
              <a:rPr lang="en-US" sz="2000" dirty="0"/>
              <a:t>The National Archives CUI Registry identifies the information considered to be CUI by category/subcategories. A non-exhaustive list of categories includes: </a:t>
            </a:r>
          </a:p>
          <a:p>
            <a:pPr lvl="1"/>
            <a:r>
              <a:rPr lang="en-US" sz="2000" dirty="0"/>
              <a:t>Controlled technical information with military or space application</a:t>
            </a:r>
          </a:p>
          <a:p>
            <a:pPr lvl="1"/>
            <a:r>
              <a:rPr lang="en-US" sz="2000" dirty="0"/>
              <a:t> Critical infrastructure information (e.g., energy infrastructure, water systems, etc.) </a:t>
            </a:r>
          </a:p>
          <a:p>
            <a:pPr lvl="1"/>
            <a:r>
              <a:rPr lang="en-US" sz="2000" dirty="0"/>
              <a:t>Export controlled information or materials used in research </a:t>
            </a:r>
          </a:p>
          <a:p>
            <a:pPr lvl="1"/>
            <a:r>
              <a:rPr lang="en-US" sz="2000" dirty="0"/>
              <a:t>Nuclear information related to protecting reactors, materials, or security </a:t>
            </a:r>
          </a:p>
          <a:p>
            <a:pPr lvl="1"/>
            <a:r>
              <a:rPr lang="en-US" sz="2000" dirty="0"/>
              <a:t>Statistical information (e.g., U.S. Census) </a:t>
            </a:r>
          </a:p>
          <a:p>
            <a:pPr lvl="1"/>
            <a:r>
              <a:rPr lang="en-US" sz="2000" dirty="0"/>
              <a:t>Transportation information (e.g., railroad safety, etc.) </a:t>
            </a:r>
          </a:p>
          <a:p>
            <a:pPr lvl="1"/>
            <a:endParaRPr lang="en-US" sz="2000" dirty="0"/>
          </a:p>
          <a:p>
            <a:r>
              <a:rPr lang="en-US" sz="2000" dirty="0"/>
              <a:t>Research data and other project information that a research team receives, possesses, or creates during the performance of federally funded research may also be CUI. </a:t>
            </a:r>
          </a:p>
          <a:p>
            <a:r>
              <a:rPr lang="en-US" sz="2000" dirty="0"/>
              <a:t>The CUI Registry is the authoritative online repository for information, policy, requirements and guidance on handling CUI.</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7</a:t>
            </a:fld>
            <a:endParaRPr lang="en-US" altLang="zh-CN"/>
          </a:p>
        </p:txBody>
      </p:sp>
    </p:spTree>
    <p:extLst>
      <p:ext uri="{BB962C8B-B14F-4D97-AF65-F5344CB8AC3E}">
        <p14:creationId xmlns:p14="http://schemas.microsoft.com/office/powerpoint/2010/main" val="244718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Protection of CUI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r>
              <a:rPr lang="en-US" sz="2000" dirty="0"/>
              <a:t>Physical Protection measures: </a:t>
            </a:r>
          </a:p>
          <a:p>
            <a:pPr lvl="1"/>
            <a:r>
              <a:rPr lang="en-US" sz="2000" dirty="0"/>
              <a:t>Use proper disposal and destruction methods </a:t>
            </a:r>
          </a:p>
          <a:p>
            <a:pPr lvl="2"/>
            <a:r>
              <a:rPr lang="en-US" dirty="0"/>
              <a:t>Destruction Bags (If used, maintain positive control at all times) </a:t>
            </a:r>
          </a:p>
          <a:p>
            <a:pPr lvl="2"/>
            <a:r>
              <a:rPr lang="en-US" dirty="0"/>
              <a:t>Shredders </a:t>
            </a:r>
          </a:p>
          <a:p>
            <a:pPr lvl="2"/>
            <a:endParaRPr lang="en-US" dirty="0"/>
          </a:p>
          <a:p>
            <a:r>
              <a:rPr lang="en-US" sz="2000" dirty="0"/>
              <a:t>Use data encryption for internal and external transmittal </a:t>
            </a:r>
          </a:p>
          <a:p>
            <a:endParaRPr lang="en-US" sz="2000" dirty="0"/>
          </a:p>
          <a:p>
            <a:r>
              <a:rPr lang="en-US" sz="2000" dirty="0"/>
              <a:t>Use password protected screensavers (Always lock your system when leaving your work area) </a:t>
            </a:r>
          </a:p>
          <a:p>
            <a:endParaRPr lang="en-US" sz="2000" dirty="0"/>
          </a:p>
          <a:p>
            <a:r>
              <a:rPr lang="en-US" sz="2000" dirty="0"/>
              <a:t>When possible, encryption should be implemented on systems containing this information</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8</a:t>
            </a:fld>
            <a:endParaRPr lang="en-US" altLang="zh-CN" dirty="0"/>
          </a:p>
        </p:txBody>
      </p:sp>
    </p:spTree>
    <p:extLst>
      <p:ext uri="{BB962C8B-B14F-4D97-AF65-F5344CB8AC3E}">
        <p14:creationId xmlns:p14="http://schemas.microsoft.com/office/powerpoint/2010/main" val="481822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What is NIST SP 800-171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r>
              <a:rPr lang="en-US" dirty="0"/>
              <a:t>The National Institute of Standards and Technology (NIST) Special Publication 800-171 defines 110 security requirements (controls) required to protect CUI in nonfederal information systems and organizations. </a:t>
            </a:r>
          </a:p>
          <a:p>
            <a:endParaRPr lang="en-US" dirty="0"/>
          </a:p>
          <a:p>
            <a:r>
              <a:rPr lang="en-US" dirty="0"/>
              <a:t>The requirements apply only to components of nonfederal information systems that process, store, or transmit CUI, or provide security protection for such components.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9</a:t>
            </a:fld>
            <a:endParaRPr lang="en-US" altLang="zh-CN" dirty="0"/>
          </a:p>
        </p:txBody>
      </p:sp>
    </p:spTree>
    <p:extLst>
      <p:ext uri="{BB962C8B-B14F-4D97-AF65-F5344CB8AC3E}">
        <p14:creationId xmlns:p14="http://schemas.microsoft.com/office/powerpoint/2010/main" val="715801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46386" y="152400"/>
            <a:ext cx="7772400" cy="762000"/>
          </a:xfrm>
        </p:spPr>
        <p:txBody>
          <a:bodyPr/>
          <a:lstStyle/>
          <a:p>
            <a:r>
              <a:rPr lang="en-US" dirty="0"/>
              <a:t>What is NIST SP 800-171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17786" y="1066800"/>
            <a:ext cx="8229600" cy="4724400"/>
          </a:xfrm>
        </p:spPr>
        <p:txBody>
          <a:bodyPr/>
          <a:lstStyle/>
          <a:p>
            <a:r>
              <a:rPr lang="en-US" sz="2000" dirty="0"/>
              <a:t>The protection of Controlled Unclassified Information (CUI) resident in nonfederal systems and organizations is of paramount importance to federal agencies and can directly impact the ability of the federal government to successfully conduct its essential missions and functions. This publication provides agencies with recommended security requirements for protecting the</a:t>
            </a:r>
            <a:r>
              <a:rPr lang="en-US" sz="2000" dirty="0">
                <a:solidFill>
                  <a:srgbClr val="C00000"/>
                </a:solidFill>
              </a:rPr>
              <a:t> confidentiality of CUI </a:t>
            </a:r>
            <a:r>
              <a:rPr lang="en-US" sz="2000" dirty="0"/>
              <a:t>when the information is resident in nonfederal systems and organizations; when the nonfederal organization is not collecting or maintaining information on behalf of a federal agency or using or operating a system on behalf of an agency; and where there are no specific safeguarding requirements for protecting the confidentiality of CUI prescribed by the authorizing law, regulation, or governmentwide policy for the CUI category listed in the CUI Registry. The requirements apply to all components of nonfederal systems and organizations that process, store, and/or transmit CUI, or that provide protection for such components. The security requirements are intended for use by federal agencies in contractual vehicles or other agreements established between those agencies and nonfederal organizations.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10</a:t>
            </a:fld>
            <a:endParaRPr lang="en-US" altLang="zh-CN"/>
          </a:p>
        </p:txBody>
      </p:sp>
    </p:spTree>
    <p:extLst>
      <p:ext uri="{BB962C8B-B14F-4D97-AF65-F5344CB8AC3E}">
        <p14:creationId xmlns:p14="http://schemas.microsoft.com/office/powerpoint/2010/main" val="3909598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What is NIST SP 800-171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r>
              <a:rPr lang="en-US" sz="2000" dirty="0"/>
              <a:t>Non-compliance with NIST SP 800-171 has serious consequences for University federal funding research projects. </a:t>
            </a:r>
          </a:p>
          <a:p>
            <a:endParaRPr lang="en-US" sz="2000" dirty="0"/>
          </a:p>
          <a:p>
            <a:r>
              <a:rPr lang="en-US" sz="2000" dirty="0"/>
              <a:t>Failure to address NIST SP 800-171 compliance requirements could potentially result in sanctions or debarment imposed on the University which would prevent future awards of grants or contracts; suspension or termination of existing contracts; and claims of default or breach of contract resulting in potential litigation. In addition, non-compliance can impair the university’s reputation as a trusted custodian of sensitive data.</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11</a:t>
            </a:fld>
            <a:endParaRPr lang="en-US" altLang="zh-CN" dirty="0"/>
          </a:p>
        </p:txBody>
      </p:sp>
    </p:spTree>
    <p:extLst>
      <p:ext uri="{BB962C8B-B14F-4D97-AF65-F5344CB8AC3E}">
        <p14:creationId xmlns:p14="http://schemas.microsoft.com/office/powerpoint/2010/main" val="242806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Security Requirements in NIST SP 800-171 </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12</a:t>
            </a:fld>
            <a:endParaRPr lang="en-US" altLang="zh-CN" dirty="0"/>
          </a:p>
        </p:txBody>
      </p:sp>
      <p:graphicFrame>
        <p:nvGraphicFramePr>
          <p:cNvPr id="6" name="Table 7">
            <a:extLst>
              <a:ext uri="{FF2B5EF4-FFF2-40B4-BE49-F238E27FC236}">
                <a16:creationId xmlns:a16="http://schemas.microsoft.com/office/drawing/2014/main" id="{7325C797-4C01-546E-C252-09DAE8443D22}"/>
              </a:ext>
            </a:extLst>
          </p:cNvPr>
          <p:cNvGraphicFramePr>
            <a:graphicFrameLocks noGrp="1"/>
          </p:cNvGraphicFramePr>
          <p:nvPr>
            <p:ph idx="1"/>
            <p:extLst>
              <p:ext uri="{D42A27DB-BD31-4B8C-83A1-F6EECF244321}">
                <p14:modId xmlns:p14="http://schemas.microsoft.com/office/powerpoint/2010/main" val="4075200598"/>
              </p:ext>
            </p:extLst>
          </p:nvPr>
        </p:nvGraphicFramePr>
        <p:xfrm>
          <a:off x="457200" y="2212340"/>
          <a:ext cx="8229600" cy="34747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646642827"/>
                    </a:ext>
                  </a:extLst>
                </a:gridCol>
                <a:gridCol w="4114800">
                  <a:extLst>
                    <a:ext uri="{9D8B030D-6E8A-4147-A177-3AD203B41FA5}">
                      <a16:colId xmlns:a16="http://schemas.microsoft.com/office/drawing/2014/main" val="3589056529"/>
                    </a:ext>
                  </a:extLst>
                </a:gridCol>
              </a:tblGrid>
              <a:tr h="370840">
                <a:tc>
                  <a:txBody>
                    <a:bodyPr/>
                    <a:lstStyle/>
                    <a:p>
                      <a:r>
                        <a:rPr lang="en-US" sz="2000" dirty="0"/>
                        <a:t>Family</a:t>
                      </a:r>
                    </a:p>
                  </a:txBody>
                  <a:tcPr/>
                </a:tc>
                <a:tc>
                  <a:txBody>
                    <a:bodyPr/>
                    <a:lstStyle/>
                    <a:p>
                      <a:r>
                        <a:rPr lang="en-US" sz="2000" dirty="0"/>
                        <a:t>Family</a:t>
                      </a:r>
                    </a:p>
                  </a:txBody>
                  <a:tcPr/>
                </a:tc>
                <a:extLst>
                  <a:ext uri="{0D108BD9-81ED-4DB2-BD59-A6C34878D82A}">
                    <a16:rowId xmlns:a16="http://schemas.microsoft.com/office/drawing/2014/main" val="4105401289"/>
                  </a:ext>
                </a:extLst>
              </a:tr>
              <a:tr h="370840">
                <a:tc>
                  <a:txBody>
                    <a:bodyPr/>
                    <a:lstStyle/>
                    <a:p>
                      <a:r>
                        <a:rPr lang="en-US" sz="2000" dirty="0"/>
                        <a:t>Access Control</a:t>
                      </a:r>
                    </a:p>
                  </a:txBody>
                  <a:tcPr/>
                </a:tc>
                <a:tc>
                  <a:txBody>
                    <a:bodyPr/>
                    <a:lstStyle/>
                    <a:p>
                      <a:r>
                        <a:rPr lang="en-US" sz="2000" dirty="0"/>
                        <a:t>Media Protection</a:t>
                      </a:r>
                    </a:p>
                  </a:txBody>
                  <a:tcPr/>
                </a:tc>
                <a:extLst>
                  <a:ext uri="{0D108BD9-81ED-4DB2-BD59-A6C34878D82A}">
                    <a16:rowId xmlns:a16="http://schemas.microsoft.com/office/drawing/2014/main" val="4237513340"/>
                  </a:ext>
                </a:extLst>
              </a:tr>
              <a:tr h="370840">
                <a:tc>
                  <a:txBody>
                    <a:bodyPr/>
                    <a:lstStyle/>
                    <a:p>
                      <a:r>
                        <a:rPr lang="en-US" sz="2000" dirty="0"/>
                        <a:t>Awareness and Training</a:t>
                      </a:r>
                    </a:p>
                  </a:txBody>
                  <a:tcPr/>
                </a:tc>
                <a:tc>
                  <a:txBody>
                    <a:bodyPr/>
                    <a:lstStyle/>
                    <a:p>
                      <a:r>
                        <a:rPr lang="en-US" sz="2000" dirty="0"/>
                        <a:t>Personnel Security</a:t>
                      </a:r>
                    </a:p>
                  </a:txBody>
                  <a:tcPr/>
                </a:tc>
                <a:extLst>
                  <a:ext uri="{0D108BD9-81ED-4DB2-BD59-A6C34878D82A}">
                    <a16:rowId xmlns:a16="http://schemas.microsoft.com/office/drawing/2014/main" val="2279573256"/>
                  </a:ext>
                </a:extLst>
              </a:tr>
              <a:tr h="370840">
                <a:tc>
                  <a:txBody>
                    <a:bodyPr/>
                    <a:lstStyle/>
                    <a:p>
                      <a:r>
                        <a:rPr lang="en-US" sz="2000" dirty="0"/>
                        <a:t>Audit and Accountability</a:t>
                      </a:r>
                    </a:p>
                  </a:txBody>
                  <a:tcPr/>
                </a:tc>
                <a:tc>
                  <a:txBody>
                    <a:bodyPr/>
                    <a:lstStyle/>
                    <a:p>
                      <a:r>
                        <a:rPr lang="en-US" sz="2000" dirty="0"/>
                        <a:t>Physical Protection</a:t>
                      </a:r>
                    </a:p>
                  </a:txBody>
                  <a:tcPr/>
                </a:tc>
                <a:extLst>
                  <a:ext uri="{0D108BD9-81ED-4DB2-BD59-A6C34878D82A}">
                    <a16:rowId xmlns:a16="http://schemas.microsoft.com/office/drawing/2014/main" val="1553935126"/>
                  </a:ext>
                </a:extLst>
              </a:tr>
              <a:tr h="370840">
                <a:tc>
                  <a:txBody>
                    <a:bodyPr/>
                    <a:lstStyle/>
                    <a:p>
                      <a:r>
                        <a:rPr lang="en-US" sz="2000" dirty="0"/>
                        <a:t>Configuration Management</a:t>
                      </a:r>
                    </a:p>
                  </a:txBody>
                  <a:tcPr/>
                </a:tc>
                <a:tc>
                  <a:txBody>
                    <a:bodyPr/>
                    <a:lstStyle/>
                    <a:p>
                      <a:r>
                        <a:rPr lang="en-US" sz="2000" dirty="0"/>
                        <a:t>Risk Assessment</a:t>
                      </a:r>
                    </a:p>
                  </a:txBody>
                  <a:tcPr/>
                </a:tc>
                <a:extLst>
                  <a:ext uri="{0D108BD9-81ED-4DB2-BD59-A6C34878D82A}">
                    <a16:rowId xmlns:a16="http://schemas.microsoft.com/office/drawing/2014/main" val="3205250018"/>
                  </a:ext>
                </a:extLst>
              </a:tr>
              <a:tr h="370840">
                <a:tc>
                  <a:txBody>
                    <a:bodyPr/>
                    <a:lstStyle/>
                    <a:p>
                      <a:r>
                        <a:rPr lang="en-US" sz="2000" dirty="0"/>
                        <a:t>Identification and Authentication</a:t>
                      </a:r>
                    </a:p>
                  </a:txBody>
                  <a:tcPr/>
                </a:tc>
                <a:tc>
                  <a:txBody>
                    <a:bodyPr/>
                    <a:lstStyle/>
                    <a:p>
                      <a:r>
                        <a:rPr lang="en-US" sz="2000" dirty="0"/>
                        <a:t>Security Assessment</a:t>
                      </a:r>
                    </a:p>
                  </a:txBody>
                  <a:tcPr/>
                </a:tc>
                <a:extLst>
                  <a:ext uri="{0D108BD9-81ED-4DB2-BD59-A6C34878D82A}">
                    <a16:rowId xmlns:a16="http://schemas.microsoft.com/office/drawing/2014/main" val="3779224963"/>
                  </a:ext>
                </a:extLst>
              </a:tr>
              <a:tr h="370840">
                <a:tc>
                  <a:txBody>
                    <a:bodyPr/>
                    <a:lstStyle/>
                    <a:p>
                      <a:r>
                        <a:rPr lang="en-US" sz="2000" dirty="0"/>
                        <a:t>Incident Response</a:t>
                      </a:r>
                    </a:p>
                  </a:txBody>
                  <a:tcPr/>
                </a:tc>
                <a:tc>
                  <a:txBody>
                    <a:bodyPr/>
                    <a:lstStyle/>
                    <a:p>
                      <a:r>
                        <a:rPr lang="en-US" sz="2000" dirty="0"/>
                        <a:t>System and Communications Protection</a:t>
                      </a:r>
                    </a:p>
                  </a:txBody>
                  <a:tcPr/>
                </a:tc>
                <a:extLst>
                  <a:ext uri="{0D108BD9-81ED-4DB2-BD59-A6C34878D82A}">
                    <a16:rowId xmlns:a16="http://schemas.microsoft.com/office/drawing/2014/main" val="1723878278"/>
                  </a:ext>
                </a:extLst>
              </a:tr>
              <a:tr h="370840">
                <a:tc>
                  <a:txBody>
                    <a:bodyPr/>
                    <a:lstStyle/>
                    <a:p>
                      <a:r>
                        <a:rPr lang="en-US" sz="2000" dirty="0"/>
                        <a:t>Maintenance</a:t>
                      </a:r>
                    </a:p>
                  </a:txBody>
                  <a:tcPr/>
                </a:tc>
                <a:tc>
                  <a:txBody>
                    <a:bodyPr/>
                    <a:lstStyle/>
                    <a:p>
                      <a:r>
                        <a:rPr lang="en-US" sz="2000" dirty="0"/>
                        <a:t>System and Information Integrity</a:t>
                      </a:r>
                    </a:p>
                  </a:txBody>
                  <a:tcPr/>
                </a:tc>
                <a:extLst>
                  <a:ext uri="{0D108BD9-81ED-4DB2-BD59-A6C34878D82A}">
                    <a16:rowId xmlns:a16="http://schemas.microsoft.com/office/drawing/2014/main" val="1481814350"/>
                  </a:ext>
                </a:extLst>
              </a:tr>
            </a:tbl>
          </a:graphicData>
        </a:graphic>
      </p:graphicFrame>
      <p:sp>
        <p:nvSpPr>
          <p:cNvPr id="8" name="TextBox 7">
            <a:extLst>
              <a:ext uri="{FF2B5EF4-FFF2-40B4-BE49-F238E27FC236}">
                <a16:creationId xmlns:a16="http://schemas.microsoft.com/office/drawing/2014/main" id="{4677F9CA-966B-A583-ECE3-2CAD4904FE6F}"/>
              </a:ext>
            </a:extLst>
          </p:cNvPr>
          <p:cNvSpPr txBox="1"/>
          <p:nvPr/>
        </p:nvSpPr>
        <p:spPr>
          <a:xfrm>
            <a:off x="1522370" y="1463593"/>
            <a:ext cx="5291833" cy="584775"/>
          </a:xfrm>
          <a:prstGeom prst="rect">
            <a:avLst/>
          </a:prstGeom>
          <a:noFill/>
        </p:spPr>
        <p:txBody>
          <a:bodyPr wrap="none" rtlCol="0">
            <a:spAutoFit/>
          </a:bodyPr>
          <a:lstStyle/>
          <a:p>
            <a:r>
              <a:rPr lang="en-US" sz="3200" dirty="0"/>
              <a:t>Security Requirement Families</a:t>
            </a:r>
          </a:p>
        </p:txBody>
      </p:sp>
    </p:spTree>
    <p:extLst>
      <p:ext uri="{BB962C8B-B14F-4D97-AF65-F5344CB8AC3E}">
        <p14:creationId xmlns:p14="http://schemas.microsoft.com/office/powerpoint/2010/main" val="3424612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Requirements in NIST SP 800-171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endParaRPr lang="en-US" sz="1600" dirty="0"/>
          </a:p>
          <a:p>
            <a:r>
              <a:rPr lang="en-US" sz="1600" dirty="0"/>
              <a:t>3.1 Access Control</a:t>
            </a:r>
          </a:p>
          <a:p>
            <a:r>
              <a:rPr lang="en-US" sz="1600" dirty="0"/>
              <a:t>3.2 Awareness and Training </a:t>
            </a:r>
          </a:p>
          <a:p>
            <a:r>
              <a:rPr lang="en-US" sz="1600" dirty="0"/>
              <a:t>3.3 Audit and Accountability</a:t>
            </a:r>
          </a:p>
          <a:p>
            <a:r>
              <a:rPr lang="en-US" sz="1600" dirty="0"/>
              <a:t>3.4 Configuration Management</a:t>
            </a:r>
          </a:p>
          <a:p>
            <a:r>
              <a:rPr lang="en-US" sz="1600" dirty="0"/>
              <a:t> 3.5 Identification and Authentication</a:t>
            </a:r>
          </a:p>
          <a:p>
            <a:r>
              <a:rPr lang="en-US" sz="1600" dirty="0"/>
              <a:t>3.6 Incident Response</a:t>
            </a:r>
          </a:p>
          <a:p>
            <a:r>
              <a:rPr lang="en-US" sz="1600" dirty="0"/>
              <a:t>3.7 Maintenance </a:t>
            </a:r>
          </a:p>
          <a:p>
            <a:r>
              <a:rPr lang="en-US" sz="1600" dirty="0"/>
              <a:t>3.8 Media Protection</a:t>
            </a:r>
          </a:p>
          <a:p>
            <a:r>
              <a:rPr lang="en-US" sz="1600" dirty="0"/>
              <a:t>3.9 Personnel Security</a:t>
            </a:r>
          </a:p>
          <a:p>
            <a:r>
              <a:rPr lang="en-US" sz="1600" dirty="0"/>
              <a:t>3.10. Physical Protection</a:t>
            </a:r>
          </a:p>
          <a:p>
            <a:r>
              <a:rPr lang="en-US" sz="1600" dirty="0"/>
              <a:t>3.11 Risk Assessment</a:t>
            </a:r>
          </a:p>
          <a:p>
            <a:r>
              <a:rPr lang="en-US" sz="1600" dirty="0"/>
              <a:t>3.12 Security Assessment</a:t>
            </a:r>
          </a:p>
          <a:p>
            <a:r>
              <a:rPr lang="en-US" sz="1600" dirty="0"/>
              <a:t>3.13 System and Communications Protection</a:t>
            </a:r>
          </a:p>
          <a:p>
            <a:r>
              <a:rPr lang="en-US" sz="1600" dirty="0"/>
              <a:t>3.14 System and Information Integrity</a:t>
            </a:r>
          </a:p>
          <a:p>
            <a:endParaRPr lang="en-US" sz="1600" dirty="0"/>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13</a:t>
            </a:fld>
            <a:endParaRPr lang="en-US" altLang="zh-CN" dirty="0"/>
          </a:p>
        </p:txBody>
      </p:sp>
    </p:spTree>
    <p:extLst>
      <p:ext uri="{BB962C8B-B14F-4D97-AF65-F5344CB8AC3E}">
        <p14:creationId xmlns:p14="http://schemas.microsoft.com/office/powerpoint/2010/main" val="3702492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Access Control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r>
              <a:rPr lang="en-US" sz="1800" dirty="0"/>
              <a:t>3.1. Access Control</a:t>
            </a:r>
          </a:p>
          <a:p>
            <a:endParaRPr lang="en-US" sz="1800" dirty="0"/>
          </a:p>
          <a:p>
            <a:r>
              <a:rPr lang="en-US" sz="1800" dirty="0"/>
              <a:t>3.1.1: Limit system access to authorized users, processes acting on behalf of authorized users, and devices (including other systems).</a:t>
            </a:r>
          </a:p>
          <a:p>
            <a:pPr lvl="1"/>
            <a:r>
              <a:rPr lang="en-US" sz="1800" dirty="0"/>
              <a:t>Access enforcement mechanisms can be employed at the application and service level to provide increased information security.</a:t>
            </a:r>
          </a:p>
          <a:p>
            <a:pPr lvl="1"/>
            <a:endParaRPr lang="en-US" sz="1800" dirty="0"/>
          </a:p>
          <a:p>
            <a:r>
              <a:rPr lang="en-US" sz="1800" dirty="0"/>
              <a:t>3.1.2. Limit system access to the types of transactions and functions that authorized users are permitted to execute.</a:t>
            </a:r>
          </a:p>
          <a:p>
            <a:pPr lvl="1"/>
            <a:endParaRPr lang="en-US" sz="1800" dirty="0"/>
          </a:p>
          <a:p>
            <a:pPr lvl="1"/>
            <a:endParaRPr lang="en-US" sz="1800" dirty="0"/>
          </a:p>
          <a:p>
            <a:r>
              <a:rPr lang="en-US" sz="1800" dirty="0"/>
              <a:t>3.1.3: Control the flow of CUI in accordance with approved authorizations.</a:t>
            </a:r>
          </a:p>
          <a:p>
            <a:pPr lvl="1"/>
            <a:r>
              <a:rPr lang="en-US" sz="1800" dirty="0"/>
              <a:t>keeping export controlled information from being transmitted in the clear to the Internet; blocking outside traffic that claims to be from within the organization; restricting requests to the Internet that are not from the internal web proxy server; and limiting information transfers between organizations based on data structures and content.</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14</a:t>
            </a:fld>
            <a:endParaRPr lang="en-US" altLang="zh-CN" dirty="0"/>
          </a:p>
        </p:txBody>
      </p:sp>
    </p:spTree>
    <p:extLst>
      <p:ext uri="{BB962C8B-B14F-4D97-AF65-F5344CB8AC3E}">
        <p14:creationId xmlns:p14="http://schemas.microsoft.com/office/powerpoint/2010/main" val="2622746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Access Control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7"/>
            <a:ext cx="8229600" cy="4724400"/>
          </a:xfrm>
        </p:spPr>
        <p:txBody>
          <a:bodyPr/>
          <a:lstStyle/>
          <a:p>
            <a:r>
              <a:rPr lang="en-US" sz="2000" dirty="0"/>
              <a:t>3.1.4: Separate the duties of individuals to reduce the risk of malevolent activity without collusion.</a:t>
            </a:r>
          </a:p>
          <a:p>
            <a:pPr lvl="1"/>
            <a:r>
              <a:rPr lang="en-US" sz="2000" dirty="0"/>
              <a:t>For example: ensuring that security personnel administering access control functions do not also administer audit functions.</a:t>
            </a:r>
          </a:p>
          <a:p>
            <a:pPr lvl="1"/>
            <a:endParaRPr lang="en-US" sz="2000" dirty="0"/>
          </a:p>
          <a:p>
            <a:r>
              <a:rPr lang="en-US" sz="2000" dirty="0"/>
              <a:t>3.1.5: Employ the principle of least privilege, including for specific security functions and privileged accounts</a:t>
            </a:r>
          </a:p>
          <a:p>
            <a:pPr lvl="1"/>
            <a:r>
              <a:rPr lang="en-US" sz="2000" dirty="0"/>
              <a:t>Restricting privileged accounts to specific personnel or roles prevents day-to-day users from having access to privileged information or functions. </a:t>
            </a:r>
          </a:p>
          <a:p>
            <a:endParaRPr lang="en-US" sz="2000" dirty="0"/>
          </a:p>
          <a:p>
            <a:r>
              <a:rPr lang="en-US" sz="2000" dirty="0"/>
              <a:t>3.1.6: Use non-privileged accounts or roles when accessing </a:t>
            </a:r>
            <a:r>
              <a:rPr lang="en-US" sz="2000" dirty="0" err="1"/>
              <a:t>nonsecurity</a:t>
            </a:r>
            <a:r>
              <a:rPr lang="en-US" sz="2000" dirty="0"/>
              <a:t> functions.</a:t>
            </a:r>
          </a:p>
          <a:p>
            <a:endParaRPr lang="en-US" sz="2000" dirty="0"/>
          </a:p>
          <a:p>
            <a:r>
              <a:rPr lang="en-US" sz="2000" dirty="0"/>
              <a:t>3.1.7. Prevent non-privileged users from executing privileged functions and capture the execution of such functions in audit logs.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15</a:t>
            </a:fld>
            <a:endParaRPr lang="en-US" altLang="zh-CN" dirty="0"/>
          </a:p>
        </p:txBody>
      </p:sp>
    </p:spTree>
    <p:extLst>
      <p:ext uri="{BB962C8B-B14F-4D97-AF65-F5344CB8AC3E}">
        <p14:creationId xmlns:p14="http://schemas.microsoft.com/office/powerpoint/2010/main" val="1572536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Access Control </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457200" y="1030356"/>
            <a:ext cx="8153400" cy="5294243"/>
          </a:xfrm>
        </p:spPr>
        <p:txBody>
          <a:bodyPr/>
          <a:lstStyle/>
          <a:p>
            <a:r>
              <a:rPr lang="en-US" sz="2000" dirty="0"/>
              <a:t>3.1.8:Limit unsuccessful logon attempts.</a:t>
            </a:r>
          </a:p>
          <a:p>
            <a:endParaRPr lang="en-US" sz="2000" dirty="0"/>
          </a:p>
          <a:p>
            <a:r>
              <a:rPr lang="en-US" sz="2000" dirty="0"/>
              <a:t>3.1.12 Monitor and control remote access sessions.</a:t>
            </a:r>
          </a:p>
          <a:p>
            <a:endParaRPr lang="en-US" sz="2000" dirty="0"/>
          </a:p>
          <a:p>
            <a:r>
              <a:rPr lang="en-US" sz="2000" dirty="0"/>
              <a:t>3.1.13 Employ cryptographic mechanisms to protect the confidentiality of remote access sessions.</a:t>
            </a:r>
          </a:p>
          <a:p>
            <a:endParaRPr lang="en-US" sz="2000" dirty="0"/>
          </a:p>
          <a:p>
            <a:r>
              <a:rPr lang="en-US" sz="2000" dirty="0"/>
              <a:t>3.1.14 Route remote access via managed access control points.</a:t>
            </a:r>
          </a:p>
          <a:p>
            <a:endParaRPr lang="en-US" sz="2000" dirty="0"/>
          </a:p>
          <a:p>
            <a:r>
              <a:rPr lang="en-US" sz="2000" dirty="0"/>
              <a:t>3.1.15 Authorize remote execution of privileged commands and remote access to security-relevant information.</a:t>
            </a:r>
          </a:p>
          <a:p>
            <a:endParaRPr lang="en-US" sz="2000" dirty="0"/>
          </a:p>
          <a:p>
            <a:r>
              <a:rPr lang="en-US" sz="2000" dirty="0"/>
              <a:t>3.1.16 Authorize wireless access prior to allowing such connections.</a:t>
            </a:r>
          </a:p>
          <a:p>
            <a:endParaRPr lang="en-US" sz="2000" dirty="0"/>
          </a:p>
          <a:p>
            <a:r>
              <a:rPr lang="en-US" sz="2000" dirty="0"/>
              <a:t>3.1.17 Protect wireless access using authentication and encryption.</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16</a:t>
            </a:fld>
            <a:endParaRPr lang="en-US" altLang="zh-CN" dirty="0"/>
          </a:p>
        </p:txBody>
      </p:sp>
    </p:spTree>
    <p:extLst>
      <p:ext uri="{BB962C8B-B14F-4D97-AF65-F5344CB8AC3E}">
        <p14:creationId xmlns:p14="http://schemas.microsoft.com/office/powerpoint/2010/main" val="1714258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Awareness and Training</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25821" y="1370286"/>
            <a:ext cx="8229600" cy="4724400"/>
          </a:xfrm>
        </p:spPr>
        <p:txBody>
          <a:bodyPr/>
          <a:lstStyle/>
          <a:p>
            <a:r>
              <a:rPr lang="en-US" dirty="0"/>
              <a:t>3.2 AWARENESS AND TRAINING</a:t>
            </a:r>
          </a:p>
          <a:p>
            <a:endParaRPr lang="en-US" dirty="0"/>
          </a:p>
          <a:p>
            <a:r>
              <a:rPr lang="en-US" sz="2000" dirty="0"/>
              <a:t>3.2.1 Ensure that managers, systems administrators, and users of organizational systems are made aware of the security risks associated with their activities and of the applicable policies, standards, and procedures related to the security of those systems.</a:t>
            </a:r>
          </a:p>
          <a:p>
            <a:endParaRPr lang="en-US" sz="2000" dirty="0"/>
          </a:p>
          <a:p>
            <a:r>
              <a:rPr lang="en-US" sz="2000" dirty="0"/>
              <a:t>3.2.2 Ensure that personnel are trained to carry out their assigned information security-related duties and responsibilities.</a:t>
            </a:r>
          </a:p>
          <a:p>
            <a:endParaRPr lang="en-US" sz="2000" dirty="0"/>
          </a:p>
          <a:p>
            <a:r>
              <a:rPr lang="en-US" sz="2000" dirty="0"/>
              <a:t>3.2.3 Provide security awareness training on recognizing and reporting potential indicators of insider threat.</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17</a:t>
            </a:fld>
            <a:endParaRPr lang="en-US" altLang="zh-CN" dirty="0"/>
          </a:p>
        </p:txBody>
      </p:sp>
    </p:spTree>
    <p:extLst>
      <p:ext uri="{BB962C8B-B14F-4D97-AF65-F5344CB8AC3E}">
        <p14:creationId xmlns:p14="http://schemas.microsoft.com/office/powerpoint/2010/main" val="2653452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Audit and Accountability</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623391"/>
            <a:ext cx="8229600" cy="4724400"/>
          </a:xfrm>
        </p:spPr>
        <p:txBody>
          <a:bodyPr/>
          <a:lstStyle/>
          <a:p>
            <a:r>
              <a:rPr lang="en-US" dirty="0"/>
              <a:t>3.3 AUDIT AND ACCOUNTABILITY</a:t>
            </a:r>
          </a:p>
          <a:p>
            <a:endParaRPr lang="en-US" sz="2000" dirty="0"/>
          </a:p>
          <a:p>
            <a:r>
              <a:rPr lang="en-US" sz="2000" dirty="0"/>
              <a:t>3.3.1 Create and retain system audit logs and records to the extent needed to enable the monitoring, analysis, investigation, and reporting of unlawful or unauthorized system activity.</a:t>
            </a:r>
          </a:p>
          <a:p>
            <a:endParaRPr lang="en-US" sz="2000" dirty="0"/>
          </a:p>
          <a:p>
            <a:r>
              <a:rPr lang="en-US" sz="2000" dirty="0"/>
              <a:t>3.3.2 Ensure that the actions of individual system users can be uniquely traced to those users, so they can be held accountable for their actions.</a:t>
            </a:r>
          </a:p>
          <a:p>
            <a:endParaRPr lang="en-US" sz="2000" dirty="0"/>
          </a:p>
          <a:p>
            <a:r>
              <a:rPr lang="en-US" sz="2000" dirty="0"/>
              <a:t>3.3.8 Protect audit information and audit logging tools from unauthorized access, modification, and deletion.</a:t>
            </a:r>
          </a:p>
          <a:p>
            <a:endParaRPr lang="en-US" sz="2000" dirty="0"/>
          </a:p>
          <a:p>
            <a:r>
              <a:rPr lang="en-US" sz="2000" dirty="0"/>
              <a:t>3.3.9 Limit management of audit logging functionality to a subset of privileged users.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18</a:t>
            </a:fld>
            <a:endParaRPr lang="en-US" altLang="zh-CN" dirty="0"/>
          </a:p>
        </p:txBody>
      </p:sp>
    </p:spTree>
    <p:extLst>
      <p:ext uri="{BB962C8B-B14F-4D97-AF65-F5344CB8AC3E}">
        <p14:creationId xmlns:p14="http://schemas.microsoft.com/office/powerpoint/2010/main" val="1085491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450375" y="0"/>
            <a:ext cx="7772400" cy="762000"/>
          </a:xfrm>
        </p:spPr>
        <p:txBody>
          <a:bodyPr/>
          <a:lstStyle/>
          <a:p>
            <a:r>
              <a:rPr lang="en-US" dirty="0"/>
              <a:t>NIST SP 800-171 – Configuration Management</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81000" y="1117410"/>
            <a:ext cx="8363803" cy="5219700"/>
          </a:xfrm>
        </p:spPr>
        <p:txBody>
          <a:bodyPr/>
          <a:lstStyle/>
          <a:p>
            <a:r>
              <a:rPr lang="en-US" sz="2000" dirty="0"/>
              <a:t>3.4 CONFIGURATION MANAGEMENT</a:t>
            </a:r>
          </a:p>
          <a:p>
            <a:endParaRPr lang="en-US" sz="2000" dirty="0"/>
          </a:p>
          <a:p>
            <a:r>
              <a:rPr lang="en-US" sz="2000" dirty="0"/>
              <a:t>3.4.1 Establish and maintain baseline configurations and inventories of organizational systems (including hardware, software, firmware, and documentation) throughout the respective system development life cycles.</a:t>
            </a:r>
          </a:p>
          <a:p>
            <a:endParaRPr lang="en-US" sz="2000" dirty="0"/>
          </a:p>
          <a:p>
            <a:r>
              <a:rPr lang="en-US" sz="2000" dirty="0"/>
              <a:t>3.4.2 Establish and enforce security configuration settings for information technology products employed in organizational systems</a:t>
            </a:r>
          </a:p>
          <a:p>
            <a:endParaRPr lang="en-US" sz="2000" dirty="0"/>
          </a:p>
          <a:p>
            <a:r>
              <a:rPr lang="en-US" sz="2000" dirty="0"/>
              <a:t>3.4.3 Track, review, approve or disapprove, and log changes to organizational systems.</a:t>
            </a:r>
          </a:p>
          <a:p>
            <a:endParaRPr lang="en-US" sz="2000" dirty="0"/>
          </a:p>
          <a:p>
            <a:r>
              <a:rPr lang="en-US" sz="2000" dirty="0"/>
              <a:t>3.4.4 Analyze the security impact of changes prior to implementation.</a:t>
            </a:r>
          </a:p>
          <a:p>
            <a:endParaRPr lang="en-US" sz="2000" dirty="0"/>
          </a:p>
          <a:p>
            <a:r>
              <a:rPr lang="en-US" sz="2000" dirty="0"/>
              <a:t>3.4.6 Employ the principle of least functionality by configuring organizational systems to provide only essential capabilities.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19</a:t>
            </a:fld>
            <a:endParaRPr lang="en-US" altLang="zh-CN" dirty="0"/>
          </a:p>
        </p:txBody>
      </p:sp>
    </p:spTree>
    <p:extLst>
      <p:ext uri="{BB962C8B-B14F-4D97-AF65-F5344CB8AC3E}">
        <p14:creationId xmlns:p14="http://schemas.microsoft.com/office/powerpoint/2010/main" val="3076237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Identification and Authentication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623391"/>
            <a:ext cx="8229600" cy="4724400"/>
          </a:xfrm>
        </p:spPr>
        <p:txBody>
          <a:bodyPr/>
          <a:lstStyle/>
          <a:p>
            <a:r>
              <a:rPr lang="en-US" dirty="0"/>
              <a:t>3.5 IDENTIFICATION AND AUTHENTICATION</a:t>
            </a:r>
          </a:p>
          <a:p>
            <a:endParaRPr lang="en-US" dirty="0"/>
          </a:p>
          <a:p>
            <a:r>
              <a:rPr lang="en-US" sz="2000" dirty="0"/>
              <a:t>3.5.1 Identify system users, processes acting on behalf of users, and devices.</a:t>
            </a:r>
          </a:p>
          <a:p>
            <a:endParaRPr lang="en-US" sz="2000" dirty="0"/>
          </a:p>
          <a:p>
            <a:r>
              <a:rPr lang="en-US" sz="2000" dirty="0"/>
              <a:t>3.5.2 Authenticate (or verify) the identities of users, processes, or devices, as a prerequisite to allowing access to organizational systems.</a:t>
            </a:r>
          </a:p>
          <a:p>
            <a:endParaRPr lang="en-US" sz="2000" dirty="0"/>
          </a:p>
          <a:p>
            <a:r>
              <a:rPr lang="en-US" sz="2000" dirty="0"/>
              <a:t>3.5.3 Use multifactor authentication for local and network access to privileged accounts and for network access to non-privileged accounts.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20</a:t>
            </a:fld>
            <a:endParaRPr lang="en-US" altLang="zh-CN" dirty="0"/>
          </a:p>
        </p:txBody>
      </p:sp>
    </p:spTree>
    <p:extLst>
      <p:ext uri="{BB962C8B-B14F-4D97-AF65-F5344CB8AC3E}">
        <p14:creationId xmlns:p14="http://schemas.microsoft.com/office/powerpoint/2010/main" val="3729874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Incident Response</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623391"/>
            <a:ext cx="8229600" cy="4724400"/>
          </a:xfrm>
        </p:spPr>
        <p:txBody>
          <a:bodyPr/>
          <a:lstStyle/>
          <a:p>
            <a:r>
              <a:rPr lang="en-US" dirty="0"/>
              <a:t>3.6 INCIDENT RESPONSE</a:t>
            </a:r>
          </a:p>
          <a:p>
            <a:endParaRPr lang="en-US" dirty="0"/>
          </a:p>
          <a:p>
            <a:r>
              <a:rPr lang="en-US" sz="2000" dirty="0"/>
              <a:t>3.6.1 Establish an operational incident-handling capability for organizational systems that includes preparation, detection, analysis, containment, recovery, and user response activities.</a:t>
            </a:r>
          </a:p>
          <a:p>
            <a:endParaRPr lang="en-US" sz="2000" dirty="0"/>
          </a:p>
          <a:p>
            <a:r>
              <a:rPr lang="en-US" sz="2000" dirty="0"/>
              <a:t>3.6.2 Track, document, and report incidents to designated officials and/or authorities both internal and external to the organization.</a:t>
            </a:r>
          </a:p>
          <a:p>
            <a:endParaRPr lang="en-US" sz="2000" dirty="0"/>
          </a:p>
          <a:p>
            <a:r>
              <a:rPr lang="en-US" sz="2000" dirty="0"/>
              <a:t>3.6.3 Test the organizational incident response capability.</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21</a:t>
            </a:fld>
            <a:endParaRPr lang="en-US" altLang="zh-CN" dirty="0"/>
          </a:p>
        </p:txBody>
      </p:sp>
    </p:spTree>
    <p:extLst>
      <p:ext uri="{BB962C8B-B14F-4D97-AF65-F5344CB8AC3E}">
        <p14:creationId xmlns:p14="http://schemas.microsoft.com/office/powerpoint/2010/main" val="2307740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Maintenance</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623391"/>
            <a:ext cx="8229600" cy="4724400"/>
          </a:xfrm>
        </p:spPr>
        <p:txBody>
          <a:bodyPr/>
          <a:lstStyle/>
          <a:p>
            <a:r>
              <a:rPr lang="en-US" dirty="0"/>
              <a:t>3.7 MAINTENANCE</a:t>
            </a:r>
          </a:p>
          <a:p>
            <a:endParaRPr lang="en-US" dirty="0"/>
          </a:p>
          <a:p>
            <a:r>
              <a:rPr lang="en-US" sz="2000" dirty="0"/>
              <a:t>3.7.1 Perform maintenance on organizational systems.</a:t>
            </a:r>
          </a:p>
          <a:p>
            <a:endParaRPr lang="en-US" sz="2000" dirty="0"/>
          </a:p>
          <a:p>
            <a:r>
              <a:rPr lang="en-US" sz="2000" dirty="0"/>
              <a:t> DISCUSSION This requirement addresses the information security aspects of the system maintenance program and applies to all types of maintenance to any system component (including hardware, firmware, applications) conducted by any local or nonlocal entity. System maintenance also includes those components not directly associated with information processing and data or information retention such as scanners, copiers, and printers.</a:t>
            </a:r>
          </a:p>
          <a:p>
            <a:endParaRPr lang="en-US" sz="2000" dirty="0"/>
          </a:p>
          <a:p>
            <a:r>
              <a:rPr lang="en-US" sz="2000" dirty="0"/>
              <a:t>3.7.4 Check media containing diagnostic and test programs for malicious code before the media are used in organizational systems.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22</a:t>
            </a:fld>
            <a:endParaRPr lang="en-US" altLang="zh-CN" dirty="0"/>
          </a:p>
        </p:txBody>
      </p:sp>
    </p:spTree>
    <p:extLst>
      <p:ext uri="{BB962C8B-B14F-4D97-AF65-F5344CB8AC3E}">
        <p14:creationId xmlns:p14="http://schemas.microsoft.com/office/powerpoint/2010/main" val="1297757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Media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066800"/>
            <a:ext cx="8067261" cy="5280991"/>
          </a:xfrm>
        </p:spPr>
        <p:txBody>
          <a:bodyPr/>
          <a:lstStyle/>
          <a:p>
            <a:r>
              <a:rPr lang="en-US" dirty="0"/>
              <a:t>3.8 MEDIA PROTECTION</a:t>
            </a:r>
          </a:p>
          <a:p>
            <a:r>
              <a:rPr lang="en-US" sz="2000" dirty="0"/>
              <a:t>3.8.1Protect (i.e., physically control and securely store) system media containing CUI, both paper and digital.</a:t>
            </a:r>
          </a:p>
          <a:p>
            <a:r>
              <a:rPr lang="en-US" sz="2000" dirty="0"/>
              <a:t>System media includes digital and non-digital media. Digital media includes diskettes, magnetic tapes, external and removable hard disk drives, flash drives, compact disks, and digital video disks. Non-digital media includes paper and microfilm. Protecting digital media includes limiting access to design specifications stored on compact disks or flash drives in the media library to the project leader and any individuals on the development team. Physically controlling system media includes conducting inventories, maintaining accountability for stored media, and ensuring procedures are in place to allow individuals to check out and return media to the media library. Secure storage includes a locked drawer, desk, or cabinet, or a controlled media library. </a:t>
            </a:r>
          </a:p>
          <a:p>
            <a:r>
              <a:rPr lang="en-US" sz="2000" dirty="0"/>
              <a:t>Access to CUI on system media can be limited by physically controlling such media, which includes conducting inventories, ensuring procedures are in place to allow individuals to check out and return media to the media library, and maintaining accountability for all stored media.</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23</a:t>
            </a:fld>
            <a:endParaRPr lang="en-US" altLang="zh-CN" dirty="0"/>
          </a:p>
        </p:txBody>
      </p:sp>
    </p:spTree>
    <p:extLst>
      <p:ext uri="{BB962C8B-B14F-4D97-AF65-F5344CB8AC3E}">
        <p14:creationId xmlns:p14="http://schemas.microsoft.com/office/powerpoint/2010/main" val="124905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Media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623391"/>
            <a:ext cx="8229600" cy="4724400"/>
          </a:xfrm>
        </p:spPr>
        <p:txBody>
          <a:bodyPr/>
          <a:lstStyle/>
          <a:p>
            <a:r>
              <a:rPr lang="en-US" sz="2000" dirty="0"/>
              <a:t>3.8.3 Sanitize or destroy system media containing CUI before disposal or release for reuse.</a:t>
            </a:r>
          </a:p>
          <a:p>
            <a:endParaRPr lang="en-US" sz="2000" dirty="0"/>
          </a:p>
          <a:p>
            <a:r>
              <a:rPr lang="en-US" sz="2000" dirty="0"/>
              <a:t>The sanitization process removes information from the media such that the information cannot be retrieved or reconstructed. Sanitization techniques, including clearing, purging, cryptographic erase, and destruction, prevent the disclosure of information to unauthorized individuals when such media is released for reuse or disposal.</a:t>
            </a:r>
          </a:p>
          <a:p>
            <a:endParaRPr lang="en-US" sz="2000" dirty="0"/>
          </a:p>
          <a:p>
            <a:r>
              <a:rPr lang="en-US" sz="2000" dirty="0"/>
              <a:t>3.8.6 Implement cryptographic mechanisms to protect the confidentiality of CUI stored on digital media during transport unless otherwise protected by alternative physical safeguards.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24</a:t>
            </a:fld>
            <a:endParaRPr lang="en-US" altLang="zh-CN" dirty="0"/>
          </a:p>
        </p:txBody>
      </p:sp>
    </p:spTree>
    <p:extLst>
      <p:ext uri="{BB962C8B-B14F-4D97-AF65-F5344CB8AC3E}">
        <p14:creationId xmlns:p14="http://schemas.microsoft.com/office/powerpoint/2010/main" val="4250376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Personnel Security</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90939" y="1623391"/>
            <a:ext cx="8229600" cy="4724400"/>
          </a:xfrm>
        </p:spPr>
        <p:txBody>
          <a:bodyPr/>
          <a:lstStyle/>
          <a:p>
            <a:r>
              <a:rPr lang="en-US" dirty="0"/>
              <a:t>3.9 PERSONNEL SECURITY</a:t>
            </a:r>
          </a:p>
          <a:p>
            <a:endParaRPr lang="en-US" sz="2000" dirty="0"/>
          </a:p>
          <a:p>
            <a:r>
              <a:rPr lang="en-US" sz="2000" dirty="0"/>
              <a:t>3.9.1 Screen individuals prior to authorizing access to organizational systems containing CUI.</a:t>
            </a:r>
          </a:p>
          <a:p>
            <a:endParaRPr lang="en-US" sz="2000" dirty="0"/>
          </a:p>
          <a:p>
            <a:r>
              <a:rPr lang="en-US" sz="2000" dirty="0"/>
              <a:t>3.9.2 Ensure that organizational systems containing CUI are protected during and after personnel actions such as terminations and transfers.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25</a:t>
            </a:fld>
            <a:endParaRPr lang="en-US" altLang="zh-CN" dirty="0"/>
          </a:p>
        </p:txBody>
      </p:sp>
    </p:spTree>
    <p:extLst>
      <p:ext uri="{BB962C8B-B14F-4D97-AF65-F5344CB8AC3E}">
        <p14:creationId xmlns:p14="http://schemas.microsoft.com/office/powerpoint/2010/main" val="1531764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p:txBody>
          <a:bodyPr/>
          <a:lstStyle/>
          <a:p>
            <a:r>
              <a:rPr lang="en-US" dirty="0"/>
              <a:t>NIST SP 800-171 – Physical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29821" y="1323264"/>
            <a:ext cx="8229600" cy="4724400"/>
          </a:xfrm>
        </p:spPr>
        <p:txBody>
          <a:bodyPr/>
          <a:lstStyle/>
          <a:p>
            <a:r>
              <a:rPr lang="en-US" dirty="0"/>
              <a:t>3.10 PHYSICAL PROTECTION</a:t>
            </a:r>
          </a:p>
          <a:p>
            <a:endParaRPr lang="en-US" sz="2000" dirty="0"/>
          </a:p>
          <a:p>
            <a:r>
              <a:rPr lang="en-US" sz="2000" dirty="0"/>
              <a:t>3.10.1 Limit physical access to organizational systems, equipment, and the respective operating environments to authorized individuals.</a:t>
            </a:r>
          </a:p>
          <a:p>
            <a:endParaRPr lang="en-US" sz="2000" dirty="0"/>
          </a:p>
          <a:p>
            <a:r>
              <a:rPr lang="en-US" sz="2000" dirty="0"/>
              <a:t>3.10.2 Protect and monitor the physical facility and support infrastructure for organizational systems.</a:t>
            </a:r>
          </a:p>
          <a:p>
            <a:endParaRPr lang="en-US" sz="2000" dirty="0"/>
          </a:p>
          <a:p>
            <a:r>
              <a:rPr lang="en-US" sz="2000" dirty="0"/>
              <a:t>3.10.3 Escort visitors and monitor visitor activity.</a:t>
            </a:r>
          </a:p>
          <a:p>
            <a:endParaRPr lang="en-US" sz="2000" dirty="0"/>
          </a:p>
          <a:p>
            <a:r>
              <a:rPr lang="en-US" sz="2000" dirty="0"/>
              <a:t>3.10.4 Maintain audit logs of physical access.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26</a:t>
            </a:fld>
            <a:endParaRPr lang="en-US" altLang="zh-CN" dirty="0"/>
          </a:p>
        </p:txBody>
      </p:sp>
    </p:spTree>
    <p:extLst>
      <p:ext uri="{BB962C8B-B14F-4D97-AF65-F5344CB8AC3E}">
        <p14:creationId xmlns:p14="http://schemas.microsoft.com/office/powerpoint/2010/main" val="629938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Risk Assessment</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17310" y="762000"/>
            <a:ext cx="8229600" cy="4724400"/>
          </a:xfrm>
        </p:spPr>
        <p:txBody>
          <a:bodyPr/>
          <a:lstStyle/>
          <a:p>
            <a:r>
              <a:rPr lang="en-US" sz="2000" dirty="0"/>
              <a:t>3.11 RISK ASSESSMENT</a:t>
            </a:r>
          </a:p>
          <a:p>
            <a:endParaRPr lang="en-US" sz="2000" dirty="0"/>
          </a:p>
          <a:p>
            <a:r>
              <a:rPr lang="en-US" sz="2000" dirty="0"/>
              <a:t>3.11.1 Periodically assess the risk to organizational operations (including mission, functions, image, or reputation), organizational assets, and individuals, resulting from the operation of organizational systems and the associated processing, storage, or transmission of CUI. </a:t>
            </a:r>
          </a:p>
          <a:p>
            <a:endParaRPr lang="en-US" sz="2000" dirty="0"/>
          </a:p>
          <a:p>
            <a:r>
              <a:rPr lang="en-US" sz="2000" dirty="0"/>
              <a:t>DISCUSSION Clearly defined system boundaries are a prerequisite for effective risk assessments. Such risk assessments consider threats, vulnerabilities, likelihood, and impact to organizational operations, organizational assets, and individuals based on the operation and use of organizational systems. Risk assessments also consider risk from external parties (e.g., service providers, contractors operating systems on behalf of the organization, individuals accessing organizational systems, outsourcing entities). Risk assessments, either formal or informal, can be conducted at the organization level, the mission or business process level, or the system level, and at any phase in the system development life cycle. [SP 800-30] provides guidance on conducting risk assessments.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27</a:t>
            </a:fld>
            <a:endParaRPr lang="en-US" altLang="zh-CN" dirty="0"/>
          </a:p>
        </p:txBody>
      </p:sp>
    </p:spTree>
    <p:extLst>
      <p:ext uri="{BB962C8B-B14F-4D97-AF65-F5344CB8AC3E}">
        <p14:creationId xmlns:p14="http://schemas.microsoft.com/office/powerpoint/2010/main" val="3441484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Security Assessment</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17310" y="762000"/>
            <a:ext cx="8229600" cy="4724400"/>
          </a:xfrm>
        </p:spPr>
        <p:txBody>
          <a:bodyPr/>
          <a:lstStyle/>
          <a:p>
            <a:r>
              <a:rPr lang="en-US" sz="2000" dirty="0"/>
              <a:t>3.12  SECURITY ASSESSMENT</a:t>
            </a:r>
          </a:p>
          <a:p>
            <a:endParaRPr lang="en-US" sz="2000" dirty="0"/>
          </a:p>
          <a:p>
            <a:r>
              <a:rPr lang="en-US" sz="2000" dirty="0"/>
              <a:t>3.12.1 Periodically assess the security controls in organizational systems to determine if the controls are effective in their application.</a:t>
            </a:r>
          </a:p>
          <a:p>
            <a:endParaRPr lang="en-US" sz="2000" dirty="0"/>
          </a:p>
          <a:p>
            <a:r>
              <a:rPr lang="en-US" sz="2000" dirty="0"/>
              <a:t>DISCUSSION Organizations assess security controls in organizational systems and the environments in which those systems operate as part of the system development life cycle</a:t>
            </a:r>
            <a:r>
              <a:rPr lang="en-US" sz="2000" dirty="0">
                <a:solidFill>
                  <a:srgbClr val="C00000"/>
                </a:solidFill>
              </a:rPr>
              <a:t>. Security controls are the safeguards or countermeasures organizations implement to satisfy security requirements. </a:t>
            </a:r>
            <a:r>
              <a:rPr lang="en-US" sz="2000" dirty="0"/>
              <a:t>By assessing the implemented security controls, organizations determine if the security safeguards or countermeasures are in place and operating as intended. Security control assessments ensure that information security is built into organizational systems; identify weaknesses and deficiencies early in the development process; provide essential information needed to make risk-based decisions; and ensure compliance to vulnerability mitigation procedures. Assessments are conducted on the implemented security controls as documented in system security plans.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28</a:t>
            </a:fld>
            <a:endParaRPr lang="en-US" altLang="zh-CN" dirty="0"/>
          </a:p>
        </p:txBody>
      </p:sp>
    </p:spTree>
    <p:extLst>
      <p:ext uri="{BB962C8B-B14F-4D97-AF65-F5344CB8AC3E}">
        <p14:creationId xmlns:p14="http://schemas.microsoft.com/office/powerpoint/2010/main" val="25964289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System And Communications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44606" y="1066800"/>
            <a:ext cx="8189794" cy="5105400"/>
          </a:xfrm>
        </p:spPr>
        <p:txBody>
          <a:bodyPr/>
          <a:lstStyle/>
          <a:p>
            <a:r>
              <a:rPr lang="en-US" dirty="0"/>
              <a:t>3.13 SYSTEM AND COMMUNICATIONS PROTECTION</a:t>
            </a:r>
          </a:p>
          <a:p>
            <a:endParaRPr lang="en-US" dirty="0"/>
          </a:p>
          <a:p>
            <a:r>
              <a:rPr lang="en-US" sz="2000" dirty="0"/>
              <a:t>3.13.1 Monitor, control, and protect communications (i.e., information transmitted or received by organizational systems) at the external boundaries and key internal boundaries of organizational systems.</a:t>
            </a:r>
          </a:p>
          <a:p>
            <a:endParaRPr lang="en-US" sz="2000" dirty="0"/>
          </a:p>
          <a:p>
            <a:r>
              <a:rPr lang="en-US" sz="2000" dirty="0"/>
              <a:t> DISCUSSION Communications can be monitored, controlled, and protected at boundary components and by restricting or prohibiting interfaces in organizational systems. Boundary components include gateways, routers, firewalls, guards, network-based malicious code analysis and virtualization systems, or encrypted tunnels implemented within a system security architecture (e.g., routers protecting firewalls or application gateways residing on protected subnetworks). Restricting or prohibiting interfaces in organizational systems includes restricting external web communications traffic to designated web servers within managed interfaces and prohibiting external traffic that appears to be spoofing internal addresses.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29</a:t>
            </a:fld>
            <a:endParaRPr lang="en-US" altLang="zh-CN" dirty="0"/>
          </a:p>
        </p:txBody>
      </p:sp>
    </p:spTree>
    <p:extLst>
      <p:ext uri="{BB962C8B-B14F-4D97-AF65-F5344CB8AC3E}">
        <p14:creationId xmlns:p14="http://schemas.microsoft.com/office/powerpoint/2010/main" val="743142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System And Communications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44606" y="1066800"/>
            <a:ext cx="8189794" cy="5105400"/>
          </a:xfrm>
        </p:spPr>
        <p:txBody>
          <a:bodyPr/>
          <a:lstStyle/>
          <a:p>
            <a:r>
              <a:rPr lang="en-US" sz="2000" dirty="0"/>
              <a:t>3.13.3 Separate user functionality from system management functionality.</a:t>
            </a:r>
          </a:p>
          <a:p>
            <a:endParaRPr lang="en-US" sz="2000" dirty="0"/>
          </a:p>
          <a:p>
            <a:r>
              <a:rPr lang="en-US" sz="2000" dirty="0"/>
              <a:t>3.13.4 Prevent unauthorized and unintended information transfer via shared system resources.</a:t>
            </a:r>
          </a:p>
          <a:p>
            <a:endParaRPr lang="en-US" sz="2000" dirty="0"/>
          </a:p>
          <a:p>
            <a:r>
              <a:rPr lang="en-US" sz="2000" dirty="0"/>
              <a:t>3.13.5 Implement subnetworks for publicly accessible system components that are physically or logically separated from internal networks.</a:t>
            </a:r>
          </a:p>
          <a:p>
            <a:endParaRPr lang="en-US" sz="2000" dirty="0"/>
          </a:p>
          <a:p>
            <a:r>
              <a:rPr lang="en-US" sz="2000" dirty="0"/>
              <a:t>3.13.6 Deny network communications traffic by default and allow network communications traffic by exception (i.e., deny all, permit by exception).</a:t>
            </a:r>
          </a:p>
          <a:p>
            <a:endParaRPr lang="en-US" sz="2000" dirty="0"/>
          </a:p>
          <a:p>
            <a:r>
              <a:rPr lang="en-US" sz="2000" dirty="0"/>
              <a:t>3.13.8 Implement cryptographic mechanisms to prevent unauthorized disclosure of CUI during transmission unless otherwise protected by alternative physical safeguards.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30</a:t>
            </a:fld>
            <a:endParaRPr lang="en-US" altLang="zh-CN" dirty="0"/>
          </a:p>
        </p:txBody>
      </p:sp>
    </p:spTree>
    <p:extLst>
      <p:ext uri="{BB962C8B-B14F-4D97-AF65-F5344CB8AC3E}">
        <p14:creationId xmlns:p14="http://schemas.microsoft.com/office/powerpoint/2010/main" val="8718474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System And Information Integrity</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44606" y="1066800"/>
            <a:ext cx="8189794" cy="5105400"/>
          </a:xfrm>
        </p:spPr>
        <p:txBody>
          <a:bodyPr/>
          <a:lstStyle/>
          <a:p>
            <a:r>
              <a:rPr lang="en-US" dirty="0"/>
              <a:t>3.14 SYSTEM AND INFORMATION INTEGRITY</a:t>
            </a:r>
          </a:p>
          <a:p>
            <a:endParaRPr lang="en-US" sz="1600" dirty="0"/>
          </a:p>
          <a:p>
            <a:r>
              <a:rPr lang="en-US" sz="2000" dirty="0"/>
              <a:t>3.14.1 Identify, report, and correct system flaws in a timely manner.</a:t>
            </a:r>
          </a:p>
          <a:p>
            <a:endParaRPr lang="en-US" sz="2000" dirty="0"/>
          </a:p>
          <a:p>
            <a:r>
              <a:rPr lang="en-US" sz="2000" dirty="0"/>
              <a:t>DISCUSSION Organizations identify systems that are affected by announced software and firmware flaws including potential vulnerabilities resulting from those flaws and report this information to designated personnel with information security responsibilities. Security-relevant updates include patches, service packs, hot fixes, and anti-virus signatures. Organizations address flaws discovered during security assessments, continuous monitoring, incident response activities, and system error handling. Organizations can take advantage of available resources such as the Common Weakness Enumeration (CWE) database or Common Vulnerabilities and Exposures (CVE) database in remediating flaws discovered in organizational systems.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31</a:t>
            </a:fld>
            <a:endParaRPr lang="en-US" altLang="zh-CN" dirty="0"/>
          </a:p>
        </p:txBody>
      </p:sp>
    </p:spTree>
    <p:extLst>
      <p:ext uri="{BB962C8B-B14F-4D97-AF65-F5344CB8AC3E}">
        <p14:creationId xmlns:p14="http://schemas.microsoft.com/office/powerpoint/2010/main" val="916431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System And Communications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44606" y="1066800"/>
            <a:ext cx="8189794" cy="5105400"/>
          </a:xfrm>
        </p:spPr>
        <p:txBody>
          <a:bodyPr/>
          <a:lstStyle/>
          <a:p>
            <a:r>
              <a:rPr lang="en-US" dirty="0"/>
              <a:t>3.13 SYSTEM AND COMMUNICATIONS PROTECTION</a:t>
            </a:r>
          </a:p>
          <a:p>
            <a:endParaRPr lang="en-US" dirty="0"/>
          </a:p>
          <a:p>
            <a:r>
              <a:rPr lang="en-US" sz="2000" dirty="0"/>
              <a:t>3.13.1 Monitor, control, and protect communications (i.e., information transmitted or received by organizational systems) at the external boundaries and key internal boundaries of organizational systems.</a:t>
            </a:r>
          </a:p>
          <a:p>
            <a:endParaRPr lang="en-US" sz="2000" dirty="0"/>
          </a:p>
          <a:p>
            <a:r>
              <a:rPr lang="en-US" sz="2000" dirty="0"/>
              <a:t> DISCUSSION Communications can be monitored, controlled, and protected at boundary components and by restricting or prohibiting interfaces in organizational systems. Boundary components include gateways, routers, firewalls, guards, network-based malicious code analysis and virtualization systems, or encrypted tunnels implemented within a system security architecture (e.g., routers protecting firewalls or application gateways residing on protected subnetworks). Restricting or prohibiting interfaces in organizational systems includes restricting external web communications traffic to designated web servers within managed interfaces and prohibiting external traffic that appears to be spoofing internal addresses.</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32</a:t>
            </a:fld>
            <a:endParaRPr lang="en-US" altLang="zh-CN" dirty="0"/>
          </a:p>
        </p:txBody>
      </p:sp>
    </p:spTree>
    <p:extLst>
      <p:ext uri="{BB962C8B-B14F-4D97-AF65-F5344CB8AC3E}">
        <p14:creationId xmlns:p14="http://schemas.microsoft.com/office/powerpoint/2010/main" val="1294975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System And Communications Protection</a:t>
            </a:r>
          </a:p>
        </p:txBody>
      </p:sp>
      <p:sp>
        <p:nvSpPr>
          <p:cNvPr id="3" name="Content Placeholder 2">
            <a:extLst>
              <a:ext uri="{FF2B5EF4-FFF2-40B4-BE49-F238E27FC236}">
                <a16:creationId xmlns:a16="http://schemas.microsoft.com/office/drawing/2014/main" id="{3E6991F1-BF63-21FD-BB2D-A3C52D496F0C}"/>
              </a:ext>
            </a:extLst>
          </p:cNvPr>
          <p:cNvSpPr>
            <a:spLocks noGrp="1"/>
          </p:cNvSpPr>
          <p:nvPr>
            <p:ph idx="1"/>
          </p:nvPr>
        </p:nvSpPr>
        <p:spPr>
          <a:xfrm>
            <a:off x="344606" y="1066800"/>
            <a:ext cx="8189794" cy="5105400"/>
          </a:xfrm>
        </p:spPr>
        <p:txBody>
          <a:bodyPr/>
          <a:lstStyle/>
          <a:p>
            <a:r>
              <a:rPr lang="en-US" dirty="0"/>
              <a:t>3.14 SYSTEM AND COMMUNICATIONS PROTECTION</a:t>
            </a:r>
          </a:p>
          <a:p>
            <a:endParaRPr lang="en-US" sz="2000" dirty="0"/>
          </a:p>
          <a:p>
            <a:r>
              <a:rPr lang="en-US" sz="2000" dirty="0"/>
              <a:t>3.14.2 Provide protection from malicious code at designated locations within organizational systems.</a:t>
            </a:r>
          </a:p>
          <a:p>
            <a:endParaRPr lang="en-US" sz="2000" dirty="0"/>
          </a:p>
          <a:p>
            <a:r>
              <a:rPr lang="en-US" sz="2000" dirty="0"/>
              <a:t>3.14.3 Monitor system security alerts and advisories and take action in response.</a:t>
            </a:r>
          </a:p>
        </p:txBody>
      </p:sp>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33</a:t>
            </a:fld>
            <a:endParaRPr lang="en-US" altLang="zh-CN" dirty="0"/>
          </a:p>
        </p:txBody>
      </p:sp>
    </p:spTree>
    <p:extLst>
      <p:ext uri="{BB962C8B-B14F-4D97-AF65-F5344CB8AC3E}">
        <p14:creationId xmlns:p14="http://schemas.microsoft.com/office/powerpoint/2010/main" val="2337760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ED79-B4D5-E27D-A03C-140E1A1DFC8E}"/>
              </a:ext>
            </a:extLst>
          </p:cNvPr>
          <p:cNvSpPr>
            <a:spLocks noGrp="1"/>
          </p:cNvSpPr>
          <p:nvPr>
            <p:ph type="title"/>
          </p:nvPr>
        </p:nvSpPr>
        <p:spPr>
          <a:xfrm>
            <a:off x="685800" y="152400"/>
            <a:ext cx="7772400" cy="762000"/>
          </a:xfrm>
        </p:spPr>
        <p:txBody>
          <a:bodyPr/>
          <a:lstStyle/>
          <a:p>
            <a:r>
              <a:rPr lang="en-US" dirty="0"/>
              <a:t>NIST SP 800-171 – Ensure Compliance</a:t>
            </a:r>
          </a:p>
        </p:txBody>
      </p:sp>
      <p:graphicFrame>
        <p:nvGraphicFramePr>
          <p:cNvPr id="6" name="Content Placeholder 5">
            <a:extLst>
              <a:ext uri="{FF2B5EF4-FFF2-40B4-BE49-F238E27FC236}">
                <a16:creationId xmlns:a16="http://schemas.microsoft.com/office/drawing/2014/main" id="{C0ABDD9C-CB1F-469E-BBEC-6A136A3D5F78}"/>
              </a:ext>
            </a:extLst>
          </p:cNvPr>
          <p:cNvGraphicFramePr>
            <a:graphicFrameLocks noGrp="1"/>
          </p:cNvGraphicFramePr>
          <p:nvPr>
            <p:ph idx="1"/>
            <p:extLst>
              <p:ext uri="{D42A27DB-BD31-4B8C-83A1-F6EECF244321}">
                <p14:modId xmlns:p14="http://schemas.microsoft.com/office/powerpoint/2010/main" val="1648553737"/>
              </p:ext>
            </p:extLst>
          </p:nvPr>
        </p:nvGraphicFramePr>
        <p:xfrm>
          <a:off x="344488" y="1066800"/>
          <a:ext cx="8189910" cy="1320800"/>
        </p:xfrm>
        <a:graphic>
          <a:graphicData uri="http://schemas.openxmlformats.org/drawingml/2006/table">
            <a:tbl>
              <a:tblPr firstRow="1" bandRow="1">
                <a:tableStyleId>{5C22544A-7EE6-4342-B048-85BDC9FD1C3A}</a:tableStyleId>
              </a:tblPr>
              <a:tblGrid>
                <a:gridCol w="1560512">
                  <a:extLst>
                    <a:ext uri="{9D8B030D-6E8A-4147-A177-3AD203B41FA5}">
                      <a16:colId xmlns:a16="http://schemas.microsoft.com/office/drawing/2014/main" val="4222474990"/>
                    </a:ext>
                  </a:extLst>
                </a:gridCol>
                <a:gridCol w="1169458">
                  <a:extLst>
                    <a:ext uri="{9D8B030D-6E8A-4147-A177-3AD203B41FA5}">
                      <a16:colId xmlns:a16="http://schemas.microsoft.com/office/drawing/2014/main" val="2537077965"/>
                    </a:ext>
                  </a:extLst>
                </a:gridCol>
                <a:gridCol w="1364985">
                  <a:extLst>
                    <a:ext uri="{9D8B030D-6E8A-4147-A177-3AD203B41FA5}">
                      <a16:colId xmlns:a16="http://schemas.microsoft.com/office/drawing/2014/main" val="1945660152"/>
                    </a:ext>
                  </a:extLst>
                </a:gridCol>
                <a:gridCol w="1961357">
                  <a:extLst>
                    <a:ext uri="{9D8B030D-6E8A-4147-A177-3AD203B41FA5}">
                      <a16:colId xmlns:a16="http://schemas.microsoft.com/office/drawing/2014/main" val="4156286281"/>
                    </a:ext>
                  </a:extLst>
                </a:gridCol>
                <a:gridCol w="2133598">
                  <a:extLst>
                    <a:ext uri="{9D8B030D-6E8A-4147-A177-3AD203B41FA5}">
                      <a16:colId xmlns:a16="http://schemas.microsoft.com/office/drawing/2014/main" val="4021204284"/>
                    </a:ext>
                  </a:extLst>
                </a:gridCol>
              </a:tblGrid>
              <a:tr h="370840">
                <a:tc>
                  <a:txBody>
                    <a:bodyPr/>
                    <a:lstStyle/>
                    <a:p>
                      <a:r>
                        <a:rPr lang="en-US" sz="1600" dirty="0"/>
                        <a:t>Security Requirements</a:t>
                      </a:r>
                    </a:p>
                  </a:txBody>
                  <a:tcPr/>
                </a:tc>
                <a:tc>
                  <a:txBody>
                    <a:bodyPr/>
                    <a:lstStyle/>
                    <a:p>
                      <a:r>
                        <a:rPr lang="en-US" sz="1600" dirty="0"/>
                        <a:t>Yes/ No</a:t>
                      </a:r>
                    </a:p>
                  </a:txBody>
                  <a:tcPr/>
                </a:tc>
                <a:tc>
                  <a:txBody>
                    <a:bodyPr/>
                    <a:lstStyle/>
                    <a:p>
                      <a:r>
                        <a:rPr lang="en-US" sz="1600" dirty="0"/>
                        <a:t>If Yes, Justification</a:t>
                      </a:r>
                    </a:p>
                  </a:txBody>
                  <a:tcPr/>
                </a:tc>
                <a:tc>
                  <a:txBody>
                    <a:bodyPr/>
                    <a:lstStyle/>
                    <a:p>
                      <a:r>
                        <a:rPr lang="en-US" sz="1600" dirty="0"/>
                        <a:t>If no, plans to ensure compliance</a:t>
                      </a:r>
                    </a:p>
                  </a:txBody>
                  <a:tcPr/>
                </a:tc>
                <a:tc>
                  <a:txBody>
                    <a:bodyPr/>
                    <a:lstStyle/>
                    <a:p>
                      <a:r>
                        <a:rPr lang="en-US" sz="1600" dirty="0"/>
                        <a:t>How to execute the plans</a:t>
                      </a:r>
                    </a:p>
                  </a:txBody>
                  <a:tcPr/>
                </a:tc>
                <a:extLst>
                  <a:ext uri="{0D108BD9-81ED-4DB2-BD59-A6C34878D82A}">
                    <a16:rowId xmlns:a16="http://schemas.microsoft.com/office/drawing/2014/main" val="43250625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4787451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51256027"/>
                  </a:ext>
                </a:extLst>
              </a:tr>
            </a:tbl>
          </a:graphicData>
        </a:graphic>
      </p:graphicFrame>
      <p:sp>
        <p:nvSpPr>
          <p:cNvPr id="4" name="Date Placeholder 3">
            <a:extLst>
              <a:ext uri="{FF2B5EF4-FFF2-40B4-BE49-F238E27FC236}">
                <a16:creationId xmlns:a16="http://schemas.microsoft.com/office/drawing/2014/main" id="{6E856135-D41D-9D36-B3FD-255E90D14B14}"/>
              </a:ext>
            </a:extLst>
          </p:cNvPr>
          <p:cNvSpPr>
            <a:spLocks noGrp="1"/>
          </p:cNvSpPr>
          <p:nvPr>
            <p:ph type="dt" sz="half" idx="10"/>
          </p:nvPr>
        </p:nvSpPr>
        <p:spPr/>
        <p:txBody>
          <a:bodyPr/>
          <a:lstStyle/>
          <a:p>
            <a:pPr>
              <a:defRPr/>
            </a:pPr>
            <a:r>
              <a:rPr lang="en-US" altLang="zh-CN"/>
              <a:t>CS7900, Meilin Liu </a:t>
            </a:r>
          </a:p>
        </p:txBody>
      </p:sp>
      <p:sp>
        <p:nvSpPr>
          <p:cNvPr id="5" name="Slide Number Placeholder 4">
            <a:extLst>
              <a:ext uri="{FF2B5EF4-FFF2-40B4-BE49-F238E27FC236}">
                <a16:creationId xmlns:a16="http://schemas.microsoft.com/office/drawing/2014/main" id="{D97FB2B1-14F2-DF32-434B-2B080D58681C}"/>
              </a:ext>
            </a:extLst>
          </p:cNvPr>
          <p:cNvSpPr>
            <a:spLocks noGrp="1"/>
          </p:cNvSpPr>
          <p:nvPr>
            <p:ph type="sldNum" sz="quarter" idx="12"/>
          </p:nvPr>
        </p:nvSpPr>
        <p:spPr/>
        <p:txBody>
          <a:bodyPr/>
          <a:lstStyle/>
          <a:p>
            <a:fld id="{C229BFEB-A0E0-6248-B3FD-62DBB4A69257}" type="slidenum">
              <a:rPr lang="zh-CN" altLang="en-US" smtClean="0"/>
              <a:pPr/>
              <a:t>34</a:t>
            </a:fld>
            <a:endParaRPr lang="en-US" altLang="zh-CN" dirty="0"/>
          </a:p>
        </p:txBody>
      </p:sp>
    </p:spTree>
    <p:extLst>
      <p:ext uri="{BB962C8B-B14F-4D97-AF65-F5344CB8AC3E}">
        <p14:creationId xmlns:p14="http://schemas.microsoft.com/office/powerpoint/2010/main" val="82627142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X2PSBATCH" val="latex --interaction=nonstopmode $(base).tex; dvips -D $(res) -E -o $(base).ps $(base).dvi"/>
  <p:tag name="TEXPOINTINIT" val=""/>
  <p:tag name="USEAMSFONTS" val="False"/>
  <p:tag name="EMBEDFONTS" val="False"/>
  <p:tag name="USEBOLDAMS" val="False"/>
  <p:tag name="DEFAULTDISPLAYSOURCE" val="\documentclass{slides}\pagestyle{empty}&#10;\begin{document}&#10;&#10;\end{document}&#10;"/>
  <p:tag name="TEX2PS" val="latex $(base).tex; dvips -D $(res) -E -o $(base).ps $(base).dvi"/>
  <p:tag name="EXTERNALEDITCOMMAND" val="notepad %"/>
  <p:tag name="GHOSTSCRIPTCOMMAND" val="gswin32c"/>
  <p:tag name="DEFAULTBITMAP" val="pngmono"/>
  <p:tag name="DEFAULTBLEND" val="False"/>
  <p:tag name="DEFAULTTRANSPARENT" val="False"/>
  <p:tag name="DEFAULTWORKAROUNDTRANSPARENCYBUG" val="False"/>
  <p:tag name="DEFAULTRESOLUTION" val="1200"/>
  <p:tag name="DEFAULTMAGNIFICATION" val="2"/>
  <p:tag name="DEFAULTFONTSIZE" val="10"/>
  <p:tag name="DEFAULTWIDTH" val="348"/>
  <p:tag name="DEFAULTHEIGHT" val="200"/>
  <p:tag name="FIRSTMEILIN@8OHDPYNFUVWXYL65" val="3173"/>
</p:tagLst>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0</TotalTime>
  <Words>3401</Words>
  <Application>Microsoft Office PowerPoint</Application>
  <PresentationFormat>On-screen Show (4:3)</PresentationFormat>
  <Paragraphs>335</Paragraphs>
  <Slides>34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SimSun</vt:lpstr>
      <vt:lpstr>SimSun</vt:lpstr>
      <vt:lpstr>Times New Roman</vt:lpstr>
      <vt:lpstr>Wingdings</vt:lpstr>
      <vt:lpstr>Default Design</vt:lpstr>
      <vt:lpstr>CEG4424/6424 Security Attacks and Defenses  Protecting Controlled Unclassified Information (CUI) in Non-federal Systems and Organizations </vt:lpstr>
      <vt:lpstr>What is Controlled Unclassified Information?</vt:lpstr>
      <vt:lpstr>Controlled Unclassified Information</vt:lpstr>
      <vt:lpstr>Controlled Unclassified Information</vt:lpstr>
      <vt:lpstr>Why these rules</vt:lpstr>
      <vt:lpstr>How to Identify CUI</vt:lpstr>
      <vt:lpstr>CUI Example </vt:lpstr>
      <vt:lpstr>Protection of CUI </vt:lpstr>
      <vt:lpstr>What is NIST SP 800-171 </vt:lpstr>
      <vt:lpstr>What is NIST SP 800-171 </vt:lpstr>
      <vt:lpstr>What is NIST SP 800-171 </vt:lpstr>
      <vt:lpstr>Security Requirements in NIST SP 800-171 </vt:lpstr>
      <vt:lpstr>Requirements in NIST SP 800-171 </vt:lpstr>
      <vt:lpstr>NIST SP 800-171 – Access Control </vt:lpstr>
      <vt:lpstr>NIST SP 800-171 – Access Control </vt:lpstr>
      <vt:lpstr>NIST SP 800-171 – Access Control </vt:lpstr>
      <vt:lpstr>NIST SP 800-171 – Awareness and Training</vt:lpstr>
      <vt:lpstr>NIST SP 800-171 – Audit and Accountability</vt:lpstr>
      <vt:lpstr>NIST SP 800-171 – Configuration Management</vt:lpstr>
      <vt:lpstr>NIST SP 800-171 – Identification and Authentication</vt:lpstr>
      <vt:lpstr>NIST SP 800-171 – Incident Response</vt:lpstr>
      <vt:lpstr>NIST SP 800-171 – Maintenance</vt:lpstr>
      <vt:lpstr>NIST SP 800-171 – Media Protection</vt:lpstr>
      <vt:lpstr>NIST SP 800-171 – Media Protection</vt:lpstr>
      <vt:lpstr>NIST SP 800-171 – Personnel Security</vt:lpstr>
      <vt:lpstr>NIST SP 800-171 – Physical Protection</vt:lpstr>
      <vt:lpstr>NIST SP 800-171 – Risk Assessment</vt:lpstr>
      <vt:lpstr>NIST SP 800-171 – Security Assessment</vt:lpstr>
      <vt:lpstr>NIST SP 800-171 – System And Communications Protection</vt:lpstr>
      <vt:lpstr>NIST SP 800-171 – System And Communications Protection</vt:lpstr>
      <vt:lpstr>NIST SP 800-171 – System And Information Integrity</vt:lpstr>
      <vt:lpstr>NIST SP 800-171 – System And Communications Protection</vt:lpstr>
      <vt:lpstr>NIST SP 800-171 – System And Communications Protection</vt:lpstr>
      <vt:lpstr>NIST SP 800-171 – Ensure Compliance</vt:lpstr>
    </vt:vector>
  </TitlesOfParts>
  <Company>UTD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Security   Dr. Edwin Sha Computer Science University of Texas at Dallas  http://www.utdallas.edu/~edsha edsha@utdallas.edu</dc:title>
  <dc:creator>edsha</dc:creator>
  <cp:lastModifiedBy>Meilin</cp:lastModifiedBy>
  <cp:revision>555</cp:revision>
  <cp:lastPrinted>2013-11-26T21:54:56Z</cp:lastPrinted>
  <dcterms:created xsi:type="dcterms:W3CDTF">2003-01-12T21:12:39Z</dcterms:created>
  <dcterms:modified xsi:type="dcterms:W3CDTF">2023-12-04T20:13:41Z</dcterms:modified>
</cp:coreProperties>
</file>