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89" r:id="rId3"/>
    <p:sldId id="291" r:id="rId4"/>
    <p:sldId id="296" r:id="rId5"/>
    <p:sldId id="257" r:id="rId6"/>
    <p:sldId id="259" r:id="rId7"/>
    <p:sldId id="260" r:id="rId8"/>
    <p:sldId id="272" r:id="rId9"/>
    <p:sldId id="261" r:id="rId10"/>
    <p:sldId id="262" r:id="rId11"/>
    <p:sldId id="273" r:id="rId12"/>
    <p:sldId id="290" r:id="rId13"/>
    <p:sldId id="274" r:id="rId14"/>
    <p:sldId id="276" r:id="rId15"/>
    <p:sldId id="297" r:id="rId16"/>
    <p:sldId id="277" r:id="rId17"/>
    <p:sldId id="284" r:id="rId18"/>
    <p:sldId id="278" r:id="rId19"/>
    <p:sldId id="286" r:id="rId20"/>
    <p:sldId id="287" r:id="rId21"/>
    <p:sldId id="269" r:id="rId22"/>
    <p:sldId id="294" r:id="rId23"/>
    <p:sldId id="266" r:id="rId24"/>
    <p:sldId id="279" r:id="rId25"/>
    <p:sldId id="295" r:id="rId26"/>
    <p:sldId id="282" r:id="rId27"/>
    <p:sldId id="283" r:id="rId28"/>
    <p:sldId id="270" r:id="rId29"/>
    <p:sldId id="292" r:id="rId30"/>
    <p:sldId id="293" r:id="rId31"/>
    <p:sldId id="265" r:id="rId32"/>
    <p:sldId id="271"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890" autoAdjust="0"/>
  </p:normalViewPr>
  <p:slideViewPr>
    <p:cSldViewPr snapToGrid="0" snapToObjects="1">
      <p:cViewPr varScale="1">
        <p:scale>
          <a:sx n="66" d="100"/>
          <a:sy n="66" d="100"/>
        </p:scale>
        <p:origin x="1930" y="5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37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58B87F-11AC-6D46-9BEE-BEA35A6719EA}" type="datetimeFigureOut">
              <a:rPr lang="en-US" smtClean="0"/>
              <a:t>11/29/2023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BC6DA2-2425-7640-A467-8DCF2E5658D9}" type="slidenum">
              <a:rPr lang="en-US" smtClean="0"/>
              <a:t>‹#›</a:t>
            </a:fld>
            <a:endParaRPr lang="en-US"/>
          </a:p>
        </p:txBody>
      </p:sp>
    </p:spTree>
    <p:extLst>
      <p:ext uri="{BB962C8B-B14F-4D97-AF65-F5344CB8AC3E}">
        <p14:creationId xmlns:p14="http://schemas.microsoft.com/office/powerpoint/2010/main" val="262465518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1</a:t>
            </a:fld>
            <a:endParaRPr lang="en-US"/>
          </a:p>
        </p:txBody>
      </p:sp>
    </p:spTree>
    <p:extLst>
      <p:ext uri="{BB962C8B-B14F-4D97-AF65-F5344CB8AC3E}">
        <p14:creationId xmlns:p14="http://schemas.microsoft.com/office/powerpoint/2010/main" val="1778134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Diverse, a variety of CPS. </a:t>
            </a:r>
          </a:p>
        </p:txBody>
      </p:sp>
      <p:sp>
        <p:nvSpPr>
          <p:cNvPr id="4" name="Slide Number Placeholder 3"/>
          <p:cNvSpPr>
            <a:spLocks noGrp="1"/>
          </p:cNvSpPr>
          <p:nvPr>
            <p:ph type="sldNum" sz="quarter" idx="5"/>
          </p:nvPr>
        </p:nvSpPr>
        <p:spPr/>
        <p:txBody>
          <a:bodyPr/>
          <a:lstStyle/>
          <a:p>
            <a:fld id="{28BC6DA2-2425-7640-A467-8DCF2E5658D9}" type="slidenum">
              <a:rPr lang="en-US" smtClean="0"/>
              <a:t>2</a:t>
            </a:fld>
            <a:endParaRPr lang="en-US"/>
          </a:p>
        </p:txBody>
      </p:sp>
    </p:spTree>
    <p:extLst>
      <p:ext uri="{BB962C8B-B14F-4D97-AF65-F5344CB8AC3E}">
        <p14:creationId xmlns:p14="http://schemas.microsoft.com/office/powerpoint/2010/main" val="3773962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Sensors:</a:t>
            </a:r>
            <a:r>
              <a:rPr lang="en-US" baseline="0" dirty="0"/>
              <a:t> </a:t>
            </a:r>
            <a:r>
              <a:rPr lang="en-US" dirty="0"/>
              <a:t>Cameras, Microphones,</a:t>
            </a:r>
            <a:r>
              <a:rPr lang="en-US" baseline="0" dirty="0"/>
              <a:t> </a:t>
            </a:r>
            <a:r>
              <a:rPr lang="en-US" dirty="0"/>
              <a:t>Magnetometers, Radar/Lidar, Chemical sensors, Pressure sensors, Switches</a:t>
            </a:r>
          </a:p>
          <a:p>
            <a:r>
              <a:rPr lang="en-US" dirty="0"/>
              <a:t>Actuators: Motor controllers, LEDs, lasers,  LCD and plasma displays,  Loudspeakers,  Switches, Valves</a:t>
            </a:r>
          </a:p>
        </p:txBody>
      </p:sp>
      <p:sp>
        <p:nvSpPr>
          <p:cNvPr id="4" name="Slide Number Placeholder 3"/>
          <p:cNvSpPr>
            <a:spLocks noGrp="1"/>
          </p:cNvSpPr>
          <p:nvPr>
            <p:ph type="sldNum" sz="quarter" idx="10"/>
          </p:nvPr>
        </p:nvSpPr>
        <p:spPr/>
        <p:txBody>
          <a:bodyPr/>
          <a:lstStyle/>
          <a:p>
            <a:fld id="{28BC6DA2-2425-7640-A467-8DCF2E5658D9}" type="slidenum">
              <a:rPr lang="en-US" smtClean="0"/>
              <a:t>4</a:t>
            </a:fld>
            <a:endParaRPr lang="en-US"/>
          </a:p>
        </p:txBody>
      </p:sp>
    </p:spTree>
    <p:extLst>
      <p:ext uri="{BB962C8B-B14F-4D97-AF65-F5344CB8AC3E}">
        <p14:creationId xmlns:p14="http://schemas.microsoft.com/office/powerpoint/2010/main" val="3244096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Complexity and Diversity of the CPS</a:t>
            </a:r>
          </a:p>
        </p:txBody>
      </p:sp>
      <p:sp>
        <p:nvSpPr>
          <p:cNvPr id="4" name="Slide Number Placeholder 3"/>
          <p:cNvSpPr>
            <a:spLocks noGrp="1"/>
          </p:cNvSpPr>
          <p:nvPr>
            <p:ph type="sldNum" sz="quarter" idx="5"/>
          </p:nvPr>
        </p:nvSpPr>
        <p:spPr/>
        <p:txBody>
          <a:bodyPr/>
          <a:lstStyle/>
          <a:p>
            <a:fld id="{28BC6DA2-2425-7640-A467-8DCF2E5658D9}" type="slidenum">
              <a:rPr lang="en-US" smtClean="0"/>
              <a:t>10</a:t>
            </a:fld>
            <a:endParaRPr lang="en-US"/>
          </a:p>
        </p:txBody>
      </p:sp>
    </p:spTree>
    <p:extLst>
      <p:ext uri="{BB962C8B-B14F-4D97-AF65-F5344CB8AC3E}">
        <p14:creationId xmlns:p14="http://schemas.microsoft.com/office/powerpoint/2010/main" val="2855386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work as expected functionality</a:t>
            </a:r>
          </a:p>
          <a:p>
            <a:r>
              <a:rPr lang="en-US" dirty="0"/>
              <a:t>Business: cost</a:t>
            </a:r>
          </a:p>
          <a:p>
            <a:r>
              <a:rPr lang="en-US" dirty="0"/>
              <a:t>Human: new</a:t>
            </a:r>
          </a:p>
          <a:p>
            <a:r>
              <a:rPr lang="en-US" dirty="0"/>
              <a:t>Trustworthiness: the hardware (fabricated somewhere else)/software module (developed somewhere else), can you trust them?</a:t>
            </a:r>
          </a:p>
          <a:p>
            <a:r>
              <a:rPr lang="en-US" dirty="0"/>
              <a:t>Timing: real time constraint</a:t>
            </a:r>
          </a:p>
          <a:p>
            <a:r>
              <a:rPr lang="en-US" dirty="0"/>
              <a:t>Data:</a:t>
            </a:r>
          </a:p>
          <a:p>
            <a:r>
              <a:rPr lang="en-US" dirty="0"/>
              <a:t>Composition: Individual components work as expected (tested).  Integrate or assembly different components together, will the system perform as expected? </a:t>
            </a:r>
          </a:p>
          <a:p>
            <a:r>
              <a:rPr lang="en-US" dirty="0"/>
              <a:t>Boundary: within a system, or a connected system</a:t>
            </a:r>
          </a:p>
          <a:p>
            <a:endParaRPr lang="en-US" dirty="0"/>
          </a:p>
          <a:p>
            <a:r>
              <a:rPr lang="en-US" dirty="0"/>
              <a:t>Composition: Individual components work fine. When they are integrated (assembled) together, problems might arise. </a:t>
            </a:r>
          </a:p>
          <a:p>
            <a:endParaRPr lang="en-US" dirty="0"/>
          </a:p>
          <a:p>
            <a:r>
              <a:rPr lang="en-US" dirty="0"/>
              <a:t>Lifecycle: </a:t>
            </a:r>
          </a:p>
        </p:txBody>
      </p:sp>
      <p:sp>
        <p:nvSpPr>
          <p:cNvPr id="4" name="Slide Number Placeholder 3"/>
          <p:cNvSpPr>
            <a:spLocks noGrp="1"/>
          </p:cNvSpPr>
          <p:nvPr>
            <p:ph type="sldNum" sz="quarter" idx="5"/>
          </p:nvPr>
        </p:nvSpPr>
        <p:spPr/>
        <p:txBody>
          <a:bodyPr/>
          <a:lstStyle/>
          <a:p>
            <a:fld id="{28BC6DA2-2425-7640-A467-8DCF2E5658D9}" type="slidenum">
              <a:rPr lang="en-US" smtClean="0"/>
              <a:t>11</a:t>
            </a:fld>
            <a:endParaRPr lang="en-US"/>
          </a:p>
        </p:txBody>
      </p:sp>
    </p:spTree>
    <p:extLst>
      <p:ext uri="{BB962C8B-B14F-4D97-AF65-F5344CB8AC3E}">
        <p14:creationId xmlns:p14="http://schemas.microsoft.com/office/powerpoint/2010/main" val="2477413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Modeling is the process of gaining a deeper understanding</a:t>
            </a:r>
          </a:p>
          <a:p>
            <a:r>
              <a:rPr lang="en-US" dirty="0"/>
              <a:t>of a system through imitation. Models specify what a system</a:t>
            </a:r>
          </a:p>
          <a:p>
            <a:r>
              <a:rPr lang="en-US" dirty="0"/>
              <a:t>does. </a:t>
            </a:r>
          </a:p>
          <a:p>
            <a:endParaRPr lang="en-US" dirty="0"/>
          </a:p>
          <a:p>
            <a:r>
              <a:rPr lang="en-US" dirty="0"/>
              <a:t>Design is the structured creation of artifacts. It specifies how</a:t>
            </a:r>
          </a:p>
          <a:p>
            <a:r>
              <a:rPr lang="en-US" dirty="0"/>
              <a:t>a system does what it does. This includes optimization.</a:t>
            </a:r>
          </a:p>
          <a:p>
            <a:endParaRPr lang="en-US" dirty="0"/>
          </a:p>
          <a:p>
            <a:r>
              <a:rPr lang="en-US" dirty="0"/>
              <a:t>Analysis is the process of gaining a deeper understanding of</a:t>
            </a:r>
          </a:p>
          <a:p>
            <a:r>
              <a:rPr lang="en-US" dirty="0"/>
              <a:t>a system through dissection. It specifies why a system does</a:t>
            </a:r>
          </a:p>
          <a:p>
            <a:r>
              <a:rPr lang="en-US" dirty="0"/>
              <a:t>what it does (or fails to do what a model says it should do).</a:t>
            </a:r>
          </a:p>
        </p:txBody>
      </p:sp>
      <p:sp>
        <p:nvSpPr>
          <p:cNvPr id="4" name="Slide Number Placeholder 3"/>
          <p:cNvSpPr>
            <a:spLocks noGrp="1"/>
          </p:cNvSpPr>
          <p:nvPr>
            <p:ph type="sldNum" sz="quarter" idx="10"/>
          </p:nvPr>
        </p:nvSpPr>
        <p:spPr/>
        <p:txBody>
          <a:bodyPr/>
          <a:lstStyle/>
          <a:p>
            <a:fld id="{28BC6DA2-2425-7640-A467-8DCF2E5658D9}" type="slidenum">
              <a:rPr lang="en-US" smtClean="0"/>
              <a:t>13</a:t>
            </a:fld>
            <a:endParaRPr lang="en-US"/>
          </a:p>
        </p:txBody>
      </p:sp>
    </p:spTree>
    <p:extLst>
      <p:ext uri="{BB962C8B-B14F-4D97-AF65-F5344CB8AC3E}">
        <p14:creationId xmlns:p14="http://schemas.microsoft.com/office/powerpoint/2010/main" val="2532415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cost effective </a:t>
            </a:r>
            <a:r>
              <a:rPr lang="en-US" dirty="0">
                <a:solidFill>
                  <a:srgbClr val="C00000"/>
                </a:solidFill>
              </a:rPr>
              <a:t>Methodology initially developed at AFIT</a:t>
            </a:r>
          </a:p>
          <a:p>
            <a:endParaRPr lang="en-US" dirty="0">
              <a:solidFill>
                <a:srgbClr val="C00000"/>
              </a:solidFill>
            </a:endParaRPr>
          </a:p>
          <a:p>
            <a:endParaRPr lang="en-US" dirty="0"/>
          </a:p>
          <a:p>
            <a:r>
              <a:rPr lang="en-US" dirty="0"/>
              <a:t>Total system approach, focused on mission assurance, using a </a:t>
            </a:r>
            <a:r>
              <a:rPr lang="en-US" dirty="0" err="1"/>
              <a:t>unique,validated</a:t>
            </a:r>
            <a:r>
              <a:rPr lang="en-US" dirty="0"/>
              <a:t> analysis methodology</a:t>
            </a:r>
          </a:p>
        </p:txBody>
      </p:sp>
      <p:sp>
        <p:nvSpPr>
          <p:cNvPr id="4" name="Slide Number Placeholder 3"/>
          <p:cNvSpPr>
            <a:spLocks noGrp="1"/>
          </p:cNvSpPr>
          <p:nvPr>
            <p:ph type="sldNum" sz="quarter" idx="10"/>
          </p:nvPr>
        </p:nvSpPr>
        <p:spPr/>
        <p:txBody>
          <a:bodyPr/>
          <a:lstStyle/>
          <a:p>
            <a:fld id="{28BC6DA2-2425-7640-A467-8DCF2E5658D9}" type="slidenum">
              <a:rPr lang="en-US" smtClean="0"/>
              <a:t>14</a:t>
            </a:fld>
            <a:endParaRPr lang="en-US"/>
          </a:p>
        </p:txBody>
      </p:sp>
    </p:spTree>
    <p:extLst>
      <p:ext uri="{BB962C8B-B14F-4D97-AF65-F5344CB8AC3E}">
        <p14:creationId xmlns:p14="http://schemas.microsoft.com/office/powerpoint/2010/main" val="3166171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cost effective </a:t>
            </a:r>
            <a:r>
              <a:rPr lang="en-US" dirty="0">
                <a:solidFill>
                  <a:srgbClr val="C00000"/>
                </a:solidFill>
              </a:rPr>
              <a:t>Methodology initially developed at AFIT</a:t>
            </a:r>
          </a:p>
          <a:p>
            <a:endParaRPr lang="en-US" dirty="0">
              <a:solidFill>
                <a:srgbClr val="C00000"/>
              </a:solidFill>
            </a:endParaRPr>
          </a:p>
          <a:p>
            <a:endParaRPr lang="en-US" dirty="0"/>
          </a:p>
          <a:p>
            <a:r>
              <a:rPr lang="en-US" dirty="0"/>
              <a:t>Total system approach, focused on mission assurance, using a </a:t>
            </a:r>
            <a:r>
              <a:rPr lang="en-US" dirty="0" err="1"/>
              <a:t>unique,validated</a:t>
            </a:r>
            <a:r>
              <a:rPr lang="en-US" dirty="0"/>
              <a:t> analysis methodology</a:t>
            </a:r>
          </a:p>
        </p:txBody>
      </p:sp>
      <p:sp>
        <p:nvSpPr>
          <p:cNvPr id="4" name="Slide Number Placeholder 3"/>
          <p:cNvSpPr>
            <a:spLocks noGrp="1"/>
          </p:cNvSpPr>
          <p:nvPr>
            <p:ph type="sldNum" sz="quarter" idx="10"/>
          </p:nvPr>
        </p:nvSpPr>
        <p:spPr/>
        <p:txBody>
          <a:bodyPr/>
          <a:lstStyle/>
          <a:p>
            <a:fld id="{28BC6DA2-2425-7640-A467-8DCF2E5658D9}" type="slidenum">
              <a:rPr lang="en-US" smtClean="0"/>
              <a:t>15</a:t>
            </a:fld>
            <a:endParaRPr lang="en-US"/>
          </a:p>
        </p:txBody>
      </p:sp>
    </p:spTree>
    <p:extLst>
      <p:ext uri="{BB962C8B-B14F-4D97-AF65-F5344CB8AC3E}">
        <p14:creationId xmlns:p14="http://schemas.microsoft.com/office/powerpoint/2010/main" val="1945857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Bus - common backbone connects all devices (No access control, so confidentiality, integrity, availability can be compromised)</a:t>
            </a:r>
          </a:p>
          <a:p>
            <a:endParaRPr lang="en-US" dirty="0"/>
          </a:p>
        </p:txBody>
      </p:sp>
      <p:sp>
        <p:nvSpPr>
          <p:cNvPr id="4" name="Slide Number Placeholder 3"/>
          <p:cNvSpPr>
            <a:spLocks noGrp="1"/>
          </p:cNvSpPr>
          <p:nvPr>
            <p:ph type="sldNum" sz="quarter" idx="5"/>
          </p:nvPr>
        </p:nvSpPr>
        <p:spPr/>
        <p:txBody>
          <a:bodyPr/>
          <a:lstStyle/>
          <a:p>
            <a:fld id="{28BC6DA2-2425-7640-A467-8DCF2E5658D9}" type="slidenum">
              <a:rPr lang="en-US" smtClean="0"/>
              <a:t>16</a:t>
            </a:fld>
            <a:endParaRPr lang="en-US"/>
          </a:p>
        </p:txBody>
      </p:sp>
    </p:spTree>
    <p:extLst>
      <p:ext uri="{BB962C8B-B14F-4D97-AF65-F5344CB8AC3E}">
        <p14:creationId xmlns:p14="http://schemas.microsoft.com/office/powerpoint/2010/main" val="2218739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C00000"/>
                </a:solidFill>
              </a:rPr>
              <a:t>MIL-STD-1553: real time requirement</a:t>
            </a:r>
            <a:endParaRPr lang="en-US" dirty="0"/>
          </a:p>
          <a:p>
            <a:r>
              <a:rPr lang="en-US" dirty="0"/>
              <a:t>Bus - common backbone connects all devices (No access control, so confidentiality, integrity, availability can be compromised)</a:t>
            </a:r>
          </a:p>
          <a:p>
            <a:r>
              <a:rPr lang="en-US" dirty="0"/>
              <a:t>Single cable backbone -shared communication medium</a:t>
            </a:r>
          </a:p>
          <a:p>
            <a:r>
              <a:rPr lang="en-US" dirty="0"/>
              <a:t>All devices attach or tap into with an interface connector</a:t>
            </a:r>
          </a:p>
          <a:p>
            <a:r>
              <a:rPr lang="en-US" dirty="0"/>
              <a:t>All messages are broadcast onto the wire that all other devices see, only the intended recipient acts on it</a:t>
            </a:r>
          </a:p>
          <a:p>
            <a:endParaRPr lang="en-US" dirty="0"/>
          </a:p>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17</a:t>
            </a:fld>
            <a:endParaRPr lang="en-US"/>
          </a:p>
        </p:txBody>
      </p:sp>
    </p:spTree>
    <p:extLst>
      <p:ext uri="{BB962C8B-B14F-4D97-AF65-F5344CB8AC3E}">
        <p14:creationId xmlns:p14="http://schemas.microsoft.com/office/powerpoint/2010/main" val="2654922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 Graph (Attack Tree)</a:t>
            </a:r>
          </a:p>
          <a:p>
            <a:r>
              <a:rPr lang="en-US" dirty="0"/>
              <a:t>Bus - common backbone connects all devices (No access control, so confidentiality, integrity, availability can be compromised)</a:t>
            </a:r>
          </a:p>
          <a:p>
            <a:r>
              <a:rPr lang="en-US" dirty="0"/>
              <a:t>Single cable backbone -shared communication medium</a:t>
            </a:r>
          </a:p>
          <a:p>
            <a:r>
              <a:rPr lang="en-US" dirty="0"/>
              <a:t>All devices attach or tap into with an interface connector</a:t>
            </a:r>
          </a:p>
          <a:p>
            <a:r>
              <a:rPr lang="en-US" dirty="0"/>
              <a:t>All messages are broadcast onto the wire that all other devices see, only the intended recipient acts on it</a:t>
            </a:r>
          </a:p>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18</a:t>
            </a:fld>
            <a:endParaRPr lang="en-US"/>
          </a:p>
        </p:txBody>
      </p:sp>
    </p:spTree>
    <p:extLst>
      <p:ext uri="{BB962C8B-B14F-4D97-AF65-F5344CB8AC3E}">
        <p14:creationId xmlns:p14="http://schemas.microsoft.com/office/powerpoint/2010/main" val="25406211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u="none" strike="noStrike" kern="1200" baseline="0" dirty="0">
                <a:solidFill>
                  <a:schemeClr val="tx1"/>
                </a:solidFill>
                <a:latin typeface="+mn-lt"/>
                <a:ea typeface="+mn-ea"/>
                <a:cs typeface="+mn-cs"/>
              </a:rPr>
              <a:t>On-Board Diagnostics (OBD port to diagnose the car)</a:t>
            </a:r>
          </a:p>
          <a:p>
            <a:pPr lvl="1"/>
            <a:endParaRPr lang="en-US" sz="1200" b="0" i="0" u="none" strike="noStrike" kern="1200" baseline="0" dirty="0">
              <a:solidFill>
                <a:schemeClr val="tx1"/>
              </a:solidFill>
              <a:latin typeface="+mn-lt"/>
              <a:ea typeface="+mn-ea"/>
              <a:cs typeface="+mn-cs"/>
            </a:endParaRPr>
          </a:p>
          <a:p>
            <a:pPr lvl="1"/>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19</a:t>
            </a:fld>
            <a:endParaRPr lang="en-US"/>
          </a:p>
        </p:txBody>
      </p:sp>
    </p:spTree>
    <p:extLst>
      <p:ext uri="{BB962C8B-B14F-4D97-AF65-F5344CB8AC3E}">
        <p14:creationId xmlns:p14="http://schemas.microsoft.com/office/powerpoint/2010/main" val="1011032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u="none" strike="noStrike" kern="1200" baseline="0" dirty="0">
                <a:solidFill>
                  <a:schemeClr val="tx1"/>
                </a:solidFill>
                <a:latin typeface="+mn-lt"/>
                <a:ea typeface="+mn-ea"/>
                <a:cs typeface="+mn-cs"/>
              </a:rPr>
              <a:t>On-Board Diagnostics</a:t>
            </a:r>
          </a:p>
          <a:p>
            <a:pPr lvl="1"/>
            <a:endParaRPr lang="en-US" sz="1200" b="0" i="0" u="none" strike="noStrike" kern="1200" baseline="0" dirty="0">
              <a:solidFill>
                <a:schemeClr val="tx1"/>
              </a:solidFill>
              <a:latin typeface="+mn-lt"/>
              <a:ea typeface="+mn-ea"/>
              <a:cs typeface="+mn-cs"/>
            </a:endParaRPr>
          </a:p>
          <a:p>
            <a:pPr lvl="1"/>
            <a:r>
              <a:rPr lang="en-US" sz="1200" b="0" i="0" u="none" strike="noStrike" kern="1200" baseline="0" dirty="0">
                <a:solidFill>
                  <a:schemeClr val="tx1"/>
                </a:solidFill>
                <a:latin typeface="+mn-lt"/>
                <a:ea typeface="+mn-ea"/>
                <a:cs typeface="+mn-cs"/>
              </a:rPr>
              <a:t>When phones can be connected to the multi-media system or the GPS system of the car, the car become vulnerable </a:t>
            </a:r>
          </a:p>
          <a:p>
            <a:pPr lvl="1"/>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21</a:t>
            </a:fld>
            <a:endParaRPr lang="en-US"/>
          </a:p>
        </p:txBody>
      </p:sp>
    </p:spTree>
    <p:extLst>
      <p:ext uri="{BB962C8B-B14F-4D97-AF65-F5344CB8AC3E}">
        <p14:creationId xmlns:p14="http://schemas.microsoft.com/office/powerpoint/2010/main" val="1639577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point communication</a:t>
            </a:r>
          </a:p>
        </p:txBody>
      </p:sp>
      <p:sp>
        <p:nvSpPr>
          <p:cNvPr id="4" name="Slide Number Placeholder 3"/>
          <p:cNvSpPr>
            <a:spLocks noGrp="1"/>
          </p:cNvSpPr>
          <p:nvPr>
            <p:ph type="sldNum" sz="quarter" idx="10"/>
          </p:nvPr>
        </p:nvSpPr>
        <p:spPr/>
        <p:txBody>
          <a:bodyPr/>
          <a:lstStyle/>
          <a:p>
            <a:fld id="{28BC6DA2-2425-7640-A467-8DCF2E5658D9}" type="slidenum">
              <a:rPr lang="en-US" smtClean="0"/>
              <a:t>22</a:t>
            </a:fld>
            <a:endParaRPr lang="en-US"/>
          </a:p>
        </p:txBody>
      </p:sp>
    </p:spTree>
    <p:extLst>
      <p:ext uri="{BB962C8B-B14F-4D97-AF65-F5344CB8AC3E}">
        <p14:creationId xmlns:p14="http://schemas.microsoft.com/office/powerpoint/2010/main" val="2858060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 - common backbone connects all devices</a:t>
            </a:r>
          </a:p>
          <a:p>
            <a:endParaRPr lang="en-US" dirty="0"/>
          </a:p>
          <a:p>
            <a:r>
              <a:rPr lang="en-US" dirty="0"/>
              <a:t>Single cable backbone -shared communication medium</a:t>
            </a:r>
          </a:p>
          <a:p>
            <a:endParaRPr lang="en-US" dirty="0"/>
          </a:p>
          <a:p>
            <a:r>
              <a:rPr lang="en-US" dirty="0"/>
              <a:t>All devices attach or tap into with an interface connector</a:t>
            </a:r>
          </a:p>
          <a:p>
            <a:endParaRPr lang="en-US" dirty="0"/>
          </a:p>
          <a:p>
            <a:r>
              <a:rPr lang="en-US" dirty="0"/>
              <a:t>All messages are broadcast onto the wire that all other devices see, only the intended recipient acts on it</a:t>
            </a:r>
          </a:p>
          <a:p>
            <a:endParaRPr lang="en-US" dirty="0"/>
          </a:p>
          <a:p>
            <a:r>
              <a:rPr lang="en-US" dirty="0"/>
              <a:t>Best with a limited number of devices ... more than a few dozen causes performance problems</a:t>
            </a:r>
          </a:p>
          <a:p>
            <a:endParaRPr lang="en-US" dirty="0"/>
          </a:p>
          <a:p>
            <a:r>
              <a:rPr lang="en-US" dirty="0"/>
              <a:t>If the backbone cable fails, the entire network fails</a:t>
            </a:r>
          </a:p>
        </p:txBody>
      </p:sp>
      <p:sp>
        <p:nvSpPr>
          <p:cNvPr id="4" name="Slide Number Placeholder 3"/>
          <p:cNvSpPr>
            <a:spLocks noGrp="1"/>
          </p:cNvSpPr>
          <p:nvPr>
            <p:ph type="sldNum" sz="quarter" idx="10"/>
          </p:nvPr>
        </p:nvSpPr>
        <p:spPr/>
        <p:txBody>
          <a:bodyPr/>
          <a:lstStyle/>
          <a:p>
            <a:fld id="{28BC6DA2-2425-7640-A467-8DCF2E5658D9}" type="slidenum">
              <a:rPr lang="en-US" smtClean="0"/>
              <a:t>23</a:t>
            </a:fld>
            <a:endParaRPr lang="en-US"/>
          </a:p>
        </p:txBody>
      </p:sp>
    </p:spTree>
    <p:extLst>
      <p:ext uri="{BB962C8B-B14F-4D97-AF65-F5344CB8AC3E}">
        <p14:creationId xmlns:p14="http://schemas.microsoft.com/office/powerpoint/2010/main" val="2166313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CAN (Controller Area Network) developed in 1980s for automotive applications</a:t>
            </a:r>
          </a:p>
          <a:p>
            <a:endParaRPr lang="en-US" altLang="en-US" sz="1200" dirty="0"/>
          </a:p>
          <a:p>
            <a:r>
              <a:rPr lang="en-US" altLang="en-US" sz="1200" dirty="0"/>
              <a:t>CAN controller &amp; transceiver chips are reasonably priced due to high quantities required in the automotive industry. These facts have made it attractive to developers of non-automotive systems</a:t>
            </a:r>
          </a:p>
          <a:p>
            <a:endParaRPr lang="en-US" altLang="en-US" sz="1200" dirty="0"/>
          </a:p>
          <a:p>
            <a:r>
              <a:rPr lang="en-US" altLang="en-US" sz="1200" dirty="0"/>
              <a:t>Rail vehicles - CAN-based systems are used to connect control devices, sensors or drives. </a:t>
            </a:r>
          </a:p>
          <a:p>
            <a:endParaRPr lang="en-US" altLang="en-US" sz="1200" dirty="0"/>
          </a:p>
          <a:p>
            <a:r>
              <a:rPr lang="en-US" altLang="en-US" sz="1200" dirty="0"/>
              <a:t>CAN bus used in space systems of several different countries including the U.S.</a:t>
            </a:r>
          </a:p>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24</a:t>
            </a:fld>
            <a:endParaRPr lang="en-US"/>
          </a:p>
        </p:txBody>
      </p:sp>
    </p:spTree>
    <p:extLst>
      <p:ext uri="{BB962C8B-B14F-4D97-AF65-F5344CB8AC3E}">
        <p14:creationId xmlns:p14="http://schemas.microsoft.com/office/powerpoint/2010/main" val="4043932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CAN defines physical and data link layers (Layer1 and 2 of the 7-layer OSI reference model)</a:t>
            </a:r>
          </a:p>
          <a:p>
            <a:endParaRPr lang="en-US" altLang="en-US" sz="1200" dirty="0"/>
          </a:p>
          <a:p>
            <a:r>
              <a:rPr lang="en-US" altLang="en-US" sz="1200" dirty="0"/>
              <a:t>A higher layer protocol was required (e.g. like TCP was needed for IP)</a:t>
            </a:r>
          </a:p>
          <a:p>
            <a:endParaRPr lang="en-US" altLang="en-US" sz="1200" dirty="0"/>
          </a:p>
          <a:p>
            <a:r>
              <a:rPr lang="en-US" altLang="en-US" sz="1200" dirty="0"/>
              <a:t>CAN open is a CAN-based higher layer protocol that was developed as a standardized embedded network with highly flexible configuration capabilities</a:t>
            </a:r>
          </a:p>
          <a:p>
            <a:endParaRPr lang="en-US" altLang="en-US" sz="1200" dirty="0"/>
          </a:p>
          <a:p>
            <a:r>
              <a:rPr lang="en-US" altLang="en-US" sz="1200" dirty="0"/>
              <a:t>CAN Protocol:</a:t>
            </a:r>
          </a:p>
          <a:p>
            <a:endParaRPr lang="en-US" altLang="en-US" sz="1200" dirty="0"/>
          </a:p>
          <a:p>
            <a:r>
              <a:rPr lang="en-US" altLang="en-US" sz="1200" dirty="0"/>
              <a:t>No addresses – uses publish &amp; subscribe communications model</a:t>
            </a:r>
          </a:p>
          <a:p>
            <a:r>
              <a:rPr lang="en-US" altLang="en-US" sz="1200" dirty="0"/>
              <a:t>CAN ID header indicates packet type</a:t>
            </a:r>
          </a:p>
          <a:p>
            <a:r>
              <a:rPr lang="en-US" altLang="en-US" sz="1200" dirty="0"/>
              <a:t>All packets broadcast to all nodes</a:t>
            </a:r>
          </a:p>
          <a:p>
            <a:r>
              <a:rPr lang="en-US" altLang="en-US" sz="1200" dirty="0"/>
              <a:t>Each node determines whether or not to process the packet(s)</a:t>
            </a:r>
          </a:p>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25</a:t>
            </a:fld>
            <a:endParaRPr lang="en-US"/>
          </a:p>
        </p:txBody>
      </p:sp>
    </p:spTree>
    <p:extLst>
      <p:ext uri="{BB962C8B-B14F-4D97-AF65-F5344CB8AC3E}">
        <p14:creationId xmlns:p14="http://schemas.microsoft.com/office/powerpoint/2010/main" val="36478329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When phones can be connected to the multi-media system or the GPS system of the car, the car become vulnerable </a:t>
            </a:r>
          </a:p>
          <a:p>
            <a:endParaRPr lang="en-US" dirty="0"/>
          </a:p>
        </p:txBody>
      </p:sp>
      <p:sp>
        <p:nvSpPr>
          <p:cNvPr id="4" name="Slide Number Placeholder 3"/>
          <p:cNvSpPr>
            <a:spLocks noGrp="1"/>
          </p:cNvSpPr>
          <p:nvPr>
            <p:ph type="sldNum" sz="quarter" idx="5"/>
          </p:nvPr>
        </p:nvSpPr>
        <p:spPr/>
        <p:txBody>
          <a:bodyPr/>
          <a:lstStyle/>
          <a:p>
            <a:fld id="{28BC6DA2-2425-7640-A467-8DCF2E5658D9}" type="slidenum">
              <a:rPr lang="en-US" smtClean="0"/>
              <a:t>26</a:t>
            </a:fld>
            <a:endParaRPr lang="en-US"/>
          </a:p>
        </p:txBody>
      </p:sp>
    </p:spTree>
    <p:extLst>
      <p:ext uri="{BB962C8B-B14F-4D97-AF65-F5344CB8AC3E}">
        <p14:creationId xmlns:p14="http://schemas.microsoft.com/office/powerpoint/2010/main" val="718960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latin typeface="Arial" panose="020B0604020202020204" pitchFamily="34" charset="0"/>
              </a:rPr>
              <a:t>Separation of Network -  Different Can Buses separated with Gateways</a:t>
            </a:r>
          </a:p>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27</a:t>
            </a:fld>
            <a:endParaRPr lang="en-US"/>
          </a:p>
        </p:txBody>
      </p:sp>
    </p:spTree>
    <p:extLst>
      <p:ext uri="{BB962C8B-B14F-4D97-AF65-F5344CB8AC3E}">
        <p14:creationId xmlns:p14="http://schemas.microsoft.com/office/powerpoint/2010/main" val="4125263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28</a:t>
            </a:fld>
            <a:endParaRPr lang="en-US"/>
          </a:p>
        </p:txBody>
      </p:sp>
    </p:spTree>
    <p:extLst>
      <p:ext uri="{BB962C8B-B14F-4D97-AF65-F5344CB8AC3E}">
        <p14:creationId xmlns:p14="http://schemas.microsoft.com/office/powerpoint/2010/main" val="20758326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31</a:t>
            </a:fld>
            <a:endParaRPr lang="en-US"/>
          </a:p>
        </p:txBody>
      </p:sp>
    </p:spTree>
    <p:extLst>
      <p:ext uri="{BB962C8B-B14F-4D97-AF65-F5344CB8AC3E}">
        <p14:creationId xmlns:p14="http://schemas.microsoft.com/office/powerpoint/2010/main" val="1760803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C2A9C1F-E079-8444-B056-7C23D397D3F3}" type="datetimeFigureOut">
              <a:rPr lang="en-US" smtClean="0"/>
              <a:t>11/29/2023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211725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2A9C1F-E079-8444-B056-7C23D397D3F3}" type="datetimeFigureOut">
              <a:rPr lang="en-US" smtClean="0"/>
              <a:t>11/29/2023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1733356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2A9C1F-E079-8444-B056-7C23D397D3F3}" type="datetimeFigureOut">
              <a:rPr lang="en-US" smtClean="0"/>
              <a:t>11/29/2023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233996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2A9C1F-E079-8444-B056-7C23D397D3F3}" type="datetimeFigureOut">
              <a:rPr lang="en-US" smtClean="0"/>
              <a:t>11/29/2023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2109825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2A9C1F-E079-8444-B056-7C23D397D3F3}" type="datetimeFigureOut">
              <a:rPr lang="en-US" smtClean="0"/>
              <a:t>11/29/2023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116110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2A9C1F-E079-8444-B056-7C23D397D3F3}" type="datetimeFigureOut">
              <a:rPr lang="en-US" smtClean="0"/>
              <a:t>11/29/2023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4124703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2A9C1F-E079-8444-B056-7C23D397D3F3}" type="datetimeFigureOut">
              <a:rPr lang="en-US" smtClean="0"/>
              <a:t>11/29/2023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253427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2A9C1F-E079-8444-B056-7C23D397D3F3}" type="datetimeFigureOut">
              <a:rPr lang="en-US" smtClean="0"/>
              <a:t>11/29/2023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2348654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2A9C1F-E079-8444-B056-7C23D397D3F3}" type="datetimeFigureOut">
              <a:rPr lang="en-US" smtClean="0"/>
              <a:t>11/29/2023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3404057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2A9C1F-E079-8444-B056-7C23D397D3F3}" type="datetimeFigureOut">
              <a:rPr lang="en-US" smtClean="0"/>
              <a:t>11/29/2023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3802384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2A9C1F-E079-8444-B056-7C23D397D3F3}" type="datetimeFigureOut">
              <a:rPr lang="en-US" smtClean="0"/>
              <a:t>11/29/2023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7146A-A1AA-BD4E-AF98-B44FFCFC6B8A}" type="slidenum">
              <a:rPr lang="en-US" smtClean="0"/>
              <a:t>‹#›</a:t>
            </a:fld>
            <a:endParaRPr lang="en-US"/>
          </a:p>
        </p:txBody>
      </p:sp>
    </p:spTree>
    <p:extLst>
      <p:ext uri="{BB962C8B-B14F-4D97-AF65-F5344CB8AC3E}">
        <p14:creationId xmlns:p14="http://schemas.microsoft.com/office/powerpoint/2010/main" val="3629617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2A9C1F-E079-8444-B056-7C23D397D3F3}" type="datetimeFigureOut">
              <a:rPr lang="en-US" smtClean="0"/>
              <a:t>11/29/2023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27146A-A1AA-BD4E-AF98-B44FFCFC6B8A}" type="slidenum">
              <a:rPr lang="en-US" smtClean="0"/>
              <a:t>‹#›</a:t>
            </a:fld>
            <a:endParaRPr lang="en-US"/>
          </a:p>
        </p:txBody>
      </p:sp>
    </p:spTree>
    <p:extLst>
      <p:ext uri="{BB962C8B-B14F-4D97-AF65-F5344CB8AC3E}">
        <p14:creationId xmlns:p14="http://schemas.microsoft.com/office/powerpoint/2010/main" val="1811251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hyperlink" Target="https://www.liftware.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3278" y="818460"/>
            <a:ext cx="7772400" cy="1470025"/>
          </a:xfrm>
        </p:spPr>
        <p:txBody>
          <a:bodyPr/>
          <a:lstStyle/>
          <a:p>
            <a:r>
              <a:rPr lang="en-US" dirty="0">
                <a:solidFill>
                  <a:srgbClr val="C00000"/>
                </a:solidFill>
              </a:rPr>
              <a:t>Cyber Physical Systems</a:t>
            </a:r>
          </a:p>
        </p:txBody>
      </p:sp>
      <p:sp>
        <p:nvSpPr>
          <p:cNvPr id="3" name="Subtitle 2"/>
          <p:cNvSpPr>
            <a:spLocks noGrp="1"/>
          </p:cNvSpPr>
          <p:nvPr>
            <p:ph type="subTitle" idx="1"/>
          </p:nvPr>
        </p:nvSpPr>
        <p:spPr/>
        <p:txBody>
          <a:bodyPr>
            <a:normAutofit fontScale="92500" lnSpcReduction="10000"/>
          </a:bodyPr>
          <a:lstStyle/>
          <a:p>
            <a:pPr algn="l"/>
            <a:r>
              <a:rPr lang="en-US" altLang="en-US" dirty="0">
                <a:solidFill>
                  <a:schemeClr val="tx1"/>
                </a:solidFill>
              </a:rPr>
              <a:t>This lecture is mainly based on the </a:t>
            </a:r>
            <a:r>
              <a:rPr lang="en-US" altLang="en-US" dirty="0" err="1">
                <a:solidFill>
                  <a:schemeClr val="tx1"/>
                </a:solidFill>
              </a:rPr>
              <a:t>powerpoint</a:t>
            </a:r>
            <a:r>
              <a:rPr lang="en-US" altLang="en-US" dirty="0">
                <a:solidFill>
                  <a:schemeClr val="tx1"/>
                </a:solidFill>
              </a:rPr>
              <a:t> slides by Prof. Mark Stamp, Prof. Lawrie Brown,  Dr. </a:t>
            </a:r>
            <a:r>
              <a:rPr lang="en-US" altLang="en-US" dirty="0" err="1">
                <a:solidFill>
                  <a:schemeClr val="tx1"/>
                </a:solidFill>
              </a:rPr>
              <a:t>Junjie</a:t>
            </a:r>
            <a:r>
              <a:rPr lang="en-US" altLang="en-US" dirty="0">
                <a:solidFill>
                  <a:schemeClr val="tx1"/>
                </a:solidFill>
              </a:rPr>
              <a:t> Zhang, Mr. Vance Sanders</a:t>
            </a:r>
            <a:endParaRPr lang="en-US" dirty="0">
              <a:solidFill>
                <a:schemeClr val="tx1"/>
              </a:solidFill>
            </a:endParaRPr>
          </a:p>
          <a:p>
            <a:pPr algn="l"/>
            <a:endParaRPr lang="en-US" dirty="0"/>
          </a:p>
        </p:txBody>
      </p:sp>
    </p:spTree>
    <p:extLst>
      <p:ext uri="{BB962C8B-B14F-4D97-AF65-F5344CB8AC3E}">
        <p14:creationId xmlns:p14="http://schemas.microsoft.com/office/powerpoint/2010/main" val="2722343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NSF’s definition of Cyber-Physical Systems</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en-US" sz="2800" dirty="0"/>
              <a:t>Cyber-physical systems (CPS) are engineered systems that are</a:t>
            </a:r>
          </a:p>
          <a:p>
            <a:pPr marL="0" indent="0">
              <a:buNone/>
            </a:pPr>
            <a:r>
              <a:rPr lang="en-US" sz="2800" dirty="0"/>
              <a:t>built from, and depend upon, the </a:t>
            </a:r>
            <a:r>
              <a:rPr lang="en-US" sz="2800" dirty="0">
                <a:solidFill>
                  <a:srgbClr val="C00000"/>
                </a:solidFill>
              </a:rPr>
              <a:t>seamless integration</a:t>
            </a:r>
            <a:r>
              <a:rPr lang="en-US" sz="2800" dirty="0">
                <a:solidFill>
                  <a:schemeClr val="tx2"/>
                </a:solidFill>
              </a:rPr>
              <a:t> </a:t>
            </a:r>
            <a:r>
              <a:rPr lang="en-US" sz="2800" dirty="0"/>
              <a:t>of</a:t>
            </a:r>
          </a:p>
          <a:p>
            <a:pPr marL="0" indent="0">
              <a:buNone/>
            </a:pPr>
            <a:r>
              <a:rPr lang="en-US" sz="2800" dirty="0"/>
              <a:t>computation and physical components.</a:t>
            </a:r>
          </a:p>
          <a:p>
            <a:pPr marL="0" indent="0">
              <a:buNone/>
            </a:pPr>
            <a:endParaRPr lang="en-US" sz="2800" dirty="0"/>
          </a:p>
          <a:p>
            <a:pPr marL="0" indent="0">
              <a:buNone/>
            </a:pPr>
            <a:r>
              <a:rPr lang="en-US" sz="2800" dirty="0"/>
              <a:t>Advances in CPS will </a:t>
            </a:r>
            <a:r>
              <a:rPr lang="en-US" sz="2800" dirty="0">
                <a:solidFill>
                  <a:srgbClr val="FF0000"/>
                </a:solidFill>
              </a:rPr>
              <a:t>enable</a:t>
            </a:r>
            <a:r>
              <a:rPr lang="en-US" sz="2800" dirty="0"/>
              <a:t> capability, adaptability,</a:t>
            </a:r>
          </a:p>
          <a:p>
            <a:pPr marL="0" indent="0">
              <a:buNone/>
            </a:pPr>
            <a:r>
              <a:rPr lang="en-US" sz="2800" dirty="0"/>
              <a:t>scalability, resiliency, safety, security, and usability that will</a:t>
            </a:r>
          </a:p>
          <a:p>
            <a:pPr marL="0" indent="0">
              <a:buNone/>
            </a:pPr>
            <a:r>
              <a:rPr lang="en-US" sz="2800" dirty="0"/>
              <a:t>expand the horizons of these critical systems.</a:t>
            </a:r>
          </a:p>
          <a:p>
            <a:pPr marL="0" indent="0">
              <a:buNone/>
            </a:pPr>
            <a:endParaRPr lang="en-US" sz="2800" dirty="0"/>
          </a:p>
          <a:p>
            <a:pPr marL="0" indent="0">
              <a:buNone/>
            </a:pPr>
            <a:r>
              <a:rPr lang="en-US" sz="2800" dirty="0"/>
              <a:t>CPS technologies </a:t>
            </a:r>
            <a:r>
              <a:rPr lang="en-US" sz="2800" dirty="0">
                <a:solidFill>
                  <a:srgbClr val="C00000"/>
                </a:solidFill>
              </a:rPr>
              <a:t>are transforming the way people interact</a:t>
            </a:r>
          </a:p>
          <a:p>
            <a:pPr marL="0" indent="0">
              <a:buNone/>
            </a:pPr>
            <a:r>
              <a:rPr lang="en-US" sz="2800" dirty="0"/>
              <a:t>with engineered systems, just as the Internet has transformed</a:t>
            </a:r>
          </a:p>
          <a:p>
            <a:pPr marL="0" indent="0">
              <a:buNone/>
            </a:pPr>
            <a:r>
              <a:rPr lang="en-US" sz="2800" dirty="0"/>
              <a:t>the way people interact with information.</a:t>
            </a:r>
            <a:endParaRPr lang="en-US" dirty="0"/>
          </a:p>
        </p:txBody>
      </p:sp>
    </p:spTree>
    <p:extLst>
      <p:ext uri="{BB962C8B-B14F-4D97-AF65-F5344CB8AC3E}">
        <p14:creationId xmlns:p14="http://schemas.microsoft.com/office/powerpoint/2010/main" val="2643450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NSF’s definition of Cyber-Physical Systems</a:t>
            </a:r>
            <a:endParaRPr lang="en-US" dirty="0"/>
          </a:p>
        </p:txBody>
      </p:sp>
      <p:pic>
        <p:nvPicPr>
          <p:cNvPr id="5" name="Picture 4"/>
          <p:cNvPicPr>
            <a:picLocks noChangeAspect="1"/>
          </p:cNvPicPr>
          <p:nvPr/>
        </p:nvPicPr>
        <p:blipFill>
          <a:blip r:embed="rId2"/>
          <a:stretch>
            <a:fillRect/>
          </a:stretch>
        </p:blipFill>
        <p:spPr>
          <a:xfrm>
            <a:off x="0" y="1783481"/>
            <a:ext cx="9144000" cy="4476372"/>
          </a:xfrm>
          <a:prstGeom prst="rect">
            <a:avLst/>
          </a:prstGeom>
        </p:spPr>
      </p:pic>
    </p:spTree>
    <p:extLst>
      <p:ext uri="{BB962C8B-B14F-4D97-AF65-F5344CB8AC3E}">
        <p14:creationId xmlns:p14="http://schemas.microsoft.com/office/powerpoint/2010/main" val="2388526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What is a sensor? An actuator?</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2800" dirty="0"/>
              <a:t>A sensor is a device that measures a physical quantity</a:t>
            </a:r>
          </a:p>
          <a:p>
            <a:pPr marL="400050" lvl="1" indent="0">
              <a:buNone/>
            </a:pPr>
            <a:r>
              <a:rPr lang="en-US" sz="2400" dirty="0"/>
              <a:t>Input / “Read from physical world”</a:t>
            </a:r>
          </a:p>
          <a:p>
            <a:pPr marL="0" indent="0">
              <a:buNone/>
            </a:pPr>
            <a:r>
              <a:rPr lang="en-US" sz="2800" dirty="0"/>
              <a:t>An actuator is a device that modifies a physical quantity</a:t>
            </a:r>
          </a:p>
          <a:p>
            <a:pPr marL="400050" lvl="1" indent="0">
              <a:buNone/>
            </a:pPr>
            <a:r>
              <a:rPr lang="en-US" sz="2400" dirty="0"/>
              <a:t>Output / “Write to physical world”</a:t>
            </a:r>
          </a:p>
          <a:p>
            <a:pPr marL="400050" lvl="1" indent="0">
              <a:buNone/>
            </a:pPr>
            <a:endParaRPr lang="en-US" sz="2400" dirty="0"/>
          </a:p>
          <a:p>
            <a:pPr marL="0" indent="0">
              <a:buNone/>
            </a:pPr>
            <a:r>
              <a:rPr lang="en-US" sz="2800" dirty="0"/>
              <a:t>Sensors: Cameras, Microphones, Magnetometers, Radar/Lidar, Chemical sensors, Pressure sensors, Switches</a:t>
            </a:r>
          </a:p>
          <a:p>
            <a:pPr marL="0" indent="0">
              <a:buNone/>
            </a:pPr>
            <a:r>
              <a:rPr lang="en-US" sz="2800" dirty="0"/>
              <a:t>Actuators: Motor controllers, LEDs, lasers,  LCD and plasma displays,  Loudspeakers,  Switches, Valves</a:t>
            </a:r>
          </a:p>
          <a:p>
            <a:pPr marL="400050" lvl="1" indent="0">
              <a:buNone/>
            </a:pPr>
            <a:endParaRPr lang="en-US" sz="2400" dirty="0"/>
          </a:p>
        </p:txBody>
      </p:sp>
    </p:spTree>
    <p:extLst>
      <p:ext uri="{BB962C8B-B14F-4D97-AF65-F5344CB8AC3E}">
        <p14:creationId xmlns:p14="http://schemas.microsoft.com/office/powerpoint/2010/main" val="2090964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4613"/>
            <a:ext cx="7886700" cy="533400"/>
          </a:xfrm>
        </p:spPr>
        <p:txBody>
          <a:bodyPr>
            <a:normAutofit fontScale="90000"/>
          </a:bodyPr>
          <a:lstStyle/>
          <a:p>
            <a:pPr algn="ctr"/>
            <a:r>
              <a:rPr lang="en-US" dirty="0">
                <a:solidFill>
                  <a:srgbClr val="C00000"/>
                </a:solidFill>
              </a:rPr>
              <a:t>Cyber-Physical Systems</a:t>
            </a:r>
          </a:p>
        </p:txBody>
      </p:sp>
      <p:sp>
        <p:nvSpPr>
          <p:cNvPr id="3" name="Content Placeholder 2"/>
          <p:cNvSpPr>
            <a:spLocks noGrp="1"/>
          </p:cNvSpPr>
          <p:nvPr>
            <p:ph idx="1"/>
          </p:nvPr>
        </p:nvSpPr>
        <p:spPr>
          <a:xfrm>
            <a:off x="6416951" y="1536702"/>
            <a:ext cx="2634888" cy="3985218"/>
          </a:xfrm>
        </p:spPr>
        <p:txBody>
          <a:bodyPr>
            <a:noAutofit/>
          </a:bodyPr>
          <a:lstStyle/>
          <a:p>
            <a:pPr lvl="0"/>
            <a:r>
              <a:rPr lang="en-US" sz="1388" dirty="0"/>
              <a:t>Examples include a smart gird, a self-driving car, a smart manufacturing plant, an intelligent transportation system, a smart city, and Internet of Things (IoT) instances connecting new devices for new data streams and new applications. </a:t>
            </a:r>
          </a:p>
          <a:p>
            <a:pPr lvl="0"/>
            <a:r>
              <a:rPr lang="en-US" sz="1388" dirty="0"/>
              <a:t>Common notions of IoT have emphasized networked sensors providing data streams to applications.</a:t>
            </a:r>
          </a:p>
          <a:p>
            <a:pPr lvl="0"/>
            <a:r>
              <a:rPr lang="en-US" sz="1388" dirty="0"/>
              <a:t>CPS concepts complete these IoT notions, providing the means for conceptualizing, realizing and assuring all aspects of the composed systems of which sensors and data streams are components. </a:t>
            </a:r>
          </a:p>
        </p:txBody>
      </p:sp>
      <p:sp>
        <p:nvSpPr>
          <p:cNvPr id="4" name="Slide Number Placeholder 3"/>
          <p:cNvSpPr>
            <a:spLocks noGrp="1"/>
          </p:cNvSpPr>
          <p:nvPr>
            <p:ph type="sldNum" sz="quarter" idx="12"/>
          </p:nvPr>
        </p:nvSpPr>
        <p:spPr/>
        <p:txBody>
          <a:bodyPr/>
          <a:lstStyle/>
          <a:p>
            <a:fld id="{E4A0038D-0246-412E-B82A-85192C832CB2}" type="slidenum">
              <a:rPr/>
              <a:pPr/>
              <a:t>5</a:t>
            </a:fld>
            <a:endParaRPr/>
          </a:p>
        </p:txBody>
      </p:sp>
      <p:sp>
        <p:nvSpPr>
          <p:cNvPr id="10" name="Content Placeholder 2"/>
          <p:cNvSpPr txBox="1">
            <a:spLocks/>
          </p:cNvSpPr>
          <p:nvPr/>
        </p:nvSpPr>
        <p:spPr>
          <a:xfrm>
            <a:off x="501653" y="4095751"/>
            <a:ext cx="8197850" cy="151130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SzPct val="125000"/>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solidFill>
                <a:prstClr val="black"/>
              </a:solidFill>
            </a:endParaRPr>
          </a:p>
        </p:txBody>
      </p:sp>
      <p:sp>
        <p:nvSpPr>
          <p:cNvPr id="5" name="TextBox 4"/>
          <p:cNvSpPr txBox="1"/>
          <p:nvPr/>
        </p:nvSpPr>
        <p:spPr>
          <a:xfrm>
            <a:off x="1341197" y="5475889"/>
            <a:ext cx="5428089" cy="253916"/>
          </a:xfrm>
          <a:prstGeom prst="rect">
            <a:avLst/>
          </a:prstGeom>
          <a:noFill/>
        </p:spPr>
        <p:txBody>
          <a:bodyPr wrap="none" rtlCol="0">
            <a:spAutoFit/>
          </a:bodyPr>
          <a:lstStyle/>
          <a:p>
            <a:r>
              <a:rPr lang="en-US" sz="1050" b="1" i="1" dirty="0">
                <a:solidFill>
                  <a:prstClr val="black"/>
                </a:solidFill>
              </a:rPr>
              <a:t>The Framework for Cyber-Physical Systems</a:t>
            </a:r>
            <a:r>
              <a:rPr lang="en-US" sz="1050" b="1" dirty="0">
                <a:solidFill>
                  <a:prstClr val="black"/>
                </a:solidFill>
              </a:rPr>
              <a:t> </a:t>
            </a:r>
            <a:r>
              <a:rPr lang="en-US" sz="1050" dirty="0">
                <a:solidFill>
                  <a:prstClr val="black"/>
                </a:solidFill>
              </a:rPr>
              <a:t>was released by the NIST CPSPWG on May 26, 2016</a:t>
            </a:r>
          </a:p>
        </p:txBody>
      </p:sp>
      <p:sp>
        <p:nvSpPr>
          <p:cNvPr id="8" name="TextBox 7"/>
          <p:cNvSpPr txBox="1"/>
          <p:nvPr/>
        </p:nvSpPr>
        <p:spPr>
          <a:xfrm>
            <a:off x="721273" y="1992367"/>
            <a:ext cx="184731" cy="300082"/>
          </a:xfrm>
          <a:prstGeom prst="rect">
            <a:avLst/>
          </a:prstGeom>
          <a:noFill/>
        </p:spPr>
        <p:txBody>
          <a:bodyPr wrap="none" rtlCol="0">
            <a:spAutoFit/>
          </a:bodyPr>
          <a:lstStyle/>
          <a:p>
            <a:endParaRPr lang="en-US" sz="1350" dirty="0">
              <a:solidFill>
                <a:prstClr val="black"/>
              </a:solidFill>
            </a:endParaRPr>
          </a:p>
        </p:txBody>
      </p:sp>
      <p:sp>
        <p:nvSpPr>
          <p:cNvPr id="11" name="Content Placeholder 2"/>
          <p:cNvSpPr txBox="1">
            <a:spLocks/>
          </p:cNvSpPr>
          <p:nvPr/>
        </p:nvSpPr>
        <p:spPr>
          <a:xfrm>
            <a:off x="73165" y="1448082"/>
            <a:ext cx="3647140" cy="3464934"/>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SzPct val="125000"/>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solidFill>
                <a:prstClr val="black"/>
              </a:solidFill>
            </a:endParaRPr>
          </a:p>
        </p:txBody>
      </p:sp>
      <p:sp>
        <p:nvSpPr>
          <p:cNvPr id="12" name="Content Placeholder 2"/>
          <p:cNvSpPr txBox="1">
            <a:spLocks/>
          </p:cNvSpPr>
          <p:nvPr/>
        </p:nvSpPr>
        <p:spPr>
          <a:xfrm>
            <a:off x="255441" y="1536702"/>
            <a:ext cx="1760683" cy="3786084"/>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SzPct val="125000"/>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prstClr val="black"/>
                </a:solidFill>
              </a:rPr>
              <a:t>Cyber-Physical Systems (CPS) </a:t>
            </a:r>
            <a:r>
              <a:rPr lang="en-US" sz="1800" dirty="0">
                <a:solidFill>
                  <a:prstClr val="black"/>
                </a:solidFill>
              </a:rPr>
              <a:t>comprise interacting digital, analog, physical, and human components engineered for function through integrated physics and logic. </a:t>
            </a:r>
          </a:p>
        </p:txBody>
      </p:sp>
      <p:pic>
        <p:nvPicPr>
          <p:cNvPr id="6" name="Picture 5"/>
          <p:cNvPicPr>
            <a:picLocks noChangeAspect="1"/>
          </p:cNvPicPr>
          <p:nvPr/>
        </p:nvPicPr>
        <p:blipFill>
          <a:blip r:embed="rId2"/>
          <a:stretch>
            <a:fillRect/>
          </a:stretch>
        </p:blipFill>
        <p:spPr>
          <a:xfrm>
            <a:off x="2087130" y="1448082"/>
            <a:ext cx="4376471" cy="3843338"/>
          </a:xfrm>
          <a:prstGeom prst="rect">
            <a:avLst/>
          </a:prstGeom>
        </p:spPr>
      </p:pic>
    </p:spTree>
    <p:extLst>
      <p:ext uri="{BB962C8B-B14F-4D97-AF65-F5344CB8AC3E}">
        <p14:creationId xmlns:p14="http://schemas.microsoft.com/office/powerpoint/2010/main" val="3941739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solidFill>
                  <a:srgbClr val="C00000"/>
                </a:solidFill>
              </a:rPr>
              <a:t>Cyber-Physical Systems</a:t>
            </a:r>
            <a:endParaRPr lang="en-US" dirty="0"/>
          </a:p>
        </p:txBody>
      </p:sp>
      <p:sp>
        <p:nvSpPr>
          <p:cNvPr id="3" name="Content Placeholder 2"/>
          <p:cNvSpPr>
            <a:spLocks noGrp="1"/>
          </p:cNvSpPr>
          <p:nvPr>
            <p:ph idx="1"/>
          </p:nvPr>
        </p:nvSpPr>
        <p:spPr>
          <a:xfrm>
            <a:off x="643466" y="1143000"/>
            <a:ext cx="8043333" cy="4983163"/>
          </a:xfrm>
        </p:spPr>
        <p:txBody>
          <a:bodyPr>
            <a:normAutofit fontScale="92500" lnSpcReduction="10000"/>
          </a:bodyPr>
          <a:lstStyle/>
          <a:p>
            <a:r>
              <a:rPr lang="en-US" sz="2800" dirty="0"/>
              <a:t>As per the book : “ Introduction to Embedded Systems: A Cyber-Physical Systems Approach by Edward A. Lee and </a:t>
            </a:r>
            <a:r>
              <a:rPr lang="en-US" sz="2800" dirty="0" err="1"/>
              <a:t>Sanjit</a:t>
            </a:r>
            <a:r>
              <a:rPr lang="en-US" sz="2800" dirty="0"/>
              <a:t> </a:t>
            </a:r>
            <a:r>
              <a:rPr lang="en-US" sz="2800" dirty="0" err="1"/>
              <a:t>Arunkumar</a:t>
            </a:r>
            <a:r>
              <a:rPr lang="en-US" sz="2800" dirty="0"/>
              <a:t> </a:t>
            </a:r>
            <a:r>
              <a:rPr lang="en-US" sz="2800" dirty="0" err="1"/>
              <a:t>Seshia</a:t>
            </a:r>
            <a:r>
              <a:rPr lang="en-US" sz="2800" dirty="0"/>
              <a:t> ” </a:t>
            </a:r>
            <a:endParaRPr lang="en-US" sz="2600" dirty="0"/>
          </a:p>
          <a:p>
            <a:pPr marL="0" indent="0">
              <a:buNone/>
            </a:pPr>
            <a:endParaRPr lang="en-US" sz="2600" dirty="0"/>
          </a:p>
          <a:p>
            <a:pPr marL="0" indent="0">
              <a:buNone/>
            </a:pPr>
            <a:r>
              <a:rPr lang="en-US" sz="2600" dirty="0"/>
              <a:t>A cyber-physical system (CPS) is an integration of computation with physical processes. Embedded computers and networks monitor and control the physical processes, usually with feedback loops where physical processes affect computations and vice versa. As an intellectual challenge, CPS is about the intersection, not the union, of the physical and the cyber. It is not sufficient to separately understand the physical components and the computational components. We must instead understand their interaction.</a:t>
            </a:r>
          </a:p>
          <a:p>
            <a:pPr marL="457200" lvl="1" indent="0">
              <a:buNone/>
            </a:pPr>
            <a:endParaRPr lang="en-US" dirty="0"/>
          </a:p>
        </p:txBody>
      </p:sp>
    </p:spTree>
    <p:extLst>
      <p:ext uri="{BB962C8B-B14F-4D97-AF65-F5344CB8AC3E}">
        <p14:creationId xmlns:p14="http://schemas.microsoft.com/office/powerpoint/2010/main" val="2281234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Cyber-Physical Systems</a:t>
            </a:r>
            <a:endParaRPr lang="en-US" dirty="0"/>
          </a:p>
        </p:txBody>
      </p:sp>
      <p:sp>
        <p:nvSpPr>
          <p:cNvPr id="3" name="Content Placeholder 2"/>
          <p:cNvSpPr>
            <a:spLocks noGrp="1"/>
          </p:cNvSpPr>
          <p:nvPr>
            <p:ph idx="1"/>
          </p:nvPr>
        </p:nvSpPr>
        <p:spPr/>
        <p:txBody>
          <a:bodyPr>
            <a:normAutofit lnSpcReduction="10000"/>
          </a:bodyPr>
          <a:lstStyle/>
          <a:p>
            <a:r>
              <a:rPr lang="en-US" sz="2800" dirty="0"/>
              <a:t>In simple terms cyber-physical system is interconnection of cyber means virtual and physical means real systems. It uses three basic technologies which are Embedded Systems, Sensor and actuation ,and Network and communication System(IOT). In layman's term CPS is something which takes real time data smartly from Physical System and its environment with help of Sensors and then gives real time signal command to the actuator part to do desired work. Smart Home, Smart Grid are best example of this.</a:t>
            </a:r>
          </a:p>
          <a:p>
            <a:pPr marL="457200" lvl="1" indent="0">
              <a:buNone/>
            </a:pPr>
            <a:endParaRPr lang="en-US" dirty="0"/>
          </a:p>
        </p:txBody>
      </p:sp>
    </p:spTree>
    <p:extLst>
      <p:ext uri="{BB962C8B-B14F-4D97-AF65-F5344CB8AC3E}">
        <p14:creationId xmlns:p14="http://schemas.microsoft.com/office/powerpoint/2010/main" val="2177891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C00000"/>
                </a:solidFill>
              </a:rPr>
              <a:t>CPS and </a:t>
            </a:r>
            <a:r>
              <a:rPr lang="en-US" dirty="0" err="1">
                <a:solidFill>
                  <a:srgbClr val="C00000"/>
                </a:solidFill>
              </a:rPr>
              <a:t>IoT</a:t>
            </a:r>
            <a:endParaRPr lang="en-US" dirty="0"/>
          </a:p>
        </p:txBody>
      </p:sp>
      <p:sp>
        <p:nvSpPr>
          <p:cNvPr id="3" name="Content Placeholder 2"/>
          <p:cNvSpPr>
            <a:spLocks noGrp="1"/>
          </p:cNvSpPr>
          <p:nvPr>
            <p:ph idx="1"/>
          </p:nvPr>
        </p:nvSpPr>
        <p:spPr>
          <a:xfrm>
            <a:off x="457200" y="1202268"/>
            <a:ext cx="8229600" cy="4923896"/>
          </a:xfrm>
        </p:spPr>
        <p:txBody>
          <a:bodyPr>
            <a:normAutofit fontScale="92500" lnSpcReduction="20000"/>
          </a:bodyPr>
          <a:lstStyle/>
          <a:p>
            <a:r>
              <a:rPr lang="en-US" sz="2800" dirty="0"/>
              <a:t>Cyber-Physical systems are devices which tightly couple cyber (digital) computer with a physical system (mechanical parts) where the digital computer acts as a controller for the physical system. For example, a printer has both mechanical parts and digital controller inside it therefore it can be considered an example for a cyber-physical system. Other examples include cars, medical devices and </a:t>
            </a:r>
            <a:r>
              <a:rPr lang="en-US" sz="2800" dirty="0" err="1"/>
              <a:t>aeroplanes</a:t>
            </a:r>
            <a:r>
              <a:rPr lang="en-US" sz="2800" dirty="0"/>
              <a:t>. Cyber-physical systems are not necessary connected to each other.</a:t>
            </a:r>
          </a:p>
          <a:p>
            <a:r>
              <a:rPr lang="en-US" sz="2800" dirty="0"/>
              <a:t>Internet of Things refers to unique identifiable and Internet-connected embedded systems.</a:t>
            </a:r>
          </a:p>
          <a:p>
            <a:r>
              <a:rPr lang="en-US" sz="2800" dirty="0"/>
              <a:t>Cyber Physical Systems that are uniquely identifiable and can communicate through the internet are some examples of </a:t>
            </a:r>
            <a:r>
              <a:rPr lang="en-US" sz="2800" dirty="0" err="1"/>
              <a:t>IoT</a:t>
            </a:r>
            <a:r>
              <a:rPr lang="en-US" sz="2800" dirty="0"/>
              <a:t>.</a:t>
            </a:r>
          </a:p>
          <a:p>
            <a:pPr marL="457200" lvl="1" indent="0">
              <a:buNone/>
            </a:pPr>
            <a:endParaRPr lang="en-US" dirty="0"/>
          </a:p>
        </p:txBody>
      </p:sp>
    </p:spTree>
    <p:extLst>
      <p:ext uri="{BB962C8B-B14F-4D97-AF65-F5344CB8AC3E}">
        <p14:creationId xmlns:p14="http://schemas.microsoft.com/office/powerpoint/2010/main" val="955535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935936"/>
            <a:ext cx="7886700" cy="533400"/>
          </a:xfrm>
        </p:spPr>
        <p:txBody>
          <a:bodyPr>
            <a:normAutofit fontScale="90000"/>
          </a:bodyPr>
          <a:lstStyle/>
          <a:p>
            <a:pPr algn="ctr"/>
            <a:r>
              <a:rPr lang="en-US" dirty="0">
                <a:solidFill>
                  <a:srgbClr val="C00000"/>
                </a:solidFill>
              </a:rPr>
              <a:t>CPS and IoT</a:t>
            </a:r>
          </a:p>
        </p:txBody>
      </p:sp>
      <p:sp>
        <p:nvSpPr>
          <p:cNvPr id="3" name="Content Placeholder 2"/>
          <p:cNvSpPr>
            <a:spLocks noGrp="1"/>
          </p:cNvSpPr>
          <p:nvPr>
            <p:ph idx="1"/>
          </p:nvPr>
        </p:nvSpPr>
        <p:spPr>
          <a:xfrm>
            <a:off x="314447" y="1442304"/>
            <a:ext cx="6645155" cy="4017165"/>
          </a:xfrm>
        </p:spPr>
        <p:txBody>
          <a:bodyPr>
            <a:noAutofit/>
          </a:bodyPr>
          <a:lstStyle/>
          <a:p>
            <a:pPr marL="0" indent="0" algn="just">
              <a:buNone/>
            </a:pPr>
            <a:r>
              <a:rPr lang="en-US" sz="1800" b="1" dirty="0"/>
              <a:t>Cyber-Physical Systems (CPS) </a:t>
            </a:r>
            <a:r>
              <a:rPr lang="en-US" sz="1800" dirty="0"/>
              <a:t>comprise interacting digital, analog, physical, and human components engineered for function through integrated physics and logic. </a:t>
            </a:r>
          </a:p>
          <a:p>
            <a:pPr marL="0" indent="0">
              <a:buNone/>
            </a:pPr>
            <a:r>
              <a:rPr lang="en-US" sz="1800" b="1" dirty="0"/>
              <a:t>Examples of a CPS that are not instances of IoT</a:t>
            </a:r>
          </a:p>
          <a:p>
            <a:r>
              <a:rPr lang="en-US" sz="1800" dirty="0"/>
              <a:t>Smart Spoon enabling Parkinson’s patients to feed themselves (see </a:t>
            </a:r>
            <a:r>
              <a:rPr lang="en-US" sz="1800" u="sng" dirty="0">
                <a:hlinkClick r:id="rId2"/>
              </a:rPr>
              <a:t>https://www.liftware.com/</a:t>
            </a:r>
            <a:r>
              <a:rPr lang="en-US" sz="1800" dirty="0"/>
              <a:t>)</a:t>
            </a:r>
          </a:p>
          <a:p>
            <a:r>
              <a:rPr lang="en-US" sz="1800" dirty="0"/>
              <a:t>Autonomous vehicle operating without wired or wireless connections outside the vehicle, e.g.</a:t>
            </a:r>
          </a:p>
          <a:p>
            <a:pPr lvl="1"/>
            <a:r>
              <a:rPr lang="en-US" sz="1500" dirty="0"/>
              <a:t>a Mars rover operating between messages from Earth</a:t>
            </a:r>
          </a:p>
          <a:p>
            <a:pPr lvl="1"/>
            <a:r>
              <a:rPr lang="en-US" sz="1500" dirty="0"/>
              <a:t>the original vehicles in the first DARPA Challenge</a:t>
            </a:r>
          </a:p>
          <a:p>
            <a:pPr lvl="1"/>
            <a:r>
              <a:rPr lang="en-US" sz="1500" dirty="0"/>
              <a:t>cruise missile/smart bomb in flight to target</a:t>
            </a:r>
          </a:p>
          <a:p>
            <a:r>
              <a:rPr lang="en-US" sz="1800" dirty="0"/>
              <a:t>Generally, any CPS that is fully contained with no outside network connections</a:t>
            </a:r>
          </a:p>
        </p:txBody>
      </p:sp>
      <p:sp>
        <p:nvSpPr>
          <p:cNvPr id="4" name="Slide Number Placeholder 3"/>
          <p:cNvSpPr>
            <a:spLocks noGrp="1"/>
          </p:cNvSpPr>
          <p:nvPr>
            <p:ph type="sldNum" sz="quarter" idx="12"/>
          </p:nvPr>
        </p:nvSpPr>
        <p:spPr/>
        <p:txBody>
          <a:bodyPr/>
          <a:lstStyle/>
          <a:p>
            <a:fld id="{E4A0038D-0246-412E-B82A-85192C832CB2}" type="slidenum">
              <a:rPr/>
              <a:pPr/>
              <a:t>9</a:t>
            </a:fld>
            <a:endParaRPr/>
          </a:p>
        </p:txBody>
      </p:sp>
      <p:sp>
        <p:nvSpPr>
          <p:cNvPr id="10" name="Content Placeholder 2"/>
          <p:cNvSpPr txBox="1">
            <a:spLocks/>
          </p:cNvSpPr>
          <p:nvPr/>
        </p:nvSpPr>
        <p:spPr>
          <a:xfrm>
            <a:off x="501653" y="4095751"/>
            <a:ext cx="8197850" cy="151130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SzPct val="125000"/>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solidFill>
                <a:prstClr val="black"/>
              </a:solidFill>
            </a:endParaRPr>
          </a:p>
        </p:txBody>
      </p:sp>
      <p:pic>
        <p:nvPicPr>
          <p:cNvPr id="9" name="Picture 8"/>
          <p:cNvPicPr>
            <a:picLocks noChangeAspect="1"/>
          </p:cNvPicPr>
          <p:nvPr/>
        </p:nvPicPr>
        <p:blipFill>
          <a:blip r:embed="rId3"/>
          <a:stretch>
            <a:fillRect/>
          </a:stretch>
        </p:blipFill>
        <p:spPr>
          <a:xfrm>
            <a:off x="6350001" y="2233009"/>
            <a:ext cx="2794000" cy="2453640"/>
          </a:xfrm>
          <a:prstGeom prst="rect">
            <a:avLst/>
          </a:prstGeom>
        </p:spPr>
      </p:pic>
    </p:spTree>
    <p:extLst>
      <p:ext uri="{BB962C8B-B14F-4D97-AF65-F5344CB8AC3E}">
        <p14:creationId xmlns:p14="http://schemas.microsoft.com/office/powerpoint/2010/main" val="44571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CPS vs. IoT: Motion Activated Light</a:t>
            </a:r>
          </a:p>
        </p:txBody>
      </p:sp>
      <p:pic>
        <p:nvPicPr>
          <p:cNvPr id="51" name="Content Placeholder 50"/>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80635" y="3635072"/>
            <a:ext cx="395760" cy="889397"/>
          </a:xfrm>
        </p:spPr>
      </p:pic>
      <p:sp>
        <p:nvSpPr>
          <p:cNvPr id="4" name="Slide Number Placeholder 3"/>
          <p:cNvSpPr>
            <a:spLocks noGrp="1"/>
          </p:cNvSpPr>
          <p:nvPr>
            <p:ph type="sldNum" sz="quarter" idx="12"/>
          </p:nvPr>
        </p:nvSpPr>
        <p:spPr/>
        <p:txBody>
          <a:bodyPr/>
          <a:lstStyle/>
          <a:p>
            <a:fld id="{E4A0038D-0246-412E-B82A-85192C832CB2}" type="slidenum">
              <a:rPr/>
              <a:pPr/>
              <a:t>10</a:t>
            </a:fld>
            <a:endParaRPr/>
          </a:p>
        </p:txBody>
      </p:sp>
      <p:grpSp>
        <p:nvGrpSpPr>
          <p:cNvPr id="65" name="Group 64"/>
          <p:cNvGrpSpPr/>
          <p:nvPr/>
        </p:nvGrpSpPr>
        <p:grpSpPr>
          <a:xfrm>
            <a:off x="442018" y="1614421"/>
            <a:ext cx="8073332" cy="1943168"/>
            <a:chOff x="589357" y="1009560"/>
            <a:chExt cx="10764443" cy="2590891"/>
          </a:xfrm>
        </p:grpSpPr>
        <p:grpSp>
          <p:nvGrpSpPr>
            <p:cNvPr id="63" name="Group 62"/>
            <p:cNvGrpSpPr/>
            <p:nvPr/>
          </p:nvGrpSpPr>
          <p:grpSpPr>
            <a:xfrm>
              <a:off x="589357" y="1009560"/>
              <a:ext cx="10764443" cy="2590891"/>
              <a:chOff x="589357" y="1723938"/>
              <a:chExt cx="10764443" cy="2590891"/>
            </a:xfrm>
          </p:grpSpPr>
          <p:grpSp>
            <p:nvGrpSpPr>
              <p:cNvPr id="47" name="Group 46"/>
              <p:cNvGrpSpPr/>
              <p:nvPr/>
            </p:nvGrpSpPr>
            <p:grpSpPr>
              <a:xfrm>
                <a:off x="589357" y="2200281"/>
                <a:ext cx="10764443" cy="2114548"/>
                <a:chOff x="457200" y="1243015"/>
                <a:chExt cx="10764443" cy="2114548"/>
              </a:xfrm>
            </p:grpSpPr>
            <p:grpSp>
              <p:nvGrpSpPr>
                <p:cNvPr id="32" name="Group 31"/>
                <p:cNvGrpSpPr/>
                <p:nvPr/>
              </p:nvGrpSpPr>
              <p:grpSpPr>
                <a:xfrm>
                  <a:off x="525075" y="1536605"/>
                  <a:ext cx="2299211" cy="1820958"/>
                  <a:chOff x="525075" y="1536605"/>
                  <a:chExt cx="2299211" cy="1820958"/>
                </a:xfrm>
              </p:grpSpPr>
              <p:sp>
                <p:nvSpPr>
                  <p:cNvPr id="5" name="Rectangle 4"/>
                  <p:cNvSpPr/>
                  <p:nvPr/>
                </p:nvSpPr>
                <p:spPr>
                  <a:xfrm>
                    <a:off x="900120" y="2028825"/>
                    <a:ext cx="1271587" cy="585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prstClr val="white"/>
                        </a:solidFill>
                      </a:rPr>
                      <a:t>Sensors</a:t>
                    </a:r>
                  </a:p>
                </p:txBody>
              </p:sp>
              <p:cxnSp>
                <p:nvCxnSpPr>
                  <p:cNvPr id="7" name="Straight Arrow Connector 6"/>
                  <p:cNvCxnSpPr/>
                  <p:nvPr/>
                </p:nvCxnSpPr>
                <p:spPr>
                  <a:xfrm flipV="1">
                    <a:off x="1228732" y="2614614"/>
                    <a:ext cx="1" cy="7429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1831335" y="2614616"/>
                    <a:ext cx="948970" cy="396018"/>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2140282" y="1550702"/>
                    <a:ext cx="552905" cy="65427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171707" y="2396964"/>
                    <a:ext cx="652579" cy="0"/>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25075" y="2675157"/>
                    <a:ext cx="642937" cy="400109"/>
                  </a:xfrm>
                  <a:prstGeom prst="rect">
                    <a:avLst/>
                  </a:prstGeom>
                  <a:noFill/>
                </p:spPr>
                <p:txBody>
                  <a:bodyPr wrap="square" rtlCol="0">
                    <a:spAutoFit/>
                  </a:bodyPr>
                  <a:lstStyle/>
                  <a:p>
                    <a:r>
                      <a:rPr lang="en-US" sz="1350" dirty="0">
                        <a:solidFill>
                          <a:prstClr val="black"/>
                        </a:solidFill>
                      </a:rPr>
                      <a:t>INs</a:t>
                    </a:r>
                  </a:p>
                </p:txBody>
              </p:sp>
              <p:sp>
                <p:nvSpPr>
                  <p:cNvPr id="18" name="TextBox 17"/>
                  <p:cNvSpPr txBox="1"/>
                  <p:nvPr/>
                </p:nvSpPr>
                <p:spPr>
                  <a:xfrm>
                    <a:off x="1740523" y="1536605"/>
                    <a:ext cx="917244" cy="400109"/>
                  </a:xfrm>
                  <a:prstGeom prst="rect">
                    <a:avLst/>
                  </a:prstGeom>
                  <a:noFill/>
                </p:spPr>
                <p:txBody>
                  <a:bodyPr wrap="square" rtlCol="0">
                    <a:spAutoFit/>
                  </a:bodyPr>
                  <a:lstStyle/>
                  <a:p>
                    <a:r>
                      <a:rPr lang="en-US" sz="1350" dirty="0">
                        <a:solidFill>
                          <a:prstClr val="black"/>
                        </a:solidFill>
                      </a:rPr>
                      <a:t>OUTs</a:t>
                    </a:r>
                  </a:p>
                </p:txBody>
              </p:sp>
            </p:grpSp>
            <p:sp>
              <p:nvSpPr>
                <p:cNvPr id="20" name="TextBox 19"/>
                <p:cNvSpPr txBox="1"/>
                <p:nvPr/>
              </p:nvSpPr>
              <p:spPr>
                <a:xfrm>
                  <a:off x="2771775" y="1998554"/>
                  <a:ext cx="1736201" cy="954108"/>
                </a:xfrm>
                <a:prstGeom prst="rect">
                  <a:avLst/>
                </a:prstGeom>
                <a:noFill/>
              </p:spPr>
              <p:txBody>
                <a:bodyPr wrap="none" rtlCol="0">
                  <a:spAutoFit/>
                </a:bodyPr>
                <a:lstStyle/>
                <a:p>
                  <a:r>
                    <a:rPr lang="en-US" sz="1350" dirty="0">
                      <a:solidFill>
                        <a:prstClr val="black"/>
                      </a:solidFill>
                    </a:rPr>
                    <a:t>Communication</a:t>
                  </a:r>
                </a:p>
                <a:p>
                  <a:r>
                    <a:rPr lang="en-US" sz="1350" dirty="0">
                      <a:solidFill>
                        <a:prstClr val="black"/>
                      </a:solidFill>
                    </a:rPr>
                    <a:t>Channel</a:t>
                  </a:r>
                </a:p>
                <a:p>
                  <a:r>
                    <a:rPr lang="en-US" sz="1350" dirty="0">
                      <a:solidFill>
                        <a:prstClr val="black"/>
                      </a:solidFill>
                    </a:rPr>
                    <a:t>(Network)</a:t>
                  </a:r>
                </a:p>
              </p:txBody>
            </p:sp>
            <p:sp>
              <p:nvSpPr>
                <p:cNvPr id="21" name="TextBox 20"/>
                <p:cNvSpPr txBox="1"/>
                <p:nvPr/>
              </p:nvSpPr>
              <p:spPr>
                <a:xfrm>
                  <a:off x="4669333" y="2028824"/>
                  <a:ext cx="1283941" cy="677108"/>
                </a:xfrm>
                <a:prstGeom prst="rect">
                  <a:avLst/>
                </a:prstGeom>
                <a:noFill/>
              </p:spPr>
              <p:txBody>
                <a:bodyPr wrap="none" rtlCol="0">
                  <a:spAutoFit/>
                </a:bodyPr>
                <a:lstStyle/>
                <a:p>
                  <a:r>
                    <a:rPr lang="en-US" sz="1350" dirty="0">
                      <a:solidFill>
                        <a:prstClr val="black"/>
                      </a:solidFill>
                    </a:rPr>
                    <a:t>Aggregator</a:t>
                  </a:r>
                </a:p>
                <a:p>
                  <a:r>
                    <a:rPr lang="en-US" sz="1350" dirty="0">
                      <a:solidFill>
                        <a:prstClr val="black"/>
                      </a:solidFill>
                    </a:rPr>
                    <a:t>(Fusion)</a:t>
                  </a:r>
                </a:p>
              </p:txBody>
            </p:sp>
            <p:sp>
              <p:nvSpPr>
                <p:cNvPr id="22" name="TextBox 21"/>
                <p:cNvSpPr txBox="1"/>
                <p:nvPr/>
              </p:nvSpPr>
              <p:spPr>
                <a:xfrm>
                  <a:off x="5997130" y="2028824"/>
                  <a:ext cx="1476644" cy="677108"/>
                </a:xfrm>
                <a:prstGeom prst="rect">
                  <a:avLst/>
                </a:prstGeom>
                <a:noFill/>
              </p:spPr>
              <p:txBody>
                <a:bodyPr wrap="none" rtlCol="0">
                  <a:spAutoFit/>
                </a:bodyPr>
                <a:lstStyle/>
                <a:p>
                  <a:r>
                    <a:rPr lang="en-US" sz="1350" dirty="0">
                      <a:solidFill>
                        <a:prstClr val="black"/>
                      </a:solidFill>
                    </a:rPr>
                    <a:t>Computation</a:t>
                  </a:r>
                </a:p>
                <a:p>
                  <a:r>
                    <a:rPr lang="en-US" sz="1350" dirty="0">
                      <a:solidFill>
                        <a:prstClr val="black"/>
                      </a:solidFill>
                    </a:rPr>
                    <a:t>(e-utility)</a:t>
                  </a:r>
                </a:p>
              </p:txBody>
            </p:sp>
            <p:sp>
              <p:nvSpPr>
                <p:cNvPr id="23" name="TextBox 22"/>
                <p:cNvSpPr txBox="1"/>
                <p:nvPr/>
              </p:nvSpPr>
              <p:spPr>
                <a:xfrm>
                  <a:off x="7489846" y="2041414"/>
                  <a:ext cx="1230167" cy="677108"/>
                </a:xfrm>
                <a:prstGeom prst="rect">
                  <a:avLst/>
                </a:prstGeom>
                <a:noFill/>
              </p:spPr>
              <p:txBody>
                <a:bodyPr wrap="none" rtlCol="0">
                  <a:spAutoFit/>
                </a:bodyPr>
                <a:lstStyle/>
                <a:p>
                  <a:r>
                    <a:rPr lang="en-US" sz="1350" dirty="0">
                      <a:solidFill>
                        <a:prstClr val="black"/>
                      </a:solidFill>
                    </a:rPr>
                    <a:t>Decision</a:t>
                  </a:r>
                </a:p>
                <a:p>
                  <a:r>
                    <a:rPr lang="en-US" sz="1350" dirty="0">
                      <a:solidFill>
                        <a:prstClr val="black"/>
                      </a:solidFill>
                    </a:rPr>
                    <a:t>(Software)</a:t>
                  </a:r>
                </a:p>
              </p:txBody>
            </p:sp>
            <p:grpSp>
              <p:nvGrpSpPr>
                <p:cNvPr id="33" name="Group 32"/>
                <p:cNvGrpSpPr/>
                <p:nvPr/>
              </p:nvGrpSpPr>
              <p:grpSpPr>
                <a:xfrm>
                  <a:off x="8547576" y="1550702"/>
                  <a:ext cx="2674067" cy="1806861"/>
                  <a:chOff x="-263055" y="1550702"/>
                  <a:chExt cx="2674067" cy="1806861"/>
                </a:xfrm>
              </p:grpSpPr>
              <p:sp>
                <p:nvSpPr>
                  <p:cNvPr id="34" name="Rectangle 33"/>
                  <p:cNvSpPr/>
                  <p:nvPr/>
                </p:nvSpPr>
                <p:spPr>
                  <a:xfrm>
                    <a:off x="597214" y="2028825"/>
                    <a:ext cx="1271587" cy="585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prstClr val="white"/>
                        </a:solidFill>
                      </a:rPr>
                      <a:t>Actuators</a:t>
                    </a:r>
                  </a:p>
                </p:txBody>
              </p:sp>
              <p:cxnSp>
                <p:nvCxnSpPr>
                  <p:cNvPr id="35" name="Straight Arrow Connector 34"/>
                  <p:cNvCxnSpPr/>
                  <p:nvPr/>
                </p:nvCxnSpPr>
                <p:spPr>
                  <a:xfrm flipV="1">
                    <a:off x="1558872" y="2614614"/>
                    <a:ext cx="1" cy="742949"/>
                  </a:xfrm>
                  <a:prstGeom prst="straightConnector1">
                    <a:avLst/>
                  </a:prstGeom>
                  <a:ln w="3810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121580" y="2614616"/>
                    <a:ext cx="1284248" cy="368609"/>
                  </a:xfrm>
                  <a:prstGeom prst="straightConnector1">
                    <a:avLst/>
                  </a:prstGeom>
                  <a:ln w="38100">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117238" y="1550702"/>
                    <a:ext cx="653305" cy="62099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116512" y="2396964"/>
                    <a:ext cx="652579" cy="0"/>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1588299" y="2706570"/>
                    <a:ext cx="822713" cy="400109"/>
                  </a:xfrm>
                  <a:prstGeom prst="rect">
                    <a:avLst/>
                  </a:prstGeom>
                  <a:noFill/>
                </p:spPr>
                <p:txBody>
                  <a:bodyPr wrap="square" rtlCol="0">
                    <a:spAutoFit/>
                  </a:bodyPr>
                  <a:lstStyle/>
                  <a:p>
                    <a:r>
                      <a:rPr lang="en-US" sz="1350" dirty="0">
                        <a:solidFill>
                          <a:prstClr val="black"/>
                        </a:solidFill>
                      </a:rPr>
                      <a:t>OUTs</a:t>
                    </a:r>
                  </a:p>
                </p:txBody>
              </p:sp>
              <p:sp>
                <p:nvSpPr>
                  <p:cNvPr id="40" name="TextBox 39"/>
                  <p:cNvSpPr txBox="1"/>
                  <p:nvPr/>
                </p:nvSpPr>
                <p:spPr>
                  <a:xfrm>
                    <a:off x="-263055" y="1829501"/>
                    <a:ext cx="733425" cy="400109"/>
                  </a:xfrm>
                  <a:prstGeom prst="rect">
                    <a:avLst/>
                  </a:prstGeom>
                  <a:noFill/>
                </p:spPr>
                <p:txBody>
                  <a:bodyPr wrap="square" rtlCol="0">
                    <a:spAutoFit/>
                  </a:bodyPr>
                  <a:lstStyle/>
                  <a:p>
                    <a:r>
                      <a:rPr lang="en-US" sz="1350" dirty="0">
                        <a:solidFill>
                          <a:prstClr val="black"/>
                        </a:solidFill>
                      </a:rPr>
                      <a:t>INs</a:t>
                    </a:r>
                  </a:p>
                </p:txBody>
              </p:sp>
            </p:grpSp>
            <p:cxnSp>
              <p:nvCxnSpPr>
                <p:cNvPr id="43" name="Straight Arrow Connector 42"/>
                <p:cNvCxnSpPr/>
                <p:nvPr/>
              </p:nvCxnSpPr>
              <p:spPr>
                <a:xfrm>
                  <a:off x="2928938" y="1660686"/>
                  <a:ext cx="5600700" cy="0"/>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457200" y="1243015"/>
                  <a:ext cx="10544175" cy="14288"/>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p:cNvSpPr txBox="1"/>
              <p:nvPr/>
            </p:nvSpPr>
            <p:spPr>
              <a:xfrm>
                <a:off x="5533930" y="1723938"/>
                <a:ext cx="824007" cy="492443"/>
              </a:xfrm>
              <a:prstGeom prst="rect">
                <a:avLst/>
              </a:prstGeom>
              <a:noFill/>
            </p:spPr>
            <p:txBody>
              <a:bodyPr wrap="square" rtlCol="0">
                <a:spAutoFit/>
              </a:bodyPr>
              <a:lstStyle/>
              <a:p>
                <a:r>
                  <a:rPr lang="en-US" b="1" dirty="0">
                    <a:solidFill>
                      <a:srgbClr val="C00000"/>
                    </a:solidFill>
                  </a:rPr>
                  <a:t>CPS</a:t>
                </a:r>
              </a:p>
            </p:txBody>
          </p:sp>
        </p:grpSp>
        <p:sp>
          <p:nvSpPr>
            <p:cNvPr id="48" name="TextBox 47"/>
            <p:cNvSpPr txBox="1"/>
            <p:nvPr/>
          </p:nvSpPr>
          <p:spPr>
            <a:xfrm>
              <a:off x="4318000" y="1473315"/>
              <a:ext cx="4553061" cy="492443"/>
            </a:xfrm>
            <a:prstGeom prst="rect">
              <a:avLst/>
            </a:prstGeom>
            <a:noFill/>
          </p:spPr>
          <p:txBody>
            <a:bodyPr wrap="square" rtlCol="0">
              <a:spAutoFit/>
            </a:bodyPr>
            <a:lstStyle/>
            <a:p>
              <a:r>
                <a:rPr lang="en-US" b="1">
                  <a:solidFill>
                    <a:srgbClr val="C00000"/>
                  </a:solidFill>
                </a:rPr>
                <a:t>IoT Scope of Research</a:t>
              </a:r>
            </a:p>
          </p:txBody>
        </p:sp>
      </p:grpSp>
      <p:sp>
        <p:nvSpPr>
          <p:cNvPr id="54" name="Line Callout 1 53"/>
          <p:cNvSpPr/>
          <p:nvPr/>
        </p:nvSpPr>
        <p:spPr>
          <a:xfrm>
            <a:off x="3015121" y="3322782"/>
            <a:ext cx="964406" cy="578639"/>
          </a:xfrm>
          <a:prstGeom prst="borderCallout1">
            <a:avLst>
              <a:gd name="adj1" fmla="val 16898"/>
              <a:gd name="adj2" fmla="val 107223"/>
              <a:gd name="adj3" fmla="val -44909"/>
              <a:gd name="adj4" fmla="val 16277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solidFill>
                  <a:prstClr val="white"/>
                </a:solidFill>
              </a:rPr>
              <a:t>Model of Motion</a:t>
            </a:r>
          </a:p>
        </p:txBody>
      </p:sp>
      <p:grpSp>
        <p:nvGrpSpPr>
          <p:cNvPr id="64" name="Group 63"/>
          <p:cNvGrpSpPr/>
          <p:nvPr/>
        </p:nvGrpSpPr>
        <p:grpSpPr>
          <a:xfrm>
            <a:off x="4787763" y="3310940"/>
            <a:ext cx="3567924" cy="1804301"/>
            <a:chOff x="5640726" y="4160499"/>
            <a:chExt cx="4757232" cy="2405735"/>
          </a:xfrm>
        </p:grpSpPr>
        <p:pic>
          <p:nvPicPr>
            <p:cNvPr id="52" name="Picture 5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1624" y="4557940"/>
              <a:ext cx="1186334" cy="1257079"/>
            </a:xfrm>
            <a:prstGeom prst="rect">
              <a:avLst/>
            </a:prstGeom>
          </p:spPr>
        </p:pic>
        <p:pic>
          <p:nvPicPr>
            <p:cNvPr id="55" name="Picture 5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40726" y="4160499"/>
              <a:ext cx="1434423" cy="954543"/>
            </a:xfrm>
            <a:prstGeom prst="rect">
              <a:avLst/>
            </a:prstGeom>
          </p:spPr>
        </p:pic>
        <p:pic>
          <p:nvPicPr>
            <p:cNvPr id="56" name="Picture 5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0268" y="5121223"/>
              <a:ext cx="1806264" cy="1445011"/>
            </a:xfrm>
            <a:prstGeom prst="rect">
              <a:avLst/>
            </a:prstGeom>
          </p:spPr>
        </p:pic>
        <p:cxnSp>
          <p:nvCxnSpPr>
            <p:cNvPr id="58" name="Curved Connector 57"/>
            <p:cNvCxnSpPr>
              <a:stCxn id="52" idx="1"/>
              <a:endCxn id="55" idx="3"/>
            </p:cNvCxnSpPr>
            <p:nvPr/>
          </p:nvCxnSpPr>
          <p:spPr>
            <a:xfrm rot="10800000">
              <a:off x="7075150" y="4637772"/>
              <a:ext cx="2136475" cy="548709"/>
            </a:xfrm>
            <a:prstGeom prst="curvedConnector3">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Curved Connector 58"/>
            <p:cNvCxnSpPr>
              <a:stCxn id="52" idx="1"/>
              <a:endCxn id="56" idx="3"/>
            </p:cNvCxnSpPr>
            <p:nvPr/>
          </p:nvCxnSpPr>
          <p:spPr>
            <a:xfrm rot="10800000" flipV="1">
              <a:off x="8246532" y="5186479"/>
              <a:ext cx="965092" cy="657249"/>
            </a:xfrm>
            <a:prstGeom prst="curvedConnector3">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71" name="Group 70"/>
          <p:cNvGrpSpPr/>
          <p:nvPr/>
        </p:nvGrpSpPr>
        <p:grpSpPr>
          <a:xfrm>
            <a:off x="770371" y="3867567"/>
            <a:ext cx="286200" cy="308970"/>
            <a:chOff x="650677" y="4100617"/>
            <a:chExt cx="381600" cy="411960"/>
          </a:xfrm>
        </p:grpSpPr>
        <p:cxnSp>
          <p:nvCxnSpPr>
            <p:cNvPr id="67" name="Straight Connector 66"/>
            <p:cNvCxnSpPr/>
            <p:nvPr/>
          </p:nvCxnSpPr>
          <p:spPr>
            <a:xfrm>
              <a:off x="657232" y="4100617"/>
              <a:ext cx="3750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650677" y="4310167"/>
              <a:ext cx="3750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657232" y="4512577"/>
              <a:ext cx="3750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71"/>
          <p:cNvSpPr txBox="1"/>
          <p:nvPr/>
        </p:nvSpPr>
        <p:spPr>
          <a:xfrm>
            <a:off x="609219" y="4865724"/>
            <a:ext cx="6431889" cy="715581"/>
          </a:xfrm>
          <a:prstGeom prst="rect">
            <a:avLst/>
          </a:prstGeom>
          <a:noFill/>
        </p:spPr>
        <p:txBody>
          <a:bodyPr wrap="none" rtlCol="0">
            <a:spAutoFit/>
          </a:bodyPr>
          <a:lstStyle/>
          <a:p>
            <a:r>
              <a:rPr lang="en-US" sz="1350" b="1" dirty="0">
                <a:solidFill>
                  <a:prstClr val="black"/>
                </a:solidFill>
              </a:rPr>
              <a:t>Framework Schema: </a:t>
            </a:r>
            <a:r>
              <a:rPr lang="en-US" sz="1350" b="1" dirty="0">
                <a:solidFill>
                  <a:srgbClr val="C00000"/>
                </a:solidFill>
              </a:rPr>
              <a:t>Phys-Log-Log-Log-Log-Phys</a:t>
            </a:r>
          </a:p>
          <a:p>
            <a:r>
              <a:rPr lang="en-US" sz="1350" b="1" dirty="0">
                <a:solidFill>
                  <a:prstClr val="black"/>
                </a:solidFill>
              </a:rPr>
              <a:t>Testbed: </a:t>
            </a:r>
            <a:r>
              <a:rPr lang="en-US" sz="1350" b="1" dirty="0">
                <a:solidFill>
                  <a:srgbClr val="C00000"/>
                </a:solidFill>
              </a:rPr>
              <a:t>Experiment, Measurement and Assurance</a:t>
            </a:r>
          </a:p>
          <a:p>
            <a:r>
              <a:rPr lang="en-US" sz="1350" b="1" dirty="0">
                <a:solidFill>
                  <a:prstClr val="black"/>
                </a:solidFill>
              </a:rPr>
              <a:t>Challenges: </a:t>
            </a:r>
            <a:r>
              <a:rPr lang="en-US" sz="1350" b="1" dirty="0">
                <a:solidFill>
                  <a:srgbClr val="C00000"/>
                </a:solidFill>
              </a:rPr>
              <a:t>Interoperability, Composition and Composition Types, Trustworthiness, etc.</a:t>
            </a:r>
          </a:p>
        </p:txBody>
      </p:sp>
      <p:grpSp>
        <p:nvGrpSpPr>
          <p:cNvPr id="95" name="Group 94"/>
          <p:cNvGrpSpPr/>
          <p:nvPr/>
        </p:nvGrpSpPr>
        <p:grpSpPr>
          <a:xfrm>
            <a:off x="2119008" y="4024730"/>
            <a:ext cx="2248931" cy="685800"/>
            <a:chOff x="2825344" y="4223306"/>
            <a:chExt cx="2998574" cy="914400"/>
          </a:xfrm>
        </p:grpSpPr>
        <p:cxnSp>
          <p:nvCxnSpPr>
            <p:cNvPr id="82" name="Straight Arrow Connector 81"/>
            <p:cNvCxnSpPr/>
            <p:nvPr/>
          </p:nvCxnSpPr>
          <p:spPr>
            <a:xfrm>
              <a:off x="2996418" y="4542346"/>
              <a:ext cx="580456" cy="297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3008138" y="4807288"/>
              <a:ext cx="580456" cy="2979"/>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3560151" y="4348262"/>
              <a:ext cx="2068857" cy="677108"/>
            </a:xfrm>
            <a:prstGeom prst="rect">
              <a:avLst/>
            </a:prstGeom>
            <a:noFill/>
          </p:spPr>
          <p:txBody>
            <a:bodyPr wrap="none" rtlCol="0">
              <a:spAutoFit/>
            </a:bodyPr>
            <a:lstStyle/>
            <a:p>
              <a:r>
                <a:rPr lang="en-US" sz="1350" dirty="0">
                  <a:solidFill>
                    <a:prstClr val="black"/>
                  </a:solidFill>
                </a:rPr>
                <a:t>Physical Interaction</a:t>
              </a:r>
            </a:p>
            <a:p>
              <a:r>
                <a:rPr lang="en-US" sz="1350" dirty="0">
                  <a:solidFill>
                    <a:prstClr val="black"/>
                  </a:solidFill>
                </a:rPr>
                <a:t>Logical Interaction</a:t>
              </a:r>
            </a:p>
          </p:txBody>
        </p:sp>
        <p:sp>
          <p:nvSpPr>
            <p:cNvPr id="94" name="Rectangle 93"/>
            <p:cNvSpPr/>
            <p:nvPr/>
          </p:nvSpPr>
          <p:spPr>
            <a:xfrm>
              <a:off x="2825344" y="4223306"/>
              <a:ext cx="2998574" cy="9144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grpSp>
    </p:spTree>
    <p:extLst>
      <p:ext uri="{BB962C8B-B14F-4D97-AF65-F5344CB8AC3E}">
        <p14:creationId xmlns:p14="http://schemas.microsoft.com/office/powerpoint/2010/main" val="2520958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CPS Framework</a:t>
            </a:r>
            <a:endParaRPr lang="en-US"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9930" y="1600200"/>
            <a:ext cx="8164140" cy="4525963"/>
          </a:xfrm>
        </p:spPr>
      </p:pic>
    </p:spTree>
    <p:extLst>
      <p:ext uri="{BB962C8B-B14F-4D97-AF65-F5344CB8AC3E}">
        <p14:creationId xmlns:p14="http://schemas.microsoft.com/office/powerpoint/2010/main" val="3982933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Application Domains – major societal impact</a:t>
            </a:r>
            <a:endParaRPr lang="en-US" dirty="0">
              <a:solidFill>
                <a:srgbClr val="C00000"/>
              </a:solidFill>
            </a:endParaRPr>
          </a:p>
        </p:txBody>
      </p:sp>
      <p:sp>
        <p:nvSpPr>
          <p:cNvPr id="3" name="Content Placeholder 2"/>
          <p:cNvSpPr>
            <a:spLocks noGrp="1"/>
          </p:cNvSpPr>
          <p:nvPr>
            <p:ph idx="1"/>
          </p:nvPr>
        </p:nvSpPr>
        <p:spPr>
          <a:xfrm>
            <a:off x="457200" y="1934104"/>
            <a:ext cx="8229600" cy="2570163"/>
          </a:xfrm>
        </p:spPr>
        <p:txBody>
          <a:bodyPr>
            <a:normAutofit/>
          </a:bodyPr>
          <a:lstStyle/>
          <a:p>
            <a:pPr marL="0" indent="0">
              <a:buNone/>
            </a:pPr>
            <a:r>
              <a:rPr lang="en-US" sz="2800" dirty="0"/>
              <a:t>Agriculture, Aeronautics, Building design, Civil</a:t>
            </a:r>
          </a:p>
          <a:p>
            <a:pPr marL="0" indent="0">
              <a:buNone/>
            </a:pPr>
            <a:r>
              <a:rPr lang="en-US" sz="2800" dirty="0"/>
              <a:t>infrastructure, energy, environmental quality, healthcare and personalized medicine, Manufacturing, and transportation.</a:t>
            </a:r>
          </a:p>
        </p:txBody>
      </p:sp>
    </p:spTree>
    <p:extLst>
      <p:ext uri="{BB962C8B-B14F-4D97-AF65-F5344CB8AC3E}">
        <p14:creationId xmlns:p14="http://schemas.microsoft.com/office/powerpoint/2010/main" val="4239003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CPS Framework</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2968" y="1600200"/>
            <a:ext cx="7998063" cy="4525963"/>
          </a:xfrm>
        </p:spPr>
      </p:pic>
    </p:spTree>
    <p:extLst>
      <p:ext uri="{BB962C8B-B14F-4D97-AF65-F5344CB8AC3E}">
        <p14:creationId xmlns:p14="http://schemas.microsoft.com/office/powerpoint/2010/main" val="3449816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Methodology initially developed at AFAR</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2627" y="1720840"/>
            <a:ext cx="3823419" cy="3615267"/>
          </a:xfrm>
        </p:spPr>
      </p:pic>
      <p:sp>
        <p:nvSpPr>
          <p:cNvPr id="7" name="Rectangle 6"/>
          <p:cNvSpPr/>
          <p:nvPr/>
        </p:nvSpPr>
        <p:spPr>
          <a:xfrm>
            <a:off x="5046133" y="1720840"/>
            <a:ext cx="3640667" cy="3970318"/>
          </a:xfrm>
          <a:prstGeom prst="rect">
            <a:avLst/>
          </a:prstGeom>
        </p:spPr>
        <p:txBody>
          <a:bodyPr wrap="square">
            <a:spAutoFit/>
          </a:bodyPr>
          <a:lstStyle/>
          <a:p>
            <a:r>
              <a:rPr lang="en-US" dirty="0"/>
              <a:t>Three Tenets-reduce a System’s vulnerability by:</a:t>
            </a:r>
          </a:p>
          <a:p>
            <a:endParaRPr lang="en-US" dirty="0"/>
          </a:p>
          <a:p>
            <a:r>
              <a:rPr lang="en-US" dirty="0"/>
              <a:t>Focus on what is critical – reduce the number of potential susceptibility points</a:t>
            </a:r>
          </a:p>
          <a:p>
            <a:endParaRPr lang="en-US" dirty="0"/>
          </a:p>
          <a:p>
            <a:r>
              <a:rPr lang="en-US" dirty="0"/>
              <a:t>Move It 'Out of Band' – make the critical pieces less accessible (or inaccessible)</a:t>
            </a:r>
          </a:p>
          <a:p>
            <a:endParaRPr lang="en-US" dirty="0"/>
          </a:p>
          <a:p>
            <a:r>
              <a:rPr lang="en-US" dirty="0"/>
              <a:t>Detect, React, Adapt – deny the threat the ability to do harm (get inside the adversary’s OODA loop)</a:t>
            </a:r>
          </a:p>
        </p:txBody>
      </p:sp>
      <p:sp>
        <p:nvSpPr>
          <p:cNvPr id="8" name="Rectangle 7"/>
          <p:cNvSpPr/>
          <p:nvPr/>
        </p:nvSpPr>
        <p:spPr>
          <a:xfrm>
            <a:off x="562628" y="5691157"/>
            <a:ext cx="7751640" cy="923330"/>
          </a:xfrm>
          <a:prstGeom prst="rect">
            <a:avLst/>
          </a:prstGeom>
        </p:spPr>
        <p:txBody>
          <a:bodyPr wrap="square">
            <a:spAutoFit/>
          </a:bodyPr>
          <a:lstStyle/>
          <a:p>
            <a:endParaRPr lang="en-US" dirty="0"/>
          </a:p>
          <a:p>
            <a:r>
              <a:rPr lang="en-US" dirty="0"/>
              <a:t>The Methodology is sound – now need to research &amp; develop the processes, tools &amp; technologies to efficiently  implement the methodology</a:t>
            </a:r>
          </a:p>
        </p:txBody>
      </p:sp>
    </p:spTree>
    <p:extLst>
      <p:ext uri="{BB962C8B-B14F-4D97-AF65-F5344CB8AC3E}">
        <p14:creationId xmlns:p14="http://schemas.microsoft.com/office/powerpoint/2010/main" val="286483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Methodology initially developed at AFAR</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3812" y="1720840"/>
            <a:ext cx="3823419" cy="3615267"/>
          </a:xfrm>
        </p:spPr>
      </p:pic>
      <p:sp>
        <p:nvSpPr>
          <p:cNvPr id="7" name="Rectangle 6"/>
          <p:cNvSpPr/>
          <p:nvPr/>
        </p:nvSpPr>
        <p:spPr>
          <a:xfrm>
            <a:off x="4114800" y="1417638"/>
            <a:ext cx="4825388" cy="5078313"/>
          </a:xfrm>
          <a:prstGeom prst="rect">
            <a:avLst/>
          </a:prstGeom>
        </p:spPr>
        <p:txBody>
          <a:bodyPr wrap="square">
            <a:spAutoFit/>
          </a:bodyPr>
          <a:lstStyle/>
          <a:p>
            <a:pPr marL="342900" indent="-342900">
              <a:buAutoNum type="arabicPeriod"/>
            </a:pPr>
            <a:r>
              <a:rPr lang="en-US" dirty="0"/>
              <a:t>System Susceptibility  </a:t>
            </a:r>
          </a:p>
          <a:p>
            <a:pPr lvl="1"/>
            <a:r>
              <a:rPr lang="en-US" dirty="0"/>
              <a:t>System Specific Engineer – expert knowledge of subsystems/component functionality </a:t>
            </a:r>
          </a:p>
          <a:p>
            <a:pPr lvl="1"/>
            <a:endParaRPr lang="en-US" dirty="0"/>
          </a:p>
          <a:p>
            <a:pPr lvl="1"/>
            <a:r>
              <a:rPr lang="en-US" dirty="0"/>
              <a:t>Reverse Engineer – expert on determining critical system functionality and possible exploits of that functionality </a:t>
            </a:r>
          </a:p>
          <a:p>
            <a:r>
              <a:rPr lang="en-US" dirty="0"/>
              <a:t>2. Threat Accessibility </a:t>
            </a:r>
          </a:p>
          <a:p>
            <a:pPr lvl="1"/>
            <a:r>
              <a:rPr lang="en-US" dirty="0"/>
              <a:t>Penetration Tester – expert knowledge of how to “penetrate”/gain access to a system using “Total Weapons System” approach </a:t>
            </a:r>
          </a:p>
          <a:p>
            <a:r>
              <a:rPr lang="en-US" dirty="0"/>
              <a:t>3. Threat Capability </a:t>
            </a:r>
          </a:p>
          <a:p>
            <a:pPr lvl="1"/>
            <a:r>
              <a:rPr lang="en-US" dirty="0"/>
              <a:t>Intelligence Analyst – expert knowledge of threat capabilities </a:t>
            </a:r>
          </a:p>
          <a:p>
            <a:r>
              <a:rPr lang="en-US" dirty="0"/>
              <a:t>4. Mission Assurance </a:t>
            </a:r>
          </a:p>
          <a:p>
            <a:pPr lvl="1"/>
            <a:r>
              <a:rPr lang="en-US" dirty="0"/>
              <a:t>Mission Expert – operations expert that knows how the system is used in a mission context</a:t>
            </a:r>
          </a:p>
        </p:txBody>
      </p:sp>
      <p:sp>
        <p:nvSpPr>
          <p:cNvPr id="3" name="Rectangle 2">
            <a:extLst>
              <a:ext uri="{FF2B5EF4-FFF2-40B4-BE49-F238E27FC236}">
                <a16:creationId xmlns:a16="http://schemas.microsoft.com/office/drawing/2014/main" id="{50D00F46-1B4B-40BA-9D91-C1AEBC74F014}"/>
              </a:ext>
            </a:extLst>
          </p:cNvPr>
          <p:cNvSpPr/>
          <p:nvPr/>
        </p:nvSpPr>
        <p:spPr>
          <a:xfrm>
            <a:off x="562627" y="5454643"/>
            <a:ext cx="1972078" cy="369332"/>
          </a:xfrm>
          <a:prstGeom prst="rect">
            <a:avLst/>
          </a:prstGeom>
        </p:spPr>
        <p:txBody>
          <a:bodyPr wrap="none">
            <a:spAutoFit/>
          </a:bodyPr>
          <a:lstStyle/>
          <a:p>
            <a:r>
              <a:rPr lang="en-US" dirty="0"/>
              <a:t>Mission Assurance </a:t>
            </a:r>
          </a:p>
        </p:txBody>
      </p:sp>
    </p:spTree>
    <p:extLst>
      <p:ext uri="{BB962C8B-B14F-4D97-AF65-F5344CB8AC3E}">
        <p14:creationId xmlns:p14="http://schemas.microsoft.com/office/powerpoint/2010/main" val="3455134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Military </a:t>
            </a:r>
            <a:r>
              <a:rPr lang="en-US" dirty="0" err="1">
                <a:solidFill>
                  <a:srgbClr val="C00000"/>
                </a:solidFill>
              </a:rPr>
              <a:t>Std</a:t>
            </a:r>
            <a:r>
              <a:rPr lang="en-US" dirty="0">
                <a:solidFill>
                  <a:srgbClr val="C00000"/>
                </a:solidFill>
              </a:rPr>
              <a:t> 1553  Data Bus</a:t>
            </a:r>
            <a:endParaRPr lang="en-US" dirty="0"/>
          </a:p>
        </p:txBody>
      </p:sp>
      <p:sp>
        <p:nvSpPr>
          <p:cNvPr id="3" name="Content Placeholder 2"/>
          <p:cNvSpPr>
            <a:spLocks noGrp="1"/>
          </p:cNvSpPr>
          <p:nvPr>
            <p:ph idx="1"/>
          </p:nvPr>
        </p:nvSpPr>
        <p:spPr>
          <a:xfrm>
            <a:off x="457200" y="1202268"/>
            <a:ext cx="8229600" cy="4923896"/>
          </a:xfrm>
        </p:spPr>
        <p:txBody>
          <a:bodyPr>
            <a:normAutofit fontScale="47500" lnSpcReduction="20000"/>
          </a:bodyPr>
          <a:lstStyle/>
          <a:p>
            <a:pPr marL="0" indent="0">
              <a:buNone/>
            </a:pPr>
            <a:endParaRPr lang="en-US" sz="2800" dirty="0"/>
          </a:p>
          <a:p>
            <a:r>
              <a:rPr lang="en-US" sz="2800" dirty="0"/>
              <a:t>MIL-STD-1553is a military standard published by the United States Department of Defense that defines the mechanical, electrical, and functional characteristics of a serial data bus.</a:t>
            </a:r>
          </a:p>
          <a:p>
            <a:pPr marL="0" indent="0">
              <a:buNone/>
            </a:pPr>
            <a:endParaRPr lang="en-US" sz="2800" dirty="0"/>
          </a:p>
          <a:p>
            <a:r>
              <a:rPr lang="en-US" sz="2800" dirty="0"/>
              <a:t>It was originally designed for use with military avionics, but has also become commonly used in space craft on-board data handling (OBDH) subsystems, both military and civil</a:t>
            </a:r>
          </a:p>
          <a:p>
            <a:pPr marL="0" indent="0">
              <a:buNone/>
            </a:pPr>
            <a:endParaRPr lang="en-US" sz="2800" dirty="0"/>
          </a:p>
          <a:p>
            <a:r>
              <a:rPr lang="en-US" sz="2800" dirty="0"/>
              <a:t>It features a dual redundant balanced line physical layer, a (differential) network interface, time division multiplexing, half-duplex command/response protocol, and up to 31 remote terminals(devices).</a:t>
            </a:r>
          </a:p>
          <a:p>
            <a:pPr marL="0" indent="0">
              <a:buNone/>
            </a:pPr>
            <a:endParaRPr lang="en-US" sz="2800" dirty="0"/>
          </a:p>
          <a:p>
            <a:r>
              <a:rPr lang="en-US" sz="2800" dirty="0"/>
              <a:t>Aversion of MIL-STD-1553 using optical cabling in place of electrical is known as MIL-STD-1773.</a:t>
            </a:r>
          </a:p>
          <a:p>
            <a:pPr marL="0" indent="0">
              <a:buNone/>
            </a:pPr>
            <a:endParaRPr lang="en-US" sz="2800" dirty="0"/>
          </a:p>
          <a:p>
            <a:r>
              <a:rPr lang="en-US" sz="2800" dirty="0"/>
              <a:t>MIL-STD-1553 was first published as a U.S. </a:t>
            </a:r>
            <a:r>
              <a:rPr lang="en-US" sz="2800" dirty="0" err="1"/>
              <a:t>AirForce</a:t>
            </a:r>
            <a:r>
              <a:rPr lang="en-US" sz="2800" dirty="0"/>
              <a:t> standard in1973,and </a:t>
            </a:r>
            <a:r>
              <a:rPr lang="en-US" sz="2800" dirty="0" err="1"/>
              <a:t>firstwas</a:t>
            </a:r>
            <a:r>
              <a:rPr lang="en-US" sz="2800" dirty="0"/>
              <a:t> used on the F-16 Falcon fighter aircraft</a:t>
            </a:r>
          </a:p>
          <a:p>
            <a:pPr marL="0" indent="0">
              <a:buNone/>
            </a:pPr>
            <a:endParaRPr lang="en-US" sz="2800" dirty="0"/>
          </a:p>
          <a:p>
            <a:r>
              <a:rPr lang="en-US" sz="2800" dirty="0"/>
              <a:t>Other air craft designs quickly followed, including the F-18 Hornet, AH-64 Apache, P-3 </a:t>
            </a:r>
            <a:r>
              <a:rPr lang="en-US" sz="2800" dirty="0" err="1"/>
              <a:t>COrion</a:t>
            </a:r>
            <a:r>
              <a:rPr lang="en-US" sz="2800" dirty="0"/>
              <a:t>, F-15 Eagle and F-20 </a:t>
            </a:r>
            <a:r>
              <a:rPr lang="en-US" sz="2800" dirty="0" err="1"/>
              <a:t>Tigershark</a:t>
            </a:r>
            <a:r>
              <a:rPr lang="en-US" sz="2800" dirty="0"/>
              <a:t>.</a:t>
            </a:r>
          </a:p>
          <a:p>
            <a:pPr marL="0" indent="0">
              <a:buNone/>
            </a:pPr>
            <a:endParaRPr lang="en-US" sz="2800" dirty="0"/>
          </a:p>
          <a:p>
            <a:r>
              <a:rPr lang="en-US" sz="2800" dirty="0"/>
              <a:t>It now is widely used by all branches of the U.S. military and has been adopted by NATO as STANAG 3838 AVS</a:t>
            </a:r>
          </a:p>
          <a:p>
            <a:pPr marL="0" indent="0">
              <a:buNone/>
            </a:pPr>
            <a:endParaRPr lang="en-US" sz="2800" dirty="0"/>
          </a:p>
          <a:p>
            <a:r>
              <a:rPr lang="en-US" sz="2800" dirty="0">
                <a:solidFill>
                  <a:srgbClr val="C00000"/>
                </a:solidFill>
              </a:rPr>
              <a:t>The Russian made MiG-35 also uses MIL-STD-1553</a:t>
            </a:r>
          </a:p>
          <a:p>
            <a:pPr marL="0" indent="0">
              <a:buNone/>
            </a:pPr>
            <a:endParaRPr lang="en-US" sz="2800" dirty="0"/>
          </a:p>
          <a:p>
            <a:r>
              <a:rPr lang="en-US" sz="2800" dirty="0"/>
              <a:t>MIL-STD-1553 is being replaced on some newer U.S. designs by IEEE1394 (aka FireWire)</a:t>
            </a:r>
            <a:endParaRPr lang="en-US" dirty="0"/>
          </a:p>
        </p:txBody>
      </p:sp>
    </p:spTree>
    <p:extLst>
      <p:ext uri="{BB962C8B-B14F-4D97-AF65-F5344CB8AC3E}">
        <p14:creationId xmlns:p14="http://schemas.microsoft.com/office/powerpoint/2010/main" val="4123881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3200" dirty="0">
                <a:solidFill>
                  <a:srgbClr val="C00000"/>
                </a:solidFill>
              </a:rPr>
              <a:t>AIT MIL-STD-1553 Single-,Dual-,and Quad-Channel MIL-STD-1553 PXI Modules</a:t>
            </a:r>
            <a:endParaRPr lang="en-US" sz="3200" dirty="0"/>
          </a:p>
        </p:txBody>
      </p:sp>
      <p:sp>
        <p:nvSpPr>
          <p:cNvPr id="3" name="Content Placeholder 2"/>
          <p:cNvSpPr>
            <a:spLocks noGrp="1"/>
          </p:cNvSpPr>
          <p:nvPr>
            <p:ph idx="1"/>
          </p:nvPr>
        </p:nvSpPr>
        <p:spPr>
          <a:xfrm>
            <a:off x="457200" y="1143000"/>
            <a:ext cx="8229600" cy="4525963"/>
          </a:xfrm>
        </p:spPr>
        <p:txBody>
          <a:bodyPr>
            <a:normAutofit fontScale="70000" lnSpcReduction="20000"/>
          </a:bodyPr>
          <a:lstStyle/>
          <a:p>
            <a:pPr marL="0" indent="0">
              <a:buNone/>
            </a:pPr>
            <a:r>
              <a:rPr lang="en-US" sz="2600" dirty="0"/>
              <a:t>1, 2, or 4 dual redundant MIL-STD-1553 bus interfaces with full error injection and detection</a:t>
            </a:r>
          </a:p>
          <a:p>
            <a:pPr marL="0" indent="0">
              <a:buNone/>
            </a:pPr>
            <a:endParaRPr lang="en-US" sz="2600" dirty="0"/>
          </a:p>
          <a:p>
            <a:pPr marL="0" indent="0">
              <a:buNone/>
            </a:pPr>
            <a:r>
              <a:rPr lang="en-US" sz="2600" dirty="0"/>
              <a:t>Concurrent BC, multiple RT(31),and BM operations for extended function interfaces</a:t>
            </a:r>
          </a:p>
          <a:p>
            <a:pPr marL="0" indent="0">
              <a:buNone/>
            </a:pPr>
            <a:endParaRPr lang="en-US" sz="2600" dirty="0"/>
          </a:p>
          <a:p>
            <a:pPr marL="0" indent="0">
              <a:buNone/>
            </a:pPr>
            <a:r>
              <a:rPr lang="en-US" sz="2600" dirty="0"/>
              <a:t>On board time tag clock synchronization to external IRIG or PXI system clock</a:t>
            </a:r>
          </a:p>
          <a:p>
            <a:pPr marL="0" indent="0">
              <a:buNone/>
            </a:pPr>
            <a:endParaRPr lang="en-US" sz="2600" dirty="0"/>
          </a:p>
          <a:p>
            <a:pPr marL="0" indent="0">
              <a:buNone/>
            </a:pPr>
            <a:r>
              <a:rPr lang="en-US" sz="2600" dirty="0"/>
              <a:t>PXI trigger input / output support (generate PXI triggers on 1553 bus events)</a:t>
            </a:r>
          </a:p>
          <a:p>
            <a:pPr marL="0" indent="0">
              <a:buNone/>
            </a:pPr>
            <a:endParaRPr lang="en-US" sz="2600" dirty="0"/>
          </a:p>
          <a:p>
            <a:pPr marL="0" indent="0">
              <a:buNone/>
            </a:pPr>
            <a:r>
              <a:rPr lang="en-US" sz="2600" dirty="0"/>
              <a:t>PCI extensions for instrumentation - spec defines a rugged PC-based platform for measurement &amp; automation systems</a:t>
            </a:r>
          </a:p>
          <a:p>
            <a:pPr marL="0" indent="0">
              <a:buNone/>
            </a:pPr>
            <a:endParaRPr lang="en-US" sz="2600" dirty="0"/>
          </a:p>
          <a:p>
            <a:pPr marL="0" indent="0">
              <a:buNone/>
            </a:pPr>
            <a:r>
              <a:rPr lang="en-US" sz="2600" dirty="0"/>
              <a:t>Variable output voltage signal and software-selectable bus coupling modes</a:t>
            </a:r>
          </a:p>
          <a:p>
            <a:pPr marL="0" indent="0">
              <a:buNone/>
            </a:pPr>
            <a:endParaRPr lang="en-US" sz="2600" dirty="0"/>
          </a:p>
          <a:p>
            <a:pPr marL="0" indent="0">
              <a:buNone/>
            </a:pPr>
            <a:r>
              <a:rPr lang="en-US" sz="2600" dirty="0"/>
              <a:t>Advanced driver for developing applications in LabVIEW, LabVIEW Real-</a:t>
            </a:r>
            <a:r>
              <a:rPr lang="en-US" sz="2600" dirty="0" err="1"/>
              <a:t>Time,and</a:t>
            </a:r>
            <a:r>
              <a:rPr lang="en-US" sz="2600" dirty="0"/>
              <a:t> Windows-based C/C++</a:t>
            </a:r>
            <a:endParaRPr lang="en-US" dirty="0"/>
          </a:p>
        </p:txBody>
      </p:sp>
      <p:pic>
        <p:nvPicPr>
          <p:cNvPr id="4" name="Picture 3"/>
          <p:cNvPicPr>
            <a:picLocks noChangeAspect="1"/>
          </p:cNvPicPr>
          <p:nvPr/>
        </p:nvPicPr>
        <p:blipFill>
          <a:blip r:embed="rId3"/>
          <a:stretch>
            <a:fillRect/>
          </a:stretch>
        </p:blipFill>
        <p:spPr>
          <a:xfrm>
            <a:off x="693809" y="5400603"/>
            <a:ext cx="4166513" cy="1829250"/>
          </a:xfrm>
          <a:prstGeom prst="rect">
            <a:avLst/>
          </a:prstGeom>
        </p:spPr>
      </p:pic>
      <p:pic>
        <p:nvPicPr>
          <p:cNvPr id="5" name="Picture 4"/>
          <p:cNvPicPr>
            <a:picLocks noChangeAspect="1"/>
          </p:cNvPicPr>
          <p:nvPr/>
        </p:nvPicPr>
        <p:blipFill>
          <a:blip r:embed="rId4"/>
          <a:stretch>
            <a:fillRect/>
          </a:stretch>
        </p:blipFill>
        <p:spPr>
          <a:xfrm>
            <a:off x="6155255" y="5184287"/>
            <a:ext cx="2184879" cy="1689516"/>
          </a:xfrm>
          <a:prstGeom prst="rect">
            <a:avLst/>
          </a:prstGeom>
        </p:spPr>
      </p:pic>
    </p:spTree>
    <p:extLst>
      <p:ext uri="{BB962C8B-B14F-4D97-AF65-F5344CB8AC3E}">
        <p14:creationId xmlns:p14="http://schemas.microsoft.com/office/powerpoint/2010/main" val="325848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667" y="-13229"/>
            <a:ext cx="8229600" cy="1143000"/>
          </a:xfrm>
        </p:spPr>
        <p:txBody>
          <a:bodyPr>
            <a:normAutofit fontScale="90000"/>
          </a:bodyPr>
          <a:lstStyle/>
          <a:p>
            <a:r>
              <a:rPr lang="en-US" dirty="0">
                <a:solidFill>
                  <a:srgbClr val="C00000"/>
                </a:solidFill>
              </a:rPr>
              <a:t>System Vulnerability Model Expanded</a:t>
            </a:r>
            <a:endParaRPr lang="en-US" dirty="0"/>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3"/>
          <a:stretch>
            <a:fillRect/>
          </a:stretch>
        </p:blipFill>
        <p:spPr>
          <a:xfrm>
            <a:off x="0" y="1177058"/>
            <a:ext cx="9144000" cy="5372245"/>
          </a:xfrm>
          <a:prstGeom prst="rect">
            <a:avLst/>
          </a:prstGeom>
        </p:spPr>
      </p:pic>
    </p:spTree>
    <p:extLst>
      <p:ext uri="{BB962C8B-B14F-4D97-AF65-F5344CB8AC3E}">
        <p14:creationId xmlns:p14="http://schemas.microsoft.com/office/powerpoint/2010/main" val="379392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a:xfrm>
            <a:off x="222885" y="274320"/>
            <a:ext cx="8698230" cy="822960"/>
          </a:xfrm>
        </p:spPr>
        <p:txBody>
          <a:bodyPr vert="horz" lIns="0" tIns="0" rIns="0" bIns="0" rtlCol="0" anchor="t">
            <a:normAutofit/>
          </a:bodyPr>
          <a:lstStyle/>
          <a:p>
            <a:pPr>
              <a:lnSpc>
                <a:spcPct val="95000"/>
              </a:lnSpc>
            </a:pPr>
            <a:r>
              <a:rPr lang="en-US" altLang="en-US" sz="3870" dirty="0">
                <a:solidFill>
                  <a:srgbClr val="C00000"/>
                </a:solidFill>
                <a:latin typeface="Bodoni" pitchFamily="34"/>
              </a:rPr>
              <a:t>CPS Analysis &amp; Testing Environments</a:t>
            </a:r>
          </a:p>
        </p:txBody>
      </p:sp>
      <p:sp>
        <p:nvSpPr>
          <p:cNvPr id="3075" name="Rectangle 2"/>
          <p:cNvSpPr>
            <a:spLocks noGrp="1" noChangeArrowheads="1"/>
          </p:cNvSpPr>
          <p:nvPr>
            <p:ph type="body" idx="1"/>
          </p:nvPr>
        </p:nvSpPr>
        <p:spPr>
          <a:xfrm>
            <a:off x="222885" y="908685"/>
            <a:ext cx="8716804" cy="2511743"/>
          </a:xfrm>
        </p:spPr>
        <p:txBody>
          <a:bodyPr vert="horz" lIns="0" tIns="0" rIns="0" bIns="0" rtlCol="0">
            <a:normAutofit/>
          </a:bodyPr>
          <a:lstStyle/>
          <a:p>
            <a:pPr marL="411480" lvl="1" indent="-308610">
              <a:lnSpc>
                <a:spcPct val="95000"/>
              </a:lnSpc>
              <a:spcBef>
                <a:spcPct val="0"/>
              </a:spcBef>
              <a:buClr>
                <a:srgbClr val="FFFFFF"/>
              </a:buClr>
              <a:buFontTx/>
              <a:buChar char="•"/>
            </a:pPr>
            <a:r>
              <a:rPr lang="en-US" altLang="en-US" sz="2430" dirty="0">
                <a:solidFill>
                  <a:srgbClr val="FFFFFF"/>
                </a:solidFill>
                <a:latin typeface="Arial" panose="020B0604020202020204" pitchFamily="34" charset="0"/>
              </a:rPr>
              <a:t>Electronic Control Unit (ECU)</a:t>
            </a:r>
            <a:endParaRPr lang="en-US" altLang="en-US" dirty="0"/>
          </a:p>
          <a:p>
            <a:pPr marL="411480" lvl="1" indent="-308610">
              <a:lnSpc>
                <a:spcPct val="95000"/>
              </a:lnSpc>
              <a:spcBef>
                <a:spcPct val="0"/>
              </a:spcBef>
              <a:buClr>
                <a:srgbClr val="FFFFFF"/>
              </a:buClr>
              <a:buFontTx/>
              <a:buChar char="•"/>
            </a:pPr>
            <a:r>
              <a:rPr lang="en-US" altLang="en-US" sz="2430" dirty="0">
                <a:solidFill>
                  <a:srgbClr val="FFFFFF"/>
                </a:solidFill>
                <a:latin typeface="Arial" panose="020B0604020202020204" pitchFamily="34" charset="0"/>
              </a:rPr>
              <a:t>Controller Area Network (CAN)</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solidFill>
                  <a:srgbClr val="FFFFFF"/>
                </a:solidFill>
                <a:latin typeface="Arial" panose="020B0604020202020204" pitchFamily="34" charset="0"/>
              </a:rPr>
              <a:t>Found in virtually all modern cars since ~2003</a:t>
            </a:r>
            <a:endParaRPr lang="en-US" altLang="en-US" dirty="0"/>
          </a:p>
          <a:p>
            <a:pPr marL="0" indent="0">
              <a:lnSpc>
                <a:spcPct val="95000"/>
              </a:lnSpc>
              <a:spcBef>
                <a:spcPct val="0"/>
              </a:spcBef>
              <a:buNone/>
            </a:pPr>
            <a:endParaRPr lang="en-US" altLang="en-US" sz="2430" dirty="0">
              <a:solidFill>
                <a:srgbClr val="FFFFFF"/>
              </a:solidFill>
              <a:latin typeface="Arial" panose="020B0604020202020204" pitchFamily="34" charset="0"/>
            </a:endParaRPr>
          </a:p>
          <a:p>
            <a:pPr marL="0" indent="0">
              <a:lnSpc>
                <a:spcPct val="95000"/>
              </a:lnSpc>
              <a:spcBef>
                <a:spcPct val="0"/>
              </a:spcBef>
              <a:buNone/>
            </a:pPr>
            <a:r>
              <a:rPr lang="en-US" altLang="en-US" sz="2430" dirty="0">
                <a:solidFill>
                  <a:srgbClr val="FFFFFF"/>
                </a:solidFill>
                <a:latin typeface="Arial" panose="020B0604020202020204" pitchFamily="34" charset="0"/>
              </a:rPr>
              <a:t>Some modern cars have over 80 ECUs in the CAN</a:t>
            </a:r>
          </a:p>
        </p:txBody>
      </p:sp>
      <p:pic>
        <p:nvPicPr>
          <p:cNvPr id="2" name="Picture 1"/>
          <p:cNvPicPr>
            <a:picLocks noChangeAspect="1"/>
          </p:cNvPicPr>
          <p:nvPr/>
        </p:nvPicPr>
        <p:blipFill>
          <a:blip r:embed="rId3"/>
          <a:stretch>
            <a:fillRect/>
          </a:stretch>
        </p:blipFill>
        <p:spPr>
          <a:xfrm>
            <a:off x="109907" y="2164556"/>
            <a:ext cx="8942760" cy="4153923"/>
          </a:xfrm>
          <a:prstGeom prst="rect">
            <a:avLst/>
          </a:prstGeom>
        </p:spPr>
      </p:pic>
    </p:spTree>
    <p:extLst>
      <p:ext uri="{BB962C8B-B14F-4D97-AF65-F5344CB8AC3E}">
        <p14:creationId xmlns:p14="http://schemas.microsoft.com/office/powerpoint/2010/main" val="3985928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Hacking an Airplane With Only an Android Phone</a:t>
            </a:r>
            <a:endParaRPr lang="en-US" dirty="0"/>
          </a:p>
        </p:txBody>
      </p:sp>
      <p:sp>
        <p:nvSpPr>
          <p:cNvPr id="3" name="Content Placeholder 2"/>
          <p:cNvSpPr>
            <a:spLocks noGrp="1"/>
          </p:cNvSpPr>
          <p:nvPr>
            <p:ph idx="1"/>
          </p:nvPr>
        </p:nvSpPr>
        <p:spPr>
          <a:xfrm>
            <a:off x="457200" y="1202268"/>
            <a:ext cx="8229600" cy="4923896"/>
          </a:xfrm>
        </p:spPr>
        <p:txBody>
          <a:bodyPr>
            <a:normAutofit fontScale="62500" lnSpcReduction="20000"/>
          </a:bodyPr>
          <a:lstStyle/>
          <a:p>
            <a:pPr marL="0" indent="0">
              <a:buNone/>
            </a:pPr>
            <a:endParaRPr lang="en-US" sz="2800" dirty="0"/>
          </a:p>
          <a:p>
            <a:r>
              <a:rPr lang="en-US" sz="2800" dirty="0"/>
              <a:t>At the Hack In The Box conference in Amsterdam, security consultant Hugo </a:t>
            </a:r>
            <a:r>
              <a:rPr lang="en-US" sz="2800" dirty="0" err="1"/>
              <a:t>Teso</a:t>
            </a:r>
            <a:r>
              <a:rPr lang="en-US" sz="2800" dirty="0"/>
              <a:t> demonstrated Plane </a:t>
            </a:r>
            <a:r>
              <a:rPr lang="en-US" sz="2800" dirty="0" err="1"/>
              <a:t>Sploit</a:t>
            </a:r>
            <a:endParaRPr lang="en-US" sz="2800" dirty="0"/>
          </a:p>
          <a:p>
            <a:endParaRPr lang="en-US" sz="2800" dirty="0"/>
          </a:p>
          <a:p>
            <a:r>
              <a:rPr lang="en-US" sz="2800" dirty="0"/>
              <a:t>An app he developed that he claims can take control of certain systems aboard an airplane and cause it to change direction or just crash itself into the ground.</a:t>
            </a:r>
          </a:p>
          <a:p>
            <a:endParaRPr lang="en-US" sz="2800" dirty="0"/>
          </a:p>
          <a:p>
            <a:r>
              <a:rPr lang="en-US" sz="2800" dirty="0"/>
              <a:t>Hugo’s no terrorist - he developed the app to point out the glaring, frightening, insane security holes in most planes’ onboard flight systems</a:t>
            </a:r>
          </a:p>
          <a:p>
            <a:endParaRPr lang="en-US" sz="2800" dirty="0"/>
          </a:p>
          <a:p>
            <a:r>
              <a:rPr lang="en-US" sz="2800" dirty="0"/>
              <a:t>His demonstration was done in a simulated environment, but the methods and effects, he says, are exactly the same as what could happen with a real plane.</a:t>
            </a:r>
          </a:p>
          <a:p>
            <a:endParaRPr lang="en-US" sz="2800" dirty="0"/>
          </a:p>
          <a:p>
            <a:r>
              <a:rPr lang="en-US" sz="2800" dirty="0"/>
              <a:t>“The complete attack will be accomplished remotely, without needing physical access to the target aircraft at any time,” wrote </a:t>
            </a:r>
            <a:r>
              <a:rPr lang="en-US" sz="2800" dirty="0" err="1"/>
              <a:t>Teso</a:t>
            </a:r>
            <a:r>
              <a:rPr lang="en-US" sz="2800" dirty="0"/>
              <a:t> in his presentation abstract for the conference</a:t>
            </a:r>
          </a:p>
          <a:p>
            <a:endParaRPr lang="en-US" sz="2800" dirty="0"/>
          </a:p>
          <a:p>
            <a:r>
              <a:rPr lang="en-US" sz="2800" dirty="0"/>
              <a:t>The hack exploits the plane’s autopilot, transferring control to the hacker, who(in theory) could command the plane from an app running on Android.</a:t>
            </a:r>
            <a:endParaRPr lang="en-US" dirty="0"/>
          </a:p>
        </p:txBody>
      </p:sp>
    </p:spTree>
    <p:extLst>
      <p:ext uri="{BB962C8B-B14F-4D97-AF65-F5344CB8AC3E}">
        <p14:creationId xmlns:p14="http://schemas.microsoft.com/office/powerpoint/2010/main" val="1915166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a:xfrm>
            <a:off x="222885" y="274320"/>
            <a:ext cx="8698230" cy="822960"/>
          </a:xfrm>
        </p:spPr>
        <p:txBody>
          <a:bodyPr vert="horz" lIns="0" tIns="0" rIns="0" bIns="0" rtlCol="0" anchor="t">
            <a:normAutofit/>
          </a:bodyPr>
          <a:lstStyle/>
          <a:p>
            <a:pPr eaLnBrk="1" hangingPunct="1">
              <a:lnSpc>
                <a:spcPct val="95000"/>
              </a:lnSpc>
            </a:pPr>
            <a:r>
              <a:rPr lang="en-US" altLang="en-US" sz="3870" dirty="0">
                <a:solidFill>
                  <a:srgbClr val="C00000"/>
                </a:solidFill>
                <a:latin typeface="Bodoni" pitchFamily="34"/>
              </a:rPr>
              <a:t>The Modern Automobile</a:t>
            </a:r>
          </a:p>
        </p:txBody>
      </p:sp>
      <p:sp>
        <p:nvSpPr>
          <p:cNvPr id="3075" name="Rectangle 2"/>
          <p:cNvSpPr>
            <a:spLocks noGrp="1" noChangeArrowheads="1"/>
          </p:cNvSpPr>
          <p:nvPr>
            <p:ph type="body" idx="1"/>
          </p:nvPr>
        </p:nvSpPr>
        <p:spPr>
          <a:xfrm>
            <a:off x="222885" y="908685"/>
            <a:ext cx="8716804" cy="2511743"/>
          </a:xfrm>
        </p:spPr>
        <p:txBody>
          <a:bodyPr vert="horz" lIns="0" tIns="0" rIns="0" bIns="0" rtlCol="0">
            <a:normAutofit/>
          </a:bodyPr>
          <a:lstStyle/>
          <a:p>
            <a:pPr marL="411480" lvl="1" indent="-308610">
              <a:lnSpc>
                <a:spcPct val="95000"/>
              </a:lnSpc>
              <a:spcBef>
                <a:spcPct val="0"/>
              </a:spcBef>
              <a:buClr>
                <a:srgbClr val="FFFFFF"/>
              </a:buClr>
              <a:buFontTx/>
              <a:buChar char="•"/>
            </a:pPr>
            <a:r>
              <a:rPr lang="en-US" altLang="en-US" sz="2430" dirty="0">
                <a:solidFill>
                  <a:srgbClr val="FFFFFF"/>
                </a:solidFill>
                <a:latin typeface="Arial" panose="020B0604020202020204" pitchFamily="34" charset="0"/>
              </a:rPr>
              <a:t>Electronic Control Unit (ECU)</a:t>
            </a:r>
            <a:endParaRPr lang="en-US" altLang="en-US" dirty="0"/>
          </a:p>
          <a:p>
            <a:pPr marL="411480" lvl="1" indent="-308610">
              <a:lnSpc>
                <a:spcPct val="95000"/>
              </a:lnSpc>
              <a:spcBef>
                <a:spcPct val="0"/>
              </a:spcBef>
              <a:buClr>
                <a:srgbClr val="FFFFFF"/>
              </a:buClr>
              <a:buFontTx/>
              <a:buChar char="•"/>
            </a:pPr>
            <a:r>
              <a:rPr lang="en-US" altLang="en-US" sz="2430" dirty="0">
                <a:solidFill>
                  <a:srgbClr val="FFFFFF"/>
                </a:solidFill>
                <a:latin typeface="Arial" panose="020B0604020202020204" pitchFamily="34" charset="0"/>
              </a:rPr>
              <a:t>Controller Area Network (CAN)</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solidFill>
                  <a:srgbClr val="FFFFFF"/>
                </a:solidFill>
                <a:latin typeface="Arial" panose="020B0604020202020204" pitchFamily="34" charset="0"/>
              </a:rPr>
              <a:t>Found in virtually all modern cars since ~2003</a:t>
            </a:r>
            <a:endParaRPr lang="en-US" altLang="en-US" dirty="0"/>
          </a:p>
          <a:p>
            <a:pPr marL="0" indent="0">
              <a:lnSpc>
                <a:spcPct val="95000"/>
              </a:lnSpc>
              <a:spcBef>
                <a:spcPct val="0"/>
              </a:spcBef>
              <a:buNone/>
            </a:pPr>
            <a:endParaRPr lang="en-US" altLang="en-US" sz="2430" dirty="0">
              <a:solidFill>
                <a:srgbClr val="FFFFFF"/>
              </a:solidFill>
              <a:latin typeface="Arial" panose="020B0604020202020204" pitchFamily="34" charset="0"/>
            </a:endParaRPr>
          </a:p>
          <a:p>
            <a:pPr marL="0" indent="0">
              <a:lnSpc>
                <a:spcPct val="95000"/>
              </a:lnSpc>
              <a:spcBef>
                <a:spcPct val="0"/>
              </a:spcBef>
              <a:buNone/>
            </a:pPr>
            <a:r>
              <a:rPr lang="en-US" altLang="en-US" sz="2430" dirty="0">
                <a:solidFill>
                  <a:srgbClr val="FFFFFF"/>
                </a:solidFill>
                <a:latin typeface="Arial" panose="020B0604020202020204" pitchFamily="34" charset="0"/>
              </a:rPr>
              <a:t>Some modern cars have over 80 ECUs in the CAN</a:t>
            </a:r>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0138" y="1920240"/>
            <a:ext cx="6923723" cy="398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5265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1"/>
          </p:nvPr>
        </p:nvSpPr>
        <p:spPr/>
        <p:txBody>
          <a:bodyPr/>
          <a:lstStyle/>
          <a:p>
            <a:fld id="{3CB22774-72A3-4500-A88E-87806971A053}" type="slidenum">
              <a:rPr lang="en-GB" altLang="en-US"/>
              <a:pPr/>
              <a:t>22</a:t>
            </a:fld>
            <a:endParaRPr lang="en-GB" altLang="en-US"/>
          </a:p>
        </p:txBody>
      </p:sp>
      <p:sp>
        <p:nvSpPr>
          <p:cNvPr id="225282" name="Rectangle 2"/>
          <p:cNvSpPr>
            <a:spLocks noGrp="1" noChangeArrowheads="1"/>
          </p:cNvSpPr>
          <p:nvPr>
            <p:ph type="title"/>
          </p:nvPr>
        </p:nvSpPr>
        <p:spPr/>
        <p:txBody>
          <a:bodyPr/>
          <a:lstStyle/>
          <a:p>
            <a:r>
              <a:rPr lang="en-GB" altLang="en-US" dirty="0">
                <a:solidFill>
                  <a:srgbClr val="C00000"/>
                </a:solidFill>
              </a:rPr>
              <a:t>Before CAN </a:t>
            </a:r>
            <a:endParaRPr lang="en-US" altLang="en-US" dirty="0">
              <a:solidFill>
                <a:srgbClr val="C00000"/>
              </a:solidFill>
            </a:endParaRPr>
          </a:p>
        </p:txBody>
      </p:sp>
      <p:pic>
        <p:nvPicPr>
          <p:cNvPr id="4" name="Content Placeholder 3"/>
          <p:cNvPicPr>
            <a:picLocks noGrp="1" noChangeAspect="1"/>
          </p:cNvPicPr>
          <p:nvPr>
            <p:ph idx="1"/>
          </p:nvPr>
        </p:nvPicPr>
        <p:blipFill>
          <a:blip r:embed="rId3"/>
          <a:stretch>
            <a:fillRect/>
          </a:stretch>
        </p:blipFill>
        <p:spPr>
          <a:xfrm>
            <a:off x="729133" y="1600200"/>
            <a:ext cx="7685733" cy="4525963"/>
          </a:xfrm>
          <a:prstGeom prst="rect">
            <a:avLst/>
          </a:prstGeom>
        </p:spPr>
      </p:pic>
    </p:spTree>
    <p:extLst>
      <p:ext uri="{BB962C8B-B14F-4D97-AF65-F5344CB8AC3E}">
        <p14:creationId xmlns:p14="http://schemas.microsoft.com/office/powerpoint/2010/main" val="3885745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3816DFC5-D103-41D5-BB91-B5BD664ED62B}" type="slidenum">
              <a:rPr lang="en-GB" altLang="en-US"/>
              <a:pPr/>
              <a:t>23</a:t>
            </a:fld>
            <a:endParaRPr lang="en-GB" altLang="en-US"/>
          </a:p>
        </p:txBody>
      </p:sp>
      <p:sp>
        <p:nvSpPr>
          <p:cNvPr id="223234" name="Rectangle 2"/>
          <p:cNvSpPr>
            <a:spLocks noGrp="1" noChangeArrowheads="1"/>
          </p:cNvSpPr>
          <p:nvPr>
            <p:ph type="title"/>
          </p:nvPr>
        </p:nvSpPr>
        <p:spPr>
          <a:xfrm>
            <a:off x="592666" y="0"/>
            <a:ext cx="7890933" cy="960438"/>
          </a:xfrm>
        </p:spPr>
        <p:txBody>
          <a:bodyPr/>
          <a:lstStyle/>
          <a:p>
            <a:r>
              <a:rPr lang="en-GB" altLang="en-US" dirty="0">
                <a:solidFill>
                  <a:srgbClr val="C00000"/>
                </a:solidFill>
              </a:rPr>
              <a:t>Controller Area Network</a:t>
            </a:r>
            <a:endParaRPr lang="en-US" altLang="en-US" dirty="0">
              <a:solidFill>
                <a:srgbClr val="C00000"/>
              </a:solidFill>
            </a:endParaRPr>
          </a:p>
        </p:txBody>
      </p:sp>
      <p:sp>
        <p:nvSpPr>
          <p:cNvPr id="223235" name="Rectangle 3"/>
          <p:cNvSpPr>
            <a:spLocks noGrp="1" noChangeArrowheads="1"/>
          </p:cNvSpPr>
          <p:nvPr>
            <p:ph type="body" idx="1"/>
          </p:nvPr>
        </p:nvSpPr>
        <p:spPr>
          <a:xfrm>
            <a:off x="103530" y="939800"/>
            <a:ext cx="8832126" cy="4525963"/>
          </a:xfrm>
        </p:spPr>
        <p:txBody>
          <a:bodyPr>
            <a:noAutofit/>
          </a:bodyPr>
          <a:lstStyle/>
          <a:p>
            <a:r>
              <a:rPr lang="en-US" altLang="en-US" sz="2400" dirty="0"/>
              <a:t>Developed by BOSCH as a multi-master, message broadcast system</a:t>
            </a:r>
          </a:p>
          <a:p>
            <a:r>
              <a:rPr lang="en-US" altLang="en-US" sz="2400" dirty="0"/>
              <a:t>Many short messages are broadcast to the entire network, which provides for data consistency in every node of the system</a:t>
            </a:r>
          </a:p>
          <a:p>
            <a:r>
              <a:rPr lang="en-US" altLang="en-US" sz="2400" dirty="0"/>
              <a:t>CAN is an important embedded protocol</a:t>
            </a:r>
          </a:p>
          <a:p>
            <a:r>
              <a:rPr lang="en-US" altLang="en-US" sz="2400" dirty="0"/>
              <a:t>Primarily automotive, but used in many other places</a:t>
            </a:r>
          </a:p>
          <a:p>
            <a:r>
              <a:rPr lang="en-US" altLang="en-US" sz="2400" dirty="0"/>
              <a:t>CAN specifies:</a:t>
            </a:r>
          </a:p>
          <a:p>
            <a:pPr lvl="1"/>
            <a:r>
              <a:rPr lang="en-US" altLang="en-US" sz="2400" dirty="0"/>
              <a:t>Physical layer</a:t>
            </a:r>
          </a:p>
          <a:p>
            <a:pPr lvl="1"/>
            <a:r>
              <a:rPr lang="en-US" altLang="en-US" sz="2400" dirty="0"/>
              <a:t>Protocol layer</a:t>
            </a:r>
          </a:p>
          <a:p>
            <a:pPr lvl="1"/>
            <a:r>
              <a:rPr lang="en-US" altLang="en-US" sz="2400" dirty="0"/>
              <a:t>Message filtering layer (with add-on protocols)</a:t>
            </a:r>
          </a:p>
          <a:p>
            <a:r>
              <a:rPr lang="en-US" altLang="en-US" sz="2400" dirty="0"/>
              <a:t>Note </a:t>
            </a:r>
          </a:p>
          <a:p>
            <a:pPr lvl="1"/>
            <a:r>
              <a:rPr lang="en-US" altLang="en-US" sz="2400" dirty="0"/>
              <a:t>How message prioritization achieved</a:t>
            </a:r>
          </a:p>
          <a:p>
            <a:pPr lvl="1"/>
            <a:r>
              <a:rPr lang="en-US" altLang="en-US" sz="2400" dirty="0"/>
              <a:t>How “small” nodes can be kept from overloading with received messages</a:t>
            </a:r>
          </a:p>
        </p:txBody>
      </p:sp>
    </p:spTree>
    <p:extLst>
      <p:ext uri="{BB962C8B-B14F-4D97-AF65-F5344CB8AC3E}">
        <p14:creationId xmlns:p14="http://schemas.microsoft.com/office/powerpoint/2010/main" val="1891561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1"/>
          </p:nvPr>
        </p:nvSpPr>
        <p:spPr/>
        <p:txBody>
          <a:bodyPr/>
          <a:lstStyle/>
          <a:p>
            <a:fld id="{3CB22774-72A3-4500-A88E-87806971A053}" type="slidenum">
              <a:rPr lang="en-GB" altLang="en-US"/>
              <a:pPr/>
              <a:t>24</a:t>
            </a:fld>
            <a:endParaRPr lang="en-GB" altLang="en-US"/>
          </a:p>
        </p:txBody>
      </p:sp>
      <p:sp>
        <p:nvSpPr>
          <p:cNvPr id="225282" name="Rectangle 2"/>
          <p:cNvSpPr>
            <a:spLocks noGrp="1" noChangeArrowheads="1"/>
          </p:cNvSpPr>
          <p:nvPr>
            <p:ph type="title"/>
          </p:nvPr>
        </p:nvSpPr>
        <p:spPr>
          <a:xfrm>
            <a:off x="457200" y="81779"/>
            <a:ext cx="8229600" cy="1143000"/>
          </a:xfrm>
        </p:spPr>
        <p:txBody>
          <a:bodyPr/>
          <a:lstStyle/>
          <a:p>
            <a:r>
              <a:rPr lang="en-GB" altLang="en-US" dirty="0">
                <a:solidFill>
                  <a:srgbClr val="C00000"/>
                </a:solidFill>
              </a:rPr>
              <a:t>CAN Bus</a:t>
            </a:r>
            <a:endParaRPr lang="en-US" altLang="en-US" dirty="0">
              <a:solidFill>
                <a:srgbClr val="C00000"/>
              </a:solidFill>
            </a:endParaRPr>
          </a:p>
        </p:txBody>
      </p:sp>
      <p:pic>
        <p:nvPicPr>
          <p:cNvPr id="225283"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t="2052"/>
          <a:stretch>
            <a:fillRect/>
          </a:stretch>
        </p:blipFill>
        <p:spPr>
          <a:xfrm>
            <a:off x="1225062" y="2905859"/>
            <a:ext cx="6731977" cy="3566746"/>
          </a:xfrm>
        </p:spPr>
      </p:pic>
      <p:sp>
        <p:nvSpPr>
          <p:cNvPr id="225284" name="Rectangle 4"/>
          <p:cNvSpPr>
            <a:spLocks noChangeArrowheads="1"/>
          </p:cNvSpPr>
          <p:nvPr/>
        </p:nvSpPr>
        <p:spPr bwMode="auto">
          <a:xfrm>
            <a:off x="438151" y="1089271"/>
            <a:ext cx="8173915" cy="1626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662" dirty="0"/>
              <a:t>The solution to this problem was the connection of the control systems via a serial bus system. This bus had to fulfill some special requirements due to its usage in a vehicle. With the use of CAN, point-to-point wiring is replaced by one serial bus connecting all control systems. This is accomplished by adding some CAN-specific hardware to each control unit that provides the "rules" or the protocol for transmitting and receiving information via the bus.</a:t>
            </a:r>
          </a:p>
        </p:txBody>
      </p:sp>
    </p:spTree>
    <p:extLst>
      <p:ext uri="{BB962C8B-B14F-4D97-AF65-F5344CB8AC3E}">
        <p14:creationId xmlns:p14="http://schemas.microsoft.com/office/powerpoint/2010/main" val="786422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1"/>
          </p:nvPr>
        </p:nvSpPr>
        <p:spPr/>
        <p:txBody>
          <a:bodyPr/>
          <a:lstStyle/>
          <a:p>
            <a:fld id="{3CB22774-72A3-4500-A88E-87806971A053}" type="slidenum">
              <a:rPr lang="en-GB" altLang="en-US"/>
              <a:pPr/>
              <a:t>25</a:t>
            </a:fld>
            <a:endParaRPr lang="en-GB" altLang="en-US"/>
          </a:p>
        </p:txBody>
      </p:sp>
      <p:sp>
        <p:nvSpPr>
          <p:cNvPr id="225282" name="Rectangle 2"/>
          <p:cNvSpPr>
            <a:spLocks noGrp="1" noChangeArrowheads="1"/>
          </p:cNvSpPr>
          <p:nvPr>
            <p:ph type="title"/>
          </p:nvPr>
        </p:nvSpPr>
        <p:spPr>
          <a:xfrm>
            <a:off x="410308" y="0"/>
            <a:ext cx="8229600" cy="1143000"/>
          </a:xfrm>
        </p:spPr>
        <p:txBody>
          <a:bodyPr/>
          <a:lstStyle/>
          <a:p>
            <a:r>
              <a:rPr lang="en-GB" altLang="en-US" dirty="0">
                <a:solidFill>
                  <a:srgbClr val="C00000"/>
                </a:solidFill>
              </a:rPr>
              <a:t>CAN Bus</a:t>
            </a:r>
            <a:endParaRPr lang="en-US" altLang="en-US" dirty="0">
              <a:solidFill>
                <a:srgbClr val="C00000"/>
              </a:solidFill>
            </a:endParaRPr>
          </a:p>
        </p:txBody>
      </p:sp>
      <p:pic>
        <p:nvPicPr>
          <p:cNvPr id="2" name="Picture 1"/>
          <p:cNvPicPr>
            <a:picLocks noChangeAspect="1"/>
          </p:cNvPicPr>
          <p:nvPr/>
        </p:nvPicPr>
        <p:blipFill>
          <a:blip r:embed="rId3"/>
          <a:stretch>
            <a:fillRect/>
          </a:stretch>
        </p:blipFill>
        <p:spPr>
          <a:xfrm>
            <a:off x="418618" y="1015609"/>
            <a:ext cx="8306763" cy="5468133"/>
          </a:xfrm>
          <a:prstGeom prst="rect">
            <a:avLst/>
          </a:prstGeom>
        </p:spPr>
      </p:pic>
    </p:spTree>
    <p:extLst>
      <p:ext uri="{BB962C8B-B14F-4D97-AF65-F5344CB8AC3E}">
        <p14:creationId xmlns:p14="http://schemas.microsoft.com/office/powerpoint/2010/main" val="2849802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3816DFC5-D103-41D5-BB91-B5BD664ED62B}" type="slidenum">
              <a:rPr lang="en-GB" altLang="en-US"/>
              <a:pPr/>
              <a:t>26</a:t>
            </a:fld>
            <a:endParaRPr lang="en-GB" altLang="en-US"/>
          </a:p>
        </p:txBody>
      </p:sp>
      <p:sp>
        <p:nvSpPr>
          <p:cNvPr id="223234" name="Rectangle 2"/>
          <p:cNvSpPr>
            <a:spLocks noGrp="1" noChangeArrowheads="1"/>
          </p:cNvSpPr>
          <p:nvPr>
            <p:ph type="title"/>
          </p:nvPr>
        </p:nvSpPr>
        <p:spPr>
          <a:xfrm>
            <a:off x="457200" y="20638"/>
            <a:ext cx="8229600" cy="1143000"/>
          </a:xfrm>
        </p:spPr>
        <p:txBody>
          <a:bodyPr>
            <a:normAutofit fontScale="90000"/>
          </a:bodyPr>
          <a:lstStyle/>
          <a:p>
            <a:br>
              <a:rPr lang="en-US" dirty="0"/>
            </a:br>
            <a:r>
              <a:rPr lang="en-US" b="1" dirty="0">
                <a:solidFill>
                  <a:srgbClr val="C00000"/>
                </a:solidFill>
              </a:rPr>
              <a:t>Auto mobile Hacks &amp; Defenses - Some Examples</a:t>
            </a:r>
            <a:endParaRPr lang="en-US" altLang="en-US" dirty="0">
              <a:solidFill>
                <a:srgbClr val="C00000"/>
              </a:solidFill>
            </a:endParaRPr>
          </a:p>
        </p:txBody>
      </p:sp>
      <p:sp>
        <p:nvSpPr>
          <p:cNvPr id="223235" name="Rectangle 3"/>
          <p:cNvSpPr>
            <a:spLocks noGrp="1" noChangeArrowheads="1"/>
          </p:cNvSpPr>
          <p:nvPr>
            <p:ph type="body" idx="1"/>
          </p:nvPr>
        </p:nvSpPr>
        <p:spPr/>
        <p:txBody>
          <a:bodyPr>
            <a:normAutofit fontScale="77500" lnSpcReduction="20000"/>
          </a:bodyPr>
          <a:lstStyle/>
          <a:p>
            <a:pPr marL="0" indent="0">
              <a:buNone/>
            </a:pPr>
            <a:r>
              <a:rPr lang="en-US" altLang="en-US" dirty="0"/>
              <a:t>On-Board Diagnostics (OBD-II) port</a:t>
            </a:r>
          </a:p>
          <a:p>
            <a:pPr marL="0" indent="0">
              <a:buNone/>
            </a:pPr>
            <a:r>
              <a:rPr lang="en-US" altLang="en-US" dirty="0"/>
              <a:t>THE HACK: The researchers at CAESS wrote and then installed a program onto the car’s CAN bus through the OBD-II port. Once on the network, the program could control every system from the wind shield wipers to the brakes. This is the most direct way to hack a car, as it sends code directly to the CAN bus.</a:t>
            </a:r>
          </a:p>
          <a:p>
            <a:pPr marL="0" indent="0">
              <a:buNone/>
            </a:pPr>
            <a:endParaRPr lang="en-US" altLang="en-US" dirty="0"/>
          </a:p>
          <a:p>
            <a:pPr marL="0" indent="0">
              <a:buNone/>
            </a:pPr>
            <a:r>
              <a:rPr lang="en-US" altLang="en-US" dirty="0"/>
              <a:t>THE DEFENSE: Car makers are starting to adopt routine security protocols from the information-technology field, such as protecting files with digital signatures.</a:t>
            </a:r>
          </a:p>
          <a:p>
            <a:r>
              <a:rPr lang="en-US" altLang="en-US" dirty="0"/>
              <a:t>“What’s pretty much standard IT is now being applied to the automotive sector,” says </a:t>
            </a:r>
            <a:r>
              <a:rPr lang="en-US" altLang="en-US" dirty="0" err="1"/>
              <a:t>Gassenfeit</a:t>
            </a:r>
            <a:r>
              <a:rPr lang="en-US" altLang="en-US" dirty="0"/>
              <a:t>.</a:t>
            </a:r>
          </a:p>
        </p:txBody>
      </p:sp>
    </p:spTree>
    <p:extLst>
      <p:ext uri="{BB962C8B-B14F-4D97-AF65-F5344CB8AC3E}">
        <p14:creationId xmlns:p14="http://schemas.microsoft.com/office/powerpoint/2010/main" val="1120858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3816DFC5-D103-41D5-BB91-B5BD664ED62B}" type="slidenum">
              <a:rPr lang="en-GB" altLang="en-US"/>
              <a:pPr/>
              <a:t>27</a:t>
            </a:fld>
            <a:endParaRPr lang="en-GB" altLang="en-US"/>
          </a:p>
        </p:txBody>
      </p:sp>
      <p:sp>
        <p:nvSpPr>
          <p:cNvPr id="223234" name="Rectangle 2"/>
          <p:cNvSpPr>
            <a:spLocks noGrp="1" noChangeArrowheads="1"/>
          </p:cNvSpPr>
          <p:nvPr>
            <p:ph type="title"/>
          </p:nvPr>
        </p:nvSpPr>
        <p:spPr>
          <a:xfrm>
            <a:off x="457200" y="20638"/>
            <a:ext cx="8229600" cy="1143000"/>
          </a:xfrm>
        </p:spPr>
        <p:txBody>
          <a:bodyPr>
            <a:normAutofit fontScale="90000"/>
          </a:bodyPr>
          <a:lstStyle/>
          <a:p>
            <a:br>
              <a:rPr lang="en-US" dirty="0"/>
            </a:br>
            <a:r>
              <a:rPr lang="en-US" b="1" dirty="0">
                <a:solidFill>
                  <a:srgbClr val="C00000"/>
                </a:solidFill>
              </a:rPr>
              <a:t>The automobile - </a:t>
            </a:r>
            <a:r>
              <a:rPr lang="en-US" b="1" i="1" dirty="0">
                <a:solidFill>
                  <a:srgbClr val="C00000"/>
                </a:solidFill>
              </a:rPr>
              <a:t>Hacked</a:t>
            </a:r>
            <a:endParaRPr lang="en-US" altLang="en-US" i="1" dirty="0">
              <a:solidFill>
                <a:srgbClr val="C00000"/>
              </a:solidFill>
            </a:endParaRPr>
          </a:p>
        </p:txBody>
      </p:sp>
      <p:sp>
        <p:nvSpPr>
          <p:cNvPr id="223235" name="Rectangle 3"/>
          <p:cNvSpPr>
            <a:spLocks noGrp="1" noChangeArrowheads="1"/>
          </p:cNvSpPr>
          <p:nvPr>
            <p:ph type="body" idx="1"/>
          </p:nvPr>
        </p:nvSpPr>
        <p:spPr>
          <a:xfrm>
            <a:off x="457199" y="1367915"/>
            <a:ext cx="8077201" cy="1172086"/>
          </a:xfrm>
        </p:spPr>
        <p:txBody>
          <a:bodyPr>
            <a:normAutofit/>
          </a:bodyPr>
          <a:lstStyle/>
          <a:p>
            <a:pPr marL="0" indent="0">
              <a:buNone/>
            </a:pPr>
            <a:r>
              <a:rPr lang="en-US" altLang="en-US" sz="2400" dirty="0"/>
              <a:t>Charlie Miller, </a:t>
            </a:r>
            <a:r>
              <a:rPr lang="en-US" sz="2400" dirty="0"/>
              <a:t>Chris </a:t>
            </a:r>
            <a:r>
              <a:rPr lang="en-US" sz="2400" dirty="0" err="1"/>
              <a:t>Valasek</a:t>
            </a:r>
            <a:r>
              <a:rPr lang="en-US" sz="2400" dirty="0"/>
              <a:t> </a:t>
            </a:r>
          </a:p>
          <a:p>
            <a:pPr marL="0" indent="0">
              <a:buNone/>
            </a:pPr>
            <a:r>
              <a:rPr lang="en-US" sz="2400" dirty="0"/>
              <a:t>This story appears in the August 12, 2013 issue of Forbes.</a:t>
            </a:r>
          </a:p>
          <a:p>
            <a:pPr marL="0" indent="0">
              <a:buNone/>
            </a:pPr>
            <a:endParaRPr lang="en-US" dirty="0"/>
          </a:p>
          <a:p>
            <a:endParaRPr lang="en-US" dirty="0"/>
          </a:p>
          <a:p>
            <a:endParaRPr lang="en-US" dirty="0"/>
          </a:p>
          <a:p>
            <a:pPr marL="0" indent="0">
              <a:buNone/>
            </a:pPr>
            <a:endParaRPr lang="en-US" dirty="0"/>
          </a:p>
          <a:p>
            <a:endParaRPr lang="en-US" dirty="0"/>
          </a:p>
          <a:p>
            <a:pPr marL="0" indent="0">
              <a:buNone/>
            </a:pPr>
            <a:endParaRPr lang="en-US" altLang="en-US" dirty="0"/>
          </a:p>
        </p:txBody>
      </p:sp>
      <p:pic>
        <p:nvPicPr>
          <p:cNvPr id="2" name="Picture 1"/>
          <p:cNvPicPr>
            <a:picLocks noChangeAspect="1"/>
          </p:cNvPicPr>
          <p:nvPr/>
        </p:nvPicPr>
        <p:blipFill>
          <a:blip r:embed="rId3"/>
          <a:stretch>
            <a:fillRect/>
          </a:stretch>
        </p:blipFill>
        <p:spPr>
          <a:xfrm>
            <a:off x="1252365" y="2719990"/>
            <a:ext cx="6402203" cy="4001485"/>
          </a:xfrm>
          <a:prstGeom prst="rect">
            <a:avLst/>
          </a:prstGeom>
        </p:spPr>
      </p:pic>
    </p:spTree>
    <p:extLst>
      <p:ext uri="{BB962C8B-B14F-4D97-AF65-F5344CB8AC3E}">
        <p14:creationId xmlns:p14="http://schemas.microsoft.com/office/powerpoint/2010/main" val="3974581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222885" y="274320"/>
            <a:ext cx="8698230" cy="822960"/>
          </a:xfrm>
        </p:spPr>
        <p:txBody>
          <a:bodyPr vert="horz" lIns="0" tIns="0" rIns="0" bIns="0" rtlCol="0" anchor="t">
            <a:normAutofit/>
          </a:bodyPr>
          <a:lstStyle/>
          <a:p>
            <a:pPr eaLnBrk="1" hangingPunct="1">
              <a:lnSpc>
                <a:spcPct val="95000"/>
              </a:lnSpc>
            </a:pPr>
            <a:r>
              <a:rPr lang="en-US" altLang="en-US" sz="3870" dirty="0">
                <a:solidFill>
                  <a:srgbClr val="C00000"/>
                </a:solidFill>
                <a:latin typeface="Bodoni" pitchFamily="34"/>
              </a:rPr>
              <a:t>The Problem</a:t>
            </a:r>
          </a:p>
        </p:txBody>
      </p:sp>
      <p:sp>
        <p:nvSpPr>
          <p:cNvPr id="7171" name="Rectangle 2"/>
          <p:cNvSpPr>
            <a:spLocks noGrp="1" noChangeArrowheads="1"/>
          </p:cNvSpPr>
          <p:nvPr>
            <p:ph type="body" idx="1"/>
          </p:nvPr>
        </p:nvSpPr>
        <p:spPr>
          <a:xfrm>
            <a:off x="222885" y="1379703"/>
            <a:ext cx="8698230" cy="4937760"/>
          </a:xfrm>
        </p:spPr>
        <p:txBody>
          <a:bodyPr vert="horz" lIns="0" tIns="0" rIns="0" bIns="0" rtlCol="0">
            <a:normAutofit/>
          </a:bodyPr>
          <a:lstStyle/>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CAN is an insecure low-level protocol</a:t>
            </a:r>
            <a:endParaRPr lang="en-US" altLang="en-US" dirty="0"/>
          </a:p>
          <a:p>
            <a:pPr marL="0" indent="0">
              <a:lnSpc>
                <a:spcPct val="95000"/>
              </a:lnSpc>
              <a:spcBef>
                <a:spcPct val="0"/>
              </a:spcBef>
              <a:buNone/>
            </a:pPr>
            <a:r>
              <a:rPr lang="en-US" altLang="en-US" sz="2430" dirty="0">
                <a:latin typeface="Arial" panose="020B0604020202020204" pitchFamily="34" charset="0"/>
              </a:rPr>
              <a:t> </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Every message is an unencrypted plain-text broadcasted to every device on the CAN </a:t>
            </a:r>
            <a:endParaRPr lang="en-US" altLang="en-US" dirty="0"/>
          </a:p>
          <a:p>
            <a:pPr marL="0" indent="0">
              <a:lnSpc>
                <a:spcPct val="95000"/>
              </a:lnSpc>
              <a:spcBef>
                <a:spcPct val="0"/>
              </a:spcBef>
              <a:buNone/>
            </a:pPr>
            <a:r>
              <a:rPr lang="en-US" altLang="en-US" sz="2430" dirty="0">
                <a:latin typeface="Arial" panose="020B0604020202020204" pitchFamily="34" charset="0"/>
              </a:rPr>
              <a:t> </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Possible messages and communication procedures are often documented and made available freely</a:t>
            </a:r>
            <a:endParaRPr lang="en-US" altLang="en-US" dirty="0"/>
          </a:p>
          <a:p>
            <a:pPr marL="0" indent="0">
              <a:lnSpc>
                <a:spcPct val="95000"/>
              </a:lnSpc>
              <a:spcBef>
                <a:spcPct val="0"/>
              </a:spcBef>
              <a:buNone/>
            </a:pPr>
            <a:r>
              <a:rPr lang="en-US" altLang="en-US" sz="2430" dirty="0">
                <a:latin typeface="Arial" panose="020B0604020202020204" pitchFamily="34" charset="0"/>
              </a:rPr>
              <a:t> </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No component authentication</a:t>
            </a:r>
            <a:endParaRPr lang="en-US" altLang="en-US" dirty="0"/>
          </a:p>
          <a:p>
            <a:pPr marL="0" indent="0">
              <a:lnSpc>
                <a:spcPct val="95000"/>
              </a:lnSpc>
              <a:spcBef>
                <a:spcPct val="0"/>
              </a:spcBef>
              <a:buNone/>
            </a:pPr>
            <a:r>
              <a:rPr lang="en-US" altLang="en-US" sz="2430" dirty="0">
                <a:latin typeface="Arial" panose="020B0604020202020204" pitchFamily="34" charset="0"/>
              </a:rPr>
              <a:t> </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Any device can send a command to any other devices. </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latin typeface="Arial" panose="020B0604020202020204" pitchFamily="34" charset="0"/>
              </a:rPr>
              <a:t>Attacker could use tire pressure gauge </a:t>
            </a:r>
            <a:r>
              <a:rPr lang="en-US" altLang="en-US" sz="2430" dirty="0">
                <a:solidFill>
                  <a:srgbClr val="FFFFFF"/>
                </a:solidFill>
                <a:latin typeface="Arial" panose="020B0604020202020204" pitchFamily="34" charset="0"/>
              </a:rPr>
              <a:t>to turn off brakes</a:t>
            </a:r>
          </a:p>
        </p:txBody>
      </p:sp>
    </p:spTree>
    <p:extLst>
      <p:ext uri="{BB962C8B-B14F-4D97-AF65-F5344CB8AC3E}">
        <p14:creationId xmlns:p14="http://schemas.microsoft.com/office/powerpoint/2010/main" val="395675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0" y="-71777"/>
            <a:ext cx="8698230" cy="822960"/>
          </a:xfrm>
        </p:spPr>
        <p:txBody>
          <a:bodyPr vert="horz" lIns="0" tIns="0" rIns="0" bIns="0" rtlCol="0" anchor="t">
            <a:normAutofit/>
          </a:bodyPr>
          <a:lstStyle/>
          <a:p>
            <a:pPr eaLnBrk="1" hangingPunct="1">
              <a:lnSpc>
                <a:spcPct val="95000"/>
              </a:lnSpc>
            </a:pPr>
            <a:r>
              <a:rPr lang="en-US" altLang="en-US" sz="3870" dirty="0">
                <a:solidFill>
                  <a:srgbClr val="C00000"/>
                </a:solidFill>
                <a:latin typeface="Bodoni" pitchFamily="34"/>
              </a:rPr>
              <a:t>The Solutions</a:t>
            </a:r>
          </a:p>
        </p:txBody>
      </p:sp>
      <p:pic>
        <p:nvPicPr>
          <p:cNvPr id="3" name="Picture 2"/>
          <p:cNvPicPr>
            <a:picLocks noChangeAspect="1"/>
          </p:cNvPicPr>
          <p:nvPr/>
        </p:nvPicPr>
        <p:blipFill>
          <a:blip r:embed="rId2"/>
          <a:stretch>
            <a:fillRect/>
          </a:stretch>
        </p:blipFill>
        <p:spPr>
          <a:xfrm>
            <a:off x="845998" y="747796"/>
            <a:ext cx="6097336" cy="6110204"/>
          </a:xfrm>
          <a:prstGeom prst="rect">
            <a:avLst/>
          </a:prstGeom>
        </p:spPr>
      </p:pic>
    </p:spTree>
    <p:extLst>
      <p:ext uri="{BB962C8B-B14F-4D97-AF65-F5344CB8AC3E}">
        <p14:creationId xmlns:p14="http://schemas.microsoft.com/office/powerpoint/2010/main" val="145249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222885" y="274320"/>
            <a:ext cx="8698230" cy="822960"/>
          </a:xfrm>
        </p:spPr>
        <p:txBody>
          <a:bodyPr vert="horz" lIns="0" tIns="0" rIns="0" bIns="0" rtlCol="0" anchor="t">
            <a:normAutofit/>
          </a:bodyPr>
          <a:lstStyle/>
          <a:p>
            <a:pPr eaLnBrk="1" hangingPunct="1">
              <a:lnSpc>
                <a:spcPct val="95000"/>
              </a:lnSpc>
            </a:pPr>
            <a:r>
              <a:rPr lang="en-US" altLang="en-US" sz="3870" dirty="0">
                <a:solidFill>
                  <a:srgbClr val="C00000"/>
                </a:solidFill>
                <a:latin typeface="Bodoni" pitchFamily="34"/>
              </a:rPr>
              <a:t>The Solutions</a:t>
            </a:r>
          </a:p>
        </p:txBody>
      </p:sp>
      <p:sp>
        <p:nvSpPr>
          <p:cNvPr id="8195" name="Rectangle 2"/>
          <p:cNvSpPr>
            <a:spLocks noGrp="1" noChangeArrowheads="1"/>
          </p:cNvSpPr>
          <p:nvPr>
            <p:ph type="body" idx="1"/>
          </p:nvPr>
        </p:nvSpPr>
        <p:spPr>
          <a:xfrm>
            <a:off x="222885" y="1324186"/>
            <a:ext cx="8698230" cy="4937760"/>
          </a:xfrm>
        </p:spPr>
        <p:txBody>
          <a:bodyPr vert="horz" lIns="0" tIns="0" rIns="0" bIns="0" rtlCol="0">
            <a:normAutofit lnSpcReduction="10000"/>
          </a:bodyPr>
          <a:lstStyle/>
          <a:p>
            <a:pPr marL="0" indent="0">
              <a:buNone/>
            </a:pPr>
            <a:r>
              <a:rPr lang="en-US" dirty="0"/>
              <a:t>The Linux kernel runs in an area of system memory called the </a:t>
            </a:r>
            <a:r>
              <a:rPr lang="en-US" sz="3600" dirty="0"/>
              <a:t>kernel </a:t>
            </a:r>
            <a:r>
              <a:rPr lang="en-US" dirty="0"/>
              <a:t>space</a:t>
            </a:r>
          </a:p>
          <a:p>
            <a:pPr marL="0" indent="0">
              <a:buNone/>
            </a:pPr>
            <a:r>
              <a:rPr lang="en-US" dirty="0"/>
              <a:t>Regular user applications run in an area of system memory called </a:t>
            </a:r>
            <a:r>
              <a:rPr lang="en-US" sz="3600" dirty="0"/>
              <a:t>user </a:t>
            </a:r>
            <a:r>
              <a:rPr lang="en-US" dirty="0"/>
              <a:t>space</a:t>
            </a:r>
          </a:p>
          <a:p>
            <a:pPr marL="0" indent="0">
              <a:buNone/>
            </a:pPr>
            <a:r>
              <a:rPr lang="en-US" dirty="0"/>
              <a:t>A hard boundary between these two spaces prevents</a:t>
            </a:r>
          </a:p>
          <a:p>
            <a:pPr marL="400050" lvl="1" indent="0">
              <a:buNone/>
            </a:pPr>
            <a:r>
              <a:rPr lang="en-US" dirty="0"/>
              <a:t> User applications from accessing memory and resources required by the Linux kernel</a:t>
            </a:r>
          </a:p>
          <a:p>
            <a:pPr marL="400050" lvl="1" indent="0">
              <a:buNone/>
            </a:pPr>
            <a:r>
              <a:rPr lang="en-US" dirty="0"/>
              <a:t>Linux kernel from crashing due to badly written user code</a:t>
            </a:r>
          </a:p>
          <a:p>
            <a:pPr marL="400050" lvl="1" indent="0">
              <a:buNone/>
            </a:pPr>
            <a:r>
              <a:rPr lang="en-US" dirty="0"/>
              <a:t>Interfering one user’s applications with another</a:t>
            </a:r>
          </a:p>
        </p:txBody>
      </p:sp>
    </p:spTree>
    <p:extLst>
      <p:ext uri="{BB962C8B-B14F-4D97-AF65-F5344CB8AC3E}">
        <p14:creationId xmlns:p14="http://schemas.microsoft.com/office/powerpoint/2010/main" val="24018251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defTabSz="685800">
              <a:defRPr/>
            </a:pPr>
            <a:fld id="{E4A0038D-0246-412E-B82A-85192C832CB2}" type="slidenum">
              <a:rPr lang="en-US" sz="1350" kern="0">
                <a:solidFill>
                  <a:sysClr val="windowText" lastClr="000000"/>
                </a:solidFill>
              </a:rPr>
              <a:pPr defTabSz="685800">
                <a:defRPr/>
              </a:pPr>
              <a:t>31</a:t>
            </a:fld>
            <a:endParaRPr lang="en-US" sz="1350" kern="0">
              <a:solidFill>
                <a:sysClr val="windowText" lastClr="000000"/>
              </a:solidFill>
            </a:endParaRPr>
          </a:p>
        </p:txBody>
      </p:sp>
      <p:sp>
        <p:nvSpPr>
          <p:cNvPr id="45" name="TextBox 44"/>
          <p:cNvSpPr txBox="1"/>
          <p:nvPr/>
        </p:nvSpPr>
        <p:spPr>
          <a:xfrm flipH="1">
            <a:off x="2050265" y="132144"/>
            <a:ext cx="5306834" cy="553998"/>
          </a:xfrm>
          <a:prstGeom prst="rect">
            <a:avLst/>
          </a:prstGeom>
          <a:noFill/>
        </p:spPr>
        <p:txBody>
          <a:bodyPr wrap="square" rtlCol="0">
            <a:spAutoFit/>
          </a:bodyPr>
          <a:lstStyle/>
          <a:p>
            <a:pPr algn="ctr" defTabSz="685800">
              <a:defRPr/>
            </a:pPr>
            <a:r>
              <a:rPr lang="en-US" sz="3000" kern="0" dirty="0">
                <a:solidFill>
                  <a:srgbClr val="C00000"/>
                </a:solidFill>
                <a:latin typeface="Calibri Light" charset="0"/>
                <a:ea typeface="Calibri Light" charset="0"/>
                <a:cs typeface="Calibri Light" charset="0"/>
              </a:rPr>
              <a:t>The Solutions</a:t>
            </a:r>
          </a:p>
        </p:txBody>
      </p:sp>
      <p:grpSp>
        <p:nvGrpSpPr>
          <p:cNvPr id="21" name="Group 20"/>
          <p:cNvGrpSpPr/>
          <p:nvPr/>
        </p:nvGrpSpPr>
        <p:grpSpPr>
          <a:xfrm>
            <a:off x="124691" y="1854112"/>
            <a:ext cx="1247564" cy="3395297"/>
            <a:chOff x="166255" y="1329150"/>
            <a:chExt cx="1663418" cy="4527062"/>
          </a:xfrm>
        </p:grpSpPr>
        <p:sp>
          <p:nvSpPr>
            <p:cNvPr id="288" name="Rectangle 287"/>
            <p:cNvSpPr/>
            <p:nvPr/>
          </p:nvSpPr>
          <p:spPr>
            <a:xfrm>
              <a:off x="166255" y="1329150"/>
              <a:ext cx="595745" cy="37554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350" dirty="0"/>
                <a:t>CPS Function</a:t>
              </a:r>
            </a:p>
          </p:txBody>
        </p:sp>
        <p:sp>
          <p:nvSpPr>
            <p:cNvPr id="291" name="Right Arrow 290"/>
            <p:cNvSpPr/>
            <p:nvPr/>
          </p:nvSpPr>
          <p:spPr>
            <a:xfrm>
              <a:off x="167576" y="5126905"/>
              <a:ext cx="1662097" cy="7293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25" b="1" dirty="0"/>
                <a:t>Function/Feature</a:t>
              </a:r>
            </a:p>
          </p:txBody>
        </p:sp>
      </p:grpSp>
      <p:grpSp>
        <p:nvGrpSpPr>
          <p:cNvPr id="23" name="Group 22"/>
          <p:cNvGrpSpPr/>
          <p:nvPr/>
        </p:nvGrpSpPr>
        <p:grpSpPr>
          <a:xfrm>
            <a:off x="303530" y="1110061"/>
            <a:ext cx="8797716" cy="4614709"/>
            <a:chOff x="404706" y="337081"/>
            <a:chExt cx="11730288" cy="6152944"/>
          </a:xfrm>
        </p:grpSpPr>
        <p:cxnSp>
          <p:nvCxnSpPr>
            <p:cNvPr id="9" name="Straight Arrow Connector 8"/>
            <p:cNvCxnSpPr>
              <a:stCxn id="93" idx="3"/>
              <a:endCxn id="90" idx="1"/>
            </p:cNvCxnSpPr>
            <p:nvPr/>
          </p:nvCxnSpPr>
          <p:spPr>
            <a:xfrm>
              <a:off x="10277433" y="2079138"/>
              <a:ext cx="525248" cy="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10802681" y="1863695"/>
              <a:ext cx="864217" cy="430887"/>
            </a:xfrm>
            <a:prstGeom prst="rect">
              <a:avLst/>
            </a:prstGeom>
            <a:noFill/>
          </p:spPr>
          <p:txBody>
            <a:bodyPr wrap="square" rtlCol="0">
              <a:spAutoFit/>
            </a:bodyPr>
            <a:lstStyle/>
            <a:p>
              <a:pPr defTabSz="685800">
                <a:defRPr/>
              </a:pPr>
              <a:r>
                <a:rPr lang="en-US" sz="1500" b="1" kern="0" dirty="0">
                  <a:solidFill>
                    <a:srgbClr val="00B050"/>
                  </a:solidFill>
                </a:rPr>
                <a:t>AES</a:t>
              </a:r>
            </a:p>
          </p:txBody>
        </p:sp>
        <p:sp>
          <p:nvSpPr>
            <p:cNvPr id="91" name="TextBox 90"/>
            <p:cNvSpPr txBox="1"/>
            <p:nvPr/>
          </p:nvSpPr>
          <p:spPr>
            <a:xfrm>
              <a:off x="10796929" y="4131763"/>
              <a:ext cx="1249652" cy="430887"/>
            </a:xfrm>
            <a:prstGeom prst="rect">
              <a:avLst/>
            </a:prstGeom>
            <a:noFill/>
          </p:spPr>
          <p:txBody>
            <a:bodyPr wrap="square" rtlCol="0">
              <a:spAutoFit/>
            </a:bodyPr>
            <a:lstStyle/>
            <a:p>
              <a:pPr defTabSz="685800">
                <a:defRPr/>
              </a:pPr>
              <a:r>
                <a:rPr lang="en-US" sz="1500" b="1" kern="0" dirty="0">
                  <a:solidFill>
                    <a:srgbClr val="00B050"/>
                  </a:solidFill>
                </a:rPr>
                <a:t>OAuth</a:t>
              </a:r>
            </a:p>
          </p:txBody>
        </p:sp>
        <p:cxnSp>
          <p:nvCxnSpPr>
            <p:cNvPr id="92" name="Straight Arrow Connector 91"/>
            <p:cNvCxnSpPr>
              <a:stCxn id="97" idx="3"/>
              <a:endCxn id="91" idx="1"/>
            </p:cNvCxnSpPr>
            <p:nvPr/>
          </p:nvCxnSpPr>
          <p:spPr>
            <a:xfrm>
              <a:off x="10291609" y="4347205"/>
              <a:ext cx="505320" cy="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1" name="Oval 120"/>
            <p:cNvSpPr/>
            <p:nvPr/>
          </p:nvSpPr>
          <p:spPr>
            <a:xfrm>
              <a:off x="10495950" y="337081"/>
              <a:ext cx="1351580" cy="5031236"/>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788" b="1" kern="0" dirty="0">
                <a:solidFill>
                  <a:srgbClr val="00B050"/>
                </a:solidFill>
              </a:endParaRPr>
            </a:p>
          </p:txBody>
        </p:sp>
        <p:sp>
          <p:nvSpPr>
            <p:cNvPr id="25" name="TextBox 24"/>
            <p:cNvSpPr txBox="1"/>
            <p:nvPr/>
          </p:nvSpPr>
          <p:spPr>
            <a:xfrm>
              <a:off x="404706" y="5936028"/>
              <a:ext cx="11730288" cy="553997"/>
            </a:xfrm>
            <a:prstGeom prst="rect">
              <a:avLst/>
            </a:prstGeom>
            <a:noFill/>
            <a:ln w="28575">
              <a:solidFill>
                <a:srgbClr val="00B050"/>
              </a:solidFill>
            </a:ln>
          </p:spPr>
          <p:txBody>
            <a:bodyPr wrap="square" rtlCol="0">
              <a:spAutoFit/>
            </a:bodyPr>
            <a:lstStyle/>
            <a:p>
              <a:pPr defTabSz="685800">
                <a:defRPr/>
              </a:pPr>
              <a:r>
                <a:rPr lang="en-US" sz="1050" kern="0" dirty="0">
                  <a:solidFill>
                    <a:sysClr val="windowText" lastClr="000000"/>
                  </a:solidFill>
                </a:rPr>
                <a:t>A secure, privacy protected CAN BUS Message may consist of these properties: </a:t>
              </a:r>
              <a:br>
                <a:rPr lang="en-US" sz="1050" kern="0" dirty="0">
                  <a:solidFill>
                    <a:sysClr val="windowText" lastClr="000000"/>
                  </a:solidFill>
                </a:rPr>
              </a:br>
              <a:r>
                <a:rPr lang="en-US" sz="1050" kern="0" dirty="0">
                  <a:solidFill>
                    <a:sysClr val="windowText" lastClr="000000"/>
                  </a:solidFill>
                </a:rPr>
                <a:t>     {</a:t>
              </a:r>
              <a:r>
                <a:rPr lang="en-US" sz="1050" kern="0" dirty="0">
                  <a:solidFill>
                    <a:srgbClr val="A84C00"/>
                  </a:solidFill>
                </a:rPr>
                <a:t>Trustworthiness.Security.Cybersecurity.Confidentiality.Encryption</a:t>
              </a:r>
              <a:r>
                <a:rPr lang="en-US" sz="1050" kern="0" dirty="0">
                  <a:solidFill>
                    <a:sysClr val="windowText" lastClr="000000"/>
                  </a:solidFill>
                </a:rPr>
                <a:t>.</a:t>
              </a:r>
              <a:r>
                <a:rPr lang="en-US" sz="1050" kern="0" dirty="0">
                  <a:solidFill>
                    <a:srgbClr val="00B050"/>
                  </a:solidFill>
                </a:rPr>
                <a:t>AES</a:t>
              </a:r>
              <a:r>
                <a:rPr lang="en-US" sz="1050" kern="0" dirty="0">
                  <a:solidFill>
                    <a:sysClr val="windowText" lastClr="000000"/>
                  </a:solidFill>
                </a:rPr>
                <a:t>, </a:t>
              </a:r>
              <a:r>
                <a:rPr lang="en-US" sz="1050" kern="0" dirty="0">
                  <a:solidFill>
                    <a:srgbClr val="663300"/>
                  </a:solidFill>
                </a:rPr>
                <a:t>Trustworthiness.Privacy.Predictability.Controls.Authorization</a:t>
              </a:r>
              <a:r>
                <a:rPr lang="en-US" sz="1050" kern="0" dirty="0">
                  <a:solidFill>
                    <a:sysClr val="windowText" lastClr="000000"/>
                  </a:solidFill>
                </a:rPr>
                <a:t>.</a:t>
              </a:r>
              <a:r>
                <a:rPr lang="en-US" sz="1050" kern="0" dirty="0">
                  <a:solidFill>
                    <a:srgbClr val="00B050"/>
                  </a:solidFill>
                </a:rPr>
                <a:t>OAuth</a:t>
              </a:r>
              <a:r>
                <a:rPr lang="en-US" sz="1050" kern="0" dirty="0">
                  <a:solidFill>
                    <a:sysClr val="windowText" lastClr="000000"/>
                  </a:solidFill>
                </a:rPr>
                <a:t>}</a:t>
              </a:r>
            </a:p>
          </p:txBody>
        </p:sp>
        <p:sp>
          <p:nvSpPr>
            <p:cNvPr id="292" name="Right Arrow 291"/>
            <p:cNvSpPr/>
            <p:nvPr/>
          </p:nvSpPr>
          <p:spPr>
            <a:xfrm>
              <a:off x="9612219" y="5257535"/>
              <a:ext cx="2368876" cy="729307"/>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25" b="1" dirty="0"/>
                <a:t>Generate</a:t>
              </a:r>
            </a:p>
            <a:p>
              <a:pPr algn="ctr"/>
              <a:r>
                <a:rPr lang="en-US" sz="825" b="1" dirty="0"/>
                <a:t>‘Properties’</a:t>
              </a:r>
            </a:p>
          </p:txBody>
        </p:sp>
      </p:grpSp>
      <p:grpSp>
        <p:nvGrpSpPr>
          <p:cNvPr id="22" name="Group 21"/>
          <p:cNvGrpSpPr/>
          <p:nvPr/>
        </p:nvGrpSpPr>
        <p:grpSpPr>
          <a:xfrm>
            <a:off x="720971" y="1161712"/>
            <a:ext cx="6997736" cy="4157678"/>
            <a:chOff x="961294" y="405950"/>
            <a:chExt cx="9330315" cy="5543570"/>
          </a:xfrm>
        </p:grpSpPr>
        <p:sp>
          <p:nvSpPr>
            <p:cNvPr id="16" name="Rectangle 15"/>
            <p:cNvSpPr/>
            <p:nvPr/>
          </p:nvSpPr>
          <p:spPr>
            <a:xfrm rot="16200000">
              <a:off x="-560419" y="2865065"/>
              <a:ext cx="3741250" cy="69782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2700" kern="0">
                  <a:solidFill>
                    <a:sysClr val="windowText" lastClr="000000"/>
                  </a:solidFill>
                </a:rPr>
                <a:t>Trustworthiness</a:t>
              </a:r>
              <a:endParaRPr lang="en-US" sz="2700" kern="0" dirty="0">
                <a:solidFill>
                  <a:sysClr val="windowText" lastClr="000000"/>
                </a:solidFill>
              </a:endParaRPr>
            </a:p>
          </p:txBody>
        </p:sp>
        <p:sp>
          <p:nvSpPr>
            <p:cNvPr id="46" name="TextBox 45"/>
            <p:cNvSpPr txBox="1"/>
            <p:nvPr/>
          </p:nvSpPr>
          <p:spPr>
            <a:xfrm>
              <a:off x="1934631" y="1129095"/>
              <a:ext cx="1012284" cy="430887"/>
            </a:xfrm>
            <a:prstGeom prst="rect">
              <a:avLst/>
            </a:prstGeom>
            <a:noFill/>
          </p:spPr>
          <p:txBody>
            <a:bodyPr wrap="square" rtlCol="0">
              <a:spAutoFit/>
            </a:bodyPr>
            <a:lstStyle/>
            <a:p>
              <a:pPr defTabSz="685800">
                <a:defRPr/>
              </a:pPr>
              <a:r>
                <a:rPr lang="en-US" sz="1500" kern="0" dirty="0">
                  <a:solidFill>
                    <a:sysClr val="windowText" lastClr="000000"/>
                  </a:solidFill>
                </a:rPr>
                <a:t>Safety</a:t>
              </a:r>
            </a:p>
          </p:txBody>
        </p:sp>
        <p:sp>
          <p:nvSpPr>
            <p:cNvPr id="47" name="TextBox 46"/>
            <p:cNvSpPr txBox="1"/>
            <p:nvPr/>
          </p:nvSpPr>
          <p:spPr>
            <a:xfrm>
              <a:off x="2010511" y="2049154"/>
              <a:ext cx="1310909" cy="430887"/>
            </a:xfrm>
            <a:prstGeom prst="rect">
              <a:avLst/>
            </a:prstGeom>
            <a:noFill/>
          </p:spPr>
          <p:txBody>
            <a:bodyPr wrap="square" rtlCol="0">
              <a:spAutoFit/>
            </a:bodyPr>
            <a:lstStyle/>
            <a:p>
              <a:pPr defTabSz="685800">
                <a:defRPr/>
              </a:pPr>
              <a:r>
                <a:rPr lang="en-US" sz="1500" kern="0" dirty="0">
                  <a:solidFill>
                    <a:sysClr val="windowText" lastClr="000000"/>
                  </a:solidFill>
                </a:rPr>
                <a:t>Reliability</a:t>
              </a:r>
            </a:p>
          </p:txBody>
        </p:sp>
        <p:sp>
          <p:nvSpPr>
            <p:cNvPr id="48" name="TextBox 47"/>
            <p:cNvSpPr txBox="1"/>
            <p:nvPr/>
          </p:nvSpPr>
          <p:spPr>
            <a:xfrm>
              <a:off x="1986550" y="3028458"/>
              <a:ext cx="1108881" cy="430887"/>
            </a:xfrm>
            <a:prstGeom prst="rect">
              <a:avLst/>
            </a:prstGeom>
            <a:noFill/>
          </p:spPr>
          <p:txBody>
            <a:bodyPr wrap="square" rtlCol="0">
              <a:spAutoFit/>
            </a:bodyPr>
            <a:lstStyle/>
            <a:p>
              <a:pPr defTabSz="685800">
                <a:defRPr/>
              </a:pPr>
              <a:r>
                <a:rPr lang="en-US" sz="1500" kern="0" dirty="0">
                  <a:solidFill>
                    <a:sysClr val="windowText" lastClr="000000"/>
                  </a:solidFill>
                </a:rPr>
                <a:t>Security</a:t>
              </a:r>
            </a:p>
          </p:txBody>
        </p:sp>
        <p:sp>
          <p:nvSpPr>
            <p:cNvPr id="49" name="TextBox 48"/>
            <p:cNvSpPr txBox="1"/>
            <p:nvPr/>
          </p:nvSpPr>
          <p:spPr>
            <a:xfrm>
              <a:off x="2015697" y="4016935"/>
              <a:ext cx="1877801" cy="430887"/>
            </a:xfrm>
            <a:prstGeom prst="rect">
              <a:avLst/>
            </a:prstGeom>
            <a:noFill/>
          </p:spPr>
          <p:txBody>
            <a:bodyPr wrap="square" rtlCol="0">
              <a:spAutoFit/>
            </a:bodyPr>
            <a:lstStyle/>
            <a:p>
              <a:pPr defTabSz="685800">
                <a:defRPr/>
              </a:pPr>
              <a:r>
                <a:rPr lang="en-US" sz="1500" kern="0" dirty="0">
                  <a:solidFill>
                    <a:sysClr val="windowText" lastClr="000000"/>
                  </a:solidFill>
                </a:rPr>
                <a:t>Resilience</a:t>
              </a:r>
            </a:p>
          </p:txBody>
        </p:sp>
        <p:sp>
          <p:nvSpPr>
            <p:cNvPr id="50" name="TextBox 49"/>
            <p:cNvSpPr txBox="1"/>
            <p:nvPr/>
          </p:nvSpPr>
          <p:spPr>
            <a:xfrm>
              <a:off x="1930029" y="5084601"/>
              <a:ext cx="1016885" cy="430887"/>
            </a:xfrm>
            <a:prstGeom prst="rect">
              <a:avLst/>
            </a:prstGeom>
            <a:noFill/>
          </p:spPr>
          <p:txBody>
            <a:bodyPr wrap="square" rtlCol="0">
              <a:spAutoFit/>
            </a:bodyPr>
            <a:lstStyle/>
            <a:p>
              <a:pPr defTabSz="685800">
                <a:defRPr/>
              </a:pPr>
              <a:r>
                <a:rPr lang="en-US" sz="1500" kern="0" dirty="0">
                  <a:solidFill>
                    <a:sysClr val="windowText" lastClr="000000"/>
                  </a:solidFill>
                </a:rPr>
                <a:t>Privacy</a:t>
              </a:r>
            </a:p>
          </p:txBody>
        </p:sp>
        <p:cxnSp>
          <p:nvCxnSpPr>
            <p:cNvPr id="52" name="Straight Arrow Connector 51"/>
            <p:cNvCxnSpPr>
              <a:stCxn id="16" idx="2"/>
              <a:endCxn id="46" idx="1"/>
            </p:cNvCxnSpPr>
            <p:nvPr/>
          </p:nvCxnSpPr>
          <p:spPr>
            <a:xfrm flipV="1">
              <a:off x="1659118" y="1344539"/>
              <a:ext cx="275513" cy="186943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3" name="Straight Arrow Connector 52"/>
            <p:cNvCxnSpPr>
              <a:stCxn id="16" idx="2"/>
              <a:endCxn id="47" idx="1"/>
            </p:cNvCxnSpPr>
            <p:nvPr/>
          </p:nvCxnSpPr>
          <p:spPr>
            <a:xfrm flipV="1">
              <a:off x="1659118" y="2264598"/>
              <a:ext cx="351393" cy="9493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6" name="Straight Arrow Connector 55"/>
            <p:cNvCxnSpPr>
              <a:stCxn id="16" idx="2"/>
              <a:endCxn id="48" idx="1"/>
            </p:cNvCxnSpPr>
            <p:nvPr/>
          </p:nvCxnSpPr>
          <p:spPr>
            <a:xfrm>
              <a:off x="1659118" y="3213978"/>
              <a:ext cx="327432" cy="2992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9" name="Straight Arrow Connector 58"/>
            <p:cNvCxnSpPr>
              <a:stCxn id="16" idx="2"/>
              <a:endCxn id="49" idx="1"/>
            </p:cNvCxnSpPr>
            <p:nvPr/>
          </p:nvCxnSpPr>
          <p:spPr>
            <a:xfrm>
              <a:off x="1659118" y="3213978"/>
              <a:ext cx="356579" cy="101840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p:cNvCxnSpPr>
              <a:stCxn id="16" idx="2"/>
              <a:endCxn id="50" idx="1"/>
            </p:cNvCxnSpPr>
            <p:nvPr/>
          </p:nvCxnSpPr>
          <p:spPr>
            <a:xfrm>
              <a:off x="1659118" y="3213978"/>
              <a:ext cx="270911" cy="20860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5" name="TextBox 64"/>
            <p:cNvSpPr txBox="1"/>
            <p:nvPr/>
          </p:nvSpPr>
          <p:spPr>
            <a:xfrm>
              <a:off x="3230373" y="2674922"/>
              <a:ext cx="1927169" cy="430887"/>
            </a:xfrm>
            <a:prstGeom prst="rect">
              <a:avLst/>
            </a:prstGeom>
            <a:noFill/>
          </p:spPr>
          <p:txBody>
            <a:bodyPr wrap="square" rtlCol="0">
              <a:spAutoFit/>
            </a:bodyPr>
            <a:lstStyle/>
            <a:p>
              <a:pPr defTabSz="685800">
                <a:defRPr/>
              </a:pPr>
              <a:r>
                <a:rPr lang="en-US" sz="1500" kern="0" dirty="0">
                  <a:solidFill>
                    <a:srgbClr val="B57853"/>
                  </a:solidFill>
                </a:rPr>
                <a:t>Cyber Security</a:t>
              </a:r>
            </a:p>
          </p:txBody>
        </p:sp>
        <p:sp>
          <p:nvSpPr>
            <p:cNvPr id="66" name="TextBox 65"/>
            <p:cNvSpPr txBox="1"/>
            <p:nvPr/>
          </p:nvSpPr>
          <p:spPr>
            <a:xfrm>
              <a:off x="3225509" y="3661838"/>
              <a:ext cx="2138688" cy="430887"/>
            </a:xfrm>
            <a:prstGeom prst="rect">
              <a:avLst/>
            </a:prstGeom>
            <a:noFill/>
          </p:spPr>
          <p:txBody>
            <a:bodyPr wrap="square" rtlCol="0">
              <a:spAutoFit/>
            </a:bodyPr>
            <a:lstStyle/>
            <a:p>
              <a:pPr defTabSz="685800">
                <a:defRPr/>
              </a:pPr>
              <a:r>
                <a:rPr lang="en-US" sz="1500" kern="0">
                  <a:solidFill>
                    <a:srgbClr val="B57853"/>
                  </a:solidFill>
                </a:rPr>
                <a:t>Physical Security</a:t>
              </a:r>
              <a:endParaRPr lang="en-US" sz="1500" kern="0" dirty="0">
                <a:solidFill>
                  <a:srgbClr val="B57853"/>
                </a:solidFill>
              </a:endParaRPr>
            </a:p>
          </p:txBody>
        </p:sp>
        <p:cxnSp>
          <p:nvCxnSpPr>
            <p:cNvPr id="67" name="Straight Arrow Connector 66"/>
            <p:cNvCxnSpPr>
              <a:stCxn id="48" idx="3"/>
              <a:endCxn id="65" idx="1"/>
            </p:cNvCxnSpPr>
            <p:nvPr/>
          </p:nvCxnSpPr>
          <p:spPr>
            <a:xfrm flipV="1">
              <a:off x="3095431" y="2890366"/>
              <a:ext cx="134941" cy="353536"/>
            </a:xfrm>
            <a:prstGeom prst="straightConnector1">
              <a:avLst/>
            </a:prstGeom>
            <a:ln>
              <a:solidFill>
                <a:srgbClr val="B57853"/>
              </a:solidFill>
              <a:tailEnd type="triangle"/>
            </a:ln>
          </p:spPr>
          <p:style>
            <a:lnRef idx="3">
              <a:schemeClr val="dk1"/>
            </a:lnRef>
            <a:fillRef idx="0">
              <a:schemeClr val="dk1"/>
            </a:fillRef>
            <a:effectRef idx="2">
              <a:schemeClr val="dk1"/>
            </a:effectRef>
            <a:fontRef idx="minor">
              <a:schemeClr val="tx1"/>
            </a:fontRef>
          </p:style>
        </p:cxnSp>
        <p:cxnSp>
          <p:nvCxnSpPr>
            <p:cNvPr id="70" name="Straight Arrow Connector 69"/>
            <p:cNvCxnSpPr>
              <a:stCxn id="48" idx="3"/>
              <a:endCxn id="66" idx="1"/>
            </p:cNvCxnSpPr>
            <p:nvPr/>
          </p:nvCxnSpPr>
          <p:spPr>
            <a:xfrm>
              <a:off x="3095431" y="3243902"/>
              <a:ext cx="130077" cy="633380"/>
            </a:xfrm>
            <a:prstGeom prst="straightConnector1">
              <a:avLst/>
            </a:prstGeom>
            <a:ln>
              <a:solidFill>
                <a:srgbClr val="B57853"/>
              </a:solidFill>
              <a:tailEnd type="triangle"/>
            </a:ln>
          </p:spPr>
          <p:style>
            <a:lnRef idx="3">
              <a:schemeClr val="dk1"/>
            </a:lnRef>
            <a:fillRef idx="0">
              <a:schemeClr val="dk1"/>
            </a:fillRef>
            <a:effectRef idx="2">
              <a:schemeClr val="dk1"/>
            </a:effectRef>
            <a:fontRef idx="minor">
              <a:schemeClr val="tx1"/>
            </a:fontRef>
          </p:style>
        </p:cxnSp>
        <p:cxnSp>
          <p:nvCxnSpPr>
            <p:cNvPr id="78" name="Straight Arrow Connector 77"/>
            <p:cNvCxnSpPr>
              <a:stCxn id="65" idx="3"/>
              <a:endCxn id="82" idx="1"/>
            </p:cNvCxnSpPr>
            <p:nvPr/>
          </p:nvCxnSpPr>
          <p:spPr>
            <a:xfrm flipV="1">
              <a:off x="5157542" y="2071399"/>
              <a:ext cx="1465277" cy="818967"/>
            </a:xfrm>
            <a:prstGeom prst="straightConnector1">
              <a:avLst/>
            </a:prstGeom>
            <a:ln>
              <a:solidFill>
                <a:srgbClr val="B57853"/>
              </a:solidFill>
              <a:tailEnd type="triangle"/>
            </a:ln>
          </p:spPr>
          <p:style>
            <a:lnRef idx="3">
              <a:schemeClr val="dk1"/>
            </a:lnRef>
            <a:fillRef idx="0">
              <a:schemeClr val="dk1"/>
            </a:fillRef>
            <a:effectRef idx="2">
              <a:schemeClr val="dk1"/>
            </a:effectRef>
            <a:fontRef idx="minor">
              <a:schemeClr val="tx1"/>
            </a:fontRef>
          </p:style>
        </p:cxnSp>
        <p:cxnSp>
          <p:nvCxnSpPr>
            <p:cNvPr id="79" name="Straight Arrow Connector 78"/>
            <p:cNvCxnSpPr>
              <a:stCxn id="65" idx="3"/>
              <a:endCxn id="83" idx="1"/>
            </p:cNvCxnSpPr>
            <p:nvPr/>
          </p:nvCxnSpPr>
          <p:spPr>
            <a:xfrm flipV="1">
              <a:off x="5157542" y="2367778"/>
              <a:ext cx="1445213" cy="522588"/>
            </a:xfrm>
            <a:prstGeom prst="straightConnector1">
              <a:avLst/>
            </a:prstGeom>
            <a:ln>
              <a:solidFill>
                <a:srgbClr val="B57853"/>
              </a:solidFill>
              <a:tailEnd type="triangle"/>
            </a:ln>
          </p:spPr>
          <p:style>
            <a:lnRef idx="3">
              <a:schemeClr val="dk1"/>
            </a:lnRef>
            <a:fillRef idx="0">
              <a:schemeClr val="dk1"/>
            </a:fillRef>
            <a:effectRef idx="2">
              <a:schemeClr val="dk1"/>
            </a:effectRef>
            <a:fontRef idx="minor">
              <a:schemeClr val="tx1"/>
            </a:fontRef>
          </p:style>
        </p:cxnSp>
        <p:cxnSp>
          <p:nvCxnSpPr>
            <p:cNvPr id="80" name="Straight Arrow Connector 79"/>
            <p:cNvCxnSpPr>
              <a:stCxn id="65" idx="3"/>
              <a:endCxn id="84" idx="1"/>
            </p:cNvCxnSpPr>
            <p:nvPr/>
          </p:nvCxnSpPr>
          <p:spPr>
            <a:xfrm flipV="1">
              <a:off x="5157542" y="2684306"/>
              <a:ext cx="1449200" cy="206060"/>
            </a:xfrm>
            <a:prstGeom prst="straightConnector1">
              <a:avLst/>
            </a:prstGeom>
            <a:ln>
              <a:solidFill>
                <a:srgbClr val="B57853"/>
              </a:solidFill>
              <a:tailEnd type="triangle"/>
            </a:ln>
          </p:spPr>
          <p:style>
            <a:lnRef idx="3">
              <a:schemeClr val="dk1"/>
            </a:lnRef>
            <a:fillRef idx="0">
              <a:schemeClr val="dk1"/>
            </a:fillRef>
            <a:effectRef idx="2">
              <a:schemeClr val="dk1"/>
            </a:effectRef>
            <a:fontRef idx="minor">
              <a:schemeClr val="tx1"/>
            </a:fontRef>
          </p:style>
        </p:cxnSp>
        <p:sp>
          <p:nvSpPr>
            <p:cNvPr id="82" name="TextBox 81"/>
            <p:cNvSpPr txBox="1"/>
            <p:nvPr/>
          </p:nvSpPr>
          <p:spPr>
            <a:xfrm>
              <a:off x="6622820" y="1855955"/>
              <a:ext cx="1814160" cy="430887"/>
            </a:xfrm>
            <a:prstGeom prst="rect">
              <a:avLst/>
            </a:prstGeom>
            <a:noFill/>
          </p:spPr>
          <p:txBody>
            <a:bodyPr wrap="square" rtlCol="0">
              <a:spAutoFit/>
            </a:bodyPr>
            <a:lstStyle/>
            <a:p>
              <a:pPr defTabSz="685800">
                <a:defRPr/>
              </a:pPr>
              <a:r>
                <a:rPr lang="en-US" sz="1500" kern="0" dirty="0">
                  <a:solidFill>
                    <a:srgbClr val="B57853"/>
                  </a:solidFill>
                </a:rPr>
                <a:t>Confidentiality</a:t>
              </a:r>
            </a:p>
          </p:txBody>
        </p:sp>
        <p:sp>
          <p:nvSpPr>
            <p:cNvPr id="83" name="TextBox 82"/>
            <p:cNvSpPr txBox="1"/>
            <p:nvPr/>
          </p:nvSpPr>
          <p:spPr>
            <a:xfrm>
              <a:off x="6602756" y="2152334"/>
              <a:ext cx="1473581" cy="430887"/>
            </a:xfrm>
            <a:prstGeom prst="rect">
              <a:avLst/>
            </a:prstGeom>
            <a:noFill/>
          </p:spPr>
          <p:txBody>
            <a:bodyPr wrap="square" rtlCol="0">
              <a:spAutoFit/>
            </a:bodyPr>
            <a:lstStyle/>
            <a:p>
              <a:pPr defTabSz="685800">
                <a:defRPr/>
              </a:pPr>
              <a:r>
                <a:rPr lang="en-US" sz="1500" kern="0" dirty="0">
                  <a:solidFill>
                    <a:srgbClr val="B57853"/>
                  </a:solidFill>
                </a:rPr>
                <a:t>Integrity</a:t>
              </a:r>
            </a:p>
          </p:txBody>
        </p:sp>
        <p:sp>
          <p:nvSpPr>
            <p:cNvPr id="84" name="TextBox 83"/>
            <p:cNvSpPr txBox="1"/>
            <p:nvPr/>
          </p:nvSpPr>
          <p:spPr>
            <a:xfrm>
              <a:off x="6606742" y="2468862"/>
              <a:ext cx="1754765" cy="430887"/>
            </a:xfrm>
            <a:prstGeom prst="rect">
              <a:avLst/>
            </a:prstGeom>
            <a:noFill/>
          </p:spPr>
          <p:txBody>
            <a:bodyPr wrap="square" rtlCol="0">
              <a:spAutoFit/>
            </a:bodyPr>
            <a:lstStyle/>
            <a:p>
              <a:pPr defTabSz="685800">
                <a:defRPr/>
              </a:pPr>
              <a:r>
                <a:rPr lang="en-US" sz="1500" kern="0" dirty="0">
                  <a:solidFill>
                    <a:srgbClr val="B57853"/>
                  </a:solidFill>
                </a:rPr>
                <a:t>Availability</a:t>
              </a:r>
            </a:p>
          </p:txBody>
        </p:sp>
        <p:sp>
          <p:nvSpPr>
            <p:cNvPr id="68" name="TextBox 67"/>
            <p:cNvSpPr txBox="1"/>
            <p:nvPr/>
          </p:nvSpPr>
          <p:spPr>
            <a:xfrm>
              <a:off x="3558579" y="4556622"/>
              <a:ext cx="1750485" cy="430887"/>
            </a:xfrm>
            <a:prstGeom prst="rect">
              <a:avLst/>
            </a:prstGeom>
            <a:noFill/>
          </p:spPr>
          <p:txBody>
            <a:bodyPr wrap="square" rtlCol="0">
              <a:spAutoFit/>
            </a:bodyPr>
            <a:lstStyle/>
            <a:p>
              <a:pPr defTabSz="685800">
                <a:defRPr/>
              </a:pPr>
              <a:r>
                <a:rPr lang="en-US" sz="1500" kern="0" dirty="0">
                  <a:solidFill>
                    <a:srgbClr val="663300"/>
                  </a:solidFill>
                </a:rPr>
                <a:t>Predictability</a:t>
              </a:r>
            </a:p>
          </p:txBody>
        </p:sp>
        <p:sp>
          <p:nvSpPr>
            <p:cNvPr id="71" name="TextBox 70"/>
            <p:cNvSpPr txBox="1"/>
            <p:nvPr/>
          </p:nvSpPr>
          <p:spPr>
            <a:xfrm>
              <a:off x="3558579" y="4947552"/>
              <a:ext cx="1800140" cy="430887"/>
            </a:xfrm>
            <a:prstGeom prst="rect">
              <a:avLst/>
            </a:prstGeom>
            <a:noFill/>
          </p:spPr>
          <p:txBody>
            <a:bodyPr wrap="square" rtlCol="0">
              <a:spAutoFit/>
            </a:bodyPr>
            <a:lstStyle/>
            <a:p>
              <a:pPr defTabSz="685800">
                <a:defRPr/>
              </a:pPr>
              <a:r>
                <a:rPr lang="en-US" sz="1500" kern="0" dirty="0">
                  <a:solidFill>
                    <a:srgbClr val="663300"/>
                  </a:solidFill>
                </a:rPr>
                <a:t>Manageability</a:t>
              </a:r>
            </a:p>
          </p:txBody>
        </p:sp>
        <p:sp>
          <p:nvSpPr>
            <p:cNvPr id="72" name="TextBox 71"/>
            <p:cNvSpPr txBox="1"/>
            <p:nvPr/>
          </p:nvSpPr>
          <p:spPr>
            <a:xfrm>
              <a:off x="3558579" y="5326484"/>
              <a:ext cx="1750487" cy="430887"/>
            </a:xfrm>
            <a:prstGeom prst="rect">
              <a:avLst/>
            </a:prstGeom>
            <a:noFill/>
          </p:spPr>
          <p:txBody>
            <a:bodyPr wrap="square" rtlCol="0">
              <a:spAutoFit/>
            </a:bodyPr>
            <a:lstStyle/>
            <a:p>
              <a:pPr defTabSz="685800">
                <a:defRPr/>
              </a:pPr>
              <a:r>
                <a:rPr lang="en-US" sz="1500" kern="0" dirty="0">
                  <a:solidFill>
                    <a:srgbClr val="663300"/>
                  </a:solidFill>
                </a:rPr>
                <a:t>Dissociability</a:t>
              </a:r>
            </a:p>
          </p:txBody>
        </p:sp>
        <p:cxnSp>
          <p:nvCxnSpPr>
            <p:cNvPr id="73" name="Straight Arrow Connector 72"/>
            <p:cNvCxnSpPr>
              <a:stCxn id="50" idx="3"/>
              <a:endCxn id="68" idx="1"/>
            </p:cNvCxnSpPr>
            <p:nvPr/>
          </p:nvCxnSpPr>
          <p:spPr>
            <a:xfrm flipV="1">
              <a:off x="2946914" y="4772065"/>
              <a:ext cx="611665" cy="527980"/>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cxnSp>
          <p:nvCxnSpPr>
            <p:cNvPr id="74" name="Straight Arrow Connector 73"/>
            <p:cNvCxnSpPr>
              <a:stCxn id="50" idx="3"/>
              <a:endCxn id="71" idx="1"/>
            </p:cNvCxnSpPr>
            <p:nvPr/>
          </p:nvCxnSpPr>
          <p:spPr>
            <a:xfrm flipV="1">
              <a:off x="2946914" y="5162996"/>
              <a:ext cx="611665" cy="137049"/>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cxnSp>
          <p:nvCxnSpPr>
            <p:cNvPr id="75" name="Straight Arrow Connector 74"/>
            <p:cNvCxnSpPr>
              <a:stCxn id="50" idx="3"/>
              <a:endCxn id="72" idx="1"/>
            </p:cNvCxnSpPr>
            <p:nvPr/>
          </p:nvCxnSpPr>
          <p:spPr>
            <a:xfrm>
              <a:off x="2946914" y="5300045"/>
              <a:ext cx="611665" cy="241883"/>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cxnSp>
          <p:nvCxnSpPr>
            <p:cNvPr id="81" name="Straight Arrow Connector 80"/>
            <p:cNvCxnSpPr>
              <a:stCxn id="68" idx="3"/>
              <a:endCxn id="87" idx="1"/>
            </p:cNvCxnSpPr>
            <p:nvPr/>
          </p:nvCxnSpPr>
          <p:spPr>
            <a:xfrm flipV="1">
              <a:off x="5309065" y="4352694"/>
              <a:ext cx="840916" cy="419372"/>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cxnSp>
          <p:nvCxnSpPr>
            <p:cNvPr id="85" name="Straight Arrow Connector 84"/>
            <p:cNvCxnSpPr>
              <a:stCxn id="68" idx="3"/>
              <a:endCxn id="88" idx="1"/>
            </p:cNvCxnSpPr>
            <p:nvPr/>
          </p:nvCxnSpPr>
          <p:spPr>
            <a:xfrm>
              <a:off x="5309065" y="4772065"/>
              <a:ext cx="848599" cy="0"/>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cxnSp>
          <p:nvCxnSpPr>
            <p:cNvPr id="86" name="Straight Arrow Connector 85"/>
            <p:cNvCxnSpPr>
              <a:stCxn id="68" idx="3"/>
              <a:endCxn id="89" idx="1"/>
            </p:cNvCxnSpPr>
            <p:nvPr/>
          </p:nvCxnSpPr>
          <p:spPr>
            <a:xfrm>
              <a:off x="5309065" y="4772065"/>
              <a:ext cx="840916" cy="369752"/>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sp>
          <p:nvSpPr>
            <p:cNvPr id="87" name="TextBox 86"/>
            <p:cNvSpPr txBox="1"/>
            <p:nvPr/>
          </p:nvSpPr>
          <p:spPr>
            <a:xfrm>
              <a:off x="6149981" y="4137250"/>
              <a:ext cx="1146787" cy="430887"/>
            </a:xfrm>
            <a:prstGeom prst="rect">
              <a:avLst/>
            </a:prstGeom>
            <a:noFill/>
          </p:spPr>
          <p:txBody>
            <a:bodyPr wrap="square" rtlCol="0">
              <a:spAutoFit/>
            </a:bodyPr>
            <a:lstStyle/>
            <a:p>
              <a:pPr defTabSz="685800">
                <a:defRPr/>
              </a:pPr>
              <a:r>
                <a:rPr lang="en-US" sz="1500" kern="0" dirty="0">
                  <a:solidFill>
                    <a:srgbClr val="663300"/>
                  </a:solidFill>
                </a:rPr>
                <a:t>Controls</a:t>
              </a:r>
            </a:p>
          </p:txBody>
        </p:sp>
        <p:sp>
          <p:nvSpPr>
            <p:cNvPr id="88" name="TextBox 87"/>
            <p:cNvSpPr txBox="1"/>
            <p:nvPr/>
          </p:nvSpPr>
          <p:spPr>
            <a:xfrm>
              <a:off x="6157664" y="4556622"/>
              <a:ext cx="1746741" cy="430887"/>
            </a:xfrm>
            <a:prstGeom prst="rect">
              <a:avLst/>
            </a:prstGeom>
            <a:noFill/>
          </p:spPr>
          <p:txBody>
            <a:bodyPr wrap="square" rtlCol="0">
              <a:spAutoFit/>
            </a:bodyPr>
            <a:lstStyle/>
            <a:p>
              <a:pPr defTabSz="685800">
                <a:defRPr/>
              </a:pPr>
              <a:r>
                <a:rPr lang="en-US" sz="1500" kern="0" dirty="0">
                  <a:solidFill>
                    <a:srgbClr val="663300"/>
                  </a:solidFill>
                </a:rPr>
                <a:t>Transparency</a:t>
              </a:r>
            </a:p>
          </p:txBody>
        </p:sp>
        <p:sp>
          <p:nvSpPr>
            <p:cNvPr id="89" name="TextBox 88"/>
            <p:cNvSpPr txBox="1"/>
            <p:nvPr/>
          </p:nvSpPr>
          <p:spPr>
            <a:xfrm>
              <a:off x="6149981" y="4926373"/>
              <a:ext cx="1388039" cy="430887"/>
            </a:xfrm>
            <a:prstGeom prst="rect">
              <a:avLst/>
            </a:prstGeom>
            <a:noFill/>
          </p:spPr>
          <p:txBody>
            <a:bodyPr wrap="square" rtlCol="0">
              <a:spAutoFit/>
            </a:bodyPr>
            <a:lstStyle/>
            <a:p>
              <a:pPr defTabSz="685800">
                <a:defRPr/>
              </a:pPr>
              <a:r>
                <a:rPr lang="en-US" sz="1500" kern="0" dirty="0">
                  <a:solidFill>
                    <a:srgbClr val="663300"/>
                  </a:solidFill>
                </a:rPr>
                <a:t>Innovation</a:t>
              </a:r>
            </a:p>
          </p:txBody>
        </p:sp>
        <p:cxnSp>
          <p:nvCxnSpPr>
            <p:cNvPr id="114" name="Straight Arrow Connector 113"/>
            <p:cNvCxnSpPr>
              <a:stCxn id="87" idx="3"/>
              <a:endCxn id="97" idx="1"/>
            </p:cNvCxnSpPr>
            <p:nvPr/>
          </p:nvCxnSpPr>
          <p:spPr>
            <a:xfrm flipV="1">
              <a:off x="7296768" y="4347207"/>
              <a:ext cx="1228185" cy="5487"/>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sp>
          <p:nvSpPr>
            <p:cNvPr id="97" name="TextBox 96"/>
            <p:cNvSpPr txBox="1"/>
            <p:nvPr/>
          </p:nvSpPr>
          <p:spPr>
            <a:xfrm>
              <a:off x="8524953" y="4131763"/>
              <a:ext cx="1766656" cy="430887"/>
            </a:xfrm>
            <a:prstGeom prst="rect">
              <a:avLst/>
            </a:prstGeom>
            <a:noFill/>
          </p:spPr>
          <p:txBody>
            <a:bodyPr wrap="square" rtlCol="0">
              <a:spAutoFit/>
            </a:bodyPr>
            <a:lstStyle>
              <a:defPPr>
                <a:defRPr lang="en-US"/>
              </a:defPPr>
              <a:lvl1pPr>
                <a:defRPr sz="2000">
                  <a:solidFill>
                    <a:srgbClr val="663300"/>
                  </a:solidFill>
                </a:defRPr>
              </a:lvl1pPr>
            </a:lstStyle>
            <a:p>
              <a:pPr defTabSz="685800">
                <a:defRPr/>
              </a:pPr>
              <a:r>
                <a:rPr lang="en-US" sz="1500" kern="0"/>
                <a:t>Authorization</a:t>
              </a:r>
              <a:endParaRPr lang="en-US" sz="1500" kern="0" dirty="0"/>
            </a:p>
          </p:txBody>
        </p:sp>
        <p:sp>
          <p:nvSpPr>
            <p:cNvPr id="93" name="TextBox 92"/>
            <p:cNvSpPr txBox="1"/>
            <p:nvPr/>
          </p:nvSpPr>
          <p:spPr>
            <a:xfrm>
              <a:off x="8847892" y="1863695"/>
              <a:ext cx="1429541" cy="430887"/>
            </a:xfrm>
            <a:prstGeom prst="rect">
              <a:avLst/>
            </a:prstGeom>
            <a:noFill/>
          </p:spPr>
          <p:txBody>
            <a:bodyPr wrap="square" rtlCol="0">
              <a:spAutoFit/>
            </a:bodyPr>
            <a:lstStyle/>
            <a:p>
              <a:pPr defTabSz="685800">
                <a:defRPr/>
              </a:pPr>
              <a:r>
                <a:rPr lang="en-US" sz="1500" kern="0">
                  <a:solidFill>
                    <a:srgbClr val="B57853"/>
                  </a:solidFill>
                </a:rPr>
                <a:t>Encryption</a:t>
              </a:r>
              <a:endParaRPr lang="en-US" sz="1500" kern="0" dirty="0">
                <a:solidFill>
                  <a:srgbClr val="B57853"/>
                </a:solidFill>
              </a:endParaRPr>
            </a:p>
          </p:txBody>
        </p:sp>
        <p:cxnSp>
          <p:nvCxnSpPr>
            <p:cNvPr id="100" name="Straight Arrow Connector 99"/>
            <p:cNvCxnSpPr>
              <a:stCxn id="82" idx="3"/>
              <a:endCxn id="93" idx="1"/>
            </p:cNvCxnSpPr>
            <p:nvPr/>
          </p:nvCxnSpPr>
          <p:spPr>
            <a:xfrm>
              <a:off x="8436980" y="2071399"/>
              <a:ext cx="410912" cy="7740"/>
            </a:xfrm>
            <a:prstGeom prst="straightConnector1">
              <a:avLst/>
            </a:prstGeom>
            <a:ln>
              <a:solidFill>
                <a:srgbClr val="B57853"/>
              </a:solidFill>
              <a:prstDash val="solid"/>
              <a:tailEnd type="triangle"/>
            </a:ln>
          </p:spPr>
          <p:style>
            <a:lnRef idx="3">
              <a:schemeClr val="dk1"/>
            </a:lnRef>
            <a:fillRef idx="0">
              <a:schemeClr val="dk1"/>
            </a:fillRef>
            <a:effectRef idx="2">
              <a:schemeClr val="dk1"/>
            </a:effectRef>
            <a:fontRef idx="minor">
              <a:schemeClr val="tx1"/>
            </a:fontRef>
          </p:style>
        </p:cxnSp>
        <p:sp>
          <p:nvSpPr>
            <p:cNvPr id="128" name="Oval 127"/>
            <p:cNvSpPr/>
            <p:nvPr/>
          </p:nvSpPr>
          <p:spPr>
            <a:xfrm>
              <a:off x="6402470" y="1712421"/>
              <a:ext cx="2060803" cy="141699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defRPr/>
              </a:pPr>
              <a:endParaRPr lang="en-US" sz="788" kern="0">
                <a:solidFill>
                  <a:sysClr val="windowText" lastClr="000000"/>
                </a:solidFill>
              </a:endParaRPr>
            </a:p>
          </p:txBody>
        </p:sp>
        <p:sp>
          <p:nvSpPr>
            <p:cNvPr id="129" name="Oval 128"/>
            <p:cNvSpPr/>
            <p:nvPr/>
          </p:nvSpPr>
          <p:spPr>
            <a:xfrm>
              <a:off x="3416882" y="4440000"/>
              <a:ext cx="1941838" cy="144765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defRPr/>
              </a:pPr>
              <a:endParaRPr lang="en-US" sz="788" kern="0">
                <a:solidFill>
                  <a:sysClr val="windowText" lastClr="000000"/>
                </a:solidFill>
              </a:endParaRPr>
            </a:p>
          </p:txBody>
        </p:sp>
        <p:sp>
          <p:nvSpPr>
            <p:cNvPr id="130" name="TextBox 129"/>
            <p:cNvSpPr txBox="1"/>
            <p:nvPr/>
          </p:nvSpPr>
          <p:spPr>
            <a:xfrm flipH="1">
              <a:off x="5082018" y="3391364"/>
              <a:ext cx="1761981" cy="338555"/>
            </a:xfrm>
            <a:prstGeom prst="rect">
              <a:avLst/>
            </a:prstGeom>
            <a:noFill/>
          </p:spPr>
          <p:txBody>
            <a:bodyPr wrap="square" rtlCol="0">
              <a:spAutoFit/>
            </a:bodyPr>
            <a:lstStyle/>
            <a:p>
              <a:pPr algn="ctr" defTabSz="514350">
                <a:defRPr/>
              </a:pPr>
              <a:r>
                <a:rPr lang="en-US" sz="1050" b="1" kern="0" dirty="0">
                  <a:solidFill>
                    <a:schemeClr val="accent1">
                      <a:lumMod val="75000"/>
                    </a:schemeClr>
                  </a:solidFill>
                </a:rPr>
                <a:t>SME Taxonomies</a:t>
              </a:r>
            </a:p>
          </p:txBody>
        </p:sp>
        <p:cxnSp>
          <p:nvCxnSpPr>
            <p:cNvPr id="131" name="Straight Arrow Connector 130"/>
            <p:cNvCxnSpPr>
              <a:stCxn id="130" idx="0"/>
              <a:endCxn id="128" idx="3"/>
            </p:cNvCxnSpPr>
            <p:nvPr/>
          </p:nvCxnSpPr>
          <p:spPr>
            <a:xfrm flipV="1">
              <a:off x="5963009" y="2921898"/>
              <a:ext cx="741259" cy="4694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130" idx="2"/>
              <a:endCxn id="129" idx="6"/>
            </p:cNvCxnSpPr>
            <p:nvPr/>
          </p:nvCxnSpPr>
          <p:spPr>
            <a:xfrm flipH="1">
              <a:off x="5358719" y="3729919"/>
              <a:ext cx="604289" cy="14339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4" name="TextBox 223"/>
            <p:cNvSpPr txBox="1"/>
            <p:nvPr/>
          </p:nvSpPr>
          <p:spPr>
            <a:xfrm>
              <a:off x="3230131" y="974815"/>
              <a:ext cx="2147761" cy="430887"/>
            </a:xfrm>
            <a:prstGeom prst="rect">
              <a:avLst/>
            </a:prstGeom>
            <a:noFill/>
          </p:spPr>
          <p:txBody>
            <a:bodyPr wrap="square" rtlCol="0">
              <a:spAutoFit/>
            </a:bodyPr>
            <a:lstStyle/>
            <a:p>
              <a:pPr defTabSz="685800">
                <a:defRPr/>
              </a:pPr>
              <a:r>
                <a:rPr lang="en-US" sz="1500" kern="0">
                  <a:solidFill>
                    <a:srgbClr val="663300"/>
                  </a:solidFill>
                </a:rPr>
                <a:t>Functional Safety</a:t>
              </a:r>
              <a:endParaRPr lang="en-US" sz="1500" kern="0" dirty="0">
                <a:solidFill>
                  <a:srgbClr val="663300"/>
                </a:solidFill>
              </a:endParaRPr>
            </a:p>
          </p:txBody>
        </p:sp>
        <p:cxnSp>
          <p:nvCxnSpPr>
            <p:cNvPr id="225" name="Straight Arrow Connector 224"/>
            <p:cNvCxnSpPr>
              <a:stCxn id="46" idx="3"/>
              <a:endCxn id="224" idx="1"/>
            </p:cNvCxnSpPr>
            <p:nvPr/>
          </p:nvCxnSpPr>
          <p:spPr>
            <a:xfrm flipV="1">
              <a:off x="2946915" y="1190259"/>
              <a:ext cx="283216" cy="154280"/>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cxnSp>
          <p:nvCxnSpPr>
            <p:cNvPr id="240" name="Straight Arrow Connector 239"/>
            <p:cNvCxnSpPr>
              <a:stCxn id="263" idx="3"/>
              <a:endCxn id="243" idx="1"/>
            </p:cNvCxnSpPr>
            <p:nvPr/>
          </p:nvCxnSpPr>
          <p:spPr>
            <a:xfrm flipV="1">
              <a:off x="6622821" y="724965"/>
              <a:ext cx="902136" cy="472039"/>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cxnSp>
          <p:nvCxnSpPr>
            <p:cNvPr id="241" name="Straight Arrow Connector 240"/>
            <p:cNvCxnSpPr>
              <a:stCxn id="263" idx="3"/>
              <a:endCxn id="244" idx="1"/>
            </p:cNvCxnSpPr>
            <p:nvPr/>
          </p:nvCxnSpPr>
          <p:spPr>
            <a:xfrm flipV="1">
              <a:off x="6622821" y="1034681"/>
              <a:ext cx="896884" cy="162323"/>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cxnSp>
          <p:nvCxnSpPr>
            <p:cNvPr id="242" name="Straight Arrow Connector 241"/>
            <p:cNvCxnSpPr>
              <a:stCxn id="263" idx="3"/>
              <a:endCxn id="245" idx="1"/>
            </p:cNvCxnSpPr>
            <p:nvPr/>
          </p:nvCxnSpPr>
          <p:spPr>
            <a:xfrm>
              <a:off x="6622821" y="1197003"/>
              <a:ext cx="902136" cy="161055"/>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sp>
          <p:nvSpPr>
            <p:cNvPr id="243" name="TextBox 242"/>
            <p:cNvSpPr txBox="1"/>
            <p:nvPr/>
          </p:nvSpPr>
          <p:spPr>
            <a:xfrm>
              <a:off x="7524957" y="509521"/>
              <a:ext cx="1146787" cy="430887"/>
            </a:xfrm>
            <a:prstGeom prst="rect">
              <a:avLst/>
            </a:prstGeom>
            <a:noFill/>
          </p:spPr>
          <p:txBody>
            <a:bodyPr wrap="square" rtlCol="0">
              <a:spAutoFit/>
            </a:bodyPr>
            <a:lstStyle/>
            <a:p>
              <a:pPr defTabSz="685800">
                <a:defRPr/>
              </a:pPr>
              <a:r>
                <a:rPr lang="en-US" sz="1500" kern="0" dirty="0">
                  <a:solidFill>
                    <a:srgbClr val="663300"/>
                  </a:solidFill>
                </a:rPr>
                <a:t>Severity</a:t>
              </a:r>
            </a:p>
          </p:txBody>
        </p:sp>
        <p:sp>
          <p:nvSpPr>
            <p:cNvPr id="244" name="TextBox 243"/>
            <p:cNvSpPr txBox="1"/>
            <p:nvPr/>
          </p:nvSpPr>
          <p:spPr>
            <a:xfrm>
              <a:off x="7519705" y="819237"/>
              <a:ext cx="1442140" cy="430887"/>
            </a:xfrm>
            <a:prstGeom prst="rect">
              <a:avLst/>
            </a:prstGeom>
            <a:noFill/>
          </p:spPr>
          <p:txBody>
            <a:bodyPr wrap="square" rtlCol="0">
              <a:spAutoFit/>
            </a:bodyPr>
            <a:lstStyle/>
            <a:p>
              <a:pPr defTabSz="685800">
                <a:defRPr/>
              </a:pPr>
              <a:r>
                <a:rPr lang="en-US" sz="1500" kern="0">
                  <a:solidFill>
                    <a:srgbClr val="663300"/>
                  </a:solidFill>
                </a:rPr>
                <a:t>Frequency</a:t>
              </a:r>
              <a:endParaRPr lang="en-US" sz="1500" kern="0" dirty="0">
                <a:solidFill>
                  <a:srgbClr val="663300"/>
                </a:solidFill>
              </a:endParaRPr>
            </a:p>
          </p:txBody>
        </p:sp>
        <p:sp>
          <p:nvSpPr>
            <p:cNvPr id="245" name="TextBox 244"/>
            <p:cNvSpPr txBox="1"/>
            <p:nvPr/>
          </p:nvSpPr>
          <p:spPr>
            <a:xfrm>
              <a:off x="7524957" y="1142614"/>
              <a:ext cx="1738999" cy="430887"/>
            </a:xfrm>
            <a:prstGeom prst="rect">
              <a:avLst/>
            </a:prstGeom>
            <a:noFill/>
          </p:spPr>
          <p:txBody>
            <a:bodyPr wrap="square" rtlCol="0">
              <a:spAutoFit/>
            </a:bodyPr>
            <a:lstStyle/>
            <a:p>
              <a:pPr defTabSz="685800">
                <a:defRPr/>
              </a:pPr>
              <a:r>
                <a:rPr lang="en-US" sz="1500" kern="0">
                  <a:solidFill>
                    <a:srgbClr val="663300"/>
                  </a:solidFill>
                </a:rPr>
                <a:t>Controllability</a:t>
              </a:r>
              <a:endParaRPr lang="en-US" sz="1500" kern="0" dirty="0">
                <a:solidFill>
                  <a:srgbClr val="663300"/>
                </a:solidFill>
              </a:endParaRPr>
            </a:p>
          </p:txBody>
        </p:sp>
        <p:sp>
          <p:nvSpPr>
            <p:cNvPr id="263" name="TextBox 262"/>
            <p:cNvSpPr txBox="1"/>
            <p:nvPr/>
          </p:nvSpPr>
          <p:spPr>
            <a:xfrm>
              <a:off x="5592827" y="981559"/>
              <a:ext cx="1029993" cy="430887"/>
            </a:xfrm>
            <a:prstGeom prst="rect">
              <a:avLst/>
            </a:prstGeom>
            <a:noFill/>
          </p:spPr>
          <p:txBody>
            <a:bodyPr wrap="square" rtlCol="0">
              <a:spAutoFit/>
            </a:bodyPr>
            <a:lstStyle/>
            <a:p>
              <a:pPr defTabSz="685800">
                <a:defRPr/>
              </a:pPr>
              <a:r>
                <a:rPr lang="en-US" sz="1500" kern="0" dirty="0">
                  <a:solidFill>
                    <a:srgbClr val="663300"/>
                  </a:solidFill>
                </a:rPr>
                <a:t>Hazard</a:t>
              </a:r>
            </a:p>
          </p:txBody>
        </p:sp>
        <p:sp>
          <p:nvSpPr>
            <p:cNvPr id="274" name="Oval 273"/>
            <p:cNvSpPr/>
            <p:nvPr/>
          </p:nvSpPr>
          <p:spPr>
            <a:xfrm>
              <a:off x="7271353" y="405950"/>
              <a:ext cx="2085491" cy="135076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defRPr/>
              </a:pPr>
              <a:endParaRPr lang="en-US" sz="788" kern="0">
                <a:solidFill>
                  <a:sysClr val="windowText" lastClr="000000"/>
                </a:solidFill>
              </a:endParaRPr>
            </a:p>
          </p:txBody>
        </p:sp>
        <p:cxnSp>
          <p:nvCxnSpPr>
            <p:cNvPr id="277" name="Straight Arrow Connector 276"/>
            <p:cNvCxnSpPr>
              <a:stCxn id="130" idx="0"/>
              <a:endCxn id="274" idx="3"/>
            </p:cNvCxnSpPr>
            <p:nvPr/>
          </p:nvCxnSpPr>
          <p:spPr>
            <a:xfrm flipV="1">
              <a:off x="5963009" y="1558895"/>
              <a:ext cx="1613757" cy="18324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a:stCxn id="224" idx="3"/>
              <a:endCxn id="263" idx="1"/>
            </p:cNvCxnSpPr>
            <p:nvPr/>
          </p:nvCxnSpPr>
          <p:spPr>
            <a:xfrm>
              <a:off x="5377893" y="1190259"/>
              <a:ext cx="214935" cy="6744"/>
            </a:xfrm>
            <a:prstGeom prst="straightConnector1">
              <a:avLst/>
            </a:prstGeom>
            <a:ln>
              <a:solidFill>
                <a:srgbClr val="663300"/>
              </a:solidFill>
              <a:tailEnd type="triangle"/>
            </a:ln>
          </p:spPr>
          <p:style>
            <a:lnRef idx="3">
              <a:schemeClr val="dk1"/>
            </a:lnRef>
            <a:fillRef idx="0">
              <a:schemeClr val="dk1"/>
            </a:fillRef>
            <a:effectRef idx="2">
              <a:schemeClr val="dk1"/>
            </a:effectRef>
            <a:fontRef idx="minor">
              <a:schemeClr val="tx1"/>
            </a:fontRef>
          </p:style>
        </p:cxnSp>
        <p:sp>
          <p:nvSpPr>
            <p:cNvPr id="103" name="Right Arrow 102"/>
            <p:cNvSpPr/>
            <p:nvPr/>
          </p:nvSpPr>
          <p:spPr>
            <a:xfrm>
              <a:off x="5377894" y="5220213"/>
              <a:ext cx="3443064" cy="7293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25" b="1"/>
                <a:t>Apply Aspects/Concerns</a:t>
              </a:r>
              <a:endParaRPr lang="en-US" sz="825" b="1" dirty="0"/>
            </a:p>
          </p:txBody>
        </p:sp>
      </p:grpSp>
    </p:spTree>
    <p:extLst>
      <p:ext uri="{BB962C8B-B14F-4D97-AF65-F5344CB8AC3E}">
        <p14:creationId xmlns:p14="http://schemas.microsoft.com/office/powerpoint/2010/main" val="3346595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1+#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222885" y="274320"/>
            <a:ext cx="8698230" cy="822960"/>
          </a:xfrm>
        </p:spPr>
        <p:txBody>
          <a:bodyPr vert="horz" lIns="0" tIns="0" rIns="0" bIns="0" rtlCol="0" anchor="t">
            <a:normAutofit/>
          </a:bodyPr>
          <a:lstStyle/>
          <a:p>
            <a:pPr eaLnBrk="1" hangingPunct="1">
              <a:lnSpc>
                <a:spcPct val="95000"/>
              </a:lnSpc>
            </a:pPr>
            <a:r>
              <a:rPr lang="en-US" altLang="en-US" sz="3870" dirty="0">
                <a:solidFill>
                  <a:srgbClr val="C00000"/>
                </a:solidFill>
                <a:latin typeface="Bodoni" pitchFamily="34"/>
              </a:rPr>
              <a:t>The Solutions</a:t>
            </a:r>
          </a:p>
        </p:txBody>
      </p:sp>
      <p:sp>
        <p:nvSpPr>
          <p:cNvPr id="8195" name="Rectangle 2"/>
          <p:cNvSpPr>
            <a:spLocks noGrp="1" noChangeArrowheads="1"/>
          </p:cNvSpPr>
          <p:nvPr>
            <p:ph type="body" idx="1"/>
          </p:nvPr>
        </p:nvSpPr>
        <p:spPr>
          <a:xfrm>
            <a:off x="222885" y="1324186"/>
            <a:ext cx="8698230" cy="4937760"/>
          </a:xfrm>
        </p:spPr>
        <p:txBody>
          <a:bodyPr vert="horz" lIns="0" tIns="0" rIns="0" bIns="0" rtlCol="0">
            <a:normAutofit/>
          </a:bodyPr>
          <a:lstStyle/>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Auto</a:t>
            </a:r>
            <a:r>
              <a:rPr lang="en-US" altLang="en-US" sz="2430" dirty="0">
                <a:solidFill>
                  <a:srgbClr val="FFFFFF"/>
                </a:solidFill>
                <a:latin typeface="Arial" panose="020B0604020202020204" pitchFamily="34" charset="0"/>
              </a:rPr>
              <a:t> </a:t>
            </a:r>
            <a:r>
              <a:rPr lang="en-US" altLang="en-US" sz="2430" dirty="0">
                <a:latin typeface="Arial" panose="020B0604020202020204" pitchFamily="34" charset="0"/>
              </a:rPr>
              <a:t>manufacturers need to recognize this security flaw in the CAM if they are using wireless ECU communication</a:t>
            </a:r>
            <a:endParaRPr lang="en-US" altLang="en-US" dirty="0"/>
          </a:p>
          <a:p>
            <a:pPr marL="0" indent="0">
              <a:lnSpc>
                <a:spcPct val="95000"/>
              </a:lnSpc>
              <a:spcBef>
                <a:spcPct val="0"/>
              </a:spcBef>
              <a:buNone/>
            </a:pPr>
            <a:r>
              <a:rPr lang="en-US" altLang="en-US" sz="2430" dirty="0">
                <a:latin typeface="Arial" panose="020B0604020202020204" pitchFamily="34" charset="0"/>
              </a:rPr>
              <a:t> </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Controller authentication</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latin typeface="Arial" panose="020B0604020202020204" pitchFamily="34" charset="0"/>
              </a:rPr>
              <a:t>Only valid controllers can communicate on the CAN  </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Encrypted communication</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latin typeface="Arial" panose="020B0604020202020204" pitchFamily="34" charset="0"/>
              </a:rPr>
              <a:t>Must be high performance, so use symmetric key</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latin typeface="Arial" panose="020B0604020202020204" pitchFamily="34" charset="0"/>
              </a:rPr>
              <a:t>Distribute symmetric key using asymmetric encryption during authentication</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Firewall</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latin typeface="Arial" panose="020B0604020202020204" pitchFamily="34" charset="0"/>
              </a:rPr>
              <a:t>Restrict a components commands to only those essential to its function </a:t>
            </a:r>
          </a:p>
          <a:p>
            <a:pPr marL="771525" lvl="2" indent="-257175">
              <a:lnSpc>
                <a:spcPct val="95000"/>
              </a:lnSpc>
              <a:spcBef>
                <a:spcPct val="0"/>
              </a:spcBef>
              <a:buClr>
                <a:srgbClr val="FFFFFF"/>
              </a:buClr>
              <a:buSzPct val="80000"/>
              <a:buFont typeface="Courier New" panose="02070309020205020404" pitchFamily="49" charset="0"/>
              <a:buChar char="o"/>
            </a:pPr>
            <a:endParaRPr lang="en-US" altLang="en-US" sz="2430" dirty="0">
              <a:latin typeface="Arial" panose="020B0604020202020204" pitchFamily="34" charset="0"/>
            </a:endParaRPr>
          </a:p>
          <a:p>
            <a:pPr marL="514350" lvl="2" indent="0">
              <a:lnSpc>
                <a:spcPct val="95000"/>
              </a:lnSpc>
              <a:spcBef>
                <a:spcPct val="0"/>
              </a:spcBef>
              <a:buClr>
                <a:srgbClr val="FFFFFF"/>
              </a:buClr>
              <a:buSzPct val="80000"/>
              <a:buNone/>
            </a:pPr>
            <a:endParaRPr lang="en-US" altLang="en-US" sz="2430" dirty="0">
              <a:latin typeface="Arial" panose="020B0604020202020204" pitchFamily="34" charset="0"/>
            </a:endParaRPr>
          </a:p>
        </p:txBody>
      </p:sp>
    </p:spTree>
    <p:extLst>
      <p:ext uri="{BB962C8B-B14F-4D97-AF65-F5344CB8AC3E}">
        <p14:creationId xmlns:p14="http://schemas.microsoft.com/office/powerpoint/2010/main" val="4155404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2771</Words>
  <Application>Microsoft Office PowerPoint</Application>
  <PresentationFormat>On-screen Show (4:3)</PresentationFormat>
  <Paragraphs>364</Paragraphs>
  <Slides>32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Bodoni</vt:lpstr>
      <vt:lpstr>Arial</vt:lpstr>
      <vt:lpstr>Calibri</vt:lpstr>
      <vt:lpstr>Calibri Light</vt:lpstr>
      <vt:lpstr>Courier New</vt:lpstr>
      <vt:lpstr>Office Theme</vt:lpstr>
      <vt:lpstr>Cyber Physical Systems</vt:lpstr>
      <vt:lpstr>NSF’s definition of Cyber-Physical Systems</vt:lpstr>
      <vt:lpstr>NSF’s definition of Cyber-Physical Systems</vt:lpstr>
      <vt:lpstr>What is a sensor? An actuator?</vt:lpstr>
      <vt:lpstr>Cyber-Physical Systems</vt:lpstr>
      <vt:lpstr>Cyber-Physical Systems</vt:lpstr>
      <vt:lpstr>Cyber-Physical Systems</vt:lpstr>
      <vt:lpstr>CPS and IoT</vt:lpstr>
      <vt:lpstr>CPS and IoT</vt:lpstr>
      <vt:lpstr>CPS vs. IoT: Motion Activated Light</vt:lpstr>
      <vt:lpstr>CPS Framework</vt:lpstr>
      <vt:lpstr>Application Domains – major societal impact</vt:lpstr>
      <vt:lpstr>CPS Framework</vt:lpstr>
      <vt:lpstr>Methodology initially developed at AFAR</vt:lpstr>
      <vt:lpstr>Methodology initially developed at AFAR</vt:lpstr>
      <vt:lpstr>Military Std 1553  Data Bus</vt:lpstr>
      <vt:lpstr>AIT MIL-STD-1553 Single-,Dual-,and Quad-Channel MIL-STD-1553 PXI Modules</vt:lpstr>
      <vt:lpstr>System Vulnerability Model Expanded</vt:lpstr>
      <vt:lpstr>CPS Analysis &amp; Testing Environments</vt:lpstr>
      <vt:lpstr>Hacking an Airplane With Only an Android Phone</vt:lpstr>
      <vt:lpstr>The Modern Automobile</vt:lpstr>
      <vt:lpstr>Before CAN </vt:lpstr>
      <vt:lpstr>Controller Area Network</vt:lpstr>
      <vt:lpstr>CAN Bus</vt:lpstr>
      <vt:lpstr>CAN Bus</vt:lpstr>
      <vt:lpstr> Auto mobile Hacks &amp; Defenses - Some Examples</vt:lpstr>
      <vt:lpstr> The automobile - Hacked</vt:lpstr>
      <vt:lpstr>The Problem</vt:lpstr>
      <vt:lpstr>The Solutions</vt:lpstr>
      <vt:lpstr>The Solutions</vt:lpstr>
      <vt:lpstr>PowerPoint Presentation</vt:lpstr>
      <vt:lpstr>The Solutions</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Protocol Vulnerabilities</dc:title>
  <dc:creator>Junjie Zhang</dc:creator>
  <cp:lastModifiedBy>Meilin</cp:lastModifiedBy>
  <cp:revision>1241</cp:revision>
  <dcterms:created xsi:type="dcterms:W3CDTF">2014-03-10T13:30:50Z</dcterms:created>
  <dcterms:modified xsi:type="dcterms:W3CDTF">2023-11-29T20:22:18Z</dcterms:modified>
</cp:coreProperties>
</file>