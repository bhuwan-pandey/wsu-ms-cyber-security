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8" r:id="rId3"/>
    <p:sldId id="265" r:id="rId4"/>
    <p:sldId id="262" r:id="rId5"/>
    <p:sldId id="271" r:id="rId6"/>
    <p:sldId id="398" r:id="rId7"/>
    <p:sldId id="399" r:id="rId8"/>
    <p:sldId id="400" r:id="rId9"/>
    <p:sldId id="401" r:id="rId10"/>
    <p:sldId id="402" r:id="rId11"/>
    <p:sldId id="403" r:id="rId12"/>
    <p:sldId id="272" r:id="rId13"/>
    <p:sldId id="259" r:id="rId14"/>
    <p:sldId id="267" r:id="rId15"/>
    <p:sldId id="268" r:id="rId16"/>
    <p:sldId id="269" r:id="rId17"/>
    <p:sldId id="270" r:id="rId18"/>
    <p:sldId id="273" r:id="rId19"/>
    <p:sldId id="274" r:id="rId20"/>
    <p:sldId id="275" r:id="rId21"/>
    <p:sldId id="315" r:id="rId22"/>
    <p:sldId id="309" r:id="rId23"/>
    <p:sldId id="314" r:id="rId24"/>
    <p:sldId id="263" r:id="rId25"/>
    <p:sldId id="311" r:id="rId26"/>
    <p:sldId id="312" r:id="rId27"/>
    <p:sldId id="313" r:id="rId28"/>
    <p:sldId id="317" r:id="rId29"/>
    <p:sldId id="318" r:id="rId30"/>
    <p:sldId id="319" r:id="rId31"/>
    <p:sldId id="316" r:id="rId32"/>
    <p:sldId id="320" r:id="rId33"/>
    <p:sldId id="280" r:id="rId34"/>
    <p:sldId id="281" r:id="rId35"/>
    <p:sldId id="372" r:id="rId36"/>
    <p:sldId id="373" r:id="rId37"/>
    <p:sldId id="374" r:id="rId38"/>
    <p:sldId id="375" r:id="rId39"/>
    <p:sldId id="376" r:id="rId40"/>
    <p:sldId id="377" r:id="rId41"/>
    <p:sldId id="378" r:id="rId42"/>
    <p:sldId id="276" r:id="rId43"/>
    <p:sldId id="277" r:id="rId44"/>
    <p:sldId id="379" r:id="rId45"/>
    <p:sldId id="279" r:id="rId46"/>
    <p:sldId id="380" r:id="rId47"/>
    <p:sldId id="381" r:id="rId48"/>
    <p:sldId id="382" r:id="rId49"/>
    <p:sldId id="383" r:id="rId50"/>
    <p:sldId id="386" r:id="rId51"/>
    <p:sldId id="387" r:id="rId52"/>
    <p:sldId id="388" r:id="rId53"/>
    <p:sldId id="389" r:id="rId54"/>
    <p:sldId id="278" r:id="rId55"/>
    <p:sldId id="301" r:id="rId56"/>
    <p:sldId id="302" r:id="rId57"/>
    <p:sldId id="303" r:id="rId58"/>
    <p:sldId id="304" r:id="rId59"/>
    <p:sldId id="305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197" autoAdjust="0"/>
  </p:normalViewPr>
  <p:slideViewPr>
    <p:cSldViewPr snapToGrid="0" snapToObjects="1">
      <p:cViewPr varScale="1">
        <p:scale>
          <a:sx n="60" d="100"/>
          <a:sy n="60" d="100"/>
        </p:scale>
        <p:origin x="20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42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25255-7E35-F445-B001-3B5AD29B5394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0B65E-69DD-A947-9E4D-510C56A31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27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IDS: Detecting</a:t>
            </a:r>
            <a:r>
              <a:rPr lang="en-US" baseline="0" dirty="0"/>
              <a:t> Attacks, not vulnerabilities.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7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concerned about the false positive rate. Alert received, investigations are</a:t>
            </a:r>
            <a:r>
              <a:rPr lang="en-US" baseline="0" dirty="0"/>
              <a:t> needed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When the system is set to be more sensitive, the detection rate increases, usually the false positive rate also increases.  </a:t>
            </a:r>
          </a:p>
          <a:p>
            <a:endParaRPr lang="en-US" dirty="0"/>
          </a:p>
          <a:p>
            <a:r>
              <a:rPr lang="en-US" dirty="0"/>
              <a:t>The detection rate and the false positive rate are correlated.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76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loss, Cost, power constraints</a:t>
            </a:r>
            <a:r>
              <a:rPr lang="en-US" baseline="0" dirty="0"/>
              <a:t> of the devices.</a:t>
            </a:r>
          </a:p>
          <a:p>
            <a:endParaRPr lang="en-US" baseline="0" dirty="0"/>
          </a:p>
          <a:p>
            <a:r>
              <a:rPr lang="en-US" baseline="0" dirty="0"/>
              <a:t>Apple store, google store, detecting app vulnerabilities</a:t>
            </a:r>
          </a:p>
          <a:p>
            <a:endParaRPr lang="en-US" baseline="0" dirty="0"/>
          </a:p>
          <a:p>
            <a:r>
              <a:rPr lang="en-US" baseline="0" dirty="0"/>
              <a:t>Machine learning, neural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96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12339aa3dbd_0_1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12339aa3dbd_0_1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Suppose an IDS is 99% accurate, having a 1% chance of false positives or false negatives.</a:t>
            </a:r>
          </a:p>
          <a:p>
            <a:endParaRPr lang="en-US" dirty="0"/>
          </a:p>
          <a:p>
            <a:r>
              <a:rPr lang="en-US" dirty="0"/>
              <a:t>An intrusion detection system generates 1,000,100 log entries.</a:t>
            </a:r>
          </a:p>
          <a:p>
            <a:endParaRPr lang="en-US" dirty="0"/>
          </a:p>
          <a:p>
            <a:r>
              <a:rPr lang="en-US" dirty="0"/>
              <a:t>Only 100 of the 1,000,100 entries correspond to actual malicious events.</a:t>
            </a:r>
          </a:p>
          <a:p>
            <a:endParaRPr lang="en-US" dirty="0"/>
          </a:p>
          <a:p>
            <a:r>
              <a:rPr lang="en-US" dirty="0"/>
              <a:t>Because of the success rate of the IDS, of the 100 malicious events, 99 will be detected as malicious, </a:t>
            </a:r>
          </a:p>
          <a:p>
            <a:r>
              <a:rPr lang="en-US" dirty="0"/>
              <a:t>which means we have 1 false negative.</a:t>
            </a:r>
          </a:p>
          <a:p>
            <a:endParaRPr lang="en-US" dirty="0"/>
          </a:p>
          <a:p>
            <a:r>
              <a:rPr lang="en-US" dirty="0"/>
              <a:t>Nevertheless, of the 1,000,000 benign events, 10,000 will be mistakenly identified as malicious. </a:t>
            </a:r>
          </a:p>
          <a:p>
            <a:r>
              <a:rPr lang="en-US" dirty="0"/>
              <a:t>That is, we have 10,000 false positives!</a:t>
            </a:r>
          </a:p>
          <a:p>
            <a:endParaRPr lang="en-US" dirty="0"/>
          </a:p>
          <a:p>
            <a:r>
              <a:rPr lang="en-US" dirty="0"/>
              <a:t>Thus, there will be 10,099 alarms sounded, 10,000 of which are false alarms. That is, roughly 99% of our </a:t>
            </a:r>
          </a:p>
          <a:p>
            <a:r>
              <a:rPr lang="en-US" dirty="0"/>
              <a:t>alarms are false alarms.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7102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12339aa3dbd_0_1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12339aa3dbd_0_1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Suppose an IDS is 99% accurate, having a 1% chance of false positives or false negatives.</a:t>
            </a:r>
          </a:p>
          <a:p>
            <a:endParaRPr lang="en-US" dirty="0"/>
          </a:p>
          <a:p>
            <a:r>
              <a:rPr lang="en-US" dirty="0"/>
              <a:t>An intrusion detection system generates 1,000,100 log entries.</a:t>
            </a:r>
          </a:p>
          <a:p>
            <a:endParaRPr lang="en-US" dirty="0"/>
          </a:p>
          <a:p>
            <a:r>
              <a:rPr lang="en-US" dirty="0"/>
              <a:t>Only 100 of the 1,000,100 entries correspond to actual malicious events.</a:t>
            </a:r>
          </a:p>
          <a:p>
            <a:endParaRPr lang="en-US" dirty="0"/>
          </a:p>
          <a:p>
            <a:r>
              <a:rPr lang="en-US" dirty="0"/>
              <a:t>Because of the success rate of the IDS, of the 100 malicious events, 99 will be detected as malicious, </a:t>
            </a:r>
          </a:p>
          <a:p>
            <a:r>
              <a:rPr lang="en-US" dirty="0"/>
              <a:t>which means we have 1 false negative.</a:t>
            </a:r>
          </a:p>
          <a:p>
            <a:endParaRPr lang="en-US" dirty="0"/>
          </a:p>
          <a:p>
            <a:r>
              <a:rPr lang="en-US" dirty="0"/>
              <a:t>Nevertheless, of the 1,000,000 benign events, 10,000 will be mistakenly identified as malicious. </a:t>
            </a:r>
          </a:p>
          <a:p>
            <a:r>
              <a:rPr lang="en-US" dirty="0"/>
              <a:t>That is, we have 10,000 false positives!</a:t>
            </a:r>
          </a:p>
          <a:p>
            <a:endParaRPr lang="en-US" dirty="0"/>
          </a:p>
          <a:p>
            <a:r>
              <a:rPr lang="en-US" dirty="0"/>
              <a:t>Thus, there will be 10,099 alarms sounded, 10,000 of which are false alarms. That is, roughly 99% of our </a:t>
            </a:r>
          </a:p>
          <a:p>
            <a:r>
              <a:rPr lang="en-US" dirty="0"/>
              <a:t>alarms are false alarms.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4416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12339aa3dbd_0_1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12339aa3dbd_0_1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575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2339aa3dbd_0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12339aa3dbd_0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830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of the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87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Misuse Detection: Signatures</a:t>
            </a:r>
            <a:r>
              <a:rPr lang="en-US" baseline="0" dirty="0"/>
              <a:t> based attack detection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Experts manually extract the signatures of attacks.</a:t>
            </a:r>
          </a:p>
          <a:p>
            <a:endParaRPr lang="en-US" dirty="0"/>
          </a:p>
          <a:p>
            <a:r>
              <a:rPr lang="en-US" dirty="0"/>
              <a:t>Disadvantage:</a:t>
            </a:r>
            <a:r>
              <a:rPr lang="en-US" baseline="0" dirty="0"/>
              <a:t> </a:t>
            </a:r>
            <a:r>
              <a:rPr lang="en-US" dirty="0"/>
              <a:t>It</a:t>
            </a:r>
            <a:r>
              <a:rPr lang="en-US" baseline="0" dirty="0"/>
              <a:t> cannot detect new attacks.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73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Advantage:</a:t>
            </a:r>
            <a:r>
              <a:rPr lang="en-US" baseline="0" dirty="0"/>
              <a:t> </a:t>
            </a:r>
            <a:r>
              <a:rPr lang="en-US" dirty="0"/>
              <a:t>It</a:t>
            </a:r>
            <a:r>
              <a:rPr lang="en-US" baseline="0" dirty="0"/>
              <a:t> can detect new attacks.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78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Relatively high false positive rate in practical deployment</a:t>
            </a:r>
          </a:p>
          <a:p>
            <a:pPr lvl="1"/>
            <a:r>
              <a:rPr lang="en-US" dirty="0"/>
              <a:t>Benign behaviors could be very dynamic: anomalies can just be new normal activities</a:t>
            </a:r>
          </a:p>
          <a:p>
            <a:pPr lvl="1"/>
            <a:r>
              <a:rPr lang="en-US" dirty="0"/>
              <a:t>Anomalies caused by other element faults instead of attacks (e.g., misconfiguration, system failures…)</a:t>
            </a:r>
          </a:p>
          <a:p>
            <a:r>
              <a:rPr lang="en-US" dirty="0"/>
              <a:t>Provides little information for reaction </a:t>
            </a:r>
          </a:p>
          <a:p>
            <a:pPr lvl="1"/>
            <a:r>
              <a:rPr lang="en-US" dirty="0"/>
              <a:t>What is the type of this anomaly? Hard to know from an anomaly detection system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70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Relatively high false positive rate in practical deployment</a:t>
            </a:r>
          </a:p>
          <a:p>
            <a:pPr lvl="1"/>
            <a:r>
              <a:rPr lang="en-US" dirty="0"/>
              <a:t>Benign behaviors could be very dynamic: anomalies can just be new normal activities</a:t>
            </a:r>
          </a:p>
          <a:p>
            <a:pPr lvl="1"/>
            <a:r>
              <a:rPr lang="en-US" dirty="0"/>
              <a:t>Anomalies caused by other element faults instead of attacks (e.g., misconfiguration, system failures…)</a:t>
            </a:r>
          </a:p>
          <a:p>
            <a:r>
              <a:rPr lang="en-US" dirty="0"/>
              <a:t>Provides little information for reaction </a:t>
            </a:r>
          </a:p>
          <a:p>
            <a:pPr lvl="1"/>
            <a:r>
              <a:rPr lang="en-US" dirty="0"/>
              <a:t>What is the type of this anomaly? Hard to know from an anomaly detection system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70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Snort:</a:t>
            </a:r>
            <a:r>
              <a:rPr lang="en-US" baseline="0" dirty="0"/>
              <a:t> </a:t>
            </a:r>
            <a:r>
              <a:rPr lang="en-US" baseline="0"/>
              <a:t>light weight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979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Packet Sniffer</a:t>
            </a:r>
          </a:p>
          <a:p>
            <a:pPr lvl="1"/>
            <a:r>
              <a:rPr lang="en-US" dirty="0"/>
              <a:t>Taps into network</a:t>
            </a:r>
          </a:p>
          <a:p>
            <a:r>
              <a:rPr lang="en-US" dirty="0"/>
              <a:t>Preprocessor</a:t>
            </a:r>
          </a:p>
          <a:p>
            <a:pPr lvl="1"/>
            <a:r>
              <a:rPr lang="en-US" dirty="0"/>
              <a:t>Checks against plug-ins</a:t>
            </a:r>
          </a:p>
          <a:p>
            <a:pPr lvl="2"/>
            <a:r>
              <a:rPr lang="en-US" dirty="0"/>
              <a:t>RPC plug-in</a:t>
            </a:r>
          </a:p>
          <a:p>
            <a:pPr lvl="2"/>
            <a:r>
              <a:rPr lang="en-US" dirty="0"/>
              <a:t>Port scanner plug-in</a:t>
            </a:r>
          </a:p>
          <a:p>
            <a:pPr lvl="2"/>
            <a:r>
              <a:rPr lang="en-US" dirty="0"/>
              <a:t>…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Detection Engine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Snort is a signature-based IDS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Implemented via rule-sets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Rules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Consists of rule header 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Action to take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Type of packet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Source, destination IP address 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…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And rule option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Content of package that should make the packet match the rule</a:t>
            </a:r>
          </a:p>
          <a:p>
            <a:pPr lvl="3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dirty="0"/>
              <a:t>Snort Alerting</a:t>
            </a:r>
          </a:p>
          <a:p>
            <a:pPr>
              <a:lnSpc>
                <a:spcPct val="90000"/>
              </a:lnSpc>
            </a:pPr>
            <a:r>
              <a:rPr lang="en-US" dirty="0"/>
              <a:t>Incoming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interesting packets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are sent to log files.</a:t>
            </a:r>
          </a:p>
          <a:p>
            <a:pPr>
              <a:lnSpc>
                <a:spcPct val="90000"/>
              </a:lnSpc>
            </a:pPr>
            <a:r>
              <a:rPr lang="en-US" dirty="0"/>
              <a:t>Also sent to various Add-ons</a:t>
            </a:r>
          </a:p>
          <a:p>
            <a:pPr lvl="1">
              <a:lnSpc>
                <a:spcPct val="90000"/>
              </a:lnSpc>
            </a:pPr>
            <a:r>
              <a:rPr lang="en-US" dirty="0" err="1"/>
              <a:t>SnortSnarf</a:t>
            </a:r>
            <a:r>
              <a:rPr lang="en-US" dirty="0"/>
              <a:t> (diagnostics with html output)</a:t>
            </a:r>
          </a:p>
          <a:p>
            <a:pPr lvl="1">
              <a:lnSpc>
                <a:spcPct val="90000"/>
              </a:lnSpc>
            </a:pPr>
            <a:r>
              <a:rPr lang="en-US" dirty="0" err="1"/>
              <a:t>SnortPlot</a:t>
            </a:r>
            <a:r>
              <a:rPr lang="en-US" dirty="0"/>
              <a:t> (Perl script that plots attacks)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Swatch (provides email alerts).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…</a:t>
            </a:r>
          </a:p>
          <a:p>
            <a:pPr lvl="3">
              <a:lnSpc>
                <a:spcPct val="90000"/>
              </a:lnSpc>
            </a:pPr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59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Detection </a:t>
            </a:r>
            <a:r>
              <a:rPr lang="en-US"/>
              <a:t>Engine : applies </a:t>
            </a:r>
            <a:r>
              <a:rPr lang="en-US" dirty="0"/>
              <a:t>rules to packets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29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usually placed in </a:t>
            </a:r>
            <a:r>
              <a:rPr lang="en-US" dirty="0" err="1"/>
              <a:t>snort.conf</a:t>
            </a:r>
            <a:r>
              <a:rPr lang="en-US" dirty="0"/>
              <a:t> file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220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/>
              <a:t>(  ): Rule option is placed in parentheses.</a:t>
            </a:r>
          </a:p>
          <a:p>
            <a:endParaRPr lang="en-US" dirty="0"/>
          </a:p>
          <a:p>
            <a:r>
              <a:rPr lang="en-US" dirty="0"/>
              <a:t>Actions:</a:t>
            </a:r>
            <a:r>
              <a:rPr lang="en-US" baseline="0" dirty="0"/>
              <a:t> log, alert, pass, Drop, Reject,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28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All rules are part of a revision process to limit false positives and detect new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00B65E-69DD-A947-9E4D-510C56A319E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16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</a:t>
            </a:r>
            <a:r>
              <a:rPr lang="en-US" baseline="0" dirty="0"/>
              <a:t> Phase</a:t>
            </a:r>
          </a:p>
          <a:p>
            <a:r>
              <a:rPr lang="en-US" baseline="0" dirty="0"/>
              <a:t>Testing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53C5C6-1586-944C-B8CA-E66F27D1B17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4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5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2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6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06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0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25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6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27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102700" y="3611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98500" y="1662433"/>
            <a:ext cx="8520600" cy="50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18275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Optional">
  <p:cSld name="Title and body - Optional">
    <p:bg>
      <p:bgPr>
        <a:solidFill>
          <a:srgbClr val="A4C2F4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102700" y="3611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198500" y="1662433"/>
            <a:ext cx="8520600" cy="50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8086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Optional">
  <p:cSld name="Title only - Optional">
    <p:bg>
      <p:bgPr>
        <a:solidFill>
          <a:srgbClr val="A4C2F4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102700" y="3611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087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C7110-5839-3A47-AE52-8062D873471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BF7DB-D89E-5441-80FF-311616FDC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wmf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nort.org/snort-d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7.gi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microsoft.com/office/2007/relationships/hdphoto" Target="../media/hdphoto3.wdp"/><Relationship Id="rId4" Type="http://schemas.microsoft.com/office/2007/relationships/hdphoto" Target="../media/hdphoto2.wdp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malware.com" TargetMode="External"/></Relationships>
</file>

<file path=ppt/slides/_rels/slide57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microsoft.com/office/2007/relationships/hdphoto" Target="../media/hdphoto6.wdp"/><Relationship Id="rId7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9.wdp"/><Relationship Id="rId5" Type="http://schemas.microsoft.com/office/2007/relationships/hdphoto" Target="../media/hdphoto8.wdp"/><Relationship Id="rId4" Type="http://schemas.microsoft.com/office/2007/relationships/hdphoto" Target="../media/hdphoto7.wdp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Network Intrusion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altLang="en-US" dirty="0">
                <a:solidFill>
                  <a:schemeClr val="tx1"/>
                </a:solidFill>
              </a:rPr>
              <a:t>This lecture is mainly based on the </a:t>
            </a:r>
            <a:r>
              <a:rPr lang="en-US" altLang="en-US" dirty="0" err="1">
                <a:solidFill>
                  <a:schemeClr val="tx1"/>
                </a:solidFill>
              </a:rPr>
              <a:t>powerpoint</a:t>
            </a:r>
            <a:r>
              <a:rPr lang="en-US" altLang="en-US" dirty="0">
                <a:solidFill>
                  <a:schemeClr val="tx1"/>
                </a:solidFill>
              </a:rPr>
              <a:t> slides by Prof. Mark Stamp, Prof. Lawrie Brown,  Dr. </a:t>
            </a:r>
            <a:r>
              <a:rPr lang="en-US" altLang="en-US" dirty="0" err="1">
                <a:solidFill>
                  <a:schemeClr val="tx1"/>
                </a:solidFill>
              </a:rPr>
              <a:t>Junjie</a:t>
            </a:r>
            <a:r>
              <a:rPr lang="en-US" altLang="en-US" dirty="0">
                <a:solidFill>
                  <a:schemeClr val="tx1"/>
                </a:solidFill>
              </a:rPr>
              <a:t> Zhang, Mr. Vance Sanders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Intrusion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Intrusion ≈ Attacks</a:t>
            </a:r>
          </a:p>
          <a:p>
            <a:pPr lvl="1"/>
            <a:r>
              <a:rPr lang="en-US" dirty="0"/>
              <a:t>Activities whose objective is to compromise the security properties of a target system</a:t>
            </a:r>
          </a:p>
          <a:p>
            <a:pPr lvl="2"/>
            <a:r>
              <a:rPr lang="en-US" dirty="0"/>
              <a:t>Scanning to discover vulnerable services</a:t>
            </a:r>
          </a:p>
          <a:p>
            <a:pPr lvl="2"/>
            <a:r>
              <a:rPr lang="en-US" dirty="0"/>
              <a:t>Exploiting the discovered vulnerability</a:t>
            </a:r>
          </a:p>
          <a:p>
            <a:pPr lvl="2"/>
            <a:r>
              <a:rPr lang="en-US" dirty="0"/>
              <a:t>Running malicious logic in a target system</a:t>
            </a:r>
          </a:p>
          <a:p>
            <a:pPr lvl="2"/>
            <a:r>
              <a:rPr lang="en-US" dirty="0"/>
              <a:t>Attempting to break into a computer by trying a large number of passwords</a:t>
            </a:r>
          </a:p>
          <a:p>
            <a:r>
              <a:rPr lang="en-US" dirty="0"/>
              <a:t>Intrusion Detection</a:t>
            </a:r>
          </a:p>
          <a:p>
            <a:pPr lvl="1"/>
            <a:r>
              <a:rPr lang="en-US" dirty="0"/>
              <a:t>Detecting intrusion activities</a:t>
            </a:r>
          </a:p>
        </p:txBody>
      </p:sp>
    </p:spTree>
    <p:extLst>
      <p:ext uri="{BB962C8B-B14F-4D97-AF65-F5344CB8AC3E}">
        <p14:creationId xmlns:p14="http://schemas.microsoft.com/office/powerpoint/2010/main" val="403694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High-Level Overview of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9123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Intrusion Detection System (IDS)</a:t>
            </a:r>
          </a:p>
          <a:p>
            <a:pPr lvl="1"/>
            <a:r>
              <a:rPr lang="en-US" dirty="0"/>
              <a:t>The system that performs intrusion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90490" y="3620834"/>
            <a:ext cx="1387548" cy="1128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IDS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1215080" y="3656167"/>
            <a:ext cx="1046459" cy="1093459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Parallelogram 5"/>
          <p:cNvSpPr/>
          <p:nvPr/>
        </p:nvSpPr>
        <p:spPr>
          <a:xfrm>
            <a:off x="5588918" y="2762535"/>
            <a:ext cx="1046459" cy="1093459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Parallelogram 6"/>
          <p:cNvSpPr/>
          <p:nvPr/>
        </p:nvSpPr>
        <p:spPr>
          <a:xfrm>
            <a:off x="5423828" y="4438056"/>
            <a:ext cx="1046459" cy="1093459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" name="Straight Arrow Connector 7"/>
          <p:cNvCxnSpPr>
            <a:stCxn id="5" idx="2"/>
            <a:endCxn id="4" idx="1"/>
          </p:cNvCxnSpPr>
          <p:nvPr/>
        </p:nvCxnSpPr>
        <p:spPr>
          <a:xfrm flipV="1">
            <a:off x="2130732" y="4185230"/>
            <a:ext cx="1059758" cy="1766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6" idx="5"/>
          </p:cNvCxnSpPr>
          <p:nvPr/>
        </p:nvCxnSpPr>
        <p:spPr>
          <a:xfrm flipV="1">
            <a:off x="4578038" y="3309265"/>
            <a:ext cx="1141687" cy="8759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3"/>
            <a:endCxn id="7" idx="5"/>
          </p:cNvCxnSpPr>
          <p:nvPr/>
        </p:nvCxnSpPr>
        <p:spPr>
          <a:xfrm>
            <a:off x="4578038" y="4185230"/>
            <a:ext cx="976597" cy="7995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556007" y="3750170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56007" y="3925615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44249" y="4101531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32023" y="4277447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532023" y="4461130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18087" y="3092461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18087" y="3309265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719725" y="4712980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07967" y="4888896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695741" y="5064812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355612" y="377370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4953" y="323355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98" y="3183389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0603" y="3013619"/>
            <a:ext cx="1909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Intrusion 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287" y="4749626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Benign activities</a:t>
            </a:r>
          </a:p>
        </p:txBody>
      </p:sp>
    </p:spTree>
    <p:extLst>
      <p:ext uri="{BB962C8B-B14F-4D97-AF65-F5344CB8AC3E}">
        <p14:creationId xmlns:p14="http://schemas.microsoft.com/office/powerpoint/2010/main" val="246176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4987" y="2614727"/>
            <a:ext cx="1387548" cy="112879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IDS</a:t>
            </a:r>
          </a:p>
        </p:txBody>
      </p:sp>
      <p:sp>
        <p:nvSpPr>
          <p:cNvPr id="5" name="Parallelogram 4"/>
          <p:cNvSpPr/>
          <p:nvPr/>
        </p:nvSpPr>
        <p:spPr>
          <a:xfrm>
            <a:off x="1339577" y="2514813"/>
            <a:ext cx="1046459" cy="1328619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Parallelogram 5"/>
          <p:cNvSpPr/>
          <p:nvPr/>
        </p:nvSpPr>
        <p:spPr>
          <a:xfrm>
            <a:off x="5713415" y="1756428"/>
            <a:ext cx="1046459" cy="1093459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Parallelogram 6"/>
          <p:cNvSpPr/>
          <p:nvPr/>
        </p:nvSpPr>
        <p:spPr>
          <a:xfrm>
            <a:off x="5548325" y="3431949"/>
            <a:ext cx="1046459" cy="1093459"/>
          </a:xfrm>
          <a:prstGeom prst="parallelogram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" name="Straight Arrow Connector 7"/>
          <p:cNvCxnSpPr>
            <a:stCxn id="5" idx="2"/>
            <a:endCxn id="4" idx="1"/>
          </p:cNvCxnSpPr>
          <p:nvPr/>
        </p:nvCxnSpPr>
        <p:spPr>
          <a:xfrm>
            <a:off x="2255229" y="3179123"/>
            <a:ext cx="105975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endCxn id="6" idx="5"/>
          </p:cNvCxnSpPr>
          <p:nvPr/>
        </p:nvCxnSpPr>
        <p:spPr>
          <a:xfrm flipV="1">
            <a:off x="4702535" y="2303158"/>
            <a:ext cx="1141687" cy="8759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3"/>
            <a:endCxn id="7" idx="5"/>
          </p:cNvCxnSpPr>
          <p:nvPr/>
        </p:nvCxnSpPr>
        <p:spPr>
          <a:xfrm>
            <a:off x="4702535" y="3179123"/>
            <a:ext cx="976597" cy="7995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680504" y="2744063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680504" y="2919508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668746" y="3095424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656520" y="3271340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56520" y="3455023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055882" y="1874168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055882" y="2026544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844222" y="3706873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832464" y="3882789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820238" y="4058705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2480109" y="27675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9450" y="222745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95" y="2103103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Observed 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6373" y="1294763"/>
            <a:ext cx="1909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Intrusion activities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9544" y="4473788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Benign activities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4124" y="2204926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1609214" y="3442722"/>
            <a:ext cx="51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9806" y="2361528"/>
            <a:ext cx="423320" cy="1058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812200" y="4244581"/>
            <a:ext cx="423320" cy="1058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/>
          <p:cNvSpPr/>
          <p:nvPr/>
        </p:nvSpPr>
        <p:spPr>
          <a:xfrm>
            <a:off x="6826554" y="1874168"/>
            <a:ext cx="113817" cy="2582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/>
          <p:cNvSpPr/>
          <p:nvPr/>
        </p:nvSpPr>
        <p:spPr>
          <a:xfrm>
            <a:off x="6823342" y="2204926"/>
            <a:ext cx="113817" cy="2582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Brace 31"/>
          <p:cNvSpPr/>
          <p:nvPr/>
        </p:nvSpPr>
        <p:spPr>
          <a:xfrm>
            <a:off x="6594784" y="3743519"/>
            <a:ext cx="113817" cy="42101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Brace 32"/>
          <p:cNvSpPr/>
          <p:nvPr/>
        </p:nvSpPr>
        <p:spPr>
          <a:xfrm>
            <a:off x="6593413" y="4219249"/>
            <a:ext cx="107149" cy="152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027753" y="1795326"/>
            <a:ext cx="1198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positives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7432" y="2134462"/>
            <a:ext cx="1381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 positives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6553" y="3766005"/>
            <a:ext cx="1399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True Negatives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2630" y="4105105"/>
            <a:ext cx="1399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False Negatives</a:t>
            </a:r>
          </a:p>
        </p:txBody>
      </p:sp>
      <p:sp>
        <p:nvSpPr>
          <p:cNvPr id="39" name="Content Placeholder 2"/>
          <p:cNvSpPr txBox="1">
            <a:spLocks/>
          </p:cNvSpPr>
          <p:nvPr/>
        </p:nvSpPr>
        <p:spPr>
          <a:xfrm>
            <a:off x="654650" y="4843120"/>
            <a:ext cx="8229600" cy="103842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False Positives (FP): Benign activities that are falsely identified as attacks</a:t>
            </a:r>
          </a:p>
          <a:p>
            <a:r>
              <a:rPr lang="en-US" dirty="0"/>
              <a:t>False Negatives (FN): Intrusion activities that are falsely identified as benign activities </a:t>
            </a:r>
          </a:p>
          <a:p>
            <a:r>
              <a:rPr lang="en-US" dirty="0"/>
              <a:t>True Positives (TP): Intrusion activities that are correctly identified as malicious activities</a:t>
            </a:r>
          </a:p>
          <a:p>
            <a:r>
              <a:rPr lang="en-US" dirty="0"/>
              <a:t>True Negatives (TN): Benign activities that are correctly identified as benign activities</a:t>
            </a:r>
          </a:p>
        </p:txBody>
      </p:sp>
      <p:sp>
        <p:nvSpPr>
          <p:cNvPr id="40" name="Content Placeholder 2"/>
          <p:cNvSpPr txBox="1">
            <a:spLocks/>
          </p:cNvSpPr>
          <p:nvPr/>
        </p:nvSpPr>
        <p:spPr bwMode="auto">
          <a:xfrm>
            <a:off x="2689382" y="5881543"/>
            <a:ext cx="4004594" cy="77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Detection Rate: TP/(TP+FN)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False Positive Rate: FP/(FP+TN)</a:t>
            </a:r>
          </a:p>
        </p:txBody>
      </p:sp>
    </p:spTree>
    <p:extLst>
      <p:ext uri="{BB962C8B-B14F-4D97-AF65-F5344CB8AC3E}">
        <p14:creationId xmlns:p14="http://schemas.microsoft.com/office/powerpoint/2010/main" val="2986738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of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770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Effectiveness</a:t>
            </a:r>
          </a:p>
          <a:p>
            <a:pPr lvl="1"/>
            <a:r>
              <a:rPr lang="en-US" dirty="0"/>
              <a:t>High detection rates</a:t>
            </a:r>
          </a:p>
          <a:p>
            <a:pPr lvl="1"/>
            <a:r>
              <a:rPr lang="en-US" dirty="0"/>
              <a:t>low false positive rates</a:t>
            </a:r>
          </a:p>
          <a:p>
            <a:r>
              <a:rPr lang="en-US" dirty="0"/>
              <a:t>Efficiency</a:t>
            </a:r>
          </a:p>
          <a:p>
            <a:pPr lvl="1"/>
            <a:r>
              <a:rPr lang="en-US" dirty="0"/>
              <a:t>The throughput of IDS, the scalability?</a:t>
            </a:r>
          </a:p>
          <a:p>
            <a:pPr lvl="1"/>
            <a:r>
              <a:rPr lang="en-US" dirty="0"/>
              <a:t>The impact on the system performance?</a:t>
            </a:r>
          </a:p>
          <a:p>
            <a:r>
              <a:rPr lang="en-US" dirty="0"/>
              <a:t>Resilience to attacks</a:t>
            </a:r>
          </a:p>
          <a:p>
            <a:pPr lvl="1"/>
            <a:r>
              <a:rPr lang="en-US" dirty="0"/>
              <a:t>IDS can be the target of attackers</a:t>
            </a:r>
          </a:p>
          <a:p>
            <a:pPr lvl="1"/>
            <a:r>
              <a:rPr lang="en-US" dirty="0"/>
              <a:t>How hard is it for an attacker to evade the IDS?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9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118"/>
          <p:cNvSpPr txBox="1">
            <a:spLocks noGrp="1"/>
          </p:cNvSpPr>
          <p:nvPr>
            <p:ph type="title"/>
          </p:nvPr>
        </p:nvSpPr>
        <p:spPr>
          <a:xfrm>
            <a:off x="1680488" y="339231"/>
            <a:ext cx="47741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/>
            <a:r>
              <a:rPr lang="en" dirty="0">
                <a:solidFill>
                  <a:srgbClr val="C00000"/>
                </a:solidFill>
              </a:rPr>
              <a:t>Detection Tradeoffs</a:t>
            </a:r>
            <a:endParaRPr dirty="0">
              <a:solidFill>
                <a:srgbClr val="C00000"/>
              </a:solidFill>
            </a:endParaRPr>
          </a:p>
        </p:txBody>
      </p:sp>
      <p:sp>
        <p:nvSpPr>
          <p:cNvPr id="1147" name="Google Shape;1147;p118"/>
          <p:cNvSpPr txBox="1">
            <a:spLocks noGrp="1"/>
          </p:cNvSpPr>
          <p:nvPr>
            <p:ph type="body" idx="1"/>
          </p:nvPr>
        </p:nvSpPr>
        <p:spPr>
          <a:xfrm>
            <a:off x="500558" y="1225534"/>
            <a:ext cx="8520600" cy="3765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114300" indent="0">
              <a:buNone/>
            </a:pPr>
            <a:r>
              <a:rPr lang="en" sz="2400" dirty="0"/>
              <a:t>The art of a good detector is achieving an effective balance between false positives and false negatives</a:t>
            </a:r>
            <a:endParaRPr sz="2400" dirty="0"/>
          </a:p>
          <a:p>
            <a:pPr marL="114300" indent="0">
              <a:buNone/>
            </a:pPr>
            <a:r>
              <a:rPr lang="en" sz="2400" dirty="0"/>
              <a:t>The quality of the detector depends on the system you’re using it on</a:t>
            </a:r>
            <a:endParaRPr sz="2400" dirty="0"/>
          </a:p>
          <a:p>
            <a:pPr marL="596900" lvl="1" indent="0">
              <a:buNone/>
            </a:pPr>
            <a:r>
              <a:rPr lang="en" sz="2000" dirty="0"/>
              <a:t>What is the rate of attacks on your system?</a:t>
            </a:r>
            <a:endParaRPr sz="2000" dirty="0"/>
          </a:p>
          <a:p>
            <a:pPr marL="596900" lvl="1" indent="0">
              <a:buNone/>
            </a:pPr>
            <a:r>
              <a:rPr lang="en" sz="2000" dirty="0"/>
              <a:t>How much does a false positive cost in your system?</a:t>
            </a:r>
            <a:endParaRPr sz="2000" dirty="0"/>
          </a:p>
          <a:p>
            <a:pPr marL="596900" lvl="1" indent="0">
              <a:buNone/>
            </a:pPr>
            <a:r>
              <a:rPr lang="en" sz="2000" dirty="0"/>
              <a:t>How much does a false negative cost in your system?</a:t>
            </a:r>
            <a:endParaRPr sz="2000" dirty="0"/>
          </a:p>
          <a:p>
            <a:pPr marL="114300" indent="0">
              <a:buNone/>
            </a:pPr>
            <a:r>
              <a:rPr lang="en" sz="2400" dirty="0"/>
              <a:t>Example of cost analysis: Fire alarms</a:t>
            </a:r>
            <a:endParaRPr sz="2400" dirty="0"/>
          </a:p>
          <a:p>
            <a:pPr marL="596900" lvl="1" indent="0">
              <a:buNone/>
            </a:pPr>
            <a:r>
              <a:rPr lang="en" sz="2000" dirty="0"/>
              <a:t>Which is better: a very low false positive rate or a very low false negative rate?</a:t>
            </a:r>
            <a:endParaRPr sz="2000" dirty="0"/>
          </a:p>
          <a:p>
            <a:pPr marL="596900" lvl="1" indent="0">
              <a:buNone/>
            </a:pPr>
            <a:r>
              <a:rPr lang="en" sz="2000" dirty="0"/>
              <a:t>Cost of a false positive: The fire department needs to inspect the building</a:t>
            </a:r>
            <a:endParaRPr sz="2000" dirty="0"/>
          </a:p>
          <a:p>
            <a:pPr marL="596900" lvl="1" indent="0">
              <a:buNone/>
            </a:pPr>
            <a:r>
              <a:rPr lang="en" sz="2000" dirty="0"/>
              <a:t>Cost of a false negative: The building burns down</a:t>
            </a:r>
            <a:endParaRPr sz="2000" dirty="0"/>
          </a:p>
          <a:p>
            <a:pPr marL="596900" lvl="1" indent="0">
              <a:buNone/>
            </a:pPr>
            <a:r>
              <a:rPr lang="en" sz="2000" dirty="0"/>
              <a:t>In this situation, false negatives are much more expensive!</a:t>
            </a:r>
            <a:endParaRPr sz="2000" dirty="0"/>
          </a:p>
          <a:p>
            <a:pPr marL="596900" lvl="1" indent="0">
              <a:buNone/>
            </a:pPr>
            <a:r>
              <a:rPr lang="en" sz="2000" dirty="0"/>
              <a:t>We want a detector with a low false negative rate</a:t>
            </a:r>
            <a:endParaRPr sz="2000" dirty="0"/>
          </a:p>
        </p:txBody>
      </p:sp>
      <p:sp>
        <p:nvSpPr>
          <p:cNvPr id="1148" name="Google Shape;1148;p11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517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19"/>
          <p:cNvSpPr txBox="1">
            <a:spLocks noGrp="1"/>
          </p:cNvSpPr>
          <p:nvPr>
            <p:ph type="title"/>
          </p:nvPr>
        </p:nvSpPr>
        <p:spPr>
          <a:xfrm>
            <a:off x="1946244" y="303372"/>
            <a:ext cx="5025112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/>
            <a:r>
              <a:rPr lang="en" dirty="0"/>
              <a:t>Detection Tradeoffs</a:t>
            </a:r>
            <a:endParaRPr dirty="0"/>
          </a:p>
        </p:txBody>
      </p:sp>
      <p:sp>
        <p:nvSpPr>
          <p:cNvPr id="1154" name="Google Shape;1154;p119"/>
          <p:cNvSpPr txBox="1">
            <a:spLocks noGrp="1"/>
          </p:cNvSpPr>
          <p:nvPr>
            <p:ph type="body" idx="1"/>
          </p:nvPr>
        </p:nvSpPr>
        <p:spPr>
          <a:xfrm>
            <a:off x="226208" y="1153816"/>
            <a:ext cx="8520600" cy="3765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en" sz="3400" dirty="0"/>
              <a:t>Example of changing the base rate of attacks</a:t>
            </a:r>
          </a:p>
          <a:p>
            <a:pPr marL="571500" lvl="1" indent="0">
              <a:buNone/>
            </a:pPr>
            <a:r>
              <a:rPr lang="en" dirty="0"/>
              <a:t>Consider a detector with a 0.1% false positive rate (for every 1,000 non-attacks, there is one mistaken alert)</a:t>
            </a:r>
            <a:endParaRPr dirty="0"/>
          </a:p>
          <a:p>
            <a:pPr marL="596900" lvl="1" indent="0">
              <a:buNone/>
            </a:pPr>
            <a:r>
              <a:rPr lang="en" dirty="0"/>
              <a:t>Scenario #1: Our server receives 1,000 non-attacks and 5 attacks per day</a:t>
            </a:r>
            <a:endParaRPr dirty="0"/>
          </a:p>
          <a:p>
            <a:pPr marL="1054100" lvl="2" indent="0">
              <a:buNone/>
            </a:pPr>
            <a:r>
              <a:rPr lang="en" dirty="0"/>
              <a:t>Expected number of false positives per day: 1,000 × 0.1% = 1</a:t>
            </a:r>
            <a:endParaRPr dirty="0"/>
          </a:p>
          <a:p>
            <a:pPr marL="596900" lvl="1" indent="0">
              <a:buNone/>
            </a:pPr>
            <a:r>
              <a:rPr lang="en" dirty="0"/>
              <a:t>Scenario #2: Our server receives 10,000,000 non-attacks and 5 attacks per day</a:t>
            </a:r>
            <a:endParaRPr dirty="0"/>
          </a:p>
          <a:p>
            <a:pPr marL="1054100" lvl="2" indent="0">
              <a:buNone/>
            </a:pPr>
            <a:r>
              <a:rPr lang="en" dirty="0"/>
              <a:t>Expected number of false positives per day: 10,000,000 × 0.1% = 10,000</a:t>
            </a:r>
            <a:endParaRPr dirty="0"/>
          </a:p>
          <a:p>
            <a:pPr marL="1054100" lvl="2" indent="0">
              <a:buNone/>
            </a:pPr>
            <a:r>
              <a:rPr lang="en" dirty="0"/>
              <a:t>Possibly expensive if the false positives cost money to investigate</a:t>
            </a:r>
            <a:endParaRPr dirty="0"/>
          </a:p>
          <a:p>
            <a:pPr marL="1054100" lvl="2" indent="0">
              <a:buNone/>
            </a:pPr>
            <a:r>
              <a:rPr lang="en" dirty="0"/>
              <a:t>Example: Maybe a human has to manually examine 10,000 requests per day </a:t>
            </a:r>
            <a:endParaRPr dirty="0"/>
          </a:p>
          <a:p>
            <a:pPr marL="596900" lvl="1" indent="0">
              <a:buNone/>
            </a:pPr>
            <a:r>
              <a:rPr lang="en" dirty="0"/>
              <a:t>Nothing changed about the detector: Only our environment changed</a:t>
            </a:r>
            <a:endParaRPr dirty="0"/>
          </a:p>
          <a:p>
            <a:pPr marL="114300" indent="0">
              <a:buNone/>
            </a:pPr>
            <a:r>
              <a:rPr lang="en" b="1" dirty="0"/>
              <a:t>Takeaway</a:t>
            </a:r>
            <a:r>
              <a:rPr lang="en" dirty="0"/>
              <a:t>: Accurate detection is very challenging if the base rate of attacks is low!</a:t>
            </a:r>
            <a:endParaRPr dirty="0"/>
          </a:p>
        </p:txBody>
      </p:sp>
      <p:sp>
        <p:nvSpPr>
          <p:cNvPr id="1155" name="Google Shape;1155;p119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151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20"/>
          <p:cNvSpPr txBox="1">
            <a:spLocks noGrp="1"/>
          </p:cNvSpPr>
          <p:nvPr>
            <p:ph type="title"/>
          </p:nvPr>
        </p:nvSpPr>
        <p:spPr>
          <a:xfrm>
            <a:off x="2148001" y="390642"/>
            <a:ext cx="493546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/>
            <a:r>
              <a:rPr lang="en" dirty="0"/>
              <a:t>Detection Tradeoffs</a:t>
            </a:r>
            <a:endParaRPr dirty="0"/>
          </a:p>
        </p:txBody>
      </p:sp>
      <p:sp>
        <p:nvSpPr>
          <p:cNvPr id="1161" name="Google Shape;1161;p12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1162" name="Google Shape;1162;p120"/>
          <p:cNvSpPr/>
          <p:nvPr/>
        </p:nvSpPr>
        <p:spPr>
          <a:xfrm>
            <a:off x="6681350" y="2363925"/>
            <a:ext cx="249300" cy="2493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63" name="Google Shape;1163;p120"/>
          <p:cNvSpPr/>
          <p:nvPr/>
        </p:nvSpPr>
        <p:spPr>
          <a:xfrm>
            <a:off x="6681350" y="2711750"/>
            <a:ext cx="249300" cy="249300"/>
          </a:xfrm>
          <a:prstGeom prst="ellipse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64" name="Google Shape;1164;p120"/>
          <p:cNvSpPr txBox="1"/>
          <p:nvPr/>
        </p:nvSpPr>
        <p:spPr>
          <a:xfrm>
            <a:off x="6930650" y="2289700"/>
            <a:ext cx="1953600" cy="109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65000"/>
              </a:lnSpc>
            </a:pPr>
            <a:r>
              <a:rPr lang="en"/>
              <a:t>Not false positives</a:t>
            </a:r>
            <a:endParaRPr/>
          </a:p>
          <a:p>
            <a:pPr>
              <a:lnSpc>
                <a:spcPct val="165000"/>
              </a:lnSpc>
            </a:pPr>
            <a:r>
              <a:rPr lang="en"/>
              <a:t>False positives</a:t>
            </a:r>
            <a:endParaRPr/>
          </a:p>
        </p:txBody>
      </p:sp>
      <p:grpSp>
        <p:nvGrpSpPr>
          <p:cNvPr id="1165" name="Google Shape;1165;p120"/>
          <p:cNvGrpSpPr/>
          <p:nvPr/>
        </p:nvGrpSpPr>
        <p:grpSpPr>
          <a:xfrm>
            <a:off x="1142050" y="4341014"/>
            <a:ext cx="1276500" cy="1278737"/>
            <a:chOff x="1142050" y="3483763"/>
            <a:chExt cx="1276500" cy="1278737"/>
          </a:xfrm>
        </p:grpSpPr>
        <p:sp>
          <p:nvSpPr>
            <p:cNvPr id="1166" name="Google Shape;1166;p120"/>
            <p:cNvSpPr/>
            <p:nvPr/>
          </p:nvSpPr>
          <p:spPr>
            <a:xfrm>
              <a:off x="1142050" y="3483763"/>
              <a:ext cx="1276500" cy="1276500"/>
            </a:xfrm>
            <a:prstGeom prst="ellipse">
              <a:avLst/>
            </a:prstGeom>
            <a:solidFill>
              <a:srgbClr val="CC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7" name="Google Shape;1167;p120"/>
            <p:cNvSpPr txBox="1"/>
            <p:nvPr/>
          </p:nvSpPr>
          <p:spPr>
            <a:xfrm>
              <a:off x="1774125" y="3486000"/>
              <a:ext cx="4308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en">
                  <a:solidFill>
                    <a:schemeClr val="lt1"/>
                  </a:solidFill>
                </a:rPr>
                <a:t>5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68" name="Google Shape;1168;p120"/>
            <p:cNvSpPr/>
            <p:nvPr/>
          </p:nvSpPr>
          <p:spPr>
            <a:xfrm>
              <a:off x="1142050" y="3486000"/>
              <a:ext cx="1276500" cy="1276500"/>
            </a:xfrm>
            <a:prstGeom prst="pie">
              <a:avLst>
                <a:gd name="adj1" fmla="val 18146988"/>
                <a:gd name="adj2" fmla="val 16200000"/>
              </a:avLst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69" name="Google Shape;1169;p120"/>
            <p:cNvSpPr txBox="1"/>
            <p:nvPr/>
          </p:nvSpPr>
          <p:spPr>
            <a:xfrm>
              <a:off x="1564900" y="4205600"/>
              <a:ext cx="4308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en">
                  <a:solidFill>
                    <a:schemeClr val="dk1"/>
                  </a:solidFill>
                </a:rPr>
                <a:t>95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170" name="Google Shape;1170;p120"/>
          <p:cNvGrpSpPr/>
          <p:nvPr/>
        </p:nvGrpSpPr>
        <p:grpSpPr>
          <a:xfrm>
            <a:off x="461701" y="2306100"/>
            <a:ext cx="5142415" cy="1878000"/>
            <a:chOff x="461700" y="1448850"/>
            <a:chExt cx="5142415" cy="1878000"/>
          </a:xfrm>
        </p:grpSpPr>
        <p:sp>
          <p:nvSpPr>
            <p:cNvPr id="1171" name="Google Shape;1171;p120"/>
            <p:cNvSpPr/>
            <p:nvPr/>
          </p:nvSpPr>
          <p:spPr>
            <a:xfrm>
              <a:off x="3699175" y="1576529"/>
              <a:ext cx="1904940" cy="572686"/>
            </a:xfrm>
            <a:custGeom>
              <a:avLst/>
              <a:gdLst/>
              <a:ahLst/>
              <a:cxnLst/>
              <a:rect l="l" t="t" r="r" b="b"/>
              <a:pathLst>
                <a:path w="70658" h="18703" extrusionOk="0">
                  <a:moveTo>
                    <a:pt x="0" y="0"/>
                  </a:moveTo>
                  <a:lnTo>
                    <a:pt x="70658" y="0"/>
                  </a:lnTo>
                  <a:lnTo>
                    <a:pt x="70658" y="18703"/>
                  </a:lnTo>
                </a:path>
              </a:pathLst>
            </a:cu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cxnSp>
          <p:nvCxnSpPr>
            <p:cNvPr id="1172" name="Google Shape;1172;p120"/>
            <p:cNvCxnSpPr/>
            <p:nvPr/>
          </p:nvCxnSpPr>
          <p:spPr>
            <a:xfrm>
              <a:off x="1780300" y="2495550"/>
              <a:ext cx="0" cy="831300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3" name="Google Shape;1173;p120"/>
            <p:cNvSpPr txBox="1"/>
            <p:nvPr/>
          </p:nvSpPr>
          <p:spPr>
            <a:xfrm>
              <a:off x="461700" y="1448850"/>
              <a:ext cx="3372600" cy="1569630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"/>
                <a:t>The proportion of false positives stays the same, but when there are more requests, the absolute number of false positives increases</a:t>
              </a:r>
              <a:endParaRPr/>
            </a:p>
          </p:txBody>
        </p:sp>
      </p:grpSp>
      <p:grpSp>
        <p:nvGrpSpPr>
          <p:cNvPr id="1174" name="Google Shape;1174;p120"/>
          <p:cNvGrpSpPr/>
          <p:nvPr/>
        </p:nvGrpSpPr>
        <p:grpSpPr>
          <a:xfrm>
            <a:off x="4014775" y="3045400"/>
            <a:ext cx="2647800" cy="2652441"/>
            <a:chOff x="4014775" y="2188149"/>
            <a:chExt cx="2647800" cy="2652441"/>
          </a:xfrm>
        </p:grpSpPr>
        <p:sp>
          <p:nvSpPr>
            <p:cNvPr id="1175" name="Google Shape;1175;p120"/>
            <p:cNvSpPr/>
            <p:nvPr/>
          </p:nvSpPr>
          <p:spPr>
            <a:xfrm>
              <a:off x="4014775" y="2188149"/>
              <a:ext cx="2647800" cy="2647800"/>
            </a:xfrm>
            <a:prstGeom prst="ellipse">
              <a:avLst/>
            </a:prstGeom>
            <a:solidFill>
              <a:srgbClr val="CC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6" name="Google Shape;1176;p120"/>
            <p:cNvSpPr txBox="1"/>
            <p:nvPr/>
          </p:nvSpPr>
          <p:spPr>
            <a:xfrm>
              <a:off x="5394077" y="2366600"/>
              <a:ext cx="5487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en">
                  <a:solidFill>
                    <a:schemeClr val="lt1"/>
                  </a:solidFill>
                </a:rPr>
                <a:t>50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77" name="Google Shape;1177;p120"/>
            <p:cNvSpPr/>
            <p:nvPr/>
          </p:nvSpPr>
          <p:spPr>
            <a:xfrm>
              <a:off x="4014775" y="2192790"/>
              <a:ext cx="2647800" cy="2647800"/>
            </a:xfrm>
            <a:prstGeom prst="pie">
              <a:avLst>
                <a:gd name="adj1" fmla="val 18146988"/>
                <a:gd name="adj2" fmla="val 16200000"/>
              </a:avLst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78" name="Google Shape;1178;p120"/>
            <p:cNvSpPr txBox="1"/>
            <p:nvPr/>
          </p:nvSpPr>
          <p:spPr>
            <a:xfrm>
              <a:off x="4891821" y="3685329"/>
              <a:ext cx="8934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r>
                <a:rPr lang="en">
                  <a:solidFill>
                    <a:schemeClr val="dk1"/>
                  </a:solidFill>
                </a:rPr>
                <a:t>950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932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21"/>
          <p:cNvSpPr txBox="1">
            <a:spLocks noGrp="1"/>
          </p:cNvSpPr>
          <p:nvPr>
            <p:ph type="title"/>
          </p:nvPr>
        </p:nvSpPr>
        <p:spPr>
          <a:xfrm>
            <a:off x="2827971" y="339231"/>
            <a:ext cx="41645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pPr algn="l"/>
            <a:r>
              <a:rPr lang="en" dirty="0"/>
              <a:t>Base Rate Fallacy</a:t>
            </a:r>
            <a:endParaRPr dirty="0"/>
          </a:p>
        </p:txBody>
      </p:sp>
      <p:sp>
        <p:nvSpPr>
          <p:cNvPr id="1184" name="Google Shape;1184;p12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rm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1185" name="Google Shape;1185;p121"/>
          <p:cNvSpPr txBox="1">
            <a:spLocks noGrp="1"/>
          </p:cNvSpPr>
          <p:nvPr>
            <p:ph type="body" idx="1"/>
          </p:nvPr>
        </p:nvSpPr>
        <p:spPr>
          <a:xfrm>
            <a:off x="500558" y="1153817"/>
            <a:ext cx="8520600" cy="3765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en" dirty="0"/>
              <a:t>Consider the detector from before: 0.1% false positive rate</a:t>
            </a:r>
            <a:endParaRPr dirty="0"/>
          </a:p>
          <a:p>
            <a:pPr marL="596900" lvl="1" indent="0">
              <a:buNone/>
            </a:pPr>
            <a:r>
              <a:rPr lang="en" dirty="0"/>
              <a:t>Assume a 0% false negative rate: Every attack is detected</a:t>
            </a:r>
            <a:endParaRPr dirty="0"/>
          </a:p>
          <a:p>
            <a:pPr marL="596900" lvl="1" indent="0">
              <a:buNone/>
            </a:pPr>
            <a:r>
              <a:rPr lang="en" dirty="0"/>
              <a:t>Scenario from before: Our server receives 10,000,000 non-attacks and 5 attacks per day</a:t>
            </a:r>
            <a:endParaRPr dirty="0"/>
          </a:p>
          <a:p>
            <a:pPr marL="596900" lvl="1" indent="0">
              <a:buNone/>
            </a:pPr>
            <a:r>
              <a:rPr lang="en" dirty="0"/>
              <a:t>Expected number of false positives per day: 10,000,000 × 0.1% = 10,000</a:t>
            </a:r>
            <a:endParaRPr dirty="0"/>
          </a:p>
          <a:p>
            <a:pPr marL="114300" indent="0">
              <a:buNone/>
            </a:pPr>
            <a:r>
              <a:rPr lang="en" dirty="0"/>
              <a:t>You see the detector alert. What is the probability this is really an attack?</a:t>
            </a:r>
            <a:endParaRPr dirty="0"/>
          </a:p>
          <a:p>
            <a:pPr marL="596900" lvl="1" indent="0">
              <a:buNone/>
            </a:pPr>
            <a:r>
              <a:rPr lang="en" dirty="0"/>
              <a:t>Of the 10,005 detections, 5 are real attacks, and 10,000 are false positives</a:t>
            </a:r>
            <a:endParaRPr dirty="0"/>
          </a:p>
          <a:p>
            <a:pPr marL="596900" lvl="1" indent="0">
              <a:buNone/>
            </a:pPr>
            <a:r>
              <a:rPr lang="en" dirty="0"/>
              <a:t>There is an approximately 0.05% probability that the detector found a real attack</a:t>
            </a:r>
            <a:endParaRPr dirty="0"/>
          </a:p>
          <a:p>
            <a:pPr marL="114300" indent="0">
              <a:buNone/>
            </a:pPr>
            <a:r>
              <a:rPr lang="en" dirty="0"/>
              <a:t>Base rate fallacy: Even though the detector alerted, it’s still highly unlikely that you found an attack, because of the high false positive rate</a:t>
            </a:r>
            <a:endParaRPr dirty="0"/>
          </a:p>
          <a:p>
            <a:pPr marL="114300" indent="0">
              <a:buNone/>
            </a:pPr>
            <a:r>
              <a:rPr lang="en" b="1" dirty="0"/>
              <a:t>Takeaway</a:t>
            </a:r>
            <a:r>
              <a:rPr lang="en" dirty="0"/>
              <a:t>: Detecting is hard when the base rate of attacks is low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897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220200" cy="762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Elements of An Intrusion Detection System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9130EC9A-D612-42CA-BC07-3A5F7B16AF1F}" type="slidenum">
              <a:rPr lang="zh-CN" altLang="en-US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10</a:t>
            </a:fld>
            <a:endParaRPr lang="en-US" altLang="zh-CN" sz="140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762000" y="1295400"/>
            <a:ext cx="7772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itchFamily="2" charset="2"/>
              <a:buChar char="Ø"/>
              <a:defRPr sz="22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kern="0" dirty="0"/>
              <a:t>Primary assumptions: 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n-US" altLang="en-US" sz="2400" kern="0" dirty="0"/>
              <a:t>System activities are observable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n-US" altLang="en-US" sz="2400" kern="0" dirty="0"/>
              <a:t>Normal and intrusive activities are distinct evidence</a:t>
            </a:r>
          </a:p>
          <a:p>
            <a:pPr lvl="1" eaLnBrk="1" hangingPunct="1">
              <a:spcAft>
                <a:spcPts val="600"/>
              </a:spcAft>
              <a:defRPr/>
            </a:pPr>
            <a:endParaRPr lang="en-US" altLang="en-US" sz="2400" kern="0" dirty="0"/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altLang="en-US" kern="0" dirty="0"/>
              <a:t>Components of intrusion detection systems: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n-US" altLang="en-US" kern="0" dirty="0"/>
              <a:t>From an algorithmic perspective</a:t>
            </a:r>
          </a:p>
          <a:p>
            <a:pPr lvl="2" eaLnBrk="1" hangingPunct="1">
              <a:spcAft>
                <a:spcPts val="600"/>
              </a:spcAft>
              <a:defRPr/>
            </a:pPr>
            <a:r>
              <a:rPr lang="en-US" altLang="en-US" kern="0" dirty="0"/>
              <a:t>Features -- capture intrusion evidences</a:t>
            </a:r>
          </a:p>
          <a:p>
            <a:pPr lvl="2" eaLnBrk="1" hangingPunct="1">
              <a:spcAft>
                <a:spcPts val="600"/>
              </a:spcAft>
              <a:defRPr/>
            </a:pPr>
            <a:r>
              <a:rPr lang="en-US" altLang="en-US" kern="0" dirty="0"/>
              <a:t> Models  -- piece evidences together</a:t>
            </a:r>
          </a:p>
          <a:p>
            <a:pPr lvl="1" eaLnBrk="1" hangingPunct="1">
              <a:spcAft>
                <a:spcPts val="600"/>
              </a:spcAft>
              <a:defRPr/>
            </a:pPr>
            <a:r>
              <a:rPr lang="en-US" altLang="en-US" kern="0" dirty="0"/>
              <a:t>From a system architecture perspective:</a:t>
            </a:r>
          </a:p>
          <a:p>
            <a:pPr lvl="2" eaLnBrk="1" hangingPunct="1">
              <a:spcAft>
                <a:spcPts val="600"/>
              </a:spcAft>
              <a:defRPr/>
            </a:pPr>
            <a:r>
              <a:rPr lang="en-US" altLang="en-US" kern="0" dirty="0"/>
              <a:t>Data collection, data processor, decision engine, alarm generation and responses….</a:t>
            </a:r>
          </a:p>
        </p:txBody>
      </p:sp>
    </p:spTree>
    <p:extLst>
      <p:ext uri="{BB962C8B-B14F-4D97-AF65-F5344CB8AC3E}">
        <p14:creationId xmlns:p14="http://schemas.microsoft.com/office/powerpoint/2010/main" val="1084076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220200" cy="7620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Components of An Intrusion Detection System</a:t>
            </a:r>
          </a:p>
        </p:txBody>
      </p:sp>
      <p:sp>
        <p:nvSpPr>
          <p:cNvPr id="32771" name="Date Placeholder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algn="l" eaLnBrk="0" hangingPunct="0"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1600">
                <a:ea typeface="宋体" panose="02010600030101010101" pitchFamily="2" charset="-122"/>
              </a:rPr>
              <a:t>CS7900, Meilin Liu 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lnSpc>
                <a:spcPct val="95000"/>
              </a:lnSpc>
              <a:spcBef>
                <a:spcPct val="2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o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D083E5E7-70E5-45FB-8046-E8F1DD691E3A}" type="slidenum">
              <a:rPr lang="zh-CN" altLang="en-US" sz="1400"/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11</a:t>
            </a:fld>
            <a:endParaRPr lang="en-US" altLang="zh-CN" sz="1400"/>
          </a:p>
        </p:txBody>
      </p:sp>
      <p:pic>
        <p:nvPicPr>
          <p:cNvPr id="327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155700"/>
            <a:ext cx="5334000" cy="542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70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IDSs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detect</a:t>
            </a:r>
          </a:p>
          <a:p>
            <a:pPr lvl="1"/>
            <a:r>
              <a:rPr lang="en-US" dirty="0"/>
              <a:t>Misuse</a:t>
            </a:r>
          </a:p>
          <a:p>
            <a:pPr lvl="1"/>
            <a:r>
              <a:rPr lang="en-US" dirty="0"/>
              <a:t>Anomaly</a:t>
            </a:r>
          </a:p>
          <a:p>
            <a:pPr lvl="1"/>
            <a:r>
              <a:rPr lang="en-US" dirty="0"/>
              <a:t>Hybrid (e.g., learning-based)</a:t>
            </a:r>
          </a:p>
        </p:txBody>
      </p:sp>
    </p:spTree>
    <p:extLst>
      <p:ext uri="{BB962C8B-B14F-4D97-AF65-F5344CB8AC3E}">
        <p14:creationId xmlns:p14="http://schemas.microsoft.com/office/powerpoint/2010/main" val="1327358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Categories of IDSs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to deploy</a:t>
            </a:r>
          </a:p>
          <a:p>
            <a:pPr lvl="1"/>
            <a:r>
              <a:rPr lang="en-US" dirty="0"/>
              <a:t>Host-based IDS (HIDS)</a:t>
            </a:r>
          </a:p>
          <a:p>
            <a:pPr lvl="1"/>
            <a:r>
              <a:rPr lang="en-US" dirty="0"/>
              <a:t>Network-based IDS (NIDS)</a:t>
            </a:r>
          </a:p>
        </p:txBody>
      </p:sp>
    </p:spTree>
    <p:extLst>
      <p:ext uri="{BB962C8B-B14F-4D97-AF65-F5344CB8AC3E}">
        <p14:creationId xmlns:p14="http://schemas.microsoft.com/office/powerpoint/2010/main" val="2707996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441"/>
            <a:ext cx="8229600" cy="267302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Using OS auditing mechanisms</a:t>
            </a:r>
          </a:p>
          <a:p>
            <a:pPr lvl="1"/>
            <a:r>
              <a:rPr lang="en-US" dirty="0"/>
              <a:t>Logs all direct or indirect events generated by a user (e.g., BSM on Solaris)</a:t>
            </a:r>
          </a:p>
          <a:p>
            <a:pPr lvl="1"/>
            <a:r>
              <a:rPr lang="en-US" dirty="0"/>
              <a:t>Analyzes system calls made by a program (e.g., </a:t>
            </a:r>
            <a:r>
              <a:rPr lang="en-US" dirty="0" err="1"/>
              <a:t>strace</a:t>
            </a:r>
            <a:r>
              <a:rPr lang="en-US" dirty="0"/>
              <a:t>)</a:t>
            </a:r>
          </a:p>
          <a:p>
            <a:r>
              <a:rPr lang="en-US" dirty="0"/>
              <a:t>Monitoring user activities</a:t>
            </a:r>
          </a:p>
          <a:p>
            <a:pPr lvl="1"/>
            <a:r>
              <a:rPr lang="en-US" dirty="0"/>
              <a:t>Analyzes shell commands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695480" y="4189919"/>
            <a:ext cx="3245823" cy="2231942"/>
            <a:chOff x="4756245" y="2274061"/>
            <a:chExt cx="3245823" cy="2231942"/>
          </a:xfrm>
        </p:grpSpPr>
        <p:sp>
          <p:nvSpPr>
            <p:cNvPr id="4" name="Rounded Rectangle 3"/>
            <p:cNvSpPr/>
            <p:nvPr/>
          </p:nvSpPr>
          <p:spPr>
            <a:xfrm>
              <a:off x="4756245" y="2274061"/>
              <a:ext cx="3245823" cy="223194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960580" y="2483477"/>
              <a:ext cx="1450633" cy="49156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processes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542913" y="2479315"/>
              <a:ext cx="1297263" cy="49156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File system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960580" y="3145128"/>
              <a:ext cx="1450634" cy="49156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System calls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113950" y="3789138"/>
              <a:ext cx="2601354" cy="559837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IDS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542913" y="3126048"/>
              <a:ext cx="1297263" cy="491564"/>
            </a:xfrm>
            <a:prstGeom prst="round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dk1"/>
                  </a:solidFill>
                </a:rPr>
                <a:t>……</a:t>
              </a:r>
            </a:p>
          </p:txBody>
        </p:sp>
      </p:grpSp>
      <p:pic>
        <p:nvPicPr>
          <p:cNvPr id="5" name="Picture 4" descr="1194983813750083554server_mimooh_.svg.m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65" y="4681106"/>
            <a:ext cx="1479090" cy="2056943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44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Host-based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5664"/>
            <a:ext cx="8229600" cy="440613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Fine-grained knowledge about system-level behaviors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Operational cost: need to install IDS on all user machines</a:t>
            </a:r>
          </a:p>
          <a:p>
            <a:pPr lvl="1"/>
            <a:r>
              <a:rPr lang="en-US" dirty="0"/>
              <a:t>Limited visibility: ineffective for large-scale attacks</a:t>
            </a:r>
          </a:p>
          <a:p>
            <a:pPr lvl="2"/>
            <a:r>
              <a:rPr lang="en-US" dirty="0"/>
              <a:t>An attacker scan all hosts; for each host, he scans once</a:t>
            </a:r>
          </a:p>
          <a:p>
            <a:pPr lvl="1"/>
            <a:r>
              <a:rPr lang="en-US" dirty="0"/>
              <a:t>Can be contaminated by attackers/malware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9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6221"/>
            <a:ext cx="8229600" cy="218352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Monitor network-level behaviors</a:t>
            </a:r>
          </a:p>
          <a:p>
            <a:pPr lvl="1"/>
            <a:r>
              <a:rPr lang="en-US" dirty="0"/>
              <a:t>E.g., network packets across a network boundary</a:t>
            </a:r>
          </a:p>
          <a:p>
            <a:pPr lvl="1"/>
            <a:r>
              <a:rPr lang="en-US" dirty="0"/>
              <a:t>E.g., network flow logs generated by a router</a:t>
            </a:r>
          </a:p>
          <a:p>
            <a:pPr lvl="1"/>
            <a:r>
              <a:rPr lang="en-US" dirty="0"/>
              <a:t>E.g., DNS queries and responses collected from campus DNS servers</a:t>
            </a:r>
          </a:p>
          <a:p>
            <a:endParaRPr lang="en-US" dirty="0"/>
          </a:p>
        </p:txBody>
      </p:sp>
      <p:grpSp>
        <p:nvGrpSpPr>
          <p:cNvPr id="18" name="Group 17"/>
          <p:cNvGrpSpPr/>
          <p:nvPr/>
        </p:nvGrpSpPr>
        <p:grpSpPr>
          <a:xfrm>
            <a:off x="496162" y="3500138"/>
            <a:ext cx="8190638" cy="2975392"/>
            <a:chOff x="379553" y="3317335"/>
            <a:chExt cx="8372190" cy="3186897"/>
          </a:xfrm>
        </p:grpSpPr>
        <p:sp>
          <p:nvSpPr>
            <p:cNvPr id="19" name="TextBox 18"/>
            <p:cNvSpPr txBox="1"/>
            <p:nvPr/>
          </p:nvSpPr>
          <p:spPr>
            <a:xfrm>
              <a:off x="720884" y="6134900"/>
              <a:ext cx="2088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</a:rPr>
                <a:t>Monitored Network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79553" y="3317335"/>
              <a:ext cx="8372190" cy="2817565"/>
              <a:chOff x="379553" y="3258939"/>
              <a:chExt cx="8372190" cy="2817565"/>
            </a:xfrm>
          </p:grpSpPr>
          <p:pic>
            <p:nvPicPr>
              <p:cNvPr id="21" name="Picture 20" descr="lrg_Router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3449" y="4352765"/>
                <a:ext cx="1012825" cy="1012825"/>
              </a:xfrm>
              <a:prstGeom prst="rect">
                <a:avLst/>
              </a:prstGeom>
            </p:spPr>
          </p:pic>
          <p:sp>
            <p:nvSpPr>
              <p:cNvPr id="22" name="Cloud 21"/>
              <p:cNvSpPr/>
              <p:nvPr/>
            </p:nvSpPr>
            <p:spPr>
              <a:xfrm>
                <a:off x="379553" y="3506181"/>
                <a:ext cx="2856459" cy="2570323"/>
              </a:xfrm>
              <a:prstGeom prst="cloud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Cloud 22"/>
              <p:cNvSpPr/>
              <p:nvPr/>
            </p:nvSpPr>
            <p:spPr>
              <a:xfrm>
                <a:off x="6226611" y="3652172"/>
                <a:ext cx="2525132" cy="2093366"/>
              </a:xfrm>
              <a:prstGeom prst="cloud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Internet</a:t>
                </a:r>
              </a:p>
            </p:txBody>
          </p:sp>
          <p:pic>
            <p:nvPicPr>
              <p:cNvPr id="24" name="Picture 23" descr="pc.jpe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19702" y="5365590"/>
                <a:ext cx="532836" cy="535458"/>
              </a:xfrm>
              <a:prstGeom prst="rect">
                <a:avLst/>
              </a:prstGeom>
            </p:spPr>
          </p:pic>
          <p:pic>
            <p:nvPicPr>
              <p:cNvPr id="25" name="Picture 24" descr="pc.jpe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3356" y="3850125"/>
                <a:ext cx="532836" cy="535458"/>
              </a:xfrm>
              <a:prstGeom prst="rect">
                <a:avLst/>
              </a:prstGeom>
            </p:spPr>
          </p:pic>
          <p:cxnSp>
            <p:nvCxnSpPr>
              <p:cNvPr id="26" name="Straight Connector 25"/>
              <p:cNvCxnSpPr/>
              <p:nvPr/>
            </p:nvCxnSpPr>
            <p:spPr>
              <a:xfrm flipV="1">
                <a:off x="1870790" y="4859178"/>
                <a:ext cx="1365222" cy="74453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endCxn id="22" idx="0"/>
              </p:cNvCxnSpPr>
              <p:nvPr/>
            </p:nvCxnSpPr>
            <p:spPr>
              <a:xfrm>
                <a:off x="1856192" y="4156627"/>
                <a:ext cx="1377440" cy="63471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" name="Group 27"/>
              <p:cNvGrpSpPr/>
              <p:nvPr/>
            </p:nvGrpSpPr>
            <p:grpSpPr>
              <a:xfrm>
                <a:off x="3216896" y="3258939"/>
                <a:ext cx="1465361" cy="853891"/>
                <a:chOff x="3373340" y="3127170"/>
                <a:chExt cx="1465361" cy="853891"/>
              </a:xfrm>
            </p:grpSpPr>
            <p:pic>
              <p:nvPicPr>
                <p:cNvPr id="36" name="Picture 14" descr="MCBD18221_0000[1]"/>
                <p:cNvPicPr>
                  <a:picLocks noChangeAspect="1" noChangeArrowheads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3937001" y="3504811"/>
                  <a:ext cx="901700" cy="476250"/>
                </a:xfrm>
                <a:prstGeom prst="rect">
                  <a:avLst/>
                </a:prstGeom>
                <a:noFill/>
              </p:spPr>
            </p:pic>
            <p:pic>
              <p:nvPicPr>
                <p:cNvPr id="37" name="Picture 9" descr="snipes"/>
                <p:cNvPicPr>
                  <a:picLocks noChangeAspect="1" noChangeArrowheads="1"/>
                </p:cNvPicPr>
                <p:nvPr/>
              </p:nvPicPr>
              <p:blipFill>
                <a:blip r:embed="rId6"/>
                <a:srcRect/>
                <a:stretch>
                  <a:fillRect/>
                </a:stretch>
              </p:blipFill>
              <p:spPr bwMode="auto">
                <a:xfrm>
                  <a:off x="4400551" y="3673086"/>
                  <a:ext cx="277812" cy="2857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38" name="TextBox 37"/>
                <p:cNvSpPr txBox="1"/>
                <p:nvPr/>
              </p:nvSpPr>
              <p:spPr>
                <a:xfrm>
                  <a:off x="3373340" y="3127170"/>
                  <a:ext cx="621333" cy="4944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IDS</a:t>
                  </a:r>
                </a:p>
              </p:txBody>
            </p:sp>
          </p:grpSp>
          <p:pic>
            <p:nvPicPr>
              <p:cNvPr id="29" name="Picture 28" descr="pc.jpe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7954" y="4565718"/>
                <a:ext cx="532836" cy="535458"/>
              </a:xfrm>
              <a:prstGeom prst="rect">
                <a:avLst/>
              </a:prstGeom>
            </p:spPr>
          </p:pic>
          <p:cxnSp>
            <p:nvCxnSpPr>
              <p:cNvPr id="30" name="Straight Connector 29"/>
              <p:cNvCxnSpPr>
                <a:stCxn id="29" idx="3"/>
              </p:cNvCxnSpPr>
              <p:nvPr/>
            </p:nvCxnSpPr>
            <p:spPr>
              <a:xfrm>
                <a:off x="1870790" y="4833447"/>
                <a:ext cx="1365222" cy="257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3154213" y="5115775"/>
                <a:ext cx="8184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</a:rPr>
                  <a:t>Router</a:t>
                </a:r>
              </a:p>
            </p:txBody>
          </p:sp>
          <p:sp>
            <p:nvSpPr>
              <p:cNvPr id="32" name="Left-Right Arrow 31"/>
              <p:cNvSpPr/>
              <p:nvPr/>
            </p:nvSpPr>
            <p:spPr>
              <a:xfrm>
                <a:off x="3897159" y="4663931"/>
                <a:ext cx="2329452" cy="309833"/>
              </a:xfrm>
              <a:prstGeom prst="left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994734" y="4196387"/>
                <a:ext cx="1696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</a:rPr>
                  <a:t>Mirroring Traffic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261517" y="4923263"/>
                <a:ext cx="16139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000000"/>
                    </a:solidFill>
                  </a:rPr>
                  <a:t>Network Traffic</a:t>
                </a:r>
              </a:p>
            </p:txBody>
          </p:sp>
          <p:sp>
            <p:nvSpPr>
              <p:cNvPr id="35" name="Notched Right Arrow 34"/>
              <p:cNvSpPr/>
              <p:nvPr/>
            </p:nvSpPr>
            <p:spPr>
              <a:xfrm rot="18547782">
                <a:off x="3692867" y="4270165"/>
                <a:ext cx="489691" cy="219017"/>
              </a:xfrm>
              <a:prstGeom prst="notchedRightArrow">
                <a:avLst/>
              </a:prstGeom>
              <a:solidFill>
                <a:srgbClr val="008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Slide Number Placeholder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60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Network-based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858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Operation cost is low</a:t>
            </a:r>
          </a:p>
          <a:p>
            <a:pPr lvl="2"/>
            <a:r>
              <a:rPr lang="en-US" dirty="0"/>
              <a:t>One IDS can monitor behaviors for all hosts in the network</a:t>
            </a:r>
          </a:p>
          <a:p>
            <a:pPr lvl="1"/>
            <a:r>
              <a:rPr lang="en-US" dirty="0"/>
              <a:t>Higher visibility of all hosts’ behaviors</a:t>
            </a:r>
          </a:p>
          <a:p>
            <a:pPr lvl="2"/>
            <a:r>
              <a:rPr lang="en-US" dirty="0"/>
              <a:t>Facilitate correlation among different hosts</a:t>
            </a:r>
          </a:p>
          <a:p>
            <a:pPr lvl="1"/>
            <a:r>
              <a:rPr lang="en-US" dirty="0"/>
              <a:t>Less likely to be contaminated by attackers</a:t>
            </a:r>
          </a:p>
          <a:p>
            <a:pPr lvl="2"/>
            <a:r>
              <a:rPr lang="en-US" dirty="0"/>
              <a:t>Isolated from compromised hosts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Coarse-grained knowledge about the system-level behavior</a:t>
            </a:r>
          </a:p>
          <a:p>
            <a:pPr lvl="2"/>
            <a:r>
              <a:rPr lang="en-US" dirty="0"/>
              <a:t>E.g., it is hard for NIDS to obtain the plaintext for encrypted data</a:t>
            </a: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06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70725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Define the profile of known attacks</a:t>
            </a:r>
          </a:p>
          <a:p>
            <a:pPr lvl="1"/>
            <a:r>
              <a:rPr lang="en-US" dirty="0"/>
              <a:t>Any activities that are consistent with the profile will be labeled as attacks</a:t>
            </a:r>
          </a:p>
          <a:p>
            <a:pPr lvl="1"/>
            <a:r>
              <a:rPr lang="en-US" dirty="0"/>
              <a:t>Otherwise, they are labeled as benign activities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124738" y="4284516"/>
            <a:ext cx="1799700" cy="117983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35028" y="4544861"/>
            <a:ext cx="579120" cy="152721"/>
          </a:xfrm>
          <a:prstGeom prst="rect">
            <a:avLst/>
          </a:prstGeom>
          <a:solidFill>
            <a:srgbClr val="FF000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726715" y="4798073"/>
            <a:ext cx="579120" cy="152721"/>
          </a:xfrm>
          <a:prstGeom prst="rect">
            <a:avLst/>
          </a:prstGeom>
          <a:solidFill>
            <a:srgbClr val="FF000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1728504" y="5054708"/>
            <a:ext cx="579120" cy="152721"/>
          </a:xfrm>
          <a:prstGeom prst="rect">
            <a:avLst/>
          </a:prstGeom>
          <a:solidFill>
            <a:srgbClr val="FF000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8" name="Picture 2" descr="C:\Users\jzhang\Downloads\exper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910" y="3837611"/>
            <a:ext cx="1421744" cy="174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5562753" y="4104267"/>
            <a:ext cx="1799700" cy="117983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Signatures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018942" y="4873385"/>
            <a:ext cx="57696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794632" y="4694184"/>
            <a:ext cx="632696" cy="6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2488" y="5557069"/>
            <a:ext cx="154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Known attacks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18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574506" y="5372403"/>
            <a:ext cx="1957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 and rectangle!</a:t>
            </a:r>
          </a:p>
        </p:txBody>
      </p:sp>
    </p:spTree>
    <p:extLst>
      <p:ext uri="{BB962C8B-B14F-4D97-AF65-F5344CB8AC3E}">
        <p14:creationId xmlns:p14="http://schemas.microsoft.com/office/powerpoint/2010/main" val="3948020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2250"/>
            <a:ext cx="8229600" cy="17601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Cannot detect new attacks (</a:t>
            </a:r>
            <a:r>
              <a:rPr lang="en-US" dirty="0" err="1"/>
              <a:t>a.k.a</a:t>
            </a:r>
            <a:r>
              <a:rPr lang="en-US" dirty="0"/>
              <a:t>, high false negatives for new attacks)</a:t>
            </a:r>
          </a:p>
        </p:txBody>
      </p:sp>
      <p:sp>
        <p:nvSpPr>
          <p:cNvPr id="4" name="Oval 3"/>
          <p:cNvSpPr/>
          <p:nvPr/>
        </p:nvSpPr>
        <p:spPr>
          <a:xfrm>
            <a:off x="1534412" y="3119324"/>
            <a:ext cx="1799700" cy="117983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144702" y="3379669"/>
            <a:ext cx="579120" cy="152721"/>
          </a:xfrm>
          <a:prstGeom prst="rect">
            <a:avLst/>
          </a:prstGeom>
          <a:solidFill>
            <a:srgbClr val="FF000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2136389" y="3632881"/>
            <a:ext cx="579120" cy="152721"/>
          </a:xfrm>
          <a:prstGeom prst="rect">
            <a:avLst/>
          </a:prstGeom>
          <a:solidFill>
            <a:srgbClr val="FF000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2138178" y="3889516"/>
            <a:ext cx="579120" cy="152721"/>
          </a:xfrm>
          <a:prstGeom prst="rect">
            <a:avLst/>
          </a:prstGeom>
          <a:solidFill>
            <a:srgbClr val="FF000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8" name="Picture 2" descr="C:\Users\jzhang\Downloads\exper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584" y="2672419"/>
            <a:ext cx="1421744" cy="174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5972427" y="2939075"/>
            <a:ext cx="1799700" cy="117983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Signatures 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428616" y="3708193"/>
            <a:ext cx="57696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204306" y="3528992"/>
            <a:ext cx="632696" cy="6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42162" y="4391877"/>
            <a:ext cx="1546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Known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89827" y="4194522"/>
            <a:ext cx="2047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 and rectangles!</a:t>
            </a:r>
          </a:p>
        </p:txBody>
      </p:sp>
      <p:sp>
        <p:nvSpPr>
          <p:cNvPr id="16" name="Isosceles Triangle 15"/>
          <p:cNvSpPr/>
          <p:nvPr/>
        </p:nvSpPr>
        <p:spPr>
          <a:xfrm>
            <a:off x="2144702" y="5055908"/>
            <a:ext cx="448027" cy="394772"/>
          </a:xfrm>
          <a:prstGeom prst="triangl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/>
          <p:cNvSpPr/>
          <p:nvPr/>
        </p:nvSpPr>
        <p:spPr>
          <a:xfrm>
            <a:off x="2144702" y="5603080"/>
            <a:ext cx="448027" cy="394772"/>
          </a:xfrm>
          <a:prstGeom prst="triangl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769916" y="6029062"/>
            <a:ext cx="1326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attacks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9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65"/>
            <a:ext cx="8229600" cy="13887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Define the profile of benign activities</a:t>
            </a:r>
          </a:p>
          <a:p>
            <a:pPr lvl="1"/>
            <a:r>
              <a:rPr lang="en-US" dirty="0"/>
              <a:t>Any activities that are consistent with the profile will be labeled as benign</a:t>
            </a:r>
          </a:p>
          <a:p>
            <a:pPr lvl="1"/>
            <a:r>
              <a:rPr lang="en-US" dirty="0"/>
              <a:t>Otherwise, they are labeled as attacks</a:t>
            </a:r>
          </a:p>
        </p:txBody>
      </p:sp>
      <p:sp>
        <p:nvSpPr>
          <p:cNvPr id="8" name="Oval 7"/>
          <p:cNvSpPr/>
          <p:nvPr/>
        </p:nvSpPr>
        <p:spPr>
          <a:xfrm>
            <a:off x="1051111" y="3745038"/>
            <a:ext cx="1799700" cy="117983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61401" y="4005383"/>
            <a:ext cx="579120" cy="152721"/>
          </a:xfrm>
          <a:prstGeom prst="rect">
            <a:avLst/>
          </a:prstGeom>
          <a:solidFill>
            <a:srgbClr val="00B05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1653088" y="4258595"/>
            <a:ext cx="579120" cy="152721"/>
          </a:xfrm>
          <a:prstGeom prst="rect">
            <a:avLst/>
          </a:prstGeom>
          <a:solidFill>
            <a:srgbClr val="00B05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1654877" y="4515230"/>
            <a:ext cx="579120" cy="152721"/>
          </a:xfrm>
          <a:prstGeom prst="rect">
            <a:avLst/>
          </a:prstGeom>
          <a:solidFill>
            <a:srgbClr val="00B050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12" name="Picture 2" descr="C:\Users\jzhang\Downloads\expert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283" y="3298133"/>
            <a:ext cx="1421744" cy="174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val 12"/>
          <p:cNvSpPr/>
          <p:nvPr/>
        </p:nvSpPr>
        <p:spPr>
          <a:xfrm>
            <a:off x="5789367" y="3732254"/>
            <a:ext cx="2565647" cy="1179834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normal profile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945315" y="4333907"/>
            <a:ext cx="57696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4914048" y="4327062"/>
            <a:ext cx="632696" cy="6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8"/>
          <p:cNvSpPr txBox="1">
            <a:spLocks/>
          </p:cNvSpPr>
          <p:nvPr/>
        </p:nvSpPr>
        <p:spPr>
          <a:xfrm>
            <a:off x="685752" y="3255191"/>
            <a:ext cx="2607425" cy="6265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Benign Samples</a:t>
            </a:r>
          </a:p>
        </p:txBody>
      </p:sp>
      <p:sp>
        <p:nvSpPr>
          <p:cNvPr id="17" name="Content Placeholder 8"/>
          <p:cNvSpPr txBox="1">
            <a:spLocks/>
          </p:cNvSpPr>
          <p:nvPr/>
        </p:nvSpPr>
        <p:spPr>
          <a:xfrm>
            <a:off x="4082840" y="5065935"/>
            <a:ext cx="4682518" cy="83600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Any behavior that deviates from the normal profile will be considered as anomaly</a:t>
            </a:r>
          </a:p>
        </p:txBody>
      </p:sp>
    </p:spTree>
    <p:extLst>
      <p:ext uri="{BB962C8B-B14F-4D97-AF65-F5344CB8AC3E}">
        <p14:creationId xmlns:p14="http://schemas.microsoft.com/office/powerpoint/2010/main" val="4047210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64"/>
            <a:ext cx="8229600" cy="4334927"/>
          </a:xfrm>
        </p:spPr>
        <p:txBody>
          <a:bodyPr>
            <a:normAutofit/>
          </a:bodyPr>
          <a:lstStyle/>
          <a:p>
            <a:r>
              <a:rPr lang="en-US" dirty="0"/>
              <a:t>Characterize the profiles of benign activities and intrusion activities, respectively</a:t>
            </a:r>
          </a:p>
          <a:p>
            <a:pPr lvl="1"/>
            <a:r>
              <a:rPr lang="en-US" dirty="0"/>
              <a:t>E.g., detection system based on statistical classifier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8CB-6F6F-7E4E-B7F5-E142349BCA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8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V.S. Anomaly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Relatively low false positive rate in practical deployment</a:t>
            </a:r>
          </a:p>
          <a:p>
            <a:pPr lvl="1"/>
            <a:r>
              <a:rPr lang="en-US" dirty="0"/>
              <a:t>Offers information for reaction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Cannot detect novel attacks (e.g., an variant of a malware sample)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19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V.S. Anomaly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Is promising to detect new attacks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Disadvantage</a:t>
            </a:r>
          </a:p>
          <a:p>
            <a:pPr lvl="1"/>
            <a:r>
              <a:rPr lang="en-US" dirty="0"/>
              <a:t>Relatively high false positive rate in practical deployment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Offers little information for reaction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167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SNORT: A Misuse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What is Snort?</a:t>
            </a:r>
          </a:p>
          <a:p>
            <a:pPr lvl="1"/>
            <a:r>
              <a:rPr lang="en-US" sz="3200" dirty="0"/>
              <a:t>Snort is a multi-mode packet analysis tool</a:t>
            </a:r>
          </a:p>
          <a:p>
            <a:pPr lvl="2"/>
            <a:r>
              <a:rPr lang="en-US" sz="2800" dirty="0"/>
              <a:t>Sniffer</a:t>
            </a:r>
          </a:p>
          <a:p>
            <a:pPr lvl="2"/>
            <a:r>
              <a:rPr lang="en-US" sz="2800" dirty="0"/>
              <a:t>Packet Logger</a:t>
            </a:r>
          </a:p>
          <a:p>
            <a:pPr lvl="2"/>
            <a:r>
              <a:rPr lang="en-US" sz="2800" dirty="0"/>
              <a:t>Forensic Data Analysis tool</a:t>
            </a:r>
          </a:p>
          <a:p>
            <a:pPr lvl="2"/>
            <a:r>
              <a:rPr lang="en-US" sz="2800" dirty="0"/>
              <a:t>Network Intrusion Detection System</a:t>
            </a:r>
            <a:endParaRPr lang="en-US" sz="32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6364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Architecture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360525" y="2423187"/>
            <a:ext cx="2893392" cy="271633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680511" y="4493586"/>
            <a:ext cx="2362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dirty="0"/>
              <a:t>Packet Sniffer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680511" y="4010038"/>
            <a:ext cx="2362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dirty="0"/>
              <a:t>Preprocessor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680511" y="3517979"/>
            <a:ext cx="2362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dirty="0"/>
              <a:t>Detection Engine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3680511" y="3019174"/>
            <a:ext cx="2362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dirty="0"/>
              <a:t>Alerts &amp; Logging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 rot="16200000">
            <a:off x="4518280" y="3291275"/>
            <a:ext cx="624819" cy="4648200"/>
          </a:xfrm>
          <a:prstGeom prst="upDownArrow">
            <a:avLst>
              <a:gd name="adj1" fmla="val 50000"/>
              <a:gd name="adj2" fmla="val 7176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 eaLnBrk="0" hangingPunct="0"/>
            <a:r>
              <a:rPr lang="en-US" dirty="0"/>
              <a:t>Packet Stream</a:t>
            </a:r>
          </a:p>
        </p:txBody>
      </p:sp>
      <p:sp>
        <p:nvSpPr>
          <p:cNvPr id="10" name="AutoShape 11"/>
          <p:cNvSpPr>
            <a:spLocks noChangeArrowheads="1"/>
          </p:cNvSpPr>
          <p:nvPr/>
        </p:nvSpPr>
        <p:spPr bwMode="auto">
          <a:xfrm rot="16200000">
            <a:off x="4592134" y="4942532"/>
            <a:ext cx="525979" cy="393978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440935" y="2442584"/>
            <a:ext cx="1404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2800" dirty="0">
                <a:latin typeface="Copperplate Gothic Bold" charset="0"/>
              </a:rPr>
              <a:t>Snort</a:t>
            </a:r>
            <a:endParaRPr lang="en-US" dirty="0"/>
          </a:p>
        </p:txBody>
      </p:sp>
      <p:sp>
        <p:nvSpPr>
          <p:cNvPr id="13" name="AutoShape 14"/>
          <p:cNvSpPr>
            <a:spLocks noChangeArrowheads="1"/>
          </p:cNvSpPr>
          <p:nvPr/>
        </p:nvSpPr>
        <p:spPr bwMode="auto">
          <a:xfrm rot="16200000">
            <a:off x="5062448" y="1819213"/>
            <a:ext cx="1520999" cy="762000"/>
          </a:xfrm>
          <a:prstGeom prst="rightArrow">
            <a:avLst>
              <a:gd name="adj1" fmla="val 50000"/>
              <a:gd name="adj2" fmla="val 67500"/>
            </a:avLst>
          </a:prstGeom>
          <a:solidFill>
            <a:srgbClr val="00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/>
              <a:t>Alerts/Logs</a:t>
            </a:r>
          </a:p>
        </p:txBody>
      </p:sp>
      <p:sp>
        <p:nvSpPr>
          <p:cNvPr id="14" name="Oval Callout 13"/>
          <p:cNvSpPr/>
          <p:nvPr/>
        </p:nvSpPr>
        <p:spPr>
          <a:xfrm>
            <a:off x="870759" y="3317694"/>
            <a:ext cx="1956367" cy="643402"/>
          </a:xfrm>
          <a:prstGeom prst="wedgeEllipseCallout">
            <a:avLst>
              <a:gd name="adj1" fmla="val 99030"/>
              <a:gd name="adj2" fmla="val -370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Misuse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0759" y="4083087"/>
            <a:ext cx="2105903" cy="5925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Signatures are called “rules” in SNORT</a:t>
            </a:r>
          </a:p>
        </p:txBody>
      </p:sp>
    </p:spTree>
    <p:extLst>
      <p:ext uri="{BB962C8B-B14F-4D97-AF65-F5344CB8AC3E}">
        <p14:creationId xmlns:p14="http://schemas.microsoft.com/office/powerpoint/2010/main" val="3961389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1600200"/>
            <a:ext cx="4876800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Packet Sniffer</a:t>
            </a:r>
          </a:p>
          <a:p>
            <a:pPr lvl="1"/>
            <a:r>
              <a:rPr lang="en-US" dirty="0"/>
              <a:t>Captures packets from the network, usually using </a:t>
            </a:r>
            <a:r>
              <a:rPr lang="en-US" dirty="0" err="1"/>
              <a:t>pcap</a:t>
            </a:r>
            <a:endParaRPr lang="en-US" dirty="0"/>
          </a:p>
          <a:p>
            <a:pPr lvl="1"/>
            <a:r>
              <a:rPr lang="en-US" dirty="0"/>
              <a:t>Decodes/parses packets</a:t>
            </a:r>
          </a:p>
          <a:p>
            <a:r>
              <a:rPr lang="en-US" dirty="0"/>
              <a:t>Preprocessor</a:t>
            </a:r>
          </a:p>
          <a:p>
            <a:pPr lvl="1"/>
            <a:r>
              <a:rPr lang="en-US" dirty="0"/>
              <a:t>A set of plug-ins for</a:t>
            </a:r>
          </a:p>
          <a:p>
            <a:pPr lvl="2"/>
            <a:r>
              <a:rPr lang="en-US" dirty="0"/>
              <a:t>E.g., fragment reassemble</a:t>
            </a:r>
          </a:p>
          <a:p>
            <a:pPr lvl="2"/>
            <a:r>
              <a:rPr lang="en-US" dirty="0"/>
              <a:t>E.g., integrating anomaly detection capabilities (detect port scanning)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165656" y="1600200"/>
            <a:ext cx="3302000" cy="4488071"/>
            <a:chOff x="165656" y="1600200"/>
            <a:chExt cx="3302000" cy="4488071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77957" y="2583674"/>
              <a:ext cx="2893392" cy="271633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697943" y="4654073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Packet Sniffer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697943" y="4170525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Preprocessor</a:t>
              </a: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97943" y="3678466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Detection Engine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697943" y="3179661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Alerts &amp; Logging</a:t>
              </a:r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 rot="16200000">
              <a:off x="1504246" y="4124862"/>
              <a:ext cx="624819" cy="3302000"/>
            </a:xfrm>
            <a:prstGeom prst="upDownArrow">
              <a:avLst>
                <a:gd name="adj1" fmla="val 50000"/>
                <a:gd name="adj2" fmla="val 71765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eaLnBrk="0" hangingPunct="0"/>
              <a:r>
                <a:rPr lang="en-US" dirty="0"/>
                <a:t>Packet Stream</a:t>
              </a:r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 rot="16200000">
              <a:off x="1609566" y="5103019"/>
              <a:ext cx="525979" cy="393978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dirty="0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58367" y="2603071"/>
              <a:ext cx="140493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800" dirty="0">
                  <a:latin typeface="Copperplate Gothic Bold" charset="0"/>
                </a:rPr>
                <a:t>Snort</a:t>
              </a:r>
              <a:endParaRPr lang="en-US" dirty="0"/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 rot="16200000">
              <a:off x="2079880" y="1979700"/>
              <a:ext cx="1520999" cy="762000"/>
            </a:xfrm>
            <a:prstGeom prst="rightArrow">
              <a:avLst>
                <a:gd name="adj1" fmla="val 50000"/>
                <a:gd name="adj2" fmla="val 67500"/>
              </a:avLst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/>
                <a:t>Alerts/Logs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70929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1600200"/>
            <a:ext cx="4876800" cy="4525963"/>
          </a:xfrm>
        </p:spPr>
        <p:txBody>
          <a:bodyPr>
            <a:normAutofit/>
          </a:bodyPr>
          <a:lstStyle/>
          <a:p>
            <a:r>
              <a:rPr lang="en-US" dirty="0"/>
              <a:t>Detection Engine</a:t>
            </a:r>
          </a:p>
          <a:p>
            <a:pPr lvl="1"/>
            <a:r>
              <a:rPr lang="en-US" dirty="0"/>
              <a:t>Misuse-based (signature-based) IDS</a:t>
            </a:r>
          </a:p>
          <a:p>
            <a:pPr lvl="1"/>
            <a:r>
              <a:rPr lang="en-US" dirty="0"/>
              <a:t>Signatures are called “rules” in SNORT</a:t>
            </a:r>
          </a:p>
          <a:p>
            <a:pPr lvl="1"/>
            <a:r>
              <a:rPr lang="en-US" dirty="0"/>
              <a:t>Rule</a:t>
            </a:r>
          </a:p>
          <a:p>
            <a:pPr lvl="2"/>
            <a:r>
              <a:rPr lang="en-US" dirty="0"/>
              <a:t>Header</a:t>
            </a:r>
          </a:p>
          <a:p>
            <a:pPr lvl="2"/>
            <a:r>
              <a:rPr lang="en-US"/>
              <a:t>Option 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65656" y="1600200"/>
            <a:ext cx="3302000" cy="4488071"/>
            <a:chOff x="165656" y="1600200"/>
            <a:chExt cx="3302000" cy="4488071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77957" y="2583674"/>
              <a:ext cx="2893392" cy="271633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697943" y="4654073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Packet Sniffer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697943" y="4170525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Preprocessor</a:t>
              </a: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97943" y="3678466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Detection Engine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697943" y="3179661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Alerts &amp; Logging</a:t>
              </a:r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 rot="16200000">
              <a:off x="1504246" y="4124862"/>
              <a:ext cx="624819" cy="3302000"/>
            </a:xfrm>
            <a:prstGeom prst="upDownArrow">
              <a:avLst>
                <a:gd name="adj1" fmla="val 50000"/>
                <a:gd name="adj2" fmla="val 71765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eaLnBrk="0" hangingPunct="0"/>
              <a:r>
                <a:rPr lang="en-US" dirty="0"/>
                <a:t>Packet Stream</a:t>
              </a:r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 rot="16200000">
              <a:off x="1609566" y="5103019"/>
              <a:ext cx="525979" cy="393978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dirty="0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58367" y="2603071"/>
              <a:ext cx="140493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800" dirty="0">
                  <a:latin typeface="Copperplate Gothic Bold" charset="0"/>
                </a:rPr>
                <a:t>Snort</a:t>
              </a:r>
              <a:endParaRPr lang="en-US" dirty="0"/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 rot="16200000">
              <a:off x="2079880" y="1979700"/>
              <a:ext cx="1520999" cy="762000"/>
            </a:xfrm>
            <a:prstGeom prst="rightArrow">
              <a:avLst>
                <a:gd name="adj1" fmla="val 50000"/>
                <a:gd name="adj2" fmla="val 67500"/>
              </a:avLst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/>
                <a:t>Alerts/Logs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8923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2293794"/>
            <a:ext cx="4876800" cy="3832369"/>
          </a:xfrm>
        </p:spPr>
        <p:txBody>
          <a:bodyPr>
            <a:normAutofit/>
          </a:bodyPr>
          <a:lstStyle/>
          <a:p>
            <a:r>
              <a:rPr lang="en-US" dirty="0"/>
              <a:t>Alerting and Logging</a:t>
            </a:r>
          </a:p>
          <a:p>
            <a:pPr lvl="1"/>
            <a:r>
              <a:rPr lang="en-US" dirty="0"/>
              <a:t>Various plugins to format alerts</a:t>
            </a:r>
          </a:p>
          <a:p>
            <a:pPr lvl="2"/>
            <a:r>
              <a:rPr lang="en-US" dirty="0"/>
              <a:t>E.g., html-based output, email alerts, and etc.</a:t>
            </a:r>
          </a:p>
          <a:p>
            <a:pPr lvl="1"/>
            <a:r>
              <a:rPr lang="en-US" dirty="0"/>
              <a:t>Log “interesting packets”</a:t>
            </a:r>
          </a:p>
          <a:p>
            <a:pPr lvl="1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65656" y="1600200"/>
            <a:ext cx="3302000" cy="4488071"/>
            <a:chOff x="165656" y="1600200"/>
            <a:chExt cx="3302000" cy="4488071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77957" y="2583674"/>
              <a:ext cx="2893392" cy="271633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697943" y="4654073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Packet Sniffer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697943" y="4170525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Preprocessor</a:t>
              </a: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97943" y="3678466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Detection Engine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697943" y="3179661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Alerts &amp; Logging</a:t>
              </a:r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 rot="16200000">
              <a:off x="1504246" y="4124862"/>
              <a:ext cx="624819" cy="3302000"/>
            </a:xfrm>
            <a:prstGeom prst="upDownArrow">
              <a:avLst>
                <a:gd name="adj1" fmla="val 50000"/>
                <a:gd name="adj2" fmla="val 71765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eaLnBrk="0" hangingPunct="0"/>
              <a:r>
                <a:rPr lang="en-US" dirty="0"/>
                <a:t>Packet Stream</a:t>
              </a:r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 rot="16200000">
              <a:off x="1609566" y="5103019"/>
              <a:ext cx="525979" cy="393978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dirty="0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58367" y="2603071"/>
              <a:ext cx="140493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800" dirty="0">
                  <a:latin typeface="Copperplate Gothic Bold" charset="0"/>
                </a:rPr>
                <a:t>Snort</a:t>
              </a:r>
              <a:endParaRPr lang="en-US" dirty="0"/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 rot="16200000">
              <a:off x="2079880" y="1979700"/>
              <a:ext cx="1520999" cy="762000"/>
            </a:xfrm>
            <a:prstGeom prst="rightArrow">
              <a:avLst>
                <a:gd name="adj1" fmla="val 50000"/>
                <a:gd name="adj2" fmla="val 67500"/>
              </a:avLst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/>
                <a:t>Alerts/Logs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6544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1600200"/>
            <a:ext cx="4876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Rule</a:t>
            </a:r>
          </a:p>
          <a:p>
            <a:pPr lvl="1"/>
            <a:r>
              <a:rPr lang="en-US" dirty="0"/>
              <a:t>Rule Header</a:t>
            </a:r>
          </a:p>
          <a:p>
            <a:pPr lvl="2"/>
            <a:r>
              <a:rPr lang="en-US" dirty="0"/>
              <a:t>Action to take</a:t>
            </a:r>
          </a:p>
          <a:p>
            <a:pPr lvl="2"/>
            <a:r>
              <a:rPr lang="en-US" dirty="0"/>
              <a:t>Type of packet</a:t>
            </a:r>
          </a:p>
          <a:p>
            <a:pPr lvl="2"/>
            <a:r>
              <a:rPr lang="en-US" dirty="0"/>
              <a:t>Source, destination IP address</a:t>
            </a:r>
          </a:p>
          <a:p>
            <a:pPr lvl="2"/>
            <a:r>
              <a:rPr lang="en-US" dirty="0"/>
              <a:t>……</a:t>
            </a:r>
          </a:p>
          <a:p>
            <a:pPr lvl="1"/>
            <a:r>
              <a:rPr lang="en-US" dirty="0"/>
              <a:t>Rule Option</a:t>
            </a:r>
          </a:p>
          <a:p>
            <a:pPr lvl="2"/>
            <a:r>
              <a:rPr lang="en-US" dirty="0"/>
              <a:t>Content of packet that should make the packet match the rule </a:t>
            </a:r>
          </a:p>
          <a:p>
            <a:pPr lvl="1"/>
            <a:r>
              <a:rPr lang="en-US" dirty="0"/>
              <a:t>Rules are created by known intrusion signatures. </a:t>
            </a:r>
          </a:p>
          <a:p>
            <a:pPr lvl="1"/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65656" y="1600200"/>
            <a:ext cx="3302000" cy="4488071"/>
            <a:chOff x="165656" y="1600200"/>
            <a:chExt cx="3302000" cy="4488071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77957" y="2583674"/>
              <a:ext cx="2893392" cy="2716335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Text Box 6"/>
            <p:cNvSpPr txBox="1">
              <a:spLocks noChangeArrowheads="1"/>
            </p:cNvSpPr>
            <p:nvPr/>
          </p:nvSpPr>
          <p:spPr bwMode="auto">
            <a:xfrm>
              <a:off x="697943" y="4654073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Packet Sniffer</a:t>
              </a:r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697943" y="4170525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Preprocessor</a:t>
              </a:r>
            </a:p>
          </p:txBody>
        </p:sp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97943" y="3678466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Detection Engine</a:t>
              </a: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697943" y="3179661"/>
              <a:ext cx="2362200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dirty="0"/>
                <a:t>Alerts &amp; Logging</a:t>
              </a:r>
            </a:p>
          </p:txBody>
        </p:sp>
        <p:sp>
          <p:nvSpPr>
            <p:cNvPr id="9" name="AutoShape 10"/>
            <p:cNvSpPr>
              <a:spLocks noChangeArrowheads="1"/>
            </p:cNvSpPr>
            <p:nvPr/>
          </p:nvSpPr>
          <p:spPr bwMode="auto">
            <a:xfrm rot="16200000">
              <a:off x="1504246" y="4124862"/>
              <a:ext cx="624819" cy="3302000"/>
            </a:xfrm>
            <a:prstGeom prst="upDownArrow">
              <a:avLst>
                <a:gd name="adj1" fmla="val 50000"/>
                <a:gd name="adj2" fmla="val 71765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 eaLnBrk="0" hangingPunct="0"/>
              <a:r>
                <a:rPr lang="en-US" dirty="0"/>
                <a:t>Packet Stream</a:t>
              </a:r>
            </a:p>
          </p:txBody>
        </p:sp>
        <p:sp>
          <p:nvSpPr>
            <p:cNvPr id="10" name="AutoShape 11"/>
            <p:cNvSpPr>
              <a:spLocks noChangeArrowheads="1"/>
            </p:cNvSpPr>
            <p:nvPr/>
          </p:nvSpPr>
          <p:spPr bwMode="auto">
            <a:xfrm rot="16200000">
              <a:off x="1609566" y="5103019"/>
              <a:ext cx="525979" cy="393978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endParaRPr lang="en-US" dirty="0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58367" y="2603071"/>
              <a:ext cx="1404938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800" dirty="0">
                  <a:latin typeface="Copperplate Gothic Bold" charset="0"/>
                </a:rPr>
                <a:t>Snort</a:t>
              </a:r>
              <a:endParaRPr lang="en-US" dirty="0"/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 rot="16200000">
              <a:off x="2079880" y="1979700"/>
              <a:ext cx="1520999" cy="762000"/>
            </a:xfrm>
            <a:prstGeom prst="rightArrow">
              <a:avLst>
                <a:gd name="adj1" fmla="val 50000"/>
                <a:gd name="adj2" fmla="val 67500"/>
              </a:avLst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/>
                <a:t>Alerts/Logs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9853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08" y="-30162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SNORT Rule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404" y="4416055"/>
            <a:ext cx="7403809" cy="21559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</a:rPr>
              <a:t>alert </a:t>
            </a:r>
            <a:r>
              <a:rPr lang="en-US" sz="2000" dirty="0" err="1">
                <a:solidFill>
                  <a:srgbClr val="000000"/>
                </a:solidFill>
              </a:rPr>
              <a:t>tcp</a:t>
            </a:r>
            <a:r>
              <a:rPr lang="en-US" sz="2000" dirty="0">
                <a:solidFill>
                  <a:srgbClr val="000000"/>
                </a:solidFill>
              </a:rPr>
              <a:t> $</a:t>
            </a:r>
            <a:r>
              <a:rPr lang="en-US" sz="2000" dirty="0" err="1">
                <a:solidFill>
                  <a:srgbClr val="000000"/>
                </a:solidFill>
              </a:rPr>
              <a:t>External_NET</a:t>
            </a:r>
            <a:r>
              <a:rPr lang="en-US" sz="2000" dirty="0">
                <a:solidFill>
                  <a:srgbClr val="000000"/>
                </a:solidFill>
              </a:rPr>
              <a:t> any -&gt; $</a:t>
            </a:r>
            <a:r>
              <a:rPr lang="en-US" sz="2000" dirty="0" err="1">
                <a:solidFill>
                  <a:srgbClr val="000000"/>
                </a:solidFill>
              </a:rPr>
              <a:t>Home_NET</a:t>
            </a:r>
            <a:r>
              <a:rPr lang="en-US" sz="2000" dirty="0">
                <a:solidFill>
                  <a:srgbClr val="000000"/>
                </a:solidFill>
              </a:rPr>
              <a:t> 21 (</a:t>
            </a:r>
            <a:r>
              <a:rPr lang="en-US" sz="2000" dirty="0" err="1">
                <a:solidFill>
                  <a:srgbClr val="000000"/>
                </a:solidFill>
              </a:rPr>
              <a:t>msg</a:t>
            </a:r>
            <a:r>
              <a:rPr lang="en-US" sz="2000" dirty="0">
                <a:solidFill>
                  <a:srgbClr val="000000"/>
                </a:solidFill>
              </a:rPr>
              <a:t>: </a:t>
            </a:r>
            <a:r>
              <a:rPr lang="ja-JP" altLang="en-US" sz="2000" dirty="0">
                <a:solidFill>
                  <a:srgbClr val="000000"/>
                </a:solidFill>
                <a:latin typeface="Arial"/>
              </a:rPr>
              <a:t>“</a:t>
            </a:r>
            <a:r>
              <a:rPr lang="en-US" sz="2000" dirty="0">
                <a:solidFill>
                  <a:srgbClr val="000000"/>
                </a:solidFill>
              </a:rPr>
              <a:t>ftp Exploit</a:t>
            </a:r>
            <a:r>
              <a:rPr lang="ja-JP" altLang="en-US" sz="2000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sz="2000" dirty="0">
                <a:solidFill>
                  <a:srgbClr val="000000"/>
                </a:solidFill>
              </a:rPr>
              <a:t>; </a:t>
            </a:r>
            <a:r>
              <a:rPr lang="en-US" sz="2000" dirty="0" err="1">
                <a:solidFill>
                  <a:srgbClr val="000000"/>
                </a:solidFill>
              </a:rPr>
              <a:t>flow_to_server</a:t>
            </a:r>
            <a:r>
              <a:rPr lang="en-US" sz="2000" dirty="0">
                <a:solidFill>
                  <a:srgbClr val="000000"/>
                </a:solidFill>
              </a:rPr>
              <a:t>, established; content: </a:t>
            </a:r>
            <a:r>
              <a:rPr lang="ja-JP" altLang="en-US" sz="2000" dirty="0">
                <a:solidFill>
                  <a:srgbClr val="000000"/>
                </a:solidFill>
                <a:latin typeface="Arial"/>
              </a:rPr>
              <a:t>“</a:t>
            </a:r>
            <a:r>
              <a:rPr lang="en-US" sz="2000" dirty="0">
                <a:solidFill>
                  <a:srgbClr val="000000"/>
                </a:solidFill>
              </a:rPr>
              <a:t>|31c031db 41c9b046 cd80 31c031db|</a:t>
            </a:r>
            <a:r>
              <a:rPr lang="ja-JP" altLang="en-US" sz="2000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sz="2000" dirty="0">
                <a:solidFill>
                  <a:srgbClr val="000000"/>
                </a:solidFill>
              </a:rPr>
              <a:t>; reference: bugtraq,1387; </a:t>
            </a:r>
            <a:r>
              <a:rPr lang="en-US" sz="2000" dirty="0" err="1">
                <a:solidFill>
                  <a:srgbClr val="000000"/>
                </a:solidFill>
              </a:rPr>
              <a:t>classtype:attempted-admin</a:t>
            </a:r>
            <a:r>
              <a:rPr lang="en-US" sz="2000" dirty="0">
                <a:solidFill>
                  <a:srgbClr val="000000"/>
                </a:solidFill>
              </a:rPr>
              <a:t>; </a:t>
            </a:r>
            <a:r>
              <a:rPr lang="en-US" sz="2000" dirty="0" err="1">
                <a:solidFill>
                  <a:srgbClr val="000000"/>
                </a:solidFill>
              </a:rPr>
              <a:t>sid</a:t>
            </a:r>
            <a:r>
              <a:rPr lang="en-US" sz="2000" dirty="0">
                <a:solidFill>
                  <a:srgbClr val="000000"/>
                </a:solidFill>
              </a:rPr>
              <a:t> 344; rev:4;) </a:t>
            </a:r>
          </a:p>
          <a:p>
            <a:pPr lvl="1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DB80D0-6EDE-4EA5-1613-8D477E586962}"/>
              </a:ext>
            </a:extLst>
          </p:cNvPr>
          <p:cNvSpPr txBox="1"/>
          <p:nvPr/>
        </p:nvSpPr>
        <p:spPr>
          <a:xfrm>
            <a:off x="402708" y="808335"/>
            <a:ext cx="815340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en-US" dirty="0"/>
          </a:p>
          <a:p>
            <a:pPr lvl="1"/>
            <a:r>
              <a:rPr lang="en-US" altLang="en-US" sz="2400" dirty="0"/>
              <a:t>Rule Header:</a:t>
            </a:r>
          </a:p>
          <a:p>
            <a:pPr lvl="2"/>
            <a:r>
              <a:rPr lang="en-US" altLang="en-US" sz="2000" dirty="0"/>
              <a:t>Action: alert / log / pass / dynamic / activate</a:t>
            </a:r>
          </a:p>
          <a:p>
            <a:pPr lvl="2"/>
            <a:r>
              <a:rPr lang="en-US" altLang="en-US" sz="2000" dirty="0"/>
              <a:t>Protocol: TCP / UDP / IP / ICMP</a:t>
            </a:r>
          </a:p>
          <a:p>
            <a:pPr lvl="2"/>
            <a:r>
              <a:rPr lang="en-US" altLang="en-US" sz="2000" dirty="0"/>
              <a:t>Address: source IP address range, default is any</a:t>
            </a:r>
          </a:p>
          <a:p>
            <a:pPr lvl="2"/>
            <a:r>
              <a:rPr lang="en-US" altLang="en-US" sz="2000" dirty="0"/>
              <a:t>Port: source port, default is any</a:t>
            </a:r>
          </a:p>
          <a:p>
            <a:pPr lvl="2"/>
            <a:r>
              <a:rPr lang="en-US" altLang="en-US" sz="2000" dirty="0"/>
              <a:t>Direction: -&gt; direction of conversation</a:t>
            </a:r>
          </a:p>
          <a:p>
            <a:pPr lvl="2"/>
            <a:r>
              <a:rPr lang="en-US" altLang="en-US" sz="2000" dirty="0"/>
              <a:t>Address: destination IP address range, default is any</a:t>
            </a:r>
          </a:p>
          <a:p>
            <a:pPr lvl="2"/>
            <a:r>
              <a:rPr lang="en-US" altLang="en-US" sz="2000" dirty="0"/>
              <a:t>Port: destination port, default is any</a:t>
            </a:r>
          </a:p>
          <a:p>
            <a:pPr lvl="1"/>
            <a:r>
              <a:rPr lang="en-US" altLang="en-US" sz="2400" dirty="0"/>
              <a:t>Rule Options: </a:t>
            </a:r>
            <a:r>
              <a:rPr lang="en-US" sz="2000" dirty="0"/>
              <a:t>Rule option is placed in parentheses. Snort will look for keywords to see if the data payload contains the dangerous payload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93141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Rule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0530"/>
            <a:ext cx="8229600" cy="3849242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sz="2800" dirty="0"/>
              <a:t>Rule Header</a:t>
            </a:r>
          </a:p>
          <a:p>
            <a:pPr lvl="1">
              <a:defRPr/>
            </a:pPr>
            <a:r>
              <a:rPr lang="en-US" sz="2000" dirty="0"/>
              <a:t>Alert / log / pass / dynamic / activate</a:t>
            </a:r>
          </a:p>
          <a:p>
            <a:pPr lvl="1">
              <a:defRPr/>
            </a:pPr>
            <a:r>
              <a:rPr lang="en-US" sz="2000" dirty="0" err="1"/>
              <a:t>tcp</a:t>
            </a:r>
            <a:r>
              <a:rPr lang="en-US" sz="2000" dirty="0"/>
              <a:t>: Protocol being used. UDP / IP / ICMP</a:t>
            </a:r>
          </a:p>
          <a:p>
            <a:pPr lvl="1">
              <a:defRPr/>
            </a:pPr>
            <a:r>
              <a:rPr lang="en-US" sz="2000" dirty="0"/>
              <a:t>$</a:t>
            </a:r>
            <a:r>
              <a:rPr lang="en-US" sz="2000" dirty="0" err="1"/>
              <a:t>External_NET</a:t>
            </a:r>
            <a:r>
              <a:rPr lang="en-US" sz="2000" dirty="0"/>
              <a:t>: This is the source IP, default is any.</a:t>
            </a:r>
          </a:p>
          <a:p>
            <a:pPr lvl="1">
              <a:defRPr/>
            </a:pPr>
            <a:r>
              <a:rPr lang="en-US" sz="2000" dirty="0"/>
              <a:t>any: This is the source port set to </a:t>
            </a:r>
            <a:r>
              <a:rPr lang="ja-JP" altLang="en-US" sz="2000" dirty="0">
                <a:latin typeface="Arial"/>
              </a:rPr>
              <a:t>“</a:t>
            </a:r>
            <a:r>
              <a:rPr lang="en-US" sz="2000" dirty="0"/>
              <a:t>any</a:t>
            </a:r>
            <a:r>
              <a:rPr lang="ja-JP" altLang="en-US" sz="2000" dirty="0">
                <a:latin typeface="Arial"/>
              </a:rPr>
              <a:t>”</a:t>
            </a:r>
            <a:endParaRPr lang="en-US" sz="2000" dirty="0"/>
          </a:p>
          <a:p>
            <a:pPr lvl="1">
              <a:defRPr/>
            </a:pPr>
            <a:r>
              <a:rPr lang="en-US" sz="2000" dirty="0"/>
              <a:t>-&gt;: Direction of connection (e.g., who initiates the connection?).</a:t>
            </a:r>
          </a:p>
          <a:p>
            <a:pPr lvl="1">
              <a:defRPr/>
            </a:pPr>
            <a:r>
              <a:rPr lang="en-US" sz="2000" dirty="0"/>
              <a:t> $</a:t>
            </a:r>
            <a:r>
              <a:rPr lang="en-US" sz="2000" dirty="0" err="1"/>
              <a:t>Home_NET</a:t>
            </a:r>
            <a:r>
              <a:rPr lang="en-US" sz="2000" dirty="0"/>
              <a:t>: This is a variable that Snort will replace with </a:t>
            </a:r>
          </a:p>
          <a:p>
            <a:pPr lvl="1">
              <a:defRPr/>
            </a:pPr>
            <a:r>
              <a:rPr lang="en-US" sz="2000" dirty="0"/>
              <a:t>21: Port to be monitored.</a:t>
            </a:r>
          </a:p>
          <a:p>
            <a:pPr>
              <a:defRPr/>
            </a:pPr>
            <a:r>
              <a:rPr lang="en-US" sz="2400" dirty="0"/>
              <a:t>The header concerns all </a:t>
            </a:r>
            <a:r>
              <a:rPr lang="en-US" sz="2400" dirty="0" err="1"/>
              <a:t>tcp</a:t>
            </a:r>
            <a:r>
              <a:rPr lang="en-US" sz="2400" dirty="0"/>
              <a:t> packages coming from any port from the external network to port 21 on the monitored (internal)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0689" y="1457003"/>
            <a:ext cx="6360185" cy="728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</a:rPr>
              <a:t>alert </a:t>
            </a:r>
            <a:r>
              <a:rPr lang="en-US" sz="2000" dirty="0" err="1">
                <a:solidFill>
                  <a:srgbClr val="000000"/>
                </a:solidFill>
              </a:rPr>
              <a:t>tcp</a:t>
            </a:r>
            <a:r>
              <a:rPr lang="en-US" sz="2000" dirty="0">
                <a:solidFill>
                  <a:srgbClr val="000000"/>
                </a:solidFill>
              </a:rPr>
              <a:t> $</a:t>
            </a:r>
            <a:r>
              <a:rPr lang="en-US" sz="2000" dirty="0" err="1">
                <a:solidFill>
                  <a:srgbClr val="000000"/>
                </a:solidFill>
              </a:rPr>
              <a:t>External_NET</a:t>
            </a:r>
            <a:r>
              <a:rPr lang="en-US" sz="2000" dirty="0">
                <a:solidFill>
                  <a:srgbClr val="000000"/>
                </a:solidFill>
              </a:rPr>
              <a:t> any -&gt; $</a:t>
            </a:r>
            <a:r>
              <a:rPr lang="en-US" sz="2000" dirty="0" err="1">
                <a:solidFill>
                  <a:srgbClr val="000000"/>
                </a:solidFill>
              </a:rPr>
              <a:t>Home_NET</a:t>
            </a:r>
            <a:r>
              <a:rPr lang="en-US" sz="2000" dirty="0">
                <a:solidFill>
                  <a:srgbClr val="000000"/>
                </a:solidFill>
              </a:rPr>
              <a:t> 21 (……) </a:t>
            </a:r>
          </a:p>
        </p:txBody>
      </p:sp>
    </p:spTree>
    <p:extLst>
      <p:ext uri="{BB962C8B-B14F-4D97-AF65-F5344CB8AC3E}">
        <p14:creationId xmlns:p14="http://schemas.microsoft.com/office/powerpoint/2010/main" val="106514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SNORT Rule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828" y="2756490"/>
            <a:ext cx="8634496" cy="35932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/>
              <a:t>Rule Options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err="1"/>
              <a:t>msg</a:t>
            </a:r>
            <a:r>
              <a:rPr lang="en-US" sz="2000" dirty="0"/>
              <a:t>: </a:t>
            </a:r>
            <a:r>
              <a:rPr lang="ja-JP" altLang="en-US" sz="2000" dirty="0">
                <a:latin typeface="Arial"/>
              </a:rPr>
              <a:t>“</a:t>
            </a:r>
            <a:r>
              <a:rPr lang="en-US" sz="2000" dirty="0"/>
              <a:t>ftp Exploit</a:t>
            </a:r>
            <a:r>
              <a:rPr lang="ja-JP" altLang="en-US" sz="2000" dirty="0">
                <a:latin typeface="Arial"/>
              </a:rPr>
              <a:t>”</a:t>
            </a:r>
            <a:r>
              <a:rPr lang="en-US" sz="2000" dirty="0"/>
              <a:t>;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err="1"/>
              <a:t>flow_to_server</a:t>
            </a:r>
            <a:r>
              <a:rPr lang="en-US" sz="2000" dirty="0"/>
              <a:t>, established;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content: </a:t>
            </a:r>
            <a:r>
              <a:rPr lang="ja-JP" altLang="en-US" sz="2000" dirty="0">
                <a:latin typeface="Arial"/>
              </a:rPr>
              <a:t>“</a:t>
            </a:r>
            <a:r>
              <a:rPr lang="en-US" sz="2000" dirty="0"/>
              <a:t>|31c031db 41c9b046 cd80 31c031db|</a:t>
            </a:r>
            <a:r>
              <a:rPr lang="ja-JP" altLang="en-US" sz="2000" dirty="0">
                <a:latin typeface="Arial"/>
              </a:rPr>
              <a:t>”</a:t>
            </a:r>
            <a:r>
              <a:rPr lang="en-US" sz="2000" dirty="0"/>
              <a:t>; Snort will look whether the packet contains such content.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reference: bugtraq,1387; for identifying information third-party warnings.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err="1"/>
              <a:t>classtype:attempted-admin</a:t>
            </a:r>
            <a:r>
              <a:rPr lang="en-US" sz="2000" dirty="0"/>
              <a:t>;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 err="1"/>
              <a:t>sid</a:t>
            </a:r>
            <a:r>
              <a:rPr lang="en-US" sz="2000" dirty="0"/>
              <a:t> 344; the unique identifier for this Snort rule (</a:t>
            </a:r>
            <a:r>
              <a:rPr lang="en-US" sz="2000" dirty="0">
                <a:hlinkClick r:id="rId3"/>
              </a:rPr>
              <a:t>www.snort.org/snort-db</a:t>
            </a:r>
            <a:r>
              <a:rPr lang="en-US" sz="2000" dirty="0"/>
              <a:t>).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000" dirty="0"/>
              <a:t>rev:4; the revision number for this rule.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0689" y="1466849"/>
            <a:ext cx="6360185" cy="10139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defRPr/>
            </a:pPr>
            <a:r>
              <a:rPr lang="en-US" dirty="0">
                <a:solidFill>
                  <a:srgbClr val="000000"/>
                </a:solidFill>
              </a:rPr>
              <a:t>…… (</a:t>
            </a:r>
            <a:r>
              <a:rPr lang="en-US" dirty="0" err="1">
                <a:solidFill>
                  <a:srgbClr val="000000"/>
                </a:solidFill>
              </a:rPr>
              <a:t>msg</a:t>
            </a:r>
            <a:r>
              <a:rPr lang="en-US" dirty="0">
                <a:solidFill>
                  <a:srgbClr val="000000"/>
                </a:solidFill>
              </a:rPr>
              <a:t>: </a:t>
            </a:r>
            <a:r>
              <a:rPr lang="ja-JP" altLang="en-US" dirty="0">
                <a:solidFill>
                  <a:srgbClr val="000000"/>
                </a:solidFill>
                <a:latin typeface="Arial"/>
              </a:rPr>
              <a:t>“</a:t>
            </a:r>
            <a:r>
              <a:rPr lang="en-US" dirty="0">
                <a:solidFill>
                  <a:srgbClr val="000000"/>
                </a:solidFill>
              </a:rPr>
              <a:t>ftp Exploit</a:t>
            </a:r>
            <a:r>
              <a:rPr lang="ja-JP" altLang="en-US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dirty="0">
                <a:solidFill>
                  <a:srgbClr val="000000"/>
                </a:solidFill>
              </a:rPr>
              <a:t>; </a:t>
            </a:r>
            <a:r>
              <a:rPr lang="en-US" dirty="0" err="1">
                <a:solidFill>
                  <a:srgbClr val="000000"/>
                </a:solidFill>
              </a:rPr>
              <a:t>flow_to_server</a:t>
            </a:r>
            <a:r>
              <a:rPr lang="en-US" dirty="0">
                <a:solidFill>
                  <a:srgbClr val="000000"/>
                </a:solidFill>
              </a:rPr>
              <a:t>, established; content: </a:t>
            </a:r>
            <a:r>
              <a:rPr lang="ja-JP" altLang="en-US" dirty="0">
                <a:solidFill>
                  <a:srgbClr val="000000"/>
                </a:solidFill>
                <a:latin typeface="Arial"/>
              </a:rPr>
              <a:t>“</a:t>
            </a:r>
            <a:r>
              <a:rPr lang="en-US" dirty="0">
                <a:solidFill>
                  <a:srgbClr val="000000"/>
                </a:solidFill>
              </a:rPr>
              <a:t>|31c031db 41c9b046 cd80 31c031db|</a:t>
            </a:r>
            <a:r>
              <a:rPr lang="ja-JP" altLang="en-US" dirty="0">
                <a:solidFill>
                  <a:srgbClr val="000000"/>
                </a:solidFill>
                <a:latin typeface="Arial"/>
              </a:rPr>
              <a:t>”</a:t>
            </a:r>
            <a:r>
              <a:rPr lang="en-US" dirty="0">
                <a:solidFill>
                  <a:srgbClr val="000000"/>
                </a:solidFill>
              </a:rPr>
              <a:t>; reference: bugtraq,1387; </a:t>
            </a:r>
            <a:r>
              <a:rPr lang="en-US" dirty="0" err="1">
                <a:solidFill>
                  <a:srgbClr val="000000"/>
                </a:solidFill>
              </a:rPr>
              <a:t>classtype:attempted-admin</a:t>
            </a:r>
            <a:r>
              <a:rPr lang="en-US" dirty="0">
                <a:solidFill>
                  <a:srgbClr val="000000"/>
                </a:solidFill>
              </a:rPr>
              <a:t>; </a:t>
            </a:r>
            <a:r>
              <a:rPr lang="en-US" dirty="0" err="1">
                <a:solidFill>
                  <a:srgbClr val="000000"/>
                </a:solidFill>
              </a:rPr>
              <a:t>sid</a:t>
            </a:r>
            <a:r>
              <a:rPr lang="en-US" dirty="0">
                <a:solidFill>
                  <a:srgbClr val="000000"/>
                </a:solidFill>
              </a:rPr>
              <a:t> 344; rev:4;) </a:t>
            </a:r>
          </a:p>
        </p:txBody>
      </p:sp>
    </p:spTree>
    <p:extLst>
      <p:ext uri="{BB962C8B-B14F-4D97-AF65-F5344CB8AC3E}">
        <p14:creationId xmlns:p14="http://schemas.microsoft.com/office/powerpoint/2010/main" val="2621545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Phase I: Training Phase</a:t>
            </a:r>
          </a:p>
          <a:p>
            <a:pPr lvl="1"/>
            <a:r>
              <a:rPr lang="en-US" dirty="0"/>
              <a:t>Input: a collection of benign samples</a:t>
            </a:r>
          </a:p>
          <a:p>
            <a:pPr lvl="1"/>
            <a:r>
              <a:rPr lang="en-US" dirty="0"/>
              <a:t>Output: a model to describe benign samples (the normal profile)</a:t>
            </a:r>
          </a:p>
          <a:p>
            <a:pPr lvl="1"/>
            <a:endParaRPr lang="en-US" dirty="0"/>
          </a:p>
          <a:p>
            <a:r>
              <a:rPr lang="en-US" dirty="0"/>
              <a:t>Phase II: Detection Phase</a:t>
            </a:r>
          </a:p>
          <a:p>
            <a:pPr lvl="1"/>
            <a:r>
              <a:rPr lang="en-US" dirty="0"/>
              <a:t>Input: unknown samples that contain both benign samples and malicious samples.</a:t>
            </a:r>
          </a:p>
          <a:p>
            <a:pPr lvl="1"/>
            <a:r>
              <a:rPr lang="en-US" dirty="0"/>
              <a:t>Output: attacks (malicious samples)</a:t>
            </a:r>
          </a:p>
        </p:txBody>
      </p:sp>
    </p:spTree>
    <p:extLst>
      <p:ext uri="{BB962C8B-B14F-4D97-AF65-F5344CB8AC3E}">
        <p14:creationId xmlns:p14="http://schemas.microsoft.com/office/powerpoint/2010/main" val="3182969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558412" y="4431060"/>
            <a:ext cx="7925851" cy="2036245"/>
          </a:xfrm>
          <a:prstGeom prst="rect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58412" y="1261037"/>
            <a:ext cx="7925851" cy="3071520"/>
          </a:xfrm>
          <a:prstGeom prst="rect">
            <a:avLst/>
          </a:prstGeom>
          <a:solidFill>
            <a:schemeClr val="tx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34</a:t>
            </a:fld>
            <a:endParaRPr lang="en-US"/>
          </a:p>
        </p:txBody>
      </p:sp>
      <p:pic>
        <p:nvPicPr>
          <p:cNvPr id="1026" name="Picture 2" descr="C:\Users\jzhang\Downloads\south-park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57" y="1808337"/>
            <a:ext cx="2370348" cy="2383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8"/>
          <p:cNvSpPr txBox="1">
            <a:spLocks/>
          </p:cNvSpPr>
          <p:nvPr/>
        </p:nvSpPr>
        <p:spPr>
          <a:xfrm>
            <a:off x="1083180" y="1432322"/>
            <a:ext cx="2252096" cy="343464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Benign Samples</a:t>
            </a:r>
          </a:p>
        </p:txBody>
      </p:sp>
      <p:pic>
        <p:nvPicPr>
          <p:cNvPr id="7" name="Picture 2" descr="C:\Users\jzhang\Downloads\expert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2244" y="1974179"/>
            <a:ext cx="1421744" cy="1745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3335276" y="3009953"/>
            <a:ext cx="57696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304009" y="3003108"/>
            <a:ext cx="632696" cy="6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8"/>
          <p:cNvSpPr txBox="1">
            <a:spLocks/>
          </p:cNvSpPr>
          <p:nvPr/>
        </p:nvSpPr>
        <p:spPr>
          <a:xfrm>
            <a:off x="5836308" y="1713995"/>
            <a:ext cx="2601101" cy="77966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 model that describes the normal profile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683413" y="2405610"/>
            <a:ext cx="988533" cy="1291245"/>
            <a:chOff x="6683414" y="2633892"/>
            <a:chExt cx="988533" cy="1291245"/>
          </a:xfrm>
        </p:grpSpPr>
        <p:sp>
          <p:nvSpPr>
            <p:cNvPr id="13" name="Oval 12"/>
            <p:cNvSpPr/>
            <p:nvPr/>
          </p:nvSpPr>
          <p:spPr>
            <a:xfrm>
              <a:off x="6902326" y="3110718"/>
              <a:ext cx="564572" cy="75345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6805345" y="2633892"/>
              <a:ext cx="698269" cy="565266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683414" y="3185144"/>
              <a:ext cx="286789" cy="240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7385158" y="3176831"/>
              <a:ext cx="286789" cy="240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6758932" y="3675984"/>
              <a:ext cx="286789" cy="240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241764" y="3684297"/>
              <a:ext cx="286789" cy="240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567613" y="3987138"/>
            <a:ext cx="2852201" cy="1464235"/>
            <a:chOff x="5434222" y="4308389"/>
            <a:chExt cx="2852201" cy="1464235"/>
          </a:xfrm>
        </p:grpSpPr>
        <p:cxnSp>
          <p:nvCxnSpPr>
            <p:cNvPr id="22" name="Straight Arrow Connector 21"/>
            <p:cNvCxnSpPr/>
            <p:nvPr/>
          </p:nvCxnSpPr>
          <p:spPr>
            <a:xfrm flipV="1">
              <a:off x="5434222" y="4563762"/>
              <a:ext cx="1249191" cy="12088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ontent Placeholder 8"/>
            <p:cNvSpPr txBox="1">
              <a:spLocks/>
            </p:cNvSpPr>
            <p:nvPr/>
          </p:nvSpPr>
          <p:spPr>
            <a:xfrm>
              <a:off x="5434222" y="4308389"/>
              <a:ext cx="2852201" cy="51074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475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Deviates from the normal profile?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931603" y="4719256"/>
            <a:ext cx="3213870" cy="1748049"/>
            <a:chOff x="1993969" y="4912820"/>
            <a:chExt cx="3213870" cy="1748049"/>
          </a:xfrm>
        </p:grpSpPr>
        <p:pic>
          <p:nvPicPr>
            <p:cNvPr id="1028" name="Picture 4" descr="C:\Users\jzhang\Downloads\stewie-family-guy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0935" y="4912820"/>
              <a:ext cx="739927" cy="7822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Content Placeholder 8"/>
            <p:cNvSpPr txBox="1">
              <a:spLocks/>
            </p:cNvSpPr>
            <p:nvPr/>
          </p:nvSpPr>
          <p:spPr>
            <a:xfrm>
              <a:off x="1993969" y="5460604"/>
              <a:ext cx="2320812" cy="51074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unknown samples</a:t>
              </a:r>
            </a:p>
          </p:txBody>
        </p:sp>
        <p:pic>
          <p:nvPicPr>
            <p:cNvPr id="1029" name="Picture 5" descr="C:\Users\jzhang\Downloads\13864774-funny-snake-cartoon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3389" y="5877097"/>
              <a:ext cx="654450" cy="78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Content Placeholder 8"/>
          <p:cNvSpPr txBox="1">
            <a:spLocks/>
          </p:cNvSpPr>
          <p:nvPr/>
        </p:nvSpPr>
        <p:spPr>
          <a:xfrm>
            <a:off x="3336027" y="1243025"/>
            <a:ext cx="2607425" cy="470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Training Phase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233731" y="4304920"/>
            <a:ext cx="8032" cy="114645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5" descr="C:\Users\jzhang\Downloads\13864774-funny-snake-cartoon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102" y="5572578"/>
            <a:ext cx="654450" cy="78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ontent Placeholder 8"/>
          <p:cNvSpPr txBox="1">
            <a:spLocks/>
          </p:cNvSpPr>
          <p:nvPr/>
        </p:nvSpPr>
        <p:spPr>
          <a:xfrm>
            <a:off x="7279120" y="5045524"/>
            <a:ext cx="1158391" cy="28256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Attacks!</a:t>
            </a:r>
          </a:p>
        </p:txBody>
      </p:sp>
      <p:sp>
        <p:nvSpPr>
          <p:cNvPr id="31" name="Content Placeholder 8"/>
          <p:cNvSpPr txBox="1">
            <a:spLocks/>
          </p:cNvSpPr>
          <p:nvPr/>
        </p:nvSpPr>
        <p:spPr>
          <a:xfrm>
            <a:off x="668780" y="4566162"/>
            <a:ext cx="2607425" cy="47097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Detection Phase</a:t>
            </a:r>
          </a:p>
        </p:txBody>
      </p:sp>
    </p:spTree>
    <p:extLst>
      <p:ext uri="{BB962C8B-B14F-4D97-AF65-F5344CB8AC3E}">
        <p14:creationId xmlns:p14="http://schemas.microsoft.com/office/powerpoint/2010/main" val="2204480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94DF-A67D-C64C-9F64-687005DD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Misuse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BCA06-BBB0-9942-93D5-2100B710C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central problem</a:t>
            </a:r>
          </a:p>
          <a:p>
            <a:pPr lvl="1"/>
            <a:r>
              <a:rPr lang="en-US" dirty="0"/>
              <a:t>How to generate signatures?</a:t>
            </a:r>
          </a:p>
        </p:txBody>
      </p:sp>
    </p:spTree>
    <p:extLst>
      <p:ext uri="{BB962C8B-B14F-4D97-AF65-F5344CB8AC3E}">
        <p14:creationId xmlns:p14="http://schemas.microsoft.com/office/powerpoint/2010/main" val="937796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Vulnerable Server</a:t>
            </a:r>
          </a:p>
        </p:txBody>
      </p:sp>
      <p:pic>
        <p:nvPicPr>
          <p:cNvPr id="4" name="Picture 3" descr="1194983813750083554server_mimooh_.svg.m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69" y="2995987"/>
            <a:ext cx="1160176" cy="12350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68" y="4297958"/>
            <a:ext cx="36260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…..</a:t>
            </a:r>
          </a:p>
          <a:p>
            <a:endParaRPr lang="en-US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char *p = </a:t>
            </a:r>
            <a:r>
              <a:rPr lang="en-US" sz="1600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getDataFromPacket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();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if(p is an HTTP-GET string)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{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….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foo(p);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….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673633" y="2007776"/>
            <a:ext cx="3688869" cy="830608"/>
            <a:chOff x="2311948" y="2838384"/>
            <a:chExt cx="3688869" cy="830608"/>
          </a:xfrm>
        </p:grpSpPr>
        <p:cxnSp>
          <p:nvCxnSpPr>
            <p:cNvPr id="6" name="Straight Arrow Connector 5"/>
            <p:cNvCxnSpPr/>
            <p:nvPr/>
          </p:nvCxnSpPr>
          <p:spPr>
            <a:xfrm flipH="1">
              <a:off x="2311948" y="3191377"/>
              <a:ext cx="220612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2374801" y="3343777"/>
              <a:ext cx="21432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342237" y="2838384"/>
              <a:ext cx="362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GET index HOST:192.168.1.10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74801" y="3330438"/>
              <a:ext cx="362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Welcome!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641069" y="3400405"/>
            <a:ext cx="5344922" cy="830608"/>
            <a:chOff x="2311948" y="2838384"/>
            <a:chExt cx="3688869" cy="830608"/>
          </a:xfrm>
        </p:grpSpPr>
        <p:cxnSp>
          <p:nvCxnSpPr>
            <p:cNvPr id="16" name="Straight Arrow Connector 15"/>
            <p:cNvCxnSpPr/>
            <p:nvPr/>
          </p:nvCxnSpPr>
          <p:spPr>
            <a:xfrm flipH="1">
              <a:off x="2311948" y="3191377"/>
              <a:ext cx="220612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374801" y="3343777"/>
              <a:ext cx="21432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342237" y="2838384"/>
              <a:ext cx="362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GET index HOST:</a:t>
              </a:r>
              <a:r>
                <a:rPr lang="en-US" sz="1600" dirty="0">
                  <a:solidFill>
                    <a:srgbClr val="FF000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NOPNOPXXYYZZKK*^DF#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4801" y="3330438"/>
              <a:ext cx="362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dirty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pic>
        <p:nvPicPr>
          <p:cNvPr id="20" name="Picture 19" descr="ShellGa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345" y="3948612"/>
            <a:ext cx="818197" cy="613648"/>
          </a:xfrm>
          <a:prstGeom prst="rect">
            <a:avLst/>
          </a:prstGeom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2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Signature-based IDS</a:t>
            </a:r>
          </a:p>
        </p:txBody>
      </p:sp>
      <p:pic>
        <p:nvPicPr>
          <p:cNvPr id="4" name="Picture 3" descr="1194983813750083554server_mimooh_.svg.m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69" y="2995987"/>
            <a:ext cx="1160176" cy="12350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79696" y="1717176"/>
            <a:ext cx="3626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{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“XXYYZZKK” -&gt; malicious!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}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641068" y="3400405"/>
            <a:ext cx="5678689" cy="830608"/>
            <a:chOff x="2311948" y="2838384"/>
            <a:chExt cx="3688869" cy="830608"/>
          </a:xfrm>
        </p:grpSpPr>
        <p:cxnSp>
          <p:nvCxnSpPr>
            <p:cNvPr id="16" name="Straight Arrow Connector 15"/>
            <p:cNvCxnSpPr/>
            <p:nvPr/>
          </p:nvCxnSpPr>
          <p:spPr>
            <a:xfrm flipH="1">
              <a:off x="2311948" y="3191377"/>
              <a:ext cx="220612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2374801" y="3343777"/>
              <a:ext cx="214326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2342237" y="2838384"/>
              <a:ext cx="3626016" cy="33855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GET index HOST:</a:t>
              </a:r>
              <a:r>
                <a:rPr lang="en-US" sz="1600" dirty="0">
                  <a:solidFill>
                    <a:srgbClr val="FF0000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NOPNOPXXYYZZKK*^DF#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74801" y="3330438"/>
              <a:ext cx="36260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600" dirty="0"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</p:grpSp>
      <p:pic>
        <p:nvPicPr>
          <p:cNvPr id="20" name="Picture 19" descr="ShellGa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345" y="3948612"/>
            <a:ext cx="818197" cy="613648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660875" y="1617667"/>
            <a:ext cx="3118821" cy="1709469"/>
            <a:chOff x="1660875" y="1617667"/>
            <a:chExt cx="3118821" cy="1709469"/>
          </a:xfrm>
        </p:grpSpPr>
        <p:pic>
          <p:nvPicPr>
            <p:cNvPr id="3" name="Picture 2" descr="Attachment.SubType=MAIN.gif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9388" y="1617667"/>
              <a:ext cx="1150308" cy="1150308"/>
            </a:xfrm>
            <a:prstGeom prst="rect">
              <a:avLst/>
            </a:prstGeom>
          </p:spPr>
        </p:pic>
        <p:cxnSp>
          <p:nvCxnSpPr>
            <p:cNvPr id="8" name="Straight Arrow Connector 7"/>
            <p:cNvCxnSpPr/>
            <p:nvPr/>
          </p:nvCxnSpPr>
          <p:spPr>
            <a:xfrm flipV="1">
              <a:off x="4204542" y="2580784"/>
              <a:ext cx="0" cy="74635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769337" y="2657433"/>
              <a:ext cx="24352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Sniff network traffic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660875" y="1771079"/>
              <a:ext cx="24757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Signature-based IDS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1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Signatures?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934" y="2337901"/>
            <a:ext cx="243273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934" y="2832068"/>
            <a:ext cx="243273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934" y="3361416"/>
            <a:ext cx="243273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3934" y="4549612"/>
            <a:ext cx="2432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3934" y="5047351"/>
            <a:ext cx="2432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3934" y="5589410"/>
            <a:ext cx="2432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9114" y="1886453"/>
            <a:ext cx="205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Malicious packets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14" y="4131158"/>
            <a:ext cx="205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Benign packets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705" y="3523656"/>
            <a:ext cx="2670138" cy="10259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Autograph (Security’04)</a:t>
            </a:r>
          </a:p>
          <a:p>
            <a:r>
              <a:rPr lang="en-US" dirty="0"/>
              <a:t>Honeycomb (HotNet’03)</a:t>
            </a:r>
          </a:p>
          <a:p>
            <a:r>
              <a:rPr lang="en-US" dirty="0" err="1"/>
              <a:t>EarlyBird</a:t>
            </a:r>
            <a:r>
              <a:rPr lang="en-US" dirty="0"/>
              <a:t> (OSDI’04)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2810" y="3852843"/>
            <a:ext cx="1683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Signatures!!!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955061" y="2947139"/>
            <a:ext cx="724519" cy="9225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955061" y="4022120"/>
            <a:ext cx="724519" cy="11638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3" idx="1"/>
          </p:cNvCxnSpPr>
          <p:nvPr/>
        </p:nvCxnSpPr>
        <p:spPr>
          <a:xfrm>
            <a:off x="6268311" y="4022120"/>
            <a:ext cx="73449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44705" y="4629336"/>
            <a:ext cx="49420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1600" b="1" i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single, contiguous substring 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of a worm’s payload, </a:t>
            </a:r>
            <a:r>
              <a:rPr lang="en-US" sz="1600" b="1" i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of sufficient length</a:t>
            </a: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 to match only the worm.</a:t>
            </a:r>
          </a:p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	“a single payload substring that will remain invariant across worm connections, and will be sufficiently unique to the worm that it can be used as a signature without causing false positives”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4491167" y="1177388"/>
            <a:ext cx="3461134" cy="2203297"/>
            <a:chOff x="4491167" y="1177388"/>
            <a:chExt cx="3461134" cy="2203297"/>
          </a:xfrm>
        </p:grpSpPr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4491167" y="1177388"/>
              <a:ext cx="1502537" cy="2203297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tint val="50000"/>
                    <a:satMod val="300000"/>
                    <a:alpha val="56000"/>
                  </a:schemeClr>
                </a:gs>
                <a:gs pos="35000">
                  <a:schemeClr val="accent2">
                    <a:tint val="37000"/>
                    <a:satMod val="300000"/>
                    <a:alpha val="56000"/>
                  </a:schemeClr>
                </a:gs>
                <a:gs pos="100000">
                  <a:schemeClr val="accent2">
                    <a:tint val="15000"/>
                    <a:satMod val="350000"/>
                    <a:alpha val="56000"/>
                  </a:schemeClr>
                </a:gs>
              </a:gsLst>
              <a:lin ang="16200000" scaled="1"/>
              <a:tileRect/>
            </a:gradFill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1" hangingPunct="1"/>
              <a:endParaRPr kumimoji="1" lang="en-US" altLang="zh-TW" sz="2000" dirty="0">
                <a:solidFill>
                  <a:schemeClr val="accent2"/>
                </a:solidFill>
                <a:latin typeface="Times New Roman" charset="0"/>
                <a:ea typeface="新細明體" charset="0"/>
                <a:cs typeface="新細明體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642784" y="2953437"/>
              <a:ext cx="1149679" cy="369332"/>
            </a:xfrm>
            <a:prstGeom prst="rect">
              <a:avLst/>
            </a:prstGeom>
            <a:solidFill>
              <a:srgbClr val="3366FF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EIP’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2784" y="1699089"/>
              <a:ext cx="1149679" cy="1200329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r>
                <a:rPr lang="en-US" dirty="0" err="1"/>
                <a:t>Shellcode</a:t>
              </a:r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642784" y="1247503"/>
              <a:ext cx="1149679" cy="36933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NOP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68311" y="2168624"/>
              <a:ext cx="16839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Verdana" pitchFamily="34" charset="0"/>
                  <a:ea typeface="Verdana" pitchFamily="34" charset="0"/>
                  <a:cs typeface="Verdana" pitchFamily="34" charset="0"/>
                </a:rPr>
                <a:t>XXXYYY&amp;^%</a:t>
              </a:r>
            </a:p>
          </p:txBody>
        </p:sp>
        <p:sp>
          <p:nvSpPr>
            <p:cNvPr id="29" name="Right Brace 28"/>
            <p:cNvSpPr/>
            <p:nvPr/>
          </p:nvSpPr>
          <p:spPr>
            <a:xfrm>
              <a:off x="6072935" y="1999347"/>
              <a:ext cx="97688" cy="621057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6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5289013" y="1591626"/>
            <a:ext cx="1891052" cy="3464101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56000"/>
                </a:schemeClr>
              </a:gs>
              <a:gs pos="35000">
                <a:schemeClr val="accent2">
                  <a:tint val="37000"/>
                  <a:satMod val="300000"/>
                  <a:alpha val="56000"/>
                </a:schemeClr>
              </a:gs>
              <a:gs pos="100000">
                <a:schemeClr val="accent2">
                  <a:tint val="15000"/>
                  <a:satMod val="350000"/>
                  <a:alpha val="56000"/>
                </a:schemeClr>
              </a:gs>
            </a:gsLst>
            <a:lin ang="16200000" scaled="1"/>
            <a:tileRect/>
          </a:gra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Polymorphic Worms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725675" y="1600710"/>
            <a:ext cx="1502537" cy="3232065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56000"/>
                </a:schemeClr>
              </a:gs>
              <a:gs pos="35000">
                <a:schemeClr val="accent2">
                  <a:tint val="37000"/>
                  <a:satMod val="300000"/>
                  <a:alpha val="56000"/>
                </a:schemeClr>
              </a:gs>
              <a:gs pos="100000">
                <a:schemeClr val="accent2">
                  <a:tint val="15000"/>
                  <a:satMod val="350000"/>
                  <a:alpha val="56000"/>
                </a:schemeClr>
              </a:gs>
            </a:gsLst>
            <a:lin ang="16200000" scaled="1"/>
            <a:tileRect/>
          </a:gra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877292" y="4311985"/>
            <a:ext cx="1149679" cy="369332"/>
          </a:xfrm>
          <a:prstGeom prst="rect">
            <a:avLst/>
          </a:prstGeom>
          <a:solidFill>
            <a:srgbClr val="3366FF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EIP’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7292" y="2368859"/>
            <a:ext cx="1149679" cy="187108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Shellcode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877292" y="1670825"/>
            <a:ext cx="1149679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78164" y="1644874"/>
            <a:ext cx="1728633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ADD EAX,0</a:t>
            </a:r>
          </a:p>
          <a:p>
            <a:r>
              <a:rPr lang="en-US" dirty="0">
                <a:solidFill>
                  <a:schemeClr val="tx1"/>
                </a:solidFill>
              </a:rPr>
              <a:t>ADD EAX,0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61882" y="2336428"/>
            <a:ext cx="1744915" cy="64633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#Decode(</a:t>
            </a:r>
            <a:r>
              <a:rPr lang="en-US" sz="1200" dirty="0" err="1"/>
              <a:t>blk</a:t>
            </a:r>
            <a:r>
              <a:rPr lang="en-US" sz="1200" dirty="0"/>
              <a:t>, K)</a:t>
            </a:r>
          </a:p>
          <a:p>
            <a:r>
              <a:rPr lang="en-US" sz="1200" dirty="0"/>
              <a:t>…</a:t>
            </a:r>
          </a:p>
          <a:p>
            <a:r>
              <a:rPr lang="en-US" sz="1200" dirty="0" err="1"/>
              <a:t>jmp</a:t>
            </a:r>
            <a:r>
              <a:rPr lang="en-US" sz="1200" dirty="0"/>
              <a:t> block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61882" y="3006582"/>
            <a:ext cx="1728633" cy="156966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#</a:t>
            </a:r>
            <a:r>
              <a:rPr lang="en-US" sz="1600" dirty="0" err="1"/>
              <a:t>blk</a:t>
            </a:r>
            <a:r>
              <a:rPr lang="en-US" sz="1600" dirty="0"/>
              <a:t> of code</a:t>
            </a:r>
          </a:p>
          <a:p>
            <a:r>
              <a:rPr lang="en-US" sz="1600" dirty="0"/>
              <a:t>#encrypted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……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3741" y="4594343"/>
            <a:ext cx="1728633" cy="369332"/>
          </a:xfrm>
          <a:prstGeom prst="rect">
            <a:avLst/>
          </a:prstGeom>
          <a:solidFill>
            <a:srgbClr val="3366FF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EIP’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3085311" y="3207659"/>
            <a:ext cx="2268430" cy="5861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344263" y="2978652"/>
            <a:ext cx="1773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Enc</a:t>
            </a:r>
            <a:r>
              <a:rPr lang="en-US" dirty="0"/>
              <a:t>(</a:t>
            </a:r>
            <a:r>
              <a:rPr lang="en-US" dirty="0" err="1"/>
              <a:t>shellcode</a:t>
            </a:r>
            <a:r>
              <a:rPr lang="en-US" dirty="0"/>
              <a:t>, 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03937" y="5244808"/>
            <a:ext cx="37815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e.g., “English </a:t>
            </a:r>
            <a:r>
              <a:rPr lang="en-US" sz="2800" b="1" dirty="0" err="1"/>
              <a:t>Shellcode</a:t>
            </a:r>
            <a:r>
              <a:rPr lang="en-US" sz="2800" b="1" dirty="0"/>
              <a:t>”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43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48166"/>
          </a:xfrm>
        </p:spPr>
        <p:txBody>
          <a:bodyPr/>
          <a:lstStyle/>
          <a:p>
            <a:r>
              <a:rPr lang="en-US" dirty="0"/>
              <a:t>Identify</a:t>
            </a:r>
            <a:r>
              <a:rPr lang="en-US" b="1" i="1" dirty="0">
                <a:solidFill>
                  <a:srgbClr val="FF0000"/>
                </a:solidFill>
              </a:rPr>
              <a:t> Invariant </a:t>
            </a:r>
            <a:r>
              <a:rPr lang="en-US" dirty="0">
                <a:solidFill>
                  <a:srgbClr val="000000"/>
                </a:solidFill>
              </a:rPr>
              <a:t>bytes</a:t>
            </a:r>
            <a:r>
              <a:rPr lang="en-US" dirty="0"/>
              <a:t> are crucial to successfully exploiting the vulnerable server, and leverage them to generate signatures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28193" y="3730929"/>
            <a:ext cx="8229600" cy="787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/>
              <a:t>Which part is invariant?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1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76618"/>
            <a:ext cx="8229600" cy="17340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Invariant-1:</a:t>
            </a:r>
          </a:p>
          <a:p>
            <a:pPr lvl="1"/>
            <a:r>
              <a:rPr lang="en-US" dirty="0"/>
              <a:t>Overwrite value (</a:t>
            </a:r>
            <a:r>
              <a:rPr lang="en-US" dirty="0" err="1"/>
              <a:t>addr</a:t>
            </a:r>
            <a:r>
              <a:rPr lang="en-US" dirty="0"/>
              <a:t> for the payload, specific point in library code)</a:t>
            </a:r>
          </a:p>
          <a:p>
            <a:pPr lvl="2"/>
            <a:r>
              <a:rPr lang="en-US" dirty="0"/>
              <a:t>From some small set of narrow ranges in the requests</a:t>
            </a:r>
          </a:p>
          <a:p>
            <a:pPr lvl="2"/>
            <a:r>
              <a:rPr lang="en-US" dirty="0"/>
              <a:t>Those return addresses are precious for attackers!</a:t>
            </a:r>
          </a:p>
          <a:p>
            <a:pPr lvl="2"/>
            <a:r>
              <a:rPr lang="en-US" dirty="0"/>
              <a:t>No longer than two-bytes long given a strong obfuscator/polymorphic-engine.</a:t>
            </a:r>
          </a:p>
        </p:txBody>
      </p:sp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1261657" y="1470556"/>
            <a:ext cx="1502537" cy="3232065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56000"/>
                </a:schemeClr>
              </a:gs>
              <a:gs pos="35000">
                <a:schemeClr val="accent2">
                  <a:tint val="37000"/>
                  <a:satMod val="300000"/>
                  <a:alpha val="56000"/>
                </a:schemeClr>
              </a:gs>
              <a:gs pos="100000">
                <a:schemeClr val="accent2">
                  <a:tint val="15000"/>
                  <a:satMod val="350000"/>
                  <a:alpha val="56000"/>
                </a:schemeClr>
              </a:gs>
            </a:gsLst>
            <a:lin ang="16200000" scaled="1"/>
            <a:tileRect/>
          </a:gra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13274" y="4181831"/>
            <a:ext cx="1149679" cy="369332"/>
          </a:xfrm>
          <a:prstGeom prst="rect">
            <a:avLst/>
          </a:prstGeom>
          <a:solidFill>
            <a:srgbClr val="3366FF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EIP’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3274" y="2238705"/>
            <a:ext cx="1149679" cy="1871081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Shellcode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413274" y="1540671"/>
            <a:ext cx="1149679" cy="6463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  <a:p>
            <a:r>
              <a:rPr lang="en-US" dirty="0">
                <a:solidFill>
                  <a:schemeClr val="tx1"/>
                </a:solidFill>
              </a:rPr>
              <a:t>NOP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077301" y="1540671"/>
            <a:ext cx="1502537" cy="3010492"/>
          </a:xfrm>
          <a:prstGeom prst="rect">
            <a:avLst/>
          </a:prstGeom>
          <a:gradFill flip="none" rotWithShape="1">
            <a:gsLst>
              <a:gs pos="0">
                <a:schemeClr val="accent2">
                  <a:tint val="50000"/>
                  <a:satMod val="300000"/>
                  <a:alpha val="56000"/>
                </a:schemeClr>
              </a:gs>
              <a:gs pos="35000">
                <a:schemeClr val="accent2">
                  <a:tint val="37000"/>
                  <a:satMod val="300000"/>
                  <a:alpha val="56000"/>
                </a:schemeClr>
              </a:gs>
              <a:gs pos="100000">
                <a:schemeClr val="accent2">
                  <a:tint val="15000"/>
                  <a:satMod val="350000"/>
                  <a:alpha val="56000"/>
                </a:schemeClr>
              </a:gs>
            </a:gsLst>
            <a:lin ang="16200000" scaled="1"/>
            <a:tileRect/>
          </a:gradFill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/>
            <a:endParaRPr kumimoji="1" lang="en-US" altLang="zh-TW" sz="2000" dirty="0">
              <a:solidFill>
                <a:schemeClr val="accent2"/>
              </a:solidFill>
              <a:latin typeface="Times New Roman" charset="0"/>
              <a:ea typeface="新細明體" charset="0"/>
              <a:cs typeface="新細明體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28918" y="2830549"/>
            <a:ext cx="1149679" cy="369332"/>
          </a:xfrm>
          <a:prstGeom prst="rect">
            <a:avLst/>
          </a:prstGeom>
          <a:solidFill>
            <a:srgbClr val="3366FF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/>
              <a:t>EIP’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8918" y="3247171"/>
            <a:ext cx="1149679" cy="120032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en-US" dirty="0" err="1"/>
              <a:t>Shellcode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228918" y="1578814"/>
            <a:ext cx="1149679" cy="12003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Garbage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4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6172"/>
            <a:ext cx="8229600" cy="3349991"/>
          </a:xfrm>
        </p:spPr>
        <p:txBody>
          <a:bodyPr/>
          <a:lstStyle/>
          <a:p>
            <a:r>
              <a:rPr lang="en-US" dirty="0"/>
              <a:t>Invariant-2</a:t>
            </a:r>
          </a:p>
          <a:p>
            <a:pPr lvl="1"/>
            <a:r>
              <a:rPr lang="en-US" dirty="0"/>
              <a:t>Exploit Framing</a:t>
            </a:r>
          </a:p>
          <a:p>
            <a:pPr lvl="2"/>
            <a:r>
              <a:rPr lang="en-US" dirty="0"/>
              <a:t>Exploits are delivered through network using certain protocols (e.g., HTTP, DNS, etc.)</a:t>
            </a:r>
          </a:p>
          <a:p>
            <a:pPr lvl="2"/>
            <a:r>
              <a:rPr lang="en-US"/>
              <a:t>Actually it </a:t>
            </a:r>
            <a:r>
              <a:rPr lang="en-US" dirty="0"/>
              <a:t>represents protocol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6393" y="1918695"/>
            <a:ext cx="558193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GET index HOST:</a:t>
            </a:r>
            <a:r>
              <a:rPr lang="en-U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NOPNOPXXYYZZKK*^DF#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699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15632"/>
            <a:ext cx="1040682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Exploit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18787" y="3314786"/>
            <a:ext cx="14734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Polymorphic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2759" y="2734538"/>
            <a:ext cx="128717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Exploit-1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2759" y="3181574"/>
            <a:ext cx="128717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Exploit-2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2759" y="3627877"/>
            <a:ext cx="128717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Exploit-3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759" y="4724664"/>
            <a:ext cx="1352301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Exploit-100</a:t>
            </a:r>
          </a:p>
        </p:txBody>
      </p:sp>
      <p:sp>
        <p:nvSpPr>
          <p:cNvPr id="12" name="Curved Right Arrow 11"/>
          <p:cNvSpPr/>
          <p:nvPr/>
        </p:nvSpPr>
        <p:spPr>
          <a:xfrm>
            <a:off x="651253" y="1937622"/>
            <a:ext cx="504721" cy="1791078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Left Brace 12"/>
          <p:cNvSpPr/>
          <p:nvPr/>
        </p:nvSpPr>
        <p:spPr>
          <a:xfrm>
            <a:off x="2849232" y="2873867"/>
            <a:ext cx="545425" cy="194576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104" y="2726396"/>
            <a:ext cx="3400696" cy="2291147"/>
          </a:xfrm>
          <a:prstGeom prst="rect">
            <a:avLst/>
          </a:prstGeom>
        </p:spPr>
      </p:pic>
      <p:sp>
        <p:nvSpPr>
          <p:cNvPr id="16" name="Right Brace 15"/>
          <p:cNvSpPr/>
          <p:nvPr/>
        </p:nvSpPr>
        <p:spPr>
          <a:xfrm>
            <a:off x="4908329" y="2873867"/>
            <a:ext cx="366824" cy="19457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072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Invariant Bytes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80582"/>
          </a:xfrm>
        </p:spPr>
        <p:txBody>
          <a:bodyPr/>
          <a:lstStyle/>
          <a:p>
            <a:r>
              <a:rPr lang="en-US" dirty="0"/>
              <a:t>Protocol Tokens + Return Address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39034" y="2682932"/>
            <a:ext cx="2532696" cy="980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Find them!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5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Polygraph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3934" y="2337901"/>
            <a:ext cx="243273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934" y="2832068"/>
            <a:ext cx="243273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934" y="3361416"/>
            <a:ext cx="243273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3934" y="4549612"/>
            <a:ext cx="2432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3934" y="5047351"/>
            <a:ext cx="2432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3934" y="5589410"/>
            <a:ext cx="2432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sz="1600" dirty="0">
              <a:solidFill>
                <a:srgbClr val="FF000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9114" y="1886453"/>
            <a:ext cx="205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Malicious packets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14" y="4131158"/>
            <a:ext cx="205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Benign packets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705" y="3523656"/>
            <a:ext cx="2670138" cy="10259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Polygraph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2810" y="3852843"/>
            <a:ext cx="1683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Signatures!!!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955061" y="2947139"/>
            <a:ext cx="724519" cy="9225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955061" y="4022120"/>
            <a:ext cx="724519" cy="11638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3" idx="1"/>
          </p:cNvCxnSpPr>
          <p:nvPr/>
        </p:nvCxnSpPr>
        <p:spPr>
          <a:xfrm>
            <a:off x="6268311" y="4022120"/>
            <a:ext cx="73449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3897" y="4770489"/>
            <a:ext cx="4062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Conjunction signatures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Token-subsequence signatures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Bayes signatures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  <a:p>
            <a:pPr lvl="1"/>
            <a:r>
              <a:rPr lang="en-US" dirty="0"/>
              <a:t>Malicious traffic</a:t>
            </a:r>
          </a:p>
          <a:p>
            <a:pPr lvl="2"/>
            <a:r>
              <a:rPr lang="en-US" dirty="0"/>
              <a:t>3 exploits for Apache and DNS</a:t>
            </a:r>
          </a:p>
          <a:p>
            <a:pPr lvl="2"/>
            <a:r>
              <a:rPr lang="en-US" dirty="0"/>
              <a:t>Generate exploits of polymorphic versions</a:t>
            </a:r>
          </a:p>
          <a:p>
            <a:pPr lvl="1"/>
            <a:r>
              <a:rPr lang="en-US" dirty="0"/>
              <a:t>Benign traffic</a:t>
            </a:r>
          </a:p>
          <a:p>
            <a:pPr lvl="2"/>
            <a:r>
              <a:rPr lang="en-US" dirty="0"/>
              <a:t>A 10-day HTTP trace</a:t>
            </a:r>
          </a:p>
          <a:p>
            <a:pPr lvl="2"/>
            <a:r>
              <a:rPr lang="en-US" dirty="0"/>
              <a:t>A 24-hour DNS 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275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56" y="1858096"/>
            <a:ext cx="7962850" cy="28149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5138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59" y="1926475"/>
            <a:ext cx="8000400" cy="241281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90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30760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Defined the signature generation problem for polymorphic worms</a:t>
            </a:r>
          </a:p>
          <a:p>
            <a:r>
              <a:rPr lang="en-US" dirty="0"/>
              <a:t>Provided examples that illustrate the presence of invariant content in polymorphic worms</a:t>
            </a:r>
          </a:p>
          <a:p>
            <a:r>
              <a:rPr lang="en-US" dirty="0"/>
              <a:t>A suite to generate signatures automatically</a:t>
            </a:r>
          </a:p>
          <a:p>
            <a:r>
              <a:rPr lang="en-US" dirty="0"/>
              <a:t>Generate signatures </a:t>
            </a:r>
            <a:r>
              <a:rPr lang="en-US" i="1" dirty="0"/>
              <a:t>syntactically (statistically)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1621" y="3964799"/>
            <a:ext cx="8229600" cy="23076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“…but a critical constraint exists on the range of “return” memory address that can be twisted. Our solution, </a:t>
            </a:r>
            <a:r>
              <a:rPr lang="en-US" sz="2400" b="1" i="1" dirty="0"/>
              <a:t>Buttercup</a:t>
            </a:r>
            <a:r>
              <a:rPr lang="en-US" sz="2400" dirty="0"/>
              <a:t>, is simply to identify the ranges of the possible return memory addresses for existing buffer-overflow exploits, and if a packet contains such addresses,……”</a:t>
            </a:r>
          </a:p>
          <a:p>
            <a:pPr marL="0" indent="0">
              <a:buNone/>
            </a:pPr>
            <a:r>
              <a:rPr lang="en-US" sz="2400" dirty="0"/>
              <a:t>											-Buttercup, 2004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38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“Towards Automatic Signature Generation</a:t>
            </a:r>
            <a:br>
              <a:rPr lang="en-US" altLang="zh-CN" dirty="0"/>
            </a:br>
            <a:r>
              <a:rPr lang="en-US" altLang="zh-CN" dirty="0"/>
              <a:t> of Vulnerability-based Signature”, By David </a:t>
            </a:r>
            <a:r>
              <a:rPr lang="en-US" altLang="zh-CN" dirty="0" err="1"/>
              <a:t>Brumley</a:t>
            </a:r>
            <a:r>
              <a:rPr lang="en-US" altLang="zh-CN" dirty="0"/>
              <a:t>, James Newsome, Dawn Song and </a:t>
            </a:r>
            <a:r>
              <a:rPr lang="en-US" altLang="zh-CN" dirty="0" err="1"/>
              <a:t>Hao</a:t>
            </a:r>
            <a:r>
              <a:rPr lang="en-US" altLang="zh-CN" dirty="0"/>
              <a:t> Wang and </a:t>
            </a:r>
            <a:r>
              <a:rPr lang="en-US" altLang="zh-CN" dirty="0" err="1"/>
              <a:t>Somesh</a:t>
            </a:r>
            <a:r>
              <a:rPr lang="en-US" altLang="zh-CN" dirty="0"/>
              <a:t> </a:t>
            </a:r>
            <a:r>
              <a:rPr lang="en-US" altLang="zh-CN" dirty="0" err="1"/>
              <a:t>Jha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851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There are usually several different polymorphic exploit variants that can trigger a software vulnerability</a:t>
            </a:r>
          </a:p>
          <a:p>
            <a:endParaRPr lang="en-US" altLang="zh-CN" dirty="0"/>
          </a:p>
          <a:p>
            <a:r>
              <a:rPr lang="en-US" altLang="zh-CN" i="1" dirty="0"/>
              <a:t>Exploit variants may differ syntactically but be semantically equivalent</a:t>
            </a:r>
          </a:p>
          <a:p>
            <a:endParaRPr lang="en-US" altLang="zh-CN" dirty="0"/>
          </a:p>
          <a:p>
            <a:r>
              <a:rPr lang="en-US" altLang="zh-CN" dirty="0"/>
              <a:t>To be effective -- </a:t>
            </a:r>
            <a:r>
              <a:rPr lang="en-US" altLang="zh-CN" i="1" dirty="0"/>
              <a:t>the signature should be constructed based on the property of the vulnerability, instead of an exploit</a:t>
            </a:r>
            <a:endParaRPr lang="zh-CN" altLang="en-US" i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5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Limitations of the Previous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Techniques rely on specific properties of an exploit – return addresses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Be limited by underlying signature representation they can generate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965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i="1" dirty="0"/>
              <a:t>vulnerability signature</a:t>
            </a:r>
          </a:p>
          <a:p>
            <a:pPr lvl="1"/>
            <a:r>
              <a:rPr lang="en-US" altLang="zh-CN" sz="2400" i="1" dirty="0"/>
              <a:t>whether executing an input </a:t>
            </a:r>
            <a:r>
              <a:rPr lang="en-US" altLang="zh-CN" sz="2400" dirty="0"/>
              <a:t>potentially results in an unsafe program state</a:t>
            </a:r>
            <a:endParaRPr lang="en-US" altLang="zh-CN" sz="1400" dirty="0"/>
          </a:p>
          <a:p>
            <a:r>
              <a:rPr lang="en-US" altLang="zh-CN" i="1" dirty="0"/>
              <a:t>T(P, x) </a:t>
            </a:r>
          </a:p>
          <a:p>
            <a:pPr lvl="1"/>
            <a:r>
              <a:rPr lang="en-US" altLang="zh-CN" dirty="0"/>
              <a:t>the execution trace obtained by executing a program P on input x</a:t>
            </a:r>
          </a:p>
          <a:p>
            <a:r>
              <a:rPr lang="en-US" altLang="zh-CN" i="1" dirty="0"/>
              <a:t>Vulnerability</a:t>
            </a:r>
          </a:p>
          <a:p>
            <a:pPr lvl="1"/>
            <a:r>
              <a:rPr lang="en-US" altLang="zh-CN" dirty="0"/>
              <a:t>representation (how to express a vulnerability as a signature)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8BE15-7F0B-0840-A9A0-04D3C81E96A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018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Characterize the profiles of benign activities and intrusion activities, respectively</a:t>
            </a:r>
          </a:p>
          <a:p>
            <a:endParaRPr lang="en-US" dirty="0"/>
          </a:p>
          <a:p>
            <a:r>
              <a:rPr lang="en-US" dirty="0"/>
              <a:t>Spam Detection as an Example</a:t>
            </a:r>
          </a:p>
          <a:p>
            <a:pPr lvl="1"/>
            <a:r>
              <a:rPr lang="en-US" dirty="0"/>
              <a:t>detection system based on statistical classifier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32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2580033" y="2819148"/>
            <a:ext cx="2064994" cy="10397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013529" y="1539149"/>
            <a:ext cx="2064995" cy="111463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Classifier in A Nutshell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2E57653-3E58-4892-A7ED-712530ACC680}" type="slidenum">
              <a:rPr kumimoji="0" lang="en-US" smtClean="0"/>
              <a:pPr eaLnBrk="1" latinLnBrk="0" hangingPunct="1"/>
              <a:t>55</a:t>
            </a:fld>
            <a:endParaRPr kumimoji="0" lang="en-US"/>
          </a:p>
        </p:txBody>
      </p:sp>
      <p:pic>
        <p:nvPicPr>
          <p:cNvPr id="5" name="Picture 4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149" y="1689112"/>
            <a:ext cx="454225" cy="462174"/>
          </a:xfrm>
          <a:prstGeom prst="rect">
            <a:avLst/>
          </a:prstGeom>
        </p:spPr>
      </p:pic>
      <p:pic>
        <p:nvPicPr>
          <p:cNvPr id="12" name="Picture 11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258" y="1566558"/>
            <a:ext cx="454225" cy="462174"/>
          </a:xfrm>
          <a:prstGeom prst="rect">
            <a:avLst/>
          </a:prstGeom>
        </p:spPr>
      </p:pic>
      <p:pic>
        <p:nvPicPr>
          <p:cNvPr id="13" name="Picture 12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661" y="2028732"/>
            <a:ext cx="454225" cy="462174"/>
          </a:xfrm>
          <a:prstGeom prst="rect">
            <a:avLst/>
          </a:prstGeom>
        </p:spPr>
      </p:pic>
      <p:pic>
        <p:nvPicPr>
          <p:cNvPr id="14" name="Picture 13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368" y="2910469"/>
            <a:ext cx="454225" cy="462174"/>
          </a:xfrm>
          <a:prstGeom prst="rect">
            <a:avLst/>
          </a:prstGeom>
        </p:spPr>
      </p:pic>
      <p:pic>
        <p:nvPicPr>
          <p:cNvPr id="15" name="Picture 14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99" y="2879279"/>
            <a:ext cx="454225" cy="462174"/>
          </a:xfrm>
          <a:prstGeom prst="rect">
            <a:avLst/>
          </a:prstGeom>
        </p:spPr>
      </p:pic>
      <p:pic>
        <p:nvPicPr>
          <p:cNvPr id="16" name="Picture 15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606" y="3141556"/>
            <a:ext cx="454225" cy="462174"/>
          </a:xfrm>
          <a:prstGeom prst="rect">
            <a:avLst/>
          </a:prstGeom>
        </p:spPr>
      </p:pic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293767" y="3061780"/>
            <a:ext cx="977332" cy="50433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Spam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293767" y="1776566"/>
            <a:ext cx="1135020" cy="595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700" dirty="0"/>
              <a:t>Ham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2371604"/>
            <a:ext cx="977332" cy="504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Given: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57200" y="5061902"/>
            <a:ext cx="977332" cy="504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Target:</a:t>
            </a:r>
          </a:p>
        </p:txBody>
      </p:sp>
      <p:pic>
        <p:nvPicPr>
          <p:cNvPr id="21" name="Picture 20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033" y="5013859"/>
            <a:ext cx="731012" cy="743805"/>
          </a:xfrm>
          <a:prstGeom prst="rect">
            <a:avLst/>
          </a:prstGeom>
        </p:spPr>
      </p:pic>
      <p:sp>
        <p:nvSpPr>
          <p:cNvPr id="22" name="Content Placeholder 2"/>
          <p:cNvSpPr txBox="1">
            <a:spLocks/>
          </p:cNvSpPr>
          <p:nvPr/>
        </p:nvSpPr>
        <p:spPr>
          <a:xfrm>
            <a:off x="4951565" y="4977315"/>
            <a:ext cx="1702143" cy="732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Ham or Spam?</a:t>
            </a:r>
          </a:p>
        </p:txBody>
      </p:sp>
    </p:spTree>
    <p:extLst>
      <p:ext uri="{BB962C8B-B14F-4D97-AF65-F5344CB8AC3E}">
        <p14:creationId xmlns:p14="http://schemas.microsoft.com/office/powerpoint/2010/main" val="270169756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Classifier in A Nutshell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2318"/>
            <a:ext cx="8229600" cy="802825"/>
          </a:xfrm>
        </p:spPr>
        <p:txBody>
          <a:bodyPr anchor="t">
            <a:normAutofit/>
          </a:bodyPr>
          <a:lstStyle/>
          <a:p>
            <a:r>
              <a:rPr lang="en-US" dirty="0"/>
              <a:t>Represent an email using a feature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2E57653-3E58-4892-A7ED-712530ACC680}" type="slidenum">
              <a:rPr kumimoji="0" lang="en-US" smtClean="0"/>
              <a:pPr eaLnBrk="1" latinLnBrk="0" hangingPunct="1"/>
              <a:t>56</a:t>
            </a:fld>
            <a:endParaRPr kumimoji="0" lang="en-US"/>
          </a:p>
        </p:txBody>
      </p:sp>
      <p:grpSp>
        <p:nvGrpSpPr>
          <p:cNvPr id="8" name="Group 7"/>
          <p:cNvGrpSpPr/>
          <p:nvPr/>
        </p:nvGrpSpPr>
        <p:grpSpPr>
          <a:xfrm>
            <a:off x="2627705" y="2573570"/>
            <a:ext cx="3455911" cy="863766"/>
            <a:chOff x="2683733" y="2134637"/>
            <a:chExt cx="3455911" cy="863766"/>
          </a:xfrm>
        </p:grpSpPr>
        <p:pic>
          <p:nvPicPr>
            <p:cNvPr id="5" name="Picture 4" descr="1233488281KaSxS8.jpg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733" y="2134637"/>
              <a:ext cx="848910" cy="863766"/>
            </a:xfrm>
            <a:prstGeom prst="rect">
              <a:avLst/>
            </a:prstGeom>
          </p:spPr>
        </p:pic>
        <p:sp>
          <p:nvSpPr>
            <p:cNvPr id="6" name="Right Arrow 5"/>
            <p:cNvSpPr/>
            <p:nvPr/>
          </p:nvSpPr>
          <p:spPr>
            <a:xfrm>
              <a:off x="3715586" y="2429337"/>
              <a:ext cx="502544" cy="21927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ontent Placeholder 2"/>
            <p:cNvSpPr txBox="1">
              <a:spLocks/>
            </p:cNvSpPr>
            <p:nvPr/>
          </p:nvSpPr>
          <p:spPr>
            <a:xfrm>
              <a:off x="4378604" y="2217161"/>
              <a:ext cx="1761040" cy="518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62500" lnSpcReduction="20000"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[f1, f2, f3…, </a:t>
              </a:r>
              <a:r>
                <a:rPr lang="en-US" dirty="0" err="1"/>
                <a:t>fn</a:t>
              </a:r>
              <a:r>
                <a:rPr lang="en-US" dirty="0"/>
                <a:t>]</a:t>
              </a:r>
            </a:p>
          </p:txBody>
        </p:sp>
      </p:grp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203629"/>
              </p:ext>
            </p:extLst>
          </p:nvPr>
        </p:nvGraphicFramePr>
        <p:xfrm>
          <a:off x="3311302" y="3457669"/>
          <a:ext cx="5020901" cy="1432685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221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944">
                <a:tc>
                  <a:txBody>
                    <a:bodyPr/>
                    <a:lstStyle/>
                    <a:p>
                      <a:r>
                        <a:rPr lang="en-US" sz="16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944">
                <a:tc>
                  <a:txBody>
                    <a:bodyPr/>
                    <a:lstStyle/>
                    <a:p>
                      <a:r>
                        <a:rPr lang="en-US" sz="1600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Has URL?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44">
                <a:tc>
                  <a:txBody>
                    <a:bodyPr/>
                    <a:lstStyle/>
                    <a:p>
                      <a:r>
                        <a:rPr lang="en-US" sz="1600" dirty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Short message? (&lt; 100 words)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845">
                <a:tc>
                  <a:txBody>
                    <a:bodyPr/>
                    <a:lstStyle/>
                    <a:p>
                      <a:r>
                        <a:rPr lang="en-US" sz="1600" dirty="0"/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Commercial words? (free, money, click…)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1135959" y="5109849"/>
            <a:ext cx="6932757" cy="1384995"/>
            <a:chOff x="1222403" y="5162225"/>
            <a:chExt cx="6167554" cy="1384995"/>
          </a:xfrm>
        </p:grpSpPr>
        <p:sp>
          <p:nvSpPr>
            <p:cNvPr id="10" name="TextBox 9"/>
            <p:cNvSpPr txBox="1"/>
            <p:nvPr/>
          </p:nvSpPr>
          <p:spPr>
            <a:xfrm>
              <a:off x="1222403" y="5162225"/>
              <a:ext cx="2427817" cy="138499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400" dirty="0"/>
                <a:t>Hi all,</a:t>
              </a:r>
            </a:p>
            <a:p>
              <a:endParaRPr lang="en-US" sz="1400" dirty="0"/>
            </a:p>
            <a:p>
              <a:r>
                <a:rPr lang="en-US" sz="1400" dirty="0"/>
                <a:t>    Click </a:t>
              </a:r>
              <a:r>
                <a:rPr lang="en-US" sz="1400" dirty="0">
                  <a:hlinkClick r:id="rId4"/>
                </a:rPr>
                <a:t>www.malware.com</a:t>
              </a:r>
              <a:r>
                <a:rPr lang="en-US" sz="1400" dirty="0"/>
                <a:t> for greeting card. Free! Free! Free! </a:t>
              </a:r>
            </a:p>
            <a:p>
              <a:endParaRPr lang="en-US" sz="1400" dirty="0"/>
            </a:p>
            <a:p>
              <a:r>
                <a:rPr lang="en-US" sz="1400" dirty="0"/>
                <a:t>Sam</a:t>
              </a:r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4152764" y="5635449"/>
              <a:ext cx="502544" cy="21927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758599" y="5479305"/>
              <a:ext cx="2631358" cy="518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47500" lnSpcReduction="20000"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[f1 = true, f2 = true,  f3 = true]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1203727" y="1927239"/>
            <a:ext cx="66119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solidFill>
                  <a:srgbClr val="FF0000"/>
                </a:solidFill>
              </a:rPr>
              <a:t>The features are designed by YOU! </a:t>
            </a:r>
          </a:p>
        </p:txBody>
      </p:sp>
    </p:spTree>
    <p:extLst>
      <p:ext uri="{BB962C8B-B14F-4D97-AF65-F5344CB8AC3E}">
        <p14:creationId xmlns:p14="http://schemas.microsoft.com/office/powerpoint/2010/main" val="26823130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Statistical Classifier in A Nutshell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981"/>
            <a:ext cx="8229600" cy="603698"/>
          </a:xfrm>
        </p:spPr>
        <p:txBody>
          <a:bodyPr>
            <a:normAutofit/>
          </a:bodyPr>
          <a:lstStyle/>
          <a:p>
            <a:r>
              <a:rPr lang="en-US" dirty="0"/>
              <a:t>Learn a classifier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2E57653-3E58-4892-A7ED-712530ACC680}" type="slidenum">
              <a:rPr kumimoji="0" lang="en-US" smtClean="0"/>
              <a:pPr eaLnBrk="1" latinLnBrk="0" hangingPunct="1"/>
              <a:t>57</a:t>
            </a:fld>
            <a:endParaRPr kumimoji="0" lang="en-US"/>
          </a:p>
        </p:txBody>
      </p:sp>
      <p:sp>
        <p:nvSpPr>
          <p:cNvPr id="5" name="Oval 4"/>
          <p:cNvSpPr/>
          <p:nvPr/>
        </p:nvSpPr>
        <p:spPr>
          <a:xfrm>
            <a:off x="1282084" y="3227140"/>
            <a:ext cx="2064994" cy="103973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715580" y="1947141"/>
            <a:ext cx="2064995" cy="111463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200" y="2097104"/>
            <a:ext cx="454225" cy="462174"/>
          </a:xfrm>
          <a:prstGeom prst="rect">
            <a:avLst/>
          </a:prstGeom>
        </p:spPr>
      </p:pic>
      <p:pic>
        <p:nvPicPr>
          <p:cNvPr id="8" name="Picture 7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09" y="1974550"/>
            <a:ext cx="454225" cy="462174"/>
          </a:xfrm>
          <a:prstGeom prst="rect">
            <a:avLst/>
          </a:prstGeom>
        </p:spPr>
      </p:pic>
      <p:pic>
        <p:nvPicPr>
          <p:cNvPr id="9" name="Picture 8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712" y="2436724"/>
            <a:ext cx="454225" cy="462174"/>
          </a:xfrm>
          <a:prstGeom prst="rect">
            <a:avLst/>
          </a:prstGeom>
        </p:spPr>
      </p:pic>
      <p:pic>
        <p:nvPicPr>
          <p:cNvPr id="10" name="Picture 9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419" y="3318461"/>
            <a:ext cx="454225" cy="462174"/>
          </a:xfrm>
          <a:prstGeom prst="rect">
            <a:avLst/>
          </a:prstGeom>
        </p:spPr>
      </p:pic>
      <p:pic>
        <p:nvPicPr>
          <p:cNvPr id="11" name="Picture 10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350" y="3287271"/>
            <a:ext cx="454225" cy="462174"/>
          </a:xfrm>
          <a:prstGeom prst="rect">
            <a:avLst/>
          </a:prstGeom>
        </p:spPr>
      </p:pic>
      <p:pic>
        <p:nvPicPr>
          <p:cNvPr id="12" name="Picture 11" descr="1233488281KaSxS8.jp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657" y="3549548"/>
            <a:ext cx="454225" cy="462174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304752" y="3385725"/>
            <a:ext cx="977332" cy="504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Spam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0" y="1960539"/>
            <a:ext cx="977332" cy="504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Ham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74956"/>
              </p:ext>
            </p:extLst>
          </p:nvPr>
        </p:nvGraphicFramePr>
        <p:xfrm>
          <a:off x="4015230" y="1702606"/>
          <a:ext cx="3700445" cy="1524525"/>
        </p:xfrm>
        <a:graphic>
          <a:graphicData uri="http://schemas.openxmlformats.org/drawingml/2006/table">
            <a:tbl>
              <a:tblPr firstRow="1" firstCol="1">
                <a:tableStyleId>{74C1A8A3-306A-4EB7-A6B1-4F7E0EB9C5D6}</a:tableStyleId>
              </a:tblPr>
              <a:tblGrid>
                <a:gridCol w="74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00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0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905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f1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f2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f3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Spam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05">
                <a:tc>
                  <a:txBody>
                    <a:bodyPr/>
                    <a:lstStyle/>
                    <a:p>
                      <a:r>
                        <a:rPr lang="en-US" sz="1400" dirty="0"/>
                        <a:t>email1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05">
                <a:tc>
                  <a:txBody>
                    <a:bodyPr/>
                    <a:lstStyle/>
                    <a:p>
                      <a:r>
                        <a:rPr lang="en-US" sz="1400" dirty="0"/>
                        <a:t>email2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05"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….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05">
                <a:tc>
                  <a:txBody>
                    <a:bodyPr/>
                    <a:lstStyle/>
                    <a:p>
                      <a:r>
                        <a:rPr lang="en-US" sz="1400" dirty="0" err="1"/>
                        <a:t>email</a:t>
                      </a:r>
                      <a:r>
                        <a:rPr lang="en-US" sz="1400" baseline="-25000" dirty="0" err="1"/>
                        <a:t>M</a:t>
                      </a:r>
                      <a:endParaRPr lang="en-US" sz="1400" baseline="-250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Right Arrow 17"/>
          <p:cNvSpPr/>
          <p:nvPr/>
        </p:nvSpPr>
        <p:spPr>
          <a:xfrm rot="20774390">
            <a:off x="3190025" y="2380460"/>
            <a:ext cx="502544" cy="21927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3903179" y="3318461"/>
            <a:ext cx="3770898" cy="1414549"/>
            <a:chOff x="3903179" y="3318461"/>
            <a:chExt cx="3770898" cy="1414549"/>
          </a:xfrm>
        </p:grpSpPr>
        <p:sp>
          <p:nvSpPr>
            <p:cNvPr id="19" name="Right Arrow 18"/>
            <p:cNvSpPr/>
            <p:nvPr/>
          </p:nvSpPr>
          <p:spPr>
            <a:xfrm rot="5400000">
              <a:off x="5497032" y="3559345"/>
              <a:ext cx="502544" cy="21927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ontent Placeholder 2"/>
            <p:cNvSpPr txBox="1">
              <a:spLocks/>
            </p:cNvSpPr>
            <p:nvPr/>
          </p:nvSpPr>
          <p:spPr>
            <a:xfrm>
              <a:off x="5944496" y="3318461"/>
              <a:ext cx="1575086" cy="51774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47500" lnSpcReduction="20000"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dirty="0"/>
                <a:t>Learn a classifier</a:t>
              </a:r>
            </a:p>
          </p:txBody>
        </p:sp>
        <p:sp>
          <p:nvSpPr>
            <p:cNvPr id="21" name="Content Placeholder 2"/>
            <p:cNvSpPr txBox="1">
              <a:spLocks/>
            </p:cNvSpPr>
            <p:nvPr/>
          </p:nvSpPr>
          <p:spPr>
            <a:xfrm>
              <a:off x="3903179" y="3699032"/>
              <a:ext cx="3770898" cy="103397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47500" lnSpcReduction="20000"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i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F(</a:t>
              </a:r>
              <a:r>
                <a:rPr lang="en-US" b="1" i="1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email</a:t>
              </a:r>
              <a:r>
                <a:rPr lang="en-US" b="1" i="1" baseline="-25000" dirty="0" err="1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X</a:t>
              </a:r>
              <a:r>
                <a:rPr lang="en-US" b="1" i="1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)</a:t>
              </a:r>
              <a:r>
                <a:rPr lang="en-US" dirty="0"/>
                <a:t>: the confidence of </a:t>
              </a:r>
              <a:r>
                <a:rPr lang="en-US" dirty="0" err="1"/>
                <a:t>email</a:t>
              </a:r>
              <a:r>
                <a:rPr lang="en-US" baseline="-25000" dirty="0" err="1"/>
                <a:t>X</a:t>
              </a:r>
              <a:r>
                <a:rPr lang="en-US" baseline="-25000" dirty="0"/>
                <a:t> </a:t>
              </a:r>
              <a:r>
                <a:rPr lang="en-US" dirty="0"/>
                <a:t> (represented by a feature vector) being spam</a:t>
              </a:r>
            </a:p>
          </p:txBody>
        </p:sp>
      </p:grpSp>
      <p:sp>
        <p:nvSpPr>
          <p:cNvPr id="22" name="Content Placeholder 2"/>
          <p:cNvSpPr txBox="1">
            <a:spLocks/>
          </p:cNvSpPr>
          <p:nvPr/>
        </p:nvSpPr>
        <p:spPr>
          <a:xfrm>
            <a:off x="3519622" y="4648758"/>
            <a:ext cx="5045784" cy="1790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47500" lnSpcReduction="20000"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i="1" dirty="0"/>
              <a:t>		F(</a:t>
            </a:r>
            <a:r>
              <a:rPr lang="en-US" b="1" i="1" dirty="0" err="1"/>
              <a:t>email</a:t>
            </a:r>
            <a:r>
              <a:rPr lang="en-US" b="1" i="1" baseline="-25000" dirty="0" err="1"/>
              <a:t>X</a:t>
            </a:r>
            <a:r>
              <a:rPr lang="en-US" b="1" i="1" dirty="0"/>
              <a:t>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if (email</a:t>
            </a:r>
            <a:r>
              <a:rPr lang="en-US" baseline="-25000" dirty="0"/>
              <a:t>X</a:t>
            </a:r>
            <a:r>
              <a:rPr lang="en-US" dirty="0"/>
              <a:t>.f1 == “True” || email</a:t>
            </a:r>
            <a:r>
              <a:rPr lang="en-US" baseline="-25000" dirty="0"/>
              <a:t>X</a:t>
            </a:r>
            <a:r>
              <a:rPr lang="en-US" dirty="0"/>
              <a:t>.f3 == “True”))</a:t>
            </a:r>
          </a:p>
          <a:p>
            <a:pPr marL="0" indent="0">
              <a:buNone/>
            </a:pPr>
            <a:r>
              <a:rPr lang="en-US" dirty="0"/>
              <a:t>	output 1; 	</a:t>
            </a:r>
          </a:p>
          <a:p>
            <a:pPr marL="0" indent="0">
              <a:buNone/>
            </a:pPr>
            <a:r>
              <a:rPr lang="en-US" dirty="0"/>
              <a:t>otherwise </a:t>
            </a:r>
          </a:p>
          <a:p>
            <a:pPr marL="0" indent="0">
              <a:buNone/>
            </a:pPr>
            <a:r>
              <a:rPr lang="en-US" dirty="0"/>
              <a:t>	output 0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25207" y="4742349"/>
            <a:ext cx="3258191" cy="1492035"/>
            <a:chOff x="125207" y="4742349"/>
            <a:chExt cx="3258191" cy="1492035"/>
          </a:xfrm>
        </p:grpSpPr>
        <p:pic>
          <p:nvPicPr>
            <p:cNvPr id="24" name="Picture 23" descr="1233488281KaSxS8.jpg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942" y="4742349"/>
              <a:ext cx="731012" cy="743805"/>
            </a:xfrm>
            <a:prstGeom prst="rect">
              <a:avLst/>
            </a:prstGeom>
          </p:spPr>
        </p:pic>
        <p:sp>
          <p:nvSpPr>
            <p:cNvPr id="25" name="Content Placeholder 2"/>
            <p:cNvSpPr txBox="1">
              <a:spLocks/>
            </p:cNvSpPr>
            <p:nvPr/>
          </p:nvSpPr>
          <p:spPr>
            <a:xfrm>
              <a:off x="752040" y="4855714"/>
              <a:ext cx="2631358" cy="518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47500" lnSpcReduction="20000"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[f1 = true, f2 = true,  f3 = true]</a:t>
              </a:r>
            </a:p>
          </p:txBody>
        </p:sp>
        <p:pic>
          <p:nvPicPr>
            <p:cNvPr id="26" name="Picture 25" descr="1233488281KaSxS8.jpg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207" y="5490579"/>
              <a:ext cx="731012" cy="743805"/>
            </a:xfrm>
            <a:prstGeom prst="rect">
              <a:avLst/>
            </a:prstGeom>
          </p:spPr>
        </p:pic>
        <p:sp>
          <p:nvSpPr>
            <p:cNvPr id="27" name="Content Placeholder 2"/>
            <p:cNvSpPr txBox="1">
              <a:spLocks/>
            </p:cNvSpPr>
            <p:nvPr/>
          </p:nvSpPr>
          <p:spPr>
            <a:xfrm>
              <a:off x="740305" y="5603944"/>
              <a:ext cx="2631358" cy="518776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 fontScale="47500" lnSpcReduction="20000"/>
            </a:bodyPr>
            <a:lstStyle>
              <a:lvl1pPr marL="342900" indent="-3429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50000"/>
                </a:lnSpc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[f1 = false, f2 = false,  f3 = false]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86752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an 3"/>
          <p:cNvSpPr/>
          <p:nvPr/>
        </p:nvSpPr>
        <p:spPr>
          <a:xfrm>
            <a:off x="458062" y="1805125"/>
            <a:ext cx="1007213" cy="663632"/>
          </a:xfrm>
          <a:prstGeom prst="can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Spam</a:t>
            </a:r>
          </a:p>
        </p:txBody>
      </p:sp>
      <p:sp>
        <p:nvSpPr>
          <p:cNvPr id="5" name="Can 4"/>
          <p:cNvSpPr/>
          <p:nvPr/>
        </p:nvSpPr>
        <p:spPr>
          <a:xfrm>
            <a:off x="458062" y="2563947"/>
            <a:ext cx="1007213" cy="663632"/>
          </a:xfrm>
          <a:prstGeom prst="ca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158" y="2011557"/>
            <a:ext cx="1464414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1668" y="2011557"/>
            <a:ext cx="1464414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Build Statistical Classifier</a:t>
            </a:r>
          </a:p>
        </p:txBody>
      </p:sp>
      <p:sp>
        <p:nvSpPr>
          <p:cNvPr id="8" name="Plaque 7"/>
          <p:cNvSpPr/>
          <p:nvPr/>
        </p:nvSpPr>
        <p:spPr>
          <a:xfrm>
            <a:off x="4146933" y="4123702"/>
            <a:ext cx="1257621" cy="914400"/>
          </a:xfrm>
          <a:prstGeom prst="plaqu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Classifier</a:t>
            </a:r>
          </a:p>
        </p:txBody>
      </p:sp>
      <p:cxnSp>
        <p:nvCxnSpPr>
          <p:cNvPr id="10" name="Straight Arrow Connector 9"/>
          <p:cNvCxnSpPr>
            <a:stCxn id="4" idx="4"/>
          </p:cNvCxnSpPr>
          <p:nvPr/>
        </p:nvCxnSpPr>
        <p:spPr>
          <a:xfrm>
            <a:off x="1465275" y="2136941"/>
            <a:ext cx="697883" cy="331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4"/>
            <a:endCxn id="6" idx="1"/>
          </p:cNvCxnSpPr>
          <p:nvPr/>
        </p:nvCxnSpPr>
        <p:spPr>
          <a:xfrm flipV="1">
            <a:off x="1465275" y="2468757"/>
            <a:ext cx="697883" cy="4270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3627572" y="2468757"/>
            <a:ext cx="404096" cy="73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ight Arrow 27"/>
          <p:cNvSpPr/>
          <p:nvPr/>
        </p:nvSpPr>
        <p:spPr>
          <a:xfrm rot="5400000">
            <a:off x="4458658" y="3193535"/>
            <a:ext cx="624710" cy="34319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2E57653-3E58-4892-A7ED-712530ACC680}" type="slidenum">
              <a:rPr kumimoji="0" lang="en-US" smtClean="0"/>
              <a:pPr eaLnBrk="1" latinLnBrk="0" hangingPunct="1"/>
              <a:t>58</a:t>
            </a:fld>
            <a:endParaRPr kumimoji="0"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269139" y="4294297"/>
            <a:ext cx="3680733" cy="743805"/>
            <a:chOff x="269139" y="4294297"/>
            <a:chExt cx="3680733" cy="743805"/>
          </a:xfrm>
        </p:grpSpPr>
        <p:grpSp>
          <p:nvGrpSpPr>
            <p:cNvPr id="33" name="Group 32"/>
            <p:cNvGrpSpPr/>
            <p:nvPr/>
          </p:nvGrpSpPr>
          <p:grpSpPr>
            <a:xfrm>
              <a:off x="269139" y="4417846"/>
              <a:ext cx="3680733" cy="369332"/>
              <a:chOff x="269139" y="4417846"/>
              <a:chExt cx="3680733" cy="369332"/>
            </a:xfrm>
          </p:grpSpPr>
          <p:cxnSp>
            <p:nvCxnSpPr>
              <p:cNvPr id="21" name="Straight Arrow Connector 20"/>
              <p:cNvCxnSpPr/>
              <p:nvPr/>
            </p:nvCxnSpPr>
            <p:spPr>
              <a:xfrm>
                <a:off x="2801328" y="4580902"/>
                <a:ext cx="114854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/>
              <p:cNvSpPr txBox="1"/>
              <p:nvPr/>
            </p:nvSpPr>
            <p:spPr>
              <a:xfrm>
                <a:off x="269139" y="4417846"/>
                <a:ext cx="11290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Detection</a:t>
                </a:r>
              </a:p>
            </p:txBody>
          </p:sp>
        </p:grpSp>
        <p:pic>
          <p:nvPicPr>
            <p:cNvPr id="24" name="Picture 23" descr="1233488281KaSxS8.jpg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7727" y="4294297"/>
              <a:ext cx="731012" cy="743805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5530405" y="4369459"/>
            <a:ext cx="1710653" cy="369332"/>
            <a:chOff x="5530405" y="4369459"/>
            <a:chExt cx="1710653" cy="369332"/>
          </a:xfrm>
        </p:grpSpPr>
        <p:sp>
          <p:nvSpPr>
            <p:cNvPr id="27" name="Right Arrow 26"/>
            <p:cNvSpPr/>
            <p:nvPr/>
          </p:nvSpPr>
          <p:spPr>
            <a:xfrm>
              <a:off x="5530405" y="4390585"/>
              <a:ext cx="624710" cy="343195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03795" y="4369459"/>
              <a:ext cx="8372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Spam?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79361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an 3"/>
          <p:cNvSpPr/>
          <p:nvPr/>
        </p:nvSpPr>
        <p:spPr>
          <a:xfrm>
            <a:off x="458062" y="1805125"/>
            <a:ext cx="1007213" cy="663632"/>
          </a:xfrm>
          <a:prstGeom prst="can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Spam</a:t>
            </a:r>
          </a:p>
        </p:txBody>
      </p:sp>
      <p:sp>
        <p:nvSpPr>
          <p:cNvPr id="5" name="Can 4"/>
          <p:cNvSpPr/>
          <p:nvPr/>
        </p:nvSpPr>
        <p:spPr>
          <a:xfrm>
            <a:off x="458062" y="2563947"/>
            <a:ext cx="1007213" cy="663632"/>
          </a:xfrm>
          <a:prstGeom prst="can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158" y="2011557"/>
            <a:ext cx="1464414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Extract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1668" y="2011557"/>
            <a:ext cx="1464414" cy="914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Build Statistical Classifier</a:t>
            </a:r>
          </a:p>
        </p:txBody>
      </p:sp>
      <p:sp>
        <p:nvSpPr>
          <p:cNvPr id="8" name="Plaque 7"/>
          <p:cNvSpPr/>
          <p:nvPr/>
        </p:nvSpPr>
        <p:spPr>
          <a:xfrm>
            <a:off x="4146933" y="4123702"/>
            <a:ext cx="1257621" cy="914400"/>
          </a:xfrm>
          <a:prstGeom prst="plaqu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Classifier</a:t>
            </a:r>
          </a:p>
        </p:txBody>
      </p:sp>
      <p:cxnSp>
        <p:nvCxnSpPr>
          <p:cNvPr id="10" name="Straight Arrow Connector 9"/>
          <p:cNvCxnSpPr>
            <a:stCxn id="4" idx="4"/>
          </p:cNvCxnSpPr>
          <p:nvPr/>
        </p:nvCxnSpPr>
        <p:spPr>
          <a:xfrm>
            <a:off x="1465275" y="2136941"/>
            <a:ext cx="697883" cy="3318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4"/>
            <a:endCxn id="6" idx="1"/>
          </p:cNvCxnSpPr>
          <p:nvPr/>
        </p:nvCxnSpPr>
        <p:spPr>
          <a:xfrm flipV="1">
            <a:off x="1465275" y="2468757"/>
            <a:ext cx="697883" cy="4270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7" idx="1"/>
          </p:cNvCxnSpPr>
          <p:nvPr/>
        </p:nvCxnSpPr>
        <p:spPr>
          <a:xfrm flipV="1">
            <a:off x="3627572" y="2468757"/>
            <a:ext cx="404096" cy="73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827933"/>
              </p:ext>
            </p:extLst>
          </p:nvPr>
        </p:nvGraphicFramePr>
        <p:xfrm>
          <a:off x="6298077" y="3925582"/>
          <a:ext cx="2560338" cy="11125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18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Detected as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Spam’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Detection</a:t>
                      </a:r>
                      <a:r>
                        <a:rPr lang="en-US" sz="1600" baseline="0" dirty="0"/>
                        <a:t> Rate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Ham’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False Positive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Right Arrow 26"/>
          <p:cNvSpPr/>
          <p:nvPr/>
        </p:nvSpPr>
        <p:spPr>
          <a:xfrm>
            <a:off x="5530405" y="4390585"/>
            <a:ext cx="624710" cy="34319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 rot="5400000">
            <a:off x="4458658" y="3193535"/>
            <a:ext cx="624710" cy="34319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269139" y="3933803"/>
            <a:ext cx="3877794" cy="1422454"/>
            <a:chOff x="269139" y="3933803"/>
            <a:chExt cx="3877794" cy="1422454"/>
          </a:xfrm>
        </p:grpSpPr>
        <p:sp>
          <p:nvSpPr>
            <p:cNvPr id="19" name="Can 18"/>
            <p:cNvSpPr/>
            <p:nvPr/>
          </p:nvSpPr>
          <p:spPr>
            <a:xfrm>
              <a:off x="1659551" y="3933803"/>
              <a:ext cx="1007213" cy="663632"/>
            </a:xfrm>
            <a:prstGeom prst="can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Spam’</a:t>
              </a:r>
            </a:p>
          </p:txBody>
        </p:sp>
        <p:sp>
          <p:nvSpPr>
            <p:cNvPr id="20" name="Can 19"/>
            <p:cNvSpPr/>
            <p:nvPr/>
          </p:nvSpPr>
          <p:spPr>
            <a:xfrm>
              <a:off x="1659551" y="4692625"/>
              <a:ext cx="1007213" cy="663632"/>
            </a:xfrm>
            <a:prstGeom prst="can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Ham’</a:t>
              </a:r>
            </a:p>
          </p:txBody>
        </p:sp>
        <p:cxnSp>
          <p:nvCxnSpPr>
            <p:cNvPr id="21" name="Straight Arrow Connector 20"/>
            <p:cNvCxnSpPr>
              <a:stCxn id="19" idx="4"/>
              <a:endCxn id="8" idx="1"/>
            </p:cNvCxnSpPr>
            <p:nvPr/>
          </p:nvCxnSpPr>
          <p:spPr>
            <a:xfrm>
              <a:off x="2666764" y="4265619"/>
              <a:ext cx="1480169" cy="3152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20" idx="4"/>
              <a:endCxn id="8" idx="1"/>
            </p:cNvCxnSpPr>
            <p:nvPr/>
          </p:nvCxnSpPr>
          <p:spPr>
            <a:xfrm flipV="1">
              <a:off x="2666764" y="4580902"/>
              <a:ext cx="1480169" cy="44353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269139" y="4417846"/>
              <a:ext cx="11961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Evaluation</a:t>
              </a:r>
            </a:p>
          </p:txBody>
        </p: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D2E57653-3E58-4892-A7ED-712530ACC680}" type="slidenum">
              <a:rPr kumimoji="0" lang="en-US" smtClean="0"/>
              <a:pPr eaLnBrk="1" latinLnBrk="0" hangingPunct="1"/>
              <a:t>59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92526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3535</Words>
  <Application>Microsoft Office PowerPoint</Application>
  <PresentationFormat>On-screen Show (4:3)</PresentationFormat>
  <Paragraphs>688</Paragraphs>
  <Slides>59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Copperplate Gothic Bold</vt:lpstr>
      <vt:lpstr>Times New Roman</vt:lpstr>
      <vt:lpstr>Verdana</vt:lpstr>
      <vt:lpstr>Wingdings</vt:lpstr>
      <vt:lpstr>Office Theme</vt:lpstr>
      <vt:lpstr>Network Intrusion Detection</vt:lpstr>
      <vt:lpstr>Intrusion Detection</vt:lpstr>
      <vt:lpstr>A High-Level Overview of IDS</vt:lpstr>
      <vt:lpstr>Detection Accuracy</vt:lpstr>
      <vt:lpstr>Key Metrics of IDS</vt:lpstr>
      <vt:lpstr>Detection Tradeoffs</vt:lpstr>
      <vt:lpstr>Detection Tradeoffs</vt:lpstr>
      <vt:lpstr>Detection Tradeoffs</vt:lpstr>
      <vt:lpstr>Base Rate Fallacy</vt:lpstr>
      <vt:lpstr>Elements of An Intrusion Detection System</vt:lpstr>
      <vt:lpstr>Components of An Intrusion Detection System</vt:lpstr>
      <vt:lpstr>Categories of IDSs</vt:lpstr>
      <vt:lpstr>Categories of IDSs</vt:lpstr>
      <vt:lpstr>Host-based IDS</vt:lpstr>
      <vt:lpstr>Host-based IDS</vt:lpstr>
      <vt:lpstr>Network-based IDS</vt:lpstr>
      <vt:lpstr>Network-based IDS</vt:lpstr>
      <vt:lpstr>Misuse Detection</vt:lpstr>
      <vt:lpstr>Misuse Detection</vt:lpstr>
      <vt:lpstr>Anomaly Detection</vt:lpstr>
      <vt:lpstr>Hybrid Detection</vt:lpstr>
      <vt:lpstr>Misuse V.S. Anomaly</vt:lpstr>
      <vt:lpstr>Misuse V.S. Anomaly</vt:lpstr>
      <vt:lpstr>SNORT: A Misuse IDS</vt:lpstr>
      <vt:lpstr>SNORT Architecture</vt:lpstr>
      <vt:lpstr>SNORT Architecture</vt:lpstr>
      <vt:lpstr>SNORT Architecture</vt:lpstr>
      <vt:lpstr>SNORT Architecture</vt:lpstr>
      <vt:lpstr>SNORT Rules</vt:lpstr>
      <vt:lpstr>SNORT Rule Example</vt:lpstr>
      <vt:lpstr>SNORT Rule Example</vt:lpstr>
      <vt:lpstr>SNORT Rule Example</vt:lpstr>
      <vt:lpstr>Anomaly Detection</vt:lpstr>
      <vt:lpstr>Anomaly Detection</vt:lpstr>
      <vt:lpstr>Misuse Detection</vt:lpstr>
      <vt:lpstr>A Vulnerable Server</vt:lpstr>
      <vt:lpstr>Signature-based IDS</vt:lpstr>
      <vt:lpstr>How to Get Signatures?</vt:lpstr>
      <vt:lpstr>Polymorphic Worms</vt:lpstr>
      <vt:lpstr>Polygraph</vt:lpstr>
      <vt:lpstr>Invariant Bytes</vt:lpstr>
      <vt:lpstr>Invariant Bytes</vt:lpstr>
      <vt:lpstr>Example</vt:lpstr>
      <vt:lpstr>Invariant Bytes</vt:lpstr>
      <vt:lpstr>Polygraph System</vt:lpstr>
      <vt:lpstr>Evaluation</vt:lpstr>
      <vt:lpstr>Results</vt:lpstr>
      <vt:lpstr>Results</vt:lpstr>
      <vt:lpstr>Conclusion</vt:lpstr>
      <vt:lpstr>PowerPoint Presentation</vt:lpstr>
      <vt:lpstr>Motivation</vt:lpstr>
      <vt:lpstr>Limitations of the Previous Approach</vt:lpstr>
      <vt:lpstr>Overview</vt:lpstr>
      <vt:lpstr>Hybrid Detection</vt:lpstr>
      <vt:lpstr>Statistical Classifier in A Nutshell</vt:lpstr>
      <vt:lpstr>Statistical Classifier in A Nutshell</vt:lpstr>
      <vt:lpstr>Statistical Classifier in A Nutshell</vt:lpstr>
      <vt:lpstr>Overview</vt:lpstr>
      <vt:lpstr>Overview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Junjie Zhang</dc:creator>
  <cp:lastModifiedBy>Kate Liu</cp:lastModifiedBy>
  <cp:revision>600</cp:revision>
  <dcterms:created xsi:type="dcterms:W3CDTF">2014-06-18T21:11:00Z</dcterms:created>
  <dcterms:modified xsi:type="dcterms:W3CDTF">2023-03-31T02:33:53Z</dcterms:modified>
</cp:coreProperties>
</file>