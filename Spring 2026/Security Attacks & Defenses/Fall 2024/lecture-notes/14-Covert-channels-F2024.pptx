
<file path=[Content_Types].xml><?xml version="1.0" encoding="utf-8"?>
<Types xmlns="http://schemas.openxmlformats.org/package/2006/content-types">
  <Default Extension="bin" ContentType="audio/unknown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320" r:id="rId2"/>
    <p:sldId id="266" r:id="rId3"/>
    <p:sldId id="463" r:id="rId4"/>
    <p:sldId id="464" r:id="rId5"/>
    <p:sldId id="308" r:id="rId6"/>
    <p:sldId id="310" r:id="rId7"/>
    <p:sldId id="309" r:id="rId8"/>
    <p:sldId id="311" r:id="rId9"/>
    <p:sldId id="347" r:id="rId10"/>
    <p:sldId id="465" r:id="rId11"/>
    <p:sldId id="466" r:id="rId12"/>
    <p:sldId id="467" r:id="rId13"/>
    <p:sldId id="468" r:id="rId14"/>
    <p:sldId id="469" r:id="rId15"/>
    <p:sldId id="470" r:id="rId16"/>
    <p:sldId id="471" r:id="rId17"/>
    <p:sldId id="472" r:id="rId1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omic Sans MS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omic Sans MS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omic Sans MS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omic Sans MS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omic Sans MS" charset="0"/>
        <a:ea typeface="+mn-ea"/>
        <a:cs typeface="+mn-cs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Comic Sans MS" charset="0"/>
        <a:ea typeface="+mn-ea"/>
        <a:cs typeface="+mn-cs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Comic Sans MS" charset="0"/>
        <a:ea typeface="+mn-ea"/>
        <a:cs typeface="+mn-cs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Comic Sans MS" charset="0"/>
        <a:ea typeface="+mn-ea"/>
        <a:cs typeface="+mn-cs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Comic Sans MS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B712"/>
    <a:srgbClr val="1320EE"/>
    <a:srgbClr val="40FF0E"/>
    <a:srgbClr val="FFFFFF"/>
    <a:srgbClr val="FF0000"/>
    <a:srgbClr val="B732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474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-139"/>
    </p:cViewPr>
  </p:notesTextViewPr>
  <p:sorterViewPr>
    <p:cViewPr varScale="1">
      <p:scale>
        <a:sx n="100" d="100"/>
        <a:sy n="100" d="100"/>
      </p:scale>
      <p:origin x="0" y="-275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4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4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4F1A2A85-B6CC-DA44-96F0-95DB1BDA0F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19646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omic Sans MS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omic Sans MS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omic Sans MS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omic Sans MS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omic Sans MS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shared resource: cache, library functions. </a:t>
            </a:r>
          </a:p>
          <a:p>
            <a:r>
              <a:rPr lang="en-US" dirty="0"/>
              <a:t>Research paper: </a:t>
            </a:r>
            <a:r>
              <a:rPr lang="en-US" dirty="0" err="1"/>
              <a:t>flush+reload</a:t>
            </a:r>
            <a:r>
              <a:rPr lang="en-US" dirty="0"/>
              <a:t>. </a:t>
            </a:r>
          </a:p>
          <a:p>
            <a:r>
              <a:rPr lang="en-US" dirty="0"/>
              <a:t>Other shared resources</a:t>
            </a:r>
            <a:r>
              <a:rPr lang="en-US"/>
              <a:t>: cloud.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F1A2A85-B6CC-DA44-96F0-95DB1BDA0F38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338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Part 2 </a:t>
            </a:r>
            <a:r>
              <a:rPr lang="en-US">
                <a:sym typeface="Symbol" charset="2"/>
              </a:rPr>
              <a:t></a:t>
            </a:r>
            <a:r>
              <a:rPr lang="en-US"/>
              <a:t> Access Control                                                                                                  </a:t>
            </a:r>
            <a:fld id="{696A2577-7E47-6D43-B9C5-B6BE4D0CE347}" type="slidenum">
              <a:rPr lang="en-US">
                <a:latin typeface="Times New Roman" charset="0"/>
              </a:rPr>
              <a:pPr>
                <a:defRPr/>
              </a:pPr>
              <a:t>‹#›</a:t>
            </a:fld>
            <a:endParaRPr lang="en-US">
              <a:latin typeface="Times New Roman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Part 2 </a:t>
            </a:r>
            <a:r>
              <a:rPr lang="en-US">
                <a:sym typeface="Symbol" charset="2"/>
              </a:rPr>
              <a:t></a:t>
            </a:r>
            <a:r>
              <a:rPr lang="en-US"/>
              <a:t> Access Control                                                                                                  </a:t>
            </a:r>
            <a:fld id="{C20D8DFE-4F81-B54F-8DE4-394E9A60B123}" type="slidenum">
              <a:rPr lang="en-US">
                <a:latin typeface="Times New Roman" charset="0"/>
              </a:rPr>
              <a:pPr>
                <a:defRPr/>
              </a:pPr>
              <a:t>‹#›</a:t>
            </a:fld>
            <a:endParaRPr lang="en-US">
              <a:latin typeface="Times New Roman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Part 2 </a:t>
            </a:r>
            <a:r>
              <a:rPr lang="en-US">
                <a:sym typeface="Symbol" charset="2"/>
              </a:rPr>
              <a:t></a:t>
            </a:r>
            <a:r>
              <a:rPr lang="en-US"/>
              <a:t> Access Control                                                                                                  </a:t>
            </a:r>
            <a:fld id="{84269C2E-66AB-F646-B567-C7239C3B31AB}" type="slidenum">
              <a:rPr lang="en-US">
                <a:latin typeface="Times New Roman" charset="0"/>
              </a:rPr>
              <a:pPr>
                <a:defRPr/>
              </a:pPr>
              <a:t>‹#›</a:t>
            </a:fld>
            <a:endParaRPr lang="en-US">
              <a:latin typeface="Times New Roman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8288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88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Part 2 </a:t>
            </a:r>
            <a:r>
              <a:rPr lang="en-US">
                <a:sym typeface="Symbol" charset="2"/>
              </a:rPr>
              <a:t></a:t>
            </a:r>
            <a:r>
              <a:rPr lang="en-US"/>
              <a:t> Access Control                                                                                                  </a:t>
            </a:r>
            <a:fld id="{8FED1F54-EF01-1240-9E24-FBB82BDFA2AC}" type="slidenum">
              <a:rPr lang="en-US">
                <a:latin typeface="Times New Roman" charset="0"/>
              </a:rPr>
              <a:pPr>
                <a:defRPr/>
              </a:pPr>
              <a:t>‹#›</a:t>
            </a:fld>
            <a:endParaRPr lang="en-US">
              <a:latin typeface="Times New Roman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Part 2 </a:t>
            </a:r>
            <a:r>
              <a:rPr lang="en-US">
                <a:sym typeface="Symbol" charset="2"/>
              </a:rPr>
              <a:t></a:t>
            </a:r>
            <a:r>
              <a:rPr lang="en-US"/>
              <a:t> Access Control                                                                                                  </a:t>
            </a:r>
            <a:fld id="{1533AD71-4F76-A346-9934-CA10A6135985}" type="slidenum">
              <a:rPr lang="en-US">
                <a:latin typeface="Times New Roman" charset="0"/>
              </a:rPr>
              <a:pPr>
                <a:defRPr/>
              </a:pPr>
              <a:t>‹#›</a:t>
            </a:fld>
            <a:endParaRPr lang="en-US">
              <a:latin typeface="Times New Roman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Part 2 </a:t>
            </a:r>
            <a:r>
              <a:rPr lang="en-US">
                <a:sym typeface="Symbol" charset="2"/>
              </a:rPr>
              <a:t></a:t>
            </a:r>
            <a:r>
              <a:rPr lang="en-US"/>
              <a:t> Access Control                                                                                                  </a:t>
            </a:r>
            <a:fld id="{D8DDB50C-6750-8E45-9E57-039BA300DDE3}" type="slidenum">
              <a:rPr lang="en-US">
                <a:latin typeface="Times New Roman" charset="0"/>
              </a:rPr>
              <a:pPr>
                <a:defRPr/>
              </a:pPr>
              <a:t>‹#›</a:t>
            </a:fld>
            <a:endParaRPr lang="en-US">
              <a:latin typeface="Times New Roman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Part 2 </a:t>
            </a:r>
            <a:r>
              <a:rPr lang="en-US">
                <a:sym typeface="Symbol" charset="2"/>
              </a:rPr>
              <a:t></a:t>
            </a:r>
            <a:r>
              <a:rPr lang="en-US"/>
              <a:t> Access Control                                                                                                  </a:t>
            </a:r>
            <a:fld id="{F84BD759-BAFB-9946-804F-DBB28E3C14EF}" type="slidenum">
              <a:rPr lang="en-US">
                <a:latin typeface="Times New Roman" charset="0"/>
              </a:rPr>
              <a:pPr>
                <a:defRPr/>
              </a:pPr>
              <a:t>‹#›</a:t>
            </a:fld>
            <a:endParaRPr lang="en-US">
              <a:latin typeface="Times New Roman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Part 2 </a:t>
            </a:r>
            <a:r>
              <a:rPr lang="en-US">
                <a:sym typeface="Symbol" charset="2"/>
              </a:rPr>
              <a:t></a:t>
            </a:r>
            <a:r>
              <a:rPr lang="en-US"/>
              <a:t> Access Control                                                                                                  </a:t>
            </a:r>
            <a:fld id="{30C5F8FF-4FA6-C044-B3E8-973FF9FF3902}" type="slidenum">
              <a:rPr lang="en-US">
                <a:latin typeface="Times New Roman" charset="0"/>
              </a:rPr>
              <a:pPr>
                <a:defRPr/>
              </a:pPr>
              <a:t>‹#›</a:t>
            </a:fld>
            <a:endParaRPr lang="en-US">
              <a:latin typeface="Times New Roman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Part 2 </a:t>
            </a:r>
            <a:r>
              <a:rPr lang="en-US">
                <a:sym typeface="Symbol" charset="2"/>
              </a:rPr>
              <a:t></a:t>
            </a:r>
            <a:r>
              <a:rPr lang="en-US"/>
              <a:t> Access Control                                                                                                  </a:t>
            </a:r>
            <a:fld id="{2F83DC3A-2173-414F-B9AE-84582AB85D98}" type="slidenum">
              <a:rPr lang="en-US">
                <a:latin typeface="Times New Roman" charset="0"/>
              </a:rPr>
              <a:pPr>
                <a:defRPr/>
              </a:pPr>
              <a:t>‹#›</a:t>
            </a:fld>
            <a:endParaRPr lang="en-US">
              <a:latin typeface="Times New Roman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Part 2 </a:t>
            </a:r>
            <a:r>
              <a:rPr lang="en-US">
                <a:sym typeface="Symbol" charset="2"/>
              </a:rPr>
              <a:t></a:t>
            </a:r>
            <a:r>
              <a:rPr lang="en-US"/>
              <a:t> Access Control                                                                                                  </a:t>
            </a:r>
            <a:fld id="{8F623A42-C162-4242-9B8E-7DF443DFC1B5}" type="slidenum">
              <a:rPr lang="en-US">
                <a:latin typeface="Times New Roman" charset="0"/>
              </a:rPr>
              <a:pPr>
                <a:defRPr/>
              </a:pPr>
              <a:t>‹#›</a:t>
            </a:fld>
            <a:endParaRPr lang="en-US">
              <a:latin typeface="Times New Roman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334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334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Part 2 </a:t>
            </a:r>
            <a:r>
              <a:rPr lang="en-US">
                <a:sym typeface="Symbol" charset="2"/>
              </a:rPr>
              <a:t></a:t>
            </a:r>
            <a:r>
              <a:rPr lang="en-US"/>
              <a:t> Access Control                                                                                                  </a:t>
            </a:r>
            <a:fld id="{139534AE-BAA8-6240-ADB3-E2618FF98326}" type="slidenum">
              <a:rPr lang="en-US">
                <a:latin typeface="Times New Roman" charset="0"/>
              </a:rPr>
              <a:pPr>
                <a:defRPr/>
              </a:pPr>
              <a:t>‹#›</a:t>
            </a:fld>
            <a:endParaRPr lang="en-US">
              <a:latin typeface="Times New Roman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365125" y="0"/>
            <a:ext cx="8377238" cy="65293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83476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8288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85800" y="6248400"/>
            <a:ext cx="7848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r>
              <a:rPr lang="en-US"/>
              <a:t> Part 2 </a:t>
            </a:r>
            <a:r>
              <a:rPr lang="en-US">
                <a:sym typeface="Symbol" charset="2"/>
              </a:rPr>
              <a:t></a:t>
            </a:r>
            <a:r>
              <a:rPr lang="en-US"/>
              <a:t> Access Control                                                                                                  </a:t>
            </a:r>
            <a:fld id="{E63A15F3-2106-974D-915F-FDBD551DE9EA}" type="slidenum">
              <a:rPr lang="en-US">
                <a:latin typeface="Times New Roman" charset="0"/>
              </a:rPr>
              <a:pPr>
                <a:defRPr/>
              </a:pPr>
              <a:t>‹#›</a:t>
            </a:fld>
            <a:endParaRPr lang="en-US">
              <a:latin typeface="Times New Roman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+mj-lt"/>
          <a:ea typeface="ＭＳ Ｐゴシック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omic Sans MS" charset="0"/>
          <a:ea typeface="ＭＳ Ｐゴシック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omic Sans MS" charset="0"/>
          <a:ea typeface="ＭＳ Ｐゴシック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omic Sans MS" charset="0"/>
          <a:ea typeface="ＭＳ Ｐゴシック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omic Sans MS" charset="0"/>
          <a:ea typeface="ＭＳ Ｐゴシック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omic Sans MS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omic Sans MS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omic Sans MS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omic Sans M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Wingdings" charset="2"/>
        <a:buChar char="q"/>
        <a:defRPr sz="3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5000"/>
        <a:buChar char="o"/>
        <a:defRPr sz="28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Wingdings" charset="2"/>
        <a:buChar char="Ø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Times" charset="0"/>
        <a:buChar char="•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Times" charset="0"/>
        <a:buChar char="•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Times" charset="0"/>
        <a:buChar char="•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Times" charset="0"/>
        <a:buChar char="•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Times" charset="0"/>
        <a:buChar char="•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9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533400"/>
            <a:ext cx="7772400" cy="1143000"/>
          </a:xfrm>
        </p:spPr>
        <p:txBody>
          <a:bodyPr/>
          <a:lstStyle/>
          <a:p>
            <a:pPr eaLnBrk="1" hangingPunct="1"/>
            <a:r>
              <a:rPr lang="en-US" dirty="0"/>
              <a:t>Covert Channel</a:t>
            </a:r>
          </a:p>
        </p:txBody>
      </p:sp>
      <p:sp>
        <p:nvSpPr>
          <p:cNvPr id="2" name="Rectangle 1"/>
          <p:cNvSpPr/>
          <p:nvPr/>
        </p:nvSpPr>
        <p:spPr>
          <a:xfrm>
            <a:off x="838200" y="2828836"/>
            <a:ext cx="8001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dirty="0"/>
              <a:t>This lecture is mainly based on the power point slides by Prof. Mark Stamp.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 Part 2 </a:t>
            </a:r>
            <a:r>
              <a:rPr lang="en-US">
                <a:sym typeface="Symbol" charset="2"/>
              </a:rPr>
              <a:t></a:t>
            </a:r>
            <a:r>
              <a:rPr lang="en-US"/>
              <a:t> Access Control                                                                                                  </a:t>
            </a:r>
            <a:fld id="{5B46B24E-0B69-ED46-B40C-24CD677F4D28}" type="slidenum">
              <a:rPr lang="en-US" smtClean="0">
                <a:latin typeface="Times New Roman" charset="0"/>
              </a:rPr>
              <a:pPr/>
              <a:t>2</a:t>
            </a:fld>
            <a:endParaRPr lang="en-US">
              <a:latin typeface="Times New Roman" charset="0"/>
            </a:endParaRPr>
          </a:p>
        </p:txBody>
      </p:sp>
      <p:sp>
        <p:nvSpPr>
          <p:cNvPr id="1024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Covert Channel</a:t>
            </a:r>
          </a:p>
        </p:txBody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Aft>
                <a:spcPts val="600"/>
              </a:spcAft>
            </a:pPr>
            <a:r>
              <a:rPr lang="en-US" sz="2800" dirty="0"/>
              <a:t>MLS designed to restrict legitimate channels of communication</a:t>
            </a:r>
          </a:p>
          <a:p>
            <a:pPr eaLnBrk="1" hangingPunct="1">
              <a:spcAft>
                <a:spcPts val="600"/>
              </a:spcAft>
            </a:pPr>
            <a:r>
              <a:rPr lang="en-US" sz="2800" dirty="0"/>
              <a:t>May be other ways for information to flow</a:t>
            </a:r>
          </a:p>
          <a:p>
            <a:pPr eaLnBrk="1" hangingPunct="1">
              <a:spcAft>
                <a:spcPts val="600"/>
              </a:spcAft>
            </a:pPr>
            <a:r>
              <a:rPr lang="en-US" sz="2800" dirty="0"/>
              <a:t>For example, resources shared at different levels could be used to “signal” information</a:t>
            </a:r>
          </a:p>
          <a:p>
            <a:pPr eaLnBrk="1" hangingPunct="1">
              <a:spcAft>
                <a:spcPts val="600"/>
              </a:spcAft>
            </a:pPr>
            <a:r>
              <a:rPr lang="en-US" sz="2800" b="1" dirty="0">
                <a:solidFill>
                  <a:schemeClr val="accent2"/>
                </a:solidFill>
              </a:rPr>
              <a:t>Covert channel</a:t>
            </a:r>
            <a:r>
              <a:rPr lang="en-US" sz="2800" dirty="0"/>
              <a:t>: a communication path not intended as such by system’s designers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Applications, </a:t>
            </a:r>
            <a:br>
              <a:rPr lang="en-US" dirty="0"/>
            </a:br>
            <a:r>
              <a:rPr lang="en-US" dirty="0"/>
              <a:t>or Why Use Covert Channels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Bypass security policy by malicious/compromised computer processes</a:t>
            </a:r>
          </a:p>
          <a:p>
            <a:endParaRPr lang="en-US" dirty="0"/>
          </a:p>
          <a:p>
            <a:r>
              <a:rPr lang="en-US" dirty="0"/>
              <a:t>Evade surveillance </a:t>
            </a:r>
          </a:p>
          <a:p>
            <a:endParaRPr lang="en-US" dirty="0"/>
          </a:p>
          <a:p>
            <a:r>
              <a:rPr lang="en-US" dirty="0"/>
              <a:t>Bypass communication restrictions</a:t>
            </a:r>
          </a:p>
          <a:p>
            <a:endParaRPr lang="en-US" dirty="0"/>
          </a:p>
          <a:p>
            <a:r>
              <a:rPr lang="en-US" dirty="0"/>
              <a:t>Etc.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E546FDB-379E-6644-BF18-5AA5854BF06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383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Importance?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Difficult to detect</a:t>
            </a:r>
          </a:p>
          <a:p>
            <a:endParaRPr lang="en-US" dirty="0"/>
          </a:p>
          <a:p>
            <a:r>
              <a:rPr lang="en-US" dirty="0"/>
              <a:t>Can operate for a long time and leak a substantial amount of classified data </a:t>
            </a:r>
          </a:p>
          <a:p>
            <a:endParaRPr lang="en-US" dirty="0"/>
          </a:p>
          <a:p>
            <a:r>
              <a:rPr lang="en-US" dirty="0"/>
              <a:t>Can compromise an otherwise secure system, including one that has been formally verified!</a:t>
            </a:r>
          </a:p>
        </p:txBody>
      </p:sp>
    </p:spTree>
    <p:extLst>
      <p:ext uri="{BB962C8B-B14F-4D97-AF65-F5344CB8AC3E}">
        <p14:creationId xmlns:p14="http://schemas.microsoft.com/office/powerpoint/2010/main" val="2130011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990600"/>
          </a:xfrm>
        </p:spPr>
        <p:txBody>
          <a:bodyPr/>
          <a:lstStyle/>
          <a:p>
            <a:pPr eaLnBrk="1" hangingPunct="1"/>
            <a:r>
              <a:rPr lang="en-US"/>
              <a:t>Covert Channel Example</a:t>
            </a:r>
          </a:p>
        </p:txBody>
      </p:sp>
      <p:sp>
        <p:nvSpPr>
          <p:cNvPr id="195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7848600" cy="4495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sz="2800" dirty="0"/>
              <a:t>Alice has </a:t>
            </a:r>
            <a:r>
              <a:rPr lang="en-US" sz="2800" b="1" dirty="0">
                <a:latin typeface="Times-Roman" charset="0"/>
              </a:rPr>
              <a:t>TOP SECRET</a:t>
            </a:r>
            <a:r>
              <a:rPr lang="en-US" sz="2800" dirty="0"/>
              <a:t> clearance, Bob has </a:t>
            </a:r>
            <a:r>
              <a:rPr lang="en-US" sz="2800" b="1" dirty="0">
                <a:latin typeface="Times-Roman" charset="0"/>
              </a:rPr>
              <a:t>CONFIDENTIAL</a:t>
            </a:r>
            <a:r>
              <a:rPr lang="en-US" sz="2800" dirty="0"/>
              <a:t> clearance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sz="2800" dirty="0"/>
              <a:t>Suppose the file space shared by all users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sz="2800" dirty="0"/>
              <a:t>Alice creates file </a:t>
            </a:r>
            <a:r>
              <a:rPr lang="en-US" sz="2800" dirty="0" err="1"/>
              <a:t>FileXYzW</a:t>
            </a:r>
            <a:r>
              <a:rPr lang="en-US" sz="2800" dirty="0"/>
              <a:t> to signal “1” to Bob, and removes file to signal “0”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sz="2800" dirty="0"/>
              <a:t>Once per minute Bob lists the files</a:t>
            </a:r>
          </a:p>
          <a:p>
            <a:pPr lvl="1"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sz="2400" dirty="0"/>
              <a:t>If file </a:t>
            </a:r>
            <a:r>
              <a:rPr lang="en-US" sz="2400" dirty="0" err="1"/>
              <a:t>FileXYzW</a:t>
            </a:r>
            <a:r>
              <a:rPr lang="en-US" sz="2400" dirty="0"/>
              <a:t> does not exist, Alice sent 0</a:t>
            </a:r>
          </a:p>
          <a:p>
            <a:pPr lvl="1"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sz="2400" dirty="0"/>
              <a:t>If file </a:t>
            </a:r>
            <a:r>
              <a:rPr lang="en-US" sz="2400" dirty="0" err="1"/>
              <a:t>FileXYzW</a:t>
            </a:r>
            <a:r>
              <a:rPr lang="en-US" sz="2400" dirty="0"/>
              <a:t> exists, Alice sent 1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sz="2800" dirty="0"/>
              <a:t>Alice can leak</a:t>
            </a:r>
            <a:r>
              <a:rPr lang="en-US" sz="2800" b="1" dirty="0">
                <a:latin typeface="Times-Roman" charset="0"/>
              </a:rPr>
              <a:t> TOP SECRET</a:t>
            </a:r>
            <a:r>
              <a:rPr lang="en-US" sz="2800" dirty="0"/>
              <a:t> info to Bob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95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95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95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95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95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95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195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587" grpId="0" build="p" bldLvl="2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 Part 2 </a:t>
            </a:r>
            <a:r>
              <a:rPr lang="en-US">
                <a:sym typeface="Symbol" charset="2"/>
              </a:rPr>
              <a:t></a:t>
            </a:r>
            <a:r>
              <a:rPr lang="en-US"/>
              <a:t> Access Control                                                                                                  </a:t>
            </a:r>
            <a:fld id="{969FCF07-CAC0-9D45-A066-937252AFD96C}" type="slidenum">
              <a:rPr lang="en-US" smtClean="0">
                <a:latin typeface="Times New Roman" charset="0"/>
              </a:rPr>
              <a:pPr/>
              <a:t>6</a:t>
            </a:fld>
            <a:endParaRPr lang="en-US">
              <a:latin typeface="Times New Roman" charset="0"/>
            </a:endParaRPr>
          </a:p>
        </p:txBody>
      </p:sp>
      <p:sp>
        <p:nvSpPr>
          <p:cNvPr id="1044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Covert Channel Example</a:t>
            </a:r>
          </a:p>
        </p:txBody>
      </p:sp>
      <p:grpSp>
        <p:nvGrpSpPr>
          <p:cNvPr id="104452" name="Group 32"/>
          <p:cNvGrpSpPr>
            <a:grpSpLocks/>
          </p:cNvGrpSpPr>
          <p:nvPr/>
        </p:nvGrpSpPr>
        <p:grpSpPr bwMode="auto">
          <a:xfrm>
            <a:off x="304800" y="2286000"/>
            <a:ext cx="8458200" cy="3489325"/>
            <a:chOff x="192" y="1440"/>
            <a:chExt cx="5328" cy="2198"/>
          </a:xfrm>
        </p:grpSpPr>
        <p:sp>
          <p:nvSpPr>
            <p:cNvPr id="104453" name="Rectangle 5"/>
            <p:cNvSpPr>
              <a:spLocks noChangeArrowheads="1"/>
            </p:cNvSpPr>
            <p:nvPr/>
          </p:nvSpPr>
          <p:spPr bwMode="auto">
            <a:xfrm>
              <a:off x="192" y="1440"/>
              <a:ext cx="652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b="1">
                  <a:solidFill>
                    <a:srgbClr val="1320EE"/>
                  </a:solidFill>
                </a:rPr>
                <a:t>Alice:</a:t>
              </a:r>
            </a:p>
          </p:txBody>
        </p:sp>
        <p:sp>
          <p:nvSpPr>
            <p:cNvPr id="104454" name="Line 6"/>
            <p:cNvSpPr>
              <a:spLocks noChangeShapeType="1"/>
            </p:cNvSpPr>
            <p:nvPr/>
          </p:nvSpPr>
          <p:spPr bwMode="auto">
            <a:xfrm>
              <a:off x="960" y="3504"/>
              <a:ext cx="4560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455" name="Rectangle 7"/>
            <p:cNvSpPr>
              <a:spLocks noChangeArrowheads="1"/>
            </p:cNvSpPr>
            <p:nvPr/>
          </p:nvSpPr>
          <p:spPr bwMode="auto">
            <a:xfrm>
              <a:off x="192" y="3312"/>
              <a:ext cx="643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b="1"/>
                <a:t>Time:</a:t>
              </a:r>
              <a:endParaRPr lang="en-US"/>
            </a:p>
          </p:txBody>
        </p:sp>
        <p:sp>
          <p:nvSpPr>
            <p:cNvPr id="104456" name="Rectangle 8"/>
            <p:cNvSpPr>
              <a:spLocks noChangeArrowheads="1"/>
            </p:cNvSpPr>
            <p:nvPr/>
          </p:nvSpPr>
          <p:spPr bwMode="auto">
            <a:xfrm>
              <a:off x="960" y="1498"/>
              <a:ext cx="846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/>
                <a:t>Create file</a:t>
              </a:r>
              <a:endParaRPr lang="en-US" sz="2000"/>
            </a:p>
          </p:txBody>
        </p:sp>
        <p:sp>
          <p:nvSpPr>
            <p:cNvPr id="104457" name="Rectangle 9"/>
            <p:cNvSpPr>
              <a:spLocks noChangeArrowheads="1"/>
            </p:cNvSpPr>
            <p:nvPr/>
          </p:nvSpPr>
          <p:spPr bwMode="auto">
            <a:xfrm>
              <a:off x="1872" y="1498"/>
              <a:ext cx="839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/>
                <a:t>Delete file</a:t>
              </a:r>
              <a:endParaRPr lang="en-US" sz="2000"/>
            </a:p>
          </p:txBody>
        </p:sp>
        <p:sp>
          <p:nvSpPr>
            <p:cNvPr id="104458" name="Rectangle 12"/>
            <p:cNvSpPr>
              <a:spLocks noChangeArrowheads="1"/>
            </p:cNvSpPr>
            <p:nvPr/>
          </p:nvSpPr>
          <p:spPr bwMode="auto">
            <a:xfrm>
              <a:off x="2754" y="1498"/>
              <a:ext cx="846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/>
                <a:t>Create file</a:t>
              </a:r>
              <a:endParaRPr lang="en-US" sz="2000"/>
            </a:p>
          </p:txBody>
        </p:sp>
        <p:sp>
          <p:nvSpPr>
            <p:cNvPr id="104459" name="Rectangle 13"/>
            <p:cNvSpPr>
              <a:spLocks noChangeArrowheads="1"/>
            </p:cNvSpPr>
            <p:nvPr/>
          </p:nvSpPr>
          <p:spPr bwMode="auto">
            <a:xfrm>
              <a:off x="4393" y="1498"/>
              <a:ext cx="839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/>
                <a:t>Delete file</a:t>
              </a:r>
              <a:endParaRPr lang="en-US" sz="2000"/>
            </a:p>
          </p:txBody>
        </p:sp>
        <p:sp>
          <p:nvSpPr>
            <p:cNvPr id="104460" name="Line 15"/>
            <p:cNvSpPr>
              <a:spLocks noChangeShapeType="1"/>
            </p:cNvSpPr>
            <p:nvPr/>
          </p:nvSpPr>
          <p:spPr bwMode="auto">
            <a:xfrm flipV="1">
              <a:off x="1488" y="3312"/>
              <a:ext cx="0" cy="192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461" name="Line 16"/>
            <p:cNvSpPr>
              <a:spLocks noChangeShapeType="1"/>
            </p:cNvSpPr>
            <p:nvPr/>
          </p:nvSpPr>
          <p:spPr bwMode="auto">
            <a:xfrm flipV="1">
              <a:off x="2448" y="3312"/>
              <a:ext cx="0" cy="192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462" name="Line 17"/>
            <p:cNvSpPr>
              <a:spLocks noChangeShapeType="1"/>
            </p:cNvSpPr>
            <p:nvPr/>
          </p:nvSpPr>
          <p:spPr bwMode="auto">
            <a:xfrm flipV="1">
              <a:off x="3312" y="3312"/>
              <a:ext cx="0" cy="192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463" name="Line 18"/>
            <p:cNvSpPr>
              <a:spLocks noChangeShapeType="1"/>
            </p:cNvSpPr>
            <p:nvPr/>
          </p:nvSpPr>
          <p:spPr bwMode="auto">
            <a:xfrm flipV="1">
              <a:off x="4128" y="3312"/>
              <a:ext cx="0" cy="192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464" name="Line 19"/>
            <p:cNvSpPr>
              <a:spLocks noChangeShapeType="1"/>
            </p:cNvSpPr>
            <p:nvPr/>
          </p:nvSpPr>
          <p:spPr bwMode="auto">
            <a:xfrm flipV="1">
              <a:off x="4896" y="3312"/>
              <a:ext cx="0" cy="192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465" name="Rectangle 20"/>
            <p:cNvSpPr>
              <a:spLocks noChangeArrowheads="1"/>
            </p:cNvSpPr>
            <p:nvPr/>
          </p:nvSpPr>
          <p:spPr bwMode="auto">
            <a:xfrm>
              <a:off x="192" y="2160"/>
              <a:ext cx="535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b="1">
                  <a:solidFill>
                    <a:srgbClr val="1320EE"/>
                  </a:solidFill>
                </a:rPr>
                <a:t>Bob:</a:t>
              </a:r>
              <a:endParaRPr lang="en-US"/>
            </a:p>
          </p:txBody>
        </p:sp>
        <p:sp>
          <p:nvSpPr>
            <p:cNvPr id="104466" name="Rectangle 21"/>
            <p:cNvSpPr>
              <a:spLocks noChangeArrowheads="1"/>
            </p:cNvSpPr>
            <p:nvPr/>
          </p:nvSpPr>
          <p:spPr bwMode="auto">
            <a:xfrm>
              <a:off x="951" y="2208"/>
              <a:ext cx="791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/>
                <a:t>Check file</a:t>
              </a:r>
              <a:endParaRPr lang="en-US" sz="2000"/>
            </a:p>
          </p:txBody>
        </p:sp>
        <p:sp>
          <p:nvSpPr>
            <p:cNvPr id="104467" name="Rectangle 22"/>
            <p:cNvSpPr>
              <a:spLocks noChangeArrowheads="1"/>
            </p:cNvSpPr>
            <p:nvPr/>
          </p:nvSpPr>
          <p:spPr bwMode="auto">
            <a:xfrm>
              <a:off x="1863" y="2208"/>
              <a:ext cx="791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/>
                <a:t>Check file</a:t>
              </a:r>
              <a:endParaRPr lang="en-US" sz="2000"/>
            </a:p>
          </p:txBody>
        </p:sp>
        <p:sp>
          <p:nvSpPr>
            <p:cNvPr id="104468" name="Rectangle 23"/>
            <p:cNvSpPr>
              <a:spLocks noChangeArrowheads="1"/>
            </p:cNvSpPr>
            <p:nvPr/>
          </p:nvSpPr>
          <p:spPr bwMode="auto">
            <a:xfrm>
              <a:off x="2745" y="2208"/>
              <a:ext cx="791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/>
                <a:t>Check file</a:t>
              </a:r>
              <a:endParaRPr lang="en-US" sz="2000"/>
            </a:p>
          </p:txBody>
        </p:sp>
        <p:sp>
          <p:nvSpPr>
            <p:cNvPr id="104469" name="Rectangle 24"/>
            <p:cNvSpPr>
              <a:spLocks noChangeArrowheads="1"/>
            </p:cNvSpPr>
            <p:nvPr/>
          </p:nvSpPr>
          <p:spPr bwMode="auto">
            <a:xfrm>
              <a:off x="4440" y="2208"/>
              <a:ext cx="791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/>
                <a:t>Check file</a:t>
              </a:r>
              <a:endParaRPr lang="en-US" sz="2000"/>
            </a:p>
          </p:txBody>
        </p:sp>
        <p:sp>
          <p:nvSpPr>
            <p:cNvPr id="104470" name="Rectangle 25"/>
            <p:cNvSpPr>
              <a:spLocks noChangeArrowheads="1"/>
            </p:cNvSpPr>
            <p:nvPr/>
          </p:nvSpPr>
          <p:spPr bwMode="auto">
            <a:xfrm>
              <a:off x="3576" y="2208"/>
              <a:ext cx="791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/>
                <a:t>Check file</a:t>
              </a:r>
              <a:endParaRPr lang="en-US" sz="2000"/>
            </a:p>
          </p:txBody>
        </p:sp>
        <p:sp>
          <p:nvSpPr>
            <p:cNvPr id="104471" name="Rectangle 26"/>
            <p:cNvSpPr>
              <a:spLocks noChangeArrowheads="1"/>
            </p:cNvSpPr>
            <p:nvPr/>
          </p:nvSpPr>
          <p:spPr bwMode="auto">
            <a:xfrm>
              <a:off x="192" y="2698"/>
              <a:ext cx="642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b="1">
                  <a:solidFill>
                    <a:srgbClr val="1320EE"/>
                  </a:solidFill>
                </a:rPr>
                <a:t>Data:</a:t>
              </a:r>
            </a:p>
          </p:txBody>
        </p:sp>
        <p:sp>
          <p:nvSpPr>
            <p:cNvPr id="104472" name="Rectangle 27"/>
            <p:cNvSpPr>
              <a:spLocks noChangeArrowheads="1"/>
            </p:cNvSpPr>
            <p:nvPr/>
          </p:nvSpPr>
          <p:spPr bwMode="auto">
            <a:xfrm>
              <a:off x="1382" y="2716"/>
              <a:ext cx="22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Times-Roman" charset="0"/>
                </a:rPr>
                <a:t>1</a:t>
              </a:r>
              <a:endParaRPr lang="en-US" dirty="0"/>
            </a:p>
          </p:txBody>
        </p:sp>
        <p:sp>
          <p:nvSpPr>
            <p:cNvPr id="104473" name="Rectangle 28"/>
            <p:cNvSpPr>
              <a:spLocks noChangeArrowheads="1"/>
            </p:cNvSpPr>
            <p:nvPr/>
          </p:nvSpPr>
          <p:spPr bwMode="auto">
            <a:xfrm>
              <a:off x="2311" y="2716"/>
              <a:ext cx="22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  <a:latin typeface="Times-Roman" charset="0"/>
                </a:rPr>
                <a:t>0</a:t>
              </a:r>
              <a:endParaRPr lang="en-US"/>
            </a:p>
          </p:txBody>
        </p:sp>
        <p:sp>
          <p:nvSpPr>
            <p:cNvPr id="104474" name="Rectangle 29"/>
            <p:cNvSpPr>
              <a:spLocks noChangeArrowheads="1"/>
            </p:cNvSpPr>
            <p:nvPr/>
          </p:nvSpPr>
          <p:spPr bwMode="auto">
            <a:xfrm>
              <a:off x="3206" y="2716"/>
              <a:ext cx="22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  <a:latin typeface="Times-Roman" charset="0"/>
                </a:rPr>
                <a:t>1</a:t>
              </a:r>
              <a:endParaRPr lang="en-US"/>
            </a:p>
          </p:txBody>
        </p:sp>
        <p:sp>
          <p:nvSpPr>
            <p:cNvPr id="104475" name="Rectangle 30"/>
            <p:cNvSpPr>
              <a:spLocks noChangeArrowheads="1"/>
            </p:cNvSpPr>
            <p:nvPr/>
          </p:nvSpPr>
          <p:spPr bwMode="auto">
            <a:xfrm>
              <a:off x="4759" y="2716"/>
              <a:ext cx="22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  <a:latin typeface="Times-Roman" charset="0"/>
                </a:rPr>
                <a:t>0</a:t>
              </a:r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104476" name="Rectangle 31"/>
            <p:cNvSpPr>
              <a:spLocks noChangeArrowheads="1"/>
            </p:cNvSpPr>
            <p:nvPr/>
          </p:nvSpPr>
          <p:spPr bwMode="auto">
            <a:xfrm>
              <a:off x="4022" y="2716"/>
              <a:ext cx="22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  <a:latin typeface="Times-Roman" charset="0"/>
                </a:rPr>
                <a:t>1</a:t>
              </a:r>
              <a:endParaRPr lang="en-US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 Part 2 </a:t>
            </a:r>
            <a:r>
              <a:rPr lang="en-US">
                <a:sym typeface="Symbol" charset="2"/>
              </a:rPr>
              <a:t></a:t>
            </a:r>
            <a:r>
              <a:rPr lang="en-US"/>
              <a:t> Access Control                                                                                                  </a:t>
            </a:r>
            <a:fld id="{6A828BD6-0C62-E34A-BA3D-446BEABD3634}" type="slidenum">
              <a:rPr lang="en-US" smtClean="0">
                <a:latin typeface="Times New Roman" charset="0"/>
              </a:rPr>
              <a:pPr/>
              <a:t>7</a:t>
            </a:fld>
            <a:endParaRPr lang="en-US">
              <a:latin typeface="Times New Roman" charset="0"/>
            </a:endParaRPr>
          </a:p>
        </p:txBody>
      </p:sp>
      <p:sp>
        <p:nvSpPr>
          <p:cNvPr id="105475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1143000"/>
          </a:xfrm>
        </p:spPr>
        <p:txBody>
          <a:bodyPr/>
          <a:lstStyle/>
          <a:p>
            <a:pPr eaLnBrk="1" hangingPunct="1"/>
            <a:r>
              <a:rPr lang="en-US"/>
              <a:t>Covert Channel</a:t>
            </a:r>
          </a:p>
        </p:txBody>
      </p:sp>
      <p:sp>
        <p:nvSpPr>
          <p:cNvPr id="196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848600" cy="45720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sz="2800" dirty="0"/>
              <a:t>Other possible covert channels?</a:t>
            </a:r>
          </a:p>
          <a:p>
            <a:pPr marL="914400" lvl="1" indent="-457200"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sz="2400" dirty="0"/>
              <a:t>Print queue</a:t>
            </a:r>
          </a:p>
          <a:p>
            <a:pPr marL="914400" lvl="1" indent="-457200"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sz="2400" dirty="0"/>
              <a:t>ACK messages</a:t>
            </a:r>
          </a:p>
          <a:p>
            <a:pPr marL="914400" lvl="1" indent="-457200"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sz="2400" dirty="0"/>
              <a:t>Network traffic, etc.</a:t>
            </a:r>
          </a:p>
          <a:p>
            <a:pPr marL="533400" indent="-533400"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sz="2800" dirty="0"/>
              <a:t>When does covert channel exist?</a:t>
            </a:r>
          </a:p>
          <a:p>
            <a:pPr marL="914400" lvl="1" indent="-457200" eaLnBrk="1" hangingPunct="1">
              <a:lnSpc>
                <a:spcPct val="90000"/>
              </a:lnSpc>
              <a:spcAft>
                <a:spcPts val="600"/>
              </a:spcAft>
              <a:buFont typeface="Times" charset="0"/>
              <a:buAutoNum type="arabicPeriod"/>
            </a:pPr>
            <a:r>
              <a:rPr lang="en-US" sz="2400" dirty="0"/>
              <a:t>Sender and receiver have a shared resource</a:t>
            </a:r>
          </a:p>
          <a:p>
            <a:pPr marL="914400" lvl="1" indent="-457200" eaLnBrk="1" hangingPunct="1">
              <a:lnSpc>
                <a:spcPct val="90000"/>
              </a:lnSpc>
              <a:spcAft>
                <a:spcPts val="600"/>
              </a:spcAft>
              <a:buFont typeface="Times" charset="0"/>
              <a:buAutoNum type="arabicPeriod"/>
            </a:pPr>
            <a:r>
              <a:rPr lang="en-US" sz="2400" dirty="0"/>
              <a:t>Sender able to vary some property of resource that receiver can observe</a:t>
            </a:r>
          </a:p>
          <a:p>
            <a:pPr marL="914400" lvl="1" indent="-457200" eaLnBrk="1" hangingPunct="1">
              <a:lnSpc>
                <a:spcPct val="90000"/>
              </a:lnSpc>
              <a:spcAft>
                <a:spcPts val="600"/>
              </a:spcAft>
              <a:buFont typeface="Times" charset="0"/>
              <a:buAutoNum type="arabicPeriod"/>
            </a:pPr>
            <a:r>
              <a:rPr lang="en-US" sz="2400" dirty="0"/>
              <a:t>“Communication” between sender and receiver can be synchronized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96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96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96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96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96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96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1966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1966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611" grpId="0" build="p" bldLvl="2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 Part 2 </a:t>
            </a:r>
            <a:r>
              <a:rPr lang="en-US">
                <a:sym typeface="Symbol" charset="2"/>
              </a:rPr>
              <a:t></a:t>
            </a:r>
            <a:r>
              <a:rPr lang="en-US"/>
              <a:t> Access Control                                                                                                  </a:t>
            </a:r>
            <a:fld id="{CA05550B-2F89-C04D-B109-942D3758E266}" type="slidenum">
              <a:rPr lang="en-US" smtClean="0">
                <a:latin typeface="Times New Roman" charset="0"/>
              </a:rPr>
              <a:pPr/>
              <a:t>8</a:t>
            </a:fld>
            <a:endParaRPr lang="en-US">
              <a:latin typeface="Times New Roman" charset="0"/>
            </a:endParaRPr>
          </a:p>
        </p:txBody>
      </p:sp>
      <p:sp>
        <p:nvSpPr>
          <p:cNvPr id="106499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pPr eaLnBrk="1" hangingPunct="1"/>
            <a:r>
              <a:rPr lang="en-US"/>
              <a:t>Covert Channel</a:t>
            </a:r>
          </a:p>
        </p:txBody>
      </p:sp>
      <p:sp>
        <p:nvSpPr>
          <p:cNvPr id="198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924800" cy="46482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sz="2800" dirty="0"/>
              <a:t>Potential covert channels are everywhere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sz="2800" dirty="0"/>
              <a:t>But, it’s easy to eliminate covert channels:</a:t>
            </a:r>
          </a:p>
          <a:p>
            <a:pPr lvl="1"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sz="2400" dirty="0"/>
              <a:t>“Just” eliminate all shared resources and all communication!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sz="2800" dirty="0"/>
              <a:t>Virtually impossible to eliminate covert channels in any </a:t>
            </a:r>
            <a:r>
              <a:rPr lang="en-US" sz="2800" b="1" dirty="0"/>
              <a:t>useful</a:t>
            </a:r>
            <a:r>
              <a:rPr lang="en-US" sz="2800" dirty="0"/>
              <a:t> information system</a:t>
            </a:r>
          </a:p>
          <a:p>
            <a:pPr lvl="1"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sz="2400" dirty="0" err="1"/>
              <a:t>DoD</a:t>
            </a:r>
            <a:r>
              <a:rPr lang="en-US" sz="2400" dirty="0"/>
              <a:t> guidelines: </a:t>
            </a:r>
            <a:r>
              <a:rPr lang="en-US" sz="2400" b="1" dirty="0">
                <a:solidFill>
                  <a:schemeClr val="accent2"/>
                </a:solidFill>
              </a:rPr>
              <a:t>reduce covert channel capacity</a:t>
            </a:r>
            <a:r>
              <a:rPr lang="en-US" sz="2400" dirty="0"/>
              <a:t> to no more than 1 bit/second</a:t>
            </a:r>
          </a:p>
          <a:p>
            <a:pPr lvl="1"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sz="2400" dirty="0"/>
              <a:t>Implication? </a:t>
            </a:r>
            <a:r>
              <a:rPr lang="en-US" sz="2400" dirty="0" err="1"/>
              <a:t>DoD</a:t>
            </a:r>
            <a:r>
              <a:rPr lang="en-US" sz="2400" dirty="0"/>
              <a:t> has given up on </a:t>
            </a:r>
            <a:r>
              <a:rPr lang="en-US" sz="2400" i="1" dirty="0"/>
              <a:t>eliminating</a:t>
            </a:r>
            <a:r>
              <a:rPr lang="en-US" sz="2400" dirty="0"/>
              <a:t> covert channels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98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98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98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98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98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98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659" grpId="0" build="p" bldLvl="2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 Part 2 </a:t>
            </a:r>
            <a:r>
              <a:rPr lang="en-US">
                <a:sym typeface="Symbol" charset="2"/>
              </a:rPr>
              <a:t></a:t>
            </a:r>
            <a:r>
              <a:rPr lang="en-US"/>
              <a:t> Access Control                                                                                                  </a:t>
            </a:r>
            <a:fld id="{5346E34E-46DD-7C47-A274-BFCB46E12D57}" type="slidenum">
              <a:rPr lang="en-US" smtClean="0">
                <a:latin typeface="Times New Roman" charset="0"/>
              </a:rPr>
              <a:pPr/>
              <a:t>9</a:t>
            </a:fld>
            <a:endParaRPr lang="en-US">
              <a:latin typeface="Times New Roman" charset="0"/>
            </a:endParaRPr>
          </a:p>
        </p:txBody>
      </p:sp>
      <p:sp>
        <p:nvSpPr>
          <p:cNvPr id="10752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pPr eaLnBrk="1" hangingPunct="1"/>
            <a:r>
              <a:rPr lang="en-US" dirty="0"/>
              <a:t>Covert Channel</a:t>
            </a:r>
          </a:p>
        </p:txBody>
      </p:sp>
      <p:sp>
        <p:nvSpPr>
          <p:cNvPr id="235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772400" cy="48006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sz="2800" dirty="0"/>
              <a:t>Consider 100MB </a:t>
            </a:r>
            <a:r>
              <a:rPr lang="en-US" sz="2800" b="1" dirty="0">
                <a:latin typeface="Times-Roman" charset="0"/>
              </a:rPr>
              <a:t>TOP SECRET</a:t>
            </a:r>
            <a:r>
              <a:rPr lang="en-US" sz="2800" dirty="0"/>
              <a:t> file</a:t>
            </a:r>
          </a:p>
          <a:p>
            <a:pPr lvl="1"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sz="2400" dirty="0"/>
              <a:t>Plaintext stored in </a:t>
            </a:r>
            <a:r>
              <a:rPr lang="en-US" sz="2400" b="1" dirty="0">
                <a:latin typeface="Times-Roman" charset="0"/>
              </a:rPr>
              <a:t>TOP SECRET</a:t>
            </a:r>
            <a:r>
              <a:rPr lang="en-US" sz="2400" dirty="0"/>
              <a:t> location</a:t>
            </a:r>
          </a:p>
          <a:p>
            <a:pPr lvl="1"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sz="2400" dirty="0" err="1"/>
              <a:t>Ciphertext</a:t>
            </a:r>
            <a:r>
              <a:rPr lang="en-US" sz="2400" dirty="0"/>
              <a:t> </a:t>
            </a:r>
            <a:r>
              <a:rPr lang="en-US" sz="2400" dirty="0" err="1">
                <a:sym typeface="Symbol" charset="2"/>
              </a:rPr>
              <a:t></a:t>
            </a:r>
            <a:r>
              <a:rPr lang="en-US" sz="2400" dirty="0">
                <a:sym typeface="Symbol" charset="2"/>
              </a:rPr>
              <a:t> </a:t>
            </a:r>
            <a:r>
              <a:rPr lang="en-US" sz="2400" dirty="0"/>
              <a:t>encrypted with AES using 256-bit key </a:t>
            </a:r>
            <a:r>
              <a:rPr lang="en-US" sz="2400" dirty="0" err="1">
                <a:sym typeface="Symbol" charset="2"/>
              </a:rPr>
              <a:t></a:t>
            </a:r>
            <a:r>
              <a:rPr lang="en-US" sz="2400" dirty="0"/>
              <a:t> stored in </a:t>
            </a:r>
            <a:r>
              <a:rPr lang="en-US" sz="2400" b="1" dirty="0">
                <a:latin typeface="Times-Roman" charset="0"/>
              </a:rPr>
              <a:t>UNCLASSIFIED</a:t>
            </a:r>
            <a:r>
              <a:rPr lang="en-US" sz="2400" dirty="0"/>
              <a:t> location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sz="2800" dirty="0"/>
              <a:t>Suppose we reduce covert channel capacity to 1 bit per second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sz="2800" dirty="0"/>
              <a:t>It would take more than 25 years to leak entire document thru a covert channel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sz="2800" dirty="0"/>
              <a:t>But it would take less than 5 minutes to leak 256-bit AES key thru covert channel!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35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35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35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235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235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235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23" grpId="0" build="p" bldLvl="2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050" name="Rectangle 2"/>
          <p:cNvSpPr>
            <a:spLocks noChangeArrowheads="1"/>
          </p:cNvSpPr>
          <p:nvPr/>
        </p:nvSpPr>
        <p:spPr bwMode="auto">
          <a:xfrm>
            <a:off x="234950" y="74613"/>
            <a:ext cx="8909050" cy="6567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609600" indent="-609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990600" indent="-53340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371600" indent="-4572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752600" indent="-3810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209800" indent="-3810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67000" indent="-3810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124200" indent="-3810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81400" indent="-3810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8600" indent="-3810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 typeface="Wingdings" panose="05000000000000000000" pitchFamily="2" charset="2"/>
              <a:buNone/>
            </a:pPr>
            <a:r>
              <a:rPr lang="pl-PL" altLang="en-US" sz="3600" b="0" dirty="0">
                <a:solidFill>
                  <a:srgbClr val="C00000"/>
                </a:solidFill>
              </a:rPr>
              <a:t>Identifying Potential Covert Channels </a:t>
            </a:r>
            <a:r>
              <a:rPr lang="pl-PL" altLang="en-US" sz="2400" b="0" dirty="0">
                <a:solidFill>
                  <a:srgbClr val="C00000"/>
                </a:solidFill>
              </a:rPr>
              <a:t>(1)</a:t>
            </a:r>
          </a:p>
          <a:p>
            <a:pPr eaLnBrk="1" hangingPunct="1">
              <a:spcBef>
                <a:spcPct val="0"/>
              </a:spcBef>
              <a:buSzTx/>
              <a:buFont typeface="Wingdings" panose="05000000000000000000" pitchFamily="2" charset="2"/>
              <a:buNone/>
            </a:pPr>
            <a:endParaRPr lang="pl-PL" altLang="en-US" sz="800" b="0" dirty="0">
              <a:solidFill>
                <a:srgbClr val="0000FF"/>
              </a:solidFill>
            </a:endParaRPr>
          </a:p>
          <a:p>
            <a:pPr eaLnBrk="1" hangingPunct="1">
              <a:buSzTx/>
              <a:buFont typeface="Wingdings" panose="05000000000000000000" pitchFamily="2" charset="2"/>
              <a:buChar char="§"/>
            </a:pPr>
            <a:r>
              <a:rPr lang="pl-PL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Covert channels are not easy to identify</a:t>
            </a:r>
          </a:p>
          <a:p>
            <a:pPr lvl="1" eaLnBrk="1" hangingPunct="1">
              <a:buSzTx/>
              <a:buFont typeface="Wingdings" panose="05000000000000000000" pitchFamily="2" charset="2"/>
              <a:buChar char="§"/>
            </a:pPr>
            <a:r>
              <a:rPr lang="pl-PL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Otherwise wouldn’t be covert, right?</a:t>
            </a:r>
          </a:p>
          <a:p>
            <a:pPr lvl="1" eaLnBrk="1" hangingPunct="1">
              <a:buSzTx/>
              <a:buFont typeface="Wingdings" panose="05000000000000000000" pitchFamily="2" charset="2"/>
              <a:buChar char="§"/>
            </a:pPr>
            <a:endParaRPr lang="pl-PL" altLang="en-US" sz="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SzTx/>
              <a:buFont typeface="Wingdings" panose="05000000000000000000" pitchFamily="2" charset="2"/>
              <a:buChar char="§"/>
            </a:pPr>
            <a:r>
              <a:rPr lang="pl-PL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techniques for locating covert channels:</a:t>
            </a:r>
          </a:p>
          <a:p>
            <a:pPr lvl="1" eaLnBrk="1" hangingPunct="1">
              <a:buSzTx/>
              <a:buFont typeface="Wingdings" panose="05000000000000000000" pitchFamily="2" charset="2"/>
              <a:buNone/>
            </a:pPr>
            <a:r>
              <a:rPr lang="pl-PL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Shared Resource Matrix</a:t>
            </a:r>
          </a:p>
          <a:p>
            <a:pPr lvl="1" eaLnBrk="1" hangingPunct="1">
              <a:buSzTx/>
              <a:buFont typeface="Wingdings" panose="05000000000000000000" pitchFamily="2" charset="2"/>
              <a:buNone/>
            </a:pPr>
            <a:r>
              <a:rPr lang="pl-PL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Information Flow Method</a:t>
            </a:r>
          </a:p>
          <a:p>
            <a:pPr lvl="1" eaLnBrk="1" hangingPunct="1">
              <a:buSzTx/>
              <a:buFont typeface="Wingdings" panose="05000000000000000000" pitchFamily="2" charset="2"/>
              <a:buChar char="§"/>
            </a:pPr>
            <a:endParaRPr lang="pl-PL" altLang="en-US" sz="2400" b="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61693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074" name="Rectangle 2"/>
          <p:cNvSpPr>
            <a:spLocks noChangeArrowheads="1"/>
          </p:cNvSpPr>
          <p:nvPr/>
        </p:nvSpPr>
        <p:spPr bwMode="auto">
          <a:xfrm>
            <a:off x="234950" y="74613"/>
            <a:ext cx="8909050" cy="6567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609600" indent="-609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990600" indent="-53340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371600" indent="-4572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752600" indent="-3810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209800" indent="-3810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67000" indent="-3810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124200" indent="-3810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81400" indent="-3810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8600" indent="-3810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 typeface="Wingdings" panose="05000000000000000000" pitchFamily="2" charset="2"/>
              <a:buNone/>
            </a:pPr>
            <a:r>
              <a:rPr lang="pl-PL" altLang="en-US" sz="2000" b="0" dirty="0">
                <a:solidFill>
                  <a:srgbClr val="C00000"/>
                </a:solidFill>
              </a:rPr>
              <a:t>Identifying Potential Covert Channels (2)</a:t>
            </a:r>
          </a:p>
          <a:p>
            <a:pPr eaLnBrk="1" hangingPunct="1">
              <a:spcBef>
                <a:spcPct val="0"/>
              </a:spcBef>
              <a:buSzTx/>
              <a:buFont typeface="Wingdings" panose="05000000000000000000" pitchFamily="2" charset="2"/>
              <a:buNone/>
            </a:pPr>
            <a:endParaRPr lang="pl-PL" altLang="en-US" sz="2000" b="0" dirty="0">
              <a:solidFill>
                <a:schemeClr val="bg2"/>
              </a:solidFill>
            </a:endParaRPr>
          </a:p>
          <a:p>
            <a:pPr eaLnBrk="1" hangingPunct="1">
              <a:buSzTx/>
              <a:buFont typeface="Wingdings" panose="05000000000000000000" pitchFamily="2" charset="2"/>
              <a:buNone/>
            </a:pPr>
            <a:r>
              <a:rPr lang="pl-PL" altLang="en-US" sz="2800" b="0" dirty="0">
                <a:solidFill>
                  <a:srgbClr val="FF0000"/>
                </a:solidFill>
              </a:rPr>
              <a:t>1)</a:t>
            </a:r>
            <a:r>
              <a:rPr lang="pl-PL" altLang="en-US" sz="2800" b="0" dirty="0">
                <a:solidFill>
                  <a:schemeClr val="bg2"/>
                </a:solidFill>
              </a:rPr>
              <a:t> The </a:t>
            </a:r>
            <a:r>
              <a:rPr lang="pl-PL" altLang="en-US" sz="2800" b="0" dirty="0">
                <a:solidFill>
                  <a:srgbClr val="0000FF"/>
                </a:solidFill>
              </a:rPr>
              <a:t>Shared Resource Matrix method</a:t>
            </a:r>
          </a:p>
          <a:p>
            <a:pPr lvl="1" eaLnBrk="1" hangingPunct="1">
              <a:buSzTx/>
              <a:buFont typeface="Wingdings" panose="05000000000000000000" pitchFamily="2" charset="2"/>
              <a:buChar char="§"/>
            </a:pPr>
            <a:r>
              <a:rPr lang="pl-PL" altLang="en-US" sz="2400" b="0" dirty="0">
                <a:solidFill>
                  <a:schemeClr val="bg2"/>
                </a:solidFill>
              </a:rPr>
              <a:t>Shared resource is basis for a covert channel</a:t>
            </a:r>
          </a:p>
          <a:p>
            <a:pPr lvl="1" eaLnBrk="1" hangingPunct="1">
              <a:buSzTx/>
              <a:buFont typeface="Wingdings" panose="05000000000000000000" pitchFamily="2" charset="2"/>
              <a:buNone/>
            </a:pPr>
            <a:r>
              <a:rPr lang="pl-PL" altLang="en-US" sz="2400" b="0" dirty="0">
                <a:solidFill>
                  <a:schemeClr val="bg2"/>
                </a:solidFill>
              </a:rPr>
              <a:t>	=&gt; identify shared resources and processes reading/writing them</a:t>
            </a:r>
          </a:p>
          <a:p>
            <a:pPr lvl="1" eaLnBrk="1" hangingPunct="1">
              <a:buSzTx/>
              <a:buFont typeface="Wingdings" panose="05000000000000000000" pitchFamily="2" charset="2"/>
              <a:buChar char="§"/>
            </a:pPr>
            <a:r>
              <a:rPr lang="pl-PL" altLang="en-US" sz="2400" b="0" dirty="0">
                <a:solidFill>
                  <a:schemeClr val="bg2"/>
                </a:solidFill>
              </a:rPr>
              <a:t>Step 1: Construct </a:t>
            </a:r>
            <a:r>
              <a:rPr lang="pl-PL" altLang="en-US" sz="2400" b="0" dirty="0">
                <a:solidFill>
                  <a:srgbClr val="0000FF"/>
                </a:solidFill>
              </a:rPr>
              <a:t>Shared Resource Matrix</a:t>
            </a:r>
          </a:p>
          <a:p>
            <a:pPr lvl="2" eaLnBrk="1" hangingPunct="1">
              <a:spcBef>
                <a:spcPct val="0"/>
              </a:spcBef>
              <a:buSzTx/>
              <a:buFont typeface="Wingdings" panose="05000000000000000000" pitchFamily="2" charset="2"/>
              <a:buNone/>
            </a:pPr>
            <a:r>
              <a:rPr lang="pl-PL" altLang="en-US" sz="2000" b="0" dirty="0">
                <a:solidFill>
                  <a:schemeClr val="bg2"/>
                </a:solidFill>
              </a:rPr>
              <a:t>Rows — resources</a:t>
            </a:r>
          </a:p>
          <a:p>
            <a:pPr lvl="2" eaLnBrk="1" hangingPunct="1">
              <a:spcBef>
                <a:spcPct val="0"/>
              </a:spcBef>
              <a:buSzTx/>
              <a:buFont typeface="Wingdings" panose="05000000000000000000" pitchFamily="2" charset="2"/>
              <a:buNone/>
            </a:pPr>
            <a:r>
              <a:rPr lang="pl-PL" altLang="en-US" sz="2000" b="0" dirty="0">
                <a:solidFill>
                  <a:schemeClr val="bg2"/>
                </a:solidFill>
              </a:rPr>
              <a:t>Columns — processes that access them:</a:t>
            </a:r>
          </a:p>
          <a:p>
            <a:pPr lvl="2" eaLnBrk="1" hangingPunct="1">
              <a:spcBef>
                <a:spcPct val="0"/>
              </a:spcBef>
              <a:buSzTx/>
              <a:buFont typeface="Wingdings" panose="05000000000000000000" pitchFamily="2" charset="2"/>
              <a:buNone/>
            </a:pPr>
            <a:r>
              <a:rPr lang="pl-PL" altLang="en-US" sz="2000" b="0" dirty="0">
                <a:solidFill>
                  <a:schemeClr val="bg2"/>
                </a:solidFill>
              </a:rPr>
              <a:t>	R = observe resource   M = modify/set/create/delete resource</a:t>
            </a:r>
          </a:p>
          <a:p>
            <a:pPr lvl="2" eaLnBrk="1" hangingPunct="1">
              <a:spcBef>
                <a:spcPct val="0"/>
              </a:spcBef>
              <a:buSzTx/>
              <a:buFont typeface="Wingdings" panose="05000000000000000000" pitchFamily="2" charset="2"/>
              <a:buNone/>
            </a:pPr>
            <a:endParaRPr lang="pl-PL" altLang="en-US" sz="800" b="0" dirty="0">
              <a:solidFill>
                <a:schemeClr val="bg2"/>
              </a:solidFill>
            </a:endParaRPr>
          </a:p>
          <a:p>
            <a:pPr lvl="2" eaLnBrk="1" hangingPunct="1">
              <a:spcBef>
                <a:spcPct val="0"/>
              </a:spcBef>
              <a:buSzTx/>
              <a:buFont typeface="Wingdings" panose="05000000000000000000" pitchFamily="2" charset="2"/>
              <a:buNone/>
            </a:pPr>
            <a:r>
              <a:rPr lang="pl-PL" altLang="en-US" b="0" dirty="0">
                <a:solidFill>
                  <a:schemeClr val="bg2"/>
                </a:solidFill>
              </a:rPr>
              <a:t>Example</a:t>
            </a:r>
            <a:endParaRPr lang="pl-PL" altLang="en-US" sz="2000" b="0" dirty="0">
              <a:solidFill>
                <a:schemeClr val="bg2"/>
              </a:solidFill>
            </a:endParaRPr>
          </a:p>
        </p:txBody>
      </p:sp>
      <p:graphicFrame>
        <p:nvGraphicFramePr>
          <p:cNvPr id="899101" name="Group 29"/>
          <p:cNvGraphicFramePr>
            <a:graphicFrameLocks noGrp="1"/>
          </p:cNvGraphicFramePr>
          <p:nvPr>
            <p:ph/>
          </p:nvPr>
        </p:nvGraphicFramePr>
        <p:xfrm>
          <a:off x="1431925" y="4784725"/>
          <a:ext cx="6350000" cy="1423988"/>
        </p:xfrm>
        <a:graphic>
          <a:graphicData uri="http://schemas.openxmlformats.org/drawingml/2006/table">
            <a:tbl>
              <a:tblPr/>
              <a:tblGrid>
                <a:gridCol w="21161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7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61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5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l-PL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Process 1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l-PL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Process 2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3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l-PL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Lock on FX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l-PL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R, M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l-PL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R, M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9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l-PL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X (confid.)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l-PL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R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31080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146" name="Rectangle 2"/>
          <p:cNvSpPr>
            <a:spLocks noChangeArrowheads="1"/>
          </p:cNvSpPr>
          <p:nvPr/>
        </p:nvSpPr>
        <p:spPr bwMode="auto">
          <a:xfrm>
            <a:off x="234950" y="74613"/>
            <a:ext cx="8909050" cy="6567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609600" indent="-609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990600" indent="-53340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371600" indent="-4572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752600" indent="-3810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209800" indent="-3810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67000" indent="-3810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124200" indent="-3810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81400" indent="-3810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8600" indent="-3810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SzTx/>
              <a:buFont typeface="Wingdings" panose="05000000000000000000" pitchFamily="2" charset="2"/>
              <a:buNone/>
            </a:pPr>
            <a:r>
              <a:rPr lang="pl-PL" altLang="en-US" sz="2000" b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Identifying Potential Covert Channels (3)</a:t>
            </a:r>
            <a:endParaRPr lang="pl-PL" altLang="en-US" sz="2000" b="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70000"/>
              </a:lnSpc>
              <a:spcBef>
                <a:spcPct val="0"/>
              </a:spcBef>
              <a:buSzTx/>
              <a:buFont typeface="Wingdings" panose="05000000000000000000" pitchFamily="2" charset="2"/>
              <a:buChar char="§"/>
            </a:pPr>
            <a:r>
              <a:rPr lang="pl-PL" altLang="en-US" sz="2400" b="0" dirty="0">
                <a:solidFill>
                  <a:schemeClr val="bg2"/>
                </a:solidFill>
              </a:rPr>
              <a:t>...</a:t>
            </a:r>
          </a:p>
          <a:p>
            <a:pPr lvl="1" eaLnBrk="1" hangingPunct="1">
              <a:buSzTx/>
              <a:buFont typeface="Wingdings" panose="05000000000000000000" pitchFamily="2" charset="2"/>
              <a:buChar char="§"/>
            </a:pPr>
            <a:endParaRPr lang="pl-PL" altLang="en-US" sz="2400" b="0" dirty="0">
              <a:solidFill>
                <a:schemeClr val="bg2"/>
              </a:solidFill>
            </a:endParaRPr>
          </a:p>
          <a:p>
            <a:pPr lvl="1" eaLnBrk="1" hangingPunct="1">
              <a:buSzTx/>
              <a:buFont typeface="Wingdings" panose="05000000000000000000" pitchFamily="2" charset="2"/>
              <a:buChar char="§"/>
            </a:pPr>
            <a:endParaRPr lang="pl-PL" altLang="en-US" sz="2400" b="0" dirty="0">
              <a:solidFill>
                <a:schemeClr val="bg2"/>
              </a:solidFill>
            </a:endParaRPr>
          </a:p>
          <a:p>
            <a:pPr lvl="1" eaLnBrk="1" hangingPunct="1">
              <a:buSzTx/>
              <a:buFont typeface="Wingdings" panose="05000000000000000000" pitchFamily="2" charset="2"/>
              <a:buChar char="§"/>
            </a:pPr>
            <a:endParaRPr lang="pl-PL" altLang="en-US" sz="2400" b="0" dirty="0">
              <a:solidFill>
                <a:schemeClr val="bg2"/>
              </a:solidFill>
            </a:endParaRPr>
          </a:p>
          <a:p>
            <a:pPr lvl="1" eaLnBrk="1" hangingPunct="1">
              <a:buSzTx/>
              <a:buFont typeface="Wingdings" panose="05000000000000000000" pitchFamily="2" charset="2"/>
              <a:buChar char="§"/>
            </a:pPr>
            <a:endParaRPr lang="pl-PL" altLang="en-US" sz="800" b="0" dirty="0">
              <a:solidFill>
                <a:schemeClr val="bg2"/>
              </a:solidFill>
            </a:endParaRPr>
          </a:p>
          <a:p>
            <a:pPr lvl="1" eaLnBrk="1" hangingPunct="1">
              <a:buSzTx/>
              <a:buFont typeface="Wingdings" panose="05000000000000000000" pitchFamily="2" charset="2"/>
              <a:buChar char="§"/>
            </a:pPr>
            <a:endParaRPr lang="pl-PL" altLang="en-US" sz="800" b="0" dirty="0">
              <a:solidFill>
                <a:schemeClr val="bg2"/>
              </a:solidFill>
            </a:endParaRPr>
          </a:p>
          <a:p>
            <a:pPr lvl="1" eaLnBrk="1" hangingPunct="1">
              <a:buSzTx/>
              <a:buFont typeface="Wingdings" panose="05000000000000000000" pitchFamily="2" charset="2"/>
              <a:buChar char="§"/>
            </a:pPr>
            <a:r>
              <a:rPr lang="pl-PL" altLang="en-US" sz="2400" b="0" dirty="0">
                <a:solidFill>
                  <a:schemeClr val="bg2"/>
                </a:solidFill>
              </a:rPr>
              <a:t>Step 2: Look for pattern:</a:t>
            </a:r>
          </a:p>
          <a:p>
            <a:pPr lvl="1" eaLnBrk="1" hangingPunct="1">
              <a:buSzTx/>
              <a:buFont typeface="Wingdings" panose="05000000000000000000" pitchFamily="2" charset="2"/>
              <a:buChar char="§"/>
            </a:pPr>
            <a:endParaRPr lang="pl-PL" altLang="en-US" sz="2400" b="0" dirty="0">
              <a:solidFill>
                <a:schemeClr val="bg2"/>
              </a:solidFill>
            </a:endParaRPr>
          </a:p>
          <a:p>
            <a:pPr lvl="1" eaLnBrk="1" hangingPunct="1">
              <a:buSzTx/>
              <a:buFont typeface="Wingdings" panose="05000000000000000000" pitchFamily="2" charset="2"/>
              <a:buNone/>
            </a:pPr>
            <a:r>
              <a:rPr lang="pl-PL" altLang="en-US" sz="2000" b="0" dirty="0"/>
              <a:t>Meaning of this pattern:</a:t>
            </a:r>
          </a:p>
          <a:p>
            <a:pPr lvl="1" eaLnBrk="1" hangingPunct="1">
              <a:buSzTx/>
              <a:buFont typeface="Wingdings" panose="05000000000000000000" pitchFamily="2" charset="2"/>
              <a:buNone/>
            </a:pPr>
            <a:r>
              <a:rPr lang="pl-PL" altLang="en-US" sz="2000" b="0" dirty="0"/>
              <a:t>Process </a:t>
            </a:r>
            <a:r>
              <a:rPr lang="pl-PL" altLang="en-US" sz="2000" b="0" dirty="0">
                <a:solidFill>
                  <a:srgbClr val="0000FF"/>
                </a:solidFill>
              </a:rPr>
              <a:t>Pj </a:t>
            </a:r>
            <a:r>
              <a:rPr lang="pl-PL" altLang="en-US" sz="2000" b="0" dirty="0"/>
              <a:t>can get value of</a:t>
            </a:r>
          </a:p>
          <a:p>
            <a:pPr lvl="1" eaLnBrk="1" hangingPunct="1">
              <a:buSzTx/>
              <a:buFont typeface="Wingdings" panose="05000000000000000000" pitchFamily="2" charset="2"/>
              <a:buNone/>
            </a:pPr>
            <a:r>
              <a:rPr lang="pl-PL" altLang="en-US" sz="2000" b="0" dirty="0"/>
              <a:t>Resource </a:t>
            </a:r>
            <a:r>
              <a:rPr lang="pl-PL" altLang="en-US" sz="2000" b="0" dirty="0">
                <a:solidFill>
                  <a:srgbClr val="0000FF"/>
                </a:solidFill>
              </a:rPr>
              <a:t>Rn</a:t>
            </a:r>
            <a:r>
              <a:rPr lang="pl-PL" altLang="en-US" sz="2000" b="0" dirty="0"/>
              <a:t> via Process </a:t>
            </a:r>
            <a:r>
              <a:rPr lang="pl-PL" altLang="en-US" sz="2000" b="0" dirty="0">
                <a:solidFill>
                  <a:srgbClr val="0000FF"/>
                </a:solidFill>
              </a:rPr>
              <a:t>Pi</a:t>
            </a:r>
          </a:p>
          <a:p>
            <a:pPr lvl="1" eaLnBrk="1" hangingPunct="1">
              <a:buSzTx/>
              <a:buFont typeface="Wingdings" panose="05000000000000000000" pitchFamily="2" charset="2"/>
              <a:buNone/>
            </a:pPr>
            <a:r>
              <a:rPr lang="pl-PL" altLang="en-US" sz="2000" b="0" dirty="0"/>
              <a:t>(and a covert channel)</a:t>
            </a:r>
          </a:p>
          <a:p>
            <a:pPr lvl="1" eaLnBrk="1" hangingPunct="1">
              <a:buSzTx/>
              <a:buFont typeface="Wingdings" panose="05000000000000000000" pitchFamily="2" charset="2"/>
              <a:buNone/>
            </a:pPr>
            <a:endParaRPr lang="pl-PL" altLang="en-US" sz="800" b="0" dirty="0"/>
          </a:p>
          <a:p>
            <a:pPr lvl="1" eaLnBrk="1" hangingPunct="1">
              <a:buSzTx/>
              <a:buFont typeface="Wingdings" panose="05000000000000000000" pitchFamily="2" charset="2"/>
              <a:buNone/>
            </a:pPr>
            <a:endParaRPr lang="pl-PL" altLang="en-US" sz="800" b="0" dirty="0">
              <a:solidFill>
                <a:srgbClr val="0000FF"/>
              </a:solidFill>
            </a:endParaRPr>
          </a:p>
          <a:p>
            <a:pPr lvl="1" eaLnBrk="1" hangingPunct="1">
              <a:buSzTx/>
              <a:buFont typeface="Wingdings" panose="05000000000000000000" pitchFamily="2" charset="2"/>
              <a:buChar char="§"/>
            </a:pPr>
            <a:r>
              <a:rPr lang="pl-PL" altLang="en-US" sz="2400" b="0" dirty="0">
                <a:solidFill>
                  <a:srgbClr val="FF0000"/>
                </a:solidFill>
              </a:rPr>
              <a:t>Q: Do you see such a pattern in SRM above?</a:t>
            </a:r>
          </a:p>
        </p:txBody>
      </p:sp>
      <p:graphicFrame>
        <p:nvGraphicFramePr>
          <p:cNvPr id="902372" name="Group 228"/>
          <p:cNvGraphicFramePr>
            <a:graphicFrameLocks noGrp="1"/>
          </p:cNvGraphicFramePr>
          <p:nvPr>
            <p:ph sz="half" idx="2"/>
          </p:nvPr>
        </p:nvGraphicFramePr>
        <p:xfrm>
          <a:off x="4873625" y="2349500"/>
          <a:ext cx="3548063" cy="2377440"/>
        </p:xfrm>
        <a:graphic>
          <a:graphicData uri="http://schemas.openxmlformats.org/drawingml/2006/table">
            <a:tbl>
              <a:tblPr/>
              <a:tblGrid>
                <a:gridCol w="5921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21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21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0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l-PL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</a:rPr>
                        <a:t>Pi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l-PL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</a:rPr>
                        <a:t>Pj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l-PL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</a:rPr>
                        <a:t>Rm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l-PL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M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l-PL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R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7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l-PL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</a:rPr>
                        <a:t>Rn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l-PL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R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02374" name="Group 230"/>
          <p:cNvGraphicFramePr>
            <a:graphicFrameLocks noGrp="1"/>
          </p:cNvGraphicFramePr>
          <p:nvPr>
            <p:ph sz="half" idx="1"/>
          </p:nvPr>
        </p:nvGraphicFramePr>
        <p:xfrm>
          <a:off x="1368425" y="673100"/>
          <a:ext cx="6627813" cy="1317626"/>
        </p:xfrm>
        <a:graphic>
          <a:graphicData uri="http://schemas.openxmlformats.org/drawingml/2006/table">
            <a:tbl>
              <a:tblPr/>
              <a:tblGrid>
                <a:gridCol w="2208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13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8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33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l-PL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</a:rPr>
                        <a:t>Pgm 1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l-PL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</a:rPr>
                        <a:t>Pgm 2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2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l-PL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</a:rPr>
                        <a:t>Lock on FX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l-PL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R, M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l-PL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R, M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2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l-PL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</a:rPr>
                        <a:t>X (confid.)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l-PL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R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43099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266" name="Rectangle 2"/>
          <p:cNvSpPr>
            <a:spLocks noChangeArrowheads="1"/>
          </p:cNvSpPr>
          <p:nvPr/>
        </p:nvSpPr>
        <p:spPr bwMode="auto">
          <a:xfrm>
            <a:off x="234950" y="74613"/>
            <a:ext cx="8909050" cy="6567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609600" indent="-609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990600" indent="-53340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371600" indent="-4572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752600" indent="-3810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209800" indent="-3810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67000" indent="-3810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124200" indent="-3810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81400" indent="-3810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8600" indent="-3810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SzTx/>
              <a:buFont typeface="Wingdings" panose="05000000000000000000" pitchFamily="2" charset="2"/>
              <a:buNone/>
            </a:pPr>
            <a:r>
              <a:rPr lang="pl-PL" altLang="en-US" sz="2000" b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Identifying Potential Covert Channels (4)</a:t>
            </a:r>
          </a:p>
          <a:p>
            <a:pPr lvl="1" eaLnBrk="1" hangingPunct="1">
              <a:lnSpc>
                <a:spcPct val="50000"/>
              </a:lnSpc>
              <a:spcBef>
                <a:spcPct val="0"/>
              </a:spcBef>
              <a:buSzTx/>
              <a:buFont typeface="Wingdings" panose="05000000000000000000" pitchFamily="2" charset="2"/>
              <a:buChar char="§"/>
            </a:pPr>
            <a:r>
              <a:rPr lang="pl-PL" altLang="en-US" sz="2400" b="0" dirty="0">
                <a:solidFill>
                  <a:srgbClr val="777777"/>
                </a:solidFill>
              </a:rPr>
              <a:t>...</a:t>
            </a:r>
          </a:p>
          <a:p>
            <a:pPr lvl="1" eaLnBrk="1" hangingPunct="1">
              <a:buSzTx/>
              <a:buFont typeface="Wingdings" panose="05000000000000000000" pitchFamily="2" charset="2"/>
              <a:buChar char="§"/>
            </a:pPr>
            <a:endParaRPr lang="pl-PL" altLang="en-US" sz="2400" b="0" dirty="0">
              <a:solidFill>
                <a:srgbClr val="777777"/>
              </a:solidFill>
            </a:endParaRPr>
          </a:p>
          <a:p>
            <a:pPr lvl="1" eaLnBrk="1" hangingPunct="1">
              <a:buSzTx/>
              <a:buFont typeface="Wingdings" panose="05000000000000000000" pitchFamily="2" charset="2"/>
              <a:buChar char="§"/>
            </a:pPr>
            <a:endParaRPr lang="pl-PL" altLang="en-US" sz="2400" b="0" dirty="0">
              <a:solidFill>
                <a:srgbClr val="777777"/>
              </a:solidFill>
            </a:endParaRPr>
          </a:p>
          <a:p>
            <a:pPr lvl="1" eaLnBrk="1" hangingPunct="1">
              <a:buSzTx/>
              <a:buFont typeface="Wingdings" panose="05000000000000000000" pitchFamily="2" charset="2"/>
              <a:buChar char="§"/>
            </a:pPr>
            <a:endParaRPr lang="pl-PL" altLang="en-US" sz="2400" b="0" dirty="0">
              <a:solidFill>
                <a:srgbClr val="777777"/>
              </a:solidFill>
            </a:endParaRPr>
          </a:p>
          <a:p>
            <a:pPr lvl="1" eaLnBrk="1" hangingPunct="1">
              <a:buSzTx/>
              <a:buFont typeface="Wingdings" panose="05000000000000000000" pitchFamily="2" charset="2"/>
              <a:buChar char="§"/>
            </a:pPr>
            <a:endParaRPr lang="pl-PL" altLang="en-US" sz="800" b="0" dirty="0">
              <a:solidFill>
                <a:srgbClr val="777777"/>
              </a:solidFill>
            </a:endParaRPr>
          </a:p>
          <a:p>
            <a:pPr lvl="1" eaLnBrk="1" hangingPunct="1">
              <a:buSzTx/>
              <a:buFont typeface="Wingdings" panose="05000000000000000000" pitchFamily="2" charset="2"/>
              <a:buChar char="§"/>
            </a:pPr>
            <a:endParaRPr lang="pl-PL" altLang="en-US" sz="800" b="0" dirty="0">
              <a:solidFill>
                <a:srgbClr val="777777"/>
              </a:solidFill>
            </a:endParaRPr>
          </a:p>
          <a:p>
            <a:pPr lvl="1" eaLnBrk="1" hangingPunct="1">
              <a:buSzTx/>
              <a:buFont typeface="Wingdings" panose="05000000000000000000" pitchFamily="2" charset="2"/>
              <a:buChar char="§"/>
            </a:pPr>
            <a:r>
              <a:rPr lang="pl-PL" altLang="en-US" sz="2400" b="0" dirty="0">
                <a:solidFill>
                  <a:srgbClr val="777777"/>
                </a:solidFill>
              </a:rPr>
              <a:t>Step 2: Look for pattern:</a:t>
            </a:r>
          </a:p>
          <a:p>
            <a:pPr lvl="1" eaLnBrk="1" hangingPunct="1">
              <a:buSzTx/>
              <a:buFont typeface="Wingdings" panose="05000000000000000000" pitchFamily="2" charset="2"/>
              <a:buChar char="§"/>
            </a:pPr>
            <a:endParaRPr lang="pl-PL" altLang="en-US" sz="2400" b="0" dirty="0">
              <a:solidFill>
                <a:srgbClr val="777777"/>
              </a:solidFill>
            </a:endParaRPr>
          </a:p>
          <a:p>
            <a:pPr lvl="1" eaLnBrk="1" hangingPunct="1">
              <a:buSzTx/>
              <a:buFont typeface="Wingdings" panose="05000000000000000000" pitchFamily="2" charset="2"/>
              <a:buNone/>
            </a:pPr>
            <a:r>
              <a:rPr lang="pl-PL" altLang="en-US" sz="2000" b="0" dirty="0">
                <a:solidFill>
                  <a:srgbClr val="777777"/>
                </a:solidFill>
              </a:rPr>
              <a:t>Meaning of this pattern:</a:t>
            </a:r>
          </a:p>
          <a:p>
            <a:pPr lvl="1" eaLnBrk="1" hangingPunct="1">
              <a:buSzTx/>
              <a:buFont typeface="Wingdings" panose="05000000000000000000" pitchFamily="2" charset="2"/>
              <a:buNone/>
            </a:pPr>
            <a:r>
              <a:rPr lang="pl-PL" altLang="en-US" sz="2000" b="0" dirty="0">
                <a:solidFill>
                  <a:srgbClr val="777777"/>
                </a:solidFill>
              </a:rPr>
              <a:t>Process Pj can get value of</a:t>
            </a:r>
          </a:p>
          <a:p>
            <a:pPr lvl="1" eaLnBrk="1" hangingPunct="1">
              <a:buSzTx/>
              <a:buFont typeface="Wingdings" panose="05000000000000000000" pitchFamily="2" charset="2"/>
              <a:buNone/>
            </a:pPr>
            <a:r>
              <a:rPr lang="pl-PL" altLang="en-US" sz="2000" b="0" dirty="0">
                <a:solidFill>
                  <a:srgbClr val="777777"/>
                </a:solidFill>
              </a:rPr>
              <a:t>Resource Rn via Process Pi</a:t>
            </a:r>
          </a:p>
          <a:p>
            <a:pPr lvl="1" eaLnBrk="1" hangingPunct="1">
              <a:buSzTx/>
              <a:buFont typeface="Wingdings" panose="05000000000000000000" pitchFamily="2" charset="2"/>
              <a:buNone/>
            </a:pPr>
            <a:r>
              <a:rPr lang="pl-PL" altLang="en-US" sz="2000" b="0" dirty="0">
                <a:solidFill>
                  <a:srgbClr val="777777"/>
                </a:solidFill>
              </a:rPr>
              <a:t>(and a covert channel)</a:t>
            </a:r>
          </a:p>
          <a:p>
            <a:pPr lvl="1" eaLnBrk="1" hangingPunct="1">
              <a:buSzTx/>
              <a:buFont typeface="Wingdings" panose="05000000000000000000" pitchFamily="2" charset="2"/>
              <a:buNone/>
            </a:pPr>
            <a:endParaRPr lang="pl-PL" altLang="en-US" sz="800" b="0" dirty="0">
              <a:solidFill>
                <a:srgbClr val="777777"/>
              </a:solidFill>
            </a:endParaRPr>
          </a:p>
          <a:p>
            <a:pPr lvl="1" eaLnBrk="1" hangingPunct="1">
              <a:buSzTx/>
              <a:buFont typeface="Wingdings" panose="05000000000000000000" pitchFamily="2" charset="2"/>
              <a:buNone/>
            </a:pPr>
            <a:endParaRPr lang="pl-PL" altLang="en-US" sz="800" b="0" dirty="0">
              <a:solidFill>
                <a:srgbClr val="777777"/>
              </a:solidFill>
            </a:endParaRPr>
          </a:p>
          <a:p>
            <a:pPr lvl="1" eaLnBrk="1" hangingPunct="1">
              <a:buSzTx/>
              <a:buFont typeface="Wingdings" panose="05000000000000000000" pitchFamily="2" charset="2"/>
              <a:buChar char="§"/>
            </a:pPr>
            <a:r>
              <a:rPr lang="pl-PL" altLang="en-US" sz="2400" b="0" dirty="0">
                <a:solidFill>
                  <a:srgbClr val="777777"/>
                </a:solidFill>
              </a:rPr>
              <a:t>Q: Do you see such a pattern in SRM above?</a:t>
            </a:r>
          </a:p>
          <a:p>
            <a:pPr lvl="1" eaLnBrk="1" hangingPunct="1">
              <a:spcBef>
                <a:spcPct val="0"/>
              </a:spcBef>
              <a:buSzTx/>
              <a:buFont typeface="Wingdings" panose="05000000000000000000" pitchFamily="2" charset="2"/>
              <a:buChar char="§"/>
            </a:pPr>
            <a:r>
              <a:rPr lang="pl-PL" altLang="en-US" sz="2400" b="0" dirty="0">
                <a:solidFill>
                  <a:srgbClr val="FF0000"/>
                </a:solidFill>
              </a:rPr>
              <a:t>A: Yes. Process 2 can get value of X via Process 1</a:t>
            </a:r>
          </a:p>
          <a:p>
            <a:pPr lvl="1" eaLnBrk="1" hangingPunct="1">
              <a:spcBef>
                <a:spcPct val="0"/>
              </a:spcBef>
              <a:buSzTx/>
              <a:buFont typeface="Wingdings" panose="05000000000000000000" pitchFamily="2" charset="2"/>
              <a:buNone/>
            </a:pPr>
            <a:r>
              <a:rPr lang="pl-PL" altLang="en-US" sz="2000" b="0" dirty="0">
                <a:solidFill>
                  <a:srgbClr val="FF0000"/>
                </a:solidFill>
              </a:rPr>
              <a:t>	</a:t>
            </a:r>
            <a:r>
              <a:rPr lang="pl-PL" altLang="en-US" sz="2000" b="0" dirty="0"/>
              <a:t>(no surprise: Proc. 1 &amp; 2 are Trojan &amp; Spy</a:t>
            </a:r>
          </a:p>
          <a:p>
            <a:pPr lvl="1" eaLnBrk="1" hangingPunct="1">
              <a:spcBef>
                <a:spcPct val="0"/>
              </a:spcBef>
              <a:buSzTx/>
              <a:buFont typeface="Wingdings" panose="05000000000000000000" pitchFamily="2" charset="2"/>
              <a:buNone/>
            </a:pPr>
            <a:r>
              <a:rPr lang="pl-PL" altLang="en-US" sz="2000" b="0" dirty="0"/>
              <a:t>	 from earlier example)</a:t>
            </a:r>
          </a:p>
        </p:txBody>
      </p:sp>
      <p:graphicFrame>
        <p:nvGraphicFramePr>
          <p:cNvPr id="907267" name="Group 3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707967337"/>
              </p:ext>
            </p:extLst>
          </p:nvPr>
        </p:nvGraphicFramePr>
        <p:xfrm>
          <a:off x="4797425" y="2379663"/>
          <a:ext cx="3548063" cy="2377440"/>
        </p:xfrm>
        <a:graphic>
          <a:graphicData uri="http://schemas.openxmlformats.org/drawingml/2006/table">
            <a:tbl>
              <a:tblPr/>
              <a:tblGrid>
                <a:gridCol w="5921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21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21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0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l-PL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</a:rPr>
                        <a:t>i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l-PL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</a:rPr>
                        <a:t>j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l-PL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</a:rPr>
                        <a:t>m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l-PL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anose="020B0604030504040204" pitchFamily="34" charset="0"/>
                        </a:rPr>
                        <a:t>M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l-PL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</a:rPr>
                        <a:t>R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7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l-PL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</a:rPr>
                        <a:t>n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l-PL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anose="020B0604030504040204" pitchFamily="34" charset="0"/>
                        </a:rPr>
                        <a:t>R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07318" name="Group 54"/>
          <p:cNvGraphicFramePr>
            <a:graphicFrameLocks noGrp="1"/>
          </p:cNvGraphicFramePr>
          <p:nvPr>
            <p:ph sz="half" idx="1"/>
          </p:nvPr>
        </p:nvGraphicFramePr>
        <p:xfrm>
          <a:off x="1719263" y="685800"/>
          <a:ext cx="6627812" cy="1317626"/>
        </p:xfrm>
        <a:graphic>
          <a:graphicData uri="http://schemas.openxmlformats.org/drawingml/2006/table">
            <a:tbl>
              <a:tblPr/>
              <a:tblGrid>
                <a:gridCol w="2208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1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82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33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l-PL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</a:rPr>
                        <a:t>Process 1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l-PL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</a:rPr>
                        <a:t>Process 2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2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l-PL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</a:rPr>
                        <a:t>Lock on FX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l-PL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R, </a:t>
                      </a:r>
                      <a:r>
                        <a:rPr kumimoji="0" lang="pl-PL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</a:rPr>
                        <a:t>M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l-PL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</a:rPr>
                        <a:t>R</a:t>
                      </a:r>
                      <a:r>
                        <a:rPr kumimoji="0" lang="pl-PL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, M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2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l-PL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</a:rPr>
                        <a:t>X (confid.)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l-PL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</a:rPr>
                        <a:t>R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28088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098" name="Rectangle 2"/>
          <p:cNvSpPr>
            <a:spLocks noChangeArrowheads="1"/>
          </p:cNvSpPr>
          <p:nvPr/>
        </p:nvSpPr>
        <p:spPr bwMode="auto">
          <a:xfrm>
            <a:off x="234950" y="74613"/>
            <a:ext cx="8909050" cy="6567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609600" indent="-609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990600" indent="-53340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371600" indent="-4572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752600" indent="-3810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209800" indent="-3810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67000" indent="-3810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124200" indent="-3810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81400" indent="-3810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8600" indent="-3810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SzTx/>
              <a:buFont typeface="Wingdings" panose="05000000000000000000" pitchFamily="2" charset="2"/>
              <a:buNone/>
            </a:pPr>
            <a:r>
              <a:rPr lang="pl-PL" altLang="en-US" sz="2000" b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Identifying Potential Covert Channels (5)</a:t>
            </a:r>
          </a:p>
          <a:p>
            <a:pPr eaLnBrk="1" hangingPunct="1">
              <a:spcBef>
                <a:spcPct val="0"/>
              </a:spcBef>
              <a:buSzTx/>
              <a:buFont typeface="Wingdings" panose="05000000000000000000" pitchFamily="2" charset="2"/>
              <a:buNone/>
            </a:pPr>
            <a:endParaRPr lang="pl-PL" altLang="en-US" sz="2000" b="0" dirty="0">
              <a:solidFill>
                <a:srgbClr val="0000FF"/>
              </a:solidFill>
            </a:endParaRPr>
          </a:p>
          <a:p>
            <a:pPr eaLnBrk="1" hangingPunct="1">
              <a:buSzTx/>
              <a:buFont typeface="Wingdings" panose="05000000000000000000" pitchFamily="2" charset="2"/>
              <a:buNone/>
            </a:pPr>
            <a:r>
              <a:rPr lang="pl-PL" altLang="en-US" sz="2800" b="0" dirty="0">
                <a:solidFill>
                  <a:srgbClr val="FF0000"/>
                </a:solidFill>
              </a:rPr>
              <a:t>2)</a:t>
            </a:r>
            <a:r>
              <a:rPr lang="pl-PL" altLang="en-US" sz="2800" b="0" dirty="0">
                <a:solidFill>
                  <a:srgbClr val="0000FF"/>
                </a:solidFill>
              </a:rPr>
              <a:t> Information Flow Method</a:t>
            </a:r>
          </a:p>
          <a:p>
            <a:pPr lvl="1" eaLnBrk="1" hangingPunct="1">
              <a:buSzTx/>
              <a:buFont typeface="Wingdings" panose="05000000000000000000" pitchFamily="2" charset="2"/>
              <a:buChar char="§"/>
            </a:pPr>
            <a:r>
              <a:rPr lang="pl-PL" altLang="en-US" sz="2400" b="0" dirty="0">
                <a:solidFill>
                  <a:schemeClr val="bg2"/>
                </a:solidFill>
              </a:rPr>
              <a:t>Flow analysis of pgm’s syntax</a:t>
            </a:r>
          </a:p>
          <a:p>
            <a:pPr lvl="2" eaLnBrk="1" hangingPunct="1">
              <a:buSzTx/>
              <a:buFont typeface="Wingdings" panose="05000000000000000000" pitchFamily="2" charset="2"/>
              <a:buChar char="§"/>
            </a:pPr>
            <a:r>
              <a:rPr lang="pl-PL" altLang="en-US" sz="2000" b="0" dirty="0">
                <a:solidFill>
                  <a:schemeClr val="bg2"/>
                </a:solidFill>
              </a:rPr>
              <a:t>Can be automated within a compiler</a:t>
            </a:r>
          </a:p>
          <a:p>
            <a:pPr lvl="1" eaLnBrk="1" hangingPunct="1">
              <a:buSzTx/>
              <a:buFont typeface="Wingdings" panose="05000000000000000000" pitchFamily="2" charset="2"/>
              <a:buChar char="§"/>
            </a:pPr>
            <a:r>
              <a:rPr lang="pl-PL" altLang="en-US" sz="2400" b="0" dirty="0">
                <a:solidFill>
                  <a:schemeClr val="bg2"/>
                </a:solidFill>
              </a:rPr>
              <a:t>Identifies non-obvious flows of info between pgm statements</a:t>
            </a:r>
          </a:p>
          <a:p>
            <a:pPr lvl="1" eaLnBrk="1" hangingPunct="1">
              <a:buSzTx/>
              <a:buFont typeface="Wingdings" panose="05000000000000000000" pitchFamily="2" charset="2"/>
              <a:buChar char="§"/>
            </a:pPr>
            <a:endParaRPr lang="pl-PL" altLang="en-US" sz="800" b="0" dirty="0">
              <a:solidFill>
                <a:schemeClr val="bg2"/>
              </a:solidFill>
            </a:endParaRPr>
          </a:p>
          <a:p>
            <a:pPr eaLnBrk="1" hangingPunct="1">
              <a:buSzTx/>
              <a:buFont typeface="Wingdings" panose="05000000000000000000" pitchFamily="2" charset="2"/>
              <a:buChar char="§"/>
            </a:pPr>
            <a:r>
              <a:rPr lang="pl-PL" altLang="en-US" sz="2800" b="0" dirty="0">
                <a:solidFill>
                  <a:schemeClr val="bg2"/>
                </a:solidFill>
              </a:rPr>
              <a:t>Examples of flows of info between pgm stmts</a:t>
            </a:r>
          </a:p>
          <a:p>
            <a:pPr lvl="1" eaLnBrk="1" hangingPunct="1">
              <a:buSzTx/>
              <a:buFont typeface="Wingdings" panose="05000000000000000000" pitchFamily="2" charset="2"/>
              <a:buChar char="§"/>
            </a:pPr>
            <a:r>
              <a:rPr lang="pl-PL" altLang="en-US" sz="2400" b="0" dirty="0">
                <a:solidFill>
                  <a:schemeClr val="bg2"/>
                </a:solidFill>
              </a:rPr>
              <a:t>B:= A   – an </a:t>
            </a:r>
            <a:r>
              <a:rPr lang="pl-PL" altLang="en-US" sz="2400" b="0" dirty="0">
                <a:solidFill>
                  <a:srgbClr val="0000FF"/>
                </a:solidFill>
              </a:rPr>
              <a:t>explicit flow </a:t>
            </a:r>
            <a:r>
              <a:rPr lang="pl-PL" altLang="en-US" sz="2400" b="0" dirty="0"/>
              <a:t>from A to B</a:t>
            </a:r>
          </a:p>
          <a:p>
            <a:pPr lvl="1" eaLnBrk="1" hangingPunct="1">
              <a:buSzTx/>
              <a:buFont typeface="Wingdings" panose="05000000000000000000" pitchFamily="2" charset="2"/>
              <a:buChar char="§"/>
            </a:pPr>
            <a:r>
              <a:rPr lang="pl-PL" altLang="en-US" sz="2400" b="0" dirty="0">
                <a:solidFill>
                  <a:schemeClr val="bg2"/>
                </a:solidFill>
              </a:rPr>
              <a:t>B:= A; C:=B   – </a:t>
            </a:r>
            <a:r>
              <a:rPr lang="pl-PL" altLang="en-US" sz="2400" b="0" dirty="0"/>
              <a:t>an explicit flow from A to C (via B)</a:t>
            </a:r>
          </a:p>
          <a:p>
            <a:pPr lvl="1" eaLnBrk="1" hangingPunct="1">
              <a:buSzTx/>
              <a:buFont typeface="Wingdings" panose="05000000000000000000" pitchFamily="2" charset="2"/>
              <a:buChar char="§"/>
            </a:pPr>
            <a:r>
              <a:rPr lang="pl-PL" altLang="en-US" sz="2400" b="0" dirty="0"/>
              <a:t>IF C=1 THEN B:=A</a:t>
            </a:r>
          </a:p>
          <a:p>
            <a:pPr lvl="2" eaLnBrk="1" hangingPunct="1">
              <a:buSzTx/>
              <a:buFont typeface="Wingdings" panose="05000000000000000000" pitchFamily="2" charset="2"/>
              <a:buNone/>
            </a:pPr>
            <a:r>
              <a:rPr lang="pl-PL" altLang="en-US" sz="2000" b="0" dirty="0">
                <a:solidFill>
                  <a:schemeClr val="bg2"/>
                </a:solidFill>
              </a:rPr>
              <a:t>	– an </a:t>
            </a:r>
            <a:r>
              <a:rPr lang="pl-PL" altLang="en-US" sz="2000" b="0" dirty="0"/>
              <a:t>explicit flow from A to B</a:t>
            </a:r>
          </a:p>
          <a:p>
            <a:pPr lvl="2" eaLnBrk="1" hangingPunct="1">
              <a:buSzTx/>
              <a:buFont typeface="Wingdings" panose="05000000000000000000" pitchFamily="2" charset="2"/>
              <a:buNone/>
            </a:pPr>
            <a:r>
              <a:rPr lang="pl-PL" altLang="en-US" sz="2000" b="0" dirty="0"/>
              <a:t>	</a:t>
            </a:r>
            <a:r>
              <a:rPr lang="pl-PL" altLang="en-US" sz="2000" b="0" dirty="0">
                <a:solidFill>
                  <a:schemeClr val="bg2"/>
                </a:solidFill>
              </a:rPr>
              <a:t>– an </a:t>
            </a:r>
            <a:r>
              <a:rPr lang="pl-PL" altLang="en-US" sz="2000" b="0" dirty="0">
                <a:solidFill>
                  <a:srgbClr val="0000FF"/>
                </a:solidFill>
              </a:rPr>
              <a:t>implicit flow </a:t>
            </a:r>
            <a:r>
              <a:rPr lang="pl-PL" altLang="en-US" sz="2000" b="0" dirty="0"/>
              <a:t>from C to B (bec. B can change iff C=1)</a:t>
            </a:r>
            <a:endParaRPr lang="pl-PL" altLang="en-US" sz="2000" b="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605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290" name="Rectangle 2"/>
          <p:cNvSpPr>
            <a:spLocks noChangeArrowheads="1"/>
          </p:cNvSpPr>
          <p:nvPr/>
        </p:nvSpPr>
        <p:spPr bwMode="auto">
          <a:xfrm>
            <a:off x="234950" y="74613"/>
            <a:ext cx="8909050" cy="6567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609600" indent="-609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990600" indent="-53340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371600" indent="-4572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752600" indent="-3810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209800" indent="-3810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67000" indent="-3810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124200" indent="-3810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81400" indent="-3810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8600" indent="-3810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 typeface="Wingdings" panose="05000000000000000000" pitchFamily="2" charset="2"/>
              <a:buNone/>
            </a:pPr>
            <a:r>
              <a:rPr lang="pl-PL" altLang="en-US" sz="2000" b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Identifying Potential Covert Channels (6)</a:t>
            </a:r>
          </a:p>
          <a:p>
            <a:pPr eaLnBrk="1" hangingPunct="1">
              <a:spcBef>
                <a:spcPct val="0"/>
              </a:spcBef>
              <a:buSzTx/>
              <a:buFont typeface="Wingdings" panose="05000000000000000000" pitchFamily="2" charset="2"/>
              <a:buNone/>
            </a:pPr>
            <a:endParaRPr lang="pl-PL" altLang="en-US" sz="800" b="0" dirty="0">
              <a:solidFill>
                <a:schemeClr val="bg2"/>
              </a:solidFill>
            </a:endParaRPr>
          </a:p>
          <a:p>
            <a:pPr eaLnBrk="1" hangingPunct="1">
              <a:buSzTx/>
              <a:buFont typeface="Wingdings" panose="05000000000000000000" pitchFamily="2" charset="2"/>
              <a:buChar char="§"/>
            </a:pPr>
            <a:r>
              <a:rPr lang="pl-PL" altLang="en-US" sz="2800" b="0" dirty="0">
                <a:solidFill>
                  <a:schemeClr val="bg2"/>
                </a:solidFill>
              </a:rPr>
              <a:t>More examples of flows of info between pgm stmts</a:t>
            </a:r>
          </a:p>
          <a:p>
            <a:pPr lvl="1" algn="r" eaLnBrk="1" hangingPunct="1">
              <a:lnSpc>
                <a:spcPct val="80000"/>
              </a:lnSpc>
              <a:spcBef>
                <a:spcPct val="0"/>
              </a:spcBef>
              <a:buSzTx/>
              <a:buFont typeface="Wingdings" panose="05000000000000000000" pitchFamily="2" charset="2"/>
              <a:buNone/>
            </a:pPr>
            <a:r>
              <a:rPr lang="pl-PL" altLang="en-US" sz="2400" b="0" dirty="0">
                <a:solidFill>
                  <a:schemeClr val="bg2"/>
                </a:solidFill>
              </a:rPr>
              <a:t>				</a:t>
            </a:r>
            <a:r>
              <a:rPr lang="pl-PL" altLang="en-US" sz="1800" b="0" dirty="0">
                <a:solidFill>
                  <a:schemeClr val="bg2"/>
                </a:solidFill>
              </a:rPr>
              <a:t>[textbook and J. Leiwo]</a:t>
            </a:r>
          </a:p>
        </p:txBody>
      </p:sp>
      <p:pic>
        <p:nvPicPr>
          <p:cNvPr id="90829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1857375"/>
            <a:ext cx="8108950" cy="400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663032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314" name="Rectangle 2"/>
          <p:cNvSpPr>
            <a:spLocks noChangeArrowheads="1"/>
          </p:cNvSpPr>
          <p:nvPr/>
        </p:nvSpPr>
        <p:spPr bwMode="auto">
          <a:xfrm>
            <a:off x="234950" y="74613"/>
            <a:ext cx="8909050" cy="6567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609600" indent="-609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990600" indent="-53340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371600" indent="-4572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752600" indent="-3810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209800" indent="-3810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67000" indent="-3810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124200" indent="-3810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81400" indent="-3810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8600" indent="-3810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 typeface="Wingdings" panose="05000000000000000000" pitchFamily="2" charset="2"/>
              <a:buNone/>
            </a:pPr>
            <a:r>
              <a:rPr lang="pl-PL" altLang="en-US" sz="2000" b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Identifying Potential Covert Channels (7)</a:t>
            </a:r>
            <a:endParaRPr lang="pl-PL" altLang="en-US" sz="2800" b="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SzTx/>
              <a:buFont typeface="Wingdings" panose="05000000000000000000" pitchFamily="2" charset="2"/>
              <a:buChar char="§"/>
            </a:pPr>
            <a:endParaRPr lang="pl-PL" altLang="en-US" sz="800" b="0" dirty="0">
              <a:solidFill>
                <a:schemeClr val="bg2"/>
              </a:solidFill>
            </a:endParaRPr>
          </a:p>
          <a:p>
            <a:pPr eaLnBrk="1" hangingPunct="1">
              <a:buSzTx/>
              <a:buFont typeface="Wingdings" panose="05000000000000000000" pitchFamily="2" charset="2"/>
              <a:buChar char="§"/>
            </a:pPr>
            <a:r>
              <a:rPr lang="pl-PL" altLang="en-US" sz="2800" b="0" dirty="0"/>
              <a:t>Steps of Information Flow Method (IFM)</a:t>
            </a:r>
          </a:p>
          <a:p>
            <a:pPr lvl="1" eaLnBrk="1" hangingPunct="1">
              <a:buSzTx/>
              <a:buFont typeface="Wingdings" panose="05000000000000000000" pitchFamily="2" charset="2"/>
              <a:buAutoNum type="arabicParenR"/>
            </a:pPr>
            <a:r>
              <a:rPr lang="pl-PL" altLang="en-US" sz="2400" b="0" dirty="0"/>
              <a:t>Analyze statements</a:t>
            </a:r>
          </a:p>
          <a:p>
            <a:pPr lvl="1" eaLnBrk="1" hangingPunct="1">
              <a:buSzTx/>
              <a:buFont typeface="Wingdings" panose="05000000000000000000" pitchFamily="2" charset="2"/>
              <a:buAutoNum type="arabicParenR"/>
            </a:pPr>
            <a:r>
              <a:rPr lang="pl-PL" altLang="en-US" sz="2400" b="0" dirty="0"/>
              <a:t>Integrate results to see which outputs affected by which inputs</a:t>
            </a:r>
          </a:p>
          <a:p>
            <a:pPr lvl="1" eaLnBrk="1" hangingPunct="1">
              <a:buSzTx/>
              <a:buFont typeface="Wingdings" panose="05000000000000000000" pitchFamily="2" charset="2"/>
              <a:buAutoNum type="arabicParenR"/>
            </a:pPr>
            <a:endParaRPr lang="pl-PL" altLang="en-US" sz="2400" b="0" dirty="0"/>
          </a:p>
          <a:p>
            <a:pPr lvl="1" eaLnBrk="1" hangingPunct="1">
              <a:buSzTx/>
              <a:buFont typeface="Wingdings" panose="05000000000000000000" pitchFamily="2" charset="2"/>
              <a:buAutoNum type="arabicParenR"/>
            </a:pPr>
            <a:endParaRPr lang="pl-PL" altLang="en-US" sz="2400" b="0" dirty="0"/>
          </a:p>
          <a:p>
            <a:pPr eaLnBrk="1" hangingPunct="1">
              <a:buSzTx/>
              <a:buFont typeface="Wingdings" panose="05000000000000000000" pitchFamily="2" charset="2"/>
              <a:buChar char="§"/>
            </a:pPr>
            <a:r>
              <a:rPr lang="pl-PL" altLang="en-US" sz="2800" b="0" dirty="0"/>
              <a:t>Variants of IFM:</a:t>
            </a:r>
          </a:p>
          <a:p>
            <a:pPr lvl="1" eaLnBrk="1" hangingPunct="1">
              <a:buSzTx/>
              <a:buFont typeface="Wingdings" panose="05000000000000000000" pitchFamily="2" charset="2"/>
              <a:buAutoNum type="arabicParenR"/>
            </a:pPr>
            <a:r>
              <a:rPr lang="pl-PL" altLang="en-US" sz="2400" b="0" dirty="0"/>
              <a:t>IFM during compilation</a:t>
            </a:r>
          </a:p>
          <a:p>
            <a:pPr lvl="1" eaLnBrk="1" hangingPunct="1">
              <a:buSzTx/>
              <a:buFont typeface="Wingdings" panose="05000000000000000000" pitchFamily="2" charset="2"/>
              <a:buAutoNum type="arabicParenR"/>
            </a:pPr>
            <a:r>
              <a:rPr lang="pl-PL" altLang="en-US" sz="2400" b="0" dirty="0"/>
              <a:t>IFM on design specs</a:t>
            </a:r>
          </a:p>
          <a:p>
            <a:pPr lvl="1" eaLnBrk="1" hangingPunct="1">
              <a:buSzTx/>
              <a:buFont typeface="Wingdings" panose="05000000000000000000" pitchFamily="2" charset="2"/>
              <a:buAutoNum type="arabicParenR"/>
            </a:pPr>
            <a:endParaRPr lang="pl-PL" altLang="en-US" sz="2400" b="0" dirty="0"/>
          </a:p>
        </p:txBody>
      </p:sp>
    </p:spTree>
    <p:extLst>
      <p:ext uri="{BB962C8B-B14F-4D97-AF65-F5344CB8AC3E}">
        <p14:creationId xmlns:p14="http://schemas.microsoft.com/office/powerpoint/2010/main" val="28218221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338" name="Rectangle 2"/>
          <p:cNvSpPr>
            <a:spLocks noChangeArrowheads="1"/>
          </p:cNvSpPr>
          <p:nvPr/>
        </p:nvSpPr>
        <p:spPr bwMode="auto">
          <a:xfrm>
            <a:off x="234950" y="74613"/>
            <a:ext cx="8909050" cy="6567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609600" indent="-609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990600" indent="-53340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371600" indent="-4572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752600" indent="-3810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209800" indent="-3810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667000" indent="-3810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124200" indent="-3810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581400" indent="-3810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4038600" indent="-3810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SzTx/>
              <a:buFont typeface="Wingdings" panose="05000000000000000000" pitchFamily="2" charset="2"/>
              <a:buNone/>
            </a:pPr>
            <a:r>
              <a:rPr lang="pl-PL" altLang="en-US" sz="4000" b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Covert Channels - Conclusions</a:t>
            </a:r>
          </a:p>
          <a:p>
            <a:pPr eaLnBrk="1" hangingPunct="1">
              <a:buSzTx/>
              <a:buFont typeface="Wingdings" panose="05000000000000000000" pitchFamily="2" charset="2"/>
              <a:buNone/>
            </a:pPr>
            <a:endParaRPr lang="pl-PL" altLang="en-US" sz="800" b="0" dirty="0">
              <a:solidFill>
                <a:schemeClr val="bg2"/>
              </a:solidFill>
            </a:endParaRPr>
          </a:p>
          <a:p>
            <a:pPr eaLnBrk="1" hangingPunct="1">
              <a:buSzTx/>
              <a:buFont typeface="Wingdings" panose="05000000000000000000" pitchFamily="2" charset="2"/>
              <a:buChar char="§"/>
            </a:pPr>
            <a:r>
              <a:rPr lang="pl-PL" altLang="en-US" sz="2400" b="0" dirty="0"/>
              <a:t>Covert channels are a serious threat to confidentiality and thus security      			  </a:t>
            </a:r>
            <a:r>
              <a:rPr lang="pl-PL" altLang="en-US" sz="2000" b="0" dirty="0"/>
              <a:t>(„</a:t>
            </a:r>
            <a:r>
              <a:rPr lang="pl-PL" altLang="en-US" sz="2000" b="0" dirty="0">
                <a:solidFill>
                  <a:srgbClr val="0000FF"/>
                </a:solidFill>
              </a:rPr>
              <a:t>C</a:t>
            </a:r>
            <a:r>
              <a:rPr lang="pl-PL" altLang="en-US" sz="2000" b="0" dirty="0"/>
              <a:t>IA” = security)</a:t>
            </a:r>
          </a:p>
          <a:p>
            <a:pPr eaLnBrk="1" hangingPunct="1">
              <a:buSzTx/>
              <a:buFont typeface="Wingdings" panose="05000000000000000000" pitchFamily="2" charset="2"/>
              <a:buChar char="§"/>
            </a:pPr>
            <a:endParaRPr lang="pl-PL" altLang="en-US" sz="2000" b="0" dirty="0"/>
          </a:p>
          <a:p>
            <a:pPr eaLnBrk="1" hangingPunct="1">
              <a:buSzTx/>
              <a:buFont typeface="Wingdings" panose="05000000000000000000" pitchFamily="2" charset="2"/>
              <a:buChar char="§"/>
            </a:pPr>
            <a:r>
              <a:rPr lang="pl-PL" altLang="en-US" sz="2400" b="0" dirty="0"/>
              <a:t>Any virus/Trojan horse can create a covert channel</a:t>
            </a:r>
          </a:p>
          <a:p>
            <a:pPr eaLnBrk="1" hangingPunct="1">
              <a:buSzTx/>
              <a:buFont typeface="Wingdings" panose="05000000000000000000" pitchFamily="2" charset="2"/>
              <a:buChar char="§"/>
            </a:pPr>
            <a:endParaRPr lang="pl-PL" altLang="en-US" sz="2400" b="0" dirty="0"/>
          </a:p>
          <a:p>
            <a:pPr eaLnBrk="1" hangingPunct="1">
              <a:buSzTx/>
              <a:buFont typeface="Wingdings" panose="05000000000000000000" pitchFamily="2" charset="2"/>
              <a:buChar char="§"/>
            </a:pPr>
            <a:r>
              <a:rPr lang="pl-PL" altLang="en-US" sz="2400" b="0" dirty="0"/>
              <a:t>In open systems — no way to prevent covert channels</a:t>
            </a:r>
          </a:p>
          <a:p>
            <a:pPr lvl="1" eaLnBrk="1" hangingPunct="1">
              <a:buSzTx/>
              <a:buFont typeface="Wingdings" panose="05000000000000000000" pitchFamily="2" charset="2"/>
              <a:buChar char="§"/>
            </a:pPr>
            <a:r>
              <a:rPr lang="pl-PL" altLang="en-US" sz="2400" b="0" dirty="0"/>
              <a:t>Very high security systems require a painstaking and costly design preventing (some) covert channels</a:t>
            </a:r>
          </a:p>
          <a:p>
            <a:pPr lvl="1" eaLnBrk="1" hangingPunct="1">
              <a:buSzTx/>
              <a:buFont typeface="Wingdings" panose="05000000000000000000" pitchFamily="2" charset="2"/>
              <a:buChar char="§"/>
            </a:pPr>
            <a:r>
              <a:rPr lang="pl-PL" altLang="en-US" sz="2400" b="0" dirty="0"/>
              <a:t>Analysis must be performed periodically as high security system evolves</a:t>
            </a:r>
          </a:p>
          <a:p>
            <a:pPr eaLnBrk="1" hangingPunct="1">
              <a:buSzTx/>
              <a:buFont typeface="Wingdings" panose="05000000000000000000" pitchFamily="2" charset="2"/>
              <a:buChar char="§"/>
            </a:pPr>
            <a:endParaRPr lang="pl-PL" altLang="en-US" sz="2400" b="0" dirty="0"/>
          </a:p>
        </p:txBody>
      </p:sp>
    </p:spTree>
    <p:extLst>
      <p:ext uri="{BB962C8B-B14F-4D97-AF65-F5344CB8AC3E}">
        <p14:creationId xmlns:p14="http://schemas.microsoft.com/office/powerpoint/2010/main" val="3535929969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5437FF"/>
      </a:hlink>
      <a:folHlink>
        <a:srgbClr val="B2B2B2"/>
      </a:folHlink>
    </a:clrScheme>
    <a:fontScheme name="Default Design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856</Words>
  <Application>Microsoft Office PowerPoint</Application>
  <PresentationFormat>On-screen Show (4:3)</PresentationFormat>
  <Paragraphs>206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ＭＳ Ｐゴシック</vt:lpstr>
      <vt:lpstr>Times-Roman</vt:lpstr>
      <vt:lpstr>Comic Sans MS</vt:lpstr>
      <vt:lpstr>Symbol</vt:lpstr>
      <vt:lpstr>Tahoma</vt:lpstr>
      <vt:lpstr>Times</vt:lpstr>
      <vt:lpstr>Times New Roman</vt:lpstr>
      <vt:lpstr>Wingdings</vt:lpstr>
      <vt:lpstr>Default Design</vt:lpstr>
      <vt:lpstr>Covert Channel</vt:lpstr>
      <vt:lpstr>Covert Channel</vt:lpstr>
      <vt:lpstr>Applications,  or Why Use Covert Channels</vt:lpstr>
      <vt:lpstr>What Is the Importance?</vt:lpstr>
      <vt:lpstr>Covert Channel Example</vt:lpstr>
      <vt:lpstr>Covert Channel Example</vt:lpstr>
      <vt:lpstr>Covert Channel</vt:lpstr>
      <vt:lpstr>Covert Channel</vt:lpstr>
      <vt:lpstr>Covert Channel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Access Control</dc:title>
  <dc:subject/>
  <dc:creator>Mark Stamp</dc:creator>
  <cp:keywords/>
  <dc:description/>
  <cp:lastModifiedBy>Meilin</cp:lastModifiedBy>
  <cp:revision>1166</cp:revision>
  <cp:lastPrinted>2015-03-25T14:36:33Z</cp:lastPrinted>
  <dcterms:created xsi:type="dcterms:W3CDTF">2015-10-20T13:38:49Z</dcterms:created>
  <dcterms:modified xsi:type="dcterms:W3CDTF">2024-10-25T19:00:19Z</dcterms:modified>
  <cp:category/>
</cp:coreProperties>
</file>