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handoutMasterIdLst>
    <p:handoutMasterId r:id="rId85"/>
  </p:handoutMasterIdLst>
  <p:sldIdLst>
    <p:sldId id="308" r:id="rId2"/>
    <p:sldId id="359" r:id="rId3"/>
    <p:sldId id="363" r:id="rId4"/>
    <p:sldId id="364" r:id="rId5"/>
    <p:sldId id="405" r:id="rId6"/>
    <p:sldId id="406" r:id="rId7"/>
    <p:sldId id="421" r:id="rId8"/>
    <p:sldId id="365" r:id="rId9"/>
    <p:sldId id="366" r:id="rId10"/>
    <p:sldId id="367" r:id="rId11"/>
    <p:sldId id="368" r:id="rId12"/>
    <p:sldId id="407" r:id="rId13"/>
    <p:sldId id="369" r:id="rId14"/>
    <p:sldId id="411" r:id="rId15"/>
    <p:sldId id="370" r:id="rId16"/>
    <p:sldId id="371" r:id="rId17"/>
    <p:sldId id="372" r:id="rId18"/>
    <p:sldId id="373" r:id="rId19"/>
    <p:sldId id="374" r:id="rId20"/>
    <p:sldId id="344" r:id="rId21"/>
    <p:sldId id="345" r:id="rId22"/>
    <p:sldId id="346" r:id="rId23"/>
    <p:sldId id="347" r:id="rId24"/>
    <p:sldId id="377" r:id="rId25"/>
    <p:sldId id="378" r:id="rId26"/>
    <p:sldId id="379" r:id="rId27"/>
    <p:sldId id="380" r:id="rId28"/>
    <p:sldId id="381" r:id="rId29"/>
    <p:sldId id="382" r:id="rId30"/>
    <p:sldId id="394" r:id="rId31"/>
    <p:sldId id="383" r:id="rId32"/>
    <p:sldId id="384" r:id="rId33"/>
    <p:sldId id="385" r:id="rId34"/>
    <p:sldId id="386" r:id="rId35"/>
    <p:sldId id="387" r:id="rId36"/>
    <p:sldId id="388" r:id="rId37"/>
    <p:sldId id="389" r:id="rId38"/>
    <p:sldId id="412" r:id="rId39"/>
    <p:sldId id="390" r:id="rId40"/>
    <p:sldId id="375" r:id="rId41"/>
    <p:sldId id="391" r:id="rId42"/>
    <p:sldId id="392" r:id="rId43"/>
    <p:sldId id="393" r:id="rId44"/>
    <p:sldId id="420" r:id="rId45"/>
    <p:sldId id="331" r:id="rId46"/>
    <p:sldId id="336" r:id="rId47"/>
    <p:sldId id="408" r:id="rId48"/>
    <p:sldId id="410" r:id="rId49"/>
    <p:sldId id="409" r:id="rId50"/>
    <p:sldId id="337" r:id="rId51"/>
    <p:sldId id="338" r:id="rId52"/>
    <p:sldId id="339" r:id="rId53"/>
    <p:sldId id="340" r:id="rId54"/>
    <p:sldId id="341" r:id="rId55"/>
    <p:sldId id="358" r:id="rId56"/>
    <p:sldId id="342" r:id="rId57"/>
    <p:sldId id="343" r:id="rId58"/>
    <p:sldId id="395" r:id="rId59"/>
    <p:sldId id="360" r:id="rId60"/>
    <p:sldId id="361" r:id="rId61"/>
    <p:sldId id="396" r:id="rId62"/>
    <p:sldId id="397" r:id="rId63"/>
    <p:sldId id="398" r:id="rId64"/>
    <p:sldId id="399" r:id="rId65"/>
    <p:sldId id="400" r:id="rId66"/>
    <p:sldId id="401" r:id="rId67"/>
    <p:sldId id="402" r:id="rId68"/>
    <p:sldId id="348" r:id="rId69"/>
    <p:sldId id="349" r:id="rId70"/>
    <p:sldId id="403" r:id="rId71"/>
    <p:sldId id="351" r:id="rId72"/>
    <p:sldId id="352" r:id="rId73"/>
    <p:sldId id="353" r:id="rId74"/>
    <p:sldId id="354" r:id="rId75"/>
    <p:sldId id="416" r:id="rId76"/>
    <p:sldId id="413" r:id="rId77"/>
    <p:sldId id="419" r:id="rId78"/>
    <p:sldId id="418" r:id="rId79"/>
    <p:sldId id="414" r:id="rId80"/>
    <p:sldId id="415" r:id="rId81"/>
    <p:sldId id="417" r:id="rId82"/>
    <p:sldId id="355" r:id="rId83"/>
  </p:sldIdLst>
  <p:sldSz cx="9144000" cy="6858000" type="screen4x3"/>
  <p:notesSz cx="6858000" cy="9296400"/>
  <p:custDataLst>
    <p:tags r:id="rId86"/>
  </p:custDataLst>
  <p:defaultTextStyle>
    <a:defPPr>
      <a:defRPr lang="en-US"/>
    </a:defPPr>
    <a:lvl1pPr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1pPr>
    <a:lvl2pPr marL="4572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2pPr>
    <a:lvl3pPr marL="9144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3pPr>
    <a:lvl4pPr marL="13716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4pPr>
    <a:lvl5pPr marL="18288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4735" autoAdjust="0"/>
    <p:restoredTop sz="69863" autoAdjust="0"/>
  </p:normalViewPr>
  <p:slideViewPr>
    <p:cSldViewPr>
      <p:cViewPr varScale="1">
        <p:scale>
          <a:sx n="60" d="100"/>
          <a:sy n="60" d="100"/>
        </p:scale>
        <p:origin x="2563"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0D55BE43-3095-A5C8-C901-7099527F64B7}"/>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l" defTabSz="925513">
              <a:spcBef>
                <a:spcPct val="0"/>
              </a:spcBef>
              <a:defRPr sz="1200"/>
            </a:lvl1pPr>
          </a:lstStyle>
          <a:p>
            <a:pPr>
              <a:defRPr/>
            </a:pPr>
            <a:endParaRPr lang="en-US" altLang="zh-CN"/>
          </a:p>
        </p:txBody>
      </p:sp>
      <p:sp>
        <p:nvSpPr>
          <p:cNvPr id="286723" name="Rectangle 3">
            <a:extLst>
              <a:ext uri="{FF2B5EF4-FFF2-40B4-BE49-F238E27FC236}">
                <a16:creationId xmlns:a16="http://schemas.microsoft.com/office/drawing/2014/main" id="{23585146-7F02-8A00-0DF2-EF3E7974E8AF}"/>
              </a:ext>
            </a:extLst>
          </p:cNvPr>
          <p:cNvSpPr>
            <a:spLocks noGrp="1" noChangeArrowheads="1"/>
          </p:cNvSpPr>
          <p:nvPr>
            <p:ph type="dt" sz="quarter"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r" defTabSz="925513">
              <a:spcBef>
                <a:spcPct val="0"/>
              </a:spcBef>
              <a:defRPr sz="1200"/>
            </a:lvl1pPr>
          </a:lstStyle>
          <a:p>
            <a:pPr>
              <a:defRPr/>
            </a:pPr>
            <a:endParaRPr lang="en-US" altLang="zh-CN"/>
          </a:p>
        </p:txBody>
      </p:sp>
      <p:sp>
        <p:nvSpPr>
          <p:cNvPr id="286724" name="Rectangle 4">
            <a:extLst>
              <a:ext uri="{FF2B5EF4-FFF2-40B4-BE49-F238E27FC236}">
                <a16:creationId xmlns:a16="http://schemas.microsoft.com/office/drawing/2014/main" id="{CAC71F3A-CF17-A5D5-7FA7-B0773672DEC0}"/>
              </a:ext>
            </a:extLst>
          </p:cNvPr>
          <p:cNvSpPr>
            <a:spLocks noGrp="1" noChangeArrowheads="1"/>
          </p:cNvSpPr>
          <p:nvPr>
            <p:ph type="ftr" sz="quarter" idx="2"/>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l" defTabSz="925513">
              <a:spcBef>
                <a:spcPct val="0"/>
              </a:spcBef>
              <a:defRPr sz="1200"/>
            </a:lvl1pPr>
          </a:lstStyle>
          <a:p>
            <a:pPr>
              <a:defRPr/>
            </a:pPr>
            <a:r>
              <a:rPr lang="zh-CN" altLang="en-US"/>
              <a:t>Zili Shao</a:t>
            </a:r>
            <a:endParaRPr lang="en-US" altLang="zh-CN"/>
          </a:p>
        </p:txBody>
      </p:sp>
      <p:sp>
        <p:nvSpPr>
          <p:cNvPr id="286725" name="Rectangle 5">
            <a:extLst>
              <a:ext uri="{FF2B5EF4-FFF2-40B4-BE49-F238E27FC236}">
                <a16:creationId xmlns:a16="http://schemas.microsoft.com/office/drawing/2014/main" id="{AD77CF0E-F95B-A828-0CFE-FA37C49A831A}"/>
              </a:ext>
            </a:extLst>
          </p:cNvPr>
          <p:cNvSpPr>
            <a:spLocks noGrp="1" noChangeArrowheads="1"/>
          </p:cNvSpPr>
          <p:nvPr>
            <p:ph type="sldNum" sz="quarter" idx="3"/>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r" defTabSz="925513">
              <a:spcBef>
                <a:spcPct val="0"/>
              </a:spcBef>
              <a:defRPr sz="1200"/>
            </a:lvl1pPr>
          </a:lstStyle>
          <a:p>
            <a:fld id="{10B93FAF-8ED3-3049-A27E-E70B410FAF5D}"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C0D5959-4C7A-C9F3-AE3D-E9B5AE56D1A0}"/>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l" defTabSz="925513">
              <a:spcBef>
                <a:spcPct val="0"/>
              </a:spcBef>
              <a:defRPr sz="1200"/>
            </a:lvl1pPr>
          </a:lstStyle>
          <a:p>
            <a:pPr>
              <a:defRPr/>
            </a:pPr>
            <a:endParaRPr lang="en-US" altLang="zh-CN"/>
          </a:p>
        </p:txBody>
      </p:sp>
      <p:sp>
        <p:nvSpPr>
          <p:cNvPr id="12291" name="Rectangle 3">
            <a:extLst>
              <a:ext uri="{FF2B5EF4-FFF2-40B4-BE49-F238E27FC236}">
                <a16:creationId xmlns:a16="http://schemas.microsoft.com/office/drawing/2014/main" id="{4A9294FF-C479-DA62-C57F-E597D350C53B}"/>
              </a:ext>
            </a:extLst>
          </p:cNvPr>
          <p:cNvSpPr>
            <a:spLocks noGrp="1" noChangeArrowheads="1"/>
          </p:cNvSpPr>
          <p:nvPr>
            <p:ph type="dt"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r" defTabSz="925513">
              <a:spcBef>
                <a:spcPct val="0"/>
              </a:spcBef>
              <a:defRPr sz="1200"/>
            </a:lvl1pPr>
          </a:lstStyle>
          <a:p>
            <a:pPr>
              <a:defRPr/>
            </a:pPr>
            <a:endParaRPr lang="en-US" altLang="zh-CN"/>
          </a:p>
        </p:txBody>
      </p:sp>
      <p:sp>
        <p:nvSpPr>
          <p:cNvPr id="52228" name="Rectangle 4">
            <a:extLst>
              <a:ext uri="{FF2B5EF4-FFF2-40B4-BE49-F238E27FC236}">
                <a16:creationId xmlns:a16="http://schemas.microsoft.com/office/drawing/2014/main" id="{8D1C08E9-45BA-5F6C-5B88-FCEF7CF9626D}"/>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3" name="Rectangle 5">
            <a:extLst>
              <a:ext uri="{FF2B5EF4-FFF2-40B4-BE49-F238E27FC236}">
                <a16:creationId xmlns:a16="http://schemas.microsoft.com/office/drawing/2014/main" id="{ABEC59FE-751B-11C4-750B-1FDF9E0B6BAF}"/>
              </a:ext>
            </a:extLst>
          </p:cNvPr>
          <p:cNvSpPr>
            <a:spLocks noGrp="1" noChangeArrowheads="1"/>
          </p:cNvSpPr>
          <p:nvPr>
            <p:ph type="body" sz="quarter" idx="3"/>
          </p:nvPr>
        </p:nvSpPr>
        <p:spPr bwMode="auto">
          <a:xfrm>
            <a:off x="914400" y="4416425"/>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2294" name="Rectangle 6">
            <a:extLst>
              <a:ext uri="{FF2B5EF4-FFF2-40B4-BE49-F238E27FC236}">
                <a16:creationId xmlns:a16="http://schemas.microsoft.com/office/drawing/2014/main" id="{7BFE6B3B-1338-8F22-CC20-74C1F9049703}"/>
              </a:ext>
            </a:extLst>
          </p:cNvPr>
          <p:cNvSpPr>
            <a:spLocks noGrp="1" noChangeArrowheads="1"/>
          </p:cNvSpPr>
          <p:nvPr>
            <p:ph type="ftr" sz="quarter" idx="4"/>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l" defTabSz="925513">
              <a:spcBef>
                <a:spcPct val="0"/>
              </a:spcBef>
              <a:defRPr sz="1200"/>
            </a:lvl1pPr>
          </a:lstStyle>
          <a:p>
            <a:pPr>
              <a:defRPr/>
            </a:pPr>
            <a:r>
              <a:rPr lang="zh-CN" altLang="en-US"/>
              <a:t>Zili Shao</a:t>
            </a:r>
            <a:endParaRPr lang="en-US" altLang="zh-CN"/>
          </a:p>
        </p:txBody>
      </p:sp>
      <p:sp>
        <p:nvSpPr>
          <p:cNvPr id="12295" name="Rectangle 7">
            <a:extLst>
              <a:ext uri="{FF2B5EF4-FFF2-40B4-BE49-F238E27FC236}">
                <a16:creationId xmlns:a16="http://schemas.microsoft.com/office/drawing/2014/main" id="{E7FAB52C-210D-29E0-E445-0C807328E9E0}"/>
              </a:ext>
            </a:extLst>
          </p:cNvPr>
          <p:cNvSpPr>
            <a:spLocks noGrp="1" noChangeArrowheads="1"/>
          </p:cNvSpPr>
          <p:nvPr>
            <p:ph type="sldNum" sz="quarter" idx="5"/>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r" defTabSz="925513">
              <a:spcBef>
                <a:spcPct val="0"/>
              </a:spcBef>
              <a:defRPr sz="1200"/>
            </a:lvl1pPr>
          </a:lstStyle>
          <a:p>
            <a:fld id="{FE0A8324-FEF0-BE4F-8B2C-CAF0FA2DB3FD}" type="slidenum">
              <a:rPr lang="zh-CN" altLang="en-US"/>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E3AFBA09-6984-574C-5546-660BB23BC086}"/>
              </a:ext>
            </a:extLst>
          </p:cNvPr>
          <p:cNvSpPr>
            <a:spLocks noGrp="1" noChangeArrowheads="1"/>
          </p:cNvSpPr>
          <p:nvPr>
            <p:ph type="ftr" sz="quarter" idx="4"/>
          </p:nvPr>
        </p:nvSpPr>
        <p:spPr>
          <a:noFill/>
        </p:spPr>
        <p:txBody>
          <a:bodyPr/>
          <a:lstStyle>
            <a:lvl1pPr algn="l" defTabSz="925513" eaLnBrk="0" hangingPunct="0">
              <a:spcBef>
                <a:spcPct val="30000"/>
              </a:spcBef>
              <a:defRPr sz="1200">
                <a:solidFill>
                  <a:schemeClr val="tx1"/>
                </a:solidFill>
                <a:latin typeface="Times New Roman" panose="02020603050405020304" pitchFamily="18" charset="0"/>
              </a:defRPr>
            </a:lvl1pPr>
            <a:lvl2pPr marL="742950" indent="-285750" algn="l" defTabSz="925513" eaLnBrk="0" hangingPunct="0">
              <a:spcBef>
                <a:spcPct val="30000"/>
              </a:spcBef>
              <a:defRPr sz="1200">
                <a:solidFill>
                  <a:schemeClr val="tx1"/>
                </a:solidFill>
                <a:latin typeface="Times New Roman" panose="02020603050405020304" pitchFamily="18" charset="0"/>
              </a:defRPr>
            </a:lvl2pPr>
            <a:lvl3pPr marL="1143000" indent="-228600" algn="l" defTabSz="925513" eaLnBrk="0" hangingPunct="0">
              <a:spcBef>
                <a:spcPct val="30000"/>
              </a:spcBef>
              <a:defRPr sz="1200">
                <a:solidFill>
                  <a:schemeClr val="tx1"/>
                </a:solidFill>
                <a:latin typeface="Times New Roman" panose="02020603050405020304" pitchFamily="18" charset="0"/>
              </a:defRPr>
            </a:lvl3pPr>
            <a:lvl4pPr marL="1600200" indent="-228600" algn="l" defTabSz="925513" eaLnBrk="0" hangingPunct="0">
              <a:spcBef>
                <a:spcPct val="30000"/>
              </a:spcBef>
              <a:defRPr sz="1200">
                <a:solidFill>
                  <a:schemeClr val="tx1"/>
                </a:solidFill>
                <a:latin typeface="Times New Roman" panose="02020603050405020304" pitchFamily="18" charset="0"/>
              </a:defRPr>
            </a:lvl4pPr>
            <a:lvl5pPr marL="2057400" indent="-228600" algn="l" defTabSz="925513" eaLnBrk="0" hangingPunct="0">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zh-CN" altLang="en-US"/>
              <a:t>Zili Shao</a:t>
            </a:r>
            <a:endParaRPr lang="en-US" altLang="zh-CN"/>
          </a:p>
        </p:txBody>
      </p:sp>
      <p:sp>
        <p:nvSpPr>
          <p:cNvPr id="53251" name="Rectangle 7">
            <a:extLst>
              <a:ext uri="{FF2B5EF4-FFF2-40B4-BE49-F238E27FC236}">
                <a16:creationId xmlns:a16="http://schemas.microsoft.com/office/drawing/2014/main" id="{E77F6557-12AE-52BF-15E2-2678E319351D}"/>
              </a:ext>
            </a:extLst>
          </p:cNvPr>
          <p:cNvSpPr>
            <a:spLocks noGrp="1" noChangeArrowheads="1"/>
          </p:cNvSpPr>
          <p:nvPr>
            <p:ph type="sldNum" sz="quarter" idx="5"/>
          </p:nvPr>
        </p:nvSpPr>
        <p:spPr>
          <a:noFill/>
        </p:spPr>
        <p:txBody>
          <a:bodyPr/>
          <a:lstStyle>
            <a:lvl1pPr algn="l" defTabSz="925513" eaLnBrk="0" hangingPunct="0">
              <a:spcBef>
                <a:spcPct val="30000"/>
              </a:spcBef>
              <a:defRPr sz="1200">
                <a:solidFill>
                  <a:schemeClr val="tx1"/>
                </a:solidFill>
                <a:latin typeface="Times New Roman" panose="02020603050405020304" pitchFamily="18" charset="0"/>
              </a:defRPr>
            </a:lvl1pPr>
            <a:lvl2pPr marL="742950" indent="-285750" algn="l" defTabSz="925513" eaLnBrk="0" hangingPunct="0">
              <a:spcBef>
                <a:spcPct val="30000"/>
              </a:spcBef>
              <a:defRPr sz="1200">
                <a:solidFill>
                  <a:schemeClr val="tx1"/>
                </a:solidFill>
                <a:latin typeface="Times New Roman" panose="02020603050405020304" pitchFamily="18" charset="0"/>
              </a:defRPr>
            </a:lvl2pPr>
            <a:lvl3pPr marL="1143000" indent="-228600" algn="l" defTabSz="925513" eaLnBrk="0" hangingPunct="0">
              <a:spcBef>
                <a:spcPct val="30000"/>
              </a:spcBef>
              <a:defRPr sz="1200">
                <a:solidFill>
                  <a:schemeClr val="tx1"/>
                </a:solidFill>
                <a:latin typeface="Times New Roman" panose="02020603050405020304" pitchFamily="18" charset="0"/>
              </a:defRPr>
            </a:lvl3pPr>
            <a:lvl4pPr marL="1600200" indent="-228600" algn="l" defTabSz="925513" eaLnBrk="0" hangingPunct="0">
              <a:spcBef>
                <a:spcPct val="30000"/>
              </a:spcBef>
              <a:defRPr sz="1200">
                <a:solidFill>
                  <a:schemeClr val="tx1"/>
                </a:solidFill>
                <a:latin typeface="Times New Roman" panose="02020603050405020304" pitchFamily="18" charset="0"/>
              </a:defRPr>
            </a:lvl4pPr>
            <a:lvl5pPr marL="2057400" indent="-228600" algn="l" defTabSz="925513" eaLnBrk="0" hangingPunct="0">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901B4F7D-DD96-8848-A587-58B6CD98FABE}" type="slidenum">
              <a:rPr lang="zh-CN" altLang="en-US"/>
              <a:pPr algn="r" eaLnBrk="1" hangingPunct="1">
                <a:spcBef>
                  <a:spcPct val="0"/>
                </a:spcBef>
              </a:pPr>
              <a:t>1</a:t>
            </a:fld>
            <a:endParaRPr lang="en-US" altLang="zh-CN"/>
          </a:p>
        </p:txBody>
      </p:sp>
      <p:sp>
        <p:nvSpPr>
          <p:cNvPr id="53252" name="Rectangle 2">
            <a:extLst>
              <a:ext uri="{FF2B5EF4-FFF2-40B4-BE49-F238E27FC236}">
                <a16:creationId xmlns:a16="http://schemas.microsoft.com/office/drawing/2014/main" id="{37FBC97E-71B8-4AB6-F821-03B65FF04096}"/>
              </a:ext>
            </a:extLst>
          </p:cNvPr>
          <p:cNvSpPr>
            <a:spLocks noGrp="1" noRot="1" noChangeAspect="1" noChangeArrowheads="1" noTextEdit="1"/>
          </p:cNvSpPr>
          <p:nvPr>
            <p:ph type="sldImg"/>
          </p:nvPr>
        </p:nvSpPr>
        <p:spPr>
          <a:ln/>
        </p:spPr>
      </p:sp>
      <p:sp>
        <p:nvSpPr>
          <p:cNvPr id="53253" name="Rectangle 3">
            <a:extLst>
              <a:ext uri="{FF2B5EF4-FFF2-40B4-BE49-F238E27FC236}">
                <a16:creationId xmlns:a16="http://schemas.microsoft.com/office/drawing/2014/main" id="{F9A892B2-6805-E939-5718-58159526CC2A}"/>
              </a:ext>
            </a:extLst>
          </p:cNvPr>
          <p:cNvSpPr>
            <a:spLocks noGrp="1" noChangeArrowheads="1"/>
          </p:cNvSpPr>
          <p:nvPr>
            <p:ph type="body" idx="1"/>
          </p:nvPr>
        </p:nvSpPr>
        <p:spPr>
          <a:xfrm>
            <a:off x="914400" y="4414838"/>
            <a:ext cx="5029200" cy="4184650"/>
          </a:xfrm>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C1D45129-1B1F-3FC0-C52A-C3C839FC3CC0}"/>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8A18A0D-940A-444C-AF05-C2050618B313}" type="slidenum">
              <a:rPr lang="en-AU" altLang="en-US" sz="1200"/>
              <a:pPr/>
              <a:t>2</a:t>
            </a:fld>
            <a:endParaRPr lang="en-AU" altLang="en-US" sz="1200"/>
          </a:p>
        </p:txBody>
      </p:sp>
      <p:sp>
        <p:nvSpPr>
          <p:cNvPr id="7171" name="Rectangle 2">
            <a:extLst>
              <a:ext uri="{FF2B5EF4-FFF2-40B4-BE49-F238E27FC236}">
                <a16:creationId xmlns:a16="http://schemas.microsoft.com/office/drawing/2014/main" id="{774D6A28-12B0-830C-5548-4E9A238E19D3}"/>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636AEFCD-9FA8-3635-C221-E40FFD91CDE6}"/>
              </a:ext>
            </a:extLst>
          </p:cNvPr>
          <p:cNvSpPr>
            <a:spLocks noGrp="1" noChangeArrowheads="1"/>
          </p:cNvSpPr>
          <p:nvPr>
            <p:ph type="body" idx="1"/>
          </p:nvPr>
        </p:nvSpPr>
        <p:spPr>
          <a:noFill/>
        </p:spPr>
        <p:txBody>
          <a:bodyPr/>
          <a:lstStyle/>
          <a:p>
            <a:pPr marL="228600" indent="-228600" eaLnBrk="1" hangingPunct="1"/>
            <a:r>
              <a:rPr lang="en-US" altLang="en-US" dirty="0">
                <a:latin typeface="Times" pitchFamily="2" charset="0"/>
              </a:rPr>
              <a:t>Now look at the process of how to best select and implement measures to effectively address an organization’s security requirements. This involves examining three fundamental questions:</a:t>
            </a:r>
          </a:p>
          <a:p>
            <a:pPr marL="685800" lvl="1" indent="-228600" eaLnBrk="1" hangingPunct="1">
              <a:buFont typeface="Times" pitchFamily="2" charset="0"/>
              <a:buAutoNum type="arabicPeriod"/>
            </a:pPr>
            <a:r>
              <a:rPr lang="en-US" altLang="en-US" dirty="0">
                <a:latin typeface="Times" pitchFamily="2" charset="0"/>
              </a:rPr>
              <a:t> What assets do we need to protect?</a:t>
            </a:r>
          </a:p>
          <a:p>
            <a:pPr marL="685800" lvl="1" indent="-228600" eaLnBrk="1" hangingPunct="1">
              <a:buFont typeface="Times" pitchFamily="2" charset="0"/>
              <a:buAutoNum type="arabicPeriod"/>
            </a:pPr>
            <a:r>
              <a:rPr lang="en-US" altLang="en-US" dirty="0">
                <a:latin typeface="Times" pitchFamily="2" charset="0"/>
              </a:rPr>
              <a:t>How are those assets threatened?</a:t>
            </a:r>
            <a:r>
              <a:rPr lang="en-US" altLang="en-US" b="1" dirty="0">
                <a:latin typeface="Times" pitchFamily="2" charset="0"/>
              </a:rPr>
              <a:t> </a:t>
            </a:r>
          </a:p>
          <a:p>
            <a:pPr marL="685800" lvl="1" indent="-228600" eaLnBrk="1" hangingPunct="1">
              <a:buFont typeface="Times" pitchFamily="2" charset="0"/>
              <a:buAutoNum type="arabicPeriod"/>
            </a:pPr>
            <a:r>
              <a:rPr lang="en-US" altLang="en-US" dirty="0">
                <a:latin typeface="Times" pitchFamily="2" charset="0"/>
              </a:rPr>
              <a:t>What can we do to counter those threats?</a:t>
            </a:r>
          </a:p>
          <a:p>
            <a:pPr marL="228600" indent="-228600" eaLnBrk="1" hangingPunct="1">
              <a:buFont typeface="Times" pitchFamily="2" charset="0"/>
              <a:buNone/>
            </a:pPr>
            <a:r>
              <a:rPr lang="en-US" altLang="en-US" dirty="0">
                <a:latin typeface="Times" pitchFamily="2" charset="0"/>
              </a:rPr>
              <a:t>IT security management is the formal process of answering these questions, ensuring that critical assets are sufficiently protected in a cost effective manner. More specifically, IT security management consists of firstly determining a clear view of an organization’s IT security objectives and general risk profile. Next an IT security risk assessment is needed for each asset in the organization that requires protection to answer the three key questions listed above. This provides the information necessary to decide what management, operational and technical controls are needed to reduce the risks identified to an acceptable level, eliminate them, or to provide mitigating controls. The process continues by selecting suitable controls, and then writing plans and procedures to ensure these necessary controls are effectively implemented. The whole process must be iterated, and the plans and procedures kept up-to-date, because of the rapid rate of change in both the technology and the risk environment. We discuss the latter part of this process in the next chapter.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ECD425E7-2A8A-6195-9E2B-96A452FBD7EE}"/>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99DA1AE6-AC3D-294C-B76C-2BE62233CECA}" type="slidenum">
              <a:rPr lang="en-AU" altLang="en-US" sz="1200"/>
              <a:pPr/>
              <a:t>3</a:t>
            </a:fld>
            <a:endParaRPr lang="en-AU" altLang="en-US" sz="1200"/>
          </a:p>
        </p:txBody>
      </p:sp>
      <p:sp>
        <p:nvSpPr>
          <p:cNvPr id="9219" name="Rectangle 2">
            <a:extLst>
              <a:ext uri="{FF2B5EF4-FFF2-40B4-BE49-F238E27FC236}">
                <a16:creationId xmlns:a16="http://schemas.microsoft.com/office/drawing/2014/main" id="{587C40E9-D564-A836-5617-3C782BB34048}"/>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CF223A65-5FE9-6051-E362-8601B8E78241}"/>
              </a:ext>
            </a:extLst>
          </p:cNvPr>
          <p:cNvSpPr>
            <a:spLocks noGrp="1" noChangeArrowheads="1"/>
          </p:cNvSpPr>
          <p:nvPr>
            <p:ph type="body" idx="1"/>
          </p:nvPr>
        </p:nvSpPr>
        <p:spPr>
          <a:noFill/>
        </p:spPr>
        <p:txBody>
          <a:bodyPr/>
          <a:lstStyle/>
          <a:p>
            <a:pPr eaLnBrk="1" hangingPunct="1"/>
            <a:r>
              <a:rPr lang="en-US" altLang="en-US">
                <a:latin typeface="Times" pitchFamily="2" charset="0"/>
              </a:rPr>
              <a:t>The discipline of IT security management has evolved considerably over the last few decades. [ISO13335] provides a conceptual framework for managing security. It defines </a:t>
            </a:r>
            <a:r>
              <a:rPr lang="en-US" altLang="en-US" b="1">
                <a:latin typeface="Times" pitchFamily="2" charset="0"/>
              </a:rPr>
              <a:t>IT Security Management</a:t>
            </a:r>
            <a:r>
              <a:rPr lang="en-US" altLang="en-US">
                <a:latin typeface="Times" pitchFamily="2" charset="0"/>
              </a:rPr>
              <a:t> as shown on this slide.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724913F-178D-0E43-1F37-14F6216555BB}"/>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0CB08FD-86F7-5D4F-BC09-D6B2E7AC8E9A}" type="slidenum">
              <a:rPr lang="en-AU" altLang="en-US" sz="1200"/>
              <a:pPr/>
              <a:t>4</a:t>
            </a:fld>
            <a:endParaRPr lang="en-AU" altLang="en-US" sz="1200"/>
          </a:p>
        </p:txBody>
      </p:sp>
      <p:sp>
        <p:nvSpPr>
          <p:cNvPr id="11267" name="Rectangle 2">
            <a:extLst>
              <a:ext uri="{FF2B5EF4-FFF2-40B4-BE49-F238E27FC236}">
                <a16:creationId xmlns:a16="http://schemas.microsoft.com/office/drawing/2014/main" id="{006EBF6E-B12D-2431-5353-B4D2B8ABED79}"/>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0DB1A72C-CD7D-BC2B-FF3F-45186FF12073}"/>
              </a:ext>
            </a:extLst>
          </p:cNvPr>
          <p:cNvSpPr>
            <a:spLocks noGrp="1" noChangeArrowheads="1"/>
          </p:cNvSpPr>
          <p:nvPr>
            <p:ph type="body" idx="1"/>
          </p:nvPr>
        </p:nvSpPr>
        <p:spPr>
          <a:noFill/>
        </p:spPr>
        <p:txBody>
          <a:bodyPr/>
          <a:lstStyle/>
          <a:p>
            <a:pPr eaLnBrk="1" hangingPunct="1"/>
            <a:r>
              <a:rPr lang="en-US" altLang="en-US" dirty="0">
                <a:latin typeface="Times" pitchFamily="2" charset="0"/>
              </a:rPr>
              <a:t>In the last decade a number of national and international standards have been published. These represent a consensus on the “best practice” in the field. The International Standards Organization (ISO) is currently revising and consolidating a number of these standards into the “ISO 27000 series”. Table 16.1 in the text details a number of existing and proposed standards associated with this family. In the US, NIST has produced a number of relevant standards, including [NIST02], [NIST05] and [NIST06]. With the growth of concerns about corporate governance following events such as the Enron collapse, and repeated incidences of the loss of personal information by government organizations, auditors for such organizations increasingly request adherence to formal standards such as these.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724913F-178D-0E43-1F37-14F6216555BB}"/>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0CB08FD-86F7-5D4F-BC09-D6B2E7AC8E9A}" type="slidenum">
              <a:rPr lang="en-AU" altLang="en-US" sz="1200"/>
              <a:pPr/>
              <a:t>5</a:t>
            </a:fld>
            <a:endParaRPr lang="en-AU" altLang="en-US" sz="1200"/>
          </a:p>
        </p:txBody>
      </p:sp>
      <p:sp>
        <p:nvSpPr>
          <p:cNvPr id="11267" name="Rectangle 2">
            <a:extLst>
              <a:ext uri="{FF2B5EF4-FFF2-40B4-BE49-F238E27FC236}">
                <a16:creationId xmlns:a16="http://schemas.microsoft.com/office/drawing/2014/main" id="{006EBF6E-B12D-2431-5353-B4D2B8ABED79}"/>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0DB1A72C-CD7D-BC2B-FF3F-45186FF12073}"/>
              </a:ext>
            </a:extLst>
          </p:cNvPr>
          <p:cNvSpPr>
            <a:spLocks noGrp="1" noChangeArrowheads="1"/>
          </p:cNvSpPr>
          <p:nvPr>
            <p:ph type="body" idx="1"/>
          </p:nvPr>
        </p:nvSpPr>
        <p:spPr>
          <a:noFill/>
        </p:spPr>
        <p:txBody>
          <a:bodyPr/>
          <a:lstStyle/>
          <a:p>
            <a:pPr eaLnBrk="1" hangingPunct="1"/>
            <a:r>
              <a:rPr lang="en-US" altLang="en-US">
                <a:latin typeface="Times" pitchFamily="2" charset="0"/>
              </a:rPr>
              <a:t>In the last decade a number of national and international standards have been published. These represent a consensus on the “best practice” in the field. The International Standards Organization (ISO) is currently revising and consolidating a number of these standards into the “ISO 27000 series”. Table 16.1 in the text details a number of existing and proposed standards associated with this family. In the US, NIST has produced a number of relevant standards, including [NIST02], [NIST05] and [NIST06]. With the growth of concerns about corporate governance following events such as the Enron collapse, and repeated incidences of the loss of personal information by government organizations, auditors for such organizations increasingly request adherence to formal standards such as these. </a:t>
            </a:r>
          </a:p>
        </p:txBody>
      </p:sp>
    </p:spTree>
    <p:extLst>
      <p:ext uri="{BB962C8B-B14F-4D97-AF65-F5344CB8AC3E}">
        <p14:creationId xmlns:p14="http://schemas.microsoft.com/office/powerpoint/2010/main" val="1095445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724913F-178D-0E43-1F37-14F6216555BB}"/>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0CB08FD-86F7-5D4F-BC09-D6B2E7AC8E9A}" type="slidenum">
              <a:rPr lang="en-AU" altLang="en-US" sz="1200"/>
              <a:pPr/>
              <a:t>6</a:t>
            </a:fld>
            <a:endParaRPr lang="en-AU" altLang="en-US" sz="1200"/>
          </a:p>
        </p:txBody>
      </p:sp>
      <p:sp>
        <p:nvSpPr>
          <p:cNvPr id="11267" name="Rectangle 2">
            <a:extLst>
              <a:ext uri="{FF2B5EF4-FFF2-40B4-BE49-F238E27FC236}">
                <a16:creationId xmlns:a16="http://schemas.microsoft.com/office/drawing/2014/main" id="{006EBF6E-B12D-2431-5353-B4D2B8ABED79}"/>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0DB1A72C-CD7D-BC2B-FF3F-45186FF12073}"/>
              </a:ext>
            </a:extLst>
          </p:cNvPr>
          <p:cNvSpPr>
            <a:spLocks noGrp="1" noChangeArrowheads="1"/>
          </p:cNvSpPr>
          <p:nvPr>
            <p:ph type="body" idx="1"/>
          </p:nvPr>
        </p:nvSpPr>
        <p:spPr>
          <a:noFill/>
        </p:spPr>
        <p:txBody>
          <a:bodyPr/>
          <a:lstStyle/>
          <a:p>
            <a:pPr eaLnBrk="1" hangingPunct="1"/>
            <a:r>
              <a:rPr lang="en-US" altLang="en-US">
                <a:latin typeface="Times" pitchFamily="2" charset="0"/>
              </a:rPr>
              <a:t>In the last decade a number of national and international standards have been published. These represent a consensus on the “best practice” in the field. The International Standards Organization (ISO) is currently revising and consolidating a number of these standards into the “ISO 27000 series”. Table 16.1 in the text details a number of existing and proposed standards associated with this family. In the US, NIST has produced a number of relevant standards, including [NIST02], [NIST05] and [NIST06]. With the growth of concerns about corporate governance following events such as the Enron collapse, and repeated incidences of the loss of personal information by government organizations, auditors for such organizations increasingly request adherence to formal standards such as these. </a:t>
            </a:r>
          </a:p>
        </p:txBody>
      </p:sp>
    </p:spTree>
    <p:extLst>
      <p:ext uri="{BB962C8B-B14F-4D97-AF65-F5344CB8AC3E}">
        <p14:creationId xmlns:p14="http://schemas.microsoft.com/office/powerpoint/2010/main" val="998327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A724913F-178D-0E43-1F37-14F6216555BB}"/>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0CB08FD-86F7-5D4F-BC09-D6B2E7AC8E9A}" type="slidenum">
              <a:rPr lang="en-AU" altLang="en-US" sz="1200"/>
              <a:pPr/>
              <a:t>7</a:t>
            </a:fld>
            <a:endParaRPr lang="en-AU" altLang="en-US" sz="1200"/>
          </a:p>
        </p:txBody>
      </p:sp>
      <p:sp>
        <p:nvSpPr>
          <p:cNvPr id="11267" name="Rectangle 2">
            <a:extLst>
              <a:ext uri="{FF2B5EF4-FFF2-40B4-BE49-F238E27FC236}">
                <a16:creationId xmlns:a16="http://schemas.microsoft.com/office/drawing/2014/main" id="{006EBF6E-B12D-2431-5353-B4D2B8ABED79}"/>
              </a:ext>
            </a:extLst>
          </p:cNvPr>
          <p:cNvSpPr>
            <a:spLocks noGrp="1" noRot="1" noChangeAspect="1" noChangeArrowheads="1" noTextEdit="1"/>
          </p:cNvSpPr>
          <p:nvPr>
            <p:ph type="sldImg"/>
          </p:nvPr>
        </p:nvSpPr>
        <p:spPr>
          <a:ln/>
        </p:spPr>
      </p:sp>
      <p:sp>
        <p:nvSpPr>
          <p:cNvPr id="11268" name="Rectangle 3">
            <a:extLst>
              <a:ext uri="{FF2B5EF4-FFF2-40B4-BE49-F238E27FC236}">
                <a16:creationId xmlns:a16="http://schemas.microsoft.com/office/drawing/2014/main" id="{0DB1A72C-CD7D-BC2B-FF3F-45186FF12073}"/>
              </a:ext>
            </a:extLst>
          </p:cNvPr>
          <p:cNvSpPr>
            <a:spLocks noGrp="1" noChangeArrowheads="1"/>
          </p:cNvSpPr>
          <p:nvPr>
            <p:ph type="body" idx="1"/>
          </p:nvPr>
        </p:nvSpPr>
        <p:spPr>
          <a:noFill/>
        </p:spPr>
        <p:txBody>
          <a:bodyPr/>
          <a:lstStyle/>
          <a:p>
            <a:pPr eaLnBrk="1" hangingPunct="1"/>
            <a:r>
              <a:rPr lang="en-US" altLang="en-US" dirty="0">
                <a:latin typeface="Times" pitchFamily="2" charset="0"/>
              </a:rPr>
              <a:t>In the last decade a number of national and international standards have been published. These represent a consensus on the “best practice” in the field. The International Standards Organization (ISO) is currently revising and consolidating a number of these standards into the “ISO 27000 series”. Table 16.1 in the text details a number of existing and proposed standards associated with this family. In the US, NIST has produced a number of relevant standards, including [NIST02], [NIST05] and [NIST06]. With the growth of concerns about corporate governance following events such as the Enron collapse, and repeated incidences of the loss of personal information by government organizations, auditors for such organizations increasingly request adherence to formal standards such as these. </a:t>
            </a:r>
          </a:p>
        </p:txBody>
      </p:sp>
    </p:spTree>
    <p:extLst>
      <p:ext uri="{BB962C8B-B14F-4D97-AF65-F5344CB8AC3E}">
        <p14:creationId xmlns:p14="http://schemas.microsoft.com/office/powerpoint/2010/main" val="146335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DD059ED7-5A6F-B680-21D7-871AFC3AAA3D}"/>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816F2FB1-4CB6-3C45-B324-7CCDC993B3CE}" type="slidenum">
              <a:rPr lang="en-AU" altLang="en-US" sz="1200"/>
              <a:pPr/>
              <a:t>8</a:t>
            </a:fld>
            <a:endParaRPr lang="en-AU" altLang="en-US" sz="1200"/>
          </a:p>
        </p:txBody>
      </p:sp>
      <p:sp>
        <p:nvSpPr>
          <p:cNvPr id="13315" name="Rectangle 2">
            <a:extLst>
              <a:ext uri="{FF2B5EF4-FFF2-40B4-BE49-F238E27FC236}">
                <a16:creationId xmlns:a16="http://schemas.microsoft.com/office/drawing/2014/main" id="{AC64F304-AEBE-BC38-A699-832CBA12CC72}"/>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DAE32B74-6E62-A5AB-5A88-D6D5CC923942}"/>
              </a:ext>
            </a:extLst>
          </p:cNvPr>
          <p:cNvSpPr>
            <a:spLocks noGrp="1" noChangeArrowheads="1"/>
          </p:cNvSpPr>
          <p:nvPr>
            <p:ph type="body" idx="1"/>
          </p:nvPr>
        </p:nvSpPr>
        <p:spPr>
          <a:noFill/>
        </p:spPr>
        <p:txBody>
          <a:bodyPr/>
          <a:lstStyle/>
          <a:p>
            <a:pPr eaLnBrk="1" hangingPunct="1"/>
            <a:r>
              <a:rPr lang="en-US" altLang="en-US"/>
              <a:t>The </a:t>
            </a:r>
            <a:r>
              <a:rPr lang="en-US" altLang="en-US">
                <a:latin typeface="Times" pitchFamily="2" charset="0"/>
              </a:rPr>
              <a:t>IT security management process is illustrated in Figure 16.1 of the text (based on [ISO13335]), with a particular focus on the internal details relating to the risk assessment process. It is important to emphasize that IT security management needs to be a key part of an organization’s overall management plan. Similarly, the IT security risk assessment process should be incorporated into the wider risk assessment of all the organization’s assets and business processes. Hence, unless senior management in an organization are aware of, and support, this process, it is unlikely that the desired security objectives will be met and contribute appropriately to the organization’s business outcomes. Note also that IT management is not something undertaken just once. Rather it is a cyclic process that must be repeated constantly in order to keep pace with the rapid changes both in IT technology and the risk environment.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2CD78903-9711-0E38-F82F-023062298F44}"/>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F66AA5E6-752E-ED43-B8D3-F54264926CCE}" type="slidenum">
              <a:rPr lang="en-AU" altLang="en-US" sz="1200"/>
              <a:pPr/>
              <a:t>9</a:t>
            </a:fld>
            <a:endParaRPr lang="en-AU" altLang="en-US" sz="1200"/>
          </a:p>
        </p:txBody>
      </p:sp>
      <p:sp>
        <p:nvSpPr>
          <p:cNvPr id="15363" name="Rectangle 2">
            <a:extLst>
              <a:ext uri="{FF2B5EF4-FFF2-40B4-BE49-F238E27FC236}">
                <a16:creationId xmlns:a16="http://schemas.microsoft.com/office/drawing/2014/main" id="{D4BE158B-7025-E4DA-03FB-DB400D914272}"/>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E088EB50-B1FD-26B4-1FE5-D373AD5736D9}"/>
              </a:ext>
            </a:extLst>
          </p:cNvPr>
          <p:cNvSpPr>
            <a:spLocks noGrp="1" noChangeArrowheads="1"/>
          </p:cNvSpPr>
          <p:nvPr>
            <p:ph type="body" idx="1"/>
          </p:nvPr>
        </p:nvSpPr>
        <p:spPr>
          <a:noFill/>
        </p:spPr>
        <p:txBody>
          <a:bodyPr/>
          <a:lstStyle/>
          <a:p>
            <a:pPr eaLnBrk="1" hangingPunct="1"/>
            <a:r>
              <a:rPr lang="en-US" altLang="en-US" dirty="0">
                <a:latin typeface="Times" pitchFamily="2" charset="0"/>
              </a:rPr>
              <a:t>The iterative nature of this process is a key focus of [ISO27001], and is illustrated in Figure 16.2 (from [ISO27001]) in the text. This standard details a model process for managing information security that comprises the following steps:</a:t>
            </a:r>
          </a:p>
          <a:p>
            <a:pPr eaLnBrk="1" hangingPunct="1">
              <a:buFontTx/>
              <a:buChar char="•"/>
            </a:pPr>
            <a:r>
              <a:rPr lang="en-US" altLang="en-US" b="1" dirty="0">
                <a:latin typeface="Times" pitchFamily="2" charset="0"/>
              </a:rPr>
              <a:t>Plan</a:t>
            </a:r>
            <a:r>
              <a:rPr lang="en-US" altLang="en-US" dirty="0">
                <a:latin typeface="Times" pitchFamily="2" charset="0"/>
              </a:rPr>
              <a:t> - establish security policy, objectives, processes and procedures relevant to managing risk and improving information security to deliver results in accordance with an organization’s overall policies and objectives.</a:t>
            </a:r>
          </a:p>
          <a:p>
            <a:pPr eaLnBrk="1" hangingPunct="1">
              <a:buFontTx/>
              <a:buChar char="•"/>
            </a:pPr>
            <a:r>
              <a:rPr lang="en-US" altLang="en-US" b="1" dirty="0">
                <a:latin typeface="Times" pitchFamily="2" charset="0"/>
              </a:rPr>
              <a:t>Do</a:t>
            </a:r>
            <a:r>
              <a:rPr lang="en-US" altLang="en-US" dirty="0">
                <a:latin typeface="Times" pitchFamily="2" charset="0"/>
              </a:rPr>
              <a:t> - implement and operate the security policy, controls, processes and procedures.</a:t>
            </a:r>
          </a:p>
          <a:p>
            <a:pPr eaLnBrk="1" hangingPunct="1">
              <a:buFontTx/>
              <a:buChar char="•"/>
            </a:pPr>
            <a:r>
              <a:rPr lang="en-US" altLang="en-US" b="1" dirty="0">
                <a:latin typeface="Times" pitchFamily="2" charset="0"/>
              </a:rPr>
              <a:t>Check</a:t>
            </a:r>
            <a:r>
              <a:rPr lang="en-US" altLang="en-US" dirty="0">
                <a:latin typeface="Times" pitchFamily="2" charset="0"/>
              </a:rPr>
              <a:t> - assess and, where applicable, measure process performance against security policy, objectives and practical experience and report the results to management for review.</a:t>
            </a:r>
          </a:p>
          <a:p>
            <a:pPr eaLnBrk="1" hangingPunct="1">
              <a:buFontTx/>
              <a:buChar char="•"/>
            </a:pPr>
            <a:r>
              <a:rPr lang="en-US" altLang="en-US" b="1" dirty="0">
                <a:latin typeface="Times" pitchFamily="2" charset="0"/>
              </a:rPr>
              <a:t>Act</a:t>
            </a:r>
            <a:r>
              <a:rPr lang="en-US" altLang="en-US" dirty="0">
                <a:latin typeface="Times" pitchFamily="2" charset="0"/>
              </a:rPr>
              <a:t> - take corrective and preventive actions, based on the results of the internal security audit and management review or other relevant information, to achieve continual improvement of the security management process.</a:t>
            </a:r>
          </a:p>
          <a:p>
            <a:pPr eaLnBrk="1" hangingPunct="1"/>
            <a:r>
              <a:rPr lang="en-US" altLang="en-US" dirty="0">
                <a:latin typeface="Times" pitchFamily="2" charset="0"/>
              </a:rPr>
              <a:t>Compare this figure with that on the previous slide. The development of the organization’s IT security objectives, strategies and policies, the risk assessment, and the development of an IT security plan all clearly constitute the “plan” stage of this process. The implementation aspects constitute the “do” stage. The follow up forms the “check” stage. Lastly, the feedback of details from the follow up aspects to all earlier stages in the process comprises the “act” stage of this model. The outcome of this process should be that the security needs of the interested parties are managed appropriately.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17A70388-0DA9-F1CF-C50F-6B9C2D05FE57}"/>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BF5712C3-59B8-9C4B-A5B0-5D0B941CADB3}" type="slidenum">
              <a:rPr lang="en-AU" altLang="en-US" sz="1200"/>
              <a:pPr/>
              <a:t>10</a:t>
            </a:fld>
            <a:endParaRPr lang="en-AU" altLang="en-US" sz="1200"/>
          </a:p>
        </p:txBody>
      </p:sp>
      <p:sp>
        <p:nvSpPr>
          <p:cNvPr id="17411" name="Rectangle 2">
            <a:extLst>
              <a:ext uri="{FF2B5EF4-FFF2-40B4-BE49-F238E27FC236}">
                <a16:creationId xmlns:a16="http://schemas.microsoft.com/office/drawing/2014/main" id="{3DCAA3E9-5C28-7DAD-974A-D5BA77C18116}"/>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46DE3F29-35C8-CEF8-7B3A-619C8A73A69C}"/>
              </a:ext>
            </a:extLst>
          </p:cNvPr>
          <p:cNvSpPr>
            <a:spLocks noGrp="1" noChangeArrowheads="1"/>
          </p:cNvSpPr>
          <p:nvPr>
            <p:ph type="body" idx="1"/>
          </p:nvPr>
        </p:nvSpPr>
        <p:spPr>
          <a:noFill/>
        </p:spPr>
        <p:txBody>
          <a:bodyPr/>
          <a:lstStyle/>
          <a:p>
            <a:pPr eaLnBrk="1" hangingPunct="1"/>
            <a:r>
              <a:rPr lang="en-US" altLang="en-US">
                <a:latin typeface="Times" pitchFamily="2" charset="0"/>
              </a:rPr>
              <a:t>The initial step in the IT security management process comprises an examination of the organization’s IT security objectives, strategies and policies, in the context of the organization’s general risk profile. Organizational security objectives identify what IT security outcomes should be achieved. They need to address individual rights, legal requirements and standards imposed on the organization, in support of the overall organizational objectives. Organizational security strategies identify how these objectives can be met. Organizational security policies identify what needs to be done. These objectives, strategies and policies need to be maintained and regularly updated based on the results of periodic security reviews, to reflect the constantly changing technological and risk environments. To help identify these organizational security objectives, the role and importance of the IT systems in the organization is examined. The value of these systems in assisting the organization achieve its goals is reviewed, not just the direct costs of these systems.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47E53C05-EE6D-F208-9106-F3AEACFA12A8}"/>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A3D3B7EE-D372-1A43-B599-4A8EEF17BB6F}" type="slidenum">
              <a:rPr lang="en-AU" altLang="en-US" sz="1200"/>
              <a:pPr/>
              <a:t>11</a:t>
            </a:fld>
            <a:endParaRPr lang="en-AU" altLang="en-US" sz="1200"/>
          </a:p>
        </p:txBody>
      </p:sp>
      <p:sp>
        <p:nvSpPr>
          <p:cNvPr id="19459" name="Rectangle 2">
            <a:extLst>
              <a:ext uri="{FF2B5EF4-FFF2-40B4-BE49-F238E27FC236}">
                <a16:creationId xmlns:a16="http://schemas.microsoft.com/office/drawing/2014/main" id="{E385FF65-D79C-872B-A7DE-779478C22E43}"/>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92590E40-F8E8-4EF4-331D-D960A556A110}"/>
              </a:ext>
            </a:extLst>
          </p:cNvPr>
          <p:cNvSpPr>
            <a:spLocks noGrp="1" noChangeArrowheads="1"/>
          </p:cNvSpPr>
          <p:nvPr>
            <p:ph type="body" idx="1"/>
          </p:nvPr>
        </p:nvSpPr>
        <p:spPr>
          <a:xfrm>
            <a:off x="685800" y="4343400"/>
            <a:ext cx="5486400" cy="4572000"/>
          </a:xfrm>
          <a:noFill/>
        </p:spPr>
        <p:txBody>
          <a:bodyPr/>
          <a:lstStyle/>
          <a:p>
            <a:pPr eaLnBrk="1" hangingPunct="1"/>
            <a:r>
              <a:rPr lang="en-US" altLang="en-US">
                <a:latin typeface="Times" pitchFamily="2" charset="0"/>
              </a:rPr>
              <a:t>The organizational security policy describes what the objectives and strategies are, and the process used to achieve them. The intent of the policy is to provide a clear overview of how an organization’s IT infrastructure supports its overall business objectives in general, and more specifically what security requirements must provided in order to do this most effectively. The organizational or corporate security policy may be either a single large document, or more commonly a set of related documents. This policy typically needs to address at least the following topics:</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the scope and purpose of the policy</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the relationship of the security objectives to the organization’s legal and regulatory obligations, and its business objectives</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IT security requirements in terms of confidentiality, integrity, availability, accountability, authenticity and reliability, with regard to views of asset owners</a:t>
            </a:r>
          </a:p>
          <a:p>
            <a:pPr eaLnBrk="1" hangingPunct="1">
              <a:buFont typeface="Symbol" pitchFamily="2" charset="2"/>
              <a:buChar char="·"/>
            </a:pPr>
            <a:r>
              <a:rPr lang="en-US" altLang="en-US">
                <a:latin typeface="Times" pitchFamily="2" charset="0"/>
              </a:rPr>
              <a:t>the assignment of responsibilities relating to the management of IT security </a:t>
            </a:r>
          </a:p>
          <a:p>
            <a:pPr eaLnBrk="1" hangingPunct="1">
              <a:buFont typeface="Symbol" pitchFamily="2" charset="2"/>
              <a:buChar char="·"/>
            </a:pPr>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the risk management approach adopted by the organization</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how security awareness and training is to be handled</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general personnel issues, especially for those in positions of trust, and any legal sanctions that may be imposed on staff, and the conditions when apply</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integration of security into systems development and procurement</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definition of the information classification scheme used across the organization</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contingency and business continuity planning,</a:t>
            </a:r>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incident detection and handling</a:t>
            </a:r>
          </a:p>
          <a:p>
            <a:pPr eaLnBrk="1" hangingPunct="1"/>
            <a:r>
              <a:rPr lang="en-US" altLang="en-US">
                <a:latin typeface="Symbol" pitchFamily="2" charset="2"/>
                <a:cs typeface="Times New Roman" panose="02020603050405020304" pitchFamily="18" charset="0"/>
                <a:sym typeface="Symbol" pitchFamily="2" charset="2"/>
              </a:rPr>
              <a:t> </a:t>
            </a:r>
            <a:r>
              <a:rPr lang="en-US" altLang="en-US">
                <a:latin typeface="Times" pitchFamily="2" charset="0"/>
              </a:rPr>
              <a:t>how and when it is reviewed and method for controlling changes to it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47E53C05-EE6D-F208-9106-F3AEACFA12A8}"/>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A3D3B7EE-D372-1A43-B599-4A8EEF17BB6F}" type="slidenum">
              <a:rPr lang="en-AU" altLang="en-US" sz="1200"/>
              <a:pPr/>
              <a:t>12</a:t>
            </a:fld>
            <a:endParaRPr lang="en-AU" altLang="en-US" sz="1200"/>
          </a:p>
        </p:txBody>
      </p:sp>
      <p:sp>
        <p:nvSpPr>
          <p:cNvPr id="19459" name="Rectangle 2">
            <a:extLst>
              <a:ext uri="{FF2B5EF4-FFF2-40B4-BE49-F238E27FC236}">
                <a16:creationId xmlns:a16="http://schemas.microsoft.com/office/drawing/2014/main" id="{E385FF65-D79C-872B-A7DE-779478C22E43}"/>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92590E40-F8E8-4EF4-331D-D960A556A110}"/>
              </a:ext>
            </a:extLst>
          </p:cNvPr>
          <p:cNvSpPr>
            <a:spLocks noGrp="1" noChangeArrowheads="1"/>
          </p:cNvSpPr>
          <p:nvPr>
            <p:ph type="body" idx="1"/>
          </p:nvPr>
        </p:nvSpPr>
        <p:spPr>
          <a:xfrm>
            <a:off x="685800" y="4343400"/>
            <a:ext cx="5486400" cy="4572000"/>
          </a:xfrm>
          <a:noFill/>
        </p:spPr>
        <p:txBody>
          <a:bodyPr/>
          <a:lstStyle/>
          <a:p>
            <a:pPr eaLnBrk="1" hangingPunct="1"/>
            <a:r>
              <a:rPr lang="en-US" altLang="en-US" dirty="0">
                <a:latin typeface="Times" pitchFamily="2" charset="0"/>
              </a:rPr>
              <a:t>Security Policies are usually within an organization</a:t>
            </a:r>
          </a:p>
          <a:p>
            <a:pPr eaLnBrk="1" hangingPunct="1"/>
            <a:r>
              <a:rPr lang="en-US" altLang="en-US" dirty="0">
                <a:latin typeface="Times" pitchFamily="2" charset="0"/>
              </a:rPr>
              <a:t>Security Standards are beyond an organization.</a:t>
            </a:r>
          </a:p>
        </p:txBody>
      </p:sp>
    </p:spTree>
    <p:extLst>
      <p:ext uri="{BB962C8B-B14F-4D97-AF65-F5344CB8AC3E}">
        <p14:creationId xmlns:p14="http://schemas.microsoft.com/office/powerpoint/2010/main" val="2814584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2033EE17-2263-5E80-6948-FB1E59B739A6}"/>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4782273-571C-A044-811B-008CD2908663}" type="slidenum">
              <a:rPr lang="en-AU" altLang="en-US" sz="1200"/>
              <a:pPr/>
              <a:t>13</a:t>
            </a:fld>
            <a:endParaRPr lang="en-AU" altLang="en-US" sz="1200"/>
          </a:p>
        </p:txBody>
      </p:sp>
      <p:sp>
        <p:nvSpPr>
          <p:cNvPr id="21507" name="Rectangle 2">
            <a:extLst>
              <a:ext uri="{FF2B5EF4-FFF2-40B4-BE49-F238E27FC236}">
                <a16:creationId xmlns:a16="http://schemas.microsoft.com/office/drawing/2014/main" id="{8EC0ECCD-97D7-EDD0-F1FC-8B6EA4B7332C}"/>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E4DBA8E6-7C17-FA8D-1997-F259988B73C9}"/>
              </a:ext>
            </a:extLst>
          </p:cNvPr>
          <p:cNvSpPr>
            <a:spLocks noGrp="1" noChangeArrowheads="1"/>
          </p:cNvSpPr>
          <p:nvPr>
            <p:ph type="body" idx="1"/>
          </p:nvPr>
        </p:nvSpPr>
        <p:spPr>
          <a:noFill/>
        </p:spPr>
        <p:txBody>
          <a:bodyPr/>
          <a:lstStyle/>
          <a:p>
            <a:pPr eaLnBrk="1" hangingPunct="1"/>
            <a:r>
              <a:rPr lang="en-US" altLang="en-US" dirty="0">
                <a:latin typeface="Times" pitchFamily="2" charset="0"/>
              </a:rPr>
              <a:t>It is critical that the IT security policy has full approval and buy-in by senior management. Without this, experience shows that it is unlikely sufficient resources or emphasis will be given to meeting the identified objectives and achieving a suitable security outcome. With the clear, visible support of senior management, it is much more likely that security will be taken seriously by all levels of personnel in the organization. This support is also evidence of concern and due diligence in the management of the organizations systems, and the monitoring of its risk profile. Because the responsibility for IT security is shared across the organization, there is a risk of inconsistent implementation of security, and a loss of central monitoring and control. The various standards strongly recommend that overall responsibility for the organization’s IT security be assigned to a single person, the Organizational IT security officer. This person should ideally have a background in IT security. Larger organizations will need separate IT project security officers associated with major projects and systems. Their role is to develop and maintain security policies for their systems, develop and implement security plans relating to these systems, handling the day-to-day monitoring of the implementation of these plans, and assisting with the investigation of incidents involving their systems.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CF06F5FC-9C50-9DBF-6085-C0697C10FC6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96146228-DA2C-7A4A-A53F-72BFE5A0D553}" type="slidenum">
              <a:rPr lang="en-AU" altLang="en-US" sz="1200"/>
              <a:pPr/>
              <a:t>14</a:t>
            </a:fld>
            <a:endParaRPr lang="en-AU" altLang="en-US" sz="1200"/>
          </a:p>
        </p:txBody>
      </p:sp>
      <p:sp>
        <p:nvSpPr>
          <p:cNvPr id="23555" name="Rectangle 2">
            <a:extLst>
              <a:ext uri="{FF2B5EF4-FFF2-40B4-BE49-F238E27FC236}">
                <a16:creationId xmlns:a16="http://schemas.microsoft.com/office/drawing/2014/main" id="{D2FD4975-49BF-5312-9314-1F97F83F92F1}"/>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E2761CE1-AEC7-7024-B252-EB46679588E8}"/>
              </a:ext>
            </a:extLst>
          </p:cNvPr>
          <p:cNvSpPr>
            <a:spLocks noGrp="1" noChangeArrowheads="1"/>
          </p:cNvSpPr>
          <p:nvPr>
            <p:ph type="body" idx="1"/>
          </p:nvPr>
        </p:nvSpPr>
        <p:spPr>
          <a:noFill/>
        </p:spPr>
        <p:txBody>
          <a:bodyPr/>
          <a:lstStyle/>
          <a:p>
            <a:pPr eaLnBrk="1" hangingPunct="1"/>
            <a:r>
              <a:rPr lang="en-US" altLang="en-US" dirty="0">
                <a:latin typeface="Times" pitchFamily="2" charset="0"/>
              </a:rPr>
              <a:t>The key risk management component of the IT security process is critical, since without it there is a significant chance that resources will not be deployed where most effective. The result will be that some risks are not addressed, leaving the organization vulnerable, whilst other safeguards may be deployed without sufficient justification, wasting time and money. Ideally every single organizational asset is examined, and every conceivable risk to it evaluated. If a risk is judged to be too great, then appropriate remedial controls are deployed to reduce the risk to an acceptable level. In practice this is clearly impossible. </a:t>
            </a:r>
          </a:p>
          <a:p>
            <a:pPr eaLnBrk="1" hangingPunct="1"/>
            <a:r>
              <a:rPr lang="en-US" altLang="en-US" dirty="0">
                <a:latin typeface="Times" pitchFamily="2" charset="0"/>
              </a:rPr>
              <a:t>Given the very wide range of organizations there clearly needs to be a range of alternatives available in performing this process. There are a range of formal standards which detail suitable IT security risk assessment processes, including [ISO13335] and [NIST02]. In particular, [ISO13335] recognizes four approaches to identifying and mitigating risks to an organization's IT infrastructure: baseline approach, informal approach, detailed risk analysis, combined approach.</a:t>
            </a:r>
          </a:p>
          <a:p>
            <a:pPr eaLnBrk="1" hangingPunct="1"/>
            <a:r>
              <a:rPr lang="en-US" altLang="en-US" dirty="0">
                <a:latin typeface="Times" pitchFamily="2" charset="0"/>
              </a:rPr>
              <a:t>The choice among these will be determined by the resources available to the organization, and from an initial high-level risk analysis that considers how valuable the IT systems are, and how critical to the organization’s business objectives. Legal and regulatory constraints may also require specific approaches. This information should be determined when developing the organization’s IT security objectives, strategies and policies. </a:t>
            </a:r>
          </a:p>
        </p:txBody>
      </p:sp>
    </p:spTree>
    <p:extLst>
      <p:ext uri="{BB962C8B-B14F-4D97-AF65-F5344CB8AC3E}">
        <p14:creationId xmlns:p14="http://schemas.microsoft.com/office/powerpoint/2010/main" val="20999277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CF06F5FC-9C50-9DBF-6085-C0697C10FC6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96146228-DA2C-7A4A-A53F-72BFE5A0D553}" type="slidenum">
              <a:rPr lang="en-AU" altLang="en-US" sz="1200"/>
              <a:pPr/>
              <a:t>15</a:t>
            </a:fld>
            <a:endParaRPr lang="en-AU" altLang="en-US" sz="1200"/>
          </a:p>
        </p:txBody>
      </p:sp>
      <p:sp>
        <p:nvSpPr>
          <p:cNvPr id="23555" name="Rectangle 2">
            <a:extLst>
              <a:ext uri="{FF2B5EF4-FFF2-40B4-BE49-F238E27FC236}">
                <a16:creationId xmlns:a16="http://schemas.microsoft.com/office/drawing/2014/main" id="{D2FD4975-49BF-5312-9314-1F97F83F92F1}"/>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E2761CE1-AEC7-7024-B252-EB46679588E8}"/>
              </a:ext>
            </a:extLst>
          </p:cNvPr>
          <p:cNvSpPr>
            <a:spLocks noGrp="1" noChangeArrowheads="1"/>
          </p:cNvSpPr>
          <p:nvPr>
            <p:ph type="body" idx="1"/>
          </p:nvPr>
        </p:nvSpPr>
        <p:spPr>
          <a:noFill/>
        </p:spPr>
        <p:txBody>
          <a:bodyPr/>
          <a:lstStyle/>
          <a:p>
            <a:pPr eaLnBrk="1" hangingPunct="1"/>
            <a:r>
              <a:rPr lang="en-US" altLang="en-US">
                <a:latin typeface="Times" pitchFamily="2" charset="0"/>
              </a:rPr>
              <a:t>The key risk management component of the IT security process is critical, since without it there is a significant chance that resources will not be deployed where most effective. The result will be that some risks are not addressed, leaving the organization vulnerable, whilst other safeguards may be deployed without sufficient justification, wasting time and money. Ideally every single organizational asset is examined, and every conceivable risk to it evaluated. If a risk is judged to be too great, then appropriate remedial controls are deployed to reduce the risk to an acceptable level. In practice this is clearly impossible. </a:t>
            </a:r>
          </a:p>
          <a:p>
            <a:pPr eaLnBrk="1" hangingPunct="1"/>
            <a:r>
              <a:rPr lang="en-US" altLang="en-US">
                <a:latin typeface="Times" pitchFamily="2" charset="0"/>
              </a:rPr>
              <a:t>Given the very wide range of organizations there clearly needs to be a range of alternatives available in performing this process. There are a range of formal standards which detail suitable IT security risk assessment processes, including [ISO13335] and [NIST02]. In particular, [ISO13335] recognizes four approaches to identifying and mitigating risks to an organization's IT infrastructure: baseline approach, informal approach, detailed risk analysis, combined approach.</a:t>
            </a:r>
          </a:p>
          <a:p>
            <a:pPr eaLnBrk="1" hangingPunct="1"/>
            <a:r>
              <a:rPr lang="en-US" altLang="en-US">
                <a:latin typeface="Times" pitchFamily="2" charset="0"/>
              </a:rPr>
              <a:t>The choice among these will be determined by the resources available to the organization, and from an initial high-level risk analysis that considers how valuable the IT systems are, and how critical to the organization’s business objectives. Legal and regulatory constraints may also require specific approaches. This information should be determined when developing the organization’s IT security objectives, strategies and policies.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EA5F1D7F-4AE6-D014-E62E-7426032F3A71}"/>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028809F6-C593-744F-AEBC-ACB2BD2E748F}" type="slidenum">
              <a:rPr lang="en-AU" altLang="en-US" sz="1200"/>
              <a:pPr/>
              <a:t>16</a:t>
            </a:fld>
            <a:endParaRPr lang="en-AU" altLang="en-US" sz="1200"/>
          </a:p>
        </p:txBody>
      </p:sp>
      <p:sp>
        <p:nvSpPr>
          <p:cNvPr id="25603" name="Rectangle 2">
            <a:extLst>
              <a:ext uri="{FF2B5EF4-FFF2-40B4-BE49-F238E27FC236}">
                <a16:creationId xmlns:a16="http://schemas.microsoft.com/office/drawing/2014/main" id="{FB2A9615-88E0-1BE0-305F-48D0AAA1161D}"/>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491DC79E-3803-9DE5-5964-12DF3FBB3716}"/>
              </a:ext>
            </a:extLst>
          </p:cNvPr>
          <p:cNvSpPr>
            <a:spLocks noGrp="1" noChangeArrowheads="1"/>
          </p:cNvSpPr>
          <p:nvPr>
            <p:ph type="body" idx="1"/>
          </p:nvPr>
        </p:nvSpPr>
        <p:spPr>
          <a:noFill/>
        </p:spPr>
        <p:txBody>
          <a:bodyPr/>
          <a:lstStyle/>
          <a:p>
            <a:pPr eaLnBrk="1" hangingPunct="1"/>
            <a:r>
              <a:rPr lang="en-US" altLang="en-US" dirty="0">
                <a:latin typeface="Times" pitchFamily="2" charset="0"/>
              </a:rPr>
              <a:t>The baseline approach to risk assessment aims to implement a basic general level of security controls on systems using baseline documents, codes of practice, and “industry best practice”. The advantages of this approach are that it doesn’t require the expenditure of additional resources in conducting a more formal risk assessment, and that the same measures can be replicated over a range of systems. The major disadvantage is that no special consideration is given to variations in the organization’s risk exposure based on who they are and how their systems are used. As well, there is a chance that the baseline level may be set either too high, leading to expensive or restrictive security measures that may not be warranted. Or it may be set too low, resulting in insufficient security and leaving the organization vulnerable. The goal of the baseline approach is to implement generally agreed safeguards to provide protection against the most common threats. These would include implementing “industry best practice” in configuring and deploying systems. As such, the baseline approach forms a good base from which further security measures can be determined. Suitable baseline recommendations and checklists documents may be obtained from a range of organizations (standards, CERTs, NSA, industry bodies). The use of the baseline approach alone would generally only be recommended for small organizations without the resources to implement more structured approaches. But it will at least ensure that a basic level of security is deployed, which is still not guaranteed by the default configurations of many systems.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90D003E4-7978-3560-3D14-FDD3091FE30C}"/>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C1997014-C014-B24A-82AE-96BDEDAA68DB}" type="slidenum">
              <a:rPr lang="en-AU" altLang="en-US" sz="1200"/>
              <a:pPr/>
              <a:t>17</a:t>
            </a:fld>
            <a:endParaRPr lang="en-AU" altLang="en-US" sz="1200"/>
          </a:p>
        </p:txBody>
      </p:sp>
      <p:sp>
        <p:nvSpPr>
          <p:cNvPr id="27651" name="Rectangle 2">
            <a:extLst>
              <a:ext uri="{FF2B5EF4-FFF2-40B4-BE49-F238E27FC236}">
                <a16:creationId xmlns:a16="http://schemas.microsoft.com/office/drawing/2014/main" id="{232D889E-32A6-325E-B87C-5563B066824C}"/>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6038182D-6884-BBB8-E1BF-3CEE1D2C3689}"/>
              </a:ext>
            </a:extLst>
          </p:cNvPr>
          <p:cNvSpPr>
            <a:spLocks noGrp="1" noChangeArrowheads="1"/>
          </p:cNvSpPr>
          <p:nvPr>
            <p:ph type="body" idx="1"/>
          </p:nvPr>
        </p:nvSpPr>
        <p:spPr>
          <a:noFill/>
        </p:spPr>
        <p:txBody>
          <a:bodyPr/>
          <a:lstStyle/>
          <a:p>
            <a:pPr eaLnBrk="1" hangingPunct="1"/>
            <a:r>
              <a:rPr lang="en-US" altLang="en-US" dirty="0">
                <a:latin typeface="Times" pitchFamily="2" charset="0"/>
              </a:rPr>
              <a:t>The informal approach involves conducting some form of informal, pragmatic risk analysis for the organization’s IT systems. This analysis does not involve the use of a formal, structured process, but rather exploits the knowledge and expertise of the individuals performing this analysis. These may either be internal experts if available, or alternatively external consultants. A major advantage of this approach is that the individuals performing the analysis require no additional skills. Hence an informal risk assessment can be performed relatively quickly and cheaply. In addition, since the organization’s systems are being examined, judgments can be made about specific vulnerabilities and risks to systems for the organization that the baseline approach would not address. Thus more accurate and targeted controls may be used than would be the case with the baseline approach. There are a number of disadvantages. Since a formal process is not used, there is a chance that some risks may not be considered appropriately, potentially leaving the organization vulnerable. As well, because the approach is informal, the results may be skewed by the views and prejudices of the individuals performing the analysis. It may also result in insufficient justification for suggested controls, leading to questions over whether the proposed expenditure is really justified. Lastly there may be inconsistent results over time as a result of differing expertise in those conducting the analysis. The use of the informal approach would generally be recommended for small to medium sized organizations where the IT systems are not necessarily essential to meeting the organization’s business objectives, and where additional expenditure on risk analysis cannot be justified.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8FB70F2C-74A3-3878-5887-ECB406102BF1}"/>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894BA035-836E-2A49-A2D7-FA5481A09326}" type="slidenum">
              <a:rPr lang="en-AU" altLang="en-US" sz="1200"/>
              <a:pPr/>
              <a:t>18</a:t>
            </a:fld>
            <a:endParaRPr lang="en-AU" altLang="en-US" sz="1200"/>
          </a:p>
        </p:txBody>
      </p:sp>
      <p:sp>
        <p:nvSpPr>
          <p:cNvPr id="29699" name="Rectangle 2">
            <a:extLst>
              <a:ext uri="{FF2B5EF4-FFF2-40B4-BE49-F238E27FC236}">
                <a16:creationId xmlns:a16="http://schemas.microsoft.com/office/drawing/2014/main" id="{4969E338-FA96-E4B9-970E-E1E42924E6B1}"/>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16D9270A-1554-B5A9-24A4-A88B39F98729}"/>
              </a:ext>
            </a:extLst>
          </p:cNvPr>
          <p:cNvSpPr>
            <a:spLocks noGrp="1" noChangeArrowheads="1"/>
          </p:cNvSpPr>
          <p:nvPr>
            <p:ph type="body" idx="1"/>
          </p:nvPr>
        </p:nvSpPr>
        <p:spPr>
          <a:noFill/>
        </p:spPr>
        <p:txBody>
          <a:bodyPr/>
          <a:lstStyle/>
          <a:p>
            <a:pPr eaLnBrk="1" hangingPunct="1"/>
            <a:r>
              <a:rPr lang="en-US" altLang="en-US" dirty="0">
                <a:latin typeface="Times" pitchFamily="2" charset="0"/>
              </a:rPr>
              <a:t>The third and most comprehensive approach is to conduct a detailed risk assessment of the organization’s IT systems, using a formal structured process. This provides the greatest degree of assurance that all significant risks are identified and their implications considered. This process involves a number of stages including identification of assets, identification of threats and vulnerabilities to those assets, determination of the likelihood of the risk occurring and the consequences to the organization should that occur, and hence the risk the organization is exposed to. With that information, appropriate controls can be chosen and implemented to address the risks identified. The advantages of this approach is that it provides the most detailed examination of the security risks of an organization’s IT systems, and produces strong justification for expenditure on the controls proposed. It also provides the best information for continuing to manage the security of these systems as they evolve and change. The major disadvantage is the significant cost in time, resources, and expertise needed to perform such an analysis. The time taken to perform this analysis may also result in delays in providing suitable levels of protection for some systems. The details of this approach are discussed in the next section. The use of a formal, detailed risk analysis is often a legal requirement for some government organizations, and businesses providing key services to them. This may also be the case for organizations providing key national infrastructure. For such organizations, there is no choice but to use this approach. It may also be the approach of choice for large organizations with IT systems critical to their business objectives, and with the resources available to perform this type of analysis.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60BA769A-52B1-354D-171A-FF67972047B3}"/>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FBBEF9CE-F636-A747-9C25-5A474C387607}" type="slidenum">
              <a:rPr lang="en-AU" altLang="en-US" sz="1200"/>
              <a:pPr/>
              <a:t>19</a:t>
            </a:fld>
            <a:endParaRPr lang="en-AU" altLang="en-US" sz="1200"/>
          </a:p>
        </p:txBody>
      </p:sp>
      <p:sp>
        <p:nvSpPr>
          <p:cNvPr id="31747" name="Rectangle 2">
            <a:extLst>
              <a:ext uri="{FF2B5EF4-FFF2-40B4-BE49-F238E27FC236}">
                <a16:creationId xmlns:a16="http://schemas.microsoft.com/office/drawing/2014/main" id="{1C1F0D4E-F461-9994-F67C-4E009DB4E606}"/>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45778C6F-1C48-638B-AAD3-1B2708F0577D}"/>
              </a:ext>
            </a:extLst>
          </p:cNvPr>
          <p:cNvSpPr>
            <a:spLocks noGrp="1" noChangeArrowheads="1"/>
          </p:cNvSpPr>
          <p:nvPr>
            <p:ph type="body" idx="1"/>
          </p:nvPr>
        </p:nvSpPr>
        <p:spPr>
          <a:noFill/>
        </p:spPr>
        <p:txBody>
          <a:bodyPr/>
          <a:lstStyle/>
          <a:p>
            <a:pPr eaLnBrk="1" hangingPunct="1"/>
            <a:r>
              <a:rPr lang="en-US" altLang="en-US" dirty="0">
                <a:latin typeface="Times" pitchFamily="2" charset="0"/>
              </a:rPr>
              <a:t>The last approach combines elements of the baseline, informal, and detailed risk analysis approaches. The aim is to provide reasonable levels of protection as quickly as possible, and to then examine and adjust the protection controls deployed on key systems over time. The approach starts with the implementation of suitable baseline security recommendations on all systems. Next systems either exposed to high risk levels, or critical the organization’s business objectives are identified in the high-level risk assessment. A decision can then be made to possibly conduct an immediate informal risk assessment on key systems, with the aim of relatively quickly tailoring controls to more accurately reflect their requirements. Lastly an ordered process of performing detailed risk analyses of these systems can be instituted. Over time this can result in the most appropriate and cost effective security controls being selected and implemented on these systems. This approach has a significant number of advantages. The use of the initial high-level analysis to determine where further resources need to be expended, rather than facing a full detailed risk analysis of all systems, may well be easier to “sell” to management. It also results in the development of a strategic picture of the IT resources and where major risks are likely to occur. This provides a key planning aid in the subsequent management of their security. The use of the baseline and informal analyses ensures that a basic level of security protection is implemented early. And it means that resources are likely to applied where most needed, and that systems most at risk are likely to be further examined reasonable early in the process. However, there are some disadvantages. If the initial high-level analysis is inaccurate, then some systems for which a detailed risk analysis should be performed may remain vulnerable for some time. [ISO13335] considers that for most organizations, in most circumstances, this approach is the most cost effective. Consequently its use is highly recommended.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Arial" pitchFamily="-109" charset="0"/>
                <a:ea typeface="Arial"/>
                <a:cs typeface="Arial"/>
                <a:sym typeface="Arial"/>
              </a:rPr>
              <a:t>The formal, detailed security risk analysis approach provides the most accurate evaluation of an organization’s IT system’s security risks, but at the highest cost. This approach has evolved with the development of trusted computer systems, initially focused on addressing defense security concerns, as we discuss in Chapter 13 . The original security risk assessment methodology was given in the Yellow Book standard (CSC-STD-004-85 June 1985), one of the original U.S. TCSEC rainbow book series of standards. Its focus was entirely on protecting the confidentiality of information, reflecting the military concern with information classification. The recommended rating it gave for a trusted computer system depended on difference between the minimum user clearance and the maximum information classification. Specifically it defined a risk index as</a:t>
            </a:r>
          </a:p>
          <a:p>
            <a:endParaRPr lang="en-US" sz="1200" b="0" i="0" u="none" strike="noStrike" kern="1200" cap="none" baseline="0" dirty="0">
              <a:solidFill>
                <a:schemeClr val="tx1"/>
              </a:solidFill>
              <a:latin typeface="Arial" pitchFamily="-109" charset="0"/>
              <a:ea typeface="Arial"/>
              <a:cs typeface="Arial"/>
              <a:sym typeface="Arial"/>
            </a:endParaRPr>
          </a:p>
          <a:p>
            <a:r>
              <a:rPr lang="en-US" sz="1200" b="0" i="0" u="none" strike="noStrike" kern="1200" cap="none" baseline="0" dirty="0">
                <a:solidFill>
                  <a:schemeClr val="tx1"/>
                </a:solidFill>
                <a:latin typeface="Arial" pitchFamily="-109" charset="0"/>
                <a:ea typeface="Arial"/>
                <a:cs typeface="Arial"/>
                <a:sym typeface="Arial"/>
              </a:rPr>
              <a:t>Risk Index = Max Info Sensitivity - Min User Clearance</a:t>
            </a:r>
          </a:p>
          <a:p>
            <a:endParaRPr lang="en-US" sz="1200" b="0" i="0" u="none" strike="noStrike" kern="1200" cap="none" baseline="0" dirty="0">
              <a:solidFill>
                <a:schemeClr val="tx1"/>
              </a:solidFill>
              <a:latin typeface="Arial" pitchFamily="-109" charset="0"/>
              <a:ea typeface="Arial"/>
              <a:cs typeface="Arial"/>
              <a:sym typeface="Arial"/>
            </a:endParaRPr>
          </a:p>
          <a:p>
            <a:r>
              <a:rPr lang="en-US" sz="1200" b="0" i="0" u="none" strike="noStrike" kern="1200" cap="none" baseline="0" dirty="0">
                <a:solidFill>
                  <a:schemeClr val="tx1"/>
                </a:solidFill>
                <a:latin typeface="Arial" pitchFamily="-109" charset="0"/>
                <a:ea typeface="Arial"/>
                <a:cs typeface="Arial"/>
                <a:sym typeface="Arial"/>
              </a:rPr>
              <a:t>A table in this standard, listing suitable categories of systems for each risk level, was used to select the system type. Clearly this limited approach neither adequately reflects the range of security services required nor the wide range of possible threats. Over the years since, the process of conducting a security risk assessment that does consider these issues has evolved.</a:t>
            </a:r>
            <a:endParaRPr lang="en-US" dirty="0">
              <a:latin typeface="Times" pitchFamily="-109"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40479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tx1"/>
                </a:solidFill>
                <a:effectLst/>
                <a:latin typeface="Arial" pitchFamily="-109" charset="0"/>
                <a:ea typeface="Arial"/>
                <a:cs typeface="Arial"/>
                <a:sym typeface="Arial"/>
              </a:rPr>
              <a:t>A number of national and international standards document the expected formal risk analysis approach. These include ISO 27005, ISO 31000, NIST SP 800-30, and [SASN13]. This approach is often mandated by government organizations and associated businesses. These standards all broadly agree on the process used. Figure 14.3 (reproduced from figure 5 in NIST SP 800-30) illustrates a typical process used.</a:t>
            </a:r>
          </a:p>
          <a:p>
            <a:r>
              <a:rPr lang="en-US" sz="1200" b="0" i="0" u="none" strike="noStrike" kern="1200" cap="none" dirty="0">
                <a:solidFill>
                  <a:schemeClr val="tx1"/>
                </a:solidFill>
                <a:effectLst/>
                <a:latin typeface="Arial" pitchFamily="-109" charset="0"/>
                <a:ea typeface="Arial"/>
                <a:cs typeface="Arial"/>
                <a:sym typeface="Arial"/>
              </a:rPr>
              <a:t>
The steps are as follows. Step 1. Prepare for assessment, derived from organizational aspects. Step 2. Conduct risk analysis. Identify threat sources and events. Identify vulnerabilities and predisposing conditions. Determine likelihood of occurrence. Determine magnitude of impact. Determine risk. Step 3. Communicate results. Step 4. Maintain assessment.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44490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The initial step is known as </a:t>
            </a:r>
            <a:r>
              <a:rPr lang="en-US" sz="1200" i="1" kern="1200" baseline="0" dirty="0">
                <a:solidFill>
                  <a:schemeClr val="tx1"/>
                </a:solidFill>
                <a:latin typeface="Arial" pitchFamily="-109" charset="0"/>
                <a:ea typeface="+mn-ea"/>
                <a:cs typeface="+mn-cs"/>
              </a:rPr>
              <a:t>establishing the context or system characterization . </a:t>
            </a:r>
            <a:r>
              <a:rPr lang="en-US" sz="1200" i="0" kern="1200" baseline="0" dirty="0">
                <a:solidFill>
                  <a:schemeClr val="tx1"/>
                </a:solidFill>
                <a:latin typeface="Arial" pitchFamily="-109" charset="0"/>
                <a:ea typeface="+mn-ea"/>
                <a:cs typeface="+mn-cs"/>
              </a:rPr>
              <a:t>Its </a:t>
            </a:r>
            <a:r>
              <a:rPr lang="en-US" sz="1200" kern="1200" baseline="0" dirty="0">
                <a:solidFill>
                  <a:schemeClr val="tx1"/>
                </a:solidFill>
                <a:latin typeface="Arial" pitchFamily="-109" charset="0"/>
                <a:ea typeface="+mn-ea"/>
                <a:cs typeface="+mn-cs"/>
              </a:rPr>
              <a:t>purpose is to determine the basic parameters within which the risk assessment will be conducted, and then to identify the assets to be examined.</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 process starts with the organizational security objectives and considers the broad risk exposure of the organization. This recognizes that not all organizations are equally at risk, but that some, because of their function, may be specifically targeted. It explores the relationship between a specific organization and the wider political and social environment in which it operates.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Industries such as agriculture and education are considered to be at lesser risk compared to government or banking and finance. Note that this classification predates September 11, and it is likely that there has been change since it was developed. In particular it is likely that utilities, for example, are probably at higher risk than the classification suggests. NIST has indicated that the following industries are vulnerable to risks in Supervisory Control and Data</a:t>
            </a:r>
          </a:p>
          <a:p>
            <a:r>
              <a:rPr lang="en-US" sz="1200" kern="1200" baseline="0" dirty="0">
                <a:solidFill>
                  <a:schemeClr val="tx1"/>
                </a:solidFill>
                <a:latin typeface="Arial" pitchFamily="-109" charset="0"/>
                <a:ea typeface="+mn-ea"/>
                <a:cs typeface="+mn-cs"/>
              </a:rPr>
              <a:t>Acquisition (SCADA) and process control systems: electric, water and wastewater, oil and natural gas, chemical, pharmaceutical, pulp and paper, food and beverage, discrete manufacturing (automotive, aerospace, and durable goods), air and rail transportation, and mining and metallurgy.</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At this point in determining an organization’s broad risk exposure, any relevant legal and regulatory constraints must also be identified. These features provide a baseline for the organization’s risk exposure and an initial indication of the broad scale of resources it needs to expend to manage this risk in order to successfully conduct business.</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Next, senior management must define the organization’s </a:t>
            </a:r>
            <a:r>
              <a:rPr lang="en-US" sz="1200" b="1" kern="1200" baseline="0" dirty="0">
                <a:solidFill>
                  <a:schemeClr val="tx1"/>
                </a:solidFill>
                <a:latin typeface="Arial" pitchFamily="-109" charset="0"/>
                <a:ea typeface="+mn-ea"/>
                <a:cs typeface="+mn-cs"/>
              </a:rPr>
              <a:t>risk appetite , </a:t>
            </a:r>
            <a:r>
              <a:rPr lang="en-US" sz="1200" b="0" kern="1200" baseline="0" dirty="0">
                <a:solidFill>
                  <a:schemeClr val="tx1"/>
                </a:solidFill>
                <a:latin typeface="Arial" pitchFamily="-109" charset="0"/>
                <a:ea typeface="+mn-ea"/>
                <a:cs typeface="+mn-cs"/>
              </a:rPr>
              <a:t>the </a:t>
            </a:r>
            <a:r>
              <a:rPr lang="en-US" sz="1200" kern="1200" baseline="0" dirty="0">
                <a:solidFill>
                  <a:schemeClr val="tx1"/>
                </a:solidFill>
                <a:latin typeface="Arial" pitchFamily="-109" charset="0"/>
                <a:ea typeface="+mn-ea"/>
                <a:cs typeface="+mn-cs"/>
              </a:rPr>
              <a:t>level of risk the organization views as acceptable. Again this will depend very much on the type of organization, and its management’s attitude to how it conducts business. For example, banking and finance organizations tend to be fairly conservative and risk averse. This means they want a low residual risk and are willing to spend the resources necessary to achieve this. In contrast, a leading-edge manufacturer with a brand new product may have a much greater risk tolerance. The manufacturer is willing to take a chance to obtain a competitive advantage, and with limited resources wishes to expend less on risk controls. This decision is not just IT specific. Rather it reflects the organization’s broader management approach to how it conducts business.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032127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Arial" pitchFamily="-109" charset="0"/>
                <a:ea typeface="Arial"/>
                <a:cs typeface="Arial"/>
                <a:sym typeface="Arial"/>
              </a:rPr>
              <a:t>Figure 14.4 (adapted from an IDC 2000 report) suggests a possible spectrum of organizational risk.
The organizational risk ranges from less vulnerable to more vulnerable. The contexts are as follows. Construction, Media, Retail, Utilities, Health care, Banking and finance, Agriculture, Education, Communication, Manufacturing, Transportation, and Government.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27537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DE16F47-4961-4B21-61F2-BE8D210BA2A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C3012B0F-AD14-B341-BDCE-5D3C07679022}" type="slidenum">
              <a:rPr lang="en-AU" altLang="en-US" sz="1200"/>
              <a:pPr/>
              <a:t>24</a:t>
            </a:fld>
            <a:endParaRPr lang="en-AU" altLang="en-US" sz="1200"/>
          </a:p>
        </p:txBody>
      </p:sp>
      <p:sp>
        <p:nvSpPr>
          <p:cNvPr id="37891" name="Rectangle 2">
            <a:extLst>
              <a:ext uri="{FF2B5EF4-FFF2-40B4-BE49-F238E27FC236}">
                <a16:creationId xmlns:a16="http://schemas.microsoft.com/office/drawing/2014/main" id="{0DDFB257-2055-3194-B78D-7F21DDF20862}"/>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27E9F88A-6201-32C3-C1EC-2C8A56937DBA}"/>
              </a:ext>
            </a:extLst>
          </p:cNvPr>
          <p:cNvSpPr>
            <a:spLocks noGrp="1" noChangeArrowheads="1"/>
          </p:cNvSpPr>
          <p:nvPr>
            <p:ph type="body" idx="1"/>
          </p:nvPr>
        </p:nvSpPr>
        <p:spPr>
          <a:noFill/>
        </p:spPr>
        <p:txBody>
          <a:bodyPr/>
          <a:lstStyle/>
          <a:p>
            <a:pPr eaLnBrk="1" hangingPunct="1"/>
            <a:r>
              <a:rPr lang="en-US" altLang="en-US">
                <a:latin typeface="Times" pitchFamily="2" charset="0"/>
              </a:rPr>
              <a:t>The last component of this first step in the risk assessment is to identify the assets to examine. This directly addresses the first of the three fundamental questions “What assets do we need to protect?”. An asset is “anything which needs to be protected” because it has value to the organization and contributes to the successful attainment of the organization’s objectives, and may be either tangible or intangible. It includes computer and communications hardware infrastructure, software including applications, information/data held on these systems, the documentation on these systems, and the people who manage and maintain these systems. Within the boundaries identified for the risk assessment, these assets need to be identified, and their value to the organization assessed. It is important to emphasize again, that whilst the ideal is to consider every conceivable asset, in practice this is not possible. Rather the goal here is to identify all assets that contribute significantly to attaining the organization’s objectives, and whose compromise or loss would seriously impact on the organizations operation.</a:t>
            </a:r>
          </a:p>
          <a:p>
            <a:pPr eaLnBrk="1" hangingPunct="1"/>
            <a:r>
              <a:rPr lang="en-US" altLang="en-US">
                <a:latin typeface="Times" pitchFamily="2" charset="0"/>
              </a:rPr>
              <a:t>Whilst the risk assessment process is most likely being managed by security experts, they will not necessarily have a high degree of familiarity with the organization’s operation and structures. Thus they need to draw on the expertise of the people in the relevant areas of the organization to identify key assets and their value to the organization. A key element of this process step is identifying and interviewing such personnel. Many of the standards listed previously include checklists of types of assets and suggestions for mechanisms for gathering the necessary information. These should be consulted and used. The outcome of this step should be a list of assets, with brief descriptions of their use by, and value to, the organization.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FDD92B9E-3105-8417-8BDB-1A0CB9ECD707}"/>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8E63C4C5-F016-2D44-BB1C-23BE2F196610}" type="slidenum">
              <a:rPr lang="en-AU" altLang="en-US" sz="1200"/>
              <a:pPr/>
              <a:t>25</a:t>
            </a:fld>
            <a:endParaRPr lang="en-AU" altLang="en-US" sz="1200"/>
          </a:p>
        </p:txBody>
      </p:sp>
      <p:sp>
        <p:nvSpPr>
          <p:cNvPr id="39939" name="Rectangle 2">
            <a:extLst>
              <a:ext uri="{FF2B5EF4-FFF2-40B4-BE49-F238E27FC236}">
                <a16:creationId xmlns:a16="http://schemas.microsoft.com/office/drawing/2014/main" id="{84DCCFAC-2DF8-53FF-C166-48600D6EE5D2}"/>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EDF08F5B-4763-89A4-2F09-9E52A0A1A6A9}"/>
              </a:ext>
            </a:extLst>
          </p:cNvPr>
          <p:cNvSpPr>
            <a:spLocks noGrp="1" noChangeArrowheads="1"/>
          </p:cNvSpPr>
          <p:nvPr>
            <p:ph type="body" idx="1"/>
          </p:nvPr>
        </p:nvSpPr>
        <p:spPr>
          <a:noFill/>
        </p:spPr>
        <p:txBody>
          <a:bodyPr/>
          <a:lstStyle/>
          <a:p>
            <a:pPr eaLnBrk="1" hangingPunct="1"/>
            <a:r>
              <a:rPr lang="en-US" altLang="en-US">
                <a:latin typeface="Times" pitchFamily="2" charset="0"/>
              </a:rPr>
              <a:t>The next step in the process is to identify the threats or risks the assets are exposed to. It is worth commenting on the terminology used here. The terms “threat” and “risk”, whilst having distinct meanings, are often used interchangeably in this context. There is considerable variation in the definitions of these terms, as seen in the range of definitions provided in the cited standards. [ISO13335] includes the definitions shown here. The relationship between these and other security concepts is illustrated in Figure 1.2 of the text. It shows the central term </a:t>
            </a:r>
            <a:r>
              <a:rPr lang="en-US" altLang="en-US" b="1">
                <a:latin typeface="Times" pitchFamily="2" charset="0"/>
              </a:rPr>
              <a:t>risk</a:t>
            </a:r>
            <a:r>
              <a:rPr lang="en-US" altLang="en-US">
                <a:latin typeface="Times" pitchFamily="2" charset="0"/>
              </a:rPr>
              <a:t> results from a threat exploiting vulnerabilities in assets which causes loss of value to the organization.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6F095489-DDEE-2EED-2D94-0CE8BC47C91E}"/>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43EAD3A7-31E0-304B-8501-59DC6F8FFB96}" type="slidenum">
              <a:rPr lang="en-AU" altLang="en-US" sz="1200"/>
              <a:pPr/>
              <a:t>26</a:t>
            </a:fld>
            <a:endParaRPr lang="en-AU" altLang="en-US" sz="1200"/>
          </a:p>
        </p:txBody>
      </p:sp>
      <p:sp>
        <p:nvSpPr>
          <p:cNvPr id="41987" name="Rectangle 2">
            <a:extLst>
              <a:ext uri="{FF2B5EF4-FFF2-40B4-BE49-F238E27FC236}">
                <a16:creationId xmlns:a16="http://schemas.microsoft.com/office/drawing/2014/main" id="{BA549AB8-24CE-66C6-D31A-F4AD116F4B94}"/>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3B19E42A-9124-FDC7-56D9-ACADA7667FA3}"/>
              </a:ext>
            </a:extLst>
          </p:cNvPr>
          <p:cNvSpPr>
            <a:spLocks noGrp="1" noChangeArrowheads="1"/>
          </p:cNvSpPr>
          <p:nvPr>
            <p:ph type="body" idx="1"/>
          </p:nvPr>
        </p:nvSpPr>
        <p:spPr>
          <a:noFill/>
        </p:spPr>
        <p:txBody>
          <a:bodyPr/>
          <a:lstStyle/>
          <a:p>
            <a:pPr eaLnBrk="1" hangingPunct="1"/>
            <a:r>
              <a:rPr lang="en-US" altLang="en-US">
                <a:latin typeface="Times" pitchFamily="2" charset="0"/>
              </a:rPr>
              <a:t>Identifying the threats or risks the assets are exposed to directly addresses the second of our three fundamental questions: “How are those assets threatened?”. The goal of this stage is to identify potentially significant risks to the assets listed. This requires answering the following questions for each asset:</a:t>
            </a:r>
          </a:p>
          <a:p>
            <a:pPr eaLnBrk="1" hangingPunct="1"/>
            <a:r>
              <a:rPr lang="en-US" altLang="en-US">
                <a:latin typeface="Times" pitchFamily="2" charset="0"/>
                <a:cs typeface="Times New Roman" panose="02020603050405020304" pitchFamily="18" charset="0"/>
              </a:rPr>
              <a:t>1. </a:t>
            </a:r>
            <a:r>
              <a:rPr lang="en-US" altLang="en-US">
                <a:latin typeface="Times" pitchFamily="2" charset="0"/>
              </a:rPr>
              <a:t>Who or what could cause it harm? and </a:t>
            </a:r>
          </a:p>
          <a:p>
            <a:pPr eaLnBrk="1" hangingPunct="1"/>
            <a:r>
              <a:rPr lang="en-US" altLang="en-US">
                <a:latin typeface="Times" pitchFamily="2" charset="0"/>
                <a:cs typeface="Times New Roman" panose="02020603050405020304" pitchFamily="18" charset="0"/>
              </a:rPr>
              <a:t>2. </a:t>
            </a:r>
            <a:r>
              <a:rPr lang="en-US" altLang="en-US">
                <a:latin typeface="Times" pitchFamily="2" charset="0"/>
              </a:rPr>
              <a:t>How could this occur? </a:t>
            </a:r>
          </a:p>
          <a:p>
            <a:pPr eaLnBrk="1" hangingPunct="1"/>
            <a:r>
              <a:rPr lang="en-US" altLang="en-US">
                <a:latin typeface="Times" pitchFamily="2" charset="0"/>
              </a:rPr>
              <a:t>Answering the first of these questions involves identifying potential threats to assets. In the broadest sense a threat is anything that might hinder or prevent an asset providing appropriate levels of the key security services: confidentiality, integrity, availability, accountability, authenticity and reliability. Note that one asset may have multiple threats, and a single threat may target multiple assets. </a:t>
            </a:r>
          </a:p>
          <a:p>
            <a:pPr lvl="2" eaLnBrk="1" hangingPunct="1"/>
            <a:endParaRPr lang="en-US" altLang="en-US">
              <a:latin typeface="Times" pitchFamily="2"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67C28A01-DB7E-7404-C989-43ECE74C3C23}"/>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4E522A5A-8DEF-0A43-98A8-4608A0AEB39F}" type="slidenum">
              <a:rPr lang="en-AU" altLang="en-US" sz="1200"/>
              <a:pPr/>
              <a:t>27</a:t>
            </a:fld>
            <a:endParaRPr lang="en-AU" altLang="en-US" sz="1200"/>
          </a:p>
        </p:txBody>
      </p:sp>
      <p:sp>
        <p:nvSpPr>
          <p:cNvPr id="44035" name="Rectangle 2">
            <a:extLst>
              <a:ext uri="{FF2B5EF4-FFF2-40B4-BE49-F238E27FC236}">
                <a16:creationId xmlns:a16="http://schemas.microsoft.com/office/drawing/2014/main" id="{06ECFD9A-7B0B-E2BF-BCDD-9755D4AC0AEB}"/>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C88D907F-EDCC-CE96-EE57-161A6DB54D89}"/>
              </a:ext>
            </a:extLst>
          </p:cNvPr>
          <p:cNvSpPr>
            <a:spLocks noGrp="1" noChangeArrowheads="1"/>
          </p:cNvSpPr>
          <p:nvPr>
            <p:ph type="body" idx="1"/>
          </p:nvPr>
        </p:nvSpPr>
        <p:spPr>
          <a:noFill/>
        </p:spPr>
        <p:txBody>
          <a:bodyPr/>
          <a:lstStyle/>
          <a:p>
            <a:pPr eaLnBrk="1" hangingPunct="1"/>
            <a:r>
              <a:rPr lang="en-US" altLang="en-US">
                <a:latin typeface="Times" pitchFamily="2" charset="0"/>
              </a:rPr>
              <a:t>A threat may be either natural or man-made, and may be accidental or deliberate. This is known as the </a:t>
            </a:r>
            <a:r>
              <a:rPr lang="en-US" altLang="en-US" b="1">
                <a:latin typeface="Times" pitchFamily="2" charset="0"/>
              </a:rPr>
              <a:t>threat-source</a:t>
            </a:r>
            <a:r>
              <a:rPr lang="en-US" altLang="en-US">
                <a:latin typeface="Times" pitchFamily="2" charset="0"/>
              </a:rPr>
              <a:t>. The classic “natural” threat sources are those often referred to as “acts of god”, and include damage caused by fire, flood, storm, earthquake and other such natural events. It also includes “environmental threats” such as long-term loss of power or natural gas. Or it may be the result of chemical contamination or leakage. Alternatively a threat source may be a human agent acting either directly or indirectly. Examples of the former include an insider retrieving and selling information for personal gain, or a hacker targeting the organizations server over the Internet. An example of the latter includes someone writing and releasing a network worm that infects the organizations systems. These examples all involved a deliberate exploit of a threat. However, a threat may also be a result of an accident, such as an employee incorrectly entering information on a system, which results in it malfunctioning. The possible motivation of deliberate attackers in relation to the organization should be considered as potentially influencing this variation. In addition, any previous experience of attacks seen by the organization needs to be considered, as that is concrete evidence of risks that are known to occur. When evaluating possible human threat sources, it is worth considering their reason and capabilities for attacking this organization, including their:</a:t>
            </a:r>
          </a:p>
          <a:p>
            <a:pPr eaLnBrk="1" hangingPunct="1"/>
            <a:r>
              <a:rPr lang="en-US" altLang="en-US">
                <a:latin typeface="Symbol" pitchFamily="2" charset="2"/>
                <a:cs typeface="Times New Roman" panose="02020603050405020304" pitchFamily="18" charset="0"/>
                <a:sym typeface="Symbol" pitchFamily="2" charset="2"/>
              </a:rPr>
              <a:t> </a:t>
            </a:r>
            <a:r>
              <a:rPr lang="en-US" altLang="en-US" b="1">
                <a:latin typeface="Times" pitchFamily="2" charset="0"/>
              </a:rPr>
              <a:t>motivation:</a:t>
            </a:r>
            <a:r>
              <a:rPr lang="en-US" altLang="en-US">
                <a:latin typeface="Times" pitchFamily="2" charset="0"/>
              </a:rPr>
              <a:t> why would they target this organization, how motivated are they?</a:t>
            </a:r>
          </a:p>
          <a:p>
            <a:pPr eaLnBrk="1" hangingPunct="1"/>
            <a:r>
              <a:rPr lang="en-US" altLang="en-US">
                <a:latin typeface="Symbol" pitchFamily="2" charset="2"/>
                <a:cs typeface="Times New Roman" panose="02020603050405020304" pitchFamily="18" charset="0"/>
                <a:sym typeface="Symbol" pitchFamily="2" charset="2"/>
              </a:rPr>
              <a:t> </a:t>
            </a:r>
            <a:r>
              <a:rPr lang="en-US" altLang="en-US" b="1">
                <a:latin typeface="Times" pitchFamily="2" charset="0"/>
              </a:rPr>
              <a:t>capability:</a:t>
            </a:r>
            <a:r>
              <a:rPr lang="en-US" altLang="en-US">
                <a:latin typeface="Times" pitchFamily="2" charset="0"/>
              </a:rPr>
              <a:t> what is their level of skill in exploiting the threat?</a:t>
            </a:r>
          </a:p>
          <a:p>
            <a:pPr eaLnBrk="1" hangingPunct="1"/>
            <a:r>
              <a:rPr lang="en-US" altLang="en-US">
                <a:latin typeface="Symbol" pitchFamily="2" charset="2"/>
                <a:cs typeface="Times New Roman" panose="02020603050405020304" pitchFamily="18" charset="0"/>
                <a:sym typeface="Symbol" pitchFamily="2" charset="2"/>
              </a:rPr>
              <a:t> </a:t>
            </a:r>
            <a:r>
              <a:rPr lang="en-US" altLang="en-US" b="1">
                <a:latin typeface="Times" pitchFamily="2" charset="0"/>
              </a:rPr>
              <a:t>resources:</a:t>
            </a:r>
            <a:r>
              <a:rPr lang="en-US" altLang="en-US">
                <a:latin typeface="Times" pitchFamily="2" charset="0"/>
              </a:rPr>
              <a:t> how much time, money, and other resources could they deploy?</a:t>
            </a:r>
          </a:p>
          <a:p>
            <a:pPr eaLnBrk="1" hangingPunct="1"/>
            <a:r>
              <a:rPr lang="en-US" altLang="en-US">
                <a:latin typeface="Symbol" pitchFamily="2" charset="2"/>
                <a:cs typeface="Times New Roman" panose="02020603050405020304" pitchFamily="18" charset="0"/>
                <a:sym typeface="Symbol" pitchFamily="2" charset="2"/>
              </a:rPr>
              <a:t> </a:t>
            </a:r>
            <a:r>
              <a:rPr lang="en-US" altLang="en-US" b="1">
                <a:latin typeface="Times" pitchFamily="2" charset="0"/>
              </a:rPr>
              <a:t>probability of attack:</a:t>
            </a:r>
            <a:r>
              <a:rPr lang="en-US" altLang="en-US">
                <a:latin typeface="Times" pitchFamily="2" charset="0"/>
              </a:rPr>
              <a:t> how likely and how often would your assets be targeted?</a:t>
            </a:r>
          </a:p>
          <a:p>
            <a:pPr eaLnBrk="1" hangingPunct="1"/>
            <a:r>
              <a:rPr lang="en-US" altLang="en-US">
                <a:latin typeface="Symbol" pitchFamily="2" charset="2"/>
                <a:cs typeface="Times New Roman" panose="02020603050405020304" pitchFamily="18" charset="0"/>
                <a:sym typeface="Symbol" pitchFamily="2" charset="2"/>
              </a:rPr>
              <a:t> </a:t>
            </a:r>
            <a:r>
              <a:rPr lang="en-US" altLang="en-US" b="1">
                <a:latin typeface="Times" pitchFamily="2" charset="0"/>
              </a:rPr>
              <a:t>deterrence:</a:t>
            </a:r>
            <a:r>
              <a:rPr lang="en-US" altLang="en-US">
                <a:latin typeface="Times" pitchFamily="2" charset="0"/>
              </a:rPr>
              <a:t> what are the consequences to the attacker of being identified?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DE17D669-34A8-F634-3E6A-110357BEDF1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2C9EB56-A57A-1648-8517-C443992A9CCD}" type="slidenum">
              <a:rPr lang="en-AU" altLang="en-US" sz="1200"/>
              <a:pPr/>
              <a:t>28</a:t>
            </a:fld>
            <a:endParaRPr lang="en-AU" altLang="en-US" sz="1200"/>
          </a:p>
        </p:txBody>
      </p:sp>
      <p:sp>
        <p:nvSpPr>
          <p:cNvPr id="46083" name="Rectangle 2">
            <a:extLst>
              <a:ext uri="{FF2B5EF4-FFF2-40B4-BE49-F238E27FC236}">
                <a16:creationId xmlns:a16="http://schemas.microsoft.com/office/drawing/2014/main" id="{54E5F4F9-317F-F20A-A6F7-0A96824BDC51}"/>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78ACD281-3BD3-8B5B-E53A-239474E8275B}"/>
              </a:ext>
            </a:extLst>
          </p:cNvPr>
          <p:cNvSpPr>
            <a:spLocks noGrp="1" noChangeArrowheads="1"/>
          </p:cNvSpPr>
          <p:nvPr>
            <p:ph type="body" idx="1"/>
          </p:nvPr>
        </p:nvSpPr>
        <p:spPr>
          <a:noFill/>
        </p:spPr>
        <p:txBody>
          <a:bodyPr/>
          <a:lstStyle/>
          <a:p>
            <a:pPr eaLnBrk="1" hangingPunct="1"/>
            <a:r>
              <a:rPr lang="en-US" altLang="en-US">
                <a:latin typeface="Times" pitchFamily="2" charset="0"/>
              </a:rPr>
              <a:t>Identifying possible threats and threat sources requires the use of a variety of sources, along with the experience of the risk assessor. The chance of natural threats occurring in any particular area is usually well known from insurance statistics. Lists of other potential threats may be found in the standards, in the results of IT security surveys, and in information from government security agencies. The annual computer crime surveys, such as those conducted by the CSI/FBI in the US and AusCERT in Australia, provide useful general guidance on the broad IT threat environment and the most common problem areas. However, this general guidance needs to be tailored to the organization and the risk environment it operates in. This involves consideration of vulnerabilities in the organization’s IT systems, which may indicate that some risks are either more or less likely than the general case.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AC09FC5B-FB5D-6273-DC17-B0E95C7997B0}"/>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71BDCFFA-EFCE-2A45-A6E7-60ED1BC0E1D8}" type="slidenum">
              <a:rPr lang="en-AU" altLang="en-US" sz="1200"/>
              <a:pPr/>
              <a:t>29</a:t>
            </a:fld>
            <a:endParaRPr lang="en-AU" altLang="en-US" sz="1200"/>
          </a:p>
        </p:txBody>
      </p:sp>
      <p:sp>
        <p:nvSpPr>
          <p:cNvPr id="48131" name="Rectangle 2">
            <a:extLst>
              <a:ext uri="{FF2B5EF4-FFF2-40B4-BE49-F238E27FC236}">
                <a16:creationId xmlns:a16="http://schemas.microsoft.com/office/drawing/2014/main" id="{7BB0D412-6784-F4A1-D9A5-EDBCC8E735BA}"/>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0ED341D7-09A8-C487-AD0E-0EF7AFA7D4B4}"/>
              </a:ext>
            </a:extLst>
          </p:cNvPr>
          <p:cNvSpPr>
            <a:spLocks noGrp="1" noChangeArrowheads="1"/>
          </p:cNvSpPr>
          <p:nvPr>
            <p:ph type="body" idx="1"/>
          </p:nvPr>
        </p:nvSpPr>
        <p:spPr>
          <a:noFill/>
        </p:spPr>
        <p:txBody>
          <a:bodyPr/>
          <a:lstStyle/>
          <a:p>
            <a:pPr eaLnBrk="1" hangingPunct="1"/>
            <a:r>
              <a:rPr lang="en-US" altLang="en-US">
                <a:latin typeface="Times" pitchFamily="2" charset="0"/>
              </a:rPr>
              <a:t>Answering the second of these questions “How could this occur?” involves identifying flaws or weaknesses in the organization’s IT systems or processes which could be exploited by a threat. This will help determine the applicability of the threat to the organization, and its significance. Note that mere existence of some vulnerability does not mean harm will be caused to an asset. There must also be a threat source for some threat that can exploit the vulnerability for harm to possibly occur. It is the combination of a threat and a vulnerability that creates a risk to an asset. Again, many of the standards listed previously include checklists of threats and vulnerabilities, and suggestions for tools and techniques to list them, and to determine their relevance to the organization. The outcome of this step should be a list of threats and vulnerabilities, with brief descriptions of how and why they might occur.</a:t>
            </a:r>
          </a:p>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ECF9E093-F8F4-885B-936E-9729EA55ACA9}"/>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9EDAEF4-8D83-AD45-B0E0-6877930898F8}" type="slidenum">
              <a:rPr lang="en-AU" altLang="en-US" sz="1200"/>
              <a:pPr/>
              <a:t>30</a:t>
            </a:fld>
            <a:endParaRPr lang="en-AU" altLang="en-US" sz="1200"/>
          </a:p>
        </p:txBody>
      </p:sp>
      <p:sp>
        <p:nvSpPr>
          <p:cNvPr id="72707" name="Rectangle 4">
            <a:extLst>
              <a:ext uri="{FF2B5EF4-FFF2-40B4-BE49-F238E27FC236}">
                <a16:creationId xmlns:a16="http://schemas.microsoft.com/office/drawing/2014/main" id="{7A69C63F-BE36-C3A9-7B00-03323F903F4D}"/>
              </a:ext>
            </a:extLst>
          </p:cNvPr>
          <p:cNvSpPr>
            <a:spLocks noGrp="1" noRot="1" noChangeAspect="1" noChangeArrowheads="1" noTextEdit="1"/>
          </p:cNvSpPr>
          <p:nvPr>
            <p:ph type="sldImg"/>
          </p:nvPr>
        </p:nvSpPr>
        <p:spPr>
          <a:ln/>
        </p:spPr>
      </p:sp>
      <p:sp>
        <p:nvSpPr>
          <p:cNvPr id="72708" name="Rectangle 5">
            <a:extLst>
              <a:ext uri="{FF2B5EF4-FFF2-40B4-BE49-F238E27FC236}">
                <a16:creationId xmlns:a16="http://schemas.microsoft.com/office/drawing/2014/main" id="{A535C562-F538-409F-6501-A2623579444C}"/>
              </a:ext>
            </a:extLst>
          </p:cNvPr>
          <p:cNvSpPr>
            <a:spLocks noGrp="1" noChangeArrowheads="1"/>
          </p:cNvSpPr>
          <p:nvPr>
            <p:ph type="body" idx="1"/>
          </p:nvPr>
        </p:nvSpPr>
        <p:spPr>
          <a:noFill/>
        </p:spPr>
        <p:txBody>
          <a:bodyPr/>
          <a:lstStyle/>
          <a:p>
            <a:pPr eaLnBrk="1" hangingPunct="1"/>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7751837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6C6DDCF4-E331-7F5A-A6BE-FE11CB68D380}"/>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6201D67-BC5F-A740-A4EF-B34C610C1881}" type="slidenum">
              <a:rPr lang="en-AU" altLang="en-US" sz="1200"/>
              <a:pPr/>
              <a:t>31</a:t>
            </a:fld>
            <a:endParaRPr lang="en-AU" altLang="en-US" sz="1200"/>
          </a:p>
        </p:txBody>
      </p:sp>
      <p:sp>
        <p:nvSpPr>
          <p:cNvPr id="50179" name="Rectangle 2">
            <a:extLst>
              <a:ext uri="{FF2B5EF4-FFF2-40B4-BE49-F238E27FC236}">
                <a16:creationId xmlns:a16="http://schemas.microsoft.com/office/drawing/2014/main" id="{E0EF3BE2-4FC2-BE8B-479F-8C777A735652}"/>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0F3AB1E6-246F-45E4-34C0-DA157EC96834}"/>
              </a:ext>
            </a:extLst>
          </p:cNvPr>
          <p:cNvSpPr>
            <a:spLocks noGrp="1" noChangeArrowheads="1"/>
          </p:cNvSpPr>
          <p:nvPr>
            <p:ph type="body" idx="1"/>
          </p:nvPr>
        </p:nvSpPr>
        <p:spPr>
          <a:noFill/>
        </p:spPr>
        <p:txBody>
          <a:bodyPr/>
          <a:lstStyle/>
          <a:p>
            <a:pPr eaLnBrk="1" hangingPunct="1"/>
            <a:r>
              <a:rPr lang="en-US" altLang="en-US">
                <a:latin typeface="Times" pitchFamily="2" charset="0"/>
              </a:rPr>
              <a:t>The next step is to to identify and categorize the risks to assets that threaten the regular operations of the organization, and to provide information to management to help them evaluate these risks and determine how best to treat them. Risk analysis involves firstly specifying the likelihood of occurrence of each identified threat to an asset, in the context of any existing controls (management, operational and technical processes and procedures that act to reduce the exposure of the organization to some risks, by reducing the ability of a threat source to exploit some vulnerabilities). Next the consequence to the organization is determined, should that threat eventuate. Lastly this information is combined to derive an overall risk rating for each threat. The ideal would be to specify the likelihood as a probability value, and the consequence as a monetary cost to the organization should it occur. The resulting risk is then simply given as:</a:t>
            </a:r>
          </a:p>
          <a:p>
            <a:pPr eaLnBrk="1" hangingPunct="1"/>
            <a:r>
              <a:rPr lang="en-US" altLang="en-US">
                <a:latin typeface="Courier" pitchFamily="2" charset="0"/>
              </a:rPr>
              <a:t>Risk = Probability threat occurs x Cost to organization</a:t>
            </a:r>
            <a:endParaRPr lang="en-US" altLang="en-US">
              <a:latin typeface="Times" pitchFamily="2" charset="0"/>
            </a:endParaRPr>
          </a:p>
          <a:p>
            <a:pPr eaLnBrk="1" hangingPunct="1"/>
            <a:r>
              <a:rPr lang="en-US" altLang="en-US">
                <a:latin typeface="Times" pitchFamily="2" charset="0"/>
              </a:rPr>
              <a:t>This can be directly equated to the value the threatened asset has for the organization, and hence specify what level of expenditure is reasonable to reduce the probability of its occurrence to an acceptable level. Unfortunately it is often extremely hard to determine accurate probabilities, realistic cost consequences, or both. This is particularly true of intangible assets, like the loss of confidentiality of a trade secret for example. Hence most risk analyses use qualitative, rather than quantitative, ratings for both these items. The goal is then to order the resulting risks to help determine which need to be most urgently treated, rather than give them an absolute value.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C59B6C1E-B24C-420D-F37B-9BF73B228A4F}"/>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DFD88C5-94D5-0547-B053-B19168377D98}" type="slidenum">
              <a:rPr lang="en-AU" altLang="en-US" sz="1200"/>
              <a:pPr/>
              <a:t>32</a:t>
            </a:fld>
            <a:endParaRPr lang="en-AU" altLang="en-US" sz="1200"/>
          </a:p>
        </p:txBody>
      </p:sp>
      <p:sp>
        <p:nvSpPr>
          <p:cNvPr id="52227" name="Rectangle 2">
            <a:extLst>
              <a:ext uri="{FF2B5EF4-FFF2-40B4-BE49-F238E27FC236}">
                <a16:creationId xmlns:a16="http://schemas.microsoft.com/office/drawing/2014/main" id="{DA0F7E89-7CC4-BA77-B15C-DA3A3081B9EA}"/>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A80284E6-ED59-983E-13E1-769C2476A9C0}"/>
              </a:ext>
            </a:extLst>
          </p:cNvPr>
          <p:cNvSpPr>
            <a:spLocks noGrp="1" noChangeArrowheads="1"/>
          </p:cNvSpPr>
          <p:nvPr>
            <p:ph type="body" idx="1"/>
          </p:nvPr>
        </p:nvSpPr>
        <p:spPr>
          <a:noFill/>
        </p:spPr>
        <p:txBody>
          <a:bodyPr/>
          <a:lstStyle/>
          <a:p>
            <a:pPr eaLnBrk="1" hangingPunct="1"/>
            <a:r>
              <a:rPr lang="en-US" altLang="en-US">
                <a:latin typeface="Times" pitchFamily="2" charset="0"/>
              </a:rPr>
              <a:t>Having identified existing controls, the likelihood that each identified threat could occur and cause harm to some asset needs to be specified. The risk analyst takes the descriptive asset and threat/vulnerability details from the preceding steps in this process, and in the light of the organizations overall risk environment and existing controls, decides the appropriate rating. This estimation relates to the likelihood of the specified threat exploiting one or more vulnerabilities to an asset or group of assets, which results in harm being caused to the organization. The likelihood is typically described qualitatively, using values and descriptions such as those shown here from Table 16.2 in the text. Whilst the various risk assessment standards all suggest tables similar to these, there is considerable variation in their detail.</a:t>
            </a:r>
          </a:p>
          <a:p>
            <a:pPr eaLnBrk="1" hangingPunct="1"/>
            <a:r>
              <a:rPr lang="en-US" altLang="en-US">
                <a:latin typeface="Times" pitchFamily="2" charset="0"/>
              </a:rPr>
              <a:t>The specified likelihood needs to be realistic. In particular, a rating of Likely or higher suggests that this threat has occurred sometime previously. This means past history provides supporting evidence for its specification. If this is not the case, then specifying such a value would need to be justified on the basis of a significantly changed threat environment, a change in the IT systems which has weakened it’s security, or some other rationale for its anticipated likely occurrence. In contrast, the Unlikely and Rare ratings can be very hard to quantify. They are an indication that the threat is of concern, but knowing whether it could potentially occur is difficult to specify. Typically such threats would only be considered if the consequences to the organization of their occurrence are so severe that they have to be considered, even if extremely improbable.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43B067C4-C8DF-19D0-625B-888E53CBC8BC}"/>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4168DB74-8350-E343-862A-0C3898B9A18A}" type="slidenum">
              <a:rPr lang="en-AU" altLang="en-US" sz="1200"/>
              <a:pPr/>
              <a:t>33</a:t>
            </a:fld>
            <a:endParaRPr lang="en-AU" altLang="en-US" sz="1200"/>
          </a:p>
        </p:txBody>
      </p:sp>
      <p:sp>
        <p:nvSpPr>
          <p:cNvPr id="54275" name="Rectangle 2">
            <a:extLst>
              <a:ext uri="{FF2B5EF4-FFF2-40B4-BE49-F238E27FC236}">
                <a16:creationId xmlns:a16="http://schemas.microsoft.com/office/drawing/2014/main" id="{E47655FA-E2AE-6921-FA8B-5AF89741611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7EA66833-F52E-A0A5-54EB-F3AD10D5A7F8}"/>
              </a:ext>
            </a:extLst>
          </p:cNvPr>
          <p:cNvSpPr>
            <a:spLocks noGrp="1" noChangeArrowheads="1"/>
          </p:cNvSpPr>
          <p:nvPr>
            <p:ph type="body" idx="1"/>
          </p:nvPr>
        </p:nvSpPr>
        <p:spPr>
          <a:noFill/>
        </p:spPr>
        <p:txBody>
          <a:bodyPr/>
          <a:lstStyle/>
          <a:p>
            <a:pPr eaLnBrk="1" hangingPunct="1"/>
            <a:r>
              <a:rPr lang="en-US" altLang="en-US">
                <a:latin typeface="Times" pitchFamily="2" charset="0"/>
              </a:rPr>
              <a:t>The analyst must then specify the consequence of a specific threat eventuating, which is distinct from, and not related to, the likelihood of the threat occurring. Rather, consequence specification indicates the impact on the organization should the particular threat in question actually eventuate. Even if a threat is regarded as rare or unlikely, if the organization would suffer severe consequence should it occur, then it clearly poses a risk to the organization. Hence, appropriate responses must be considered. A qualitative descriptive value, such as those shown here from Table 16.3 in the text, is typically used to describe the consequence. As with the likelihood ratings, there is likely to be some uncertainty as to the best rating to use.</a:t>
            </a:r>
          </a:p>
          <a:p>
            <a:pPr eaLnBrk="1" hangingPunct="1"/>
            <a:r>
              <a:rPr lang="en-US" altLang="en-US">
                <a:latin typeface="Times" pitchFamily="2" charset="0"/>
              </a:rPr>
              <a:t>This determination should be based upon the judgment of the asset’s owners, and the organization’s management, rather than the opinion of the risk analyst. This is in contrast with the likelihood determination. The specified consequence needs to be realistic. It must relate to the impact on the organization as a whole should this specific threat eventuate. It is not just the impact on the affected system. It is possible that a particular system (a server in one location for example) might be completely destroyed in a fire. However, the impact on the organization could vary from it being a minor inconvenience (the server was in a branch office, and all data was replicated elsewhere), to a major disaster (the server had the sole copy of all customer and financial records for a small business). As with the likelihood ratings, the consequence ratings must be determined knowing the organization’s current practices and arrangements. In particular the organization’s existing backup, disaster recovery, and contingency planning, or lack thereof, will influence the choice of rating.</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5B553CDD-8917-A6D3-AC26-6CD2A67A6E1C}"/>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A4F41674-36F7-F543-91C9-1041D7ED17A5}" type="slidenum">
              <a:rPr lang="en-AU" altLang="en-US" sz="1200"/>
              <a:pPr/>
              <a:t>34</a:t>
            </a:fld>
            <a:endParaRPr lang="en-AU" altLang="en-US" sz="1200"/>
          </a:p>
        </p:txBody>
      </p:sp>
      <p:sp>
        <p:nvSpPr>
          <p:cNvPr id="56323" name="Rectangle 2">
            <a:extLst>
              <a:ext uri="{FF2B5EF4-FFF2-40B4-BE49-F238E27FC236}">
                <a16:creationId xmlns:a16="http://schemas.microsoft.com/office/drawing/2014/main" id="{C89A87B4-2954-F607-CC42-8A90FA3F08F1}"/>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97D2B3CF-326D-F886-0958-1E83C741B894}"/>
              </a:ext>
            </a:extLst>
          </p:cNvPr>
          <p:cNvSpPr>
            <a:spLocks noGrp="1" noChangeArrowheads="1"/>
          </p:cNvSpPr>
          <p:nvPr>
            <p:ph type="body" idx="1"/>
          </p:nvPr>
        </p:nvSpPr>
        <p:spPr>
          <a:noFill/>
        </p:spPr>
        <p:txBody>
          <a:bodyPr/>
          <a:lstStyle/>
          <a:p>
            <a:pPr eaLnBrk="1" hangingPunct="1"/>
            <a:r>
              <a:rPr lang="en-US" altLang="en-US">
                <a:latin typeface="Times" pitchFamily="2" charset="0"/>
              </a:rPr>
              <a:t>Once the likelihood and consequence of each specific threat have been identified, a final level of risk can be assigned. This is typically determined using a table that maps these values to a risk level, such as those shown in Table 16.4 from the text. This table details the risk level assigned to each combination. Such a table provides the qualitative equivalent of performing the ideal risk calculation using quantitative values. It also indicates the interpretation of these assigned levels.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A24BF436-B7D3-FB91-31B8-94DA7F7754F4}"/>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BE58D3B6-55E3-9146-A3AD-13735E279772}" type="slidenum">
              <a:rPr lang="en-AU" altLang="en-US" sz="1200"/>
              <a:pPr/>
              <a:t>35</a:t>
            </a:fld>
            <a:endParaRPr lang="en-AU" altLang="en-US" sz="1200"/>
          </a:p>
        </p:txBody>
      </p:sp>
      <p:sp>
        <p:nvSpPr>
          <p:cNvPr id="58371" name="Rectangle 2">
            <a:extLst>
              <a:ext uri="{FF2B5EF4-FFF2-40B4-BE49-F238E27FC236}">
                <a16:creationId xmlns:a16="http://schemas.microsoft.com/office/drawing/2014/main" id="{456987D0-1620-B506-0476-579601B76C1C}"/>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8A611A49-E311-014E-DA19-D075DECF09FE}"/>
              </a:ext>
            </a:extLst>
          </p:cNvPr>
          <p:cNvSpPr>
            <a:spLocks noGrp="1" noChangeArrowheads="1"/>
          </p:cNvSpPr>
          <p:nvPr>
            <p:ph type="body" idx="1"/>
          </p:nvPr>
        </p:nvSpPr>
        <p:spPr>
          <a:noFill/>
        </p:spPr>
        <p:txBody>
          <a:bodyPr/>
          <a:lstStyle/>
          <a:p>
            <a:pPr eaLnBrk="1" hangingPunct="1"/>
            <a:r>
              <a:rPr lang="en-US" altLang="en-US">
                <a:latin typeface="Times" pitchFamily="2" charset="0"/>
              </a:rPr>
              <a:t>The results of the risk analysis process should be documented in a </a:t>
            </a:r>
            <a:r>
              <a:rPr lang="en-US" altLang="en-US" b="1">
                <a:latin typeface="Times" pitchFamily="2" charset="0"/>
              </a:rPr>
              <a:t>risk register</a:t>
            </a:r>
            <a:r>
              <a:rPr lang="en-US" altLang="en-US">
                <a:latin typeface="Times" pitchFamily="2" charset="0"/>
              </a:rPr>
              <a:t>. This should include a summary table such that shown in Table 16.5 from the text. The risks are usually sorted in decreasing order of level. This would be supported by details of how the various items were determined, including the rationale, justification, and supporting evidence used. The aim of this documentation is to provide senior management with the information they need to make appropriate decisions as how to best manage the identified risks. It also provides evidence that a formal risk assessment process has been followed if needed, and a record of decisions taken with their reasons.</a:t>
            </a:r>
          </a:p>
          <a:p>
            <a:pPr eaLnBrk="1" hangingPunct="1"/>
            <a:r>
              <a:rPr lang="en-US" altLang="en-US">
                <a:latin typeface="Times" pitchFamily="2" charset="0"/>
              </a:rPr>
              <a:t>Once the details of potentially significant risks are determined, management needs to decide whether it needs to take action in response. This would take into account the risk profile of the organization, and its willingness to accept a certain level of risk, as determined in the initial “Establishing the Context” phase of this process. Those items with risk levels below the acceptable level would usually be accepted with no further action required. Those items with risks above this will need to be considered for treatment. Typically the risks with the higher ratings are those that need most urgently action. However, it is likely that some risks will be easier, faster, and cheaper to action than others. In the example shown, both risks were rated High. Further investigation reveals that a relatively simple and cheap treatment exists for the first risk, by tightening the router configuration to further restrict possible accesses. Treating the second risk requires the development of a full disaster recovery plan, a much slower and more costly process. Hence management would take the simple action first, to improve the organization’s overall risk profile as quickly as possible.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8A934C45-B34C-B6C1-066A-EFFDE31BFD98}"/>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58877872-41DC-A64B-BF58-DEB13B86747A}" type="slidenum">
              <a:rPr lang="en-AU" altLang="en-US" sz="1200"/>
              <a:pPr/>
              <a:t>36</a:t>
            </a:fld>
            <a:endParaRPr lang="en-AU" altLang="en-US" sz="1200"/>
          </a:p>
        </p:txBody>
      </p:sp>
      <p:sp>
        <p:nvSpPr>
          <p:cNvPr id="60419" name="Rectangle 2">
            <a:extLst>
              <a:ext uri="{FF2B5EF4-FFF2-40B4-BE49-F238E27FC236}">
                <a16:creationId xmlns:a16="http://schemas.microsoft.com/office/drawing/2014/main" id="{F977821F-4708-FFFF-56C5-203F867DA37F}"/>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548DADC9-6B3A-6BCB-1368-167AFF14A6E4}"/>
              </a:ext>
            </a:extLst>
          </p:cNvPr>
          <p:cNvSpPr>
            <a:spLocks noGrp="1" noChangeArrowheads="1"/>
          </p:cNvSpPr>
          <p:nvPr>
            <p:ph type="body" idx="1"/>
          </p:nvPr>
        </p:nvSpPr>
        <p:spPr>
          <a:noFill/>
        </p:spPr>
        <p:txBody>
          <a:bodyPr/>
          <a:lstStyle/>
          <a:p>
            <a:pPr eaLnBrk="1" hangingPunct="1"/>
            <a:r>
              <a:rPr lang="en-US" altLang="en-US" dirty="0">
                <a:latin typeface="Times" pitchFamily="2" charset="0"/>
              </a:rPr>
              <a:t>Management may decide that for business reasons, given an overall view of the organization, some risks with lower levels should be treated ahead of other risks. This is both a reflection of limitations in the risk analysis process in the range of ratings available and their interpretation, and management’s perspective of the organization as a whole. Figure 16.5 from the text shows a range of possibilities for costs verses levels of risk. If the cost of treatment is high, but the risk is low, then it is usually uneconomic to proceed with such treatment. Alternatively, where the risk is high, and the cost comparatively low, then clearly treatment should occur. The most difficult area occurs between these extremes. This is where management must make a business decision about the most effective use of their available resources. This decision usually requires a more detailed investigation of the treatment options.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86E584F-6562-710A-040C-88ED007D4E17}"/>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C3B62C1E-DEA8-6B4F-82AD-4F94D233A35A}" type="slidenum">
              <a:rPr lang="en-AU" altLang="en-US" sz="1200"/>
              <a:pPr/>
              <a:t>37</a:t>
            </a:fld>
            <a:endParaRPr lang="en-AU" altLang="en-US" sz="1200"/>
          </a:p>
        </p:txBody>
      </p:sp>
      <p:sp>
        <p:nvSpPr>
          <p:cNvPr id="62467" name="Rectangle 2">
            <a:extLst>
              <a:ext uri="{FF2B5EF4-FFF2-40B4-BE49-F238E27FC236}">
                <a16:creationId xmlns:a16="http://schemas.microsoft.com/office/drawing/2014/main" id="{48546C05-96C1-3DD4-41B1-CCC14C6A1BD6}"/>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5D932688-4D6A-EC90-BAD1-5A0F3EDE4702}"/>
              </a:ext>
            </a:extLst>
          </p:cNvPr>
          <p:cNvSpPr>
            <a:spLocks noGrp="1" noChangeArrowheads="1"/>
          </p:cNvSpPr>
          <p:nvPr>
            <p:ph type="body" idx="1"/>
          </p:nvPr>
        </p:nvSpPr>
        <p:spPr>
          <a:noFill/>
        </p:spPr>
        <p:txBody>
          <a:bodyPr/>
          <a:lstStyle/>
          <a:p>
            <a:pPr eaLnBrk="1" hangingPunct="1"/>
            <a:r>
              <a:rPr lang="en-US" altLang="en-US">
                <a:latin typeface="Times" pitchFamily="2" charset="0"/>
              </a:rPr>
              <a:t>There are five broad alternatives available to management for treating identified risks:</a:t>
            </a:r>
          </a:p>
          <a:p>
            <a:pPr eaLnBrk="1" hangingPunct="1">
              <a:buFont typeface="Symbol" pitchFamily="2" charset="2"/>
              <a:buChar char="·"/>
            </a:pPr>
            <a:r>
              <a:rPr lang="en-US" altLang="en-US" b="1">
                <a:latin typeface="Times" pitchFamily="2" charset="0"/>
              </a:rPr>
              <a:t>risk acceptance:</a:t>
            </a:r>
            <a:r>
              <a:rPr lang="en-US" altLang="en-US">
                <a:latin typeface="Times" pitchFamily="2" charset="0"/>
              </a:rPr>
              <a:t> of a risk level greater than normal for business reasons, typically due to excessive cost or time needed to treat the risk. Management must then accept responsibility for the consequences to the organization should the risk eventuate.</a:t>
            </a:r>
          </a:p>
          <a:p>
            <a:pPr eaLnBrk="1" hangingPunct="1">
              <a:buFont typeface="Symbol" pitchFamily="2" charset="2"/>
              <a:buChar char="·"/>
            </a:pPr>
            <a:r>
              <a:rPr lang="en-US" altLang="en-US" b="1">
                <a:latin typeface="Times" pitchFamily="2" charset="0"/>
              </a:rPr>
              <a:t>risk avoidance:</a:t>
            </a:r>
            <a:r>
              <a:rPr lang="en-US" altLang="en-US">
                <a:latin typeface="Times" pitchFamily="2" charset="0"/>
              </a:rPr>
              <a:t> not proceeding with the activity or system which creates this risk, resulting in loss of convenience or ability to perform some function that is useful to the organization, but traded off against the reduced risk profile.</a:t>
            </a:r>
          </a:p>
          <a:p>
            <a:pPr eaLnBrk="1" hangingPunct="1">
              <a:buFont typeface="Symbol" pitchFamily="2" charset="2"/>
              <a:buChar char="·"/>
            </a:pPr>
            <a:r>
              <a:rPr lang="en-US" altLang="en-US" b="1">
                <a:latin typeface="Times" pitchFamily="2" charset="0"/>
              </a:rPr>
              <a:t>risk transferal:</a:t>
            </a:r>
            <a:r>
              <a:rPr lang="en-US" altLang="en-US">
                <a:latin typeface="Times" pitchFamily="2" charset="0"/>
              </a:rPr>
              <a:t> sharing responsibility for the risk with a third-party. This is typically achieved by taking out insurance against the risk occurring, by entering into a contract with another organization, or by using partnership or joint venture structures to share the risks and costs should it eventuate.</a:t>
            </a:r>
          </a:p>
          <a:p>
            <a:pPr eaLnBrk="1" hangingPunct="1">
              <a:buFont typeface="Symbol" pitchFamily="2" charset="2"/>
              <a:buChar char="·"/>
            </a:pPr>
            <a:r>
              <a:rPr lang="en-US" altLang="en-US" b="1">
                <a:latin typeface="Times" pitchFamily="2" charset="0"/>
              </a:rPr>
              <a:t>reduce the consequence:</a:t>
            </a:r>
            <a:r>
              <a:rPr lang="en-US" altLang="en-US">
                <a:latin typeface="Times" pitchFamily="2" charset="0"/>
              </a:rPr>
              <a:t> by modifying the structure or use of the assets at risk to reduce the impact on the organization should the risk occur. This could be achieved by implementing controls to enable the organization to quickly recover should the risk occur. Examples include implementing an offsite backup process, developing a disaster recovery plan, or arranging for data and processing to be replicated </a:t>
            </a:r>
          </a:p>
          <a:p>
            <a:pPr eaLnBrk="1" hangingPunct="1">
              <a:buFont typeface="Symbol" pitchFamily="2" charset="2"/>
              <a:buChar char="·"/>
            </a:pPr>
            <a:r>
              <a:rPr lang="en-US" altLang="en-US" b="1">
                <a:latin typeface="Times" pitchFamily="2" charset="0"/>
              </a:rPr>
              <a:t>reduce the likelihood:</a:t>
            </a:r>
            <a:r>
              <a:rPr lang="en-US" altLang="en-US">
                <a:latin typeface="Times" pitchFamily="2" charset="0"/>
              </a:rPr>
              <a:t> by implementing suitable controls to lower the chance of the vulnerability being exploited. These could include technical or administrative controls such as deploying firewalls and access tokens, or procedures such as password complexity and change policies. Such controls aim to improve the security of the asset, making it harder for an attack to succeed by reducing the vulnerability of the asset.</a:t>
            </a:r>
          </a:p>
          <a:p>
            <a:pPr eaLnBrk="1" hangingPunct="1">
              <a:buFont typeface="Symbol" pitchFamily="2" charset="2"/>
              <a:buNone/>
            </a:pPr>
            <a:r>
              <a:rPr lang="en-US" altLang="en-US">
                <a:latin typeface="Times" pitchFamily="2" charset="0"/>
              </a:rPr>
              <a:t>If either of the last two options is chosen, then possible treatment controls need to be selected, and their cost effectiveness evaluated. We discuss this in the text chapter 17.</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CF06F5FC-9C50-9DBF-6085-C0697C10FC6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96146228-DA2C-7A4A-A53F-72BFE5A0D553}" type="slidenum">
              <a:rPr lang="en-AU" altLang="en-US" sz="1200"/>
              <a:pPr/>
              <a:t>38</a:t>
            </a:fld>
            <a:endParaRPr lang="en-AU" altLang="en-US" sz="1200"/>
          </a:p>
        </p:txBody>
      </p:sp>
      <p:sp>
        <p:nvSpPr>
          <p:cNvPr id="23555" name="Rectangle 2">
            <a:extLst>
              <a:ext uri="{FF2B5EF4-FFF2-40B4-BE49-F238E27FC236}">
                <a16:creationId xmlns:a16="http://schemas.microsoft.com/office/drawing/2014/main" id="{D2FD4975-49BF-5312-9314-1F97F83F92F1}"/>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E2761CE1-AEC7-7024-B252-EB46679588E8}"/>
              </a:ext>
            </a:extLst>
          </p:cNvPr>
          <p:cNvSpPr>
            <a:spLocks noGrp="1" noChangeArrowheads="1"/>
          </p:cNvSpPr>
          <p:nvPr>
            <p:ph type="body" idx="1"/>
          </p:nvPr>
        </p:nvSpPr>
        <p:spPr>
          <a:noFill/>
        </p:spPr>
        <p:txBody>
          <a:bodyPr/>
          <a:lstStyle/>
          <a:p>
            <a:pPr eaLnBrk="1" hangingPunct="1"/>
            <a:r>
              <a:rPr lang="en-US" altLang="en-US">
                <a:latin typeface="Times" pitchFamily="2" charset="0"/>
              </a:rPr>
              <a:t>The key risk management component of the IT security process is critical, since without it there is a significant chance that resources will not be deployed where most effective. The result will be that some risks are not addressed, leaving the organization vulnerable, whilst other safeguards may be deployed without sufficient justification, wasting time and money. Ideally every single organizational asset is examined, and every conceivable risk to it evaluated. If a risk is judged to be too great, then appropriate remedial controls are deployed to reduce the risk to an acceptable level. In practice this is clearly impossible. </a:t>
            </a:r>
          </a:p>
          <a:p>
            <a:pPr eaLnBrk="1" hangingPunct="1"/>
            <a:r>
              <a:rPr lang="en-US" altLang="en-US">
                <a:latin typeface="Times" pitchFamily="2" charset="0"/>
              </a:rPr>
              <a:t>Given the very wide range of organizations there clearly needs to be a range of alternatives available in performing this process. There are a range of formal standards which detail suitable IT security risk assessment processes, including [ISO13335] and [NIST02]. In particular, [ISO13335] recognizes four approaches to identifying and mitigating risks to an organization's IT infrastructure: baseline approach, informal approach, detailed risk analysis, combined approach.</a:t>
            </a:r>
          </a:p>
          <a:p>
            <a:pPr eaLnBrk="1" hangingPunct="1"/>
            <a:r>
              <a:rPr lang="en-US" altLang="en-US">
                <a:latin typeface="Times" pitchFamily="2" charset="0"/>
              </a:rPr>
              <a:t>The choice among these will be determined by the resources available to the organization, and from an initial high-level risk analysis that considers how valuable the IT systems are, and how critical to the organization’s business objectives. Legal and regulatory constraints may also require specific approaches. This information should be determined when developing the organization’s IT security objectives, strategies and policies. </a:t>
            </a:r>
          </a:p>
        </p:txBody>
      </p:sp>
    </p:spTree>
    <p:extLst>
      <p:ext uri="{BB962C8B-B14F-4D97-AF65-F5344CB8AC3E}">
        <p14:creationId xmlns:p14="http://schemas.microsoft.com/office/powerpoint/2010/main" val="32943559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BA8DDF8A-B5EC-A6F6-A5BD-3D065D17543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0F48B28-245B-B54D-8743-651E64E1C743}" type="slidenum">
              <a:rPr lang="en-AU" altLang="en-US" sz="1200"/>
              <a:pPr/>
              <a:t>39</a:t>
            </a:fld>
            <a:endParaRPr lang="en-AU" altLang="en-US" sz="1200"/>
          </a:p>
        </p:txBody>
      </p:sp>
      <p:sp>
        <p:nvSpPr>
          <p:cNvPr id="64515" name="Rectangle 2">
            <a:extLst>
              <a:ext uri="{FF2B5EF4-FFF2-40B4-BE49-F238E27FC236}">
                <a16:creationId xmlns:a16="http://schemas.microsoft.com/office/drawing/2014/main" id="{957D0DC7-874E-2E4D-40A2-2B40BA8A0C69}"/>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23CB9303-4AB6-FC9A-1412-6EC4B2FA0A51}"/>
              </a:ext>
            </a:extLst>
          </p:cNvPr>
          <p:cNvSpPr>
            <a:spLocks noGrp="1" noChangeArrowheads="1"/>
          </p:cNvSpPr>
          <p:nvPr>
            <p:ph type="body" idx="1"/>
          </p:nvPr>
        </p:nvSpPr>
        <p:spPr>
          <a:noFill/>
        </p:spPr>
        <p:txBody>
          <a:bodyPr/>
          <a:lstStyle/>
          <a:p>
            <a:pPr eaLnBrk="1" hangingPunct="1"/>
            <a:r>
              <a:rPr lang="en-US" altLang="en-US">
                <a:latin typeface="Times" pitchFamily="2" charset="0"/>
              </a:rPr>
              <a:t>This case study involving the operations of a fictional company “Silver Star Mines”, the local operations of a large global mining company. It has a large IT infrastructure used by numerous business areas. Its network includes a variety of servers, executing a range of application software typical of organizations of its size. It also uses applications that are far less common, some of which directly relates to the health and safety of those working in the mine. Many of these systems used to be isolated, with no network connections between them. In recent years they have been connected together, and connected to the company’s intranet to provide better management capabilities. However, this means they are now potentially accessible from the Internet, which has greatly increased the risks to these systems.</a:t>
            </a:r>
          </a:p>
          <a:p>
            <a:pPr eaLnBrk="1" hangingPunct="1"/>
            <a:r>
              <a:rPr lang="en-US" altLang="en-US">
                <a:latin typeface="Times" pitchFamily="2" charset="0"/>
              </a:rPr>
              <a:t>A security analyst was contracted to provide an initial review of the company’s risk profile, and to recommend further action for improvement. Following initial discussion with company management, a decision was made to adopt a “combined approach” to security management. The analyst was then asked to conduct a preliminary formal assessment of their key IT systems to identify those most at risk, which management could then consider for treatment.</a:t>
            </a:r>
          </a:p>
          <a:p>
            <a:pPr eaLnBrk="1" hangingPunct="1"/>
            <a:r>
              <a:rPr lang="en-US" altLang="en-US">
                <a:latin typeface="Times" pitchFamily="2" charset="0"/>
              </a:rPr>
              <a:t>The first step was to determine the context for the risk assessment. Being in the mining industry sector places the company at the less risky end of the spectrum, and consequently less likely to be specifically targeted. Silver Star Mines is part of a large organization, and hence is subject to legal requirements for occupational health and safety, and is answerable to its shareholders. Thus management decided that they wished to accept only moderate or lower risks in general.</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09" charset="0"/>
                <a:ea typeface="+mn-ea"/>
                <a:cs typeface="+mn-cs"/>
              </a:rPr>
              <a:t>Next, the key assets had to be identified. The analyst conducted interviews with key IT and engineering managers in the company. A number of the engineering managers emphasized how important the reliability of the SCADA network and nodes were to the company. They control and monitor the core mining operations of the company and enable it to operate safely and efficiently and, most crucially, to generate revenue. Some of these systems also maintain the records required by law, which are regularly inspected by the government agencies responsible for the mining industry. Any failure to create, preserve, and produce on demand these records would expose the company to fines and other legal sanctions. Hence, these systems were listed as the first key asset.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A number of the IT managers indicated that a large amount of critical data was stored on various file servers either in individual files or in databases. They identified the importance of the integrity of these data to the company. Some of these data were generated automatically by applications. Other data were created by employees using common office applications. Some of this needed be available for audits by government agencies. There were also data on production and operational results, contracts and tendering, personnel, application backups, operational and capital expenditure, mine survey and planning, and exploratory drilling. Collectively, the integrity of stored data was identified as the second key asset.</a:t>
            </a:r>
          </a:p>
          <a:p>
            <a:endParaRPr lang="en-US" sz="1200" kern="1200" baseline="0" dirty="0">
              <a:solidFill>
                <a:schemeClr val="tx1"/>
              </a:solidFill>
              <a:latin typeface="Arial" pitchFamily="-109" charset="0"/>
              <a:ea typeface="+mn-ea"/>
              <a:cs typeface="+mn-cs"/>
            </a:endParaRPr>
          </a:p>
          <a:p>
            <a:r>
              <a:rPr lang="en-US" sz="1200" kern="1200" baseline="0" dirty="0">
                <a:solidFill>
                  <a:schemeClr val="tx1"/>
                </a:solidFill>
                <a:latin typeface="Arial" pitchFamily="-109" charset="0"/>
                <a:ea typeface="+mn-ea"/>
                <a:cs typeface="+mn-cs"/>
              </a:rPr>
              <a:t>These managers also indicated that three key systems—the Financial, Procurement, and Maintenance/Production servers—were critical to the effective operation of core business areas. Any compromise in the availability or integrity of these systems would impact the company’s ability to operate effectively. Hence each of these were identified as a key asset.</a:t>
            </a:r>
            <a:endParaRPr lang="en-US"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53805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01AB0FF6-4782-BD96-B337-3ADD284A6BFA}"/>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F5F029E0-D910-7347-9C36-A0362132704E}" type="slidenum">
              <a:rPr lang="en-AU" altLang="en-US" sz="1200"/>
              <a:pPr/>
              <a:t>41</a:t>
            </a:fld>
            <a:endParaRPr lang="en-AU" altLang="en-US" sz="1200"/>
          </a:p>
        </p:txBody>
      </p:sp>
      <p:sp>
        <p:nvSpPr>
          <p:cNvPr id="66563" name="Rectangle 2">
            <a:extLst>
              <a:ext uri="{FF2B5EF4-FFF2-40B4-BE49-F238E27FC236}">
                <a16:creationId xmlns:a16="http://schemas.microsoft.com/office/drawing/2014/main" id="{1D1336BC-7621-7CD9-46AA-5A90031BE2AA}"/>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CBF3AEF6-F894-2D57-56CB-52DE63F66F83}"/>
              </a:ext>
            </a:extLst>
          </p:cNvPr>
          <p:cNvSpPr>
            <a:spLocks noGrp="1" noChangeArrowheads="1"/>
          </p:cNvSpPr>
          <p:nvPr>
            <p:ph type="body" idx="1"/>
          </p:nvPr>
        </p:nvSpPr>
        <p:spPr>
          <a:noFill/>
        </p:spPr>
        <p:txBody>
          <a:bodyPr/>
          <a:lstStyle/>
          <a:p>
            <a:pPr eaLnBrk="1" hangingPunct="1"/>
            <a:r>
              <a:rPr lang="en-US" altLang="en-US">
                <a:latin typeface="Times" pitchFamily="2" charset="0"/>
              </a:rPr>
              <a:t>Next, the key assets had to be identified. The analyst conducted interviews with key IT and engineering managers in the company. A number of the engineering managers emphasized how important the reliability of the SCADA (Supervisory Control and Data Acquisition) network and nodes were to the company. They control and monitor the core mining operations of the company and enable it to operate safely, efficiently, and most crucially to generate revenue. Some of these systems also maintain the records required by law, and which are regularly inspected by the government agencies responsible for the mining industry. Any failure to create, preserve and produce on demand these records would expose the company to fines and other legal sanctions. Hence, these systems were listed as the first key asset. A number of the IT managers indicated that a large amount of critical data was stored on various file servers either in individual files, or in databases. They identified the importance of the integrity of this data to the company. Some of this needed be available for audits by government agencies. There were also data on production and operational results, contracts and tendering, personnel, application backups, operational and capital expenditure, mine survey and planning, and exploratory drilling. Collectively, the integrity of stored data was the second key asset. These managers also indicated that three key systems: the Financial, Procurement, and Maintenance/Production servers, were critical to the effective operation of core business areas. Any compromise in the availability or integrity of these systems would impact on the company’s ability to operate effectively.  Lastly, the analyst identified e-mail as a key asset, as a result of interviews with all business areas of the company. E-mail is given greater importance than usual due to the remote location of the company. Hence the collective availability, integrity and confidentiality of mail services was listed as a key asset.</a:t>
            </a:r>
          </a:p>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0339306E-9D60-E32B-8B77-46AA15806C78}"/>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87665C57-348A-5744-8C96-4BC3EE44650D}" type="slidenum">
              <a:rPr lang="en-AU" altLang="en-US" sz="1200"/>
              <a:pPr/>
              <a:t>42</a:t>
            </a:fld>
            <a:endParaRPr lang="en-AU" altLang="en-US" sz="1200"/>
          </a:p>
        </p:txBody>
      </p:sp>
      <p:sp>
        <p:nvSpPr>
          <p:cNvPr id="68611" name="Rectangle 2">
            <a:extLst>
              <a:ext uri="{FF2B5EF4-FFF2-40B4-BE49-F238E27FC236}">
                <a16:creationId xmlns:a16="http://schemas.microsoft.com/office/drawing/2014/main" id="{45BDEB05-BC4E-D145-98E9-6A0061C843F5}"/>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98F8B650-4262-F957-98D3-4B9C9DBD8D21}"/>
              </a:ext>
            </a:extLst>
          </p:cNvPr>
          <p:cNvSpPr>
            <a:spLocks noGrp="1" noChangeArrowheads="1"/>
          </p:cNvSpPr>
          <p:nvPr>
            <p:ph type="body" idx="1"/>
          </p:nvPr>
        </p:nvSpPr>
        <p:spPr>
          <a:noFill/>
        </p:spPr>
        <p:txBody>
          <a:bodyPr/>
          <a:lstStyle/>
          <a:p>
            <a:pPr eaLnBrk="1" hangingPunct="1"/>
            <a:r>
              <a:rPr lang="en-US" altLang="en-US">
                <a:latin typeface="Times" pitchFamily="2" charset="0"/>
              </a:rPr>
              <a:t>Having determined the list of key assets, the analyst needed to identify significant threats to these assets, and to specify the likelihood and consequence values. The major concern with the SCADA asset is unauthorized compromise of nodes by an external source. These systems were originally designed for use on physically isolated and trusted networks, and hence were not hardened against external attack to the degree that modern systems can be. Recognizing that the SCADA nodes are very likely insecure, these connections are isolated from the company intranet by additional firewall and proxy server systems. The second asset concerned the integrity of stored information. These assets could be compromised by both internal and external sources. All indications are that such database security breaches are increasing, and that access to such data is a primary goal of intruders. These systems are located on the company intranet, and hence are shielded by the company’s outer firewall from much external access. However, should that firewall be compromised, or an attacker gain indirect access using infected internal systems, compromise of the data was possible. The availability or integrity of the key Financial, Procurement, and Maintenance/Production systems could be compromised by any form of attack on the operating system or applications they use. Although their location on the company intranet does provide some protection, due to the nature of the company structure a number of these systems have not been patched or maintained for some time. This means at least some of the systems would be vulnerable to a range of network attacks if accessible. The last asset is the availability, integrity and confidentiality of mail services. Without an effective e-mail system the company will operate with less efficiency.</a:t>
            </a:r>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5C8D8BCC-395F-A536-667C-23E8FA3E87DE}"/>
              </a:ext>
            </a:extLst>
          </p:cNvPr>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29143FED-5C54-A041-A87D-9CFB72F576EE}" type="slidenum">
              <a:rPr lang="en-AU" altLang="en-US" sz="1200"/>
              <a:pPr/>
              <a:t>43</a:t>
            </a:fld>
            <a:endParaRPr lang="en-AU" altLang="en-US" sz="1200"/>
          </a:p>
        </p:txBody>
      </p:sp>
      <p:sp>
        <p:nvSpPr>
          <p:cNvPr id="70659" name="Rectangle 2">
            <a:extLst>
              <a:ext uri="{FF2B5EF4-FFF2-40B4-BE49-F238E27FC236}">
                <a16:creationId xmlns:a16="http://schemas.microsoft.com/office/drawing/2014/main" id="{DCC3EC90-0385-EC86-C391-0441F19ECE7B}"/>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13716822-CD5F-06DC-A198-B059E7796725}"/>
              </a:ext>
            </a:extLst>
          </p:cNvPr>
          <p:cNvSpPr>
            <a:spLocks noGrp="1" noChangeArrowheads="1"/>
          </p:cNvSpPr>
          <p:nvPr>
            <p:ph type="body" idx="1"/>
          </p:nvPr>
        </p:nvSpPr>
        <p:spPr>
          <a:noFill/>
        </p:spPr>
        <p:txBody>
          <a:bodyPr/>
          <a:lstStyle/>
          <a:p>
            <a:pPr eaLnBrk="1" hangingPunct="1"/>
            <a:r>
              <a:rPr lang="en-US" altLang="en-US">
                <a:latin typeface="Times" pitchFamily="2" charset="0"/>
              </a:rPr>
              <a:t>Given that externally sourced attacks are increasing, and known cases of attacks on SCADA networks exist, the analyst concluded that whilst an attack was very unlikely, it could still possibly occur. Thus a likelihood rating of Rare was chosen. The consequence of successful attack could have serious consequences as it could affect the safety of personnel in the mine, and the financial impact could be. A consequence rating of Major was selected. This results in a risk level of High. For integrity of stored information, a likelihood rating of Possible was chosen. Discussions with IT managers revealed that some of this information is confidential and may cause financial harm if disclosed to others, as well as the possibility of serious legal consequences if personal information was disclosed, or if the results of statutory tests and process information were lost. Hence a consequence rating of Major was selected. This results in a risk level of Extreme. For availability or integrity of the key Financial, Procurement, and Maintenance/Production systems a likelihood of Possible was specified. Discussions with management indicated that the degree of harm would be proportional to extent and duration of the attack. An attack would have a detrimental impact on the efficiency of operations. Consequence ratings of Moderate and Minor respectively were selected, resulting in risk levels of High or Medium. For availability, integrity and confidentiality of mail services, a likelihood rating of Almost Certain was selected in recognition of the wide range of possible attacks, and the high chance that one will occur sooner rather than later. Discussions with management indicated that whilst other possible modes of communication exist, they do not allow for transmission of electronic documents. Since compromise would not have a large impact, a consequence of Minor was selected. This results in a risk level of High. The information was summarized and presented to management, with the final result of this risk assessment process is shown in this Table 16.6.</a:t>
            </a:r>
          </a:p>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itchFamily="-107" charset="0"/>
              </a:rPr>
              <a:t>Chapter 14 summary.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71858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We introduced the IT security management process in Chapter 14, illustrated by Figure 14.1. Chapter 14 focused on the earlier stages of this process. In this chapter, we focus on the latter stages, which include selecting controls, developing an implementation plan, and the follow-up monitoring of the plan’s implementation. We broadly follow the guidance provided in NIST SP 800-39 (Managing Information Security Risk: Organization, Mission, and Information System View , March 2011), which was developed by NIST in 2011 as the flagship document for providing guidance for an integrated, organization-wide program for managing information security risk, in response to FISMA. A broad summary of these steps is given in Figure 15.1. We will discuss each of these in turn.</a:t>
            </a:r>
          </a:p>
          <a:p>
            <a:r>
              <a:rPr lang="en-US" sz="1200" kern="1200" dirty="0">
                <a:solidFill>
                  <a:schemeClr val="tx1"/>
                </a:solidFill>
                <a:effectLst/>
                <a:latin typeface="Arial" pitchFamily="-110" charset="0"/>
                <a:ea typeface="ＭＳ Ｐゴシック" pitchFamily="33" charset="-128"/>
                <a:cs typeface="ＭＳ Ｐゴシック" pitchFamily="33" charset="-128"/>
              </a:rPr>
              <a:t>
The illustration involves the steps as follows.</a:t>
            </a:r>
          </a:p>
          <a:p>
            <a:r>
              <a:rPr lang="en-US" sz="1200" kern="1200" dirty="0">
                <a:solidFill>
                  <a:schemeClr val="tx1"/>
                </a:solidFill>
                <a:effectLst/>
                <a:latin typeface="Arial" pitchFamily="-110" charset="0"/>
                <a:ea typeface="ＭＳ Ｐゴシック" pitchFamily="33" charset="-128"/>
                <a:cs typeface="ＭＳ Ｐゴシック" pitchFamily="33" charset="-128"/>
              </a:rPr>
              <a:t>Step 1. Prioritize risks, Management review of risk register.</a:t>
            </a:r>
          </a:p>
          <a:p>
            <a:r>
              <a:rPr lang="en-US" sz="1200" kern="1200" dirty="0">
                <a:solidFill>
                  <a:schemeClr val="tx1"/>
                </a:solidFill>
                <a:effectLst/>
                <a:latin typeface="Arial" pitchFamily="-110" charset="0"/>
                <a:ea typeface="ＭＳ Ｐゴシック" pitchFamily="33" charset="-128"/>
                <a:cs typeface="ＭＳ Ｐゴシック" pitchFamily="33" charset="-128"/>
              </a:rPr>
              <a:t>Step 2. Respond to risks. Step 2 involves the following.</a:t>
            </a:r>
          </a:p>
          <a:p>
            <a:r>
              <a:rPr lang="en-US" sz="1200" kern="1200" dirty="0">
                <a:solidFill>
                  <a:schemeClr val="tx1"/>
                </a:solidFill>
                <a:effectLst/>
                <a:latin typeface="Arial" pitchFamily="-110" charset="0"/>
                <a:ea typeface="ＭＳ Ｐゴシック" pitchFamily="33" charset="-128"/>
                <a:cs typeface="ＭＳ Ｐゴシック" pitchFamily="33" charset="-128"/>
              </a:rPr>
              <a:t>• Determine risk response, accept, avoid, mitigate, share</a:t>
            </a:r>
          </a:p>
          <a:p>
            <a:r>
              <a:rPr lang="en-US" sz="1200" kern="1200" dirty="0">
                <a:solidFill>
                  <a:schemeClr val="tx1"/>
                </a:solidFill>
                <a:effectLst/>
                <a:latin typeface="Arial" pitchFamily="-110" charset="0"/>
                <a:ea typeface="ＭＳ Ｐゴシック" pitchFamily="33" charset="-128"/>
                <a:cs typeface="ＭＳ Ｐゴシック" pitchFamily="33" charset="-128"/>
              </a:rPr>
              <a:t>• Evaluate recommended control options</a:t>
            </a:r>
          </a:p>
          <a:p>
            <a:r>
              <a:rPr lang="en-US" sz="1200" kern="1200" dirty="0">
                <a:solidFill>
                  <a:schemeClr val="tx1"/>
                </a:solidFill>
                <a:effectLst/>
                <a:latin typeface="Arial" pitchFamily="-110" charset="0"/>
                <a:ea typeface="ＭＳ Ｐゴシック" pitchFamily="33" charset="-128"/>
                <a:cs typeface="ＭＳ Ｐゴシック" pitchFamily="33" charset="-128"/>
              </a:rPr>
              <a:t>• Select controls</a:t>
            </a:r>
          </a:p>
          <a:p>
            <a:r>
              <a:rPr lang="en-US" sz="1200" kern="1200" dirty="0">
                <a:solidFill>
                  <a:schemeClr val="tx1"/>
                </a:solidFill>
                <a:effectLst/>
                <a:latin typeface="Arial" pitchFamily="-110" charset="0"/>
                <a:ea typeface="ＭＳ Ｐゴシック" pitchFamily="33" charset="-128"/>
                <a:cs typeface="ＭＳ Ｐゴシック" pitchFamily="33" charset="-128"/>
              </a:rPr>
              <a:t>• Develop implementation plan</a:t>
            </a:r>
          </a:p>
          <a:p>
            <a:r>
              <a:rPr lang="en-US" sz="1200" kern="1200" dirty="0">
                <a:solidFill>
                  <a:schemeClr val="tx1"/>
                </a:solidFill>
                <a:effectLst/>
                <a:latin typeface="Arial" pitchFamily="-110" charset="0"/>
                <a:ea typeface="ＭＳ Ｐゴシック" pitchFamily="33" charset="-128"/>
                <a:cs typeface="ＭＳ Ｐゴシック" pitchFamily="33" charset="-128"/>
              </a:rPr>
              <a:t>• Implement selected controls</a:t>
            </a:r>
          </a:p>
          <a:p>
            <a:r>
              <a:rPr lang="en-US" sz="1200" kern="1200" dirty="0">
                <a:solidFill>
                  <a:schemeClr val="tx1"/>
                </a:solidFill>
                <a:effectLst/>
                <a:latin typeface="Arial" pitchFamily="-110" charset="0"/>
                <a:ea typeface="ＭＳ Ｐゴシック" pitchFamily="33" charset="-128"/>
                <a:cs typeface="ＭＳ Ｐゴシック" pitchFamily="33" charset="-128"/>
              </a:rPr>
              <a:t>Step 3. Monitor risks. Arrows extend from one step to the other.</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712432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A risk assessment on an organization’s IT systems identifies areas needing treatment. The next step, as shown in Figure 14.1 on risk analysis options, is to select suitable controls to use in this treatment. An IT security </a:t>
            </a:r>
            <a:r>
              <a:rPr lang="en-US" sz="1200" b="1" kern="1200" dirty="0">
                <a:solidFill>
                  <a:schemeClr val="tx1"/>
                </a:solidFill>
                <a:effectLst/>
                <a:latin typeface="Arial" pitchFamily="-110" charset="0"/>
                <a:ea typeface="ＭＳ Ｐゴシック" pitchFamily="33" charset="-128"/>
                <a:cs typeface="ＭＳ Ｐゴシック" pitchFamily="33" charset="-128"/>
              </a:rPr>
              <a:t>control, safeguard</a:t>
            </a:r>
            <a:r>
              <a:rPr lang="en-US" sz="1200" kern="1200" dirty="0">
                <a:solidFill>
                  <a:schemeClr val="tx1"/>
                </a:solidFill>
                <a:effectLst/>
                <a:latin typeface="Arial" pitchFamily="-110" charset="0"/>
                <a:ea typeface="ＭＳ Ｐゴシック" pitchFamily="33" charset="-128"/>
                <a:cs typeface="ＭＳ Ｐゴシック" pitchFamily="33" charset="-128"/>
              </a:rPr>
              <a:t>, or </a:t>
            </a:r>
            <a:r>
              <a:rPr lang="en-US" sz="1200" b="1" kern="1200" dirty="0">
                <a:solidFill>
                  <a:schemeClr val="tx1"/>
                </a:solidFill>
                <a:effectLst/>
                <a:latin typeface="Arial" pitchFamily="-110" charset="0"/>
                <a:ea typeface="ＭＳ Ｐゴシック" pitchFamily="33" charset="-128"/>
                <a:cs typeface="ＭＳ Ｐゴシック" pitchFamily="33" charset="-128"/>
              </a:rPr>
              <a:t>countermeasure </a:t>
            </a:r>
            <a:r>
              <a:rPr lang="en-US" sz="1200" kern="1200" dirty="0">
                <a:solidFill>
                  <a:schemeClr val="tx1"/>
                </a:solidFill>
                <a:effectLst/>
                <a:latin typeface="Arial" pitchFamily="-110" charset="0"/>
                <a:ea typeface="ＭＳ Ｐゴシック" pitchFamily="33" charset="-128"/>
                <a:cs typeface="ＭＳ Ｐゴシック" pitchFamily="33" charset="-128"/>
              </a:rPr>
              <a:t>(the terms are used interchangeably) helps to reduce risks. We use the following definition:</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110" charset="0"/>
                <a:ea typeface="ＭＳ Ｐゴシック" pitchFamily="33" charset="-128"/>
                <a:cs typeface="ＭＳ Ｐゴシック" pitchFamily="33" charset="-128"/>
              </a:rPr>
              <a:t>“</a:t>
            </a:r>
            <a:r>
              <a:rPr lang="en-US" sz="1200" kern="1200" dirty="0">
                <a:solidFill>
                  <a:schemeClr val="tx1"/>
                </a:solidFill>
                <a:latin typeface="Arial" pitchFamily="-110" charset="0"/>
                <a:ea typeface="ＭＳ Ｐゴシック" pitchFamily="33" charset="-128"/>
                <a:cs typeface="ＭＳ Ｐゴシック" pitchFamily="33" charset="-128"/>
              </a:rPr>
              <a:t>An action, device, procedure, or other measure that reduces risk by eliminating or preventing a  security violation, by minimizing the harm it can cause, or by discovering and reporting it to enable corrective action</a:t>
            </a:r>
            <a:r>
              <a:rPr lang="en-US" sz="1200" kern="1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110" charset="0"/>
                <a:ea typeface="ＭＳ Ｐゴシック" pitchFamily="33" charset="-128"/>
                <a:cs typeface="ＭＳ Ｐゴシック" pitchFamily="33" charset="-128"/>
              </a:rPr>
              <a:t>.”</a:t>
            </a:r>
            <a:endParaRPr lang="en-US" dirty="0">
              <a:latin typeface="Times New Roman"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517435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A risk assessment on an organization’s IT systems identifies areas needing treatment. The next step, as shown in Figure 14.1 on risk analysis options, is to select suitable controls to use in this treatment. An IT security </a:t>
            </a:r>
            <a:r>
              <a:rPr lang="en-US" sz="1200" b="1" kern="1200" dirty="0">
                <a:solidFill>
                  <a:schemeClr val="tx1"/>
                </a:solidFill>
                <a:effectLst/>
                <a:latin typeface="Arial" pitchFamily="-110" charset="0"/>
                <a:ea typeface="ＭＳ Ｐゴシック" pitchFamily="33" charset="-128"/>
                <a:cs typeface="ＭＳ Ｐゴシック" pitchFamily="33" charset="-128"/>
              </a:rPr>
              <a:t>control, safeguard</a:t>
            </a:r>
            <a:r>
              <a:rPr lang="en-US" sz="1200" kern="1200" dirty="0">
                <a:solidFill>
                  <a:schemeClr val="tx1"/>
                </a:solidFill>
                <a:effectLst/>
                <a:latin typeface="Arial" pitchFamily="-110" charset="0"/>
                <a:ea typeface="ＭＳ Ｐゴシック" pitchFamily="33" charset="-128"/>
                <a:cs typeface="ＭＳ Ｐゴシック" pitchFamily="33" charset="-128"/>
              </a:rPr>
              <a:t>, or </a:t>
            </a:r>
            <a:r>
              <a:rPr lang="en-US" sz="1200" b="1" kern="1200" dirty="0">
                <a:solidFill>
                  <a:schemeClr val="tx1"/>
                </a:solidFill>
                <a:effectLst/>
                <a:latin typeface="Arial" pitchFamily="-110" charset="0"/>
                <a:ea typeface="ＭＳ Ｐゴシック" pitchFamily="33" charset="-128"/>
                <a:cs typeface="ＭＳ Ｐゴシック" pitchFamily="33" charset="-128"/>
              </a:rPr>
              <a:t>countermeasure </a:t>
            </a:r>
            <a:r>
              <a:rPr lang="en-US" sz="1200" kern="1200" dirty="0">
                <a:solidFill>
                  <a:schemeClr val="tx1"/>
                </a:solidFill>
                <a:effectLst/>
                <a:latin typeface="Arial" pitchFamily="-110" charset="0"/>
                <a:ea typeface="ＭＳ Ｐゴシック" pitchFamily="33" charset="-128"/>
                <a:cs typeface="ＭＳ Ｐゴシック" pitchFamily="33" charset="-128"/>
              </a:rPr>
              <a:t>(the terms are used interchangeably) helps to reduce risks. We use the following definition:</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110" charset="0"/>
                <a:ea typeface="ＭＳ Ｐゴシック" pitchFamily="33" charset="-128"/>
                <a:cs typeface="ＭＳ Ｐゴシック" pitchFamily="33" charset="-128"/>
              </a:rPr>
              <a:t>“</a:t>
            </a:r>
            <a:r>
              <a:rPr lang="en-US" sz="1200" kern="1200" dirty="0">
                <a:solidFill>
                  <a:schemeClr val="tx1"/>
                </a:solidFill>
                <a:latin typeface="Arial" pitchFamily="-110" charset="0"/>
                <a:ea typeface="ＭＳ Ｐゴシック" pitchFamily="33" charset="-128"/>
                <a:cs typeface="ＭＳ Ｐゴシック" pitchFamily="33" charset="-128"/>
              </a:rPr>
              <a:t>An action, device, procedure, or other measure that reduces risk by eliminating or preventing a  security violation, by minimizing the harm it can cause, or by discovering and reporting it to enable corrective action</a:t>
            </a:r>
            <a:r>
              <a:rPr lang="en-US" sz="1200" kern="1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110" charset="0"/>
                <a:ea typeface="ＭＳ Ｐゴシック" pitchFamily="33" charset="-128"/>
                <a:cs typeface="ＭＳ Ｐゴシック" pitchFamily="33" charset="-128"/>
              </a:rPr>
              <a:t>.”</a:t>
            </a:r>
            <a:endParaRPr lang="en-US" dirty="0">
              <a:latin typeface="Times New Roman"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18140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Source Sans Pro" panose="020B0604020202020204" pitchFamily="34" charset="0"/>
              </a:rPr>
              <a:t>Employees are typically the biggest security risk in an organization. </a:t>
            </a:r>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897632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A risk assessment on an organization’s IT systems identifies areas needing treatment. The next step, as shown in Figure 14.1 on risk analysis options, is to select suitable controls to use in this treatment. An IT security </a:t>
            </a:r>
            <a:r>
              <a:rPr lang="en-US" sz="1200" b="1" kern="1200" dirty="0">
                <a:solidFill>
                  <a:schemeClr val="tx1"/>
                </a:solidFill>
                <a:effectLst/>
                <a:latin typeface="Arial" pitchFamily="-110" charset="0"/>
                <a:ea typeface="ＭＳ Ｐゴシック" pitchFamily="33" charset="-128"/>
                <a:cs typeface="ＭＳ Ｐゴシック" pitchFamily="33" charset="-128"/>
              </a:rPr>
              <a:t>control, safeguard</a:t>
            </a:r>
            <a:r>
              <a:rPr lang="en-US" sz="1200" kern="1200" dirty="0">
                <a:solidFill>
                  <a:schemeClr val="tx1"/>
                </a:solidFill>
                <a:effectLst/>
                <a:latin typeface="Arial" pitchFamily="-110" charset="0"/>
                <a:ea typeface="ＭＳ Ｐゴシック" pitchFamily="33" charset="-128"/>
                <a:cs typeface="ＭＳ Ｐゴシック" pitchFamily="33" charset="-128"/>
              </a:rPr>
              <a:t>, or </a:t>
            </a:r>
            <a:r>
              <a:rPr lang="en-US" sz="1200" b="1" kern="1200" dirty="0">
                <a:solidFill>
                  <a:schemeClr val="tx1"/>
                </a:solidFill>
                <a:effectLst/>
                <a:latin typeface="Arial" pitchFamily="-110" charset="0"/>
                <a:ea typeface="ＭＳ Ｐゴシック" pitchFamily="33" charset="-128"/>
                <a:cs typeface="ＭＳ Ｐゴシック" pitchFamily="33" charset="-128"/>
              </a:rPr>
              <a:t>countermeasure </a:t>
            </a:r>
            <a:r>
              <a:rPr lang="en-US" sz="1200" kern="1200" dirty="0">
                <a:solidFill>
                  <a:schemeClr val="tx1"/>
                </a:solidFill>
                <a:effectLst/>
                <a:latin typeface="Arial" pitchFamily="-110" charset="0"/>
                <a:ea typeface="ＭＳ Ｐゴシック" pitchFamily="33" charset="-128"/>
                <a:cs typeface="ＭＳ Ｐゴシック" pitchFamily="33" charset="-128"/>
              </a:rPr>
              <a:t>(the terms are used interchangeably) helps to reduce risks. We use the following definition:</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110" charset="0"/>
                <a:ea typeface="ＭＳ Ｐゴシック" pitchFamily="33" charset="-128"/>
                <a:cs typeface="ＭＳ Ｐゴシック" pitchFamily="33" charset="-128"/>
              </a:rPr>
              <a:t>“</a:t>
            </a:r>
            <a:r>
              <a:rPr lang="en-US" sz="1200" kern="1200" dirty="0">
                <a:solidFill>
                  <a:schemeClr val="tx1"/>
                </a:solidFill>
                <a:latin typeface="Arial" pitchFamily="-110" charset="0"/>
                <a:ea typeface="ＭＳ Ｐゴシック" pitchFamily="33" charset="-128"/>
                <a:cs typeface="ＭＳ Ｐゴシック" pitchFamily="33" charset="-128"/>
              </a:rPr>
              <a:t>An action, device, procedure, or other measure that reduces risk by eliminating or preventing a  security violation, by minimizing the harm it can cause, or by discovering and reporting it to enable corrective action</a:t>
            </a:r>
            <a:r>
              <a:rPr lang="en-US" sz="1200" kern="1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pitchFamily="-110" charset="0"/>
                <a:ea typeface="ＭＳ Ｐゴシック" pitchFamily="33" charset="-128"/>
                <a:cs typeface="ＭＳ Ｐゴシック" pitchFamily="33" charset="-128"/>
              </a:rPr>
              <a:t>.”</a:t>
            </a:r>
            <a:endParaRPr lang="en-US" dirty="0">
              <a:latin typeface="Times New Roman"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595285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Some controls address multiple risks at the same time, and selecting such controls can be very cost effective. Controls can be classified as belonging to one of the following classes (although some controls include features from several of these):</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Management controls:</a:t>
            </a:r>
            <a:r>
              <a:rPr lang="en-US" sz="1200" kern="1200" dirty="0">
                <a:solidFill>
                  <a:schemeClr val="tx1"/>
                </a:solidFill>
                <a:effectLst/>
                <a:latin typeface="Arial" pitchFamily="-110" charset="0"/>
                <a:ea typeface="ＭＳ Ｐゴシック" pitchFamily="33" charset="-128"/>
                <a:cs typeface="ＭＳ Ｐゴシック" pitchFamily="33" charset="-128"/>
              </a:rPr>
              <a:t>  Focus on security policies, planning, guidelines, and standards that influence the selection of operational and technical controls to reduce the risk of loss and to protect the organization’s mission. These controls refer to issues that management needs to address. We discuss a number of these in Chapters 14 and 15.</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Operational controls:</a:t>
            </a:r>
            <a:r>
              <a:rPr lang="en-US" sz="1200" kern="1200" dirty="0">
                <a:solidFill>
                  <a:schemeClr val="tx1"/>
                </a:solidFill>
                <a:effectLst/>
                <a:latin typeface="Arial" pitchFamily="-110" charset="0"/>
                <a:ea typeface="ＭＳ Ｐゴシック" pitchFamily="33" charset="-128"/>
                <a:cs typeface="ＭＳ Ｐゴシック" pitchFamily="33" charset="-128"/>
              </a:rPr>
              <a:t>  Address the correct implementation and use of security policies and standards, ensuring consistency in security operations and correcting identified operational deficiencies. These controls relate to mechanisms and procedures that are primarily implemented by people rather than systems. They are used to improve the security of a system or group of systems. We will discuss</a:t>
            </a:r>
            <a:r>
              <a:rPr lang="en-US" sz="1200" kern="1200" baseline="0" dirty="0">
                <a:solidFill>
                  <a:schemeClr val="tx1"/>
                </a:solidFill>
                <a:effectLst/>
                <a:latin typeface="Arial" pitchFamily="-110" charset="0"/>
                <a:ea typeface="ＭＳ Ｐゴシック" pitchFamily="33" charset="-128"/>
                <a:cs typeface="ＭＳ Ｐゴシック" pitchFamily="33" charset="-128"/>
              </a:rPr>
              <a:t> </a:t>
            </a:r>
            <a:r>
              <a:rPr lang="en-US" sz="1200" kern="1200" dirty="0">
                <a:solidFill>
                  <a:schemeClr val="tx1"/>
                </a:solidFill>
                <a:effectLst/>
                <a:latin typeface="Arial" pitchFamily="-110" charset="0"/>
                <a:ea typeface="ＭＳ Ｐゴシック" pitchFamily="33" charset="-128"/>
                <a:cs typeface="ＭＳ Ｐゴシック" pitchFamily="33" charset="-128"/>
              </a:rPr>
              <a:t>some of these in Chapters 16 and 17.</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Technical controls:</a:t>
            </a:r>
            <a:r>
              <a:rPr lang="en-US" sz="1200" kern="1200" dirty="0">
                <a:solidFill>
                  <a:schemeClr val="tx1"/>
                </a:solidFill>
                <a:effectLst/>
                <a:latin typeface="Arial" pitchFamily="-110" charset="0"/>
                <a:ea typeface="ＭＳ Ｐゴシック" pitchFamily="33" charset="-128"/>
                <a:cs typeface="ＭＳ Ｐゴシック" pitchFamily="33" charset="-128"/>
              </a:rPr>
              <a:t>  Involve the correct use of hardware and software security capabilities in systems. These range from simple to complex measures that work together to secure critical and sensitive data, information, and IT systems functions.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73858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Figure 15.2 illustrates some typical technical control measures. Parts One and Two in this text discussed aspects of such measures.</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
The illustration has two frames. In the first frame, double headed arrows extend between the user or process and the blocks, Authentication, Authorization, Access control enforcement, and Transaction privacy. The authentication block communicates to the resource through the non repudiation block. Arrow extends from Authentication, Authorization, and Access control enforcement to the Audit block. Double headed arrows extend between Authorization and Access control enforcement. Double headed arrows extend between the three blocks, Audit, State restore, and Intrusion detection and containment. An arrow extends from the intrusion detection and containment to the access control enforcement. Double headed arrows extend between Proof of wholeness and state restore. An arrow extends from proof of wholeness to audit. The blocks classified under Prevent are as follows. Authentication, Authorization, Transaction Privacy, Non repudiation, and Access control enforcement. The blocks classified under detect recover are as follows. Audit, Intrusion detection and containment, Proof of wholeness, State restore. The second frame has stacked layers as follows.</a:t>
            </a:r>
          </a:p>
          <a:p>
            <a:r>
              <a:rPr lang="en-US" sz="1200" kern="1200" dirty="0">
                <a:solidFill>
                  <a:schemeClr val="tx1"/>
                </a:solidFill>
                <a:effectLst/>
                <a:latin typeface="Arial" pitchFamily="-110" charset="0"/>
                <a:ea typeface="ＭＳ Ｐゴシック" pitchFamily="33" charset="-128"/>
                <a:cs typeface="ＭＳ Ｐゴシック" pitchFamily="33" charset="-128"/>
              </a:rPr>
              <a:t>• Protected communication, safe from disclosure, substitution, modification, and replay.</a:t>
            </a:r>
          </a:p>
          <a:p>
            <a:r>
              <a:rPr lang="en-US" sz="1200" kern="1200" dirty="0">
                <a:solidFill>
                  <a:schemeClr val="tx1"/>
                </a:solidFill>
                <a:effectLst/>
                <a:latin typeface="Arial" pitchFamily="-110" charset="0"/>
                <a:ea typeface="ＭＳ Ｐゴシック" pitchFamily="33" charset="-128"/>
                <a:cs typeface="ＭＳ Ｐゴシック" pitchFamily="33" charset="-128"/>
              </a:rPr>
              <a:t>• Identification</a:t>
            </a:r>
          </a:p>
          <a:p>
            <a:r>
              <a:rPr lang="en-US" sz="1200" kern="1200" dirty="0">
                <a:solidFill>
                  <a:schemeClr val="tx1"/>
                </a:solidFill>
                <a:effectLst/>
                <a:latin typeface="Arial" pitchFamily="-110" charset="0"/>
                <a:ea typeface="ＭＳ Ｐゴシック" pitchFamily="33" charset="-128"/>
                <a:cs typeface="ＭＳ Ｐゴシック" pitchFamily="33" charset="-128"/>
              </a:rPr>
              <a:t>• Cryptographic key management</a:t>
            </a:r>
          </a:p>
          <a:p>
            <a:r>
              <a:rPr lang="en-US" sz="1200" kern="1200" dirty="0">
                <a:solidFill>
                  <a:schemeClr val="tx1"/>
                </a:solidFill>
                <a:effectLst/>
                <a:latin typeface="Arial" pitchFamily="-110" charset="0"/>
                <a:ea typeface="ＭＳ Ｐゴシック" pitchFamily="33" charset="-128"/>
                <a:cs typeface="ＭＳ Ｐゴシック" pitchFamily="33" charset="-128"/>
              </a:rPr>
              <a:t>• Security administration</a:t>
            </a:r>
          </a:p>
          <a:p>
            <a:r>
              <a:rPr lang="en-US" sz="1200" kern="1200" dirty="0">
                <a:solidFill>
                  <a:schemeClr val="tx1"/>
                </a:solidFill>
                <a:effectLst/>
                <a:latin typeface="Arial" pitchFamily="-110" charset="0"/>
                <a:ea typeface="ＭＳ Ｐゴシック" pitchFamily="33" charset="-128"/>
                <a:cs typeface="ＭＳ Ｐゴシック" pitchFamily="33" charset="-128"/>
              </a:rPr>
              <a:t>• System protections, least privilege, object reuse, process separation, et cetera.</a:t>
            </a:r>
          </a:p>
          <a:p>
            <a:r>
              <a:rPr lang="en-US" sz="1200" kern="1200" dirty="0">
                <a:solidFill>
                  <a:schemeClr val="tx1"/>
                </a:solidFill>
                <a:effectLst/>
                <a:latin typeface="Arial" pitchFamily="-110" charset="0"/>
                <a:ea typeface="ＭＳ Ｐゴシック" pitchFamily="33" charset="-128"/>
                <a:cs typeface="ＭＳ Ｐゴシック" pitchFamily="33" charset="-128"/>
              </a:rPr>
              <a:t>In the second frame, the layers except the protected communication layer come under support, while the protected communication comes under prevent.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189377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 In turn, each of these control classes may include the following:</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 </a:t>
            </a:r>
            <a:r>
              <a:rPr lang="en-US" sz="1200" b="1" kern="1200" dirty="0">
                <a:solidFill>
                  <a:schemeClr val="tx1"/>
                </a:solidFill>
                <a:effectLst/>
                <a:latin typeface="Arial" pitchFamily="-110" charset="0"/>
                <a:ea typeface="ＭＳ Ｐゴシック" pitchFamily="33" charset="-128"/>
                <a:cs typeface="ＭＳ Ｐゴシック" pitchFamily="33" charset="-128"/>
              </a:rPr>
              <a:t>Supportive controls:</a:t>
            </a:r>
            <a:r>
              <a:rPr lang="en-US" sz="1200" kern="1200" dirty="0">
                <a:solidFill>
                  <a:schemeClr val="tx1"/>
                </a:solidFill>
                <a:effectLst/>
                <a:latin typeface="Arial" pitchFamily="-110" charset="0"/>
                <a:ea typeface="ＭＳ Ｐゴシック" pitchFamily="33" charset="-128"/>
                <a:cs typeface="ＭＳ Ｐゴシック" pitchFamily="33" charset="-128"/>
              </a:rPr>
              <a:t>  Pervasive, generic, underlying technical IT security capabilities that are interrelated with, and used by, many other controls.</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 </a:t>
            </a:r>
            <a:r>
              <a:rPr lang="en-US" sz="1200" b="1" kern="1200" dirty="0">
                <a:solidFill>
                  <a:schemeClr val="tx1"/>
                </a:solidFill>
                <a:effectLst/>
                <a:latin typeface="Arial" pitchFamily="-110" charset="0"/>
                <a:ea typeface="ＭＳ Ｐゴシック" pitchFamily="33" charset="-128"/>
                <a:cs typeface="ＭＳ Ｐゴシック" pitchFamily="33" charset="-128"/>
              </a:rPr>
              <a:t>Preventative controls:</a:t>
            </a:r>
            <a:r>
              <a:rPr lang="en-US" sz="1200" kern="1200" dirty="0">
                <a:solidFill>
                  <a:schemeClr val="tx1"/>
                </a:solidFill>
                <a:effectLst/>
                <a:latin typeface="Arial" pitchFamily="-110" charset="0"/>
                <a:ea typeface="ＭＳ Ｐゴシック" pitchFamily="33" charset="-128"/>
                <a:cs typeface="ＭＳ Ｐゴシック" pitchFamily="33" charset="-128"/>
              </a:rPr>
              <a:t>  Focus on preventing security breaches from occurring, by inhibiting attempts to violate security policies or exploit a vulnerability.</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 </a:t>
            </a:r>
            <a:r>
              <a:rPr lang="en-US" sz="1200" b="1" kern="1200" dirty="0">
                <a:solidFill>
                  <a:schemeClr val="tx1"/>
                </a:solidFill>
                <a:effectLst/>
                <a:latin typeface="Arial" pitchFamily="-110" charset="0"/>
                <a:ea typeface="ＭＳ Ｐゴシック" pitchFamily="33" charset="-128"/>
                <a:cs typeface="ＭＳ Ｐゴシック" pitchFamily="33" charset="-128"/>
              </a:rPr>
              <a:t>Detection and recovery controls:</a:t>
            </a:r>
            <a:r>
              <a:rPr lang="en-US" sz="1200" kern="1200" dirty="0">
                <a:solidFill>
                  <a:schemeClr val="tx1"/>
                </a:solidFill>
                <a:effectLst/>
                <a:latin typeface="Arial" pitchFamily="-110" charset="0"/>
                <a:ea typeface="ＭＳ Ｐゴシック" pitchFamily="33" charset="-128"/>
                <a:cs typeface="ＭＳ Ｐゴシック" pitchFamily="33" charset="-128"/>
              </a:rPr>
              <a:t>  Focus on the response to a security breach, by warning of violations or attempted violations of security policies or the identified exploit of a vulnerability and by providing means to restore the resulting lost computing resources.</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The technical control measures shown in Figure 15.2 include examples of each of these types of controls.</a:t>
            </a:r>
          </a:p>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84979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Lists of controls are provided in a number of national and international standards, including ISO 27002 (</a:t>
            </a:r>
            <a:r>
              <a:rPr lang="en-US" sz="1200" i="1" kern="1200" dirty="0">
                <a:solidFill>
                  <a:schemeClr val="tx1"/>
                </a:solidFill>
                <a:effectLst/>
                <a:latin typeface="Arial" pitchFamily="-110" charset="0"/>
                <a:ea typeface="ＭＳ Ｐゴシック" pitchFamily="33" charset="-128"/>
                <a:cs typeface="ＭＳ Ｐゴシック" pitchFamily="33" charset="-128"/>
              </a:rPr>
              <a:t>Code of practice for information security management</a:t>
            </a:r>
            <a:r>
              <a:rPr lang="en-US" sz="1200" kern="1200" dirty="0">
                <a:solidFill>
                  <a:schemeClr val="tx1"/>
                </a:solidFill>
                <a:effectLst/>
                <a:latin typeface="Arial" pitchFamily="-110" charset="0"/>
                <a:ea typeface="ＭＳ Ｐゴシック" pitchFamily="33" charset="-128"/>
                <a:cs typeface="ＭＳ Ｐゴシック" pitchFamily="33" charset="-128"/>
              </a:rPr>
              <a:t>, 2013), ISO 13335 (</a:t>
            </a:r>
            <a:r>
              <a:rPr lang="en-US" sz="1200" i="1" kern="1200" dirty="0">
                <a:solidFill>
                  <a:schemeClr val="tx1"/>
                </a:solidFill>
                <a:effectLst/>
                <a:latin typeface="Arial" pitchFamily="-110" charset="0"/>
                <a:ea typeface="ＭＳ Ｐゴシック" pitchFamily="33" charset="-128"/>
                <a:cs typeface="ＭＳ Ｐゴシック" pitchFamily="33" charset="-128"/>
              </a:rPr>
              <a:t>Management of information and communications technology security</a:t>
            </a:r>
            <a:r>
              <a:rPr lang="en-US" sz="1200" kern="1200" dirty="0">
                <a:solidFill>
                  <a:schemeClr val="tx1"/>
                </a:solidFill>
                <a:effectLst/>
                <a:latin typeface="Arial" pitchFamily="-110" charset="0"/>
                <a:ea typeface="ＭＳ Ｐゴシック" pitchFamily="33" charset="-128"/>
                <a:cs typeface="ＭＳ Ｐゴシック" pitchFamily="33" charset="-128"/>
              </a:rPr>
              <a:t>, 2004), FIPS 200 (</a:t>
            </a:r>
            <a:r>
              <a:rPr lang="en-US" sz="1200" i="1" kern="1200" dirty="0">
                <a:solidFill>
                  <a:schemeClr val="tx1"/>
                </a:solidFill>
                <a:effectLst/>
                <a:latin typeface="Arial" pitchFamily="-110" charset="0"/>
                <a:ea typeface="ＭＳ Ｐゴシック" pitchFamily="33" charset="-128"/>
                <a:cs typeface="ＭＳ Ｐゴシック" pitchFamily="33" charset="-128"/>
              </a:rPr>
              <a:t>Minimum Security Requirements for Federal Information and Information Systems</a:t>
            </a:r>
            <a:r>
              <a:rPr lang="en-US" sz="1200" kern="1200" dirty="0">
                <a:solidFill>
                  <a:schemeClr val="tx1"/>
                </a:solidFill>
                <a:effectLst/>
                <a:latin typeface="Arial" pitchFamily="-110" charset="0"/>
                <a:ea typeface="ＭＳ Ｐゴシック" pitchFamily="33" charset="-128"/>
                <a:cs typeface="ＭＳ Ｐゴシック" pitchFamily="33" charset="-128"/>
              </a:rPr>
              <a:t>, March 2006) and NIST SP 800-53 (</a:t>
            </a:r>
            <a:r>
              <a:rPr lang="en-US" sz="1200" i="1" kern="1200" dirty="0">
                <a:solidFill>
                  <a:schemeClr val="tx1"/>
                </a:solidFill>
                <a:effectLst/>
                <a:latin typeface="Arial" pitchFamily="-110" charset="0"/>
                <a:ea typeface="ＭＳ Ｐゴシック" pitchFamily="33" charset="-128"/>
                <a:cs typeface="ＭＳ Ｐゴシック" pitchFamily="33" charset="-128"/>
              </a:rPr>
              <a:t>Recommended Security Controls for Federal Information Systems</a:t>
            </a:r>
            <a:r>
              <a:rPr lang="en-US" sz="1200" kern="1200" dirty="0">
                <a:solidFill>
                  <a:schemeClr val="tx1"/>
                </a:solidFill>
                <a:effectLst/>
                <a:latin typeface="Arial" pitchFamily="-110" charset="0"/>
                <a:ea typeface="ＭＳ Ｐゴシック" pitchFamily="33" charset="-128"/>
                <a:cs typeface="ＭＳ Ｐゴシック" pitchFamily="33" charset="-128"/>
              </a:rPr>
              <a:t>,</a:t>
            </a:r>
            <a:r>
              <a:rPr lang="en-US" sz="1200" kern="1200" baseline="0" dirty="0">
                <a:solidFill>
                  <a:schemeClr val="tx1"/>
                </a:solidFill>
                <a:effectLst/>
                <a:latin typeface="Arial" pitchFamily="-110" charset="0"/>
                <a:ea typeface="ＭＳ Ｐゴシック" pitchFamily="33" charset="-128"/>
                <a:cs typeface="ＭＳ Ｐゴシック" pitchFamily="33" charset="-128"/>
              </a:rPr>
              <a:t> </a:t>
            </a:r>
            <a:r>
              <a:rPr lang="en-US" sz="1200" kern="1200" dirty="0">
                <a:solidFill>
                  <a:schemeClr val="tx1"/>
                </a:solidFill>
                <a:effectLst/>
                <a:latin typeface="Arial" pitchFamily="-110" charset="0"/>
                <a:ea typeface="ＭＳ Ｐゴシック" pitchFamily="33" charset="-128"/>
                <a:cs typeface="ＭＳ Ｐゴシック" pitchFamily="33" charset="-128"/>
              </a:rPr>
              <a:t>January 2015). There is broad agreement among these and other standards as to the types of controls that should be used and the detailed lists of typical controls. Indeed many of the standards cross-reference each other, indicating their agreement on these lists. ISO 27002 is generally regarded as the master list of controls and is cited by most other standards. Table 15.1 (adapted from Table 1 in NIST SP 800-53) is a typical list of families of controls within each of the classes.</a:t>
            </a:r>
          </a:p>
          <a:p>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1219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Compare this with the list in Table 15.2, which details the categories of controls given in ISO 27002, and with Table 1.4 which lists controls from FIPS 200, noting the high degree of overlap. Within each of these control classes, there is a long list of specific controls that may be chosen.</a:t>
            </a:r>
          </a:p>
          <a:p>
            <a:endParaRPr lang="en-US" b="0" dirty="0">
              <a:latin typeface="Arial"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0923261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latin typeface="Arial"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204234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Table 15.3 (adapted from the tables in Appendix D and G of NIST SP 800-53) itemizes the full list of controls detailed in this standard.</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To attain an acceptable level of security, some combination of these controls should be chosen. If the baseline approach is being used, an appropriate baseline set of controls is typically specified in a relevant industry or government standard. For example, Appendix D in NIST SP 800-53 lists selections of baseline controls for use in low-, moderate-, and high-impact IT systems. A selection should be made that is appropriate to the organization’s overall risk profile, resources, and capabilities. These  should then be implemented across all the IT systems for the organization, with adjustments in scope to address broad requirements of specific systems.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911961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24782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4637756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NIST SP 800-18 (Guide for Developing Security Plans for Federal Information Systems , February 2006) suggests that adjustments may be needed for considerations related to the following:</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Technology:</a:t>
            </a:r>
            <a:r>
              <a:rPr lang="en-US" sz="1200" kern="1200" dirty="0">
                <a:solidFill>
                  <a:schemeClr val="tx1"/>
                </a:solidFill>
                <a:effectLst/>
                <a:latin typeface="Arial" pitchFamily="-110" charset="0"/>
                <a:ea typeface="ＭＳ Ｐゴシック" pitchFamily="33" charset="-128"/>
                <a:cs typeface="ＭＳ Ｐゴシック" pitchFamily="33" charset="-128"/>
              </a:rPr>
              <a:t>  Some controls are only applicable to specific technologies, and hence these controls are only needed if the system includes those technologies. Examples of these include wireless networks and the use of cryptography. Some may only be appropriate if the system supports the technology they require— for example, readers for access tokens. If these technologies are not supported on a system, then alternate controls, including administrative procedures or physical access controls, may be used instead.</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Common controls:</a:t>
            </a:r>
            <a:r>
              <a:rPr lang="en-US" sz="1200" kern="1200" dirty="0">
                <a:solidFill>
                  <a:schemeClr val="tx1"/>
                </a:solidFill>
                <a:effectLst/>
                <a:latin typeface="Arial" pitchFamily="-110" charset="0"/>
                <a:ea typeface="ＭＳ Ｐゴシック" pitchFamily="33" charset="-128"/>
                <a:cs typeface="ＭＳ Ｐゴシック" pitchFamily="33" charset="-128"/>
              </a:rPr>
              <a:t>  The entire organization may be managed centrally and may not be the responsibility of the managers of a specific system. Control changes would need to be agreed to and managed centrally.</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Public access systems:</a:t>
            </a:r>
            <a:r>
              <a:rPr lang="en-US" sz="1200" kern="1200" dirty="0">
                <a:solidFill>
                  <a:schemeClr val="tx1"/>
                </a:solidFill>
                <a:effectLst/>
                <a:latin typeface="Arial" pitchFamily="-110" charset="0"/>
                <a:ea typeface="ＭＳ Ｐゴシック" pitchFamily="33" charset="-128"/>
                <a:cs typeface="ＭＳ Ｐゴシック" pitchFamily="33" charset="-128"/>
              </a:rPr>
              <a:t>  Some systems, such as the organization’s public Web server, are designed for access by the general public. Some controls, such as those relating to personnel security, identification, and authentication, would not apply to access via the public interface. They would apply to administrative control of such systems. The scope of application of such controls must be specified carefully.</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Infrastructure controls:</a:t>
            </a:r>
            <a:r>
              <a:rPr lang="en-US" sz="1200" kern="1200" dirty="0">
                <a:solidFill>
                  <a:schemeClr val="tx1"/>
                </a:solidFill>
                <a:effectLst/>
                <a:latin typeface="Arial" pitchFamily="-110" charset="0"/>
                <a:ea typeface="ＭＳ Ｐゴシック" pitchFamily="33" charset="-128"/>
                <a:cs typeface="ＭＳ Ｐゴシック" pitchFamily="33" charset="-128"/>
              </a:rPr>
              <a:t>  Physical access or environmental controls are only relevant to areas housing the relevant equipment.</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Scalability issues:</a:t>
            </a:r>
            <a:r>
              <a:rPr lang="en-US" sz="1200" kern="1200" dirty="0">
                <a:solidFill>
                  <a:schemeClr val="tx1"/>
                </a:solidFill>
                <a:effectLst/>
                <a:latin typeface="Arial" pitchFamily="-110" charset="0"/>
                <a:ea typeface="ＭＳ Ｐゴシック" pitchFamily="33" charset="-128"/>
                <a:cs typeface="ＭＳ Ｐゴシック" pitchFamily="33" charset="-128"/>
              </a:rPr>
              <a:t>  Controls may vary in size and complexity in relation to the organization employing them. For example, a contingency plan for systems critical to a large organization would be much larger and more detailed than that for a small business.</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b="1" kern="1200" dirty="0">
                <a:solidFill>
                  <a:schemeClr val="tx1"/>
                </a:solidFill>
                <a:effectLst/>
                <a:latin typeface="Arial" pitchFamily="-110" charset="0"/>
                <a:ea typeface="ＭＳ Ｐゴシック" pitchFamily="33" charset="-128"/>
                <a:cs typeface="ＭＳ Ｐゴシック" pitchFamily="33" charset="-128"/>
              </a:rPr>
              <a:t>• Risk assessment: </a:t>
            </a:r>
            <a:r>
              <a:rPr lang="en-US" sz="1200" kern="1200" dirty="0">
                <a:solidFill>
                  <a:schemeClr val="tx1"/>
                </a:solidFill>
                <a:effectLst/>
                <a:latin typeface="Arial" pitchFamily="-110" charset="0"/>
                <a:ea typeface="ＭＳ Ｐゴシック" pitchFamily="33" charset="-128"/>
                <a:cs typeface="ＭＳ Ｐゴシック" pitchFamily="33" charset="-128"/>
              </a:rPr>
              <a:t> Controls may be adjusted according to the results of specific risk assessment of systems in the organization, as we now consider.</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If some form of informal or formal risk assessment process is being used, then it provides guidance on specific risks to an organization’s IT systems that need to be addressed. These will typically be some selection of operational or technical controls that together can reduce the likelihood of the identified risk occurring, the consequences if it does, or both, to an acceptable level. These may be in addition to those controls already selected in the baseline, or may simply be more detailed and careful specification and use of already selected controls.</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The process illustrated in Figure 15.1 indicates that a recommended list of controls should be made to address each risk needing treatment. The recommended controls need to be compatible with the organization’s systems and policies, and their selection may also be guided by legal requirements. The resulting list of controls should include details of the feasibility and effectiveness of each control. The feasibility addresses factors such as technical compatibility with and operational impact on existing systems and user’s likely acceptance of the control. The effectiveness equates the cost of implementation against the reduction in level of risk achieved by implementing the control.</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111855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The reduction in level of risk that results from implementing a new or enhanced control results from the reduction in threat likelihood or consequence that the control </a:t>
            </a:r>
            <a:r>
              <a:rPr lang="en-US" sz="1200" b="0" i="0" u="none" strike="noStrike" kern="1200" baseline="0" dirty="0">
                <a:solidFill>
                  <a:schemeClr val="tx1"/>
                </a:solidFill>
                <a:latin typeface="Arial" pitchFamily="-110" charset="0"/>
                <a:ea typeface="ＭＳ Ｐゴシック" pitchFamily="33" charset="-128"/>
                <a:cs typeface="ＭＳ Ｐゴシック" pitchFamily="33" charset="-128"/>
              </a:rPr>
              <a:t>provides, as shown in Figure 15.3. The reduction in likelihood may result either by reducing the vulnerabilities (flaws or weaknesses) in the system or by reducing the capability and motivation of the threat source. The reduction in consequence occurs by reducing the magnitude of the adverse impact of the threat occurring in the organization.</a:t>
            </a:r>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240385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33" charset="-128"/>
                <a:cs typeface="ＭＳ Ｐゴシック" pitchFamily="33" charset="-128"/>
              </a:rPr>
              <a:t> The organization will likely not have the resources to implement all the recommended controls. Therefore, management should conduct a cost-benefit analysis to identify those controls that are most appropriate, and provide the greatest benefit to the organization given the available resources. This analysis may be qualitative or quantitative and must demonstrate that the cost of implementing a given control is justified by the reduction in level of risk to assets that it provides. It should include details of the impact of implementing the new or enhanced control, the impact of not implementing it, and the estimated costs of implementation. The analysis must then assess the implementation costs and benefits against system and data criticality to determine the importance of choosing this control.</a:t>
            </a:r>
          </a:p>
          <a:p>
            <a:pPr eaLnBrk="1" hangingPunct="1"/>
            <a:endParaRPr lang="en-US" dirty="0">
              <a:latin typeface="Arial" pitchFamily="33" charset="0"/>
            </a:endParaRPr>
          </a:p>
          <a:p>
            <a:pPr eaLnBrk="1" hangingPunct="1"/>
            <a:r>
              <a:rPr lang="en-US" dirty="0">
                <a:latin typeface="Arial" pitchFamily="33" charset="0"/>
              </a:rPr>
              <a:t>Management must then determine which selection of controls provides an acceptable resulting level of risk to the organization’s systems. This selection will consider factors such as the following:</a:t>
            </a:r>
          </a:p>
          <a:p>
            <a:pPr eaLnBrk="1" hangingPunct="1"/>
            <a:endParaRPr lang="en-US" dirty="0">
              <a:latin typeface="Arial" pitchFamily="33" charset="0"/>
            </a:endParaRPr>
          </a:p>
          <a:p>
            <a:pPr eaLnBrk="1" hangingPunct="1"/>
            <a:r>
              <a:rPr lang="en-US" dirty="0">
                <a:latin typeface="Arial" pitchFamily="33" charset="0"/>
              </a:rPr>
              <a:t>• If the control would reduce risk more than needed, then a less expensive alternative could be used.</a:t>
            </a:r>
          </a:p>
          <a:p>
            <a:pPr eaLnBrk="1" hangingPunct="1"/>
            <a:endParaRPr lang="en-US" dirty="0">
              <a:latin typeface="Arial" pitchFamily="33" charset="0"/>
            </a:endParaRPr>
          </a:p>
          <a:p>
            <a:pPr eaLnBrk="1" hangingPunct="1"/>
            <a:r>
              <a:rPr lang="en-US" dirty="0">
                <a:latin typeface="Arial" pitchFamily="33" charset="0"/>
              </a:rPr>
              <a:t>• If the control would cost more than the risk reduction provided, then an alternative should be used.</a:t>
            </a:r>
          </a:p>
          <a:p>
            <a:pPr eaLnBrk="1" hangingPunct="1"/>
            <a:endParaRPr lang="en-US" dirty="0">
              <a:latin typeface="Arial" pitchFamily="33" charset="0"/>
            </a:endParaRPr>
          </a:p>
          <a:p>
            <a:pPr eaLnBrk="1" hangingPunct="1"/>
            <a:r>
              <a:rPr lang="en-US" dirty="0">
                <a:latin typeface="Arial" pitchFamily="33" charset="0"/>
              </a:rPr>
              <a:t>• If a control does not reduce the risk sufficiently, then either more or different controls should be used.</a:t>
            </a:r>
          </a:p>
          <a:p>
            <a:pPr eaLnBrk="1" hangingPunct="1"/>
            <a:endParaRPr lang="en-US" dirty="0">
              <a:latin typeface="Arial" pitchFamily="33" charset="0"/>
            </a:endParaRPr>
          </a:p>
          <a:p>
            <a:pPr eaLnBrk="1" hangingPunct="1"/>
            <a:r>
              <a:rPr lang="en-US" dirty="0">
                <a:latin typeface="Arial" pitchFamily="33" charset="0"/>
              </a:rPr>
              <a:t>• If the control provides sufficient risk reduction and is the most cost effective, then use it.</a:t>
            </a:r>
          </a:p>
          <a:p>
            <a:pPr eaLnBrk="1" hangingPunct="1"/>
            <a:endParaRPr lang="en-US" dirty="0">
              <a:latin typeface="Arial" pitchFamily="33" charset="0"/>
            </a:endParaRPr>
          </a:p>
          <a:p>
            <a:pPr eaLnBrk="1" hangingPunct="1"/>
            <a:r>
              <a:rPr lang="en-US" dirty="0">
                <a:latin typeface="Arial" pitchFamily="33" charset="0"/>
              </a:rPr>
              <a:t>It is often the case that the cost of implementing a control is more tangible and easily specified than the cost of not implementing it. Management must make a business decision regarding these ill-defined costs in choosing the final selection of controls and resulting residual risk.</a:t>
            </a:r>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157034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latin typeface="Arial" pitchFamily="33" charset="0"/>
              </a:rPr>
              <a:t>Having identified a range of possible controls from which management has selected some to implement, an IT security plan should then be created, as indicated in Figures 14.1 and 15.1 . This is a document that provides details as to what will be done, what resources are needed, and who will be responsible. The goal is to detail the actions needed to improve the identified deficiencies in the organization’s risk profile in a timely manner. </a:t>
            </a:r>
            <a:r>
              <a:rPr lang="en-US" sz="1200" kern="1200" dirty="0">
                <a:solidFill>
                  <a:schemeClr val="tx1"/>
                </a:solidFill>
                <a:effectLst/>
                <a:latin typeface="Arial" pitchFamily="-110" charset="0"/>
                <a:ea typeface="ＭＳ Ｐゴシック" pitchFamily="33" charset="-128"/>
                <a:cs typeface="ＭＳ Ｐゴシック" pitchFamily="33" charset="-128"/>
              </a:rPr>
              <a:t> NIST SP 800-30 (</a:t>
            </a:r>
            <a:r>
              <a:rPr lang="en-US" sz="1200" i="1" kern="1200" dirty="0">
                <a:solidFill>
                  <a:schemeClr val="tx1"/>
                </a:solidFill>
                <a:effectLst/>
                <a:latin typeface="Arial" pitchFamily="-110" charset="0"/>
                <a:ea typeface="ＭＳ Ｐゴシック" pitchFamily="33" charset="-128"/>
                <a:cs typeface="ＭＳ Ｐゴシック" pitchFamily="33" charset="-128"/>
              </a:rPr>
              <a:t>Risk Management Guide for Information Technology Systems</a:t>
            </a:r>
            <a:r>
              <a:rPr lang="en-US" sz="1200" kern="1200" dirty="0">
                <a:solidFill>
                  <a:schemeClr val="tx1"/>
                </a:solidFill>
                <a:effectLst/>
                <a:latin typeface="Arial" pitchFamily="-110" charset="0"/>
                <a:ea typeface="ＭＳ Ｐゴシック" pitchFamily="33" charset="-128"/>
                <a:cs typeface="ＭＳ Ｐゴシック" pitchFamily="33" charset="-128"/>
              </a:rPr>
              <a:t>, September 2012) suggests that this plan should include details of:</a:t>
            </a:r>
          </a:p>
          <a:p>
            <a:endParaRPr lang="en-US" sz="1200" kern="1200" dirty="0">
              <a:solidFill>
                <a:schemeClr val="tx1"/>
              </a:solidFill>
              <a:effectLst/>
              <a:latin typeface="Arial" pitchFamily="-110" charset="0"/>
              <a:ea typeface="ＭＳ Ｐゴシック" pitchFamily="33" charset="-128"/>
              <a:cs typeface="ＭＳ Ｐゴシック" pitchFamily="33" charset="-128"/>
            </a:endParaRPr>
          </a:p>
          <a:p>
            <a:pPr eaLnBrk="1" hangingPunct="1"/>
            <a:r>
              <a:rPr lang="en-US" dirty="0">
                <a:latin typeface="Arial" pitchFamily="33" charset="0"/>
              </a:rPr>
              <a:t>• Risks (asset/threat/vulnerability combinations)</a:t>
            </a:r>
          </a:p>
          <a:p>
            <a:pPr eaLnBrk="1" hangingPunct="1"/>
            <a:endParaRPr lang="en-US" dirty="0">
              <a:latin typeface="Arial" pitchFamily="33" charset="0"/>
            </a:endParaRPr>
          </a:p>
          <a:p>
            <a:pPr eaLnBrk="1" hangingPunct="1"/>
            <a:r>
              <a:rPr lang="en-US" dirty="0">
                <a:latin typeface="Arial" pitchFamily="33" charset="0"/>
              </a:rPr>
              <a:t>• Recommended controls (from the risk assessment)</a:t>
            </a:r>
          </a:p>
          <a:p>
            <a:pPr eaLnBrk="1" hangingPunct="1"/>
            <a:endParaRPr lang="en-US" dirty="0">
              <a:latin typeface="Arial" pitchFamily="33" charset="0"/>
            </a:endParaRPr>
          </a:p>
          <a:p>
            <a:pPr eaLnBrk="1" hangingPunct="1"/>
            <a:r>
              <a:rPr lang="en-US" dirty="0">
                <a:latin typeface="Arial" pitchFamily="33" charset="0"/>
              </a:rPr>
              <a:t>• Action priority for each risk</a:t>
            </a:r>
          </a:p>
          <a:p>
            <a:pPr eaLnBrk="1" hangingPunct="1"/>
            <a:endParaRPr lang="en-US" dirty="0">
              <a:latin typeface="Arial" pitchFamily="33" charset="0"/>
            </a:endParaRPr>
          </a:p>
          <a:p>
            <a:pPr eaLnBrk="1" hangingPunct="1"/>
            <a:r>
              <a:rPr lang="en-US" dirty="0">
                <a:latin typeface="Arial" pitchFamily="33" charset="0"/>
              </a:rPr>
              <a:t>• Selected controls (on the basis of the cost-benefit analysis)</a:t>
            </a:r>
          </a:p>
          <a:p>
            <a:pPr eaLnBrk="1" hangingPunct="1"/>
            <a:endParaRPr lang="en-US" dirty="0">
              <a:latin typeface="Arial" pitchFamily="33" charset="0"/>
            </a:endParaRPr>
          </a:p>
          <a:p>
            <a:pPr eaLnBrk="1" hangingPunct="1"/>
            <a:r>
              <a:rPr lang="en-US" dirty="0">
                <a:latin typeface="Arial" pitchFamily="33" charset="0"/>
              </a:rPr>
              <a:t>• Required resources for implementing the selected controls</a:t>
            </a:r>
          </a:p>
          <a:p>
            <a:pPr eaLnBrk="1" hangingPunct="1"/>
            <a:endParaRPr lang="en-US" dirty="0">
              <a:latin typeface="Arial" pitchFamily="33" charset="0"/>
            </a:endParaRPr>
          </a:p>
          <a:p>
            <a:pPr eaLnBrk="1" hangingPunct="1"/>
            <a:r>
              <a:rPr lang="en-US" dirty="0">
                <a:latin typeface="Arial" pitchFamily="33" charset="0"/>
              </a:rPr>
              <a:t>• Responsible personnel</a:t>
            </a:r>
          </a:p>
          <a:p>
            <a:pPr eaLnBrk="1" hangingPunct="1"/>
            <a:endParaRPr lang="en-US" dirty="0">
              <a:latin typeface="Arial" pitchFamily="33" charset="0"/>
            </a:endParaRPr>
          </a:p>
          <a:p>
            <a:pPr eaLnBrk="1" hangingPunct="1"/>
            <a:r>
              <a:rPr lang="en-US" dirty="0">
                <a:latin typeface="Arial" pitchFamily="33" charset="0"/>
              </a:rPr>
              <a:t>• Target start and end dates for implementation</a:t>
            </a:r>
          </a:p>
          <a:p>
            <a:pPr eaLnBrk="1" hangingPunct="1"/>
            <a:endParaRPr lang="en-US" dirty="0">
              <a:latin typeface="Arial" pitchFamily="33" charset="0"/>
            </a:endParaRPr>
          </a:p>
          <a:p>
            <a:pPr eaLnBrk="1" hangingPunct="1"/>
            <a:r>
              <a:rPr lang="en-US" dirty="0">
                <a:latin typeface="Arial" pitchFamily="33" charset="0"/>
              </a:rPr>
              <a:t>• Maintenance requirements and other comments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9923485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latin typeface="Arial" pitchFamily="33" charset="0"/>
              </a:rPr>
              <a:t>These details are summarized in an </a:t>
            </a:r>
            <a:r>
              <a:rPr lang="en-US" b="1" dirty="0">
                <a:latin typeface="Arial" pitchFamily="33" charset="0"/>
              </a:rPr>
              <a:t>implementation plan table</a:t>
            </a:r>
            <a:r>
              <a:rPr lang="en-US" dirty="0">
                <a:latin typeface="Arial" pitchFamily="33" charset="0"/>
              </a:rPr>
              <a:t>, such as that shown in Table 15.4 . This illustrates an example implementation plan for the example risk identified and shown in Table 14.5 . The suggested controls are specific examples of remote access, auditable event, user identification, system backup, and configuration change controls, applied to the identified threatened asset. All of them are chosen, because they are neither costly nor difficult to implement. They do require some changes to procedures. The relevant network administration staff must be notified of these changes. Staff members may also require training on the correct implementation of the new procedures and their rights and responsibilities.</a:t>
            </a:r>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365256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latin typeface="Arial" pitchFamily="33" charset="0"/>
              </a:rPr>
              <a:t>The next phase in the IT security management process, as indicated in Figure 14.1, is to manage the implementation of the controls detailed in the IT security plan. This comprises the </a:t>
            </a:r>
            <a:r>
              <a:rPr lang="en-US" i="1" dirty="0">
                <a:latin typeface="Arial" pitchFamily="33" charset="0"/>
              </a:rPr>
              <a:t>do </a:t>
            </a:r>
            <a:r>
              <a:rPr lang="en-US" i="0" dirty="0">
                <a:latin typeface="Arial" pitchFamily="33" charset="0"/>
              </a:rPr>
              <a:t>stage of the cyclic implementation model discussed in Chapter 14 </a:t>
            </a:r>
            <a:r>
              <a:rPr lang="en-US" i="1" dirty="0">
                <a:latin typeface="Arial" pitchFamily="33" charset="0"/>
              </a:rPr>
              <a:t>. </a:t>
            </a:r>
            <a:r>
              <a:rPr lang="en-US" dirty="0">
                <a:latin typeface="Arial" pitchFamily="33" charset="0"/>
              </a:rPr>
              <a:t>The implementation phase comprises not only the direct implementation of the controls as detailed in the security plan, but also the associated specific training and general security awareness programs for the organization.</a:t>
            </a:r>
          </a:p>
          <a:p>
            <a:pPr eaLnBrk="1" hangingPunct="1"/>
            <a:endParaRPr lang="en-US" dirty="0">
              <a:latin typeface="Arial" pitchFamily="33" charset="0"/>
            </a:endParaRPr>
          </a:p>
          <a:p>
            <a:pPr eaLnBrk="1" hangingPunct="1"/>
            <a:r>
              <a:rPr lang="en-US" dirty="0">
                <a:latin typeface="Arial" pitchFamily="33" charset="0"/>
              </a:rPr>
              <a:t>The </a:t>
            </a:r>
            <a:r>
              <a:rPr lang="en-US" b="1" dirty="0">
                <a:latin typeface="Arial" pitchFamily="33" charset="0"/>
              </a:rPr>
              <a:t>IT security plan </a:t>
            </a:r>
            <a:r>
              <a:rPr lang="en-US" b="0" dirty="0">
                <a:latin typeface="Arial" pitchFamily="33" charset="0"/>
              </a:rPr>
              <a:t>documents what needs to be done for each selected control, </a:t>
            </a:r>
            <a:r>
              <a:rPr lang="en-US" dirty="0">
                <a:latin typeface="Arial" pitchFamily="33" charset="0"/>
              </a:rPr>
              <a:t>along with the personnel responsible, and the resources and time frame to be used. The identified personnel then undertake the tasks needed to implement the new or enhanced controls, be they technical, managerial, or operational. This may involve some combination of system configuration changes, upgrades, or new system installation. It may also involve the development of new or extended procedures to document practices needed to achieve the desired security goals. Note that even technical controls typically require associated operational procedures to ensure their correct use. The use of these procedures needs to be encouraged and monitored by management.</a:t>
            </a:r>
          </a:p>
          <a:p>
            <a:pPr eaLnBrk="1" hangingPunct="1"/>
            <a:endParaRPr lang="en-US" dirty="0">
              <a:latin typeface="Arial" pitchFamily="33" charset="0"/>
            </a:endParaRPr>
          </a:p>
          <a:p>
            <a:pPr eaLnBrk="1" hangingPunct="1"/>
            <a:r>
              <a:rPr lang="en-US" dirty="0">
                <a:latin typeface="Arial" pitchFamily="33" charset="0"/>
              </a:rPr>
              <a:t>The implementation process should be monitored to ensure its correctness. This is typically performed by the organizational security officer, who checks that:</a:t>
            </a:r>
          </a:p>
          <a:p>
            <a:pPr eaLnBrk="1" hangingPunct="1"/>
            <a:endParaRPr lang="en-US" dirty="0">
              <a:latin typeface="Arial" pitchFamily="33" charset="0"/>
            </a:endParaRPr>
          </a:p>
          <a:p>
            <a:pPr eaLnBrk="1" hangingPunct="1"/>
            <a:r>
              <a:rPr lang="en-US" dirty="0">
                <a:latin typeface="Arial" pitchFamily="33" charset="0"/>
              </a:rPr>
              <a:t>• The implementation costs and resources used stay within identified bounds.</a:t>
            </a:r>
          </a:p>
          <a:p>
            <a:pPr eaLnBrk="1" hangingPunct="1"/>
            <a:endParaRPr lang="en-US" dirty="0">
              <a:latin typeface="Arial" pitchFamily="33" charset="0"/>
            </a:endParaRPr>
          </a:p>
          <a:p>
            <a:pPr eaLnBrk="1" hangingPunct="1"/>
            <a:r>
              <a:rPr lang="en-US" dirty="0">
                <a:latin typeface="Arial" pitchFamily="33" charset="0"/>
              </a:rPr>
              <a:t>• The controls are correctly implemented as specified in the plan, in order that the identified reduction in risk level is achieved.</a:t>
            </a:r>
          </a:p>
          <a:p>
            <a:pPr eaLnBrk="1" hangingPunct="1"/>
            <a:endParaRPr lang="en-US" dirty="0">
              <a:latin typeface="Arial" pitchFamily="33" charset="0"/>
            </a:endParaRPr>
          </a:p>
          <a:p>
            <a:pPr eaLnBrk="1" hangingPunct="1"/>
            <a:r>
              <a:rPr lang="en-US" dirty="0">
                <a:latin typeface="Arial" pitchFamily="33" charset="0"/>
              </a:rPr>
              <a:t>• The controls are operated and administered as needed.</a:t>
            </a:r>
          </a:p>
          <a:p>
            <a:pPr eaLnBrk="1" hangingPunct="1"/>
            <a:endParaRPr lang="en-US" dirty="0">
              <a:latin typeface="Arial" pitchFamily="33" charset="0"/>
            </a:endParaRPr>
          </a:p>
          <a:p>
            <a:pPr eaLnBrk="1" hangingPunct="1"/>
            <a:r>
              <a:rPr lang="en-US" dirty="0">
                <a:latin typeface="Arial" pitchFamily="33" charset="0"/>
              </a:rPr>
              <a:t>When the implementation is successfully completed, management needs to authorize the system for operational use. This may be a purely informal process within the organization. Alternatively, especially in government organizations, this may be part of a formal process resulting in accreditation of the system as meeting required standards. This is usually associated with the installation, certification, and use of trusted computing system, as we will discuss in Chapter 27. In these cases an external accrediting body will verify the documented evidence of the correct design and implementation of the system.</a:t>
            </a:r>
          </a:p>
          <a:p>
            <a:pPr eaLnBrk="1" hangingPunct="1"/>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039849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10" charset="0"/>
                <a:ea typeface="ＭＳ Ｐゴシック" pitchFamily="33" charset="-128"/>
                <a:cs typeface="ＭＳ Ｐゴシック" pitchFamily="33" charset="-128"/>
              </a:rPr>
              <a:t>The IT security management process does not end with the implementation of controls and the training of personnel. As we noted in Chapter 14, it is a cyclic process, constantly repeated to respond to changes in the IT systems and the risk environment. The various controls implemented should be monitored to ensure their continued effectiveness. Any proposed changes to systems should be checked for security implications and the risk profile of the affected system reviewed if necessary. Unfortunately, this aspect of IT security management often receives the least attention and in many cases is added as an afterthought, if at all. Failure to do so can greatly increase the likelihood that a security failure will occur. This follow-up stage of the management process includes a number of aspects: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Maintenance of security controls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Security compliance checking</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Change and configuration management</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Incident handling</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Any of these aspects might indicate that changes are needed to the previous stages in the IT security management process. An obvious example is that if a breach should occur, such as a virus infection of desktop systems, then changes may be needed to the risk assessment, to the controls chosen, or to the details of their implementation. This can trigger a review of earlier stages in the process.</a:t>
            </a:r>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405331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10" charset="0"/>
                <a:ea typeface="ＭＳ Ｐゴシック" pitchFamily="33" charset="-128"/>
                <a:cs typeface="ＭＳ Ｐゴシック" pitchFamily="33" charset="-128"/>
              </a:rPr>
              <a:t>The first aspect concerns the continued maintenance and monitoring of the implemented controls to ensure their continued correct functioning and appropriateness. It is important that someone has responsibility for this maintenance process, which is generally coordinated by the organization’s security officer. </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The maintenance tasks include ensuring that:</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Controls are periodically reviewed to verify that they still function as intended.</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Controls are upgraded when new requirements are discovered.</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Changes to systems do not adversely affect the controls.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New threats or vulnerabilities have not become known.</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This review includes regular analysis of log files to ensure various system components are functioning as expected, and to determine a baseline of activity against which abnormal events can be compared when handling incidents. We discuss security auditing further in Chapter 18 .</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The goal of maintenance is to ensure that the controls continue to perform as intended, and hence that the organization’s risk exposure remains as chosen. Failure to maintain controls could lead to a security breach with a potentially significant impact on the organization.</a:t>
            </a:r>
            <a:endParaRPr lang="en-US" dirty="0">
              <a:latin typeface="Arial"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0905743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baseline="0" dirty="0">
                <a:solidFill>
                  <a:schemeClr val="tx1"/>
                </a:solidFill>
                <a:latin typeface="Arial" pitchFamily="-110" charset="0"/>
                <a:ea typeface="ＭＳ Ｐゴシック" pitchFamily="33" charset="-128"/>
                <a:cs typeface="ＭＳ Ｐゴシック" pitchFamily="33" charset="-128"/>
              </a:rPr>
              <a:t>Security compliance </a:t>
            </a:r>
            <a:r>
              <a:rPr lang="en-US" sz="1200" b="0" kern="1200" baseline="0" dirty="0">
                <a:solidFill>
                  <a:schemeClr val="tx1"/>
                </a:solidFill>
                <a:latin typeface="Arial" pitchFamily="-110" charset="0"/>
                <a:ea typeface="ＭＳ Ｐゴシック" pitchFamily="33" charset="-128"/>
                <a:cs typeface="ＭＳ Ｐゴシック" pitchFamily="33" charset="-128"/>
              </a:rPr>
              <a:t>checking is an audit process to review the organization’s security </a:t>
            </a:r>
            <a:r>
              <a:rPr lang="en-US" sz="1200" kern="1200" baseline="0" dirty="0">
                <a:solidFill>
                  <a:schemeClr val="tx1"/>
                </a:solidFill>
                <a:latin typeface="Arial" pitchFamily="-110" charset="0"/>
                <a:ea typeface="ＭＳ Ｐゴシック" pitchFamily="33" charset="-128"/>
                <a:cs typeface="ＭＳ Ｐゴシック" pitchFamily="33" charset="-128"/>
              </a:rPr>
              <a:t>processes. The goal is to verify compliance with the security plan. The audit may be conducted using either internal or external personnel. It is generally based on the use of checklists, which verify that the suitable policies and plans have been created, that suitable controls were chosen, and that the controls are maintained and used correctly.</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This audit process should be conducted on new IT systems and services once they are implemented; and on existing systems periodically, often as part of a wider, general audit of the organization or whenever changes are made to the organization’s security policy.</a:t>
            </a:r>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726058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baseline="0" dirty="0">
                <a:solidFill>
                  <a:schemeClr val="tx1"/>
                </a:solidFill>
                <a:latin typeface="Arial" pitchFamily="-110" charset="0"/>
                <a:ea typeface="ＭＳ Ｐゴシック" pitchFamily="33" charset="-128"/>
                <a:cs typeface="ＭＳ Ｐゴシック" pitchFamily="33" charset="-128"/>
              </a:rPr>
              <a:t>Change management </a:t>
            </a:r>
            <a:r>
              <a:rPr lang="en-US" sz="1200" b="0" kern="1200" baseline="0" dirty="0">
                <a:solidFill>
                  <a:schemeClr val="tx1"/>
                </a:solidFill>
                <a:latin typeface="Arial" pitchFamily="-110" charset="0"/>
                <a:ea typeface="ＭＳ Ｐゴシック" pitchFamily="33" charset="-128"/>
                <a:cs typeface="ＭＳ Ｐゴシック" pitchFamily="33" charset="-128"/>
              </a:rPr>
              <a:t>is the process used to review proposed changes to systems for implications on the organization’s systems and use. Changes to existing systems can occur for a number of reasons, such as the following:</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 Users reporting problems or desired enhancements</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 Identification of new threats or vulnerabilities</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 Vendor notification of patches or upgrades to hardware or software</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 Technology advances</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 Implementation of new IT features or services, which require changing existing systems</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 Identification of new tasks, which require changing existing systems</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The impact of any proposed change on the organization’s systems should be evaluated. This includes not only security-related aspects, but wider operational issues as well. Thus change management is an important component of the general systems administration process. Because changes can affect security, this general process overlaps IT security management and must interact with it.</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 An important example is the constant flow of patches addressing bugs and security failings in common operating systems and applications. If the organization is running systems of any complexity, with a range of applications, then patches should ideally be tested to ensure that they don’t adversely affect other applications. This can be a time-consuming process that may require considerable administration resources, and could leave the organization exposed to a new vulnerability for a period. Otherwise, the patches or upgrades could be applied without testing, which may possibly result in other failures in the systems and the loss of functionality, but will also improve system security due to faster patching. Management need to decide whether availability or security has higher priority in such cases.</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b="0" kern="1200" baseline="0" dirty="0">
                <a:solidFill>
                  <a:schemeClr val="tx1"/>
                </a:solidFill>
                <a:latin typeface="Arial" pitchFamily="-110" charset="0"/>
                <a:ea typeface="ＭＳ Ｐゴシック" pitchFamily="33" charset="-128"/>
                <a:cs typeface="ＭＳ Ｐゴシック" pitchFamily="33" charset="-128"/>
              </a:rPr>
              <a:t>Ideally, most proposed changes should act to improve the security profile of a system. However, it is possible that for imperative business reasons a change is proposed that reduces the security of a system. In cases like this, it is important that the reasons for the change, its consequences on the security profile for the organization, and management authorization of it be documented. The benefits to the organization would need to be traded off against the increased risk level.</a:t>
            </a:r>
          </a:p>
          <a:p>
            <a:endParaRPr lang="en-US" sz="1200" b="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dirty="0">
                <a:solidFill>
                  <a:schemeClr val="tx1"/>
                </a:solidFill>
                <a:effectLst/>
                <a:latin typeface="Arial" pitchFamily="-110" charset="0"/>
                <a:ea typeface="ＭＳ Ｐゴシック" pitchFamily="33" charset="-128"/>
                <a:cs typeface="ＭＳ Ｐゴシック" pitchFamily="33" charset="-128"/>
              </a:rPr>
              <a:t>The change management process may be informal or formal, depending on the size of the organization and its overall IT management processes. In a formal process, any proposed change should be documented and tested before implementation. As part of this process, any related documentation, including relevant security documentation and procedures, should be updated to reflect the change.</a:t>
            </a:r>
          </a:p>
          <a:p>
            <a:endParaRPr lang="en-US" sz="1200" b="1" kern="1200" baseline="0" dirty="0">
              <a:solidFill>
                <a:schemeClr val="tx1"/>
              </a:solidFill>
              <a:latin typeface="Arial" pitchFamily="-110" charset="0"/>
              <a:ea typeface="ＭＳ Ｐゴシック" pitchFamily="33" charset="-128"/>
              <a:cs typeface="ＭＳ Ｐゴシック" pitchFamily="33" charset="-128"/>
            </a:endParaRPr>
          </a:p>
          <a:p>
            <a:r>
              <a:rPr lang="en-US" sz="1200" b="1" kern="1200" baseline="0" dirty="0">
                <a:solidFill>
                  <a:schemeClr val="tx1"/>
                </a:solidFill>
                <a:latin typeface="Arial" pitchFamily="-110" charset="0"/>
                <a:ea typeface="ＭＳ Ｐゴシック" pitchFamily="33" charset="-128"/>
                <a:cs typeface="ＭＳ Ｐゴシック" pitchFamily="33" charset="-128"/>
              </a:rPr>
              <a:t>Configuration management </a:t>
            </a:r>
            <a:r>
              <a:rPr lang="en-US" sz="1200" b="0" kern="1200" baseline="0" dirty="0">
                <a:solidFill>
                  <a:schemeClr val="tx1"/>
                </a:solidFill>
                <a:latin typeface="Arial" pitchFamily="-110" charset="0"/>
                <a:ea typeface="ＭＳ Ｐゴシック" pitchFamily="33" charset="-128"/>
                <a:cs typeface="ＭＳ Ｐゴシック" pitchFamily="33" charset="-128"/>
              </a:rPr>
              <a:t>is concerned with specifically keeping track of the configuration of each system in use and the changes made to each. This includes lists of the hardware and software versions installed on each system. This information is needed to help restore systems following a failure (whether security related or not) and to know what patches or upgrades might be relevant to particular systems. Again, this is a general systems administration process with security implications and must interact with IT security management.</a:t>
            </a:r>
            <a:endParaRPr lang="en-US" b="0"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260566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10" charset="0"/>
                <a:ea typeface="ＭＳ Ｐゴシック" pitchFamily="33" charset="-128"/>
                <a:cs typeface="ＭＳ Ｐゴシック" pitchFamily="33" charset="-128"/>
              </a:rPr>
              <a:t>Consider the case study introduced in Chapter 14, which involves the operations of a fictional company Silver Star Mines. Given the outcome of the risk assessment for this company, the next stage in the security management process is to identify possible controls. From the information provided during this assessment, clearly a number of the possible controls listed in Table 15.3 are not being used. A comment repeated many times was that many of the systems in use had not been regularly upgraded, and part of the reason for the identified risks was the potential for system compromise using a known but unpatched vulnerability. That clearly suggests that attention needs to be given to controls relating to the regular, systematic maintenance of operating systems and applications software on server and client systems. Such controls include</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Configuration management policy and procedures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Baseline configuration</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System maintenance policy and procedures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Periodic maintenance</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Flaw remediation</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Malicious code protection</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Spam and spyware protection</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Given that potential incidents are possible, attention should also be given to developing contingency plans to detect and respond to such incidents and to enable speedy restoration of system function. Attention should be paid to controls such as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Audit monitoring, analysis, and reporting</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Audit reduction and report generation</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Contingency planning policy and procedures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Incident response policy and procedures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Information system backup</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 Information system recovery and reconstitution</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These controls are generally applicable to all the identified risks and constitute good general systems administration practice. Hence, their cost effectiveness would be high because they provide an improved level of security across multiple identified risks.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Now consider the specific risk items. The top-priority risk relates to the reliability and integrity of the Supervisory Control and Data Acquisition (SCADA) nodes and network. These were identified as being at risk because many of these systems are running older releases of operating systems with known insecurities. Further, these systems cannot be patched or upgraded because the key applications they run have not been updated or validated to run on newer O/S versions. Given these limitations on the ability to reduce the vulnerability of individual nodes, attention should be paid to the firewall and application proxy servers that isolate the SCADA nodes and network from the wider corporate network. These systems can be regularly maintained and managed according to the generally applied list of controls we identified. Further, because the traffic to and from the SCADA network is highly structured and predictable, it should be possible to implement an intrusion detection system with much greater reliability than applies to general-use corporate networks. This system should be able to identify attack traffic, as it would be very different from normal traffic flows. Such a system might involve a more detailed, automated analysis of the audit records generated on the existing firewall and proxy server systems. More likely, it could be an independent system connected to and monitoring the traffic through these systems. The system could be further extended to include an automated response capability, which could automatically sever the network connection if an attack is identified. This approach recognizes that the network connection is not needed for the correct operation of the SCADA nodes. Indeed, they were designed to operate without such a network connection, which is much of the reason for their insecurity. All that would be lost is the improved overall monitoring and management of the SCADA nodes. With this functionality, the likelihood of a successful attack, already regarded as very unlikely, can be further reduced.</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The second priority risk relates to the integrity of stored information. Clearly all the general controls help ameliorate this risk. More specifically, much of the problem relates to the large number of documents scattered over a large number of systems with inconsistent management. This risk would be easier to manage if all documents identified as critical to the operation of the company were stored on a smaller pool of application and file servers. These could be managed appropriately using the generally applicable controls. This suggests that an audit of critical documents is needed to identify who is responsible for them and where they are currently located. Then policies are needed that specify that critical documents should be created and stored only on approved central servers. Existing documents should be transferred to these servers. Appropriate education and training of all affected users is needed to help ensure that these policies are followed.</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The next three risks relate to the availability or integrity of the key Financial, Procurement, and Maintenance/Production systems. The generally applicable controls we identified should  adequately address these risks once the controls are applied to all relevant servers.</a:t>
            </a:r>
          </a:p>
          <a:p>
            <a:endParaRPr lang="en-US" sz="1200" kern="1200" baseline="0" dirty="0">
              <a:solidFill>
                <a:schemeClr val="tx1"/>
              </a:solidFill>
              <a:latin typeface="Arial" pitchFamily="-110" charset="0"/>
              <a:ea typeface="ＭＳ Ｐゴシック" pitchFamily="33" charset="-128"/>
              <a:cs typeface="ＭＳ Ｐゴシック" pitchFamily="33" charset="-128"/>
            </a:endParaRPr>
          </a:p>
          <a:p>
            <a:r>
              <a:rPr lang="en-US" sz="1200" kern="1200" baseline="0" dirty="0">
                <a:solidFill>
                  <a:schemeClr val="tx1"/>
                </a:solidFill>
                <a:latin typeface="Arial" pitchFamily="-110" charset="0"/>
                <a:ea typeface="ＭＳ Ｐゴシック" pitchFamily="33" charset="-128"/>
                <a:cs typeface="ＭＳ Ｐゴシック" pitchFamily="33" charset="-128"/>
              </a:rPr>
              <a:t>The final risk relates to the availability, integrity, and confidentiality of e-mail. As was noted in the risk assessment, this is primarily the responsibility of the parent company’s IT group that manages the external mail gateway. There is a limited amount that can be done on the local site. The use of the generally applicable controls, particularly those relating to malicious code protection and spam and spyware protection on client systems, will assist in reducing this risk. In addition, as part of the contingency planning and incident response policies and procedures, consideration could be given to a backup e-mail system. For security this system would use client systems isolated from the company intranet, connected to an external local network service provider. This connection would be used to provide limited e-mail capabilities for critical messages should the main company intranet e-mail system be compromised.</a:t>
            </a:r>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605285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latin typeface="Arial" pitchFamily="-110" charset="0"/>
                <a:ea typeface="ＭＳ Ｐゴシック" pitchFamily="33" charset="-128"/>
                <a:cs typeface="ＭＳ Ｐゴシック" pitchFamily="33" charset="-128"/>
              </a:rPr>
              <a:t>This analysis of possible controls is summarized in Table 15.5 , which lists the controls identified and the priorities for their implementation. This table must be extended to include details of the resources required, responsible personnel, time frame, and any other comments. This plan would then be implemented, with suitable monitoring of its progress. Its successful implementation leads then to longer term follow-up, which should ensure that the new policies continue to be applied appropriately and that regular reviews of the company’s security profile occur. In time this should lead to a new cycle of risk assessment, plan development, and follow-up.</a:t>
            </a:r>
            <a:endParaRPr lang="en-US" dirty="0">
              <a:latin typeface="Times" pitchFamily="33"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9319687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851012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887495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100322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57570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1315993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959592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Arial" pitchFamily="-110" charset="0"/>
              <a:ea typeface="ＭＳ Ｐゴシック" pitchFamily="33" charset="-128"/>
              <a:cs typeface="ＭＳ Ｐゴシック" pitchFamily="33" charset="-128"/>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9353042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Times New Roman" pitchFamily="-107" charset="0"/>
              </a:rPr>
              <a:t>Chapter 15 summary.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012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12CD195-C445-0098-AC5F-0B682C827366}"/>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3CCFB09A-674A-2F6D-47CF-EA23C454F71E}"/>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551CA636-6153-7DD3-33C7-3486062C06D1}"/>
              </a:ext>
            </a:extLst>
          </p:cNvPr>
          <p:cNvSpPr>
            <a:spLocks noGrp="1" noChangeArrowheads="1"/>
          </p:cNvSpPr>
          <p:nvPr>
            <p:ph type="sldNum" sz="quarter" idx="12"/>
          </p:nvPr>
        </p:nvSpPr>
        <p:spPr>
          <a:ln/>
        </p:spPr>
        <p:txBody>
          <a:bodyPr/>
          <a:lstStyle>
            <a:lvl1pPr>
              <a:defRPr/>
            </a:lvl1pPr>
          </a:lstStyle>
          <a:p>
            <a:fld id="{C1C438F2-1020-A447-98A5-7A7EFD9A8F0D}" type="slidenum">
              <a:rPr lang="zh-CN" altLang="en-US"/>
              <a:pPr/>
              <a:t>‹#›</a:t>
            </a:fld>
            <a:endParaRPr lang="en-US" altLang="zh-CN"/>
          </a:p>
        </p:txBody>
      </p:sp>
    </p:spTree>
    <p:extLst>
      <p:ext uri="{BB962C8B-B14F-4D97-AF65-F5344CB8AC3E}">
        <p14:creationId xmlns:p14="http://schemas.microsoft.com/office/powerpoint/2010/main" val="4086900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a:t>Fifth level</a:t>
            </a:r>
          </a:p>
        </p:txBody>
      </p:sp>
      <p:sp>
        <p:nvSpPr>
          <p:cNvPr id="4" name="Rectangle 4">
            <a:extLst>
              <a:ext uri="{FF2B5EF4-FFF2-40B4-BE49-F238E27FC236}">
                <a16:creationId xmlns:a16="http://schemas.microsoft.com/office/drawing/2014/main" id="{B37F9F0A-3FEF-B580-FD82-9E48DC9822A8}"/>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6FFA311E-2FED-FF05-181D-9E3D3AF5DDC8}"/>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95BFA1E4-70E5-9A30-78E8-B019D31EF88D}"/>
              </a:ext>
            </a:extLst>
          </p:cNvPr>
          <p:cNvSpPr>
            <a:spLocks noGrp="1" noChangeArrowheads="1"/>
          </p:cNvSpPr>
          <p:nvPr>
            <p:ph type="sldNum" sz="quarter" idx="12"/>
          </p:nvPr>
        </p:nvSpPr>
        <p:spPr>
          <a:ln/>
        </p:spPr>
        <p:txBody>
          <a:bodyPr/>
          <a:lstStyle>
            <a:lvl1pPr>
              <a:defRPr/>
            </a:lvl1pPr>
          </a:lstStyle>
          <a:p>
            <a:fld id="{C229BFEB-A0E0-6248-B3FD-62DBB4A69257}" type="slidenum">
              <a:rPr lang="zh-CN" altLang="en-US"/>
              <a:pPr/>
              <a:t>‹#›</a:t>
            </a:fld>
            <a:endParaRPr lang="en-US" altLang="zh-CN"/>
          </a:p>
        </p:txBody>
      </p:sp>
    </p:spTree>
    <p:extLst>
      <p:ext uri="{BB962C8B-B14F-4D97-AF65-F5344CB8AC3E}">
        <p14:creationId xmlns:p14="http://schemas.microsoft.com/office/powerpoint/2010/main" val="384027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7A4ECC3-1DAF-2FB4-D0CC-2E4CD4109081}"/>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4C52E7BB-0D49-0BDD-8A4E-D527FD0F83F5}"/>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E81AE05C-CCB2-A05D-0742-952CF577E0C7}"/>
              </a:ext>
            </a:extLst>
          </p:cNvPr>
          <p:cNvSpPr>
            <a:spLocks noGrp="1" noChangeArrowheads="1"/>
          </p:cNvSpPr>
          <p:nvPr>
            <p:ph type="sldNum" sz="quarter" idx="12"/>
          </p:nvPr>
        </p:nvSpPr>
        <p:spPr>
          <a:ln/>
        </p:spPr>
        <p:txBody>
          <a:bodyPr/>
          <a:lstStyle>
            <a:lvl1pPr>
              <a:defRPr/>
            </a:lvl1pPr>
          </a:lstStyle>
          <a:p>
            <a:fld id="{8E95A0A3-5CE3-9643-81BA-F6D816AE8259}" type="slidenum">
              <a:rPr lang="zh-CN" altLang="en-US"/>
              <a:pPr/>
              <a:t>‹#›</a:t>
            </a:fld>
            <a:endParaRPr lang="en-US" altLang="zh-CN"/>
          </a:p>
        </p:txBody>
      </p:sp>
    </p:spTree>
    <p:extLst>
      <p:ext uri="{BB962C8B-B14F-4D97-AF65-F5344CB8AC3E}">
        <p14:creationId xmlns:p14="http://schemas.microsoft.com/office/powerpoint/2010/main" val="1549221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7457478-8C20-6E7B-7778-B39C14BDCF8E}"/>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6" name="Rectangle 5">
            <a:extLst>
              <a:ext uri="{FF2B5EF4-FFF2-40B4-BE49-F238E27FC236}">
                <a16:creationId xmlns:a16="http://schemas.microsoft.com/office/drawing/2014/main" id="{3214AD66-49F9-B705-D684-18F446CF0EEE}"/>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7" name="Rectangle 6">
            <a:extLst>
              <a:ext uri="{FF2B5EF4-FFF2-40B4-BE49-F238E27FC236}">
                <a16:creationId xmlns:a16="http://schemas.microsoft.com/office/drawing/2014/main" id="{9FFC3627-74F9-8D66-8232-D033C18ED1E9}"/>
              </a:ext>
            </a:extLst>
          </p:cNvPr>
          <p:cNvSpPr>
            <a:spLocks noGrp="1" noChangeArrowheads="1"/>
          </p:cNvSpPr>
          <p:nvPr>
            <p:ph type="sldNum" sz="quarter" idx="12"/>
          </p:nvPr>
        </p:nvSpPr>
        <p:spPr>
          <a:ln/>
        </p:spPr>
        <p:txBody>
          <a:bodyPr/>
          <a:lstStyle>
            <a:lvl1pPr>
              <a:defRPr/>
            </a:lvl1pPr>
          </a:lstStyle>
          <a:p>
            <a:fld id="{135BE172-EF86-8049-A461-8B3BCEAA8A9A}" type="slidenum">
              <a:rPr lang="zh-CN" altLang="en-US"/>
              <a:pPr/>
              <a:t>‹#›</a:t>
            </a:fld>
            <a:endParaRPr lang="en-US" altLang="zh-CN"/>
          </a:p>
        </p:txBody>
      </p:sp>
    </p:spTree>
    <p:extLst>
      <p:ext uri="{BB962C8B-B14F-4D97-AF65-F5344CB8AC3E}">
        <p14:creationId xmlns:p14="http://schemas.microsoft.com/office/powerpoint/2010/main" val="2354776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B701D98-6F7D-3A95-EC92-D5FC5CC97FE4}"/>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8" name="Rectangle 5">
            <a:extLst>
              <a:ext uri="{FF2B5EF4-FFF2-40B4-BE49-F238E27FC236}">
                <a16:creationId xmlns:a16="http://schemas.microsoft.com/office/drawing/2014/main" id="{F9B62308-FAA7-D590-592D-0A1F7A56257F}"/>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9" name="Rectangle 6">
            <a:extLst>
              <a:ext uri="{FF2B5EF4-FFF2-40B4-BE49-F238E27FC236}">
                <a16:creationId xmlns:a16="http://schemas.microsoft.com/office/drawing/2014/main" id="{8A362DE4-9B3B-A1E4-3409-D171E4FCC10B}"/>
              </a:ext>
            </a:extLst>
          </p:cNvPr>
          <p:cNvSpPr>
            <a:spLocks noGrp="1" noChangeArrowheads="1"/>
          </p:cNvSpPr>
          <p:nvPr>
            <p:ph type="sldNum" sz="quarter" idx="12"/>
          </p:nvPr>
        </p:nvSpPr>
        <p:spPr>
          <a:ln/>
        </p:spPr>
        <p:txBody>
          <a:bodyPr/>
          <a:lstStyle>
            <a:lvl1pPr>
              <a:defRPr/>
            </a:lvl1pPr>
          </a:lstStyle>
          <a:p>
            <a:fld id="{A573A52F-980D-4442-9E1C-AA20B80F5026}" type="slidenum">
              <a:rPr lang="zh-CN" altLang="en-US"/>
              <a:pPr/>
              <a:t>‹#›</a:t>
            </a:fld>
            <a:endParaRPr lang="en-US" altLang="zh-CN"/>
          </a:p>
        </p:txBody>
      </p:sp>
    </p:spTree>
    <p:extLst>
      <p:ext uri="{BB962C8B-B14F-4D97-AF65-F5344CB8AC3E}">
        <p14:creationId xmlns:p14="http://schemas.microsoft.com/office/powerpoint/2010/main" val="4030668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0AA5924-652C-FA11-6CED-3246D9117ACD}"/>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4" name="Rectangle 5">
            <a:extLst>
              <a:ext uri="{FF2B5EF4-FFF2-40B4-BE49-F238E27FC236}">
                <a16:creationId xmlns:a16="http://schemas.microsoft.com/office/drawing/2014/main" id="{184A6EA6-1E95-D252-F03A-03036E96EC26}"/>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5" name="Rectangle 6">
            <a:extLst>
              <a:ext uri="{FF2B5EF4-FFF2-40B4-BE49-F238E27FC236}">
                <a16:creationId xmlns:a16="http://schemas.microsoft.com/office/drawing/2014/main" id="{1F417CA2-9066-6648-48E0-244E1525587A}"/>
              </a:ext>
            </a:extLst>
          </p:cNvPr>
          <p:cNvSpPr>
            <a:spLocks noGrp="1" noChangeArrowheads="1"/>
          </p:cNvSpPr>
          <p:nvPr>
            <p:ph type="sldNum" sz="quarter" idx="12"/>
          </p:nvPr>
        </p:nvSpPr>
        <p:spPr>
          <a:ln/>
        </p:spPr>
        <p:txBody>
          <a:bodyPr/>
          <a:lstStyle>
            <a:lvl1pPr>
              <a:defRPr/>
            </a:lvl1pPr>
          </a:lstStyle>
          <a:p>
            <a:fld id="{2E9FAF28-C14D-2F46-A0D8-98EFABDD2FEB}" type="slidenum">
              <a:rPr lang="zh-CN" altLang="en-US"/>
              <a:pPr/>
              <a:t>‹#›</a:t>
            </a:fld>
            <a:endParaRPr lang="en-US" altLang="zh-CN"/>
          </a:p>
        </p:txBody>
      </p:sp>
    </p:spTree>
    <p:extLst>
      <p:ext uri="{BB962C8B-B14F-4D97-AF65-F5344CB8AC3E}">
        <p14:creationId xmlns:p14="http://schemas.microsoft.com/office/powerpoint/2010/main" val="2437388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231CC9D-15DF-497D-6731-99A8CA128F18}"/>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3" name="Rectangle 5">
            <a:extLst>
              <a:ext uri="{FF2B5EF4-FFF2-40B4-BE49-F238E27FC236}">
                <a16:creationId xmlns:a16="http://schemas.microsoft.com/office/drawing/2014/main" id="{CF23DA2C-368E-0FFD-2666-00643D97D5AD}"/>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4" name="Rectangle 6">
            <a:extLst>
              <a:ext uri="{FF2B5EF4-FFF2-40B4-BE49-F238E27FC236}">
                <a16:creationId xmlns:a16="http://schemas.microsoft.com/office/drawing/2014/main" id="{D3704BD1-5BF9-F4D9-9D13-1D15ACCDB723}"/>
              </a:ext>
            </a:extLst>
          </p:cNvPr>
          <p:cNvSpPr>
            <a:spLocks noGrp="1" noChangeArrowheads="1"/>
          </p:cNvSpPr>
          <p:nvPr>
            <p:ph type="sldNum" sz="quarter" idx="12"/>
          </p:nvPr>
        </p:nvSpPr>
        <p:spPr>
          <a:ln/>
        </p:spPr>
        <p:txBody>
          <a:bodyPr/>
          <a:lstStyle>
            <a:lvl1pPr>
              <a:defRPr/>
            </a:lvl1pPr>
          </a:lstStyle>
          <a:p>
            <a:fld id="{770392A1-D0AE-E24A-9FC0-A5A8D63C4970}" type="slidenum">
              <a:rPr lang="zh-CN" altLang="en-US"/>
              <a:pPr/>
              <a:t>‹#›</a:t>
            </a:fld>
            <a:endParaRPr lang="en-US" altLang="zh-CN"/>
          </a:p>
        </p:txBody>
      </p:sp>
    </p:spTree>
    <p:extLst>
      <p:ext uri="{BB962C8B-B14F-4D97-AF65-F5344CB8AC3E}">
        <p14:creationId xmlns:p14="http://schemas.microsoft.com/office/powerpoint/2010/main" val="103484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1D9278C-73EA-0DB7-5384-DF5CB610D868}"/>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6" name="Rectangle 5">
            <a:extLst>
              <a:ext uri="{FF2B5EF4-FFF2-40B4-BE49-F238E27FC236}">
                <a16:creationId xmlns:a16="http://schemas.microsoft.com/office/drawing/2014/main" id="{C3E5C983-C7CD-C194-1440-113F3D4DBFAF}"/>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7" name="Rectangle 6">
            <a:extLst>
              <a:ext uri="{FF2B5EF4-FFF2-40B4-BE49-F238E27FC236}">
                <a16:creationId xmlns:a16="http://schemas.microsoft.com/office/drawing/2014/main" id="{5EF04C7D-2765-D30C-D855-F8A36C27C2F9}"/>
              </a:ext>
            </a:extLst>
          </p:cNvPr>
          <p:cNvSpPr>
            <a:spLocks noGrp="1" noChangeArrowheads="1"/>
          </p:cNvSpPr>
          <p:nvPr>
            <p:ph type="sldNum" sz="quarter" idx="12"/>
          </p:nvPr>
        </p:nvSpPr>
        <p:spPr>
          <a:ln/>
        </p:spPr>
        <p:txBody>
          <a:bodyPr/>
          <a:lstStyle>
            <a:lvl1pPr>
              <a:defRPr/>
            </a:lvl1pPr>
          </a:lstStyle>
          <a:p>
            <a:fld id="{DBFD484B-C277-334F-AC07-A2BD8BF6423E}" type="slidenum">
              <a:rPr lang="zh-CN" altLang="en-US"/>
              <a:pPr/>
              <a:t>‹#›</a:t>
            </a:fld>
            <a:endParaRPr lang="en-US" altLang="zh-CN"/>
          </a:p>
        </p:txBody>
      </p:sp>
    </p:spTree>
    <p:extLst>
      <p:ext uri="{BB962C8B-B14F-4D97-AF65-F5344CB8AC3E}">
        <p14:creationId xmlns:p14="http://schemas.microsoft.com/office/powerpoint/2010/main" val="158399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BA6C55D-7E62-DA89-BF67-0AAB7BDF13D3}"/>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6" name="Rectangle 5">
            <a:extLst>
              <a:ext uri="{FF2B5EF4-FFF2-40B4-BE49-F238E27FC236}">
                <a16:creationId xmlns:a16="http://schemas.microsoft.com/office/drawing/2014/main" id="{F924DD6D-27EB-23ED-8F67-3154A1341B09}"/>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7" name="Rectangle 6">
            <a:extLst>
              <a:ext uri="{FF2B5EF4-FFF2-40B4-BE49-F238E27FC236}">
                <a16:creationId xmlns:a16="http://schemas.microsoft.com/office/drawing/2014/main" id="{E3851B92-6C68-C1A8-2D8C-21EB52DD14BE}"/>
              </a:ext>
            </a:extLst>
          </p:cNvPr>
          <p:cNvSpPr>
            <a:spLocks noGrp="1" noChangeArrowheads="1"/>
          </p:cNvSpPr>
          <p:nvPr>
            <p:ph type="sldNum" sz="quarter" idx="12"/>
          </p:nvPr>
        </p:nvSpPr>
        <p:spPr>
          <a:ln/>
        </p:spPr>
        <p:txBody>
          <a:bodyPr/>
          <a:lstStyle>
            <a:lvl1pPr>
              <a:defRPr/>
            </a:lvl1pPr>
          </a:lstStyle>
          <a:p>
            <a:fld id="{024A82F4-0C46-1442-8CA7-F21DC82EF7BA}" type="slidenum">
              <a:rPr lang="zh-CN" altLang="en-US"/>
              <a:pPr/>
              <a:t>‹#›</a:t>
            </a:fld>
            <a:endParaRPr lang="en-US" altLang="zh-CN"/>
          </a:p>
        </p:txBody>
      </p:sp>
    </p:spTree>
    <p:extLst>
      <p:ext uri="{BB962C8B-B14F-4D97-AF65-F5344CB8AC3E}">
        <p14:creationId xmlns:p14="http://schemas.microsoft.com/office/powerpoint/2010/main" val="3887376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C408D14-7AD2-2F56-6D62-FD4B5D78171E}"/>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E3601CD5-8CA7-E909-F076-F62A8113AC36}"/>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1702DD43-94CA-1665-2E7F-8A0F978C6A78}"/>
              </a:ext>
            </a:extLst>
          </p:cNvPr>
          <p:cNvSpPr>
            <a:spLocks noGrp="1" noChangeArrowheads="1"/>
          </p:cNvSpPr>
          <p:nvPr>
            <p:ph type="sldNum" sz="quarter" idx="12"/>
          </p:nvPr>
        </p:nvSpPr>
        <p:spPr>
          <a:ln/>
        </p:spPr>
        <p:txBody>
          <a:bodyPr/>
          <a:lstStyle>
            <a:lvl1pPr>
              <a:defRPr/>
            </a:lvl1pPr>
          </a:lstStyle>
          <a:p>
            <a:fld id="{A00502C6-DE9C-AE46-9B88-9E5B31C7A0E4}" type="slidenum">
              <a:rPr lang="zh-CN" altLang="en-US"/>
              <a:pPr/>
              <a:t>‹#›</a:t>
            </a:fld>
            <a:endParaRPr lang="en-US" altLang="zh-CN"/>
          </a:p>
        </p:txBody>
      </p:sp>
    </p:spTree>
    <p:extLst>
      <p:ext uri="{BB962C8B-B14F-4D97-AF65-F5344CB8AC3E}">
        <p14:creationId xmlns:p14="http://schemas.microsoft.com/office/powerpoint/2010/main" val="3611426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698686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97516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02566554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88AB2DA-565A-803A-A4E4-5A8D1F99E4E9}"/>
              </a:ext>
            </a:extLst>
          </p:cNvPr>
          <p:cNvSpPr>
            <a:spLocks noGrp="1" noChangeArrowheads="1"/>
          </p:cNvSpPr>
          <p:nvPr>
            <p:ph type="title"/>
          </p:nvPr>
        </p:nvSpPr>
        <p:spPr bwMode="auto">
          <a:xfrm>
            <a:off x="685800" y="304800"/>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09705ED0-A531-0916-DB50-858DB18FB1E0}"/>
              </a:ext>
            </a:extLst>
          </p:cNvPr>
          <p:cNvSpPr>
            <a:spLocks noGrp="1" noChangeArrowheads="1"/>
          </p:cNvSpPr>
          <p:nvPr>
            <p:ph type="body" idx="1"/>
          </p:nvPr>
        </p:nvSpPr>
        <p:spPr bwMode="auto">
          <a:xfrm>
            <a:off x="457200" y="1371600"/>
            <a:ext cx="82296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E50E7A04-8660-EA8C-8858-E4848CB798D6}"/>
              </a:ext>
            </a:extLst>
          </p:cNvPr>
          <p:cNvSpPr>
            <a:spLocks noGrp="1" noChangeArrowheads="1"/>
          </p:cNvSpPr>
          <p:nvPr>
            <p:ph type="dt" sz="half" idx="2"/>
          </p:nvPr>
        </p:nvSpPr>
        <p:spPr bwMode="auto">
          <a:xfrm>
            <a:off x="381000" y="6324600"/>
            <a:ext cx="5791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defRPr sz="1600" b="1">
                <a:ea typeface="SimSun" pitchFamily="2" charset="-122"/>
              </a:defRPr>
            </a:lvl1pPr>
          </a:lstStyle>
          <a:p>
            <a:pPr>
              <a:defRPr/>
            </a:pPr>
            <a:r>
              <a:rPr lang="en-US" altLang="zh-CN"/>
              <a:t>CS7900, Meilin Liu </a:t>
            </a:r>
          </a:p>
        </p:txBody>
      </p:sp>
      <p:sp>
        <p:nvSpPr>
          <p:cNvPr id="1029" name="Rectangle 5">
            <a:extLst>
              <a:ext uri="{FF2B5EF4-FFF2-40B4-BE49-F238E27FC236}">
                <a16:creationId xmlns:a16="http://schemas.microsoft.com/office/drawing/2014/main" id="{7456268A-40CC-8519-FFCB-83695D88F283}"/>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400">
                <a:ea typeface="SimSun" pitchFamily="2" charset="-122"/>
              </a:defRPr>
            </a:lvl1pPr>
          </a:lstStyle>
          <a:p>
            <a:pPr>
              <a:defRPr/>
            </a:pPr>
            <a:r>
              <a:rPr lang="en-US" altLang="zh-CN"/>
              <a:t> Part 2  Access Control                                                                                                  12</a:t>
            </a:r>
          </a:p>
        </p:txBody>
      </p:sp>
      <p:sp>
        <p:nvSpPr>
          <p:cNvPr id="1030" name="Rectangle 6">
            <a:extLst>
              <a:ext uri="{FF2B5EF4-FFF2-40B4-BE49-F238E27FC236}">
                <a16:creationId xmlns:a16="http://schemas.microsoft.com/office/drawing/2014/main" id="{D5E7F46E-3BAC-4CA1-61D0-B92F785805A6}"/>
              </a:ext>
            </a:extLst>
          </p:cNvPr>
          <p:cNvSpPr>
            <a:spLocks noGrp="1" noChangeArrowheads="1"/>
          </p:cNvSpPr>
          <p:nvPr>
            <p:ph type="sldNum" sz="quarter" idx="4"/>
          </p:nvPr>
        </p:nvSpPr>
        <p:spPr bwMode="auto">
          <a:xfrm>
            <a:off x="6629400" y="6324600"/>
            <a:ext cx="190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400">
                <a:ea typeface="宋体" panose="02010600030101010101" pitchFamily="2" charset="-122"/>
              </a:defRPr>
            </a:lvl1pPr>
          </a:lstStyle>
          <a:p>
            <a:fld id="{112C7EC4-8EE5-C642-B414-A9EA62F8025E}"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ctr" rtl="0" eaLnBrk="0" fontAlgn="base" hangingPunct="0">
        <a:spcBef>
          <a:spcPct val="0"/>
        </a:spcBef>
        <a:spcAft>
          <a:spcPct val="0"/>
        </a:spcAft>
        <a:defRPr sz="3600" b="1">
          <a:solidFill>
            <a:srgbClr val="C60000"/>
          </a:solidFill>
          <a:latin typeface="+mj-lt"/>
          <a:ea typeface="+mj-ea"/>
          <a:cs typeface="+mj-cs"/>
        </a:defRPr>
      </a:lvl1pPr>
      <a:lvl2pPr algn="ctr" rtl="0" eaLnBrk="0" fontAlgn="base" hangingPunct="0">
        <a:spcBef>
          <a:spcPct val="0"/>
        </a:spcBef>
        <a:spcAft>
          <a:spcPct val="0"/>
        </a:spcAft>
        <a:defRPr sz="3600" b="1">
          <a:solidFill>
            <a:srgbClr val="C60000"/>
          </a:solidFill>
          <a:latin typeface="Times New Roman" pitchFamily="18" charset="0"/>
        </a:defRPr>
      </a:lvl2pPr>
      <a:lvl3pPr algn="ctr" rtl="0" eaLnBrk="0" fontAlgn="base" hangingPunct="0">
        <a:spcBef>
          <a:spcPct val="0"/>
        </a:spcBef>
        <a:spcAft>
          <a:spcPct val="0"/>
        </a:spcAft>
        <a:defRPr sz="3600" b="1">
          <a:solidFill>
            <a:srgbClr val="C60000"/>
          </a:solidFill>
          <a:latin typeface="Times New Roman" pitchFamily="18" charset="0"/>
        </a:defRPr>
      </a:lvl3pPr>
      <a:lvl4pPr algn="ctr" rtl="0" eaLnBrk="0" fontAlgn="base" hangingPunct="0">
        <a:spcBef>
          <a:spcPct val="0"/>
        </a:spcBef>
        <a:spcAft>
          <a:spcPct val="0"/>
        </a:spcAft>
        <a:defRPr sz="3600" b="1">
          <a:solidFill>
            <a:srgbClr val="C60000"/>
          </a:solidFill>
          <a:latin typeface="Times New Roman" pitchFamily="18" charset="0"/>
        </a:defRPr>
      </a:lvl4pPr>
      <a:lvl5pPr algn="ctr" rtl="0" eaLnBrk="0" fontAlgn="base" hangingPunct="0">
        <a:spcBef>
          <a:spcPct val="0"/>
        </a:spcBef>
        <a:spcAft>
          <a:spcPct val="0"/>
        </a:spcAft>
        <a:defRPr sz="3600" b="1">
          <a:solidFill>
            <a:srgbClr val="C60000"/>
          </a:solidFill>
          <a:latin typeface="Times New Roman" pitchFamily="18" charset="0"/>
        </a:defRPr>
      </a:lvl5pPr>
      <a:lvl6pPr marL="457200" algn="ctr" rtl="0" fontAlgn="base">
        <a:spcBef>
          <a:spcPct val="0"/>
        </a:spcBef>
        <a:spcAft>
          <a:spcPct val="0"/>
        </a:spcAft>
        <a:defRPr sz="3600" b="1">
          <a:solidFill>
            <a:srgbClr val="C60000"/>
          </a:solidFill>
          <a:latin typeface="Times New Roman" pitchFamily="18" charset="0"/>
        </a:defRPr>
      </a:lvl6pPr>
      <a:lvl7pPr marL="914400" algn="ctr" rtl="0" fontAlgn="base">
        <a:spcBef>
          <a:spcPct val="0"/>
        </a:spcBef>
        <a:spcAft>
          <a:spcPct val="0"/>
        </a:spcAft>
        <a:defRPr sz="3600" b="1">
          <a:solidFill>
            <a:srgbClr val="C60000"/>
          </a:solidFill>
          <a:latin typeface="Times New Roman" pitchFamily="18" charset="0"/>
        </a:defRPr>
      </a:lvl7pPr>
      <a:lvl8pPr marL="1371600" algn="ctr" rtl="0" fontAlgn="base">
        <a:spcBef>
          <a:spcPct val="0"/>
        </a:spcBef>
        <a:spcAft>
          <a:spcPct val="0"/>
        </a:spcAft>
        <a:defRPr sz="3600" b="1">
          <a:solidFill>
            <a:srgbClr val="C60000"/>
          </a:solidFill>
          <a:latin typeface="Times New Roman" pitchFamily="18" charset="0"/>
        </a:defRPr>
      </a:lvl8pPr>
      <a:lvl9pPr marL="1828800" algn="ctr" rtl="0" fontAlgn="base">
        <a:spcBef>
          <a:spcPct val="0"/>
        </a:spcBef>
        <a:spcAft>
          <a:spcPct val="0"/>
        </a:spcAft>
        <a:defRPr sz="3600" b="1">
          <a:solidFill>
            <a:srgbClr val="C60000"/>
          </a:solidFill>
          <a:latin typeface="Times New Roman" pitchFamily="18" charset="0"/>
        </a:defRPr>
      </a:lvl9pPr>
    </p:titleStyle>
    <p:bodyStyle>
      <a:lvl1pPr marL="342900" indent="-342900" algn="l" rtl="0" eaLnBrk="0" fontAlgn="base" hangingPunct="0">
        <a:lnSpc>
          <a:spcPct val="95000"/>
        </a:lnSpc>
        <a:spcBef>
          <a:spcPct val="20000"/>
        </a:spcBef>
        <a:spcAft>
          <a:spcPct val="0"/>
        </a:spcAft>
        <a:defRPr sz="2400">
          <a:solidFill>
            <a:schemeClr val="tx1"/>
          </a:solidFill>
          <a:latin typeface="+mn-lt"/>
          <a:ea typeface="+mn-ea"/>
          <a:cs typeface="+mn-cs"/>
        </a:defRPr>
      </a:lvl1pPr>
      <a:lvl2pPr marL="742950" indent="-285750" algn="l" rtl="0" eaLnBrk="0" fontAlgn="base" hangingPunct="0">
        <a:lnSpc>
          <a:spcPct val="90000"/>
        </a:lnSpc>
        <a:spcBef>
          <a:spcPct val="20000"/>
        </a:spcBef>
        <a:spcAft>
          <a:spcPct val="0"/>
        </a:spcAft>
        <a:buClr>
          <a:srgbClr val="000099"/>
        </a:buClr>
        <a:buFont typeface="Wingdings" pitchFamily="2" charset="2"/>
        <a:buChar char="Ø"/>
        <a:defRPr sz="2200">
          <a:solidFill>
            <a:schemeClr val="tx1"/>
          </a:solidFill>
          <a:latin typeface="+mn-lt"/>
        </a:defRPr>
      </a:lvl2pPr>
      <a:lvl3pPr marL="1143000" indent="-228600" algn="l" rtl="0" eaLnBrk="0" fontAlgn="base" hangingPunct="0">
        <a:lnSpc>
          <a:spcPct val="90000"/>
        </a:lnSpc>
        <a:spcBef>
          <a:spcPct val="20000"/>
        </a:spcBef>
        <a:spcAft>
          <a:spcPct val="0"/>
        </a:spcAft>
        <a:buClr>
          <a:srgbClr val="000099"/>
        </a:buClr>
        <a:buChar char="o"/>
        <a:defRPr sz="2000">
          <a:solidFill>
            <a:schemeClr val="tx1"/>
          </a:solidFill>
          <a:latin typeface="+mn-lt"/>
        </a:defRPr>
      </a:lvl3pPr>
      <a:lvl4pPr marL="1600200" indent="-228600" algn="l" rtl="0" eaLnBrk="0" fontAlgn="base" hangingPunct="0">
        <a:lnSpc>
          <a:spcPct val="90000"/>
        </a:lnSpc>
        <a:spcBef>
          <a:spcPct val="20000"/>
        </a:spcBef>
        <a:spcAft>
          <a:spcPct val="0"/>
        </a:spcAft>
        <a:buClr>
          <a:srgbClr val="000099"/>
        </a:buClr>
        <a:buChar char="–"/>
        <a:defRPr>
          <a:solidFill>
            <a:schemeClr val="tx1"/>
          </a:solidFill>
          <a:latin typeface="+mn-lt"/>
        </a:defRPr>
      </a:lvl4pPr>
      <a:lvl5pPr marL="2057400" indent="-228600" algn="l" rtl="0" eaLnBrk="0" fontAlgn="base" hangingPunct="0">
        <a:lnSpc>
          <a:spcPct val="90000"/>
        </a:lnSpc>
        <a:spcBef>
          <a:spcPct val="20000"/>
        </a:spcBef>
        <a:spcAft>
          <a:spcPct val="0"/>
        </a:spcAft>
        <a:buClr>
          <a:srgbClr val="000099"/>
        </a:buClr>
        <a:buChar char="»"/>
        <a:defRPr>
          <a:solidFill>
            <a:schemeClr val="tx1"/>
          </a:solidFill>
          <a:latin typeface="+mn-lt"/>
        </a:defRPr>
      </a:lvl5pPr>
      <a:lvl6pPr marL="2514600" indent="-228600" algn="l" rtl="0" fontAlgn="base">
        <a:lnSpc>
          <a:spcPct val="90000"/>
        </a:lnSpc>
        <a:spcBef>
          <a:spcPct val="20000"/>
        </a:spcBef>
        <a:spcAft>
          <a:spcPct val="0"/>
        </a:spcAft>
        <a:buClr>
          <a:srgbClr val="000099"/>
        </a:buClr>
        <a:buChar char="»"/>
        <a:defRPr>
          <a:solidFill>
            <a:schemeClr val="tx1"/>
          </a:solidFill>
          <a:latin typeface="+mn-lt"/>
        </a:defRPr>
      </a:lvl6pPr>
      <a:lvl7pPr marL="2971800" indent="-228600" algn="l" rtl="0" fontAlgn="base">
        <a:lnSpc>
          <a:spcPct val="90000"/>
        </a:lnSpc>
        <a:spcBef>
          <a:spcPct val="20000"/>
        </a:spcBef>
        <a:spcAft>
          <a:spcPct val="0"/>
        </a:spcAft>
        <a:buClr>
          <a:srgbClr val="000099"/>
        </a:buClr>
        <a:buChar char="»"/>
        <a:defRPr>
          <a:solidFill>
            <a:schemeClr val="tx1"/>
          </a:solidFill>
          <a:latin typeface="+mn-lt"/>
        </a:defRPr>
      </a:lvl7pPr>
      <a:lvl8pPr marL="3429000" indent="-228600" algn="l" rtl="0" fontAlgn="base">
        <a:lnSpc>
          <a:spcPct val="90000"/>
        </a:lnSpc>
        <a:spcBef>
          <a:spcPct val="20000"/>
        </a:spcBef>
        <a:spcAft>
          <a:spcPct val="0"/>
        </a:spcAft>
        <a:buClr>
          <a:srgbClr val="000099"/>
        </a:buClr>
        <a:buChar char="»"/>
        <a:defRPr>
          <a:solidFill>
            <a:schemeClr val="tx1"/>
          </a:solidFill>
          <a:latin typeface="+mn-lt"/>
        </a:defRPr>
      </a:lvl8pPr>
      <a:lvl9pPr marL="3886200" indent="-228600" algn="l" rtl="0" fontAlgn="base">
        <a:lnSpc>
          <a:spcPct val="90000"/>
        </a:lnSpc>
        <a:spcBef>
          <a:spcPct val="20000"/>
        </a:spcBef>
        <a:spcAft>
          <a:spcPct val="0"/>
        </a:spcAft>
        <a:buClr>
          <a:srgbClr val="000099"/>
        </a:buClr>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oleObject" Target="../embeddings/oleObject4.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9.emf"/><Relationship Id="rId4" Type="http://schemas.openxmlformats.org/officeDocument/2006/relationships/oleObject" Target="../embeddings/oleObject5.bin"/></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Date Placeholder 3">
            <a:extLst>
              <a:ext uri="{FF2B5EF4-FFF2-40B4-BE49-F238E27FC236}">
                <a16:creationId xmlns:a16="http://schemas.microsoft.com/office/drawing/2014/main" id="{B64236CE-93B2-4540-5405-27B83FA07B2A}"/>
              </a:ext>
            </a:extLst>
          </p:cNvPr>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2051" name="Slide Number Placeholder 5">
            <a:extLst>
              <a:ext uri="{FF2B5EF4-FFF2-40B4-BE49-F238E27FC236}">
                <a16:creationId xmlns:a16="http://schemas.microsoft.com/office/drawing/2014/main" id="{9F297168-6B09-706C-AFBA-2764F5DFDBC4}"/>
              </a:ext>
            </a:extLst>
          </p:cNvPr>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D70575BF-BAB1-4D4D-9D5C-3B25744060D8}" type="slidenum">
              <a:rPr lang="zh-CN" altLang="en-US" sz="1400"/>
              <a:pPr algn="r" eaLnBrk="1" hangingPunct="1">
                <a:lnSpc>
                  <a:spcPct val="100000"/>
                </a:lnSpc>
                <a:spcBef>
                  <a:spcPct val="0"/>
                </a:spcBef>
              </a:pPr>
              <a:t>1</a:t>
            </a:fld>
            <a:endParaRPr lang="en-US" altLang="zh-CN" sz="1400"/>
          </a:p>
        </p:txBody>
      </p:sp>
      <p:sp>
        <p:nvSpPr>
          <p:cNvPr id="2052" name="Rectangle 2">
            <a:extLst>
              <a:ext uri="{FF2B5EF4-FFF2-40B4-BE49-F238E27FC236}">
                <a16:creationId xmlns:a16="http://schemas.microsoft.com/office/drawing/2014/main" id="{A1DE70E2-4065-1587-7CED-0F07833D4672}"/>
              </a:ext>
            </a:extLst>
          </p:cNvPr>
          <p:cNvSpPr>
            <a:spLocks noGrp="1" noChangeArrowheads="1"/>
          </p:cNvSpPr>
          <p:nvPr>
            <p:ph type="ctrTitle"/>
          </p:nvPr>
        </p:nvSpPr>
        <p:spPr>
          <a:xfrm>
            <a:off x="533400" y="609600"/>
            <a:ext cx="8305800" cy="2057400"/>
          </a:xfrm>
        </p:spPr>
        <p:txBody>
          <a:bodyPr/>
          <a:lstStyle/>
          <a:p>
            <a:pPr eaLnBrk="1" hangingPunct="1"/>
            <a:r>
              <a:rPr lang="en-US" altLang="en-US" dirty="0"/>
              <a:t>CEG4424/6424 Security Attacks </a:t>
            </a:r>
            <a:r>
              <a:rPr lang="en-US" altLang="en-US"/>
              <a:t>and Defenses</a:t>
            </a:r>
            <a:br>
              <a:rPr lang="en-US" altLang="en-US" dirty="0"/>
            </a:br>
            <a:br>
              <a:rPr lang="en-US" altLang="en-US" dirty="0"/>
            </a:br>
            <a:r>
              <a:rPr lang="en-US" altLang="en-US"/>
              <a:t>Risk Management</a:t>
            </a:r>
            <a:endParaRPr lang="en-US" altLang="en-US" dirty="0"/>
          </a:p>
        </p:txBody>
      </p:sp>
      <p:sp>
        <p:nvSpPr>
          <p:cNvPr id="2053" name="Rectangle 1">
            <a:extLst>
              <a:ext uri="{FF2B5EF4-FFF2-40B4-BE49-F238E27FC236}">
                <a16:creationId xmlns:a16="http://schemas.microsoft.com/office/drawing/2014/main" id="{B7BCB673-6DBD-202A-490E-314418ED81A4}"/>
              </a:ext>
            </a:extLst>
          </p:cNvPr>
          <p:cNvSpPr>
            <a:spLocks noChangeArrowheads="1"/>
          </p:cNvSpPr>
          <p:nvPr/>
        </p:nvSpPr>
        <p:spPr bwMode="auto">
          <a:xfrm>
            <a:off x="762000" y="3429000"/>
            <a:ext cx="769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dirty="0"/>
              <a:t>This lecture slide is mainly based on the power point slides by Professor Lawrie Brown.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C1240B8-AD80-ED96-7512-87BE2C73CFCA}"/>
              </a:ext>
            </a:extLst>
          </p:cNvPr>
          <p:cNvSpPr>
            <a:spLocks noGrp="1" noChangeArrowheads="1"/>
          </p:cNvSpPr>
          <p:nvPr>
            <p:ph type="title"/>
          </p:nvPr>
        </p:nvSpPr>
        <p:spPr/>
        <p:txBody>
          <a:bodyPr/>
          <a:lstStyle/>
          <a:p>
            <a:r>
              <a:rPr lang="en-GB" altLang="en-US"/>
              <a:t>Overview</a:t>
            </a:r>
            <a:endParaRPr lang="en-AU" altLang="en-US"/>
          </a:p>
        </p:txBody>
      </p:sp>
      <p:sp>
        <p:nvSpPr>
          <p:cNvPr id="6147" name="Rectangle 3">
            <a:extLst>
              <a:ext uri="{FF2B5EF4-FFF2-40B4-BE49-F238E27FC236}">
                <a16:creationId xmlns:a16="http://schemas.microsoft.com/office/drawing/2014/main" id="{FE7597A9-883D-720F-FE52-9C713564BBD6}"/>
              </a:ext>
            </a:extLst>
          </p:cNvPr>
          <p:cNvSpPr>
            <a:spLocks noGrp="1" noChangeArrowheads="1"/>
          </p:cNvSpPr>
          <p:nvPr>
            <p:ph type="body" idx="1"/>
          </p:nvPr>
        </p:nvSpPr>
        <p:spPr>
          <a:xfrm>
            <a:off x="381000" y="1447800"/>
            <a:ext cx="8229600" cy="4800600"/>
          </a:xfrm>
        </p:spPr>
        <p:txBody>
          <a:bodyPr/>
          <a:lstStyle/>
          <a:p>
            <a:r>
              <a:rPr lang="en-AU" altLang="en-US" dirty="0"/>
              <a:t>security requirements means asking</a:t>
            </a:r>
          </a:p>
          <a:p>
            <a:pPr lvl="1"/>
            <a:r>
              <a:rPr lang="en-US" altLang="en-US" dirty="0"/>
              <a:t>what assets do we need to protect?</a:t>
            </a:r>
          </a:p>
          <a:p>
            <a:pPr lvl="1"/>
            <a:r>
              <a:rPr lang="en-US" altLang="en-US" dirty="0"/>
              <a:t>how are those assets threatened?</a:t>
            </a:r>
          </a:p>
          <a:p>
            <a:pPr lvl="1"/>
            <a:r>
              <a:rPr lang="en-US" altLang="en-US" dirty="0"/>
              <a:t>what can we do to counter those threats?</a:t>
            </a:r>
          </a:p>
          <a:p>
            <a:r>
              <a:rPr lang="en-US" altLang="en-US" dirty="0"/>
              <a:t>IT security management answers these</a:t>
            </a:r>
          </a:p>
          <a:p>
            <a:pPr lvl="1"/>
            <a:r>
              <a:rPr lang="en-US" altLang="en-US" dirty="0"/>
              <a:t>determining security objectives and risk profile</a:t>
            </a:r>
          </a:p>
          <a:p>
            <a:pPr lvl="1"/>
            <a:r>
              <a:rPr lang="en-US" altLang="en-US" dirty="0"/>
              <a:t>perform security risk assessment of assets</a:t>
            </a:r>
          </a:p>
          <a:p>
            <a:pPr lvl="1"/>
            <a:r>
              <a:rPr lang="en-US" altLang="en-US" dirty="0"/>
              <a:t>select, implement, monitor controls</a:t>
            </a:r>
            <a:endParaRPr lang="en-AU"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40731B3-12A3-E46E-D1EC-A5261CEAEEAC}"/>
              </a:ext>
            </a:extLst>
          </p:cNvPr>
          <p:cNvSpPr>
            <a:spLocks noGrp="1" noChangeArrowheads="1"/>
          </p:cNvSpPr>
          <p:nvPr>
            <p:ph type="title"/>
          </p:nvPr>
        </p:nvSpPr>
        <p:spPr/>
        <p:txBody>
          <a:bodyPr/>
          <a:lstStyle/>
          <a:p>
            <a:r>
              <a:rPr lang="en-US" altLang="en-US"/>
              <a:t>IT Security Management</a:t>
            </a:r>
            <a:endParaRPr lang="en-US" altLang="en-US">
              <a:latin typeface="Times" pitchFamily="2" charset="0"/>
            </a:endParaRPr>
          </a:p>
        </p:txBody>
      </p:sp>
      <p:sp>
        <p:nvSpPr>
          <p:cNvPr id="8195" name="Rectangle 3">
            <a:extLst>
              <a:ext uri="{FF2B5EF4-FFF2-40B4-BE49-F238E27FC236}">
                <a16:creationId xmlns:a16="http://schemas.microsoft.com/office/drawing/2014/main" id="{11AEF870-F6E4-60B1-9BA6-58A8B9461B77}"/>
              </a:ext>
            </a:extLst>
          </p:cNvPr>
          <p:cNvSpPr>
            <a:spLocks noGrp="1" noChangeArrowheads="1"/>
          </p:cNvSpPr>
          <p:nvPr>
            <p:ph type="body" idx="1"/>
          </p:nvPr>
        </p:nvSpPr>
        <p:spPr>
          <a:xfrm>
            <a:off x="457200" y="1447800"/>
            <a:ext cx="8229600" cy="5029200"/>
          </a:xfrm>
        </p:spPr>
        <p:txBody>
          <a:bodyPr/>
          <a:lstStyle/>
          <a:p>
            <a:pPr>
              <a:lnSpc>
                <a:spcPct val="90000"/>
              </a:lnSpc>
            </a:pPr>
            <a:r>
              <a:rPr lang="en-US" altLang="en-US" sz="2400" b="1" dirty="0"/>
              <a:t>IT Security Management:</a:t>
            </a:r>
            <a:r>
              <a:rPr lang="en-US" altLang="en-US" sz="2400" dirty="0"/>
              <a:t> a process used to achieve and maintain appropriate levels of confidentiality, integrity, availability, accountability, authenticity and reliability. IT security management functions include:</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organizational IT security objectives, strategies and policies</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determining organizational IT security requirements</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identifying and analyzing security threats to IT assets</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identifying and analyzing risks</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specifying appropriate safeguards</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monitoring the implementation and operation of safeguards</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developing and implement a security awareness program</a:t>
            </a:r>
          </a:p>
          <a:p>
            <a:pPr lvl="1">
              <a:lnSpc>
                <a:spcPct val="90000"/>
              </a:lnSpc>
              <a:buFontTx/>
              <a:buNone/>
            </a:pPr>
            <a:r>
              <a:rPr lang="en-US" altLang="en-US" sz="2000" dirty="0">
                <a:cs typeface="Times New Roman" panose="02020603050405020304" pitchFamily="18" charset="0"/>
                <a:sym typeface="Symbol" pitchFamily="2" charset="2"/>
              </a:rPr>
              <a:t>	</a:t>
            </a:r>
            <a:r>
              <a:rPr lang="en-US" altLang="en-US" sz="2000" dirty="0"/>
              <a:t>detecting and reacting to incidents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75F92B8-FF03-B40F-61F3-55668C99D31C}"/>
              </a:ext>
            </a:extLst>
          </p:cNvPr>
          <p:cNvSpPr>
            <a:spLocks noGrp="1" noChangeArrowheads="1"/>
          </p:cNvSpPr>
          <p:nvPr>
            <p:ph type="title"/>
          </p:nvPr>
        </p:nvSpPr>
        <p:spPr>
          <a:xfrm>
            <a:off x="685800" y="0"/>
            <a:ext cx="7772400" cy="762000"/>
          </a:xfrm>
        </p:spPr>
        <p:txBody>
          <a:bodyPr/>
          <a:lstStyle/>
          <a:p>
            <a:r>
              <a:rPr lang="en-US" altLang="en-US" dirty="0"/>
              <a:t>ISO 27000 Security Standards</a:t>
            </a:r>
            <a:endParaRPr lang="en-US" altLang="en-US" dirty="0">
              <a:latin typeface="Times" pitchFamily="2" charset="0"/>
            </a:endParaRPr>
          </a:p>
        </p:txBody>
      </p:sp>
      <p:graphicFrame>
        <p:nvGraphicFramePr>
          <p:cNvPr id="10243" name="Object 4">
            <a:extLst>
              <a:ext uri="{FF2B5EF4-FFF2-40B4-BE49-F238E27FC236}">
                <a16:creationId xmlns:a16="http://schemas.microsoft.com/office/drawing/2014/main" id="{8CA45F73-D639-7E83-6D14-FD182943A449}"/>
              </a:ext>
            </a:extLst>
          </p:cNvPr>
          <p:cNvGraphicFramePr>
            <a:graphicFrameLocks noChangeAspect="1"/>
          </p:cNvGraphicFramePr>
          <p:nvPr>
            <p:extLst>
              <p:ext uri="{D42A27DB-BD31-4B8C-83A1-F6EECF244321}">
                <p14:modId xmlns:p14="http://schemas.microsoft.com/office/powerpoint/2010/main" val="4205824271"/>
              </p:ext>
            </p:extLst>
          </p:nvPr>
        </p:nvGraphicFramePr>
        <p:xfrm>
          <a:off x="1219200" y="685800"/>
          <a:ext cx="6375400" cy="4895850"/>
        </p:xfrm>
        <a:graphic>
          <a:graphicData uri="http://schemas.openxmlformats.org/presentationml/2006/ole">
            <mc:AlternateContent xmlns:mc="http://schemas.openxmlformats.org/markup-compatibility/2006">
              <mc:Choice xmlns:v="urn:schemas-microsoft-com:vml" Requires="v">
                <p:oleObj spid="_x0000_s1033" name="Document" r:id="rId4" imgW="6108700" imgH="4673600" progId="Word.Document.8">
                  <p:embed/>
                </p:oleObj>
              </mc:Choice>
              <mc:Fallback>
                <p:oleObj name="Document" r:id="rId4" imgW="6108700" imgH="4673600" progId="Word.Document.8">
                  <p:embed/>
                  <p:pic>
                    <p:nvPicPr>
                      <p:cNvPr id="10243" name="Object 4">
                        <a:extLst>
                          <a:ext uri="{FF2B5EF4-FFF2-40B4-BE49-F238E27FC236}">
                            <a16:creationId xmlns:a16="http://schemas.microsoft.com/office/drawing/2014/main" id="{8CA45F73-D639-7E83-6D14-FD182943A4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685800"/>
                        <a:ext cx="6375400" cy="489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a:extLst>
              <a:ext uri="{FF2B5EF4-FFF2-40B4-BE49-F238E27FC236}">
                <a16:creationId xmlns:a16="http://schemas.microsoft.com/office/drawing/2014/main" id="{B341C240-79B7-7729-6889-8EA663FFCF4E}"/>
              </a:ext>
            </a:extLst>
          </p:cNvPr>
          <p:cNvSpPr txBox="1"/>
          <p:nvPr/>
        </p:nvSpPr>
        <p:spPr>
          <a:xfrm>
            <a:off x="1103335" y="5581650"/>
            <a:ext cx="6607130" cy="1015663"/>
          </a:xfrm>
          <a:prstGeom prst="rect">
            <a:avLst/>
          </a:prstGeom>
          <a:noFill/>
        </p:spPr>
        <p:txBody>
          <a:bodyPr wrap="none" rtlCol="0">
            <a:spAutoFit/>
          </a:bodyPr>
          <a:lstStyle/>
          <a:p>
            <a:pPr algn="l"/>
            <a:r>
              <a:rPr lang="en-US" dirty="0"/>
              <a:t>ISO: International Organization  for Standardization</a:t>
            </a:r>
          </a:p>
          <a:p>
            <a:pPr algn="l"/>
            <a:r>
              <a:rPr lang="en-US" dirty="0"/>
              <a:t>Subcommittee 27: </a:t>
            </a:r>
            <a:r>
              <a:rPr lang="en-US"/>
              <a:t>meet twice every year.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75F92B8-FF03-B40F-61F3-55668C99D31C}"/>
              </a:ext>
            </a:extLst>
          </p:cNvPr>
          <p:cNvSpPr>
            <a:spLocks noGrp="1" noChangeArrowheads="1"/>
          </p:cNvSpPr>
          <p:nvPr>
            <p:ph type="title"/>
          </p:nvPr>
        </p:nvSpPr>
        <p:spPr>
          <a:xfrm>
            <a:off x="685800" y="0"/>
            <a:ext cx="7772400" cy="762000"/>
          </a:xfrm>
        </p:spPr>
        <p:txBody>
          <a:bodyPr/>
          <a:lstStyle/>
          <a:p>
            <a:r>
              <a:rPr lang="en-US" altLang="en-US" dirty="0"/>
              <a:t>ISO 27000 Security Standards</a:t>
            </a:r>
            <a:endParaRPr lang="en-US" altLang="en-US" dirty="0">
              <a:latin typeface="Times" pitchFamily="2" charset="0"/>
            </a:endParaRPr>
          </a:p>
        </p:txBody>
      </p:sp>
      <p:sp>
        <p:nvSpPr>
          <p:cNvPr id="2" name="TextBox 1">
            <a:extLst>
              <a:ext uri="{FF2B5EF4-FFF2-40B4-BE49-F238E27FC236}">
                <a16:creationId xmlns:a16="http://schemas.microsoft.com/office/drawing/2014/main" id="{B341C240-79B7-7729-6889-8EA663FFCF4E}"/>
              </a:ext>
            </a:extLst>
          </p:cNvPr>
          <p:cNvSpPr txBox="1"/>
          <p:nvPr/>
        </p:nvSpPr>
        <p:spPr>
          <a:xfrm>
            <a:off x="317469" y="914400"/>
            <a:ext cx="8509061" cy="2800767"/>
          </a:xfrm>
          <a:prstGeom prst="rect">
            <a:avLst/>
          </a:prstGeom>
          <a:noFill/>
        </p:spPr>
        <p:txBody>
          <a:bodyPr wrap="none" rtlCol="0">
            <a:spAutoFit/>
          </a:bodyPr>
          <a:lstStyle/>
          <a:p>
            <a:pPr algn="l"/>
            <a:r>
              <a:rPr lang="en-US" sz="2000" dirty="0"/>
              <a:t>Definitions of basic terminology</a:t>
            </a:r>
          </a:p>
          <a:p>
            <a:pPr algn="l"/>
            <a:r>
              <a:rPr lang="en-US" sz="2000" dirty="0"/>
              <a:t>Descriptions of Operations of ISMS (Information Security Management Systems)</a:t>
            </a:r>
          </a:p>
          <a:p>
            <a:pPr algn="l"/>
            <a:r>
              <a:rPr lang="en-US" sz="2000" dirty="0"/>
              <a:t>Security Controls</a:t>
            </a:r>
          </a:p>
          <a:p>
            <a:pPr algn="l"/>
            <a:r>
              <a:rPr lang="en-US" sz="2000" dirty="0"/>
              <a:t>Risk Assessment</a:t>
            </a:r>
          </a:p>
          <a:p>
            <a:pPr algn="l"/>
            <a:r>
              <a:rPr lang="en-US" sz="2000" dirty="0"/>
              <a:t>System Audit</a:t>
            </a:r>
          </a:p>
          <a:p>
            <a:pPr algn="l"/>
            <a:endParaRPr lang="en-US" dirty="0"/>
          </a:p>
        </p:txBody>
      </p:sp>
    </p:spTree>
    <p:extLst>
      <p:ext uri="{BB962C8B-B14F-4D97-AF65-F5344CB8AC3E}">
        <p14:creationId xmlns:p14="http://schemas.microsoft.com/office/powerpoint/2010/main" val="1747425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75F92B8-FF03-B40F-61F3-55668C99D31C}"/>
              </a:ext>
            </a:extLst>
          </p:cNvPr>
          <p:cNvSpPr>
            <a:spLocks noGrp="1" noChangeArrowheads="1"/>
          </p:cNvSpPr>
          <p:nvPr>
            <p:ph type="title"/>
          </p:nvPr>
        </p:nvSpPr>
        <p:spPr>
          <a:xfrm>
            <a:off x="685800" y="0"/>
            <a:ext cx="7772400" cy="762000"/>
          </a:xfrm>
        </p:spPr>
        <p:txBody>
          <a:bodyPr/>
          <a:lstStyle/>
          <a:p>
            <a:r>
              <a:rPr lang="en-US" altLang="en-US" dirty="0"/>
              <a:t>ISO 27000 Security Standards</a:t>
            </a:r>
            <a:endParaRPr lang="en-US" altLang="en-US" dirty="0">
              <a:latin typeface="Times" pitchFamily="2" charset="0"/>
            </a:endParaRPr>
          </a:p>
        </p:txBody>
      </p:sp>
      <p:sp>
        <p:nvSpPr>
          <p:cNvPr id="2" name="TextBox 1">
            <a:extLst>
              <a:ext uri="{FF2B5EF4-FFF2-40B4-BE49-F238E27FC236}">
                <a16:creationId xmlns:a16="http://schemas.microsoft.com/office/drawing/2014/main" id="{B341C240-79B7-7729-6889-8EA663FFCF4E}"/>
              </a:ext>
            </a:extLst>
          </p:cNvPr>
          <p:cNvSpPr txBox="1"/>
          <p:nvPr/>
        </p:nvSpPr>
        <p:spPr>
          <a:xfrm>
            <a:off x="685800" y="762000"/>
            <a:ext cx="7543800" cy="5783635"/>
          </a:xfrm>
          <a:prstGeom prst="rect">
            <a:avLst/>
          </a:prstGeom>
          <a:noFill/>
        </p:spPr>
        <p:txBody>
          <a:bodyPr wrap="square" rtlCol="0">
            <a:spAutoFit/>
          </a:bodyPr>
          <a:lstStyle/>
          <a:p>
            <a:pPr algn="l">
              <a:spcBef>
                <a:spcPts val="500"/>
              </a:spcBef>
            </a:pPr>
            <a:r>
              <a:rPr lang="en-US" sz="1600" dirty="0"/>
              <a:t>Definitions –ISO 27000</a:t>
            </a:r>
          </a:p>
          <a:p>
            <a:pPr algn="l">
              <a:spcBef>
                <a:spcPts val="500"/>
              </a:spcBef>
            </a:pPr>
            <a:r>
              <a:rPr lang="en-US" sz="1600" dirty="0"/>
              <a:t>Requirements –ISO 27001, ISO 27006, ISO 27009</a:t>
            </a:r>
          </a:p>
          <a:p>
            <a:pPr lvl="1" algn="l">
              <a:spcBef>
                <a:spcPts val="500"/>
              </a:spcBef>
            </a:pPr>
            <a:r>
              <a:rPr lang="en-US" sz="1600" dirty="0"/>
              <a:t>ISO 27000: Security Compliance of ISMS</a:t>
            </a:r>
          </a:p>
          <a:p>
            <a:pPr lvl="1" algn="l">
              <a:spcBef>
                <a:spcPts val="500"/>
              </a:spcBef>
            </a:pPr>
            <a:r>
              <a:rPr lang="en-US" sz="1600" dirty="0"/>
              <a:t>ISO 27006: Audit and Certification of ISMS</a:t>
            </a:r>
          </a:p>
          <a:p>
            <a:pPr lvl="1" algn="l">
              <a:spcBef>
                <a:spcPts val="500"/>
              </a:spcBef>
            </a:pPr>
            <a:r>
              <a:rPr lang="en-US" sz="1600" dirty="0"/>
              <a:t>ISO 27009: Addition Requirements for Specific Sectors</a:t>
            </a:r>
          </a:p>
          <a:p>
            <a:pPr algn="l">
              <a:spcBef>
                <a:spcPts val="500"/>
              </a:spcBef>
            </a:pPr>
            <a:r>
              <a:rPr lang="en-US" sz="1600" dirty="0"/>
              <a:t>Guidelines –ISO 27002, ISO 27003, ISO 27004, ISO 27005, ISO 27007</a:t>
            </a:r>
          </a:p>
          <a:p>
            <a:pPr lvl="3" algn="l">
              <a:spcBef>
                <a:spcPts val="500"/>
              </a:spcBef>
            </a:pPr>
            <a:r>
              <a:rPr lang="en-US" sz="1600" dirty="0"/>
              <a:t>ISO 27013, ISO 27014</a:t>
            </a:r>
          </a:p>
          <a:p>
            <a:pPr lvl="3" algn="l">
              <a:spcBef>
                <a:spcPts val="500"/>
              </a:spcBef>
            </a:pPr>
            <a:r>
              <a:rPr lang="en-US" sz="1600" dirty="0"/>
              <a:t>27005: Risk Management</a:t>
            </a:r>
          </a:p>
          <a:p>
            <a:pPr algn="l">
              <a:spcBef>
                <a:spcPts val="500"/>
              </a:spcBef>
            </a:pPr>
            <a:r>
              <a:rPr lang="en-US" sz="1600" dirty="0"/>
              <a:t>Sector Specific –ISO 27010, ISO 27011, ISO 27015,  ISO 27017, ISO27018</a:t>
            </a:r>
          </a:p>
          <a:p>
            <a:pPr lvl="3" algn="l">
              <a:spcBef>
                <a:spcPts val="500"/>
              </a:spcBef>
            </a:pPr>
            <a:r>
              <a:rPr lang="en-US" sz="1600" dirty="0"/>
              <a:t>ISO 27019</a:t>
            </a:r>
          </a:p>
          <a:p>
            <a:pPr lvl="3" algn="l">
              <a:spcBef>
                <a:spcPts val="500"/>
              </a:spcBef>
            </a:pPr>
            <a:r>
              <a:rPr lang="en-US" sz="1600" dirty="0"/>
              <a:t>Financial services, cloud services</a:t>
            </a:r>
          </a:p>
          <a:p>
            <a:pPr algn="l">
              <a:spcBef>
                <a:spcPts val="500"/>
              </a:spcBef>
            </a:pPr>
            <a:r>
              <a:rPr lang="en-US" sz="1600" dirty="0"/>
              <a:t>Control Specific –ISO 2703x, ISO 2704x</a:t>
            </a:r>
          </a:p>
          <a:p>
            <a:pPr algn="l"/>
            <a:endParaRPr lang="en-US" sz="1600" dirty="0"/>
          </a:p>
          <a:p>
            <a:pPr algn="l"/>
            <a:r>
              <a:rPr lang="en-US" sz="1600" dirty="0"/>
              <a:t>ISO/IEC committee  1– subcommittee 27</a:t>
            </a:r>
          </a:p>
          <a:p>
            <a:pPr algn="l"/>
            <a:r>
              <a:rPr lang="en-US" sz="1600" dirty="0"/>
              <a:t>IEC (</a:t>
            </a:r>
            <a:r>
              <a:rPr lang="en-US" sz="1600" b="0" i="0" dirty="0">
                <a:solidFill>
                  <a:srgbClr val="202124"/>
                </a:solidFill>
                <a:effectLst/>
                <a:latin typeface="Roboto-Regular"/>
              </a:rPr>
              <a:t>International Electrotechnical Commission)</a:t>
            </a:r>
          </a:p>
          <a:p>
            <a:pPr algn="l"/>
            <a:r>
              <a:rPr lang="en-US" sz="1600" dirty="0">
                <a:solidFill>
                  <a:srgbClr val="202124"/>
                </a:solidFill>
                <a:latin typeface="Roboto-Regular"/>
              </a:rPr>
              <a:t>Certification against 27001</a:t>
            </a:r>
            <a:endParaRPr lang="en-US" sz="1600" dirty="0"/>
          </a:p>
          <a:p>
            <a:pPr algn="l"/>
            <a:endParaRPr lang="en-US" dirty="0"/>
          </a:p>
        </p:txBody>
      </p:sp>
    </p:spTree>
    <p:extLst>
      <p:ext uri="{BB962C8B-B14F-4D97-AF65-F5344CB8AC3E}">
        <p14:creationId xmlns:p14="http://schemas.microsoft.com/office/powerpoint/2010/main" val="2881858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75F92B8-FF03-B40F-61F3-55668C99D31C}"/>
              </a:ext>
            </a:extLst>
          </p:cNvPr>
          <p:cNvSpPr>
            <a:spLocks noGrp="1" noChangeArrowheads="1"/>
          </p:cNvSpPr>
          <p:nvPr>
            <p:ph type="title"/>
          </p:nvPr>
        </p:nvSpPr>
        <p:spPr>
          <a:xfrm>
            <a:off x="685800" y="0"/>
            <a:ext cx="7772400" cy="762000"/>
          </a:xfrm>
        </p:spPr>
        <p:txBody>
          <a:bodyPr/>
          <a:lstStyle/>
          <a:p>
            <a:r>
              <a:rPr lang="en-US" altLang="en-US" dirty="0"/>
              <a:t>NIST Risk Management</a:t>
            </a:r>
            <a:endParaRPr lang="en-US" altLang="en-US" dirty="0">
              <a:latin typeface="Times" pitchFamily="2" charset="0"/>
            </a:endParaRPr>
          </a:p>
        </p:txBody>
      </p:sp>
      <p:sp>
        <p:nvSpPr>
          <p:cNvPr id="2" name="TextBox 1">
            <a:extLst>
              <a:ext uri="{FF2B5EF4-FFF2-40B4-BE49-F238E27FC236}">
                <a16:creationId xmlns:a16="http://schemas.microsoft.com/office/drawing/2014/main" id="{B341C240-79B7-7729-6889-8EA663FFCF4E}"/>
              </a:ext>
            </a:extLst>
          </p:cNvPr>
          <p:cNvSpPr txBox="1"/>
          <p:nvPr/>
        </p:nvSpPr>
        <p:spPr>
          <a:xfrm>
            <a:off x="838200" y="774700"/>
            <a:ext cx="7239000" cy="5604098"/>
          </a:xfrm>
          <a:prstGeom prst="rect">
            <a:avLst/>
          </a:prstGeom>
          <a:noFill/>
        </p:spPr>
        <p:txBody>
          <a:bodyPr wrap="square" rtlCol="0">
            <a:spAutoFit/>
          </a:bodyPr>
          <a:lstStyle/>
          <a:p>
            <a:pPr algn="l">
              <a:spcBef>
                <a:spcPts val="500"/>
              </a:spcBef>
            </a:pPr>
            <a:r>
              <a:rPr lang="en-US" sz="2000" b="1" dirty="0"/>
              <a:t>NIST SP 800-37 Rev. 2</a:t>
            </a:r>
          </a:p>
          <a:p>
            <a:pPr algn="l">
              <a:spcBef>
                <a:spcPts val="500"/>
              </a:spcBef>
            </a:pPr>
            <a:r>
              <a:rPr lang="en-US" sz="1600" dirty="0"/>
              <a:t>Risk Management Framework for Information Systems and Organizations: A System Life Cycle Approach for Security and Privacy</a:t>
            </a:r>
          </a:p>
          <a:p>
            <a:pPr algn="l">
              <a:spcBef>
                <a:spcPts val="500"/>
              </a:spcBef>
            </a:pPr>
            <a:endParaRPr lang="en-US" b="1" dirty="0"/>
          </a:p>
          <a:p>
            <a:pPr algn="l">
              <a:spcBef>
                <a:spcPts val="500"/>
              </a:spcBef>
            </a:pPr>
            <a:r>
              <a:rPr lang="en-US" sz="2000" b="1" dirty="0"/>
              <a:t>NIST SP 800-30 Rev. 1</a:t>
            </a:r>
          </a:p>
          <a:p>
            <a:pPr algn="l">
              <a:spcBef>
                <a:spcPts val="500"/>
              </a:spcBef>
            </a:pPr>
            <a:r>
              <a:rPr lang="en-US" sz="1600" dirty="0"/>
              <a:t>Guide for Conducting Risk Assessments</a:t>
            </a:r>
          </a:p>
          <a:p>
            <a:pPr algn="l">
              <a:spcBef>
                <a:spcPts val="500"/>
              </a:spcBef>
            </a:pPr>
            <a:endParaRPr lang="en-US" sz="1600" dirty="0"/>
          </a:p>
          <a:p>
            <a:pPr algn="l">
              <a:spcBef>
                <a:spcPts val="500"/>
              </a:spcBef>
            </a:pPr>
            <a:r>
              <a:rPr lang="en-US" sz="2000" b="1" dirty="0"/>
              <a:t>NIST SP 800-53 Rev. 5 </a:t>
            </a:r>
          </a:p>
          <a:p>
            <a:pPr algn="l">
              <a:spcBef>
                <a:spcPts val="500"/>
              </a:spcBef>
            </a:pPr>
            <a:r>
              <a:rPr lang="en-US" sz="1600" dirty="0"/>
              <a:t>Security and Privacy Controls for Information Systems and Organizations</a:t>
            </a:r>
          </a:p>
          <a:p>
            <a:pPr algn="l">
              <a:spcBef>
                <a:spcPts val="500"/>
              </a:spcBef>
            </a:pPr>
            <a:endParaRPr lang="en-US" sz="1600" dirty="0"/>
          </a:p>
          <a:p>
            <a:pPr algn="l">
              <a:spcBef>
                <a:spcPts val="500"/>
              </a:spcBef>
            </a:pPr>
            <a:r>
              <a:rPr lang="en-US" sz="2000" b="1" dirty="0"/>
              <a:t>NIST SP 800-61 </a:t>
            </a:r>
          </a:p>
          <a:p>
            <a:pPr algn="l">
              <a:spcBef>
                <a:spcPts val="500"/>
              </a:spcBef>
            </a:pPr>
            <a:r>
              <a:rPr lang="en-US" sz="1600" dirty="0"/>
              <a:t>Incident Response Recommendations and Considerations for Cybersecurity Risk Management</a:t>
            </a:r>
          </a:p>
          <a:p>
            <a:pPr algn="l">
              <a:spcBef>
                <a:spcPts val="500"/>
              </a:spcBef>
            </a:pPr>
            <a:endParaRPr lang="en-US" sz="1600" dirty="0"/>
          </a:p>
          <a:p>
            <a:pPr algn="l">
              <a:spcBef>
                <a:spcPts val="500"/>
              </a:spcBef>
            </a:pPr>
            <a:r>
              <a:rPr lang="en-US" sz="2000" b="1" dirty="0"/>
              <a:t>NIST SP 800-171 Rev. 2 </a:t>
            </a:r>
          </a:p>
          <a:p>
            <a:pPr algn="l">
              <a:spcBef>
                <a:spcPts val="500"/>
              </a:spcBef>
            </a:pPr>
            <a:r>
              <a:rPr lang="en-US" sz="1600" dirty="0"/>
              <a:t>Protecting Controlled Unclassified Information in Nonfederal Systems and Organizations</a:t>
            </a:r>
            <a:endParaRPr lang="en-US" dirty="0"/>
          </a:p>
        </p:txBody>
      </p:sp>
    </p:spTree>
    <p:extLst>
      <p:ext uri="{BB962C8B-B14F-4D97-AF65-F5344CB8AC3E}">
        <p14:creationId xmlns:p14="http://schemas.microsoft.com/office/powerpoint/2010/main" val="594558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B944E0D-73B3-F27D-8A09-C3C38E638718}"/>
              </a:ext>
            </a:extLst>
          </p:cNvPr>
          <p:cNvSpPr>
            <a:spLocks noGrp="1" noChangeArrowheads="1"/>
          </p:cNvSpPr>
          <p:nvPr>
            <p:ph type="title"/>
          </p:nvPr>
        </p:nvSpPr>
        <p:spPr>
          <a:xfrm>
            <a:off x="152400" y="228600"/>
            <a:ext cx="3482975" cy="1905000"/>
          </a:xfrm>
        </p:spPr>
        <p:txBody>
          <a:bodyPr/>
          <a:lstStyle/>
          <a:p>
            <a:r>
              <a:rPr lang="en-US" altLang="en-US"/>
              <a:t>IT Security Management Process</a:t>
            </a:r>
          </a:p>
        </p:txBody>
      </p:sp>
      <p:pic>
        <p:nvPicPr>
          <p:cNvPr id="12291" name="Picture 4">
            <a:extLst>
              <a:ext uri="{FF2B5EF4-FFF2-40B4-BE49-F238E27FC236}">
                <a16:creationId xmlns:a16="http://schemas.microsoft.com/office/drawing/2014/main" id="{52D6BC20-341F-E6CF-1AD2-073CA3966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633" t="8949" r="4633" b="7159"/>
          <a:stretch>
            <a:fillRect/>
          </a:stretch>
        </p:blipFill>
        <p:spPr bwMode="auto">
          <a:xfrm>
            <a:off x="4162425" y="304800"/>
            <a:ext cx="4476750" cy="5356225"/>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07F92CF-4839-6737-ED0E-878444303172}"/>
              </a:ext>
            </a:extLst>
          </p:cNvPr>
          <p:cNvSpPr>
            <a:spLocks noGrp="1" noChangeArrowheads="1"/>
          </p:cNvSpPr>
          <p:nvPr>
            <p:ph type="title"/>
          </p:nvPr>
        </p:nvSpPr>
        <p:spPr>
          <a:xfrm>
            <a:off x="381000" y="75439"/>
            <a:ext cx="8229600" cy="1143000"/>
          </a:xfrm>
        </p:spPr>
        <p:txBody>
          <a:bodyPr/>
          <a:lstStyle/>
          <a:p>
            <a:r>
              <a:rPr lang="en-US" altLang="en-US" dirty="0"/>
              <a:t>ISO 27003 :Plan - Do - Check – Act</a:t>
            </a:r>
            <a:endParaRPr lang="en-US" altLang="en-US" sz="3200" dirty="0">
              <a:solidFill>
                <a:srgbClr val="009900"/>
              </a:solidFill>
            </a:endParaRPr>
          </a:p>
        </p:txBody>
      </p:sp>
      <p:pic>
        <p:nvPicPr>
          <p:cNvPr id="14339" name="Picture 4">
            <a:extLst>
              <a:ext uri="{FF2B5EF4-FFF2-40B4-BE49-F238E27FC236}">
                <a16:creationId xmlns:a16="http://schemas.microsoft.com/office/drawing/2014/main" id="{92E13916-7ED8-38BF-1DB7-AC3088C52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7897" b="39375"/>
          <a:stretch>
            <a:fillRect/>
          </a:stretch>
        </p:blipFill>
        <p:spPr bwMode="auto">
          <a:xfrm>
            <a:off x="685800" y="1524000"/>
            <a:ext cx="7772400" cy="4297363"/>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Text Box 5">
            <a:extLst>
              <a:ext uri="{FF2B5EF4-FFF2-40B4-BE49-F238E27FC236}">
                <a16:creationId xmlns:a16="http://schemas.microsoft.com/office/drawing/2014/main" id="{B96CAB3B-F07F-2DC5-15BA-BE62756C3782}"/>
              </a:ext>
            </a:extLst>
          </p:cNvPr>
          <p:cNvSpPr txBox="1">
            <a:spLocks noChangeArrowheads="1"/>
          </p:cNvSpPr>
          <p:nvPr/>
        </p:nvSpPr>
        <p:spPr bwMode="auto">
          <a:xfrm>
            <a:off x="1893611" y="2562985"/>
            <a:ext cx="248657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algn="ctr" eaLnBrk="1" hangingPunct="1"/>
            <a:r>
              <a:rPr lang="en-US" altLang="en-US" sz="1600" dirty="0">
                <a:solidFill>
                  <a:srgbClr val="92D050"/>
                </a:solidFill>
              </a:rPr>
              <a:t>establish policy; define</a:t>
            </a:r>
          </a:p>
          <a:p>
            <a:pPr algn="ctr" eaLnBrk="1" hangingPunct="1"/>
            <a:r>
              <a:rPr lang="en-US" altLang="en-US" sz="1600" dirty="0">
                <a:solidFill>
                  <a:srgbClr val="92D050"/>
                </a:solidFill>
              </a:rPr>
              <a:t>objectives and processes</a:t>
            </a:r>
          </a:p>
        </p:txBody>
      </p:sp>
      <p:sp>
        <p:nvSpPr>
          <p:cNvPr id="14341" name="Text Box 6">
            <a:extLst>
              <a:ext uri="{FF2B5EF4-FFF2-40B4-BE49-F238E27FC236}">
                <a16:creationId xmlns:a16="http://schemas.microsoft.com/office/drawing/2014/main" id="{ED526868-2F2F-D210-B5C8-3BED4C7D1E4F}"/>
              </a:ext>
            </a:extLst>
          </p:cNvPr>
          <p:cNvSpPr txBox="1">
            <a:spLocks noChangeArrowheads="1"/>
          </p:cNvSpPr>
          <p:nvPr/>
        </p:nvSpPr>
        <p:spPr bwMode="auto">
          <a:xfrm>
            <a:off x="3419475" y="5084763"/>
            <a:ext cx="25669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algn="ctr" eaLnBrk="1" hangingPunct="1"/>
            <a:r>
              <a:rPr lang="en-US" altLang="en-US" sz="1600">
                <a:solidFill>
                  <a:srgbClr val="669900"/>
                </a:solidFill>
              </a:rPr>
              <a:t>implement and operate</a:t>
            </a:r>
          </a:p>
          <a:p>
            <a:pPr algn="ctr" eaLnBrk="1" hangingPunct="1"/>
            <a:r>
              <a:rPr lang="en-US" altLang="en-US" sz="1600">
                <a:solidFill>
                  <a:srgbClr val="669900"/>
                </a:solidFill>
              </a:rPr>
              <a:t>policy, controls, processes</a:t>
            </a:r>
          </a:p>
        </p:txBody>
      </p:sp>
      <p:sp>
        <p:nvSpPr>
          <p:cNvPr id="14342" name="Text Box 7">
            <a:extLst>
              <a:ext uri="{FF2B5EF4-FFF2-40B4-BE49-F238E27FC236}">
                <a16:creationId xmlns:a16="http://schemas.microsoft.com/office/drawing/2014/main" id="{F0D954D5-A411-5553-7AC8-8F27883CFAFE}"/>
              </a:ext>
            </a:extLst>
          </p:cNvPr>
          <p:cNvSpPr txBox="1">
            <a:spLocks noChangeArrowheads="1"/>
          </p:cNvSpPr>
          <p:nvPr/>
        </p:nvSpPr>
        <p:spPr bwMode="auto">
          <a:xfrm>
            <a:off x="5345113" y="2781300"/>
            <a:ext cx="20589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algn="ctr" eaLnBrk="1" hangingPunct="1"/>
            <a:r>
              <a:rPr lang="en-US" altLang="en-US" sz="1600">
                <a:solidFill>
                  <a:srgbClr val="009900"/>
                </a:solidFill>
              </a:rPr>
              <a:t>assess and measure</a:t>
            </a:r>
          </a:p>
          <a:p>
            <a:pPr algn="ctr" eaLnBrk="1" hangingPunct="1"/>
            <a:r>
              <a:rPr lang="en-US" altLang="en-US" sz="1600">
                <a:solidFill>
                  <a:srgbClr val="009900"/>
                </a:solidFill>
              </a:rPr>
              <a:t>and report results</a:t>
            </a:r>
          </a:p>
        </p:txBody>
      </p:sp>
      <p:sp>
        <p:nvSpPr>
          <p:cNvPr id="14343" name="Text Box 8">
            <a:extLst>
              <a:ext uri="{FF2B5EF4-FFF2-40B4-BE49-F238E27FC236}">
                <a16:creationId xmlns:a16="http://schemas.microsoft.com/office/drawing/2014/main" id="{48650D7C-338E-89EE-9A82-EF33A4075194}"/>
              </a:ext>
            </a:extLst>
          </p:cNvPr>
          <p:cNvSpPr txBox="1">
            <a:spLocks noChangeArrowheads="1"/>
          </p:cNvSpPr>
          <p:nvPr/>
        </p:nvSpPr>
        <p:spPr bwMode="auto">
          <a:xfrm>
            <a:off x="3576637" y="1192212"/>
            <a:ext cx="19907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algn="ctr" eaLnBrk="1" hangingPunct="1"/>
            <a:r>
              <a:rPr lang="en-US" altLang="en-US" sz="1600" dirty="0">
                <a:solidFill>
                  <a:srgbClr val="008000"/>
                </a:solidFill>
              </a:rPr>
              <a:t>take corrective and</a:t>
            </a:r>
          </a:p>
          <a:p>
            <a:pPr algn="ctr" eaLnBrk="1" hangingPunct="1"/>
            <a:r>
              <a:rPr lang="en-US" altLang="en-US" sz="1600" dirty="0">
                <a:solidFill>
                  <a:srgbClr val="008000"/>
                </a:solidFill>
              </a:rPr>
              <a:t>preventative actions</a:t>
            </a:r>
          </a:p>
          <a:p>
            <a:pPr algn="ctr" eaLnBrk="1" hangingPunct="1"/>
            <a:r>
              <a:rPr lang="en-US" altLang="en-US" sz="1600" dirty="0">
                <a:solidFill>
                  <a:srgbClr val="008000"/>
                </a:solidFill>
              </a:rPr>
              <a:t>(based on audits)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8A1E1BB-6040-D770-5748-DE2D4D98C9DB}"/>
              </a:ext>
            </a:extLst>
          </p:cNvPr>
          <p:cNvSpPr>
            <a:spLocks noGrp="1" noChangeArrowheads="1"/>
          </p:cNvSpPr>
          <p:nvPr>
            <p:ph type="title"/>
          </p:nvPr>
        </p:nvSpPr>
        <p:spPr>
          <a:xfrm>
            <a:off x="457200" y="381000"/>
            <a:ext cx="8305800" cy="1371600"/>
          </a:xfrm>
        </p:spPr>
        <p:txBody>
          <a:bodyPr/>
          <a:lstStyle/>
          <a:p>
            <a:r>
              <a:rPr lang="en-US" altLang="en-US"/>
              <a:t>Organizational Context and Security Policy</a:t>
            </a:r>
          </a:p>
        </p:txBody>
      </p:sp>
      <p:sp>
        <p:nvSpPr>
          <p:cNvPr id="16387" name="Rectangle 3">
            <a:extLst>
              <a:ext uri="{FF2B5EF4-FFF2-40B4-BE49-F238E27FC236}">
                <a16:creationId xmlns:a16="http://schemas.microsoft.com/office/drawing/2014/main" id="{D515849E-9BBE-3D81-8A26-C39B811219EC}"/>
              </a:ext>
            </a:extLst>
          </p:cNvPr>
          <p:cNvSpPr>
            <a:spLocks noGrp="1" noChangeArrowheads="1"/>
          </p:cNvSpPr>
          <p:nvPr>
            <p:ph type="body" idx="1"/>
          </p:nvPr>
        </p:nvSpPr>
        <p:spPr>
          <a:xfrm>
            <a:off x="457200" y="1905000"/>
            <a:ext cx="8229600" cy="4454525"/>
          </a:xfrm>
        </p:spPr>
        <p:txBody>
          <a:bodyPr/>
          <a:lstStyle/>
          <a:p>
            <a:r>
              <a:rPr lang="en-US" altLang="en-US" dirty="0"/>
              <a:t>first examine organization’s IT security:</a:t>
            </a:r>
          </a:p>
          <a:p>
            <a:pPr lvl="1"/>
            <a:r>
              <a:rPr lang="en-US" altLang="en-US" dirty="0"/>
              <a:t>objectives - wanted IT security outcomes</a:t>
            </a:r>
          </a:p>
          <a:p>
            <a:pPr lvl="1"/>
            <a:r>
              <a:rPr lang="en-US" altLang="en-US" dirty="0"/>
              <a:t>strategies - how to meet objectives</a:t>
            </a:r>
          </a:p>
          <a:p>
            <a:pPr lvl="1"/>
            <a:r>
              <a:rPr lang="en-US" altLang="en-US" dirty="0"/>
              <a:t>policies - identify what needs to be done</a:t>
            </a:r>
          </a:p>
          <a:p>
            <a:r>
              <a:rPr lang="en-US" altLang="en-US" dirty="0"/>
              <a:t>maintained and updated regularly</a:t>
            </a:r>
          </a:p>
          <a:p>
            <a:pPr lvl="1"/>
            <a:r>
              <a:rPr lang="en-US" altLang="en-US" dirty="0"/>
              <a:t>using periodic security reviews</a:t>
            </a:r>
          </a:p>
          <a:p>
            <a:pPr lvl="1"/>
            <a:r>
              <a:rPr lang="en-US" altLang="en-US" dirty="0"/>
              <a:t>reflect changing technical/risk environments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C735394-DF6F-622D-5821-5472071AA6B9}"/>
              </a:ext>
            </a:extLst>
          </p:cNvPr>
          <p:cNvSpPr>
            <a:spLocks noGrp="1" noChangeArrowheads="1"/>
          </p:cNvSpPr>
          <p:nvPr>
            <p:ph type="title"/>
          </p:nvPr>
        </p:nvSpPr>
        <p:spPr>
          <a:xfrm>
            <a:off x="685800" y="0"/>
            <a:ext cx="7772400" cy="762000"/>
          </a:xfrm>
        </p:spPr>
        <p:txBody>
          <a:bodyPr/>
          <a:lstStyle/>
          <a:p>
            <a:r>
              <a:rPr lang="en-US" altLang="en-US" dirty="0"/>
              <a:t>Security Policy: Topics to Cover</a:t>
            </a:r>
          </a:p>
        </p:txBody>
      </p:sp>
      <p:sp>
        <p:nvSpPr>
          <p:cNvPr id="18435" name="Rectangle 3">
            <a:extLst>
              <a:ext uri="{FF2B5EF4-FFF2-40B4-BE49-F238E27FC236}">
                <a16:creationId xmlns:a16="http://schemas.microsoft.com/office/drawing/2014/main" id="{BD498868-A2EF-B97A-E9E2-E083876BDD86}"/>
              </a:ext>
            </a:extLst>
          </p:cNvPr>
          <p:cNvSpPr>
            <a:spLocks noGrp="1" noChangeArrowheads="1"/>
          </p:cNvSpPr>
          <p:nvPr>
            <p:ph type="body" idx="1"/>
          </p:nvPr>
        </p:nvSpPr>
        <p:spPr>
          <a:xfrm>
            <a:off x="457200" y="838200"/>
            <a:ext cx="8229600" cy="5181600"/>
          </a:xfrm>
        </p:spPr>
        <p:txBody>
          <a:bodyPr/>
          <a:lstStyle/>
          <a:p>
            <a:pPr>
              <a:lnSpc>
                <a:spcPct val="90000"/>
              </a:lnSpc>
            </a:pPr>
            <a:r>
              <a:rPr lang="en-US" altLang="en-US" sz="2400" dirty="0"/>
              <a:t>Security Policy: Security rules to keep the organization secure</a:t>
            </a:r>
          </a:p>
          <a:p>
            <a:pPr lvl="1"/>
            <a:r>
              <a:rPr lang="en-US" altLang="en-US" dirty="0"/>
              <a:t>Specific rules</a:t>
            </a:r>
          </a:p>
          <a:p>
            <a:pPr lvl="1"/>
            <a:r>
              <a:rPr lang="en-US" altLang="en-US" dirty="0"/>
              <a:t>Organization Specific</a:t>
            </a:r>
          </a:p>
          <a:p>
            <a:pPr>
              <a:lnSpc>
                <a:spcPct val="90000"/>
              </a:lnSpc>
            </a:pPr>
            <a:r>
              <a:rPr lang="en-US" altLang="en-US" sz="2400" dirty="0"/>
              <a:t>Security Policy needs to address:</a:t>
            </a:r>
          </a:p>
          <a:p>
            <a:pPr lvl="1">
              <a:lnSpc>
                <a:spcPct val="90000"/>
              </a:lnSpc>
            </a:pPr>
            <a:r>
              <a:rPr lang="en-US" altLang="en-US" sz="2000" dirty="0"/>
              <a:t>scope and purpose including relation of objectives to business, legal, regulatory requirements</a:t>
            </a:r>
          </a:p>
          <a:p>
            <a:pPr lvl="1">
              <a:lnSpc>
                <a:spcPct val="90000"/>
              </a:lnSpc>
            </a:pPr>
            <a:r>
              <a:rPr lang="en-US" altLang="en-US" sz="2000" dirty="0"/>
              <a:t>IT security requirements</a:t>
            </a:r>
          </a:p>
          <a:p>
            <a:pPr lvl="1">
              <a:lnSpc>
                <a:spcPct val="90000"/>
              </a:lnSpc>
            </a:pPr>
            <a:r>
              <a:rPr lang="en-US" altLang="en-US" sz="2000" dirty="0"/>
              <a:t>assignment of responsibilities</a:t>
            </a:r>
          </a:p>
          <a:p>
            <a:pPr lvl="1">
              <a:lnSpc>
                <a:spcPct val="90000"/>
              </a:lnSpc>
            </a:pPr>
            <a:r>
              <a:rPr lang="en-US" altLang="en-US" sz="2000" dirty="0"/>
              <a:t>risk management approach</a:t>
            </a:r>
          </a:p>
          <a:p>
            <a:pPr lvl="1">
              <a:lnSpc>
                <a:spcPct val="90000"/>
              </a:lnSpc>
            </a:pPr>
            <a:r>
              <a:rPr lang="en-US" altLang="en-US" sz="2000" dirty="0"/>
              <a:t>security awareness and training</a:t>
            </a:r>
          </a:p>
          <a:p>
            <a:pPr lvl="1">
              <a:lnSpc>
                <a:spcPct val="90000"/>
              </a:lnSpc>
            </a:pPr>
            <a:r>
              <a:rPr lang="en-US" altLang="en-US" sz="2000" dirty="0"/>
              <a:t>general personnel issues and any legal sanctions</a:t>
            </a:r>
          </a:p>
          <a:p>
            <a:pPr lvl="1">
              <a:lnSpc>
                <a:spcPct val="90000"/>
              </a:lnSpc>
            </a:pPr>
            <a:r>
              <a:rPr lang="en-US" altLang="en-US" sz="2000" dirty="0"/>
              <a:t>integration of security into systems development</a:t>
            </a:r>
          </a:p>
          <a:p>
            <a:pPr lvl="1">
              <a:lnSpc>
                <a:spcPct val="90000"/>
              </a:lnSpc>
            </a:pPr>
            <a:r>
              <a:rPr lang="en-US" altLang="en-US" sz="2000" dirty="0"/>
              <a:t>information classification scheme</a:t>
            </a:r>
          </a:p>
          <a:p>
            <a:pPr lvl="1">
              <a:lnSpc>
                <a:spcPct val="90000"/>
              </a:lnSpc>
            </a:pPr>
            <a:r>
              <a:rPr lang="en-US" altLang="en-US" sz="2000" dirty="0"/>
              <a:t>contingency and business continuity planning</a:t>
            </a:r>
          </a:p>
          <a:p>
            <a:pPr lvl="1">
              <a:lnSpc>
                <a:spcPct val="90000"/>
              </a:lnSpc>
            </a:pPr>
            <a:r>
              <a:rPr lang="en-US" altLang="en-US" sz="2000" dirty="0"/>
              <a:t>incident detection and handling processes</a:t>
            </a:r>
          </a:p>
          <a:p>
            <a:pPr lvl="1">
              <a:lnSpc>
                <a:spcPct val="90000"/>
              </a:lnSpc>
            </a:pPr>
            <a:r>
              <a:rPr lang="en-US" altLang="en-US" sz="2000" dirty="0"/>
              <a:t>how when policy reviewed, and change control to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C735394-DF6F-622D-5821-5472071AA6B9}"/>
              </a:ext>
            </a:extLst>
          </p:cNvPr>
          <p:cNvSpPr>
            <a:spLocks noGrp="1" noChangeArrowheads="1"/>
          </p:cNvSpPr>
          <p:nvPr>
            <p:ph type="title"/>
          </p:nvPr>
        </p:nvSpPr>
        <p:spPr>
          <a:xfrm>
            <a:off x="685800" y="0"/>
            <a:ext cx="7772400" cy="762000"/>
          </a:xfrm>
        </p:spPr>
        <p:txBody>
          <a:bodyPr/>
          <a:lstStyle/>
          <a:p>
            <a:r>
              <a:rPr lang="en-US" altLang="en-US" dirty="0"/>
              <a:t>Security Policy: Topics to Cover</a:t>
            </a:r>
          </a:p>
        </p:txBody>
      </p:sp>
      <p:sp>
        <p:nvSpPr>
          <p:cNvPr id="18435" name="Rectangle 3">
            <a:extLst>
              <a:ext uri="{FF2B5EF4-FFF2-40B4-BE49-F238E27FC236}">
                <a16:creationId xmlns:a16="http://schemas.microsoft.com/office/drawing/2014/main" id="{BD498868-A2EF-B97A-E9E2-E083876BDD86}"/>
              </a:ext>
            </a:extLst>
          </p:cNvPr>
          <p:cNvSpPr>
            <a:spLocks noGrp="1" noChangeArrowheads="1"/>
          </p:cNvSpPr>
          <p:nvPr>
            <p:ph type="body" idx="1"/>
          </p:nvPr>
        </p:nvSpPr>
        <p:spPr>
          <a:xfrm>
            <a:off x="457200" y="838200"/>
            <a:ext cx="8229600" cy="5181600"/>
          </a:xfrm>
        </p:spPr>
        <p:txBody>
          <a:bodyPr/>
          <a:lstStyle/>
          <a:p>
            <a:pPr>
              <a:lnSpc>
                <a:spcPct val="90000"/>
              </a:lnSpc>
            </a:pPr>
            <a:r>
              <a:rPr lang="en-US" altLang="en-US" sz="2400" dirty="0"/>
              <a:t>Topics</a:t>
            </a:r>
          </a:p>
          <a:p>
            <a:pPr lvl="1"/>
            <a:r>
              <a:rPr lang="en-US" altLang="en-US" dirty="0"/>
              <a:t>Access Control</a:t>
            </a:r>
          </a:p>
          <a:p>
            <a:pPr lvl="1"/>
            <a:r>
              <a:rPr lang="en-US" altLang="en-US" dirty="0"/>
              <a:t>Information </a:t>
            </a:r>
            <a:r>
              <a:rPr lang="en-US" altLang="en-US" dirty="0" err="1"/>
              <a:t>Classificaton</a:t>
            </a:r>
            <a:endParaRPr lang="en-US" altLang="en-US" dirty="0"/>
          </a:p>
          <a:p>
            <a:pPr lvl="1"/>
            <a:r>
              <a:rPr lang="en-US" altLang="en-US" dirty="0"/>
              <a:t>Physical Security</a:t>
            </a:r>
          </a:p>
          <a:p>
            <a:pPr lvl="1"/>
            <a:r>
              <a:rPr lang="en-US" altLang="en-US" dirty="0"/>
              <a:t>Acceptable Use</a:t>
            </a:r>
          </a:p>
          <a:p>
            <a:pPr lvl="1"/>
            <a:r>
              <a:rPr lang="en-US" altLang="en-US" dirty="0"/>
              <a:t>Information Transfer</a:t>
            </a:r>
          </a:p>
          <a:p>
            <a:pPr lvl="1"/>
            <a:r>
              <a:rPr lang="en-US" altLang="en-US" dirty="0"/>
              <a:t>Bring your own device</a:t>
            </a:r>
          </a:p>
          <a:p>
            <a:pPr lvl="1"/>
            <a:r>
              <a:rPr lang="en-US" altLang="en-US" dirty="0"/>
              <a:t>Software installation</a:t>
            </a:r>
          </a:p>
          <a:p>
            <a:pPr>
              <a:lnSpc>
                <a:spcPct val="90000"/>
              </a:lnSpc>
            </a:pPr>
            <a:r>
              <a:rPr lang="en-US" altLang="en-US" dirty="0"/>
              <a:t>Factors</a:t>
            </a:r>
            <a:endParaRPr lang="en-US" altLang="en-US" sz="2400" dirty="0"/>
          </a:p>
          <a:p>
            <a:pPr lvl="1"/>
            <a:r>
              <a:rPr lang="en-US" altLang="en-US" dirty="0"/>
              <a:t>Size (International Organization with 10000 employees, or small company with 50 employees</a:t>
            </a:r>
          </a:p>
          <a:p>
            <a:pPr lvl="1"/>
            <a:r>
              <a:rPr lang="en-US" altLang="en-US" dirty="0"/>
              <a:t>Culture</a:t>
            </a:r>
          </a:p>
          <a:p>
            <a:pPr lvl="1"/>
            <a:r>
              <a:rPr lang="en-US" altLang="en-US" dirty="0"/>
              <a:t>Business Goals</a:t>
            </a:r>
          </a:p>
          <a:p>
            <a:pPr lvl="1"/>
            <a:r>
              <a:rPr lang="en-US" altLang="en-US" dirty="0"/>
              <a:t>Law</a:t>
            </a:r>
          </a:p>
          <a:p>
            <a:endParaRPr lang="en-US" altLang="en-US" dirty="0"/>
          </a:p>
        </p:txBody>
      </p:sp>
    </p:spTree>
    <p:extLst>
      <p:ext uri="{BB962C8B-B14F-4D97-AF65-F5344CB8AC3E}">
        <p14:creationId xmlns:p14="http://schemas.microsoft.com/office/powerpoint/2010/main" val="4124493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5B2CFFF-B5D4-DF18-9BDA-9AFDDCBDDF90}"/>
              </a:ext>
            </a:extLst>
          </p:cNvPr>
          <p:cNvSpPr>
            <a:spLocks noGrp="1" noChangeArrowheads="1"/>
          </p:cNvSpPr>
          <p:nvPr>
            <p:ph type="title"/>
          </p:nvPr>
        </p:nvSpPr>
        <p:spPr/>
        <p:txBody>
          <a:bodyPr/>
          <a:lstStyle/>
          <a:p>
            <a:r>
              <a:rPr lang="en-US" altLang="en-US"/>
              <a:t>Management Support</a:t>
            </a:r>
          </a:p>
        </p:txBody>
      </p:sp>
      <p:sp>
        <p:nvSpPr>
          <p:cNvPr id="20483" name="Rectangle 3">
            <a:extLst>
              <a:ext uri="{FF2B5EF4-FFF2-40B4-BE49-F238E27FC236}">
                <a16:creationId xmlns:a16="http://schemas.microsoft.com/office/drawing/2014/main" id="{2F4E61DF-8B5F-4331-C337-3F34F55106CF}"/>
              </a:ext>
            </a:extLst>
          </p:cNvPr>
          <p:cNvSpPr>
            <a:spLocks noGrp="1" noChangeArrowheads="1"/>
          </p:cNvSpPr>
          <p:nvPr>
            <p:ph type="body" idx="1"/>
          </p:nvPr>
        </p:nvSpPr>
        <p:spPr>
          <a:xfrm>
            <a:off x="457200" y="1295400"/>
            <a:ext cx="8229600" cy="4800600"/>
          </a:xfrm>
        </p:spPr>
        <p:txBody>
          <a:bodyPr/>
          <a:lstStyle/>
          <a:p>
            <a:r>
              <a:rPr lang="en-US" altLang="en-US" dirty="0"/>
              <a:t>IT security policy must be supported by senior management</a:t>
            </a:r>
          </a:p>
          <a:p>
            <a:r>
              <a:rPr lang="en-US" altLang="en-US" dirty="0"/>
              <a:t>need IT security officer</a:t>
            </a:r>
          </a:p>
          <a:p>
            <a:pPr lvl="1"/>
            <a:r>
              <a:rPr lang="en-US" altLang="en-US" dirty="0"/>
              <a:t>to provide consistent overall supervision</a:t>
            </a:r>
          </a:p>
          <a:p>
            <a:pPr lvl="1"/>
            <a:r>
              <a:rPr lang="en-US" altLang="en-US" dirty="0"/>
              <a:t>manage process</a:t>
            </a:r>
          </a:p>
          <a:p>
            <a:pPr lvl="1"/>
            <a:r>
              <a:rPr lang="en-US" altLang="en-US" dirty="0"/>
              <a:t>handle incidents</a:t>
            </a:r>
          </a:p>
          <a:p>
            <a:r>
              <a:rPr lang="en-US" altLang="en-US" dirty="0"/>
              <a:t>large organizations needs IT security officers on major projects/teams</a:t>
            </a:r>
          </a:p>
          <a:p>
            <a:pPr lvl="1"/>
            <a:r>
              <a:rPr lang="en-US" altLang="en-US" dirty="0"/>
              <a:t>manage process within their areas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2FAA809-64ED-40B5-39E9-AA93AF3062F4}"/>
              </a:ext>
            </a:extLst>
          </p:cNvPr>
          <p:cNvSpPr>
            <a:spLocks noGrp="1" noChangeArrowheads="1"/>
          </p:cNvSpPr>
          <p:nvPr>
            <p:ph type="title"/>
          </p:nvPr>
        </p:nvSpPr>
        <p:spPr/>
        <p:txBody>
          <a:bodyPr/>
          <a:lstStyle/>
          <a:p>
            <a:r>
              <a:rPr lang="en-US" altLang="en-US" dirty="0"/>
              <a:t>Risk Management</a:t>
            </a:r>
          </a:p>
        </p:txBody>
      </p:sp>
      <p:sp>
        <p:nvSpPr>
          <p:cNvPr id="22531" name="Rectangle 3">
            <a:extLst>
              <a:ext uri="{FF2B5EF4-FFF2-40B4-BE49-F238E27FC236}">
                <a16:creationId xmlns:a16="http://schemas.microsoft.com/office/drawing/2014/main" id="{7E1BD0EB-8B9D-2CEA-0162-9976910853F3}"/>
              </a:ext>
            </a:extLst>
          </p:cNvPr>
          <p:cNvSpPr>
            <a:spLocks noGrp="1" noChangeArrowheads="1"/>
          </p:cNvSpPr>
          <p:nvPr>
            <p:ph type="body" idx="1"/>
          </p:nvPr>
        </p:nvSpPr>
        <p:spPr>
          <a:xfrm>
            <a:off x="457200" y="1371600"/>
            <a:ext cx="8229600" cy="4800600"/>
          </a:xfrm>
        </p:spPr>
        <p:txBody>
          <a:bodyPr/>
          <a:lstStyle/>
          <a:p>
            <a:r>
              <a:rPr lang="en-US" altLang="en-US" sz="2200" dirty="0"/>
              <a:t>Much broader than information security</a:t>
            </a:r>
          </a:p>
          <a:p>
            <a:r>
              <a:rPr lang="en-US" altLang="en-US" sz="2200" dirty="0"/>
              <a:t>Identify</a:t>
            </a:r>
          </a:p>
          <a:p>
            <a:r>
              <a:rPr lang="en-US" altLang="en-US" sz="2200" dirty="0" err="1"/>
              <a:t>Analyse</a:t>
            </a:r>
            <a:endParaRPr lang="en-US" altLang="en-US" sz="2200" dirty="0"/>
          </a:p>
          <a:p>
            <a:r>
              <a:rPr lang="en-US" altLang="en-US" sz="2200" dirty="0"/>
              <a:t>Evaluate</a:t>
            </a:r>
          </a:p>
          <a:p>
            <a:r>
              <a:rPr lang="en-US" altLang="en-US" sz="2200" dirty="0"/>
              <a:t>Treat</a:t>
            </a:r>
          </a:p>
          <a:p>
            <a:endParaRPr lang="en-US" altLang="en-US" sz="2200" dirty="0"/>
          </a:p>
          <a:p>
            <a:r>
              <a:rPr lang="en-US" altLang="en-US" sz="2200" dirty="0"/>
              <a:t>Risk: Probability of Something harmful to happen</a:t>
            </a:r>
          </a:p>
          <a:p>
            <a:endParaRPr lang="en-US" altLang="en-US" sz="2200" dirty="0"/>
          </a:p>
        </p:txBody>
      </p:sp>
    </p:spTree>
    <p:extLst>
      <p:ext uri="{BB962C8B-B14F-4D97-AF65-F5344CB8AC3E}">
        <p14:creationId xmlns:p14="http://schemas.microsoft.com/office/powerpoint/2010/main" val="376978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2FAA809-64ED-40B5-39E9-AA93AF3062F4}"/>
              </a:ext>
            </a:extLst>
          </p:cNvPr>
          <p:cNvSpPr>
            <a:spLocks noGrp="1" noChangeArrowheads="1"/>
          </p:cNvSpPr>
          <p:nvPr>
            <p:ph type="title"/>
          </p:nvPr>
        </p:nvSpPr>
        <p:spPr>
          <a:xfrm>
            <a:off x="685800" y="381000"/>
            <a:ext cx="7772400" cy="762000"/>
          </a:xfrm>
        </p:spPr>
        <p:txBody>
          <a:bodyPr/>
          <a:lstStyle/>
          <a:p>
            <a:r>
              <a:rPr lang="en-US" altLang="en-US"/>
              <a:t>Security Risk Assessment</a:t>
            </a:r>
          </a:p>
        </p:txBody>
      </p:sp>
      <p:sp>
        <p:nvSpPr>
          <p:cNvPr id="22531" name="Rectangle 3">
            <a:extLst>
              <a:ext uri="{FF2B5EF4-FFF2-40B4-BE49-F238E27FC236}">
                <a16:creationId xmlns:a16="http://schemas.microsoft.com/office/drawing/2014/main" id="{7E1BD0EB-8B9D-2CEA-0162-9976910853F3}"/>
              </a:ext>
            </a:extLst>
          </p:cNvPr>
          <p:cNvSpPr>
            <a:spLocks noGrp="1" noChangeArrowheads="1"/>
          </p:cNvSpPr>
          <p:nvPr>
            <p:ph type="body" idx="1"/>
          </p:nvPr>
        </p:nvSpPr>
        <p:spPr>
          <a:xfrm>
            <a:off x="457200" y="1371600"/>
            <a:ext cx="8229600" cy="4800600"/>
          </a:xfrm>
        </p:spPr>
        <p:txBody>
          <a:bodyPr/>
          <a:lstStyle/>
          <a:p>
            <a:r>
              <a:rPr lang="en-US" altLang="en-US" sz="2400" dirty="0"/>
              <a:t>critical component of process</a:t>
            </a:r>
          </a:p>
          <a:p>
            <a:pPr lvl="1"/>
            <a:r>
              <a:rPr lang="en-US" altLang="en-US" sz="2000" dirty="0"/>
              <a:t>else may have vulnerabilities or waste money</a:t>
            </a:r>
          </a:p>
          <a:p>
            <a:r>
              <a:rPr lang="en-US" altLang="en-US" sz="2400" dirty="0"/>
              <a:t>ideally examine every asset vs risk</a:t>
            </a:r>
          </a:p>
          <a:p>
            <a:pPr lvl="1"/>
            <a:r>
              <a:rPr lang="en-US" altLang="en-US" sz="2000" dirty="0"/>
              <a:t>not feasible in practice</a:t>
            </a:r>
          </a:p>
          <a:p>
            <a:r>
              <a:rPr lang="en-US" altLang="en-US" sz="2400" dirty="0"/>
              <a:t>choose one of possible alternatives based on organization’s  resources and risk profile</a:t>
            </a:r>
          </a:p>
          <a:p>
            <a:pPr lvl="1"/>
            <a:r>
              <a:rPr lang="en-US" altLang="en-US" sz="2000" dirty="0"/>
              <a:t>baseline</a:t>
            </a:r>
          </a:p>
          <a:p>
            <a:pPr lvl="1"/>
            <a:r>
              <a:rPr lang="en-US" altLang="en-US" sz="2000" dirty="0"/>
              <a:t>informal</a:t>
            </a:r>
          </a:p>
          <a:p>
            <a:pPr lvl="1"/>
            <a:r>
              <a:rPr lang="en-US" altLang="en-US" sz="2000" dirty="0"/>
              <a:t>formal</a:t>
            </a:r>
          </a:p>
          <a:p>
            <a:pPr lvl="1"/>
            <a:r>
              <a:rPr lang="en-US" altLang="en-US" sz="2000" dirty="0"/>
              <a:t>combined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C919DF4-843F-AA99-6A48-B14050B23E04}"/>
              </a:ext>
            </a:extLst>
          </p:cNvPr>
          <p:cNvSpPr>
            <a:spLocks noGrp="1" noChangeArrowheads="1"/>
          </p:cNvSpPr>
          <p:nvPr>
            <p:ph type="title"/>
          </p:nvPr>
        </p:nvSpPr>
        <p:spPr/>
        <p:txBody>
          <a:bodyPr/>
          <a:lstStyle/>
          <a:p>
            <a:r>
              <a:rPr lang="en-US" altLang="en-US"/>
              <a:t>Baseline Approach</a:t>
            </a:r>
          </a:p>
        </p:txBody>
      </p:sp>
      <p:sp>
        <p:nvSpPr>
          <p:cNvPr id="24579" name="Rectangle 3">
            <a:extLst>
              <a:ext uri="{FF2B5EF4-FFF2-40B4-BE49-F238E27FC236}">
                <a16:creationId xmlns:a16="http://schemas.microsoft.com/office/drawing/2014/main" id="{D591020E-92C5-DC41-13C4-608D6034A28B}"/>
              </a:ext>
            </a:extLst>
          </p:cNvPr>
          <p:cNvSpPr>
            <a:spLocks noGrp="1" noChangeArrowheads="1"/>
          </p:cNvSpPr>
          <p:nvPr>
            <p:ph type="body" idx="1"/>
          </p:nvPr>
        </p:nvSpPr>
        <p:spPr>
          <a:xfrm>
            <a:off x="457200" y="1447800"/>
            <a:ext cx="8229600" cy="4953000"/>
          </a:xfrm>
        </p:spPr>
        <p:txBody>
          <a:bodyPr/>
          <a:lstStyle/>
          <a:p>
            <a:r>
              <a:rPr lang="en-US" altLang="en-US" dirty="0">
                <a:latin typeface="Times" pitchFamily="2" charset="0"/>
              </a:rPr>
              <a:t>The baseline approach to risk assessment aims to implement a basic general level of security controls on systems using baseline documents, codes of practice, and “industry best practice”. </a:t>
            </a:r>
            <a:endParaRPr lang="en-US" altLang="en-US" dirty="0"/>
          </a:p>
          <a:p>
            <a:endParaRPr lang="en-US" altLang="en-US" dirty="0"/>
          </a:p>
          <a:p>
            <a:r>
              <a:rPr lang="en-US" altLang="en-US" dirty="0"/>
              <a:t>use “industry best practice”</a:t>
            </a:r>
          </a:p>
          <a:p>
            <a:pPr lvl="1"/>
            <a:r>
              <a:rPr lang="en-US" altLang="en-US" dirty="0"/>
              <a:t>easy, cheap, can be replicated</a:t>
            </a:r>
          </a:p>
          <a:p>
            <a:pPr lvl="1"/>
            <a:r>
              <a:rPr lang="en-US" altLang="en-US" dirty="0"/>
              <a:t>but gives no special consideration to org</a:t>
            </a:r>
          </a:p>
          <a:p>
            <a:pPr lvl="1"/>
            <a:r>
              <a:rPr lang="en-US" altLang="en-US" dirty="0"/>
              <a:t>may give too much or too little security</a:t>
            </a:r>
          </a:p>
          <a:p>
            <a:r>
              <a:rPr lang="en-US" altLang="en-US" dirty="0"/>
              <a:t>implement safeguards against most common threats</a:t>
            </a:r>
          </a:p>
          <a:p>
            <a:r>
              <a:rPr lang="en-US" altLang="en-US" dirty="0"/>
              <a:t>baseline recommendations and checklist documents available from various bodies</a:t>
            </a:r>
          </a:p>
          <a:p>
            <a:r>
              <a:rPr lang="en-US" altLang="en-US" dirty="0"/>
              <a:t>alone only suitable for small organizations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6779AB2-6BD1-CADB-9E48-393CA9BDBEAA}"/>
              </a:ext>
            </a:extLst>
          </p:cNvPr>
          <p:cNvSpPr>
            <a:spLocks noGrp="1" noChangeArrowheads="1"/>
          </p:cNvSpPr>
          <p:nvPr>
            <p:ph type="title"/>
          </p:nvPr>
        </p:nvSpPr>
        <p:spPr/>
        <p:txBody>
          <a:bodyPr/>
          <a:lstStyle/>
          <a:p>
            <a:r>
              <a:rPr lang="en-US" altLang="en-US"/>
              <a:t>Informal Approach</a:t>
            </a:r>
          </a:p>
        </p:txBody>
      </p:sp>
      <p:sp>
        <p:nvSpPr>
          <p:cNvPr id="26627" name="Rectangle 3">
            <a:extLst>
              <a:ext uri="{FF2B5EF4-FFF2-40B4-BE49-F238E27FC236}">
                <a16:creationId xmlns:a16="http://schemas.microsoft.com/office/drawing/2014/main" id="{F2795EF6-A515-CEB1-242E-898E3EAF52AC}"/>
              </a:ext>
            </a:extLst>
          </p:cNvPr>
          <p:cNvSpPr>
            <a:spLocks noGrp="1" noChangeArrowheads="1"/>
          </p:cNvSpPr>
          <p:nvPr>
            <p:ph type="body" idx="1"/>
          </p:nvPr>
        </p:nvSpPr>
        <p:spPr>
          <a:xfrm>
            <a:off x="457200" y="1447800"/>
            <a:ext cx="8458200" cy="5029200"/>
          </a:xfrm>
        </p:spPr>
        <p:txBody>
          <a:bodyPr/>
          <a:lstStyle/>
          <a:p>
            <a:r>
              <a:rPr lang="en-US" altLang="en-US"/>
              <a:t>conduct informal, pragmatic risk analysis on organization’s IT systems</a:t>
            </a:r>
          </a:p>
          <a:p>
            <a:r>
              <a:rPr lang="en-US" altLang="en-US"/>
              <a:t>exploits knowledge and expertise of analyst</a:t>
            </a:r>
          </a:p>
          <a:p>
            <a:r>
              <a:rPr lang="en-US" altLang="en-US"/>
              <a:t>fairly quick and cheap</a:t>
            </a:r>
          </a:p>
          <a:p>
            <a:r>
              <a:rPr lang="en-US" altLang="en-US"/>
              <a:t>does address some org specific issues</a:t>
            </a:r>
          </a:p>
          <a:p>
            <a:r>
              <a:rPr lang="en-US" altLang="en-US"/>
              <a:t>some risks may be incorrectly assessed</a:t>
            </a:r>
          </a:p>
          <a:p>
            <a:r>
              <a:rPr lang="en-US" altLang="en-US"/>
              <a:t>skewed by analysts views, varies over time</a:t>
            </a:r>
          </a:p>
          <a:p>
            <a:r>
              <a:rPr lang="en-US" altLang="en-US"/>
              <a:t>suitable for small to medium sized orgs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6A7B0FC-E4BA-DA16-E4A0-959650F4FA36}"/>
              </a:ext>
            </a:extLst>
          </p:cNvPr>
          <p:cNvSpPr>
            <a:spLocks noGrp="1" noChangeArrowheads="1"/>
          </p:cNvSpPr>
          <p:nvPr>
            <p:ph type="title"/>
          </p:nvPr>
        </p:nvSpPr>
        <p:spPr/>
        <p:txBody>
          <a:bodyPr/>
          <a:lstStyle/>
          <a:p>
            <a:r>
              <a:rPr lang="en-US" altLang="en-US"/>
              <a:t>Detailed Risk Analysis</a:t>
            </a:r>
          </a:p>
        </p:txBody>
      </p:sp>
      <p:sp>
        <p:nvSpPr>
          <p:cNvPr id="28675" name="Rectangle 3">
            <a:extLst>
              <a:ext uri="{FF2B5EF4-FFF2-40B4-BE49-F238E27FC236}">
                <a16:creationId xmlns:a16="http://schemas.microsoft.com/office/drawing/2014/main" id="{352B0C6E-B1D1-8FE9-FEFB-858559B7891B}"/>
              </a:ext>
            </a:extLst>
          </p:cNvPr>
          <p:cNvSpPr>
            <a:spLocks noGrp="1" noChangeArrowheads="1"/>
          </p:cNvSpPr>
          <p:nvPr>
            <p:ph type="body" idx="1"/>
          </p:nvPr>
        </p:nvSpPr>
        <p:spPr>
          <a:xfrm>
            <a:off x="457200" y="1066800"/>
            <a:ext cx="8229600" cy="4724400"/>
          </a:xfrm>
        </p:spPr>
        <p:txBody>
          <a:bodyPr/>
          <a:lstStyle/>
          <a:p>
            <a:r>
              <a:rPr lang="en-US" altLang="en-US" dirty="0">
                <a:latin typeface="Times" pitchFamily="2" charset="0"/>
              </a:rPr>
              <a:t>Using a formal structured process - this process involves a number of stages including identification of assets, identification of threats and vulnerabilities to those assets, determination of the likelihood of the risk occurring and the consequences to the organization should that occur, and hence the risk the organization is exposed to. </a:t>
            </a:r>
            <a:endParaRPr lang="en-US" altLang="en-US" sz="2400" dirty="0"/>
          </a:p>
          <a:p>
            <a:r>
              <a:rPr lang="en-US" altLang="en-US" sz="2400" dirty="0"/>
              <a:t>most comprehensive alternative</a:t>
            </a:r>
          </a:p>
          <a:p>
            <a:r>
              <a:rPr lang="en-US" altLang="en-US" sz="2400" dirty="0"/>
              <a:t>assess using formal structured process</a:t>
            </a:r>
          </a:p>
          <a:p>
            <a:pPr lvl="1"/>
            <a:r>
              <a:rPr lang="en-US" altLang="en-US" sz="2000" dirty="0"/>
              <a:t>with a number of stages</a:t>
            </a:r>
          </a:p>
          <a:p>
            <a:pPr lvl="1"/>
            <a:r>
              <a:rPr lang="en-US" altLang="en-US" sz="2000" dirty="0"/>
              <a:t>identify likelihood of risk and consequences</a:t>
            </a:r>
          </a:p>
          <a:p>
            <a:pPr lvl="1"/>
            <a:r>
              <a:rPr lang="en-US" altLang="en-US" sz="2000" dirty="0"/>
              <a:t>hence have confidence controls appropriate</a:t>
            </a:r>
          </a:p>
          <a:p>
            <a:r>
              <a:rPr lang="en-US" altLang="en-US" sz="2400" dirty="0"/>
              <a:t>costly and slow, requires expert analysts</a:t>
            </a:r>
          </a:p>
          <a:p>
            <a:r>
              <a:rPr lang="en-US" altLang="en-US" sz="2400" dirty="0"/>
              <a:t>may be a legal requirement to use</a:t>
            </a:r>
          </a:p>
          <a:p>
            <a:r>
              <a:rPr lang="en-US" altLang="en-US" sz="2400" dirty="0"/>
              <a:t>suitable for large organizations with IT systems critical to their business objectives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8C01BAA-3CA4-EC90-0544-6E2469FF38A7}"/>
              </a:ext>
            </a:extLst>
          </p:cNvPr>
          <p:cNvSpPr>
            <a:spLocks noGrp="1" noChangeArrowheads="1"/>
          </p:cNvSpPr>
          <p:nvPr>
            <p:ph type="title"/>
          </p:nvPr>
        </p:nvSpPr>
        <p:spPr/>
        <p:txBody>
          <a:bodyPr/>
          <a:lstStyle/>
          <a:p>
            <a:r>
              <a:rPr lang="en-US" altLang="en-US"/>
              <a:t>Combined Approach</a:t>
            </a:r>
          </a:p>
        </p:txBody>
      </p:sp>
      <p:sp>
        <p:nvSpPr>
          <p:cNvPr id="30723" name="Rectangle 3">
            <a:extLst>
              <a:ext uri="{FF2B5EF4-FFF2-40B4-BE49-F238E27FC236}">
                <a16:creationId xmlns:a16="http://schemas.microsoft.com/office/drawing/2014/main" id="{AE76D98B-C725-679C-EB57-5CCD8C1BF786}"/>
              </a:ext>
            </a:extLst>
          </p:cNvPr>
          <p:cNvSpPr>
            <a:spLocks noGrp="1" noChangeArrowheads="1"/>
          </p:cNvSpPr>
          <p:nvPr>
            <p:ph type="body" idx="1"/>
          </p:nvPr>
        </p:nvSpPr>
        <p:spPr>
          <a:xfrm>
            <a:off x="457200" y="1676400"/>
            <a:ext cx="8229600" cy="4800600"/>
          </a:xfrm>
        </p:spPr>
        <p:txBody>
          <a:bodyPr/>
          <a:lstStyle/>
          <a:p>
            <a:pPr>
              <a:lnSpc>
                <a:spcPct val="90000"/>
              </a:lnSpc>
            </a:pPr>
            <a:r>
              <a:rPr lang="en-US" altLang="en-US" dirty="0"/>
              <a:t>combines elements of </a:t>
            </a:r>
            <a:r>
              <a:rPr lang="en-US" altLang="en-US" dirty="0">
                <a:latin typeface="Times" pitchFamily="2" charset="0"/>
              </a:rPr>
              <a:t>the baseline, informal, and detailed risk analysis approaches</a:t>
            </a:r>
            <a:endParaRPr lang="en-US" altLang="en-US" dirty="0"/>
          </a:p>
          <a:p>
            <a:pPr lvl="1">
              <a:lnSpc>
                <a:spcPct val="90000"/>
              </a:lnSpc>
            </a:pPr>
            <a:r>
              <a:rPr lang="en-US" altLang="en-US" dirty="0"/>
              <a:t>initial baseline on all systems</a:t>
            </a:r>
          </a:p>
          <a:p>
            <a:pPr lvl="1">
              <a:lnSpc>
                <a:spcPct val="90000"/>
              </a:lnSpc>
            </a:pPr>
            <a:r>
              <a:rPr lang="en-US" altLang="en-US" dirty="0"/>
              <a:t>informal analysis to identify critical risks</a:t>
            </a:r>
          </a:p>
          <a:p>
            <a:pPr lvl="1">
              <a:lnSpc>
                <a:spcPct val="90000"/>
              </a:lnSpc>
            </a:pPr>
            <a:r>
              <a:rPr lang="en-US" altLang="en-US" dirty="0"/>
              <a:t>formal assessment on these systems</a:t>
            </a:r>
          </a:p>
          <a:p>
            <a:pPr lvl="1">
              <a:lnSpc>
                <a:spcPct val="90000"/>
              </a:lnSpc>
            </a:pPr>
            <a:r>
              <a:rPr lang="en-US" altLang="en-US" dirty="0"/>
              <a:t>iterated and extended over time</a:t>
            </a:r>
          </a:p>
          <a:p>
            <a:pPr>
              <a:lnSpc>
                <a:spcPct val="90000"/>
              </a:lnSpc>
            </a:pPr>
            <a:r>
              <a:rPr lang="en-US" altLang="en-US" dirty="0"/>
              <a:t>better use of time and money resources</a:t>
            </a:r>
          </a:p>
          <a:p>
            <a:pPr>
              <a:lnSpc>
                <a:spcPct val="90000"/>
              </a:lnSpc>
            </a:pPr>
            <a:r>
              <a:rPr lang="en-US" altLang="en-US" dirty="0"/>
              <a:t>better security earlier that evolves</a:t>
            </a:r>
          </a:p>
          <a:p>
            <a:pPr>
              <a:lnSpc>
                <a:spcPct val="90000"/>
              </a:lnSpc>
            </a:pPr>
            <a:r>
              <a:rPr lang="en-US" altLang="en-US" dirty="0"/>
              <a:t>may miss some risks early</a:t>
            </a:r>
          </a:p>
          <a:p>
            <a:pPr>
              <a:lnSpc>
                <a:spcPct val="90000"/>
              </a:lnSpc>
            </a:pPr>
            <a:r>
              <a:rPr lang="en-US" altLang="en-US" dirty="0"/>
              <a:t>recommended alternative for most orgs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Detailed Security Risk Analysis</a:t>
            </a:r>
          </a:p>
        </p:txBody>
      </p:sp>
      <p:sp>
        <p:nvSpPr>
          <p:cNvPr id="3" name="Content Placeholder 2"/>
          <p:cNvSpPr>
            <a:spLocks noGrp="1"/>
          </p:cNvSpPr>
          <p:nvPr>
            <p:ph sz="quarter" idx="13"/>
          </p:nvPr>
        </p:nvSpPr>
        <p:spPr>
          <a:xfrm>
            <a:off x="457200" y="1556327"/>
            <a:ext cx="7921256" cy="3775694"/>
          </a:xfrm>
        </p:spPr>
        <p:txBody>
          <a:bodyPr/>
          <a:lstStyle/>
          <a:p>
            <a:r>
              <a:rPr lang="en-US" dirty="0"/>
              <a:t>Provides the most accurate evaluation of an organization's I</a:t>
            </a:r>
            <a:r>
              <a:rPr lang="en-US" sz="100" dirty="0"/>
              <a:t> </a:t>
            </a:r>
            <a:r>
              <a:rPr lang="en-US" dirty="0"/>
              <a:t>T system’s security risks</a:t>
            </a:r>
          </a:p>
          <a:p>
            <a:r>
              <a:rPr lang="en-US" dirty="0"/>
              <a:t>Highest cost</a:t>
            </a:r>
          </a:p>
          <a:p>
            <a:r>
              <a:rPr lang="en-US" dirty="0"/>
              <a:t>Initially focused on addressing defense security concerns</a:t>
            </a:r>
          </a:p>
          <a:p>
            <a:r>
              <a:rPr lang="en-US" dirty="0"/>
              <a:t>Often mandated by government organizations and associated businesses</a:t>
            </a:r>
          </a:p>
        </p:txBody>
      </p:sp>
    </p:spTree>
    <p:extLst>
      <p:ext uri="{BB962C8B-B14F-4D97-AF65-F5344CB8AC3E}">
        <p14:creationId xmlns:p14="http://schemas.microsoft.com/office/powerpoint/2010/main" val="2310420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marL="432"/>
            <a:r>
              <a:rPr lang="en-US" sz="3200" dirty="0">
                <a:solidFill>
                  <a:srgbClr val="C00000"/>
                </a:solidFill>
              </a:rPr>
              <a:t>Figure 14.3 Risk Assessment Process</a:t>
            </a:r>
          </a:p>
        </p:txBody>
      </p:sp>
      <p:pic>
        <p:nvPicPr>
          <p:cNvPr id="7" name="Content Placeholder 6" descr="A flow diagram depicts the risk assessment proces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787846" y="1596918"/>
            <a:ext cx="5568309" cy="4656440"/>
          </a:xfrm>
        </p:spPr>
      </p:pic>
    </p:spTree>
    <p:extLst>
      <p:ext uri="{BB962C8B-B14F-4D97-AF65-F5344CB8AC3E}">
        <p14:creationId xmlns:p14="http://schemas.microsoft.com/office/powerpoint/2010/main" val="2866478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Establishing the Context</a:t>
            </a:r>
          </a:p>
        </p:txBody>
      </p:sp>
      <p:sp>
        <p:nvSpPr>
          <p:cNvPr id="3" name="Content Placeholder 2"/>
          <p:cNvSpPr>
            <a:spLocks noGrp="1"/>
          </p:cNvSpPr>
          <p:nvPr>
            <p:ph sz="quarter" idx="13"/>
          </p:nvPr>
        </p:nvSpPr>
        <p:spPr>
          <a:xfrm>
            <a:off x="457200" y="1312650"/>
            <a:ext cx="8229600" cy="4788911"/>
          </a:xfrm>
        </p:spPr>
        <p:txBody>
          <a:bodyPr/>
          <a:lstStyle/>
          <a:p>
            <a:r>
              <a:rPr lang="en-US" dirty="0"/>
              <a:t>The initial step is known as establishing the context or system characterization. – Application areas: finance, banking, or manufacturing? </a:t>
            </a:r>
          </a:p>
          <a:p>
            <a:r>
              <a:rPr lang="en-US" dirty="0"/>
              <a:t>Initial step</a:t>
            </a:r>
          </a:p>
          <a:p>
            <a:pPr lvl="1"/>
            <a:r>
              <a:rPr lang="en-US" dirty="0"/>
              <a:t>Determine the basic parameters of the risk assessment</a:t>
            </a:r>
          </a:p>
          <a:p>
            <a:pPr lvl="1"/>
            <a:r>
              <a:rPr lang="en-US" dirty="0"/>
              <a:t>Identify the assets to be examined</a:t>
            </a:r>
          </a:p>
          <a:p>
            <a:r>
              <a:rPr lang="en-US" dirty="0"/>
              <a:t>Explores political and social environment in which the organization operates</a:t>
            </a:r>
          </a:p>
          <a:p>
            <a:pPr lvl="1"/>
            <a:r>
              <a:rPr lang="en-US" dirty="0"/>
              <a:t>Legal and regulatory constraints</a:t>
            </a:r>
          </a:p>
          <a:p>
            <a:pPr lvl="1"/>
            <a:r>
              <a:rPr lang="en-US" dirty="0"/>
              <a:t>Provide baseline for organization’s risk exposure</a:t>
            </a:r>
          </a:p>
          <a:p>
            <a:r>
              <a:rPr lang="en-US" dirty="0"/>
              <a:t>Risk appetite</a:t>
            </a:r>
          </a:p>
          <a:p>
            <a:pPr lvl="1"/>
            <a:r>
              <a:rPr lang="en-US" dirty="0"/>
              <a:t>The level of risk the organization views as acceptable</a:t>
            </a:r>
          </a:p>
        </p:txBody>
      </p:sp>
    </p:spTree>
    <p:extLst>
      <p:ext uri="{BB962C8B-B14F-4D97-AF65-F5344CB8AC3E}">
        <p14:creationId xmlns:p14="http://schemas.microsoft.com/office/powerpoint/2010/main" val="1704727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marL="432"/>
            <a:r>
              <a:rPr lang="en-US" sz="3200" dirty="0">
                <a:solidFill>
                  <a:srgbClr val="C00000"/>
                </a:solidFill>
              </a:rPr>
              <a:t>Figure 14.4 Generic Organizational Risk Context</a:t>
            </a:r>
          </a:p>
        </p:txBody>
      </p:sp>
      <p:pic>
        <p:nvPicPr>
          <p:cNvPr id="7" name="Content Placeholder 6" descr="A diagram depicts the suggests a possible spectrum of organizational risk.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77437" y="1578212"/>
            <a:ext cx="8189127" cy="3957727"/>
          </a:xfrm>
        </p:spPr>
      </p:pic>
    </p:spTree>
    <p:extLst>
      <p:ext uri="{BB962C8B-B14F-4D97-AF65-F5344CB8AC3E}">
        <p14:creationId xmlns:p14="http://schemas.microsoft.com/office/powerpoint/2010/main" val="4115477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026">
            <a:extLst>
              <a:ext uri="{FF2B5EF4-FFF2-40B4-BE49-F238E27FC236}">
                <a16:creationId xmlns:a16="http://schemas.microsoft.com/office/drawing/2014/main" id="{5784415E-2893-AE2B-5352-8538C70B190C}"/>
              </a:ext>
            </a:extLst>
          </p:cNvPr>
          <p:cNvSpPr>
            <a:spLocks noGrp="1" noChangeArrowheads="1"/>
          </p:cNvSpPr>
          <p:nvPr>
            <p:ph type="title"/>
          </p:nvPr>
        </p:nvSpPr>
        <p:spPr/>
        <p:txBody>
          <a:bodyPr/>
          <a:lstStyle/>
          <a:p>
            <a:r>
              <a:rPr lang="en-US" altLang="en-US" dirty="0"/>
              <a:t>Asset Identification</a:t>
            </a:r>
          </a:p>
        </p:txBody>
      </p:sp>
      <p:sp>
        <p:nvSpPr>
          <p:cNvPr id="36867" name="Rectangle 1027">
            <a:extLst>
              <a:ext uri="{FF2B5EF4-FFF2-40B4-BE49-F238E27FC236}">
                <a16:creationId xmlns:a16="http://schemas.microsoft.com/office/drawing/2014/main" id="{F8E49349-668F-A378-4819-BBD8273F1F52}"/>
              </a:ext>
            </a:extLst>
          </p:cNvPr>
          <p:cNvSpPr>
            <a:spLocks noGrp="1" noChangeArrowheads="1"/>
          </p:cNvSpPr>
          <p:nvPr>
            <p:ph type="body" idx="1"/>
          </p:nvPr>
        </p:nvSpPr>
        <p:spPr>
          <a:xfrm>
            <a:off x="457200" y="1295400"/>
            <a:ext cx="8229600" cy="4876800"/>
          </a:xfrm>
        </p:spPr>
        <p:txBody>
          <a:bodyPr/>
          <a:lstStyle/>
          <a:p>
            <a:r>
              <a:rPr lang="en-US" altLang="en-US" dirty="0"/>
              <a:t>identify assets </a:t>
            </a:r>
          </a:p>
          <a:p>
            <a:pPr lvl="1"/>
            <a:r>
              <a:rPr lang="en-US" altLang="en-US" dirty="0"/>
              <a:t>“anything which needs to be protected”</a:t>
            </a:r>
          </a:p>
          <a:p>
            <a:pPr lvl="1"/>
            <a:r>
              <a:rPr lang="en-US" altLang="en-US" dirty="0"/>
              <a:t>of value to organization to meet its objectives </a:t>
            </a:r>
          </a:p>
          <a:p>
            <a:pPr lvl="1"/>
            <a:r>
              <a:rPr lang="en-US" altLang="en-US" dirty="0"/>
              <a:t>tangible or intangible</a:t>
            </a:r>
          </a:p>
          <a:p>
            <a:pPr lvl="1"/>
            <a:r>
              <a:rPr lang="en-US" altLang="en-US" dirty="0"/>
              <a:t>in practice try to identify significant assets</a:t>
            </a:r>
          </a:p>
          <a:p>
            <a:pPr marL="57150" indent="0"/>
            <a:r>
              <a:rPr lang="en-US" altLang="en-US" dirty="0"/>
              <a:t>Assets:</a:t>
            </a:r>
          </a:p>
          <a:p>
            <a:pPr marL="457200" lvl="1" indent="0"/>
            <a:r>
              <a:rPr lang="en-US" altLang="en-US" dirty="0"/>
              <a:t>Hardware</a:t>
            </a:r>
          </a:p>
          <a:p>
            <a:pPr marL="457200" lvl="1" indent="0"/>
            <a:r>
              <a:rPr lang="en-US" altLang="en-US" dirty="0"/>
              <a:t>Software</a:t>
            </a:r>
          </a:p>
          <a:p>
            <a:pPr marL="457200" lvl="1" indent="0"/>
            <a:r>
              <a:rPr lang="en-US" altLang="en-US" dirty="0"/>
              <a:t>Information (Intellectual Property)</a:t>
            </a:r>
          </a:p>
          <a:p>
            <a:r>
              <a:rPr lang="en-US" altLang="en-US" dirty="0"/>
              <a:t>draw on expertise of people in relevant areas of organization to identify key assets</a:t>
            </a:r>
          </a:p>
          <a:p>
            <a:pPr lvl="1"/>
            <a:r>
              <a:rPr lang="en-US" altLang="en-US" dirty="0"/>
              <a:t>identify and interview such personnel</a:t>
            </a:r>
          </a:p>
          <a:p>
            <a:pPr lvl="1"/>
            <a:r>
              <a:rPr lang="en-US" altLang="en-US" dirty="0"/>
              <a:t>see checklists in various standards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A4CB5BFD-B036-F382-2FFB-C1498B5F7464}"/>
              </a:ext>
            </a:extLst>
          </p:cNvPr>
          <p:cNvSpPr>
            <a:spLocks noGrp="1" noChangeArrowheads="1"/>
          </p:cNvSpPr>
          <p:nvPr>
            <p:ph type="title"/>
          </p:nvPr>
        </p:nvSpPr>
        <p:spPr/>
        <p:txBody>
          <a:bodyPr/>
          <a:lstStyle/>
          <a:p>
            <a:r>
              <a:rPr lang="en-US" altLang="en-US"/>
              <a:t>Terminology</a:t>
            </a:r>
          </a:p>
        </p:txBody>
      </p:sp>
      <p:graphicFrame>
        <p:nvGraphicFramePr>
          <p:cNvPr id="38915" name="Object 5">
            <a:extLst>
              <a:ext uri="{FF2B5EF4-FFF2-40B4-BE49-F238E27FC236}">
                <a16:creationId xmlns:a16="http://schemas.microsoft.com/office/drawing/2014/main" id="{B3F104E1-55D7-1477-FA17-C0517DD9C9C2}"/>
              </a:ext>
            </a:extLst>
          </p:cNvPr>
          <p:cNvGraphicFramePr>
            <a:graphicFrameLocks noChangeAspect="1"/>
          </p:cNvGraphicFramePr>
          <p:nvPr/>
        </p:nvGraphicFramePr>
        <p:xfrm>
          <a:off x="382588" y="1978025"/>
          <a:ext cx="8312150" cy="2992438"/>
        </p:xfrm>
        <a:graphic>
          <a:graphicData uri="http://schemas.openxmlformats.org/presentationml/2006/ole">
            <mc:AlternateContent xmlns:mc="http://schemas.openxmlformats.org/markup-compatibility/2006">
              <mc:Choice xmlns:v="urn:schemas-microsoft-com:vml" Requires="v">
                <p:oleObj spid="_x0000_s2057" name="Document" r:id="rId4" imgW="5651500" imgH="2032000" progId="Word.Document.8">
                  <p:embed/>
                </p:oleObj>
              </mc:Choice>
              <mc:Fallback>
                <p:oleObj name="Document" r:id="rId4" imgW="5651500" imgH="2032000" progId="Word.Document.8">
                  <p:embed/>
                  <p:pic>
                    <p:nvPicPr>
                      <p:cNvPr id="38915" name="Object 5">
                        <a:extLst>
                          <a:ext uri="{FF2B5EF4-FFF2-40B4-BE49-F238E27FC236}">
                            <a16:creationId xmlns:a16="http://schemas.microsoft.com/office/drawing/2014/main" id="{B3F104E1-55D7-1477-FA17-C0517DD9C9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588" y="1978025"/>
                        <a:ext cx="8312150" cy="299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1446FC8-2A7B-1BF2-E061-F980582375F6}"/>
              </a:ext>
            </a:extLst>
          </p:cNvPr>
          <p:cNvSpPr>
            <a:spLocks noGrp="1" noChangeArrowheads="1"/>
          </p:cNvSpPr>
          <p:nvPr>
            <p:ph type="title"/>
          </p:nvPr>
        </p:nvSpPr>
        <p:spPr/>
        <p:txBody>
          <a:bodyPr/>
          <a:lstStyle/>
          <a:p>
            <a:r>
              <a:rPr lang="en-US" altLang="en-US" dirty="0"/>
              <a:t>Threat Identification</a:t>
            </a:r>
          </a:p>
        </p:txBody>
      </p:sp>
      <p:sp>
        <p:nvSpPr>
          <p:cNvPr id="40963" name="Rectangle 3">
            <a:extLst>
              <a:ext uri="{FF2B5EF4-FFF2-40B4-BE49-F238E27FC236}">
                <a16:creationId xmlns:a16="http://schemas.microsoft.com/office/drawing/2014/main" id="{89BAEBB5-8F97-6869-AEE9-F27BADAA9807}"/>
              </a:ext>
            </a:extLst>
          </p:cNvPr>
          <p:cNvSpPr>
            <a:spLocks noGrp="1" noChangeArrowheads="1"/>
          </p:cNvSpPr>
          <p:nvPr>
            <p:ph type="body" idx="1"/>
          </p:nvPr>
        </p:nvSpPr>
        <p:spPr>
          <a:xfrm>
            <a:off x="457200" y="1447800"/>
            <a:ext cx="8229600" cy="4724400"/>
          </a:xfrm>
        </p:spPr>
        <p:txBody>
          <a:bodyPr/>
          <a:lstStyle/>
          <a:p>
            <a:pPr marL="609600" indent="-609600"/>
            <a:r>
              <a:rPr lang="en-US" altLang="en-US" dirty="0"/>
              <a:t>to identify threats or risks to assets as</a:t>
            </a:r>
          </a:p>
          <a:p>
            <a:pPr marL="990600" lvl="1" indent="-533400"/>
            <a:r>
              <a:rPr lang="en-US" altLang="en-US" dirty="0"/>
              <a:t>who or what could cause it harm? </a:t>
            </a:r>
          </a:p>
          <a:p>
            <a:pPr marL="990600" lvl="1" indent="-533400"/>
            <a:r>
              <a:rPr lang="en-US" altLang="en-US" dirty="0"/>
              <a:t>how could this occur?</a:t>
            </a:r>
          </a:p>
          <a:p>
            <a:pPr marL="609600" indent="-609600"/>
            <a:r>
              <a:rPr lang="en-US" altLang="en-US" dirty="0"/>
              <a:t>threats are anything that hinders or prevents an asset providing appropriate levels of the key security services:</a:t>
            </a:r>
          </a:p>
          <a:p>
            <a:pPr marL="990600" lvl="1" indent="-533400"/>
            <a:r>
              <a:rPr lang="en-US" altLang="en-US" dirty="0"/>
              <a:t>confidentiality, integrity, availability, accountability, authenticity and reliability</a:t>
            </a:r>
          </a:p>
          <a:p>
            <a:pPr marL="609600" indent="-609600"/>
            <a:r>
              <a:rPr lang="en-US" altLang="en-US" dirty="0"/>
              <a:t>assets may have multiple threats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17F59E1-0978-F89C-7D66-D3FD1C18CC30}"/>
              </a:ext>
            </a:extLst>
          </p:cNvPr>
          <p:cNvSpPr>
            <a:spLocks noGrp="1" noChangeArrowheads="1"/>
          </p:cNvSpPr>
          <p:nvPr>
            <p:ph type="title"/>
          </p:nvPr>
        </p:nvSpPr>
        <p:spPr/>
        <p:txBody>
          <a:bodyPr/>
          <a:lstStyle/>
          <a:p>
            <a:r>
              <a:rPr lang="en-US" altLang="en-US"/>
              <a:t>Threat Sources</a:t>
            </a:r>
          </a:p>
        </p:txBody>
      </p:sp>
      <p:sp>
        <p:nvSpPr>
          <p:cNvPr id="43011" name="Rectangle 3">
            <a:extLst>
              <a:ext uri="{FF2B5EF4-FFF2-40B4-BE49-F238E27FC236}">
                <a16:creationId xmlns:a16="http://schemas.microsoft.com/office/drawing/2014/main" id="{392C569B-9991-8C3C-1242-4D0E205A4010}"/>
              </a:ext>
            </a:extLst>
          </p:cNvPr>
          <p:cNvSpPr>
            <a:spLocks noGrp="1" noChangeArrowheads="1"/>
          </p:cNvSpPr>
          <p:nvPr>
            <p:ph type="body" idx="1"/>
          </p:nvPr>
        </p:nvSpPr>
        <p:spPr>
          <a:xfrm>
            <a:off x="457200" y="1295400"/>
            <a:ext cx="8229600" cy="4800600"/>
          </a:xfrm>
        </p:spPr>
        <p:txBody>
          <a:bodyPr/>
          <a:lstStyle/>
          <a:p>
            <a:r>
              <a:rPr lang="en-US" altLang="en-US" sz="2400" dirty="0"/>
              <a:t>threats may be </a:t>
            </a:r>
          </a:p>
          <a:p>
            <a:pPr lvl="1"/>
            <a:r>
              <a:rPr lang="en-US" altLang="en-US" sz="2000" dirty="0"/>
              <a:t>natural “acts of god” </a:t>
            </a:r>
          </a:p>
          <a:p>
            <a:pPr lvl="1"/>
            <a:r>
              <a:rPr lang="en-US" altLang="en-US" sz="2000" dirty="0"/>
              <a:t>man-made</a:t>
            </a:r>
          </a:p>
          <a:p>
            <a:pPr lvl="1"/>
            <a:r>
              <a:rPr lang="en-US" altLang="en-US" sz="2000" dirty="0"/>
              <a:t> either accidental or deliberate</a:t>
            </a:r>
          </a:p>
          <a:p>
            <a:r>
              <a:rPr lang="en-US" altLang="en-US" sz="2400" dirty="0"/>
              <a:t>should consider human attackers</a:t>
            </a:r>
          </a:p>
          <a:p>
            <a:pPr lvl="1"/>
            <a:r>
              <a:rPr lang="en-US" altLang="en-US" sz="2000" dirty="0"/>
              <a:t>motivation</a:t>
            </a:r>
          </a:p>
          <a:p>
            <a:pPr lvl="1"/>
            <a:r>
              <a:rPr lang="en-US" altLang="en-US" sz="2000" dirty="0"/>
              <a:t>capability</a:t>
            </a:r>
          </a:p>
          <a:p>
            <a:pPr lvl="1"/>
            <a:r>
              <a:rPr lang="en-US" altLang="en-US" sz="2000" dirty="0"/>
              <a:t>resources</a:t>
            </a:r>
          </a:p>
          <a:p>
            <a:pPr lvl="1"/>
            <a:r>
              <a:rPr lang="en-US" altLang="en-US" sz="2000" dirty="0"/>
              <a:t>probability of attack</a:t>
            </a:r>
          </a:p>
          <a:p>
            <a:pPr lvl="1"/>
            <a:r>
              <a:rPr lang="en-US" altLang="en-US" sz="2000" dirty="0"/>
              <a:t>deterrence</a:t>
            </a:r>
          </a:p>
          <a:p>
            <a:r>
              <a:rPr lang="en-US" altLang="en-US" sz="2400" dirty="0"/>
              <a:t>any previous history of attack on org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C192F02A-7C8A-1EDE-B6A1-404E20BA0B39}"/>
              </a:ext>
            </a:extLst>
          </p:cNvPr>
          <p:cNvSpPr>
            <a:spLocks noGrp="1" noChangeArrowheads="1"/>
          </p:cNvSpPr>
          <p:nvPr>
            <p:ph type="title"/>
          </p:nvPr>
        </p:nvSpPr>
        <p:spPr/>
        <p:txBody>
          <a:bodyPr/>
          <a:lstStyle/>
          <a:p>
            <a:r>
              <a:rPr lang="en-US" altLang="en-US"/>
              <a:t>Threat Identification</a:t>
            </a:r>
          </a:p>
        </p:txBody>
      </p:sp>
      <p:sp>
        <p:nvSpPr>
          <p:cNvPr id="45059" name="Rectangle 3">
            <a:extLst>
              <a:ext uri="{FF2B5EF4-FFF2-40B4-BE49-F238E27FC236}">
                <a16:creationId xmlns:a16="http://schemas.microsoft.com/office/drawing/2014/main" id="{387AAA8B-CFD8-C2BB-3A37-B64318FA1FE7}"/>
              </a:ext>
            </a:extLst>
          </p:cNvPr>
          <p:cNvSpPr>
            <a:spLocks noGrp="1" noChangeArrowheads="1"/>
          </p:cNvSpPr>
          <p:nvPr>
            <p:ph type="body" idx="1"/>
          </p:nvPr>
        </p:nvSpPr>
        <p:spPr>
          <a:xfrm>
            <a:off x="457200" y="1676400"/>
            <a:ext cx="8229600" cy="4648200"/>
          </a:xfrm>
        </p:spPr>
        <p:txBody>
          <a:bodyPr/>
          <a:lstStyle/>
          <a:p>
            <a:r>
              <a:rPr lang="en-US" altLang="en-US"/>
              <a:t>depends on risk assessors experience</a:t>
            </a:r>
          </a:p>
          <a:p>
            <a:r>
              <a:rPr lang="en-US" altLang="en-US"/>
              <a:t>uses variety of sources</a:t>
            </a:r>
          </a:p>
          <a:p>
            <a:pPr lvl="1"/>
            <a:r>
              <a:rPr lang="en-US" altLang="en-US"/>
              <a:t>natural threat chance from insurance stats</a:t>
            </a:r>
          </a:p>
          <a:p>
            <a:pPr lvl="1"/>
            <a:r>
              <a:rPr lang="en-US" altLang="en-US"/>
              <a:t>lists of potential threats in standards, IT security surveys, info from governments</a:t>
            </a:r>
          </a:p>
          <a:p>
            <a:pPr lvl="1"/>
            <a:r>
              <a:rPr lang="en-US" altLang="en-US"/>
              <a:t>tailored to organization’s environment</a:t>
            </a:r>
          </a:p>
          <a:p>
            <a:pPr lvl="1"/>
            <a:r>
              <a:rPr lang="en-US" altLang="en-US"/>
              <a:t>and any vulnerabilities in its IT systems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FA2DCF9-9D76-0678-D0C2-40B2B21D9D1C}"/>
              </a:ext>
            </a:extLst>
          </p:cNvPr>
          <p:cNvSpPr>
            <a:spLocks noGrp="1" noChangeArrowheads="1"/>
          </p:cNvSpPr>
          <p:nvPr>
            <p:ph type="title"/>
          </p:nvPr>
        </p:nvSpPr>
        <p:spPr/>
        <p:txBody>
          <a:bodyPr/>
          <a:lstStyle/>
          <a:p>
            <a:r>
              <a:rPr lang="en-US" altLang="en-US"/>
              <a:t>Vulnerability Identification</a:t>
            </a:r>
          </a:p>
        </p:txBody>
      </p:sp>
      <p:sp>
        <p:nvSpPr>
          <p:cNvPr id="47107" name="Rectangle 3">
            <a:extLst>
              <a:ext uri="{FF2B5EF4-FFF2-40B4-BE49-F238E27FC236}">
                <a16:creationId xmlns:a16="http://schemas.microsoft.com/office/drawing/2014/main" id="{D06F9226-CFA1-B195-67DB-77BD2EC3A2FD}"/>
              </a:ext>
            </a:extLst>
          </p:cNvPr>
          <p:cNvSpPr>
            <a:spLocks noGrp="1" noChangeArrowheads="1"/>
          </p:cNvSpPr>
          <p:nvPr>
            <p:ph type="body" idx="1"/>
          </p:nvPr>
        </p:nvSpPr>
        <p:spPr/>
        <p:txBody>
          <a:bodyPr/>
          <a:lstStyle/>
          <a:p>
            <a:r>
              <a:rPr lang="en-US" altLang="en-US"/>
              <a:t>identify exploitable flaws or weaknesses in organization’s IT systems or processes</a:t>
            </a:r>
          </a:p>
          <a:p>
            <a:r>
              <a:rPr lang="en-US" altLang="en-US"/>
              <a:t>hence determine applicability and significance of threat to organization</a:t>
            </a:r>
          </a:p>
          <a:p>
            <a:r>
              <a:rPr lang="en-US" altLang="en-US"/>
              <a:t>need combination of threat and vulnerability to create a risk to an asset</a:t>
            </a:r>
          </a:p>
          <a:p>
            <a:r>
              <a:rPr lang="en-US" altLang="en-US"/>
              <a:t>again can use lists of potential vulnerabilities in standards etc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4A34F1F-6301-3851-CCA1-1DB741726073}"/>
              </a:ext>
            </a:extLst>
          </p:cNvPr>
          <p:cNvSpPr>
            <a:spLocks noGrp="1" noChangeArrowheads="1"/>
          </p:cNvSpPr>
          <p:nvPr>
            <p:ph type="title"/>
          </p:nvPr>
        </p:nvSpPr>
        <p:spPr/>
        <p:txBody>
          <a:bodyPr/>
          <a:lstStyle/>
          <a:p>
            <a:r>
              <a:rPr lang="en-US" altLang="en-US" dirty="0"/>
              <a:t>Security Analysis</a:t>
            </a:r>
            <a:endParaRPr lang="en-AU" altLang="en-US" dirty="0"/>
          </a:p>
        </p:txBody>
      </p:sp>
      <p:sp>
        <p:nvSpPr>
          <p:cNvPr id="71683" name="Rectangle 3">
            <a:extLst>
              <a:ext uri="{FF2B5EF4-FFF2-40B4-BE49-F238E27FC236}">
                <a16:creationId xmlns:a16="http://schemas.microsoft.com/office/drawing/2014/main" id="{4B423F4B-1471-BD3F-0FA7-338E31055BFB}"/>
              </a:ext>
            </a:extLst>
          </p:cNvPr>
          <p:cNvSpPr>
            <a:spLocks noGrp="1" noChangeArrowheads="1"/>
          </p:cNvSpPr>
          <p:nvPr>
            <p:ph type="body" idx="1"/>
          </p:nvPr>
        </p:nvSpPr>
        <p:spPr/>
        <p:txBody>
          <a:bodyPr/>
          <a:lstStyle/>
          <a:p>
            <a:r>
              <a:rPr lang="en-US" altLang="en-US" sz="2400" dirty="0"/>
              <a:t>Attacks: Infinite set</a:t>
            </a:r>
            <a:endParaRPr lang="en-AU" altLang="en-US" sz="2400" dirty="0"/>
          </a:p>
          <a:p>
            <a:r>
              <a:rPr lang="en-US" altLang="en-US" dirty="0"/>
              <a:t>Vulnerabilities</a:t>
            </a:r>
            <a:r>
              <a:rPr lang="en-US" altLang="en-US" sz="2400" dirty="0"/>
              <a:t>: Infinite set</a:t>
            </a:r>
          </a:p>
          <a:p>
            <a:endParaRPr lang="en-US" altLang="en-US" dirty="0"/>
          </a:p>
          <a:p>
            <a:r>
              <a:rPr lang="en-US" altLang="en-US" sz="2400" dirty="0"/>
              <a:t>Assets: </a:t>
            </a:r>
            <a:r>
              <a:rPr lang="en-US" altLang="en-US" dirty="0"/>
              <a:t>F</a:t>
            </a:r>
            <a:r>
              <a:rPr lang="en-US" altLang="en-US" sz="2400" dirty="0"/>
              <a:t>inite set</a:t>
            </a:r>
            <a:endParaRPr lang="en-AU" altLang="en-US" sz="2400" dirty="0"/>
          </a:p>
          <a:p>
            <a:r>
              <a:rPr lang="en-US" altLang="en-US" dirty="0"/>
              <a:t>Threats</a:t>
            </a:r>
            <a:r>
              <a:rPr lang="en-US" altLang="en-US" sz="2400" dirty="0"/>
              <a:t>: Finite set</a:t>
            </a:r>
            <a:endParaRPr lang="en-AU" altLang="en-US" sz="2400" dirty="0"/>
          </a:p>
          <a:p>
            <a:endParaRPr lang="en-AU" altLang="en-US" sz="2400" dirty="0"/>
          </a:p>
        </p:txBody>
      </p:sp>
    </p:spTree>
    <p:extLst>
      <p:ext uri="{BB962C8B-B14F-4D97-AF65-F5344CB8AC3E}">
        <p14:creationId xmlns:p14="http://schemas.microsoft.com/office/powerpoint/2010/main" val="2282657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2129690-B51B-1B7F-F92C-8A9C46B9E019}"/>
              </a:ext>
            </a:extLst>
          </p:cNvPr>
          <p:cNvSpPr>
            <a:spLocks noGrp="1" noChangeArrowheads="1"/>
          </p:cNvSpPr>
          <p:nvPr>
            <p:ph type="title"/>
          </p:nvPr>
        </p:nvSpPr>
        <p:spPr/>
        <p:txBody>
          <a:bodyPr/>
          <a:lstStyle/>
          <a:p>
            <a:r>
              <a:rPr lang="en-US" altLang="en-US"/>
              <a:t>Analyze Risks</a:t>
            </a:r>
          </a:p>
        </p:txBody>
      </p:sp>
      <p:sp>
        <p:nvSpPr>
          <p:cNvPr id="49155" name="Rectangle 3">
            <a:extLst>
              <a:ext uri="{FF2B5EF4-FFF2-40B4-BE49-F238E27FC236}">
                <a16:creationId xmlns:a16="http://schemas.microsoft.com/office/drawing/2014/main" id="{DB1F5609-7EC7-5A53-CB05-E00F04F7AC0B}"/>
              </a:ext>
            </a:extLst>
          </p:cNvPr>
          <p:cNvSpPr>
            <a:spLocks noGrp="1" noChangeArrowheads="1"/>
          </p:cNvSpPr>
          <p:nvPr>
            <p:ph type="body" idx="1"/>
          </p:nvPr>
        </p:nvSpPr>
        <p:spPr/>
        <p:txBody>
          <a:bodyPr/>
          <a:lstStyle/>
          <a:p>
            <a:pPr>
              <a:lnSpc>
                <a:spcPct val="90000"/>
              </a:lnSpc>
            </a:pPr>
            <a:r>
              <a:rPr lang="en-US" altLang="en-US" sz="2400" dirty="0"/>
              <a:t>Likelihood: likelihood of occurrence of each identified threat to asset given existing controls</a:t>
            </a:r>
          </a:p>
          <a:p>
            <a:pPr lvl="1"/>
            <a:r>
              <a:rPr lang="en-US" altLang="en-US" dirty="0"/>
              <a:t>Attacker skills</a:t>
            </a:r>
          </a:p>
          <a:p>
            <a:pPr lvl="1"/>
            <a:r>
              <a:rPr lang="en-US" altLang="en-US" dirty="0"/>
              <a:t>Motivation</a:t>
            </a:r>
          </a:p>
          <a:p>
            <a:pPr lvl="1"/>
            <a:r>
              <a:rPr lang="en-US" altLang="en-US" dirty="0"/>
              <a:t>Difficulty</a:t>
            </a:r>
          </a:p>
          <a:p>
            <a:pPr>
              <a:lnSpc>
                <a:spcPct val="90000"/>
              </a:lnSpc>
            </a:pPr>
            <a:r>
              <a:rPr lang="en-US" altLang="en-US" sz="2400" dirty="0"/>
              <a:t>Impact: specify consequence should threat occur</a:t>
            </a:r>
          </a:p>
          <a:p>
            <a:pPr lvl="1"/>
            <a:r>
              <a:rPr lang="en-US" altLang="en-US" dirty="0"/>
              <a:t>Effects on Confidentiality, Integrity, or Availability</a:t>
            </a:r>
          </a:p>
          <a:p>
            <a:pPr lvl="1"/>
            <a:r>
              <a:rPr lang="en-US" altLang="en-US" dirty="0"/>
              <a:t>Cost of Asset</a:t>
            </a:r>
          </a:p>
          <a:p>
            <a:pPr>
              <a:lnSpc>
                <a:spcPct val="90000"/>
              </a:lnSpc>
            </a:pPr>
            <a:r>
              <a:rPr lang="en-US" altLang="en-US" sz="2400" dirty="0"/>
              <a:t>hence derive overall risk rating for each threat</a:t>
            </a:r>
          </a:p>
          <a:p>
            <a:pPr lvl="1">
              <a:lnSpc>
                <a:spcPct val="90000"/>
              </a:lnSpc>
              <a:buFontTx/>
              <a:buNone/>
            </a:pPr>
            <a:r>
              <a:rPr lang="en-US" altLang="en-US" sz="2000" dirty="0"/>
              <a:t> </a:t>
            </a:r>
            <a:r>
              <a:rPr lang="en-US" altLang="en-US" sz="2000" b="1" i="1" dirty="0"/>
              <a:t>risk = probability threat occurs * cost to organization (Quantitative)</a:t>
            </a:r>
          </a:p>
          <a:p>
            <a:pPr>
              <a:lnSpc>
                <a:spcPct val="90000"/>
              </a:lnSpc>
            </a:pPr>
            <a:r>
              <a:rPr lang="en-US" altLang="en-US" sz="2400" dirty="0"/>
              <a:t>in practice very hard to determine exactly</a:t>
            </a:r>
          </a:p>
          <a:p>
            <a:pPr>
              <a:lnSpc>
                <a:spcPct val="90000"/>
              </a:lnSpc>
            </a:pPr>
            <a:r>
              <a:rPr lang="en-US" altLang="en-US" sz="2400" dirty="0"/>
              <a:t>use qualitative not quantitative, ratings for each</a:t>
            </a:r>
          </a:p>
          <a:p>
            <a:pPr>
              <a:lnSpc>
                <a:spcPct val="90000"/>
              </a:lnSpc>
            </a:pPr>
            <a:endParaRPr lang="en-US" alt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67A44689-36C6-A512-4618-50E867692546}"/>
              </a:ext>
            </a:extLst>
          </p:cNvPr>
          <p:cNvSpPr>
            <a:spLocks noGrp="1" noChangeArrowheads="1"/>
          </p:cNvSpPr>
          <p:nvPr>
            <p:ph type="title"/>
          </p:nvPr>
        </p:nvSpPr>
        <p:spPr/>
        <p:txBody>
          <a:bodyPr/>
          <a:lstStyle/>
          <a:p>
            <a:r>
              <a:rPr lang="en-US" altLang="en-US"/>
              <a:t>Determine Likelihood</a:t>
            </a:r>
          </a:p>
        </p:txBody>
      </p:sp>
      <p:graphicFrame>
        <p:nvGraphicFramePr>
          <p:cNvPr id="51203" name="Object 4">
            <a:extLst>
              <a:ext uri="{FF2B5EF4-FFF2-40B4-BE49-F238E27FC236}">
                <a16:creationId xmlns:a16="http://schemas.microsoft.com/office/drawing/2014/main" id="{3B7D2F86-17D3-E464-6262-6F008A7D9979}"/>
              </a:ext>
            </a:extLst>
          </p:cNvPr>
          <p:cNvGraphicFramePr>
            <a:graphicFrameLocks noChangeAspect="1"/>
          </p:cNvGraphicFramePr>
          <p:nvPr>
            <p:extLst>
              <p:ext uri="{D42A27DB-BD31-4B8C-83A1-F6EECF244321}">
                <p14:modId xmlns:p14="http://schemas.microsoft.com/office/powerpoint/2010/main" val="3043289762"/>
              </p:ext>
            </p:extLst>
          </p:nvPr>
        </p:nvGraphicFramePr>
        <p:xfrm>
          <a:off x="250031" y="1143000"/>
          <a:ext cx="8643937" cy="4138612"/>
        </p:xfrm>
        <a:graphic>
          <a:graphicData uri="http://schemas.openxmlformats.org/presentationml/2006/ole">
            <mc:AlternateContent xmlns:mc="http://schemas.openxmlformats.org/markup-compatibility/2006">
              <mc:Choice xmlns:v="urn:schemas-microsoft-com:vml" Requires="v">
                <p:oleObj spid="_x0000_s3081" name="Document" r:id="rId4" imgW="5638800" imgH="2705100" progId="Word.Document.8">
                  <p:embed/>
                </p:oleObj>
              </mc:Choice>
              <mc:Fallback>
                <p:oleObj name="Document" r:id="rId4" imgW="5638800" imgH="2705100" progId="Word.Document.8">
                  <p:embed/>
                  <p:pic>
                    <p:nvPicPr>
                      <p:cNvPr id="51203" name="Object 4">
                        <a:extLst>
                          <a:ext uri="{FF2B5EF4-FFF2-40B4-BE49-F238E27FC236}">
                            <a16:creationId xmlns:a16="http://schemas.microsoft.com/office/drawing/2014/main" id="{3B7D2F86-17D3-E464-6262-6F008A7D99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31" y="1143000"/>
                        <a:ext cx="8643937" cy="4138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65E8C9B-0036-2809-56E7-DCD00C201E1A}"/>
              </a:ext>
            </a:extLst>
          </p:cNvPr>
          <p:cNvSpPr>
            <a:spLocks noGrp="1" noChangeArrowheads="1"/>
          </p:cNvSpPr>
          <p:nvPr>
            <p:ph type="title"/>
          </p:nvPr>
        </p:nvSpPr>
        <p:spPr>
          <a:xfrm>
            <a:off x="228600" y="0"/>
            <a:ext cx="8610600" cy="914400"/>
          </a:xfrm>
        </p:spPr>
        <p:txBody>
          <a:bodyPr/>
          <a:lstStyle/>
          <a:p>
            <a:r>
              <a:rPr lang="en-US" altLang="en-US"/>
              <a:t>Determine Consequence</a:t>
            </a:r>
          </a:p>
        </p:txBody>
      </p:sp>
      <p:graphicFrame>
        <p:nvGraphicFramePr>
          <p:cNvPr id="53251" name="Object 4">
            <a:extLst>
              <a:ext uri="{FF2B5EF4-FFF2-40B4-BE49-F238E27FC236}">
                <a16:creationId xmlns:a16="http://schemas.microsoft.com/office/drawing/2014/main" id="{7A249136-D34E-AE9D-8611-F1D089FF315D}"/>
              </a:ext>
            </a:extLst>
          </p:cNvPr>
          <p:cNvGraphicFramePr>
            <a:graphicFrameLocks noChangeAspect="1"/>
          </p:cNvGraphicFramePr>
          <p:nvPr/>
        </p:nvGraphicFramePr>
        <p:xfrm>
          <a:off x="1041400" y="762000"/>
          <a:ext cx="6926263" cy="5316538"/>
        </p:xfrm>
        <a:graphic>
          <a:graphicData uri="http://schemas.openxmlformats.org/presentationml/2006/ole">
            <mc:AlternateContent xmlns:mc="http://schemas.openxmlformats.org/markup-compatibility/2006">
              <mc:Choice xmlns:v="urn:schemas-microsoft-com:vml" Requires="v">
                <p:oleObj spid="_x0000_s4105" name="Document" r:id="rId4" imgW="6096000" imgH="4673600" progId="Word.Document.8">
                  <p:embed/>
                </p:oleObj>
              </mc:Choice>
              <mc:Fallback>
                <p:oleObj name="Document" r:id="rId4" imgW="6096000" imgH="4673600" progId="Word.Document.8">
                  <p:embed/>
                  <p:pic>
                    <p:nvPicPr>
                      <p:cNvPr id="53251" name="Object 4">
                        <a:extLst>
                          <a:ext uri="{FF2B5EF4-FFF2-40B4-BE49-F238E27FC236}">
                            <a16:creationId xmlns:a16="http://schemas.microsoft.com/office/drawing/2014/main" id="{7A249136-D34E-AE9D-8611-F1D089FF31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1400" y="762000"/>
                        <a:ext cx="6926263" cy="5316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57B2065-E309-000F-886C-2D6C92BEA381}"/>
              </a:ext>
            </a:extLst>
          </p:cNvPr>
          <p:cNvSpPr>
            <a:spLocks noGrp="1" noChangeArrowheads="1"/>
          </p:cNvSpPr>
          <p:nvPr>
            <p:ph type="title"/>
          </p:nvPr>
        </p:nvSpPr>
        <p:spPr>
          <a:xfrm>
            <a:off x="457200" y="-152400"/>
            <a:ext cx="8229600" cy="1143000"/>
          </a:xfrm>
        </p:spPr>
        <p:txBody>
          <a:bodyPr/>
          <a:lstStyle/>
          <a:p>
            <a:r>
              <a:rPr lang="en-US" altLang="en-US" dirty="0"/>
              <a:t>Determine Resultant Risk</a:t>
            </a:r>
          </a:p>
        </p:txBody>
      </p:sp>
      <p:grpSp>
        <p:nvGrpSpPr>
          <p:cNvPr id="55299" name="Group 6">
            <a:extLst>
              <a:ext uri="{FF2B5EF4-FFF2-40B4-BE49-F238E27FC236}">
                <a16:creationId xmlns:a16="http://schemas.microsoft.com/office/drawing/2014/main" id="{B4DE310F-DF85-06CE-3550-4F76E4E46ACD}"/>
              </a:ext>
            </a:extLst>
          </p:cNvPr>
          <p:cNvGrpSpPr>
            <a:grpSpLocks noChangeAspect="1"/>
          </p:cNvGrpSpPr>
          <p:nvPr/>
        </p:nvGrpSpPr>
        <p:grpSpPr bwMode="auto">
          <a:xfrm>
            <a:off x="620713" y="476251"/>
            <a:ext cx="7227887" cy="5314800"/>
            <a:chOff x="295" y="470"/>
            <a:chExt cx="4802" cy="3531"/>
          </a:xfrm>
        </p:grpSpPr>
        <p:sp>
          <p:nvSpPr>
            <p:cNvPr id="55300" name="AutoShape 5">
              <a:extLst>
                <a:ext uri="{FF2B5EF4-FFF2-40B4-BE49-F238E27FC236}">
                  <a16:creationId xmlns:a16="http://schemas.microsoft.com/office/drawing/2014/main" id="{29187D06-9771-55FC-023D-9ADBBD8F9437}"/>
                </a:ext>
              </a:extLst>
            </p:cNvPr>
            <p:cNvSpPr>
              <a:spLocks noChangeAspect="1" noChangeArrowheads="1" noTextEdit="1"/>
            </p:cNvSpPr>
            <p:nvPr/>
          </p:nvSpPr>
          <p:spPr bwMode="auto">
            <a:xfrm>
              <a:off x="403" y="482"/>
              <a:ext cx="4694" cy="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grpSp>
          <p:nvGrpSpPr>
            <p:cNvPr id="55301" name="Group 207">
              <a:extLst>
                <a:ext uri="{FF2B5EF4-FFF2-40B4-BE49-F238E27FC236}">
                  <a16:creationId xmlns:a16="http://schemas.microsoft.com/office/drawing/2014/main" id="{DCAD9B66-7F73-1C44-7640-3DA99B8C84B8}"/>
                </a:ext>
              </a:extLst>
            </p:cNvPr>
            <p:cNvGrpSpPr>
              <a:grpSpLocks/>
            </p:cNvGrpSpPr>
            <p:nvPr/>
          </p:nvGrpSpPr>
          <p:grpSpPr bwMode="auto">
            <a:xfrm>
              <a:off x="295" y="470"/>
              <a:ext cx="4793" cy="825"/>
              <a:chOff x="295" y="470"/>
              <a:chExt cx="4793" cy="825"/>
            </a:xfrm>
          </p:grpSpPr>
          <p:sp>
            <p:nvSpPr>
              <p:cNvPr id="55931" name="Rectangle 7">
                <a:extLst>
                  <a:ext uri="{FF2B5EF4-FFF2-40B4-BE49-F238E27FC236}">
                    <a16:creationId xmlns:a16="http://schemas.microsoft.com/office/drawing/2014/main" id="{FC964065-AF0C-49EB-35EF-530BB9BC011E}"/>
                  </a:ext>
                </a:extLst>
              </p:cNvPr>
              <p:cNvSpPr>
                <a:spLocks noChangeArrowheads="1"/>
              </p:cNvSpPr>
              <p:nvPr/>
            </p:nvSpPr>
            <p:spPr bwMode="auto">
              <a:xfrm>
                <a:off x="349" y="47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932" name="Rectangle 8">
                <a:extLst>
                  <a:ext uri="{FF2B5EF4-FFF2-40B4-BE49-F238E27FC236}">
                    <a16:creationId xmlns:a16="http://schemas.microsoft.com/office/drawing/2014/main" id="{EEAB70BE-DF0F-CE1B-BC92-C22EF1B8AD11}"/>
                  </a:ext>
                </a:extLst>
              </p:cNvPr>
              <p:cNvSpPr>
                <a:spLocks noChangeArrowheads="1"/>
              </p:cNvSpPr>
              <p:nvPr/>
            </p:nvSpPr>
            <p:spPr bwMode="auto">
              <a:xfrm>
                <a:off x="300"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3" name="Rectangle 9">
                <a:extLst>
                  <a:ext uri="{FF2B5EF4-FFF2-40B4-BE49-F238E27FC236}">
                    <a16:creationId xmlns:a16="http://schemas.microsoft.com/office/drawing/2014/main" id="{F46ED8A2-D4A1-F16E-47BB-03FBD71E2086}"/>
                  </a:ext>
                </a:extLst>
              </p:cNvPr>
              <p:cNvSpPr>
                <a:spLocks noChangeArrowheads="1"/>
              </p:cNvSpPr>
              <p:nvPr/>
            </p:nvSpPr>
            <p:spPr bwMode="auto">
              <a:xfrm>
                <a:off x="907"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4" name="Rectangle 10">
                <a:extLst>
                  <a:ext uri="{FF2B5EF4-FFF2-40B4-BE49-F238E27FC236}">
                    <a16:creationId xmlns:a16="http://schemas.microsoft.com/office/drawing/2014/main" id="{6421674B-7189-A968-8EB6-411F076AB739}"/>
                  </a:ext>
                </a:extLst>
              </p:cNvPr>
              <p:cNvSpPr>
                <a:spLocks noChangeArrowheads="1"/>
              </p:cNvSpPr>
              <p:nvPr/>
            </p:nvSpPr>
            <p:spPr bwMode="auto">
              <a:xfrm>
                <a:off x="349" y="620"/>
                <a:ext cx="558"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5" name="Rectangle 11">
                <a:extLst>
                  <a:ext uri="{FF2B5EF4-FFF2-40B4-BE49-F238E27FC236}">
                    <a16:creationId xmlns:a16="http://schemas.microsoft.com/office/drawing/2014/main" id="{B67E6004-1C58-99DA-6510-BEA2132504A2}"/>
                  </a:ext>
                </a:extLst>
              </p:cNvPr>
              <p:cNvSpPr>
                <a:spLocks noChangeArrowheads="1"/>
              </p:cNvSpPr>
              <p:nvPr/>
            </p:nvSpPr>
            <p:spPr bwMode="auto">
              <a:xfrm>
                <a:off x="349" y="60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936" name="Rectangle 12">
                <a:extLst>
                  <a:ext uri="{FF2B5EF4-FFF2-40B4-BE49-F238E27FC236}">
                    <a16:creationId xmlns:a16="http://schemas.microsoft.com/office/drawing/2014/main" id="{5D086F82-CFCB-DB1B-2A70-2A14281A8BDA}"/>
                  </a:ext>
                </a:extLst>
              </p:cNvPr>
              <p:cNvSpPr>
                <a:spLocks noChangeArrowheads="1"/>
              </p:cNvSpPr>
              <p:nvPr/>
            </p:nvSpPr>
            <p:spPr bwMode="auto">
              <a:xfrm>
                <a:off x="961"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7" name="Rectangle 13">
                <a:extLst>
                  <a:ext uri="{FF2B5EF4-FFF2-40B4-BE49-F238E27FC236}">
                    <a16:creationId xmlns:a16="http://schemas.microsoft.com/office/drawing/2014/main" id="{CCA9F6E9-235B-ADE0-7DD0-CA16692B7317}"/>
                  </a:ext>
                </a:extLst>
              </p:cNvPr>
              <p:cNvSpPr>
                <a:spLocks noChangeArrowheads="1"/>
              </p:cNvSpPr>
              <p:nvPr/>
            </p:nvSpPr>
            <p:spPr bwMode="auto">
              <a:xfrm>
                <a:off x="5034" y="620"/>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8" name="Rectangle 14">
                <a:extLst>
                  <a:ext uri="{FF2B5EF4-FFF2-40B4-BE49-F238E27FC236}">
                    <a16:creationId xmlns:a16="http://schemas.microsoft.com/office/drawing/2014/main" id="{DF8E583D-B2D1-D5F6-CCA6-DD71CA8F079B}"/>
                  </a:ext>
                </a:extLst>
              </p:cNvPr>
              <p:cNvSpPr>
                <a:spLocks noChangeArrowheads="1"/>
              </p:cNvSpPr>
              <p:nvPr/>
            </p:nvSpPr>
            <p:spPr bwMode="auto">
              <a:xfrm>
                <a:off x="1010" y="620"/>
                <a:ext cx="4024"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9" name="Rectangle 15">
                <a:extLst>
                  <a:ext uri="{FF2B5EF4-FFF2-40B4-BE49-F238E27FC236}">
                    <a16:creationId xmlns:a16="http://schemas.microsoft.com/office/drawing/2014/main" id="{D16D9159-BF59-F2CB-14CF-7878B79BBAE1}"/>
                  </a:ext>
                </a:extLst>
              </p:cNvPr>
              <p:cNvSpPr>
                <a:spLocks noChangeArrowheads="1"/>
              </p:cNvSpPr>
              <p:nvPr/>
            </p:nvSpPr>
            <p:spPr bwMode="auto">
              <a:xfrm>
                <a:off x="1010" y="608"/>
                <a:ext cx="74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Consequences</a:t>
                </a:r>
                <a:endParaRPr lang="en-US" altLang="en-US"/>
              </a:p>
            </p:txBody>
          </p:sp>
          <p:sp>
            <p:nvSpPr>
              <p:cNvPr id="55940" name="Rectangle 16">
                <a:extLst>
                  <a:ext uri="{FF2B5EF4-FFF2-40B4-BE49-F238E27FC236}">
                    <a16:creationId xmlns:a16="http://schemas.microsoft.com/office/drawing/2014/main" id="{0D605FAA-0867-AB96-5C20-F5407C67314E}"/>
                  </a:ext>
                </a:extLst>
              </p:cNvPr>
              <p:cNvSpPr>
                <a:spLocks noChangeArrowheads="1"/>
              </p:cNvSpPr>
              <p:nvPr/>
            </p:nvSpPr>
            <p:spPr bwMode="auto">
              <a:xfrm>
                <a:off x="1768" y="60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41" name="Rectangle 17">
                <a:extLst>
                  <a:ext uri="{FF2B5EF4-FFF2-40B4-BE49-F238E27FC236}">
                    <a16:creationId xmlns:a16="http://schemas.microsoft.com/office/drawing/2014/main" id="{D6C2875A-C2A8-402D-0823-EF9E092DD055}"/>
                  </a:ext>
                </a:extLst>
              </p:cNvPr>
              <p:cNvSpPr>
                <a:spLocks noChangeArrowheads="1"/>
              </p:cNvSpPr>
              <p:nvPr/>
            </p:nvSpPr>
            <p:spPr bwMode="auto">
              <a:xfrm>
                <a:off x="295"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42" name="Line 18">
                <a:extLst>
                  <a:ext uri="{FF2B5EF4-FFF2-40B4-BE49-F238E27FC236}">
                    <a16:creationId xmlns:a16="http://schemas.microsoft.com/office/drawing/2014/main" id="{4AADE670-4060-4639-9160-085110197BB5}"/>
                  </a:ext>
                </a:extLst>
              </p:cNvPr>
              <p:cNvSpPr>
                <a:spLocks noChangeShapeType="1"/>
              </p:cNvSpPr>
              <p:nvPr/>
            </p:nvSpPr>
            <p:spPr bwMode="auto">
              <a:xfrm>
                <a:off x="295"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3" name="Line 19">
                <a:extLst>
                  <a:ext uri="{FF2B5EF4-FFF2-40B4-BE49-F238E27FC236}">
                    <a16:creationId xmlns:a16="http://schemas.microsoft.com/office/drawing/2014/main" id="{FED45356-0BBE-BBBD-B3DD-5D471BE367A7}"/>
                  </a:ext>
                </a:extLst>
              </p:cNvPr>
              <p:cNvSpPr>
                <a:spLocks noChangeShapeType="1"/>
              </p:cNvSpPr>
              <p:nvPr/>
            </p:nvSpPr>
            <p:spPr bwMode="auto">
              <a:xfrm>
                <a:off x="295"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4" name="Rectangle 20">
                <a:extLst>
                  <a:ext uri="{FF2B5EF4-FFF2-40B4-BE49-F238E27FC236}">
                    <a16:creationId xmlns:a16="http://schemas.microsoft.com/office/drawing/2014/main" id="{8DF55221-C665-F159-9A70-D76BCC4906D2}"/>
                  </a:ext>
                </a:extLst>
              </p:cNvPr>
              <p:cNvSpPr>
                <a:spLocks noChangeArrowheads="1"/>
              </p:cNvSpPr>
              <p:nvPr/>
            </p:nvSpPr>
            <p:spPr bwMode="auto">
              <a:xfrm>
                <a:off x="295"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45" name="Line 21">
                <a:extLst>
                  <a:ext uri="{FF2B5EF4-FFF2-40B4-BE49-F238E27FC236}">
                    <a16:creationId xmlns:a16="http://schemas.microsoft.com/office/drawing/2014/main" id="{CB07649D-CFBA-E7D9-F363-A287C403BAB3}"/>
                  </a:ext>
                </a:extLst>
              </p:cNvPr>
              <p:cNvSpPr>
                <a:spLocks noChangeShapeType="1"/>
              </p:cNvSpPr>
              <p:nvPr/>
            </p:nvSpPr>
            <p:spPr bwMode="auto">
              <a:xfrm>
                <a:off x="295"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6" name="Line 22">
                <a:extLst>
                  <a:ext uri="{FF2B5EF4-FFF2-40B4-BE49-F238E27FC236}">
                    <a16:creationId xmlns:a16="http://schemas.microsoft.com/office/drawing/2014/main" id="{56735A8E-65C4-4D26-DDF9-6E2F13B684A3}"/>
                  </a:ext>
                </a:extLst>
              </p:cNvPr>
              <p:cNvSpPr>
                <a:spLocks noChangeShapeType="1"/>
              </p:cNvSpPr>
              <p:nvPr/>
            </p:nvSpPr>
            <p:spPr bwMode="auto">
              <a:xfrm>
                <a:off x="295"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7" name="Rectangle 23">
                <a:extLst>
                  <a:ext uri="{FF2B5EF4-FFF2-40B4-BE49-F238E27FC236}">
                    <a16:creationId xmlns:a16="http://schemas.microsoft.com/office/drawing/2014/main" id="{B6456769-0B2F-56A9-42FB-3E88C3F15E43}"/>
                  </a:ext>
                </a:extLst>
              </p:cNvPr>
              <p:cNvSpPr>
                <a:spLocks noChangeArrowheads="1"/>
              </p:cNvSpPr>
              <p:nvPr/>
            </p:nvSpPr>
            <p:spPr bwMode="auto">
              <a:xfrm>
                <a:off x="300" y="615"/>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48" name="Line 24">
                <a:extLst>
                  <a:ext uri="{FF2B5EF4-FFF2-40B4-BE49-F238E27FC236}">
                    <a16:creationId xmlns:a16="http://schemas.microsoft.com/office/drawing/2014/main" id="{9646EDBD-5FE6-E589-E8BA-AE2DF1EFA9A9}"/>
                  </a:ext>
                </a:extLst>
              </p:cNvPr>
              <p:cNvSpPr>
                <a:spLocks noChangeShapeType="1"/>
              </p:cNvSpPr>
              <p:nvPr/>
            </p:nvSpPr>
            <p:spPr bwMode="auto">
              <a:xfrm>
                <a:off x="300" y="615"/>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49" name="Rectangle 25">
                <a:extLst>
                  <a:ext uri="{FF2B5EF4-FFF2-40B4-BE49-F238E27FC236}">
                    <a16:creationId xmlns:a16="http://schemas.microsoft.com/office/drawing/2014/main" id="{0BCE7A1A-37F9-36A0-C5D7-D165DBA8A51F}"/>
                  </a:ext>
                </a:extLst>
              </p:cNvPr>
              <p:cNvSpPr>
                <a:spLocks noChangeArrowheads="1"/>
              </p:cNvSpPr>
              <p:nvPr/>
            </p:nvSpPr>
            <p:spPr bwMode="auto">
              <a:xfrm>
                <a:off x="956"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0" name="Line 26">
                <a:extLst>
                  <a:ext uri="{FF2B5EF4-FFF2-40B4-BE49-F238E27FC236}">
                    <a16:creationId xmlns:a16="http://schemas.microsoft.com/office/drawing/2014/main" id="{E31CA8B3-DF0E-8122-CB57-7D4A821F978A}"/>
                  </a:ext>
                </a:extLst>
              </p:cNvPr>
              <p:cNvSpPr>
                <a:spLocks noChangeShapeType="1"/>
              </p:cNvSpPr>
              <p:nvPr/>
            </p:nvSpPr>
            <p:spPr bwMode="auto">
              <a:xfrm>
                <a:off x="956"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1" name="Line 27">
                <a:extLst>
                  <a:ext uri="{FF2B5EF4-FFF2-40B4-BE49-F238E27FC236}">
                    <a16:creationId xmlns:a16="http://schemas.microsoft.com/office/drawing/2014/main" id="{A5646C56-0708-29F8-F7E1-BAF825FEFA88}"/>
                  </a:ext>
                </a:extLst>
              </p:cNvPr>
              <p:cNvSpPr>
                <a:spLocks noChangeShapeType="1"/>
              </p:cNvSpPr>
              <p:nvPr/>
            </p:nvSpPr>
            <p:spPr bwMode="auto">
              <a:xfrm>
                <a:off x="956"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2" name="Rectangle 28">
                <a:extLst>
                  <a:ext uri="{FF2B5EF4-FFF2-40B4-BE49-F238E27FC236}">
                    <a16:creationId xmlns:a16="http://schemas.microsoft.com/office/drawing/2014/main" id="{0E85BBCF-EFCE-5DDD-09A6-B1F68EF5106F}"/>
                  </a:ext>
                </a:extLst>
              </p:cNvPr>
              <p:cNvSpPr>
                <a:spLocks noChangeArrowheads="1"/>
              </p:cNvSpPr>
              <p:nvPr/>
            </p:nvSpPr>
            <p:spPr bwMode="auto">
              <a:xfrm>
                <a:off x="961" y="615"/>
                <a:ext cx="412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3" name="Line 29">
                <a:extLst>
                  <a:ext uri="{FF2B5EF4-FFF2-40B4-BE49-F238E27FC236}">
                    <a16:creationId xmlns:a16="http://schemas.microsoft.com/office/drawing/2014/main" id="{89C6EA76-DE26-FF9C-FE7F-3E2BCDF52B58}"/>
                  </a:ext>
                </a:extLst>
              </p:cNvPr>
              <p:cNvSpPr>
                <a:spLocks noChangeShapeType="1"/>
              </p:cNvSpPr>
              <p:nvPr/>
            </p:nvSpPr>
            <p:spPr bwMode="auto">
              <a:xfrm>
                <a:off x="961" y="615"/>
                <a:ext cx="412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4" name="Rectangle 30">
                <a:extLst>
                  <a:ext uri="{FF2B5EF4-FFF2-40B4-BE49-F238E27FC236}">
                    <a16:creationId xmlns:a16="http://schemas.microsoft.com/office/drawing/2014/main" id="{2769E69A-15BE-55BA-E5E6-55030F83D0C2}"/>
                  </a:ext>
                </a:extLst>
              </p:cNvPr>
              <p:cNvSpPr>
                <a:spLocks noChangeArrowheads="1"/>
              </p:cNvSpPr>
              <p:nvPr/>
            </p:nvSpPr>
            <p:spPr bwMode="auto">
              <a:xfrm>
                <a:off x="5083"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5" name="Line 31">
                <a:extLst>
                  <a:ext uri="{FF2B5EF4-FFF2-40B4-BE49-F238E27FC236}">
                    <a16:creationId xmlns:a16="http://schemas.microsoft.com/office/drawing/2014/main" id="{DE2AE806-9F9B-F046-F1F8-1ACF5DF5C62B}"/>
                  </a:ext>
                </a:extLst>
              </p:cNvPr>
              <p:cNvSpPr>
                <a:spLocks noChangeShapeType="1"/>
              </p:cNvSpPr>
              <p:nvPr/>
            </p:nvSpPr>
            <p:spPr bwMode="auto">
              <a:xfrm>
                <a:off x="5083"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6" name="Line 32">
                <a:extLst>
                  <a:ext uri="{FF2B5EF4-FFF2-40B4-BE49-F238E27FC236}">
                    <a16:creationId xmlns:a16="http://schemas.microsoft.com/office/drawing/2014/main" id="{49AD7BD7-BD7F-D22E-F0E4-2CDE8908A5FD}"/>
                  </a:ext>
                </a:extLst>
              </p:cNvPr>
              <p:cNvSpPr>
                <a:spLocks noChangeShapeType="1"/>
              </p:cNvSpPr>
              <p:nvPr/>
            </p:nvSpPr>
            <p:spPr bwMode="auto">
              <a:xfrm>
                <a:off x="5083"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7" name="Rectangle 33">
                <a:extLst>
                  <a:ext uri="{FF2B5EF4-FFF2-40B4-BE49-F238E27FC236}">
                    <a16:creationId xmlns:a16="http://schemas.microsoft.com/office/drawing/2014/main" id="{4CE01F57-4C70-FE8A-7717-9C568D9D3B58}"/>
                  </a:ext>
                </a:extLst>
              </p:cNvPr>
              <p:cNvSpPr>
                <a:spLocks noChangeArrowheads="1"/>
              </p:cNvSpPr>
              <p:nvPr/>
            </p:nvSpPr>
            <p:spPr bwMode="auto">
              <a:xfrm>
                <a:off x="5083" y="61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58" name="Line 34">
                <a:extLst>
                  <a:ext uri="{FF2B5EF4-FFF2-40B4-BE49-F238E27FC236}">
                    <a16:creationId xmlns:a16="http://schemas.microsoft.com/office/drawing/2014/main" id="{AC663090-9896-C112-463C-70D52C07AE49}"/>
                  </a:ext>
                </a:extLst>
              </p:cNvPr>
              <p:cNvSpPr>
                <a:spLocks noChangeShapeType="1"/>
              </p:cNvSpPr>
              <p:nvPr/>
            </p:nvSpPr>
            <p:spPr bwMode="auto">
              <a:xfrm>
                <a:off x="5083" y="61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59" name="Line 35">
                <a:extLst>
                  <a:ext uri="{FF2B5EF4-FFF2-40B4-BE49-F238E27FC236}">
                    <a16:creationId xmlns:a16="http://schemas.microsoft.com/office/drawing/2014/main" id="{D728094A-1D0D-4ED5-DA23-5D6C57D53C0B}"/>
                  </a:ext>
                </a:extLst>
              </p:cNvPr>
              <p:cNvSpPr>
                <a:spLocks noChangeShapeType="1"/>
              </p:cNvSpPr>
              <p:nvPr/>
            </p:nvSpPr>
            <p:spPr bwMode="auto">
              <a:xfrm>
                <a:off x="5083" y="61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0" name="Rectangle 36">
                <a:extLst>
                  <a:ext uri="{FF2B5EF4-FFF2-40B4-BE49-F238E27FC236}">
                    <a16:creationId xmlns:a16="http://schemas.microsoft.com/office/drawing/2014/main" id="{F59575F0-09A0-32ED-1748-F9ECD4A4375E}"/>
                  </a:ext>
                </a:extLst>
              </p:cNvPr>
              <p:cNvSpPr>
                <a:spLocks noChangeArrowheads="1"/>
              </p:cNvSpPr>
              <p:nvPr/>
            </p:nvSpPr>
            <p:spPr bwMode="auto">
              <a:xfrm>
                <a:off x="295" y="62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1" name="Line 37">
                <a:extLst>
                  <a:ext uri="{FF2B5EF4-FFF2-40B4-BE49-F238E27FC236}">
                    <a16:creationId xmlns:a16="http://schemas.microsoft.com/office/drawing/2014/main" id="{ED622C06-EAB6-D29A-A6A1-0F8B9C26336F}"/>
                  </a:ext>
                </a:extLst>
              </p:cNvPr>
              <p:cNvSpPr>
                <a:spLocks noChangeShapeType="1"/>
              </p:cNvSpPr>
              <p:nvPr/>
            </p:nvSpPr>
            <p:spPr bwMode="auto">
              <a:xfrm>
                <a:off x="295" y="62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2" name="Rectangle 38">
                <a:extLst>
                  <a:ext uri="{FF2B5EF4-FFF2-40B4-BE49-F238E27FC236}">
                    <a16:creationId xmlns:a16="http://schemas.microsoft.com/office/drawing/2014/main" id="{CE8D5BD1-3BFA-B54F-C160-243132FC33F8}"/>
                  </a:ext>
                </a:extLst>
              </p:cNvPr>
              <p:cNvSpPr>
                <a:spLocks noChangeArrowheads="1"/>
              </p:cNvSpPr>
              <p:nvPr/>
            </p:nvSpPr>
            <p:spPr bwMode="auto">
              <a:xfrm>
                <a:off x="956" y="62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3" name="Line 39">
                <a:extLst>
                  <a:ext uri="{FF2B5EF4-FFF2-40B4-BE49-F238E27FC236}">
                    <a16:creationId xmlns:a16="http://schemas.microsoft.com/office/drawing/2014/main" id="{FC9ECE4B-A790-C388-CA20-0AF2179941FE}"/>
                  </a:ext>
                </a:extLst>
              </p:cNvPr>
              <p:cNvSpPr>
                <a:spLocks noChangeShapeType="1"/>
              </p:cNvSpPr>
              <p:nvPr/>
            </p:nvSpPr>
            <p:spPr bwMode="auto">
              <a:xfrm>
                <a:off x="956" y="62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4" name="Rectangle 40">
                <a:extLst>
                  <a:ext uri="{FF2B5EF4-FFF2-40B4-BE49-F238E27FC236}">
                    <a16:creationId xmlns:a16="http://schemas.microsoft.com/office/drawing/2014/main" id="{D6E31509-F355-DDEB-7118-C9B6976FEB70}"/>
                  </a:ext>
                </a:extLst>
              </p:cNvPr>
              <p:cNvSpPr>
                <a:spLocks noChangeArrowheads="1"/>
              </p:cNvSpPr>
              <p:nvPr/>
            </p:nvSpPr>
            <p:spPr bwMode="auto">
              <a:xfrm>
                <a:off x="5083" y="62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5" name="Line 41">
                <a:extLst>
                  <a:ext uri="{FF2B5EF4-FFF2-40B4-BE49-F238E27FC236}">
                    <a16:creationId xmlns:a16="http://schemas.microsoft.com/office/drawing/2014/main" id="{C3D8B888-E2C4-DF28-DE30-95843C2299CB}"/>
                  </a:ext>
                </a:extLst>
              </p:cNvPr>
              <p:cNvSpPr>
                <a:spLocks noChangeShapeType="1"/>
              </p:cNvSpPr>
              <p:nvPr/>
            </p:nvSpPr>
            <p:spPr bwMode="auto">
              <a:xfrm>
                <a:off x="5083" y="62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66" name="Rectangle 42">
                <a:extLst>
                  <a:ext uri="{FF2B5EF4-FFF2-40B4-BE49-F238E27FC236}">
                    <a16:creationId xmlns:a16="http://schemas.microsoft.com/office/drawing/2014/main" id="{11062DD8-E99F-8FD5-36B0-52C8B3C66EA9}"/>
                  </a:ext>
                </a:extLst>
              </p:cNvPr>
              <p:cNvSpPr>
                <a:spLocks noChangeArrowheads="1"/>
              </p:cNvSpPr>
              <p:nvPr/>
            </p:nvSpPr>
            <p:spPr bwMode="auto">
              <a:xfrm>
                <a:off x="300" y="757"/>
                <a:ext cx="49"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7" name="Rectangle 43">
                <a:extLst>
                  <a:ext uri="{FF2B5EF4-FFF2-40B4-BE49-F238E27FC236}">
                    <a16:creationId xmlns:a16="http://schemas.microsoft.com/office/drawing/2014/main" id="{4DE00F11-4F4A-BD66-A648-B8C261D122D3}"/>
                  </a:ext>
                </a:extLst>
              </p:cNvPr>
              <p:cNvSpPr>
                <a:spLocks noChangeArrowheads="1"/>
              </p:cNvSpPr>
              <p:nvPr/>
            </p:nvSpPr>
            <p:spPr bwMode="auto">
              <a:xfrm>
                <a:off x="907" y="757"/>
                <a:ext cx="49"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8" name="Rectangle 44">
                <a:extLst>
                  <a:ext uri="{FF2B5EF4-FFF2-40B4-BE49-F238E27FC236}">
                    <a16:creationId xmlns:a16="http://schemas.microsoft.com/office/drawing/2014/main" id="{6A16CFDB-620C-66EB-88DC-E8A35CA601AC}"/>
                  </a:ext>
                </a:extLst>
              </p:cNvPr>
              <p:cNvSpPr>
                <a:spLocks noChangeArrowheads="1"/>
              </p:cNvSpPr>
              <p:nvPr/>
            </p:nvSpPr>
            <p:spPr bwMode="auto">
              <a:xfrm>
                <a:off x="349" y="757"/>
                <a:ext cx="558"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69" name="Rectangle 45">
                <a:extLst>
                  <a:ext uri="{FF2B5EF4-FFF2-40B4-BE49-F238E27FC236}">
                    <a16:creationId xmlns:a16="http://schemas.microsoft.com/office/drawing/2014/main" id="{D4F41570-DCE0-1FDD-F42E-82943B9D584C}"/>
                  </a:ext>
                </a:extLst>
              </p:cNvPr>
              <p:cNvSpPr>
                <a:spLocks noChangeArrowheads="1"/>
              </p:cNvSpPr>
              <p:nvPr/>
            </p:nvSpPr>
            <p:spPr bwMode="auto">
              <a:xfrm>
                <a:off x="349" y="745"/>
                <a:ext cx="46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200" b="1">
                    <a:solidFill>
                      <a:srgbClr val="000000"/>
                    </a:solidFill>
                    <a:latin typeface="Trebuchet MS" panose="020B0703020202090204" pitchFamily="34" charset="0"/>
                  </a:rPr>
                  <a:t>Likelihood</a:t>
                </a:r>
                <a:endParaRPr lang="en-US" altLang="en-US" sz="1200"/>
              </a:p>
            </p:txBody>
          </p:sp>
          <p:sp>
            <p:nvSpPr>
              <p:cNvPr id="55970" name="Rectangle 46">
                <a:extLst>
                  <a:ext uri="{FF2B5EF4-FFF2-40B4-BE49-F238E27FC236}">
                    <a16:creationId xmlns:a16="http://schemas.microsoft.com/office/drawing/2014/main" id="{5ED4F9A2-037F-4B01-61A4-516268DD5B01}"/>
                  </a:ext>
                </a:extLst>
              </p:cNvPr>
              <p:cNvSpPr>
                <a:spLocks noChangeArrowheads="1"/>
              </p:cNvSpPr>
              <p:nvPr/>
            </p:nvSpPr>
            <p:spPr bwMode="auto">
              <a:xfrm>
                <a:off x="349" y="892"/>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1" name="Rectangle 47">
                <a:extLst>
                  <a:ext uri="{FF2B5EF4-FFF2-40B4-BE49-F238E27FC236}">
                    <a16:creationId xmlns:a16="http://schemas.microsoft.com/office/drawing/2014/main" id="{24E14AE5-82A4-234C-ACA9-B4841BA249AB}"/>
                  </a:ext>
                </a:extLst>
              </p:cNvPr>
              <p:cNvSpPr>
                <a:spLocks noChangeArrowheads="1"/>
              </p:cNvSpPr>
              <p:nvPr/>
            </p:nvSpPr>
            <p:spPr bwMode="auto">
              <a:xfrm>
                <a:off x="349" y="880"/>
                <a:ext cx="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2" name="Rectangle 48">
                <a:extLst>
                  <a:ext uri="{FF2B5EF4-FFF2-40B4-BE49-F238E27FC236}">
                    <a16:creationId xmlns:a16="http://schemas.microsoft.com/office/drawing/2014/main" id="{78CDF1F3-EB8C-723E-A27C-094FC89FD231}"/>
                  </a:ext>
                </a:extLst>
              </p:cNvPr>
              <p:cNvSpPr>
                <a:spLocks noChangeArrowheads="1"/>
              </p:cNvSpPr>
              <p:nvPr/>
            </p:nvSpPr>
            <p:spPr bwMode="auto">
              <a:xfrm>
                <a:off x="415" y="88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73" name="Rectangle 49">
                <a:extLst>
                  <a:ext uri="{FF2B5EF4-FFF2-40B4-BE49-F238E27FC236}">
                    <a16:creationId xmlns:a16="http://schemas.microsoft.com/office/drawing/2014/main" id="{E5CF74DA-B00A-AE64-C27D-8B4E8CD61482}"/>
                  </a:ext>
                </a:extLst>
              </p:cNvPr>
              <p:cNvSpPr>
                <a:spLocks noChangeArrowheads="1"/>
              </p:cNvSpPr>
              <p:nvPr/>
            </p:nvSpPr>
            <p:spPr bwMode="auto">
              <a:xfrm>
                <a:off x="961"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4" name="Rectangle 50">
                <a:extLst>
                  <a:ext uri="{FF2B5EF4-FFF2-40B4-BE49-F238E27FC236}">
                    <a16:creationId xmlns:a16="http://schemas.microsoft.com/office/drawing/2014/main" id="{C821506B-4F1D-82F8-E664-7C6C23777CF3}"/>
                  </a:ext>
                </a:extLst>
              </p:cNvPr>
              <p:cNvSpPr>
                <a:spLocks noChangeArrowheads="1"/>
              </p:cNvSpPr>
              <p:nvPr/>
            </p:nvSpPr>
            <p:spPr bwMode="auto">
              <a:xfrm>
                <a:off x="1584"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5" name="Rectangle 51">
                <a:extLst>
                  <a:ext uri="{FF2B5EF4-FFF2-40B4-BE49-F238E27FC236}">
                    <a16:creationId xmlns:a16="http://schemas.microsoft.com/office/drawing/2014/main" id="{BA478F30-1C18-5212-A6EB-CCF2A2F650AA}"/>
                  </a:ext>
                </a:extLst>
              </p:cNvPr>
              <p:cNvSpPr>
                <a:spLocks noChangeArrowheads="1"/>
              </p:cNvSpPr>
              <p:nvPr/>
            </p:nvSpPr>
            <p:spPr bwMode="auto">
              <a:xfrm>
                <a:off x="961" y="892"/>
                <a:ext cx="672"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6" name="Rectangle 52">
                <a:extLst>
                  <a:ext uri="{FF2B5EF4-FFF2-40B4-BE49-F238E27FC236}">
                    <a16:creationId xmlns:a16="http://schemas.microsoft.com/office/drawing/2014/main" id="{424CA600-9BD5-15DE-9AA6-F8A32E8FBFAC}"/>
                  </a:ext>
                </a:extLst>
              </p:cNvPr>
              <p:cNvSpPr>
                <a:spLocks noChangeArrowheads="1"/>
              </p:cNvSpPr>
              <p:nvPr/>
            </p:nvSpPr>
            <p:spPr bwMode="auto">
              <a:xfrm>
                <a:off x="1010" y="757"/>
                <a:ext cx="574"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77" name="Rectangle 53">
                <a:extLst>
                  <a:ext uri="{FF2B5EF4-FFF2-40B4-BE49-F238E27FC236}">
                    <a16:creationId xmlns:a16="http://schemas.microsoft.com/office/drawing/2014/main" id="{3F19CE68-1A0E-190E-BFB9-C00251E4B5FF}"/>
                  </a:ext>
                </a:extLst>
              </p:cNvPr>
              <p:cNvSpPr>
                <a:spLocks noChangeArrowheads="1"/>
              </p:cNvSpPr>
              <p:nvPr/>
            </p:nvSpPr>
            <p:spPr bwMode="auto">
              <a:xfrm>
                <a:off x="1010" y="745"/>
                <a:ext cx="52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Doomsday</a:t>
                </a:r>
                <a:endParaRPr lang="en-US" altLang="en-US"/>
              </a:p>
            </p:txBody>
          </p:sp>
          <p:sp>
            <p:nvSpPr>
              <p:cNvPr id="55978" name="Rectangle 54">
                <a:extLst>
                  <a:ext uri="{FF2B5EF4-FFF2-40B4-BE49-F238E27FC236}">
                    <a16:creationId xmlns:a16="http://schemas.microsoft.com/office/drawing/2014/main" id="{136E203E-BACB-E8FE-0A71-4053C6E80107}"/>
                  </a:ext>
                </a:extLst>
              </p:cNvPr>
              <p:cNvSpPr>
                <a:spLocks noChangeArrowheads="1"/>
              </p:cNvSpPr>
              <p:nvPr/>
            </p:nvSpPr>
            <p:spPr bwMode="auto">
              <a:xfrm>
                <a:off x="1549"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79" name="Rectangle 55">
                <a:extLst>
                  <a:ext uri="{FF2B5EF4-FFF2-40B4-BE49-F238E27FC236}">
                    <a16:creationId xmlns:a16="http://schemas.microsoft.com/office/drawing/2014/main" id="{85E50168-E496-C4E7-AE04-C87A4E92277E}"/>
                  </a:ext>
                </a:extLst>
              </p:cNvPr>
              <p:cNvSpPr>
                <a:spLocks noChangeArrowheads="1"/>
              </p:cNvSpPr>
              <p:nvPr/>
            </p:nvSpPr>
            <p:spPr bwMode="auto">
              <a:xfrm>
                <a:off x="1637" y="757"/>
                <a:ext cx="50"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0" name="Rectangle 56">
                <a:extLst>
                  <a:ext uri="{FF2B5EF4-FFF2-40B4-BE49-F238E27FC236}">
                    <a16:creationId xmlns:a16="http://schemas.microsoft.com/office/drawing/2014/main" id="{3FD78169-158B-7E73-A9C3-393C7815AB6C}"/>
                  </a:ext>
                </a:extLst>
              </p:cNvPr>
              <p:cNvSpPr>
                <a:spLocks noChangeArrowheads="1"/>
              </p:cNvSpPr>
              <p:nvPr/>
            </p:nvSpPr>
            <p:spPr bwMode="auto">
              <a:xfrm>
                <a:off x="2328" y="757"/>
                <a:ext cx="48"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1" name="Rectangle 57">
                <a:extLst>
                  <a:ext uri="{FF2B5EF4-FFF2-40B4-BE49-F238E27FC236}">
                    <a16:creationId xmlns:a16="http://schemas.microsoft.com/office/drawing/2014/main" id="{9CB67B1D-B3FF-A0BC-FC31-573F20527808}"/>
                  </a:ext>
                </a:extLst>
              </p:cNvPr>
              <p:cNvSpPr>
                <a:spLocks noChangeArrowheads="1"/>
              </p:cNvSpPr>
              <p:nvPr/>
            </p:nvSpPr>
            <p:spPr bwMode="auto">
              <a:xfrm>
                <a:off x="1687" y="757"/>
                <a:ext cx="641"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2" name="Rectangle 58">
                <a:extLst>
                  <a:ext uri="{FF2B5EF4-FFF2-40B4-BE49-F238E27FC236}">
                    <a16:creationId xmlns:a16="http://schemas.microsoft.com/office/drawing/2014/main" id="{9FE67A21-5A29-F6F8-F832-1D78DD08E877}"/>
                  </a:ext>
                </a:extLst>
              </p:cNvPr>
              <p:cNvSpPr>
                <a:spLocks noChangeArrowheads="1"/>
              </p:cNvSpPr>
              <p:nvPr/>
            </p:nvSpPr>
            <p:spPr bwMode="auto">
              <a:xfrm>
                <a:off x="1687" y="745"/>
                <a:ext cx="5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200" b="1">
                    <a:solidFill>
                      <a:srgbClr val="000000"/>
                    </a:solidFill>
                    <a:latin typeface="Trebuchet MS" panose="020B0703020202090204" pitchFamily="34" charset="0"/>
                  </a:rPr>
                  <a:t>Catastrophic</a:t>
                </a:r>
                <a:endParaRPr lang="en-US" altLang="en-US" sz="1200"/>
              </a:p>
            </p:txBody>
          </p:sp>
          <p:sp>
            <p:nvSpPr>
              <p:cNvPr id="55983" name="Rectangle 59">
                <a:extLst>
                  <a:ext uri="{FF2B5EF4-FFF2-40B4-BE49-F238E27FC236}">
                    <a16:creationId xmlns:a16="http://schemas.microsoft.com/office/drawing/2014/main" id="{3E15A68B-343D-90D2-1BA3-31F414F3EFA8}"/>
                  </a:ext>
                </a:extLst>
              </p:cNvPr>
              <p:cNvSpPr>
                <a:spLocks noChangeArrowheads="1"/>
              </p:cNvSpPr>
              <p:nvPr/>
            </p:nvSpPr>
            <p:spPr bwMode="auto">
              <a:xfrm>
                <a:off x="1687" y="892"/>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4" name="Rectangle 60">
                <a:extLst>
                  <a:ext uri="{FF2B5EF4-FFF2-40B4-BE49-F238E27FC236}">
                    <a16:creationId xmlns:a16="http://schemas.microsoft.com/office/drawing/2014/main" id="{C1FA1067-1C00-1563-59B9-1F43BC8E7650}"/>
                  </a:ext>
                </a:extLst>
              </p:cNvPr>
              <p:cNvSpPr>
                <a:spLocks noChangeArrowheads="1"/>
              </p:cNvSpPr>
              <p:nvPr/>
            </p:nvSpPr>
            <p:spPr bwMode="auto">
              <a:xfrm>
                <a:off x="1687" y="880"/>
                <a:ext cx="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5" name="Rectangle 61">
                <a:extLst>
                  <a:ext uri="{FF2B5EF4-FFF2-40B4-BE49-F238E27FC236}">
                    <a16:creationId xmlns:a16="http://schemas.microsoft.com/office/drawing/2014/main" id="{44A08663-C19C-C49E-0D1C-D9845D8B7D7A}"/>
                  </a:ext>
                </a:extLst>
              </p:cNvPr>
              <p:cNvSpPr>
                <a:spLocks noChangeArrowheads="1"/>
              </p:cNvSpPr>
              <p:nvPr/>
            </p:nvSpPr>
            <p:spPr bwMode="auto">
              <a:xfrm>
                <a:off x="1745" y="88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86" name="Rectangle 62">
                <a:extLst>
                  <a:ext uri="{FF2B5EF4-FFF2-40B4-BE49-F238E27FC236}">
                    <a16:creationId xmlns:a16="http://schemas.microsoft.com/office/drawing/2014/main" id="{CA8FC2C0-9258-6943-0F0F-3C25E67A9270}"/>
                  </a:ext>
                </a:extLst>
              </p:cNvPr>
              <p:cNvSpPr>
                <a:spLocks noChangeArrowheads="1"/>
              </p:cNvSpPr>
              <p:nvPr/>
            </p:nvSpPr>
            <p:spPr bwMode="auto">
              <a:xfrm>
                <a:off x="2381"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7" name="Rectangle 63">
                <a:extLst>
                  <a:ext uri="{FF2B5EF4-FFF2-40B4-BE49-F238E27FC236}">
                    <a16:creationId xmlns:a16="http://schemas.microsoft.com/office/drawing/2014/main" id="{B457E09D-467F-035F-1016-22477DBA8E91}"/>
                  </a:ext>
                </a:extLst>
              </p:cNvPr>
              <p:cNvSpPr>
                <a:spLocks noChangeArrowheads="1"/>
              </p:cNvSpPr>
              <p:nvPr/>
            </p:nvSpPr>
            <p:spPr bwMode="auto">
              <a:xfrm>
                <a:off x="2868"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8" name="Rectangle 64">
                <a:extLst>
                  <a:ext uri="{FF2B5EF4-FFF2-40B4-BE49-F238E27FC236}">
                    <a16:creationId xmlns:a16="http://schemas.microsoft.com/office/drawing/2014/main" id="{42400FC8-C541-FDB0-7146-1F2A21B5BEC6}"/>
                  </a:ext>
                </a:extLst>
              </p:cNvPr>
              <p:cNvSpPr>
                <a:spLocks noChangeArrowheads="1"/>
              </p:cNvSpPr>
              <p:nvPr/>
            </p:nvSpPr>
            <p:spPr bwMode="auto">
              <a:xfrm>
                <a:off x="2381" y="892"/>
                <a:ext cx="536"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89" name="Rectangle 65">
                <a:extLst>
                  <a:ext uri="{FF2B5EF4-FFF2-40B4-BE49-F238E27FC236}">
                    <a16:creationId xmlns:a16="http://schemas.microsoft.com/office/drawing/2014/main" id="{72D62CA9-A555-EFE5-469D-462E510751C5}"/>
                  </a:ext>
                </a:extLst>
              </p:cNvPr>
              <p:cNvSpPr>
                <a:spLocks noChangeArrowheads="1"/>
              </p:cNvSpPr>
              <p:nvPr/>
            </p:nvSpPr>
            <p:spPr bwMode="auto">
              <a:xfrm>
                <a:off x="2430" y="757"/>
                <a:ext cx="438"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0" name="Rectangle 66">
                <a:extLst>
                  <a:ext uri="{FF2B5EF4-FFF2-40B4-BE49-F238E27FC236}">
                    <a16:creationId xmlns:a16="http://schemas.microsoft.com/office/drawing/2014/main" id="{C52F1417-0A4B-DE43-D9CF-9E725334BE77}"/>
                  </a:ext>
                </a:extLst>
              </p:cNvPr>
              <p:cNvSpPr>
                <a:spLocks noChangeArrowheads="1"/>
              </p:cNvSpPr>
              <p:nvPr/>
            </p:nvSpPr>
            <p:spPr bwMode="auto">
              <a:xfrm>
                <a:off x="2430" y="745"/>
                <a:ext cx="29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Major</a:t>
                </a:r>
                <a:endParaRPr lang="en-US" altLang="en-US"/>
              </a:p>
            </p:txBody>
          </p:sp>
          <p:sp>
            <p:nvSpPr>
              <p:cNvPr id="55991" name="Rectangle 67">
                <a:extLst>
                  <a:ext uri="{FF2B5EF4-FFF2-40B4-BE49-F238E27FC236}">
                    <a16:creationId xmlns:a16="http://schemas.microsoft.com/office/drawing/2014/main" id="{B4EB2A68-A81A-A701-9052-8F95DD52B4F6}"/>
                  </a:ext>
                </a:extLst>
              </p:cNvPr>
              <p:cNvSpPr>
                <a:spLocks noChangeArrowheads="1"/>
              </p:cNvSpPr>
              <p:nvPr/>
            </p:nvSpPr>
            <p:spPr bwMode="auto">
              <a:xfrm>
                <a:off x="2734"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92" name="Rectangle 68">
                <a:extLst>
                  <a:ext uri="{FF2B5EF4-FFF2-40B4-BE49-F238E27FC236}">
                    <a16:creationId xmlns:a16="http://schemas.microsoft.com/office/drawing/2014/main" id="{521BD541-54E4-A4EC-9836-45CFCDA89E05}"/>
                  </a:ext>
                </a:extLst>
              </p:cNvPr>
              <p:cNvSpPr>
                <a:spLocks noChangeArrowheads="1"/>
              </p:cNvSpPr>
              <p:nvPr/>
            </p:nvSpPr>
            <p:spPr bwMode="auto">
              <a:xfrm>
                <a:off x="2922"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3" name="Rectangle 69">
                <a:extLst>
                  <a:ext uri="{FF2B5EF4-FFF2-40B4-BE49-F238E27FC236}">
                    <a16:creationId xmlns:a16="http://schemas.microsoft.com/office/drawing/2014/main" id="{C71004A7-F25C-86CE-46AB-F97D36DC8B8C}"/>
                  </a:ext>
                </a:extLst>
              </p:cNvPr>
              <p:cNvSpPr>
                <a:spLocks noChangeArrowheads="1"/>
              </p:cNvSpPr>
              <p:nvPr/>
            </p:nvSpPr>
            <p:spPr bwMode="auto">
              <a:xfrm>
                <a:off x="3540"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4" name="Rectangle 70">
                <a:extLst>
                  <a:ext uri="{FF2B5EF4-FFF2-40B4-BE49-F238E27FC236}">
                    <a16:creationId xmlns:a16="http://schemas.microsoft.com/office/drawing/2014/main" id="{F187CF40-2CD6-7C6E-250E-E6544B03F187}"/>
                  </a:ext>
                </a:extLst>
              </p:cNvPr>
              <p:cNvSpPr>
                <a:spLocks noChangeArrowheads="1"/>
              </p:cNvSpPr>
              <p:nvPr/>
            </p:nvSpPr>
            <p:spPr bwMode="auto">
              <a:xfrm>
                <a:off x="2922" y="892"/>
                <a:ext cx="66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5" name="Rectangle 71">
                <a:extLst>
                  <a:ext uri="{FF2B5EF4-FFF2-40B4-BE49-F238E27FC236}">
                    <a16:creationId xmlns:a16="http://schemas.microsoft.com/office/drawing/2014/main" id="{2F3EE002-F88F-AE3E-D6B3-429868B1C2BF}"/>
                  </a:ext>
                </a:extLst>
              </p:cNvPr>
              <p:cNvSpPr>
                <a:spLocks noChangeArrowheads="1"/>
              </p:cNvSpPr>
              <p:nvPr/>
            </p:nvSpPr>
            <p:spPr bwMode="auto">
              <a:xfrm>
                <a:off x="2971" y="757"/>
                <a:ext cx="56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6" name="Rectangle 72">
                <a:extLst>
                  <a:ext uri="{FF2B5EF4-FFF2-40B4-BE49-F238E27FC236}">
                    <a16:creationId xmlns:a16="http://schemas.microsoft.com/office/drawing/2014/main" id="{38281D97-8C72-7FE0-9905-0D2216FE243B}"/>
                  </a:ext>
                </a:extLst>
              </p:cNvPr>
              <p:cNvSpPr>
                <a:spLocks noChangeArrowheads="1"/>
              </p:cNvSpPr>
              <p:nvPr/>
            </p:nvSpPr>
            <p:spPr bwMode="auto">
              <a:xfrm>
                <a:off x="2971" y="745"/>
                <a:ext cx="49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Moderate</a:t>
                </a:r>
                <a:endParaRPr lang="en-US" altLang="en-US"/>
              </a:p>
            </p:txBody>
          </p:sp>
          <p:sp>
            <p:nvSpPr>
              <p:cNvPr id="55997" name="Rectangle 73">
                <a:extLst>
                  <a:ext uri="{FF2B5EF4-FFF2-40B4-BE49-F238E27FC236}">
                    <a16:creationId xmlns:a16="http://schemas.microsoft.com/office/drawing/2014/main" id="{6BA0D2E5-FC59-7A89-68EA-22B04837AB9A}"/>
                  </a:ext>
                </a:extLst>
              </p:cNvPr>
              <p:cNvSpPr>
                <a:spLocks noChangeArrowheads="1"/>
              </p:cNvSpPr>
              <p:nvPr/>
            </p:nvSpPr>
            <p:spPr bwMode="auto">
              <a:xfrm>
                <a:off x="3475"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998" name="Rectangle 74">
                <a:extLst>
                  <a:ext uri="{FF2B5EF4-FFF2-40B4-BE49-F238E27FC236}">
                    <a16:creationId xmlns:a16="http://schemas.microsoft.com/office/drawing/2014/main" id="{61362CB2-BDC9-60AD-68CC-A3478BFC5179}"/>
                  </a:ext>
                </a:extLst>
              </p:cNvPr>
              <p:cNvSpPr>
                <a:spLocks noChangeArrowheads="1"/>
              </p:cNvSpPr>
              <p:nvPr/>
            </p:nvSpPr>
            <p:spPr bwMode="auto">
              <a:xfrm>
                <a:off x="3594"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99" name="Rectangle 75">
                <a:extLst>
                  <a:ext uri="{FF2B5EF4-FFF2-40B4-BE49-F238E27FC236}">
                    <a16:creationId xmlns:a16="http://schemas.microsoft.com/office/drawing/2014/main" id="{1D37910A-1282-67BA-23C1-01136E5B2B51}"/>
                  </a:ext>
                </a:extLst>
              </p:cNvPr>
              <p:cNvSpPr>
                <a:spLocks noChangeArrowheads="1"/>
              </p:cNvSpPr>
              <p:nvPr/>
            </p:nvSpPr>
            <p:spPr bwMode="auto">
              <a:xfrm>
                <a:off x="4212" y="757"/>
                <a:ext cx="50"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0" name="Rectangle 76">
                <a:extLst>
                  <a:ext uri="{FF2B5EF4-FFF2-40B4-BE49-F238E27FC236}">
                    <a16:creationId xmlns:a16="http://schemas.microsoft.com/office/drawing/2014/main" id="{8450FBD6-CA1A-D7A1-5EEE-6341698F6977}"/>
                  </a:ext>
                </a:extLst>
              </p:cNvPr>
              <p:cNvSpPr>
                <a:spLocks noChangeArrowheads="1"/>
              </p:cNvSpPr>
              <p:nvPr/>
            </p:nvSpPr>
            <p:spPr bwMode="auto">
              <a:xfrm>
                <a:off x="3594" y="892"/>
                <a:ext cx="66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1" name="Rectangle 77">
                <a:extLst>
                  <a:ext uri="{FF2B5EF4-FFF2-40B4-BE49-F238E27FC236}">
                    <a16:creationId xmlns:a16="http://schemas.microsoft.com/office/drawing/2014/main" id="{1A3FC1A1-6C9B-D797-D535-9E186D5664BB}"/>
                  </a:ext>
                </a:extLst>
              </p:cNvPr>
              <p:cNvSpPr>
                <a:spLocks noChangeArrowheads="1"/>
              </p:cNvSpPr>
              <p:nvPr/>
            </p:nvSpPr>
            <p:spPr bwMode="auto">
              <a:xfrm>
                <a:off x="3643" y="757"/>
                <a:ext cx="56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2" name="Rectangle 78">
                <a:extLst>
                  <a:ext uri="{FF2B5EF4-FFF2-40B4-BE49-F238E27FC236}">
                    <a16:creationId xmlns:a16="http://schemas.microsoft.com/office/drawing/2014/main" id="{1BDF427F-6612-78AF-234F-7F1FF27B3AB0}"/>
                  </a:ext>
                </a:extLst>
              </p:cNvPr>
              <p:cNvSpPr>
                <a:spLocks noChangeArrowheads="1"/>
              </p:cNvSpPr>
              <p:nvPr/>
            </p:nvSpPr>
            <p:spPr bwMode="auto">
              <a:xfrm>
                <a:off x="3643" y="745"/>
                <a:ext cx="2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Minor</a:t>
                </a:r>
                <a:endParaRPr lang="en-US" altLang="en-US"/>
              </a:p>
            </p:txBody>
          </p:sp>
          <p:sp>
            <p:nvSpPr>
              <p:cNvPr id="56003" name="Rectangle 79">
                <a:extLst>
                  <a:ext uri="{FF2B5EF4-FFF2-40B4-BE49-F238E27FC236}">
                    <a16:creationId xmlns:a16="http://schemas.microsoft.com/office/drawing/2014/main" id="{2E1F18DD-E004-1953-945B-D9EFF1536C8C}"/>
                  </a:ext>
                </a:extLst>
              </p:cNvPr>
              <p:cNvSpPr>
                <a:spLocks noChangeArrowheads="1"/>
              </p:cNvSpPr>
              <p:nvPr/>
            </p:nvSpPr>
            <p:spPr bwMode="auto">
              <a:xfrm>
                <a:off x="3946"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6004" name="Rectangle 80">
                <a:extLst>
                  <a:ext uri="{FF2B5EF4-FFF2-40B4-BE49-F238E27FC236}">
                    <a16:creationId xmlns:a16="http://schemas.microsoft.com/office/drawing/2014/main" id="{08647FFA-E878-37EC-177C-2F3115E39ADA}"/>
                  </a:ext>
                </a:extLst>
              </p:cNvPr>
              <p:cNvSpPr>
                <a:spLocks noChangeArrowheads="1"/>
              </p:cNvSpPr>
              <p:nvPr/>
            </p:nvSpPr>
            <p:spPr bwMode="auto">
              <a:xfrm>
                <a:off x="4266" y="757"/>
                <a:ext cx="50"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5" name="Rectangle 81">
                <a:extLst>
                  <a:ext uri="{FF2B5EF4-FFF2-40B4-BE49-F238E27FC236}">
                    <a16:creationId xmlns:a16="http://schemas.microsoft.com/office/drawing/2014/main" id="{23606DE9-26B1-6D76-1DAC-8D2F068DEE77}"/>
                  </a:ext>
                </a:extLst>
              </p:cNvPr>
              <p:cNvSpPr>
                <a:spLocks noChangeArrowheads="1"/>
              </p:cNvSpPr>
              <p:nvPr/>
            </p:nvSpPr>
            <p:spPr bwMode="auto">
              <a:xfrm>
                <a:off x="5034" y="757"/>
                <a:ext cx="4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6" name="Rectangle 82">
                <a:extLst>
                  <a:ext uri="{FF2B5EF4-FFF2-40B4-BE49-F238E27FC236}">
                    <a16:creationId xmlns:a16="http://schemas.microsoft.com/office/drawing/2014/main" id="{B0FCFE17-E983-CE8C-14DE-6457185922C8}"/>
                  </a:ext>
                </a:extLst>
              </p:cNvPr>
              <p:cNvSpPr>
                <a:spLocks noChangeArrowheads="1"/>
              </p:cNvSpPr>
              <p:nvPr/>
            </p:nvSpPr>
            <p:spPr bwMode="auto">
              <a:xfrm>
                <a:off x="4266" y="892"/>
                <a:ext cx="81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7" name="Rectangle 83">
                <a:extLst>
                  <a:ext uri="{FF2B5EF4-FFF2-40B4-BE49-F238E27FC236}">
                    <a16:creationId xmlns:a16="http://schemas.microsoft.com/office/drawing/2014/main" id="{D5D9C97B-6A03-42E4-6037-B5A1A8EA49B8}"/>
                  </a:ext>
                </a:extLst>
              </p:cNvPr>
              <p:cNvSpPr>
                <a:spLocks noChangeArrowheads="1"/>
              </p:cNvSpPr>
              <p:nvPr/>
            </p:nvSpPr>
            <p:spPr bwMode="auto">
              <a:xfrm>
                <a:off x="4316" y="757"/>
                <a:ext cx="718"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08" name="Rectangle 84">
                <a:extLst>
                  <a:ext uri="{FF2B5EF4-FFF2-40B4-BE49-F238E27FC236}">
                    <a16:creationId xmlns:a16="http://schemas.microsoft.com/office/drawing/2014/main" id="{78115039-884B-5094-7DDF-CBCE5BE96E2C}"/>
                  </a:ext>
                </a:extLst>
              </p:cNvPr>
              <p:cNvSpPr>
                <a:spLocks noChangeArrowheads="1"/>
              </p:cNvSpPr>
              <p:nvPr/>
            </p:nvSpPr>
            <p:spPr bwMode="auto">
              <a:xfrm>
                <a:off x="4316" y="745"/>
                <a:ext cx="6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Insignificant</a:t>
                </a:r>
                <a:endParaRPr lang="en-US" altLang="en-US"/>
              </a:p>
            </p:txBody>
          </p:sp>
          <p:sp>
            <p:nvSpPr>
              <p:cNvPr id="56009" name="Rectangle 85">
                <a:extLst>
                  <a:ext uri="{FF2B5EF4-FFF2-40B4-BE49-F238E27FC236}">
                    <a16:creationId xmlns:a16="http://schemas.microsoft.com/office/drawing/2014/main" id="{EDD5063F-F2F0-1149-91FA-6BC29FEE04FB}"/>
                  </a:ext>
                </a:extLst>
              </p:cNvPr>
              <p:cNvSpPr>
                <a:spLocks noChangeArrowheads="1"/>
              </p:cNvSpPr>
              <p:nvPr/>
            </p:nvSpPr>
            <p:spPr bwMode="auto">
              <a:xfrm>
                <a:off x="4967" y="74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6010" name="Rectangle 86">
                <a:extLst>
                  <a:ext uri="{FF2B5EF4-FFF2-40B4-BE49-F238E27FC236}">
                    <a16:creationId xmlns:a16="http://schemas.microsoft.com/office/drawing/2014/main" id="{1C0F34F9-AAC3-9D19-8E8F-437FA4B55D5A}"/>
                  </a:ext>
                </a:extLst>
              </p:cNvPr>
              <p:cNvSpPr>
                <a:spLocks noChangeArrowheads="1"/>
              </p:cNvSpPr>
              <p:nvPr/>
            </p:nvSpPr>
            <p:spPr bwMode="auto">
              <a:xfrm>
                <a:off x="295"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1" name="Line 87">
                <a:extLst>
                  <a:ext uri="{FF2B5EF4-FFF2-40B4-BE49-F238E27FC236}">
                    <a16:creationId xmlns:a16="http://schemas.microsoft.com/office/drawing/2014/main" id="{8AB076B7-6091-3160-827D-819211C53668}"/>
                  </a:ext>
                </a:extLst>
              </p:cNvPr>
              <p:cNvSpPr>
                <a:spLocks noChangeShapeType="1"/>
              </p:cNvSpPr>
              <p:nvPr/>
            </p:nvSpPr>
            <p:spPr bwMode="auto">
              <a:xfrm>
                <a:off x="295"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2" name="Line 88">
                <a:extLst>
                  <a:ext uri="{FF2B5EF4-FFF2-40B4-BE49-F238E27FC236}">
                    <a16:creationId xmlns:a16="http://schemas.microsoft.com/office/drawing/2014/main" id="{1EBE105A-2D23-6595-B6AE-C3A7972F9FA3}"/>
                  </a:ext>
                </a:extLst>
              </p:cNvPr>
              <p:cNvSpPr>
                <a:spLocks noChangeShapeType="1"/>
              </p:cNvSpPr>
              <p:nvPr/>
            </p:nvSpPr>
            <p:spPr bwMode="auto">
              <a:xfrm>
                <a:off x="295"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3" name="Rectangle 89">
                <a:extLst>
                  <a:ext uri="{FF2B5EF4-FFF2-40B4-BE49-F238E27FC236}">
                    <a16:creationId xmlns:a16="http://schemas.microsoft.com/office/drawing/2014/main" id="{DB2CC79A-6FD4-0B59-DFD6-16EFDC6F7021}"/>
                  </a:ext>
                </a:extLst>
              </p:cNvPr>
              <p:cNvSpPr>
                <a:spLocks noChangeArrowheads="1"/>
              </p:cNvSpPr>
              <p:nvPr/>
            </p:nvSpPr>
            <p:spPr bwMode="auto">
              <a:xfrm>
                <a:off x="300" y="753"/>
                <a:ext cx="65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4" name="Line 90">
                <a:extLst>
                  <a:ext uri="{FF2B5EF4-FFF2-40B4-BE49-F238E27FC236}">
                    <a16:creationId xmlns:a16="http://schemas.microsoft.com/office/drawing/2014/main" id="{FD9F089E-527C-3BC9-D8F5-1012E1D1902B}"/>
                  </a:ext>
                </a:extLst>
              </p:cNvPr>
              <p:cNvSpPr>
                <a:spLocks noChangeShapeType="1"/>
              </p:cNvSpPr>
              <p:nvPr/>
            </p:nvSpPr>
            <p:spPr bwMode="auto">
              <a:xfrm>
                <a:off x="300" y="753"/>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5" name="Rectangle 91">
                <a:extLst>
                  <a:ext uri="{FF2B5EF4-FFF2-40B4-BE49-F238E27FC236}">
                    <a16:creationId xmlns:a16="http://schemas.microsoft.com/office/drawing/2014/main" id="{38818FC0-D7CB-86B9-68A8-C67943241D4B}"/>
                  </a:ext>
                </a:extLst>
              </p:cNvPr>
              <p:cNvSpPr>
                <a:spLocks noChangeArrowheads="1"/>
              </p:cNvSpPr>
              <p:nvPr/>
            </p:nvSpPr>
            <p:spPr bwMode="auto">
              <a:xfrm>
                <a:off x="956"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6" name="Line 92">
                <a:extLst>
                  <a:ext uri="{FF2B5EF4-FFF2-40B4-BE49-F238E27FC236}">
                    <a16:creationId xmlns:a16="http://schemas.microsoft.com/office/drawing/2014/main" id="{375AFB37-EEB4-1573-C0AB-B2ED301ECC31}"/>
                  </a:ext>
                </a:extLst>
              </p:cNvPr>
              <p:cNvSpPr>
                <a:spLocks noChangeShapeType="1"/>
              </p:cNvSpPr>
              <p:nvPr/>
            </p:nvSpPr>
            <p:spPr bwMode="auto">
              <a:xfrm>
                <a:off x="956"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7" name="Line 93">
                <a:extLst>
                  <a:ext uri="{FF2B5EF4-FFF2-40B4-BE49-F238E27FC236}">
                    <a16:creationId xmlns:a16="http://schemas.microsoft.com/office/drawing/2014/main" id="{A385CD59-E6D3-17E3-72D7-AF1D23A708E8}"/>
                  </a:ext>
                </a:extLst>
              </p:cNvPr>
              <p:cNvSpPr>
                <a:spLocks noChangeShapeType="1"/>
              </p:cNvSpPr>
              <p:nvPr/>
            </p:nvSpPr>
            <p:spPr bwMode="auto">
              <a:xfrm>
                <a:off x="956"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18" name="Rectangle 94">
                <a:extLst>
                  <a:ext uri="{FF2B5EF4-FFF2-40B4-BE49-F238E27FC236}">
                    <a16:creationId xmlns:a16="http://schemas.microsoft.com/office/drawing/2014/main" id="{81F99E5C-9450-710D-849A-E4DC4A9FB9D2}"/>
                  </a:ext>
                </a:extLst>
              </p:cNvPr>
              <p:cNvSpPr>
                <a:spLocks noChangeArrowheads="1"/>
              </p:cNvSpPr>
              <p:nvPr/>
            </p:nvSpPr>
            <p:spPr bwMode="auto">
              <a:xfrm>
                <a:off x="961" y="753"/>
                <a:ext cx="6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19" name="Line 95">
                <a:extLst>
                  <a:ext uri="{FF2B5EF4-FFF2-40B4-BE49-F238E27FC236}">
                    <a16:creationId xmlns:a16="http://schemas.microsoft.com/office/drawing/2014/main" id="{8F9249F7-D653-CFFF-110F-2F4B09F791E9}"/>
                  </a:ext>
                </a:extLst>
              </p:cNvPr>
              <p:cNvSpPr>
                <a:spLocks noChangeShapeType="1"/>
              </p:cNvSpPr>
              <p:nvPr/>
            </p:nvSpPr>
            <p:spPr bwMode="auto">
              <a:xfrm>
                <a:off x="961" y="753"/>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0" name="Rectangle 96">
                <a:extLst>
                  <a:ext uri="{FF2B5EF4-FFF2-40B4-BE49-F238E27FC236}">
                    <a16:creationId xmlns:a16="http://schemas.microsoft.com/office/drawing/2014/main" id="{0D6BA353-09A0-DDC2-141E-C0F0F74FF310}"/>
                  </a:ext>
                </a:extLst>
              </p:cNvPr>
              <p:cNvSpPr>
                <a:spLocks noChangeArrowheads="1"/>
              </p:cNvSpPr>
              <p:nvPr/>
            </p:nvSpPr>
            <p:spPr bwMode="auto">
              <a:xfrm>
                <a:off x="1633" y="753"/>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1" name="Line 97">
                <a:extLst>
                  <a:ext uri="{FF2B5EF4-FFF2-40B4-BE49-F238E27FC236}">
                    <a16:creationId xmlns:a16="http://schemas.microsoft.com/office/drawing/2014/main" id="{3D30DA9D-E11E-B860-4126-12E4A8F3308D}"/>
                  </a:ext>
                </a:extLst>
              </p:cNvPr>
              <p:cNvSpPr>
                <a:spLocks noChangeShapeType="1"/>
              </p:cNvSpPr>
              <p:nvPr/>
            </p:nvSpPr>
            <p:spPr bwMode="auto">
              <a:xfrm>
                <a:off x="1633" y="75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2" name="Line 98">
                <a:extLst>
                  <a:ext uri="{FF2B5EF4-FFF2-40B4-BE49-F238E27FC236}">
                    <a16:creationId xmlns:a16="http://schemas.microsoft.com/office/drawing/2014/main" id="{E7B62500-F0D6-D387-899D-412924E33F32}"/>
                  </a:ext>
                </a:extLst>
              </p:cNvPr>
              <p:cNvSpPr>
                <a:spLocks noChangeShapeType="1"/>
              </p:cNvSpPr>
              <p:nvPr/>
            </p:nvSpPr>
            <p:spPr bwMode="auto">
              <a:xfrm>
                <a:off x="1633"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3" name="Rectangle 99">
                <a:extLst>
                  <a:ext uri="{FF2B5EF4-FFF2-40B4-BE49-F238E27FC236}">
                    <a16:creationId xmlns:a16="http://schemas.microsoft.com/office/drawing/2014/main" id="{6DB19632-92A1-5531-F305-37F6DA09246A}"/>
                  </a:ext>
                </a:extLst>
              </p:cNvPr>
              <p:cNvSpPr>
                <a:spLocks noChangeArrowheads="1"/>
              </p:cNvSpPr>
              <p:nvPr/>
            </p:nvSpPr>
            <p:spPr bwMode="auto">
              <a:xfrm>
                <a:off x="1637" y="753"/>
                <a:ext cx="7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4" name="Line 100">
                <a:extLst>
                  <a:ext uri="{FF2B5EF4-FFF2-40B4-BE49-F238E27FC236}">
                    <a16:creationId xmlns:a16="http://schemas.microsoft.com/office/drawing/2014/main" id="{051071EB-0F50-68D9-57E1-3CA6F2A66B31}"/>
                  </a:ext>
                </a:extLst>
              </p:cNvPr>
              <p:cNvSpPr>
                <a:spLocks noChangeShapeType="1"/>
              </p:cNvSpPr>
              <p:nvPr/>
            </p:nvSpPr>
            <p:spPr bwMode="auto">
              <a:xfrm>
                <a:off x="1637" y="753"/>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5" name="Rectangle 101">
                <a:extLst>
                  <a:ext uri="{FF2B5EF4-FFF2-40B4-BE49-F238E27FC236}">
                    <a16:creationId xmlns:a16="http://schemas.microsoft.com/office/drawing/2014/main" id="{C070933E-0DD6-F551-42F1-30E9C09C13B2}"/>
                  </a:ext>
                </a:extLst>
              </p:cNvPr>
              <p:cNvSpPr>
                <a:spLocks noChangeArrowheads="1"/>
              </p:cNvSpPr>
              <p:nvPr/>
            </p:nvSpPr>
            <p:spPr bwMode="auto">
              <a:xfrm>
                <a:off x="2376"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6" name="Line 102">
                <a:extLst>
                  <a:ext uri="{FF2B5EF4-FFF2-40B4-BE49-F238E27FC236}">
                    <a16:creationId xmlns:a16="http://schemas.microsoft.com/office/drawing/2014/main" id="{92FFF5CC-B007-62BF-0B4C-8CB5A014C210}"/>
                  </a:ext>
                </a:extLst>
              </p:cNvPr>
              <p:cNvSpPr>
                <a:spLocks noChangeShapeType="1"/>
              </p:cNvSpPr>
              <p:nvPr/>
            </p:nvSpPr>
            <p:spPr bwMode="auto">
              <a:xfrm>
                <a:off x="2376"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7" name="Line 103">
                <a:extLst>
                  <a:ext uri="{FF2B5EF4-FFF2-40B4-BE49-F238E27FC236}">
                    <a16:creationId xmlns:a16="http://schemas.microsoft.com/office/drawing/2014/main" id="{02C80D19-FAC8-1B24-D4AC-A61A83A10E70}"/>
                  </a:ext>
                </a:extLst>
              </p:cNvPr>
              <p:cNvSpPr>
                <a:spLocks noChangeShapeType="1"/>
              </p:cNvSpPr>
              <p:nvPr/>
            </p:nvSpPr>
            <p:spPr bwMode="auto">
              <a:xfrm>
                <a:off x="2376"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28" name="Rectangle 104">
                <a:extLst>
                  <a:ext uri="{FF2B5EF4-FFF2-40B4-BE49-F238E27FC236}">
                    <a16:creationId xmlns:a16="http://schemas.microsoft.com/office/drawing/2014/main" id="{EF58500F-F8E2-FACA-BB87-E0BFAD5AD7B6}"/>
                  </a:ext>
                </a:extLst>
              </p:cNvPr>
              <p:cNvSpPr>
                <a:spLocks noChangeArrowheads="1"/>
              </p:cNvSpPr>
              <p:nvPr/>
            </p:nvSpPr>
            <p:spPr bwMode="auto">
              <a:xfrm>
                <a:off x="2381" y="753"/>
                <a:ext cx="53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29" name="Line 105">
                <a:extLst>
                  <a:ext uri="{FF2B5EF4-FFF2-40B4-BE49-F238E27FC236}">
                    <a16:creationId xmlns:a16="http://schemas.microsoft.com/office/drawing/2014/main" id="{0C46AA12-FB94-8FE7-E079-ACFC376D18FB}"/>
                  </a:ext>
                </a:extLst>
              </p:cNvPr>
              <p:cNvSpPr>
                <a:spLocks noChangeShapeType="1"/>
              </p:cNvSpPr>
              <p:nvPr/>
            </p:nvSpPr>
            <p:spPr bwMode="auto">
              <a:xfrm>
                <a:off x="2381" y="753"/>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0" name="Rectangle 106">
                <a:extLst>
                  <a:ext uri="{FF2B5EF4-FFF2-40B4-BE49-F238E27FC236}">
                    <a16:creationId xmlns:a16="http://schemas.microsoft.com/office/drawing/2014/main" id="{ADD78CB5-A576-D8EE-F6BF-15640317AECB}"/>
                  </a:ext>
                </a:extLst>
              </p:cNvPr>
              <p:cNvSpPr>
                <a:spLocks noChangeArrowheads="1"/>
              </p:cNvSpPr>
              <p:nvPr/>
            </p:nvSpPr>
            <p:spPr bwMode="auto">
              <a:xfrm>
                <a:off x="2917"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1" name="Line 107">
                <a:extLst>
                  <a:ext uri="{FF2B5EF4-FFF2-40B4-BE49-F238E27FC236}">
                    <a16:creationId xmlns:a16="http://schemas.microsoft.com/office/drawing/2014/main" id="{1968C4B3-4DB0-2E20-36C6-F5BB06E44751}"/>
                  </a:ext>
                </a:extLst>
              </p:cNvPr>
              <p:cNvSpPr>
                <a:spLocks noChangeShapeType="1"/>
              </p:cNvSpPr>
              <p:nvPr/>
            </p:nvSpPr>
            <p:spPr bwMode="auto">
              <a:xfrm>
                <a:off x="2917"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2" name="Line 108">
                <a:extLst>
                  <a:ext uri="{FF2B5EF4-FFF2-40B4-BE49-F238E27FC236}">
                    <a16:creationId xmlns:a16="http://schemas.microsoft.com/office/drawing/2014/main" id="{54611CF1-2707-BB64-F5BD-F9E62C924214}"/>
                  </a:ext>
                </a:extLst>
              </p:cNvPr>
              <p:cNvSpPr>
                <a:spLocks noChangeShapeType="1"/>
              </p:cNvSpPr>
              <p:nvPr/>
            </p:nvSpPr>
            <p:spPr bwMode="auto">
              <a:xfrm>
                <a:off x="2917"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3" name="Rectangle 109">
                <a:extLst>
                  <a:ext uri="{FF2B5EF4-FFF2-40B4-BE49-F238E27FC236}">
                    <a16:creationId xmlns:a16="http://schemas.microsoft.com/office/drawing/2014/main" id="{AB1E28D3-E803-B02B-E0CA-341A8A34D2FF}"/>
                  </a:ext>
                </a:extLst>
              </p:cNvPr>
              <p:cNvSpPr>
                <a:spLocks noChangeArrowheads="1"/>
              </p:cNvSpPr>
              <p:nvPr/>
            </p:nvSpPr>
            <p:spPr bwMode="auto">
              <a:xfrm>
                <a:off x="2922" y="753"/>
                <a:ext cx="6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4" name="Line 110">
                <a:extLst>
                  <a:ext uri="{FF2B5EF4-FFF2-40B4-BE49-F238E27FC236}">
                    <a16:creationId xmlns:a16="http://schemas.microsoft.com/office/drawing/2014/main" id="{19CD8612-8FFD-042F-CEE8-B1F6D4A539D5}"/>
                  </a:ext>
                </a:extLst>
              </p:cNvPr>
              <p:cNvSpPr>
                <a:spLocks noChangeShapeType="1"/>
              </p:cNvSpPr>
              <p:nvPr/>
            </p:nvSpPr>
            <p:spPr bwMode="auto">
              <a:xfrm>
                <a:off x="2922" y="753"/>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5" name="Rectangle 111">
                <a:extLst>
                  <a:ext uri="{FF2B5EF4-FFF2-40B4-BE49-F238E27FC236}">
                    <a16:creationId xmlns:a16="http://schemas.microsoft.com/office/drawing/2014/main" id="{F527B26E-8E85-0B20-A80E-CEA3F5BBECC9}"/>
                  </a:ext>
                </a:extLst>
              </p:cNvPr>
              <p:cNvSpPr>
                <a:spLocks noChangeArrowheads="1"/>
              </p:cNvSpPr>
              <p:nvPr/>
            </p:nvSpPr>
            <p:spPr bwMode="auto">
              <a:xfrm>
                <a:off x="3589"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6" name="Line 112">
                <a:extLst>
                  <a:ext uri="{FF2B5EF4-FFF2-40B4-BE49-F238E27FC236}">
                    <a16:creationId xmlns:a16="http://schemas.microsoft.com/office/drawing/2014/main" id="{BF0CEED4-ED72-4BA9-6C93-AF58D4CF7656}"/>
                  </a:ext>
                </a:extLst>
              </p:cNvPr>
              <p:cNvSpPr>
                <a:spLocks noChangeShapeType="1"/>
              </p:cNvSpPr>
              <p:nvPr/>
            </p:nvSpPr>
            <p:spPr bwMode="auto">
              <a:xfrm>
                <a:off x="3589"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7" name="Line 113">
                <a:extLst>
                  <a:ext uri="{FF2B5EF4-FFF2-40B4-BE49-F238E27FC236}">
                    <a16:creationId xmlns:a16="http://schemas.microsoft.com/office/drawing/2014/main" id="{5259A498-1332-D275-F71A-A3C0FABDDCA3}"/>
                  </a:ext>
                </a:extLst>
              </p:cNvPr>
              <p:cNvSpPr>
                <a:spLocks noChangeShapeType="1"/>
              </p:cNvSpPr>
              <p:nvPr/>
            </p:nvSpPr>
            <p:spPr bwMode="auto">
              <a:xfrm>
                <a:off x="3589"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38" name="Rectangle 114">
                <a:extLst>
                  <a:ext uri="{FF2B5EF4-FFF2-40B4-BE49-F238E27FC236}">
                    <a16:creationId xmlns:a16="http://schemas.microsoft.com/office/drawing/2014/main" id="{CAE3079D-C0F0-0521-FCDF-8F292D01BD45}"/>
                  </a:ext>
                </a:extLst>
              </p:cNvPr>
              <p:cNvSpPr>
                <a:spLocks noChangeArrowheads="1"/>
              </p:cNvSpPr>
              <p:nvPr/>
            </p:nvSpPr>
            <p:spPr bwMode="auto">
              <a:xfrm>
                <a:off x="3594" y="753"/>
                <a:ext cx="668"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39" name="Line 115">
                <a:extLst>
                  <a:ext uri="{FF2B5EF4-FFF2-40B4-BE49-F238E27FC236}">
                    <a16:creationId xmlns:a16="http://schemas.microsoft.com/office/drawing/2014/main" id="{58A73DF2-6E7B-BCFB-D7D0-D4C38D219327}"/>
                  </a:ext>
                </a:extLst>
              </p:cNvPr>
              <p:cNvSpPr>
                <a:spLocks noChangeShapeType="1"/>
              </p:cNvSpPr>
              <p:nvPr/>
            </p:nvSpPr>
            <p:spPr bwMode="auto">
              <a:xfrm>
                <a:off x="3594" y="753"/>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0" name="Rectangle 116">
                <a:extLst>
                  <a:ext uri="{FF2B5EF4-FFF2-40B4-BE49-F238E27FC236}">
                    <a16:creationId xmlns:a16="http://schemas.microsoft.com/office/drawing/2014/main" id="{6B4C5C78-F271-31F4-0D84-3752A0D7A8C6}"/>
                  </a:ext>
                </a:extLst>
              </p:cNvPr>
              <p:cNvSpPr>
                <a:spLocks noChangeArrowheads="1"/>
              </p:cNvSpPr>
              <p:nvPr/>
            </p:nvSpPr>
            <p:spPr bwMode="auto">
              <a:xfrm>
                <a:off x="4262" y="753"/>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1" name="Line 117">
                <a:extLst>
                  <a:ext uri="{FF2B5EF4-FFF2-40B4-BE49-F238E27FC236}">
                    <a16:creationId xmlns:a16="http://schemas.microsoft.com/office/drawing/2014/main" id="{13B6457A-6681-42F7-F0F7-607EBB49A21E}"/>
                  </a:ext>
                </a:extLst>
              </p:cNvPr>
              <p:cNvSpPr>
                <a:spLocks noChangeShapeType="1"/>
              </p:cNvSpPr>
              <p:nvPr/>
            </p:nvSpPr>
            <p:spPr bwMode="auto">
              <a:xfrm>
                <a:off x="4262" y="75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2" name="Line 118">
                <a:extLst>
                  <a:ext uri="{FF2B5EF4-FFF2-40B4-BE49-F238E27FC236}">
                    <a16:creationId xmlns:a16="http://schemas.microsoft.com/office/drawing/2014/main" id="{BD4D0E7C-E0CE-5E04-1C57-15875BD8AA77}"/>
                  </a:ext>
                </a:extLst>
              </p:cNvPr>
              <p:cNvSpPr>
                <a:spLocks noChangeShapeType="1"/>
              </p:cNvSpPr>
              <p:nvPr/>
            </p:nvSpPr>
            <p:spPr bwMode="auto">
              <a:xfrm>
                <a:off x="4262"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3" name="Rectangle 119">
                <a:extLst>
                  <a:ext uri="{FF2B5EF4-FFF2-40B4-BE49-F238E27FC236}">
                    <a16:creationId xmlns:a16="http://schemas.microsoft.com/office/drawing/2014/main" id="{F4FCFFD8-3D3D-3D3D-4183-E706846491E4}"/>
                  </a:ext>
                </a:extLst>
              </p:cNvPr>
              <p:cNvSpPr>
                <a:spLocks noChangeArrowheads="1"/>
              </p:cNvSpPr>
              <p:nvPr/>
            </p:nvSpPr>
            <p:spPr bwMode="auto">
              <a:xfrm>
                <a:off x="4266" y="753"/>
                <a:ext cx="81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4" name="Line 120">
                <a:extLst>
                  <a:ext uri="{FF2B5EF4-FFF2-40B4-BE49-F238E27FC236}">
                    <a16:creationId xmlns:a16="http://schemas.microsoft.com/office/drawing/2014/main" id="{F55C98A7-9E4F-824D-EE37-14EA2EFD081A}"/>
                  </a:ext>
                </a:extLst>
              </p:cNvPr>
              <p:cNvSpPr>
                <a:spLocks noChangeShapeType="1"/>
              </p:cNvSpPr>
              <p:nvPr/>
            </p:nvSpPr>
            <p:spPr bwMode="auto">
              <a:xfrm>
                <a:off x="4266" y="753"/>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5" name="Rectangle 121">
                <a:extLst>
                  <a:ext uri="{FF2B5EF4-FFF2-40B4-BE49-F238E27FC236}">
                    <a16:creationId xmlns:a16="http://schemas.microsoft.com/office/drawing/2014/main" id="{38667E01-6924-C867-D97C-E704EBD36BB9}"/>
                  </a:ext>
                </a:extLst>
              </p:cNvPr>
              <p:cNvSpPr>
                <a:spLocks noChangeArrowheads="1"/>
              </p:cNvSpPr>
              <p:nvPr/>
            </p:nvSpPr>
            <p:spPr bwMode="auto">
              <a:xfrm>
                <a:off x="5083" y="753"/>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6" name="Line 122">
                <a:extLst>
                  <a:ext uri="{FF2B5EF4-FFF2-40B4-BE49-F238E27FC236}">
                    <a16:creationId xmlns:a16="http://schemas.microsoft.com/office/drawing/2014/main" id="{02EECA69-2835-DCB5-5C8A-8891B75895D3}"/>
                  </a:ext>
                </a:extLst>
              </p:cNvPr>
              <p:cNvSpPr>
                <a:spLocks noChangeShapeType="1"/>
              </p:cNvSpPr>
              <p:nvPr/>
            </p:nvSpPr>
            <p:spPr bwMode="auto">
              <a:xfrm>
                <a:off x="5083" y="75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7" name="Line 123">
                <a:extLst>
                  <a:ext uri="{FF2B5EF4-FFF2-40B4-BE49-F238E27FC236}">
                    <a16:creationId xmlns:a16="http://schemas.microsoft.com/office/drawing/2014/main" id="{C77BEF1D-927B-E9C1-E06D-6FC87AAA0147}"/>
                  </a:ext>
                </a:extLst>
              </p:cNvPr>
              <p:cNvSpPr>
                <a:spLocks noChangeShapeType="1"/>
              </p:cNvSpPr>
              <p:nvPr/>
            </p:nvSpPr>
            <p:spPr bwMode="auto">
              <a:xfrm>
                <a:off x="5083" y="753"/>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48" name="Rectangle 124">
                <a:extLst>
                  <a:ext uri="{FF2B5EF4-FFF2-40B4-BE49-F238E27FC236}">
                    <a16:creationId xmlns:a16="http://schemas.microsoft.com/office/drawing/2014/main" id="{E376F012-450D-3E9A-B9A0-39980756AB2A}"/>
                  </a:ext>
                </a:extLst>
              </p:cNvPr>
              <p:cNvSpPr>
                <a:spLocks noChangeArrowheads="1"/>
              </p:cNvSpPr>
              <p:nvPr/>
            </p:nvSpPr>
            <p:spPr bwMode="auto">
              <a:xfrm>
                <a:off x="295"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49" name="Line 125">
                <a:extLst>
                  <a:ext uri="{FF2B5EF4-FFF2-40B4-BE49-F238E27FC236}">
                    <a16:creationId xmlns:a16="http://schemas.microsoft.com/office/drawing/2014/main" id="{6E48E4CB-9E94-DF5F-F4B6-12B5E5BF7E00}"/>
                  </a:ext>
                </a:extLst>
              </p:cNvPr>
              <p:cNvSpPr>
                <a:spLocks noChangeShapeType="1"/>
              </p:cNvSpPr>
              <p:nvPr/>
            </p:nvSpPr>
            <p:spPr bwMode="auto">
              <a:xfrm>
                <a:off x="295"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0" name="Rectangle 126">
                <a:extLst>
                  <a:ext uri="{FF2B5EF4-FFF2-40B4-BE49-F238E27FC236}">
                    <a16:creationId xmlns:a16="http://schemas.microsoft.com/office/drawing/2014/main" id="{798DEA9C-075F-E64D-75DA-0558C6286903}"/>
                  </a:ext>
                </a:extLst>
              </p:cNvPr>
              <p:cNvSpPr>
                <a:spLocks noChangeArrowheads="1"/>
              </p:cNvSpPr>
              <p:nvPr/>
            </p:nvSpPr>
            <p:spPr bwMode="auto">
              <a:xfrm>
                <a:off x="956"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1" name="Line 127">
                <a:extLst>
                  <a:ext uri="{FF2B5EF4-FFF2-40B4-BE49-F238E27FC236}">
                    <a16:creationId xmlns:a16="http://schemas.microsoft.com/office/drawing/2014/main" id="{A80A65AC-122D-44FA-77F2-7C5C9C5D13C6}"/>
                  </a:ext>
                </a:extLst>
              </p:cNvPr>
              <p:cNvSpPr>
                <a:spLocks noChangeShapeType="1"/>
              </p:cNvSpPr>
              <p:nvPr/>
            </p:nvSpPr>
            <p:spPr bwMode="auto">
              <a:xfrm>
                <a:off x="956"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2" name="Rectangle 128">
                <a:extLst>
                  <a:ext uri="{FF2B5EF4-FFF2-40B4-BE49-F238E27FC236}">
                    <a16:creationId xmlns:a16="http://schemas.microsoft.com/office/drawing/2014/main" id="{E1DD3A6E-A6B3-B4CB-C818-C70FA47D6D2C}"/>
                  </a:ext>
                </a:extLst>
              </p:cNvPr>
              <p:cNvSpPr>
                <a:spLocks noChangeArrowheads="1"/>
              </p:cNvSpPr>
              <p:nvPr/>
            </p:nvSpPr>
            <p:spPr bwMode="auto">
              <a:xfrm>
                <a:off x="1633" y="757"/>
                <a:ext cx="4"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3" name="Line 129">
                <a:extLst>
                  <a:ext uri="{FF2B5EF4-FFF2-40B4-BE49-F238E27FC236}">
                    <a16:creationId xmlns:a16="http://schemas.microsoft.com/office/drawing/2014/main" id="{A498E826-C363-7B5D-AF85-1D7EFA4A65CC}"/>
                  </a:ext>
                </a:extLst>
              </p:cNvPr>
              <p:cNvSpPr>
                <a:spLocks noChangeShapeType="1"/>
              </p:cNvSpPr>
              <p:nvPr/>
            </p:nvSpPr>
            <p:spPr bwMode="auto">
              <a:xfrm>
                <a:off x="1633"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4" name="Rectangle 130">
                <a:extLst>
                  <a:ext uri="{FF2B5EF4-FFF2-40B4-BE49-F238E27FC236}">
                    <a16:creationId xmlns:a16="http://schemas.microsoft.com/office/drawing/2014/main" id="{21F9FD9D-37FA-F9BC-F70A-137E02485857}"/>
                  </a:ext>
                </a:extLst>
              </p:cNvPr>
              <p:cNvSpPr>
                <a:spLocks noChangeArrowheads="1"/>
              </p:cNvSpPr>
              <p:nvPr/>
            </p:nvSpPr>
            <p:spPr bwMode="auto">
              <a:xfrm>
                <a:off x="2376"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5" name="Line 131">
                <a:extLst>
                  <a:ext uri="{FF2B5EF4-FFF2-40B4-BE49-F238E27FC236}">
                    <a16:creationId xmlns:a16="http://schemas.microsoft.com/office/drawing/2014/main" id="{430CE216-5074-F975-94BC-9BF0183E1D15}"/>
                  </a:ext>
                </a:extLst>
              </p:cNvPr>
              <p:cNvSpPr>
                <a:spLocks noChangeShapeType="1"/>
              </p:cNvSpPr>
              <p:nvPr/>
            </p:nvSpPr>
            <p:spPr bwMode="auto">
              <a:xfrm>
                <a:off x="2376"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6" name="Rectangle 132">
                <a:extLst>
                  <a:ext uri="{FF2B5EF4-FFF2-40B4-BE49-F238E27FC236}">
                    <a16:creationId xmlns:a16="http://schemas.microsoft.com/office/drawing/2014/main" id="{BA9FCEDA-159E-F70D-05D3-8CA05A82409A}"/>
                  </a:ext>
                </a:extLst>
              </p:cNvPr>
              <p:cNvSpPr>
                <a:spLocks noChangeArrowheads="1"/>
              </p:cNvSpPr>
              <p:nvPr/>
            </p:nvSpPr>
            <p:spPr bwMode="auto">
              <a:xfrm>
                <a:off x="2917"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7" name="Line 133">
                <a:extLst>
                  <a:ext uri="{FF2B5EF4-FFF2-40B4-BE49-F238E27FC236}">
                    <a16:creationId xmlns:a16="http://schemas.microsoft.com/office/drawing/2014/main" id="{25C2CDAD-6126-5BD8-5C49-F8B266FAC3D6}"/>
                  </a:ext>
                </a:extLst>
              </p:cNvPr>
              <p:cNvSpPr>
                <a:spLocks noChangeShapeType="1"/>
              </p:cNvSpPr>
              <p:nvPr/>
            </p:nvSpPr>
            <p:spPr bwMode="auto">
              <a:xfrm>
                <a:off x="2917"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58" name="Rectangle 134">
                <a:extLst>
                  <a:ext uri="{FF2B5EF4-FFF2-40B4-BE49-F238E27FC236}">
                    <a16:creationId xmlns:a16="http://schemas.microsoft.com/office/drawing/2014/main" id="{10B51614-9B8E-6C48-160B-1ECA688401DE}"/>
                  </a:ext>
                </a:extLst>
              </p:cNvPr>
              <p:cNvSpPr>
                <a:spLocks noChangeArrowheads="1"/>
              </p:cNvSpPr>
              <p:nvPr/>
            </p:nvSpPr>
            <p:spPr bwMode="auto">
              <a:xfrm>
                <a:off x="3589"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59" name="Line 135">
                <a:extLst>
                  <a:ext uri="{FF2B5EF4-FFF2-40B4-BE49-F238E27FC236}">
                    <a16:creationId xmlns:a16="http://schemas.microsoft.com/office/drawing/2014/main" id="{FD85B6FE-0404-4E63-4463-B331A8282617}"/>
                  </a:ext>
                </a:extLst>
              </p:cNvPr>
              <p:cNvSpPr>
                <a:spLocks noChangeShapeType="1"/>
              </p:cNvSpPr>
              <p:nvPr/>
            </p:nvSpPr>
            <p:spPr bwMode="auto">
              <a:xfrm>
                <a:off x="3589"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60" name="Rectangle 136">
                <a:extLst>
                  <a:ext uri="{FF2B5EF4-FFF2-40B4-BE49-F238E27FC236}">
                    <a16:creationId xmlns:a16="http://schemas.microsoft.com/office/drawing/2014/main" id="{2722B49B-5F3C-63A7-E0AB-EC7B17C8CEEA}"/>
                  </a:ext>
                </a:extLst>
              </p:cNvPr>
              <p:cNvSpPr>
                <a:spLocks noChangeArrowheads="1"/>
              </p:cNvSpPr>
              <p:nvPr/>
            </p:nvSpPr>
            <p:spPr bwMode="auto">
              <a:xfrm>
                <a:off x="4262" y="757"/>
                <a:ext cx="4"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1" name="Line 137">
                <a:extLst>
                  <a:ext uri="{FF2B5EF4-FFF2-40B4-BE49-F238E27FC236}">
                    <a16:creationId xmlns:a16="http://schemas.microsoft.com/office/drawing/2014/main" id="{DEA4D620-FEBE-5ABA-3200-7FBA5CF35A4B}"/>
                  </a:ext>
                </a:extLst>
              </p:cNvPr>
              <p:cNvSpPr>
                <a:spLocks noChangeShapeType="1"/>
              </p:cNvSpPr>
              <p:nvPr/>
            </p:nvSpPr>
            <p:spPr bwMode="auto">
              <a:xfrm>
                <a:off x="4262"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62" name="Rectangle 138">
                <a:extLst>
                  <a:ext uri="{FF2B5EF4-FFF2-40B4-BE49-F238E27FC236}">
                    <a16:creationId xmlns:a16="http://schemas.microsoft.com/office/drawing/2014/main" id="{5DEC4024-708B-1CC8-A46E-9E0CB7ECCA95}"/>
                  </a:ext>
                </a:extLst>
              </p:cNvPr>
              <p:cNvSpPr>
                <a:spLocks noChangeArrowheads="1"/>
              </p:cNvSpPr>
              <p:nvPr/>
            </p:nvSpPr>
            <p:spPr bwMode="auto">
              <a:xfrm>
                <a:off x="5083" y="757"/>
                <a:ext cx="5" cy="2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3" name="Line 139">
                <a:extLst>
                  <a:ext uri="{FF2B5EF4-FFF2-40B4-BE49-F238E27FC236}">
                    <a16:creationId xmlns:a16="http://schemas.microsoft.com/office/drawing/2014/main" id="{6D7CE413-E382-0A62-B5D7-5A4A2A61E9B9}"/>
                  </a:ext>
                </a:extLst>
              </p:cNvPr>
              <p:cNvSpPr>
                <a:spLocks noChangeShapeType="1"/>
              </p:cNvSpPr>
              <p:nvPr/>
            </p:nvSpPr>
            <p:spPr bwMode="auto">
              <a:xfrm>
                <a:off x="5083" y="757"/>
                <a:ext cx="0" cy="2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064" name="Rectangle 140">
                <a:extLst>
                  <a:ext uri="{FF2B5EF4-FFF2-40B4-BE49-F238E27FC236}">
                    <a16:creationId xmlns:a16="http://schemas.microsoft.com/office/drawing/2014/main" id="{1FA3BC35-FA44-CFCE-AD43-0996C004A7D3}"/>
                  </a:ext>
                </a:extLst>
              </p:cNvPr>
              <p:cNvSpPr>
                <a:spLocks noChangeArrowheads="1"/>
              </p:cNvSpPr>
              <p:nvPr/>
            </p:nvSpPr>
            <p:spPr bwMode="auto">
              <a:xfrm>
                <a:off x="300" y="1029"/>
                <a:ext cx="49" cy="266"/>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5" name="Rectangle 141">
                <a:extLst>
                  <a:ext uri="{FF2B5EF4-FFF2-40B4-BE49-F238E27FC236}">
                    <a16:creationId xmlns:a16="http://schemas.microsoft.com/office/drawing/2014/main" id="{EC098111-A7FF-2F13-730F-3C5116DB1FC2}"/>
                  </a:ext>
                </a:extLst>
              </p:cNvPr>
              <p:cNvSpPr>
                <a:spLocks noChangeArrowheads="1"/>
              </p:cNvSpPr>
              <p:nvPr/>
            </p:nvSpPr>
            <p:spPr bwMode="auto">
              <a:xfrm>
                <a:off x="907" y="1029"/>
                <a:ext cx="49" cy="266"/>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6" name="Rectangle 142">
                <a:extLst>
                  <a:ext uri="{FF2B5EF4-FFF2-40B4-BE49-F238E27FC236}">
                    <a16:creationId xmlns:a16="http://schemas.microsoft.com/office/drawing/2014/main" id="{64ED27EC-2B3D-5CCA-5E8F-755A6BDA9AD7}"/>
                  </a:ext>
                </a:extLst>
              </p:cNvPr>
              <p:cNvSpPr>
                <a:spLocks noChangeArrowheads="1"/>
              </p:cNvSpPr>
              <p:nvPr/>
            </p:nvSpPr>
            <p:spPr bwMode="auto">
              <a:xfrm>
                <a:off x="349" y="1029"/>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7" name="Rectangle 143">
                <a:extLst>
                  <a:ext uri="{FF2B5EF4-FFF2-40B4-BE49-F238E27FC236}">
                    <a16:creationId xmlns:a16="http://schemas.microsoft.com/office/drawing/2014/main" id="{2CF7D6CD-8C7F-6921-61D1-7722589CE80B}"/>
                  </a:ext>
                </a:extLst>
              </p:cNvPr>
              <p:cNvSpPr>
                <a:spLocks noChangeArrowheads="1"/>
              </p:cNvSpPr>
              <p:nvPr/>
            </p:nvSpPr>
            <p:spPr bwMode="auto">
              <a:xfrm>
                <a:off x="349" y="1017"/>
                <a:ext cx="38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Almost </a:t>
                </a:r>
                <a:endParaRPr lang="en-US" altLang="en-US"/>
              </a:p>
            </p:txBody>
          </p:sp>
          <p:sp>
            <p:nvSpPr>
              <p:cNvPr id="56068" name="Rectangle 144">
                <a:extLst>
                  <a:ext uri="{FF2B5EF4-FFF2-40B4-BE49-F238E27FC236}">
                    <a16:creationId xmlns:a16="http://schemas.microsoft.com/office/drawing/2014/main" id="{6FC6E262-516E-238A-7852-510F650B3AF6}"/>
                  </a:ext>
                </a:extLst>
              </p:cNvPr>
              <p:cNvSpPr>
                <a:spLocks noChangeArrowheads="1"/>
              </p:cNvSpPr>
              <p:nvPr/>
            </p:nvSpPr>
            <p:spPr bwMode="auto">
              <a:xfrm>
                <a:off x="349" y="1162"/>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69" name="Rectangle 145">
                <a:extLst>
                  <a:ext uri="{FF2B5EF4-FFF2-40B4-BE49-F238E27FC236}">
                    <a16:creationId xmlns:a16="http://schemas.microsoft.com/office/drawing/2014/main" id="{345AD4C9-5D02-09B2-C98E-AD71E814B0B7}"/>
                  </a:ext>
                </a:extLst>
              </p:cNvPr>
              <p:cNvSpPr>
                <a:spLocks noChangeArrowheads="1"/>
              </p:cNvSpPr>
              <p:nvPr/>
            </p:nvSpPr>
            <p:spPr bwMode="auto">
              <a:xfrm>
                <a:off x="349" y="1150"/>
                <a:ext cx="38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Certain</a:t>
                </a:r>
                <a:endParaRPr lang="en-US" altLang="en-US"/>
              </a:p>
            </p:txBody>
          </p:sp>
          <p:sp>
            <p:nvSpPr>
              <p:cNvPr id="56070" name="Rectangle 146">
                <a:extLst>
                  <a:ext uri="{FF2B5EF4-FFF2-40B4-BE49-F238E27FC236}">
                    <a16:creationId xmlns:a16="http://schemas.microsoft.com/office/drawing/2014/main" id="{3FAB62AD-5224-B326-B885-B416C76F7E9A}"/>
                  </a:ext>
                </a:extLst>
              </p:cNvPr>
              <p:cNvSpPr>
                <a:spLocks noChangeArrowheads="1"/>
              </p:cNvSpPr>
              <p:nvPr/>
            </p:nvSpPr>
            <p:spPr bwMode="auto">
              <a:xfrm>
                <a:off x="742" y="115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6071" name="Rectangle 147">
                <a:extLst>
                  <a:ext uri="{FF2B5EF4-FFF2-40B4-BE49-F238E27FC236}">
                    <a16:creationId xmlns:a16="http://schemas.microsoft.com/office/drawing/2014/main" id="{E79A0874-A36D-72E1-3B4B-D3AF62E5251F}"/>
                  </a:ext>
                </a:extLst>
              </p:cNvPr>
              <p:cNvSpPr>
                <a:spLocks noChangeArrowheads="1"/>
              </p:cNvSpPr>
              <p:nvPr/>
            </p:nvSpPr>
            <p:spPr bwMode="auto">
              <a:xfrm>
                <a:off x="961"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2" name="Rectangle 148">
                <a:extLst>
                  <a:ext uri="{FF2B5EF4-FFF2-40B4-BE49-F238E27FC236}">
                    <a16:creationId xmlns:a16="http://schemas.microsoft.com/office/drawing/2014/main" id="{D0D63718-E4A4-C12D-6C61-5808369C779D}"/>
                  </a:ext>
                </a:extLst>
              </p:cNvPr>
              <p:cNvSpPr>
                <a:spLocks noChangeArrowheads="1"/>
              </p:cNvSpPr>
              <p:nvPr/>
            </p:nvSpPr>
            <p:spPr bwMode="auto">
              <a:xfrm>
                <a:off x="1584"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3" name="Rectangle 149">
                <a:extLst>
                  <a:ext uri="{FF2B5EF4-FFF2-40B4-BE49-F238E27FC236}">
                    <a16:creationId xmlns:a16="http://schemas.microsoft.com/office/drawing/2014/main" id="{531E9FC8-F6FB-CB19-CF58-2990390BF810}"/>
                  </a:ext>
                </a:extLst>
              </p:cNvPr>
              <p:cNvSpPr>
                <a:spLocks noChangeArrowheads="1"/>
              </p:cNvSpPr>
              <p:nvPr/>
            </p:nvSpPr>
            <p:spPr bwMode="auto">
              <a:xfrm>
                <a:off x="961" y="1162"/>
                <a:ext cx="672"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4" name="Rectangle 150">
                <a:extLst>
                  <a:ext uri="{FF2B5EF4-FFF2-40B4-BE49-F238E27FC236}">
                    <a16:creationId xmlns:a16="http://schemas.microsoft.com/office/drawing/2014/main" id="{6F8E77A6-0830-B316-55A8-B9E40F7889C9}"/>
                  </a:ext>
                </a:extLst>
              </p:cNvPr>
              <p:cNvSpPr>
                <a:spLocks noChangeArrowheads="1"/>
              </p:cNvSpPr>
              <p:nvPr/>
            </p:nvSpPr>
            <p:spPr bwMode="auto">
              <a:xfrm>
                <a:off x="1010" y="1029"/>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5" name="Rectangle 151">
                <a:extLst>
                  <a:ext uri="{FF2B5EF4-FFF2-40B4-BE49-F238E27FC236}">
                    <a16:creationId xmlns:a16="http://schemas.microsoft.com/office/drawing/2014/main" id="{79124EF9-AE8C-81DE-0B25-D2266E9D4CAD}"/>
                  </a:ext>
                </a:extLst>
              </p:cNvPr>
              <p:cNvSpPr>
                <a:spLocks noChangeArrowheads="1"/>
              </p:cNvSpPr>
              <p:nvPr/>
            </p:nvSpPr>
            <p:spPr bwMode="auto">
              <a:xfrm>
                <a:off x="1010"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76" name="Rectangle 152">
                <a:extLst>
                  <a:ext uri="{FF2B5EF4-FFF2-40B4-BE49-F238E27FC236}">
                    <a16:creationId xmlns:a16="http://schemas.microsoft.com/office/drawing/2014/main" id="{4883EABA-6BF7-0DE0-1F30-26BC4A9223F2}"/>
                  </a:ext>
                </a:extLst>
              </p:cNvPr>
              <p:cNvSpPr>
                <a:spLocks noChangeArrowheads="1"/>
              </p:cNvSpPr>
              <p:nvPr/>
            </p:nvSpPr>
            <p:spPr bwMode="auto">
              <a:xfrm>
                <a:off x="1072"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77" name="Rectangle 153">
                <a:extLst>
                  <a:ext uri="{FF2B5EF4-FFF2-40B4-BE49-F238E27FC236}">
                    <a16:creationId xmlns:a16="http://schemas.microsoft.com/office/drawing/2014/main" id="{CEACF0C5-0067-CC84-21E9-595AEBCE5637}"/>
                  </a:ext>
                </a:extLst>
              </p:cNvPr>
              <p:cNvSpPr>
                <a:spLocks noChangeArrowheads="1"/>
              </p:cNvSpPr>
              <p:nvPr/>
            </p:nvSpPr>
            <p:spPr bwMode="auto">
              <a:xfrm>
                <a:off x="1637" y="1029"/>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8" name="Rectangle 154">
                <a:extLst>
                  <a:ext uri="{FF2B5EF4-FFF2-40B4-BE49-F238E27FC236}">
                    <a16:creationId xmlns:a16="http://schemas.microsoft.com/office/drawing/2014/main" id="{124267A8-F2F7-31CD-FE1A-0A39AA9C5BAC}"/>
                  </a:ext>
                </a:extLst>
              </p:cNvPr>
              <p:cNvSpPr>
                <a:spLocks noChangeArrowheads="1"/>
              </p:cNvSpPr>
              <p:nvPr/>
            </p:nvSpPr>
            <p:spPr bwMode="auto">
              <a:xfrm>
                <a:off x="2328" y="1029"/>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79" name="Rectangle 155">
                <a:extLst>
                  <a:ext uri="{FF2B5EF4-FFF2-40B4-BE49-F238E27FC236}">
                    <a16:creationId xmlns:a16="http://schemas.microsoft.com/office/drawing/2014/main" id="{D1F9427E-7D54-8AFD-DA35-481C51C813BA}"/>
                  </a:ext>
                </a:extLst>
              </p:cNvPr>
              <p:cNvSpPr>
                <a:spLocks noChangeArrowheads="1"/>
              </p:cNvSpPr>
              <p:nvPr/>
            </p:nvSpPr>
            <p:spPr bwMode="auto">
              <a:xfrm>
                <a:off x="1637" y="1162"/>
                <a:ext cx="73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0" name="Rectangle 156">
                <a:extLst>
                  <a:ext uri="{FF2B5EF4-FFF2-40B4-BE49-F238E27FC236}">
                    <a16:creationId xmlns:a16="http://schemas.microsoft.com/office/drawing/2014/main" id="{F4C6A32B-ED75-A803-4909-1B003DB2E337}"/>
                  </a:ext>
                </a:extLst>
              </p:cNvPr>
              <p:cNvSpPr>
                <a:spLocks noChangeArrowheads="1"/>
              </p:cNvSpPr>
              <p:nvPr/>
            </p:nvSpPr>
            <p:spPr bwMode="auto">
              <a:xfrm>
                <a:off x="1687" y="1029"/>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1" name="Rectangle 157">
                <a:extLst>
                  <a:ext uri="{FF2B5EF4-FFF2-40B4-BE49-F238E27FC236}">
                    <a16:creationId xmlns:a16="http://schemas.microsoft.com/office/drawing/2014/main" id="{1611F602-A3E4-D529-30A3-1F27B9BEDCA6}"/>
                  </a:ext>
                </a:extLst>
              </p:cNvPr>
              <p:cNvSpPr>
                <a:spLocks noChangeArrowheads="1"/>
              </p:cNvSpPr>
              <p:nvPr/>
            </p:nvSpPr>
            <p:spPr bwMode="auto">
              <a:xfrm>
                <a:off x="1687"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82" name="Rectangle 158">
                <a:extLst>
                  <a:ext uri="{FF2B5EF4-FFF2-40B4-BE49-F238E27FC236}">
                    <a16:creationId xmlns:a16="http://schemas.microsoft.com/office/drawing/2014/main" id="{31AABDE2-4526-A298-797E-3C87143337F9}"/>
                  </a:ext>
                </a:extLst>
              </p:cNvPr>
              <p:cNvSpPr>
                <a:spLocks noChangeArrowheads="1"/>
              </p:cNvSpPr>
              <p:nvPr/>
            </p:nvSpPr>
            <p:spPr bwMode="auto">
              <a:xfrm>
                <a:off x="1749"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83" name="Rectangle 159">
                <a:extLst>
                  <a:ext uri="{FF2B5EF4-FFF2-40B4-BE49-F238E27FC236}">
                    <a16:creationId xmlns:a16="http://schemas.microsoft.com/office/drawing/2014/main" id="{9D3B461C-487F-2CAD-6C91-328A5B5A2037}"/>
                  </a:ext>
                </a:extLst>
              </p:cNvPr>
              <p:cNvSpPr>
                <a:spLocks noChangeArrowheads="1"/>
              </p:cNvSpPr>
              <p:nvPr/>
            </p:nvSpPr>
            <p:spPr bwMode="auto">
              <a:xfrm>
                <a:off x="2381"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4" name="Rectangle 160">
                <a:extLst>
                  <a:ext uri="{FF2B5EF4-FFF2-40B4-BE49-F238E27FC236}">
                    <a16:creationId xmlns:a16="http://schemas.microsoft.com/office/drawing/2014/main" id="{B3421970-B549-A237-6EBE-478EFD95AEEF}"/>
                  </a:ext>
                </a:extLst>
              </p:cNvPr>
              <p:cNvSpPr>
                <a:spLocks noChangeArrowheads="1"/>
              </p:cNvSpPr>
              <p:nvPr/>
            </p:nvSpPr>
            <p:spPr bwMode="auto">
              <a:xfrm>
                <a:off x="2868"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5" name="Rectangle 161">
                <a:extLst>
                  <a:ext uri="{FF2B5EF4-FFF2-40B4-BE49-F238E27FC236}">
                    <a16:creationId xmlns:a16="http://schemas.microsoft.com/office/drawing/2014/main" id="{7C5645DC-25BE-1CC9-BBB0-B0119D079895}"/>
                  </a:ext>
                </a:extLst>
              </p:cNvPr>
              <p:cNvSpPr>
                <a:spLocks noChangeArrowheads="1"/>
              </p:cNvSpPr>
              <p:nvPr/>
            </p:nvSpPr>
            <p:spPr bwMode="auto">
              <a:xfrm>
                <a:off x="2381" y="1162"/>
                <a:ext cx="536"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6" name="Rectangle 162">
                <a:extLst>
                  <a:ext uri="{FF2B5EF4-FFF2-40B4-BE49-F238E27FC236}">
                    <a16:creationId xmlns:a16="http://schemas.microsoft.com/office/drawing/2014/main" id="{1247B4DA-5D3F-34D0-3BC6-DF48309B68E0}"/>
                  </a:ext>
                </a:extLst>
              </p:cNvPr>
              <p:cNvSpPr>
                <a:spLocks noChangeArrowheads="1"/>
              </p:cNvSpPr>
              <p:nvPr/>
            </p:nvSpPr>
            <p:spPr bwMode="auto">
              <a:xfrm>
                <a:off x="2430" y="1029"/>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87" name="Rectangle 163">
                <a:extLst>
                  <a:ext uri="{FF2B5EF4-FFF2-40B4-BE49-F238E27FC236}">
                    <a16:creationId xmlns:a16="http://schemas.microsoft.com/office/drawing/2014/main" id="{4348E8B3-EF19-911A-9C51-E26390C3337C}"/>
                  </a:ext>
                </a:extLst>
              </p:cNvPr>
              <p:cNvSpPr>
                <a:spLocks noChangeArrowheads="1"/>
              </p:cNvSpPr>
              <p:nvPr/>
            </p:nvSpPr>
            <p:spPr bwMode="auto">
              <a:xfrm>
                <a:off x="2430"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88" name="Rectangle 164">
                <a:extLst>
                  <a:ext uri="{FF2B5EF4-FFF2-40B4-BE49-F238E27FC236}">
                    <a16:creationId xmlns:a16="http://schemas.microsoft.com/office/drawing/2014/main" id="{6A1B7903-1116-F2F6-464B-E4C0D4EA6E97}"/>
                  </a:ext>
                </a:extLst>
              </p:cNvPr>
              <p:cNvSpPr>
                <a:spLocks noChangeArrowheads="1"/>
              </p:cNvSpPr>
              <p:nvPr/>
            </p:nvSpPr>
            <p:spPr bwMode="auto">
              <a:xfrm>
                <a:off x="2492"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89" name="Rectangle 165">
                <a:extLst>
                  <a:ext uri="{FF2B5EF4-FFF2-40B4-BE49-F238E27FC236}">
                    <a16:creationId xmlns:a16="http://schemas.microsoft.com/office/drawing/2014/main" id="{1F30A7E0-C4E4-64A8-2B8A-700CF0AC1298}"/>
                  </a:ext>
                </a:extLst>
              </p:cNvPr>
              <p:cNvSpPr>
                <a:spLocks noChangeArrowheads="1"/>
              </p:cNvSpPr>
              <p:nvPr/>
            </p:nvSpPr>
            <p:spPr bwMode="auto">
              <a:xfrm>
                <a:off x="2922"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0" name="Rectangle 166">
                <a:extLst>
                  <a:ext uri="{FF2B5EF4-FFF2-40B4-BE49-F238E27FC236}">
                    <a16:creationId xmlns:a16="http://schemas.microsoft.com/office/drawing/2014/main" id="{88C9A494-05EB-2FE8-082E-ACEA16C6FD01}"/>
                  </a:ext>
                </a:extLst>
              </p:cNvPr>
              <p:cNvSpPr>
                <a:spLocks noChangeArrowheads="1"/>
              </p:cNvSpPr>
              <p:nvPr/>
            </p:nvSpPr>
            <p:spPr bwMode="auto">
              <a:xfrm>
                <a:off x="3540"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1" name="Rectangle 167">
                <a:extLst>
                  <a:ext uri="{FF2B5EF4-FFF2-40B4-BE49-F238E27FC236}">
                    <a16:creationId xmlns:a16="http://schemas.microsoft.com/office/drawing/2014/main" id="{D0D776E5-C943-0CD6-944A-BBF7F0B909A3}"/>
                  </a:ext>
                </a:extLst>
              </p:cNvPr>
              <p:cNvSpPr>
                <a:spLocks noChangeArrowheads="1"/>
              </p:cNvSpPr>
              <p:nvPr/>
            </p:nvSpPr>
            <p:spPr bwMode="auto">
              <a:xfrm>
                <a:off x="2922" y="1162"/>
                <a:ext cx="66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2" name="Rectangle 168">
                <a:extLst>
                  <a:ext uri="{FF2B5EF4-FFF2-40B4-BE49-F238E27FC236}">
                    <a16:creationId xmlns:a16="http://schemas.microsoft.com/office/drawing/2014/main" id="{FD73EA3A-7917-0C1A-3B03-6762FE262A15}"/>
                  </a:ext>
                </a:extLst>
              </p:cNvPr>
              <p:cNvSpPr>
                <a:spLocks noChangeArrowheads="1"/>
              </p:cNvSpPr>
              <p:nvPr/>
            </p:nvSpPr>
            <p:spPr bwMode="auto">
              <a:xfrm>
                <a:off x="2971" y="1029"/>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3" name="Rectangle 169">
                <a:extLst>
                  <a:ext uri="{FF2B5EF4-FFF2-40B4-BE49-F238E27FC236}">
                    <a16:creationId xmlns:a16="http://schemas.microsoft.com/office/drawing/2014/main" id="{D203480F-430A-FD8C-B2BE-BB1D4DFC6D17}"/>
                  </a:ext>
                </a:extLst>
              </p:cNvPr>
              <p:cNvSpPr>
                <a:spLocks noChangeArrowheads="1"/>
              </p:cNvSpPr>
              <p:nvPr/>
            </p:nvSpPr>
            <p:spPr bwMode="auto">
              <a:xfrm>
                <a:off x="2971" y="1017"/>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6094" name="Rectangle 170">
                <a:extLst>
                  <a:ext uri="{FF2B5EF4-FFF2-40B4-BE49-F238E27FC236}">
                    <a16:creationId xmlns:a16="http://schemas.microsoft.com/office/drawing/2014/main" id="{6365310B-CEC2-A161-8BB1-D0D1EE021D33}"/>
                  </a:ext>
                </a:extLst>
              </p:cNvPr>
              <p:cNvSpPr>
                <a:spLocks noChangeArrowheads="1"/>
              </p:cNvSpPr>
              <p:nvPr/>
            </p:nvSpPr>
            <p:spPr bwMode="auto">
              <a:xfrm>
                <a:off x="3033"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095" name="Rectangle 171">
                <a:extLst>
                  <a:ext uri="{FF2B5EF4-FFF2-40B4-BE49-F238E27FC236}">
                    <a16:creationId xmlns:a16="http://schemas.microsoft.com/office/drawing/2014/main" id="{059D227C-E7F4-DCD9-513A-6C312E8BBAC3}"/>
                  </a:ext>
                </a:extLst>
              </p:cNvPr>
              <p:cNvSpPr>
                <a:spLocks noChangeArrowheads="1"/>
              </p:cNvSpPr>
              <p:nvPr/>
            </p:nvSpPr>
            <p:spPr bwMode="auto">
              <a:xfrm>
                <a:off x="3594"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6" name="Rectangle 172">
                <a:extLst>
                  <a:ext uri="{FF2B5EF4-FFF2-40B4-BE49-F238E27FC236}">
                    <a16:creationId xmlns:a16="http://schemas.microsoft.com/office/drawing/2014/main" id="{2F82ABC3-A61F-BC3E-0F1B-4D8723402832}"/>
                  </a:ext>
                </a:extLst>
              </p:cNvPr>
              <p:cNvSpPr>
                <a:spLocks noChangeArrowheads="1"/>
              </p:cNvSpPr>
              <p:nvPr/>
            </p:nvSpPr>
            <p:spPr bwMode="auto">
              <a:xfrm>
                <a:off x="4212" y="1029"/>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7" name="Rectangle 173">
                <a:extLst>
                  <a:ext uri="{FF2B5EF4-FFF2-40B4-BE49-F238E27FC236}">
                    <a16:creationId xmlns:a16="http://schemas.microsoft.com/office/drawing/2014/main" id="{726A36A9-0C01-10D9-4179-4B1D7CB8B617}"/>
                  </a:ext>
                </a:extLst>
              </p:cNvPr>
              <p:cNvSpPr>
                <a:spLocks noChangeArrowheads="1"/>
              </p:cNvSpPr>
              <p:nvPr/>
            </p:nvSpPr>
            <p:spPr bwMode="auto">
              <a:xfrm>
                <a:off x="3594" y="1162"/>
                <a:ext cx="66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8" name="Rectangle 174">
                <a:extLst>
                  <a:ext uri="{FF2B5EF4-FFF2-40B4-BE49-F238E27FC236}">
                    <a16:creationId xmlns:a16="http://schemas.microsoft.com/office/drawing/2014/main" id="{7AF3E61B-88B7-046B-D33A-1B80AEB28B09}"/>
                  </a:ext>
                </a:extLst>
              </p:cNvPr>
              <p:cNvSpPr>
                <a:spLocks noChangeArrowheads="1"/>
              </p:cNvSpPr>
              <p:nvPr/>
            </p:nvSpPr>
            <p:spPr bwMode="auto">
              <a:xfrm>
                <a:off x="3643" y="1029"/>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099" name="Rectangle 175">
                <a:extLst>
                  <a:ext uri="{FF2B5EF4-FFF2-40B4-BE49-F238E27FC236}">
                    <a16:creationId xmlns:a16="http://schemas.microsoft.com/office/drawing/2014/main" id="{32250D1D-AD83-56D5-2DFC-27C2FE81CFFA}"/>
                  </a:ext>
                </a:extLst>
              </p:cNvPr>
              <p:cNvSpPr>
                <a:spLocks noChangeArrowheads="1"/>
              </p:cNvSpPr>
              <p:nvPr/>
            </p:nvSpPr>
            <p:spPr bwMode="auto">
              <a:xfrm>
                <a:off x="3643" y="1017"/>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6100" name="Rectangle 176">
                <a:extLst>
                  <a:ext uri="{FF2B5EF4-FFF2-40B4-BE49-F238E27FC236}">
                    <a16:creationId xmlns:a16="http://schemas.microsoft.com/office/drawing/2014/main" id="{1FF35E05-31EC-9D74-33E9-A15100D0770D}"/>
                  </a:ext>
                </a:extLst>
              </p:cNvPr>
              <p:cNvSpPr>
                <a:spLocks noChangeArrowheads="1"/>
              </p:cNvSpPr>
              <p:nvPr/>
            </p:nvSpPr>
            <p:spPr bwMode="auto">
              <a:xfrm>
                <a:off x="3718"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101" name="Rectangle 177">
                <a:extLst>
                  <a:ext uri="{FF2B5EF4-FFF2-40B4-BE49-F238E27FC236}">
                    <a16:creationId xmlns:a16="http://schemas.microsoft.com/office/drawing/2014/main" id="{F0AA293C-0D9A-407C-F9E2-3664B5E0BFCC}"/>
                  </a:ext>
                </a:extLst>
              </p:cNvPr>
              <p:cNvSpPr>
                <a:spLocks noChangeArrowheads="1"/>
              </p:cNvSpPr>
              <p:nvPr/>
            </p:nvSpPr>
            <p:spPr bwMode="auto">
              <a:xfrm>
                <a:off x="4266" y="1029"/>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2" name="Rectangle 178">
                <a:extLst>
                  <a:ext uri="{FF2B5EF4-FFF2-40B4-BE49-F238E27FC236}">
                    <a16:creationId xmlns:a16="http://schemas.microsoft.com/office/drawing/2014/main" id="{6A3627A7-8B38-480E-7410-35B717FFA67B}"/>
                  </a:ext>
                </a:extLst>
              </p:cNvPr>
              <p:cNvSpPr>
                <a:spLocks noChangeArrowheads="1"/>
              </p:cNvSpPr>
              <p:nvPr/>
            </p:nvSpPr>
            <p:spPr bwMode="auto">
              <a:xfrm>
                <a:off x="5034" y="102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3" name="Rectangle 179">
                <a:extLst>
                  <a:ext uri="{FF2B5EF4-FFF2-40B4-BE49-F238E27FC236}">
                    <a16:creationId xmlns:a16="http://schemas.microsoft.com/office/drawing/2014/main" id="{C678D4A7-D7EB-6750-6FA7-E6B784FF8423}"/>
                  </a:ext>
                </a:extLst>
              </p:cNvPr>
              <p:cNvSpPr>
                <a:spLocks noChangeArrowheads="1"/>
              </p:cNvSpPr>
              <p:nvPr/>
            </p:nvSpPr>
            <p:spPr bwMode="auto">
              <a:xfrm>
                <a:off x="4266" y="1162"/>
                <a:ext cx="817"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4" name="Rectangle 180">
                <a:extLst>
                  <a:ext uri="{FF2B5EF4-FFF2-40B4-BE49-F238E27FC236}">
                    <a16:creationId xmlns:a16="http://schemas.microsoft.com/office/drawing/2014/main" id="{7BE30677-DE12-0FFB-C74B-26BE9A358901}"/>
                  </a:ext>
                </a:extLst>
              </p:cNvPr>
              <p:cNvSpPr>
                <a:spLocks noChangeArrowheads="1"/>
              </p:cNvSpPr>
              <p:nvPr/>
            </p:nvSpPr>
            <p:spPr bwMode="auto">
              <a:xfrm>
                <a:off x="4316" y="1029"/>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5" name="Rectangle 181">
                <a:extLst>
                  <a:ext uri="{FF2B5EF4-FFF2-40B4-BE49-F238E27FC236}">
                    <a16:creationId xmlns:a16="http://schemas.microsoft.com/office/drawing/2014/main" id="{1A3BAF26-1D52-9034-99F2-CC4EE9D826E2}"/>
                  </a:ext>
                </a:extLst>
              </p:cNvPr>
              <p:cNvSpPr>
                <a:spLocks noChangeArrowheads="1"/>
              </p:cNvSpPr>
              <p:nvPr/>
            </p:nvSpPr>
            <p:spPr bwMode="auto">
              <a:xfrm>
                <a:off x="4316" y="1017"/>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6106" name="Rectangle 182">
                <a:extLst>
                  <a:ext uri="{FF2B5EF4-FFF2-40B4-BE49-F238E27FC236}">
                    <a16:creationId xmlns:a16="http://schemas.microsoft.com/office/drawing/2014/main" id="{2D424D4E-C632-8F49-1C81-255CB657B04D}"/>
                  </a:ext>
                </a:extLst>
              </p:cNvPr>
              <p:cNvSpPr>
                <a:spLocks noChangeArrowheads="1"/>
              </p:cNvSpPr>
              <p:nvPr/>
            </p:nvSpPr>
            <p:spPr bwMode="auto">
              <a:xfrm>
                <a:off x="4390" y="101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6107" name="Rectangle 183">
                <a:extLst>
                  <a:ext uri="{FF2B5EF4-FFF2-40B4-BE49-F238E27FC236}">
                    <a16:creationId xmlns:a16="http://schemas.microsoft.com/office/drawing/2014/main" id="{BEFDEA46-4386-479F-4626-1BDB4C0D3A1B}"/>
                  </a:ext>
                </a:extLst>
              </p:cNvPr>
              <p:cNvSpPr>
                <a:spLocks noChangeArrowheads="1"/>
              </p:cNvSpPr>
              <p:nvPr/>
            </p:nvSpPr>
            <p:spPr bwMode="auto">
              <a:xfrm>
                <a:off x="295"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08" name="Line 184">
                <a:extLst>
                  <a:ext uri="{FF2B5EF4-FFF2-40B4-BE49-F238E27FC236}">
                    <a16:creationId xmlns:a16="http://schemas.microsoft.com/office/drawing/2014/main" id="{34A76AD5-5070-2138-D971-8C9BE7797A04}"/>
                  </a:ext>
                </a:extLst>
              </p:cNvPr>
              <p:cNvSpPr>
                <a:spLocks noChangeShapeType="1"/>
              </p:cNvSpPr>
              <p:nvPr/>
            </p:nvSpPr>
            <p:spPr bwMode="auto">
              <a:xfrm>
                <a:off x="295"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09" name="Line 185">
                <a:extLst>
                  <a:ext uri="{FF2B5EF4-FFF2-40B4-BE49-F238E27FC236}">
                    <a16:creationId xmlns:a16="http://schemas.microsoft.com/office/drawing/2014/main" id="{11A03E30-7B6A-A6E9-EA91-20279EE38C25}"/>
                  </a:ext>
                </a:extLst>
              </p:cNvPr>
              <p:cNvSpPr>
                <a:spLocks noChangeShapeType="1"/>
              </p:cNvSpPr>
              <p:nvPr/>
            </p:nvSpPr>
            <p:spPr bwMode="auto">
              <a:xfrm>
                <a:off x="295"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0" name="Rectangle 186">
                <a:extLst>
                  <a:ext uri="{FF2B5EF4-FFF2-40B4-BE49-F238E27FC236}">
                    <a16:creationId xmlns:a16="http://schemas.microsoft.com/office/drawing/2014/main" id="{CB56FD07-4119-1377-0F8B-7300CA2F1779}"/>
                  </a:ext>
                </a:extLst>
              </p:cNvPr>
              <p:cNvSpPr>
                <a:spLocks noChangeArrowheads="1"/>
              </p:cNvSpPr>
              <p:nvPr/>
            </p:nvSpPr>
            <p:spPr bwMode="auto">
              <a:xfrm>
                <a:off x="300" y="1025"/>
                <a:ext cx="65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1" name="Line 187">
                <a:extLst>
                  <a:ext uri="{FF2B5EF4-FFF2-40B4-BE49-F238E27FC236}">
                    <a16:creationId xmlns:a16="http://schemas.microsoft.com/office/drawing/2014/main" id="{C1A6C89F-B78D-8512-B5A5-E847DD692CE0}"/>
                  </a:ext>
                </a:extLst>
              </p:cNvPr>
              <p:cNvSpPr>
                <a:spLocks noChangeShapeType="1"/>
              </p:cNvSpPr>
              <p:nvPr/>
            </p:nvSpPr>
            <p:spPr bwMode="auto">
              <a:xfrm>
                <a:off x="300" y="1025"/>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2" name="Rectangle 188">
                <a:extLst>
                  <a:ext uri="{FF2B5EF4-FFF2-40B4-BE49-F238E27FC236}">
                    <a16:creationId xmlns:a16="http://schemas.microsoft.com/office/drawing/2014/main" id="{61F884D1-3F07-BFCD-5F54-6649703F138D}"/>
                  </a:ext>
                </a:extLst>
              </p:cNvPr>
              <p:cNvSpPr>
                <a:spLocks noChangeArrowheads="1"/>
              </p:cNvSpPr>
              <p:nvPr/>
            </p:nvSpPr>
            <p:spPr bwMode="auto">
              <a:xfrm>
                <a:off x="956"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3" name="Line 189">
                <a:extLst>
                  <a:ext uri="{FF2B5EF4-FFF2-40B4-BE49-F238E27FC236}">
                    <a16:creationId xmlns:a16="http://schemas.microsoft.com/office/drawing/2014/main" id="{56DF09AE-3551-02DB-3AB3-4D7EFAF12834}"/>
                  </a:ext>
                </a:extLst>
              </p:cNvPr>
              <p:cNvSpPr>
                <a:spLocks noChangeShapeType="1"/>
              </p:cNvSpPr>
              <p:nvPr/>
            </p:nvSpPr>
            <p:spPr bwMode="auto">
              <a:xfrm>
                <a:off x="956"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4" name="Line 190">
                <a:extLst>
                  <a:ext uri="{FF2B5EF4-FFF2-40B4-BE49-F238E27FC236}">
                    <a16:creationId xmlns:a16="http://schemas.microsoft.com/office/drawing/2014/main" id="{B70E5FEA-DF3A-E152-A7BC-52BF51F9626D}"/>
                  </a:ext>
                </a:extLst>
              </p:cNvPr>
              <p:cNvSpPr>
                <a:spLocks noChangeShapeType="1"/>
              </p:cNvSpPr>
              <p:nvPr/>
            </p:nvSpPr>
            <p:spPr bwMode="auto">
              <a:xfrm>
                <a:off x="956"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5" name="Rectangle 191">
                <a:extLst>
                  <a:ext uri="{FF2B5EF4-FFF2-40B4-BE49-F238E27FC236}">
                    <a16:creationId xmlns:a16="http://schemas.microsoft.com/office/drawing/2014/main" id="{35A9F097-DF2F-D96C-0E0B-7AA1BB4A85B9}"/>
                  </a:ext>
                </a:extLst>
              </p:cNvPr>
              <p:cNvSpPr>
                <a:spLocks noChangeArrowheads="1"/>
              </p:cNvSpPr>
              <p:nvPr/>
            </p:nvSpPr>
            <p:spPr bwMode="auto">
              <a:xfrm>
                <a:off x="961" y="1025"/>
                <a:ext cx="6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6" name="Line 192">
                <a:extLst>
                  <a:ext uri="{FF2B5EF4-FFF2-40B4-BE49-F238E27FC236}">
                    <a16:creationId xmlns:a16="http://schemas.microsoft.com/office/drawing/2014/main" id="{AB0EE5B3-24CA-94AE-B407-C5E6C9003D24}"/>
                  </a:ext>
                </a:extLst>
              </p:cNvPr>
              <p:cNvSpPr>
                <a:spLocks noChangeShapeType="1"/>
              </p:cNvSpPr>
              <p:nvPr/>
            </p:nvSpPr>
            <p:spPr bwMode="auto">
              <a:xfrm>
                <a:off x="961" y="1025"/>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7" name="Rectangle 193">
                <a:extLst>
                  <a:ext uri="{FF2B5EF4-FFF2-40B4-BE49-F238E27FC236}">
                    <a16:creationId xmlns:a16="http://schemas.microsoft.com/office/drawing/2014/main" id="{445E15E9-59C6-6D03-9F75-5F970CB25637}"/>
                  </a:ext>
                </a:extLst>
              </p:cNvPr>
              <p:cNvSpPr>
                <a:spLocks noChangeArrowheads="1"/>
              </p:cNvSpPr>
              <p:nvPr/>
            </p:nvSpPr>
            <p:spPr bwMode="auto">
              <a:xfrm>
                <a:off x="1633" y="1025"/>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18" name="Line 194">
                <a:extLst>
                  <a:ext uri="{FF2B5EF4-FFF2-40B4-BE49-F238E27FC236}">
                    <a16:creationId xmlns:a16="http://schemas.microsoft.com/office/drawing/2014/main" id="{5A3590DE-5E7F-2D6C-DB64-CE45E1E47339}"/>
                  </a:ext>
                </a:extLst>
              </p:cNvPr>
              <p:cNvSpPr>
                <a:spLocks noChangeShapeType="1"/>
              </p:cNvSpPr>
              <p:nvPr/>
            </p:nvSpPr>
            <p:spPr bwMode="auto">
              <a:xfrm>
                <a:off x="1633" y="102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19" name="Line 195">
                <a:extLst>
                  <a:ext uri="{FF2B5EF4-FFF2-40B4-BE49-F238E27FC236}">
                    <a16:creationId xmlns:a16="http://schemas.microsoft.com/office/drawing/2014/main" id="{D8BCE324-8CEA-FEB6-2511-35141A1CB6F5}"/>
                  </a:ext>
                </a:extLst>
              </p:cNvPr>
              <p:cNvSpPr>
                <a:spLocks noChangeShapeType="1"/>
              </p:cNvSpPr>
              <p:nvPr/>
            </p:nvSpPr>
            <p:spPr bwMode="auto">
              <a:xfrm>
                <a:off x="1633"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0" name="Rectangle 196">
                <a:extLst>
                  <a:ext uri="{FF2B5EF4-FFF2-40B4-BE49-F238E27FC236}">
                    <a16:creationId xmlns:a16="http://schemas.microsoft.com/office/drawing/2014/main" id="{A937CB0B-A5AD-4F17-2786-22DB87CE23D4}"/>
                  </a:ext>
                </a:extLst>
              </p:cNvPr>
              <p:cNvSpPr>
                <a:spLocks noChangeArrowheads="1"/>
              </p:cNvSpPr>
              <p:nvPr/>
            </p:nvSpPr>
            <p:spPr bwMode="auto">
              <a:xfrm>
                <a:off x="1637" y="1025"/>
                <a:ext cx="7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1" name="Line 197">
                <a:extLst>
                  <a:ext uri="{FF2B5EF4-FFF2-40B4-BE49-F238E27FC236}">
                    <a16:creationId xmlns:a16="http://schemas.microsoft.com/office/drawing/2014/main" id="{9106E9B0-6632-5B1B-4824-EFD015C6A4FB}"/>
                  </a:ext>
                </a:extLst>
              </p:cNvPr>
              <p:cNvSpPr>
                <a:spLocks noChangeShapeType="1"/>
              </p:cNvSpPr>
              <p:nvPr/>
            </p:nvSpPr>
            <p:spPr bwMode="auto">
              <a:xfrm>
                <a:off x="1637" y="1025"/>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2" name="Rectangle 198">
                <a:extLst>
                  <a:ext uri="{FF2B5EF4-FFF2-40B4-BE49-F238E27FC236}">
                    <a16:creationId xmlns:a16="http://schemas.microsoft.com/office/drawing/2014/main" id="{6776203A-D632-B577-0461-4EF59136EAE8}"/>
                  </a:ext>
                </a:extLst>
              </p:cNvPr>
              <p:cNvSpPr>
                <a:spLocks noChangeArrowheads="1"/>
              </p:cNvSpPr>
              <p:nvPr/>
            </p:nvSpPr>
            <p:spPr bwMode="auto">
              <a:xfrm>
                <a:off x="2376"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3" name="Line 199">
                <a:extLst>
                  <a:ext uri="{FF2B5EF4-FFF2-40B4-BE49-F238E27FC236}">
                    <a16:creationId xmlns:a16="http://schemas.microsoft.com/office/drawing/2014/main" id="{84EFB82B-6995-2993-EAAB-3AE84618D244}"/>
                  </a:ext>
                </a:extLst>
              </p:cNvPr>
              <p:cNvSpPr>
                <a:spLocks noChangeShapeType="1"/>
              </p:cNvSpPr>
              <p:nvPr/>
            </p:nvSpPr>
            <p:spPr bwMode="auto">
              <a:xfrm>
                <a:off x="2376"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4" name="Line 200">
                <a:extLst>
                  <a:ext uri="{FF2B5EF4-FFF2-40B4-BE49-F238E27FC236}">
                    <a16:creationId xmlns:a16="http://schemas.microsoft.com/office/drawing/2014/main" id="{0B2DBA6A-8B46-40A7-81D6-FD4DE2F2797A}"/>
                  </a:ext>
                </a:extLst>
              </p:cNvPr>
              <p:cNvSpPr>
                <a:spLocks noChangeShapeType="1"/>
              </p:cNvSpPr>
              <p:nvPr/>
            </p:nvSpPr>
            <p:spPr bwMode="auto">
              <a:xfrm>
                <a:off x="2376"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5" name="Rectangle 201">
                <a:extLst>
                  <a:ext uri="{FF2B5EF4-FFF2-40B4-BE49-F238E27FC236}">
                    <a16:creationId xmlns:a16="http://schemas.microsoft.com/office/drawing/2014/main" id="{A34BEF38-A87A-1F6D-B57E-9A88DA8EB15B}"/>
                  </a:ext>
                </a:extLst>
              </p:cNvPr>
              <p:cNvSpPr>
                <a:spLocks noChangeArrowheads="1"/>
              </p:cNvSpPr>
              <p:nvPr/>
            </p:nvSpPr>
            <p:spPr bwMode="auto">
              <a:xfrm>
                <a:off x="2381" y="1025"/>
                <a:ext cx="53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6" name="Line 202">
                <a:extLst>
                  <a:ext uri="{FF2B5EF4-FFF2-40B4-BE49-F238E27FC236}">
                    <a16:creationId xmlns:a16="http://schemas.microsoft.com/office/drawing/2014/main" id="{868AAFCC-264A-A747-0990-DB2F4BFC2F41}"/>
                  </a:ext>
                </a:extLst>
              </p:cNvPr>
              <p:cNvSpPr>
                <a:spLocks noChangeShapeType="1"/>
              </p:cNvSpPr>
              <p:nvPr/>
            </p:nvSpPr>
            <p:spPr bwMode="auto">
              <a:xfrm>
                <a:off x="2381" y="1025"/>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7" name="Rectangle 203">
                <a:extLst>
                  <a:ext uri="{FF2B5EF4-FFF2-40B4-BE49-F238E27FC236}">
                    <a16:creationId xmlns:a16="http://schemas.microsoft.com/office/drawing/2014/main" id="{5B456CBB-FE7A-3C68-790C-3F3E0B5F6268}"/>
                  </a:ext>
                </a:extLst>
              </p:cNvPr>
              <p:cNvSpPr>
                <a:spLocks noChangeArrowheads="1"/>
              </p:cNvSpPr>
              <p:nvPr/>
            </p:nvSpPr>
            <p:spPr bwMode="auto">
              <a:xfrm>
                <a:off x="2917"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6128" name="Line 204">
                <a:extLst>
                  <a:ext uri="{FF2B5EF4-FFF2-40B4-BE49-F238E27FC236}">
                    <a16:creationId xmlns:a16="http://schemas.microsoft.com/office/drawing/2014/main" id="{9CCFCA01-4E35-CBA3-CBD5-8CEF811FEC1A}"/>
                  </a:ext>
                </a:extLst>
              </p:cNvPr>
              <p:cNvSpPr>
                <a:spLocks noChangeShapeType="1"/>
              </p:cNvSpPr>
              <p:nvPr/>
            </p:nvSpPr>
            <p:spPr bwMode="auto">
              <a:xfrm>
                <a:off x="2917"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29" name="Line 205">
                <a:extLst>
                  <a:ext uri="{FF2B5EF4-FFF2-40B4-BE49-F238E27FC236}">
                    <a16:creationId xmlns:a16="http://schemas.microsoft.com/office/drawing/2014/main" id="{EBB099E3-9551-427B-B694-2166ED0BAE09}"/>
                  </a:ext>
                </a:extLst>
              </p:cNvPr>
              <p:cNvSpPr>
                <a:spLocks noChangeShapeType="1"/>
              </p:cNvSpPr>
              <p:nvPr/>
            </p:nvSpPr>
            <p:spPr bwMode="auto">
              <a:xfrm>
                <a:off x="2917"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130" name="Rectangle 206">
                <a:extLst>
                  <a:ext uri="{FF2B5EF4-FFF2-40B4-BE49-F238E27FC236}">
                    <a16:creationId xmlns:a16="http://schemas.microsoft.com/office/drawing/2014/main" id="{13F8E1D1-A609-5B00-5D03-621E345BC709}"/>
                  </a:ext>
                </a:extLst>
              </p:cNvPr>
              <p:cNvSpPr>
                <a:spLocks noChangeArrowheads="1"/>
              </p:cNvSpPr>
              <p:nvPr/>
            </p:nvSpPr>
            <p:spPr bwMode="auto">
              <a:xfrm>
                <a:off x="2922" y="1025"/>
                <a:ext cx="6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grpSp>
        <p:grpSp>
          <p:nvGrpSpPr>
            <p:cNvPr id="55302" name="Group 408">
              <a:extLst>
                <a:ext uri="{FF2B5EF4-FFF2-40B4-BE49-F238E27FC236}">
                  <a16:creationId xmlns:a16="http://schemas.microsoft.com/office/drawing/2014/main" id="{2B75433D-CE76-943C-ADBB-607A27AEE3D6}"/>
                </a:ext>
              </a:extLst>
            </p:cNvPr>
            <p:cNvGrpSpPr>
              <a:grpSpLocks/>
            </p:cNvGrpSpPr>
            <p:nvPr/>
          </p:nvGrpSpPr>
          <p:grpSpPr bwMode="auto">
            <a:xfrm>
              <a:off x="295" y="1025"/>
              <a:ext cx="4793" cy="547"/>
              <a:chOff x="295" y="1025"/>
              <a:chExt cx="4793" cy="547"/>
            </a:xfrm>
          </p:grpSpPr>
          <p:sp>
            <p:nvSpPr>
              <p:cNvPr id="55731" name="Line 208">
                <a:extLst>
                  <a:ext uri="{FF2B5EF4-FFF2-40B4-BE49-F238E27FC236}">
                    <a16:creationId xmlns:a16="http://schemas.microsoft.com/office/drawing/2014/main" id="{4ACA1538-B4AB-F131-28F1-F31D296E1404}"/>
                  </a:ext>
                </a:extLst>
              </p:cNvPr>
              <p:cNvSpPr>
                <a:spLocks noChangeShapeType="1"/>
              </p:cNvSpPr>
              <p:nvPr/>
            </p:nvSpPr>
            <p:spPr bwMode="auto">
              <a:xfrm>
                <a:off x="2922" y="1025"/>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2" name="Rectangle 209">
                <a:extLst>
                  <a:ext uri="{FF2B5EF4-FFF2-40B4-BE49-F238E27FC236}">
                    <a16:creationId xmlns:a16="http://schemas.microsoft.com/office/drawing/2014/main" id="{FF2AE24A-D035-3C0E-3246-AB4EFBD0E8B2}"/>
                  </a:ext>
                </a:extLst>
              </p:cNvPr>
              <p:cNvSpPr>
                <a:spLocks noChangeArrowheads="1"/>
              </p:cNvSpPr>
              <p:nvPr/>
            </p:nvSpPr>
            <p:spPr bwMode="auto">
              <a:xfrm>
                <a:off x="3589"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33" name="Line 210">
                <a:extLst>
                  <a:ext uri="{FF2B5EF4-FFF2-40B4-BE49-F238E27FC236}">
                    <a16:creationId xmlns:a16="http://schemas.microsoft.com/office/drawing/2014/main" id="{AF81FAED-C051-7FCE-5BC5-B8BEDD97DC37}"/>
                  </a:ext>
                </a:extLst>
              </p:cNvPr>
              <p:cNvSpPr>
                <a:spLocks noChangeShapeType="1"/>
              </p:cNvSpPr>
              <p:nvPr/>
            </p:nvSpPr>
            <p:spPr bwMode="auto">
              <a:xfrm>
                <a:off x="3589"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4" name="Line 211">
                <a:extLst>
                  <a:ext uri="{FF2B5EF4-FFF2-40B4-BE49-F238E27FC236}">
                    <a16:creationId xmlns:a16="http://schemas.microsoft.com/office/drawing/2014/main" id="{70435422-877C-6E5A-D806-D5037143CC0A}"/>
                  </a:ext>
                </a:extLst>
              </p:cNvPr>
              <p:cNvSpPr>
                <a:spLocks noChangeShapeType="1"/>
              </p:cNvSpPr>
              <p:nvPr/>
            </p:nvSpPr>
            <p:spPr bwMode="auto">
              <a:xfrm>
                <a:off x="3589"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5" name="Rectangle 212">
                <a:extLst>
                  <a:ext uri="{FF2B5EF4-FFF2-40B4-BE49-F238E27FC236}">
                    <a16:creationId xmlns:a16="http://schemas.microsoft.com/office/drawing/2014/main" id="{310F8537-F934-E488-7F6A-8A5A97353B41}"/>
                  </a:ext>
                </a:extLst>
              </p:cNvPr>
              <p:cNvSpPr>
                <a:spLocks noChangeArrowheads="1"/>
              </p:cNvSpPr>
              <p:nvPr/>
            </p:nvSpPr>
            <p:spPr bwMode="auto">
              <a:xfrm>
                <a:off x="3594" y="1025"/>
                <a:ext cx="668"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36" name="Line 213">
                <a:extLst>
                  <a:ext uri="{FF2B5EF4-FFF2-40B4-BE49-F238E27FC236}">
                    <a16:creationId xmlns:a16="http://schemas.microsoft.com/office/drawing/2014/main" id="{CCFBCFF2-7CAD-0E6F-BC16-5F26511B4B47}"/>
                  </a:ext>
                </a:extLst>
              </p:cNvPr>
              <p:cNvSpPr>
                <a:spLocks noChangeShapeType="1"/>
              </p:cNvSpPr>
              <p:nvPr/>
            </p:nvSpPr>
            <p:spPr bwMode="auto">
              <a:xfrm>
                <a:off x="3594" y="1025"/>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7" name="Rectangle 214">
                <a:extLst>
                  <a:ext uri="{FF2B5EF4-FFF2-40B4-BE49-F238E27FC236}">
                    <a16:creationId xmlns:a16="http://schemas.microsoft.com/office/drawing/2014/main" id="{0D94A404-777B-81B0-640F-431FB05D8A22}"/>
                  </a:ext>
                </a:extLst>
              </p:cNvPr>
              <p:cNvSpPr>
                <a:spLocks noChangeArrowheads="1"/>
              </p:cNvSpPr>
              <p:nvPr/>
            </p:nvSpPr>
            <p:spPr bwMode="auto">
              <a:xfrm>
                <a:off x="4262" y="1025"/>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38" name="Line 215">
                <a:extLst>
                  <a:ext uri="{FF2B5EF4-FFF2-40B4-BE49-F238E27FC236}">
                    <a16:creationId xmlns:a16="http://schemas.microsoft.com/office/drawing/2014/main" id="{8057B04B-2BF2-7940-4683-9078B9B45364}"/>
                  </a:ext>
                </a:extLst>
              </p:cNvPr>
              <p:cNvSpPr>
                <a:spLocks noChangeShapeType="1"/>
              </p:cNvSpPr>
              <p:nvPr/>
            </p:nvSpPr>
            <p:spPr bwMode="auto">
              <a:xfrm>
                <a:off x="4262" y="102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9" name="Line 216">
                <a:extLst>
                  <a:ext uri="{FF2B5EF4-FFF2-40B4-BE49-F238E27FC236}">
                    <a16:creationId xmlns:a16="http://schemas.microsoft.com/office/drawing/2014/main" id="{AA6DFA45-C559-6A67-8E69-55C3C02CE7CD}"/>
                  </a:ext>
                </a:extLst>
              </p:cNvPr>
              <p:cNvSpPr>
                <a:spLocks noChangeShapeType="1"/>
              </p:cNvSpPr>
              <p:nvPr/>
            </p:nvSpPr>
            <p:spPr bwMode="auto">
              <a:xfrm>
                <a:off x="4262"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0" name="Rectangle 217">
                <a:extLst>
                  <a:ext uri="{FF2B5EF4-FFF2-40B4-BE49-F238E27FC236}">
                    <a16:creationId xmlns:a16="http://schemas.microsoft.com/office/drawing/2014/main" id="{77215DA7-5046-9404-E938-7FBED41D07E5}"/>
                  </a:ext>
                </a:extLst>
              </p:cNvPr>
              <p:cNvSpPr>
                <a:spLocks noChangeArrowheads="1"/>
              </p:cNvSpPr>
              <p:nvPr/>
            </p:nvSpPr>
            <p:spPr bwMode="auto">
              <a:xfrm>
                <a:off x="4266" y="1025"/>
                <a:ext cx="81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1" name="Line 218">
                <a:extLst>
                  <a:ext uri="{FF2B5EF4-FFF2-40B4-BE49-F238E27FC236}">
                    <a16:creationId xmlns:a16="http://schemas.microsoft.com/office/drawing/2014/main" id="{94B7E047-E298-3C71-90A9-12E618E1C99F}"/>
                  </a:ext>
                </a:extLst>
              </p:cNvPr>
              <p:cNvSpPr>
                <a:spLocks noChangeShapeType="1"/>
              </p:cNvSpPr>
              <p:nvPr/>
            </p:nvSpPr>
            <p:spPr bwMode="auto">
              <a:xfrm>
                <a:off x="4266" y="1025"/>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2" name="Rectangle 219">
                <a:extLst>
                  <a:ext uri="{FF2B5EF4-FFF2-40B4-BE49-F238E27FC236}">
                    <a16:creationId xmlns:a16="http://schemas.microsoft.com/office/drawing/2014/main" id="{83BDF579-4519-DD30-82DE-1962612AD66B}"/>
                  </a:ext>
                </a:extLst>
              </p:cNvPr>
              <p:cNvSpPr>
                <a:spLocks noChangeArrowheads="1"/>
              </p:cNvSpPr>
              <p:nvPr/>
            </p:nvSpPr>
            <p:spPr bwMode="auto">
              <a:xfrm>
                <a:off x="5083" y="102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3" name="Line 220">
                <a:extLst>
                  <a:ext uri="{FF2B5EF4-FFF2-40B4-BE49-F238E27FC236}">
                    <a16:creationId xmlns:a16="http://schemas.microsoft.com/office/drawing/2014/main" id="{7D9B8A97-222B-DA0A-D970-D443DF741CED}"/>
                  </a:ext>
                </a:extLst>
              </p:cNvPr>
              <p:cNvSpPr>
                <a:spLocks noChangeShapeType="1"/>
              </p:cNvSpPr>
              <p:nvPr/>
            </p:nvSpPr>
            <p:spPr bwMode="auto">
              <a:xfrm>
                <a:off x="5083" y="102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4" name="Line 221">
                <a:extLst>
                  <a:ext uri="{FF2B5EF4-FFF2-40B4-BE49-F238E27FC236}">
                    <a16:creationId xmlns:a16="http://schemas.microsoft.com/office/drawing/2014/main" id="{C6C43BA1-AAF7-6D50-7918-5C0377FAC8AF}"/>
                  </a:ext>
                </a:extLst>
              </p:cNvPr>
              <p:cNvSpPr>
                <a:spLocks noChangeShapeType="1"/>
              </p:cNvSpPr>
              <p:nvPr/>
            </p:nvSpPr>
            <p:spPr bwMode="auto">
              <a:xfrm>
                <a:off x="5083" y="102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5" name="Rectangle 222">
                <a:extLst>
                  <a:ext uri="{FF2B5EF4-FFF2-40B4-BE49-F238E27FC236}">
                    <a16:creationId xmlns:a16="http://schemas.microsoft.com/office/drawing/2014/main" id="{FA18CB9C-530C-1AC0-951C-D360B4DAD08E}"/>
                  </a:ext>
                </a:extLst>
              </p:cNvPr>
              <p:cNvSpPr>
                <a:spLocks noChangeArrowheads="1"/>
              </p:cNvSpPr>
              <p:nvPr/>
            </p:nvSpPr>
            <p:spPr bwMode="auto">
              <a:xfrm>
                <a:off x="295"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6" name="Line 223">
                <a:extLst>
                  <a:ext uri="{FF2B5EF4-FFF2-40B4-BE49-F238E27FC236}">
                    <a16:creationId xmlns:a16="http://schemas.microsoft.com/office/drawing/2014/main" id="{DF1756EF-AD3B-1250-28EA-A1FBDCB6D7E2}"/>
                  </a:ext>
                </a:extLst>
              </p:cNvPr>
              <p:cNvSpPr>
                <a:spLocks noChangeShapeType="1"/>
              </p:cNvSpPr>
              <p:nvPr/>
            </p:nvSpPr>
            <p:spPr bwMode="auto">
              <a:xfrm>
                <a:off x="295"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7" name="Rectangle 224">
                <a:extLst>
                  <a:ext uri="{FF2B5EF4-FFF2-40B4-BE49-F238E27FC236}">
                    <a16:creationId xmlns:a16="http://schemas.microsoft.com/office/drawing/2014/main" id="{EFC10CE7-6594-5498-9328-90D56FF314C6}"/>
                  </a:ext>
                </a:extLst>
              </p:cNvPr>
              <p:cNvSpPr>
                <a:spLocks noChangeArrowheads="1"/>
              </p:cNvSpPr>
              <p:nvPr/>
            </p:nvSpPr>
            <p:spPr bwMode="auto">
              <a:xfrm>
                <a:off x="956"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48" name="Line 225">
                <a:extLst>
                  <a:ext uri="{FF2B5EF4-FFF2-40B4-BE49-F238E27FC236}">
                    <a16:creationId xmlns:a16="http://schemas.microsoft.com/office/drawing/2014/main" id="{4C0F6D55-2BD9-2005-9BB9-1B0803787DE4}"/>
                  </a:ext>
                </a:extLst>
              </p:cNvPr>
              <p:cNvSpPr>
                <a:spLocks noChangeShapeType="1"/>
              </p:cNvSpPr>
              <p:nvPr/>
            </p:nvSpPr>
            <p:spPr bwMode="auto">
              <a:xfrm>
                <a:off x="956"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49" name="Rectangle 226">
                <a:extLst>
                  <a:ext uri="{FF2B5EF4-FFF2-40B4-BE49-F238E27FC236}">
                    <a16:creationId xmlns:a16="http://schemas.microsoft.com/office/drawing/2014/main" id="{83B63F15-0A23-47D2-211F-9AE129605571}"/>
                  </a:ext>
                </a:extLst>
              </p:cNvPr>
              <p:cNvSpPr>
                <a:spLocks noChangeArrowheads="1"/>
              </p:cNvSpPr>
              <p:nvPr/>
            </p:nvSpPr>
            <p:spPr bwMode="auto">
              <a:xfrm>
                <a:off x="1633" y="1029"/>
                <a:ext cx="4"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0" name="Line 227">
                <a:extLst>
                  <a:ext uri="{FF2B5EF4-FFF2-40B4-BE49-F238E27FC236}">
                    <a16:creationId xmlns:a16="http://schemas.microsoft.com/office/drawing/2014/main" id="{65CD761C-836E-0432-5078-946BA5C8CC7E}"/>
                  </a:ext>
                </a:extLst>
              </p:cNvPr>
              <p:cNvSpPr>
                <a:spLocks noChangeShapeType="1"/>
              </p:cNvSpPr>
              <p:nvPr/>
            </p:nvSpPr>
            <p:spPr bwMode="auto">
              <a:xfrm>
                <a:off x="1633"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1" name="Rectangle 228">
                <a:extLst>
                  <a:ext uri="{FF2B5EF4-FFF2-40B4-BE49-F238E27FC236}">
                    <a16:creationId xmlns:a16="http://schemas.microsoft.com/office/drawing/2014/main" id="{FC71BDEE-4DED-0FED-B702-9985DEEA0A24}"/>
                  </a:ext>
                </a:extLst>
              </p:cNvPr>
              <p:cNvSpPr>
                <a:spLocks noChangeArrowheads="1"/>
              </p:cNvSpPr>
              <p:nvPr/>
            </p:nvSpPr>
            <p:spPr bwMode="auto">
              <a:xfrm>
                <a:off x="2376"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2" name="Line 229">
                <a:extLst>
                  <a:ext uri="{FF2B5EF4-FFF2-40B4-BE49-F238E27FC236}">
                    <a16:creationId xmlns:a16="http://schemas.microsoft.com/office/drawing/2014/main" id="{0C82BD86-80DE-8DEE-EF82-B4D155750E8C}"/>
                  </a:ext>
                </a:extLst>
              </p:cNvPr>
              <p:cNvSpPr>
                <a:spLocks noChangeShapeType="1"/>
              </p:cNvSpPr>
              <p:nvPr/>
            </p:nvSpPr>
            <p:spPr bwMode="auto">
              <a:xfrm>
                <a:off x="2376"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3" name="Rectangle 230">
                <a:extLst>
                  <a:ext uri="{FF2B5EF4-FFF2-40B4-BE49-F238E27FC236}">
                    <a16:creationId xmlns:a16="http://schemas.microsoft.com/office/drawing/2014/main" id="{1CD37A14-1DC7-DAF1-1163-ED6E00550EE6}"/>
                  </a:ext>
                </a:extLst>
              </p:cNvPr>
              <p:cNvSpPr>
                <a:spLocks noChangeArrowheads="1"/>
              </p:cNvSpPr>
              <p:nvPr/>
            </p:nvSpPr>
            <p:spPr bwMode="auto">
              <a:xfrm>
                <a:off x="2917"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4" name="Line 231">
                <a:extLst>
                  <a:ext uri="{FF2B5EF4-FFF2-40B4-BE49-F238E27FC236}">
                    <a16:creationId xmlns:a16="http://schemas.microsoft.com/office/drawing/2014/main" id="{4D0CA732-3E10-ECA1-0D6D-A08CE91AD8FF}"/>
                  </a:ext>
                </a:extLst>
              </p:cNvPr>
              <p:cNvSpPr>
                <a:spLocks noChangeShapeType="1"/>
              </p:cNvSpPr>
              <p:nvPr/>
            </p:nvSpPr>
            <p:spPr bwMode="auto">
              <a:xfrm>
                <a:off x="2917"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5" name="Rectangle 232">
                <a:extLst>
                  <a:ext uri="{FF2B5EF4-FFF2-40B4-BE49-F238E27FC236}">
                    <a16:creationId xmlns:a16="http://schemas.microsoft.com/office/drawing/2014/main" id="{80738156-3DFD-EE67-3DC6-0F9A159493DE}"/>
                  </a:ext>
                </a:extLst>
              </p:cNvPr>
              <p:cNvSpPr>
                <a:spLocks noChangeArrowheads="1"/>
              </p:cNvSpPr>
              <p:nvPr/>
            </p:nvSpPr>
            <p:spPr bwMode="auto">
              <a:xfrm>
                <a:off x="3589"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6" name="Line 233">
                <a:extLst>
                  <a:ext uri="{FF2B5EF4-FFF2-40B4-BE49-F238E27FC236}">
                    <a16:creationId xmlns:a16="http://schemas.microsoft.com/office/drawing/2014/main" id="{95E9020F-15C2-319E-DA7D-28A9010440B0}"/>
                  </a:ext>
                </a:extLst>
              </p:cNvPr>
              <p:cNvSpPr>
                <a:spLocks noChangeShapeType="1"/>
              </p:cNvSpPr>
              <p:nvPr/>
            </p:nvSpPr>
            <p:spPr bwMode="auto">
              <a:xfrm>
                <a:off x="3589"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7" name="Rectangle 234">
                <a:extLst>
                  <a:ext uri="{FF2B5EF4-FFF2-40B4-BE49-F238E27FC236}">
                    <a16:creationId xmlns:a16="http://schemas.microsoft.com/office/drawing/2014/main" id="{F19609B2-273E-3BB9-EA4F-57204D9805D1}"/>
                  </a:ext>
                </a:extLst>
              </p:cNvPr>
              <p:cNvSpPr>
                <a:spLocks noChangeArrowheads="1"/>
              </p:cNvSpPr>
              <p:nvPr/>
            </p:nvSpPr>
            <p:spPr bwMode="auto">
              <a:xfrm>
                <a:off x="4262" y="1029"/>
                <a:ext cx="4"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58" name="Line 235">
                <a:extLst>
                  <a:ext uri="{FF2B5EF4-FFF2-40B4-BE49-F238E27FC236}">
                    <a16:creationId xmlns:a16="http://schemas.microsoft.com/office/drawing/2014/main" id="{AF134984-D166-F2D0-6E8D-B03E3838B070}"/>
                  </a:ext>
                </a:extLst>
              </p:cNvPr>
              <p:cNvSpPr>
                <a:spLocks noChangeShapeType="1"/>
              </p:cNvSpPr>
              <p:nvPr/>
            </p:nvSpPr>
            <p:spPr bwMode="auto">
              <a:xfrm>
                <a:off x="4262"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59" name="Rectangle 236">
                <a:extLst>
                  <a:ext uri="{FF2B5EF4-FFF2-40B4-BE49-F238E27FC236}">
                    <a16:creationId xmlns:a16="http://schemas.microsoft.com/office/drawing/2014/main" id="{E5709BE1-5760-EE27-F59E-842B4D08723E}"/>
                  </a:ext>
                </a:extLst>
              </p:cNvPr>
              <p:cNvSpPr>
                <a:spLocks noChangeArrowheads="1"/>
              </p:cNvSpPr>
              <p:nvPr/>
            </p:nvSpPr>
            <p:spPr bwMode="auto">
              <a:xfrm>
                <a:off x="5083" y="1029"/>
                <a:ext cx="5" cy="26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0" name="Line 237">
                <a:extLst>
                  <a:ext uri="{FF2B5EF4-FFF2-40B4-BE49-F238E27FC236}">
                    <a16:creationId xmlns:a16="http://schemas.microsoft.com/office/drawing/2014/main" id="{00EF8A8E-9F1A-A081-F3CE-54FF7456DD59}"/>
                  </a:ext>
                </a:extLst>
              </p:cNvPr>
              <p:cNvSpPr>
                <a:spLocks noChangeShapeType="1"/>
              </p:cNvSpPr>
              <p:nvPr/>
            </p:nvSpPr>
            <p:spPr bwMode="auto">
              <a:xfrm>
                <a:off x="5083" y="1029"/>
                <a:ext cx="0" cy="26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61" name="Rectangle 238">
                <a:extLst>
                  <a:ext uri="{FF2B5EF4-FFF2-40B4-BE49-F238E27FC236}">
                    <a16:creationId xmlns:a16="http://schemas.microsoft.com/office/drawing/2014/main" id="{8F293B7D-A763-84DB-6271-BA191418D714}"/>
                  </a:ext>
                </a:extLst>
              </p:cNvPr>
              <p:cNvSpPr>
                <a:spLocks noChangeArrowheads="1"/>
              </p:cNvSpPr>
              <p:nvPr/>
            </p:nvSpPr>
            <p:spPr bwMode="auto">
              <a:xfrm>
                <a:off x="300"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2" name="Rectangle 239">
                <a:extLst>
                  <a:ext uri="{FF2B5EF4-FFF2-40B4-BE49-F238E27FC236}">
                    <a16:creationId xmlns:a16="http://schemas.microsoft.com/office/drawing/2014/main" id="{16AF1CAD-357F-97F6-3E72-A758A0D94254}"/>
                  </a:ext>
                </a:extLst>
              </p:cNvPr>
              <p:cNvSpPr>
                <a:spLocks noChangeArrowheads="1"/>
              </p:cNvSpPr>
              <p:nvPr/>
            </p:nvSpPr>
            <p:spPr bwMode="auto">
              <a:xfrm>
                <a:off x="907"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3" name="Rectangle 240">
                <a:extLst>
                  <a:ext uri="{FF2B5EF4-FFF2-40B4-BE49-F238E27FC236}">
                    <a16:creationId xmlns:a16="http://schemas.microsoft.com/office/drawing/2014/main" id="{D0A31F23-06AD-D6A9-EBD9-CCEC2F6AF33E}"/>
                  </a:ext>
                </a:extLst>
              </p:cNvPr>
              <p:cNvSpPr>
                <a:spLocks noChangeArrowheads="1"/>
              </p:cNvSpPr>
              <p:nvPr/>
            </p:nvSpPr>
            <p:spPr bwMode="auto">
              <a:xfrm>
                <a:off x="349" y="1300"/>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4" name="Rectangle 241">
                <a:extLst>
                  <a:ext uri="{FF2B5EF4-FFF2-40B4-BE49-F238E27FC236}">
                    <a16:creationId xmlns:a16="http://schemas.microsoft.com/office/drawing/2014/main" id="{7818D8AB-0D9D-8764-5002-FDDB0453FCD4}"/>
                  </a:ext>
                </a:extLst>
              </p:cNvPr>
              <p:cNvSpPr>
                <a:spLocks noChangeArrowheads="1"/>
              </p:cNvSpPr>
              <p:nvPr/>
            </p:nvSpPr>
            <p:spPr bwMode="auto">
              <a:xfrm>
                <a:off x="349" y="1288"/>
                <a:ext cx="31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Likely</a:t>
                </a:r>
                <a:endParaRPr lang="en-US" altLang="en-US"/>
              </a:p>
            </p:txBody>
          </p:sp>
          <p:sp>
            <p:nvSpPr>
              <p:cNvPr id="55765" name="Rectangle 242">
                <a:extLst>
                  <a:ext uri="{FF2B5EF4-FFF2-40B4-BE49-F238E27FC236}">
                    <a16:creationId xmlns:a16="http://schemas.microsoft.com/office/drawing/2014/main" id="{FC09979F-31C7-AC26-C041-4411DA2F32B9}"/>
                  </a:ext>
                </a:extLst>
              </p:cNvPr>
              <p:cNvSpPr>
                <a:spLocks noChangeArrowheads="1"/>
              </p:cNvSpPr>
              <p:nvPr/>
            </p:nvSpPr>
            <p:spPr bwMode="auto">
              <a:xfrm>
                <a:off x="668"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766" name="Rectangle 243">
                <a:extLst>
                  <a:ext uri="{FF2B5EF4-FFF2-40B4-BE49-F238E27FC236}">
                    <a16:creationId xmlns:a16="http://schemas.microsoft.com/office/drawing/2014/main" id="{C3693B97-1A6A-EDC1-B8A0-B50CFB45C6F7}"/>
                  </a:ext>
                </a:extLst>
              </p:cNvPr>
              <p:cNvSpPr>
                <a:spLocks noChangeArrowheads="1"/>
              </p:cNvSpPr>
              <p:nvPr/>
            </p:nvSpPr>
            <p:spPr bwMode="auto">
              <a:xfrm>
                <a:off x="961"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7" name="Rectangle 244">
                <a:extLst>
                  <a:ext uri="{FF2B5EF4-FFF2-40B4-BE49-F238E27FC236}">
                    <a16:creationId xmlns:a16="http://schemas.microsoft.com/office/drawing/2014/main" id="{5394E622-CB8A-2B12-CDF3-29CF1C3F94A9}"/>
                  </a:ext>
                </a:extLst>
              </p:cNvPr>
              <p:cNvSpPr>
                <a:spLocks noChangeArrowheads="1"/>
              </p:cNvSpPr>
              <p:nvPr/>
            </p:nvSpPr>
            <p:spPr bwMode="auto">
              <a:xfrm>
                <a:off x="1584"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8" name="Rectangle 245">
                <a:extLst>
                  <a:ext uri="{FF2B5EF4-FFF2-40B4-BE49-F238E27FC236}">
                    <a16:creationId xmlns:a16="http://schemas.microsoft.com/office/drawing/2014/main" id="{49AD3C19-C013-AD59-29C0-419FF38E88B3}"/>
                  </a:ext>
                </a:extLst>
              </p:cNvPr>
              <p:cNvSpPr>
                <a:spLocks noChangeArrowheads="1"/>
              </p:cNvSpPr>
              <p:nvPr/>
            </p:nvSpPr>
            <p:spPr bwMode="auto">
              <a:xfrm>
                <a:off x="1010" y="1300"/>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69" name="Rectangle 246">
                <a:extLst>
                  <a:ext uri="{FF2B5EF4-FFF2-40B4-BE49-F238E27FC236}">
                    <a16:creationId xmlns:a16="http://schemas.microsoft.com/office/drawing/2014/main" id="{172A514A-C8B3-AECF-8CDB-8C0B5E1EF278}"/>
                  </a:ext>
                </a:extLst>
              </p:cNvPr>
              <p:cNvSpPr>
                <a:spLocks noChangeArrowheads="1"/>
              </p:cNvSpPr>
              <p:nvPr/>
            </p:nvSpPr>
            <p:spPr bwMode="auto">
              <a:xfrm>
                <a:off x="1010" y="1288"/>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770" name="Rectangle 247">
                <a:extLst>
                  <a:ext uri="{FF2B5EF4-FFF2-40B4-BE49-F238E27FC236}">
                    <a16:creationId xmlns:a16="http://schemas.microsoft.com/office/drawing/2014/main" id="{55BAAEBC-F676-32CB-28B1-26075DFFE523}"/>
                  </a:ext>
                </a:extLst>
              </p:cNvPr>
              <p:cNvSpPr>
                <a:spLocks noChangeArrowheads="1"/>
              </p:cNvSpPr>
              <p:nvPr/>
            </p:nvSpPr>
            <p:spPr bwMode="auto">
              <a:xfrm>
                <a:off x="1072"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71" name="Rectangle 248">
                <a:extLst>
                  <a:ext uri="{FF2B5EF4-FFF2-40B4-BE49-F238E27FC236}">
                    <a16:creationId xmlns:a16="http://schemas.microsoft.com/office/drawing/2014/main" id="{9E1D9239-CE0F-46EF-2E43-3B4B10EBC409}"/>
                  </a:ext>
                </a:extLst>
              </p:cNvPr>
              <p:cNvSpPr>
                <a:spLocks noChangeArrowheads="1"/>
              </p:cNvSpPr>
              <p:nvPr/>
            </p:nvSpPr>
            <p:spPr bwMode="auto">
              <a:xfrm>
                <a:off x="1637" y="1300"/>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2" name="Rectangle 249">
                <a:extLst>
                  <a:ext uri="{FF2B5EF4-FFF2-40B4-BE49-F238E27FC236}">
                    <a16:creationId xmlns:a16="http://schemas.microsoft.com/office/drawing/2014/main" id="{986792CA-464B-2CAC-7A26-D7C07FB28F60}"/>
                  </a:ext>
                </a:extLst>
              </p:cNvPr>
              <p:cNvSpPr>
                <a:spLocks noChangeArrowheads="1"/>
              </p:cNvSpPr>
              <p:nvPr/>
            </p:nvSpPr>
            <p:spPr bwMode="auto">
              <a:xfrm>
                <a:off x="2328" y="1300"/>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3" name="Rectangle 250">
                <a:extLst>
                  <a:ext uri="{FF2B5EF4-FFF2-40B4-BE49-F238E27FC236}">
                    <a16:creationId xmlns:a16="http://schemas.microsoft.com/office/drawing/2014/main" id="{FB1D37FD-F9E7-E80A-4379-3B2FBD4A4628}"/>
                  </a:ext>
                </a:extLst>
              </p:cNvPr>
              <p:cNvSpPr>
                <a:spLocks noChangeArrowheads="1"/>
              </p:cNvSpPr>
              <p:nvPr/>
            </p:nvSpPr>
            <p:spPr bwMode="auto">
              <a:xfrm>
                <a:off x="1687" y="1300"/>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4" name="Rectangle 251">
                <a:extLst>
                  <a:ext uri="{FF2B5EF4-FFF2-40B4-BE49-F238E27FC236}">
                    <a16:creationId xmlns:a16="http://schemas.microsoft.com/office/drawing/2014/main" id="{73E36549-EA1C-F348-DAEB-E0795DFEED37}"/>
                  </a:ext>
                </a:extLst>
              </p:cNvPr>
              <p:cNvSpPr>
                <a:spLocks noChangeArrowheads="1"/>
              </p:cNvSpPr>
              <p:nvPr/>
            </p:nvSpPr>
            <p:spPr bwMode="auto">
              <a:xfrm>
                <a:off x="1687" y="1288"/>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775" name="Rectangle 252">
                <a:extLst>
                  <a:ext uri="{FF2B5EF4-FFF2-40B4-BE49-F238E27FC236}">
                    <a16:creationId xmlns:a16="http://schemas.microsoft.com/office/drawing/2014/main" id="{32D7525D-AB47-3585-6058-FB1E3003DF27}"/>
                  </a:ext>
                </a:extLst>
              </p:cNvPr>
              <p:cNvSpPr>
                <a:spLocks noChangeArrowheads="1"/>
              </p:cNvSpPr>
              <p:nvPr/>
            </p:nvSpPr>
            <p:spPr bwMode="auto">
              <a:xfrm>
                <a:off x="1749"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76" name="Rectangle 253">
                <a:extLst>
                  <a:ext uri="{FF2B5EF4-FFF2-40B4-BE49-F238E27FC236}">
                    <a16:creationId xmlns:a16="http://schemas.microsoft.com/office/drawing/2014/main" id="{4828CC53-571E-27B9-90FC-BB868869B68E}"/>
                  </a:ext>
                </a:extLst>
              </p:cNvPr>
              <p:cNvSpPr>
                <a:spLocks noChangeArrowheads="1"/>
              </p:cNvSpPr>
              <p:nvPr/>
            </p:nvSpPr>
            <p:spPr bwMode="auto">
              <a:xfrm>
                <a:off x="2381"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7" name="Rectangle 254">
                <a:extLst>
                  <a:ext uri="{FF2B5EF4-FFF2-40B4-BE49-F238E27FC236}">
                    <a16:creationId xmlns:a16="http://schemas.microsoft.com/office/drawing/2014/main" id="{6D0CCBA8-022A-E8C1-82A8-93C00AE21245}"/>
                  </a:ext>
                </a:extLst>
              </p:cNvPr>
              <p:cNvSpPr>
                <a:spLocks noChangeArrowheads="1"/>
              </p:cNvSpPr>
              <p:nvPr/>
            </p:nvSpPr>
            <p:spPr bwMode="auto">
              <a:xfrm>
                <a:off x="2868"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8" name="Rectangle 255">
                <a:extLst>
                  <a:ext uri="{FF2B5EF4-FFF2-40B4-BE49-F238E27FC236}">
                    <a16:creationId xmlns:a16="http://schemas.microsoft.com/office/drawing/2014/main" id="{81AFD9FD-54A3-C6C1-28C5-BFC2602B88B9}"/>
                  </a:ext>
                </a:extLst>
              </p:cNvPr>
              <p:cNvSpPr>
                <a:spLocks noChangeArrowheads="1"/>
              </p:cNvSpPr>
              <p:nvPr/>
            </p:nvSpPr>
            <p:spPr bwMode="auto">
              <a:xfrm>
                <a:off x="2430" y="1300"/>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79" name="Rectangle 256">
                <a:extLst>
                  <a:ext uri="{FF2B5EF4-FFF2-40B4-BE49-F238E27FC236}">
                    <a16:creationId xmlns:a16="http://schemas.microsoft.com/office/drawing/2014/main" id="{D9473829-0B3E-E2A5-C0F7-A65DACD87EF1}"/>
                  </a:ext>
                </a:extLst>
              </p:cNvPr>
              <p:cNvSpPr>
                <a:spLocks noChangeArrowheads="1"/>
              </p:cNvSpPr>
              <p:nvPr/>
            </p:nvSpPr>
            <p:spPr bwMode="auto">
              <a:xfrm>
                <a:off x="2430" y="1288"/>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780" name="Rectangle 257">
                <a:extLst>
                  <a:ext uri="{FF2B5EF4-FFF2-40B4-BE49-F238E27FC236}">
                    <a16:creationId xmlns:a16="http://schemas.microsoft.com/office/drawing/2014/main" id="{66E16D4F-2B4D-4AA2-6C5D-B73308839B5A}"/>
                  </a:ext>
                </a:extLst>
              </p:cNvPr>
              <p:cNvSpPr>
                <a:spLocks noChangeArrowheads="1"/>
              </p:cNvSpPr>
              <p:nvPr/>
            </p:nvSpPr>
            <p:spPr bwMode="auto">
              <a:xfrm>
                <a:off x="2492"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81" name="Rectangle 258">
                <a:extLst>
                  <a:ext uri="{FF2B5EF4-FFF2-40B4-BE49-F238E27FC236}">
                    <a16:creationId xmlns:a16="http://schemas.microsoft.com/office/drawing/2014/main" id="{F5F60EEE-342F-CF75-FB27-883627090CD4}"/>
                  </a:ext>
                </a:extLst>
              </p:cNvPr>
              <p:cNvSpPr>
                <a:spLocks noChangeArrowheads="1"/>
              </p:cNvSpPr>
              <p:nvPr/>
            </p:nvSpPr>
            <p:spPr bwMode="auto">
              <a:xfrm>
                <a:off x="2922"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2" name="Rectangle 259">
                <a:extLst>
                  <a:ext uri="{FF2B5EF4-FFF2-40B4-BE49-F238E27FC236}">
                    <a16:creationId xmlns:a16="http://schemas.microsoft.com/office/drawing/2014/main" id="{09DE6F25-901F-301B-79A6-D9F6D986A347}"/>
                  </a:ext>
                </a:extLst>
              </p:cNvPr>
              <p:cNvSpPr>
                <a:spLocks noChangeArrowheads="1"/>
              </p:cNvSpPr>
              <p:nvPr/>
            </p:nvSpPr>
            <p:spPr bwMode="auto">
              <a:xfrm>
                <a:off x="3540"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3" name="Rectangle 260">
                <a:extLst>
                  <a:ext uri="{FF2B5EF4-FFF2-40B4-BE49-F238E27FC236}">
                    <a16:creationId xmlns:a16="http://schemas.microsoft.com/office/drawing/2014/main" id="{B19EC1A2-7CEF-A0EB-7066-15C9A8DE9A6F}"/>
                  </a:ext>
                </a:extLst>
              </p:cNvPr>
              <p:cNvSpPr>
                <a:spLocks noChangeArrowheads="1"/>
              </p:cNvSpPr>
              <p:nvPr/>
            </p:nvSpPr>
            <p:spPr bwMode="auto">
              <a:xfrm>
                <a:off x="2971" y="1300"/>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4" name="Rectangle 261">
                <a:extLst>
                  <a:ext uri="{FF2B5EF4-FFF2-40B4-BE49-F238E27FC236}">
                    <a16:creationId xmlns:a16="http://schemas.microsoft.com/office/drawing/2014/main" id="{54BC9CE2-B1A7-040E-22B2-111DCDA74113}"/>
                  </a:ext>
                </a:extLst>
              </p:cNvPr>
              <p:cNvSpPr>
                <a:spLocks noChangeArrowheads="1"/>
              </p:cNvSpPr>
              <p:nvPr/>
            </p:nvSpPr>
            <p:spPr bwMode="auto">
              <a:xfrm>
                <a:off x="2971" y="1288"/>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785" name="Rectangle 262">
                <a:extLst>
                  <a:ext uri="{FF2B5EF4-FFF2-40B4-BE49-F238E27FC236}">
                    <a16:creationId xmlns:a16="http://schemas.microsoft.com/office/drawing/2014/main" id="{563902AC-1FEB-DD7D-8A3D-77F21E201356}"/>
                  </a:ext>
                </a:extLst>
              </p:cNvPr>
              <p:cNvSpPr>
                <a:spLocks noChangeArrowheads="1"/>
              </p:cNvSpPr>
              <p:nvPr/>
            </p:nvSpPr>
            <p:spPr bwMode="auto">
              <a:xfrm>
                <a:off x="3045"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86" name="Rectangle 263">
                <a:extLst>
                  <a:ext uri="{FF2B5EF4-FFF2-40B4-BE49-F238E27FC236}">
                    <a16:creationId xmlns:a16="http://schemas.microsoft.com/office/drawing/2014/main" id="{9E2541CF-039C-8B56-2F6A-CB252FC215A5}"/>
                  </a:ext>
                </a:extLst>
              </p:cNvPr>
              <p:cNvSpPr>
                <a:spLocks noChangeArrowheads="1"/>
              </p:cNvSpPr>
              <p:nvPr/>
            </p:nvSpPr>
            <p:spPr bwMode="auto">
              <a:xfrm>
                <a:off x="3594"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7" name="Rectangle 264">
                <a:extLst>
                  <a:ext uri="{FF2B5EF4-FFF2-40B4-BE49-F238E27FC236}">
                    <a16:creationId xmlns:a16="http://schemas.microsoft.com/office/drawing/2014/main" id="{E478B8CA-B8B0-ED32-D990-998D51839CE1}"/>
                  </a:ext>
                </a:extLst>
              </p:cNvPr>
              <p:cNvSpPr>
                <a:spLocks noChangeArrowheads="1"/>
              </p:cNvSpPr>
              <p:nvPr/>
            </p:nvSpPr>
            <p:spPr bwMode="auto">
              <a:xfrm>
                <a:off x="4212" y="1300"/>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8" name="Rectangle 265">
                <a:extLst>
                  <a:ext uri="{FF2B5EF4-FFF2-40B4-BE49-F238E27FC236}">
                    <a16:creationId xmlns:a16="http://schemas.microsoft.com/office/drawing/2014/main" id="{C610137E-4EC1-F1FD-84ED-9E64E91451E6}"/>
                  </a:ext>
                </a:extLst>
              </p:cNvPr>
              <p:cNvSpPr>
                <a:spLocks noChangeArrowheads="1"/>
              </p:cNvSpPr>
              <p:nvPr/>
            </p:nvSpPr>
            <p:spPr bwMode="auto">
              <a:xfrm>
                <a:off x="3643" y="1300"/>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89" name="Rectangle 266">
                <a:extLst>
                  <a:ext uri="{FF2B5EF4-FFF2-40B4-BE49-F238E27FC236}">
                    <a16:creationId xmlns:a16="http://schemas.microsoft.com/office/drawing/2014/main" id="{C6C2C7A4-17A5-5BD8-C690-AD832E1FBA8B}"/>
                  </a:ext>
                </a:extLst>
              </p:cNvPr>
              <p:cNvSpPr>
                <a:spLocks noChangeArrowheads="1"/>
              </p:cNvSpPr>
              <p:nvPr/>
            </p:nvSpPr>
            <p:spPr bwMode="auto">
              <a:xfrm>
                <a:off x="3643" y="1288"/>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790" name="Rectangle 267">
                <a:extLst>
                  <a:ext uri="{FF2B5EF4-FFF2-40B4-BE49-F238E27FC236}">
                    <a16:creationId xmlns:a16="http://schemas.microsoft.com/office/drawing/2014/main" id="{F94E2D74-6272-01B9-60DC-05DDC96BC70B}"/>
                  </a:ext>
                </a:extLst>
              </p:cNvPr>
              <p:cNvSpPr>
                <a:spLocks noChangeArrowheads="1"/>
              </p:cNvSpPr>
              <p:nvPr/>
            </p:nvSpPr>
            <p:spPr bwMode="auto">
              <a:xfrm>
                <a:off x="3718"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91" name="Rectangle 268">
                <a:extLst>
                  <a:ext uri="{FF2B5EF4-FFF2-40B4-BE49-F238E27FC236}">
                    <a16:creationId xmlns:a16="http://schemas.microsoft.com/office/drawing/2014/main" id="{856D46EC-B1BD-566B-6098-6A137C1B6115}"/>
                  </a:ext>
                </a:extLst>
              </p:cNvPr>
              <p:cNvSpPr>
                <a:spLocks noChangeArrowheads="1"/>
              </p:cNvSpPr>
              <p:nvPr/>
            </p:nvSpPr>
            <p:spPr bwMode="auto">
              <a:xfrm>
                <a:off x="4266" y="1300"/>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2" name="Rectangle 269">
                <a:extLst>
                  <a:ext uri="{FF2B5EF4-FFF2-40B4-BE49-F238E27FC236}">
                    <a16:creationId xmlns:a16="http://schemas.microsoft.com/office/drawing/2014/main" id="{EB1DC952-1BF1-F3B5-A18E-81296F85E5D1}"/>
                  </a:ext>
                </a:extLst>
              </p:cNvPr>
              <p:cNvSpPr>
                <a:spLocks noChangeArrowheads="1"/>
              </p:cNvSpPr>
              <p:nvPr/>
            </p:nvSpPr>
            <p:spPr bwMode="auto">
              <a:xfrm>
                <a:off x="5034" y="1300"/>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3" name="Rectangle 270">
                <a:extLst>
                  <a:ext uri="{FF2B5EF4-FFF2-40B4-BE49-F238E27FC236}">
                    <a16:creationId xmlns:a16="http://schemas.microsoft.com/office/drawing/2014/main" id="{E3C81BDD-8614-4479-60F6-9C697FD75542}"/>
                  </a:ext>
                </a:extLst>
              </p:cNvPr>
              <p:cNvSpPr>
                <a:spLocks noChangeArrowheads="1"/>
              </p:cNvSpPr>
              <p:nvPr/>
            </p:nvSpPr>
            <p:spPr bwMode="auto">
              <a:xfrm>
                <a:off x="4316" y="1300"/>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4" name="Rectangle 271">
                <a:extLst>
                  <a:ext uri="{FF2B5EF4-FFF2-40B4-BE49-F238E27FC236}">
                    <a16:creationId xmlns:a16="http://schemas.microsoft.com/office/drawing/2014/main" id="{9CDBB786-E30B-B6A6-6861-86255DE18A4E}"/>
                  </a:ext>
                </a:extLst>
              </p:cNvPr>
              <p:cNvSpPr>
                <a:spLocks noChangeArrowheads="1"/>
              </p:cNvSpPr>
              <p:nvPr/>
            </p:nvSpPr>
            <p:spPr bwMode="auto">
              <a:xfrm>
                <a:off x="4316" y="1288"/>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795" name="Rectangle 272">
                <a:extLst>
                  <a:ext uri="{FF2B5EF4-FFF2-40B4-BE49-F238E27FC236}">
                    <a16:creationId xmlns:a16="http://schemas.microsoft.com/office/drawing/2014/main" id="{D7F2C4C5-2CF2-8FD9-20ED-6833ECBF7483}"/>
                  </a:ext>
                </a:extLst>
              </p:cNvPr>
              <p:cNvSpPr>
                <a:spLocks noChangeArrowheads="1"/>
              </p:cNvSpPr>
              <p:nvPr/>
            </p:nvSpPr>
            <p:spPr bwMode="auto">
              <a:xfrm>
                <a:off x="4397" y="1288"/>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796" name="Rectangle 273">
                <a:extLst>
                  <a:ext uri="{FF2B5EF4-FFF2-40B4-BE49-F238E27FC236}">
                    <a16:creationId xmlns:a16="http://schemas.microsoft.com/office/drawing/2014/main" id="{39E269D8-66A8-AAFB-96BC-5518749CB02B}"/>
                  </a:ext>
                </a:extLst>
              </p:cNvPr>
              <p:cNvSpPr>
                <a:spLocks noChangeArrowheads="1"/>
              </p:cNvSpPr>
              <p:nvPr/>
            </p:nvSpPr>
            <p:spPr bwMode="auto">
              <a:xfrm>
                <a:off x="295"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97" name="Line 274">
                <a:extLst>
                  <a:ext uri="{FF2B5EF4-FFF2-40B4-BE49-F238E27FC236}">
                    <a16:creationId xmlns:a16="http://schemas.microsoft.com/office/drawing/2014/main" id="{E99C9E3C-6518-4071-AA45-8576DF8AF356}"/>
                  </a:ext>
                </a:extLst>
              </p:cNvPr>
              <p:cNvSpPr>
                <a:spLocks noChangeShapeType="1"/>
              </p:cNvSpPr>
              <p:nvPr/>
            </p:nvSpPr>
            <p:spPr bwMode="auto">
              <a:xfrm>
                <a:off x="295"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98" name="Line 275">
                <a:extLst>
                  <a:ext uri="{FF2B5EF4-FFF2-40B4-BE49-F238E27FC236}">
                    <a16:creationId xmlns:a16="http://schemas.microsoft.com/office/drawing/2014/main" id="{7D77DB5E-8B3B-2233-1FD8-BA3AA81205DB}"/>
                  </a:ext>
                </a:extLst>
              </p:cNvPr>
              <p:cNvSpPr>
                <a:spLocks noChangeShapeType="1"/>
              </p:cNvSpPr>
              <p:nvPr/>
            </p:nvSpPr>
            <p:spPr bwMode="auto">
              <a:xfrm>
                <a:off x="295"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99" name="Rectangle 276">
                <a:extLst>
                  <a:ext uri="{FF2B5EF4-FFF2-40B4-BE49-F238E27FC236}">
                    <a16:creationId xmlns:a16="http://schemas.microsoft.com/office/drawing/2014/main" id="{44C6D139-0E29-791A-139B-40B76B58D794}"/>
                  </a:ext>
                </a:extLst>
              </p:cNvPr>
              <p:cNvSpPr>
                <a:spLocks noChangeArrowheads="1"/>
              </p:cNvSpPr>
              <p:nvPr/>
            </p:nvSpPr>
            <p:spPr bwMode="auto">
              <a:xfrm>
                <a:off x="300" y="1295"/>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0" name="Line 277">
                <a:extLst>
                  <a:ext uri="{FF2B5EF4-FFF2-40B4-BE49-F238E27FC236}">
                    <a16:creationId xmlns:a16="http://schemas.microsoft.com/office/drawing/2014/main" id="{C896881D-902E-BE27-57C6-C68F1D2CEC71}"/>
                  </a:ext>
                </a:extLst>
              </p:cNvPr>
              <p:cNvSpPr>
                <a:spLocks noChangeShapeType="1"/>
              </p:cNvSpPr>
              <p:nvPr/>
            </p:nvSpPr>
            <p:spPr bwMode="auto">
              <a:xfrm>
                <a:off x="300" y="1295"/>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1" name="Rectangle 278">
                <a:extLst>
                  <a:ext uri="{FF2B5EF4-FFF2-40B4-BE49-F238E27FC236}">
                    <a16:creationId xmlns:a16="http://schemas.microsoft.com/office/drawing/2014/main" id="{A7C74CFF-8B1C-E0E4-D9DD-8BE22A09C6C8}"/>
                  </a:ext>
                </a:extLst>
              </p:cNvPr>
              <p:cNvSpPr>
                <a:spLocks noChangeArrowheads="1"/>
              </p:cNvSpPr>
              <p:nvPr/>
            </p:nvSpPr>
            <p:spPr bwMode="auto">
              <a:xfrm>
                <a:off x="956"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2" name="Line 279">
                <a:extLst>
                  <a:ext uri="{FF2B5EF4-FFF2-40B4-BE49-F238E27FC236}">
                    <a16:creationId xmlns:a16="http://schemas.microsoft.com/office/drawing/2014/main" id="{1536D1D5-ED2E-F0A0-8526-7C50EC075480}"/>
                  </a:ext>
                </a:extLst>
              </p:cNvPr>
              <p:cNvSpPr>
                <a:spLocks noChangeShapeType="1"/>
              </p:cNvSpPr>
              <p:nvPr/>
            </p:nvSpPr>
            <p:spPr bwMode="auto">
              <a:xfrm>
                <a:off x="956"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3" name="Line 280">
                <a:extLst>
                  <a:ext uri="{FF2B5EF4-FFF2-40B4-BE49-F238E27FC236}">
                    <a16:creationId xmlns:a16="http://schemas.microsoft.com/office/drawing/2014/main" id="{8C20CBA3-4AEF-C229-EA81-3C1C8EDC9701}"/>
                  </a:ext>
                </a:extLst>
              </p:cNvPr>
              <p:cNvSpPr>
                <a:spLocks noChangeShapeType="1"/>
              </p:cNvSpPr>
              <p:nvPr/>
            </p:nvSpPr>
            <p:spPr bwMode="auto">
              <a:xfrm>
                <a:off x="956"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4" name="Rectangle 281">
                <a:extLst>
                  <a:ext uri="{FF2B5EF4-FFF2-40B4-BE49-F238E27FC236}">
                    <a16:creationId xmlns:a16="http://schemas.microsoft.com/office/drawing/2014/main" id="{19AA39E5-FD40-6040-8E77-3A5E3931CD00}"/>
                  </a:ext>
                </a:extLst>
              </p:cNvPr>
              <p:cNvSpPr>
                <a:spLocks noChangeArrowheads="1"/>
              </p:cNvSpPr>
              <p:nvPr/>
            </p:nvSpPr>
            <p:spPr bwMode="auto">
              <a:xfrm>
                <a:off x="961" y="1295"/>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5" name="Line 282">
                <a:extLst>
                  <a:ext uri="{FF2B5EF4-FFF2-40B4-BE49-F238E27FC236}">
                    <a16:creationId xmlns:a16="http://schemas.microsoft.com/office/drawing/2014/main" id="{1D533CA5-3688-2829-B768-B0B5E3FD1A40}"/>
                  </a:ext>
                </a:extLst>
              </p:cNvPr>
              <p:cNvSpPr>
                <a:spLocks noChangeShapeType="1"/>
              </p:cNvSpPr>
              <p:nvPr/>
            </p:nvSpPr>
            <p:spPr bwMode="auto">
              <a:xfrm>
                <a:off x="961" y="1295"/>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6" name="Rectangle 283">
                <a:extLst>
                  <a:ext uri="{FF2B5EF4-FFF2-40B4-BE49-F238E27FC236}">
                    <a16:creationId xmlns:a16="http://schemas.microsoft.com/office/drawing/2014/main" id="{3DB4B0E4-F308-A79C-0947-E5D96E0F25DC}"/>
                  </a:ext>
                </a:extLst>
              </p:cNvPr>
              <p:cNvSpPr>
                <a:spLocks noChangeArrowheads="1"/>
              </p:cNvSpPr>
              <p:nvPr/>
            </p:nvSpPr>
            <p:spPr bwMode="auto">
              <a:xfrm>
                <a:off x="1633" y="1295"/>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07" name="Line 284">
                <a:extLst>
                  <a:ext uri="{FF2B5EF4-FFF2-40B4-BE49-F238E27FC236}">
                    <a16:creationId xmlns:a16="http://schemas.microsoft.com/office/drawing/2014/main" id="{04E2126A-0E9D-A1F6-B410-366DB1125677}"/>
                  </a:ext>
                </a:extLst>
              </p:cNvPr>
              <p:cNvSpPr>
                <a:spLocks noChangeShapeType="1"/>
              </p:cNvSpPr>
              <p:nvPr/>
            </p:nvSpPr>
            <p:spPr bwMode="auto">
              <a:xfrm>
                <a:off x="1633" y="129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8" name="Line 285">
                <a:extLst>
                  <a:ext uri="{FF2B5EF4-FFF2-40B4-BE49-F238E27FC236}">
                    <a16:creationId xmlns:a16="http://schemas.microsoft.com/office/drawing/2014/main" id="{3A661398-E0F8-B482-0BA8-0D4EFC1F09B2}"/>
                  </a:ext>
                </a:extLst>
              </p:cNvPr>
              <p:cNvSpPr>
                <a:spLocks noChangeShapeType="1"/>
              </p:cNvSpPr>
              <p:nvPr/>
            </p:nvSpPr>
            <p:spPr bwMode="auto">
              <a:xfrm>
                <a:off x="1633"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09" name="Rectangle 286">
                <a:extLst>
                  <a:ext uri="{FF2B5EF4-FFF2-40B4-BE49-F238E27FC236}">
                    <a16:creationId xmlns:a16="http://schemas.microsoft.com/office/drawing/2014/main" id="{ADE17ADD-B069-85C9-81AD-0FFB70A214A8}"/>
                  </a:ext>
                </a:extLst>
              </p:cNvPr>
              <p:cNvSpPr>
                <a:spLocks noChangeArrowheads="1"/>
              </p:cNvSpPr>
              <p:nvPr/>
            </p:nvSpPr>
            <p:spPr bwMode="auto">
              <a:xfrm>
                <a:off x="1637" y="1295"/>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0" name="Line 287">
                <a:extLst>
                  <a:ext uri="{FF2B5EF4-FFF2-40B4-BE49-F238E27FC236}">
                    <a16:creationId xmlns:a16="http://schemas.microsoft.com/office/drawing/2014/main" id="{37C6741A-96DD-6C3E-79D7-E3DC49276A16}"/>
                  </a:ext>
                </a:extLst>
              </p:cNvPr>
              <p:cNvSpPr>
                <a:spLocks noChangeShapeType="1"/>
              </p:cNvSpPr>
              <p:nvPr/>
            </p:nvSpPr>
            <p:spPr bwMode="auto">
              <a:xfrm>
                <a:off x="1637" y="1295"/>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1" name="Rectangle 288">
                <a:extLst>
                  <a:ext uri="{FF2B5EF4-FFF2-40B4-BE49-F238E27FC236}">
                    <a16:creationId xmlns:a16="http://schemas.microsoft.com/office/drawing/2014/main" id="{99E971D7-FA68-5168-3193-3739C02CF863}"/>
                  </a:ext>
                </a:extLst>
              </p:cNvPr>
              <p:cNvSpPr>
                <a:spLocks noChangeArrowheads="1"/>
              </p:cNvSpPr>
              <p:nvPr/>
            </p:nvSpPr>
            <p:spPr bwMode="auto">
              <a:xfrm>
                <a:off x="2376"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2" name="Line 289">
                <a:extLst>
                  <a:ext uri="{FF2B5EF4-FFF2-40B4-BE49-F238E27FC236}">
                    <a16:creationId xmlns:a16="http://schemas.microsoft.com/office/drawing/2014/main" id="{BEBFD0A9-573D-95D0-30DF-054BDD7B645F}"/>
                  </a:ext>
                </a:extLst>
              </p:cNvPr>
              <p:cNvSpPr>
                <a:spLocks noChangeShapeType="1"/>
              </p:cNvSpPr>
              <p:nvPr/>
            </p:nvSpPr>
            <p:spPr bwMode="auto">
              <a:xfrm>
                <a:off x="2376"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3" name="Line 290">
                <a:extLst>
                  <a:ext uri="{FF2B5EF4-FFF2-40B4-BE49-F238E27FC236}">
                    <a16:creationId xmlns:a16="http://schemas.microsoft.com/office/drawing/2014/main" id="{AE535E3F-1998-CAC5-B9F5-A7E1542C8E4D}"/>
                  </a:ext>
                </a:extLst>
              </p:cNvPr>
              <p:cNvSpPr>
                <a:spLocks noChangeShapeType="1"/>
              </p:cNvSpPr>
              <p:nvPr/>
            </p:nvSpPr>
            <p:spPr bwMode="auto">
              <a:xfrm>
                <a:off x="2376"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4" name="Rectangle 291">
                <a:extLst>
                  <a:ext uri="{FF2B5EF4-FFF2-40B4-BE49-F238E27FC236}">
                    <a16:creationId xmlns:a16="http://schemas.microsoft.com/office/drawing/2014/main" id="{F89C9226-DBF0-578C-1E00-BABEF19E6F24}"/>
                  </a:ext>
                </a:extLst>
              </p:cNvPr>
              <p:cNvSpPr>
                <a:spLocks noChangeArrowheads="1"/>
              </p:cNvSpPr>
              <p:nvPr/>
            </p:nvSpPr>
            <p:spPr bwMode="auto">
              <a:xfrm>
                <a:off x="2381" y="1295"/>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5" name="Line 292">
                <a:extLst>
                  <a:ext uri="{FF2B5EF4-FFF2-40B4-BE49-F238E27FC236}">
                    <a16:creationId xmlns:a16="http://schemas.microsoft.com/office/drawing/2014/main" id="{D36E72A6-0FAF-BCFE-AA3C-1669A0D6D41E}"/>
                  </a:ext>
                </a:extLst>
              </p:cNvPr>
              <p:cNvSpPr>
                <a:spLocks noChangeShapeType="1"/>
              </p:cNvSpPr>
              <p:nvPr/>
            </p:nvSpPr>
            <p:spPr bwMode="auto">
              <a:xfrm>
                <a:off x="2381" y="1295"/>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6" name="Rectangle 293">
                <a:extLst>
                  <a:ext uri="{FF2B5EF4-FFF2-40B4-BE49-F238E27FC236}">
                    <a16:creationId xmlns:a16="http://schemas.microsoft.com/office/drawing/2014/main" id="{4E8C1194-00E9-866A-CDAB-984FCA5F67F2}"/>
                  </a:ext>
                </a:extLst>
              </p:cNvPr>
              <p:cNvSpPr>
                <a:spLocks noChangeArrowheads="1"/>
              </p:cNvSpPr>
              <p:nvPr/>
            </p:nvSpPr>
            <p:spPr bwMode="auto">
              <a:xfrm>
                <a:off x="2917"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17" name="Line 294">
                <a:extLst>
                  <a:ext uri="{FF2B5EF4-FFF2-40B4-BE49-F238E27FC236}">
                    <a16:creationId xmlns:a16="http://schemas.microsoft.com/office/drawing/2014/main" id="{7CC462CB-632F-8B1A-470B-E0E25BBF65A5}"/>
                  </a:ext>
                </a:extLst>
              </p:cNvPr>
              <p:cNvSpPr>
                <a:spLocks noChangeShapeType="1"/>
              </p:cNvSpPr>
              <p:nvPr/>
            </p:nvSpPr>
            <p:spPr bwMode="auto">
              <a:xfrm>
                <a:off x="2917"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8" name="Line 295">
                <a:extLst>
                  <a:ext uri="{FF2B5EF4-FFF2-40B4-BE49-F238E27FC236}">
                    <a16:creationId xmlns:a16="http://schemas.microsoft.com/office/drawing/2014/main" id="{BADB4B7E-8408-C964-CBD3-CC35B0651916}"/>
                  </a:ext>
                </a:extLst>
              </p:cNvPr>
              <p:cNvSpPr>
                <a:spLocks noChangeShapeType="1"/>
              </p:cNvSpPr>
              <p:nvPr/>
            </p:nvSpPr>
            <p:spPr bwMode="auto">
              <a:xfrm>
                <a:off x="2917"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19" name="Rectangle 296">
                <a:extLst>
                  <a:ext uri="{FF2B5EF4-FFF2-40B4-BE49-F238E27FC236}">
                    <a16:creationId xmlns:a16="http://schemas.microsoft.com/office/drawing/2014/main" id="{7F33EC23-2352-357F-BA6C-FFCAFF61F501}"/>
                  </a:ext>
                </a:extLst>
              </p:cNvPr>
              <p:cNvSpPr>
                <a:spLocks noChangeArrowheads="1"/>
              </p:cNvSpPr>
              <p:nvPr/>
            </p:nvSpPr>
            <p:spPr bwMode="auto">
              <a:xfrm>
                <a:off x="2922" y="1295"/>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0" name="Line 297">
                <a:extLst>
                  <a:ext uri="{FF2B5EF4-FFF2-40B4-BE49-F238E27FC236}">
                    <a16:creationId xmlns:a16="http://schemas.microsoft.com/office/drawing/2014/main" id="{DC5276DD-E680-781B-0BBA-257E6A57249C}"/>
                  </a:ext>
                </a:extLst>
              </p:cNvPr>
              <p:cNvSpPr>
                <a:spLocks noChangeShapeType="1"/>
              </p:cNvSpPr>
              <p:nvPr/>
            </p:nvSpPr>
            <p:spPr bwMode="auto">
              <a:xfrm>
                <a:off x="2922" y="1295"/>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1" name="Rectangle 298">
                <a:extLst>
                  <a:ext uri="{FF2B5EF4-FFF2-40B4-BE49-F238E27FC236}">
                    <a16:creationId xmlns:a16="http://schemas.microsoft.com/office/drawing/2014/main" id="{7B1E2115-F659-8C22-8AB8-E1A411B984E5}"/>
                  </a:ext>
                </a:extLst>
              </p:cNvPr>
              <p:cNvSpPr>
                <a:spLocks noChangeArrowheads="1"/>
              </p:cNvSpPr>
              <p:nvPr/>
            </p:nvSpPr>
            <p:spPr bwMode="auto">
              <a:xfrm>
                <a:off x="3589"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2" name="Line 299">
                <a:extLst>
                  <a:ext uri="{FF2B5EF4-FFF2-40B4-BE49-F238E27FC236}">
                    <a16:creationId xmlns:a16="http://schemas.microsoft.com/office/drawing/2014/main" id="{DCBA740A-4B96-AFCD-F536-26559611E816}"/>
                  </a:ext>
                </a:extLst>
              </p:cNvPr>
              <p:cNvSpPr>
                <a:spLocks noChangeShapeType="1"/>
              </p:cNvSpPr>
              <p:nvPr/>
            </p:nvSpPr>
            <p:spPr bwMode="auto">
              <a:xfrm>
                <a:off x="3589"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3" name="Line 300">
                <a:extLst>
                  <a:ext uri="{FF2B5EF4-FFF2-40B4-BE49-F238E27FC236}">
                    <a16:creationId xmlns:a16="http://schemas.microsoft.com/office/drawing/2014/main" id="{F2073B3E-893D-1702-8B7F-E49D6E75867A}"/>
                  </a:ext>
                </a:extLst>
              </p:cNvPr>
              <p:cNvSpPr>
                <a:spLocks noChangeShapeType="1"/>
              </p:cNvSpPr>
              <p:nvPr/>
            </p:nvSpPr>
            <p:spPr bwMode="auto">
              <a:xfrm>
                <a:off x="3589"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4" name="Rectangle 301">
                <a:extLst>
                  <a:ext uri="{FF2B5EF4-FFF2-40B4-BE49-F238E27FC236}">
                    <a16:creationId xmlns:a16="http://schemas.microsoft.com/office/drawing/2014/main" id="{791CB876-3D87-7A75-1A2A-018137138ED9}"/>
                  </a:ext>
                </a:extLst>
              </p:cNvPr>
              <p:cNvSpPr>
                <a:spLocks noChangeArrowheads="1"/>
              </p:cNvSpPr>
              <p:nvPr/>
            </p:nvSpPr>
            <p:spPr bwMode="auto">
              <a:xfrm>
                <a:off x="3594" y="1295"/>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5" name="Line 302">
                <a:extLst>
                  <a:ext uri="{FF2B5EF4-FFF2-40B4-BE49-F238E27FC236}">
                    <a16:creationId xmlns:a16="http://schemas.microsoft.com/office/drawing/2014/main" id="{4673EEF5-D436-1993-4B92-D344FBA1607A}"/>
                  </a:ext>
                </a:extLst>
              </p:cNvPr>
              <p:cNvSpPr>
                <a:spLocks noChangeShapeType="1"/>
              </p:cNvSpPr>
              <p:nvPr/>
            </p:nvSpPr>
            <p:spPr bwMode="auto">
              <a:xfrm>
                <a:off x="3594" y="1295"/>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6" name="Rectangle 303">
                <a:extLst>
                  <a:ext uri="{FF2B5EF4-FFF2-40B4-BE49-F238E27FC236}">
                    <a16:creationId xmlns:a16="http://schemas.microsoft.com/office/drawing/2014/main" id="{13B49053-33CD-3CC6-D7AD-4E3FBB0615AE}"/>
                  </a:ext>
                </a:extLst>
              </p:cNvPr>
              <p:cNvSpPr>
                <a:spLocks noChangeArrowheads="1"/>
              </p:cNvSpPr>
              <p:nvPr/>
            </p:nvSpPr>
            <p:spPr bwMode="auto">
              <a:xfrm>
                <a:off x="4262" y="1295"/>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27" name="Line 304">
                <a:extLst>
                  <a:ext uri="{FF2B5EF4-FFF2-40B4-BE49-F238E27FC236}">
                    <a16:creationId xmlns:a16="http://schemas.microsoft.com/office/drawing/2014/main" id="{D8651726-D6A7-CBDC-D192-B0C530BD8387}"/>
                  </a:ext>
                </a:extLst>
              </p:cNvPr>
              <p:cNvSpPr>
                <a:spLocks noChangeShapeType="1"/>
              </p:cNvSpPr>
              <p:nvPr/>
            </p:nvSpPr>
            <p:spPr bwMode="auto">
              <a:xfrm>
                <a:off x="4262" y="1295"/>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8" name="Line 305">
                <a:extLst>
                  <a:ext uri="{FF2B5EF4-FFF2-40B4-BE49-F238E27FC236}">
                    <a16:creationId xmlns:a16="http://schemas.microsoft.com/office/drawing/2014/main" id="{2D8FE2E8-0988-0F77-64F6-435EF64B08FA}"/>
                  </a:ext>
                </a:extLst>
              </p:cNvPr>
              <p:cNvSpPr>
                <a:spLocks noChangeShapeType="1"/>
              </p:cNvSpPr>
              <p:nvPr/>
            </p:nvSpPr>
            <p:spPr bwMode="auto">
              <a:xfrm>
                <a:off x="4262"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29" name="Rectangle 306">
                <a:extLst>
                  <a:ext uri="{FF2B5EF4-FFF2-40B4-BE49-F238E27FC236}">
                    <a16:creationId xmlns:a16="http://schemas.microsoft.com/office/drawing/2014/main" id="{AE0E42F0-0667-1843-3A1C-185FDC0116AF}"/>
                  </a:ext>
                </a:extLst>
              </p:cNvPr>
              <p:cNvSpPr>
                <a:spLocks noChangeArrowheads="1"/>
              </p:cNvSpPr>
              <p:nvPr/>
            </p:nvSpPr>
            <p:spPr bwMode="auto">
              <a:xfrm>
                <a:off x="4266" y="1295"/>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0" name="Line 307">
                <a:extLst>
                  <a:ext uri="{FF2B5EF4-FFF2-40B4-BE49-F238E27FC236}">
                    <a16:creationId xmlns:a16="http://schemas.microsoft.com/office/drawing/2014/main" id="{1411822D-CDB1-5E19-AC51-F4027B54CEB0}"/>
                  </a:ext>
                </a:extLst>
              </p:cNvPr>
              <p:cNvSpPr>
                <a:spLocks noChangeShapeType="1"/>
              </p:cNvSpPr>
              <p:nvPr/>
            </p:nvSpPr>
            <p:spPr bwMode="auto">
              <a:xfrm>
                <a:off x="4266" y="1295"/>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1" name="Rectangle 308">
                <a:extLst>
                  <a:ext uri="{FF2B5EF4-FFF2-40B4-BE49-F238E27FC236}">
                    <a16:creationId xmlns:a16="http://schemas.microsoft.com/office/drawing/2014/main" id="{1CA0675B-46BA-6C42-84FC-91AC4903C957}"/>
                  </a:ext>
                </a:extLst>
              </p:cNvPr>
              <p:cNvSpPr>
                <a:spLocks noChangeArrowheads="1"/>
              </p:cNvSpPr>
              <p:nvPr/>
            </p:nvSpPr>
            <p:spPr bwMode="auto">
              <a:xfrm>
                <a:off x="5083" y="1295"/>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2" name="Line 309">
                <a:extLst>
                  <a:ext uri="{FF2B5EF4-FFF2-40B4-BE49-F238E27FC236}">
                    <a16:creationId xmlns:a16="http://schemas.microsoft.com/office/drawing/2014/main" id="{5D588B0F-EA82-F790-E200-FB4F7C2B1783}"/>
                  </a:ext>
                </a:extLst>
              </p:cNvPr>
              <p:cNvSpPr>
                <a:spLocks noChangeShapeType="1"/>
              </p:cNvSpPr>
              <p:nvPr/>
            </p:nvSpPr>
            <p:spPr bwMode="auto">
              <a:xfrm>
                <a:off x="5083" y="12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3" name="Line 310">
                <a:extLst>
                  <a:ext uri="{FF2B5EF4-FFF2-40B4-BE49-F238E27FC236}">
                    <a16:creationId xmlns:a16="http://schemas.microsoft.com/office/drawing/2014/main" id="{8830C16F-E31C-99F2-F0B3-6C57C30A1115}"/>
                  </a:ext>
                </a:extLst>
              </p:cNvPr>
              <p:cNvSpPr>
                <a:spLocks noChangeShapeType="1"/>
              </p:cNvSpPr>
              <p:nvPr/>
            </p:nvSpPr>
            <p:spPr bwMode="auto">
              <a:xfrm>
                <a:off x="5083" y="1295"/>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4" name="Rectangle 311">
                <a:extLst>
                  <a:ext uri="{FF2B5EF4-FFF2-40B4-BE49-F238E27FC236}">
                    <a16:creationId xmlns:a16="http://schemas.microsoft.com/office/drawing/2014/main" id="{56D052EB-A9B9-D3F6-7810-078024234E3E}"/>
                  </a:ext>
                </a:extLst>
              </p:cNvPr>
              <p:cNvSpPr>
                <a:spLocks noChangeArrowheads="1"/>
              </p:cNvSpPr>
              <p:nvPr/>
            </p:nvSpPr>
            <p:spPr bwMode="auto">
              <a:xfrm>
                <a:off x="295"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5" name="Line 312">
                <a:extLst>
                  <a:ext uri="{FF2B5EF4-FFF2-40B4-BE49-F238E27FC236}">
                    <a16:creationId xmlns:a16="http://schemas.microsoft.com/office/drawing/2014/main" id="{55D37CAF-9A4C-7818-A0E5-71D4C751B563}"/>
                  </a:ext>
                </a:extLst>
              </p:cNvPr>
              <p:cNvSpPr>
                <a:spLocks noChangeShapeType="1"/>
              </p:cNvSpPr>
              <p:nvPr/>
            </p:nvSpPr>
            <p:spPr bwMode="auto">
              <a:xfrm>
                <a:off x="295"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6" name="Rectangle 313">
                <a:extLst>
                  <a:ext uri="{FF2B5EF4-FFF2-40B4-BE49-F238E27FC236}">
                    <a16:creationId xmlns:a16="http://schemas.microsoft.com/office/drawing/2014/main" id="{EE7A19E4-7CAB-26F2-7F3F-3373E2BA56B8}"/>
                  </a:ext>
                </a:extLst>
              </p:cNvPr>
              <p:cNvSpPr>
                <a:spLocks noChangeArrowheads="1"/>
              </p:cNvSpPr>
              <p:nvPr/>
            </p:nvSpPr>
            <p:spPr bwMode="auto">
              <a:xfrm>
                <a:off x="956"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7" name="Line 314">
                <a:extLst>
                  <a:ext uri="{FF2B5EF4-FFF2-40B4-BE49-F238E27FC236}">
                    <a16:creationId xmlns:a16="http://schemas.microsoft.com/office/drawing/2014/main" id="{3C2D0E5E-D8EB-57C1-5A27-D6039EE91352}"/>
                  </a:ext>
                </a:extLst>
              </p:cNvPr>
              <p:cNvSpPr>
                <a:spLocks noChangeShapeType="1"/>
              </p:cNvSpPr>
              <p:nvPr/>
            </p:nvSpPr>
            <p:spPr bwMode="auto">
              <a:xfrm>
                <a:off x="956"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38" name="Rectangle 315">
                <a:extLst>
                  <a:ext uri="{FF2B5EF4-FFF2-40B4-BE49-F238E27FC236}">
                    <a16:creationId xmlns:a16="http://schemas.microsoft.com/office/drawing/2014/main" id="{74126BE0-A7BA-C9EA-3FE9-E7D65BF0FDA2}"/>
                  </a:ext>
                </a:extLst>
              </p:cNvPr>
              <p:cNvSpPr>
                <a:spLocks noChangeArrowheads="1"/>
              </p:cNvSpPr>
              <p:nvPr/>
            </p:nvSpPr>
            <p:spPr bwMode="auto">
              <a:xfrm>
                <a:off x="1633" y="1300"/>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39" name="Line 316">
                <a:extLst>
                  <a:ext uri="{FF2B5EF4-FFF2-40B4-BE49-F238E27FC236}">
                    <a16:creationId xmlns:a16="http://schemas.microsoft.com/office/drawing/2014/main" id="{9FC2D0CE-F2A3-3DFB-A7B0-47C51BFECEE3}"/>
                  </a:ext>
                </a:extLst>
              </p:cNvPr>
              <p:cNvSpPr>
                <a:spLocks noChangeShapeType="1"/>
              </p:cNvSpPr>
              <p:nvPr/>
            </p:nvSpPr>
            <p:spPr bwMode="auto">
              <a:xfrm>
                <a:off x="1633"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0" name="Rectangle 317">
                <a:extLst>
                  <a:ext uri="{FF2B5EF4-FFF2-40B4-BE49-F238E27FC236}">
                    <a16:creationId xmlns:a16="http://schemas.microsoft.com/office/drawing/2014/main" id="{08476CBD-A034-55B0-0315-2CE92A1429ED}"/>
                  </a:ext>
                </a:extLst>
              </p:cNvPr>
              <p:cNvSpPr>
                <a:spLocks noChangeArrowheads="1"/>
              </p:cNvSpPr>
              <p:nvPr/>
            </p:nvSpPr>
            <p:spPr bwMode="auto">
              <a:xfrm>
                <a:off x="2376"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1" name="Line 318">
                <a:extLst>
                  <a:ext uri="{FF2B5EF4-FFF2-40B4-BE49-F238E27FC236}">
                    <a16:creationId xmlns:a16="http://schemas.microsoft.com/office/drawing/2014/main" id="{54DAB9C9-2A88-4709-826E-0B1273886F63}"/>
                  </a:ext>
                </a:extLst>
              </p:cNvPr>
              <p:cNvSpPr>
                <a:spLocks noChangeShapeType="1"/>
              </p:cNvSpPr>
              <p:nvPr/>
            </p:nvSpPr>
            <p:spPr bwMode="auto">
              <a:xfrm>
                <a:off x="2376"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2" name="Rectangle 319">
                <a:extLst>
                  <a:ext uri="{FF2B5EF4-FFF2-40B4-BE49-F238E27FC236}">
                    <a16:creationId xmlns:a16="http://schemas.microsoft.com/office/drawing/2014/main" id="{B99CAC51-6B9E-DF35-48F4-D386B27F2F35}"/>
                  </a:ext>
                </a:extLst>
              </p:cNvPr>
              <p:cNvSpPr>
                <a:spLocks noChangeArrowheads="1"/>
              </p:cNvSpPr>
              <p:nvPr/>
            </p:nvSpPr>
            <p:spPr bwMode="auto">
              <a:xfrm>
                <a:off x="2917"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3" name="Line 320">
                <a:extLst>
                  <a:ext uri="{FF2B5EF4-FFF2-40B4-BE49-F238E27FC236}">
                    <a16:creationId xmlns:a16="http://schemas.microsoft.com/office/drawing/2014/main" id="{EB168FCA-6558-2D05-F57E-77B2692EB204}"/>
                  </a:ext>
                </a:extLst>
              </p:cNvPr>
              <p:cNvSpPr>
                <a:spLocks noChangeShapeType="1"/>
              </p:cNvSpPr>
              <p:nvPr/>
            </p:nvSpPr>
            <p:spPr bwMode="auto">
              <a:xfrm>
                <a:off x="2917"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4" name="Rectangle 321">
                <a:extLst>
                  <a:ext uri="{FF2B5EF4-FFF2-40B4-BE49-F238E27FC236}">
                    <a16:creationId xmlns:a16="http://schemas.microsoft.com/office/drawing/2014/main" id="{D9DD393F-E39C-CA28-B201-0C7369473530}"/>
                  </a:ext>
                </a:extLst>
              </p:cNvPr>
              <p:cNvSpPr>
                <a:spLocks noChangeArrowheads="1"/>
              </p:cNvSpPr>
              <p:nvPr/>
            </p:nvSpPr>
            <p:spPr bwMode="auto">
              <a:xfrm>
                <a:off x="3589"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5" name="Line 322">
                <a:extLst>
                  <a:ext uri="{FF2B5EF4-FFF2-40B4-BE49-F238E27FC236}">
                    <a16:creationId xmlns:a16="http://schemas.microsoft.com/office/drawing/2014/main" id="{65E4BCBD-0148-6B1F-3F95-ABF9A139C252}"/>
                  </a:ext>
                </a:extLst>
              </p:cNvPr>
              <p:cNvSpPr>
                <a:spLocks noChangeShapeType="1"/>
              </p:cNvSpPr>
              <p:nvPr/>
            </p:nvSpPr>
            <p:spPr bwMode="auto">
              <a:xfrm>
                <a:off x="3589"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6" name="Rectangle 323">
                <a:extLst>
                  <a:ext uri="{FF2B5EF4-FFF2-40B4-BE49-F238E27FC236}">
                    <a16:creationId xmlns:a16="http://schemas.microsoft.com/office/drawing/2014/main" id="{F47B3776-04CC-4FF7-665A-7D2EF042A4B6}"/>
                  </a:ext>
                </a:extLst>
              </p:cNvPr>
              <p:cNvSpPr>
                <a:spLocks noChangeArrowheads="1"/>
              </p:cNvSpPr>
              <p:nvPr/>
            </p:nvSpPr>
            <p:spPr bwMode="auto">
              <a:xfrm>
                <a:off x="4262" y="1300"/>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7" name="Line 324">
                <a:extLst>
                  <a:ext uri="{FF2B5EF4-FFF2-40B4-BE49-F238E27FC236}">
                    <a16:creationId xmlns:a16="http://schemas.microsoft.com/office/drawing/2014/main" id="{500D0E32-DA96-23E7-4585-647FD47B5A1B}"/>
                  </a:ext>
                </a:extLst>
              </p:cNvPr>
              <p:cNvSpPr>
                <a:spLocks noChangeShapeType="1"/>
              </p:cNvSpPr>
              <p:nvPr/>
            </p:nvSpPr>
            <p:spPr bwMode="auto">
              <a:xfrm>
                <a:off x="4262"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48" name="Rectangle 325">
                <a:extLst>
                  <a:ext uri="{FF2B5EF4-FFF2-40B4-BE49-F238E27FC236}">
                    <a16:creationId xmlns:a16="http://schemas.microsoft.com/office/drawing/2014/main" id="{75B1661E-9CB5-C598-6024-9BC95D33CD7B}"/>
                  </a:ext>
                </a:extLst>
              </p:cNvPr>
              <p:cNvSpPr>
                <a:spLocks noChangeArrowheads="1"/>
              </p:cNvSpPr>
              <p:nvPr/>
            </p:nvSpPr>
            <p:spPr bwMode="auto">
              <a:xfrm>
                <a:off x="5083" y="1300"/>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49" name="Line 326">
                <a:extLst>
                  <a:ext uri="{FF2B5EF4-FFF2-40B4-BE49-F238E27FC236}">
                    <a16:creationId xmlns:a16="http://schemas.microsoft.com/office/drawing/2014/main" id="{BBC2AFD0-62FA-7A44-611D-44B29EAA548F}"/>
                  </a:ext>
                </a:extLst>
              </p:cNvPr>
              <p:cNvSpPr>
                <a:spLocks noChangeShapeType="1"/>
              </p:cNvSpPr>
              <p:nvPr/>
            </p:nvSpPr>
            <p:spPr bwMode="auto">
              <a:xfrm>
                <a:off x="5083" y="1300"/>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50" name="Rectangle 327">
                <a:extLst>
                  <a:ext uri="{FF2B5EF4-FFF2-40B4-BE49-F238E27FC236}">
                    <a16:creationId xmlns:a16="http://schemas.microsoft.com/office/drawing/2014/main" id="{F5C40EA4-EA50-0C1E-D640-F8CF54E4267C}"/>
                  </a:ext>
                </a:extLst>
              </p:cNvPr>
              <p:cNvSpPr>
                <a:spLocks noChangeArrowheads="1"/>
              </p:cNvSpPr>
              <p:nvPr/>
            </p:nvSpPr>
            <p:spPr bwMode="auto">
              <a:xfrm>
                <a:off x="300"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1" name="Rectangle 328">
                <a:extLst>
                  <a:ext uri="{FF2B5EF4-FFF2-40B4-BE49-F238E27FC236}">
                    <a16:creationId xmlns:a16="http://schemas.microsoft.com/office/drawing/2014/main" id="{3364CA9C-8E4B-395F-9F51-4EB14F5A911D}"/>
                  </a:ext>
                </a:extLst>
              </p:cNvPr>
              <p:cNvSpPr>
                <a:spLocks noChangeArrowheads="1"/>
              </p:cNvSpPr>
              <p:nvPr/>
            </p:nvSpPr>
            <p:spPr bwMode="auto">
              <a:xfrm>
                <a:off x="907"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2" name="Rectangle 329">
                <a:extLst>
                  <a:ext uri="{FF2B5EF4-FFF2-40B4-BE49-F238E27FC236}">
                    <a16:creationId xmlns:a16="http://schemas.microsoft.com/office/drawing/2014/main" id="{0AA369DE-54D6-F80D-0743-B95BE4F31995}"/>
                  </a:ext>
                </a:extLst>
              </p:cNvPr>
              <p:cNvSpPr>
                <a:spLocks noChangeArrowheads="1"/>
              </p:cNvSpPr>
              <p:nvPr/>
            </p:nvSpPr>
            <p:spPr bwMode="auto">
              <a:xfrm>
                <a:off x="349" y="1438"/>
                <a:ext cx="55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3" name="Rectangle 330">
                <a:extLst>
                  <a:ext uri="{FF2B5EF4-FFF2-40B4-BE49-F238E27FC236}">
                    <a16:creationId xmlns:a16="http://schemas.microsoft.com/office/drawing/2014/main" id="{D5B40B1F-F7E1-5D47-C60F-14C99CDB8F64}"/>
                  </a:ext>
                </a:extLst>
              </p:cNvPr>
              <p:cNvSpPr>
                <a:spLocks noChangeArrowheads="1"/>
              </p:cNvSpPr>
              <p:nvPr/>
            </p:nvSpPr>
            <p:spPr bwMode="auto">
              <a:xfrm>
                <a:off x="349" y="1426"/>
                <a:ext cx="42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Possible</a:t>
                </a:r>
                <a:endParaRPr lang="en-US" altLang="en-US"/>
              </a:p>
            </p:txBody>
          </p:sp>
          <p:sp>
            <p:nvSpPr>
              <p:cNvPr id="55854" name="Rectangle 331">
                <a:extLst>
                  <a:ext uri="{FF2B5EF4-FFF2-40B4-BE49-F238E27FC236}">
                    <a16:creationId xmlns:a16="http://schemas.microsoft.com/office/drawing/2014/main" id="{3AA45C00-D427-A4B2-9DD7-B4819751E119}"/>
                  </a:ext>
                </a:extLst>
              </p:cNvPr>
              <p:cNvSpPr>
                <a:spLocks noChangeArrowheads="1"/>
              </p:cNvSpPr>
              <p:nvPr/>
            </p:nvSpPr>
            <p:spPr bwMode="auto">
              <a:xfrm>
                <a:off x="780"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855" name="Rectangle 332">
                <a:extLst>
                  <a:ext uri="{FF2B5EF4-FFF2-40B4-BE49-F238E27FC236}">
                    <a16:creationId xmlns:a16="http://schemas.microsoft.com/office/drawing/2014/main" id="{96E98560-B552-F51D-81D1-536225BFDD8B}"/>
                  </a:ext>
                </a:extLst>
              </p:cNvPr>
              <p:cNvSpPr>
                <a:spLocks noChangeArrowheads="1"/>
              </p:cNvSpPr>
              <p:nvPr/>
            </p:nvSpPr>
            <p:spPr bwMode="auto">
              <a:xfrm>
                <a:off x="961"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6" name="Rectangle 333">
                <a:extLst>
                  <a:ext uri="{FF2B5EF4-FFF2-40B4-BE49-F238E27FC236}">
                    <a16:creationId xmlns:a16="http://schemas.microsoft.com/office/drawing/2014/main" id="{F9C76C92-3FB7-5C95-BE6B-124C6E7B03FE}"/>
                  </a:ext>
                </a:extLst>
              </p:cNvPr>
              <p:cNvSpPr>
                <a:spLocks noChangeArrowheads="1"/>
              </p:cNvSpPr>
              <p:nvPr/>
            </p:nvSpPr>
            <p:spPr bwMode="auto">
              <a:xfrm>
                <a:off x="1584"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7" name="Rectangle 334">
                <a:extLst>
                  <a:ext uri="{FF2B5EF4-FFF2-40B4-BE49-F238E27FC236}">
                    <a16:creationId xmlns:a16="http://schemas.microsoft.com/office/drawing/2014/main" id="{A705784B-ED08-47CC-9616-BE84C5C9D9B9}"/>
                  </a:ext>
                </a:extLst>
              </p:cNvPr>
              <p:cNvSpPr>
                <a:spLocks noChangeArrowheads="1"/>
              </p:cNvSpPr>
              <p:nvPr/>
            </p:nvSpPr>
            <p:spPr bwMode="auto">
              <a:xfrm>
                <a:off x="1010" y="1438"/>
                <a:ext cx="574"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58" name="Rectangle 335">
                <a:extLst>
                  <a:ext uri="{FF2B5EF4-FFF2-40B4-BE49-F238E27FC236}">
                    <a16:creationId xmlns:a16="http://schemas.microsoft.com/office/drawing/2014/main" id="{7FE1F415-057B-49B9-A866-941944308D35}"/>
                  </a:ext>
                </a:extLst>
              </p:cNvPr>
              <p:cNvSpPr>
                <a:spLocks noChangeArrowheads="1"/>
              </p:cNvSpPr>
              <p:nvPr/>
            </p:nvSpPr>
            <p:spPr bwMode="auto">
              <a:xfrm>
                <a:off x="1010" y="1426"/>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859" name="Rectangle 336">
                <a:extLst>
                  <a:ext uri="{FF2B5EF4-FFF2-40B4-BE49-F238E27FC236}">
                    <a16:creationId xmlns:a16="http://schemas.microsoft.com/office/drawing/2014/main" id="{342DB54F-FFDF-D247-7F0F-24EACCAC5338}"/>
                  </a:ext>
                </a:extLst>
              </p:cNvPr>
              <p:cNvSpPr>
                <a:spLocks noChangeArrowheads="1"/>
              </p:cNvSpPr>
              <p:nvPr/>
            </p:nvSpPr>
            <p:spPr bwMode="auto">
              <a:xfrm>
                <a:off x="1072"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60" name="Rectangle 337">
                <a:extLst>
                  <a:ext uri="{FF2B5EF4-FFF2-40B4-BE49-F238E27FC236}">
                    <a16:creationId xmlns:a16="http://schemas.microsoft.com/office/drawing/2014/main" id="{315CC6D9-51BA-D82C-69D1-43EB6A05A7BD}"/>
                  </a:ext>
                </a:extLst>
              </p:cNvPr>
              <p:cNvSpPr>
                <a:spLocks noChangeArrowheads="1"/>
              </p:cNvSpPr>
              <p:nvPr/>
            </p:nvSpPr>
            <p:spPr bwMode="auto">
              <a:xfrm>
                <a:off x="1637" y="1438"/>
                <a:ext cx="50"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1" name="Rectangle 338">
                <a:extLst>
                  <a:ext uri="{FF2B5EF4-FFF2-40B4-BE49-F238E27FC236}">
                    <a16:creationId xmlns:a16="http://schemas.microsoft.com/office/drawing/2014/main" id="{0D2F2B83-050F-4494-4E5E-F2C4AC44F924}"/>
                  </a:ext>
                </a:extLst>
              </p:cNvPr>
              <p:cNvSpPr>
                <a:spLocks noChangeArrowheads="1"/>
              </p:cNvSpPr>
              <p:nvPr/>
            </p:nvSpPr>
            <p:spPr bwMode="auto">
              <a:xfrm>
                <a:off x="2328" y="1438"/>
                <a:ext cx="4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2" name="Rectangle 339">
                <a:extLst>
                  <a:ext uri="{FF2B5EF4-FFF2-40B4-BE49-F238E27FC236}">
                    <a16:creationId xmlns:a16="http://schemas.microsoft.com/office/drawing/2014/main" id="{78B6FD02-D265-D6C7-514E-96D08D340358}"/>
                  </a:ext>
                </a:extLst>
              </p:cNvPr>
              <p:cNvSpPr>
                <a:spLocks noChangeArrowheads="1"/>
              </p:cNvSpPr>
              <p:nvPr/>
            </p:nvSpPr>
            <p:spPr bwMode="auto">
              <a:xfrm>
                <a:off x="1687" y="1438"/>
                <a:ext cx="641"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3" name="Rectangle 340">
                <a:extLst>
                  <a:ext uri="{FF2B5EF4-FFF2-40B4-BE49-F238E27FC236}">
                    <a16:creationId xmlns:a16="http://schemas.microsoft.com/office/drawing/2014/main" id="{4B478BE1-707F-9655-7D78-BB1EC2593058}"/>
                  </a:ext>
                </a:extLst>
              </p:cNvPr>
              <p:cNvSpPr>
                <a:spLocks noChangeArrowheads="1"/>
              </p:cNvSpPr>
              <p:nvPr/>
            </p:nvSpPr>
            <p:spPr bwMode="auto">
              <a:xfrm>
                <a:off x="1687" y="1426"/>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864" name="Rectangle 341">
                <a:extLst>
                  <a:ext uri="{FF2B5EF4-FFF2-40B4-BE49-F238E27FC236}">
                    <a16:creationId xmlns:a16="http://schemas.microsoft.com/office/drawing/2014/main" id="{B4DC22F1-981F-884F-1568-D3C813DDD7FA}"/>
                  </a:ext>
                </a:extLst>
              </p:cNvPr>
              <p:cNvSpPr>
                <a:spLocks noChangeArrowheads="1"/>
              </p:cNvSpPr>
              <p:nvPr/>
            </p:nvSpPr>
            <p:spPr bwMode="auto">
              <a:xfrm>
                <a:off x="1749"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65" name="Rectangle 342">
                <a:extLst>
                  <a:ext uri="{FF2B5EF4-FFF2-40B4-BE49-F238E27FC236}">
                    <a16:creationId xmlns:a16="http://schemas.microsoft.com/office/drawing/2014/main" id="{1B1D2E6F-AE8E-1BFD-1224-B44AAA8B65CA}"/>
                  </a:ext>
                </a:extLst>
              </p:cNvPr>
              <p:cNvSpPr>
                <a:spLocks noChangeArrowheads="1"/>
              </p:cNvSpPr>
              <p:nvPr/>
            </p:nvSpPr>
            <p:spPr bwMode="auto">
              <a:xfrm>
                <a:off x="2381"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6" name="Rectangle 343">
                <a:extLst>
                  <a:ext uri="{FF2B5EF4-FFF2-40B4-BE49-F238E27FC236}">
                    <a16:creationId xmlns:a16="http://schemas.microsoft.com/office/drawing/2014/main" id="{F20D405F-A837-7AF7-6D7C-FD626027B648}"/>
                  </a:ext>
                </a:extLst>
              </p:cNvPr>
              <p:cNvSpPr>
                <a:spLocks noChangeArrowheads="1"/>
              </p:cNvSpPr>
              <p:nvPr/>
            </p:nvSpPr>
            <p:spPr bwMode="auto">
              <a:xfrm>
                <a:off x="2868"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7" name="Rectangle 344">
                <a:extLst>
                  <a:ext uri="{FF2B5EF4-FFF2-40B4-BE49-F238E27FC236}">
                    <a16:creationId xmlns:a16="http://schemas.microsoft.com/office/drawing/2014/main" id="{A27CB088-0A71-3711-B229-976A74A67728}"/>
                  </a:ext>
                </a:extLst>
              </p:cNvPr>
              <p:cNvSpPr>
                <a:spLocks noChangeArrowheads="1"/>
              </p:cNvSpPr>
              <p:nvPr/>
            </p:nvSpPr>
            <p:spPr bwMode="auto">
              <a:xfrm>
                <a:off x="2430" y="1438"/>
                <a:ext cx="43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68" name="Rectangle 345">
                <a:extLst>
                  <a:ext uri="{FF2B5EF4-FFF2-40B4-BE49-F238E27FC236}">
                    <a16:creationId xmlns:a16="http://schemas.microsoft.com/office/drawing/2014/main" id="{C4510810-432A-4FFF-58C3-592F52E310B7}"/>
                  </a:ext>
                </a:extLst>
              </p:cNvPr>
              <p:cNvSpPr>
                <a:spLocks noChangeArrowheads="1"/>
              </p:cNvSpPr>
              <p:nvPr/>
            </p:nvSpPr>
            <p:spPr bwMode="auto">
              <a:xfrm>
                <a:off x="2430" y="1426"/>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869" name="Rectangle 346">
                <a:extLst>
                  <a:ext uri="{FF2B5EF4-FFF2-40B4-BE49-F238E27FC236}">
                    <a16:creationId xmlns:a16="http://schemas.microsoft.com/office/drawing/2014/main" id="{C1E155D1-B864-C786-0F89-AF4D0D0186E8}"/>
                  </a:ext>
                </a:extLst>
              </p:cNvPr>
              <p:cNvSpPr>
                <a:spLocks noChangeArrowheads="1"/>
              </p:cNvSpPr>
              <p:nvPr/>
            </p:nvSpPr>
            <p:spPr bwMode="auto">
              <a:xfrm>
                <a:off x="2492"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70" name="Rectangle 347">
                <a:extLst>
                  <a:ext uri="{FF2B5EF4-FFF2-40B4-BE49-F238E27FC236}">
                    <a16:creationId xmlns:a16="http://schemas.microsoft.com/office/drawing/2014/main" id="{B52DC746-BC97-5443-C54F-3D42C85491CB}"/>
                  </a:ext>
                </a:extLst>
              </p:cNvPr>
              <p:cNvSpPr>
                <a:spLocks noChangeArrowheads="1"/>
              </p:cNvSpPr>
              <p:nvPr/>
            </p:nvSpPr>
            <p:spPr bwMode="auto">
              <a:xfrm>
                <a:off x="2922"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1" name="Rectangle 348">
                <a:extLst>
                  <a:ext uri="{FF2B5EF4-FFF2-40B4-BE49-F238E27FC236}">
                    <a16:creationId xmlns:a16="http://schemas.microsoft.com/office/drawing/2014/main" id="{BC2F7567-B697-41CC-6953-2D374381296F}"/>
                  </a:ext>
                </a:extLst>
              </p:cNvPr>
              <p:cNvSpPr>
                <a:spLocks noChangeArrowheads="1"/>
              </p:cNvSpPr>
              <p:nvPr/>
            </p:nvSpPr>
            <p:spPr bwMode="auto">
              <a:xfrm>
                <a:off x="3540"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2" name="Rectangle 349">
                <a:extLst>
                  <a:ext uri="{FF2B5EF4-FFF2-40B4-BE49-F238E27FC236}">
                    <a16:creationId xmlns:a16="http://schemas.microsoft.com/office/drawing/2014/main" id="{C477935E-9FFD-3CFE-8C12-72DA819EBC8A}"/>
                  </a:ext>
                </a:extLst>
              </p:cNvPr>
              <p:cNvSpPr>
                <a:spLocks noChangeArrowheads="1"/>
              </p:cNvSpPr>
              <p:nvPr/>
            </p:nvSpPr>
            <p:spPr bwMode="auto">
              <a:xfrm>
                <a:off x="2971" y="1438"/>
                <a:ext cx="56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3" name="Rectangle 350">
                <a:extLst>
                  <a:ext uri="{FF2B5EF4-FFF2-40B4-BE49-F238E27FC236}">
                    <a16:creationId xmlns:a16="http://schemas.microsoft.com/office/drawing/2014/main" id="{B19329F3-FE1B-656A-521E-7EA1A6F2BB35}"/>
                  </a:ext>
                </a:extLst>
              </p:cNvPr>
              <p:cNvSpPr>
                <a:spLocks noChangeArrowheads="1"/>
              </p:cNvSpPr>
              <p:nvPr/>
            </p:nvSpPr>
            <p:spPr bwMode="auto">
              <a:xfrm>
                <a:off x="2971" y="1426"/>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874" name="Rectangle 351">
                <a:extLst>
                  <a:ext uri="{FF2B5EF4-FFF2-40B4-BE49-F238E27FC236}">
                    <a16:creationId xmlns:a16="http://schemas.microsoft.com/office/drawing/2014/main" id="{C27131F0-FA72-0A69-40D4-F0E3E07123C1}"/>
                  </a:ext>
                </a:extLst>
              </p:cNvPr>
              <p:cNvSpPr>
                <a:spLocks noChangeArrowheads="1"/>
              </p:cNvSpPr>
              <p:nvPr/>
            </p:nvSpPr>
            <p:spPr bwMode="auto">
              <a:xfrm>
                <a:off x="3045"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75" name="Rectangle 352">
                <a:extLst>
                  <a:ext uri="{FF2B5EF4-FFF2-40B4-BE49-F238E27FC236}">
                    <a16:creationId xmlns:a16="http://schemas.microsoft.com/office/drawing/2014/main" id="{1DE51558-D631-A933-0317-1C3E6365F6A7}"/>
                  </a:ext>
                </a:extLst>
              </p:cNvPr>
              <p:cNvSpPr>
                <a:spLocks noChangeArrowheads="1"/>
              </p:cNvSpPr>
              <p:nvPr/>
            </p:nvSpPr>
            <p:spPr bwMode="auto">
              <a:xfrm>
                <a:off x="3594"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6" name="Rectangle 353">
                <a:extLst>
                  <a:ext uri="{FF2B5EF4-FFF2-40B4-BE49-F238E27FC236}">
                    <a16:creationId xmlns:a16="http://schemas.microsoft.com/office/drawing/2014/main" id="{A96FADBD-C0AB-C7D3-DF1D-45EE5C960380}"/>
                  </a:ext>
                </a:extLst>
              </p:cNvPr>
              <p:cNvSpPr>
                <a:spLocks noChangeArrowheads="1"/>
              </p:cNvSpPr>
              <p:nvPr/>
            </p:nvSpPr>
            <p:spPr bwMode="auto">
              <a:xfrm>
                <a:off x="4212" y="1438"/>
                <a:ext cx="50"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7" name="Rectangle 354">
                <a:extLst>
                  <a:ext uri="{FF2B5EF4-FFF2-40B4-BE49-F238E27FC236}">
                    <a16:creationId xmlns:a16="http://schemas.microsoft.com/office/drawing/2014/main" id="{45478E01-D37D-842F-9D84-C17FBA2634E0}"/>
                  </a:ext>
                </a:extLst>
              </p:cNvPr>
              <p:cNvSpPr>
                <a:spLocks noChangeArrowheads="1"/>
              </p:cNvSpPr>
              <p:nvPr/>
            </p:nvSpPr>
            <p:spPr bwMode="auto">
              <a:xfrm>
                <a:off x="3643" y="1438"/>
                <a:ext cx="56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78" name="Rectangle 355">
                <a:extLst>
                  <a:ext uri="{FF2B5EF4-FFF2-40B4-BE49-F238E27FC236}">
                    <a16:creationId xmlns:a16="http://schemas.microsoft.com/office/drawing/2014/main" id="{2E1719FE-E9C2-3D62-10A1-8D7E307CC4C4}"/>
                  </a:ext>
                </a:extLst>
              </p:cNvPr>
              <p:cNvSpPr>
                <a:spLocks noChangeArrowheads="1"/>
              </p:cNvSpPr>
              <p:nvPr/>
            </p:nvSpPr>
            <p:spPr bwMode="auto">
              <a:xfrm>
                <a:off x="3643" y="1426"/>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879" name="Rectangle 356">
                <a:extLst>
                  <a:ext uri="{FF2B5EF4-FFF2-40B4-BE49-F238E27FC236}">
                    <a16:creationId xmlns:a16="http://schemas.microsoft.com/office/drawing/2014/main" id="{814F24BF-4714-6859-185F-9B849B4CABBF}"/>
                  </a:ext>
                </a:extLst>
              </p:cNvPr>
              <p:cNvSpPr>
                <a:spLocks noChangeArrowheads="1"/>
              </p:cNvSpPr>
              <p:nvPr/>
            </p:nvSpPr>
            <p:spPr bwMode="auto">
              <a:xfrm>
                <a:off x="3724"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80" name="Rectangle 357">
                <a:extLst>
                  <a:ext uri="{FF2B5EF4-FFF2-40B4-BE49-F238E27FC236}">
                    <a16:creationId xmlns:a16="http://schemas.microsoft.com/office/drawing/2014/main" id="{2688979B-D877-878C-9C3E-4F57850539A3}"/>
                  </a:ext>
                </a:extLst>
              </p:cNvPr>
              <p:cNvSpPr>
                <a:spLocks noChangeArrowheads="1"/>
              </p:cNvSpPr>
              <p:nvPr/>
            </p:nvSpPr>
            <p:spPr bwMode="auto">
              <a:xfrm>
                <a:off x="4266" y="1438"/>
                <a:ext cx="50"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1" name="Rectangle 358">
                <a:extLst>
                  <a:ext uri="{FF2B5EF4-FFF2-40B4-BE49-F238E27FC236}">
                    <a16:creationId xmlns:a16="http://schemas.microsoft.com/office/drawing/2014/main" id="{492B0B2D-2562-6634-FEBA-C6013C183506}"/>
                  </a:ext>
                </a:extLst>
              </p:cNvPr>
              <p:cNvSpPr>
                <a:spLocks noChangeArrowheads="1"/>
              </p:cNvSpPr>
              <p:nvPr/>
            </p:nvSpPr>
            <p:spPr bwMode="auto">
              <a:xfrm>
                <a:off x="5034" y="1438"/>
                <a:ext cx="4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2" name="Rectangle 359">
                <a:extLst>
                  <a:ext uri="{FF2B5EF4-FFF2-40B4-BE49-F238E27FC236}">
                    <a16:creationId xmlns:a16="http://schemas.microsoft.com/office/drawing/2014/main" id="{A09DC346-F0B4-5BB8-C81F-48C900BCFA11}"/>
                  </a:ext>
                </a:extLst>
              </p:cNvPr>
              <p:cNvSpPr>
                <a:spLocks noChangeArrowheads="1"/>
              </p:cNvSpPr>
              <p:nvPr/>
            </p:nvSpPr>
            <p:spPr bwMode="auto">
              <a:xfrm>
                <a:off x="4316" y="1438"/>
                <a:ext cx="718"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3" name="Rectangle 360">
                <a:extLst>
                  <a:ext uri="{FF2B5EF4-FFF2-40B4-BE49-F238E27FC236}">
                    <a16:creationId xmlns:a16="http://schemas.microsoft.com/office/drawing/2014/main" id="{C23646EA-30B7-612C-7729-2249183FEC1A}"/>
                  </a:ext>
                </a:extLst>
              </p:cNvPr>
              <p:cNvSpPr>
                <a:spLocks noChangeArrowheads="1"/>
              </p:cNvSpPr>
              <p:nvPr/>
            </p:nvSpPr>
            <p:spPr bwMode="auto">
              <a:xfrm>
                <a:off x="4316" y="1426"/>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884" name="Rectangle 361">
                <a:extLst>
                  <a:ext uri="{FF2B5EF4-FFF2-40B4-BE49-F238E27FC236}">
                    <a16:creationId xmlns:a16="http://schemas.microsoft.com/office/drawing/2014/main" id="{D35B657E-E8E2-7741-EF6F-6D9797A6B1D3}"/>
                  </a:ext>
                </a:extLst>
              </p:cNvPr>
              <p:cNvSpPr>
                <a:spLocks noChangeArrowheads="1"/>
              </p:cNvSpPr>
              <p:nvPr/>
            </p:nvSpPr>
            <p:spPr bwMode="auto">
              <a:xfrm>
                <a:off x="4374" y="1426"/>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885" name="Rectangle 362">
                <a:extLst>
                  <a:ext uri="{FF2B5EF4-FFF2-40B4-BE49-F238E27FC236}">
                    <a16:creationId xmlns:a16="http://schemas.microsoft.com/office/drawing/2014/main" id="{6335F35F-A819-618A-522C-B5AFEDB611C1}"/>
                  </a:ext>
                </a:extLst>
              </p:cNvPr>
              <p:cNvSpPr>
                <a:spLocks noChangeArrowheads="1"/>
              </p:cNvSpPr>
              <p:nvPr/>
            </p:nvSpPr>
            <p:spPr bwMode="auto">
              <a:xfrm>
                <a:off x="295"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6" name="Line 363">
                <a:extLst>
                  <a:ext uri="{FF2B5EF4-FFF2-40B4-BE49-F238E27FC236}">
                    <a16:creationId xmlns:a16="http://schemas.microsoft.com/office/drawing/2014/main" id="{58933FFC-3936-C994-9730-410EB9C6DCD4}"/>
                  </a:ext>
                </a:extLst>
              </p:cNvPr>
              <p:cNvSpPr>
                <a:spLocks noChangeShapeType="1"/>
              </p:cNvSpPr>
              <p:nvPr/>
            </p:nvSpPr>
            <p:spPr bwMode="auto">
              <a:xfrm>
                <a:off x="295"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87" name="Line 364">
                <a:extLst>
                  <a:ext uri="{FF2B5EF4-FFF2-40B4-BE49-F238E27FC236}">
                    <a16:creationId xmlns:a16="http://schemas.microsoft.com/office/drawing/2014/main" id="{79803D03-0FD4-D0E7-E9CD-8354A09BA1F0}"/>
                  </a:ext>
                </a:extLst>
              </p:cNvPr>
              <p:cNvSpPr>
                <a:spLocks noChangeShapeType="1"/>
              </p:cNvSpPr>
              <p:nvPr/>
            </p:nvSpPr>
            <p:spPr bwMode="auto">
              <a:xfrm>
                <a:off x="295"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88" name="Rectangle 365">
                <a:extLst>
                  <a:ext uri="{FF2B5EF4-FFF2-40B4-BE49-F238E27FC236}">
                    <a16:creationId xmlns:a16="http://schemas.microsoft.com/office/drawing/2014/main" id="{A59EAEFB-43B3-645D-2F1C-16BAA7523273}"/>
                  </a:ext>
                </a:extLst>
              </p:cNvPr>
              <p:cNvSpPr>
                <a:spLocks noChangeArrowheads="1"/>
              </p:cNvSpPr>
              <p:nvPr/>
            </p:nvSpPr>
            <p:spPr bwMode="auto">
              <a:xfrm>
                <a:off x="300" y="1433"/>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89" name="Line 366">
                <a:extLst>
                  <a:ext uri="{FF2B5EF4-FFF2-40B4-BE49-F238E27FC236}">
                    <a16:creationId xmlns:a16="http://schemas.microsoft.com/office/drawing/2014/main" id="{27895A91-E6D7-9496-68F5-80BEC1A8B2F4}"/>
                  </a:ext>
                </a:extLst>
              </p:cNvPr>
              <p:cNvSpPr>
                <a:spLocks noChangeShapeType="1"/>
              </p:cNvSpPr>
              <p:nvPr/>
            </p:nvSpPr>
            <p:spPr bwMode="auto">
              <a:xfrm>
                <a:off x="300" y="1433"/>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0" name="Rectangle 367">
                <a:extLst>
                  <a:ext uri="{FF2B5EF4-FFF2-40B4-BE49-F238E27FC236}">
                    <a16:creationId xmlns:a16="http://schemas.microsoft.com/office/drawing/2014/main" id="{CE1ED602-9931-3647-57E4-6476F9643CFF}"/>
                  </a:ext>
                </a:extLst>
              </p:cNvPr>
              <p:cNvSpPr>
                <a:spLocks noChangeArrowheads="1"/>
              </p:cNvSpPr>
              <p:nvPr/>
            </p:nvSpPr>
            <p:spPr bwMode="auto">
              <a:xfrm>
                <a:off x="956"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1" name="Line 368">
                <a:extLst>
                  <a:ext uri="{FF2B5EF4-FFF2-40B4-BE49-F238E27FC236}">
                    <a16:creationId xmlns:a16="http://schemas.microsoft.com/office/drawing/2014/main" id="{3E9A382F-2E72-0910-36B3-900D7D543360}"/>
                  </a:ext>
                </a:extLst>
              </p:cNvPr>
              <p:cNvSpPr>
                <a:spLocks noChangeShapeType="1"/>
              </p:cNvSpPr>
              <p:nvPr/>
            </p:nvSpPr>
            <p:spPr bwMode="auto">
              <a:xfrm>
                <a:off x="956"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2" name="Line 369">
                <a:extLst>
                  <a:ext uri="{FF2B5EF4-FFF2-40B4-BE49-F238E27FC236}">
                    <a16:creationId xmlns:a16="http://schemas.microsoft.com/office/drawing/2014/main" id="{9C5DB566-9E43-F32C-4DE9-CEAED6A282FC}"/>
                  </a:ext>
                </a:extLst>
              </p:cNvPr>
              <p:cNvSpPr>
                <a:spLocks noChangeShapeType="1"/>
              </p:cNvSpPr>
              <p:nvPr/>
            </p:nvSpPr>
            <p:spPr bwMode="auto">
              <a:xfrm>
                <a:off x="956"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3" name="Rectangle 370">
                <a:extLst>
                  <a:ext uri="{FF2B5EF4-FFF2-40B4-BE49-F238E27FC236}">
                    <a16:creationId xmlns:a16="http://schemas.microsoft.com/office/drawing/2014/main" id="{BE199919-01D1-4A5A-A46B-9F4412652ED8}"/>
                  </a:ext>
                </a:extLst>
              </p:cNvPr>
              <p:cNvSpPr>
                <a:spLocks noChangeArrowheads="1"/>
              </p:cNvSpPr>
              <p:nvPr/>
            </p:nvSpPr>
            <p:spPr bwMode="auto">
              <a:xfrm>
                <a:off x="961" y="1433"/>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4" name="Line 371">
                <a:extLst>
                  <a:ext uri="{FF2B5EF4-FFF2-40B4-BE49-F238E27FC236}">
                    <a16:creationId xmlns:a16="http://schemas.microsoft.com/office/drawing/2014/main" id="{118BB2AE-BDB6-BC27-147A-4ED0F24CA81F}"/>
                  </a:ext>
                </a:extLst>
              </p:cNvPr>
              <p:cNvSpPr>
                <a:spLocks noChangeShapeType="1"/>
              </p:cNvSpPr>
              <p:nvPr/>
            </p:nvSpPr>
            <p:spPr bwMode="auto">
              <a:xfrm>
                <a:off x="961" y="1433"/>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5" name="Rectangle 372">
                <a:extLst>
                  <a:ext uri="{FF2B5EF4-FFF2-40B4-BE49-F238E27FC236}">
                    <a16:creationId xmlns:a16="http://schemas.microsoft.com/office/drawing/2014/main" id="{75AF935F-FE9C-A09D-9B2F-3A902053805F}"/>
                  </a:ext>
                </a:extLst>
              </p:cNvPr>
              <p:cNvSpPr>
                <a:spLocks noChangeArrowheads="1"/>
              </p:cNvSpPr>
              <p:nvPr/>
            </p:nvSpPr>
            <p:spPr bwMode="auto">
              <a:xfrm>
                <a:off x="1633" y="143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6" name="Line 373">
                <a:extLst>
                  <a:ext uri="{FF2B5EF4-FFF2-40B4-BE49-F238E27FC236}">
                    <a16:creationId xmlns:a16="http://schemas.microsoft.com/office/drawing/2014/main" id="{169640EC-1F53-F7AB-71D7-9C03D9BB72F5}"/>
                  </a:ext>
                </a:extLst>
              </p:cNvPr>
              <p:cNvSpPr>
                <a:spLocks noChangeShapeType="1"/>
              </p:cNvSpPr>
              <p:nvPr/>
            </p:nvSpPr>
            <p:spPr bwMode="auto">
              <a:xfrm>
                <a:off x="1633" y="143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7" name="Line 374">
                <a:extLst>
                  <a:ext uri="{FF2B5EF4-FFF2-40B4-BE49-F238E27FC236}">
                    <a16:creationId xmlns:a16="http://schemas.microsoft.com/office/drawing/2014/main" id="{BE6EF736-07DD-75E2-B0C0-FCEF6155EF72}"/>
                  </a:ext>
                </a:extLst>
              </p:cNvPr>
              <p:cNvSpPr>
                <a:spLocks noChangeShapeType="1"/>
              </p:cNvSpPr>
              <p:nvPr/>
            </p:nvSpPr>
            <p:spPr bwMode="auto">
              <a:xfrm>
                <a:off x="1633"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898" name="Rectangle 375">
                <a:extLst>
                  <a:ext uri="{FF2B5EF4-FFF2-40B4-BE49-F238E27FC236}">
                    <a16:creationId xmlns:a16="http://schemas.microsoft.com/office/drawing/2014/main" id="{0971F1BB-54ED-0221-B392-90F924FB09A5}"/>
                  </a:ext>
                </a:extLst>
              </p:cNvPr>
              <p:cNvSpPr>
                <a:spLocks noChangeArrowheads="1"/>
              </p:cNvSpPr>
              <p:nvPr/>
            </p:nvSpPr>
            <p:spPr bwMode="auto">
              <a:xfrm>
                <a:off x="1637" y="1433"/>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899" name="Line 376">
                <a:extLst>
                  <a:ext uri="{FF2B5EF4-FFF2-40B4-BE49-F238E27FC236}">
                    <a16:creationId xmlns:a16="http://schemas.microsoft.com/office/drawing/2014/main" id="{EE3C54B6-B321-8FE9-25B0-67B239DDC12E}"/>
                  </a:ext>
                </a:extLst>
              </p:cNvPr>
              <p:cNvSpPr>
                <a:spLocks noChangeShapeType="1"/>
              </p:cNvSpPr>
              <p:nvPr/>
            </p:nvSpPr>
            <p:spPr bwMode="auto">
              <a:xfrm>
                <a:off x="1637" y="1433"/>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0" name="Rectangle 377">
                <a:extLst>
                  <a:ext uri="{FF2B5EF4-FFF2-40B4-BE49-F238E27FC236}">
                    <a16:creationId xmlns:a16="http://schemas.microsoft.com/office/drawing/2014/main" id="{F59493F1-1937-661F-2291-DA84AD0A8723}"/>
                  </a:ext>
                </a:extLst>
              </p:cNvPr>
              <p:cNvSpPr>
                <a:spLocks noChangeArrowheads="1"/>
              </p:cNvSpPr>
              <p:nvPr/>
            </p:nvSpPr>
            <p:spPr bwMode="auto">
              <a:xfrm>
                <a:off x="2376"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1" name="Line 378">
                <a:extLst>
                  <a:ext uri="{FF2B5EF4-FFF2-40B4-BE49-F238E27FC236}">
                    <a16:creationId xmlns:a16="http://schemas.microsoft.com/office/drawing/2014/main" id="{D9A5303E-CA40-8706-2873-D939910BA943}"/>
                  </a:ext>
                </a:extLst>
              </p:cNvPr>
              <p:cNvSpPr>
                <a:spLocks noChangeShapeType="1"/>
              </p:cNvSpPr>
              <p:nvPr/>
            </p:nvSpPr>
            <p:spPr bwMode="auto">
              <a:xfrm>
                <a:off x="2376"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2" name="Line 379">
                <a:extLst>
                  <a:ext uri="{FF2B5EF4-FFF2-40B4-BE49-F238E27FC236}">
                    <a16:creationId xmlns:a16="http://schemas.microsoft.com/office/drawing/2014/main" id="{CBFFBFD3-A475-C11A-0DE4-5C358E6F108D}"/>
                  </a:ext>
                </a:extLst>
              </p:cNvPr>
              <p:cNvSpPr>
                <a:spLocks noChangeShapeType="1"/>
              </p:cNvSpPr>
              <p:nvPr/>
            </p:nvSpPr>
            <p:spPr bwMode="auto">
              <a:xfrm>
                <a:off x="2376"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3" name="Rectangle 380">
                <a:extLst>
                  <a:ext uri="{FF2B5EF4-FFF2-40B4-BE49-F238E27FC236}">
                    <a16:creationId xmlns:a16="http://schemas.microsoft.com/office/drawing/2014/main" id="{105A445E-7C13-2509-3012-129ECFFA1700}"/>
                  </a:ext>
                </a:extLst>
              </p:cNvPr>
              <p:cNvSpPr>
                <a:spLocks noChangeArrowheads="1"/>
              </p:cNvSpPr>
              <p:nvPr/>
            </p:nvSpPr>
            <p:spPr bwMode="auto">
              <a:xfrm>
                <a:off x="2381" y="1433"/>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4" name="Line 381">
                <a:extLst>
                  <a:ext uri="{FF2B5EF4-FFF2-40B4-BE49-F238E27FC236}">
                    <a16:creationId xmlns:a16="http://schemas.microsoft.com/office/drawing/2014/main" id="{05942F34-8DC4-4629-4EA4-9231FD203E4A}"/>
                  </a:ext>
                </a:extLst>
              </p:cNvPr>
              <p:cNvSpPr>
                <a:spLocks noChangeShapeType="1"/>
              </p:cNvSpPr>
              <p:nvPr/>
            </p:nvSpPr>
            <p:spPr bwMode="auto">
              <a:xfrm>
                <a:off x="2381" y="1433"/>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5" name="Rectangle 382">
                <a:extLst>
                  <a:ext uri="{FF2B5EF4-FFF2-40B4-BE49-F238E27FC236}">
                    <a16:creationId xmlns:a16="http://schemas.microsoft.com/office/drawing/2014/main" id="{E098E847-559F-2910-948D-18568A58999F}"/>
                  </a:ext>
                </a:extLst>
              </p:cNvPr>
              <p:cNvSpPr>
                <a:spLocks noChangeArrowheads="1"/>
              </p:cNvSpPr>
              <p:nvPr/>
            </p:nvSpPr>
            <p:spPr bwMode="auto">
              <a:xfrm>
                <a:off x="2917"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6" name="Line 383">
                <a:extLst>
                  <a:ext uri="{FF2B5EF4-FFF2-40B4-BE49-F238E27FC236}">
                    <a16:creationId xmlns:a16="http://schemas.microsoft.com/office/drawing/2014/main" id="{94214946-CE2B-CBEB-77C8-8215CCCFBAAC}"/>
                  </a:ext>
                </a:extLst>
              </p:cNvPr>
              <p:cNvSpPr>
                <a:spLocks noChangeShapeType="1"/>
              </p:cNvSpPr>
              <p:nvPr/>
            </p:nvSpPr>
            <p:spPr bwMode="auto">
              <a:xfrm>
                <a:off x="2917"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7" name="Line 384">
                <a:extLst>
                  <a:ext uri="{FF2B5EF4-FFF2-40B4-BE49-F238E27FC236}">
                    <a16:creationId xmlns:a16="http://schemas.microsoft.com/office/drawing/2014/main" id="{DE022F69-30BD-71FD-B148-C37702F6D2DC}"/>
                  </a:ext>
                </a:extLst>
              </p:cNvPr>
              <p:cNvSpPr>
                <a:spLocks noChangeShapeType="1"/>
              </p:cNvSpPr>
              <p:nvPr/>
            </p:nvSpPr>
            <p:spPr bwMode="auto">
              <a:xfrm>
                <a:off x="2917"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08" name="Rectangle 385">
                <a:extLst>
                  <a:ext uri="{FF2B5EF4-FFF2-40B4-BE49-F238E27FC236}">
                    <a16:creationId xmlns:a16="http://schemas.microsoft.com/office/drawing/2014/main" id="{341FCC95-FB3B-0FE0-8BC2-D7C8858E656B}"/>
                  </a:ext>
                </a:extLst>
              </p:cNvPr>
              <p:cNvSpPr>
                <a:spLocks noChangeArrowheads="1"/>
              </p:cNvSpPr>
              <p:nvPr/>
            </p:nvSpPr>
            <p:spPr bwMode="auto">
              <a:xfrm>
                <a:off x="2922" y="1433"/>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09" name="Line 386">
                <a:extLst>
                  <a:ext uri="{FF2B5EF4-FFF2-40B4-BE49-F238E27FC236}">
                    <a16:creationId xmlns:a16="http://schemas.microsoft.com/office/drawing/2014/main" id="{4F5F695B-8EDD-DF9A-CC41-03819CEC02E2}"/>
                  </a:ext>
                </a:extLst>
              </p:cNvPr>
              <p:cNvSpPr>
                <a:spLocks noChangeShapeType="1"/>
              </p:cNvSpPr>
              <p:nvPr/>
            </p:nvSpPr>
            <p:spPr bwMode="auto">
              <a:xfrm>
                <a:off x="2922" y="1433"/>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0" name="Rectangle 387">
                <a:extLst>
                  <a:ext uri="{FF2B5EF4-FFF2-40B4-BE49-F238E27FC236}">
                    <a16:creationId xmlns:a16="http://schemas.microsoft.com/office/drawing/2014/main" id="{6682FCEF-1FAC-6911-F0EC-00651C1E02A0}"/>
                  </a:ext>
                </a:extLst>
              </p:cNvPr>
              <p:cNvSpPr>
                <a:spLocks noChangeArrowheads="1"/>
              </p:cNvSpPr>
              <p:nvPr/>
            </p:nvSpPr>
            <p:spPr bwMode="auto">
              <a:xfrm>
                <a:off x="3589"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1" name="Line 388">
                <a:extLst>
                  <a:ext uri="{FF2B5EF4-FFF2-40B4-BE49-F238E27FC236}">
                    <a16:creationId xmlns:a16="http://schemas.microsoft.com/office/drawing/2014/main" id="{2C78BEBE-CA57-E4F3-F608-598F31592611}"/>
                  </a:ext>
                </a:extLst>
              </p:cNvPr>
              <p:cNvSpPr>
                <a:spLocks noChangeShapeType="1"/>
              </p:cNvSpPr>
              <p:nvPr/>
            </p:nvSpPr>
            <p:spPr bwMode="auto">
              <a:xfrm>
                <a:off x="3589"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2" name="Line 389">
                <a:extLst>
                  <a:ext uri="{FF2B5EF4-FFF2-40B4-BE49-F238E27FC236}">
                    <a16:creationId xmlns:a16="http://schemas.microsoft.com/office/drawing/2014/main" id="{608E5364-8654-B450-AEF9-E758BC87BA55}"/>
                  </a:ext>
                </a:extLst>
              </p:cNvPr>
              <p:cNvSpPr>
                <a:spLocks noChangeShapeType="1"/>
              </p:cNvSpPr>
              <p:nvPr/>
            </p:nvSpPr>
            <p:spPr bwMode="auto">
              <a:xfrm>
                <a:off x="3589"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3" name="Rectangle 390">
                <a:extLst>
                  <a:ext uri="{FF2B5EF4-FFF2-40B4-BE49-F238E27FC236}">
                    <a16:creationId xmlns:a16="http://schemas.microsoft.com/office/drawing/2014/main" id="{457B3127-9151-48BD-2841-DE530A67500B}"/>
                  </a:ext>
                </a:extLst>
              </p:cNvPr>
              <p:cNvSpPr>
                <a:spLocks noChangeArrowheads="1"/>
              </p:cNvSpPr>
              <p:nvPr/>
            </p:nvSpPr>
            <p:spPr bwMode="auto">
              <a:xfrm>
                <a:off x="3594" y="1433"/>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4" name="Line 391">
                <a:extLst>
                  <a:ext uri="{FF2B5EF4-FFF2-40B4-BE49-F238E27FC236}">
                    <a16:creationId xmlns:a16="http://schemas.microsoft.com/office/drawing/2014/main" id="{5D09E9A4-7B0A-E0B5-F078-6539805456BF}"/>
                  </a:ext>
                </a:extLst>
              </p:cNvPr>
              <p:cNvSpPr>
                <a:spLocks noChangeShapeType="1"/>
              </p:cNvSpPr>
              <p:nvPr/>
            </p:nvSpPr>
            <p:spPr bwMode="auto">
              <a:xfrm>
                <a:off x="3594" y="1433"/>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5" name="Rectangle 392">
                <a:extLst>
                  <a:ext uri="{FF2B5EF4-FFF2-40B4-BE49-F238E27FC236}">
                    <a16:creationId xmlns:a16="http://schemas.microsoft.com/office/drawing/2014/main" id="{0BB33F68-1FE2-9278-6F58-F50905DDBC15}"/>
                  </a:ext>
                </a:extLst>
              </p:cNvPr>
              <p:cNvSpPr>
                <a:spLocks noChangeArrowheads="1"/>
              </p:cNvSpPr>
              <p:nvPr/>
            </p:nvSpPr>
            <p:spPr bwMode="auto">
              <a:xfrm>
                <a:off x="4262" y="1433"/>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6" name="Line 393">
                <a:extLst>
                  <a:ext uri="{FF2B5EF4-FFF2-40B4-BE49-F238E27FC236}">
                    <a16:creationId xmlns:a16="http://schemas.microsoft.com/office/drawing/2014/main" id="{C8D40107-6B04-13D0-85CA-0479C78BBC52}"/>
                  </a:ext>
                </a:extLst>
              </p:cNvPr>
              <p:cNvSpPr>
                <a:spLocks noChangeShapeType="1"/>
              </p:cNvSpPr>
              <p:nvPr/>
            </p:nvSpPr>
            <p:spPr bwMode="auto">
              <a:xfrm>
                <a:off x="4262" y="1433"/>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7" name="Line 394">
                <a:extLst>
                  <a:ext uri="{FF2B5EF4-FFF2-40B4-BE49-F238E27FC236}">
                    <a16:creationId xmlns:a16="http://schemas.microsoft.com/office/drawing/2014/main" id="{3A03FB93-5C2C-CBFA-0BE8-FF2717A8595F}"/>
                  </a:ext>
                </a:extLst>
              </p:cNvPr>
              <p:cNvSpPr>
                <a:spLocks noChangeShapeType="1"/>
              </p:cNvSpPr>
              <p:nvPr/>
            </p:nvSpPr>
            <p:spPr bwMode="auto">
              <a:xfrm>
                <a:off x="4262"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18" name="Rectangle 395">
                <a:extLst>
                  <a:ext uri="{FF2B5EF4-FFF2-40B4-BE49-F238E27FC236}">
                    <a16:creationId xmlns:a16="http://schemas.microsoft.com/office/drawing/2014/main" id="{40764CFE-E677-E9E8-9BBB-C955A61E7D98}"/>
                  </a:ext>
                </a:extLst>
              </p:cNvPr>
              <p:cNvSpPr>
                <a:spLocks noChangeArrowheads="1"/>
              </p:cNvSpPr>
              <p:nvPr/>
            </p:nvSpPr>
            <p:spPr bwMode="auto">
              <a:xfrm>
                <a:off x="4266" y="1433"/>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19" name="Line 396">
                <a:extLst>
                  <a:ext uri="{FF2B5EF4-FFF2-40B4-BE49-F238E27FC236}">
                    <a16:creationId xmlns:a16="http://schemas.microsoft.com/office/drawing/2014/main" id="{4A42D460-7D07-7E37-3E02-EEC1F0639456}"/>
                  </a:ext>
                </a:extLst>
              </p:cNvPr>
              <p:cNvSpPr>
                <a:spLocks noChangeShapeType="1"/>
              </p:cNvSpPr>
              <p:nvPr/>
            </p:nvSpPr>
            <p:spPr bwMode="auto">
              <a:xfrm>
                <a:off x="4266" y="1433"/>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0" name="Rectangle 397">
                <a:extLst>
                  <a:ext uri="{FF2B5EF4-FFF2-40B4-BE49-F238E27FC236}">
                    <a16:creationId xmlns:a16="http://schemas.microsoft.com/office/drawing/2014/main" id="{9C70769C-ACA0-BDC1-725C-FA309E01602D}"/>
                  </a:ext>
                </a:extLst>
              </p:cNvPr>
              <p:cNvSpPr>
                <a:spLocks noChangeArrowheads="1"/>
              </p:cNvSpPr>
              <p:nvPr/>
            </p:nvSpPr>
            <p:spPr bwMode="auto">
              <a:xfrm>
                <a:off x="5083" y="1433"/>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1" name="Line 398">
                <a:extLst>
                  <a:ext uri="{FF2B5EF4-FFF2-40B4-BE49-F238E27FC236}">
                    <a16:creationId xmlns:a16="http://schemas.microsoft.com/office/drawing/2014/main" id="{89C68B32-57B3-2916-03E1-0B3380620C06}"/>
                  </a:ext>
                </a:extLst>
              </p:cNvPr>
              <p:cNvSpPr>
                <a:spLocks noChangeShapeType="1"/>
              </p:cNvSpPr>
              <p:nvPr/>
            </p:nvSpPr>
            <p:spPr bwMode="auto">
              <a:xfrm>
                <a:off x="5083" y="1433"/>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2" name="Line 399">
                <a:extLst>
                  <a:ext uri="{FF2B5EF4-FFF2-40B4-BE49-F238E27FC236}">
                    <a16:creationId xmlns:a16="http://schemas.microsoft.com/office/drawing/2014/main" id="{B3951DAE-EB7B-19D4-94B2-3870F2E33448}"/>
                  </a:ext>
                </a:extLst>
              </p:cNvPr>
              <p:cNvSpPr>
                <a:spLocks noChangeShapeType="1"/>
              </p:cNvSpPr>
              <p:nvPr/>
            </p:nvSpPr>
            <p:spPr bwMode="auto">
              <a:xfrm>
                <a:off x="5083" y="1433"/>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3" name="Rectangle 400">
                <a:extLst>
                  <a:ext uri="{FF2B5EF4-FFF2-40B4-BE49-F238E27FC236}">
                    <a16:creationId xmlns:a16="http://schemas.microsoft.com/office/drawing/2014/main" id="{54AA3D32-3B0E-F4B8-BD89-5DBB10C7A59D}"/>
                  </a:ext>
                </a:extLst>
              </p:cNvPr>
              <p:cNvSpPr>
                <a:spLocks noChangeArrowheads="1"/>
              </p:cNvSpPr>
              <p:nvPr/>
            </p:nvSpPr>
            <p:spPr bwMode="auto">
              <a:xfrm>
                <a:off x="295"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4" name="Line 401">
                <a:extLst>
                  <a:ext uri="{FF2B5EF4-FFF2-40B4-BE49-F238E27FC236}">
                    <a16:creationId xmlns:a16="http://schemas.microsoft.com/office/drawing/2014/main" id="{6A15BF71-0E2D-BFF2-1474-7D49CC5A0DC1}"/>
                  </a:ext>
                </a:extLst>
              </p:cNvPr>
              <p:cNvSpPr>
                <a:spLocks noChangeShapeType="1"/>
              </p:cNvSpPr>
              <p:nvPr/>
            </p:nvSpPr>
            <p:spPr bwMode="auto">
              <a:xfrm>
                <a:off x="295"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5" name="Rectangle 402">
                <a:extLst>
                  <a:ext uri="{FF2B5EF4-FFF2-40B4-BE49-F238E27FC236}">
                    <a16:creationId xmlns:a16="http://schemas.microsoft.com/office/drawing/2014/main" id="{262F7C59-535F-6D8C-89F8-2A91BCB273CD}"/>
                  </a:ext>
                </a:extLst>
              </p:cNvPr>
              <p:cNvSpPr>
                <a:spLocks noChangeArrowheads="1"/>
              </p:cNvSpPr>
              <p:nvPr/>
            </p:nvSpPr>
            <p:spPr bwMode="auto">
              <a:xfrm>
                <a:off x="956"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6" name="Line 403">
                <a:extLst>
                  <a:ext uri="{FF2B5EF4-FFF2-40B4-BE49-F238E27FC236}">
                    <a16:creationId xmlns:a16="http://schemas.microsoft.com/office/drawing/2014/main" id="{CB09A292-D3E6-1EA0-1BD8-A3AAED3A9014}"/>
                  </a:ext>
                </a:extLst>
              </p:cNvPr>
              <p:cNvSpPr>
                <a:spLocks noChangeShapeType="1"/>
              </p:cNvSpPr>
              <p:nvPr/>
            </p:nvSpPr>
            <p:spPr bwMode="auto">
              <a:xfrm>
                <a:off x="956"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7" name="Rectangle 404">
                <a:extLst>
                  <a:ext uri="{FF2B5EF4-FFF2-40B4-BE49-F238E27FC236}">
                    <a16:creationId xmlns:a16="http://schemas.microsoft.com/office/drawing/2014/main" id="{2E8EE96F-3495-EF41-B714-39AEF8C385CD}"/>
                  </a:ext>
                </a:extLst>
              </p:cNvPr>
              <p:cNvSpPr>
                <a:spLocks noChangeArrowheads="1"/>
              </p:cNvSpPr>
              <p:nvPr/>
            </p:nvSpPr>
            <p:spPr bwMode="auto">
              <a:xfrm>
                <a:off x="1633" y="1438"/>
                <a:ext cx="4"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28" name="Line 405">
                <a:extLst>
                  <a:ext uri="{FF2B5EF4-FFF2-40B4-BE49-F238E27FC236}">
                    <a16:creationId xmlns:a16="http://schemas.microsoft.com/office/drawing/2014/main" id="{0AE1B27A-6755-5A3D-ABFE-A9EA044F6E00}"/>
                  </a:ext>
                </a:extLst>
              </p:cNvPr>
              <p:cNvSpPr>
                <a:spLocks noChangeShapeType="1"/>
              </p:cNvSpPr>
              <p:nvPr/>
            </p:nvSpPr>
            <p:spPr bwMode="auto">
              <a:xfrm>
                <a:off x="1633"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929" name="Rectangle 406">
                <a:extLst>
                  <a:ext uri="{FF2B5EF4-FFF2-40B4-BE49-F238E27FC236}">
                    <a16:creationId xmlns:a16="http://schemas.microsoft.com/office/drawing/2014/main" id="{752E27D2-6482-FDE6-F417-3A60A0028966}"/>
                  </a:ext>
                </a:extLst>
              </p:cNvPr>
              <p:cNvSpPr>
                <a:spLocks noChangeArrowheads="1"/>
              </p:cNvSpPr>
              <p:nvPr/>
            </p:nvSpPr>
            <p:spPr bwMode="auto">
              <a:xfrm>
                <a:off x="2376"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930" name="Line 407">
                <a:extLst>
                  <a:ext uri="{FF2B5EF4-FFF2-40B4-BE49-F238E27FC236}">
                    <a16:creationId xmlns:a16="http://schemas.microsoft.com/office/drawing/2014/main" id="{394986C0-6918-4E22-0D5A-E911C2E39D94}"/>
                  </a:ext>
                </a:extLst>
              </p:cNvPr>
              <p:cNvSpPr>
                <a:spLocks noChangeShapeType="1"/>
              </p:cNvSpPr>
              <p:nvPr/>
            </p:nvSpPr>
            <p:spPr bwMode="auto">
              <a:xfrm>
                <a:off x="2376"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03" name="Group 609">
              <a:extLst>
                <a:ext uri="{FF2B5EF4-FFF2-40B4-BE49-F238E27FC236}">
                  <a16:creationId xmlns:a16="http://schemas.microsoft.com/office/drawing/2014/main" id="{4540D987-3E26-681D-16DB-29E4256168C1}"/>
                </a:ext>
              </a:extLst>
            </p:cNvPr>
            <p:cNvGrpSpPr>
              <a:grpSpLocks/>
            </p:cNvGrpSpPr>
            <p:nvPr/>
          </p:nvGrpSpPr>
          <p:grpSpPr bwMode="auto">
            <a:xfrm>
              <a:off x="295" y="1438"/>
              <a:ext cx="4793" cy="414"/>
              <a:chOff x="295" y="1438"/>
              <a:chExt cx="4793" cy="414"/>
            </a:xfrm>
          </p:grpSpPr>
          <p:sp>
            <p:nvSpPr>
              <p:cNvPr id="55531" name="Rectangle 409">
                <a:extLst>
                  <a:ext uri="{FF2B5EF4-FFF2-40B4-BE49-F238E27FC236}">
                    <a16:creationId xmlns:a16="http://schemas.microsoft.com/office/drawing/2014/main" id="{80EDD402-A7D8-D665-69CA-BE7DD9BAEC07}"/>
                  </a:ext>
                </a:extLst>
              </p:cNvPr>
              <p:cNvSpPr>
                <a:spLocks noChangeArrowheads="1"/>
              </p:cNvSpPr>
              <p:nvPr/>
            </p:nvSpPr>
            <p:spPr bwMode="auto">
              <a:xfrm>
                <a:off x="2917"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2" name="Line 410">
                <a:extLst>
                  <a:ext uri="{FF2B5EF4-FFF2-40B4-BE49-F238E27FC236}">
                    <a16:creationId xmlns:a16="http://schemas.microsoft.com/office/drawing/2014/main" id="{DBD85C83-A353-D039-6A9E-48CDA792CF61}"/>
                  </a:ext>
                </a:extLst>
              </p:cNvPr>
              <p:cNvSpPr>
                <a:spLocks noChangeShapeType="1"/>
              </p:cNvSpPr>
              <p:nvPr/>
            </p:nvSpPr>
            <p:spPr bwMode="auto">
              <a:xfrm>
                <a:off x="2917"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3" name="Rectangle 411">
                <a:extLst>
                  <a:ext uri="{FF2B5EF4-FFF2-40B4-BE49-F238E27FC236}">
                    <a16:creationId xmlns:a16="http://schemas.microsoft.com/office/drawing/2014/main" id="{7121D374-78CF-099D-8CB9-8D8E7D2A9C84}"/>
                  </a:ext>
                </a:extLst>
              </p:cNvPr>
              <p:cNvSpPr>
                <a:spLocks noChangeArrowheads="1"/>
              </p:cNvSpPr>
              <p:nvPr/>
            </p:nvSpPr>
            <p:spPr bwMode="auto">
              <a:xfrm>
                <a:off x="3589"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4" name="Line 412">
                <a:extLst>
                  <a:ext uri="{FF2B5EF4-FFF2-40B4-BE49-F238E27FC236}">
                    <a16:creationId xmlns:a16="http://schemas.microsoft.com/office/drawing/2014/main" id="{7608A92C-AD6A-5821-F97A-A19432D37CFD}"/>
                  </a:ext>
                </a:extLst>
              </p:cNvPr>
              <p:cNvSpPr>
                <a:spLocks noChangeShapeType="1"/>
              </p:cNvSpPr>
              <p:nvPr/>
            </p:nvSpPr>
            <p:spPr bwMode="auto">
              <a:xfrm>
                <a:off x="3589"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5" name="Rectangle 413">
                <a:extLst>
                  <a:ext uri="{FF2B5EF4-FFF2-40B4-BE49-F238E27FC236}">
                    <a16:creationId xmlns:a16="http://schemas.microsoft.com/office/drawing/2014/main" id="{362AD08A-0EB9-CCE6-FEE5-51170FEA1106}"/>
                  </a:ext>
                </a:extLst>
              </p:cNvPr>
              <p:cNvSpPr>
                <a:spLocks noChangeArrowheads="1"/>
              </p:cNvSpPr>
              <p:nvPr/>
            </p:nvSpPr>
            <p:spPr bwMode="auto">
              <a:xfrm>
                <a:off x="4262" y="1438"/>
                <a:ext cx="4"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6" name="Line 414">
                <a:extLst>
                  <a:ext uri="{FF2B5EF4-FFF2-40B4-BE49-F238E27FC236}">
                    <a16:creationId xmlns:a16="http://schemas.microsoft.com/office/drawing/2014/main" id="{2457F0C1-B8BA-BE8A-F1CC-BC5BFD967A46}"/>
                  </a:ext>
                </a:extLst>
              </p:cNvPr>
              <p:cNvSpPr>
                <a:spLocks noChangeShapeType="1"/>
              </p:cNvSpPr>
              <p:nvPr/>
            </p:nvSpPr>
            <p:spPr bwMode="auto">
              <a:xfrm>
                <a:off x="4262"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7" name="Rectangle 415">
                <a:extLst>
                  <a:ext uri="{FF2B5EF4-FFF2-40B4-BE49-F238E27FC236}">
                    <a16:creationId xmlns:a16="http://schemas.microsoft.com/office/drawing/2014/main" id="{89FED277-39FA-FB12-EBAD-F6447D5248DC}"/>
                  </a:ext>
                </a:extLst>
              </p:cNvPr>
              <p:cNvSpPr>
                <a:spLocks noChangeArrowheads="1"/>
              </p:cNvSpPr>
              <p:nvPr/>
            </p:nvSpPr>
            <p:spPr bwMode="auto">
              <a:xfrm>
                <a:off x="5083" y="1438"/>
                <a:ext cx="5" cy="1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38" name="Line 416">
                <a:extLst>
                  <a:ext uri="{FF2B5EF4-FFF2-40B4-BE49-F238E27FC236}">
                    <a16:creationId xmlns:a16="http://schemas.microsoft.com/office/drawing/2014/main" id="{CB7446DA-7FC5-D6D7-62B8-3561DBB4526F}"/>
                  </a:ext>
                </a:extLst>
              </p:cNvPr>
              <p:cNvSpPr>
                <a:spLocks noChangeShapeType="1"/>
              </p:cNvSpPr>
              <p:nvPr/>
            </p:nvSpPr>
            <p:spPr bwMode="auto">
              <a:xfrm>
                <a:off x="5083" y="1438"/>
                <a:ext cx="0" cy="1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9" name="Rectangle 417">
                <a:extLst>
                  <a:ext uri="{FF2B5EF4-FFF2-40B4-BE49-F238E27FC236}">
                    <a16:creationId xmlns:a16="http://schemas.microsoft.com/office/drawing/2014/main" id="{0AD3502F-1183-89BB-D2C1-06AF8D8EEB43}"/>
                  </a:ext>
                </a:extLst>
              </p:cNvPr>
              <p:cNvSpPr>
                <a:spLocks noChangeArrowheads="1"/>
              </p:cNvSpPr>
              <p:nvPr/>
            </p:nvSpPr>
            <p:spPr bwMode="auto">
              <a:xfrm>
                <a:off x="300"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0" name="Rectangle 418">
                <a:extLst>
                  <a:ext uri="{FF2B5EF4-FFF2-40B4-BE49-F238E27FC236}">
                    <a16:creationId xmlns:a16="http://schemas.microsoft.com/office/drawing/2014/main" id="{50A333AD-AB84-F724-375D-5042BCCAB9FD}"/>
                  </a:ext>
                </a:extLst>
              </p:cNvPr>
              <p:cNvSpPr>
                <a:spLocks noChangeArrowheads="1"/>
              </p:cNvSpPr>
              <p:nvPr/>
            </p:nvSpPr>
            <p:spPr bwMode="auto">
              <a:xfrm>
                <a:off x="907"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1" name="Rectangle 419">
                <a:extLst>
                  <a:ext uri="{FF2B5EF4-FFF2-40B4-BE49-F238E27FC236}">
                    <a16:creationId xmlns:a16="http://schemas.microsoft.com/office/drawing/2014/main" id="{CED8E2B7-641D-9908-D581-243DA53EFBA9}"/>
                  </a:ext>
                </a:extLst>
              </p:cNvPr>
              <p:cNvSpPr>
                <a:spLocks noChangeArrowheads="1"/>
              </p:cNvSpPr>
              <p:nvPr/>
            </p:nvSpPr>
            <p:spPr bwMode="auto">
              <a:xfrm>
                <a:off x="349" y="1576"/>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2" name="Rectangle 420">
                <a:extLst>
                  <a:ext uri="{FF2B5EF4-FFF2-40B4-BE49-F238E27FC236}">
                    <a16:creationId xmlns:a16="http://schemas.microsoft.com/office/drawing/2014/main" id="{A981339F-05C3-4798-D593-45BC96D1802A}"/>
                  </a:ext>
                </a:extLst>
              </p:cNvPr>
              <p:cNvSpPr>
                <a:spLocks noChangeArrowheads="1"/>
              </p:cNvSpPr>
              <p:nvPr/>
            </p:nvSpPr>
            <p:spPr bwMode="auto">
              <a:xfrm>
                <a:off x="349" y="1565"/>
                <a:ext cx="42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Unlikely</a:t>
                </a:r>
                <a:endParaRPr lang="en-US" altLang="en-US"/>
              </a:p>
            </p:txBody>
          </p:sp>
          <p:sp>
            <p:nvSpPr>
              <p:cNvPr id="55543" name="Rectangle 421">
                <a:extLst>
                  <a:ext uri="{FF2B5EF4-FFF2-40B4-BE49-F238E27FC236}">
                    <a16:creationId xmlns:a16="http://schemas.microsoft.com/office/drawing/2014/main" id="{AEE49817-50A5-D856-4A06-C2B43E913D60}"/>
                  </a:ext>
                </a:extLst>
              </p:cNvPr>
              <p:cNvSpPr>
                <a:spLocks noChangeArrowheads="1"/>
              </p:cNvSpPr>
              <p:nvPr/>
            </p:nvSpPr>
            <p:spPr bwMode="auto">
              <a:xfrm>
                <a:off x="784"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544" name="Rectangle 422">
                <a:extLst>
                  <a:ext uri="{FF2B5EF4-FFF2-40B4-BE49-F238E27FC236}">
                    <a16:creationId xmlns:a16="http://schemas.microsoft.com/office/drawing/2014/main" id="{64A926AA-7D0D-0CB8-D5B7-A581CCE8F558}"/>
                  </a:ext>
                </a:extLst>
              </p:cNvPr>
              <p:cNvSpPr>
                <a:spLocks noChangeArrowheads="1"/>
              </p:cNvSpPr>
              <p:nvPr/>
            </p:nvSpPr>
            <p:spPr bwMode="auto">
              <a:xfrm>
                <a:off x="961"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5" name="Rectangle 423">
                <a:extLst>
                  <a:ext uri="{FF2B5EF4-FFF2-40B4-BE49-F238E27FC236}">
                    <a16:creationId xmlns:a16="http://schemas.microsoft.com/office/drawing/2014/main" id="{8F25B350-5DC1-9FA4-137A-C35B99898319}"/>
                  </a:ext>
                </a:extLst>
              </p:cNvPr>
              <p:cNvSpPr>
                <a:spLocks noChangeArrowheads="1"/>
              </p:cNvSpPr>
              <p:nvPr/>
            </p:nvSpPr>
            <p:spPr bwMode="auto">
              <a:xfrm>
                <a:off x="1584"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6" name="Rectangle 424">
                <a:extLst>
                  <a:ext uri="{FF2B5EF4-FFF2-40B4-BE49-F238E27FC236}">
                    <a16:creationId xmlns:a16="http://schemas.microsoft.com/office/drawing/2014/main" id="{9454128E-9721-2462-89E3-D3259013E66C}"/>
                  </a:ext>
                </a:extLst>
              </p:cNvPr>
              <p:cNvSpPr>
                <a:spLocks noChangeArrowheads="1"/>
              </p:cNvSpPr>
              <p:nvPr/>
            </p:nvSpPr>
            <p:spPr bwMode="auto">
              <a:xfrm>
                <a:off x="1010" y="1576"/>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47" name="Rectangle 425">
                <a:extLst>
                  <a:ext uri="{FF2B5EF4-FFF2-40B4-BE49-F238E27FC236}">
                    <a16:creationId xmlns:a16="http://schemas.microsoft.com/office/drawing/2014/main" id="{54F24546-BC1C-32C2-BCC5-ABD87AB7350D}"/>
                  </a:ext>
                </a:extLst>
              </p:cNvPr>
              <p:cNvSpPr>
                <a:spLocks noChangeArrowheads="1"/>
              </p:cNvSpPr>
              <p:nvPr/>
            </p:nvSpPr>
            <p:spPr bwMode="auto">
              <a:xfrm>
                <a:off x="1010" y="1565"/>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548" name="Rectangle 426">
                <a:extLst>
                  <a:ext uri="{FF2B5EF4-FFF2-40B4-BE49-F238E27FC236}">
                    <a16:creationId xmlns:a16="http://schemas.microsoft.com/office/drawing/2014/main" id="{DA6DBDC0-3B32-0EBC-AA3A-FF89EF5101E8}"/>
                  </a:ext>
                </a:extLst>
              </p:cNvPr>
              <p:cNvSpPr>
                <a:spLocks noChangeArrowheads="1"/>
              </p:cNvSpPr>
              <p:nvPr/>
            </p:nvSpPr>
            <p:spPr bwMode="auto">
              <a:xfrm>
                <a:off x="1072"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49" name="Rectangle 427">
                <a:extLst>
                  <a:ext uri="{FF2B5EF4-FFF2-40B4-BE49-F238E27FC236}">
                    <a16:creationId xmlns:a16="http://schemas.microsoft.com/office/drawing/2014/main" id="{115455C1-F0ED-E0B6-14D5-636808B0F7AA}"/>
                  </a:ext>
                </a:extLst>
              </p:cNvPr>
              <p:cNvSpPr>
                <a:spLocks noChangeArrowheads="1"/>
              </p:cNvSpPr>
              <p:nvPr/>
            </p:nvSpPr>
            <p:spPr bwMode="auto">
              <a:xfrm>
                <a:off x="1637" y="1576"/>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0" name="Rectangle 428">
                <a:extLst>
                  <a:ext uri="{FF2B5EF4-FFF2-40B4-BE49-F238E27FC236}">
                    <a16:creationId xmlns:a16="http://schemas.microsoft.com/office/drawing/2014/main" id="{454C50BC-19E4-4A4C-541D-7BF6B0CB9F1C}"/>
                  </a:ext>
                </a:extLst>
              </p:cNvPr>
              <p:cNvSpPr>
                <a:spLocks noChangeArrowheads="1"/>
              </p:cNvSpPr>
              <p:nvPr/>
            </p:nvSpPr>
            <p:spPr bwMode="auto">
              <a:xfrm>
                <a:off x="2328" y="1576"/>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1" name="Rectangle 429">
                <a:extLst>
                  <a:ext uri="{FF2B5EF4-FFF2-40B4-BE49-F238E27FC236}">
                    <a16:creationId xmlns:a16="http://schemas.microsoft.com/office/drawing/2014/main" id="{E41FD91F-F98A-5C49-4378-EC85AD3B52D7}"/>
                  </a:ext>
                </a:extLst>
              </p:cNvPr>
              <p:cNvSpPr>
                <a:spLocks noChangeArrowheads="1"/>
              </p:cNvSpPr>
              <p:nvPr/>
            </p:nvSpPr>
            <p:spPr bwMode="auto">
              <a:xfrm>
                <a:off x="1687" y="1576"/>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2" name="Rectangle 430">
                <a:extLst>
                  <a:ext uri="{FF2B5EF4-FFF2-40B4-BE49-F238E27FC236}">
                    <a16:creationId xmlns:a16="http://schemas.microsoft.com/office/drawing/2014/main" id="{8924CDF7-007A-63B3-7B2B-D8E630C1512B}"/>
                  </a:ext>
                </a:extLst>
              </p:cNvPr>
              <p:cNvSpPr>
                <a:spLocks noChangeArrowheads="1"/>
              </p:cNvSpPr>
              <p:nvPr/>
            </p:nvSpPr>
            <p:spPr bwMode="auto">
              <a:xfrm>
                <a:off x="1687" y="1565"/>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553" name="Rectangle 431">
                <a:extLst>
                  <a:ext uri="{FF2B5EF4-FFF2-40B4-BE49-F238E27FC236}">
                    <a16:creationId xmlns:a16="http://schemas.microsoft.com/office/drawing/2014/main" id="{00EB9D29-ABC9-68FE-3044-B077425D8719}"/>
                  </a:ext>
                </a:extLst>
              </p:cNvPr>
              <p:cNvSpPr>
                <a:spLocks noChangeArrowheads="1"/>
              </p:cNvSpPr>
              <p:nvPr/>
            </p:nvSpPr>
            <p:spPr bwMode="auto">
              <a:xfrm>
                <a:off x="1749"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54" name="Rectangle 432">
                <a:extLst>
                  <a:ext uri="{FF2B5EF4-FFF2-40B4-BE49-F238E27FC236}">
                    <a16:creationId xmlns:a16="http://schemas.microsoft.com/office/drawing/2014/main" id="{6DA9E8E9-3E60-FA60-80FD-2B594F33BB86}"/>
                  </a:ext>
                </a:extLst>
              </p:cNvPr>
              <p:cNvSpPr>
                <a:spLocks noChangeArrowheads="1"/>
              </p:cNvSpPr>
              <p:nvPr/>
            </p:nvSpPr>
            <p:spPr bwMode="auto">
              <a:xfrm>
                <a:off x="2381"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5" name="Rectangle 433">
                <a:extLst>
                  <a:ext uri="{FF2B5EF4-FFF2-40B4-BE49-F238E27FC236}">
                    <a16:creationId xmlns:a16="http://schemas.microsoft.com/office/drawing/2014/main" id="{B6A76342-3149-8A1D-A092-0802FB666695}"/>
                  </a:ext>
                </a:extLst>
              </p:cNvPr>
              <p:cNvSpPr>
                <a:spLocks noChangeArrowheads="1"/>
              </p:cNvSpPr>
              <p:nvPr/>
            </p:nvSpPr>
            <p:spPr bwMode="auto">
              <a:xfrm>
                <a:off x="2868"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6" name="Rectangle 434">
                <a:extLst>
                  <a:ext uri="{FF2B5EF4-FFF2-40B4-BE49-F238E27FC236}">
                    <a16:creationId xmlns:a16="http://schemas.microsoft.com/office/drawing/2014/main" id="{B5928968-187C-BA47-4A0F-83BD90F79272}"/>
                  </a:ext>
                </a:extLst>
              </p:cNvPr>
              <p:cNvSpPr>
                <a:spLocks noChangeArrowheads="1"/>
              </p:cNvSpPr>
              <p:nvPr/>
            </p:nvSpPr>
            <p:spPr bwMode="auto">
              <a:xfrm>
                <a:off x="2430" y="1576"/>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57" name="Rectangle 435">
                <a:extLst>
                  <a:ext uri="{FF2B5EF4-FFF2-40B4-BE49-F238E27FC236}">
                    <a16:creationId xmlns:a16="http://schemas.microsoft.com/office/drawing/2014/main" id="{FF6F8FAD-1996-B275-9D6F-15FC30E65806}"/>
                  </a:ext>
                </a:extLst>
              </p:cNvPr>
              <p:cNvSpPr>
                <a:spLocks noChangeArrowheads="1"/>
              </p:cNvSpPr>
              <p:nvPr/>
            </p:nvSpPr>
            <p:spPr bwMode="auto">
              <a:xfrm>
                <a:off x="2430" y="1565"/>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558" name="Rectangle 436">
                <a:extLst>
                  <a:ext uri="{FF2B5EF4-FFF2-40B4-BE49-F238E27FC236}">
                    <a16:creationId xmlns:a16="http://schemas.microsoft.com/office/drawing/2014/main" id="{01C110B4-E767-D9F7-5A9A-A1340D80B8D5}"/>
                  </a:ext>
                </a:extLst>
              </p:cNvPr>
              <p:cNvSpPr>
                <a:spLocks noChangeArrowheads="1"/>
              </p:cNvSpPr>
              <p:nvPr/>
            </p:nvSpPr>
            <p:spPr bwMode="auto">
              <a:xfrm>
                <a:off x="2505"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59" name="Rectangle 437">
                <a:extLst>
                  <a:ext uri="{FF2B5EF4-FFF2-40B4-BE49-F238E27FC236}">
                    <a16:creationId xmlns:a16="http://schemas.microsoft.com/office/drawing/2014/main" id="{01DD3CD4-7DD8-B379-07DA-130D4195A8B8}"/>
                  </a:ext>
                </a:extLst>
              </p:cNvPr>
              <p:cNvSpPr>
                <a:spLocks noChangeArrowheads="1"/>
              </p:cNvSpPr>
              <p:nvPr/>
            </p:nvSpPr>
            <p:spPr bwMode="auto">
              <a:xfrm>
                <a:off x="2922"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0" name="Rectangle 438">
                <a:extLst>
                  <a:ext uri="{FF2B5EF4-FFF2-40B4-BE49-F238E27FC236}">
                    <a16:creationId xmlns:a16="http://schemas.microsoft.com/office/drawing/2014/main" id="{21254DDB-B368-A008-1526-6D27E613206F}"/>
                  </a:ext>
                </a:extLst>
              </p:cNvPr>
              <p:cNvSpPr>
                <a:spLocks noChangeArrowheads="1"/>
              </p:cNvSpPr>
              <p:nvPr/>
            </p:nvSpPr>
            <p:spPr bwMode="auto">
              <a:xfrm>
                <a:off x="3540"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1" name="Rectangle 439">
                <a:extLst>
                  <a:ext uri="{FF2B5EF4-FFF2-40B4-BE49-F238E27FC236}">
                    <a16:creationId xmlns:a16="http://schemas.microsoft.com/office/drawing/2014/main" id="{51AB2FBF-051A-DB09-1CBA-DE3908BCBDC6}"/>
                  </a:ext>
                </a:extLst>
              </p:cNvPr>
              <p:cNvSpPr>
                <a:spLocks noChangeArrowheads="1"/>
              </p:cNvSpPr>
              <p:nvPr/>
            </p:nvSpPr>
            <p:spPr bwMode="auto">
              <a:xfrm>
                <a:off x="2971" y="1576"/>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2" name="Rectangle 440">
                <a:extLst>
                  <a:ext uri="{FF2B5EF4-FFF2-40B4-BE49-F238E27FC236}">
                    <a16:creationId xmlns:a16="http://schemas.microsoft.com/office/drawing/2014/main" id="{6580D769-1A13-56E6-9BD2-742C800457AB}"/>
                  </a:ext>
                </a:extLst>
              </p:cNvPr>
              <p:cNvSpPr>
                <a:spLocks noChangeArrowheads="1"/>
              </p:cNvSpPr>
              <p:nvPr/>
            </p:nvSpPr>
            <p:spPr bwMode="auto">
              <a:xfrm>
                <a:off x="2971" y="1565"/>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563" name="Rectangle 441">
                <a:extLst>
                  <a:ext uri="{FF2B5EF4-FFF2-40B4-BE49-F238E27FC236}">
                    <a16:creationId xmlns:a16="http://schemas.microsoft.com/office/drawing/2014/main" id="{F6927AB1-07E7-92B3-54C6-3E16DC17F7CE}"/>
                  </a:ext>
                </a:extLst>
              </p:cNvPr>
              <p:cNvSpPr>
                <a:spLocks noChangeArrowheads="1"/>
              </p:cNvSpPr>
              <p:nvPr/>
            </p:nvSpPr>
            <p:spPr bwMode="auto">
              <a:xfrm>
                <a:off x="3052"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64" name="Rectangle 442">
                <a:extLst>
                  <a:ext uri="{FF2B5EF4-FFF2-40B4-BE49-F238E27FC236}">
                    <a16:creationId xmlns:a16="http://schemas.microsoft.com/office/drawing/2014/main" id="{CF4BB6D2-AE65-3B54-0722-3A9940F0FCE8}"/>
                  </a:ext>
                </a:extLst>
              </p:cNvPr>
              <p:cNvSpPr>
                <a:spLocks noChangeArrowheads="1"/>
              </p:cNvSpPr>
              <p:nvPr/>
            </p:nvSpPr>
            <p:spPr bwMode="auto">
              <a:xfrm>
                <a:off x="3594"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5" name="Rectangle 443">
                <a:extLst>
                  <a:ext uri="{FF2B5EF4-FFF2-40B4-BE49-F238E27FC236}">
                    <a16:creationId xmlns:a16="http://schemas.microsoft.com/office/drawing/2014/main" id="{8125A79A-5976-DFFF-41F9-1FFF38E82035}"/>
                  </a:ext>
                </a:extLst>
              </p:cNvPr>
              <p:cNvSpPr>
                <a:spLocks noChangeArrowheads="1"/>
              </p:cNvSpPr>
              <p:nvPr/>
            </p:nvSpPr>
            <p:spPr bwMode="auto">
              <a:xfrm>
                <a:off x="4212" y="1576"/>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6" name="Rectangle 444">
                <a:extLst>
                  <a:ext uri="{FF2B5EF4-FFF2-40B4-BE49-F238E27FC236}">
                    <a16:creationId xmlns:a16="http://schemas.microsoft.com/office/drawing/2014/main" id="{3D0D7CC5-AD56-71B7-9699-49EA86B4F3AE}"/>
                  </a:ext>
                </a:extLst>
              </p:cNvPr>
              <p:cNvSpPr>
                <a:spLocks noChangeArrowheads="1"/>
              </p:cNvSpPr>
              <p:nvPr/>
            </p:nvSpPr>
            <p:spPr bwMode="auto">
              <a:xfrm>
                <a:off x="3643" y="1576"/>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67" name="Rectangle 445">
                <a:extLst>
                  <a:ext uri="{FF2B5EF4-FFF2-40B4-BE49-F238E27FC236}">
                    <a16:creationId xmlns:a16="http://schemas.microsoft.com/office/drawing/2014/main" id="{B4D9E241-3867-83F3-DDC4-924B7C3EB82C}"/>
                  </a:ext>
                </a:extLst>
              </p:cNvPr>
              <p:cNvSpPr>
                <a:spLocks noChangeArrowheads="1"/>
              </p:cNvSpPr>
              <p:nvPr/>
            </p:nvSpPr>
            <p:spPr bwMode="auto">
              <a:xfrm>
                <a:off x="3643" y="1565"/>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568" name="Rectangle 446">
                <a:extLst>
                  <a:ext uri="{FF2B5EF4-FFF2-40B4-BE49-F238E27FC236}">
                    <a16:creationId xmlns:a16="http://schemas.microsoft.com/office/drawing/2014/main" id="{2348C209-718C-4CB6-F96B-057810C53CD4}"/>
                  </a:ext>
                </a:extLst>
              </p:cNvPr>
              <p:cNvSpPr>
                <a:spLocks noChangeArrowheads="1"/>
              </p:cNvSpPr>
              <p:nvPr/>
            </p:nvSpPr>
            <p:spPr bwMode="auto">
              <a:xfrm>
                <a:off x="3702"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69" name="Rectangle 447">
                <a:extLst>
                  <a:ext uri="{FF2B5EF4-FFF2-40B4-BE49-F238E27FC236}">
                    <a16:creationId xmlns:a16="http://schemas.microsoft.com/office/drawing/2014/main" id="{8D2A00B2-F63A-AF28-1007-F32E395378BA}"/>
                  </a:ext>
                </a:extLst>
              </p:cNvPr>
              <p:cNvSpPr>
                <a:spLocks noChangeArrowheads="1"/>
              </p:cNvSpPr>
              <p:nvPr/>
            </p:nvSpPr>
            <p:spPr bwMode="auto">
              <a:xfrm>
                <a:off x="4266" y="1576"/>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0" name="Rectangle 448">
                <a:extLst>
                  <a:ext uri="{FF2B5EF4-FFF2-40B4-BE49-F238E27FC236}">
                    <a16:creationId xmlns:a16="http://schemas.microsoft.com/office/drawing/2014/main" id="{4ECFDFA9-86B2-4429-8184-5BB99572F2DB}"/>
                  </a:ext>
                </a:extLst>
              </p:cNvPr>
              <p:cNvSpPr>
                <a:spLocks noChangeArrowheads="1"/>
              </p:cNvSpPr>
              <p:nvPr/>
            </p:nvSpPr>
            <p:spPr bwMode="auto">
              <a:xfrm>
                <a:off x="5034" y="157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1" name="Rectangle 449">
                <a:extLst>
                  <a:ext uri="{FF2B5EF4-FFF2-40B4-BE49-F238E27FC236}">
                    <a16:creationId xmlns:a16="http://schemas.microsoft.com/office/drawing/2014/main" id="{4B538F97-4B9A-BD7D-40CA-108E0579A8F5}"/>
                  </a:ext>
                </a:extLst>
              </p:cNvPr>
              <p:cNvSpPr>
                <a:spLocks noChangeArrowheads="1"/>
              </p:cNvSpPr>
              <p:nvPr/>
            </p:nvSpPr>
            <p:spPr bwMode="auto">
              <a:xfrm>
                <a:off x="4316" y="1576"/>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2" name="Rectangle 450">
                <a:extLst>
                  <a:ext uri="{FF2B5EF4-FFF2-40B4-BE49-F238E27FC236}">
                    <a16:creationId xmlns:a16="http://schemas.microsoft.com/office/drawing/2014/main" id="{E99D3DC2-242B-E225-E64B-BD54309B1DE2}"/>
                  </a:ext>
                </a:extLst>
              </p:cNvPr>
              <p:cNvSpPr>
                <a:spLocks noChangeArrowheads="1"/>
              </p:cNvSpPr>
              <p:nvPr/>
            </p:nvSpPr>
            <p:spPr bwMode="auto">
              <a:xfrm>
                <a:off x="4316" y="1565"/>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573" name="Rectangle 451">
                <a:extLst>
                  <a:ext uri="{FF2B5EF4-FFF2-40B4-BE49-F238E27FC236}">
                    <a16:creationId xmlns:a16="http://schemas.microsoft.com/office/drawing/2014/main" id="{FCCE6E83-69E8-787B-FCBC-3CC5CECDDB46}"/>
                  </a:ext>
                </a:extLst>
              </p:cNvPr>
              <p:cNvSpPr>
                <a:spLocks noChangeArrowheads="1"/>
              </p:cNvSpPr>
              <p:nvPr/>
            </p:nvSpPr>
            <p:spPr bwMode="auto">
              <a:xfrm>
                <a:off x="4374" y="1565"/>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74" name="Rectangle 452">
                <a:extLst>
                  <a:ext uri="{FF2B5EF4-FFF2-40B4-BE49-F238E27FC236}">
                    <a16:creationId xmlns:a16="http://schemas.microsoft.com/office/drawing/2014/main" id="{5ABD15E1-EB5E-231D-F794-8247AB09DAC6}"/>
                  </a:ext>
                </a:extLst>
              </p:cNvPr>
              <p:cNvSpPr>
                <a:spLocks noChangeArrowheads="1"/>
              </p:cNvSpPr>
              <p:nvPr/>
            </p:nvSpPr>
            <p:spPr bwMode="auto">
              <a:xfrm>
                <a:off x="295"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5" name="Line 453">
                <a:extLst>
                  <a:ext uri="{FF2B5EF4-FFF2-40B4-BE49-F238E27FC236}">
                    <a16:creationId xmlns:a16="http://schemas.microsoft.com/office/drawing/2014/main" id="{D9096F50-DF93-D2B7-2E4B-2708FB14835D}"/>
                  </a:ext>
                </a:extLst>
              </p:cNvPr>
              <p:cNvSpPr>
                <a:spLocks noChangeShapeType="1"/>
              </p:cNvSpPr>
              <p:nvPr/>
            </p:nvSpPr>
            <p:spPr bwMode="auto">
              <a:xfrm>
                <a:off x="295"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76" name="Line 454">
                <a:extLst>
                  <a:ext uri="{FF2B5EF4-FFF2-40B4-BE49-F238E27FC236}">
                    <a16:creationId xmlns:a16="http://schemas.microsoft.com/office/drawing/2014/main" id="{4A45C864-A51E-E82D-5F46-83BC80118353}"/>
                  </a:ext>
                </a:extLst>
              </p:cNvPr>
              <p:cNvSpPr>
                <a:spLocks noChangeShapeType="1"/>
              </p:cNvSpPr>
              <p:nvPr/>
            </p:nvSpPr>
            <p:spPr bwMode="auto">
              <a:xfrm>
                <a:off x="295"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77" name="Rectangle 455">
                <a:extLst>
                  <a:ext uri="{FF2B5EF4-FFF2-40B4-BE49-F238E27FC236}">
                    <a16:creationId xmlns:a16="http://schemas.microsoft.com/office/drawing/2014/main" id="{DD00A946-9580-B82A-D144-3FD5B80B42BD}"/>
                  </a:ext>
                </a:extLst>
              </p:cNvPr>
              <p:cNvSpPr>
                <a:spLocks noChangeArrowheads="1"/>
              </p:cNvSpPr>
              <p:nvPr/>
            </p:nvSpPr>
            <p:spPr bwMode="auto">
              <a:xfrm>
                <a:off x="300" y="1572"/>
                <a:ext cx="65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78" name="Line 456">
                <a:extLst>
                  <a:ext uri="{FF2B5EF4-FFF2-40B4-BE49-F238E27FC236}">
                    <a16:creationId xmlns:a16="http://schemas.microsoft.com/office/drawing/2014/main" id="{A5729962-0AB4-8BF6-6548-729B40C736C3}"/>
                  </a:ext>
                </a:extLst>
              </p:cNvPr>
              <p:cNvSpPr>
                <a:spLocks noChangeShapeType="1"/>
              </p:cNvSpPr>
              <p:nvPr/>
            </p:nvSpPr>
            <p:spPr bwMode="auto">
              <a:xfrm>
                <a:off x="300" y="1572"/>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79" name="Rectangle 457">
                <a:extLst>
                  <a:ext uri="{FF2B5EF4-FFF2-40B4-BE49-F238E27FC236}">
                    <a16:creationId xmlns:a16="http://schemas.microsoft.com/office/drawing/2014/main" id="{F4A71A93-4A05-9A19-247E-5EFD8EBD7830}"/>
                  </a:ext>
                </a:extLst>
              </p:cNvPr>
              <p:cNvSpPr>
                <a:spLocks noChangeArrowheads="1"/>
              </p:cNvSpPr>
              <p:nvPr/>
            </p:nvSpPr>
            <p:spPr bwMode="auto">
              <a:xfrm>
                <a:off x="956"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0" name="Line 458">
                <a:extLst>
                  <a:ext uri="{FF2B5EF4-FFF2-40B4-BE49-F238E27FC236}">
                    <a16:creationId xmlns:a16="http://schemas.microsoft.com/office/drawing/2014/main" id="{A3C578E9-3EFA-E454-CAB5-F04B56E3B667}"/>
                  </a:ext>
                </a:extLst>
              </p:cNvPr>
              <p:cNvSpPr>
                <a:spLocks noChangeShapeType="1"/>
              </p:cNvSpPr>
              <p:nvPr/>
            </p:nvSpPr>
            <p:spPr bwMode="auto">
              <a:xfrm>
                <a:off x="956"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1" name="Line 459">
                <a:extLst>
                  <a:ext uri="{FF2B5EF4-FFF2-40B4-BE49-F238E27FC236}">
                    <a16:creationId xmlns:a16="http://schemas.microsoft.com/office/drawing/2014/main" id="{AFB7F5D7-5264-3CBA-95A9-FA1B68B8DACD}"/>
                  </a:ext>
                </a:extLst>
              </p:cNvPr>
              <p:cNvSpPr>
                <a:spLocks noChangeShapeType="1"/>
              </p:cNvSpPr>
              <p:nvPr/>
            </p:nvSpPr>
            <p:spPr bwMode="auto">
              <a:xfrm>
                <a:off x="956"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2" name="Rectangle 460">
                <a:extLst>
                  <a:ext uri="{FF2B5EF4-FFF2-40B4-BE49-F238E27FC236}">
                    <a16:creationId xmlns:a16="http://schemas.microsoft.com/office/drawing/2014/main" id="{A5646FFD-7661-2813-AE23-5D220A3A568F}"/>
                  </a:ext>
                </a:extLst>
              </p:cNvPr>
              <p:cNvSpPr>
                <a:spLocks noChangeArrowheads="1"/>
              </p:cNvSpPr>
              <p:nvPr/>
            </p:nvSpPr>
            <p:spPr bwMode="auto">
              <a:xfrm>
                <a:off x="961" y="1572"/>
                <a:ext cx="672"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3" name="Line 461">
                <a:extLst>
                  <a:ext uri="{FF2B5EF4-FFF2-40B4-BE49-F238E27FC236}">
                    <a16:creationId xmlns:a16="http://schemas.microsoft.com/office/drawing/2014/main" id="{7AAA94C7-9D4E-A917-C136-DE7566E1DE6A}"/>
                  </a:ext>
                </a:extLst>
              </p:cNvPr>
              <p:cNvSpPr>
                <a:spLocks noChangeShapeType="1"/>
              </p:cNvSpPr>
              <p:nvPr/>
            </p:nvSpPr>
            <p:spPr bwMode="auto">
              <a:xfrm>
                <a:off x="961" y="1572"/>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4" name="Rectangle 462">
                <a:extLst>
                  <a:ext uri="{FF2B5EF4-FFF2-40B4-BE49-F238E27FC236}">
                    <a16:creationId xmlns:a16="http://schemas.microsoft.com/office/drawing/2014/main" id="{4B3C44F2-5BAD-DE13-E74B-BE348B98AC40}"/>
                  </a:ext>
                </a:extLst>
              </p:cNvPr>
              <p:cNvSpPr>
                <a:spLocks noChangeArrowheads="1"/>
              </p:cNvSpPr>
              <p:nvPr/>
            </p:nvSpPr>
            <p:spPr bwMode="auto">
              <a:xfrm>
                <a:off x="1633" y="1572"/>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5" name="Line 463">
                <a:extLst>
                  <a:ext uri="{FF2B5EF4-FFF2-40B4-BE49-F238E27FC236}">
                    <a16:creationId xmlns:a16="http://schemas.microsoft.com/office/drawing/2014/main" id="{3344075E-7682-10D2-B37F-AA8E50DD218E}"/>
                  </a:ext>
                </a:extLst>
              </p:cNvPr>
              <p:cNvSpPr>
                <a:spLocks noChangeShapeType="1"/>
              </p:cNvSpPr>
              <p:nvPr/>
            </p:nvSpPr>
            <p:spPr bwMode="auto">
              <a:xfrm>
                <a:off x="1633" y="1572"/>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6" name="Line 464">
                <a:extLst>
                  <a:ext uri="{FF2B5EF4-FFF2-40B4-BE49-F238E27FC236}">
                    <a16:creationId xmlns:a16="http://schemas.microsoft.com/office/drawing/2014/main" id="{C70EDFCC-1B29-A0B7-265B-AAC4C3D4F346}"/>
                  </a:ext>
                </a:extLst>
              </p:cNvPr>
              <p:cNvSpPr>
                <a:spLocks noChangeShapeType="1"/>
              </p:cNvSpPr>
              <p:nvPr/>
            </p:nvSpPr>
            <p:spPr bwMode="auto">
              <a:xfrm>
                <a:off x="1633"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7" name="Rectangle 465">
                <a:extLst>
                  <a:ext uri="{FF2B5EF4-FFF2-40B4-BE49-F238E27FC236}">
                    <a16:creationId xmlns:a16="http://schemas.microsoft.com/office/drawing/2014/main" id="{28B36400-4894-0380-9A53-A375E20D8BA7}"/>
                  </a:ext>
                </a:extLst>
              </p:cNvPr>
              <p:cNvSpPr>
                <a:spLocks noChangeArrowheads="1"/>
              </p:cNvSpPr>
              <p:nvPr/>
            </p:nvSpPr>
            <p:spPr bwMode="auto">
              <a:xfrm>
                <a:off x="1637" y="1572"/>
                <a:ext cx="739"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88" name="Line 466">
                <a:extLst>
                  <a:ext uri="{FF2B5EF4-FFF2-40B4-BE49-F238E27FC236}">
                    <a16:creationId xmlns:a16="http://schemas.microsoft.com/office/drawing/2014/main" id="{35572C1D-64AB-07E0-88B7-510B329F4A25}"/>
                  </a:ext>
                </a:extLst>
              </p:cNvPr>
              <p:cNvSpPr>
                <a:spLocks noChangeShapeType="1"/>
              </p:cNvSpPr>
              <p:nvPr/>
            </p:nvSpPr>
            <p:spPr bwMode="auto">
              <a:xfrm>
                <a:off x="1637" y="1572"/>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89" name="Rectangle 467">
                <a:extLst>
                  <a:ext uri="{FF2B5EF4-FFF2-40B4-BE49-F238E27FC236}">
                    <a16:creationId xmlns:a16="http://schemas.microsoft.com/office/drawing/2014/main" id="{09C6F725-9864-3805-1665-7E838D4A4FC0}"/>
                  </a:ext>
                </a:extLst>
              </p:cNvPr>
              <p:cNvSpPr>
                <a:spLocks noChangeArrowheads="1"/>
              </p:cNvSpPr>
              <p:nvPr/>
            </p:nvSpPr>
            <p:spPr bwMode="auto">
              <a:xfrm>
                <a:off x="2376"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0" name="Line 468">
                <a:extLst>
                  <a:ext uri="{FF2B5EF4-FFF2-40B4-BE49-F238E27FC236}">
                    <a16:creationId xmlns:a16="http://schemas.microsoft.com/office/drawing/2014/main" id="{81DDB629-E54E-1208-9C05-DA6CCBBE5E5C}"/>
                  </a:ext>
                </a:extLst>
              </p:cNvPr>
              <p:cNvSpPr>
                <a:spLocks noChangeShapeType="1"/>
              </p:cNvSpPr>
              <p:nvPr/>
            </p:nvSpPr>
            <p:spPr bwMode="auto">
              <a:xfrm>
                <a:off x="2376"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1" name="Line 469">
                <a:extLst>
                  <a:ext uri="{FF2B5EF4-FFF2-40B4-BE49-F238E27FC236}">
                    <a16:creationId xmlns:a16="http://schemas.microsoft.com/office/drawing/2014/main" id="{B055F8B4-8C2E-E685-68B5-26661808D616}"/>
                  </a:ext>
                </a:extLst>
              </p:cNvPr>
              <p:cNvSpPr>
                <a:spLocks noChangeShapeType="1"/>
              </p:cNvSpPr>
              <p:nvPr/>
            </p:nvSpPr>
            <p:spPr bwMode="auto">
              <a:xfrm>
                <a:off x="2376"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2" name="Rectangle 470">
                <a:extLst>
                  <a:ext uri="{FF2B5EF4-FFF2-40B4-BE49-F238E27FC236}">
                    <a16:creationId xmlns:a16="http://schemas.microsoft.com/office/drawing/2014/main" id="{A682DE21-8562-A1AF-C5BD-47703755EF22}"/>
                  </a:ext>
                </a:extLst>
              </p:cNvPr>
              <p:cNvSpPr>
                <a:spLocks noChangeArrowheads="1"/>
              </p:cNvSpPr>
              <p:nvPr/>
            </p:nvSpPr>
            <p:spPr bwMode="auto">
              <a:xfrm>
                <a:off x="2381" y="1572"/>
                <a:ext cx="536"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3" name="Line 471">
                <a:extLst>
                  <a:ext uri="{FF2B5EF4-FFF2-40B4-BE49-F238E27FC236}">
                    <a16:creationId xmlns:a16="http://schemas.microsoft.com/office/drawing/2014/main" id="{0EB4F983-4F2D-EE32-B536-EED543A0D97B}"/>
                  </a:ext>
                </a:extLst>
              </p:cNvPr>
              <p:cNvSpPr>
                <a:spLocks noChangeShapeType="1"/>
              </p:cNvSpPr>
              <p:nvPr/>
            </p:nvSpPr>
            <p:spPr bwMode="auto">
              <a:xfrm>
                <a:off x="2381" y="1572"/>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4" name="Rectangle 472">
                <a:extLst>
                  <a:ext uri="{FF2B5EF4-FFF2-40B4-BE49-F238E27FC236}">
                    <a16:creationId xmlns:a16="http://schemas.microsoft.com/office/drawing/2014/main" id="{483949C6-71FA-0414-D147-80BEC484EC52}"/>
                  </a:ext>
                </a:extLst>
              </p:cNvPr>
              <p:cNvSpPr>
                <a:spLocks noChangeArrowheads="1"/>
              </p:cNvSpPr>
              <p:nvPr/>
            </p:nvSpPr>
            <p:spPr bwMode="auto">
              <a:xfrm>
                <a:off x="2917"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5" name="Line 473">
                <a:extLst>
                  <a:ext uri="{FF2B5EF4-FFF2-40B4-BE49-F238E27FC236}">
                    <a16:creationId xmlns:a16="http://schemas.microsoft.com/office/drawing/2014/main" id="{27F7BC37-B3D5-C935-3F81-74E86F5B10CD}"/>
                  </a:ext>
                </a:extLst>
              </p:cNvPr>
              <p:cNvSpPr>
                <a:spLocks noChangeShapeType="1"/>
              </p:cNvSpPr>
              <p:nvPr/>
            </p:nvSpPr>
            <p:spPr bwMode="auto">
              <a:xfrm>
                <a:off x="2917"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6" name="Line 474">
                <a:extLst>
                  <a:ext uri="{FF2B5EF4-FFF2-40B4-BE49-F238E27FC236}">
                    <a16:creationId xmlns:a16="http://schemas.microsoft.com/office/drawing/2014/main" id="{8A2CD6BC-CD9B-F46B-EC70-0CE146B22E62}"/>
                  </a:ext>
                </a:extLst>
              </p:cNvPr>
              <p:cNvSpPr>
                <a:spLocks noChangeShapeType="1"/>
              </p:cNvSpPr>
              <p:nvPr/>
            </p:nvSpPr>
            <p:spPr bwMode="auto">
              <a:xfrm>
                <a:off x="2917"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7" name="Rectangle 475">
                <a:extLst>
                  <a:ext uri="{FF2B5EF4-FFF2-40B4-BE49-F238E27FC236}">
                    <a16:creationId xmlns:a16="http://schemas.microsoft.com/office/drawing/2014/main" id="{3A7F8938-42C3-568F-D589-58853C7B2B5E}"/>
                  </a:ext>
                </a:extLst>
              </p:cNvPr>
              <p:cNvSpPr>
                <a:spLocks noChangeArrowheads="1"/>
              </p:cNvSpPr>
              <p:nvPr/>
            </p:nvSpPr>
            <p:spPr bwMode="auto">
              <a:xfrm>
                <a:off x="2922" y="1572"/>
                <a:ext cx="66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98" name="Line 476">
                <a:extLst>
                  <a:ext uri="{FF2B5EF4-FFF2-40B4-BE49-F238E27FC236}">
                    <a16:creationId xmlns:a16="http://schemas.microsoft.com/office/drawing/2014/main" id="{82E850E2-0F5A-F83A-89A6-85C2AA92CEEA}"/>
                  </a:ext>
                </a:extLst>
              </p:cNvPr>
              <p:cNvSpPr>
                <a:spLocks noChangeShapeType="1"/>
              </p:cNvSpPr>
              <p:nvPr/>
            </p:nvSpPr>
            <p:spPr bwMode="auto">
              <a:xfrm>
                <a:off x="2922" y="1572"/>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99" name="Rectangle 477">
                <a:extLst>
                  <a:ext uri="{FF2B5EF4-FFF2-40B4-BE49-F238E27FC236}">
                    <a16:creationId xmlns:a16="http://schemas.microsoft.com/office/drawing/2014/main" id="{9F8AB5A2-863F-34E0-5BE4-C0D382C7594A}"/>
                  </a:ext>
                </a:extLst>
              </p:cNvPr>
              <p:cNvSpPr>
                <a:spLocks noChangeArrowheads="1"/>
              </p:cNvSpPr>
              <p:nvPr/>
            </p:nvSpPr>
            <p:spPr bwMode="auto">
              <a:xfrm>
                <a:off x="3589"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0" name="Line 478">
                <a:extLst>
                  <a:ext uri="{FF2B5EF4-FFF2-40B4-BE49-F238E27FC236}">
                    <a16:creationId xmlns:a16="http://schemas.microsoft.com/office/drawing/2014/main" id="{357EA41E-AFD3-1F66-8CCD-4BC4AEB38A78}"/>
                  </a:ext>
                </a:extLst>
              </p:cNvPr>
              <p:cNvSpPr>
                <a:spLocks noChangeShapeType="1"/>
              </p:cNvSpPr>
              <p:nvPr/>
            </p:nvSpPr>
            <p:spPr bwMode="auto">
              <a:xfrm>
                <a:off x="3589"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1" name="Line 479">
                <a:extLst>
                  <a:ext uri="{FF2B5EF4-FFF2-40B4-BE49-F238E27FC236}">
                    <a16:creationId xmlns:a16="http://schemas.microsoft.com/office/drawing/2014/main" id="{BB905441-9C4A-3050-5D6E-02085014D855}"/>
                  </a:ext>
                </a:extLst>
              </p:cNvPr>
              <p:cNvSpPr>
                <a:spLocks noChangeShapeType="1"/>
              </p:cNvSpPr>
              <p:nvPr/>
            </p:nvSpPr>
            <p:spPr bwMode="auto">
              <a:xfrm>
                <a:off x="3589"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2" name="Rectangle 480">
                <a:extLst>
                  <a:ext uri="{FF2B5EF4-FFF2-40B4-BE49-F238E27FC236}">
                    <a16:creationId xmlns:a16="http://schemas.microsoft.com/office/drawing/2014/main" id="{3B972369-A361-7060-B9A0-861167663067}"/>
                  </a:ext>
                </a:extLst>
              </p:cNvPr>
              <p:cNvSpPr>
                <a:spLocks noChangeArrowheads="1"/>
              </p:cNvSpPr>
              <p:nvPr/>
            </p:nvSpPr>
            <p:spPr bwMode="auto">
              <a:xfrm>
                <a:off x="3594" y="1572"/>
                <a:ext cx="668"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3" name="Line 481">
                <a:extLst>
                  <a:ext uri="{FF2B5EF4-FFF2-40B4-BE49-F238E27FC236}">
                    <a16:creationId xmlns:a16="http://schemas.microsoft.com/office/drawing/2014/main" id="{5EE86770-EC09-B86B-0E8B-4C881AA855AE}"/>
                  </a:ext>
                </a:extLst>
              </p:cNvPr>
              <p:cNvSpPr>
                <a:spLocks noChangeShapeType="1"/>
              </p:cNvSpPr>
              <p:nvPr/>
            </p:nvSpPr>
            <p:spPr bwMode="auto">
              <a:xfrm>
                <a:off x="3594" y="1572"/>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4" name="Rectangle 482">
                <a:extLst>
                  <a:ext uri="{FF2B5EF4-FFF2-40B4-BE49-F238E27FC236}">
                    <a16:creationId xmlns:a16="http://schemas.microsoft.com/office/drawing/2014/main" id="{A748CE85-430A-5E29-DE03-F4DD273D8938}"/>
                  </a:ext>
                </a:extLst>
              </p:cNvPr>
              <p:cNvSpPr>
                <a:spLocks noChangeArrowheads="1"/>
              </p:cNvSpPr>
              <p:nvPr/>
            </p:nvSpPr>
            <p:spPr bwMode="auto">
              <a:xfrm>
                <a:off x="4262" y="1572"/>
                <a:ext cx="4"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5" name="Line 483">
                <a:extLst>
                  <a:ext uri="{FF2B5EF4-FFF2-40B4-BE49-F238E27FC236}">
                    <a16:creationId xmlns:a16="http://schemas.microsoft.com/office/drawing/2014/main" id="{D6806D56-3540-FB5F-61C0-BFE56BA154C6}"/>
                  </a:ext>
                </a:extLst>
              </p:cNvPr>
              <p:cNvSpPr>
                <a:spLocks noChangeShapeType="1"/>
              </p:cNvSpPr>
              <p:nvPr/>
            </p:nvSpPr>
            <p:spPr bwMode="auto">
              <a:xfrm>
                <a:off x="4262" y="1572"/>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6" name="Line 484">
                <a:extLst>
                  <a:ext uri="{FF2B5EF4-FFF2-40B4-BE49-F238E27FC236}">
                    <a16:creationId xmlns:a16="http://schemas.microsoft.com/office/drawing/2014/main" id="{EAEA6576-A484-0D02-0417-C5EF0501067D}"/>
                  </a:ext>
                </a:extLst>
              </p:cNvPr>
              <p:cNvSpPr>
                <a:spLocks noChangeShapeType="1"/>
              </p:cNvSpPr>
              <p:nvPr/>
            </p:nvSpPr>
            <p:spPr bwMode="auto">
              <a:xfrm>
                <a:off x="4262"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7" name="Rectangle 485">
                <a:extLst>
                  <a:ext uri="{FF2B5EF4-FFF2-40B4-BE49-F238E27FC236}">
                    <a16:creationId xmlns:a16="http://schemas.microsoft.com/office/drawing/2014/main" id="{2F0E10CD-1449-3D72-0194-3E581BF833D5}"/>
                  </a:ext>
                </a:extLst>
              </p:cNvPr>
              <p:cNvSpPr>
                <a:spLocks noChangeArrowheads="1"/>
              </p:cNvSpPr>
              <p:nvPr/>
            </p:nvSpPr>
            <p:spPr bwMode="auto">
              <a:xfrm>
                <a:off x="4266" y="1572"/>
                <a:ext cx="81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08" name="Line 486">
                <a:extLst>
                  <a:ext uri="{FF2B5EF4-FFF2-40B4-BE49-F238E27FC236}">
                    <a16:creationId xmlns:a16="http://schemas.microsoft.com/office/drawing/2014/main" id="{1A04C1A2-F890-5D92-21AB-7799FF2BEAC2}"/>
                  </a:ext>
                </a:extLst>
              </p:cNvPr>
              <p:cNvSpPr>
                <a:spLocks noChangeShapeType="1"/>
              </p:cNvSpPr>
              <p:nvPr/>
            </p:nvSpPr>
            <p:spPr bwMode="auto">
              <a:xfrm>
                <a:off x="4266" y="1572"/>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09" name="Rectangle 487">
                <a:extLst>
                  <a:ext uri="{FF2B5EF4-FFF2-40B4-BE49-F238E27FC236}">
                    <a16:creationId xmlns:a16="http://schemas.microsoft.com/office/drawing/2014/main" id="{653A7E44-E91E-123E-F662-BB664F8B7AD2}"/>
                  </a:ext>
                </a:extLst>
              </p:cNvPr>
              <p:cNvSpPr>
                <a:spLocks noChangeArrowheads="1"/>
              </p:cNvSpPr>
              <p:nvPr/>
            </p:nvSpPr>
            <p:spPr bwMode="auto">
              <a:xfrm>
                <a:off x="5083" y="157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0" name="Line 488">
                <a:extLst>
                  <a:ext uri="{FF2B5EF4-FFF2-40B4-BE49-F238E27FC236}">
                    <a16:creationId xmlns:a16="http://schemas.microsoft.com/office/drawing/2014/main" id="{020F3F51-39E9-718E-DDF9-DED7A17E59F8}"/>
                  </a:ext>
                </a:extLst>
              </p:cNvPr>
              <p:cNvSpPr>
                <a:spLocks noChangeShapeType="1"/>
              </p:cNvSpPr>
              <p:nvPr/>
            </p:nvSpPr>
            <p:spPr bwMode="auto">
              <a:xfrm>
                <a:off x="5083" y="157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1" name="Line 489">
                <a:extLst>
                  <a:ext uri="{FF2B5EF4-FFF2-40B4-BE49-F238E27FC236}">
                    <a16:creationId xmlns:a16="http://schemas.microsoft.com/office/drawing/2014/main" id="{CB8AC9D8-7C27-3CB1-A603-D5AFB78E17BD}"/>
                  </a:ext>
                </a:extLst>
              </p:cNvPr>
              <p:cNvSpPr>
                <a:spLocks noChangeShapeType="1"/>
              </p:cNvSpPr>
              <p:nvPr/>
            </p:nvSpPr>
            <p:spPr bwMode="auto">
              <a:xfrm>
                <a:off x="5083" y="157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2" name="Rectangle 490">
                <a:extLst>
                  <a:ext uri="{FF2B5EF4-FFF2-40B4-BE49-F238E27FC236}">
                    <a16:creationId xmlns:a16="http://schemas.microsoft.com/office/drawing/2014/main" id="{37D8C75D-B19A-07B2-4B9E-CB2C30109197}"/>
                  </a:ext>
                </a:extLst>
              </p:cNvPr>
              <p:cNvSpPr>
                <a:spLocks noChangeArrowheads="1"/>
              </p:cNvSpPr>
              <p:nvPr/>
            </p:nvSpPr>
            <p:spPr bwMode="auto">
              <a:xfrm>
                <a:off x="295"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3" name="Line 491">
                <a:extLst>
                  <a:ext uri="{FF2B5EF4-FFF2-40B4-BE49-F238E27FC236}">
                    <a16:creationId xmlns:a16="http://schemas.microsoft.com/office/drawing/2014/main" id="{E69B09A5-2FFE-A46E-8EF1-83BF88E59AD3}"/>
                  </a:ext>
                </a:extLst>
              </p:cNvPr>
              <p:cNvSpPr>
                <a:spLocks noChangeShapeType="1"/>
              </p:cNvSpPr>
              <p:nvPr/>
            </p:nvSpPr>
            <p:spPr bwMode="auto">
              <a:xfrm>
                <a:off x="295"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4" name="Rectangle 492">
                <a:extLst>
                  <a:ext uri="{FF2B5EF4-FFF2-40B4-BE49-F238E27FC236}">
                    <a16:creationId xmlns:a16="http://schemas.microsoft.com/office/drawing/2014/main" id="{301F1FFF-14F2-AFB6-7DC9-E58EF782B86E}"/>
                  </a:ext>
                </a:extLst>
              </p:cNvPr>
              <p:cNvSpPr>
                <a:spLocks noChangeArrowheads="1"/>
              </p:cNvSpPr>
              <p:nvPr/>
            </p:nvSpPr>
            <p:spPr bwMode="auto">
              <a:xfrm>
                <a:off x="956"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5" name="Line 493">
                <a:extLst>
                  <a:ext uri="{FF2B5EF4-FFF2-40B4-BE49-F238E27FC236}">
                    <a16:creationId xmlns:a16="http://schemas.microsoft.com/office/drawing/2014/main" id="{E3CD9EB3-83E2-4065-5108-99F389F0A3E7}"/>
                  </a:ext>
                </a:extLst>
              </p:cNvPr>
              <p:cNvSpPr>
                <a:spLocks noChangeShapeType="1"/>
              </p:cNvSpPr>
              <p:nvPr/>
            </p:nvSpPr>
            <p:spPr bwMode="auto">
              <a:xfrm>
                <a:off x="956"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6" name="Rectangle 494">
                <a:extLst>
                  <a:ext uri="{FF2B5EF4-FFF2-40B4-BE49-F238E27FC236}">
                    <a16:creationId xmlns:a16="http://schemas.microsoft.com/office/drawing/2014/main" id="{6812C791-B9DE-443B-44C4-7A5974170F17}"/>
                  </a:ext>
                </a:extLst>
              </p:cNvPr>
              <p:cNvSpPr>
                <a:spLocks noChangeArrowheads="1"/>
              </p:cNvSpPr>
              <p:nvPr/>
            </p:nvSpPr>
            <p:spPr bwMode="auto">
              <a:xfrm>
                <a:off x="1633" y="1576"/>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7" name="Line 495">
                <a:extLst>
                  <a:ext uri="{FF2B5EF4-FFF2-40B4-BE49-F238E27FC236}">
                    <a16:creationId xmlns:a16="http://schemas.microsoft.com/office/drawing/2014/main" id="{119E40C1-8AA1-A069-E91C-EFAA20B786F3}"/>
                  </a:ext>
                </a:extLst>
              </p:cNvPr>
              <p:cNvSpPr>
                <a:spLocks noChangeShapeType="1"/>
              </p:cNvSpPr>
              <p:nvPr/>
            </p:nvSpPr>
            <p:spPr bwMode="auto">
              <a:xfrm>
                <a:off x="1633"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18" name="Rectangle 496">
                <a:extLst>
                  <a:ext uri="{FF2B5EF4-FFF2-40B4-BE49-F238E27FC236}">
                    <a16:creationId xmlns:a16="http://schemas.microsoft.com/office/drawing/2014/main" id="{091EEC4F-86C0-2148-50A3-EEBB819A22BC}"/>
                  </a:ext>
                </a:extLst>
              </p:cNvPr>
              <p:cNvSpPr>
                <a:spLocks noChangeArrowheads="1"/>
              </p:cNvSpPr>
              <p:nvPr/>
            </p:nvSpPr>
            <p:spPr bwMode="auto">
              <a:xfrm>
                <a:off x="2376"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19" name="Line 497">
                <a:extLst>
                  <a:ext uri="{FF2B5EF4-FFF2-40B4-BE49-F238E27FC236}">
                    <a16:creationId xmlns:a16="http://schemas.microsoft.com/office/drawing/2014/main" id="{FFCBD039-D45E-395C-49EA-6B87B8FDE836}"/>
                  </a:ext>
                </a:extLst>
              </p:cNvPr>
              <p:cNvSpPr>
                <a:spLocks noChangeShapeType="1"/>
              </p:cNvSpPr>
              <p:nvPr/>
            </p:nvSpPr>
            <p:spPr bwMode="auto">
              <a:xfrm>
                <a:off x="2376"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0" name="Rectangle 498">
                <a:extLst>
                  <a:ext uri="{FF2B5EF4-FFF2-40B4-BE49-F238E27FC236}">
                    <a16:creationId xmlns:a16="http://schemas.microsoft.com/office/drawing/2014/main" id="{884044A0-C0E5-AD7D-C8BF-41DD395D7A53}"/>
                  </a:ext>
                </a:extLst>
              </p:cNvPr>
              <p:cNvSpPr>
                <a:spLocks noChangeArrowheads="1"/>
              </p:cNvSpPr>
              <p:nvPr/>
            </p:nvSpPr>
            <p:spPr bwMode="auto">
              <a:xfrm>
                <a:off x="2917"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1" name="Line 499">
                <a:extLst>
                  <a:ext uri="{FF2B5EF4-FFF2-40B4-BE49-F238E27FC236}">
                    <a16:creationId xmlns:a16="http://schemas.microsoft.com/office/drawing/2014/main" id="{47287E60-3924-E6E4-C8C3-3CCBCB3CD7B8}"/>
                  </a:ext>
                </a:extLst>
              </p:cNvPr>
              <p:cNvSpPr>
                <a:spLocks noChangeShapeType="1"/>
              </p:cNvSpPr>
              <p:nvPr/>
            </p:nvSpPr>
            <p:spPr bwMode="auto">
              <a:xfrm>
                <a:off x="2917"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2" name="Rectangle 500">
                <a:extLst>
                  <a:ext uri="{FF2B5EF4-FFF2-40B4-BE49-F238E27FC236}">
                    <a16:creationId xmlns:a16="http://schemas.microsoft.com/office/drawing/2014/main" id="{A4D4F2F8-0CE6-6E11-56BB-12B91CF34F93}"/>
                  </a:ext>
                </a:extLst>
              </p:cNvPr>
              <p:cNvSpPr>
                <a:spLocks noChangeArrowheads="1"/>
              </p:cNvSpPr>
              <p:nvPr/>
            </p:nvSpPr>
            <p:spPr bwMode="auto">
              <a:xfrm>
                <a:off x="3589"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3" name="Line 501">
                <a:extLst>
                  <a:ext uri="{FF2B5EF4-FFF2-40B4-BE49-F238E27FC236}">
                    <a16:creationId xmlns:a16="http://schemas.microsoft.com/office/drawing/2014/main" id="{0A258E79-2CAA-47AA-E48F-F00BEF892156}"/>
                  </a:ext>
                </a:extLst>
              </p:cNvPr>
              <p:cNvSpPr>
                <a:spLocks noChangeShapeType="1"/>
              </p:cNvSpPr>
              <p:nvPr/>
            </p:nvSpPr>
            <p:spPr bwMode="auto">
              <a:xfrm>
                <a:off x="3589"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4" name="Rectangle 502">
                <a:extLst>
                  <a:ext uri="{FF2B5EF4-FFF2-40B4-BE49-F238E27FC236}">
                    <a16:creationId xmlns:a16="http://schemas.microsoft.com/office/drawing/2014/main" id="{9A5DB6C8-0706-D925-F81C-AC38E55A3787}"/>
                  </a:ext>
                </a:extLst>
              </p:cNvPr>
              <p:cNvSpPr>
                <a:spLocks noChangeArrowheads="1"/>
              </p:cNvSpPr>
              <p:nvPr/>
            </p:nvSpPr>
            <p:spPr bwMode="auto">
              <a:xfrm>
                <a:off x="4262" y="1576"/>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5" name="Line 503">
                <a:extLst>
                  <a:ext uri="{FF2B5EF4-FFF2-40B4-BE49-F238E27FC236}">
                    <a16:creationId xmlns:a16="http://schemas.microsoft.com/office/drawing/2014/main" id="{7DD4D583-869A-69DC-A51A-EA776B46B767}"/>
                  </a:ext>
                </a:extLst>
              </p:cNvPr>
              <p:cNvSpPr>
                <a:spLocks noChangeShapeType="1"/>
              </p:cNvSpPr>
              <p:nvPr/>
            </p:nvSpPr>
            <p:spPr bwMode="auto">
              <a:xfrm>
                <a:off x="4262"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6" name="Rectangle 504">
                <a:extLst>
                  <a:ext uri="{FF2B5EF4-FFF2-40B4-BE49-F238E27FC236}">
                    <a16:creationId xmlns:a16="http://schemas.microsoft.com/office/drawing/2014/main" id="{04D1D461-BAC9-7C46-00EA-C9A0A924F109}"/>
                  </a:ext>
                </a:extLst>
              </p:cNvPr>
              <p:cNvSpPr>
                <a:spLocks noChangeArrowheads="1"/>
              </p:cNvSpPr>
              <p:nvPr/>
            </p:nvSpPr>
            <p:spPr bwMode="auto">
              <a:xfrm>
                <a:off x="5083" y="1576"/>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7" name="Line 505">
                <a:extLst>
                  <a:ext uri="{FF2B5EF4-FFF2-40B4-BE49-F238E27FC236}">
                    <a16:creationId xmlns:a16="http://schemas.microsoft.com/office/drawing/2014/main" id="{AE4115FD-976B-9306-B21E-47812E2358EC}"/>
                  </a:ext>
                </a:extLst>
              </p:cNvPr>
              <p:cNvSpPr>
                <a:spLocks noChangeShapeType="1"/>
              </p:cNvSpPr>
              <p:nvPr/>
            </p:nvSpPr>
            <p:spPr bwMode="auto">
              <a:xfrm>
                <a:off x="5083" y="1576"/>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28" name="Rectangle 506">
                <a:extLst>
                  <a:ext uri="{FF2B5EF4-FFF2-40B4-BE49-F238E27FC236}">
                    <a16:creationId xmlns:a16="http://schemas.microsoft.com/office/drawing/2014/main" id="{1D1230F7-3558-CCF4-0F33-14198013D723}"/>
                  </a:ext>
                </a:extLst>
              </p:cNvPr>
              <p:cNvSpPr>
                <a:spLocks noChangeArrowheads="1"/>
              </p:cNvSpPr>
              <p:nvPr/>
            </p:nvSpPr>
            <p:spPr bwMode="auto">
              <a:xfrm>
                <a:off x="300"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29" name="Rectangle 507">
                <a:extLst>
                  <a:ext uri="{FF2B5EF4-FFF2-40B4-BE49-F238E27FC236}">
                    <a16:creationId xmlns:a16="http://schemas.microsoft.com/office/drawing/2014/main" id="{32379AA5-5339-8DE4-2070-C72FDFC44E25}"/>
                  </a:ext>
                </a:extLst>
              </p:cNvPr>
              <p:cNvSpPr>
                <a:spLocks noChangeArrowheads="1"/>
              </p:cNvSpPr>
              <p:nvPr/>
            </p:nvSpPr>
            <p:spPr bwMode="auto">
              <a:xfrm>
                <a:off x="907"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0" name="Rectangle 508">
                <a:extLst>
                  <a:ext uri="{FF2B5EF4-FFF2-40B4-BE49-F238E27FC236}">
                    <a16:creationId xmlns:a16="http://schemas.microsoft.com/office/drawing/2014/main" id="{99C47D13-B43E-6C7A-3CF0-ACDF7B9D70FE}"/>
                  </a:ext>
                </a:extLst>
              </p:cNvPr>
              <p:cNvSpPr>
                <a:spLocks noChangeArrowheads="1"/>
              </p:cNvSpPr>
              <p:nvPr/>
            </p:nvSpPr>
            <p:spPr bwMode="auto">
              <a:xfrm>
                <a:off x="349" y="1714"/>
                <a:ext cx="55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1" name="Rectangle 509">
                <a:extLst>
                  <a:ext uri="{FF2B5EF4-FFF2-40B4-BE49-F238E27FC236}">
                    <a16:creationId xmlns:a16="http://schemas.microsoft.com/office/drawing/2014/main" id="{DBC845B9-2400-02A5-CC5A-762B3DCBEFB1}"/>
                  </a:ext>
                </a:extLst>
              </p:cNvPr>
              <p:cNvSpPr>
                <a:spLocks noChangeArrowheads="1"/>
              </p:cNvSpPr>
              <p:nvPr/>
            </p:nvSpPr>
            <p:spPr bwMode="auto">
              <a:xfrm>
                <a:off x="349" y="1702"/>
                <a:ext cx="24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Rare</a:t>
                </a:r>
                <a:endParaRPr lang="en-US" altLang="en-US"/>
              </a:p>
            </p:txBody>
          </p:sp>
          <p:sp>
            <p:nvSpPr>
              <p:cNvPr id="55632" name="Rectangle 510">
                <a:extLst>
                  <a:ext uri="{FF2B5EF4-FFF2-40B4-BE49-F238E27FC236}">
                    <a16:creationId xmlns:a16="http://schemas.microsoft.com/office/drawing/2014/main" id="{EAADA7C5-CB29-5384-FC04-17B25351F355}"/>
                  </a:ext>
                </a:extLst>
              </p:cNvPr>
              <p:cNvSpPr>
                <a:spLocks noChangeArrowheads="1"/>
              </p:cNvSpPr>
              <p:nvPr/>
            </p:nvSpPr>
            <p:spPr bwMode="auto">
              <a:xfrm>
                <a:off x="594"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633" name="Rectangle 511">
                <a:extLst>
                  <a:ext uri="{FF2B5EF4-FFF2-40B4-BE49-F238E27FC236}">
                    <a16:creationId xmlns:a16="http://schemas.microsoft.com/office/drawing/2014/main" id="{31483A0A-9EDE-1AE6-476F-740B5AF687AA}"/>
                  </a:ext>
                </a:extLst>
              </p:cNvPr>
              <p:cNvSpPr>
                <a:spLocks noChangeArrowheads="1"/>
              </p:cNvSpPr>
              <p:nvPr/>
            </p:nvSpPr>
            <p:spPr bwMode="auto">
              <a:xfrm>
                <a:off x="961"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4" name="Rectangle 512">
                <a:extLst>
                  <a:ext uri="{FF2B5EF4-FFF2-40B4-BE49-F238E27FC236}">
                    <a16:creationId xmlns:a16="http://schemas.microsoft.com/office/drawing/2014/main" id="{FDF15ADD-FDCE-77C4-3031-70F1B3AC1BD5}"/>
                  </a:ext>
                </a:extLst>
              </p:cNvPr>
              <p:cNvSpPr>
                <a:spLocks noChangeArrowheads="1"/>
              </p:cNvSpPr>
              <p:nvPr/>
            </p:nvSpPr>
            <p:spPr bwMode="auto">
              <a:xfrm>
                <a:off x="1584"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5" name="Rectangle 513">
                <a:extLst>
                  <a:ext uri="{FF2B5EF4-FFF2-40B4-BE49-F238E27FC236}">
                    <a16:creationId xmlns:a16="http://schemas.microsoft.com/office/drawing/2014/main" id="{9EE9052C-273F-68E3-3A57-620EE955F3E4}"/>
                  </a:ext>
                </a:extLst>
              </p:cNvPr>
              <p:cNvSpPr>
                <a:spLocks noChangeArrowheads="1"/>
              </p:cNvSpPr>
              <p:nvPr/>
            </p:nvSpPr>
            <p:spPr bwMode="auto">
              <a:xfrm>
                <a:off x="1010" y="1714"/>
                <a:ext cx="574"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6" name="Rectangle 514">
                <a:extLst>
                  <a:ext uri="{FF2B5EF4-FFF2-40B4-BE49-F238E27FC236}">
                    <a16:creationId xmlns:a16="http://schemas.microsoft.com/office/drawing/2014/main" id="{161C2065-C84C-7A28-9660-67F4CF5722C7}"/>
                  </a:ext>
                </a:extLst>
              </p:cNvPr>
              <p:cNvSpPr>
                <a:spLocks noChangeArrowheads="1"/>
              </p:cNvSpPr>
              <p:nvPr/>
            </p:nvSpPr>
            <p:spPr bwMode="auto">
              <a:xfrm>
                <a:off x="1010" y="1702"/>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a:t>
                </a:r>
                <a:endParaRPr lang="en-US" altLang="en-US"/>
              </a:p>
            </p:txBody>
          </p:sp>
          <p:sp>
            <p:nvSpPr>
              <p:cNvPr id="55637" name="Rectangle 515">
                <a:extLst>
                  <a:ext uri="{FF2B5EF4-FFF2-40B4-BE49-F238E27FC236}">
                    <a16:creationId xmlns:a16="http://schemas.microsoft.com/office/drawing/2014/main" id="{B0B51E29-C977-2E3B-1BDE-B19E815D6277}"/>
                  </a:ext>
                </a:extLst>
              </p:cNvPr>
              <p:cNvSpPr>
                <a:spLocks noChangeArrowheads="1"/>
              </p:cNvSpPr>
              <p:nvPr/>
            </p:nvSpPr>
            <p:spPr bwMode="auto">
              <a:xfrm>
                <a:off x="1072"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38" name="Rectangle 516">
                <a:extLst>
                  <a:ext uri="{FF2B5EF4-FFF2-40B4-BE49-F238E27FC236}">
                    <a16:creationId xmlns:a16="http://schemas.microsoft.com/office/drawing/2014/main" id="{E60D43F4-8EA8-BF51-C466-BC64C49594B5}"/>
                  </a:ext>
                </a:extLst>
              </p:cNvPr>
              <p:cNvSpPr>
                <a:spLocks noChangeArrowheads="1"/>
              </p:cNvSpPr>
              <p:nvPr/>
            </p:nvSpPr>
            <p:spPr bwMode="auto">
              <a:xfrm>
                <a:off x="1637" y="1714"/>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39" name="Rectangle 517">
                <a:extLst>
                  <a:ext uri="{FF2B5EF4-FFF2-40B4-BE49-F238E27FC236}">
                    <a16:creationId xmlns:a16="http://schemas.microsoft.com/office/drawing/2014/main" id="{D89343A1-C5BB-4376-DDDF-567D1E8AA9D2}"/>
                  </a:ext>
                </a:extLst>
              </p:cNvPr>
              <p:cNvSpPr>
                <a:spLocks noChangeArrowheads="1"/>
              </p:cNvSpPr>
              <p:nvPr/>
            </p:nvSpPr>
            <p:spPr bwMode="auto">
              <a:xfrm>
                <a:off x="2328" y="1714"/>
                <a:ext cx="4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0" name="Rectangle 518">
                <a:extLst>
                  <a:ext uri="{FF2B5EF4-FFF2-40B4-BE49-F238E27FC236}">
                    <a16:creationId xmlns:a16="http://schemas.microsoft.com/office/drawing/2014/main" id="{3540BE07-E0B8-E7C0-8501-9A4A83A94BB8}"/>
                  </a:ext>
                </a:extLst>
              </p:cNvPr>
              <p:cNvSpPr>
                <a:spLocks noChangeArrowheads="1"/>
              </p:cNvSpPr>
              <p:nvPr/>
            </p:nvSpPr>
            <p:spPr bwMode="auto">
              <a:xfrm>
                <a:off x="1687" y="1714"/>
                <a:ext cx="641"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1" name="Rectangle 519">
                <a:extLst>
                  <a:ext uri="{FF2B5EF4-FFF2-40B4-BE49-F238E27FC236}">
                    <a16:creationId xmlns:a16="http://schemas.microsoft.com/office/drawing/2014/main" id="{83DE7EFA-5FF8-C08A-135F-7243C6791FAE}"/>
                  </a:ext>
                </a:extLst>
              </p:cNvPr>
              <p:cNvSpPr>
                <a:spLocks noChangeArrowheads="1"/>
              </p:cNvSpPr>
              <p:nvPr/>
            </p:nvSpPr>
            <p:spPr bwMode="auto">
              <a:xfrm>
                <a:off x="1687" y="1702"/>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642" name="Rectangle 520">
                <a:extLst>
                  <a:ext uri="{FF2B5EF4-FFF2-40B4-BE49-F238E27FC236}">
                    <a16:creationId xmlns:a16="http://schemas.microsoft.com/office/drawing/2014/main" id="{B096CDFD-5F5D-02A1-3235-25BF48149DE0}"/>
                  </a:ext>
                </a:extLst>
              </p:cNvPr>
              <p:cNvSpPr>
                <a:spLocks noChangeArrowheads="1"/>
              </p:cNvSpPr>
              <p:nvPr/>
            </p:nvSpPr>
            <p:spPr bwMode="auto">
              <a:xfrm>
                <a:off x="1761"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43" name="Rectangle 521">
                <a:extLst>
                  <a:ext uri="{FF2B5EF4-FFF2-40B4-BE49-F238E27FC236}">
                    <a16:creationId xmlns:a16="http://schemas.microsoft.com/office/drawing/2014/main" id="{3CD30283-01C3-36BA-2C00-3D8250A719DF}"/>
                  </a:ext>
                </a:extLst>
              </p:cNvPr>
              <p:cNvSpPr>
                <a:spLocks noChangeArrowheads="1"/>
              </p:cNvSpPr>
              <p:nvPr/>
            </p:nvSpPr>
            <p:spPr bwMode="auto">
              <a:xfrm>
                <a:off x="2381"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4" name="Rectangle 522">
                <a:extLst>
                  <a:ext uri="{FF2B5EF4-FFF2-40B4-BE49-F238E27FC236}">
                    <a16:creationId xmlns:a16="http://schemas.microsoft.com/office/drawing/2014/main" id="{A2002AD7-1DB8-0A17-5053-3A4E4B5F065C}"/>
                  </a:ext>
                </a:extLst>
              </p:cNvPr>
              <p:cNvSpPr>
                <a:spLocks noChangeArrowheads="1"/>
              </p:cNvSpPr>
              <p:nvPr/>
            </p:nvSpPr>
            <p:spPr bwMode="auto">
              <a:xfrm>
                <a:off x="2868"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5" name="Rectangle 523">
                <a:extLst>
                  <a:ext uri="{FF2B5EF4-FFF2-40B4-BE49-F238E27FC236}">
                    <a16:creationId xmlns:a16="http://schemas.microsoft.com/office/drawing/2014/main" id="{2748E0CF-5F0C-97DB-E9B6-5D87DF7E1A87}"/>
                  </a:ext>
                </a:extLst>
              </p:cNvPr>
              <p:cNvSpPr>
                <a:spLocks noChangeArrowheads="1"/>
              </p:cNvSpPr>
              <p:nvPr/>
            </p:nvSpPr>
            <p:spPr bwMode="auto">
              <a:xfrm>
                <a:off x="2430" y="1714"/>
                <a:ext cx="43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6" name="Rectangle 524">
                <a:extLst>
                  <a:ext uri="{FF2B5EF4-FFF2-40B4-BE49-F238E27FC236}">
                    <a16:creationId xmlns:a16="http://schemas.microsoft.com/office/drawing/2014/main" id="{4D8E5CF0-3F78-34E3-530D-C35BEB5556DA}"/>
                  </a:ext>
                </a:extLst>
              </p:cNvPr>
              <p:cNvSpPr>
                <a:spLocks noChangeArrowheads="1"/>
              </p:cNvSpPr>
              <p:nvPr/>
            </p:nvSpPr>
            <p:spPr bwMode="auto">
              <a:xfrm>
                <a:off x="2430" y="1702"/>
                <a:ext cx="7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H</a:t>
                </a:r>
                <a:endParaRPr lang="en-US" altLang="en-US"/>
              </a:p>
            </p:txBody>
          </p:sp>
          <p:sp>
            <p:nvSpPr>
              <p:cNvPr id="55647" name="Rectangle 525">
                <a:extLst>
                  <a:ext uri="{FF2B5EF4-FFF2-40B4-BE49-F238E27FC236}">
                    <a16:creationId xmlns:a16="http://schemas.microsoft.com/office/drawing/2014/main" id="{82C3AE1F-1751-083D-1000-D67AC620FAA5}"/>
                  </a:ext>
                </a:extLst>
              </p:cNvPr>
              <p:cNvSpPr>
                <a:spLocks noChangeArrowheads="1"/>
              </p:cNvSpPr>
              <p:nvPr/>
            </p:nvSpPr>
            <p:spPr bwMode="auto">
              <a:xfrm>
                <a:off x="2505"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48" name="Rectangle 526">
                <a:extLst>
                  <a:ext uri="{FF2B5EF4-FFF2-40B4-BE49-F238E27FC236}">
                    <a16:creationId xmlns:a16="http://schemas.microsoft.com/office/drawing/2014/main" id="{B86CF8DB-EE80-DB8B-3812-6C8D19ECFB35}"/>
                  </a:ext>
                </a:extLst>
              </p:cNvPr>
              <p:cNvSpPr>
                <a:spLocks noChangeArrowheads="1"/>
              </p:cNvSpPr>
              <p:nvPr/>
            </p:nvSpPr>
            <p:spPr bwMode="auto">
              <a:xfrm>
                <a:off x="2922"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49" name="Rectangle 527">
                <a:extLst>
                  <a:ext uri="{FF2B5EF4-FFF2-40B4-BE49-F238E27FC236}">
                    <a16:creationId xmlns:a16="http://schemas.microsoft.com/office/drawing/2014/main" id="{A8971CA4-8D1A-31C6-A13C-6708765AA949}"/>
                  </a:ext>
                </a:extLst>
              </p:cNvPr>
              <p:cNvSpPr>
                <a:spLocks noChangeArrowheads="1"/>
              </p:cNvSpPr>
              <p:nvPr/>
            </p:nvSpPr>
            <p:spPr bwMode="auto">
              <a:xfrm>
                <a:off x="3540"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0" name="Rectangle 528">
                <a:extLst>
                  <a:ext uri="{FF2B5EF4-FFF2-40B4-BE49-F238E27FC236}">
                    <a16:creationId xmlns:a16="http://schemas.microsoft.com/office/drawing/2014/main" id="{EE8E5960-E96B-CC82-16FF-DB16F76A6F44}"/>
                  </a:ext>
                </a:extLst>
              </p:cNvPr>
              <p:cNvSpPr>
                <a:spLocks noChangeArrowheads="1"/>
              </p:cNvSpPr>
              <p:nvPr/>
            </p:nvSpPr>
            <p:spPr bwMode="auto">
              <a:xfrm>
                <a:off x="2971" y="1714"/>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1" name="Rectangle 529">
                <a:extLst>
                  <a:ext uri="{FF2B5EF4-FFF2-40B4-BE49-F238E27FC236}">
                    <a16:creationId xmlns:a16="http://schemas.microsoft.com/office/drawing/2014/main" id="{0199AEFB-BA20-E268-CF10-6AFD09D691A7}"/>
                  </a:ext>
                </a:extLst>
              </p:cNvPr>
              <p:cNvSpPr>
                <a:spLocks noChangeArrowheads="1"/>
              </p:cNvSpPr>
              <p:nvPr/>
            </p:nvSpPr>
            <p:spPr bwMode="auto">
              <a:xfrm>
                <a:off x="2971" y="1702"/>
                <a:ext cx="7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t>
                </a:r>
                <a:endParaRPr lang="en-US" altLang="en-US"/>
              </a:p>
            </p:txBody>
          </p:sp>
          <p:sp>
            <p:nvSpPr>
              <p:cNvPr id="55652" name="Rectangle 530">
                <a:extLst>
                  <a:ext uri="{FF2B5EF4-FFF2-40B4-BE49-F238E27FC236}">
                    <a16:creationId xmlns:a16="http://schemas.microsoft.com/office/drawing/2014/main" id="{076C5C4E-D0E1-CC5D-684C-F6C0DEB70645}"/>
                  </a:ext>
                </a:extLst>
              </p:cNvPr>
              <p:cNvSpPr>
                <a:spLocks noChangeArrowheads="1"/>
              </p:cNvSpPr>
              <p:nvPr/>
            </p:nvSpPr>
            <p:spPr bwMode="auto">
              <a:xfrm>
                <a:off x="3052"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53" name="Rectangle 531">
                <a:extLst>
                  <a:ext uri="{FF2B5EF4-FFF2-40B4-BE49-F238E27FC236}">
                    <a16:creationId xmlns:a16="http://schemas.microsoft.com/office/drawing/2014/main" id="{D8C2935D-4C9D-B9E6-03D3-9900B8E15A11}"/>
                  </a:ext>
                </a:extLst>
              </p:cNvPr>
              <p:cNvSpPr>
                <a:spLocks noChangeArrowheads="1"/>
              </p:cNvSpPr>
              <p:nvPr/>
            </p:nvSpPr>
            <p:spPr bwMode="auto">
              <a:xfrm>
                <a:off x="3594"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4" name="Rectangle 532">
                <a:extLst>
                  <a:ext uri="{FF2B5EF4-FFF2-40B4-BE49-F238E27FC236}">
                    <a16:creationId xmlns:a16="http://schemas.microsoft.com/office/drawing/2014/main" id="{AF08670D-047D-6A96-66F6-A7252347EA31}"/>
                  </a:ext>
                </a:extLst>
              </p:cNvPr>
              <p:cNvSpPr>
                <a:spLocks noChangeArrowheads="1"/>
              </p:cNvSpPr>
              <p:nvPr/>
            </p:nvSpPr>
            <p:spPr bwMode="auto">
              <a:xfrm>
                <a:off x="4212" y="1714"/>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5" name="Rectangle 533">
                <a:extLst>
                  <a:ext uri="{FF2B5EF4-FFF2-40B4-BE49-F238E27FC236}">
                    <a16:creationId xmlns:a16="http://schemas.microsoft.com/office/drawing/2014/main" id="{3C943C26-A4D0-BCD3-651A-C2005A95CF1F}"/>
                  </a:ext>
                </a:extLst>
              </p:cNvPr>
              <p:cNvSpPr>
                <a:spLocks noChangeArrowheads="1"/>
              </p:cNvSpPr>
              <p:nvPr/>
            </p:nvSpPr>
            <p:spPr bwMode="auto">
              <a:xfrm>
                <a:off x="3643" y="1714"/>
                <a:ext cx="56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6" name="Rectangle 534">
                <a:extLst>
                  <a:ext uri="{FF2B5EF4-FFF2-40B4-BE49-F238E27FC236}">
                    <a16:creationId xmlns:a16="http://schemas.microsoft.com/office/drawing/2014/main" id="{CAE8ADA9-276B-48D3-A57D-977BA2635E13}"/>
                  </a:ext>
                </a:extLst>
              </p:cNvPr>
              <p:cNvSpPr>
                <a:spLocks noChangeArrowheads="1"/>
              </p:cNvSpPr>
              <p:nvPr/>
            </p:nvSpPr>
            <p:spPr bwMode="auto">
              <a:xfrm>
                <a:off x="3643" y="1702"/>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657" name="Rectangle 535">
                <a:extLst>
                  <a:ext uri="{FF2B5EF4-FFF2-40B4-BE49-F238E27FC236}">
                    <a16:creationId xmlns:a16="http://schemas.microsoft.com/office/drawing/2014/main" id="{6D79E813-6D04-F6C3-C34C-2AE1BE2920E7}"/>
                  </a:ext>
                </a:extLst>
              </p:cNvPr>
              <p:cNvSpPr>
                <a:spLocks noChangeArrowheads="1"/>
              </p:cNvSpPr>
              <p:nvPr/>
            </p:nvSpPr>
            <p:spPr bwMode="auto">
              <a:xfrm>
                <a:off x="3702"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58" name="Rectangle 536">
                <a:extLst>
                  <a:ext uri="{FF2B5EF4-FFF2-40B4-BE49-F238E27FC236}">
                    <a16:creationId xmlns:a16="http://schemas.microsoft.com/office/drawing/2014/main" id="{262EF30B-4C97-3D56-2D6A-3CFEB9F9F575}"/>
                  </a:ext>
                </a:extLst>
              </p:cNvPr>
              <p:cNvSpPr>
                <a:spLocks noChangeArrowheads="1"/>
              </p:cNvSpPr>
              <p:nvPr/>
            </p:nvSpPr>
            <p:spPr bwMode="auto">
              <a:xfrm>
                <a:off x="4266" y="1714"/>
                <a:ext cx="50"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59" name="Rectangle 537">
                <a:extLst>
                  <a:ext uri="{FF2B5EF4-FFF2-40B4-BE49-F238E27FC236}">
                    <a16:creationId xmlns:a16="http://schemas.microsoft.com/office/drawing/2014/main" id="{F0604A38-BD15-10F3-8F41-DB36235F1948}"/>
                  </a:ext>
                </a:extLst>
              </p:cNvPr>
              <p:cNvSpPr>
                <a:spLocks noChangeArrowheads="1"/>
              </p:cNvSpPr>
              <p:nvPr/>
            </p:nvSpPr>
            <p:spPr bwMode="auto">
              <a:xfrm>
                <a:off x="5034" y="1714"/>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0" name="Rectangle 538">
                <a:extLst>
                  <a:ext uri="{FF2B5EF4-FFF2-40B4-BE49-F238E27FC236}">
                    <a16:creationId xmlns:a16="http://schemas.microsoft.com/office/drawing/2014/main" id="{E6CBEAD8-C0F2-009F-7B16-382BFB717547}"/>
                  </a:ext>
                </a:extLst>
              </p:cNvPr>
              <p:cNvSpPr>
                <a:spLocks noChangeArrowheads="1"/>
              </p:cNvSpPr>
              <p:nvPr/>
            </p:nvSpPr>
            <p:spPr bwMode="auto">
              <a:xfrm>
                <a:off x="4316" y="1714"/>
                <a:ext cx="718"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1" name="Rectangle 539">
                <a:extLst>
                  <a:ext uri="{FF2B5EF4-FFF2-40B4-BE49-F238E27FC236}">
                    <a16:creationId xmlns:a16="http://schemas.microsoft.com/office/drawing/2014/main" id="{3F90BFBC-5BD6-0783-3560-32AC7B18CE87}"/>
                  </a:ext>
                </a:extLst>
              </p:cNvPr>
              <p:cNvSpPr>
                <a:spLocks noChangeArrowheads="1"/>
              </p:cNvSpPr>
              <p:nvPr/>
            </p:nvSpPr>
            <p:spPr bwMode="auto">
              <a:xfrm>
                <a:off x="4316" y="1702"/>
                <a:ext cx="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L</a:t>
                </a:r>
                <a:endParaRPr lang="en-US" altLang="en-US"/>
              </a:p>
            </p:txBody>
          </p:sp>
          <p:sp>
            <p:nvSpPr>
              <p:cNvPr id="55662" name="Rectangle 540">
                <a:extLst>
                  <a:ext uri="{FF2B5EF4-FFF2-40B4-BE49-F238E27FC236}">
                    <a16:creationId xmlns:a16="http://schemas.microsoft.com/office/drawing/2014/main" id="{C2862CC2-1883-0E87-F87D-92BF2F17C22B}"/>
                  </a:ext>
                </a:extLst>
              </p:cNvPr>
              <p:cNvSpPr>
                <a:spLocks noChangeArrowheads="1"/>
              </p:cNvSpPr>
              <p:nvPr/>
            </p:nvSpPr>
            <p:spPr bwMode="auto">
              <a:xfrm>
                <a:off x="4374" y="170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663" name="Rectangle 541">
                <a:extLst>
                  <a:ext uri="{FF2B5EF4-FFF2-40B4-BE49-F238E27FC236}">
                    <a16:creationId xmlns:a16="http://schemas.microsoft.com/office/drawing/2014/main" id="{D56D7687-B216-70F2-E193-AE5CCAF91D68}"/>
                  </a:ext>
                </a:extLst>
              </p:cNvPr>
              <p:cNvSpPr>
                <a:spLocks noChangeArrowheads="1"/>
              </p:cNvSpPr>
              <p:nvPr/>
            </p:nvSpPr>
            <p:spPr bwMode="auto">
              <a:xfrm>
                <a:off x="295"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4" name="Line 542">
                <a:extLst>
                  <a:ext uri="{FF2B5EF4-FFF2-40B4-BE49-F238E27FC236}">
                    <a16:creationId xmlns:a16="http://schemas.microsoft.com/office/drawing/2014/main" id="{FA089E62-CA26-1DCC-B63D-88F05BF90891}"/>
                  </a:ext>
                </a:extLst>
              </p:cNvPr>
              <p:cNvSpPr>
                <a:spLocks noChangeShapeType="1"/>
              </p:cNvSpPr>
              <p:nvPr/>
            </p:nvSpPr>
            <p:spPr bwMode="auto">
              <a:xfrm>
                <a:off x="295"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65" name="Line 543">
                <a:extLst>
                  <a:ext uri="{FF2B5EF4-FFF2-40B4-BE49-F238E27FC236}">
                    <a16:creationId xmlns:a16="http://schemas.microsoft.com/office/drawing/2014/main" id="{A51E5D97-0B5E-4A2F-B8C7-DF144F8CE384}"/>
                  </a:ext>
                </a:extLst>
              </p:cNvPr>
              <p:cNvSpPr>
                <a:spLocks noChangeShapeType="1"/>
              </p:cNvSpPr>
              <p:nvPr/>
            </p:nvSpPr>
            <p:spPr bwMode="auto">
              <a:xfrm>
                <a:off x="295"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66" name="Rectangle 544">
                <a:extLst>
                  <a:ext uri="{FF2B5EF4-FFF2-40B4-BE49-F238E27FC236}">
                    <a16:creationId xmlns:a16="http://schemas.microsoft.com/office/drawing/2014/main" id="{0073716A-322A-78A2-CC70-C2C68BE247F4}"/>
                  </a:ext>
                </a:extLst>
              </p:cNvPr>
              <p:cNvSpPr>
                <a:spLocks noChangeArrowheads="1"/>
              </p:cNvSpPr>
              <p:nvPr/>
            </p:nvSpPr>
            <p:spPr bwMode="auto">
              <a:xfrm>
                <a:off x="300" y="1709"/>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7" name="Line 545">
                <a:extLst>
                  <a:ext uri="{FF2B5EF4-FFF2-40B4-BE49-F238E27FC236}">
                    <a16:creationId xmlns:a16="http://schemas.microsoft.com/office/drawing/2014/main" id="{0FFFE751-BCA7-A08F-75C1-CE042AA19086}"/>
                  </a:ext>
                </a:extLst>
              </p:cNvPr>
              <p:cNvSpPr>
                <a:spLocks noChangeShapeType="1"/>
              </p:cNvSpPr>
              <p:nvPr/>
            </p:nvSpPr>
            <p:spPr bwMode="auto">
              <a:xfrm>
                <a:off x="300" y="1709"/>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68" name="Rectangle 546">
                <a:extLst>
                  <a:ext uri="{FF2B5EF4-FFF2-40B4-BE49-F238E27FC236}">
                    <a16:creationId xmlns:a16="http://schemas.microsoft.com/office/drawing/2014/main" id="{67957575-8A13-0155-CD72-FFC3D2CEB9C1}"/>
                  </a:ext>
                </a:extLst>
              </p:cNvPr>
              <p:cNvSpPr>
                <a:spLocks noChangeArrowheads="1"/>
              </p:cNvSpPr>
              <p:nvPr/>
            </p:nvSpPr>
            <p:spPr bwMode="auto">
              <a:xfrm>
                <a:off x="956"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69" name="Line 547">
                <a:extLst>
                  <a:ext uri="{FF2B5EF4-FFF2-40B4-BE49-F238E27FC236}">
                    <a16:creationId xmlns:a16="http://schemas.microsoft.com/office/drawing/2014/main" id="{7AEDF61B-8B70-A6E4-7150-27F70B1CA58B}"/>
                  </a:ext>
                </a:extLst>
              </p:cNvPr>
              <p:cNvSpPr>
                <a:spLocks noChangeShapeType="1"/>
              </p:cNvSpPr>
              <p:nvPr/>
            </p:nvSpPr>
            <p:spPr bwMode="auto">
              <a:xfrm>
                <a:off x="956"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0" name="Line 548">
                <a:extLst>
                  <a:ext uri="{FF2B5EF4-FFF2-40B4-BE49-F238E27FC236}">
                    <a16:creationId xmlns:a16="http://schemas.microsoft.com/office/drawing/2014/main" id="{D9E1AB62-885B-E207-5A0B-D2613A428E98}"/>
                  </a:ext>
                </a:extLst>
              </p:cNvPr>
              <p:cNvSpPr>
                <a:spLocks noChangeShapeType="1"/>
              </p:cNvSpPr>
              <p:nvPr/>
            </p:nvSpPr>
            <p:spPr bwMode="auto">
              <a:xfrm>
                <a:off x="956"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1" name="Rectangle 549">
                <a:extLst>
                  <a:ext uri="{FF2B5EF4-FFF2-40B4-BE49-F238E27FC236}">
                    <a16:creationId xmlns:a16="http://schemas.microsoft.com/office/drawing/2014/main" id="{C92E4570-E701-0499-89D6-2E2DB1BE334C}"/>
                  </a:ext>
                </a:extLst>
              </p:cNvPr>
              <p:cNvSpPr>
                <a:spLocks noChangeArrowheads="1"/>
              </p:cNvSpPr>
              <p:nvPr/>
            </p:nvSpPr>
            <p:spPr bwMode="auto">
              <a:xfrm>
                <a:off x="961" y="1709"/>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2" name="Line 550">
                <a:extLst>
                  <a:ext uri="{FF2B5EF4-FFF2-40B4-BE49-F238E27FC236}">
                    <a16:creationId xmlns:a16="http://schemas.microsoft.com/office/drawing/2014/main" id="{D5FC8B61-6617-D4A8-5A5F-D264B1D78CDD}"/>
                  </a:ext>
                </a:extLst>
              </p:cNvPr>
              <p:cNvSpPr>
                <a:spLocks noChangeShapeType="1"/>
              </p:cNvSpPr>
              <p:nvPr/>
            </p:nvSpPr>
            <p:spPr bwMode="auto">
              <a:xfrm>
                <a:off x="961" y="1709"/>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3" name="Rectangle 551">
                <a:extLst>
                  <a:ext uri="{FF2B5EF4-FFF2-40B4-BE49-F238E27FC236}">
                    <a16:creationId xmlns:a16="http://schemas.microsoft.com/office/drawing/2014/main" id="{1036101E-10A6-9E47-5B4F-E7C051FB3130}"/>
                  </a:ext>
                </a:extLst>
              </p:cNvPr>
              <p:cNvSpPr>
                <a:spLocks noChangeArrowheads="1"/>
              </p:cNvSpPr>
              <p:nvPr/>
            </p:nvSpPr>
            <p:spPr bwMode="auto">
              <a:xfrm>
                <a:off x="1633" y="170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4" name="Line 552">
                <a:extLst>
                  <a:ext uri="{FF2B5EF4-FFF2-40B4-BE49-F238E27FC236}">
                    <a16:creationId xmlns:a16="http://schemas.microsoft.com/office/drawing/2014/main" id="{8996AB6C-39FD-D280-CDD8-C99FB8FB45AD}"/>
                  </a:ext>
                </a:extLst>
              </p:cNvPr>
              <p:cNvSpPr>
                <a:spLocks noChangeShapeType="1"/>
              </p:cNvSpPr>
              <p:nvPr/>
            </p:nvSpPr>
            <p:spPr bwMode="auto">
              <a:xfrm>
                <a:off x="1633" y="1709"/>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5" name="Line 553">
                <a:extLst>
                  <a:ext uri="{FF2B5EF4-FFF2-40B4-BE49-F238E27FC236}">
                    <a16:creationId xmlns:a16="http://schemas.microsoft.com/office/drawing/2014/main" id="{2BFBA978-DBE2-1C7A-70FE-8886B2755EB7}"/>
                  </a:ext>
                </a:extLst>
              </p:cNvPr>
              <p:cNvSpPr>
                <a:spLocks noChangeShapeType="1"/>
              </p:cNvSpPr>
              <p:nvPr/>
            </p:nvSpPr>
            <p:spPr bwMode="auto">
              <a:xfrm>
                <a:off x="1633"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6" name="Rectangle 554">
                <a:extLst>
                  <a:ext uri="{FF2B5EF4-FFF2-40B4-BE49-F238E27FC236}">
                    <a16:creationId xmlns:a16="http://schemas.microsoft.com/office/drawing/2014/main" id="{60881373-979A-A88F-4234-C0C810FE7A93}"/>
                  </a:ext>
                </a:extLst>
              </p:cNvPr>
              <p:cNvSpPr>
                <a:spLocks noChangeArrowheads="1"/>
              </p:cNvSpPr>
              <p:nvPr/>
            </p:nvSpPr>
            <p:spPr bwMode="auto">
              <a:xfrm>
                <a:off x="1637" y="1709"/>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7" name="Line 555">
                <a:extLst>
                  <a:ext uri="{FF2B5EF4-FFF2-40B4-BE49-F238E27FC236}">
                    <a16:creationId xmlns:a16="http://schemas.microsoft.com/office/drawing/2014/main" id="{132E3E76-2E85-E07C-18E1-799555001778}"/>
                  </a:ext>
                </a:extLst>
              </p:cNvPr>
              <p:cNvSpPr>
                <a:spLocks noChangeShapeType="1"/>
              </p:cNvSpPr>
              <p:nvPr/>
            </p:nvSpPr>
            <p:spPr bwMode="auto">
              <a:xfrm>
                <a:off x="1637" y="1709"/>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78" name="Rectangle 556">
                <a:extLst>
                  <a:ext uri="{FF2B5EF4-FFF2-40B4-BE49-F238E27FC236}">
                    <a16:creationId xmlns:a16="http://schemas.microsoft.com/office/drawing/2014/main" id="{52EE3C61-E08A-94EE-C21E-87F294ECD03B}"/>
                  </a:ext>
                </a:extLst>
              </p:cNvPr>
              <p:cNvSpPr>
                <a:spLocks noChangeArrowheads="1"/>
              </p:cNvSpPr>
              <p:nvPr/>
            </p:nvSpPr>
            <p:spPr bwMode="auto">
              <a:xfrm>
                <a:off x="2376"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79" name="Line 557">
                <a:extLst>
                  <a:ext uri="{FF2B5EF4-FFF2-40B4-BE49-F238E27FC236}">
                    <a16:creationId xmlns:a16="http://schemas.microsoft.com/office/drawing/2014/main" id="{FFC6CD07-085E-5A86-DEDE-F80D627E5477}"/>
                  </a:ext>
                </a:extLst>
              </p:cNvPr>
              <p:cNvSpPr>
                <a:spLocks noChangeShapeType="1"/>
              </p:cNvSpPr>
              <p:nvPr/>
            </p:nvSpPr>
            <p:spPr bwMode="auto">
              <a:xfrm>
                <a:off x="2376"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0" name="Line 558">
                <a:extLst>
                  <a:ext uri="{FF2B5EF4-FFF2-40B4-BE49-F238E27FC236}">
                    <a16:creationId xmlns:a16="http://schemas.microsoft.com/office/drawing/2014/main" id="{74D2B079-55CB-A326-5D5F-7FE46B8BEE4B}"/>
                  </a:ext>
                </a:extLst>
              </p:cNvPr>
              <p:cNvSpPr>
                <a:spLocks noChangeShapeType="1"/>
              </p:cNvSpPr>
              <p:nvPr/>
            </p:nvSpPr>
            <p:spPr bwMode="auto">
              <a:xfrm>
                <a:off x="2376"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1" name="Rectangle 559">
                <a:extLst>
                  <a:ext uri="{FF2B5EF4-FFF2-40B4-BE49-F238E27FC236}">
                    <a16:creationId xmlns:a16="http://schemas.microsoft.com/office/drawing/2014/main" id="{6E17E901-3786-15E3-F2AD-0CDED14416AD}"/>
                  </a:ext>
                </a:extLst>
              </p:cNvPr>
              <p:cNvSpPr>
                <a:spLocks noChangeArrowheads="1"/>
              </p:cNvSpPr>
              <p:nvPr/>
            </p:nvSpPr>
            <p:spPr bwMode="auto">
              <a:xfrm>
                <a:off x="2381" y="1709"/>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2" name="Line 560">
                <a:extLst>
                  <a:ext uri="{FF2B5EF4-FFF2-40B4-BE49-F238E27FC236}">
                    <a16:creationId xmlns:a16="http://schemas.microsoft.com/office/drawing/2014/main" id="{696EB3BB-5931-131E-8A1D-13CD8F520E15}"/>
                  </a:ext>
                </a:extLst>
              </p:cNvPr>
              <p:cNvSpPr>
                <a:spLocks noChangeShapeType="1"/>
              </p:cNvSpPr>
              <p:nvPr/>
            </p:nvSpPr>
            <p:spPr bwMode="auto">
              <a:xfrm>
                <a:off x="2381" y="1709"/>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3" name="Rectangle 561">
                <a:extLst>
                  <a:ext uri="{FF2B5EF4-FFF2-40B4-BE49-F238E27FC236}">
                    <a16:creationId xmlns:a16="http://schemas.microsoft.com/office/drawing/2014/main" id="{42EC9035-463F-58D0-6D30-4E2A5672997F}"/>
                  </a:ext>
                </a:extLst>
              </p:cNvPr>
              <p:cNvSpPr>
                <a:spLocks noChangeArrowheads="1"/>
              </p:cNvSpPr>
              <p:nvPr/>
            </p:nvSpPr>
            <p:spPr bwMode="auto">
              <a:xfrm>
                <a:off x="2917"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4" name="Line 562">
                <a:extLst>
                  <a:ext uri="{FF2B5EF4-FFF2-40B4-BE49-F238E27FC236}">
                    <a16:creationId xmlns:a16="http://schemas.microsoft.com/office/drawing/2014/main" id="{0ACEDA8D-93CF-8FF4-3D7D-ED2FD660C36C}"/>
                  </a:ext>
                </a:extLst>
              </p:cNvPr>
              <p:cNvSpPr>
                <a:spLocks noChangeShapeType="1"/>
              </p:cNvSpPr>
              <p:nvPr/>
            </p:nvSpPr>
            <p:spPr bwMode="auto">
              <a:xfrm>
                <a:off x="2917"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5" name="Line 563">
                <a:extLst>
                  <a:ext uri="{FF2B5EF4-FFF2-40B4-BE49-F238E27FC236}">
                    <a16:creationId xmlns:a16="http://schemas.microsoft.com/office/drawing/2014/main" id="{EAD93994-95AE-C4F1-54F0-97A84F80FF24}"/>
                  </a:ext>
                </a:extLst>
              </p:cNvPr>
              <p:cNvSpPr>
                <a:spLocks noChangeShapeType="1"/>
              </p:cNvSpPr>
              <p:nvPr/>
            </p:nvSpPr>
            <p:spPr bwMode="auto">
              <a:xfrm>
                <a:off x="2917"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6" name="Rectangle 564">
                <a:extLst>
                  <a:ext uri="{FF2B5EF4-FFF2-40B4-BE49-F238E27FC236}">
                    <a16:creationId xmlns:a16="http://schemas.microsoft.com/office/drawing/2014/main" id="{652D25D9-DA3D-DBC1-0445-AD32DE1ACA58}"/>
                  </a:ext>
                </a:extLst>
              </p:cNvPr>
              <p:cNvSpPr>
                <a:spLocks noChangeArrowheads="1"/>
              </p:cNvSpPr>
              <p:nvPr/>
            </p:nvSpPr>
            <p:spPr bwMode="auto">
              <a:xfrm>
                <a:off x="2922" y="1709"/>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7" name="Line 565">
                <a:extLst>
                  <a:ext uri="{FF2B5EF4-FFF2-40B4-BE49-F238E27FC236}">
                    <a16:creationId xmlns:a16="http://schemas.microsoft.com/office/drawing/2014/main" id="{C2CA1778-800C-A84A-AA21-BCAF7CB16906}"/>
                  </a:ext>
                </a:extLst>
              </p:cNvPr>
              <p:cNvSpPr>
                <a:spLocks noChangeShapeType="1"/>
              </p:cNvSpPr>
              <p:nvPr/>
            </p:nvSpPr>
            <p:spPr bwMode="auto">
              <a:xfrm>
                <a:off x="2922" y="1709"/>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88" name="Rectangle 566">
                <a:extLst>
                  <a:ext uri="{FF2B5EF4-FFF2-40B4-BE49-F238E27FC236}">
                    <a16:creationId xmlns:a16="http://schemas.microsoft.com/office/drawing/2014/main" id="{B06C7BFE-B38D-7E10-BB19-B291E1457DDE}"/>
                  </a:ext>
                </a:extLst>
              </p:cNvPr>
              <p:cNvSpPr>
                <a:spLocks noChangeArrowheads="1"/>
              </p:cNvSpPr>
              <p:nvPr/>
            </p:nvSpPr>
            <p:spPr bwMode="auto">
              <a:xfrm>
                <a:off x="3589"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89" name="Line 567">
                <a:extLst>
                  <a:ext uri="{FF2B5EF4-FFF2-40B4-BE49-F238E27FC236}">
                    <a16:creationId xmlns:a16="http://schemas.microsoft.com/office/drawing/2014/main" id="{F8EC6534-12B1-5758-8FF7-0DE70D984A68}"/>
                  </a:ext>
                </a:extLst>
              </p:cNvPr>
              <p:cNvSpPr>
                <a:spLocks noChangeShapeType="1"/>
              </p:cNvSpPr>
              <p:nvPr/>
            </p:nvSpPr>
            <p:spPr bwMode="auto">
              <a:xfrm>
                <a:off x="3589"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0" name="Line 568">
                <a:extLst>
                  <a:ext uri="{FF2B5EF4-FFF2-40B4-BE49-F238E27FC236}">
                    <a16:creationId xmlns:a16="http://schemas.microsoft.com/office/drawing/2014/main" id="{22078331-E38B-075A-1F3A-7F46C3F82BD3}"/>
                  </a:ext>
                </a:extLst>
              </p:cNvPr>
              <p:cNvSpPr>
                <a:spLocks noChangeShapeType="1"/>
              </p:cNvSpPr>
              <p:nvPr/>
            </p:nvSpPr>
            <p:spPr bwMode="auto">
              <a:xfrm>
                <a:off x="3589"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1" name="Rectangle 569">
                <a:extLst>
                  <a:ext uri="{FF2B5EF4-FFF2-40B4-BE49-F238E27FC236}">
                    <a16:creationId xmlns:a16="http://schemas.microsoft.com/office/drawing/2014/main" id="{0C1F8851-A509-9226-0BDE-FFF5DD46EEB0}"/>
                  </a:ext>
                </a:extLst>
              </p:cNvPr>
              <p:cNvSpPr>
                <a:spLocks noChangeArrowheads="1"/>
              </p:cNvSpPr>
              <p:nvPr/>
            </p:nvSpPr>
            <p:spPr bwMode="auto">
              <a:xfrm>
                <a:off x="3594" y="1709"/>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2" name="Line 570">
                <a:extLst>
                  <a:ext uri="{FF2B5EF4-FFF2-40B4-BE49-F238E27FC236}">
                    <a16:creationId xmlns:a16="http://schemas.microsoft.com/office/drawing/2014/main" id="{809FC0CD-713D-3B4F-E265-056556888053}"/>
                  </a:ext>
                </a:extLst>
              </p:cNvPr>
              <p:cNvSpPr>
                <a:spLocks noChangeShapeType="1"/>
              </p:cNvSpPr>
              <p:nvPr/>
            </p:nvSpPr>
            <p:spPr bwMode="auto">
              <a:xfrm>
                <a:off x="3594" y="1709"/>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3" name="Rectangle 571">
                <a:extLst>
                  <a:ext uri="{FF2B5EF4-FFF2-40B4-BE49-F238E27FC236}">
                    <a16:creationId xmlns:a16="http://schemas.microsoft.com/office/drawing/2014/main" id="{D539E5CE-EBA0-802D-2C67-8FFD9072074A}"/>
                  </a:ext>
                </a:extLst>
              </p:cNvPr>
              <p:cNvSpPr>
                <a:spLocks noChangeArrowheads="1"/>
              </p:cNvSpPr>
              <p:nvPr/>
            </p:nvSpPr>
            <p:spPr bwMode="auto">
              <a:xfrm>
                <a:off x="4262" y="1709"/>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4" name="Line 572">
                <a:extLst>
                  <a:ext uri="{FF2B5EF4-FFF2-40B4-BE49-F238E27FC236}">
                    <a16:creationId xmlns:a16="http://schemas.microsoft.com/office/drawing/2014/main" id="{C0A84BF8-6F6A-49A5-6C41-43C871390507}"/>
                  </a:ext>
                </a:extLst>
              </p:cNvPr>
              <p:cNvSpPr>
                <a:spLocks noChangeShapeType="1"/>
              </p:cNvSpPr>
              <p:nvPr/>
            </p:nvSpPr>
            <p:spPr bwMode="auto">
              <a:xfrm>
                <a:off x="4262" y="1709"/>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5" name="Line 573">
                <a:extLst>
                  <a:ext uri="{FF2B5EF4-FFF2-40B4-BE49-F238E27FC236}">
                    <a16:creationId xmlns:a16="http://schemas.microsoft.com/office/drawing/2014/main" id="{3B83145F-026A-EB6C-4316-30232FAA8E81}"/>
                  </a:ext>
                </a:extLst>
              </p:cNvPr>
              <p:cNvSpPr>
                <a:spLocks noChangeShapeType="1"/>
              </p:cNvSpPr>
              <p:nvPr/>
            </p:nvSpPr>
            <p:spPr bwMode="auto">
              <a:xfrm>
                <a:off x="4262"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6" name="Rectangle 574">
                <a:extLst>
                  <a:ext uri="{FF2B5EF4-FFF2-40B4-BE49-F238E27FC236}">
                    <a16:creationId xmlns:a16="http://schemas.microsoft.com/office/drawing/2014/main" id="{DC1051A8-D717-EFFD-63E4-49529875705A}"/>
                  </a:ext>
                </a:extLst>
              </p:cNvPr>
              <p:cNvSpPr>
                <a:spLocks noChangeArrowheads="1"/>
              </p:cNvSpPr>
              <p:nvPr/>
            </p:nvSpPr>
            <p:spPr bwMode="auto">
              <a:xfrm>
                <a:off x="4266" y="1709"/>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7" name="Line 575">
                <a:extLst>
                  <a:ext uri="{FF2B5EF4-FFF2-40B4-BE49-F238E27FC236}">
                    <a16:creationId xmlns:a16="http://schemas.microsoft.com/office/drawing/2014/main" id="{B183AC93-AC02-517C-6DB6-C2C6C0AF0A3F}"/>
                  </a:ext>
                </a:extLst>
              </p:cNvPr>
              <p:cNvSpPr>
                <a:spLocks noChangeShapeType="1"/>
              </p:cNvSpPr>
              <p:nvPr/>
            </p:nvSpPr>
            <p:spPr bwMode="auto">
              <a:xfrm>
                <a:off x="4266" y="1709"/>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698" name="Rectangle 576">
                <a:extLst>
                  <a:ext uri="{FF2B5EF4-FFF2-40B4-BE49-F238E27FC236}">
                    <a16:creationId xmlns:a16="http://schemas.microsoft.com/office/drawing/2014/main" id="{055CFCF5-8A0F-A92E-5BB8-C82A1E53644A}"/>
                  </a:ext>
                </a:extLst>
              </p:cNvPr>
              <p:cNvSpPr>
                <a:spLocks noChangeArrowheads="1"/>
              </p:cNvSpPr>
              <p:nvPr/>
            </p:nvSpPr>
            <p:spPr bwMode="auto">
              <a:xfrm>
                <a:off x="5083" y="170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699" name="Line 577">
                <a:extLst>
                  <a:ext uri="{FF2B5EF4-FFF2-40B4-BE49-F238E27FC236}">
                    <a16:creationId xmlns:a16="http://schemas.microsoft.com/office/drawing/2014/main" id="{11A2E607-628E-9381-EA79-A9A5D51ADB30}"/>
                  </a:ext>
                </a:extLst>
              </p:cNvPr>
              <p:cNvSpPr>
                <a:spLocks noChangeShapeType="1"/>
              </p:cNvSpPr>
              <p:nvPr/>
            </p:nvSpPr>
            <p:spPr bwMode="auto">
              <a:xfrm>
                <a:off x="5083" y="170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0" name="Line 578">
                <a:extLst>
                  <a:ext uri="{FF2B5EF4-FFF2-40B4-BE49-F238E27FC236}">
                    <a16:creationId xmlns:a16="http://schemas.microsoft.com/office/drawing/2014/main" id="{C1EF07E4-6F80-C9A0-0DD8-76A0BCE78660}"/>
                  </a:ext>
                </a:extLst>
              </p:cNvPr>
              <p:cNvSpPr>
                <a:spLocks noChangeShapeType="1"/>
              </p:cNvSpPr>
              <p:nvPr/>
            </p:nvSpPr>
            <p:spPr bwMode="auto">
              <a:xfrm>
                <a:off x="5083" y="170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1" name="Rectangle 579">
                <a:extLst>
                  <a:ext uri="{FF2B5EF4-FFF2-40B4-BE49-F238E27FC236}">
                    <a16:creationId xmlns:a16="http://schemas.microsoft.com/office/drawing/2014/main" id="{01D8073C-A037-33B7-C4BE-958C2CA9BC6E}"/>
                  </a:ext>
                </a:extLst>
              </p:cNvPr>
              <p:cNvSpPr>
                <a:spLocks noChangeArrowheads="1"/>
              </p:cNvSpPr>
              <p:nvPr/>
            </p:nvSpPr>
            <p:spPr bwMode="auto">
              <a:xfrm>
                <a:off x="295"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02" name="Line 580">
                <a:extLst>
                  <a:ext uri="{FF2B5EF4-FFF2-40B4-BE49-F238E27FC236}">
                    <a16:creationId xmlns:a16="http://schemas.microsoft.com/office/drawing/2014/main" id="{54CC7139-DA1C-224D-6420-FEF2553ACECB}"/>
                  </a:ext>
                </a:extLst>
              </p:cNvPr>
              <p:cNvSpPr>
                <a:spLocks noChangeShapeType="1"/>
              </p:cNvSpPr>
              <p:nvPr/>
            </p:nvSpPr>
            <p:spPr bwMode="auto">
              <a:xfrm>
                <a:off x="295"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3" name="Rectangle 581">
                <a:extLst>
                  <a:ext uri="{FF2B5EF4-FFF2-40B4-BE49-F238E27FC236}">
                    <a16:creationId xmlns:a16="http://schemas.microsoft.com/office/drawing/2014/main" id="{DA38DFD7-AAF6-9222-0B22-1D5B5253A618}"/>
                  </a:ext>
                </a:extLst>
              </p:cNvPr>
              <p:cNvSpPr>
                <a:spLocks noChangeArrowheads="1"/>
              </p:cNvSpPr>
              <p:nvPr/>
            </p:nvSpPr>
            <p:spPr bwMode="auto">
              <a:xfrm>
                <a:off x="295"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04" name="Line 582">
                <a:extLst>
                  <a:ext uri="{FF2B5EF4-FFF2-40B4-BE49-F238E27FC236}">
                    <a16:creationId xmlns:a16="http://schemas.microsoft.com/office/drawing/2014/main" id="{C1952A67-8B24-DB94-CA18-BF9381E58C29}"/>
                  </a:ext>
                </a:extLst>
              </p:cNvPr>
              <p:cNvSpPr>
                <a:spLocks noChangeShapeType="1"/>
              </p:cNvSpPr>
              <p:nvPr/>
            </p:nvSpPr>
            <p:spPr bwMode="auto">
              <a:xfrm>
                <a:off x="295"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5" name="Line 583">
                <a:extLst>
                  <a:ext uri="{FF2B5EF4-FFF2-40B4-BE49-F238E27FC236}">
                    <a16:creationId xmlns:a16="http://schemas.microsoft.com/office/drawing/2014/main" id="{B1EFA70F-7A5C-8E38-EDD1-7FF27E3B9413}"/>
                  </a:ext>
                </a:extLst>
              </p:cNvPr>
              <p:cNvSpPr>
                <a:spLocks noChangeShapeType="1"/>
              </p:cNvSpPr>
              <p:nvPr/>
            </p:nvSpPr>
            <p:spPr bwMode="auto">
              <a:xfrm>
                <a:off x="295"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6" name="Rectangle 584">
                <a:extLst>
                  <a:ext uri="{FF2B5EF4-FFF2-40B4-BE49-F238E27FC236}">
                    <a16:creationId xmlns:a16="http://schemas.microsoft.com/office/drawing/2014/main" id="{D5DA91F2-74E3-09A1-C774-A3B046FCCEBA}"/>
                  </a:ext>
                </a:extLst>
              </p:cNvPr>
              <p:cNvSpPr>
                <a:spLocks noChangeArrowheads="1"/>
              </p:cNvSpPr>
              <p:nvPr/>
            </p:nvSpPr>
            <p:spPr bwMode="auto">
              <a:xfrm>
                <a:off x="295"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07" name="Line 585">
                <a:extLst>
                  <a:ext uri="{FF2B5EF4-FFF2-40B4-BE49-F238E27FC236}">
                    <a16:creationId xmlns:a16="http://schemas.microsoft.com/office/drawing/2014/main" id="{70F09047-0268-232A-D398-428D0BD8BA9E}"/>
                  </a:ext>
                </a:extLst>
              </p:cNvPr>
              <p:cNvSpPr>
                <a:spLocks noChangeShapeType="1"/>
              </p:cNvSpPr>
              <p:nvPr/>
            </p:nvSpPr>
            <p:spPr bwMode="auto">
              <a:xfrm>
                <a:off x="295"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8" name="Line 586">
                <a:extLst>
                  <a:ext uri="{FF2B5EF4-FFF2-40B4-BE49-F238E27FC236}">
                    <a16:creationId xmlns:a16="http://schemas.microsoft.com/office/drawing/2014/main" id="{9D27E9EE-0268-6096-9735-FCF6FF38A2D8}"/>
                  </a:ext>
                </a:extLst>
              </p:cNvPr>
              <p:cNvSpPr>
                <a:spLocks noChangeShapeType="1"/>
              </p:cNvSpPr>
              <p:nvPr/>
            </p:nvSpPr>
            <p:spPr bwMode="auto">
              <a:xfrm>
                <a:off x="295"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09" name="Rectangle 587">
                <a:extLst>
                  <a:ext uri="{FF2B5EF4-FFF2-40B4-BE49-F238E27FC236}">
                    <a16:creationId xmlns:a16="http://schemas.microsoft.com/office/drawing/2014/main" id="{6C3FD10B-2C5D-F8C8-F5A3-A2766786D135}"/>
                  </a:ext>
                </a:extLst>
              </p:cNvPr>
              <p:cNvSpPr>
                <a:spLocks noChangeArrowheads="1"/>
              </p:cNvSpPr>
              <p:nvPr/>
            </p:nvSpPr>
            <p:spPr bwMode="auto">
              <a:xfrm>
                <a:off x="300" y="1847"/>
                <a:ext cx="65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0" name="Line 588">
                <a:extLst>
                  <a:ext uri="{FF2B5EF4-FFF2-40B4-BE49-F238E27FC236}">
                    <a16:creationId xmlns:a16="http://schemas.microsoft.com/office/drawing/2014/main" id="{8941EC43-5484-8CE6-5F5F-999C928CB42B}"/>
                  </a:ext>
                </a:extLst>
              </p:cNvPr>
              <p:cNvSpPr>
                <a:spLocks noChangeShapeType="1"/>
              </p:cNvSpPr>
              <p:nvPr/>
            </p:nvSpPr>
            <p:spPr bwMode="auto">
              <a:xfrm>
                <a:off x="300" y="1847"/>
                <a:ext cx="65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1" name="Rectangle 589">
                <a:extLst>
                  <a:ext uri="{FF2B5EF4-FFF2-40B4-BE49-F238E27FC236}">
                    <a16:creationId xmlns:a16="http://schemas.microsoft.com/office/drawing/2014/main" id="{720E4ECF-5E66-1467-414B-A08CA3165D8A}"/>
                  </a:ext>
                </a:extLst>
              </p:cNvPr>
              <p:cNvSpPr>
                <a:spLocks noChangeArrowheads="1"/>
              </p:cNvSpPr>
              <p:nvPr/>
            </p:nvSpPr>
            <p:spPr bwMode="auto">
              <a:xfrm>
                <a:off x="956"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2" name="Line 590">
                <a:extLst>
                  <a:ext uri="{FF2B5EF4-FFF2-40B4-BE49-F238E27FC236}">
                    <a16:creationId xmlns:a16="http://schemas.microsoft.com/office/drawing/2014/main" id="{5D2F0B80-9510-96B4-0371-D222B89FCC07}"/>
                  </a:ext>
                </a:extLst>
              </p:cNvPr>
              <p:cNvSpPr>
                <a:spLocks noChangeShapeType="1"/>
              </p:cNvSpPr>
              <p:nvPr/>
            </p:nvSpPr>
            <p:spPr bwMode="auto">
              <a:xfrm>
                <a:off x="956"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3" name="Rectangle 591">
                <a:extLst>
                  <a:ext uri="{FF2B5EF4-FFF2-40B4-BE49-F238E27FC236}">
                    <a16:creationId xmlns:a16="http://schemas.microsoft.com/office/drawing/2014/main" id="{C099FDD3-B9AC-2111-D5D6-3D5D54E83732}"/>
                  </a:ext>
                </a:extLst>
              </p:cNvPr>
              <p:cNvSpPr>
                <a:spLocks noChangeArrowheads="1"/>
              </p:cNvSpPr>
              <p:nvPr/>
            </p:nvSpPr>
            <p:spPr bwMode="auto">
              <a:xfrm>
                <a:off x="956"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4" name="Line 592">
                <a:extLst>
                  <a:ext uri="{FF2B5EF4-FFF2-40B4-BE49-F238E27FC236}">
                    <a16:creationId xmlns:a16="http://schemas.microsoft.com/office/drawing/2014/main" id="{4452F5FA-D416-FEFC-9346-1743A87D685C}"/>
                  </a:ext>
                </a:extLst>
              </p:cNvPr>
              <p:cNvSpPr>
                <a:spLocks noChangeShapeType="1"/>
              </p:cNvSpPr>
              <p:nvPr/>
            </p:nvSpPr>
            <p:spPr bwMode="auto">
              <a:xfrm>
                <a:off x="956"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5" name="Line 593">
                <a:extLst>
                  <a:ext uri="{FF2B5EF4-FFF2-40B4-BE49-F238E27FC236}">
                    <a16:creationId xmlns:a16="http://schemas.microsoft.com/office/drawing/2014/main" id="{EACEBC36-99EE-125D-C856-C97C67CBCCEF}"/>
                  </a:ext>
                </a:extLst>
              </p:cNvPr>
              <p:cNvSpPr>
                <a:spLocks noChangeShapeType="1"/>
              </p:cNvSpPr>
              <p:nvPr/>
            </p:nvSpPr>
            <p:spPr bwMode="auto">
              <a:xfrm>
                <a:off x="956"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6" name="Rectangle 594">
                <a:extLst>
                  <a:ext uri="{FF2B5EF4-FFF2-40B4-BE49-F238E27FC236}">
                    <a16:creationId xmlns:a16="http://schemas.microsoft.com/office/drawing/2014/main" id="{4F1A3F07-EABF-0B10-DF4A-6D0E6AE9E49D}"/>
                  </a:ext>
                </a:extLst>
              </p:cNvPr>
              <p:cNvSpPr>
                <a:spLocks noChangeArrowheads="1"/>
              </p:cNvSpPr>
              <p:nvPr/>
            </p:nvSpPr>
            <p:spPr bwMode="auto">
              <a:xfrm>
                <a:off x="961" y="1847"/>
                <a:ext cx="6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7" name="Line 595">
                <a:extLst>
                  <a:ext uri="{FF2B5EF4-FFF2-40B4-BE49-F238E27FC236}">
                    <a16:creationId xmlns:a16="http://schemas.microsoft.com/office/drawing/2014/main" id="{0F33F8BA-7500-790D-E844-0E7B67EF4272}"/>
                  </a:ext>
                </a:extLst>
              </p:cNvPr>
              <p:cNvSpPr>
                <a:spLocks noChangeShapeType="1"/>
              </p:cNvSpPr>
              <p:nvPr/>
            </p:nvSpPr>
            <p:spPr bwMode="auto">
              <a:xfrm>
                <a:off x="961" y="1847"/>
                <a:ext cx="6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18" name="Rectangle 596">
                <a:extLst>
                  <a:ext uri="{FF2B5EF4-FFF2-40B4-BE49-F238E27FC236}">
                    <a16:creationId xmlns:a16="http://schemas.microsoft.com/office/drawing/2014/main" id="{EB38FDE6-4928-708A-8839-75E18E85AF10}"/>
                  </a:ext>
                </a:extLst>
              </p:cNvPr>
              <p:cNvSpPr>
                <a:spLocks noChangeArrowheads="1"/>
              </p:cNvSpPr>
              <p:nvPr/>
            </p:nvSpPr>
            <p:spPr bwMode="auto">
              <a:xfrm>
                <a:off x="1633" y="1714"/>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19" name="Line 597">
                <a:extLst>
                  <a:ext uri="{FF2B5EF4-FFF2-40B4-BE49-F238E27FC236}">
                    <a16:creationId xmlns:a16="http://schemas.microsoft.com/office/drawing/2014/main" id="{24E73DA6-9130-A331-677E-83C0C9B0FAD8}"/>
                  </a:ext>
                </a:extLst>
              </p:cNvPr>
              <p:cNvSpPr>
                <a:spLocks noChangeShapeType="1"/>
              </p:cNvSpPr>
              <p:nvPr/>
            </p:nvSpPr>
            <p:spPr bwMode="auto">
              <a:xfrm>
                <a:off x="1633"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0" name="Rectangle 598">
                <a:extLst>
                  <a:ext uri="{FF2B5EF4-FFF2-40B4-BE49-F238E27FC236}">
                    <a16:creationId xmlns:a16="http://schemas.microsoft.com/office/drawing/2014/main" id="{3A2B142D-7399-5536-7B15-474A25A6DEC0}"/>
                  </a:ext>
                </a:extLst>
              </p:cNvPr>
              <p:cNvSpPr>
                <a:spLocks noChangeArrowheads="1"/>
              </p:cNvSpPr>
              <p:nvPr/>
            </p:nvSpPr>
            <p:spPr bwMode="auto">
              <a:xfrm>
                <a:off x="1633" y="1847"/>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1" name="Line 599">
                <a:extLst>
                  <a:ext uri="{FF2B5EF4-FFF2-40B4-BE49-F238E27FC236}">
                    <a16:creationId xmlns:a16="http://schemas.microsoft.com/office/drawing/2014/main" id="{099B26F0-D5E4-497E-DB1A-AE57D884E4A5}"/>
                  </a:ext>
                </a:extLst>
              </p:cNvPr>
              <p:cNvSpPr>
                <a:spLocks noChangeShapeType="1"/>
              </p:cNvSpPr>
              <p:nvPr/>
            </p:nvSpPr>
            <p:spPr bwMode="auto">
              <a:xfrm>
                <a:off x="1633" y="1847"/>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2" name="Line 600">
                <a:extLst>
                  <a:ext uri="{FF2B5EF4-FFF2-40B4-BE49-F238E27FC236}">
                    <a16:creationId xmlns:a16="http://schemas.microsoft.com/office/drawing/2014/main" id="{D455E933-35D8-38D3-3EF4-12FC751BA1CB}"/>
                  </a:ext>
                </a:extLst>
              </p:cNvPr>
              <p:cNvSpPr>
                <a:spLocks noChangeShapeType="1"/>
              </p:cNvSpPr>
              <p:nvPr/>
            </p:nvSpPr>
            <p:spPr bwMode="auto">
              <a:xfrm>
                <a:off x="1633"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3" name="Rectangle 601">
                <a:extLst>
                  <a:ext uri="{FF2B5EF4-FFF2-40B4-BE49-F238E27FC236}">
                    <a16:creationId xmlns:a16="http://schemas.microsoft.com/office/drawing/2014/main" id="{3712375E-37AE-EA55-9D8C-B0745BF811A0}"/>
                  </a:ext>
                </a:extLst>
              </p:cNvPr>
              <p:cNvSpPr>
                <a:spLocks noChangeArrowheads="1"/>
              </p:cNvSpPr>
              <p:nvPr/>
            </p:nvSpPr>
            <p:spPr bwMode="auto">
              <a:xfrm>
                <a:off x="1637" y="1847"/>
                <a:ext cx="739"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4" name="Line 602">
                <a:extLst>
                  <a:ext uri="{FF2B5EF4-FFF2-40B4-BE49-F238E27FC236}">
                    <a16:creationId xmlns:a16="http://schemas.microsoft.com/office/drawing/2014/main" id="{5692C8FA-4537-B3A2-B81D-6436C1C5B53E}"/>
                  </a:ext>
                </a:extLst>
              </p:cNvPr>
              <p:cNvSpPr>
                <a:spLocks noChangeShapeType="1"/>
              </p:cNvSpPr>
              <p:nvPr/>
            </p:nvSpPr>
            <p:spPr bwMode="auto">
              <a:xfrm>
                <a:off x="1637" y="1847"/>
                <a:ext cx="739"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5" name="Rectangle 603">
                <a:extLst>
                  <a:ext uri="{FF2B5EF4-FFF2-40B4-BE49-F238E27FC236}">
                    <a16:creationId xmlns:a16="http://schemas.microsoft.com/office/drawing/2014/main" id="{7A893063-66DE-0D6D-1C6C-13341CA02121}"/>
                  </a:ext>
                </a:extLst>
              </p:cNvPr>
              <p:cNvSpPr>
                <a:spLocks noChangeArrowheads="1"/>
              </p:cNvSpPr>
              <p:nvPr/>
            </p:nvSpPr>
            <p:spPr bwMode="auto">
              <a:xfrm>
                <a:off x="2376"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6" name="Line 604">
                <a:extLst>
                  <a:ext uri="{FF2B5EF4-FFF2-40B4-BE49-F238E27FC236}">
                    <a16:creationId xmlns:a16="http://schemas.microsoft.com/office/drawing/2014/main" id="{B3FA2A50-B9A1-3076-AEDD-E26ADD90197D}"/>
                  </a:ext>
                </a:extLst>
              </p:cNvPr>
              <p:cNvSpPr>
                <a:spLocks noChangeShapeType="1"/>
              </p:cNvSpPr>
              <p:nvPr/>
            </p:nvSpPr>
            <p:spPr bwMode="auto">
              <a:xfrm>
                <a:off x="2376"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7" name="Rectangle 605">
                <a:extLst>
                  <a:ext uri="{FF2B5EF4-FFF2-40B4-BE49-F238E27FC236}">
                    <a16:creationId xmlns:a16="http://schemas.microsoft.com/office/drawing/2014/main" id="{377895F1-1062-5638-2ABB-C8B5EE0CD312}"/>
                  </a:ext>
                </a:extLst>
              </p:cNvPr>
              <p:cNvSpPr>
                <a:spLocks noChangeArrowheads="1"/>
              </p:cNvSpPr>
              <p:nvPr/>
            </p:nvSpPr>
            <p:spPr bwMode="auto">
              <a:xfrm>
                <a:off x="2376"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728" name="Line 606">
                <a:extLst>
                  <a:ext uri="{FF2B5EF4-FFF2-40B4-BE49-F238E27FC236}">
                    <a16:creationId xmlns:a16="http://schemas.microsoft.com/office/drawing/2014/main" id="{6EFB2D2A-E3DD-B1F5-3AAB-F79E9F93D402}"/>
                  </a:ext>
                </a:extLst>
              </p:cNvPr>
              <p:cNvSpPr>
                <a:spLocks noChangeShapeType="1"/>
              </p:cNvSpPr>
              <p:nvPr/>
            </p:nvSpPr>
            <p:spPr bwMode="auto">
              <a:xfrm>
                <a:off x="2376"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29" name="Line 607">
                <a:extLst>
                  <a:ext uri="{FF2B5EF4-FFF2-40B4-BE49-F238E27FC236}">
                    <a16:creationId xmlns:a16="http://schemas.microsoft.com/office/drawing/2014/main" id="{EBDD6750-C812-07B3-A1F1-E45EDE27A350}"/>
                  </a:ext>
                </a:extLst>
              </p:cNvPr>
              <p:cNvSpPr>
                <a:spLocks noChangeShapeType="1"/>
              </p:cNvSpPr>
              <p:nvPr/>
            </p:nvSpPr>
            <p:spPr bwMode="auto">
              <a:xfrm>
                <a:off x="2376"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730" name="Rectangle 608">
                <a:extLst>
                  <a:ext uri="{FF2B5EF4-FFF2-40B4-BE49-F238E27FC236}">
                    <a16:creationId xmlns:a16="http://schemas.microsoft.com/office/drawing/2014/main" id="{D4F22395-FD27-C683-9403-6729FC20F99E}"/>
                  </a:ext>
                </a:extLst>
              </p:cNvPr>
              <p:cNvSpPr>
                <a:spLocks noChangeArrowheads="1"/>
              </p:cNvSpPr>
              <p:nvPr/>
            </p:nvSpPr>
            <p:spPr bwMode="auto">
              <a:xfrm>
                <a:off x="2381" y="1847"/>
                <a:ext cx="536"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grpSp>
        <p:grpSp>
          <p:nvGrpSpPr>
            <p:cNvPr id="55304" name="Group 810">
              <a:extLst>
                <a:ext uri="{FF2B5EF4-FFF2-40B4-BE49-F238E27FC236}">
                  <a16:creationId xmlns:a16="http://schemas.microsoft.com/office/drawing/2014/main" id="{39BE408D-9A11-BF7F-80B6-E60C96F2BA85}"/>
                </a:ext>
              </a:extLst>
            </p:cNvPr>
            <p:cNvGrpSpPr>
              <a:grpSpLocks/>
            </p:cNvGrpSpPr>
            <p:nvPr/>
          </p:nvGrpSpPr>
          <p:grpSpPr bwMode="auto">
            <a:xfrm>
              <a:off x="295" y="1714"/>
              <a:ext cx="4793" cy="2160"/>
              <a:chOff x="295" y="1714"/>
              <a:chExt cx="4793" cy="2160"/>
            </a:xfrm>
          </p:grpSpPr>
          <p:sp>
            <p:nvSpPr>
              <p:cNvPr id="55331" name="Line 610">
                <a:extLst>
                  <a:ext uri="{FF2B5EF4-FFF2-40B4-BE49-F238E27FC236}">
                    <a16:creationId xmlns:a16="http://schemas.microsoft.com/office/drawing/2014/main" id="{18165AAF-3020-8D80-8737-A2CA43433D55}"/>
                  </a:ext>
                </a:extLst>
              </p:cNvPr>
              <p:cNvSpPr>
                <a:spLocks noChangeShapeType="1"/>
              </p:cNvSpPr>
              <p:nvPr/>
            </p:nvSpPr>
            <p:spPr bwMode="auto">
              <a:xfrm>
                <a:off x="2381" y="1847"/>
                <a:ext cx="536"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2" name="Rectangle 611">
                <a:extLst>
                  <a:ext uri="{FF2B5EF4-FFF2-40B4-BE49-F238E27FC236}">
                    <a16:creationId xmlns:a16="http://schemas.microsoft.com/office/drawing/2014/main" id="{63455949-F487-069F-8F60-1F254C2BBB6C}"/>
                  </a:ext>
                </a:extLst>
              </p:cNvPr>
              <p:cNvSpPr>
                <a:spLocks noChangeArrowheads="1"/>
              </p:cNvSpPr>
              <p:nvPr/>
            </p:nvSpPr>
            <p:spPr bwMode="auto">
              <a:xfrm>
                <a:off x="2917"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33" name="Line 612">
                <a:extLst>
                  <a:ext uri="{FF2B5EF4-FFF2-40B4-BE49-F238E27FC236}">
                    <a16:creationId xmlns:a16="http://schemas.microsoft.com/office/drawing/2014/main" id="{BAA3C2D1-D46C-560E-7928-3234030010CF}"/>
                  </a:ext>
                </a:extLst>
              </p:cNvPr>
              <p:cNvSpPr>
                <a:spLocks noChangeShapeType="1"/>
              </p:cNvSpPr>
              <p:nvPr/>
            </p:nvSpPr>
            <p:spPr bwMode="auto">
              <a:xfrm>
                <a:off x="2917"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4" name="Rectangle 613">
                <a:extLst>
                  <a:ext uri="{FF2B5EF4-FFF2-40B4-BE49-F238E27FC236}">
                    <a16:creationId xmlns:a16="http://schemas.microsoft.com/office/drawing/2014/main" id="{131009E4-5110-9A1F-6641-4770128ED3A9}"/>
                  </a:ext>
                </a:extLst>
              </p:cNvPr>
              <p:cNvSpPr>
                <a:spLocks noChangeArrowheads="1"/>
              </p:cNvSpPr>
              <p:nvPr/>
            </p:nvSpPr>
            <p:spPr bwMode="auto">
              <a:xfrm>
                <a:off x="2917"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35" name="Line 614">
                <a:extLst>
                  <a:ext uri="{FF2B5EF4-FFF2-40B4-BE49-F238E27FC236}">
                    <a16:creationId xmlns:a16="http://schemas.microsoft.com/office/drawing/2014/main" id="{82E63976-B813-49DF-7BF9-7ADADAC3DF38}"/>
                  </a:ext>
                </a:extLst>
              </p:cNvPr>
              <p:cNvSpPr>
                <a:spLocks noChangeShapeType="1"/>
              </p:cNvSpPr>
              <p:nvPr/>
            </p:nvSpPr>
            <p:spPr bwMode="auto">
              <a:xfrm>
                <a:off x="2917"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6" name="Line 615">
                <a:extLst>
                  <a:ext uri="{FF2B5EF4-FFF2-40B4-BE49-F238E27FC236}">
                    <a16:creationId xmlns:a16="http://schemas.microsoft.com/office/drawing/2014/main" id="{8ABED2FE-713C-81F3-FB0E-4B8CE7ADE21E}"/>
                  </a:ext>
                </a:extLst>
              </p:cNvPr>
              <p:cNvSpPr>
                <a:spLocks noChangeShapeType="1"/>
              </p:cNvSpPr>
              <p:nvPr/>
            </p:nvSpPr>
            <p:spPr bwMode="auto">
              <a:xfrm>
                <a:off x="2917"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7" name="Rectangle 616">
                <a:extLst>
                  <a:ext uri="{FF2B5EF4-FFF2-40B4-BE49-F238E27FC236}">
                    <a16:creationId xmlns:a16="http://schemas.microsoft.com/office/drawing/2014/main" id="{B329535D-67E6-A832-45F4-D9D7C198217B}"/>
                  </a:ext>
                </a:extLst>
              </p:cNvPr>
              <p:cNvSpPr>
                <a:spLocks noChangeArrowheads="1"/>
              </p:cNvSpPr>
              <p:nvPr/>
            </p:nvSpPr>
            <p:spPr bwMode="auto">
              <a:xfrm>
                <a:off x="2922" y="1847"/>
                <a:ext cx="66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38" name="Line 617">
                <a:extLst>
                  <a:ext uri="{FF2B5EF4-FFF2-40B4-BE49-F238E27FC236}">
                    <a16:creationId xmlns:a16="http://schemas.microsoft.com/office/drawing/2014/main" id="{28057BB3-9821-01FB-1FA0-CD43AA3F7EFA}"/>
                  </a:ext>
                </a:extLst>
              </p:cNvPr>
              <p:cNvSpPr>
                <a:spLocks noChangeShapeType="1"/>
              </p:cNvSpPr>
              <p:nvPr/>
            </p:nvSpPr>
            <p:spPr bwMode="auto">
              <a:xfrm>
                <a:off x="2922" y="1847"/>
                <a:ext cx="66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9" name="Rectangle 618">
                <a:extLst>
                  <a:ext uri="{FF2B5EF4-FFF2-40B4-BE49-F238E27FC236}">
                    <a16:creationId xmlns:a16="http://schemas.microsoft.com/office/drawing/2014/main" id="{A5207536-6ABF-D828-7C6A-768FBF5C22B3}"/>
                  </a:ext>
                </a:extLst>
              </p:cNvPr>
              <p:cNvSpPr>
                <a:spLocks noChangeArrowheads="1"/>
              </p:cNvSpPr>
              <p:nvPr/>
            </p:nvSpPr>
            <p:spPr bwMode="auto">
              <a:xfrm>
                <a:off x="3589"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0" name="Line 619">
                <a:extLst>
                  <a:ext uri="{FF2B5EF4-FFF2-40B4-BE49-F238E27FC236}">
                    <a16:creationId xmlns:a16="http://schemas.microsoft.com/office/drawing/2014/main" id="{207F851E-6F62-9836-E219-1BC614852742}"/>
                  </a:ext>
                </a:extLst>
              </p:cNvPr>
              <p:cNvSpPr>
                <a:spLocks noChangeShapeType="1"/>
              </p:cNvSpPr>
              <p:nvPr/>
            </p:nvSpPr>
            <p:spPr bwMode="auto">
              <a:xfrm>
                <a:off x="3589"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1" name="Rectangle 620">
                <a:extLst>
                  <a:ext uri="{FF2B5EF4-FFF2-40B4-BE49-F238E27FC236}">
                    <a16:creationId xmlns:a16="http://schemas.microsoft.com/office/drawing/2014/main" id="{7D090883-DC09-9A40-10E0-3684B5D2FA38}"/>
                  </a:ext>
                </a:extLst>
              </p:cNvPr>
              <p:cNvSpPr>
                <a:spLocks noChangeArrowheads="1"/>
              </p:cNvSpPr>
              <p:nvPr/>
            </p:nvSpPr>
            <p:spPr bwMode="auto">
              <a:xfrm>
                <a:off x="3589"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2" name="Line 621">
                <a:extLst>
                  <a:ext uri="{FF2B5EF4-FFF2-40B4-BE49-F238E27FC236}">
                    <a16:creationId xmlns:a16="http://schemas.microsoft.com/office/drawing/2014/main" id="{39B60A41-C4D1-76D0-521B-6071D7F3CC95}"/>
                  </a:ext>
                </a:extLst>
              </p:cNvPr>
              <p:cNvSpPr>
                <a:spLocks noChangeShapeType="1"/>
              </p:cNvSpPr>
              <p:nvPr/>
            </p:nvSpPr>
            <p:spPr bwMode="auto">
              <a:xfrm>
                <a:off x="3589"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3" name="Line 622">
                <a:extLst>
                  <a:ext uri="{FF2B5EF4-FFF2-40B4-BE49-F238E27FC236}">
                    <a16:creationId xmlns:a16="http://schemas.microsoft.com/office/drawing/2014/main" id="{A8C3EE57-7FE4-68CD-1254-183779BDAA6E}"/>
                  </a:ext>
                </a:extLst>
              </p:cNvPr>
              <p:cNvSpPr>
                <a:spLocks noChangeShapeType="1"/>
              </p:cNvSpPr>
              <p:nvPr/>
            </p:nvSpPr>
            <p:spPr bwMode="auto">
              <a:xfrm>
                <a:off x="3589"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4" name="Rectangle 623">
                <a:extLst>
                  <a:ext uri="{FF2B5EF4-FFF2-40B4-BE49-F238E27FC236}">
                    <a16:creationId xmlns:a16="http://schemas.microsoft.com/office/drawing/2014/main" id="{B7ACFC75-210D-2A4A-079F-F5663E6DD101}"/>
                  </a:ext>
                </a:extLst>
              </p:cNvPr>
              <p:cNvSpPr>
                <a:spLocks noChangeArrowheads="1"/>
              </p:cNvSpPr>
              <p:nvPr/>
            </p:nvSpPr>
            <p:spPr bwMode="auto">
              <a:xfrm>
                <a:off x="3594" y="1847"/>
                <a:ext cx="6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5" name="Line 624">
                <a:extLst>
                  <a:ext uri="{FF2B5EF4-FFF2-40B4-BE49-F238E27FC236}">
                    <a16:creationId xmlns:a16="http://schemas.microsoft.com/office/drawing/2014/main" id="{4B29ED1A-2E22-01EA-ECB4-C464ED70FBB5}"/>
                  </a:ext>
                </a:extLst>
              </p:cNvPr>
              <p:cNvSpPr>
                <a:spLocks noChangeShapeType="1"/>
              </p:cNvSpPr>
              <p:nvPr/>
            </p:nvSpPr>
            <p:spPr bwMode="auto">
              <a:xfrm>
                <a:off x="3594" y="1847"/>
                <a:ext cx="66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6" name="Rectangle 625">
                <a:extLst>
                  <a:ext uri="{FF2B5EF4-FFF2-40B4-BE49-F238E27FC236}">
                    <a16:creationId xmlns:a16="http://schemas.microsoft.com/office/drawing/2014/main" id="{FDDBDB9B-AFC1-2FB9-17D1-3B8E0635C075}"/>
                  </a:ext>
                </a:extLst>
              </p:cNvPr>
              <p:cNvSpPr>
                <a:spLocks noChangeArrowheads="1"/>
              </p:cNvSpPr>
              <p:nvPr/>
            </p:nvSpPr>
            <p:spPr bwMode="auto">
              <a:xfrm>
                <a:off x="4262" y="1714"/>
                <a:ext cx="4"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7" name="Line 626">
                <a:extLst>
                  <a:ext uri="{FF2B5EF4-FFF2-40B4-BE49-F238E27FC236}">
                    <a16:creationId xmlns:a16="http://schemas.microsoft.com/office/drawing/2014/main" id="{C945DF2B-5DC4-54DE-F87F-A82E73B508FD}"/>
                  </a:ext>
                </a:extLst>
              </p:cNvPr>
              <p:cNvSpPr>
                <a:spLocks noChangeShapeType="1"/>
              </p:cNvSpPr>
              <p:nvPr/>
            </p:nvSpPr>
            <p:spPr bwMode="auto">
              <a:xfrm>
                <a:off x="4262"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48" name="Rectangle 627">
                <a:extLst>
                  <a:ext uri="{FF2B5EF4-FFF2-40B4-BE49-F238E27FC236}">
                    <a16:creationId xmlns:a16="http://schemas.microsoft.com/office/drawing/2014/main" id="{F223E272-79D0-402A-F458-D086BFB64A4C}"/>
                  </a:ext>
                </a:extLst>
              </p:cNvPr>
              <p:cNvSpPr>
                <a:spLocks noChangeArrowheads="1"/>
              </p:cNvSpPr>
              <p:nvPr/>
            </p:nvSpPr>
            <p:spPr bwMode="auto">
              <a:xfrm>
                <a:off x="4262" y="1847"/>
                <a:ext cx="4"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49" name="Line 628">
                <a:extLst>
                  <a:ext uri="{FF2B5EF4-FFF2-40B4-BE49-F238E27FC236}">
                    <a16:creationId xmlns:a16="http://schemas.microsoft.com/office/drawing/2014/main" id="{C51824D5-0FFB-FC63-60DE-61ECB10CCD52}"/>
                  </a:ext>
                </a:extLst>
              </p:cNvPr>
              <p:cNvSpPr>
                <a:spLocks noChangeShapeType="1"/>
              </p:cNvSpPr>
              <p:nvPr/>
            </p:nvSpPr>
            <p:spPr bwMode="auto">
              <a:xfrm>
                <a:off x="4262" y="1847"/>
                <a:ext cx="4"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0" name="Line 629">
                <a:extLst>
                  <a:ext uri="{FF2B5EF4-FFF2-40B4-BE49-F238E27FC236}">
                    <a16:creationId xmlns:a16="http://schemas.microsoft.com/office/drawing/2014/main" id="{A7B68BCE-7504-CC2B-9934-72D8B38E27DE}"/>
                  </a:ext>
                </a:extLst>
              </p:cNvPr>
              <p:cNvSpPr>
                <a:spLocks noChangeShapeType="1"/>
              </p:cNvSpPr>
              <p:nvPr/>
            </p:nvSpPr>
            <p:spPr bwMode="auto">
              <a:xfrm>
                <a:off x="4262"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1" name="Rectangle 630">
                <a:extLst>
                  <a:ext uri="{FF2B5EF4-FFF2-40B4-BE49-F238E27FC236}">
                    <a16:creationId xmlns:a16="http://schemas.microsoft.com/office/drawing/2014/main" id="{C8839E9C-87D8-F76B-BEFE-B7614A8696BA}"/>
                  </a:ext>
                </a:extLst>
              </p:cNvPr>
              <p:cNvSpPr>
                <a:spLocks noChangeArrowheads="1"/>
              </p:cNvSpPr>
              <p:nvPr/>
            </p:nvSpPr>
            <p:spPr bwMode="auto">
              <a:xfrm>
                <a:off x="4266" y="1847"/>
                <a:ext cx="81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2" name="Line 631">
                <a:extLst>
                  <a:ext uri="{FF2B5EF4-FFF2-40B4-BE49-F238E27FC236}">
                    <a16:creationId xmlns:a16="http://schemas.microsoft.com/office/drawing/2014/main" id="{EC6379FB-82F7-E780-61A6-3D39FA072457}"/>
                  </a:ext>
                </a:extLst>
              </p:cNvPr>
              <p:cNvSpPr>
                <a:spLocks noChangeShapeType="1"/>
              </p:cNvSpPr>
              <p:nvPr/>
            </p:nvSpPr>
            <p:spPr bwMode="auto">
              <a:xfrm>
                <a:off x="4266" y="1847"/>
                <a:ext cx="81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3" name="Rectangle 632">
                <a:extLst>
                  <a:ext uri="{FF2B5EF4-FFF2-40B4-BE49-F238E27FC236}">
                    <a16:creationId xmlns:a16="http://schemas.microsoft.com/office/drawing/2014/main" id="{0C1215B8-EE43-F2FE-2253-09FB14257387}"/>
                  </a:ext>
                </a:extLst>
              </p:cNvPr>
              <p:cNvSpPr>
                <a:spLocks noChangeArrowheads="1"/>
              </p:cNvSpPr>
              <p:nvPr/>
            </p:nvSpPr>
            <p:spPr bwMode="auto">
              <a:xfrm>
                <a:off x="5083" y="171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4" name="Line 633">
                <a:extLst>
                  <a:ext uri="{FF2B5EF4-FFF2-40B4-BE49-F238E27FC236}">
                    <a16:creationId xmlns:a16="http://schemas.microsoft.com/office/drawing/2014/main" id="{BF0DCFE8-DB0B-6C78-9414-51974BC996BC}"/>
                  </a:ext>
                </a:extLst>
              </p:cNvPr>
              <p:cNvSpPr>
                <a:spLocks noChangeShapeType="1"/>
              </p:cNvSpPr>
              <p:nvPr/>
            </p:nvSpPr>
            <p:spPr bwMode="auto">
              <a:xfrm>
                <a:off x="5083" y="171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5" name="Rectangle 634">
                <a:extLst>
                  <a:ext uri="{FF2B5EF4-FFF2-40B4-BE49-F238E27FC236}">
                    <a16:creationId xmlns:a16="http://schemas.microsoft.com/office/drawing/2014/main" id="{D1545228-09E5-ABCC-8AB0-4615928145DB}"/>
                  </a:ext>
                </a:extLst>
              </p:cNvPr>
              <p:cNvSpPr>
                <a:spLocks noChangeArrowheads="1"/>
              </p:cNvSpPr>
              <p:nvPr/>
            </p:nvSpPr>
            <p:spPr bwMode="auto">
              <a:xfrm>
                <a:off x="5083"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6" name="Line 635">
                <a:extLst>
                  <a:ext uri="{FF2B5EF4-FFF2-40B4-BE49-F238E27FC236}">
                    <a16:creationId xmlns:a16="http://schemas.microsoft.com/office/drawing/2014/main" id="{3C5CF68E-1574-62F9-5F4B-0CFBB86E021F}"/>
                  </a:ext>
                </a:extLst>
              </p:cNvPr>
              <p:cNvSpPr>
                <a:spLocks noChangeShapeType="1"/>
              </p:cNvSpPr>
              <p:nvPr/>
            </p:nvSpPr>
            <p:spPr bwMode="auto">
              <a:xfrm>
                <a:off x="5083"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7" name="Line 636">
                <a:extLst>
                  <a:ext uri="{FF2B5EF4-FFF2-40B4-BE49-F238E27FC236}">
                    <a16:creationId xmlns:a16="http://schemas.microsoft.com/office/drawing/2014/main" id="{704FD165-7A5B-A695-DF06-AEBFDA8AB8B6}"/>
                  </a:ext>
                </a:extLst>
              </p:cNvPr>
              <p:cNvSpPr>
                <a:spLocks noChangeShapeType="1"/>
              </p:cNvSpPr>
              <p:nvPr/>
            </p:nvSpPr>
            <p:spPr bwMode="auto">
              <a:xfrm>
                <a:off x="5083"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58" name="Rectangle 637">
                <a:extLst>
                  <a:ext uri="{FF2B5EF4-FFF2-40B4-BE49-F238E27FC236}">
                    <a16:creationId xmlns:a16="http://schemas.microsoft.com/office/drawing/2014/main" id="{F3DA3B4D-EDA5-38E5-5C57-7A17C31D196B}"/>
                  </a:ext>
                </a:extLst>
              </p:cNvPr>
              <p:cNvSpPr>
                <a:spLocks noChangeArrowheads="1"/>
              </p:cNvSpPr>
              <p:nvPr/>
            </p:nvSpPr>
            <p:spPr bwMode="auto">
              <a:xfrm>
                <a:off x="5083" y="1847"/>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59" name="Line 638">
                <a:extLst>
                  <a:ext uri="{FF2B5EF4-FFF2-40B4-BE49-F238E27FC236}">
                    <a16:creationId xmlns:a16="http://schemas.microsoft.com/office/drawing/2014/main" id="{A97BC2BF-8B59-9222-703D-B31EB98BD2AB}"/>
                  </a:ext>
                </a:extLst>
              </p:cNvPr>
              <p:cNvSpPr>
                <a:spLocks noChangeShapeType="1"/>
              </p:cNvSpPr>
              <p:nvPr/>
            </p:nvSpPr>
            <p:spPr bwMode="auto">
              <a:xfrm>
                <a:off x="5083" y="184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0" name="Line 639">
                <a:extLst>
                  <a:ext uri="{FF2B5EF4-FFF2-40B4-BE49-F238E27FC236}">
                    <a16:creationId xmlns:a16="http://schemas.microsoft.com/office/drawing/2014/main" id="{763E9A0D-4150-5C1D-2615-FA5E709D8278}"/>
                  </a:ext>
                </a:extLst>
              </p:cNvPr>
              <p:cNvSpPr>
                <a:spLocks noChangeShapeType="1"/>
              </p:cNvSpPr>
              <p:nvPr/>
            </p:nvSpPr>
            <p:spPr bwMode="auto">
              <a:xfrm>
                <a:off x="5083" y="1847"/>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61" name="Rectangle 640">
                <a:extLst>
                  <a:ext uri="{FF2B5EF4-FFF2-40B4-BE49-F238E27FC236}">
                    <a16:creationId xmlns:a16="http://schemas.microsoft.com/office/drawing/2014/main" id="{285B6A29-E44B-F664-5B1A-40B1A45EB247}"/>
                  </a:ext>
                </a:extLst>
              </p:cNvPr>
              <p:cNvSpPr>
                <a:spLocks noChangeArrowheads="1"/>
              </p:cNvSpPr>
              <p:nvPr/>
            </p:nvSpPr>
            <p:spPr bwMode="auto">
              <a:xfrm>
                <a:off x="349" y="184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362" name="Rectangle 641">
                <a:extLst>
                  <a:ext uri="{FF2B5EF4-FFF2-40B4-BE49-F238E27FC236}">
                    <a16:creationId xmlns:a16="http://schemas.microsoft.com/office/drawing/2014/main" id="{19B9DE18-EAB5-CE8A-756C-54276DEF66AB}"/>
                  </a:ext>
                </a:extLst>
              </p:cNvPr>
              <p:cNvSpPr>
                <a:spLocks noChangeArrowheads="1"/>
              </p:cNvSpPr>
              <p:nvPr/>
            </p:nvSpPr>
            <p:spPr bwMode="auto">
              <a:xfrm>
                <a:off x="349" y="1974"/>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363" name="Rectangle 642">
                <a:extLst>
                  <a:ext uri="{FF2B5EF4-FFF2-40B4-BE49-F238E27FC236}">
                    <a16:creationId xmlns:a16="http://schemas.microsoft.com/office/drawing/2014/main" id="{A99DED5B-C00B-1CF7-65A1-5FDD94229803}"/>
                  </a:ext>
                </a:extLst>
              </p:cNvPr>
              <p:cNvSpPr>
                <a:spLocks noChangeArrowheads="1"/>
              </p:cNvSpPr>
              <p:nvPr/>
            </p:nvSpPr>
            <p:spPr bwMode="auto">
              <a:xfrm>
                <a:off x="300"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4" name="Rectangle 643">
                <a:extLst>
                  <a:ext uri="{FF2B5EF4-FFF2-40B4-BE49-F238E27FC236}">
                    <a16:creationId xmlns:a16="http://schemas.microsoft.com/office/drawing/2014/main" id="{D3D8AA09-2FD1-9124-3CFF-A6A7F223BEAD}"/>
                  </a:ext>
                </a:extLst>
              </p:cNvPr>
              <p:cNvSpPr>
                <a:spLocks noChangeArrowheads="1"/>
              </p:cNvSpPr>
              <p:nvPr/>
            </p:nvSpPr>
            <p:spPr bwMode="auto">
              <a:xfrm>
                <a:off x="1042"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5" name="Rectangle 644">
                <a:extLst>
                  <a:ext uri="{FF2B5EF4-FFF2-40B4-BE49-F238E27FC236}">
                    <a16:creationId xmlns:a16="http://schemas.microsoft.com/office/drawing/2014/main" id="{F4B3131B-5DD6-AFD2-9D5A-1644C4315751}"/>
                  </a:ext>
                </a:extLst>
              </p:cNvPr>
              <p:cNvSpPr>
                <a:spLocks noChangeArrowheads="1"/>
              </p:cNvSpPr>
              <p:nvPr/>
            </p:nvSpPr>
            <p:spPr bwMode="auto">
              <a:xfrm>
                <a:off x="349" y="2124"/>
                <a:ext cx="693"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6" name="Rectangle 645">
                <a:extLst>
                  <a:ext uri="{FF2B5EF4-FFF2-40B4-BE49-F238E27FC236}">
                    <a16:creationId xmlns:a16="http://schemas.microsoft.com/office/drawing/2014/main" id="{95D1203F-CD75-85B0-0746-34EEDDCC670A}"/>
                  </a:ext>
                </a:extLst>
              </p:cNvPr>
              <p:cNvSpPr>
                <a:spLocks noChangeArrowheads="1"/>
              </p:cNvSpPr>
              <p:nvPr/>
            </p:nvSpPr>
            <p:spPr bwMode="auto">
              <a:xfrm>
                <a:off x="349" y="2112"/>
                <a:ext cx="52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Risk Level</a:t>
                </a:r>
                <a:endParaRPr lang="en-US" altLang="en-US"/>
              </a:p>
            </p:txBody>
          </p:sp>
          <p:sp>
            <p:nvSpPr>
              <p:cNvPr id="55367" name="Rectangle 646">
                <a:extLst>
                  <a:ext uri="{FF2B5EF4-FFF2-40B4-BE49-F238E27FC236}">
                    <a16:creationId xmlns:a16="http://schemas.microsoft.com/office/drawing/2014/main" id="{452F78F1-8A41-9F78-256C-BAC5099A9430}"/>
                  </a:ext>
                </a:extLst>
              </p:cNvPr>
              <p:cNvSpPr>
                <a:spLocks noChangeArrowheads="1"/>
              </p:cNvSpPr>
              <p:nvPr/>
            </p:nvSpPr>
            <p:spPr bwMode="auto">
              <a:xfrm>
                <a:off x="887" y="211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368" name="Rectangle 647">
                <a:extLst>
                  <a:ext uri="{FF2B5EF4-FFF2-40B4-BE49-F238E27FC236}">
                    <a16:creationId xmlns:a16="http://schemas.microsoft.com/office/drawing/2014/main" id="{B18758D9-36D9-E878-7DC3-4D0A4EBC81F6}"/>
                  </a:ext>
                </a:extLst>
              </p:cNvPr>
              <p:cNvSpPr>
                <a:spLocks noChangeArrowheads="1"/>
              </p:cNvSpPr>
              <p:nvPr/>
            </p:nvSpPr>
            <p:spPr bwMode="auto">
              <a:xfrm>
                <a:off x="1096"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69" name="Rectangle 648">
                <a:extLst>
                  <a:ext uri="{FF2B5EF4-FFF2-40B4-BE49-F238E27FC236}">
                    <a16:creationId xmlns:a16="http://schemas.microsoft.com/office/drawing/2014/main" id="{2341B9C4-9375-B09F-78E5-F1800537DAE3}"/>
                  </a:ext>
                </a:extLst>
              </p:cNvPr>
              <p:cNvSpPr>
                <a:spLocks noChangeArrowheads="1"/>
              </p:cNvSpPr>
              <p:nvPr/>
            </p:nvSpPr>
            <p:spPr bwMode="auto">
              <a:xfrm>
                <a:off x="5034" y="2124"/>
                <a:ext cx="4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0" name="Rectangle 649">
                <a:extLst>
                  <a:ext uri="{FF2B5EF4-FFF2-40B4-BE49-F238E27FC236}">
                    <a16:creationId xmlns:a16="http://schemas.microsoft.com/office/drawing/2014/main" id="{993479EC-301E-42F5-F36B-BF5770A5BD71}"/>
                  </a:ext>
                </a:extLst>
              </p:cNvPr>
              <p:cNvSpPr>
                <a:spLocks noChangeArrowheads="1"/>
              </p:cNvSpPr>
              <p:nvPr/>
            </p:nvSpPr>
            <p:spPr bwMode="auto">
              <a:xfrm>
                <a:off x="1145" y="2124"/>
                <a:ext cx="3889" cy="133"/>
              </a:xfrm>
              <a:prstGeom prst="rect">
                <a:avLst/>
              </a:prstGeom>
              <a:solidFill>
                <a:srgbClr val="CC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1" name="Rectangle 650">
                <a:extLst>
                  <a:ext uri="{FF2B5EF4-FFF2-40B4-BE49-F238E27FC236}">
                    <a16:creationId xmlns:a16="http://schemas.microsoft.com/office/drawing/2014/main" id="{9FEE520C-5ECE-0128-D04D-3653BD61218B}"/>
                  </a:ext>
                </a:extLst>
              </p:cNvPr>
              <p:cNvSpPr>
                <a:spLocks noChangeArrowheads="1"/>
              </p:cNvSpPr>
              <p:nvPr/>
            </p:nvSpPr>
            <p:spPr bwMode="auto">
              <a:xfrm>
                <a:off x="1145" y="2112"/>
                <a:ext cx="5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Description</a:t>
                </a:r>
                <a:endParaRPr lang="en-US" altLang="en-US"/>
              </a:p>
            </p:txBody>
          </p:sp>
          <p:sp>
            <p:nvSpPr>
              <p:cNvPr id="55372" name="Rectangle 651">
                <a:extLst>
                  <a:ext uri="{FF2B5EF4-FFF2-40B4-BE49-F238E27FC236}">
                    <a16:creationId xmlns:a16="http://schemas.microsoft.com/office/drawing/2014/main" id="{740E8A60-4C61-605A-ED8D-323FB7218D02}"/>
                  </a:ext>
                </a:extLst>
              </p:cNvPr>
              <p:cNvSpPr>
                <a:spLocks noChangeArrowheads="1"/>
              </p:cNvSpPr>
              <p:nvPr/>
            </p:nvSpPr>
            <p:spPr bwMode="auto">
              <a:xfrm>
                <a:off x="1754" y="2112"/>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373" name="Rectangle 652">
                <a:extLst>
                  <a:ext uri="{FF2B5EF4-FFF2-40B4-BE49-F238E27FC236}">
                    <a16:creationId xmlns:a16="http://schemas.microsoft.com/office/drawing/2014/main" id="{14258DB6-7759-EA62-2A46-153DB0E507BC}"/>
                  </a:ext>
                </a:extLst>
              </p:cNvPr>
              <p:cNvSpPr>
                <a:spLocks noChangeArrowheads="1"/>
              </p:cNvSpPr>
              <p:nvPr/>
            </p:nvSpPr>
            <p:spPr bwMode="auto">
              <a:xfrm>
                <a:off x="295"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4" name="Line 653">
                <a:extLst>
                  <a:ext uri="{FF2B5EF4-FFF2-40B4-BE49-F238E27FC236}">
                    <a16:creationId xmlns:a16="http://schemas.microsoft.com/office/drawing/2014/main" id="{87457237-5310-ABD0-48BD-242D3C416879}"/>
                  </a:ext>
                </a:extLst>
              </p:cNvPr>
              <p:cNvSpPr>
                <a:spLocks noChangeShapeType="1"/>
              </p:cNvSpPr>
              <p:nvPr/>
            </p:nvSpPr>
            <p:spPr bwMode="auto">
              <a:xfrm>
                <a:off x="295"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5" name="Line 654">
                <a:extLst>
                  <a:ext uri="{FF2B5EF4-FFF2-40B4-BE49-F238E27FC236}">
                    <a16:creationId xmlns:a16="http://schemas.microsoft.com/office/drawing/2014/main" id="{9C0C0EE2-FA33-68BB-8571-813AD46FF7EF}"/>
                  </a:ext>
                </a:extLst>
              </p:cNvPr>
              <p:cNvSpPr>
                <a:spLocks noChangeShapeType="1"/>
              </p:cNvSpPr>
              <p:nvPr/>
            </p:nvSpPr>
            <p:spPr bwMode="auto">
              <a:xfrm>
                <a:off x="295"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6" name="Rectangle 655">
                <a:extLst>
                  <a:ext uri="{FF2B5EF4-FFF2-40B4-BE49-F238E27FC236}">
                    <a16:creationId xmlns:a16="http://schemas.microsoft.com/office/drawing/2014/main" id="{3C105FAB-6C0F-FC62-276A-424E9A2CF184}"/>
                  </a:ext>
                </a:extLst>
              </p:cNvPr>
              <p:cNvSpPr>
                <a:spLocks noChangeArrowheads="1"/>
              </p:cNvSpPr>
              <p:nvPr/>
            </p:nvSpPr>
            <p:spPr bwMode="auto">
              <a:xfrm>
                <a:off x="295"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77" name="Line 656">
                <a:extLst>
                  <a:ext uri="{FF2B5EF4-FFF2-40B4-BE49-F238E27FC236}">
                    <a16:creationId xmlns:a16="http://schemas.microsoft.com/office/drawing/2014/main" id="{1B0B4E92-E716-C5CA-C7CC-95433BA73CFF}"/>
                  </a:ext>
                </a:extLst>
              </p:cNvPr>
              <p:cNvSpPr>
                <a:spLocks noChangeShapeType="1"/>
              </p:cNvSpPr>
              <p:nvPr/>
            </p:nvSpPr>
            <p:spPr bwMode="auto">
              <a:xfrm>
                <a:off x="295"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8" name="Line 657">
                <a:extLst>
                  <a:ext uri="{FF2B5EF4-FFF2-40B4-BE49-F238E27FC236}">
                    <a16:creationId xmlns:a16="http://schemas.microsoft.com/office/drawing/2014/main" id="{DFDC171B-D728-507A-84B3-F385BD6E4830}"/>
                  </a:ext>
                </a:extLst>
              </p:cNvPr>
              <p:cNvSpPr>
                <a:spLocks noChangeShapeType="1"/>
              </p:cNvSpPr>
              <p:nvPr/>
            </p:nvSpPr>
            <p:spPr bwMode="auto">
              <a:xfrm>
                <a:off x="295"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79" name="Rectangle 658">
                <a:extLst>
                  <a:ext uri="{FF2B5EF4-FFF2-40B4-BE49-F238E27FC236}">
                    <a16:creationId xmlns:a16="http://schemas.microsoft.com/office/drawing/2014/main" id="{395FDE07-9EE3-44EF-AD43-52E4C5EF276C}"/>
                  </a:ext>
                </a:extLst>
              </p:cNvPr>
              <p:cNvSpPr>
                <a:spLocks noChangeArrowheads="1"/>
              </p:cNvSpPr>
              <p:nvPr/>
            </p:nvSpPr>
            <p:spPr bwMode="auto">
              <a:xfrm>
                <a:off x="300" y="2119"/>
                <a:ext cx="7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0" name="Line 659">
                <a:extLst>
                  <a:ext uri="{FF2B5EF4-FFF2-40B4-BE49-F238E27FC236}">
                    <a16:creationId xmlns:a16="http://schemas.microsoft.com/office/drawing/2014/main" id="{9C440693-3C93-308E-E141-7AD098FD520C}"/>
                  </a:ext>
                </a:extLst>
              </p:cNvPr>
              <p:cNvSpPr>
                <a:spLocks noChangeShapeType="1"/>
              </p:cNvSpPr>
              <p:nvPr/>
            </p:nvSpPr>
            <p:spPr bwMode="auto">
              <a:xfrm>
                <a:off x="300" y="2119"/>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1" name="Rectangle 660">
                <a:extLst>
                  <a:ext uri="{FF2B5EF4-FFF2-40B4-BE49-F238E27FC236}">
                    <a16:creationId xmlns:a16="http://schemas.microsoft.com/office/drawing/2014/main" id="{5A06058E-9415-305F-6687-42398B22BDE2}"/>
                  </a:ext>
                </a:extLst>
              </p:cNvPr>
              <p:cNvSpPr>
                <a:spLocks noChangeArrowheads="1"/>
              </p:cNvSpPr>
              <p:nvPr/>
            </p:nvSpPr>
            <p:spPr bwMode="auto">
              <a:xfrm>
                <a:off x="1091"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2" name="Line 661">
                <a:extLst>
                  <a:ext uri="{FF2B5EF4-FFF2-40B4-BE49-F238E27FC236}">
                    <a16:creationId xmlns:a16="http://schemas.microsoft.com/office/drawing/2014/main" id="{CF491822-8F53-D209-4FB8-163256C50547}"/>
                  </a:ext>
                </a:extLst>
              </p:cNvPr>
              <p:cNvSpPr>
                <a:spLocks noChangeShapeType="1"/>
              </p:cNvSpPr>
              <p:nvPr/>
            </p:nvSpPr>
            <p:spPr bwMode="auto">
              <a:xfrm>
                <a:off x="1091"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3" name="Line 662">
                <a:extLst>
                  <a:ext uri="{FF2B5EF4-FFF2-40B4-BE49-F238E27FC236}">
                    <a16:creationId xmlns:a16="http://schemas.microsoft.com/office/drawing/2014/main" id="{44905B49-C360-A380-54C7-54813A0CBE27}"/>
                  </a:ext>
                </a:extLst>
              </p:cNvPr>
              <p:cNvSpPr>
                <a:spLocks noChangeShapeType="1"/>
              </p:cNvSpPr>
              <p:nvPr/>
            </p:nvSpPr>
            <p:spPr bwMode="auto">
              <a:xfrm>
                <a:off x="1091"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4" name="Rectangle 663">
                <a:extLst>
                  <a:ext uri="{FF2B5EF4-FFF2-40B4-BE49-F238E27FC236}">
                    <a16:creationId xmlns:a16="http://schemas.microsoft.com/office/drawing/2014/main" id="{07903725-7786-5C7E-68CA-5A5996677390}"/>
                  </a:ext>
                </a:extLst>
              </p:cNvPr>
              <p:cNvSpPr>
                <a:spLocks noChangeArrowheads="1"/>
              </p:cNvSpPr>
              <p:nvPr/>
            </p:nvSpPr>
            <p:spPr bwMode="auto">
              <a:xfrm>
                <a:off x="1096" y="2119"/>
                <a:ext cx="398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5" name="Line 664">
                <a:extLst>
                  <a:ext uri="{FF2B5EF4-FFF2-40B4-BE49-F238E27FC236}">
                    <a16:creationId xmlns:a16="http://schemas.microsoft.com/office/drawing/2014/main" id="{80F789DC-71A6-8435-6B18-6D848D2A3240}"/>
                  </a:ext>
                </a:extLst>
              </p:cNvPr>
              <p:cNvSpPr>
                <a:spLocks noChangeShapeType="1"/>
              </p:cNvSpPr>
              <p:nvPr/>
            </p:nvSpPr>
            <p:spPr bwMode="auto">
              <a:xfrm>
                <a:off x="1096" y="2119"/>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6" name="Rectangle 665">
                <a:extLst>
                  <a:ext uri="{FF2B5EF4-FFF2-40B4-BE49-F238E27FC236}">
                    <a16:creationId xmlns:a16="http://schemas.microsoft.com/office/drawing/2014/main" id="{F082FC17-3104-BC0A-869C-29445BDCDAAD}"/>
                  </a:ext>
                </a:extLst>
              </p:cNvPr>
              <p:cNvSpPr>
                <a:spLocks noChangeArrowheads="1"/>
              </p:cNvSpPr>
              <p:nvPr/>
            </p:nvSpPr>
            <p:spPr bwMode="auto">
              <a:xfrm>
                <a:off x="5083"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87" name="Line 666">
                <a:extLst>
                  <a:ext uri="{FF2B5EF4-FFF2-40B4-BE49-F238E27FC236}">
                    <a16:creationId xmlns:a16="http://schemas.microsoft.com/office/drawing/2014/main" id="{66918F06-D8A0-7214-1352-0B0BD8C854EF}"/>
                  </a:ext>
                </a:extLst>
              </p:cNvPr>
              <p:cNvSpPr>
                <a:spLocks noChangeShapeType="1"/>
              </p:cNvSpPr>
              <p:nvPr/>
            </p:nvSpPr>
            <p:spPr bwMode="auto">
              <a:xfrm>
                <a:off x="5083"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8" name="Line 667">
                <a:extLst>
                  <a:ext uri="{FF2B5EF4-FFF2-40B4-BE49-F238E27FC236}">
                    <a16:creationId xmlns:a16="http://schemas.microsoft.com/office/drawing/2014/main" id="{1E1E2EB6-A9F0-F269-D109-3B558DB37A42}"/>
                  </a:ext>
                </a:extLst>
              </p:cNvPr>
              <p:cNvSpPr>
                <a:spLocks noChangeShapeType="1"/>
              </p:cNvSpPr>
              <p:nvPr/>
            </p:nvSpPr>
            <p:spPr bwMode="auto">
              <a:xfrm>
                <a:off x="5083"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89" name="Rectangle 668">
                <a:extLst>
                  <a:ext uri="{FF2B5EF4-FFF2-40B4-BE49-F238E27FC236}">
                    <a16:creationId xmlns:a16="http://schemas.microsoft.com/office/drawing/2014/main" id="{35F1F59C-2A5A-C038-F264-54C4CDE3EC4D}"/>
                  </a:ext>
                </a:extLst>
              </p:cNvPr>
              <p:cNvSpPr>
                <a:spLocks noChangeArrowheads="1"/>
              </p:cNvSpPr>
              <p:nvPr/>
            </p:nvSpPr>
            <p:spPr bwMode="auto">
              <a:xfrm>
                <a:off x="5083" y="2119"/>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0" name="Line 669">
                <a:extLst>
                  <a:ext uri="{FF2B5EF4-FFF2-40B4-BE49-F238E27FC236}">
                    <a16:creationId xmlns:a16="http://schemas.microsoft.com/office/drawing/2014/main" id="{B3983DB7-DE28-D4BA-530F-E56DF593C68E}"/>
                  </a:ext>
                </a:extLst>
              </p:cNvPr>
              <p:cNvSpPr>
                <a:spLocks noChangeShapeType="1"/>
              </p:cNvSpPr>
              <p:nvPr/>
            </p:nvSpPr>
            <p:spPr bwMode="auto">
              <a:xfrm>
                <a:off x="5083" y="2119"/>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1" name="Line 670">
                <a:extLst>
                  <a:ext uri="{FF2B5EF4-FFF2-40B4-BE49-F238E27FC236}">
                    <a16:creationId xmlns:a16="http://schemas.microsoft.com/office/drawing/2014/main" id="{0768F867-739D-252F-922D-5278E24EBDDA}"/>
                  </a:ext>
                </a:extLst>
              </p:cNvPr>
              <p:cNvSpPr>
                <a:spLocks noChangeShapeType="1"/>
              </p:cNvSpPr>
              <p:nvPr/>
            </p:nvSpPr>
            <p:spPr bwMode="auto">
              <a:xfrm>
                <a:off x="5083" y="2119"/>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2" name="Rectangle 671">
                <a:extLst>
                  <a:ext uri="{FF2B5EF4-FFF2-40B4-BE49-F238E27FC236}">
                    <a16:creationId xmlns:a16="http://schemas.microsoft.com/office/drawing/2014/main" id="{375481D3-F9A3-1F5D-8E30-23CCBB945111}"/>
                  </a:ext>
                </a:extLst>
              </p:cNvPr>
              <p:cNvSpPr>
                <a:spLocks noChangeArrowheads="1"/>
              </p:cNvSpPr>
              <p:nvPr/>
            </p:nvSpPr>
            <p:spPr bwMode="auto">
              <a:xfrm>
                <a:off x="295" y="212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3" name="Line 672">
                <a:extLst>
                  <a:ext uri="{FF2B5EF4-FFF2-40B4-BE49-F238E27FC236}">
                    <a16:creationId xmlns:a16="http://schemas.microsoft.com/office/drawing/2014/main" id="{A7318E9B-6B6D-3FF6-D051-F33EA14AF621}"/>
                  </a:ext>
                </a:extLst>
              </p:cNvPr>
              <p:cNvSpPr>
                <a:spLocks noChangeShapeType="1"/>
              </p:cNvSpPr>
              <p:nvPr/>
            </p:nvSpPr>
            <p:spPr bwMode="auto">
              <a:xfrm>
                <a:off x="295" y="212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4" name="Rectangle 673">
                <a:extLst>
                  <a:ext uri="{FF2B5EF4-FFF2-40B4-BE49-F238E27FC236}">
                    <a16:creationId xmlns:a16="http://schemas.microsoft.com/office/drawing/2014/main" id="{9D260FE8-1C91-1AE1-D58B-9BEA86504DEC}"/>
                  </a:ext>
                </a:extLst>
              </p:cNvPr>
              <p:cNvSpPr>
                <a:spLocks noChangeArrowheads="1"/>
              </p:cNvSpPr>
              <p:nvPr/>
            </p:nvSpPr>
            <p:spPr bwMode="auto">
              <a:xfrm>
                <a:off x="1091" y="212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5" name="Line 674">
                <a:extLst>
                  <a:ext uri="{FF2B5EF4-FFF2-40B4-BE49-F238E27FC236}">
                    <a16:creationId xmlns:a16="http://schemas.microsoft.com/office/drawing/2014/main" id="{0E07436E-5884-6734-31D8-F5EF70D0B1C9}"/>
                  </a:ext>
                </a:extLst>
              </p:cNvPr>
              <p:cNvSpPr>
                <a:spLocks noChangeShapeType="1"/>
              </p:cNvSpPr>
              <p:nvPr/>
            </p:nvSpPr>
            <p:spPr bwMode="auto">
              <a:xfrm>
                <a:off x="1091" y="212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6" name="Rectangle 675">
                <a:extLst>
                  <a:ext uri="{FF2B5EF4-FFF2-40B4-BE49-F238E27FC236}">
                    <a16:creationId xmlns:a16="http://schemas.microsoft.com/office/drawing/2014/main" id="{ED483045-612C-F0EC-61FA-B4A68B530D8D}"/>
                  </a:ext>
                </a:extLst>
              </p:cNvPr>
              <p:cNvSpPr>
                <a:spLocks noChangeArrowheads="1"/>
              </p:cNvSpPr>
              <p:nvPr/>
            </p:nvSpPr>
            <p:spPr bwMode="auto">
              <a:xfrm>
                <a:off x="5083" y="2124"/>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7" name="Line 676">
                <a:extLst>
                  <a:ext uri="{FF2B5EF4-FFF2-40B4-BE49-F238E27FC236}">
                    <a16:creationId xmlns:a16="http://schemas.microsoft.com/office/drawing/2014/main" id="{EBF24051-97D7-27A5-DEA4-C2B070E2E96D}"/>
                  </a:ext>
                </a:extLst>
              </p:cNvPr>
              <p:cNvSpPr>
                <a:spLocks noChangeShapeType="1"/>
              </p:cNvSpPr>
              <p:nvPr/>
            </p:nvSpPr>
            <p:spPr bwMode="auto">
              <a:xfrm>
                <a:off x="5083" y="2124"/>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98" name="Rectangle 677">
                <a:extLst>
                  <a:ext uri="{FF2B5EF4-FFF2-40B4-BE49-F238E27FC236}">
                    <a16:creationId xmlns:a16="http://schemas.microsoft.com/office/drawing/2014/main" id="{3D0AE098-4A52-803F-D8CB-84ED3C6331AC}"/>
                  </a:ext>
                </a:extLst>
              </p:cNvPr>
              <p:cNvSpPr>
                <a:spLocks noChangeArrowheads="1"/>
              </p:cNvSpPr>
              <p:nvPr/>
            </p:nvSpPr>
            <p:spPr bwMode="auto">
              <a:xfrm>
                <a:off x="300" y="226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99" name="Rectangle 678">
                <a:extLst>
                  <a:ext uri="{FF2B5EF4-FFF2-40B4-BE49-F238E27FC236}">
                    <a16:creationId xmlns:a16="http://schemas.microsoft.com/office/drawing/2014/main" id="{5EF0E169-E7D5-4E0D-478D-BC29C9F98886}"/>
                  </a:ext>
                </a:extLst>
              </p:cNvPr>
              <p:cNvSpPr>
                <a:spLocks noChangeArrowheads="1"/>
              </p:cNvSpPr>
              <p:nvPr/>
            </p:nvSpPr>
            <p:spPr bwMode="auto">
              <a:xfrm>
                <a:off x="1042" y="226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0" name="Rectangle 679">
                <a:extLst>
                  <a:ext uri="{FF2B5EF4-FFF2-40B4-BE49-F238E27FC236}">
                    <a16:creationId xmlns:a16="http://schemas.microsoft.com/office/drawing/2014/main" id="{E74232C3-2A4B-00DC-D0F3-566791D9B4C1}"/>
                  </a:ext>
                </a:extLst>
              </p:cNvPr>
              <p:cNvSpPr>
                <a:spLocks noChangeArrowheads="1"/>
              </p:cNvSpPr>
              <p:nvPr/>
            </p:nvSpPr>
            <p:spPr bwMode="auto">
              <a:xfrm>
                <a:off x="300" y="2394"/>
                <a:ext cx="791" cy="40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1" name="Rectangle 680">
                <a:extLst>
                  <a:ext uri="{FF2B5EF4-FFF2-40B4-BE49-F238E27FC236}">
                    <a16:creationId xmlns:a16="http://schemas.microsoft.com/office/drawing/2014/main" id="{DEC730F6-D84D-1CB3-D3C1-59C17A1A6797}"/>
                  </a:ext>
                </a:extLst>
              </p:cNvPr>
              <p:cNvSpPr>
                <a:spLocks noChangeArrowheads="1"/>
              </p:cNvSpPr>
              <p:nvPr/>
            </p:nvSpPr>
            <p:spPr bwMode="auto">
              <a:xfrm>
                <a:off x="349" y="2261"/>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2" name="Rectangle 681">
                <a:extLst>
                  <a:ext uri="{FF2B5EF4-FFF2-40B4-BE49-F238E27FC236}">
                    <a16:creationId xmlns:a16="http://schemas.microsoft.com/office/drawing/2014/main" id="{DA03C82B-4F3F-5069-26B6-20E2585BD4C4}"/>
                  </a:ext>
                </a:extLst>
              </p:cNvPr>
              <p:cNvSpPr>
                <a:spLocks noChangeArrowheads="1"/>
              </p:cNvSpPr>
              <p:nvPr/>
            </p:nvSpPr>
            <p:spPr bwMode="auto">
              <a:xfrm>
                <a:off x="349" y="2249"/>
                <a:ext cx="62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Extreme (E)</a:t>
                </a:r>
                <a:endParaRPr lang="en-US" altLang="en-US"/>
              </a:p>
            </p:txBody>
          </p:sp>
          <p:sp>
            <p:nvSpPr>
              <p:cNvPr id="55403" name="Rectangle 682">
                <a:extLst>
                  <a:ext uri="{FF2B5EF4-FFF2-40B4-BE49-F238E27FC236}">
                    <a16:creationId xmlns:a16="http://schemas.microsoft.com/office/drawing/2014/main" id="{D37FC548-0AD9-9193-72BE-04BCE6AA6D4C}"/>
                  </a:ext>
                </a:extLst>
              </p:cNvPr>
              <p:cNvSpPr>
                <a:spLocks noChangeArrowheads="1"/>
              </p:cNvSpPr>
              <p:nvPr/>
            </p:nvSpPr>
            <p:spPr bwMode="auto">
              <a:xfrm>
                <a:off x="986" y="224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404" name="Rectangle 683">
                <a:extLst>
                  <a:ext uri="{FF2B5EF4-FFF2-40B4-BE49-F238E27FC236}">
                    <a16:creationId xmlns:a16="http://schemas.microsoft.com/office/drawing/2014/main" id="{E0926254-0A66-7B9E-57D8-CC2F4844CCD3}"/>
                  </a:ext>
                </a:extLst>
              </p:cNvPr>
              <p:cNvSpPr>
                <a:spLocks noChangeArrowheads="1"/>
              </p:cNvSpPr>
              <p:nvPr/>
            </p:nvSpPr>
            <p:spPr bwMode="auto">
              <a:xfrm>
                <a:off x="1096" y="2261"/>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5" name="Rectangle 684">
                <a:extLst>
                  <a:ext uri="{FF2B5EF4-FFF2-40B4-BE49-F238E27FC236}">
                    <a16:creationId xmlns:a16="http://schemas.microsoft.com/office/drawing/2014/main" id="{F772D6B9-97A9-AE22-AED6-B0747D68B0EA}"/>
                  </a:ext>
                </a:extLst>
              </p:cNvPr>
              <p:cNvSpPr>
                <a:spLocks noChangeArrowheads="1"/>
              </p:cNvSpPr>
              <p:nvPr/>
            </p:nvSpPr>
            <p:spPr bwMode="auto">
              <a:xfrm>
                <a:off x="5034" y="2261"/>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6" name="Rectangle 685">
                <a:extLst>
                  <a:ext uri="{FF2B5EF4-FFF2-40B4-BE49-F238E27FC236}">
                    <a16:creationId xmlns:a16="http://schemas.microsoft.com/office/drawing/2014/main" id="{39EF11D3-BAB5-E146-C52C-26EAD68E8DC5}"/>
                  </a:ext>
                </a:extLst>
              </p:cNvPr>
              <p:cNvSpPr>
                <a:spLocks noChangeArrowheads="1"/>
              </p:cNvSpPr>
              <p:nvPr/>
            </p:nvSpPr>
            <p:spPr bwMode="auto">
              <a:xfrm>
                <a:off x="1096" y="2794"/>
                <a:ext cx="3987" cy="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7" name="Rectangle 686">
                <a:extLst>
                  <a:ext uri="{FF2B5EF4-FFF2-40B4-BE49-F238E27FC236}">
                    <a16:creationId xmlns:a16="http://schemas.microsoft.com/office/drawing/2014/main" id="{034378B9-8741-0FF8-2208-5C0CEA639A31}"/>
                  </a:ext>
                </a:extLst>
              </p:cNvPr>
              <p:cNvSpPr>
                <a:spLocks noChangeArrowheads="1"/>
              </p:cNvSpPr>
              <p:nvPr/>
            </p:nvSpPr>
            <p:spPr bwMode="auto">
              <a:xfrm>
                <a:off x="1145" y="2261"/>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08" name="Rectangle 687">
                <a:extLst>
                  <a:ext uri="{FF2B5EF4-FFF2-40B4-BE49-F238E27FC236}">
                    <a16:creationId xmlns:a16="http://schemas.microsoft.com/office/drawing/2014/main" id="{014E5C6F-939C-29C7-F811-A4B7B1463165}"/>
                  </a:ext>
                </a:extLst>
              </p:cNvPr>
              <p:cNvSpPr>
                <a:spLocks noChangeArrowheads="1"/>
              </p:cNvSpPr>
              <p:nvPr/>
            </p:nvSpPr>
            <p:spPr bwMode="auto">
              <a:xfrm>
                <a:off x="1145" y="2249"/>
                <a:ext cx="111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Will require detailed r</a:t>
                </a:r>
                <a:endParaRPr lang="en-US" altLang="en-US"/>
              </a:p>
            </p:txBody>
          </p:sp>
          <p:sp>
            <p:nvSpPr>
              <p:cNvPr id="55409" name="Rectangle 688">
                <a:extLst>
                  <a:ext uri="{FF2B5EF4-FFF2-40B4-BE49-F238E27FC236}">
                    <a16:creationId xmlns:a16="http://schemas.microsoft.com/office/drawing/2014/main" id="{EED427F4-A2C1-FD75-B6BE-E5D7B78CA3AA}"/>
                  </a:ext>
                </a:extLst>
              </p:cNvPr>
              <p:cNvSpPr>
                <a:spLocks noChangeArrowheads="1"/>
              </p:cNvSpPr>
              <p:nvPr/>
            </p:nvSpPr>
            <p:spPr bwMode="auto">
              <a:xfrm>
                <a:off x="2288" y="2249"/>
                <a:ext cx="206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esearch and management planning at an </a:t>
                </a:r>
                <a:endParaRPr lang="en-US" altLang="en-US"/>
              </a:p>
            </p:txBody>
          </p:sp>
          <p:sp>
            <p:nvSpPr>
              <p:cNvPr id="55410" name="Rectangle 689">
                <a:extLst>
                  <a:ext uri="{FF2B5EF4-FFF2-40B4-BE49-F238E27FC236}">
                    <a16:creationId xmlns:a16="http://schemas.microsoft.com/office/drawing/2014/main" id="{B15FDECB-CF67-F395-8503-0024B3DAA29F}"/>
                  </a:ext>
                </a:extLst>
              </p:cNvPr>
              <p:cNvSpPr>
                <a:spLocks noChangeArrowheads="1"/>
              </p:cNvSpPr>
              <p:nvPr/>
            </p:nvSpPr>
            <p:spPr bwMode="auto">
              <a:xfrm>
                <a:off x="1145" y="2394"/>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1" name="Rectangle 690">
                <a:extLst>
                  <a:ext uri="{FF2B5EF4-FFF2-40B4-BE49-F238E27FC236}">
                    <a16:creationId xmlns:a16="http://schemas.microsoft.com/office/drawing/2014/main" id="{88D36F0B-F895-B395-8489-511F01AAFB6B}"/>
                  </a:ext>
                </a:extLst>
              </p:cNvPr>
              <p:cNvSpPr>
                <a:spLocks noChangeArrowheads="1"/>
              </p:cNvSpPr>
              <p:nvPr/>
            </p:nvSpPr>
            <p:spPr bwMode="auto">
              <a:xfrm>
                <a:off x="1145" y="2382"/>
                <a:ext cx="381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executive/director level. Ongoing planning and monitoring will be required </a:t>
                </a:r>
                <a:endParaRPr lang="en-US" altLang="en-US"/>
              </a:p>
            </p:txBody>
          </p:sp>
          <p:sp>
            <p:nvSpPr>
              <p:cNvPr id="55412" name="Rectangle 691">
                <a:extLst>
                  <a:ext uri="{FF2B5EF4-FFF2-40B4-BE49-F238E27FC236}">
                    <a16:creationId xmlns:a16="http://schemas.microsoft.com/office/drawing/2014/main" id="{3C456302-7544-C29D-37BD-E168B8F3C067}"/>
                  </a:ext>
                </a:extLst>
              </p:cNvPr>
              <p:cNvSpPr>
                <a:spLocks noChangeArrowheads="1"/>
              </p:cNvSpPr>
              <p:nvPr/>
            </p:nvSpPr>
            <p:spPr bwMode="auto">
              <a:xfrm>
                <a:off x="1145" y="2527"/>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3" name="Rectangle 692">
                <a:extLst>
                  <a:ext uri="{FF2B5EF4-FFF2-40B4-BE49-F238E27FC236}">
                    <a16:creationId xmlns:a16="http://schemas.microsoft.com/office/drawing/2014/main" id="{6417F655-B5DA-5DE1-0E67-0A03C9681CC7}"/>
                  </a:ext>
                </a:extLst>
              </p:cNvPr>
              <p:cNvSpPr>
                <a:spLocks noChangeArrowheads="1"/>
              </p:cNvSpPr>
              <p:nvPr/>
            </p:nvSpPr>
            <p:spPr bwMode="auto">
              <a:xfrm>
                <a:off x="1145" y="2516"/>
                <a:ext cx="362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with regular reviews. Substantial adjustment of controls to manage the </a:t>
                </a:r>
                <a:endParaRPr lang="en-US" altLang="en-US"/>
              </a:p>
            </p:txBody>
          </p:sp>
          <p:sp>
            <p:nvSpPr>
              <p:cNvPr id="55414" name="Rectangle 693">
                <a:extLst>
                  <a:ext uri="{FF2B5EF4-FFF2-40B4-BE49-F238E27FC236}">
                    <a16:creationId xmlns:a16="http://schemas.microsoft.com/office/drawing/2014/main" id="{A31A5F3C-5104-5248-238B-12D30DFBB4BC}"/>
                  </a:ext>
                </a:extLst>
              </p:cNvPr>
              <p:cNvSpPr>
                <a:spLocks noChangeArrowheads="1"/>
              </p:cNvSpPr>
              <p:nvPr/>
            </p:nvSpPr>
            <p:spPr bwMode="auto">
              <a:xfrm>
                <a:off x="1145" y="2660"/>
                <a:ext cx="388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5" name="Rectangle 694">
                <a:extLst>
                  <a:ext uri="{FF2B5EF4-FFF2-40B4-BE49-F238E27FC236}">
                    <a16:creationId xmlns:a16="http://schemas.microsoft.com/office/drawing/2014/main" id="{440CEB24-4805-127E-0C20-3C883F580EB5}"/>
                  </a:ext>
                </a:extLst>
              </p:cNvPr>
              <p:cNvSpPr>
                <a:spLocks noChangeArrowheads="1"/>
              </p:cNvSpPr>
              <p:nvPr/>
            </p:nvSpPr>
            <p:spPr bwMode="auto">
              <a:xfrm>
                <a:off x="1145" y="2649"/>
                <a:ext cx="33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risk are expected, with costs possibly exceeding original forecasts. </a:t>
                </a:r>
                <a:endParaRPr lang="en-US" altLang="en-US"/>
              </a:p>
            </p:txBody>
          </p:sp>
          <p:sp>
            <p:nvSpPr>
              <p:cNvPr id="55416" name="Rectangle 695">
                <a:extLst>
                  <a:ext uri="{FF2B5EF4-FFF2-40B4-BE49-F238E27FC236}">
                    <a16:creationId xmlns:a16="http://schemas.microsoft.com/office/drawing/2014/main" id="{E46D8102-8CC7-C55E-5D79-CA49379132B3}"/>
                  </a:ext>
                </a:extLst>
              </p:cNvPr>
              <p:cNvSpPr>
                <a:spLocks noChangeArrowheads="1"/>
              </p:cNvSpPr>
              <p:nvPr/>
            </p:nvSpPr>
            <p:spPr bwMode="auto">
              <a:xfrm>
                <a:off x="4619" y="264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417" name="Rectangle 696">
                <a:extLst>
                  <a:ext uri="{FF2B5EF4-FFF2-40B4-BE49-F238E27FC236}">
                    <a16:creationId xmlns:a16="http://schemas.microsoft.com/office/drawing/2014/main" id="{CA4C4CD1-8E8B-E1EF-D9CE-401BFE76CD80}"/>
                  </a:ext>
                </a:extLst>
              </p:cNvPr>
              <p:cNvSpPr>
                <a:spLocks noChangeArrowheads="1"/>
              </p:cNvSpPr>
              <p:nvPr/>
            </p:nvSpPr>
            <p:spPr bwMode="auto">
              <a:xfrm>
                <a:off x="295" y="225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18" name="Line 697">
                <a:extLst>
                  <a:ext uri="{FF2B5EF4-FFF2-40B4-BE49-F238E27FC236}">
                    <a16:creationId xmlns:a16="http://schemas.microsoft.com/office/drawing/2014/main" id="{3C2444B2-73EE-4144-05F4-58DCDD727AC2}"/>
                  </a:ext>
                </a:extLst>
              </p:cNvPr>
              <p:cNvSpPr>
                <a:spLocks noChangeShapeType="1"/>
              </p:cNvSpPr>
              <p:nvPr/>
            </p:nvSpPr>
            <p:spPr bwMode="auto">
              <a:xfrm>
                <a:off x="295" y="225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19" name="Line 698">
                <a:extLst>
                  <a:ext uri="{FF2B5EF4-FFF2-40B4-BE49-F238E27FC236}">
                    <a16:creationId xmlns:a16="http://schemas.microsoft.com/office/drawing/2014/main" id="{3F48E70C-C396-CC86-6F00-DA92F7B313A4}"/>
                  </a:ext>
                </a:extLst>
              </p:cNvPr>
              <p:cNvSpPr>
                <a:spLocks noChangeShapeType="1"/>
              </p:cNvSpPr>
              <p:nvPr/>
            </p:nvSpPr>
            <p:spPr bwMode="auto">
              <a:xfrm>
                <a:off x="295" y="225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0" name="Rectangle 699">
                <a:extLst>
                  <a:ext uri="{FF2B5EF4-FFF2-40B4-BE49-F238E27FC236}">
                    <a16:creationId xmlns:a16="http://schemas.microsoft.com/office/drawing/2014/main" id="{52696FC9-BF09-986E-F810-3E8928E79E90}"/>
                  </a:ext>
                </a:extLst>
              </p:cNvPr>
              <p:cNvSpPr>
                <a:spLocks noChangeArrowheads="1"/>
              </p:cNvSpPr>
              <p:nvPr/>
            </p:nvSpPr>
            <p:spPr bwMode="auto">
              <a:xfrm>
                <a:off x="300" y="2257"/>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1" name="Line 700">
                <a:extLst>
                  <a:ext uri="{FF2B5EF4-FFF2-40B4-BE49-F238E27FC236}">
                    <a16:creationId xmlns:a16="http://schemas.microsoft.com/office/drawing/2014/main" id="{630A9A77-0CF1-56F8-EA42-0B10E5FEF315}"/>
                  </a:ext>
                </a:extLst>
              </p:cNvPr>
              <p:cNvSpPr>
                <a:spLocks noChangeShapeType="1"/>
              </p:cNvSpPr>
              <p:nvPr/>
            </p:nvSpPr>
            <p:spPr bwMode="auto">
              <a:xfrm>
                <a:off x="300" y="2257"/>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2" name="Rectangle 701">
                <a:extLst>
                  <a:ext uri="{FF2B5EF4-FFF2-40B4-BE49-F238E27FC236}">
                    <a16:creationId xmlns:a16="http://schemas.microsoft.com/office/drawing/2014/main" id="{B095CBA2-415D-B12D-9DD6-36947013F564}"/>
                  </a:ext>
                </a:extLst>
              </p:cNvPr>
              <p:cNvSpPr>
                <a:spLocks noChangeArrowheads="1"/>
              </p:cNvSpPr>
              <p:nvPr/>
            </p:nvSpPr>
            <p:spPr bwMode="auto">
              <a:xfrm>
                <a:off x="1091" y="225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3" name="Line 702">
                <a:extLst>
                  <a:ext uri="{FF2B5EF4-FFF2-40B4-BE49-F238E27FC236}">
                    <a16:creationId xmlns:a16="http://schemas.microsoft.com/office/drawing/2014/main" id="{B00E9193-A340-6F6B-144A-08DE12485125}"/>
                  </a:ext>
                </a:extLst>
              </p:cNvPr>
              <p:cNvSpPr>
                <a:spLocks noChangeShapeType="1"/>
              </p:cNvSpPr>
              <p:nvPr/>
            </p:nvSpPr>
            <p:spPr bwMode="auto">
              <a:xfrm>
                <a:off x="1091" y="225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4" name="Line 703">
                <a:extLst>
                  <a:ext uri="{FF2B5EF4-FFF2-40B4-BE49-F238E27FC236}">
                    <a16:creationId xmlns:a16="http://schemas.microsoft.com/office/drawing/2014/main" id="{751AAFB1-7DFA-E5AD-EDA5-231A6A91EC8A}"/>
                  </a:ext>
                </a:extLst>
              </p:cNvPr>
              <p:cNvSpPr>
                <a:spLocks noChangeShapeType="1"/>
              </p:cNvSpPr>
              <p:nvPr/>
            </p:nvSpPr>
            <p:spPr bwMode="auto">
              <a:xfrm>
                <a:off x="1091" y="225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5" name="Rectangle 704">
                <a:extLst>
                  <a:ext uri="{FF2B5EF4-FFF2-40B4-BE49-F238E27FC236}">
                    <a16:creationId xmlns:a16="http://schemas.microsoft.com/office/drawing/2014/main" id="{D9DC95F6-2D44-3D81-8A14-D9F5A2CA8AC4}"/>
                  </a:ext>
                </a:extLst>
              </p:cNvPr>
              <p:cNvSpPr>
                <a:spLocks noChangeArrowheads="1"/>
              </p:cNvSpPr>
              <p:nvPr/>
            </p:nvSpPr>
            <p:spPr bwMode="auto">
              <a:xfrm>
                <a:off x="1096" y="2257"/>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6" name="Line 705">
                <a:extLst>
                  <a:ext uri="{FF2B5EF4-FFF2-40B4-BE49-F238E27FC236}">
                    <a16:creationId xmlns:a16="http://schemas.microsoft.com/office/drawing/2014/main" id="{18819742-1A8B-632E-8E44-3F947F163DE2}"/>
                  </a:ext>
                </a:extLst>
              </p:cNvPr>
              <p:cNvSpPr>
                <a:spLocks noChangeShapeType="1"/>
              </p:cNvSpPr>
              <p:nvPr/>
            </p:nvSpPr>
            <p:spPr bwMode="auto">
              <a:xfrm>
                <a:off x="1096" y="2257"/>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7" name="Rectangle 706">
                <a:extLst>
                  <a:ext uri="{FF2B5EF4-FFF2-40B4-BE49-F238E27FC236}">
                    <a16:creationId xmlns:a16="http://schemas.microsoft.com/office/drawing/2014/main" id="{BE41FB3E-DA9F-8D7E-23DC-B742ACBEE1A5}"/>
                  </a:ext>
                </a:extLst>
              </p:cNvPr>
              <p:cNvSpPr>
                <a:spLocks noChangeArrowheads="1"/>
              </p:cNvSpPr>
              <p:nvPr/>
            </p:nvSpPr>
            <p:spPr bwMode="auto">
              <a:xfrm>
                <a:off x="5083" y="225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28" name="Line 707">
                <a:extLst>
                  <a:ext uri="{FF2B5EF4-FFF2-40B4-BE49-F238E27FC236}">
                    <a16:creationId xmlns:a16="http://schemas.microsoft.com/office/drawing/2014/main" id="{B91F49E5-F8F9-6330-D062-D17D42EE5F04}"/>
                  </a:ext>
                </a:extLst>
              </p:cNvPr>
              <p:cNvSpPr>
                <a:spLocks noChangeShapeType="1"/>
              </p:cNvSpPr>
              <p:nvPr/>
            </p:nvSpPr>
            <p:spPr bwMode="auto">
              <a:xfrm>
                <a:off x="5083" y="225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29" name="Line 708">
                <a:extLst>
                  <a:ext uri="{FF2B5EF4-FFF2-40B4-BE49-F238E27FC236}">
                    <a16:creationId xmlns:a16="http://schemas.microsoft.com/office/drawing/2014/main" id="{A5CEF55D-03F1-1E5A-927C-4066752F5A0B}"/>
                  </a:ext>
                </a:extLst>
              </p:cNvPr>
              <p:cNvSpPr>
                <a:spLocks noChangeShapeType="1"/>
              </p:cNvSpPr>
              <p:nvPr/>
            </p:nvSpPr>
            <p:spPr bwMode="auto">
              <a:xfrm>
                <a:off x="5083" y="225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0" name="Rectangle 709">
                <a:extLst>
                  <a:ext uri="{FF2B5EF4-FFF2-40B4-BE49-F238E27FC236}">
                    <a16:creationId xmlns:a16="http://schemas.microsoft.com/office/drawing/2014/main" id="{EE25C8C8-0257-F4B7-C634-A0755F70987D}"/>
                  </a:ext>
                </a:extLst>
              </p:cNvPr>
              <p:cNvSpPr>
                <a:spLocks noChangeArrowheads="1"/>
              </p:cNvSpPr>
              <p:nvPr/>
            </p:nvSpPr>
            <p:spPr bwMode="auto">
              <a:xfrm>
                <a:off x="295" y="2261"/>
                <a:ext cx="5" cy="5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1" name="Line 710">
                <a:extLst>
                  <a:ext uri="{FF2B5EF4-FFF2-40B4-BE49-F238E27FC236}">
                    <a16:creationId xmlns:a16="http://schemas.microsoft.com/office/drawing/2014/main" id="{61E0C00F-BA43-0A21-E3A4-CA36D208554E}"/>
                  </a:ext>
                </a:extLst>
              </p:cNvPr>
              <p:cNvSpPr>
                <a:spLocks noChangeShapeType="1"/>
              </p:cNvSpPr>
              <p:nvPr/>
            </p:nvSpPr>
            <p:spPr bwMode="auto">
              <a:xfrm>
                <a:off x="295" y="2261"/>
                <a:ext cx="0" cy="5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2" name="Rectangle 711">
                <a:extLst>
                  <a:ext uri="{FF2B5EF4-FFF2-40B4-BE49-F238E27FC236}">
                    <a16:creationId xmlns:a16="http://schemas.microsoft.com/office/drawing/2014/main" id="{0BA4BA81-0763-8569-5C30-5C98FA251EE4}"/>
                  </a:ext>
                </a:extLst>
              </p:cNvPr>
              <p:cNvSpPr>
                <a:spLocks noChangeArrowheads="1"/>
              </p:cNvSpPr>
              <p:nvPr/>
            </p:nvSpPr>
            <p:spPr bwMode="auto">
              <a:xfrm>
                <a:off x="1091" y="2261"/>
                <a:ext cx="5" cy="5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3" name="Line 712">
                <a:extLst>
                  <a:ext uri="{FF2B5EF4-FFF2-40B4-BE49-F238E27FC236}">
                    <a16:creationId xmlns:a16="http://schemas.microsoft.com/office/drawing/2014/main" id="{9D541463-0016-7796-D1CB-D1AC3E18B5E9}"/>
                  </a:ext>
                </a:extLst>
              </p:cNvPr>
              <p:cNvSpPr>
                <a:spLocks noChangeShapeType="1"/>
              </p:cNvSpPr>
              <p:nvPr/>
            </p:nvSpPr>
            <p:spPr bwMode="auto">
              <a:xfrm>
                <a:off x="1091" y="2261"/>
                <a:ext cx="0" cy="5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4" name="Rectangle 713">
                <a:extLst>
                  <a:ext uri="{FF2B5EF4-FFF2-40B4-BE49-F238E27FC236}">
                    <a16:creationId xmlns:a16="http://schemas.microsoft.com/office/drawing/2014/main" id="{3B1BA407-C244-80A2-86DE-BA307DF431F1}"/>
                  </a:ext>
                </a:extLst>
              </p:cNvPr>
              <p:cNvSpPr>
                <a:spLocks noChangeArrowheads="1"/>
              </p:cNvSpPr>
              <p:nvPr/>
            </p:nvSpPr>
            <p:spPr bwMode="auto">
              <a:xfrm>
                <a:off x="5083" y="2261"/>
                <a:ext cx="5" cy="53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5" name="Line 714">
                <a:extLst>
                  <a:ext uri="{FF2B5EF4-FFF2-40B4-BE49-F238E27FC236}">
                    <a16:creationId xmlns:a16="http://schemas.microsoft.com/office/drawing/2014/main" id="{AAAEF4EB-F26B-9D0B-754A-E5F80D530502}"/>
                  </a:ext>
                </a:extLst>
              </p:cNvPr>
              <p:cNvSpPr>
                <a:spLocks noChangeShapeType="1"/>
              </p:cNvSpPr>
              <p:nvPr/>
            </p:nvSpPr>
            <p:spPr bwMode="auto">
              <a:xfrm>
                <a:off x="5083" y="2261"/>
                <a:ext cx="0" cy="53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36" name="Rectangle 715">
                <a:extLst>
                  <a:ext uri="{FF2B5EF4-FFF2-40B4-BE49-F238E27FC236}">
                    <a16:creationId xmlns:a16="http://schemas.microsoft.com/office/drawing/2014/main" id="{CF75F260-B96E-15F4-D5D4-E56158B3BF9D}"/>
                  </a:ext>
                </a:extLst>
              </p:cNvPr>
              <p:cNvSpPr>
                <a:spLocks noChangeArrowheads="1"/>
              </p:cNvSpPr>
              <p:nvPr/>
            </p:nvSpPr>
            <p:spPr bwMode="auto">
              <a:xfrm>
                <a:off x="300" y="279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7" name="Rectangle 716">
                <a:extLst>
                  <a:ext uri="{FF2B5EF4-FFF2-40B4-BE49-F238E27FC236}">
                    <a16:creationId xmlns:a16="http://schemas.microsoft.com/office/drawing/2014/main" id="{DB3BCE1A-52D1-C99F-E535-3B9E7C40CF69}"/>
                  </a:ext>
                </a:extLst>
              </p:cNvPr>
              <p:cNvSpPr>
                <a:spLocks noChangeArrowheads="1"/>
              </p:cNvSpPr>
              <p:nvPr/>
            </p:nvSpPr>
            <p:spPr bwMode="auto">
              <a:xfrm>
                <a:off x="1042" y="2799"/>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8" name="Rectangle 717">
                <a:extLst>
                  <a:ext uri="{FF2B5EF4-FFF2-40B4-BE49-F238E27FC236}">
                    <a16:creationId xmlns:a16="http://schemas.microsoft.com/office/drawing/2014/main" id="{ADA0B075-BCB9-1F83-31E7-B948D86BF228}"/>
                  </a:ext>
                </a:extLst>
              </p:cNvPr>
              <p:cNvSpPr>
                <a:spLocks noChangeArrowheads="1"/>
              </p:cNvSpPr>
              <p:nvPr/>
            </p:nvSpPr>
            <p:spPr bwMode="auto">
              <a:xfrm>
                <a:off x="300" y="2932"/>
                <a:ext cx="791" cy="4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39" name="Rectangle 718">
                <a:extLst>
                  <a:ext uri="{FF2B5EF4-FFF2-40B4-BE49-F238E27FC236}">
                    <a16:creationId xmlns:a16="http://schemas.microsoft.com/office/drawing/2014/main" id="{9ECAB1E9-D680-9DA4-2436-F95912BA7B6E}"/>
                  </a:ext>
                </a:extLst>
              </p:cNvPr>
              <p:cNvSpPr>
                <a:spLocks noChangeArrowheads="1"/>
              </p:cNvSpPr>
              <p:nvPr/>
            </p:nvSpPr>
            <p:spPr bwMode="auto">
              <a:xfrm>
                <a:off x="349" y="2799"/>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0" name="Rectangle 719">
                <a:extLst>
                  <a:ext uri="{FF2B5EF4-FFF2-40B4-BE49-F238E27FC236}">
                    <a16:creationId xmlns:a16="http://schemas.microsoft.com/office/drawing/2014/main" id="{405026D2-AA2E-FA8B-155B-F38383C225E5}"/>
                  </a:ext>
                </a:extLst>
              </p:cNvPr>
              <p:cNvSpPr>
                <a:spLocks noChangeArrowheads="1"/>
              </p:cNvSpPr>
              <p:nvPr/>
            </p:nvSpPr>
            <p:spPr bwMode="auto">
              <a:xfrm>
                <a:off x="349" y="2787"/>
                <a:ext cx="7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H</a:t>
                </a:r>
                <a:endParaRPr lang="en-US" altLang="en-US"/>
              </a:p>
            </p:txBody>
          </p:sp>
          <p:sp>
            <p:nvSpPr>
              <p:cNvPr id="55441" name="Rectangle 720">
                <a:extLst>
                  <a:ext uri="{FF2B5EF4-FFF2-40B4-BE49-F238E27FC236}">
                    <a16:creationId xmlns:a16="http://schemas.microsoft.com/office/drawing/2014/main" id="{6683A0A5-5B78-51F6-641B-8AF5D92582F9}"/>
                  </a:ext>
                </a:extLst>
              </p:cNvPr>
              <p:cNvSpPr>
                <a:spLocks noChangeArrowheads="1"/>
              </p:cNvSpPr>
              <p:nvPr/>
            </p:nvSpPr>
            <p:spPr bwMode="auto">
              <a:xfrm>
                <a:off x="427" y="2787"/>
                <a:ext cx="3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igh (H)</a:t>
                </a:r>
                <a:endParaRPr lang="en-US" altLang="en-US"/>
              </a:p>
            </p:txBody>
          </p:sp>
          <p:sp>
            <p:nvSpPr>
              <p:cNvPr id="55442" name="Rectangle 721">
                <a:extLst>
                  <a:ext uri="{FF2B5EF4-FFF2-40B4-BE49-F238E27FC236}">
                    <a16:creationId xmlns:a16="http://schemas.microsoft.com/office/drawing/2014/main" id="{DF804157-A2B3-F93A-2336-622148C7DA9F}"/>
                  </a:ext>
                </a:extLst>
              </p:cNvPr>
              <p:cNvSpPr>
                <a:spLocks noChangeArrowheads="1"/>
              </p:cNvSpPr>
              <p:nvPr/>
            </p:nvSpPr>
            <p:spPr bwMode="auto">
              <a:xfrm>
                <a:off x="783" y="278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443" name="Rectangle 722">
                <a:extLst>
                  <a:ext uri="{FF2B5EF4-FFF2-40B4-BE49-F238E27FC236}">
                    <a16:creationId xmlns:a16="http://schemas.microsoft.com/office/drawing/2014/main" id="{CFDFF5D7-2170-C673-CF64-4B50D6BA3D46}"/>
                  </a:ext>
                </a:extLst>
              </p:cNvPr>
              <p:cNvSpPr>
                <a:spLocks noChangeArrowheads="1"/>
              </p:cNvSpPr>
              <p:nvPr/>
            </p:nvSpPr>
            <p:spPr bwMode="auto">
              <a:xfrm>
                <a:off x="1096" y="2799"/>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4" name="Rectangle 723">
                <a:extLst>
                  <a:ext uri="{FF2B5EF4-FFF2-40B4-BE49-F238E27FC236}">
                    <a16:creationId xmlns:a16="http://schemas.microsoft.com/office/drawing/2014/main" id="{1562F481-7F7C-9C55-92D4-61A83BBE7F71}"/>
                  </a:ext>
                </a:extLst>
              </p:cNvPr>
              <p:cNvSpPr>
                <a:spLocks noChangeArrowheads="1"/>
              </p:cNvSpPr>
              <p:nvPr/>
            </p:nvSpPr>
            <p:spPr bwMode="auto">
              <a:xfrm>
                <a:off x="5034" y="2799"/>
                <a:ext cx="49" cy="5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5" name="Rectangle 724">
                <a:extLst>
                  <a:ext uri="{FF2B5EF4-FFF2-40B4-BE49-F238E27FC236}">
                    <a16:creationId xmlns:a16="http://schemas.microsoft.com/office/drawing/2014/main" id="{91C33C4F-88DF-70D2-995B-11AEBD514B25}"/>
                  </a:ext>
                </a:extLst>
              </p:cNvPr>
              <p:cNvSpPr>
                <a:spLocks noChangeArrowheads="1"/>
              </p:cNvSpPr>
              <p:nvPr/>
            </p:nvSpPr>
            <p:spPr bwMode="auto">
              <a:xfrm>
                <a:off x="1145" y="2799"/>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6" name="Rectangle 725">
                <a:extLst>
                  <a:ext uri="{FF2B5EF4-FFF2-40B4-BE49-F238E27FC236}">
                    <a16:creationId xmlns:a16="http://schemas.microsoft.com/office/drawing/2014/main" id="{A78F6D33-9430-8794-9174-737F2BACC559}"/>
                  </a:ext>
                </a:extLst>
              </p:cNvPr>
              <p:cNvSpPr>
                <a:spLocks noChangeArrowheads="1"/>
              </p:cNvSpPr>
              <p:nvPr/>
            </p:nvSpPr>
            <p:spPr bwMode="auto">
              <a:xfrm>
                <a:off x="1145" y="2787"/>
                <a:ext cx="382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Requires management attention, but management and planning can be left </a:t>
                </a:r>
                <a:endParaRPr lang="en-US" altLang="en-US"/>
              </a:p>
            </p:txBody>
          </p:sp>
          <p:sp>
            <p:nvSpPr>
              <p:cNvPr id="55447" name="Rectangle 726">
                <a:extLst>
                  <a:ext uri="{FF2B5EF4-FFF2-40B4-BE49-F238E27FC236}">
                    <a16:creationId xmlns:a16="http://schemas.microsoft.com/office/drawing/2014/main" id="{6641A206-2EDB-99C4-505A-4E2F10C46862}"/>
                  </a:ext>
                </a:extLst>
              </p:cNvPr>
              <p:cNvSpPr>
                <a:spLocks noChangeArrowheads="1"/>
              </p:cNvSpPr>
              <p:nvPr/>
            </p:nvSpPr>
            <p:spPr bwMode="auto">
              <a:xfrm>
                <a:off x="1145" y="2932"/>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48" name="Rectangle 727">
                <a:extLst>
                  <a:ext uri="{FF2B5EF4-FFF2-40B4-BE49-F238E27FC236}">
                    <a16:creationId xmlns:a16="http://schemas.microsoft.com/office/drawing/2014/main" id="{41942A9D-68B6-74DD-8270-D284BE68A385}"/>
                  </a:ext>
                </a:extLst>
              </p:cNvPr>
              <p:cNvSpPr>
                <a:spLocks noChangeArrowheads="1"/>
              </p:cNvSpPr>
              <p:nvPr/>
            </p:nvSpPr>
            <p:spPr bwMode="auto">
              <a:xfrm>
                <a:off x="1145" y="2920"/>
                <a:ext cx="368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to senior project or team leaders. Ongoing planning and monitoring with </a:t>
                </a:r>
                <a:endParaRPr lang="en-US" altLang="en-US"/>
              </a:p>
            </p:txBody>
          </p:sp>
          <p:sp>
            <p:nvSpPr>
              <p:cNvPr id="55449" name="Rectangle 728">
                <a:extLst>
                  <a:ext uri="{FF2B5EF4-FFF2-40B4-BE49-F238E27FC236}">
                    <a16:creationId xmlns:a16="http://schemas.microsoft.com/office/drawing/2014/main" id="{3CDC0AF5-D9DB-A414-C089-08B598352C8F}"/>
                  </a:ext>
                </a:extLst>
              </p:cNvPr>
              <p:cNvSpPr>
                <a:spLocks noChangeArrowheads="1"/>
              </p:cNvSpPr>
              <p:nvPr/>
            </p:nvSpPr>
            <p:spPr bwMode="auto">
              <a:xfrm>
                <a:off x="1145" y="3065"/>
                <a:ext cx="3889" cy="13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0" name="Rectangle 729">
                <a:extLst>
                  <a:ext uri="{FF2B5EF4-FFF2-40B4-BE49-F238E27FC236}">
                    <a16:creationId xmlns:a16="http://schemas.microsoft.com/office/drawing/2014/main" id="{65881B4A-601A-37C4-FA9F-F15FDACA42FB}"/>
                  </a:ext>
                </a:extLst>
              </p:cNvPr>
              <p:cNvSpPr>
                <a:spLocks noChangeArrowheads="1"/>
              </p:cNvSpPr>
              <p:nvPr/>
            </p:nvSpPr>
            <p:spPr bwMode="auto">
              <a:xfrm>
                <a:off x="1145" y="3054"/>
                <a:ext cx="37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regular reviews are likely, though adjustment of controls are likely to be </a:t>
                </a:r>
                <a:endParaRPr lang="en-US" altLang="en-US"/>
              </a:p>
            </p:txBody>
          </p:sp>
          <p:sp>
            <p:nvSpPr>
              <p:cNvPr id="55451" name="Rectangle 730">
                <a:extLst>
                  <a:ext uri="{FF2B5EF4-FFF2-40B4-BE49-F238E27FC236}">
                    <a16:creationId xmlns:a16="http://schemas.microsoft.com/office/drawing/2014/main" id="{B1E6E713-C6F8-8737-2343-CAF5C3283C9A}"/>
                  </a:ext>
                </a:extLst>
              </p:cNvPr>
              <p:cNvSpPr>
                <a:spLocks noChangeArrowheads="1"/>
              </p:cNvSpPr>
              <p:nvPr/>
            </p:nvSpPr>
            <p:spPr bwMode="auto">
              <a:xfrm>
                <a:off x="1145" y="3199"/>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2" name="Rectangle 731">
                <a:extLst>
                  <a:ext uri="{FF2B5EF4-FFF2-40B4-BE49-F238E27FC236}">
                    <a16:creationId xmlns:a16="http://schemas.microsoft.com/office/drawing/2014/main" id="{B9DE2222-847C-5DD3-5924-513D15B8EB66}"/>
                  </a:ext>
                </a:extLst>
              </p:cNvPr>
              <p:cNvSpPr>
                <a:spLocks noChangeArrowheads="1"/>
              </p:cNvSpPr>
              <p:nvPr/>
            </p:nvSpPr>
            <p:spPr bwMode="auto">
              <a:xfrm>
                <a:off x="1145" y="3187"/>
                <a:ext cx="17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met from within existing resources</a:t>
                </a:r>
                <a:endParaRPr lang="en-US" altLang="en-US"/>
              </a:p>
            </p:txBody>
          </p:sp>
          <p:sp>
            <p:nvSpPr>
              <p:cNvPr id="55453" name="Rectangle 732">
                <a:extLst>
                  <a:ext uri="{FF2B5EF4-FFF2-40B4-BE49-F238E27FC236}">
                    <a16:creationId xmlns:a16="http://schemas.microsoft.com/office/drawing/2014/main" id="{FEC7BD82-DF9A-78B2-574D-5464CD9F5FA2}"/>
                  </a:ext>
                </a:extLst>
              </p:cNvPr>
              <p:cNvSpPr>
                <a:spLocks noChangeArrowheads="1"/>
              </p:cNvSpPr>
              <p:nvPr/>
            </p:nvSpPr>
            <p:spPr bwMode="auto">
              <a:xfrm>
                <a:off x="2726" y="3187"/>
                <a:ext cx="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4" name="Rectangle 733">
                <a:extLst>
                  <a:ext uri="{FF2B5EF4-FFF2-40B4-BE49-F238E27FC236}">
                    <a16:creationId xmlns:a16="http://schemas.microsoft.com/office/drawing/2014/main" id="{DD1B8FAC-1E8E-EABD-4C94-F0E8DBAD3475}"/>
                  </a:ext>
                </a:extLst>
              </p:cNvPr>
              <p:cNvSpPr>
                <a:spLocks noChangeArrowheads="1"/>
              </p:cNvSpPr>
              <p:nvPr/>
            </p:nvSpPr>
            <p:spPr bwMode="auto">
              <a:xfrm>
                <a:off x="3012" y="318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455" name="Rectangle 734">
                <a:extLst>
                  <a:ext uri="{FF2B5EF4-FFF2-40B4-BE49-F238E27FC236}">
                    <a16:creationId xmlns:a16="http://schemas.microsoft.com/office/drawing/2014/main" id="{EEDC8F8C-4E00-1BA3-0680-54B0BCDB8EFC}"/>
                  </a:ext>
                </a:extLst>
              </p:cNvPr>
              <p:cNvSpPr>
                <a:spLocks noChangeArrowheads="1"/>
              </p:cNvSpPr>
              <p:nvPr/>
            </p:nvSpPr>
            <p:spPr bwMode="auto">
              <a:xfrm>
                <a:off x="295" y="279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6" name="Line 735">
                <a:extLst>
                  <a:ext uri="{FF2B5EF4-FFF2-40B4-BE49-F238E27FC236}">
                    <a16:creationId xmlns:a16="http://schemas.microsoft.com/office/drawing/2014/main" id="{E3832217-BB4F-6F8A-F894-2AB0BED0C2A3}"/>
                  </a:ext>
                </a:extLst>
              </p:cNvPr>
              <p:cNvSpPr>
                <a:spLocks noChangeShapeType="1"/>
              </p:cNvSpPr>
              <p:nvPr/>
            </p:nvSpPr>
            <p:spPr bwMode="auto">
              <a:xfrm>
                <a:off x="295" y="27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57" name="Line 736">
                <a:extLst>
                  <a:ext uri="{FF2B5EF4-FFF2-40B4-BE49-F238E27FC236}">
                    <a16:creationId xmlns:a16="http://schemas.microsoft.com/office/drawing/2014/main" id="{B1E4EF6A-90F6-F8F1-F6AD-0063576931FA}"/>
                  </a:ext>
                </a:extLst>
              </p:cNvPr>
              <p:cNvSpPr>
                <a:spLocks noChangeShapeType="1"/>
              </p:cNvSpPr>
              <p:nvPr/>
            </p:nvSpPr>
            <p:spPr bwMode="auto">
              <a:xfrm>
                <a:off x="295" y="279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58" name="Rectangle 737">
                <a:extLst>
                  <a:ext uri="{FF2B5EF4-FFF2-40B4-BE49-F238E27FC236}">
                    <a16:creationId xmlns:a16="http://schemas.microsoft.com/office/drawing/2014/main" id="{E9811DCE-0E4D-438A-29A8-91E9A80F9BF2}"/>
                  </a:ext>
                </a:extLst>
              </p:cNvPr>
              <p:cNvSpPr>
                <a:spLocks noChangeArrowheads="1"/>
              </p:cNvSpPr>
              <p:nvPr/>
            </p:nvSpPr>
            <p:spPr bwMode="auto">
              <a:xfrm>
                <a:off x="300" y="2795"/>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59" name="Line 738">
                <a:extLst>
                  <a:ext uri="{FF2B5EF4-FFF2-40B4-BE49-F238E27FC236}">
                    <a16:creationId xmlns:a16="http://schemas.microsoft.com/office/drawing/2014/main" id="{75101784-92A8-4446-0BEB-629279CE498A}"/>
                  </a:ext>
                </a:extLst>
              </p:cNvPr>
              <p:cNvSpPr>
                <a:spLocks noChangeShapeType="1"/>
              </p:cNvSpPr>
              <p:nvPr/>
            </p:nvSpPr>
            <p:spPr bwMode="auto">
              <a:xfrm>
                <a:off x="300" y="2795"/>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0" name="Rectangle 739">
                <a:extLst>
                  <a:ext uri="{FF2B5EF4-FFF2-40B4-BE49-F238E27FC236}">
                    <a16:creationId xmlns:a16="http://schemas.microsoft.com/office/drawing/2014/main" id="{F632FF20-0C4C-AE9B-F7A0-BDB1ABF5E4B2}"/>
                  </a:ext>
                </a:extLst>
              </p:cNvPr>
              <p:cNvSpPr>
                <a:spLocks noChangeArrowheads="1"/>
              </p:cNvSpPr>
              <p:nvPr/>
            </p:nvSpPr>
            <p:spPr bwMode="auto">
              <a:xfrm>
                <a:off x="1091" y="279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1" name="Line 740">
                <a:extLst>
                  <a:ext uri="{FF2B5EF4-FFF2-40B4-BE49-F238E27FC236}">
                    <a16:creationId xmlns:a16="http://schemas.microsoft.com/office/drawing/2014/main" id="{0C867CDD-A302-1D64-20AC-A953A00A1F56}"/>
                  </a:ext>
                </a:extLst>
              </p:cNvPr>
              <p:cNvSpPr>
                <a:spLocks noChangeShapeType="1"/>
              </p:cNvSpPr>
              <p:nvPr/>
            </p:nvSpPr>
            <p:spPr bwMode="auto">
              <a:xfrm>
                <a:off x="1091" y="27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2" name="Line 741">
                <a:extLst>
                  <a:ext uri="{FF2B5EF4-FFF2-40B4-BE49-F238E27FC236}">
                    <a16:creationId xmlns:a16="http://schemas.microsoft.com/office/drawing/2014/main" id="{CED5D0DE-FAF8-4530-DBFE-D9C50854EB67}"/>
                  </a:ext>
                </a:extLst>
              </p:cNvPr>
              <p:cNvSpPr>
                <a:spLocks noChangeShapeType="1"/>
              </p:cNvSpPr>
              <p:nvPr/>
            </p:nvSpPr>
            <p:spPr bwMode="auto">
              <a:xfrm>
                <a:off x="1091" y="279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3" name="Rectangle 742">
                <a:extLst>
                  <a:ext uri="{FF2B5EF4-FFF2-40B4-BE49-F238E27FC236}">
                    <a16:creationId xmlns:a16="http://schemas.microsoft.com/office/drawing/2014/main" id="{927AE789-5F93-2B0C-6505-E530FE239FB3}"/>
                  </a:ext>
                </a:extLst>
              </p:cNvPr>
              <p:cNvSpPr>
                <a:spLocks noChangeArrowheads="1"/>
              </p:cNvSpPr>
              <p:nvPr/>
            </p:nvSpPr>
            <p:spPr bwMode="auto">
              <a:xfrm>
                <a:off x="1096" y="2795"/>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4" name="Line 743">
                <a:extLst>
                  <a:ext uri="{FF2B5EF4-FFF2-40B4-BE49-F238E27FC236}">
                    <a16:creationId xmlns:a16="http://schemas.microsoft.com/office/drawing/2014/main" id="{76B83B28-73AC-FF59-9142-83A023634389}"/>
                  </a:ext>
                </a:extLst>
              </p:cNvPr>
              <p:cNvSpPr>
                <a:spLocks noChangeShapeType="1"/>
              </p:cNvSpPr>
              <p:nvPr/>
            </p:nvSpPr>
            <p:spPr bwMode="auto">
              <a:xfrm>
                <a:off x="1096" y="2795"/>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5" name="Rectangle 744">
                <a:extLst>
                  <a:ext uri="{FF2B5EF4-FFF2-40B4-BE49-F238E27FC236}">
                    <a16:creationId xmlns:a16="http://schemas.microsoft.com/office/drawing/2014/main" id="{452F80BA-3E9A-20FC-2A1E-EAFEDA5F61EC}"/>
                  </a:ext>
                </a:extLst>
              </p:cNvPr>
              <p:cNvSpPr>
                <a:spLocks noChangeArrowheads="1"/>
              </p:cNvSpPr>
              <p:nvPr/>
            </p:nvSpPr>
            <p:spPr bwMode="auto">
              <a:xfrm>
                <a:off x="5083" y="2795"/>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6" name="Line 745">
                <a:extLst>
                  <a:ext uri="{FF2B5EF4-FFF2-40B4-BE49-F238E27FC236}">
                    <a16:creationId xmlns:a16="http://schemas.microsoft.com/office/drawing/2014/main" id="{9ED60093-8204-9EDB-8442-5E40B821D486}"/>
                  </a:ext>
                </a:extLst>
              </p:cNvPr>
              <p:cNvSpPr>
                <a:spLocks noChangeShapeType="1"/>
              </p:cNvSpPr>
              <p:nvPr/>
            </p:nvSpPr>
            <p:spPr bwMode="auto">
              <a:xfrm>
                <a:off x="5083" y="2795"/>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7" name="Line 746">
                <a:extLst>
                  <a:ext uri="{FF2B5EF4-FFF2-40B4-BE49-F238E27FC236}">
                    <a16:creationId xmlns:a16="http://schemas.microsoft.com/office/drawing/2014/main" id="{FA26799F-4281-A9D7-4926-7FE75B85E5BF}"/>
                  </a:ext>
                </a:extLst>
              </p:cNvPr>
              <p:cNvSpPr>
                <a:spLocks noChangeShapeType="1"/>
              </p:cNvSpPr>
              <p:nvPr/>
            </p:nvSpPr>
            <p:spPr bwMode="auto">
              <a:xfrm>
                <a:off x="5083" y="2795"/>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68" name="Rectangle 747">
                <a:extLst>
                  <a:ext uri="{FF2B5EF4-FFF2-40B4-BE49-F238E27FC236}">
                    <a16:creationId xmlns:a16="http://schemas.microsoft.com/office/drawing/2014/main" id="{AC7C53E9-BBAB-5D0C-C209-ECD99502CE1A}"/>
                  </a:ext>
                </a:extLst>
              </p:cNvPr>
              <p:cNvSpPr>
                <a:spLocks noChangeArrowheads="1"/>
              </p:cNvSpPr>
              <p:nvPr/>
            </p:nvSpPr>
            <p:spPr bwMode="auto">
              <a:xfrm>
                <a:off x="295" y="2799"/>
                <a:ext cx="5"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69" name="Line 748">
                <a:extLst>
                  <a:ext uri="{FF2B5EF4-FFF2-40B4-BE49-F238E27FC236}">
                    <a16:creationId xmlns:a16="http://schemas.microsoft.com/office/drawing/2014/main" id="{B9664732-7C12-8E44-72B4-267C10724581}"/>
                  </a:ext>
                </a:extLst>
              </p:cNvPr>
              <p:cNvSpPr>
                <a:spLocks noChangeShapeType="1"/>
              </p:cNvSpPr>
              <p:nvPr/>
            </p:nvSpPr>
            <p:spPr bwMode="auto">
              <a:xfrm>
                <a:off x="295" y="2799"/>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70" name="Rectangle 749">
                <a:extLst>
                  <a:ext uri="{FF2B5EF4-FFF2-40B4-BE49-F238E27FC236}">
                    <a16:creationId xmlns:a16="http://schemas.microsoft.com/office/drawing/2014/main" id="{D0B8C54A-C45E-8288-366F-E6D699D639A3}"/>
                  </a:ext>
                </a:extLst>
              </p:cNvPr>
              <p:cNvSpPr>
                <a:spLocks noChangeArrowheads="1"/>
              </p:cNvSpPr>
              <p:nvPr/>
            </p:nvSpPr>
            <p:spPr bwMode="auto">
              <a:xfrm>
                <a:off x="1091" y="2799"/>
                <a:ext cx="5"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1" name="Line 750">
                <a:extLst>
                  <a:ext uri="{FF2B5EF4-FFF2-40B4-BE49-F238E27FC236}">
                    <a16:creationId xmlns:a16="http://schemas.microsoft.com/office/drawing/2014/main" id="{4A5CA395-2225-57B7-60C4-57E6978AF06E}"/>
                  </a:ext>
                </a:extLst>
              </p:cNvPr>
              <p:cNvSpPr>
                <a:spLocks noChangeShapeType="1"/>
              </p:cNvSpPr>
              <p:nvPr/>
            </p:nvSpPr>
            <p:spPr bwMode="auto">
              <a:xfrm>
                <a:off x="1091" y="2799"/>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72" name="Rectangle 751">
                <a:extLst>
                  <a:ext uri="{FF2B5EF4-FFF2-40B4-BE49-F238E27FC236}">
                    <a16:creationId xmlns:a16="http://schemas.microsoft.com/office/drawing/2014/main" id="{97810EF1-7173-073C-7B6A-0BDBC0DA2AA1}"/>
                  </a:ext>
                </a:extLst>
              </p:cNvPr>
              <p:cNvSpPr>
                <a:spLocks noChangeArrowheads="1"/>
              </p:cNvSpPr>
              <p:nvPr/>
            </p:nvSpPr>
            <p:spPr bwMode="auto">
              <a:xfrm>
                <a:off x="5083" y="2799"/>
                <a:ext cx="5" cy="5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3" name="Line 752">
                <a:extLst>
                  <a:ext uri="{FF2B5EF4-FFF2-40B4-BE49-F238E27FC236}">
                    <a16:creationId xmlns:a16="http://schemas.microsoft.com/office/drawing/2014/main" id="{77E36553-4E52-994C-47E8-4D8099A9CFD1}"/>
                  </a:ext>
                </a:extLst>
              </p:cNvPr>
              <p:cNvSpPr>
                <a:spLocks noChangeShapeType="1"/>
              </p:cNvSpPr>
              <p:nvPr/>
            </p:nvSpPr>
            <p:spPr bwMode="auto">
              <a:xfrm>
                <a:off x="5083" y="2799"/>
                <a:ext cx="0" cy="5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74" name="Rectangle 753">
                <a:extLst>
                  <a:ext uri="{FF2B5EF4-FFF2-40B4-BE49-F238E27FC236}">
                    <a16:creationId xmlns:a16="http://schemas.microsoft.com/office/drawing/2014/main" id="{9839D5ED-B3BF-F879-CFE4-BE504F1239B9}"/>
                  </a:ext>
                </a:extLst>
              </p:cNvPr>
              <p:cNvSpPr>
                <a:spLocks noChangeArrowheads="1"/>
              </p:cNvSpPr>
              <p:nvPr/>
            </p:nvSpPr>
            <p:spPr bwMode="auto">
              <a:xfrm>
                <a:off x="300" y="333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5" name="Rectangle 754">
                <a:extLst>
                  <a:ext uri="{FF2B5EF4-FFF2-40B4-BE49-F238E27FC236}">
                    <a16:creationId xmlns:a16="http://schemas.microsoft.com/office/drawing/2014/main" id="{1D7078E5-2C96-D628-8980-7D0D2D35EC4F}"/>
                  </a:ext>
                </a:extLst>
              </p:cNvPr>
              <p:cNvSpPr>
                <a:spLocks noChangeArrowheads="1"/>
              </p:cNvSpPr>
              <p:nvPr/>
            </p:nvSpPr>
            <p:spPr bwMode="auto">
              <a:xfrm>
                <a:off x="1042" y="3336"/>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6" name="Rectangle 755">
                <a:extLst>
                  <a:ext uri="{FF2B5EF4-FFF2-40B4-BE49-F238E27FC236}">
                    <a16:creationId xmlns:a16="http://schemas.microsoft.com/office/drawing/2014/main" id="{5E4B544B-F864-4520-C5BE-DD95518F8C5A}"/>
                  </a:ext>
                </a:extLst>
              </p:cNvPr>
              <p:cNvSpPr>
                <a:spLocks noChangeArrowheads="1"/>
              </p:cNvSpPr>
              <p:nvPr/>
            </p:nvSpPr>
            <p:spPr bwMode="auto">
              <a:xfrm>
                <a:off x="300" y="3469"/>
                <a:ext cx="791" cy="268"/>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7" name="Rectangle 756">
                <a:extLst>
                  <a:ext uri="{FF2B5EF4-FFF2-40B4-BE49-F238E27FC236}">
                    <a16:creationId xmlns:a16="http://schemas.microsoft.com/office/drawing/2014/main" id="{A870696B-6A28-F8DB-4D45-15F838318891}"/>
                  </a:ext>
                </a:extLst>
              </p:cNvPr>
              <p:cNvSpPr>
                <a:spLocks noChangeArrowheads="1"/>
              </p:cNvSpPr>
              <p:nvPr/>
            </p:nvSpPr>
            <p:spPr bwMode="auto">
              <a:xfrm>
                <a:off x="349" y="3336"/>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78" name="Rectangle 757">
                <a:extLst>
                  <a:ext uri="{FF2B5EF4-FFF2-40B4-BE49-F238E27FC236}">
                    <a16:creationId xmlns:a16="http://schemas.microsoft.com/office/drawing/2014/main" id="{B47BF597-0705-4CA3-28F8-5E5BF9D72591}"/>
                  </a:ext>
                </a:extLst>
              </p:cNvPr>
              <p:cNvSpPr>
                <a:spLocks noChangeArrowheads="1"/>
              </p:cNvSpPr>
              <p:nvPr/>
            </p:nvSpPr>
            <p:spPr bwMode="auto">
              <a:xfrm>
                <a:off x="349" y="3324"/>
                <a:ext cx="60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Medium (M)</a:t>
                </a:r>
                <a:endParaRPr lang="en-US" altLang="en-US"/>
              </a:p>
            </p:txBody>
          </p:sp>
          <p:sp>
            <p:nvSpPr>
              <p:cNvPr id="55479" name="Rectangle 758">
                <a:extLst>
                  <a:ext uri="{FF2B5EF4-FFF2-40B4-BE49-F238E27FC236}">
                    <a16:creationId xmlns:a16="http://schemas.microsoft.com/office/drawing/2014/main" id="{B9F4AA78-E7C1-8E8A-574E-256993A5E4B6}"/>
                  </a:ext>
                </a:extLst>
              </p:cNvPr>
              <p:cNvSpPr>
                <a:spLocks noChangeArrowheads="1"/>
              </p:cNvSpPr>
              <p:nvPr/>
            </p:nvSpPr>
            <p:spPr bwMode="auto">
              <a:xfrm>
                <a:off x="972" y="3324"/>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480" name="Rectangle 759">
                <a:extLst>
                  <a:ext uri="{FF2B5EF4-FFF2-40B4-BE49-F238E27FC236}">
                    <a16:creationId xmlns:a16="http://schemas.microsoft.com/office/drawing/2014/main" id="{967AB853-B598-833C-7595-818DE09C7670}"/>
                  </a:ext>
                </a:extLst>
              </p:cNvPr>
              <p:cNvSpPr>
                <a:spLocks noChangeArrowheads="1"/>
              </p:cNvSpPr>
              <p:nvPr/>
            </p:nvSpPr>
            <p:spPr bwMode="auto">
              <a:xfrm>
                <a:off x="1096" y="3336"/>
                <a:ext cx="49" cy="40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1" name="Rectangle 760">
                <a:extLst>
                  <a:ext uri="{FF2B5EF4-FFF2-40B4-BE49-F238E27FC236}">
                    <a16:creationId xmlns:a16="http://schemas.microsoft.com/office/drawing/2014/main" id="{FA2D51B5-DD3C-9B36-3E18-5F34CEBE6F47}"/>
                  </a:ext>
                </a:extLst>
              </p:cNvPr>
              <p:cNvSpPr>
                <a:spLocks noChangeArrowheads="1"/>
              </p:cNvSpPr>
              <p:nvPr/>
            </p:nvSpPr>
            <p:spPr bwMode="auto">
              <a:xfrm>
                <a:off x="5034" y="3336"/>
                <a:ext cx="49" cy="401"/>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2" name="Rectangle 761">
                <a:extLst>
                  <a:ext uri="{FF2B5EF4-FFF2-40B4-BE49-F238E27FC236}">
                    <a16:creationId xmlns:a16="http://schemas.microsoft.com/office/drawing/2014/main" id="{11E39654-0E81-FF9E-24DC-FBB09F1E9E71}"/>
                  </a:ext>
                </a:extLst>
              </p:cNvPr>
              <p:cNvSpPr>
                <a:spLocks noChangeArrowheads="1"/>
              </p:cNvSpPr>
              <p:nvPr/>
            </p:nvSpPr>
            <p:spPr bwMode="auto">
              <a:xfrm>
                <a:off x="1145" y="3336"/>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3" name="Rectangle 762">
                <a:extLst>
                  <a:ext uri="{FF2B5EF4-FFF2-40B4-BE49-F238E27FC236}">
                    <a16:creationId xmlns:a16="http://schemas.microsoft.com/office/drawing/2014/main" id="{0515979A-1B6A-92AF-2243-7DEC8DDD738E}"/>
                  </a:ext>
                </a:extLst>
              </p:cNvPr>
              <p:cNvSpPr>
                <a:spLocks noChangeArrowheads="1"/>
              </p:cNvSpPr>
              <p:nvPr/>
            </p:nvSpPr>
            <p:spPr bwMode="auto">
              <a:xfrm>
                <a:off x="1145" y="3324"/>
                <a:ext cx="37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Can be managed by existing specific monitoring and response procedures. </a:t>
                </a:r>
                <a:endParaRPr lang="en-US" altLang="en-US"/>
              </a:p>
            </p:txBody>
          </p:sp>
          <p:sp>
            <p:nvSpPr>
              <p:cNvPr id="55484" name="Rectangle 763">
                <a:extLst>
                  <a:ext uri="{FF2B5EF4-FFF2-40B4-BE49-F238E27FC236}">
                    <a16:creationId xmlns:a16="http://schemas.microsoft.com/office/drawing/2014/main" id="{3C9AC7C1-C32B-9E07-BEC9-8F677BA1AA2D}"/>
                  </a:ext>
                </a:extLst>
              </p:cNvPr>
              <p:cNvSpPr>
                <a:spLocks noChangeArrowheads="1"/>
              </p:cNvSpPr>
              <p:nvPr/>
            </p:nvSpPr>
            <p:spPr bwMode="auto">
              <a:xfrm>
                <a:off x="1145" y="3469"/>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5" name="Rectangle 764">
                <a:extLst>
                  <a:ext uri="{FF2B5EF4-FFF2-40B4-BE49-F238E27FC236}">
                    <a16:creationId xmlns:a16="http://schemas.microsoft.com/office/drawing/2014/main" id="{B9214BAF-2543-4069-5C1F-FC5EAF582D71}"/>
                  </a:ext>
                </a:extLst>
              </p:cNvPr>
              <p:cNvSpPr>
                <a:spLocks noChangeArrowheads="1"/>
              </p:cNvSpPr>
              <p:nvPr/>
            </p:nvSpPr>
            <p:spPr bwMode="auto">
              <a:xfrm>
                <a:off x="1145" y="3457"/>
                <a:ext cx="359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Management by employees is suitable with appropriate monitoring and </a:t>
                </a:r>
                <a:endParaRPr lang="en-US" altLang="en-US"/>
              </a:p>
            </p:txBody>
          </p:sp>
          <p:sp>
            <p:nvSpPr>
              <p:cNvPr id="55486" name="Rectangle 765">
                <a:extLst>
                  <a:ext uri="{FF2B5EF4-FFF2-40B4-BE49-F238E27FC236}">
                    <a16:creationId xmlns:a16="http://schemas.microsoft.com/office/drawing/2014/main" id="{9A576106-3591-79D9-46CD-452CDC77CB87}"/>
                  </a:ext>
                </a:extLst>
              </p:cNvPr>
              <p:cNvSpPr>
                <a:spLocks noChangeArrowheads="1"/>
              </p:cNvSpPr>
              <p:nvPr/>
            </p:nvSpPr>
            <p:spPr bwMode="auto">
              <a:xfrm>
                <a:off x="1145" y="3602"/>
                <a:ext cx="3889" cy="13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87" name="Rectangle 766">
                <a:extLst>
                  <a:ext uri="{FF2B5EF4-FFF2-40B4-BE49-F238E27FC236}">
                    <a16:creationId xmlns:a16="http://schemas.microsoft.com/office/drawing/2014/main" id="{B99E79DB-1034-ADE3-3614-2E00235A3285}"/>
                  </a:ext>
                </a:extLst>
              </p:cNvPr>
              <p:cNvSpPr>
                <a:spLocks noChangeArrowheads="1"/>
              </p:cNvSpPr>
              <p:nvPr/>
            </p:nvSpPr>
            <p:spPr bwMode="auto">
              <a:xfrm>
                <a:off x="1145" y="3590"/>
                <a:ext cx="4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reviews. </a:t>
                </a:r>
                <a:endParaRPr lang="en-US" altLang="en-US"/>
              </a:p>
            </p:txBody>
          </p:sp>
          <p:sp>
            <p:nvSpPr>
              <p:cNvPr id="55488" name="Rectangle 767">
                <a:extLst>
                  <a:ext uri="{FF2B5EF4-FFF2-40B4-BE49-F238E27FC236}">
                    <a16:creationId xmlns:a16="http://schemas.microsoft.com/office/drawing/2014/main" id="{5B01890B-C97A-22E6-E18E-4B8D6BD5A67E}"/>
                  </a:ext>
                </a:extLst>
              </p:cNvPr>
              <p:cNvSpPr>
                <a:spLocks noChangeArrowheads="1"/>
              </p:cNvSpPr>
              <p:nvPr/>
            </p:nvSpPr>
            <p:spPr bwMode="auto">
              <a:xfrm>
                <a:off x="1611" y="3590"/>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489" name="Rectangle 768">
                <a:extLst>
                  <a:ext uri="{FF2B5EF4-FFF2-40B4-BE49-F238E27FC236}">
                    <a16:creationId xmlns:a16="http://schemas.microsoft.com/office/drawing/2014/main" id="{30C8C6F0-A999-6B63-4C0F-2AB10B0D110E}"/>
                  </a:ext>
                </a:extLst>
              </p:cNvPr>
              <p:cNvSpPr>
                <a:spLocks noChangeArrowheads="1"/>
              </p:cNvSpPr>
              <p:nvPr/>
            </p:nvSpPr>
            <p:spPr bwMode="auto">
              <a:xfrm>
                <a:off x="295" y="333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0" name="Line 769">
                <a:extLst>
                  <a:ext uri="{FF2B5EF4-FFF2-40B4-BE49-F238E27FC236}">
                    <a16:creationId xmlns:a16="http://schemas.microsoft.com/office/drawing/2014/main" id="{D4E5ADE0-E3E9-23A4-052C-C6B813CBD6AF}"/>
                  </a:ext>
                </a:extLst>
              </p:cNvPr>
              <p:cNvSpPr>
                <a:spLocks noChangeShapeType="1"/>
              </p:cNvSpPr>
              <p:nvPr/>
            </p:nvSpPr>
            <p:spPr bwMode="auto">
              <a:xfrm>
                <a:off x="295" y="333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1" name="Line 770">
                <a:extLst>
                  <a:ext uri="{FF2B5EF4-FFF2-40B4-BE49-F238E27FC236}">
                    <a16:creationId xmlns:a16="http://schemas.microsoft.com/office/drawing/2014/main" id="{AB2EF35B-B508-BB47-C7BD-6850C1E3C311}"/>
                  </a:ext>
                </a:extLst>
              </p:cNvPr>
              <p:cNvSpPr>
                <a:spLocks noChangeShapeType="1"/>
              </p:cNvSpPr>
              <p:nvPr/>
            </p:nvSpPr>
            <p:spPr bwMode="auto">
              <a:xfrm>
                <a:off x="295" y="333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2" name="Rectangle 771">
                <a:extLst>
                  <a:ext uri="{FF2B5EF4-FFF2-40B4-BE49-F238E27FC236}">
                    <a16:creationId xmlns:a16="http://schemas.microsoft.com/office/drawing/2014/main" id="{3A916D38-461D-5A30-D781-AD74C7463E0B}"/>
                  </a:ext>
                </a:extLst>
              </p:cNvPr>
              <p:cNvSpPr>
                <a:spLocks noChangeArrowheads="1"/>
              </p:cNvSpPr>
              <p:nvPr/>
            </p:nvSpPr>
            <p:spPr bwMode="auto">
              <a:xfrm>
                <a:off x="300" y="3332"/>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3" name="Line 772">
                <a:extLst>
                  <a:ext uri="{FF2B5EF4-FFF2-40B4-BE49-F238E27FC236}">
                    <a16:creationId xmlns:a16="http://schemas.microsoft.com/office/drawing/2014/main" id="{FE02C7A1-178B-1ACA-DC50-F5EDFF7495DC}"/>
                  </a:ext>
                </a:extLst>
              </p:cNvPr>
              <p:cNvSpPr>
                <a:spLocks noChangeShapeType="1"/>
              </p:cNvSpPr>
              <p:nvPr/>
            </p:nvSpPr>
            <p:spPr bwMode="auto">
              <a:xfrm>
                <a:off x="300" y="3332"/>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4" name="Rectangle 773">
                <a:extLst>
                  <a:ext uri="{FF2B5EF4-FFF2-40B4-BE49-F238E27FC236}">
                    <a16:creationId xmlns:a16="http://schemas.microsoft.com/office/drawing/2014/main" id="{2FDA89F8-1C43-B647-D68F-4FDC86848058}"/>
                  </a:ext>
                </a:extLst>
              </p:cNvPr>
              <p:cNvSpPr>
                <a:spLocks noChangeArrowheads="1"/>
              </p:cNvSpPr>
              <p:nvPr/>
            </p:nvSpPr>
            <p:spPr bwMode="auto">
              <a:xfrm>
                <a:off x="1091" y="333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5" name="Line 774">
                <a:extLst>
                  <a:ext uri="{FF2B5EF4-FFF2-40B4-BE49-F238E27FC236}">
                    <a16:creationId xmlns:a16="http://schemas.microsoft.com/office/drawing/2014/main" id="{1A8F0D67-AC21-A71D-C41D-4FE67A901EC2}"/>
                  </a:ext>
                </a:extLst>
              </p:cNvPr>
              <p:cNvSpPr>
                <a:spLocks noChangeShapeType="1"/>
              </p:cNvSpPr>
              <p:nvPr/>
            </p:nvSpPr>
            <p:spPr bwMode="auto">
              <a:xfrm>
                <a:off x="1091" y="333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6" name="Line 775">
                <a:extLst>
                  <a:ext uri="{FF2B5EF4-FFF2-40B4-BE49-F238E27FC236}">
                    <a16:creationId xmlns:a16="http://schemas.microsoft.com/office/drawing/2014/main" id="{33A03C41-3D7E-F4AE-4087-E87F815D93A5}"/>
                  </a:ext>
                </a:extLst>
              </p:cNvPr>
              <p:cNvSpPr>
                <a:spLocks noChangeShapeType="1"/>
              </p:cNvSpPr>
              <p:nvPr/>
            </p:nvSpPr>
            <p:spPr bwMode="auto">
              <a:xfrm>
                <a:off x="1091" y="333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7" name="Rectangle 776">
                <a:extLst>
                  <a:ext uri="{FF2B5EF4-FFF2-40B4-BE49-F238E27FC236}">
                    <a16:creationId xmlns:a16="http://schemas.microsoft.com/office/drawing/2014/main" id="{299064F7-D560-E253-ECB4-8AB4218FB427}"/>
                  </a:ext>
                </a:extLst>
              </p:cNvPr>
              <p:cNvSpPr>
                <a:spLocks noChangeArrowheads="1"/>
              </p:cNvSpPr>
              <p:nvPr/>
            </p:nvSpPr>
            <p:spPr bwMode="auto">
              <a:xfrm>
                <a:off x="1096" y="3332"/>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498" name="Line 777">
                <a:extLst>
                  <a:ext uri="{FF2B5EF4-FFF2-40B4-BE49-F238E27FC236}">
                    <a16:creationId xmlns:a16="http://schemas.microsoft.com/office/drawing/2014/main" id="{8461EFB5-5A54-F9BC-91B4-87638DCC9505}"/>
                  </a:ext>
                </a:extLst>
              </p:cNvPr>
              <p:cNvSpPr>
                <a:spLocks noChangeShapeType="1"/>
              </p:cNvSpPr>
              <p:nvPr/>
            </p:nvSpPr>
            <p:spPr bwMode="auto">
              <a:xfrm>
                <a:off x="1096" y="3332"/>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499" name="Rectangle 778">
                <a:extLst>
                  <a:ext uri="{FF2B5EF4-FFF2-40B4-BE49-F238E27FC236}">
                    <a16:creationId xmlns:a16="http://schemas.microsoft.com/office/drawing/2014/main" id="{D5ADFEF6-8C8E-A318-B1BB-9A3C2682A2B4}"/>
                  </a:ext>
                </a:extLst>
              </p:cNvPr>
              <p:cNvSpPr>
                <a:spLocks noChangeArrowheads="1"/>
              </p:cNvSpPr>
              <p:nvPr/>
            </p:nvSpPr>
            <p:spPr bwMode="auto">
              <a:xfrm>
                <a:off x="5083" y="3332"/>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0" name="Line 779">
                <a:extLst>
                  <a:ext uri="{FF2B5EF4-FFF2-40B4-BE49-F238E27FC236}">
                    <a16:creationId xmlns:a16="http://schemas.microsoft.com/office/drawing/2014/main" id="{5B376414-E331-9DE6-8BEF-3A3AB6249BA8}"/>
                  </a:ext>
                </a:extLst>
              </p:cNvPr>
              <p:cNvSpPr>
                <a:spLocks noChangeShapeType="1"/>
              </p:cNvSpPr>
              <p:nvPr/>
            </p:nvSpPr>
            <p:spPr bwMode="auto">
              <a:xfrm>
                <a:off x="5083" y="3332"/>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1" name="Line 780">
                <a:extLst>
                  <a:ext uri="{FF2B5EF4-FFF2-40B4-BE49-F238E27FC236}">
                    <a16:creationId xmlns:a16="http://schemas.microsoft.com/office/drawing/2014/main" id="{A47B3028-DC4F-A4FC-2DA2-BF3F52C30CE4}"/>
                  </a:ext>
                </a:extLst>
              </p:cNvPr>
              <p:cNvSpPr>
                <a:spLocks noChangeShapeType="1"/>
              </p:cNvSpPr>
              <p:nvPr/>
            </p:nvSpPr>
            <p:spPr bwMode="auto">
              <a:xfrm>
                <a:off x="5083" y="3332"/>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2" name="Rectangle 781">
                <a:extLst>
                  <a:ext uri="{FF2B5EF4-FFF2-40B4-BE49-F238E27FC236}">
                    <a16:creationId xmlns:a16="http://schemas.microsoft.com/office/drawing/2014/main" id="{0285E149-A26A-0C45-F6DF-1547C9D1CFD5}"/>
                  </a:ext>
                </a:extLst>
              </p:cNvPr>
              <p:cNvSpPr>
                <a:spLocks noChangeArrowheads="1"/>
              </p:cNvSpPr>
              <p:nvPr/>
            </p:nvSpPr>
            <p:spPr bwMode="auto">
              <a:xfrm>
                <a:off x="295" y="3336"/>
                <a:ext cx="5" cy="4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3" name="Line 782">
                <a:extLst>
                  <a:ext uri="{FF2B5EF4-FFF2-40B4-BE49-F238E27FC236}">
                    <a16:creationId xmlns:a16="http://schemas.microsoft.com/office/drawing/2014/main" id="{7DF592DE-D372-468F-5B9D-DF4BC57E42D5}"/>
                  </a:ext>
                </a:extLst>
              </p:cNvPr>
              <p:cNvSpPr>
                <a:spLocks noChangeShapeType="1"/>
              </p:cNvSpPr>
              <p:nvPr/>
            </p:nvSpPr>
            <p:spPr bwMode="auto">
              <a:xfrm>
                <a:off x="295" y="3336"/>
                <a:ext cx="0" cy="4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4" name="Rectangle 783">
                <a:extLst>
                  <a:ext uri="{FF2B5EF4-FFF2-40B4-BE49-F238E27FC236}">
                    <a16:creationId xmlns:a16="http://schemas.microsoft.com/office/drawing/2014/main" id="{400418D3-4C1B-AB56-E054-427EA999792C}"/>
                  </a:ext>
                </a:extLst>
              </p:cNvPr>
              <p:cNvSpPr>
                <a:spLocks noChangeArrowheads="1"/>
              </p:cNvSpPr>
              <p:nvPr/>
            </p:nvSpPr>
            <p:spPr bwMode="auto">
              <a:xfrm>
                <a:off x="1091" y="3336"/>
                <a:ext cx="5" cy="4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5" name="Line 784">
                <a:extLst>
                  <a:ext uri="{FF2B5EF4-FFF2-40B4-BE49-F238E27FC236}">
                    <a16:creationId xmlns:a16="http://schemas.microsoft.com/office/drawing/2014/main" id="{6CE018DA-69B9-9661-AE8D-77926FBA7CA3}"/>
                  </a:ext>
                </a:extLst>
              </p:cNvPr>
              <p:cNvSpPr>
                <a:spLocks noChangeShapeType="1"/>
              </p:cNvSpPr>
              <p:nvPr/>
            </p:nvSpPr>
            <p:spPr bwMode="auto">
              <a:xfrm>
                <a:off x="1091" y="3336"/>
                <a:ext cx="0" cy="4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6" name="Rectangle 785">
                <a:extLst>
                  <a:ext uri="{FF2B5EF4-FFF2-40B4-BE49-F238E27FC236}">
                    <a16:creationId xmlns:a16="http://schemas.microsoft.com/office/drawing/2014/main" id="{3DCB8173-151B-4E74-AFF2-17B2BDB2792A}"/>
                  </a:ext>
                </a:extLst>
              </p:cNvPr>
              <p:cNvSpPr>
                <a:spLocks noChangeArrowheads="1"/>
              </p:cNvSpPr>
              <p:nvPr/>
            </p:nvSpPr>
            <p:spPr bwMode="auto">
              <a:xfrm>
                <a:off x="5083" y="3336"/>
                <a:ext cx="5" cy="40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7" name="Line 786">
                <a:extLst>
                  <a:ext uri="{FF2B5EF4-FFF2-40B4-BE49-F238E27FC236}">
                    <a16:creationId xmlns:a16="http://schemas.microsoft.com/office/drawing/2014/main" id="{7E451621-C3B0-FF3D-5BFA-0D82120A04BE}"/>
                  </a:ext>
                </a:extLst>
              </p:cNvPr>
              <p:cNvSpPr>
                <a:spLocks noChangeShapeType="1"/>
              </p:cNvSpPr>
              <p:nvPr/>
            </p:nvSpPr>
            <p:spPr bwMode="auto">
              <a:xfrm>
                <a:off x="5083" y="3336"/>
                <a:ext cx="0" cy="4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08" name="Rectangle 787">
                <a:extLst>
                  <a:ext uri="{FF2B5EF4-FFF2-40B4-BE49-F238E27FC236}">
                    <a16:creationId xmlns:a16="http://schemas.microsoft.com/office/drawing/2014/main" id="{07E03E4E-64DE-DEE9-8CEA-6B75312C36CF}"/>
                  </a:ext>
                </a:extLst>
              </p:cNvPr>
              <p:cNvSpPr>
                <a:spLocks noChangeArrowheads="1"/>
              </p:cNvSpPr>
              <p:nvPr/>
            </p:nvSpPr>
            <p:spPr bwMode="auto">
              <a:xfrm>
                <a:off x="300"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09" name="Rectangle 788">
                <a:extLst>
                  <a:ext uri="{FF2B5EF4-FFF2-40B4-BE49-F238E27FC236}">
                    <a16:creationId xmlns:a16="http://schemas.microsoft.com/office/drawing/2014/main" id="{A52C2719-895C-12D2-0D9F-806D0051B6E2}"/>
                  </a:ext>
                </a:extLst>
              </p:cNvPr>
              <p:cNvSpPr>
                <a:spLocks noChangeArrowheads="1"/>
              </p:cNvSpPr>
              <p:nvPr/>
            </p:nvSpPr>
            <p:spPr bwMode="auto">
              <a:xfrm>
                <a:off x="1042"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0" name="Rectangle 789">
                <a:extLst>
                  <a:ext uri="{FF2B5EF4-FFF2-40B4-BE49-F238E27FC236}">
                    <a16:creationId xmlns:a16="http://schemas.microsoft.com/office/drawing/2014/main" id="{124FE69F-88C6-CE0C-4566-BD64B1AEFA06}"/>
                  </a:ext>
                </a:extLst>
              </p:cNvPr>
              <p:cNvSpPr>
                <a:spLocks noChangeArrowheads="1"/>
              </p:cNvSpPr>
              <p:nvPr/>
            </p:nvSpPr>
            <p:spPr bwMode="auto">
              <a:xfrm>
                <a:off x="349" y="3741"/>
                <a:ext cx="693"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1" name="Rectangle 790">
                <a:extLst>
                  <a:ext uri="{FF2B5EF4-FFF2-40B4-BE49-F238E27FC236}">
                    <a16:creationId xmlns:a16="http://schemas.microsoft.com/office/drawing/2014/main" id="{C23E39FD-A8D3-F0D3-EA1B-CEF5057BBB4A}"/>
                  </a:ext>
                </a:extLst>
              </p:cNvPr>
              <p:cNvSpPr>
                <a:spLocks noChangeArrowheads="1"/>
              </p:cNvSpPr>
              <p:nvPr/>
            </p:nvSpPr>
            <p:spPr bwMode="auto">
              <a:xfrm>
                <a:off x="349" y="3729"/>
                <a:ext cx="39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Low (L)</a:t>
                </a:r>
                <a:endParaRPr lang="en-US" altLang="en-US"/>
              </a:p>
            </p:txBody>
          </p:sp>
          <p:sp>
            <p:nvSpPr>
              <p:cNvPr id="55512" name="Rectangle 791">
                <a:extLst>
                  <a:ext uri="{FF2B5EF4-FFF2-40B4-BE49-F238E27FC236}">
                    <a16:creationId xmlns:a16="http://schemas.microsoft.com/office/drawing/2014/main" id="{BB9218A9-A357-81FF-79CF-A1CBD31D226F}"/>
                  </a:ext>
                </a:extLst>
              </p:cNvPr>
              <p:cNvSpPr>
                <a:spLocks noChangeArrowheads="1"/>
              </p:cNvSpPr>
              <p:nvPr/>
            </p:nvSpPr>
            <p:spPr bwMode="auto">
              <a:xfrm>
                <a:off x="749" y="372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b="1">
                    <a:solidFill>
                      <a:srgbClr val="000000"/>
                    </a:solidFill>
                    <a:latin typeface="Trebuchet MS" panose="020B0703020202090204" pitchFamily="34" charset="0"/>
                  </a:rPr>
                  <a:t> </a:t>
                </a:r>
                <a:endParaRPr lang="en-US" altLang="en-US"/>
              </a:p>
            </p:txBody>
          </p:sp>
          <p:sp>
            <p:nvSpPr>
              <p:cNvPr id="55513" name="Rectangle 792">
                <a:extLst>
                  <a:ext uri="{FF2B5EF4-FFF2-40B4-BE49-F238E27FC236}">
                    <a16:creationId xmlns:a16="http://schemas.microsoft.com/office/drawing/2014/main" id="{31692C2F-77DE-DEBB-1D50-0EF6736FB69A}"/>
                  </a:ext>
                </a:extLst>
              </p:cNvPr>
              <p:cNvSpPr>
                <a:spLocks noChangeArrowheads="1"/>
              </p:cNvSpPr>
              <p:nvPr/>
            </p:nvSpPr>
            <p:spPr bwMode="auto">
              <a:xfrm>
                <a:off x="1096"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4" name="Rectangle 793">
                <a:extLst>
                  <a:ext uri="{FF2B5EF4-FFF2-40B4-BE49-F238E27FC236}">
                    <a16:creationId xmlns:a16="http://schemas.microsoft.com/office/drawing/2014/main" id="{322C3468-CD00-C55A-C6A9-9B3D51F15A23}"/>
                  </a:ext>
                </a:extLst>
              </p:cNvPr>
              <p:cNvSpPr>
                <a:spLocks noChangeArrowheads="1"/>
              </p:cNvSpPr>
              <p:nvPr/>
            </p:nvSpPr>
            <p:spPr bwMode="auto">
              <a:xfrm>
                <a:off x="5034" y="3741"/>
                <a:ext cx="4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5" name="Rectangle 794">
                <a:extLst>
                  <a:ext uri="{FF2B5EF4-FFF2-40B4-BE49-F238E27FC236}">
                    <a16:creationId xmlns:a16="http://schemas.microsoft.com/office/drawing/2014/main" id="{E7E0BB8D-5BCA-0C61-358D-AF87508765AD}"/>
                  </a:ext>
                </a:extLst>
              </p:cNvPr>
              <p:cNvSpPr>
                <a:spLocks noChangeArrowheads="1"/>
              </p:cNvSpPr>
              <p:nvPr/>
            </p:nvSpPr>
            <p:spPr bwMode="auto">
              <a:xfrm>
                <a:off x="1145" y="3741"/>
                <a:ext cx="3889" cy="133"/>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6" name="Rectangle 795">
                <a:extLst>
                  <a:ext uri="{FF2B5EF4-FFF2-40B4-BE49-F238E27FC236}">
                    <a16:creationId xmlns:a16="http://schemas.microsoft.com/office/drawing/2014/main" id="{F1F7ED14-2F58-645D-664E-394057B49321}"/>
                  </a:ext>
                </a:extLst>
              </p:cNvPr>
              <p:cNvSpPr>
                <a:spLocks noChangeArrowheads="1"/>
              </p:cNvSpPr>
              <p:nvPr/>
            </p:nvSpPr>
            <p:spPr bwMode="auto">
              <a:xfrm>
                <a:off x="1145" y="3729"/>
                <a:ext cx="231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Can be managed through routine procedures. </a:t>
                </a:r>
                <a:endParaRPr lang="en-US" altLang="en-US"/>
              </a:p>
            </p:txBody>
          </p:sp>
          <p:sp>
            <p:nvSpPr>
              <p:cNvPr id="55517" name="Rectangle 796">
                <a:extLst>
                  <a:ext uri="{FF2B5EF4-FFF2-40B4-BE49-F238E27FC236}">
                    <a16:creationId xmlns:a16="http://schemas.microsoft.com/office/drawing/2014/main" id="{5CAA17F4-263B-8381-5AC2-221259CC7542}"/>
                  </a:ext>
                </a:extLst>
              </p:cNvPr>
              <p:cNvSpPr>
                <a:spLocks noChangeArrowheads="1"/>
              </p:cNvSpPr>
              <p:nvPr/>
            </p:nvSpPr>
            <p:spPr bwMode="auto">
              <a:xfrm>
                <a:off x="3510" y="3729"/>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sp>
            <p:nvSpPr>
              <p:cNvPr id="55518" name="Rectangle 797">
                <a:extLst>
                  <a:ext uri="{FF2B5EF4-FFF2-40B4-BE49-F238E27FC236}">
                    <a16:creationId xmlns:a16="http://schemas.microsoft.com/office/drawing/2014/main" id="{6D424BFA-747A-B458-72F1-B93A6FA2E3E1}"/>
                  </a:ext>
                </a:extLst>
              </p:cNvPr>
              <p:cNvSpPr>
                <a:spLocks noChangeArrowheads="1"/>
              </p:cNvSpPr>
              <p:nvPr/>
            </p:nvSpPr>
            <p:spPr bwMode="auto">
              <a:xfrm>
                <a:off x="295" y="373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19" name="Line 798">
                <a:extLst>
                  <a:ext uri="{FF2B5EF4-FFF2-40B4-BE49-F238E27FC236}">
                    <a16:creationId xmlns:a16="http://schemas.microsoft.com/office/drawing/2014/main" id="{43AFD477-3649-86FB-DBDF-1CA795B03EA1}"/>
                  </a:ext>
                </a:extLst>
              </p:cNvPr>
              <p:cNvSpPr>
                <a:spLocks noChangeShapeType="1"/>
              </p:cNvSpPr>
              <p:nvPr/>
            </p:nvSpPr>
            <p:spPr bwMode="auto">
              <a:xfrm>
                <a:off x="295" y="373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0" name="Line 799">
                <a:extLst>
                  <a:ext uri="{FF2B5EF4-FFF2-40B4-BE49-F238E27FC236}">
                    <a16:creationId xmlns:a16="http://schemas.microsoft.com/office/drawing/2014/main" id="{7B2BDE87-7B20-8ACD-5BB6-72662A4D3C32}"/>
                  </a:ext>
                </a:extLst>
              </p:cNvPr>
              <p:cNvSpPr>
                <a:spLocks noChangeShapeType="1"/>
              </p:cNvSpPr>
              <p:nvPr/>
            </p:nvSpPr>
            <p:spPr bwMode="auto">
              <a:xfrm>
                <a:off x="295" y="373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1" name="Rectangle 800">
                <a:extLst>
                  <a:ext uri="{FF2B5EF4-FFF2-40B4-BE49-F238E27FC236}">
                    <a16:creationId xmlns:a16="http://schemas.microsoft.com/office/drawing/2014/main" id="{C2FA5D8E-AB3B-9D3D-731A-78624C57E959}"/>
                  </a:ext>
                </a:extLst>
              </p:cNvPr>
              <p:cNvSpPr>
                <a:spLocks noChangeArrowheads="1"/>
              </p:cNvSpPr>
              <p:nvPr/>
            </p:nvSpPr>
            <p:spPr bwMode="auto">
              <a:xfrm>
                <a:off x="300" y="3737"/>
                <a:ext cx="791"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2" name="Line 801">
                <a:extLst>
                  <a:ext uri="{FF2B5EF4-FFF2-40B4-BE49-F238E27FC236}">
                    <a16:creationId xmlns:a16="http://schemas.microsoft.com/office/drawing/2014/main" id="{5677282F-335B-0FE7-01FE-85F70316ACDC}"/>
                  </a:ext>
                </a:extLst>
              </p:cNvPr>
              <p:cNvSpPr>
                <a:spLocks noChangeShapeType="1"/>
              </p:cNvSpPr>
              <p:nvPr/>
            </p:nvSpPr>
            <p:spPr bwMode="auto">
              <a:xfrm>
                <a:off x="300" y="3737"/>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3" name="Rectangle 802">
                <a:extLst>
                  <a:ext uri="{FF2B5EF4-FFF2-40B4-BE49-F238E27FC236}">
                    <a16:creationId xmlns:a16="http://schemas.microsoft.com/office/drawing/2014/main" id="{1A94483E-1834-7997-462C-00E883EEA548}"/>
                  </a:ext>
                </a:extLst>
              </p:cNvPr>
              <p:cNvSpPr>
                <a:spLocks noChangeArrowheads="1"/>
              </p:cNvSpPr>
              <p:nvPr/>
            </p:nvSpPr>
            <p:spPr bwMode="auto">
              <a:xfrm>
                <a:off x="1091" y="373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4" name="Line 803">
                <a:extLst>
                  <a:ext uri="{FF2B5EF4-FFF2-40B4-BE49-F238E27FC236}">
                    <a16:creationId xmlns:a16="http://schemas.microsoft.com/office/drawing/2014/main" id="{25A2D699-16E4-4787-8368-B3594742EAB3}"/>
                  </a:ext>
                </a:extLst>
              </p:cNvPr>
              <p:cNvSpPr>
                <a:spLocks noChangeShapeType="1"/>
              </p:cNvSpPr>
              <p:nvPr/>
            </p:nvSpPr>
            <p:spPr bwMode="auto">
              <a:xfrm>
                <a:off x="1091" y="373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5" name="Line 804">
                <a:extLst>
                  <a:ext uri="{FF2B5EF4-FFF2-40B4-BE49-F238E27FC236}">
                    <a16:creationId xmlns:a16="http://schemas.microsoft.com/office/drawing/2014/main" id="{8C9C2ACA-6429-7B0B-8857-543058286A1C}"/>
                  </a:ext>
                </a:extLst>
              </p:cNvPr>
              <p:cNvSpPr>
                <a:spLocks noChangeShapeType="1"/>
              </p:cNvSpPr>
              <p:nvPr/>
            </p:nvSpPr>
            <p:spPr bwMode="auto">
              <a:xfrm>
                <a:off x="1091" y="373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6" name="Rectangle 805">
                <a:extLst>
                  <a:ext uri="{FF2B5EF4-FFF2-40B4-BE49-F238E27FC236}">
                    <a16:creationId xmlns:a16="http://schemas.microsoft.com/office/drawing/2014/main" id="{9AAEC1E9-B56F-CD1B-1019-2E553F526A91}"/>
                  </a:ext>
                </a:extLst>
              </p:cNvPr>
              <p:cNvSpPr>
                <a:spLocks noChangeArrowheads="1"/>
              </p:cNvSpPr>
              <p:nvPr/>
            </p:nvSpPr>
            <p:spPr bwMode="auto">
              <a:xfrm>
                <a:off x="1096" y="3737"/>
                <a:ext cx="3987"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7" name="Line 806">
                <a:extLst>
                  <a:ext uri="{FF2B5EF4-FFF2-40B4-BE49-F238E27FC236}">
                    <a16:creationId xmlns:a16="http://schemas.microsoft.com/office/drawing/2014/main" id="{461D8AB9-5D4B-44E2-89D3-0B018B913945}"/>
                  </a:ext>
                </a:extLst>
              </p:cNvPr>
              <p:cNvSpPr>
                <a:spLocks noChangeShapeType="1"/>
              </p:cNvSpPr>
              <p:nvPr/>
            </p:nvSpPr>
            <p:spPr bwMode="auto">
              <a:xfrm>
                <a:off x="1096" y="3737"/>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28" name="Rectangle 807">
                <a:extLst>
                  <a:ext uri="{FF2B5EF4-FFF2-40B4-BE49-F238E27FC236}">
                    <a16:creationId xmlns:a16="http://schemas.microsoft.com/office/drawing/2014/main" id="{8B29C05F-E0AC-7CFB-9C99-C376A55D9682}"/>
                  </a:ext>
                </a:extLst>
              </p:cNvPr>
              <p:cNvSpPr>
                <a:spLocks noChangeArrowheads="1"/>
              </p:cNvSpPr>
              <p:nvPr/>
            </p:nvSpPr>
            <p:spPr bwMode="auto">
              <a:xfrm>
                <a:off x="5083" y="3737"/>
                <a:ext cx="5" cy="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529" name="Line 808">
                <a:extLst>
                  <a:ext uri="{FF2B5EF4-FFF2-40B4-BE49-F238E27FC236}">
                    <a16:creationId xmlns:a16="http://schemas.microsoft.com/office/drawing/2014/main" id="{F0574803-8348-003B-84A7-3933EFE6365D}"/>
                  </a:ext>
                </a:extLst>
              </p:cNvPr>
              <p:cNvSpPr>
                <a:spLocks noChangeShapeType="1"/>
              </p:cNvSpPr>
              <p:nvPr/>
            </p:nvSpPr>
            <p:spPr bwMode="auto">
              <a:xfrm>
                <a:off x="5083" y="3737"/>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530" name="Line 809">
                <a:extLst>
                  <a:ext uri="{FF2B5EF4-FFF2-40B4-BE49-F238E27FC236}">
                    <a16:creationId xmlns:a16="http://schemas.microsoft.com/office/drawing/2014/main" id="{BD071850-4BFB-9D19-6763-2352320E52FA}"/>
                  </a:ext>
                </a:extLst>
              </p:cNvPr>
              <p:cNvSpPr>
                <a:spLocks noChangeShapeType="1"/>
              </p:cNvSpPr>
              <p:nvPr/>
            </p:nvSpPr>
            <p:spPr bwMode="auto">
              <a:xfrm>
                <a:off x="5083" y="3737"/>
                <a:ext cx="0" cy="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5305" name="Rectangle 811">
              <a:extLst>
                <a:ext uri="{FF2B5EF4-FFF2-40B4-BE49-F238E27FC236}">
                  <a16:creationId xmlns:a16="http://schemas.microsoft.com/office/drawing/2014/main" id="{DEB2715D-0E0F-A3AB-9084-177BB25B4A85}"/>
                </a:ext>
              </a:extLst>
            </p:cNvPr>
            <p:cNvSpPr>
              <a:spLocks noChangeArrowheads="1"/>
            </p:cNvSpPr>
            <p:nvPr/>
          </p:nvSpPr>
          <p:spPr bwMode="auto">
            <a:xfrm>
              <a:off x="295" y="3741"/>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06" name="Line 812">
              <a:extLst>
                <a:ext uri="{FF2B5EF4-FFF2-40B4-BE49-F238E27FC236}">
                  <a16:creationId xmlns:a16="http://schemas.microsoft.com/office/drawing/2014/main" id="{C46A7E67-2C9F-87E6-B048-B998A43FBA65}"/>
                </a:ext>
              </a:extLst>
            </p:cNvPr>
            <p:cNvSpPr>
              <a:spLocks noChangeShapeType="1"/>
            </p:cNvSpPr>
            <p:nvPr/>
          </p:nvSpPr>
          <p:spPr bwMode="auto">
            <a:xfrm>
              <a:off x="295" y="3741"/>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7" name="Rectangle 813">
              <a:extLst>
                <a:ext uri="{FF2B5EF4-FFF2-40B4-BE49-F238E27FC236}">
                  <a16:creationId xmlns:a16="http://schemas.microsoft.com/office/drawing/2014/main" id="{BE61644A-951B-FB45-54D8-4DE669F2D2DE}"/>
                </a:ext>
              </a:extLst>
            </p:cNvPr>
            <p:cNvSpPr>
              <a:spLocks noChangeArrowheads="1"/>
            </p:cNvSpPr>
            <p:nvPr/>
          </p:nvSpPr>
          <p:spPr bwMode="auto">
            <a:xfrm>
              <a:off x="295"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08" name="Line 814">
              <a:extLst>
                <a:ext uri="{FF2B5EF4-FFF2-40B4-BE49-F238E27FC236}">
                  <a16:creationId xmlns:a16="http://schemas.microsoft.com/office/drawing/2014/main" id="{A113E90A-E778-F78D-0723-A3BDED11A0B1}"/>
                </a:ext>
              </a:extLst>
            </p:cNvPr>
            <p:cNvSpPr>
              <a:spLocks noChangeShapeType="1"/>
            </p:cNvSpPr>
            <p:nvPr/>
          </p:nvSpPr>
          <p:spPr bwMode="auto">
            <a:xfrm>
              <a:off x="295"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9" name="Line 815">
              <a:extLst>
                <a:ext uri="{FF2B5EF4-FFF2-40B4-BE49-F238E27FC236}">
                  <a16:creationId xmlns:a16="http://schemas.microsoft.com/office/drawing/2014/main" id="{A7B541D6-5A91-C018-CAA0-F9045C87B02A}"/>
                </a:ext>
              </a:extLst>
            </p:cNvPr>
            <p:cNvSpPr>
              <a:spLocks noChangeShapeType="1"/>
            </p:cNvSpPr>
            <p:nvPr/>
          </p:nvSpPr>
          <p:spPr bwMode="auto">
            <a:xfrm>
              <a:off x="295"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0" name="Rectangle 816">
              <a:extLst>
                <a:ext uri="{FF2B5EF4-FFF2-40B4-BE49-F238E27FC236}">
                  <a16:creationId xmlns:a16="http://schemas.microsoft.com/office/drawing/2014/main" id="{AACBDF87-D40C-C431-9D48-F7AF8AB24270}"/>
                </a:ext>
              </a:extLst>
            </p:cNvPr>
            <p:cNvSpPr>
              <a:spLocks noChangeArrowheads="1"/>
            </p:cNvSpPr>
            <p:nvPr/>
          </p:nvSpPr>
          <p:spPr bwMode="auto">
            <a:xfrm>
              <a:off x="295"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1" name="Line 817">
              <a:extLst>
                <a:ext uri="{FF2B5EF4-FFF2-40B4-BE49-F238E27FC236}">
                  <a16:creationId xmlns:a16="http://schemas.microsoft.com/office/drawing/2014/main" id="{10E4A10D-7525-4AB4-6431-7DD752CA6F80}"/>
                </a:ext>
              </a:extLst>
            </p:cNvPr>
            <p:cNvSpPr>
              <a:spLocks noChangeShapeType="1"/>
            </p:cNvSpPr>
            <p:nvPr/>
          </p:nvSpPr>
          <p:spPr bwMode="auto">
            <a:xfrm>
              <a:off x="295"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2" name="Line 818">
              <a:extLst>
                <a:ext uri="{FF2B5EF4-FFF2-40B4-BE49-F238E27FC236}">
                  <a16:creationId xmlns:a16="http://schemas.microsoft.com/office/drawing/2014/main" id="{4AFA1EA0-F310-BBD1-53A4-3455892770FE}"/>
                </a:ext>
              </a:extLst>
            </p:cNvPr>
            <p:cNvSpPr>
              <a:spLocks noChangeShapeType="1"/>
            </p:cNvSpPr>
            <p:nvPr/>
          </p:nvSpPr>
          <p:spPr bwMode="auto">
            <a:xfrm>
              <a:off x="295"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3" name="Rectangle 819">
              <a:extLst>
                <a:ext uri="{FF2B5EF4-FFF2-40B4-BE49-F238E27FC236}">
                  <a16:creationId xmlns:a16="http://schemas.microsoft.com/office/drawing/2014/main" id="{C9DB0842-FC47-EE6D-5AE9-D1963DA728B4}"/>
                </a:ext>
              </a:extLst>
            </p:cNvPr>
            <p:cNvSpPr>
              <a:spLocks noChangeArrowheads="1"/>
            </p:cNvSpPr>
            <p:nvPr/>
          </p:nvSpPr>
          <p:spPr bwMode="auto">
            <a:xfrm>
              <a:off x="300" y="3874"/>
              <a:ext cx="7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4" name="Line 820">
              <a:extLst>
                <a:ext uri="{FF2B5EF4-FFF2-40B4-BE49-F238E27FC236}">
                  <a16:creationId xmlns:a16="http://schemas.microsoft.com/office/drawing/2014/main" id="{A174106F-ACD9-418A-9AE2-E00FD4ABDDDC}"/>
                </a:ext>
              </a:extLst>
            </p:cNvPr>
            <p:cNvSpPr>
              <a:spLocks noChangeShapeType="1"/>
            </p:cNvSpPr>
            <p:nvPr/>
          </p:nvSpPr>
          <p:spPr bwMode="auto">
            <a:xfrm>
              <a:off x="300" y="3874"/>
              <a:ext cx="7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5" name="Rectangle 821">
              <a:extLst>
                <a:ext uri="{FF2B5EF4-FFF2-40B4-BE49-F238E27FC236}">
                  <a16:creationId xmlns:a16="http://schemas.microsoft.com/office/drawing/2014/main" id="{9594C72C-D08E-0D53-D16F-E41B913F3189}"/>
                </a:ext>
              </a:extLst>
            </p:cNvPr>
            <p:cNvSpPr>
              <a:spLocks noChangeArrowheads="1"/>
            </p:cNvSpPr>
            <p:nvPr/>
          </p:nvSpPr>
          <p:spPr bwMode="auto">
            <a:xfrm>
              <a:off x="1091" y="3741"/>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6" name="Line 822">
              <a:extLst>
                <a:ext uri="{FF2B5EF4-FFF2-40B4-BE49-F238E27FC236}">
                  <a16:creationId xmlns:a16="http://schemas.microsoft.com/office/drawing/2014/main" id="{AD8E1F7C-BCED-0FB2-74A1-5865A34A81ED}"/>
                </a:ext>
              </a:extLst>
            </p:cNvPr>
            <p:cNvSpPr>
              <a:spLocks noChangeShapeType="1"/>
            </p:cNvSpPr>
            <p:nvPr/>
          </p:nvSpPr>
          <p:spPr bwMode="auto">
            <a:xfrm>
              <a:off x="1091" y="3741"/>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7" name="Rectangle 823">
              <a:extLst>
                <a:ext uri="{FF2B5EF4-FFF2-40B4-BE49-F238E27FC236}">
                  <a16:creationId xmlns:a16="http://schemas.microsoft.com/office/drawing/2014/main" id="{C4F060F1-7ADF-6E55-6FC1-1D61FEA91315}"/>
                </a:ext>
              </a:extLst>
            </p:cNvPr>
            <p:cNvSpPr>
              <a:spLocks noChangeArrowheads="1"/>
            </p:cNvSpPr>
            <p:nvPr/>
          </p:nvSpPr>
          <p:spPr bwMode="auto">
            <a:xfrm>
              <a:off x="1091"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18" name="Line 824">
              <a:extLst>
                <a:ext uri="{FF2B5EF4-FFF2-40B4-BE49-F238E27FC236}">
                  <a16:creationId xmlns:a16="http://schemas.microsoft.com/office/drawing/2014/main" id="{B506A3C1-19EA-06C1-636C-D1F02153C05A}"/>
                </a:ext>
              </a:extLst>
            </p:cNvPr>
            <p:cNvSpPr>
              <a:spLocks noChangeShapeType="1"/>
            </p:cNvSpPr>
            <p:nvPr/>
          </p:nvSpPr>
          <p:spPr bwMode="auto">
            <a:xfrm>
              <a:off x="1091"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9" name="Line 825">
              <a:extLst>
                <a:ext uri="{FF2B5EF4-FFF2-40B4-BE49-F238E27FC236}">
                  <a16:creationId xmlns:a16="http://schemas.microsoft.com/office/drawing/2014/main" id="{FBD3F7F1-DB85-C8AD-5F8E-83690685B0EA}"/>
                </a:ext>
              </a:extLst>
            </p:cNvPr>
            <p:cNvSpPr>
              <a:spLocks noChangeShapeType="1"/>
            </p:cNvSpPr>
            <p:nvPr/>
          </p:nvSpPr>
          <p:spPr bwMode="auto">
            <a:xfrm>
              <a:off x="1091"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0" name="Rectangle 826">
              <a:extLst>
                <a:ext uri="{FF2B5EF4-FFF2-40B4-BE49-F238E27FC236}">
                  <a16:creationId xmlns:a16="http://schemas.microsoft.com/office/drawing/2014/main" id="{F98231C5-8FE0-5A35-91F1-82CADFC0BB67}"/>
                </a:ext>
              </a:extLst>
            </p:cNvPr>
            <p:cNvSpPr>
              <a:spLocks noChangeArrowheads="1"/>
            </p:cNvSpPr>
            <p:nvPr/>
          </p:nvSpPr>
          <p:spPr bwMode="auto">
            <a:xfrm>
              <a:off x="1096" y="3874"/>
              <a:ext cx="398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1" name="Line 827">
              <a:extLst>
                <a:ext uri="{FF2B5EF4-FFF2-40B4-BE49-F238E27FC236}">
                  <a16:creationId xmlns:a16="http://schemas.microsoft.com/office/drawing/2014/main" id="{96D95F2B-216E-1DA1-FA47-19DE545A2C7D}"/>
                </a:ext>
              </a:extLst>
            </p:cNvPr>
            <p:cNvSpPr>
              <a:spLocks noChangeShapeType="1"/>
            </p:cNvSpPr>
            <p:nvPr/>
          </p:nvSpPr>
          <p:spPr bwMode="auto">
            <a:xfrm>
              <a:off x="1096" y="3874"/>
              <a:ext cx="398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2" name="Rectangle 828">
              <a:extLst>
                <a:ext uri="{FF2B5EF4-FFF2-40B4-BE49-F238E27FC236}">
                  <a16:creationId xmlns:a16="http://schemas.microsoft.com/office/drawing/2014/main" id="{754F7777-E29B-5DBD-3C96-86BEF96895E4}"/>
                </a:ext>
              </a:extLst>
            </p:cNvPr>
            <p:cNvSpPr>
              <a:spLocks noChangeArrowheads="1"/>
            </p:cNvSpPr>
            <p:nvPr/>
          </p:nvSpPr>
          <p:spPr bwMode="auto">
            <a:xfrm>
              <a:off x="5083" y="3741"/>
              <a:ext cx="5" cy="13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3" name="Line 829">
              <a:extLst>
                <a:ext uri="{FF2B5EF4-FFF2-40B4-BE49-F238E27FC236}">
                  <a16:creationId xmlns:a16="http://schemas.microsoft.com/office/drawing/2014/main" id="{CD9D192E-A1BB-D899-FE7C-66724E77C01C}"/>
                </a:ext>
              </a:extLst>
            </p:cNvPr>
            <p:cNvSpPr>
              <a:spLocks noChangeShapeType="1"/>
            </p:cNvSpPr>
            <p:nvPr/>
          </p:nvSpPr>
          <p:spPr bwMode="auto">
            <a:xfrm>
              <a:off x="5083" y="3741"/>
              <a:ext cx="0" cy="13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4" name="Rectangle 830">
              <a:extLst>
                <a:ext uri="{FF2B5EF4-FFF2-40B4-BE49-F238E27FC236}">
                  <a16:creationId xmlns:a16="http://schemas.microsoft.com/office/drawing/2014/main" id="{85B0F9E0-4576-1833-606F-27DB25D55DD7}"/>
                </a:ext>
              </a:extLst>
            </p:cNvPr>
            <p:cNvSpPr>
              <a:spLocks noChangeArrowheads="1"/>
            </p:cNvSpPr>
            <p:nvPr/>
          </p:nvSpPr>
          <p:spPr bwMode="auto">
            <a:xfrm>
              <a:off x="5083"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5" name="Line 831">
              <a:extLst>
                <a:ext uri="{FF2B5EF4-FFF2-40B4-BE49-F238E27FC236}">
                  <a16:creationId xmlns:a16="http://schemas.microsoft.com/office/drawing/2014/main" id="{55CBBBC5-B099-1C7B-0FE1-093709D1A634}"/>
                </a:ext>
              </a:extLst>
            </p:cNvPr>
            <p:cNvSpPr>
              <a:spLocks noChangeShapeType="1"/>
            </p:cNvSpPr>
            <p:nvPr/>
          </p:nvSpPr>
          <p:spPr bwMode="auto">
            <a:xfrm>
              <a:off x="5083"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6" name="Line 832">
              <a:extLst>
                <a:ext uri="{FF2B5EF4-FFF2-40B4-BE49-F238E27FC236}">
                  <a16:creationId xmlns:a16="http://schemas.microsoft.com/office/drawing/2014/main" id="{A0D7339C-3162-F241-413D-D9B4A52F857C}"/>
                </a:ext>
              </a:extLst>
            </p:cNvPr>
            <p:cNvSpPr>
              <a:spLocks noChangeShapeType="1"/>
            </p:cNvSpPr>
            <p:nvPr/>
          </p:nvSpPr>
          <p:spPr bwMode="auto">
            <a:xfrm>
              <a:off x="5083"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7" name="Rectangle 833">
              <a:extLst>
                <a:ext uri="{FF2B5EF4-FFF2-40B4-BE49-F238E27FC236}">
                  <a16:creationId xmlns:a16="http://schemas.microsoft.com/office/drawing/2014/main" id="{D820B0E8-8C40-3DA2-0CDE-D6A7AC1566BA}"/>
                </a:ext>
              </a:extLst>
            </p:cNvPr>
            <p:cNvSpPr>
              <a:spLocks noChangeArrowheads="1"/>
            </p:cNvSpPr>
            <p:nvPr/>
          </p:nvSpPr>
          <p:spPr bwMode="auto">
            <a:xfrm>
              <a:off x="5083" y="3874"/>
              <a:ext cx="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endParaRPr lang="en-US" altLang="en-US"/>
            </a:p>
          </p:txBody>
        </p:sp>
        <p:sp>
          <p:nvSpPr>
            <p:cNvPr id="55328" name="Line 834">
              <a:extLst>
                <a:ext uri="{FF2B5EF4-FFF2-40B4-BE49-F238E27FC236}">
                  <a16:creationId xmlns:a16="http://schemas.microsoft.com/office/drawing/2014/main" id="{C3798D38-EAC8-AD8F-8466-E5224D620D81}"/>
                </a:ext>
              </a:extLst>
            </p:cNvPr>
            <p:cNvSpPr>
              <a:spLocks noChangeShapeType="1"/>
            </p:cNvSpPr>
            <p:nvPr/>
          </p:nvSpPr>
          <p:spPr bwMode="auto">
            <a:xfrm>
              <a:off x="5083" y="3874"/>
              <a:ext cx="5"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9" name="Line 835">
              <a:extLst>
                <a:ext uri="{FF2B5EF4-FFF2-40B4-BE49-F238E27FC236}">
                  <a16:creationId xmlns:a16="http://schemas.microsoft.com/office/drawing/2014/main" id="{4453755E-3625-C040-3241-FC6EAAE65B8E}"/>
                </a:ext>
              </a:extLst>
            </p:cNvPr>
            <p:cNvSpPr>
              <a:spLocks noChangeShapeType="1"/>
            </p:cNvSpPr>
            <p:nvPr/>
          </p:nvSpPr>
          <p:spPr bwMode="auto">
            <a:xfrm>
              <a:off x="5083" y="3874"/>
              <a:ext cx="0"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30" name="Rectangle 836">
              <a:extLst>
                <a:ext uri="{FF2B5EF4-FFF2-40B4-BE49-F238E27FC236}">
                  <a16:creationId xmlns:a16="http://schemas.microsoft.com/office/drawing/2014/main" id="{5BC1C794-4A8A-6A6F-E991-1CFBC4E5F30E}"/>
                </a:ext>
              </a:extLst>
            </p:cNvPr>
            <p:cNvSpPr>
              <a:spLocks noChangeArrowheads="1"/>
            </p:cNvSpPr>
            <p:nvPr/>
          </p:nvSpPr>
          <p:spPr bwMode="auto">
            <a:xfrm>
              <a:off x="349" y="3867"/>
              <a:ext cx="3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pPr eaLnBrk="1" hangingPunct="1"/>
              <a:r>
                <a:rPr lang="en-US" altLang="en-US" sz="1400">
                  <a:solidFill>
                    <a:srgbClr val="000000"/>
                  </a:solidFill>
                  <a:latin typeface="Trebuchet MS" panose="020B0703020202090204" pitchFamily="34" charset="0"/>
                </a:rPr>
                <a:t> </a:t>
              </a:r>
              <a:endParaRPr lang="en-US" altLang="en-US"/>
            </a:p>
          </p:txBody>
        </p:sp>
      </p:grpSp>
      <p:sp>
        <p:nvSpPr>
          <p:cNvPr id="2" name="TextBox 1">
            <a:extLst>
              <a:ext uri="{FF2B5EF4-FFF2-40B4-BE49-F238E27FC236}">
                <a16:creationId xmlns:a16="http://schemas.microsoft.com/office/drawing/2014/main" id="{67B02DDF-43F3-845C-A821-626E1C5F5C45}"/>
              </a:ext>
            </a:extLst>
          </p:cNvPr>
          <p:cNvSpPr txBox="1"/>
          <p:nvPr/>
        </p:nvSpPr>
        <p:spPr>
          <a:xfrm>
            <a:off x="698680" y="5622193"/>
            <a:ext cx="7455888" cy="954107"/>
          </a:xfrm>
          <a:prstGeom prst="rect">
            <a:avLst/>
          </a:prstGeom>
          <a:noFill/>
        </p:spPr>
        <p:txBody>
          <a:bodyPr wrap="none" rtlCol="0">
            <a:spAutoFit/>
          </a:bodyPr>
          <a:lstStyle/>
          <a:p>
            <a:pPr algn="l"/>
            <a:r>
              <a:rPr lang="en-US" sz="1400" dirty="0"/>
              <a:t>Hardware </a:t>
            </a:r>
            <a:r>
              <a:rPr lang="en-US" sz="1400" dirty="0" err="1"/>
              <a:t>Integrity:Low</a:t>
            </a:r>
            <a:r>
              <a:rPr lang="en-US" sz="1400" dirty="0"/>
              <a:t>: Fewer possible attacks, lower consequences, relatively easy to safeguards</a:t>
            </a:r>
          </a:p>
          <a:p>
            <a:pPr algn="l"/>
            <a:r>
              <a:rPr lang="en-US" sz="1400" dirty="0"/>
              <a:t>Software integrity: High: More possible attacks, higher consequences, relatively harder to safeguards</a:t>
            </a:r>
          </a:p>
          <a:p>
            <a:pPr algn="l"/>
            <a:endParaRPr lang="en-US" sz="1400" dirty="0"/>
          </a:p>
        </p:txBody>
      </p:sp>
      <p:sp>
        <p:nvSpPr>
          <p:cNvPr id="3" name="TextBox 2">
            <a:extLst>
              <a:ext uri="{FF2B5EF4-FFF2-40B4-BE49-F238E27FC236}">
                <a16:creationId xmlns:a16="http://schemas.microsoft.com/office/drawing/2014/main" id="{C12A25AB-1CB5-1F34-DEDD-FCA7AA9AAB47}"/>
              </a:ext>
            </a:extLst>
          </p:cNvPr>
          <p:cNvSpPr txBox="1"/>
          <p:nvPr/>
        </p:nvSpPr>
        <p:spPr>
          <a:xfrm>
            <a:off x="799838" y="6260829"/>
            <a:ext cx="4027064" cy="630942"/>
          </a:xfrm>
          <a:prstGeom prst="rect">
            <a:avLst/>
          </a:prstGeom>
          <a:noFill/>
        </p:spPr>
        <p:txBody>
          <a:bodyPr wrap="none" rtlCol="0">
            <a:spAutoFit/>
          </a:bodyPr>
          <a:lstStyle/>
          <a:p>
            <a:pPr algn="l"/>
            <a:r>
              <a:rPr lang="en-US" sz="1400" dirty="0"/>
              <a:t>Qualitative: Low, Medium, High. </a:t>
            </a:r>
          </a:p>
          <a:p>
            <a:pPr algn="l"/>
            <a:r>
              <a:rPr lang="en-US" sz="1400" dirty="0"/>
              <a:t>Quantitative: 1- 5, 1-10, 1-100 (Nuclear Power Plant)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E3A62CEE-F767-81EA-6EC5-9CC249EF2DEF}"/>
              </a:ext>
            </a:extLst>
          </p:cNvPr>
          <p:cNvSpPr>
            <a:spLocks noGrp="1" noChangeArrowheads="1"/>
          </p:cNvSpPr>
          <p:nvPr>
            <p:ph type="title"/>
          </p:nvPr>
        </p:nvSpPr>
        <p:spPr>
          <a:xfrm>
            <a:off x="457200" y="277813"/>
            <a:ext cx="8305800" cy="1703387"/>
          </a:xfrm>
        </p:spPr>
        <p:txBody>
          <a:bodyPr/>
          <a:lstStyle/>
          <a:p>
            <a:r>
              <a:rPr lang="en-US" altLang="en-US"/>
              <a:t>Document in Risk Register</a:t>
            </a:r>
            <a:br>
              <a:rPr lang="en-US" altLang="en-US"/>
            </a:br>
            <a:r>
              <a:rPr lang="en-US" altLang="en-US"/>
              <a:t>and Evaluate Risks</a:t>
            </a:r>
          </a:p>
        </p:txBody>
      </p:sp>
      <p:graphicFrame>
        <p:nvGraphicFramePr>
          <p:cNvPr id="57347" name="Object 77">
            <a:extLst>
              <a:ext uri="{FF2B5EF4-FFF2-40B4-BE49-F238E27FC236}">
                <a16:creationId xmlns:a16="http://schemas.microsoft.com/office/drawing/2014/main" id="{81BF37E6-5D87-F186-37C5-A937BEF49357}"/>
              </a:ext>
            </a:extLst>
          </p:cNvPr>
          <p:cNvGraphicFramePr>
            <a:graphicFrameLocks noChangeAspect="1"/>
          </p:cNvGraphicFramePr>
          <p:nvPr/>
        </p:nvGraphicFramePr>
        <p:xfrm>
          <a:off x="149225" y="2435225"/>
          <a:ext cx="8845550" cy="2403475"/>
        </p:xfrm>
        <a:graphic>
          <a:graphicData uri="http://schemas.openxmlformats.org/presentationml/2006/ole">
            <mc:AlternateContent xmlns:mc="http://schemas.openxmlformats.org/markup-compatibility/2006">
              <mc:Choice xmlns:v="urn:schemas-microsoft-com:vml" Requires="v">
                <p:oleObj spid="_x0000_s5129" name="Document" r:id="rId4" imgW="6388100" imgH="1739900" progId="Word.Document.8">
                  <p:embed/>
                </p:oleObj>
              </mc:Choice>
              <mc:Fallback>
                <p:oleObj name="Document" r:id="rId4" imgW="6388100" imgH="1739900" progId="Word.Document.8">
                  <p:embed/>
                  <p:pic>
                    <p:nvPicPr>
                      <p:cNvPr id="57347" name="Object 77">
                        <a:extLst>
                          <a:ext uri="{FF2B5EF4-FFF2-40B4-BE49-F238E27FC236}">
                            <a16:creationId xmlns:a16="http://schemas.microsoft.com/office/drawing/2014/main" id="{81BF37E6-5D87-F186-37C5-A937BEF493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225" y="2435225"/>
                        <a:ext cx="8845550" cy="2403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B321FD8A-6E00-F3B2-13F8-A8E4AF5BE358}"/>
              </a:ext>
            </a:extLst>
          </p:cNvPr>
          <p:cNvSpPr>
            <a:spLocks noGrp="1" noChangeArrowheads="1"/>
          </p:cNvSpPr>
          <p:nvPr>
            <p:ph type="title"/>
          </p:nvPr>
        </p:nvSpPr>
        <p:spPr/>
        <p:txBody>
          <a:bodyPr/>
          <a:lstStyle/>
          <a:p>
            <a:r>
              <a:rPr lang="en-US" altLang="en-US"/>
              <a:t>Risk Treatment</a:t>
            </a:r>
          </a:p>
        </p:txBody>
      </p:sp>
      <p:pic>
        <p:nvPicPr>
          <p:cNvPr id="59395" name="Picture 4">
            <a:extLst>
              <a:ext uri="{FF2B5EF4-FFF2-40B4-BE49-F238E27FC236}">
                <a16:creationId xmlns:a16="http://schemas.microsoft.com/office/drawing/2014/main" id="{277D0DF9-D1B7-6AA3-1241-400FF3113C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529" t="17897" r="23161" b="42955"/>
          <a:stretch>
            <a:fillRect/>
          </a:stretch>
        </p:blipFill>
        <p:spPr bwMode="auto">
          <a:xfrm>
            <a:off x="2306637" y="914400"/>
            <a:ext cx="4530725" cy="3937000"/>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C1646191-D0D1-584D-2AE8-9F11B40EDCB1}"/>
              </a:ext>
            </a:extLst>
          </p:cNvPr>
          <p:cNvSpPr txBox="1"/>
          <p:nvPr/>
        </p:nvSpPr>
        <p:spPr>
          <a:xfrm>
            <a:off x="2092856" y="5410200"/>
            <a:ext cx="2977098" cy="461665"/>
          </a:xfrm>
          <a:prstGeom prst="rect">
            <a:avLst/>
          </a:prstGeom>
          <a:noFill/>
        </p:spPr>
        <p:txBody>
          <a:bodyPr wrap="none" rtlCol="0">
            <a:spAutoFit/>
          </a:bodyPr>
          <a:lstStyle/>
          <a:p>
            <a:pPr algn="l"/>
            <a:r>
              <a:rPr lang="en-US" dirty="0"/>
              <a:t>Judgements: </a:t>
            </a:r>
            <a:r>
              <a:rPr lang="en-US" dirty="0" err="1"/>
              <a:t>Justfiable</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50CD764-E496-61C9-220E-8531F39A0676}"/>
              </a:ext>
            </a:extLst>
          </p:cNvPr>
          <p:cNvSpPr>
            <a:spLocks noGrp="1" noChangeArrowheads="1"/>
          </p:cNvSpPr>
          <p:nvPr>
            <p:ph type="title"/>
          </p:nvPr>
        </p:nvSpPr>
        <p:spPr/>
        <p:txBody>
          <a:bodyPr/>
          <a:lstStyle/>
          <a:p>
            <a:r>
              <a:rPr lang="en-US" altLang="en-US"/>
              <a:t>Risk Treatment Alternatives</a:t>
            </a:r>
          </a:p>
        </p:txBody>
      </p:sp>
      <p:sp>
        <p:nvSpPr>
          <p:cNvPr id="61443" name="Rectangle 3">
            <a:extLst>
              <a:ext uri="{FF2B5EF4-FFF2-40B4-BE49-F238E27FC236}">
                <a16:creationId xmlns:a16="http://schemas.microsoft.com/office/drawing/2014/main" id="{69737F88-ABCD-C227-C729-006050DBD156}"/>
              </a:ext>
            </a:extLst>
          </p:cNvPr>
          <p:cNvSpPr>
            <a:spLocks noGrp="1" noChangeArrowheads="1"/>
          </p:cNvSpPr>
          <p:nvPr>
            <p:ph type="body" idx="1"/>
          </p:nvPr>
        </p:nvSpPr>
        <p:spPr>
          <a:xfrm>
            <a:off x="457200" y="1676400"/>
            <a:ext cx="8229600" cy="4876800"/>
          </a:xfrm>
        </p:spPr>
        <p:txBody>
          <a:bodyPr/>
          <a:lstStyle/>
          <a:p>
            <a:r>
              <a:rPr lang="en-US" altLang="en-US" b="1"/>
              <a:t>risk acceptance</a:t>
            </a:r>
            <a:r>
              <a:rPr lang="en-US" altLang="en-US"/>
              <a:t>: </a:t>
            </a:r>
            <a:r>
              <a:rPr lang="en-US" altLang="en-US" sz="2400" i="1"/>
              <a:t>accept risk (perhaps because of excessive cost of risk treatment)</a:t>
            </a:r>
          </a:p>
          <a:p>
            <a:r>
              <a:rPr lang="en-US" altLang="en-US" b="1"/>
              <a:t>risk avoidance</a:t>
            </a:r>
            <a:r>
              <a:rPr lang="en-US" altLang="en-US"/>
              <a:t>: </a:t>
            </a:r>
            <a:r>
              <a:rPr lang="en-US" altLang="en-US" sz="2400" i="1"/>
              <a:t>do not proceed with the activity that causes the risk (loss of convenience)</a:t>
            </a:r>
          </a:p>
          <a:p>
            <a:r>
              <a:rPr lang="en-US" altLang="en-US" b="1"/>
              <a:t>risk transfer</a:t>
            </a:r>
            <a:r>
              <a:rPr lang="en-US" altLang="en-US"/>
              <a:t>: </a:t>
            </a:r>
            <a:r>
              <a:rPr lang="en-US" altLang="en-US" sz="2400"/>
              <a:t>buy insurance; outsource</a:t>
            </a:r>
            <a:r>
              <a:rPr lang="en-US" altLang="en-US"/>
              <a:t> </a:t>
            </a:r>
          </a:p>
          <a:p>
            <a:r>
              <a:rPr lang="en-US" altLang="en-US" b="1"/>
              <a:t>reduce consequence</a:t>
            </a:r>
            <a:r>
              <a:rPr lang="en-US" altLang="en-US"/>
              <a:t>: </a:t>
            </a:r>
            <a:r>
              <a:rPr lang="en-US" altLang="en-US" sz="2400" i="1"/>
              <a:t>modify the uses of an asset to reduce risk impact (e.g., offsite backup)</a:t>
            </a:r>
          </a:p>
          <a:p>
            <a:r>
              <a:rPr lang="en-US" altLang="en-US" b="1"/>
              <a:t>reduce likelihood</a:t>
            </a:r>
            <a:r>
              <a:rPr lang="en-US" altLang="en-US"/>
              <a:t>: </a:t>
            </a:r>
            <a:r>
              <a:rPr lang="en-US" altLang="en-US" sz="2400" i="1"/>
              <a:t>implement suitable controls</a:t>
            </a:r>
          </a:p>
          <a:p>
            <a:endParaRPr lang="en-US" altLang="en-US"/>
          </a:p>
          <a:p>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2FAA809-64ED-40B5-39E9-AA93AF3062F4}"/>
              </a:ext>
            </a:extLst>
          </p:cNvPr>
          <p:cNvSpPr>
            <a:spLocks noGrp="1" noChangeArrowheads="1"/>
          </p:cNvSpPr>
          <p:nvPr>
            <p:ph type="title"/>
          </p:nvPr>
        </p:nvSpPr>
        <p:spPr/>
        <p:txBody>
          <a:bodyPr/>
          <a:lstStyle/>
          <a:p>
            <a:r>
              <a:rPr lang="en-US" altLang="en-US" dirty="0"/>
              <a:t>Risk Management – Iterative Process</a:t>
            </a:r>
          </a:p>
        </p:txBody>
      </p:sp>
      <p:sp>
        <p:nvSpPr>
          <p:cNvPr id="22531" name="Rectangle 3">
            <a:extLst>
              <a:ext uri="{FF2B5EF4-FFF2-40B4-BE49-F238E27FC236}">
                <a16:creationId xmlns:a16="http://schemas.microsoft.com/office/drawing/2014/main" id="{7E1BD0EB-8B9D-2CEA-0162-9976910853F3}"/>
              </a:ext>
            </a:extLst>
          </p:cNvPr>
          <p:cNvSpPr>
            <a:spLocks noGrp="1" noChangeArrowheads="1"/>
          </p:cNvSpPr>
          <p:nvPr>
            <p:ph type="body" idx="1"/>
          </p:nvPr>
        </p:nvSpPr>
        <p:spPr>
          <a:xfrm>
            <a:off x="457200" y="914400"/>
            <a:ext cx="8229600" cy="4800600"/>
          </a:xfrm>
        </p:spPr>
        <p:txBody>
          <a:bodyPr/>
          <a:lstStyle/>
          <a:p>
            <a:r>
              <a:rPr lang="en-US" altLang="en-US" sz="1800" dirty="0"/>
              <a:t>Context </a:t>
            </a:r>
            <a:r>
              <a:rPr lang="en-US" altLang="en-US" sz="1800" dirty="0">
                <a:sym typeface="Wingdings" pitchFamily="2" charset="2"/>
              </a:rPr>
              <a:t> Assessment -- &gt;Treatment   Acceptance  Context…</a:t>
            </a:r>
          </a:p>
          <a:p>
            <a:endParaRPr lang="en-US" altLang="en-US" sz="1800" dirty="0">
              <a:sym typeface="Wingdings" pitchFamily="2" charset="2"/>
            </a:endParaRPr>
          </a:p>
          <a:p>
            <a:r>
              <a:rPr lang="en-US" altLang="en-US" sz="1800" dirty="0">
                <a:sym typeface="Wingdings" pitchFamily="2" charset="2"/>
              </a:rPr>
              <a:t>Establish the context </a:t>
            </a:r>
            <a:endParaRPr lang="en-US" altLang="en-US" sz="1800" dirty="0"/>
          </a:p>
          <a:p>
            <a:r>
              <a:rPr lang="en-US" altLang="en-US" sz="1800" dirty="0"/>
              <a:t>Risk Assessment</a:t>
            </a:r>
          </a:p>
          <a:p>
            <a:pPr lvl="1"/>
            <a:r>
              <a:rPr lang="en-US" altLang="en-US" sz="1800" dirty="0"/>
              <a:t>Identify</a:t>
            </a:r>
          </a:p>
          <a:p>
            <a:pPr lvl="1"/>
            <a:r>
              <a:rPr lang="en-US" altLang="en-US" sz="1800" dirty="0"/>
              <a:t>Measure</a:t>
            </a:r>
          </a:p>
          <a:p>
            <a:pPr lvl="1"/>
            <a:r>
              <a:rPr lang="en-US" altLang="en-US" sz="1800" dirty="0" err="1"/>
              <a:t>Prioritise</a:t>
            </a:r>
            <a:endParaRPr lang="en-US" altLang="en-US" sz="1800" dirty="0"/>
          </a:p>
          <a:p>
            <a:r>
              <a:rPr lang="en-US" altLang="en-US" sz="1800" dirty="0"/>
              <a:t>Treatment : Treat the risk</a:t>
            </a:r>
          </a:p>
          <a:p>
            <a:pPr lvl="1"/>
            <a:r>
              <a:rPr lang="en-US" altLang="en-US" sz="1800" dirty="0"/>
              <a:t>Reduce </a:t>
            </a:r>
          </a:p>
          <a:p>
            <a:pPr lvl="1"/>
            <a:r>
              <a:rPr lang="en-US" altLang="en-US" sz="1800" dirty="0"/>
              <a:t>Avoid</a:t>
            </a:r>
          </a:p>
          <a:p>
            <a:pPr lvl="1"/>
            <a:r>
              <a:rPr lang="en-US" altLang="en-US" sz="1800" dirty="0"/>
              <a:t>Share</a:t>
            </a:r>
          </a:p>
          <a:p>
            <a:pPr lvl="1"/>
            <a:r>
              <a:rPr lang="en-US" altLang="en-US" sz="1800" dirty="0"/>
              <a:t>Accept (Not enough resources)</a:t>
            </a:r>
          </a:p>
          <a:p>
            <a:pPr marL="57150" indent="0"/>
            <a:r>
              <a:rPr lang="en-US" altLang="en-US" sz="1800" dirty="0"/>
              <a:t>Risk Communication: </a:t>
            </a:r>
          </a:p>
          <a:p>
            <a:pPr marL="457200" lvl="1" indent="0"/>
            <a:r>
              <a:rPr lang="en-US" altLang="en-US" sz="1800" dirty="0"/>
              <a:t>Risks</a:t>
            </a:r>
          </a:p>
          <a:p>
            <a:pPr marL="457200" lvl="1" indent="0"/>
            <a:r>
              <a:rPr lang="en-US" altLang="en-US" sz="1800" dirty="0"/>
              <a:t>Security Controls</a:t>
            </a:r>
          </a:p>
          <a:p>
            <a:r>
              <a:rPr lang="en-US" altLang="en-US" sz="1800" dirty="0"/>
              <a:t>Monitor and Review – Iterative Process</a:t>
            </a:r>
          </a:p>
        </p:txBody>
      </p:sp>
    </p:spTree>
    <p:extLst>
      <p:ext uri="{BB962C8B-B14F-4D97-AF65-F5344CB8AC3E}">
        <p14:creationId xmlns:p14="http://schemas.microsoft.com/office/powerpoint/2010/main" val="1672149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ADAF99A-535E-E1F7-9C01-4A827D938232}"/>
              </a:ext>
            </a:extLst>
          </p:cNvPr>
          <p:cNvSpPr>
            <a:spLocks noGrp="1" noChangeArrowheads="1"/>
          </p:cNvSpPr>
          <p:nvPr>
            <p:ph type="title"/>
          </p:nvPr>
        </p:nvSpPr>
        <p:spPr/>
        <p:txBody>
          <a:bodyPr/>
          <a:lstStyle/>
          <a:p>
            <a:r>
              <a:rPr lang="en-US" altLang="en-US"/>
              <a:t>Case Study: Silver Star Mines</a:t>
            </a:r>
          </a:p>
        </p:txBody>
      </p:sp>
      <p:sp>
        <p:nvSpPr>
          <p:cNvPr id="63491" name="Rectangle 3">
            <a:extLst>
              <a:ext uri="{FF2B5EF4-FFF2-40B4-BE49-F238E27FC236}">
                <a16:creationId xmlns:a16="http://schemas.microsoft.com/office/drawing/2014/main" id="{0DBA5FD3-08E3-F538-C53D-8AA76967211F}"/>
              </a:ext>
            </a:extLst>
          </p:cNvPr>
          <p:cNvSpPr>
            <a:spLocks noGrp="1" noChangeArrowheads="1"/>
          </p:cNvSpPr>
          <p:nvPr>
            <p:ph type="body" idx="1"/>
          </p:nvPr>
        </p:nvSpPr>
        <p:spPr>
          <a:xfrm>
            <a:off x="457200" y="1676400"/>
            <a:ext cx="8458200" cy="4876800"/>
          </a:xfrm>
        </p:spPr>
        <p:txBody>
          <a:bodyPr/>
          <a:lstStyle/>
          <a:p>
            <a:pPr>
              <a:lnSpc>
                <a:spcPct val="90000"/>
              </a:lnSpc>
            </a:pPr>
            <a:r>
              <a:rPr lang="en-US" altLang="en-US"/>
              <a:t>fictional operation of global mining company</a:t>
            </a:r>
          </a:p>
          <a:p>
            <a:pPr>
              <a:lnSpc>
                <a:spcPct val="90000"/>
              </a:lnSpc>
            </a:pPr>
            <a:r>
              <a:rPr lang="en-US" altLang="en-US"/>
              <a:t>large IT infrastructure</a:t>
            </a:r>
          </a:p>
          <a:p>
            <a:pPr lvl="1">
              <a:lnSpc>
                <a:spcPct val="90000"/>
              </a:lnSpc>
            </a:pPr>
            <a:r>
              <a:rPr lang="en-US" altLang="en-US"/>
              <a:t>both common and specific software</a:t>
            </a:r>
          </a:p>
          <a:p>
            <a:pPr lvl="1">
              <a:lnSpc>
                <a:spcPct val="90000"/>
              </a:lnSpc>
            </a:pPr>
            <a:r>
              <a:rPr lang="en-US" altLang="en-US"/>
              <a:t>some directly relates to health &amp; safety</a:t>
            </a:r>
          </a:p>
          <a:p>
            <a:pPr lvl="1">
              <a:lnSpc>
                <a:spcPct val="90000"/>
              </a:lnSpc>
            </a:pPr>
            <a:r>
              <a:rPr lang="en-US" altLang="en-US"/>
              <a:t>formerly isolated systems now networked</a:t>
            </a:r>
          </a:p>
          <a:p>
            <a:pPr>
              <a:lnSpc>
                <a:spcPct val="90000"/>
              </a:lnSpc>
            </a:pPr>
            <a:r>
              <a:rPr lang="en-US" altLang="en-US"/>
              <a:t>decided on combined approach</a:t>
            </a:r>
          </a:p>
          <a:p>
            <a:pPr>
              <a:lnSpc>
                <a:spcPct val="90000"/>
              </a:lnSpc>
            </a:pPr>
            <a:r>
              <a:rPr lang="en-US" altLang="en-US"/>
              <a:t>mining industry less risky end of spectrum</a:t>
            </a:r>
          </a:p>
          <a:p>
            <a:pPr>
              <a:lnSpc>
                <a:spcPct val="90000"/>
              </a:lnSpc>
            </a:pPr>
            <a:r>
              <a:rPr lang="en-US" altLang="en-US"/>
              <a:t>management accepts moderate or low risk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BD3CA0-5A6E-42E5-A35F-5D5ECF4F9035}"/>
              </a:ext>
            </a:extLst>
          </p:cNvPr>
          <p:cNvSpPr>
            <a:spLocks noGrp="1"/>
          </p:cNvSpPr>
          <p:nvPr>
            <p:ph type="title"/>
          </p:nvPr>
        </p:nvSpPr>
        <p:spPr/>
        <p:txBody>
          <a:bodyPr/>
          <a:lstStyle/>
          <a:p>
            <a:r>
              <a:rPr lang="en-US" dirty="0"/>
              <a:t>Assets</a:t>
            </a:r>
          </a:p>
        </p:txBody>
      </p:sp>
      <p:pic>
        <p:nvPicPr>
          <p:cNvPr id="21" name="Content Placeholder 20" descr="Circular Rosette With 6 Petals. For long description in Notes pane, press F6.">
            <a:extLst>
              <a:ext uri="{FF2B5EF4-FFF2-40B4-BE49-F238E27FC236}">
                <a16:creationId xmlns:a16="http://schemas.microsoft.com/office/drawing/2014/main" id="{57DC9525-BDA8-45FB-A369-0505279CFD8D}"/>
              </a:ext>
            </a:extLst>
          </p:cNvPr>
          <p:cNvPicPr>
            <a:picLocks noGrp="1" noChangeAspect="1"/>
          </p:cNvPicPr>
          <p:nvPr>
            <p:ph sz="quarter" idx="13"/>
          </p:nvPr>
        </p:nvPicPr>
        <p:blipFill>
          <a:blip r:embed="rId3"/>
          <a:stretch>
            <a:fillRect/>
          </a:stretch>
        </p:blipFill>
        <p:spPr>
          <a:xfrm>
            <a:off x="3594524" y="2511822"/>
            <a:ext cx="2430498" cy="2582836"/>
          </a:xfrm>
        </p:spPr>
      </p:pic>
      <p:sp>
        <p:nvSpPr>
          <p:cNvPr id="7" name="Content Placeholder 6">
            <a:extLst>
              <a:ext uri="{FF2B5EF4-FFF2-40B4-BE49-F238E27FC236}">
                <a16:creationId xmlns:a16="http://schemas.microsoft.com/office/drawing/2014/main" id="{1462E6A8-D292-4539-88A2-24B0CDDB847E}"/>
              </a:ext>
              <a:ext uri="{C183D7F6-B498-43B3-948B-1728B52AA6E4}">
                <adec:decorative xmlns:adec="http://schemas.microsoft.com/office/drawing/2017/decorative" val="1"/>
              </a:ext>
            </a:extLst>
          </p:cNvPr>
          <p:cNvSpPr>
            <a:spLocks noGrp="1"/>
          </p:cNvSpPr>
          <p:nvPr>
            <p:ph sz="quarter" idx="14"/>
          </p:nvPr>
        </p:nvSpPr>
        <p:spPr>
          <a:xfrm>
            <a:off x="3254232" y="1559546"/>
            <a:ext cx="3029614" cy="707403"/>
          </a:xfrm>
        </p:spPr>
        <p:txBody>
          <a:bodyPr/>
          <a:lstStyle/>
          <a:p>
            <a:r>
              <a:rPr lang="en-US" sz="1800" dirty="0"/>
              <a:t>Reliability and integrity of </a:t>
            </a:r>
          </a:p>
          <a:p>
            <a:r>
              <a:rPr lang="en-US" sz="1800" dirty="0"/>
              <a:t>S</a:t>
            </a:r>
            <a:r>
              <a:rPr lang="en-US" sz="100" dirty="0"/>
              <a:t> </a:t>
            </a:r>
            <a:r>
              <a:rPr lang="en-US" sz="1800" dirty="0"/>
              <a:t>C</a:t>
            </a:r>
            <a:r>
              <a:rPr lang="en-US" sz="100" dirty="0"/>
              <a:t> </a:t>
            </a:r>
            <a:r>
              <a:rPr lang="en-US" sz="1800" dirty="0"/>
              <a:t>A</a:t>
            </a:r>
            <a:r>
              <a:rPr lang="en-US" sz="100" dirty="0"/>
              <a:t> </a:t>
            </a:r>
            <a:r>
              <a:rPr lang="en-US" sz="1800" dirty="0"/>
              <a:t>D</a:t>
            </a:r>
            <a:r>
              <a:rPr lang="en-US" sz="100" dirty="0"/>
              <a:t> </a:t>
            </a:r>
            <a:r>
              <a:rPr lang="en-US" sz="1800" dirty="0"/>
              <a:t>A nodes and net</a:t>
            </a:r>
          </a:p>
        </p:txBody>
      </p:sp>
      <p:sp>
        <p:nvSpPr>
          <p:cNvPr id="8" name="Content Placeholder 7">
            <a:extLst>
              <a:ext uri="{FF2B5EF4-FFF2-40B4-BE49-F238E27FC236}">
                <a16:creationId xmlns:a16="http://schemas.microsoft.com/office/drawing/2014/main" id="{55E4C5BF-D5B0-45E8-B4D8-F2DC4F024BB8}"/>
              </a:ext>
              <a:ext uri="{C183D7F6-B498-43B3-948B-1728B52AA6E4}">
                <adec:decorative xmlns:adec="http://schemas.microsoft.com/office/drawing/2017/decorative" val="1"/>
              </a:ext>
            </a:extLst>
          </p:cNvPr>
          <p:cNvSpPr>
            <a:spLocks noGrp="1"/>
          </p:cNvSpPr>
          <p:nvPr>
            <p:ph sz="quarter" idx="15"/>
          </p:nvPr>
        </p:nvSpPr>
        <p:spPr>
          <a:xfrm>
            <a:off x="6305550" y="2488346"/>
            <a:ext cx="2253659" cy="978754"/>
          </a:xfrm>
        </p:spPr>
        <p:txBody>
          <a:bodyPr/>
          <a:lstStyle/>
          <a:p>
            <a:r>
              <a:rPr lang="en-US" sz="1800" dirty="0"/>
              <a:t>Integrity of stored file and database information</a:t>
            </a:r>
          </a:p>
        </p:txBody>
      </p:sp>
      <p:sp>
        <p:nvSpPr>
          <p:cNvPr id="9" name="Content Placeholder 8">
            <a:extLst>
              <a:ext uri="{FF2B5EF4-FFF2-40B4-BE49-F238E27FC236}">
                <a16:creationId xmlns:a16="http://schemas.microsoft.com/office/drawing/2014/main" id="{B5CD4CCB-B19D-4B74-A389-9340A390AE05}"/>
              </a:ext>
              <a:ext uri="{C183D7F6-B498-43B3-948B-1728B52AA6E4}">
                <adec:decorative xmlns:adec="http://schemas.microsoft.com/office/drawing/2017/decorative" val="1"/>
              </a:ext>
            </a:extLst>
          </p:cNvPr>
          <p:cNvSpPr>
            <a:spLocks noGrp="1"/>
          </p:cNvSpPr>
          <p:nvPr>
            <p:ph sz="quarter" idx="16"/>
          </p:nvPr>
        </p:nvSpPr>
        <p:spPr>
          <a:xfrm>
            <a:off x="6386529" y="4159180"/>
            <a:ext cx="2491655" cy="850969"/>
          </a:xfrm>
        </p:spPr>
        <p:txBody>
          <a:bodyPr/>
          <a:lstStyle/>
          <a:p>
            <a:r>
              <a:rPr lang="en-US" sz="1800" dirty="0"/>
              <a:t>Availability, integrity of financial system</a:t>
            </a:r>
          </a:p>
        </p:txBody>
      </p:sp>
      <p:sp>
        <p:nvSpPr>
          <p:cNvPr id="10" name="Content Placeholder 9">
            <a:extLst>
              <a:ext uri="{FF2B5EF4-FFF2-40B4-BE49-F238E27FC236}">
                <a16:creationId xmlns:a16="http://schemas.microsoft.com/office/drawing/2014/main" id="{A882788E-16EB-4352-9AE5-ED199AD17D14}"/>
              </a:ext>
              <a:ext uri="{C183D7F6-B498-43B3-948B-1728B52AA6E4}">
                <adec:decorative xmlns:adec="http://schemas.microsoft.com/office/drawing/2017/decorative" val="1"/>
              </a:ext>
            </a:extLst>
          </p:cNvPr>
          <p:cNvSpPr>
            <a:spLocks noGrp="1"/>
          </p:cNvSpPr>
          <p:nvPr>
            <p:ph sz="quarter" idx="17"/>
          </p:nvPr>
        </p:nvSpPr>
        <p:spPr>
          <a:xfrm>
            <a:off x="3637056" y="5286375"/>
            <a:ext cx="2843765" cy="795448"/>
          </a:xfrm>
        </p:spPr>
        <p:txBody>
          <a:bodyPr/>
          <a:lstStyle/>
          <a:p>
            <a:r>
              <a:rPr lang="en-US" sz="1800" dirty="0"/>
              <a:t>Availability, integrity of procurement system</a:t>
            </a:r>
          </a:p>
        </p:txBody>
      </p:sp>
      <p:sp>
        <p:nvSpPr>
          <p:cNvPr id="11" name="Content Placeholder 10">
            <a:extLst>
              <a:ext uri="{FF2B5EF4-FFF2-40B4-BE49-F238E27FC236}">
                <a16:creationId xmlns:a16="http://schemas.microsoft.com/office/drawing/2014/main" id="{2080D6E4-7D26-4BCF-B536-CBF0A2C26F02}"/>
              </a:ext>
              <a:ext uri="{C183D7F6-B498-43B3-948B-1728B52AA6E4}">
                <adec:decorative xmlns:adec="http://schemas.microsoft.com/office/drawing/2017/decorative" val="1"/>
              </a:ext>
            </a:extLst>
          </p:cNvPr>
          <p:cNvSpPr>
            <a:spLocks noGrp="1"/>
          </p:cNvSpPr>
          <p:nvPr>
            <p:ph sz="quarter" idx="18"/>
          </p:nvPr>
        </p:nvSpPr>
        <p:spPr>
          <a:xfrm>
            <a:off x="457200" y="4031950"/>
            <a:ext cx="3009014" cy="978199"/>
          </a:xfrm>
        </p:spPr>
        <p:txBody>
          <a:bodyPr/>
          <a:lstStyle/>
          <a:p>
            <a:r>
              <a:rPr lang="en-US" sz="1800" dirty="0"/>
              <a:t>Availability, integrity of maintenance/production system</a:t>
            </a:r>
          </a:p>
        </p:txBody>
      </p:sp>
      <p:sp>
        <p:nvSpPr>
          <p:cNvPr id="12" name="Content Placeholder 11">
            <a:extLst>
              <a:ext uri="{FF2B5EF4-FFF2-40B4-BE49-F238E27FC236}">
                <a16:creationId xmlns:a16="http://schemas.microsoft.com/office/drawing/2014/main" id="{7EBD0CAC-53A5-4C7F-9129-62993CC0BFAF}"/>
              </a:ext>
              <a:ext uri="{C183D7F6-B498-43B3-948B-1728B52AA6E4}">
                <adec:decorative xmlns:adec="http://schemas.microsoft.com/office/drawing/2017/decorative" val="1"/>
              </a:ext>
            </a:extLst>
          </p:cNvPr>
          <p:cNvSpPr>
            <a:spLocks noGrp="1"/>
          </p:cNvSpPr>
          <p:nvPr>
            <p:ph sz="quarter" idx="19"/>
          </p:nvPr>
        </p:nvSpPr>
        <p:spPr>
          <a:xfrm>
            <a:off x="457200" y="2556151"/>
            <a:ext cx="2700670" cy="963221"/>
          </a:xfrm>
        </p:spPr>
        <p:txBody>
          <a:bodyPr/>
          <a:lstStyle/>
          <a:p>
            <a:r>
              <a:rPr lang="en-US" sz="1800" dirty="0"/>
              <a:t>Availability, integrity and confidentiality of mail services</a:t>
            </a:r>
          </a:p>
        </p:txBody>
      </p:sp>
    </p:spTree>
    <p:extLst>
      <p:ext uri="{BB962C8B-B14F-4D97-AF65-F5344CB8AC3E}">
        <p14:creationId xmlns:p14="http://schemas.microsoft.com/office/powerpoint/2010/main" val="29108271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CBB2941E-31B6-3E8D-B05E-C60E5FE3F303}"/>
              </a:ext>
            </a:extLst>
          </p:cNvPr>
          <p:cNvSpPr>
            <a:spLocks noGrp="1" noChangeArrowheads="1"/>
          </p:cNvSpPr>
          <p:nvPr>
            <p:ph type="title"/>
          </p:nvPr>
        </p:nvSpPr>
        <p:spPr/>
        <p:txBody>
          <a:bodyPr/>
          <a:lstStyle/>
          <a:p>
            <a:r>
              <a:rPr lang="en-US" altLang="en-US"/>
              <a:t>Assets</a:t>
            </a:r>
          </a:p>
        </p:txBody>
      </p:sp>
      <p:sp>
        <p:nvSpPr>
          <p:cNvPr id="65539" name="Rectangle 3">
            <a:extLst>
              <a:ext uri="{FF2B5EF4-FFF2-40B4-BE49-F238E27FC236}">
                <a16:creationId xmlns:a16="http://schemas.microsoft.com/office/drawing/2014/main" id="{C96053AE-5FA4-AF74-24FF-D2DBF08F4EFB}"/>
              </a:ext>
            </a:extLst>
          </p:cNvPr>
          <p:cNvSpPr>
            <a:spLocks noGrp="1" noChangeArrowheads="1"/>
          </p:cNvSpPr>
          <p:nvPr>
            <p:ph type="body" idx="1"/>
          </p:nvPr>
        </p:nvSpPr>
        <p:spPr/>
        <p:txBody>
          <a:bodyPr/>
          <a:lstStyle/>
          <a:p>
            <a:r>
              <a:rPr lang="en-US" altLang="en-US" sz="2400" dirty="0"/>
              <a:t>reliability and integrity of </a:t>
            </a:r>
            <a:r>
              <a:rPr lang="en-US" altLang="en-US" dirty="0"/>
              <a:t>SCADA (</a:t>
            </a:r>
            <a:r>
              <a:rPr lang="en-US" dirty="0"/>
              <a:t>supervisory control and data acquisition) </a:t>
            </a:r>
            <a:r>
              <a:rPr lang="en-US" altLang="en-US" dirty="0"/>
              <a:t> nodes and net</a:t>
            </a:r>
          </a:p>
          <a:p>
            <a:r>
              <a:rPr lang="en-US" altLang="en-US" sz="2400" dirty="0"/>
              <a:t>integrity of stored file and database information</a:t>
            </a:r>
          </a:p>
          <a:p>
            <a:r>
              <a:rPr lang="en-US" altLang="en-US" sz="2400" dirty="0"/>
              <a:t>availability, integrity of financial system</a:t>
            </a:r>
          </a:p>
          <a:p>
            <a:r>
              <a:rPr lang="en-US" altLang="en-US" sz="2400" dirty="0"/>
              <a:t>availability, integrity of procurement system</a:t>
            </a:r>
          </a:p>
          <a:p>
            <a:r>
              <a:rPr lang="en-US" altLang="en-US" sz="2400" dirty="0"/>
              <a:t>availability, integrity of maintenance/production system</a:t>
            </a:r>
          </a:p>
          <a:p>
            <a:r>
              <a:rPr lang="en-US" altLang="en-US" sz="2400" dirty="0"/>
              <a:t>availability, integrity and confidentiality of mail services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376FD8D7-014D-C1B3-789E-358EBE58ED99}"/>
              </a:ext>
            </a:extLst>
          </p:cNvPr>
          <p:cNvSpPr>
            <a:spLocks noGrp="1" noChangeArrowheads="1"/>
          </p:cNvSpPr>
          <p:nvPr>
            <p:ph type="title"/>
          </p:nvPr>
        </p:nvSpPr>
        <p:spPr/>
        <p:txBody>
          <a:bodyPr/>
          <a:lstStyle/>
          <a:p>
            <a:r>
              <a:rPr lang="en-US" altLang="en-US"/>
              <a:t>Threats &amp; Vulnerabilities</a:t>
            </a:r>
          </a:p>
        </p:txBody>
      </p:sp>
      <p:sp>
        <p:nvSpPr>
          <p:cNvPr id="67587" name="Rectangle 3">
            <a:extLst>
              <a:ext uri="{FF2B5EF4-FFF2-40B4-BE49-F238E27FC236}">
                <a16:creationId xmlns:a16="http://schemas.microsoft.com/office/drawing/2014/main" id="{574B0B24-377D-63D9-91F7-15E491AB97BE}"/>
              </a:ext>
            </a:extLst>
          </p:cNvPr>
          <p:cNvSpPr>
            <a:spLocks noGrp="1" noChangeArrowheads="1"/>
          </p:cNvSpPr>
          <p:nvPr>
            <p:ph type="body" idx="1"/>
          </p:nvPr>
        </p:nvSpPr>
        <p:spPr/>
        <p:txBody>
          <a:bodyPr/>
          <a:lstStyle/>
          <a:p>
            <a:r>
              <a:rPr lang="en-US" altLang="en-US"/>
              <a:t>unauthorized modification of control system</a:t>
            </a:r>
          </a:p>
          <a:p>
            <a:r>
              <a:rPr lang="en-US" altLang="en-US"/>
              <a:t>corruption, theft, loss of info</a:t>
            </a:r>
          </a:p>
          <a:p>
            <a:r>
              <a:rPr lang="en-US" altLang="en-US"/>
              <a:t>attacks/errors affecting procurement system</a:t>
            </a:r>
          </a:p>
          <a:p>
            <a:r>
              <a:rPr lang="en-US" altLang="en-US"/>
              <a:t>attacks/errors affecting financial system</a:t>
            </a:r>
          </a:p>
          <a:p>
            <a:r>
              <a:rPr lang="en-US" altLang="en-US"/>
              <a:t>attacks/errors affecting mail system</a:t>
            </a:r>
          </a:p>
          <a:p>
            <a:r>
              <a:rPr lang="en-US" altLang="en-US"/>
              <a:t>attacks/errors maintenance/production affecting system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4C4D5A1E-30C8-78D7-6EA6-11FE35CA2575}"/>
              </a:ext>
            </a:extLst>
          </p:cNvPr>
          <p:cNvSpPr>
            <a:spLocks noGrp="1" noChangeArrowheads="1"/>
          </p:cNvSpPr>
          <p:nvPr>
            <p:ph type="title"/>
          </p:nvPr>
        </p:nvSpPr>
        <p:spPr/>
        <p:txBody>
          <a:bodyPr/>
          <a:lstStyle/>
          <a:p>
            <a:r>
              <a:rPr lang="en-US" altLang="en-US"/>
              <a:t>Risk Register</a:t>
            </a:r>
          </a:p>
        </p:txBody>
      </p:sp>
      <p:graphicFrame>
        <p:nvGraphicFramePr>
          <p:cNvPr id="69635" name="Object 5">
            <a:extLst>
              <a:ext uri="{FF2B5EF4-FFF2-40B4-BE49-F238E27FC236}">
                <a16:creationId xmlns:a16="http://schemas.microsoft.com/office/drawing/2014/main" id="{EC856D04-9DF6-FAB1-F887-5CC8CC9BCB73}"/>
              </a:ext>
            </a:extLst>
          </p:cNvPr>
          <p:cNvGraphicFramePr>
            <a:graphicFrameLocks noChangeAspect="1"/>
          </p:cNvGraphicFramePr>
          <p:nvPr/>
        </p:nvGraphicFramePr>
        <p:xfrm>
          <a:off x="323850" y="1484313"/>
          <a:ext cx="8669338" cy="4521200"/>
        </p:xfrm>
        <a:graphic>
          <a:graphicData uri="http://schemas.openxmlformats.org/presentationml/2006/ole">
            <mc:AlternateContent xmlns:mc="http://schemas.openxmlformats.org/markup-compatibility/2006">
              <mc:Choice xmlns:v="urn:schemas-microsoft-com:vml" Requires="v">
                <p:oleObj spid="_x0000_s6153" name="Document" r:id="rId4" imgW="6388100" imgH="3327400" progId="Word.Document.8">
                  <p:embed/>
                </p:oleObj>
              </mc:Choice>
              <mc:Fallback>
                <p:oleObj name="Document" r:id="rId4" imgW="6388100" imgH="3327400" progId="Word.Document.8">
                  <p:embed/>
                  <p:pic>
                    <p:nvPicPr>
                      <p:cNvPr id="69635" name="Object 5">
                        <a:extLst>
                          <a:ext uri="{FF2B5EF4-FFF2-40B4-BE49-F238E27FC236}">
                            <a16:creationId xmlns:a16="http://schemas.microsoft.com/office/drawing/2014/main" id="{EC856D04-9DF6-FAB1-F887-5CC8CC9BCB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1484313"/>
                        <a:ext cx="8669338" cy="452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Summary</a:t>
            </a:r>
          </a:p>
        </p:txBody>
      </p:sp>
      <p:sp>
        <p:nvSpPr>
          <p:cNvPr id="4" name="Content Placeholder 3"/>
          <p:cNvSpPr>
            <a:spLocks noGrp="1"/>
          </p:cNvSpPr>
          <p:nvPr>
            <p:ph sz="quarter" idx="13"/>
          </p:nvPr>
        </p:nvSpPr>
        <p:spPr>
          <a:xfrm>
            <a:off x="457200" y="1556327"/>
            <a:ext cx="3627912" cy="4167580"/>
          </a:xfrm>
        </p:spPr>
        <p:txBody>
          <a:bodyPr/>
          <a:lstStyle/>
          <a:p>
            <a:r>
              <a:rPr lang="en-US" sz="2200" dirty="0"/>
              <a:t>I</a:t>
            </a:r>
            <a:r>
              <a:rPr lang="en-US" sz="100" dirty="0"/>
              <a:t> </a:t>
            </a:r>
            <a:r>
              <a:rPr lang="en-US" sz="2200" dirty="0"/>
              <a:t>T security management</a:t>
            </a:r>
          </a:p>
          <a:p>
            <a:r>
              <a:rPr lang="en-US" sz="2200" dirty="0"/>
              <a:t>Organizational context and security policy</a:t>
            </a:r>
          </a:p>
          <a:p>
            <a:r>
              <a:rPr lang="en-US" sz="2200" dirty="0"/>
              <a:t>Security risk assessment</a:t>
            </a:r>
          </a:p>
          <a:p>
            <a:pPr lvl="1"/>
            <a:r>
              <a:rPr lang="en-US" sz="2200" dirty="0"/>
              <a:t>Baseline approach</a:t>
            </a:r>
          </a:p>
          <a:p>
            <a:pPr lvl="1"/>
            <a:r>
              <a:rPr lang="en-US" sz="2200" dirty="0"/>
              <a:t>Informal approach</a:t>
            </a:r>
          </a:p>
          <a:p>
            <a:pPr lvl="1"/>
            <a:r>
              <a:rPr lang="en-US" sz="2200" dirty="0"/>
              <a:t>Detailed risk analysis</a:t>
            </a:r>
          </a:p>
          <a:p>
            <a:pPr lvl="1"/>
            <a:r>
              <a:rPr lang="en-US" sz="2200" dirty="0"/>
              <a:t>Combined approach</a:t>
            </a:r>
          </a:p>
        </p:txBody>
      </p:sp>
      <p:sp>
        <p:nvSpPr>
          <p:cNvPr id="5" name="Content Placeholder 4"/>
          <p:cNvSpPr>
            <a:spLocks noGrp="1"/>
          </p:cNvSpPr>
          <p:nvPr>
            <p:ph sz="quarter" idx="14"/>
          </p:nvPr>
        </p:nvSpPr>
        <p:spPr>
          <a:xfrm>
            <a:off x="4310743" y="1556327"/>
            <a:ext cx="4376057" cy="4167580"/>
          </a:xfrm>
        </p:spPr>
        <p:txBody>
          <a:bodyPr/>
          <a:lstStyle/>
          <a:p>
            <a:r>
              <a:rPr lang="en-US" sz="2200" dirty="0"/>
              <a:t>Detailed security risk analysis</a:t>
            </a:r>
          </a:p>
          <a:p>
            <a:pPr lvl="1"/>
            <a:r>
              <a:rPr lang="en-US" sz="2200" dirty="0"/>
              <a:t>Context and system characterization</a:t>
            </a:r>
          </a:p>
          <a:p>
            <a:pPr lvl="1"/>
            <a:r>
              <a:rPr lang="en-US" sz="2200" dirty="0"/>
              <a:t>Identification of threats/risks/vulnerabilities</a:t>
            </a:r>
          </a:p>
          <a:p>
            <a:pPr lvl="1"/>
            <a:r>
              <a:rPr lang="en-US" sz="2200" dirty="0"/>
              <a:t>Analyze risks</a:t>
            </a:r>
          </a:p>
          <a:p>
            <a:pPr lvl="1"/>
            <a:r>
              <a:rPr lang="en-US" sz="2200" dirty="0"/>
              <a:t>Evaluate risks</a:t>
            </a:r>
          </a:p>
          <a:p>
            <a:pPr lvl="1"/>
            <a:r>
              <a:rPr lang="en-US" sz="2200" dirty="0"/>
              <a:t>Risk treatment</a:t>
            </a:r>
          </a:p>
          <a:p>
            <a:r>
              <a:rPr lang="en-US" sz="2200" dirty="0"/>
              <a:t>Case study: Silver Star Mines</a:t>
            </a:r>
          </a:p>
        </p:txBody>
      </p:sp>
    </p:spTree>
    <p:extLst>
      <p:ext uri="{BB962C8B-B14F-4D97-AF65-F5344CB8AC3E}">
        <p14:creationId xmlns:p14="http://schemas.microsoft.com/office/powerpoint/2010/main" val="1348235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200" dirty="0">
                <a:solidFill>
                  <a:srgbClr val="C00000"/>
                </a:solidFill>
              </a:rPr>
              <a:t>Figure 15.1 I</a:t>
            </a:r>
            <a:r>
              <a:rPr lang="en-US" sz="100" dirty="0">
                <a:solidFill>
                  <a:srgbClr val="C00000"/>
                </a:solidFill>
              </a:rPr>
              <a:t> </a:t>
            </a:r>
            <a:r>
              <a:rPr lang="en-US" sz="3200" dirty="0">
                <a:solidFill>
                  <a:srgbClr val="C00000"/>
                </a:solidFill>
              </a:rPr>
              <a:t>T Security Management Controls and Implementation</a:t>
            </a:r>
          </a:p>
        </p:txBody>
      </p:sp>
      <p:pic>
        <p:nvPicPr>
          <p:cNvPr id="7" name="Content Placeholder 6" descr="An illustration depicts the I T security Management Controls and Implementation.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836758" y="1575353"/>
            <a:ext cx="3470484" cy="4650669"/>
          </a:xfrm>
        </p:spPr>
      </p:pic>
    </p:spTree>
    <p:extLst>
      <p:ext uri="{BB962C8B-B14F-4D97-AF65-F5344CB8AC3E}">
        <p14:creationId xmlns:p14="http://schemas.microsoft.com/office/powerpoint/2010/main" val="17038780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Security Control</a:t>
            </a:r>
          </a:p>
        </p:txBody>
      </p:sp>
      <p:sp>
        <p:nvSpPr>
          <p:cNvPr id="4" name="Content Placeholder 3"/>
          <p:cNvSpPr>
            <a:spLocks noGrp="1"/>
          </p:cNvSpPr>
          <p:nvPr>
            <p:ph sz="quarter" idx="13"/>
          </p:nvPr>
        </p:nvSpPr>
        <p:spPr>
          <a:xfrm>
            <a:off x="457200" y="1556326"/>
            <a:ext cx="8229600" cy="4387273"/>
          </a:xfrm>
        </p:spPr>
        <p:txBody>
          <a:bodyPr/>
          <a:lstStyle/>
          <a:p>
            <a:pPr marL="432" indent="0">
              <a:buNone/>
            </a:pPr>
            <a:r>
              <a:rPr lang="en-US" dirty="0"/>
              <a:t>Control is defined as:</a:t>
            </a:r>
          </a:p>
          <a:p>
            <a:pPr marL="432" indent="0">
              <a:buNone/>
            </a:pPr>
            <a:r>
              <a:rPr lang="en-US" dirty="0"/>
              <a:t>“An action, device, procedure, or other measure that reduces risk by eliminating or preventing a security violation, by minimizing the harm it can cause, or by discovering and reporting it to enable corrective action.”</a:t>
            </a:r>
          </a:p>
          <a:p>
            <a:pPr marL="400482" lvl="1" indent="0"/>
            <a:r>
              <a:rPr lang="en-US" dirty="0"/>
              <a:t>Configured</a:t>
            </a:r>
          </a:p>
          <a:p>
            <a:pPr marL="400482" lvl="1" indent="0"/>
            <a:r>
              <a:rPr lang="en-US" dirty="0"/>
              <a:t>Integrated</a:t>
            </a:r>
          </a:p>
          <a:p>
            <a:pPr marL="400482" lvl="1" indent="0"/>
            <a:r>
              <a:rPr lang="en-US" dirty="0"/>
              <a:t>Monitored</a:t>
            </a:r>
          </a:p>
          <a:p>
            <a:pPr marL="400482" lvl="1" indent="0"/>
            <a:r>
              <a:rPr lang="en-US" dirty="0"/>
              <a:t>Updated</a:t>
            </a:r>
          </a:p>
          <a:p>
            <a:pPr marL="400482" lvl="1" indent="0"/>
            <a:r>
              <a:rPr lang="en-US" dirty="0"/>
              <a:t>Replaced</a:t>
            </a:r>
          </a:p>
        </p:txBody>
      </p:sp>
    </p:spTree>
    <p:extLst>
      <p:ext uri="{BB962C8B-B14F-4D97-AF65-F5344CB8AC3E}">
        <p14:creationId xmlns:p14="http://schemas.microsoft.com/office/powerpoint/2010/main" val="12392745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78"/>
            <a:ext cx="8229600" cy="1097279"/>
          </a:xfrm>
        </p:spPr>
        <p:txBody>
          <a:bodyPr/>
          <a:lstStyle/>
          <a:p>
            <a:r>
              <a:rPr lang="en-US" dirty="0">
                <a:solidFill>
                  <a:srgbClr val="C00000"/>
                </a:solidFill>
              </a:rPr>
              <a:t>Security Control</a:t>
            </a:r>
          </a:p>
        </p:txBody>
      </p:sp>
      <p:sp>
        <p:nvSpPr>
          <p:cNvPr id="4" name="Content Placeholder 3"/>
          <p:cNvSpPr>
            <a:spLocks noGrp="1"/>
          </p:cNvSpPr>
          <p:nvPr>
            <p:ph sz="quarter" idx="13"/>
          </p:nvPr>
        </p:nvSpPr>
        <p:spPr>
          <a:xfrm>
            <a:off x="381000" y="1066800"/>
            <a:ext cx="8229600" cy="4953000"/>
          </a:xfrm>
        </p:spPr>
        <p:txBody>
          <a:bodyPr/>
          <a:lstStyle/>
          <a:p>
            <a:pPr marL="432" indent="0">
              <a:buNone/>
            </a:pPr>
            <a:r>
              <a:rPr lang="en-US" dirty="0"/>
              <a:t>Reduce Risk</a:t>
            </a:r>
          </a:p>
          <a:p>
            <a:pPr marL="432" indent="0">
              <a:buNone/>
            </a:pPr>
            <a:r>
              <a:rPr lang="en-US" dirty="0"/>
              <a:t>Achieve Security Goals</a:t>
            </a:r>
          </a:p>
          <a:p>
            <a:pPr marL="432" indent="0">
              <a:buNone/>
            </a:pPr>
            <a:r>
              <a:rPr lang="en-US" dirty="0"/>
              <a:t>Security Control Categories</a:t>
            </a:r>
          </a:p>
          <a:p>
            <a:pPr marL="400482" lvl="1" indent="0"/>
            <a:r>
              <a:rPr lang="en-US" sz="1800" dirty="0"/>
              <a:t>Access Control</a:t>
            </a:r>
          </a:p>
          <a:p>
            <a:pPr marL="400482" lvl="1" indent="0"/>
            <a:r>
              <a:rPr lang="en-US" sz="1800" dirty="0"/>
              <a:t>Cryptography</a:t>
            </a:r>
          </a:p>
          <a:p>
            <a:pPr marL="400482" lvl="1" indent="0"/>
            <a:r>
              <a:rPr lang="en-US" sz="1800" dirty="0"/>
              <a:t>Communication Security</a:t>
            </a:r>
          </a:p>
          <a:p>
            <a:pPr marL="400482" lvl="1" indent="0"/>
            <a:r>
              <a:rPr lang="en-US" sz="1800" dirty="0"/>
              <a:t>Asset and Media Management</a:t>
            </a:r>
          </a:p>
          <a:p>
            <a:pPr marL="400482" lvl="1" indent="0"/>
            <a:r>
              <a:rPr lang="en-US" sz="1800" dirty="0"/>
              <a:t>Incident Management</a:t>
            </a:r>
          </a:p>
          <a:p>
            <a:pPr marL="400482" lvl="1" indent="0"/>
            <a:r>
              <a:rPr lang="en-US" sz="1800" dirty="0"/>
              <a:t>Secure Development Lifecycle</a:t>
            </a:r>
          </a:p>
          <a:p>
            <a:pPr marL="400482" lvl="1" indent="0"/>
            <a:r>
              <a:rPr lang="en-US" sz="1800" dirty="0"/>
              <a:t>Human Resources security</a:t>
            </a:r>
          </a:p>
          <a:p>
            <a:pPr marL="400482" lvl="1" indent="0"/>
            <a:r>
              <a:rPr lang="en-US" sz="1800" dirty="0"/>
              <a:t>Physical Security</a:t>
            </a:r>
          </a:p>
          <a:p>
            <a:pPr marL="400482" lvl="1" indent="0"/>
            <a:r>
              <a:rPr lang="en-US" sz="1800" dirty="0"/>
              <a:t>System Acquisition</a:t>
            </a:r>
          </a:p>
          <a:p>
            <a:pPr marL="400482" lvl="1" indent="0"/>
            <a:r>
              <a:rPr lang="en-US" sz="1800" dirty="0"/>
              <a:t>Supplier Relations</a:t>
            </a:r>
          </a:p>
        </p:txBody>
      </p:sp>
    </p:spTree>
    <p:extLst>
      <p:ext uri="{BB962C8B-B14F-4D97-AF65-F5344CB8AC3E}">
        <p14:creationId xmlns:p14="http://schemas.microsoft.com/office/powerpoint/2010/main" val="36533930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Security Management</a:t>
            </a:r>
            <a:endParaRPr lang="en-US" sz="2000" b="0" dirty="0">
              <a:solidFill>
                <a:srgbClr val="C00000"/>
              </a:solidFill>
            </a:endParaRPr>
          </a:p>
        </p:txBody>
      </p:sp>
      <p:sp>
        <p:nvSpPr>
          <p:cNvPr id="4" name="Content Placeholder 3"/>
          <p:cNvSpPr>
            <a:spLocks noGrp="1"/>
          </p:cNvSpPr>
          <p:nvPr>
            <p:ph sz="quarter" idx="13"/>
          </p:nvPr>
        </p:nvSpPr>
        <p:spPr>
          <a:xfrm>
            <a:off x="457200" y="1556326"/>
            <a:ext cx="8229600" cy="4788911"/>
          </a:xfrm>
        </p:spPr>
        <p:txBody>
          <a:bodyPr/>
          <a:lstStyle/>
          <a:p>
            <a:pPr marL="432" indent="0">
              <a:spcBef>
                <a:spcPts val="600"/>
              </a:spcBef>
              <a:buNone/>
            </a:pPr>
            <a:r>
              <a:rPr lang="en-US" sz="1600" b="1" dirty="0"/>
              <a:t>Staff Management</a:t>
            </a:r>
          </a:p>
          <a:p>
            <a:pPr marL="400482" lvl="1" indent="0">
              <a:spcBef>
                <a:spcPts val="600"/>
              </a:spcBef>
            </a:pPr>
            <a:r>
              <a:rPr lang="en-US" sz="1600" b="1" dirty="0"/>
              <a:t>Vetting</a:t>
            </a:r>
            <a:endParaRPr lang="en-US" sz="1600" dirty="0"/>
          </a:p>
          <a:p>
            <a:pPr marL="400482" lvl="1" indent="0">
              <a:spcBef>
                <a:spcPts val="600"/>
              </a:spcBef>
            </a:pPr>
            <a:r>
              <a:rPr lang="en-US" sz="1600" b="1" dirty="0"/>
              <a:t>Security and Awareness Training</a:t>
            </a:r>
          </a:p>
          <a:p>
            <a:pPr marL="400482" lvl="1" indent="0">
              <a:spcBef>
                <a:spcPts val="600"/>
              </a:spcBef>
            </a:pPr>
            <a:r>
              <a:rPr lang="en-US" sz="1600" b="1" dirty="0"/>
              <a:t>Good Security Practices</a:t>
            </a:r>
          </a:p>
          <a:p>
            <a:pPr marL="400482" lvl="1" indent="0">
              <a:spcBef>
                <a:spcPts val="600"/>
              </a:spcBef>
            </a:pPr>
            <a:endParaRPr lang="en-US" sz="1600" b="1" dirty="0"/>
          </a:p>
          <a:p>
            <a:pPr marL="432" indent="0">
              <a:spcBef>
                <a:spcPts val="600"/>
              </a:spcBef>
            </a:pPr>
            <a:r>
              <a:rPr lang="en-US" sz="1600" b="1" dirty="0"/>
              <a:t>Use Security Technology Effectively</a:t>
            </a:r>
          </a:p>
          <a:p>
            <a:pPr marL="432" indent="0">
              <a:spcBef>
                <a:spcPts val="600"/>
              </a:spcBef>
              <a:buNone/>
            </a:pPr>
            <a:endParaRPr lang="en-US" sz="1600" b="1" dirty="0"/>
          </a:p>
        </p:txBody>
      </p:sp>
    </p:spTree>
    <p:extLst>
      <p:ext uri="{BB962C8B-B14F-4D97-AF65-F5344CB8AC3E}">
        <p14:creationId xmlns:p14="http://schemas.microsoft.com/office/powerpoint/2010/main" val="2746057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Security Development Lifecycle</a:t>
            </a:r>
          </a:p>
        </p:txBody>
      </p:sp>
      <p:sp>
        <p:nvSpPr>
          <p:cNvPr id="4" name="Content Placeholder 3"/>
          <p:cNvSpPr>
            <a:spLocks noGrp="1"/>
          </p:cNvSpPr>
          <p:nvPr>
            <p:ph sz="quarter" idx="13"/>
          </p:nvPr>
        </p:nvSpPr>
        <p:spPr>
          <a:xfrm>
            <a:off x="457200" y="1556326"/>
            <a:ext cx="8229600" cy="4387273"/>
          </a:xfrm>
        </p:spPr>
        <p:txBody>
          <a:bodyPr/>
          <a:lstStyle/>
          <a:p>
            <a:pPr marL="432" indent="0">
              <a:buNone/>
            </a:pPr>
            <a:r>
              <a:rPr lang="en-US" dirty="0"/>
              <a:t>Tasks</a:t>
            </a:r>
          </a:p>
          <a:p>
            <a:pPr marL="400482" lvl="1" indent="0"/>
            <a:r>
              <a:rPr lang="en-US" dirty="0"/>
              <a:t>Security Development environment</a:t>
            </a:r>
          </a:p>
          <a:p>
            <a:pPr marL="400482" lvl="1" indent="0"/>
            <a:r>
              <a:rPr lang="en-US" dirty="0"/>
              <a:t>Source Code Review</a:t>
            </a:r>
          </a:p>
          <a:p>
            <a:pPr marL="400482" lvl="1" indent="0"/>
            <a:r>
              <a:rPr lang="en-US" dirty="0"/>
              <a:t>Security Testing</a:t>
            </a:r>
          </a:p>
          <a:p>
            <a:pPr marL="400482" lvl="1" indent="0"/>
            <a:r>
              <a:rPr lang="en-US" dirty="0"/>
              <a:t>Outsourced components review</a:t>
            </a:r>
          </a:p>
          <a:p>
            <a:pPr marL="400482" lvl="1" indent="0"/>
            <a:r>
              <a:rPr lang="en-US" dirty="0"/>
              <a:t>Security and privacy assessments</a:t>
            </a:r>
          </a:p>
        </p:txBody>
      </p:sp>
    </p:spTree>
    <p:extLst>
      <p:ext uri="{BB962C8B-B14F-4D97-AF65-F5344CB8AC3E}">
        <p14:creationId xmlns:p14="http://schemas.microsoft.com/office/powerpoint/2010/main" val="30784619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Control Classifications</a:t>
            </a:r>
          </a:p>
        </p:txBody>
      </p:sp>
      <p:sp>
        <p:nvSpPr>
          <p:cNvPr id="4" name="Content Placeholder 3"/>
          <p:cNvSpPr>
            <a:spLocks noGrp="1"/>
          </p:cNvSpPr>
          <p:nvPr>
            <p:ph sz="quarter" idx="13"/>
          </p:nvPr>
        </p:nvSpPr>
        <p:spPr>
          <a:xfrm>
            <a:off x="457200" y="1556326"/>
            <a:ext cx="8229600" cy="4788911"/>
          </a:xfrm>
        </p:spPr>
        <p:txBody>
          <a:bodyPr/>
          <a:lstStyle/>
          <a:p>
            <a:pPr>
              <a:spcBef>
                <a:spcPts val="600"/>
              </a:spcBef>
            </a:pPr>
            <a:r>
              <a:rPr lang="en-US" sz="1600" dirty="0"/>
              <a:t>Management controls</a:t>
            </a:r>
          </a:p>
          <a:p>
            <a:pPr lvl="1"/>
            <a:r>
              <a:rPr lang="en-US" sz="1600" dirty="0">
                <a:solidFill>
                  <a:schemeClr val="accent2"/>
                </a:solidFill>
              </a:rPr>
              <a:t>Focus on security policies, planning, guidelines, and standards that influence the selection of operational and technical controls to reduce the risk of loss and to protect the organization’s mission</a:t>
            </a:r>
          </a:p>
          <a:p>
            <a:pPr lvl="1"/>
            <a:r>
              <a:rPr lang="en-US" sz="1600" dirty="0"/>
              <a:t>These controls refer to issues that management needs to address</a:t>
            </a:r>
          </a:p>
          <a:p>
            <a:pPr>
              <a:spcBef>
                <a:spcPts val="600"/>
              </a:spcBef>
            </a:pPr>
            <a:r>
              <a:rPr lang="en-US" sz="1600" dirty="0"/>
              <a:t>Operational controls</a:t>
            </a:r>
          </a:p>
          <a:p>
            <a:pPr lvl="1"/>
            <a:r>
              <a:rPr lang="en-US" sz="1600" dirty="0"/>
              <a:t>Address the correct implementation and use of security policies and standards, ensuring consistency in security operations and correcting identified operational deficiencies</a:t>
            </a:r>
          </a:p>
          <a:p>
            <a:pPr lvl="1"/>
            <a:r>
              <a:rPr lang="en-US" sz="1600" dirty="0">
                <a:solidFill>
                  <a:schemeClr val="accent2"/>
                </a:solidFill>
              </a:rPr>
              <a:t>These controls relate to mechanisms and procedures that are primarily implemented by people rather than systems</a:t>
            </a:r>
          </a:p>
          <a:p>
            <a:pPr lvl="1"/>
            <a:r>
              <a:rPr lang="en-US" sz="1600" dirty="0"/>
              <a:t>They are used to improve the security of a system or group of systems</a:t>
            </a:r>
          </a:p>
          <a:p>
            <a:pPr>
              <a:spcBef>
                <a:spcPts val="600"/>
              </a:spcBef>
            </a:pPr>
            <a:r>
              <a:rPr lang="en-US" sz="1600" dirty="0"/>
              <a:t>Technical controls</a:t>
            </a:r>
          </a:p>
          <a:p>
            <a:pPr lvl="1"/>
            <a:r>
              <a:rPr lang="en-US" sz="1600" dirty="0">
                <a:solidFill>
                  <a:schemeClr val="accent2"/>
                </a:solidFill>
              </a:rPr>
              <a:t>Involve the correct use of hardware and software security capabilities in systems</a:t>
            </a:r>
          </a:p>
          <a:p>
            <a:pPr lvl="1"/>
            <a:r>
              <a:rPr lang="en-US" sz="1600" dirty="0"/>
              <a:t>These range from simple to complex measures that work together to secure critical and sensitive data, information, and I</a:t>
            </a:r>
            <a:r>
              <a:rPr lang="en-US" sz="100" dirty="0"/>
              <a:t> </a:t>
            </a:r>
            <a:r>
              <a:rPr lang="en-US" sz="1600" dirty="0"/>
              <a:t>T systems functions</a:t>
            </a:r>
          </a:p>
        </p:txBody>
      </p:sp>
    </p:spTree>
    <p:extLst>
      <p:ext uri="{BB962C8B-B14F-4D97-AF65-F5344CB8AC3E}">
        <p14:creationId xmlns:p14="http://schemas.microsoft.com/office/powerpoint/2010/main" val="25706179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Figure 15.2 Technical Security Controls</a:t>
            </a:r>
          </a:p>
        </p:txBody>
      </p:sp>
      <p:pic>
        <p:nvPicPr>
          <p:cNvPr id="3" name="Content Placeholder 2" descr="An illustration depicts the technical security control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04596" y="1557208"/>
            <a:ext cx="5334808" cy="4774958"/>
          </a:xfrm>
        </p:spPr>
      </p:pic>
    </p:spTree>
    <p:extLst>
      <p:ext uri="{BB962C8B-B14F-4D97-AF65-F5344CB8AC3E}">
        <p14:creationId xmlns:p14="http://schemas.microsoft.com/office/powerpoint/2010/main" val="36406643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Control Classes</a:t>
            </a:r>
          </a:p>
        </p:txBody>
      </p:sp>
      <p:sp>
        <p:nvSpPr>
          <p:cNvPr id="4" name="Content Placeholder 3"/>
          <p:cNvSpPr>
            <a:spLocks noGrp="1"/>
          </p:cNvSpPr>
          <p:nvPr>
            <p:ph sz="quarter" idx="13"/>
          </p:nvPr>
        </p:nvSpPr>
        <p:spPr>
          <a:xfrm>
            <a:off x="457200" y="1556326"/>
            <a:ext cx="8229600" cy="4788911"/>
          </a:xfrm>
        </p:spPr>
        <p:txBody>
          <a:bodyPr/>
          <a:lstStyle/>
          <a:p>
            <a:pPr marL="432" indent="0">
              <a:spcBef>
                <a:spcPts val="600"/>
              </a:spcBef>
              <a:buNone/>
            </a:pPr>
            <a:r>
              <a:rPr lang="en-US" sz="2000" dirty="0"/>
              <a:t>Each of the control classes may include the following:</a:t>
            </a:r>
          </a:p>
          <a:p>
            <a:pPr>
              <a:spcBef>
                <a:spcPts val="600"/>
              </a:spcBef>
            </a:pPr>
            <a:r>
              <a:rPr lang="en-US" sz="2000" dirty="0"/>
              <a:t>Supportive controls</a:t>
            </a:r>
          </a:p>
          <a:p>
            <a:pPr lvl="1"/>
            <a:r>
              <a:rPr lang="en-US" sz="2000" dirty="0"/>
              <a:t>Pervasive, generic, underlying technical I</a:t>
            </a:r>
            <a:r>
              <a:rPr lang="en-US" sz="100" dirty="0"/>
              <a:t> </a:t>
            </a:r>
            <a:r>
              <a:rPr lang="en-US" sz="2000" dirty="0"/>
              <a:t>T security capabilities that are interrelated with, and used by, many other controls</a:t>
            </a:r>
          </a:p>
          <a:p>
            <a:pPr>
              <a:spcBef>
                <a:spcPts val="600"/>
              </a:spcBef>
            </a:pPr>
            <a:r>
              <a:rPr lang="en-US" sz="2000" dirty="0"/>
              <a:t>Preventative controls</a:t>
            </a:r>
          </a:p>
          <a:p>
            <a:pPr lvl="1"/>
            <a:r>
              <a:rPr lang="en-US" sz="2000" dirty="0"/>
              <a:t>Focus on preventing security breaches from occurring, by inhibiting attempts to violate security policies or exploit a vulnerability</a:t>
            </a:r>
          </a:p>
          <a:p>
            <a:pPr>
              <a:spcBef>
                <a:spcPts val="600"/>
              </a:spcBef>
            </a:pPr>
            <a:r>
              <a:rPr lang="en-US" sz="2000" dirty="0"/>
              <a:t>Detection and recovery controls</a:t>
            </a:r>
          </a:p>
          <a:p>
            <a:pPr lvl="1"/>
            <a:r>
              <a:rPr lang="en-US" sz="2000" dirty="0"/>
              <a:t>Focus on the response to a security breach, by warning of violations or attempted violations of security policies or the identified exploit of a vulnerability and by providing means to restore the resulting lost computing resources</a:t>
            </a:r>
          </a:p>
        </p:txBody>
      </p:sp>
    </p:spTree>
    <p:extLst>
      <p:ext uri="{BB962C8B-B14F-4D97-AF65-F5344CB8AC3E}">
        <p14:creationId xmlns:p14="http://schemas.microsoft.com/office/powerpoint/2010/main" val="23534080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15.1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a:t>
            </a:r>
          </a:p>
        </p:txBody>
      </p:sp>
      <p:graphicFrame>
        <p:nvGraphicFramePr>
          <p:cNvPr id="3" name="Content Placeholder 2"/>
          <p:cNvGraphicFramePr>
            <a:graphicFrameLocks noGrp="1"/>
          </p:cNvGraphicFramePr>
          <p:nvPr>
            <p:ph sz="quarter" idx="13"/>
          </p:nvPr>
        </p:nvGraphicFramePr>
        <p:xfrm>
          <a:off x="1925955" y="1555750"/>
          <a:ext cx="5292090" cy="4789482"/>
        </p:xfrm>
        <a:graphic>
          <a:graphicData uri="http://schemas.openxmlformats.org/drawingml/2006/table">
            <a:tbl>
              <a:tblPr firstRow="1" bandRow="1">
                <a:tableStyleId>{2D5ABB26-0587-4C30-8999-92F81FD0307C}</a:tableStyleId>
              </a:tblPr>
              <a:tblGrid>
                <a:gridCol w="1920240">
                  <a:extLst>
                    <a:ext uri="{9D8B030D-6E8A-4147-A177-3AD203B41FA5}">
                      <a16:colId xmlns:a16="http://schemas.microsoft.com/office/drawing/2014/main" val="3032087166"/>
                    </a:ext>
                  </a:extLst>
                </a:gridCol>
                <a:gridCol w="3371850">
                  <a:extLst>
                    <a:ext uri="{9D8B030D-6E8A-4147-A177-3AD203B41FA5}">
                      <a16:colId xmlns:a16="http://schemas.microsoft.com/office/drawing/2014/main" val="3827575102"/>
                    </a:ext>
                  </a:extLst>
                </a:gridCol>
              </a:tblGrid>
              <a:tr h="252078">
                <a:tc>
                  <a:txBody>
                    <a:bodyPr/>
                    <a:lstStyle/>
                    <a:p>
                      <a:r>
                        <a:rPr lang="en-US" sz="1200" b="1" i="0" u="none" strike="noStrike" cap="none" baseline="0" noProof="0" dirty="0">
                          <a:solidFill>
                            <a:schemeClr val="tx1"/>
                          </a:solidFill>
                          <a:latin typeface="+mn-lt"/>
                          <a:ea typeface="+mn-ea"/>
                          <a:cs typeface="+mn-cs"/>
                          <a:sym typeface="Arial"/>
                        </a:rPr>
                        <a:t>Class</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0" u="none" strike="noStrike" cap="none" baseline="0" noProof="0" dirty="0">
                          <a:solidFill>
                            <a:schemeClr val="tx1"/>
                          </a:solidFill>
                          <a:latin typeface="+mn-lt"/>
                          <a:ea typeface="+mn-ea"/>
                          <a:cs typeface="+mn-cs"/>
                          <a:sym typeface="Arial"/>
                        </a:rPr>
                        <a:t>Control Family</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486929"/>
                  </a:ext>
                </a:extLst>
              </a:tr>
              <a:tr h="252078">
                <a:tc>
                  <a:txBody>
                    <a:bodyPr/>
                    <a:lstStyle/>
                    <a:p>
                      <a:r>
                        <a:rPr lang="en-US" sz="1200" b="0" i="0" u="none" strike="noStrike" cap="none" baseline="0" noProof="0" dirty="0">
                          <a:solidFill>
                            <a:schemeClr val="tx1"/>
                          </a:solidFill>
                          <a:latin typeface="+mn-lt"/>
                          <a:ea typeface="+mn-ea"/>
                          <a:cs typeface="+mn-cs"/>
                          <a:sym typeface="Arial"/>
                        </a:rPr>
                        <a:t>Management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Planning</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049375"/>
                  </a:ext>
                </a:extLst>
              </a:tr>
              <a:tr h="252078">
                <a:tc>
                  <a:txBody>
                    <a:bodyPr/>
                    <a:lstStyle/>
                    <a:p>
                      <a:r>
                        <a:rPr lang="en-US" sz="1200" b="0" i="0" u="none" strike="noStrike" cap="none" baseline="0" noProof="0" dirty="0">
                          <a:solidFill>
                            <a:schemeClr val="tx1"/>
                          </a:solidFill>
                          <a:latin typeface="+mn-lt"/>
                          <a:ea typeface="+mn-ea"/>
                          <a:cs typeface="+mn-cs"/>
                          <a:sym typeface="Arial"/>
                        </a:rPr>
                        <a:t>Management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Program Management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3606829"/>
                  </a:ext>
                </a:extLst>
              </a:tr>
              <a:tr h="252078">
                <a:tc>
                  <a:txBody>
                    <a:bodyPr/>
                    <a:lstStyle/>
                    <a:p>
                      <a:r>
                        <a:rPr lang="en-US" sz="1200" b="0" i="0" u="none" strike="noStrike" cap="none" baseline="0" noProof="0" dirty="0">
                          <a:solidFill>
                            <a:schemeClr val="tx1"/>
                          </a:solidFill>
                          <a:latin typeface="+mn-lt"/>
                          <a:ea typeface="+mn-ea"/>
                          <a:cs typeface="+mn-cs"/>
                          <a:sym typeface="Arial"/>
                        </a:rPr>
                        <a:t>Management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Risk Assessment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408833"/>
                  </a:ext>
                </a:extLst>
              </a:tr>
              <a:tr h="252078">
                <a:tc>
                  <a:txBody>
                    <a:bodyPr/>
                    <a:lstStyle/>
                    <a:p>
                      <a:r>
                        <a:rPr lang="en-US" sz="1200" b="0" i="0" u="none" strike="noStrike" cap="none" baseline="0" noProof="0" dirty="0">
                          <a:solidFill>
                            <a:schemeClr val="tx1"/>
                          </a:solidFill>
                          <a:latin typeface="+mn-lt"/>
                          <a:ea typeface="+mn-ea"/>
                          <a:cs typeface="+mn-cs"/>
                          <a:sym typeface="Arial"/>
                        </a:rPr>
                        <a:t>Management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Security Assessment and Authorization</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5297436"/>
                  </a:ext>
                </a:extLst>
              </a:tr>
              <a:tr h="252078">
                <a:tc>
                  <a:txBody>
                    <a:bodyPr/>
                    <a:lstStyle/>
                    <a:p>
                      <a:r>
                        <a:rPr lang="en-US" sz="1200" b="0" i="0" u="none" strike="noStrike" cap="none" baseline="0" noProof="0" dirty="0">
                          <a:solidFill>
                            <a:schemeClr val="tx1"/>
                          </a:solidFill>
                          <a:latin typeface="+mn-lt"/>
                          <a:ea typeface="+mn-ea"/>
                          <a:cs typeface="+mn-cs"/>
                          <a:sym typeface="Arial"/>
                        </a:rPr>
                        <a:t>Management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System and Services Acquisition</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9842924"/>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Awareness and Training</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7030666"/>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Configuration Management</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8593165"/>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Contingency Planning</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7581579"/>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Incident Response</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4180102"/>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Maintenance</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1884266"/>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Media Protection</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749775"/>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Personnel Security</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0284347"/>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Physical and Environmental Protection</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0783741"/>
                  </a:ext>
                </a:extLst>
              </a:tr>
              <a:tr h="252078">
                <a:tc>
                  <a:txBody>
                    <a:bodyPr/>
                    <a:lstStyle/>
                    <a:p>
                      <a:r>
                        <a:rPr lang="en-US" sz="1200" b="0" i="0" u="none" strike="noStrike" cap="none" baseline="0" noProof="0" dirty="0">
                          <a:solidFill>
                            <a:schemeClr val="tx1"/>
                          </a:solidFill>
                          <a:latin typeface="+mn-lt"/>
                          <a:ea typeface="+mn-ea"/>
                          <a:cs typeface="+mn-cs"/>
                          <a:sym typeface="Arial"/>
                        </a:rPr>
                        <a:t>Operational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System and Information Integrity</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7163326"/>
                  </a:ext>
                </a:extLst>
              </a:tr>
              <a:tr h="252078">
                <a:tc>
                  <a:txBody>
                    <a:bodyPr/>
                    <a:lstStyle/>
                    <a:p>
                      <a:r>
                        <a:rPr lang="en-US" sz="1200" b="0" i="0" u="none" strike="noStrike" cap="none" baseline="0" noProof="0" dirty="0">
                          <a:solidFill>
                            <a:schemeClr val="tx1"/>
                          </a:solidFill>
                          <a:latin typeface="+mn-lt"/>
                          <a:ea typeface="+mn-ea"/>
                          <a:cs typeface="+mn-cs"/>
                          <a:sym typeface="Arial"/>
                        </a:rPr>
                        <a:t>Technical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Access Control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468727"/>
                  </a:ext>
                </a:extLst>
              </a:tr>
              <a:tr h="252078">
                <a:tc>
                  <a:txBody>
                    <a:bodyPr/>
                    <a:lstStyle/>
                    <a:p>
                      <a:r>
                        <a:rPr lang="en-US" sz="1200" b="0" i="0" u="none" strike="noStrike" cap="none" baseline="0" noProof="0" dirty="0">
                          <a:solidFill>
                            <a:schemeClr val="tx1"/>
                          </a:solidFill>
                          <a:latin typeface="+mn-lt"/>
                          <a:ea typeface="+mn-ea"/>
                          <a:cs typeface="+mn-cs"/>
                          <a:sym typeface="Arial"/>
                        </a:rPr>
                        <a:t>Technical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Audit and Accountability</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2053623"/>
                  </a:ext>
                </a:extLst>
              </a:tr>
              <a:tr h="252078">
                <a:tc>
                  <a:txBody>
                    <a:bodyPr/>
                    <a:lstStyle/>
                    <a:p>
                      <a:r>
                        <a:rPr lang="en-US" sz="1200" b="0" i="0" u="none" strike="noStrike" cap="none" baseline="0" noProof="0" dirty="0">
                          <a:solidFill>
                            <a:schemeClr val="tx1"/>
                          </a:solidFill>
                          <a:latin typeface="+mn-lt"/>
                          <a:ea typeface="+mn-ea"/>
                          <a:cs typeface="+mn-cs"/>
                          <a:sym typeface="Arial"/>
                        </a:rPr>
                        <a:t>Technical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Identification and Authentication</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5945192"/>
                  </a:ext>
                </a:extLst>
              </a:tr>
              <a:tr h="252078">
                <a:tc>
                  <a:txBody>
                    <a:bodyPr/>
                    <a:lstStyle/>
                    <a:p>
                      <a:r>
                        <a:rPr lang="en-US" sz="1200" b="0" i="0" u="none" strike="noStrike" cap="none" baseline="0" noProof="0" dirty="0">
                          <a:solidFill>
                            <a:schemeClr val="tx1"/>
                          </a:solidFill>
                          <a:latin typeface="+mn-lt"/>
                          <a:ea typeface="+mn-ea"/>
                          <a:cs typeface="+mn-cs"/>
                          <a:sym typeface="Arial"/>
                        </a:rPr>
                        <a:t>Technical</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System and Communications Protection</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8509915"/>
                  </a:ext>
                </a:extLst>
              </a:tr>
            </a:tbl>
          </a:graphicData>
        </a:graphic>
      </p:graphicFrame>
    </p:spTree>
    <p:extLst>
      <p:ext uri="{BB962C8B-B14F-4D97-AF65-F5344CB8AC3E}">
        <p14:creationId xmlns:p14="http://schemas.microsoft.com/office/powerpoint/2010/main" val="41217389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15.2 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O/I</a:t>
            </a:r>
            <a:r>
              <a:rPr lang="en-US" sz="100" dirty="0">
                <a:solidFill>
                  <a:srgbClr val="C00000"/>
                </a:solidFill>
              </a:rPr>
              <a:t> </a:t>
            </a:r>
            <a:r>
              <a:rPr lang="en-US" sz="3200" dirty="0">
                <a:solidFill>
                  <a:srgbClr val="C00000"/>
                </a:solidFill>
              </a:rPr>
              <a:t>E</a:t>
            </a:r>
            <a:r>
              <a:rPr lang="en-US" sz="100" dirty="0">
                <a:solidFill>
                  <a:srgbClr val="C00000"/>
                </a:solidFill>
              </a:rPr>
              <a:t> </a:t>
            </a:r>
            <a:r>
              <a:rPr lang="en-US" sz="3200" dirty="0">
                <a:solidFill>
                  <a:srgbClr val="C00000"/>
                </a:solidFill>
              </a:rPr>
              <a:t>C 27002 Security Controls </a:t>
            </a:r>
            <a:r>
              <a:rPr lang="en-US" sz="2000" b="0" dirty="0">
                <a:solidFill>
                  <a:srgbClr val="C00000"/>
                </a:solidFill>
              </a:rPr>
              <a:t>(1 of 2)</a:t>
            </a:r>
          </a:p>
        </p:txBody>
      </p:sp>
      <p:graphicFrame>
        <p:nvGraphicFramePr>
          <p:cNvPr id="3" name="Content Placeholder 2"/>
          <p:cNvGraphicFramePr>
            <a:graphicFrameLocks noGrp="1"/>
          </p:cNvGraphicFramePr>
          <p:nvPr>
            <p:ph sz="quarter" idx="13"/>
          </p:nvPr>
        </p:nvGraphicFramePr>
        <p:xfrm>
          <a:off x="457200" y="1555750"/>
          <a:ext cx="8229600" cy="4782240"/>
        </p:xfrm>
        <a:graphic>
          <a:graphicData uri="http://schemas.openxmlformats.org/drawingml/2006/table">
            <a:tbl>
              <a:tblPr firstRow="1" bandRow="1">
                <a:tableStyleId>{2D5ABB26-0587-4C30-8999-92F81FD0307C}</a:tableStyleId>
              </a:tblPr>
              <a:tblGrid>
                <a:gridCol w="1514104">
                  <a:extLst>
                    <a:ext uri="{9D8B030D-6E8A-4147-A177-3AD203B41FA5}">
                      <a16:colId xmlns:a16="http://schemas.microsoft.com/office/drawing/2014/main" val="1236360686"/>
                    </a:ext>
                  </a:extLst>
                </a:gridCol>
                <a:gridCol w="6715496">
                  <a:extLst>
                    <a:ext uri="{9D8B030D-6E8A-4147-A177-3AD203B41FA5}">
                      <a16:colId xmlns:a16="http://schemas.microsoft.com/office/drawing/2014/main" val="3005155826"/>
                    </a:ext>
                  </a:extLst>
                </a:gridCol>
              </a:tblGrid>
              <a:tr h="199237">
                <a:tc>
                  <a:txBody>
                    <a:bodyPr/>
                    <a:lstStyle/>
                    <a:p>
                      <a:r>
                        <a:rPr lang="en-US" sz="1200" b="1" i="0" u="none" strike="noStrike" cap="none" baseline="0" noProof="0" dirty="0">
                          <a:solidFill>
                            <a:schemeClr val="tx1"/>
                          </a:solidFill>
                          <a:latin typeface="+mn-lt"/>
                          <a:ea typeface="+mn-ea"/>
                          <a:cs typeface="+mn-cs"/>
                          <a:sym typeface="Arial"/>
                        </a:rPr>
                        <a:t>Control Category</a:t>
                      </a:r>
                      <a:endParaRPr lang="en-US" sz="1200" noProof="0" dirty="0"/>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0" u="none" strike="noStrike" cap="none" baseline="0" noProof="0" dirty="0">
                          <a:solidFill>
                            <a:schemeClr val="tx1"/>
                          </a:solidFill>
                          <a:latin typeface="+mn-lt"/>
                          <a:ea typeface="+mn-ea"/>
                          <a:cs typeface="+mn-cs"/>
                          <a:sym typeface="Arial"/>
                        </a:rPr>
                        <a:t>Objective</a:t>
                      </a:r>
                      <a:endParaRPr lang="en-US" sz="1200" noProof="0" dirty="0"/>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5975517"/>
                  </a:ext>
                </a:extLst>
              </a:tr>
              <a:tr h="332062">
                <a:tc>
                  <a:txBody>
                    <a:bodyPr/>
                    <a:lstStyle/>
                    <a:p>
                      <a:r>
                        <a:rPr lang="en-US" sz="1200" b="0" i="0" u="none" strike="noStrike" cap="none" baseline="0" noProof="0" dirty="0">
                          <a:solidFill>
                            <a:schemeClr val="tx1"/>
                          </a:solidFill>
                          <a:latin typeface="+mn-lt"/>
                          <a:ea typeface="+mn-ea"/>
                          <a:cs typeface="+mn-cs"/>
                          <a:sym typeface="Arial"/>
                        </a:rPr>
                        <a:t>Security Policies</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provide management direction and support for information security in accordance with business requirements and relevant laws and regulations.</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7041721"/>
                  </a:ext>
                </a:extLst>
              </a:tr>
              <a:tr h="464886">
                <a:tc>
                  <a:txBody>
                    <a:bodyPr/>
                    <a:lstStyle/>
                    <a:p>
                      <a:r>
                        <a:rPr lang="en-US" sz="1200" b="0" i="0" u="none" strike="noStrike" cap="none" baseline="0" noProof="0" dirty="0">
                          <a:solidFill>
                            <a:schemeClr val="tx1"/>
                          </a:solidFill>
                          <a:latin typeface="+mn-lt"/>
                          <a:ea typeface="+mn-ea"/>
                          <a:cs typeface="+mn-cs"/>
                          <a:sym typeface="Arial"/>
                        </a:rPr>
                        <a:t>Organization of Information Security</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establish a management framework to initiate and control the implementation and operation of information security within the organization; to ensure the security of teleworking and use of mobile devices.</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241252"/>
                  </a:ext>
                </a:extLst>
              </a:tr>
              <a:tr h="597711">
                <a:tc>
                  <a:txBody>
                    <a:bodyPr/>
                    <a:lstStyle/>
                    <a:p>
                      <a:r>
                        <a:rPr lang="en-US" sz="1200" b="0" i="0" u="none" strike="noStrike" cap="none" baseline="0" noProof="0" dirty="0">
                          <a:solidFill>
                            <a:schemeClr val="tx1"/>
                          </a:solidFill>
                          <a:latin typeface="+mn-lt"/>
                          <a:ea typeface="+mn-ea"/>
                          <a:cs typeface="+mn-cs"/>
                          <a:sym typeface="Arial"/>
                        </a:rPr>
                        <a:t>Human Resource Security</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ensure that employees and contractors understand their responsibilities and are suitable for the roles for which they are considered; to ensure that employees and contractors are aware of and fulfill their information security responsibilities; to protect the organization’s interests as part of the process of changing or terminating employment.</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627548"/>
                  </a:ext>
                </a:extLst>
              </a:tr>
              <a:tr h="597711">
                <a:tc>
                  <a:txBody>
                    <a:bodyPr/>
                    <a:lstStyle/>
                    <a:p>
                      <a:r>
                        <a:rPr lang="en-US" sz="1200" b="0" i="0" u="none" strike="noStrike" cap="none" baseline="0" noProof="0" dirty="0">
                          <a:solidFill>
                            <a:schemeClr val="tx1"/>
                          </a:solidFill>
                          <a:latin typeface="+mn-lt"/>
                          <a:ea typeface="+mn-ea"/>
                          <a:cs typeface="+mn-cs"/>
                          <a:sym typeface="Arial"/>
                        </a:rPr>
                        <a:t>Asset Management</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identify organizational assets and define appropriate protection responsibilities; to ensure that information receives an appropriate level of protection in accordance with its importance to the organization; to prevent unauthorized disclosure, modification, removal or destruction of information stored on media.</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0831279"/>
                  </a:ext>
                </a:extLst>
              </a:tr>
              <a:tr h="597711">
                <a:tc>
                  <a:txBody>
                    <a:bodyPr/>
                    <a:lstStyle/>
                    <a:p>
                      <a:r>
                        <a:rPr lang="en-US" sz="1200" b="0" i="0" u="none" strike="noStrike" cap="none" baseline="0" noProof="0" dirty="0">
                          <a:solidFill>
                            <a:schemeClr val="tx1"/>
                          </a:solidFill>
                          <a:latin typeface="+mn-lt"/>
                          <a:ea typeface="+mn-ea"/>
                          <a:cs typeface="+mn-cs"/>
                          <a:sym typeface="Arial"/>
                        </a:rPr>
                        <a:t>Access Control</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limit access to information and information processing facilities; to ensure</a:t>
                      </a:r>
                    </a:p>
                    <a:p>
                      <a:r>
                        <a:rPr lang="en-US" sz="1200" b="0" i="0" u="none" strike="noStrike" cap="none" baseline="0" noProof="0" dirty="0">
                          <a:solidFill>
                            <a:schemeClr val="tx1"/>
                          </a:solidFill>
                          <a:latin typeface="+mn-lt"/>
                          <a:ea typeface="+mn-ea"/>
                          <a:cs typeface="+mn-cs"/>
                          <a:sym typeface="Arial"/>
                        </a:rPr>
                        <a:t>authorized user access and to prevent unauthorized access to systems and services; to make users accountable for safeguarding their authentication information; to prevent unauthorized access to systems and applications.</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064719"/>
                  </a:ext>
                </a:extLst>
              </a:tr>
              <a:tr h="332062">
                <a:tc>
                  <a:txBody>
                    <a:bodyPr/>
                    <a:lstStyle/>
                    <a:p>
                      <a:r>
                        <a:rPr lang="en-US" sz="1200" b="0" i="0" u="none" strike="noStrike" cap="none" baseline="0" noProof="0" dirty="0">
                          <a:solidFill>
                            <a:schemeClr val="tx1"/>
                          </a:solidFill>
                          <a:latin typeface="+mn-lt"/>
                          <a:ea typeface="+mn-ea"/>
                          <a:cs typeface="+mn-cs"/>
                          <a:sym typeface="Arial"/>
                        </a:rPr>
                        <a:t>Cryptography</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ensure proper and effective use of cryptography to protect the confidentiality, authenticity and/or integrity of information.</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5637538"/>
                  </a:ext>
                </a:extLst>
              </a:tr>
              <a:tr h="464886">
                <a:tc>
                  <a:txBody>
                    <a:bodyPr/>
                    <a:lstStyle/>
                    <a:p>
                      <a:r>
                        <a:rPr lang="en-US" sz="1200" b="0" i="0" u="none" strike="noStrike" cap="none" baseline="0" noProof="0" dirty="0">
                          <a:solidFill>
                            <a:schemeClr val="tx1"/>
                          </a:solidFill>
                          <a:latin typeface="+mn-lt"/>
                          <a:ea typeface="+mn-ea"/>
                          <a:cs typeface="+mn-cs"/>
                          <a:sym typeface="Arial"/>
                        </a:rPr>
                        <a:t>Physical and Environmental Security</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prevent unauthorized physical access, damage, and interference to the organization’s information and information processing facilities; to prevent loss, damage, theft or compromise of assets and interruption to the organization’s operations.</a:t>
                      </a:r>
                      <a:endParaRPr lang="en-US" sz="1200" noProof="0" dirty="0"/>
                    </a:p>
                  </a:txBody>
                  <a:tcPr marT="36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1537766"/>
                  </a:ext>
                </a:extLst>
              </a:tr>
            </a:tbl>
          </a:graphicData>
        </a:graphic>
      </p:graphicFrame>
    </p:spTree>
    <p:extLst>
      <p:ext uri="{BB962C8B-B14F-4D97-AF65-F5344CB8AC3E}">
        <p14:creationId xmlns:p14="http://schemas.microsoft.com/office/powerpoint/2010/main" val="24121716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15.2 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O/I</a:t>
            </a:r>
            <a:r>
              <a:rPr lang="en-US" sz="100" dirty="0">
                <a:solidFill>
                  <a:srgbClr val="C00000"/>
                </a:solidFill>
              </a:rPr>
              <a:t> </a:t>
            </a:r>
            <a:r>
              <a:rPr lang="en-US" sz="3200" dirty="0">
                <a:solidFill>
                  <a:srgbClr val="C00000"/>
                </a:solidFill>
              </a:rPr>
              <a:t>E</a:t>
            </a:r>
            <a:r>
              <a:rPr lang="en-US" sz="100" dirty="0">
                <a:solidFill>
                  <a:srgbClr val="C00000"/>
                </a:solidFill>
              </a:rPr>
              <a:t> </a:t>
            </a:r>
            <a:r>
              <a:rPr lang="en-US" sz="3200" dirty="0">
                <a:solidFill>
                  <a:srgbClr val="C00000"/>
                </a:solidFill>
              </a:rPr>
              <a:t>C 27002 Security Controls </a:t>
            </a:r>
            <a:r>
              <a:rPr lang="en-US" sz="2000" b="0" dirty="0">
                <a:solidFill>
                  <a:srgbClr val="C00000"/>
                </a:solidFill>
              </a:rPr>
              <a:t>(2 of 2)</a:t>
            </a:r>
          </a:p>
        </p:txBody>
      </p:sp>
      <p:sp>
        <p:nvSpPr>
          <p:cNvPr id="4" name="Content Placeholder 3">
            <a:extLst>
              <a:ext uri="{FF2B5EF4-FFF2-40B4-BE49-F238E27FC236}">
                <a16:creationId xmlns:a16="http://schemas.microsoft.com/office/drawing/2014/main" id="{00487813-C533-47F9-802C-A3C2E9BBDB5F}"/>
              </a:ext>
            </a:extLst>
          </p:cNvPr>
          <p:cNvSpPr>
            <a:spLocks noGrp="1"/>
          </p:cNvSpPr>
          <p:nvPr>
            <p:ph sz="quarter" idx="14"/>
          </p:nvPr>
        </p:nvSpPr>
        <p:spPr>
          <a:xfrm>
            <a:off x="468313" y="1474358"/>
            <a:ext cx="2370137" cy="290647"/>
          </a:xfrm>
        </p:spPr>
        <p:txBody>
          <a:bodyPr tIns="0" rIns="0" bIns="0"/>
          <a:lstStyle/>
          <a:p>
            <a:pPr marL="432" indent="0">
              <a:buNone/>
            </a:pPr>
            <a:r>
              <a:rPr lang="en-US" sz="1600" b="1" dirty="0"/>
              <a:t>Table 15.2 [continued]</a:t>
            </a:r>
          </a:p>
        </p:txBody>
      </p:sp>
      <p:graphicFrame>
        <p:nvGraphicFramePr>
          <p:cNvPr id="3" name="Content Placeholder 2"/>
          <p:cNvGraphicFramePr>
            <a:graphicFrameLocks noGrp="1"/>
          </p:cNvGraphicFramePr>
          <p:nvPr>
            <p:ph sz="quarter" idx="13"/>
            <p:extLst>
              <p:ext uri="{D42A27DB-BD31-4B8C-83A1-F6EECF244321}">
                <p14:modId xmlns:p14="http://schemas.microsoft.com/office/powerpoint/2010/main" val="2124071291"/>
              </p:ext>
            </p:extLst>
          </p:nvPr>
        </p:nvGraphicFramePr>
        <p:xfrm>
          <a:off x="457200" y="1836849"/>
          <a:ext cx="8580474" cy="4317606"/>
        </p:xfrm>
        <a:graphic>
          <a:graphicData uri="http://schemas.openxmlformats.org/drawingml/2006/table">
            <a:tbl>
              <a:tblPr firstRow="1" bandRow="1">
                <a:tableStyleId>{2D5ABB26-0587-4C30-8999-92F81FD0307C}</a:tableStyleId>
              </a:tblPr>
              <a:tblGrid>
                <a:gridCol w="1466850">
                  <a:extLst>
                    <a:ext uri="{9D8B030D-6E8A-4147-A177-3AD203B41FA5}">
                      <a16:colId xmlns:a16="http://schemas.microsoft.com/office/drawing/2014/main" val="1236360686"/>
                    </a:ext>
                  </a:extLst>
                </a:gridCol>
                <a:gridCol w="7113624">
                  <a:extLst>
                    <a:ext uri="{9D8B030D-6E8A-4147-A177-3AD203B41FA5}">
                      <a16:colId xmlns:a16="http://schemas.microsoft.com/office/drawing/2014/main" val="3005155826"/>
                    </a:ext>
                  </a:extLst>
                </a:gridCol>
              </a:tblGrid>
              <a:tr h="199237">
                <a:tc>
                  <a:txBody>
                    <a:bodyPr/>
                    <a:lstStyle/>
                    <a:p>
                      <a:r>
                        <a:rPr lang="en-US" sz="1200" b="1" i="0" u="none" strike="noStrike" cap="none" baseline="0" noProof="0" dirty="0">
                          <a:solidFill>
                            <a:schemeClr val="tx1"/>
                          </a:solidFill>
                          <a:latin typeface="+mn-lt"/>
                          <a:ea typeface="+mn-ea"/>
                          <a:cs typeface="+mn-cs"/>
                          <a:sym typeface="Arial"/>
                        </a:rPr>
                        <a:t>Control Category</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i="0" u="none" strike="noStrike" cap="none" baseline="0" noProof="0" dirty="0">
                          <a:solidFill>
                            <a:schemeClr val="tx1"/>
                          </a:solidFill>
                          <a:latin typeface="+mn-lt"/>
                          <a:ea typeface="+mn-ea"/>
                          <a:cs typeface="+mn-cs"/>
                          <a:sym typeface="Arial"/>
                        </a:rPr>
                        <a:t>Objective</a:t>
                      </a:r>
                      <a:endParaRPr lang="en-US" sz="1200" noProof="0" dirty="0"/>
                    </a:p>
                  </a:txBody>
                  <a:tcPr marT="18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5975517"/>
                  </a:ext>
                </a:extLst>
              </a:tr>
              <a:tr h="332062">
                <a:tc>
                  <a:txBody>
                    <a:bodyPr/>
                    <a:lstStyle/>
                    <a:p>
                      <a:r>
                        <a:rPr lang="en-US" sz="1200" b="0" i="0" u="none" strike="noStrike" cap="none" baseline="0" noProof="0" dirty="0">
                          <a:solidFill>
                            <a:schemeClr val="tx1"/>
                          </a:solidFill>
                          <a:latin typeface="+mn-lt"/>
                          <a:ea typeface="+mn-ea"/>
                          <a:cs typeface="+mn-cs"/>
                          <a:sym typeface="Arial"/>
                        </a:rPr>
                        <a:t>Operations Security</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ensure correct and secure operations of information processing facilities; to ensure that information and information processing facilities are protected against malware; to protect against loss of data; to record events and generate evidence; to ensure the integrity of operational systems; to prevent exploitation of technical vulnerabilities; to minimize the impact of audit activities on operational systems.</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7041721"/>
                  </a:ext>
                </a:extLst>
              </a:tr>
              <a:tr h="464886">
                <a:tc>
                  <a:txBody>
                    <a:bodyPr/>
                    <a:lstStyle/>
                    <a:p>
                      <a:r>
                        <a:rPr lang="en-US" sz="1200" b="0" i="0" u="none" strike="noStrike" cap="none" baseline="0" noProof="0" dirty="0">
                          <a:solidFill>
                            <a:schemeClr val="tx1"/>
                          </a:solidFill>
                          <a:latin typeface="+mn-lt"/>
                          <a:ea typeface="+mn-ea"/>
                          <a:cs typeface="+mn-cs"/>
                          <a:sym typeface="Arial"/>
                        </a:rPr>
                        <a:t>Communications Security</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ensure the protection of information in networks and its supporting information processing facilities; to maintain the security of information transferred within an organization and with an external entity.</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241252"/>
                  </a:ext>
                </a:extLst>
              </a:tr>
              <a:tr h="597711">
                <a:tc>
                  <a:txBody>
                    <a:bodyPr/>
                    <a:lstStyle/>
                    <a:p>
                      <a:r>
                        <a:rPr lang="en-US" sz="1200" b="0" i="0" u="none" strike="noStrike" cap="none" baseline="0" noProof="0" dirty="0">
                          <a:solidFill>
                            <a:schemeClr val="tx1"/>
                          </a:solidFill>
                          <a:latin typeface="+mn-lt"/>
                          <a:ea typeface="+mn-ea"/>
                          <a:cs typeface="+mn-cs"/>
                          <a:sym typeface="Arial"/>
                        </a:rPr>
                        <a:t>System Acquisition, Development, and Maintenance</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ensure that information security is an integral part of information systems across the entire lifecycle, including the requirements for information systems which provide services over public networks; to ensure that information security is designed and implemented within the development lifecycle of information systems; to ensure the protection of data used for testing.</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627548"/>
                  </a:ext>
                </a:extLst>
              </a:tr>
              <a:tr h="372010">
                <a:tc>
                  <a:txBody>
                    <a:bodyPr/>
                    <a:lstStyle/>
                    <a:p>
                      <a:r>
                        <a:rPr lang="en-US" sz="1200" b="0" i="0" u="none" strike="noStrike" cap="none" baseline="0" noProof="0" dirty="0">
                          <a:solidFill>
                            <a:schemeClr val="tx1"/>
                          </a:solidFill>
                          <a:latin typeface="+mn-lt"/>
                          <a:ea typeface="+mn-ea"/>
                          <a:cs typeface="+mn-cs"/>
                          <a:sym typeface="Arial"/>
                        </a:rPr>
                        <a:t>Supplier Relationships</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ensure protection of the organization’s assets that are accessible by suppliers; to maintain an agreed level of information security and service delivery in line with supplier agreements.</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0831279"/>
                  </a:ext>
                </a:extLst>
              </a:tr>
              <a:tr h="578260">
                <a:tc>
                  <a:txBody>
                    <a:bodyPr/>
                    <a:lstStyle/>
                    <a:p>
                      <a:r>
                        <a:rPr lang="en-US" sz="1200" b="0" i="0" u="none" strike="noStrike" cap="none" baseline="0" noProof="0" dirty="0">
                          <a:solidFill>
                            <a:schemeClr val="tx1"/>
                          </a:solidFill>
                          <a:latin typeface="+mn-lt"/>
                          <a:ea typeface="+mn-ea"/>
                          <a:cs typeface="+mn-cs"/>
                          <a:sym typeface="Arial"/>
                        </a:rPr>
                        <a:t>Information Security Incident Management</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ensure a consistent and effective approach to the management of information security incidents, including communication on security events and weaknesses.</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064719"/>
                  </a:ext>
                </a:extLst>
              </a:tr>
              <a:tr h="332062">
                <a:tc>
                  <a:txBody>
                    <a:bodyPr/>
                    <a:lstStyle/>
                    <a:p>
                      <a:r>
                        <a:rPr lang="en-US" sz="1200" b="0" i="0" u="none" strike="noStrike" cap="none" baseline="0" noProof="0" dirty="0">
                          <a:solidFill>
                            <a:schemeClr val="tx1"/>
                          </a:solidFill>
                          <a:latin typeface="+mn-lt"/>
                          <a:ea typeface="+mn-ea"/>
                          <a:cs typeface="+mn-cs"/>
                          <a:sym typeface="Arial"/>
                        </a:rPr>
                        <a:t>Information Security Continuity</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embed I</a:t>
                      </a:r>
                      <a:r>
                        <a:rPr lang="en-US" sz="100" b="0" i="0" u="none" strike="noStrike" cap="none" baseline="0" noProof="0" dirty="0">
                          <a:solidFill>
                            <a:schemeClr val="tx1"/>
                          </a:solidFill>
                          <a:latin typeface="+mn-lt"/>
                          <a:ea typeface="+mn-ea"/>
                          <a:cs typeface="+mn-cs"/>
                          <a:sym typeface="Arial"/>
                        </a:rPr>
                        <a:t> </a:t>
                      </a:r>
                      <a:r>
                        <a:rPr lang="en-US" sz="1200" b="0" i="0" u="none" strike="noStrike" cap="none" baseline="0" noProof="0" dirty="0">
                          <a:solidFill>
                            <a:schemeClr val="tx1"/>
                          </a:solidFill>
                          <a:latin typeface="+mn-lt"/>
                          <a:ea typeface="+mn-ea"/>
                          <a:cs typeface="+mn-cs"/>
                          <a:sym typeface="Arial"/>
                        </a:rPr>
                        <a:t>T continuity in the organization’s business continuity management</a:t>
                      </a:r>
                    </a:p>
                    <a:p>
                      <a:r>
                        <a:rPr lang="en-US" sz="1200" b="0" i="0" u="none" strike="noStrike" cap="none" baseline="0" noProof="0" dirty="0">
                          <a:solidFill>
                            <a:schemeClr val="tx1"/>
                          </a:solidFill>
                          <a:latin typeface="+mn-lt"/>
                          <a:ea typeface="+mn-ea"/>
                          <a:cs typeface="+mn-cs"/>
                          <a:sym typeface="Arial"/>
                        </a:rPr>
                        <a:t>systems; to ensure availability of information processing facilities.</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5637538"/>
                  </a:ext>
                </a:extLst>
              </a:tr>
              <a:tr h="464886">
                <a:tc>
                  <a:txBody>
                    <a:bodyPr/>
                    <a:lstStyle/>
                    <a:p>
                      <a:r>
                        <a:rPr lang="en-US" sz="1200" b="0" i="0" u="none" strike="noStrike" cap="none" baseline="0" noProof="0" dirty="0">
                          <a:solidFill>
                            <a:schemeClr val="tx1"/>
                          </a:solidFill>
                          <a:latin typeface="+mn-lt"/>
                          <a:ea typeface="+mn-ea"/>
                          <a:cs typeface="+mn-cs"/>
                          <a:sym typeface="Arial"/>
                        </a:rPr>
                        <a:t>Compliance</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i="0" u="none" strike="noStrike" cap="none" baseline="0" noProof="0" dirty="0">
                          <a:solidFill>
                            <a:schemeClr val="tx1"/>
                          </a:solidFill>
                          <a:latin typeface="+mn-lt"/>
                          <a:ea typeface="+mn-ea"/>
                          <a:cs typeface="+mn-cs"/>
                          <a:sym typeface="Arial"/>
                        </a:rPr>
                        <a:t>To avoid breaches of legal, statutory, regulatory, or contractual obligations related to information security and of any security requirements; to ensure that information security is implemented and operated in accordance with the organizational policies and procedures.</a:t>
                      </a:r>
                      <a:endParaRPr lang="en-US" sz="1200" noProof="0" dirty="0"/>
                    </a:p>
                  </a:txBody>
                  <a:tcPr marT="18000" marB="36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1537766"/>
                  </a:ext>
                </a:extLst>
              </a:tr>
            </a:tbl>
          </a:graphicData>
        </a:graphic>
      </p:graphicFrame>
    </p:spTree>
    <p:extLst>
      <p:ext uri="{BB962C8B-B14F-4D97-AF65-F5344CB8AC3E}">
        <p14:creationId xmlns:p14="http://schemas.microsoft.com/office/powerpoint/2010/main" val="3158138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(1 of 8)</a:t>
            </a:r>
          </a:p>
        </p:txBody>
      </p:sp>
      <p:sp>
        <p:nvSpPr>
          <p:cNvPr id="4" name="Content Placeholder 3"/>
          <p:cNvSpPr>
            <a:spLocks noGrp="1"/>
          </p:cNvSpPr>
          <p:nvPr>
            <p:ph sz="quarter" idx="13"/>
          </p:nvPr>
        </p:nvSpPr>
        <p:spPr>
          <a:xfrm>
            <a:off x="457199" y="1556326"/>
            <a:ext cx="8332237" cy="4788911"/>
          </a:xfrm>
        </p:spPr>
        <p:txBody>
          <a:bodyPr/>
          <a:lstStyle/>
          <a:p>
            <a:pPr marL="432" indent="0">
              <a:spcBef>
                <a:spcPts val="400"/>
              </a:spcBef>
              <a:buNone/>
            </a:pPr>
            <a:r>
              <a:rPr lang="en-US" sz="2000" b="1" dirty="0"/>
              <a:t>Access Control</a:t>
            </a:r>
          </a:p>
          <a:p>
            <a:pPr marL="432" indent="0">
              <a:spcBef>
                <a:spcPts val="400"/>
              </a:spcBef>
              <a:buNone/>
            </a:pPr>
            <a:r>
              <a:rPr lang="en-US" sz="2000" dirty="0"/>
              <a:t>Access Control Policy and Procedures, Account Management, Access Enforcement, Information Flow Enforcement, Separation of Duties, Least Privilege, Unsuccessful Login Attempts, System Use Notification, Previous Logon (Access) Notification, Concurrent Session Control, Session Lock, Session Termination, Permitted Actions without Identification or Authentication, Security Attributes, Remote Access, Wireless Access, Access Control for Mobile Devices, Use of External Information Systems, Information Sharing, Publicly Accessible Content, Data Mining Protection, Access Control Decisions, Reference Monitor</a:t>
            </a:r>
          </a:p>
          <a:p>
            <a:pPr marL="432" indent="0">
              <a:spcBef>
                <a:spcPts val="400"/>
              </a:spcBef>
              <a:buNone/>
            </a:pPr>
            <a:r>
              <a:rPr lang="en-US" sz="2000" b="1" dirty="0"/>
              <a:t>Awareness and Training</a:t>
            </a:r>
          </a:p>
          <a:p>
            <a:pPr marL="432" indent="0">
              <a:spcBef>
                <a:spcPts val="400"/>
              </a:spcBef>
              <a:buNone/>
            </a:pPr>
            <a:r>
              <a:rPr lang="en-US" sz="2000" dirty="0"/>
              <a:t>Security Awareness and Training Policy and Procedures, Security Awareness, Training, Role-Based Security Training, Security Training Records</a:t>
            </a:r>
          </a:p>
        </p:txBody>
      </p:sp>
    </p:spTree>
    <p:extLst>
      <p:ext uri="{BB962C8B-B14F-4D97-AF65-F5344CB8AC3E}">
        <p14:creationId xmlns:p14="http://schemas.microsoft.com/office/powerpoint/2010/main" val="3174693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(2 of 8)</a:t>
            </a:r>
          </a:p>
        </p:txBody>
      </p:sp>
      <p:sp>
        <p:nvSpPr>
          <p:cNvPr id="4" name="Content Placeholder 3"/>
          <p:cNvSpPr>
            <a:spLocks noGrp="1"/>
          </p:cNvSpPr>
          <p:nvPr>
            <p:ph sz="quarter" idx="13"/>
          </p:nvPr>
        </p:nvSpPr>
        <p:spPr>
          <a:xfrm>
            <a:off x="457200" y="1556326"/>
            <a:ext cx="8229600" cy="4788911"/>
          </a:xfrm>
        </p:spPr>
        <p:txBody>
          <a:bodyPr/>
          <a:lstStyle/>
          <a:p>
            <a:pPr marL="432" indent="0">
              <a:spcBef>
                <a:spcPts val="600"/>
              </a:spcBef>
              <a:buNone/>
            </a:pPr>
            <a:r>
              <a:rPr lang="en-US" sz="1600" b="1" dirty="0"/>
              <a:t>Audit and Accountability</a:t>
            </a:r>
          </a:p>
          <a:p>
            <a:pPr marL="432" indent="0">
              <a:spcBef>
                <a:spcPts val="600"/>
              </a:spcBef>
              <a:buNone/>
            </a:pPr>
            <a:r>
              <a:rPr lang="en-US" sz="1600" dirty="0"/>
              <a:t>Audit and Accountability Policy and Procedures, Audit Events, Content of Audit Records, Audit Storage Capacity, Response to Audit Processing Failures, Audit Review, Analysis, and Reporting, Audit Reduction and Report Generation, Time Stamps, Protection of Audit Information, Nonrepudiation, Audit Record Retention, Audit Generation, Monitoring for Information Disclosure, Session Audit, Alternate Audit Capability, Cross-Organizational Auditing</a:t>
            </a:r>
          </a:p>
          <a:p>
            <a:pPr marL="432" indent="0">
              <a:spcBef>
                <a:spcPts val="600"/>
              </a:spcBef>
              <a:buNone/>
            </a:pPr>
            <a:r>
              <a:rPr lang="en-US" sz="1600" b="1" dirty="0"/>
              <a:t>Security Assessment and Authorization</a:t>
            </a:r>
          </a:p>
          <a:p>
            <a:pPr marL="432" indent="0">
              <a:spcBef>
                <a:spcPts val="600"/>
              </a:spcBef>
              <a:buNone/>
            </a:pPr>
            <a:r>
              <a:rPr lang="en-US" sz="1600" dirty="0"/>
              <a:t>Security Assessment and Authorization Policies and Procedures, Security Assessments, System Interconnections, Plan of Action and Milestones, Security Accreditation, Continuous Monitoring, Penetration Testing, Internal System Connections</a:t>
            </a:r>
          </a:p>
          <a:p>
            <a:pPr marL="432" indent="0">
              <a:spcBef>
                <a:spcPts val="600"/>
              </a:spcBef>
              <a:buNone/>
            </a:pPr>
            <a:r>
              <a:rPr lang="en-US" sz="1600" b="1" dirty="0"/>
              <a:t>Configuration Management</a:t>
            </a:r>
          </a:p>
          <a:p>
            <a:pPr marL="432" indent="0">
              <a:spcBef>
                <a:spcPts val="600"/>
              </a:spcBef>
              <a:buNone/>
            </a:pPr>
            <a:r>
              <a:rPr lang="en-US" sz="1600" dirty="0"/>
              <a:t>Configuration Management Policy and Procedures, Baseline Configuration, Configuration Change Control, Security Impact Analysis, Access Restrictions for Change, Configuration Settings, Least Functionality, Information System Component Inventory, Configuration Management Plan, Software Usage Restrictions, User-Installed Software</a:t>
            </a:r>
          </a:p>
        </p:txBody>
      </p:sp>
    </p:spTree>
    <p:extLst>
      <p:ext uri="{BB962C8B-B14F-4D97-AF65-F5344CB8AC3E}">
        <p14:creationId xmlns:p14="http://schemas.microsoft.com/office/powerpoint/2010/main" val="24417920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(3 of 8)</a:t>
            </a:r>
          </a:p>
        </p:txBody>
      </p:sp>
      <p:sp>
        <p:nvSpPr>
          <p:cNvPr id="4" name="Content Placeholder 3"/>
          <p:cNvSpPr>
            <a:spLocks noGrp="1"/>
          </p:cNvSpPr>
          <p:nvPr>
            <p:ph sz="quarter" idx="13"/>
          </p:nvPr>
        </p:nvSpPr>
        <p:spPr>
          <a:xfrm>
            <a:off x="457200" y="1556326"/>
            <a:ext cx="8229600" cy="4788911"/>
          </a:xfrm>
        </p:spPr>
        <p:txBody>
          <a:bodyPr/>
          <a:lstStyle/>
          <a:p>
            <a:pPr marL="432" indent="0">
              <a:buNone/>
            </a:pPr>
            <a:r>
              <a:rPr lang="en-US" sz="1800" b="1" dirty="0"/>
              <a:t>Contingency Planning</a:t>
            </a:r>
          </a:p>
          <a:p>
            <a:pPr marL="432" indent="0">
              <a:buNone/>
            </a:pPr>
            <a:r>
              <a:rPr lang="en-US" sz="1800" dirty="0"/>
              <a:t>Contingency Planning Policy and Procedures, Contingency Plan, Contingency Training, Contingency Plan Testing, Alternate Storage Site, Alternate Processing Site, Telecommunications Services, Information System Backup, Information System Recovery and Reconstitution, Alternate Communications Protocols, Safe Mode, Alternative Security Mechanisms</a:t>
            </a:r>
          </a:p>
          <a:p>
            <a:pPr marL="432" indent="0">
              <a:buNone/>
            </a:pPr>
            <a:r>
              <a:rPr lang="en-US" sz="1800" b="1" dirty="0"/>
              <a:t>Identification and Authentication</a:t>
            </a:r>
          </a:p>
          <a:p>
            <a:pPr marL="432" indent="0">
              <a:buNone/>
            </a:pPr>
            <a:r>
              <a:rPr lang="en-US" sz="1800" dirty="0"/>
              <a:t>Identification and Authentication Policy and Procedures, Identification and Authentication (Organizational Users), Device Identification and Authentication, Identifier Management, Authenticator Management, Authenticator Feedback, Cryptographic Module Authentication, Identification and Authentication (</a:t>
            </a:r>
            <a:r>
              <a:rPr lang="en-US" sz="1800" dirty="0" err="1"/>
              <a:t>Nonorganizational</a:t>
            </a:r>
            <a:r>
              <a:rPr lang="en-US" sz="1800" dirty="0"/>
              <a:t> Users), Service Identification and Authentication, Adaptive Identification and Authentication, Re-authentication</a:t>
            </a:r>
          </a:p>
        </p:txBody>
      </p:sp>
    </p:spTree>
    <p:extLst>
      <p:ext uri="{BB962C8B-B14F-4D97-AF65-F5344CB8AC3E}">
        <p14:creationId xmlns:p14="http://schemas.microsoft.com/office/powerpoint/2010/main" val="17003804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(4 of 8)</a:t>
            </a:r>
          </a:p>
        </p:txBody>
      </p:sp>
      <p:sp>
        <p:nvSpPr>
          <p:cNvPr id="4" name="Content Placeholder 3"/>
          <p:cNvSpPr>
            <a:spLocks noGrp="1"/>
          </p:cNvSpPr>
          <p:nvPr>
            <p:ph sz="quarter" idx="13"/>
          </p:nvPr>
        </p:nvSpPr>
        <p:spPr/>
        <p:txBody>
          <a:bodyPr/>
          <a:lstStyle/>
          <a:p>
            <a:pPr marL="432" indent="0">
              <a:buNone/>
            </a:pPr>
            <a:r>
              <a:rPr lang="en-US" sz="1800" b="1" dirty="0"/>
              <a:t>Incident Response</a:t>
            </a:r>
          </a:p>
          <a:p>
            <a:pPr marL="432" indent="0">
              <a:buNone/>
            </a:pPr>
            <a:r>
              <a:rPr lang="en-US" sz="1800" dirty="0"/>
              <a:t>Incident Response Policy and Procedures, Incident Response Training, Incident Response Testing, Incident Handling, Incident Monitoring, Incident Reporting, Incident Response Assistance, Incident Response Plan, Information Spillage Response, Integrated Information Security Analysis Team</a:t>
            </a:r>
          </a:p>
          <a:p>
            <a:pPr marL="432" indent="0">
              <a:buNone/>
            </a:pPr>
            <a:r>
              <a:rPr lang="en-US" sz="1800" b="1" dirty="0"/>
              <a:t>Maintenance</a:t>
            </a:r>
          </a:p>
          <a:p>
            <a:pPr marL="432" indent="0">
              <a:buNone/>
            </a:pPr>
            <a:r>
              <a:rPr lang="en-US" sz="1800" dirty="0"/>
              <a:t>System Maintenance Policy and Procedures, Controlled Maintenance, Maintenance Tools, Nonlocal Maintenance, Maintenance Personnel, Timely Maintenance</a:t>
            </a:r>
          </a:p>
          <a:p>
            <a:pPr marL="432" indent="0">
              <a:buNone/>
            </a:pPr>
            <a:r>
              <a:rPr lang="en-US" sz="1800" b="1" dirty="0"/>
              <a:t>Media Protection</a:t>
            </a:r>
          </a:p>
          <a:p>
            <a:pPr marL="432" indent="0">
              <a:buNone/>
            </a:pPr>
            <a:r>
              <a:rPr lang="en-US" sz="1800" dirty="0"/>
              <a:t>Media Protection Policy and Procedures, Media Access, Media Marking, Media Storage, Media Transport, Media Sanitization, Media Use, Media Downgrading</a:t>
            </a:r>
          </a:p>
        </p:txBody>
      </p:sp>
    </p:spTree>
    <p:extLst>
      <p:ext uri="{BB962C8B-B14F-4D97-AF65-F5344CB8AC3E}">
        <p14:creationId xmlns:p14="http://schemas.microsoft.com/office/powerpoint/2010/main" val="7556124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(5 of 8)</a:t>
            </a:r>
          </a:p>
        </p:txBody>
      </p:sp>
      <p:sp>
        <p:nvSpPr>
          <p:cNvPr id="4" name="Content Placeholder 3"/>
          <p:cNvSpPr>
            <a:spLocks noGrp="1"/>
          </p:cNvSpPr>
          <p:nvPr>
            <p:ph sz="quarter" idx="13"/>
          </p:nvPr>
        </p:nvSpPr>
        <p:spPr>
          <a:xfrm>
            <a:off x="457200" y="1556326"/>
            <a:ext cx="8229600" cy="4788911"/>
          </a:xfrm>
        </p:spPr>
        <p:txBody>
          <a:bodyPr/>
          <a:lstStyle/>
          <a:p>
            <a:pPr marL="432" indent="0">
              <a:buNone/>
            </a:pPr>
            <a:r>
              <a:rPr lang="en-US" sz="1600" b="1" dirty="0"/>
              <a:t>Physical and Environmental Protection</a:t>
            </a:r>
          </a:p>
          <a:p>
            <a:pPr marL="432" indent="0">
              <a:buNone/>
            </a:pPr>
            <a:r>
              <a:rPr lang="en-US" sz="1600" dirty="0"/>
              <a:t>Physical and Environmental Protection Policy and Procedures, Physical Access Authorizations, Physical Access Control, Access Control for Transmission Medium, Access Control for Output Devices, Monitoring Physical Access, Visitor Access Records, Power Equipment and Cabling, Emergency Shutoff, Emergency Power, Emergency Lighting, Fire Protection, Temperature and Humidity Controls, Water Damage Protection, Delivery and Removal, Alternate Work Site, Location of Information System Components, Information Leakage, Asset Monitoring and Tracking</a:t>
            </a:r>
          </a:p>
          <a:p>
            <a:pPr marL="432" indent="0">
              <a:buNone/>
            </a:pPr>
            <a:r>
              <a:rPr lang="en-US" sz="1600" b="1" dirty="0"/>
              <a:t>Planning</a:t>
            </a:r>
          </a:p>
          <a:p>
            <a:pPr marL="432" indent="0">
              <a:buNone/>
            </a:pPr>
            <a:r>
              <a:rPr lang="en-US" sz="1600" dirty="0"/>
              <a:t>Security Planning Policy and Procedures, System Security Plan, Rules of Behavior, Security Concept of Operations, Information Security Architecture, Central Management</a:t>
            </a:r>
          </a:p>
          <a:p>
            <a:pPr marL="432" indent="0">
              <a:buNone/>
            </a:pPr>
            <a:r>
              <a:rPr lang="en-US" sz="1600" b="1" dirty="0"/>
              <a:t>Personnel Security</a:t>
            </a:r>
          </a:p>
          <a:p>
            <a:pPr marL="432" indent="0">
              <a:buNone/>
            </a:pPr>
            <a:r>
              <a:rPr lang="en-US" sz="1600" dirty="0"/>
              <a:t>Personnel Security Policy and Procedures, Position Risk Designation, Personnel Screening, Personnel Termination, Personnel Transfer, Access Agreements, Third-Party Personnel Security, Personnel Sanctions</a:t>
            </a:r>
          </a:p>
        </p:txBody>
      </p:sp>
    </p:spTree>
    <p:extLst>
      <p:ext uri="{BB962C8B-B14F-4D97-AF65-F5344CB8AC3E}">
        <p14:creationId xmlns:p14="http://schemas.microsoft.com/office/powerpoint/2010/main" val="38616332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(6 of 8)</a:t>
            </a:r>
          </a:p>
        </p:txBody>
      </p:sp>
      <p:sp>
        <p:nvSpPr>
          <p:cNvPr id="4" name="Content Placeholder 3"/>
          <p:cNvSpPr>
            <a:spLocks noGrp="1"/>
          </p:cNvSpPr>
          <p:nvPr>
            <p:ph sz="quarter" idx="13"/>
          </p:nvPr>
        </p:nvSpPr>
        <p:spPr>
          <a:xfrm>
            <a:off x="457200" y="1556326"/>
            <a:ext cx="8229600" cy="4788911"/>
          </a:xfrm>
        </p:spPr>
        <p:txBody>
          <a:bodyPr/>
          <a:lstStyle/>
          <a:p>
            <a:pPr marL="432" indent="0">
              <a:buNone/>
            </a:pPr>
            <a:r>
              <a:rPr lang="en-US" sz="1800" b="1" dirty="0"/>
              <a:t>Risk Assessment</a:t>
            </a:r>
          </a:p>
          <a:p>
            <a:pPr marL="432" indent="0">
              <a:buNone/>
            </a:pPr>
            <a:r>
              <a:rPr lang="en-US" sz="1800" dirty="0"/>
              <a:t>Risk Assessment Policy and Procedures, Security Categorization, Risk Assessment, Vulnerability Scanning, Technical Surveillance Countermeasures Survey</a:t>
            </a:r>
          </a:p>
          <a:p>
            <a:pPr marL="432" indent="0">
              <a:buNone/>
            </a:pPr>
            <a:r>
              <a:rPr lang="en-US" sz="1800" b="1" dirty="0"/>
              <a:t>System and Services Acquisition</a:t>
            </a:r>
          </a:p>
          <a:p>
            <a:pPr marL="432" indent="0">
              <a:buNone/>
            </a:pPr>
            <a:r>
              <a:rPr lang="en-US" sz="1800" dirty="0"/>
              <a:t>System and Services Acquisition Policy and Procedures, Allocation of Resources, System Development Life Cycle, Acquisition Process, Information System Documentation, Security Engineering Principles, External Information System Services, Developer Configuration Management, Developer Security Testing and Evaluation, Supply Chain Protection, Trustworthiness, Criticality Analysis, Development Process, Standards, and Tools, Developer-Provided Training, Developer Security Architecture and Design, Tamper Resistance and Detection, Component Authenticity, Customized Development of Critical Components, Developer Screening, Unsupported System Components</a:t>
            </a:r>
          </a:p>
        </p:txBody>
      </p:sp>
    </p:spTree>
    <p:extLst>
      <p:ext uri="{BB962C8B-B14F-4D97-AF65-F5344CB8AC3E}">
        <p14:creationId xmlns:p14="http://schemas.microsoft.com/office/powerpoint/2010/main" val="10930705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(7 of 8)</a:t>
            </a:r>
          </a:p>
        </p:txBody>
      </p:sp>
      <p:sp>
        <p:nvSpPr>
          <p:cNvPr id="4" name="Content Placeholder 3"/>
          <p:cNvSpPr>
            <a:spLocks noGrp="1"/>
          </p:cNvSpPr>
          <p:nvPr>
            <p:ph sz="quarter" idx="13"/>
          </p:nvPr>
        </p:nvSpPr>
        <p:spPr>
          <a:xfrm>
            <a:off x="457200" y="1556327"/>
            <a:ext cx="7962405" cy="4345709"/>
          </a:xfrm>
        </p:spPr>
        <p:txBody>
          <a:bodyPr/>
          <a:lstStyle/>
          <a:p>
            <a:pPr marL="432" indent="0">
              <a:buNone/>
            </a:pPr>
            <a:r>
              <a:rPr lang="en-US" sz="1600" b="1" dirty="0"/>
              <a:t>System and Communications Protection</a:t>
            </a:r>
          </a:p>
          <a:p>
            <a:pPr marL="432" indent="0">
              <a:buNone/>
            </a:pPr>
            <a:r>
              <a:rPr lang="en-US" sz="1600" dirty="0"/>
              <a:t>System and Communications Protection Policy and Procedures, Application Partitioning, Security Function Isolation, Information in Shared Resources, Denial of Service Protection, Resource Availability, Boundary Protection, Transmission Confidentiality and Integrity, Network Disconnect, Trusted Path, Cryptographic Key Establishment and Management, Cryptographic Protection, Collaborative Computing Devices, Transmission of Security Attributes, Public Key Infrastructure Certificates, Mobile Code, Voice Over Internet Protocol, Secure Name/Address Resolution Service (Authoritative Source, Recursive or Caching Resolver, Architecture and Provisioning), Session Authenticity, Fail in Known State, Thin Nodes, Honeypots, Platform-Independent, Protection of Information at Rest, Heterogeneity, Concealment and Misdirection, Covert Channel Analysis, Information System Partitioning, </a:t>
            </a:r>
            <a:r>
              <a:rPr lang="en-US" sz="1600" dirty="0" err="1"/>
              <a:t>Nonmodifiable</a:t>
            </a:r>
            <a:r>
              <a:rPr lang="en-US" sz="1600" dirty="0"/>
              <a:t> Executable Programs, </a:t>
            </a:r>
            <a:r>
              <a:rPr lang="en-US" sz="1600" dirty="0" err="1"/>
              <a:t>Honeyclient</a:t>
            </a:r>
            <a:r>
              <a:rPr lang="en-US" sz="1600" dirty="0"/>
              <a:t>, Distributed Processing and Storage, Out-of-Band Channels, Operations Security, Process Isolation, Wireless Link Protection, Port and I/O Device Access, Sensor Capability and Data, Usage Restrictions, Detonation Chambers</a:t>
            </a:r>
          </a:p>
        </p:txBody>
      </p:sp>
    </p:spTree>
    <p:extLst>
      <p:ext uri="{BB962C8B-B14F-4D97-AF65-F5344CB8AC3E}">
        <p14:creationId xmlns:p14="http://schemas.microsoft.com/office/powerpoint/2010/main" val="42369102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15.3 Detailed N</a:t>
            </a:r>
            <a:r>
              <a:rPr lang="en-US" sz="100" dirty="0">
                <a:solidFill>
                  <a:srgbClr val="C00000"/>
                </a:solidFill>
              </a:rPr>
              <a:t> </a:t>
            </a:r>
            <a:r>
              <a:rPr lang="en-US" sz="3200" dirty="0">
                <a:solidFill>
                  <a:srgbClr val="C00000"/>
                </a:solidFill>
              </a:rPr>
              <a:t>I</a:t>
            </a:r>
            <a:r>
              <a:rPr lang="en-US" sz="100" dirty="0">
                <a:solidFill>
                  <a:srgbClr val="C00000"/>
                </a:solidFill>
              </a:rPr>
              <a:t> </a:t>
            </a:r>
            <a:r>
              <a:rPr lang="en-US" sz="3200" dirty="0">
                <a:solidFill>
                  <a:srgbClr val="C00000"/>
                </a:solidFill>
              </a:rPr>
              <a:t>S</a:t>
            </a:r>
            <a:r>
              <a:rPr lang="en-US" sz="100" dirty="0">
                <a:solidFill>
                  <a:srgbClr val="C00000"/>
                </a:solidFill>
              </a:rPr>
              <a:t> </a:t>
            </a:r>
            <a:r>
              <a:rPr lang="en-US" sz="3200" dirty="0">
                <a:solidFill>
                  <a:srgbClr val="C00000"/>
                </a:solidFill>
              </a:rPr>
              <a:t>T S</a:t>
            </a:r>
            <a:r>
              <a:rPr lang="en-US" sz="100" dirty="0">
                <a:solidFill>
                  <a:srgbClr val="C00000"/>
                </a:solidFill>
              </a:rPr>
              <a:t> </a:t>
            </a:r>
            <a:r>
              <a:rPr lang="en-US" sz="3200" dirty="0">
                <a:solidFill>
                  <a:srgbClr val="C00000"/>
                </a:solidFill>
              </a:rPr>
              <a:t>P 800-53 Security Controls </a:t>
            </a:r>
            <a:r>
              <a:rPr lang="en-US" sz="2000" b="0" dirty="0">
                <a:solidFill>
                  <a:srgbClr val="C00000"/>
                </a:solidFill>
              </a:rPr>
              <a:t>(8 of 8)</a:t>
            </a:r>
          </a:p>
        </p:txBody>
      </p:sp>
      <p:sp>
        <p:nvSpPr>
          <p:cNvPr id="4" name="Content Placeholder 3"/>
          <p:cNvSpPr>
            <a:spLocks noGrp="1"/>
          </p:cNvSpPr>
          <p:nvPr>
            <p:ph sz="quarter" idx="13"/>
          </p:nvPr>
        </p:nvSpPr>
        <p:spPr>
          <a:xfrm>
            <a:off x="457200" y="1585304"/>
            <a:ext cx="8229600" cy="4586896"/>
          </a:xfrm>
        </p:spPr>
        <p:txBody>
          <a:bodyPr/>
          <a:lstStyle/>
          <a:p>
            <a:pPr marL="432" indent="0">
              <a:buNone/>
            </a:pPr>
            <a:r>
              <a:rPr lang="en-US" sz="1600" b="1" dirty="0"/>
              <a:t>System and Information Integrity</a:t>
            </a:r>
          </a:p>
          <a:p>
            <a:pPr marL="432" indent="0">
              <a:buNone/>
            </a:pPr>
            <a:r>
              <a:rPr lang="en-US" sz="1600" dirty="0"/>
              <a:t>System and Information Integrity Policy and Procedures, Flaw Remediation, Malicious Code Protection, Information System Monitoring, Security Alerts Advisories and Directives, Security Functionality Verification, Software Firmware and Information Integrity, Spam Protection, Information Input Validation, Error Handling, Information Handling and Retention, Predictable Failure Prevention, Non-Persistence, Information Output Filtering, Memory Protection, Fail-Safe Procedures</a:t>
            </a:r>
          </a:p>
          <a:p>
            <a:pPr marL="432" indent="0">
              <a:buNone/>
            </a:pPr>
            <a:r>
              <a:rPr lang="en-US" sz="1600" b="1" dirty="0"/>
              <a:t>Program Management</a:t>
            </a:r>
          </a:p>
          <a:p>
            <a:pPr marL="432" indent="0">
              <a:buNone/>
            </a:pPr>
            <a:r>
              <a:rPr lang="en-US" sz="1600" dirty="0"/>
              <a:t>Information Security Program Plan, Senior Information Security Officer, Information Security Resources, Plan of Action and Milestones Process, Information System Inventory, Information Security Measures of Performance, Enterprise Architecture, Critical Infrastructure Plan, Risk Management Strategy, Security Authorization Process, Mission/Business Process Definition, Insider Threat Program, Information Security Workforce, Testing Training and Monitoring, Contacts with Security Groups and Associations, Threat Awareness Program</a:t>
            </a:r>
          </a:p>
        </p:txBody>
      </p:sp>
    </p:spTree>
    <p:extLst>
      <p:ext uri="{BB962C8B-B14F-4D97-AF65-F5344CB8AC3E}">
        <p14:creationId xmlns:p14="http://schemas.microsoft.com/office/powerpoint/2010/main" val="13018385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Figure 15.3 Residual Risk</a:t>
            </a:r>
          </a:p>
        </p:txBody>
      </p:sp>
      <p:pic>
        <p:nvPicPr>
          <p:cNvPr id="3" name="Content Placeholder 2" descr="An illustration depicts the residual risk. New or enhanced controls branch into Reduce number of flaws or errors, add a targeted control. Reduce magnitude of impact, which then combine together to yield, residual risk."/>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81929" y="1687046"/>
            <a:ext cx="8180143" cy="4325283"/>
          </a:xfrm>
        </p:spPr>
      </p:pic>
      <p:sp>
        <p:nvSpPr>
          <p:cNvPr id="4" name="TextBox 3">
            <a:extLst>
              <a:ext uri="{FF2B5EF4-FFF2-40B4-BE49-F238E27FC236}">
                <a16:creationId xmlns:a16="http://schemas.microsoft.com/office/drawing/2014/main" id="{0FE7FE22-B452-BDD1-589A-BF40A655FFD9}"/>
              </a:ext>
            </a:extLst>
          </p:cNvPr>
          <p:cNvSpPr txBox="1"/>
          <p:nvPr/>
        </p:nvSpPr>
        <p:spPr>
          <a:xfrm>
            <a:off x="6543609" y="1828800"/>
            <a:ext cx="1947969" cy="784830"/>
          </a:xfrm>
          <a:prstGeom prst="rect">
            <a:avLst/>
          </a:prstGeom>
          <a:noFill/>
        </p:spPr>
        <p:txBody>
          <a:bodyPr wrap="none" rtlCol="0">
            <a:spAutoFit/>
          </a:bodyPr>
          <a:lstStyle/>
          <a:p>
            <a:pPr algn="l"/>
            <a:r>
              <a:rPr lang="en-US" sz="1800" dirty="0"/>
              <a:t>Reduce Likelihood</a:t>
            </a:r>
          </a:p>
          <a:p>
            <a:pPr algn="l"/>
            <a:r>
              <a:rPr lang="en-US" sz="1800" dirty="0"/>
              <a:t>Reduce Impact</a:t>
            </a:r>
          </a:p>
        </p:txBody>
      </p:sp>
    </p:spTree>
    <p:extLst>
      <p:ext uri="{BB962C8B-B14F-4D97-AF65-F5344CB8AC3E}">
        <p14:creationId xmlns:p14="http://schemas.microsoft.com/office/powerpoint/2010/main" val="13930073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Cost-Benefit Analysis</a:t>
            </a:r>
          </a:p>
        </p:txBody>
      </p:sp>
      <p:sp>
        <p:nvSpPr>
          <p:cNvPr id="4" name="Content Placeholder 3"/>
          <p:cNvSpPr>
            <a:spLocks noGrp="1"/>
          </p:cNvSpPr>
          <p:nvPr>
            <p:ph sz="quarter" idx="13"/>
          </p:nvPr>
        </p:nvSpPr>
        <p:spPr>
          <a:xfrm>
            <a:off x="457200" y="1312650"/>
            <a:ext cx="8033657" cy="4692074"/>
          </a:xfrm>
        </p:spPr>
        <p:txBody>
          <a:bodyPr/>
          <a:lstStyle/>
          <a:p>
            <a:pPr>
              <a:spcBef>
                <a:spcPts val="600"/>
              </a:spcBef>
            </a:pPr>
            <a:r>
              <a:rPr lang="en-US" dirty="0"/>
              <a:t>Should be conducted by management to identify controls that provide the greatest benefit to the organization given the available resources</a:t>
            </a:r>
          </a:p>
          <a:p>
            <a:pPr>
              <a:spcBef>
                <a:spcPts val="600"/>
              </a:spcBef>
            </a:pPr>
            <a:r>
              <a:rPr lang="en-US" dirty="0"/>
              <a:t>May be qualitative or quantitative</a:t>
            </a:r>
          </a:p>
          <a:p>
            <a:pPr>
              <a:spcBef>
                <a:spcPts val="600"/>
              </a:spcBef>
            </a:pPr>
            <a:r>
              <a:rPr lang="en-US" dirty="0"/>
              <a:t>Must show cost justified by reduction in risk</a:t>
            </a:r>
          </a:p>
          <a:p>
            <a:pPr>
              <a:spcBef>
                <a:spcPts val="600"/>
              </a:spcBef>
            </a:pPr>
            <a:r>
              <a:rPr lang="en-US" dirty="0"/>
              <a:t>Should contrast the impact of implementing a control or not, and an estimation of cost</a:t>
            </a:r>
          </a:p>
          <a:p>
            <a:pPr>
              <a:spcBef>
                <a:spcPts val="600"/>
              </a:spcBef>
            </a:pPr>
            <a:r>
              <a:rPr lang="en-US" dirty="0"/>
              <a:t>Management chooses selection of controls</a:t>
            </a:r>
          </a:p>
          <a:p>
            <a:pPr>
              <a:spcBef>
                <a:spcPts val="600"/>
              </a:spcBef>
            </a:pPr>
            <a:r>
              <a:rPr lang="en-US" dirty="0"/>
              <a:t>Considers if it reduces risk too much or not enough, is too costly or appropriate</a:t>
            </a:r>
          </a:p>
          <a:p>
            <a:pPr>
              <a:spcBef>
                <a:spcPts val="600"/>
              </a:spcBef>
            </a:pPr>
            <a:r>
              <a:rPr lang="en-US" dirty="0"/>
              <a:t>Fundamentally a business decision</a:t>
            </a:r>
          </a:p>
        </p:txBody>
      </p:sp>
    </p:spTree>
    <p:extLst>
      <p:ext uri="{BB962C8B-B14F-4D97-AF65-F5344CB8AC3E}">
        <p14:creationId xmlns:p14="http://schemas.microsoft.com/office/powerpoint/2010/main" val="23633106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I</a:t>
            </a:r>
            <a:r>
              <a:rPr lang="en-US" sz="100" dirty="0">
                <a:solidFill>
                  <a:srgbClr val="C00000"/>
                </a:solidFill>
              </a:rPr>
              <a:t> </a:t>
            </a:r>
            <a:r>
              <a:rPr lang="en-US" dirty="0">
                <a:solidFill>
                  <a:srgbClr val="C00000"/>
                </a:solidFill>
              </a:rPr>
              <a:t>T Security Plan</a:t>
            </a:r>
          </a:p>
        </p:txBody>
      </p:sp>
      <p:sp>
        <p:nvSpPr>
          <p:cNvPr id="3" name="Content Placeholder 2"/>
          <p:cNvSpPr>
            <a:spLocks noGrp="1"/>
          </p:cNvSpPr>
          <p:nvPr>
            <p:ph sz="quarter" idx="13"/>
          </p:nvPr>
        </p:nvSpPr>
        <p:spPr>
          <a:xfrm>
            <a:off x="457200" y="1556327"/>
            <a:ext cx="3699164" cy="4520624"/>
          </a:xfrm>
        </p:spPr>
        <p:txBody>
          <a:bodyPr/>
          <a:lstStyle/>
          <a:p>
            <a:r>
              <a:rPr lang="en-US" dirty="0"/>
              <a:t>Provides details of:</a:t>
            </a:r>
          </a:p>
          <a:p>
            <a:pPr lvl="1"/>
            <a:r>
              <a:rPr lang="en-US" dirty="0"/>
              <a:t>What will be done</a:t>
            </a:r>
          </a:p>
          <a:p>
            <a:pPr lvl="1"/>
            <a:r>
              <a:rPr lang="en-US" dirty="0"/>
              <a:t>What resources are needed</a:t>
            </a:r>
          </a:p>
          <a:p>
            <a:pPr lvl="1"/>
            <a:r>
              <a:rPr lang="en-US" dirty="0"/>
              <a:t>Who is responsible</a:t>
            </a:r>
          </a:p>
          <a:p>
            <a:r>
              <a:rPr lang="en-US" dirty="0"/>
              <a:t>Goal is to detail the actions needed to improve the identified deficiencies in the risk profile</a:t>
            </a:r>
          </a:p>
        </p:txBody>
      </p:sp>
      <p:sp>
        <p:nvSpPr>
          <p:cNvPr id="5" name="Content Placeholder 4"/>
          <p:cNvSpPr>
            <a:spLocks noGrp="1"/>
          </p:cNvSpPr>
          <p:nvPr>
            <p:ph sz="quarter" idx="14"/>
          </p:nvPr>
        </p:nvSpPr>
        <p:spPr>
          <a:xfrm>
            <a:off x="4476996" y="1557339"/>
            <a:ext cx="4209803" cy="4297196"/>
          </a:xfrm>
        </p:spPr>
        <p:txBody>
          <a:bodyPr/>
          <a:lstStyle/>
          <a:p>
            <a:r>
              <a:rPr lang="en-US" b="1" dirty="0"/>
              <a:t>Should include</a:t>
            </a:r>
          </a:p>
          <a:p>
            <a:pPr lvl="1"/>
            <a:r>
              <a:rPr lang="en-US" dirty="0"/>
              <a:t>Risks, recommended controls, action priority</a:t>
            </a:r>
          </a:p>
          <a:p>
            <a:pPr lvl="1"/>
            <a:r>
              <a:rPr lang="en-US" dirty="0"/>
              <a:t>Selected controls, resources needed</a:t>
            </a:r>
          </a:p>
          <a:p>
            <a:pPr lvl="1"/>
            <a:r>
              <a:rPr lang="en-US" dirty="0"/>
              <a:t>Responsible personnel, implementation dates</a:t>
            </a:r>
          </a:p>
          <a:p>
            <a:pPr lvl="1"/>
            <a:r>
              <a:rPr lang="en-US" dirty="0"/>
              <a:t>Maintenance requirements</a:t>
            </a:r>
          </a:p>
        </p:txBody>
      </p:sp>
    </p:spTree>
    <p:extLst>
      <p:ext uri="{BB962C8B-B14F-4D97-AF65-F5344CB8AC3E}">
        <p14:creationId xmlns:p14="http://schemas.microsoft.com/office/powerpoint/2010/main" val="2562665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Table 15.4 Implementation Plan</a:t>
            </a:r>
          </a:p>
        </p:txBody>
      </p:sp>
      <p:graphicFrame>
        <p:nvGraphicFramePr>
          <p:cNvPr id="3" name="Content Placeholder 2"/>
          <p:cNvGraphicFramePr>
            <a:graphicFrameLocks noGrp="1"/>
          </p:cNvGraphicFramePr>
          <p:nvPr>
            <p:ph sz="quarter" idx="13"/>
          </p:nvPr>
        </p:nvGraphicFramePr>
        <p:xfrm>
          <a:off x="457200" y="1579500"/>
          <a:ext cx="8229600" cy="4107923"/>
        </p:xfrm>
        <a:graphic>
          <a:graphicData uri="http://schemas.openxmlformats.org/drawingml/2006/table">
            <a:tbl>
              <a:tblPr bandRow="1">
                <a:tableStyleId>{2D5ABB26-0587-4C30-8999-92F81FD0307C}</a:tableStyleId>
              </a:tblPr>
              <a:tblGrid>
                <a:gridCol w="1941616">
                  <a:extLst>
                    <a:ext uri="{9D8B030D-6E8A-4147-A177-3AD203B41FA5}">
                      <a16:colId xmlns:a16="http://schemas.microsoft.com/office/drawing/2014/main" val="2560123484"/>
                    </a:ext>
                  </a:extLst>
                </a:gridCol>
                <a:gridCol w="6287984">
                  <a:extLst>
                    <a:ext uri="{9D8B030D-6E8A-4147-A177-3AD203B41FA5}">
                      <a16:colId xmlns:a16="http://schemas.microsoft.com/office/drawing/2014/main" val="2370199299"/>
                    </a:ext>
                  </a:extLst>
                </a:gridCol>
              </a:tblGrid>
              <a:tr h="307357">
                <a:tc>
                  <a:txBody>
                    <a:bodyPr/>
                    <a:lstStyle/>
                    <a:p>
                      <a:r>
                        <a:rPr lang="en-IN" sz="1400" b="0" i="0" u="none" strike="noStrike" cap="none" baseline="0" dirty="0">
                          <a:solidFill>
                            <a:schemeClr val="tx1"/>
                          </a:solidFill>
                          <a:latin typeface="+mn-lt"/>
                          <a:ea typeface="+mn-ea"/>
                          <a:cs typeface="+mn-cs"/>
                          <a:sym typeface="Arial"/>
                        </a:rPr>
                        <a:t>Risk (Asset/Threat)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sv-SE" sz="1400" b="0" i="0" u="none" strike="noStrike" cap="none" baseline="0" dirty="0">
                          <a:solidFill>
                            <a:schemeClr val="tx1"/>
                          </a:solidFill>
                          <a:latin typeface="+mn-lt"/>
                          <a:ea typeface="+mn-ea"/>
                          <a:cs typeface="+mn-cs"/>
                          <a:sym typeface="Arial"/>
                        </a:rPr>
                        <a:t>Hacker attack on Internet router</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553766"/>
                  </a:ext>
                </a:extLst>
              </a:tr>
              <a:tr h="275772">
                <a:tc>
                  <a:txBody>
                    <a:bodyPr/>
                    <a:lstStyle/>
                    <a:p>
                      <a:r>
                        <a:rPr lang="en-IN" sz="1400" b="0" i="0" u="none" strike="noStrike" cap="none" baseline="0" dirty="0">
                          <a:solidFill>
                            <a:schemeClr val="tx1"/>
                          </a:solidFill>
                          <a:latin typeface="+mn-lt"/>
                          <a:ea typeface="+mn-ea"/>
                          <a:cs typeface="+mn-cs"/>
                          <a:sym typeface="Arial"/>
                        </a:rPr>
                        <a:t>Level of Risk</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0" i="0" u="none" strike="noStrike" cap="none" baseline="0" dirty="0">
                          <a:solidFill>
                            <a:schemeClr val="tx1"/>
                          </a:solidFill>
                          <a:latin typeface="+mn-lt"/>
                          <a:ea typeface="+mn-ea"/>
                          <a:cs typeface="+mn-cs"/>
                          <a:sym typeface="Arial"/>
                        </a:rPr>
                        <a:t>High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0343890"/>
                  </a:ext>
                </a:extLst>
              </a:tr>
              <a:tr h="370840">
                <a:tc>
                  <a:txBody>
                    <a:bodyPr/>
                    <a:lstStyle/>
                    <a:p>
                      <a:r>
                        <a:rPr lang="en-IN" sz="1400" b="0" i="0" u="none" strike="noStrike" cap="none" baseline="0" dirty="0">
                          <a:solidFill>
                            <a:schemeClr val="tx1"/>
                          </a:solidFill>
                          <a:latin typeface="+mn-lt"/>
                          <a:ea typeface="+mn-ea"/>
                          <a:cs typeface="+mn-cs"/>
                          <a:sym typeface="Arial"/>
                        </a:rPr>
                        <a:t>Recommended Controls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Disable external telnet access</a:t>
                      </a:r>
                    </a:p>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Use detailed auditing of privileged command use</a:t>
                      </a:r>
                    </a:p>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Set policy for strong admin passwords</a:t>
                      </a:r>
                    </a:p>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Set backup strategy for router configuration file</a:t>
                      </a:r>
                    </a:p>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Set change control policy for the router configuration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6878114"/>
                  </a:ext>
                </a:extLst>
              </a:tr>
              <a:tr h="264160">
                <a:tc>
                  <a:txBody>
                    <a:bodyPr/>
                    <a:lstStyle/>
                    <a:p>
                      <a:r>
                        <a:rPr lang="en-IN" sz="1400" b="0" i="0" u="none" strike="noStrike" cap="none" baseline="0" dirty="0">
                          <a:solidFill>
                            <a:schemeClr val="tx1"/>
                          </a:solidFill>
                          <a:latin typeface="+mn-lt"/>
                          <a:ea typeface="+mn-ea"/>
                          <a:cs typeface="+mn-cs"/>
                          <a:sym typeface="Arial"/>
                        </a:rPr>
                        <a:t>Priority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0" i="0" u="none" strike="noStrike" cap="none" baseline="0" dirty="0">
                          <a:solidFill>
                            <a:schemeClr val="tx1"/>
                          </a:solidFill>
                          <a:latin typeface="+mn-lt"/>
                          <a:ea typeface="+mn-ea"/>
                          <a:cs typeface="+mn-cs"/>
                          <a:sym typeface="Arial"/>
                        </a:rPr>
                        <a:t>High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819200"/>
                  </a:ext>
                </a:extLst>
              </a:tr>
              <a:tr h="370840">
                <a:tc>
                  <a:txBody>
                    <a:bodyPr/>
                    <a:lstStyle/>
                    <a:p>
                      <a:r>
                        <a:rPr lang="en-IN" sz="1400" b="0" i="0" u="none" strike="noStrike" cap="none" baseline="0" dirty="0">
                          <a:solidFill>
                            <a:schemeClr val="tx1"/>
                          </a:solidFill>
                          <a:latin typeface="+mn-lt"/>
                          <a:ea typeface="+mn-ea"/>
                          <a:cs typeface="+mn-cs"/>
                          <a:sym typeface="Arial"/>
                        </a:rPr>
                        <a:t>Selected Controls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Implement all recommended controls</a:t>
                      </a:r>
                    </a:p>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Update related procedures with training for affected staff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4429521"/>
                  </a:ext>
                </a:extLst>
              </a:tr>
              <a:tr h="370840">
                <a:tc>
                  <a:txBody>
                    <a:bodyPr/>
                    <a:lstStyle/>
                    <a:p>
                      <a:r>
                        <a:rPr lang="en-IN" sz="1400" b="0" i="0" u="none" strike="noStrike" cap="none" baseline="0" dirty="0">
                          <a:solidFill>
                            <a:schemeClr val="tx1"/>
                          </a:solidFill>
                          <a:latin typeface="+mn-lt"/>
                          <a:ea typeface="+mn-ea"/>
                          <a:cs typeface="+mn-cs"/>
                          <a:sym typeface="Arial"/>
                        </a:rPr>
                        <a:t>Required Resources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3 days I</a:t>
                      </a:r>
                      <a:r>
                        <a:rPr lang="en-IN" sz="100" b="0" i="0" u="none" strike="noStrike" cap="none" baseline="0" dirty="0">
                          <a:solidFill>
                            <a:schemeClr val="tx1"/>
                          </a:solidFill>
                          <a:latin typeface="+mn-lt"/>
                          <a:ea typeface="+mn-ea"/>
                          <a:cs typeface="+mn-cs"/>
                          <a:sym typeface="Arial"/>
                        </a:rPr>
                        <a:t> </a:t>
                      </a:r>
                      <a:r>
                        <a:rPr lang="en-IN" sz="1400" b="0" i="0" u="none" strike="noStrike" cap="none" baseline="0" dirty="0">
                          <a:solidFill>
                            <a:schemeClr val="tx1"/>
                          </a:solidFill>
                          <a:latin typeface="+mn-lt"/>
                          <a:ea typeface="+mn-ea"/>
                          <a:cs typeface="+mn-cs"/>
                          <a:sym typeface="Arial"/>
                        </a:rPr>
                        <a:t>T net admin time to change and verify router configuration, write policies</a:t>
                      </a:r>
                    </a:p>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1 day of training for network administration staff</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3079426"/>
                  </a:ext>
                </a:extLst>
              </a:tr>
              <a:tr h="320766">
                <a:tc>
                  <a:txBody>
                    <a:bodyPr/>
                    <a:lstStyle/>
                    <a:p>
                      <a:r>
                        <a:rPr lang="en-IN" sz="1400" b="0" i="0" u="none" strike="noStrike" cap="none" baseline="0" dirty="0">
                          <a:solidFill>
                            <a:schemeClr val="tx1"/>
                          </a:solidFill>
                          <a:latin typeface="+mn-lt"/>
                          <a:ea typeface="+mn-ea"/>
                          <a:cs typeface="+mn-cs"/>
                          <a:sym typeface="Arial"/>
                        </a:rPr>
                        <a:t>Responsible Persons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0" i="0" u="none" strike="noStrike" cap="none" baseline="0" dirty="0">
                          <a:solidFill>
                            <a:schemeClr val="tx1"/>
                          </a:solidFill>
                          <a:latin typeface="+mn-lt"/>
                          <a:ea typeface="+mn-ea"/>
                          <a:cs typeface="+mn-cs"/>
                          <a:sym typeface="Arial"/>
                        </a:rPr>
                        <a:t>John Doe, Lead Network System Administrator, Corporate I</a:t>
                      </a:r>
                      <a:r>
                        <a:rPr lang="en-IN" sz="100" b="0" i="0" u="none" strike="noStrike" cap="none" baseline="0" dirty="0">
                          <a:solidFill>
                            <a:schemeClr val="tx1"/>
                          </a:solidFill>
                          <a:latin typeface="+mn-lt"/>
                          <a:ea typeface="+mn-ea"/>
                          <a:cs typeface="+mn-cs"/>
                          <a:sym typeface="Arial"/>
                        </a:rPr>
                        <a:t> </a:t>
                      </a:r>
                      <a:r>
                        <a:rPr lang="en-IN" sz="1400" b="0" i="0" u="none" strike="noStrike" cap="none" baseline="0" dirty="0">
                          <a:solidFill>
                            <a:schemeClr val="tx1"/>
                          </a:solidFill>
                          <a:latin typeface="+mn-lt"/>
                          <a:ea typeface="+mn-ea"/>
                          <a:cs typeface="+mn-cs"/>
                          <a:sym typeface="Arial"/>
                        </a:rPr>
                        <a:t>T Support Team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2224236"/>
                  </a:ext>
                </a:extLst>
              </a:tr>
              <a:tr h="290286">
                <a:tc>
                  <a:txBody>
                    <a:bodyPr/>
                    <a:lstStyle/>
                    <a:p>
                      <a:r>
                        <a:rPr lang="en-IN" sz="1400" b="0" i="0" u="none" strike="noStrike" cap="none" baseline="0" dirty="0">
                          <a:solidFill>
                            <a:schemeClr val="tx1"/>
                          </a:solidFill>
                          <a:latin typeface="+mn-lt"/>
                          <a:ea typeface="+mn-ea"/>
                          <a:cs typeface="+mn-cs"/>
                          <a:sym typeface="Arial"/>
                        </a:rPr>
                        <a:t>Start to End Date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0" i="0" u="none" strike="noStrike" cap="none" baseline="0" dirty="0">
                          <a:solidFill>
                            <a:schemeClr val="tx1"/>
                          </a:solidFill>
                          <a:latin typeface="+mn-lt"/>
                          <a:ea typeface="+mn-ea"/>
                          <a:cs typeface="+mn-cs"/>
                          <a:sym typeface="Arial"/>
                        </a:rPr>
                        <a:t>February 6, 2017 to February 9, 2017</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4521370"/>
                  </a:ext>
                </a:extLst>
              </a:tr>
              <a:tr h="370840">
                <a:tc>
                  <a:txBody>
                    <a:bodyPr/>
                    <a:lstStyle/>
                    <a:p>
                      <a:r>
                        <a:rPr lang="en-IN" sz="1400" b="0" i="0" u="none" strike="noStrike" cap="none" baseline="0" dirty="0">
                          <a:solidFill>
                            <a:schemeClr val="tx1"/>
                          </a:solidFill>
                          <a:latin typeface="+mn-lt"/>
                          <a:ea typeface="+mn-ea"/>
                          <a:cs typeface="+mn-cs"/>
                          <a:sym typeface="Arial"/>
                        </a:rPr>
                        <a:t>Other Comments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55600" indent="-255600">
                        <a:buClr>
                          <a:schemeClr val="tx2"/>
                        </a:buClr>
                        <a:buFont typeface="Arial" panose="020B0604020202020204" pitchFamily="34" charset="0"/>
                        <a:buChar char="•"/>
                      </a:pPr>
                      <a:r>
                        <a:rPr lang="en-IN" sz="1400" b="0" i="0" u="none" strike="noStrike" cap="none" baseline="0" dirty="0">
                          <a:solidFill>
                            <a:schemeClr val="tx1"/>
                          </a:solidFill>
                          <a:latin typeface="+mn-lt"/>
                          <a:ea typeface="+mn-ea"/>
                          <a:cs typeface="+mn-cs"/>
                          <a:sym typeface="Arial"/>
                        </a:rPr>
                        <a:t>Need periodic test and review of configuration and policy use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4978045"/>
                  </a:ext>
                </a:extLst>
              </a:tr>
            </a:tbl>
          </a:graphicData>
        </a:graphic>
      </p:graphicFrame>
    </p:spTree>
    <p:extLst>
      <p:ext uri="{BB962C8B-B14F-4D97-AF65-F5344CB8AC3E}">
        <p14:creationId xmlns:p14="http://schemas.microsoft.com/office/powerpoint/2010/main" val="35614272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Security Plan Implementation</a:t>
            </a:r>
          </a:p>
        </p:txBody>
      </p:sp>
      <p:sp>
        <p:nvSpPr>
          <p:cNvPr id="3" name="Content Placeholder 2"/>
          <p:cNvSpPr>
            <a:spLocks noGrp="1"/>
          </p:cNvSpPr>
          <p:nvPr>
            <p:ph sz="quarter" idx="13"/>
          </p:nvPr>
        </p:nvSpPr>
        <p:spPr>
          <a:xfrm>
            <a:off x="457201" y="1552574"/>
            <a:ext cx="2371343" cy="3543682"/>
          </a:xfrm>
        </p:spPr>
        <p:txBody>
          <a:bodyPr/>
          <a:lstStyle/>
          <a:p>
            <a:r>
              <a:rPr lang="en-US" sz="1600" b="1" dirty="0"/>
              <a:t>I</a:t>
            </a:r>
            <a:r>
              <a:rPr lang="en-US" sz="100" b="1" dirty="0"/>
              <a:t> </a:t>
            </a:r>
            <a:r>
              <a:rPr lang="en-US" sz="1600" b="1" dirty="0"/>
              <a:t>T security plan documents:</a:t>
            </a:r>
          </a:p>
          <a:p>
            <a:pPr lvl="1"/>
            <a:r>
              <a:rPr lang="en-US" sz="1600" dirty="0"/>
              <a:t>What needs to be done for each selected control</a:t>
            </a:r>
          </a:p>
          <a:p>
            <a:pPr lvl="1"/>
            <a:r>
              <a:rPr lang="en-US" sz="1600" dirty="0"/>
              <a:t>Personnel responsible</a:t>
            </a:r>
          </a:p>
          <a:p>
            <a:pPr lvl="1"/>
            <a:r>
              <a:rPr lang="en-US" sz="1600" dirty="0"/>
              <a:t>Resources and time frame</a:t>
            </a:r>
          </a:p>
        </p:txBody>
      </p:sp>
      <p:sp>
        <p:nvSpPr>
          <p:cNvPr id="5" name="Content Placeholder 4"/>
          <p:cNvSpPr>
            <a:spLocks noGrp="1"/>
          </p:cNvSpPr>
          <p:nvPr>
            <p:ph sz="quarter" idx="14"/>
          </p:nvPr>
        </p:nvSpPr>
        <p:spPr>
          <a:xfrm>
            <a:off x="2976427" y="1557338"/>
            <a:ext cx="3033485" cy="4261571"/>
          </a:xfrm>
        </p:spPr>
        <p:txBody>
          <a:bodyPr/>
          <a:lstStyle/>
          <a:p>
            <a:r>
              <a:rPr lang="en-US" sz="1600" b="1" dirty="0"/>
              <a:t>Identified personnel:</a:t>
            </a:r>
          </a:p>
          <a:p>
            <a:pPr lvl="1"/>
            <a:r>
              <a:rPr lang="en-US" sz="1600" dirty="0"/>
              <a:t>Implement new or enhanced controls</a:t>
            </a:r>
          </a:p>
          <a:p>
            <a:pPr lvl="1"/>
            <a:r>
              <a:rPr lang="en-US" sz="1600" dirty="0"/>
              <a:t>May need system configuration changes, upgrades or new system installation</a:t>
            </a:r>
          </a:p>
          <a:p>
            <a:pPr lvl="1"/>
            <a:r>
              <a:rPr lang="en-US" sz="1600" dirty="0"/>
              <a:t>May also involve development of new or extended procedures</a:t>
            </a:r>
          </a:p>
          <a:p>
            <a:pPr lvl="1"/>
            <a:r>
              <a:rPr lang="en-US" sz="1600" dirty="0"/>
              <a:t>Need to be encouraged and monitored by management</a:t>
            </a:r>
          </a:p>
        </p:txBody>
      </p:sp>
      <p:sp>
        <p:nvSpPr>
          <p:cNvPr id="6" name="Content Placeholder 5"/>
          <p:cNvSpPr>
            <a:spLocks noGrp="1"/>
          </p:cNvSpPr>
          <p:nvPr>
            <p:ph sz="quarter" idx="15"/>
          </p:nvPr>
        </p:nvSpPr>
        <p:spPr>
          <a:xfrm>
            <a:off x="6302521" y="1552574"/>
            <a:ext cx="2613895" cy="1324738"/>
          </a:xfrm>
        </p:spPr>
        <p:txBody>
          <a:bodyPr/>
          <a:lstStyle/>
          <a:p>
            <a:pPr>
              <a:buFont typeface="Arial" panose="020B0604020202020204" pitchFamily="34" charset="0"/>
              <a:buChar char="•"/>
            </a:pPr>
            <a:r>
              <a:rPr lang="en-US" sz="1600" b="1" dirty="0"/>
              <a:t>When implementation is completed management authorizes the system for operational use</a:t>
            </a:r>
          </a:p>
        </p:txBody>
      </p:sp>
    </p:spTree>
    <p:extLst>
      <p:ext uri="{BB962C8B-B14F-4D97-AF65-F5344CB8AC3E}">
        <p14:creationId xmlns:p14="http://schemas.microsoft.com/office/powerpoint/2010/main" val="21265763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Implementation Follow-Up</a:t>
            </a:r>
          </a:p>
        </p:txBody>
      </p:sp>
      <p:sp>
        <p:nvSpPr>
          <p:cNvPr id="3" name="Content Placeholder 2"/>
          <p:cNvSpPr>
            <a:spLocks noGrp="1"/>
          </p:cNvSpPr>
          <p:nvPr>
            <p:ph sz="quarter" idx="13"/>
          </p:nvPr>
        </p:nvSpPr>
        <p:spPr>
          <a:xfrm>
            <a:off x="457200" y="1586015"/>
            <a:ext cx="8229600" cy="2528785"/>
          </a:xfrm>
        </p:spPr>
        <p:txBody>
          <a:bodyPr/>
          <a:lstStyle/>
          <a:p>
            <a:r>
              <a:rPr lang="en-US" sz="2000" dirty="0"/>
              <a:t>Security management is a cyclic process</a:t>
            </a:r>
          </a:p>
          <a:p>
            <a:pPr lvl="1"/>
            <a:r>
              <a:rPr lang="en-US" sz="2000" dirty="0"/>
              <a:t>Constantly repeated to respond to changes in the I</a:t>
            </a:r>
            <a:r>
              <a:rPr lang="en-US" sz="100" dirty="0"/>
              <a:t> </a:t>
            </a:r>
            <a:r>
              <a:rPr lang="en-US" sz="2000" dirty="0"/>
              <a:t>T systems and the risk environment</a:t>
            </a:r>
          </a:p>
          <a:p>
            <a:r>
              <a:rPr lang="en-US" sz="2000" dirty="0"/>
              <a:t>Need to monitor implemented controls</a:t>
            </a:r>
          </a:p>
          <a:p>
            <a:r>
              <a:rPr lang="en-US" sz="2000" dirty="0"/>
              <a:t>Evaluate changes for security implications</a:t>
            </a:r>
          </a:p>
          <a:p>
            <a:pPr lvl="1"/>
            <a:r>
              <a:rPr lang="en-US" sz="2000" dirty="0"/>
              <a:t>Otherwise increase chance of security breach</a:t>
            </a:r>
          </a:p>
        </p:txBody>
      </p:sp>
      <p:sp>
        <p:nvSpPr>
          <p:cNvPr id="5" name="Content Placeholder 4"/>
          <p:cNvSpPr>
            <a:spLocks noGrp="1"/>
          </p:cNvSpPr>
          <p:nvPr>
            <p:ph sz="quarter" idx="14"/>
          </p:nvPr>
        </p:nvSpPr>
        <p:spPr>
          <a:xfrm>
            <a:off x="457200" y="4239493"/>
            <a:ext cx="6347361" cy="2081996"/>
          </a:xfrm>
        </p:spPr>
        <p:txBody>
          <a:bodyPr/>
          <a:lstStyle/>
          <a:p>
            <a:r>
              <a:rPr lang="en-US" sz="2000" b="1" dirty="0"/>
              <a:t>Includes a number of aspects</a:t>
            </a:r>
          </a:p>
          <a:p>
            <a:pPr lvl="1"/>
            <a:r>
              <a:rPr lang="en-US" sz="2000" dirty="0"/>
              <a:t>Maintenance of security controls</a:t>
            </a:r>
          </a:p>
          <a:p>
            <a:pPr lvl="1"/>
            <a:r>
              <a:rPr lang="en-US" sz="2000" dirty="0"/>
              <a:t>Security compliance checking</a:t>
            </a:r>
          </a:p>
          <a:p>
            <a:pPr lvl="1"/>
            <a:r>
              <a:rPr lang="en-US" sz="2000" dirty="0"/>
              <a:t>Change and configuration management</a:t>
            </a:r>
          </a:p>
          <a:p>
            <a:pPr lvl="1"/>
            <a:r>
              <a:rPr lang="en-US" sz="2000" dirty="0"/>
              <a:t>Incident handling</a:t>
            </a:r>
          </a:p>
        </p:txBody>
      </p:sp>
    </p:spTree>
    <p:extLst>
      <p:ext uri="{BB962C8B-B14F-4D97-AF65-F5344CB8AC3E}">
        <p14:creationId xmlns:p14="http://schemas.microsoft.com/office/powerpoint/2010/main" val="38930085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rgbClr val="C00000"/>
                </a:solidFill>
              </a:rPr>
              <a:t>Maintenance</a:t>
            </a:r>
          </a:p>
        </p:txBody>
      </p:sp>
      <p:sp>
        <p:nvSpPr>
          <p:cNvPr id="6" name="Content Placeholder 5"/>
          <p:cNvSpPr>
            <a:spLocks noGrp="1"/>
          </p:cNvSpPr>
          <p:nvPr>
            <p:ph sz="quarter" idx="13"/>
          </p:nvPr>
        </p:nvSpPr>
        <p:spPr>
          <a:xfrm>
            <a:off x="457200" y="1552574"/>
            <a:ext cx="7645400" cy="1814739"/>
          </a:xfrm>
        </p:spPr>
        <p:txBody>
          <a:bodyPr/>
          <a:lstStyle/>
          <a:p>
            <a:r>
              <a:rPr lang="en-US" dirty="0"/>
              <a:t>Need continued maintenance and monitoring of implemented controls to ensure continued correct functioning and appropriateness</a:t>
            </a:r>
          </a:p>
          <a:p>
            <a:r>
              <a:rPr lang="en-US" dirty="0"/>
              <a:t>Goal is to ensure controls perform as intended</a:t>
            </a:r>
          </a:p>
        </p:txBody>
      </p:sp>
      <p:sp>
        <p:nvSpPr>
          <p:cNvPr id="7" name="Content Placeholder 6"/>
          <p:cNvSpPr>
            <a:spLocks noGrp="1"/>
          </p:cNvSpPr>
          <p:nvPr>
            <p:ph sz="quarter" idx="14"/>
          </p:nvPr>
        </p:nvSpPr>
        <p:spPr>
          <a:xfrm>
            <a:off x="457200" y="3489486"/>
            <a:ext cx="8229600" cy="2591274"/>
          </a:xfrm>
        </p:spPr>
        <p:txBody>
          <a:bodyPr/>
          <a:lstStyle/>
          <a:p>
            <a:r>
              <a:rPr lang="en-US" dirty="0"/>
              <a:t>Tasks</a:t>
            </a:r>
            <a:endParaRPr lang="en-US" b="1" dirty="0">
              <a:solidFill>
                <a:schemeClr val="tx1"/>
              </a:solidFill>
            </a:endParaRPr>
          </a:p>
          <a:p>
            <a:pPr lvl="1"/>
            <a:r>
              <a:rPr lang="en-US" b="1" dirty="0">
                <a:solidFill>
                  <a:schemeClr val="tx1"/>
                </a:solidFill>
              </a:rPr>
              <a:t>Periodic review of controls</a:t>
            </a:r>
          </a:p>
          <a:p>
            <a:pPr lvl="1"/>
            <a:r>
              <a:rPr lang="en-US" b="1" dirty="0">
                <a:solidFill>
                  <a:schemeClr val="tx1"/>
                </a:solidFill>
              </a:rPr>
              <a:t>Upgrade of controls to meet new requirements</a:t>
            </a:r>
          </a:p>
          <a:p>
            <a:pPr lvl="1"/>
            <a:r>
              <a:rPr lang="en-US" b="1" dirty="0">
                <a:solidFill>
                  <a:schemeClr val="tx1"/>
                </a:solidFill>
              </a:rPr>
              <a:t>System changes do not impact controls</a:t>
            </a:r>
          </a:p>
          <a:p>
            <a:pPr lvl="1"/>
            <a:r>
              <a:rPr lang="en-US" b="1" dirty="0">
                <a:solidFill>
                  <a:schemeClr val="tx1"/>
                </a:solidFill>
              </a:rPr>
              <a:t>Address new threats or vulnerabilities</a:t>
            </a:r>
          </a:p>
        </p:txBody>
      </p:sp>
    </p:spTree>
    <p:extLst>
      <p:ext uri="{BB962C8B-B14F-4D97-AF65-F5344CB8AC3E}">
        <p14:creationId xmlns:p14="http://schemas.microsoft.com/office/powerpoint/2010/main" val="26768822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Security Compliance</a:t>
            </a:r>
          </a:p>
        </p:txBody>
      </p:sp>
      <p:sp>
        <p:nvSpPr>
          <p:cNvPr id="4" name="Content Placeholder 3"/>
          <p:cNvSpPr>
            <a:spLocks noGrp="1"/>
          </p:cNvSpPr>
          <p:nvPr>
            <p:ph sz="quarter" idx="13"/>
          </p:nvPr>
        </p:nvSpPr>
        <p:spPr/>
        <p:txBody>
          <a:bodyPr/>
          <a:lstStyle/>
          <a:p>
            <a:r>
              <a:rPr lang="en-US" dirty="0"/>
              <a:t>Audit process to review security processes</a:t>
            </a:r>
          </a:p>
          <a:p>
            <a:r>
              <a:rPr lang="en-US" dirty="0"/>
              <a:t>Goal is to verify compliance with security plan</a:t>
            </a:r>
          </a:p>
          <a:p>
            <a:r>
              <a:rPr lang="en-US" dirty="0"/>
              <a:t>Use internal or external personnel</a:t>
            </a:r>
          </a:p>
          <a:p>
            <a:r>
              <a:rPr lang="en-US" dirty="0"/>
              <a:t>Usually based on use of checklists which verify:</a:t>
            </a:r>
          </a:p>
          <a:p>
            <a:pPr lvl="1"/>
            <a:r>
              <a:rPr lang="en-US" dirty="0"/>
              <a:t>Suitable policies and plans were created</a:t>
            </a:r>
          </a:p>
          <a:p>
            <a:pPr lvl="1"/>
            <a:r>
              <a:rPr lang="en-US" dirty="0"/>
              <a:t>Suitable selection of controls were chosen</a:t>
            </a:r>
          </a:p>
          <a:p>
            <a:pPr lvl="1"/>
            <a:r>
              <a:rPr lang="en-US" dirty="0"/>
              <a:t>That they are maintained and used correctly</a:t>
            </a:r>
          </a:p>
          <a:p>
            <a:r>
              <a:rPr lang="en-US" dirty="0"/>
              <a:t>Often as part of wider general audit</a:t>
            </a:r>
          </a:p>
        </p:txBody>
      </p:sp>
    </p:spTree>
    <p:extLst>
      <p:ext uri="{BB962C8B-B14F-4D97-AF65-F5344CB8AC3E}">
        <p14:creationId xmlns:p14="http://schemas.microsoft.com/office/powerpoint/2010/main" val="41228146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Change and Configuration Management</a:t>
            </a:r>
          </a:p>
        </p:txBody>
      </p:sp>
      <p:sp>
        <p:nvSpPr>
          <p:cNvPr id="3" name="Content Placeholder 2"/>
          <p:cNvSpPr>
            <a:spLocks noGrp="1"/>
          </p:cNvSpPr>
          <p:nvPr>
            <p:ph sz="quarter" idx="13"/>
          </p:nvPr>
        </p:nvSpPr>
        <p:spPr>
          <a:xfrm>
            <a:off x="457200" y="1556326"/>
            <a:ext cx="3627912" cy="4476339"/>
          </a:xfrm>
        </p:spPr>
        <p:txBody>
          <a:bodyPr/>
          <a:lstStyle/>
          <a:p>
            <a:r>
              <a:rPr lang="en-US" sz="2000" dirty="0"/>
              <a:t>Change management is the process to review proposed changes to systems</a:t>
            </a:r>
          </a:p>
          <a:p>
            <a:pPr lvl="1"/>
            <a:r>
              <a:rPr lang="en-US" sz="2000" dirty="0"/>
              <a:t>Evaluate the impact</a:t>
            </a:r>
          </a:p>
          <a:p>
            <a:pPr lvl="1"/>
            <a:r>
              <a:rPr lang="en-US" sz="2000" dirty="0"/>
              <a:t>Important component of general systems administration process</a:t>
            </a:r>
          </a:p>
          <a:p>
            <a:pPr lvl="1"/>
            <a:r>
              <a:rPr lang="en-US" sz="2000" dirty="0"/>
              <a:t>Test patches to make sure they do not adversely affect other applications</a:t>
            </a:r>
          </a:p>
          <a:p>
            <a:pPr lvl="1"/>
            <a:r>
              <a:rPr lang="en-US" sz="2000" dirty="0"/>
              <a:t>May be informal or formal</a:t>
            </a:r>
          </a:p>
        </p:txBody>
      </p:sp>
      <p:sp>
        <p:nvSpPr>
          <p:cNvPr id="5" name="Content Placeholder 4"/>
          <p:cNvSpPr>
            <a:spLocks noGrp="1"/>
          </p:cNvSpPr>
          <p:nvPr>
            <p:ph sz="quarter" idx="14"/>
          </p:nvPr>
        </p:nvSpPr>
        <p:spPr>
          <a:xfrm>
            <a:off x="4322618" y="1557339"/>
            <a:ext cx="4364182" cy="4475326"/>
          </a:xfrm>
        </p:spPr>
        <p:txBody>
          <a:bodyPr/>
          <a:lstStyle/>
          <a:p>
            <a:r>
              <a:rPr lang="en-US" sz="2000" dirty="0"/>
              <a:t>Configuration management is specifically concerned with keeping track of the configuration of each system in use and the changes made to them</a:t>
            </a:r>
          </a:p>
          <a:p>
            <a:pPr lvl="1"/>
            <a:r>
              <a:rPr lang="en-US" sz="2000" dirty="0"/>
              <a:t>Keep lists of hardware and software versions installed on each system to help restore them following a failure</a:t>
            </a:r>
          </a:p>
          <a:p>
            <a:pPr lvl="1"/>
            <a:r>
              <a:rPr lang="en-US" sz="2000" dirty="0"/>
              <a:t>Know what patches or upgrades might be relevant</a:t>
            </a:r>
          </a:p>
          <a:p>
            <a:pPr lvl="1"/>
            <a:r>
              <a:rPr lang="en-US" sz="2000" dirty="0"/>
              <a:t>Also part of general systems administration process</a:t>
            </a:r>
          </a:p>
        </p:txBody>
      </p:sp>
    </p:spTree>
    <p:extLst>
      <p:ext uri="{BB962C8B-B14F-4D97-AF65-F5344CB8AC3E}">
        <p14:creationId xmlns:p14="http://schemas.microsoft.com/office/powerpoint/2010/main" val="34913866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Case Study: Silver Star Mines</a:t>
            </a:r>
          </a:p>
        </p:txBody>
      </p:sp>
      <p:sp>
        <p:nvSpPr>
          <p:cNvPr id="4" name="Content Placeholder 3"/>
          <p:cNvSpPr>
            <a:spLocks noGrp="1"/>
          </p:cNvSpPr>
          <p:nvPr>
            <p:ph sz="quarter" idx="13"/>
          </p:nvPr>
        </p:nvSpPr>
        <p:spPr>
          <a:xfrm>
            <a:off x="457200" y="1556327"/>
            <a:ext cx="8229600" cy="4679374"/>
          </a:xfrm>
        </p:spPr>
        <p:txBody>
          <a:bodyPr/>
          <a:lstStyle/>
          <a:p>
            <a:r>
              <a:rPr lang="en-US" dirty="0"/>
              <a:t>Given risk assessment, the next stage is to identify possible controls</a:t>
            </a:r>
          </a:p>
          <a:p>
            <a:r>
              <a:rPr lang="en-US" dirty="0"/>
              <a:t>Based on assessment it is clear many categories are not in use</a:t>
            </a:r>
          </a:p>
          <a:p>
            <a:r>
              <a:rPr lang="en-US" dirty="0"/>
              <a:t>General issue of systems not being patched or upgraded</a:t>
            </a:r>
          </a:p>
          <a:p>
            <a:r>
              <a:rPr lang="en-US" dirty="0"/>
              <a:t>Need contingency plans</a:t>
            </a:r>
          </a:p>
          <a:p>
            <a:r>
              <a:rPr lang="en-US" dirty="0"/>
              <a:t>S</a:t>
            </a:r>
            <a:r>
              <a:rPr lang="en-US" sz="100" dirty="0"/>
              <a:t> </a:t>
            </a:r>
            <a:r>
              <a:rPr lang="en-US" dirty="0"/>
              <a:t>C</a:t>
            </a:r>
            <a:r>
              <a:rPr lang="en-US" sz="100" dirty="0"/>
              <a:t> </a:t>
            </a:r>
            <a:r>
              <a:rPr lang="en-US" dirty="0"/>
              <a:t>A</a:t>
            </a:r>
            <a:r>
              <a:rPr lang="en-US" sz="100" dirty="0"/>
              <a:t> </a:t>
            </a:r>
            <a:r>
              <a:rPr lang="en-US" dirty="0"/>
              <a:t>D</a:t>
            </a:r>
            <a:r>
              <a:rPr lang="en-US" sz="100" dirty="0"/>
              <a:t> </a:t>
            </a:r>
            <a:r>
              <a:rPr lang="en-US" dirty="0"/>
              <a:t>A: add intrusion detection system</a:t>
            </a:r>
          </a:p>
          <a:p>
            <a:r>
              <a:rPr lang="en-US" dirty="0"/>
              <a:t>Info integrity: better centralize storage</a:t>
            </a:r>
          </a:p>
          <a:p>
            <a:r>
              <a:rPr lang="en-US" dirty="0"/>
              <a:t>Email: provide backup system</a:t>
            </a:r>
          </a:p>
        </p:txBody>
      </p:sp>
    </p:spTree>
    <p:extLst>
      <p:ext uri="{BB962C8B-B14F-4D97-AF65-F5344CB8AC3E}">
        <p14:creationId xmlns:p14="http://schemas.microsoft.com/office/powerpoint/2010/main" val="18153947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Table 15.5 Silver Star Mines: Implementation Plan</a:t>
            </a:r>
          </a:p>
        </p:txBody>
      </p:sp>
      <p:graphicFrame>
        <p:nvGraphicFramePr>
          <p:cNvPr id="3" name="Content Placeholder 2"/>
          <p:cNvGraphicFramePr>
            <a:graphicFrameLocks noGrp="1"/>
          </p:cNvGraphicFramePr>
          <p:nvPr>
            <p:ph sz="quarter" idx="13"/>
          </p:nvPr>
        </p:nvGraphicFramePr>
        <p:xfrm>
          <a:off x="457200" y="1555749"/>
          <a:ext cx="8229600" cy="4650465"/>
        </p:xfrm>
        <a:graphic>
          <a:graphicData uri="http://schemas.openxmlformats.org/drawingml/2006/table">
            <a:tbl>
              <a:tblPr firstRow="1" bandRow="1">
                <a:tableStyleId>{2D5ABB26-0587-4C30-8999-92F81FD0307C}</a:tableStyleId>
              </a:tblPr>
              <a:tblGrid>
                <a:gridCol w="2012868">
                  <a:extLst>
                    <a:ext uri="{9D8B030D-6E8A-4147-A177-3AD203B41FA5}">
                      <a16:colId xmlns:a16="http://schemas.microsoft.com/office/drawing/2014/main" val="3538783694"/>
                    </a:ext>
                  </a:extLst>
                </a:gridCol>
                <a:gridCol w="783771">
                  <a:extLst>
                    <a:ext uri="{9D8B030D-6E8A-4147-A177-3AD203B41FA5}">
                      <a16:colId xmlns:a16="http://schemas.microsoft.com/office/drawing/2014/main" val="657566518"/>
                    </a:ext>
                  </a:extLst>
                </a:gridCol>
                <a:gridCol w="3547011">
                  <a:extLst>
                    <a:ext uri="{9D8B030D-6E8A-4147-A177-3AD203B41FA5}">
                      <a16:colId xmlns:a16="http://schemas.microsoft.com/office/drawing/2014/main" val="2462419692"/>
                    </a:ext>
                  </a:extLst>
                </a:gridCol>
                <a:gridCol w="790575">
                  <a:extLst>
                    <a:ext uri="{9D8B030D-6E8A-4147-A177-3AD203B41FA5}">
                      <a16:colId xmlns:a16="http://schemas.microsoft.com/office/drawing/2014/main" val="1951107337"/>
                    </a:ext>
                  </a:extLst>
                </a:gridCol>
                <a:gridCol w="1095375">
                  <a:extLst>
                    <a:ext uri="{9D8B030D-6E8A-4147-A177-3AD203B41FA5}">
                      <a16:colId xmlns:a16="http://schemas.microsoft.com/office/drawing/2014/main" val="314709694"/>
                    </a:ext>
                  </a:extLst>
                </a:gridCol>
              </a:tblGrid>
              <a:tr h="403680">
                <a:tc>
                  <a:txBody>
                    <a:bodyPr/>
                    <a:lstStyle/>
                    <a:p>
                      <a:pPr algn="ctr"/>
                      <a:r>
                        <a:rPr lang="en-IN" sz="1200" b="1" i="0" u="none" strike="noStrike" cap="none" baseline="0" dirty="0">
                          <a:solidFill>
                            <a:schemeClr val="tx1"/>
                          </a:solidFill>
                          <a:latin typeface="+mn-lt"/>
                          <a:ea typeface="+mn-ea"/>
                          <a:cs typeface="+mn-cs"/>
                          <a:sym typeface="Arial"/>
                        </a:rPr>
                        <a:t>Risk (Asset/Threat)</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u="none" strike="noStrike" cap="none" baseline="0" dirty="0">
                          <a:solidFill>
                            <a:schemeClr val="tx1"/>
                          </a:solidFill>
                          <a:latin typeface="+mn-lt"/>
                          <a:ea typeface="+mn-ea"/>
                          <a:cs typeface="+mn-cs"/>
                          <a:sym typeface="Arial"/>
                        </a:rPr>
                        <a:t>Level of Risk</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u="none" strike="noStrike" cap="none" baseline="0" dirty="0">
                          <a:solidFill>
                            <a:schemeClr val="tx1"/>
                          </a:solidFill>
                          <a:latin typeface="+mn-lt"/>
                          <a:ea typeface="+mn-ea"/>
                          <a:cs typeface="+mn-cs"/>
                          <a:sym typeface="Arial"/>
                        </a:rPr>
                        <a:t>Recommended Controls</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u="none" strike="noStrike" cap="none" baseline="0" dirty="0">
                          <a:solidFill>
                            <a:schemeClr val="tx1"/>
                          </a:solidFill>
                          <a:latin typeface="+mn-lt"/>
                          <a:ea typeface="+mn-ea"/>
                          <a:cs typeface="+mn-cs"/>
                          <a:sym typeface="Arial"/>
                        </a:rPr>
                        <a:t>Priority</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u="none" strike="noStrike" cap="none" baseline="0" dirty="0">
                          <a:solidFill>
                            <a:schemeClr val="tx1"/>
                          </a:solidFill>
                          <a:latin typeface="+mn-lt"/>
                          <a:ea typeface="+mn-ea"/>
                          <a:cs typeface="+mn-cs"/>
                          <a:sym typeface="Arial"/>
                        </a:rPr>
                        <a:t>Selected Controls</a:t>
                      </a:r>
                      <a:endParaRPr lang="en-IN" sz="1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2257742"/>
                  </a:ext>
                </a:extLst>
              </a:tr>
              <a:tr h="1528537">
                <a:tc>
                  <a:txBody>
                    <a:bodyPr/>
                    <a:lstStyle/>
                    <a:p>
                      <a:r>
                        <a:rPr lang="en-IN" sz="1200" b="0" i="0" u="none" strike="noStrike" cap="none" baseline="0" dirty="0">
                          <a:solidFill>
                            <a:schemeClr val="tx1"/>
                          </a:solidFill>
                          <a:latin typeface="+mn-lt"/>
                          <a:ea typeface="+mn-ea"/>
                          <a:cs typeface="+mn-cs"/>
                          <a:sym typeface="Arial"/>
                        </a:rPr>
                        <a:t>All risks (generally applicable)</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 dirty="0"/>
                        <a:t>Blank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Configuration and periodic maintenance policy for servers</a:t>
                      </a:r>
                    </a:p>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Malicious code (S</a:t>
                      </a:r>
                      <a:r>
                        <a:rPr lang="en-IN" sz="100" b="0" i="0" u="none" strike="noStrike" cap="none" baseline="0" dirty="0">
                          <a:solidFill>
                            <a:schemeClr val="tx1"/>
                          </a:solidFill>
                          <a:latin typeface="+mn-lt"/>
                          <a:ea typeface="+mn-ea"/>
                          <a:cs typeface="+mn-cs"/>
                          <a:sym typeface="Arial"/>
                        </a:rPr>
                        <a:t> </a:t>
                      </a:r>
                      <a:r>
                        <a:rPr lang="en-IN" sz="1200" b="0" i="0" u="none" strike="noStrike" cap="none" baseline="0" dirty="0">
                          <a:solidFill>
                            <a:schemeClr val="tx1"/>
                          </a:solidFill>
                          <a:latin typeface="+mn-lt"/>
                          <a:ea typeface="+mn-ea"/>
                          <a:cs typeface="+mn-cs"/>
                          <a:sym typeface="Arial"/>
                        </a:rPr>
                        <a:t>P</a:t>
                      </a:r>
                      <a:r>
                        <a:rPr lang="en-IN" sz="100" b="0" i="0" u="none" strike="noStrike" cap="none" baseline="0" dirty="0">
                          <a:solidFill>
                            <a:schemeClr val="tx1"/>
                          </a:solidFill>
                          <a:latin typeface="+mn-lt"/>
                          <a:ea typeface="+mn-ea"/>
                          <a:cs typeface="+mn-cs"/>
                          <a:sym typeface="Arial"/>
                        </a:rPr>
                        <a:t> </a:t>
                      </a:r>
                      <a:r>
                        <a:rPr lang="en-IN" sz="1200" b="0" i="0" u="none" strike="noStrike" cap="none" baseline="0" dirty="0">
                          <a:solidFill>
                            <a:schemeClr val="tx1"/>
                          </a:solidFill>
                          <a:latin typeface="+mn-lt"/>
                          <a:ea typeface="+mn-ea"/>
                          <a:cs typeface="+mn-cs"/>
                          <a:sym typeface="Arial"/>
                        </a:rPr>
                        <a:t>A</a:t>
                      </a:r>
                      <a:r>
                        <a:rPr lang="en-IN" sz="100" b="0" i="0" u="none" strike="noStrike" cap="none" baseline="0" dirty="0">
                          <a:solidFill>
                            <a:schemeClr val="tx1"/>
                          </a:solidFill>
                          <a:latin typeface="+mn-lt"/>
                          <a:ea typeface="+mn-ea"/>
                          <a:cs typeface="+mn-cs"/>
                          <a:sym typeface="Arial"/>
                        </a:rPr>
                        <a:t> </a:t>
                      </a:r>
                      <a:r>
                        <a:rPr lang="en-IN" sz="1200" b="0" i="0" u="none" strike="noStrike" cap="none" baseline="0" dirty="0">
                          <a:solidFill>
                            <a:schemeClr val="tx1"/>
                          </a:solidFill>
                          <a:latin typeface="+mn-lt"/>
                          <a:ea typeface="+mn-ea"/>
                          <a:cs typeface="+mn-cs"/>
                          <a:sym typeface="Arial"/>
                        </a:rPr>
                        <a:t>M, spyware) prevention</a:t>
                      </a:r>
                    </a:p>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Audit monitoring, analysis, reduction, and reporting on servers</a:t>
                      </a:r>
                    </a:p>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Contingency planning and incident response policies and procedures</a:t>
                      </a:r>
                    </a:p>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System backup and recovery Procedures</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a:t>
                      </a:r>
                    </a:p>
                    <a:p>
                      <a:pPr algn="ctr"/>
                      <a:r>
                        <a:rPr lang="en-US" sz="1200" dirty="0"/>
                        <a:t>2.</a:t>
                      </a:r>
                    </a:p>
                    <a:p>
                      <a:pPr algn="ctr"/>
                      <a:r>
                        <a:rPr lang="en-US" sz="1200" dirty="0"/>
                        <a:t>3</a:t>
                      </a:r>
                      <a:r>
                        <a:rPr lang="en-IN" sz="1200" dirty="0"/>
                        <a:t>.</a:t>
                      </a:r>
                    </a:p>
                    <a:p>
                      <a:pPr algn="ctr"/>
                      <a:r>
                        <a:rPr lang="en-US" sz="1200" dirty="0"/>
                        <a:t>4.</a:t>
                      </a:r>
                    </a:p>
                    <a:p>
                      <a:pPr algn="ctr"/>
                      <a:r>
                        <a:rPr lang="en-US" sz="12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37461"/>
                  </a:ext>
                </a:extLst>
              </a:tr>
              <a:tr h="627200">
                <a:tc>
                  <a:txBody>
                    <a:bodyPr/>
                    <a:lstStyle/>
                    <a:p>
                      <a:r>
                        <a:rPr lang="en-IN" sz="1200" b="0" i="0" u="none" strike="noStrike" cap="none" baseline="0" dirty="0">
                          <a:solidFill>
                            <a:schemeClr val="tx1"/>
                          </a:solidFill>
                          <a:latin typeface="+mn-lt"/>
                          <a:ea typeface="+mn-ea"/>
                          <a:cs typeface="+mn-cs"/>
                          <a:sym typeface="Arial"/>
                        </a:rPr>
                        <a:t>Reliability and integrity of S</a:t>
                      </a:r>
                      <a:r>
                        <a:rPr lang="en-IN" sz="100" b="0" i="0" u="none" strike="noStrike" cap="none" baseline="0" dirty="0">
                          <a:solidFill>
                            <a:schemeClr val="tx1"/>
                          </a:solidFill>
                          <a:latin typeface="+mn-lt"/>
                          <a:ea typeface="+mn-ea"/>
                          <a:cs typeface="+mn-cs"/>
                          <a:sym typeface="Arial"/>
                        </a:rPr>
                        <a:t> </a:t>
                      </a:r>
                      <a:r>
                        <a:rPr lang="en-IN" sz="1200" b="0" i="0" u="none" strike="noStrike" cap="none" baseline="0" dirty="0">
                          <a:solidFill>
                            <a:schemeClr val="tx1"/>
                          </a:solidFill>
                          <a:latin typeface="+mn-lt"/>
                          <a:ea typeface="+mn-ea"/>
                          <a:cs typeface="+mn-cs"/>
                          <a:sym typeface="Arial"/>
                        </a:rPr>
                        <a:t>C</a:t>
                      </a:r>
                      <a:r>
                        <a:rPr lang="en-IN" sz="100" b="0" i="0" u="none" strike="noStrike" cap="none" baseline="0" dirty="0">
                          <a:solidFill>
                            <a:schemeClr val="tx1"/>
                          </a:solidFill>
                          <a:latin typeface="+mn-lt"/>
                          <a:ea typeface="+mn-ea"/>
                          <a:cs typeface="+mn-cs"/>
                          <a:sym typeface="Arial"/>
                        </a:rPr>
                        <a:t> </a:t>
                      </a:r>
                      <a:r>
                        <a:rPr lang="en-IN" sz="1200" b="0" i="0" u="none" strike="noStrike" cap="none" baseline="0" dirty="0">
                          <a:solidFill>
                            <a:schemeClr val="tx1"/>
                          </a:solidFill>
                          <a:latin typeface="+mn-lt"/>
                          <a:ea typeface="+mn-ea"/>
                          <a:cs typeface="+mn-cs"/>
                          <a:sym typeface="Arial"/>
                        </a:rPr>
                        <a:t>A</a:t>
                      </a:r>
                      <a:r>
                        <a:rPr lang="en-IN" sz="100" b="0" i="0" u="none" strike="noStrike" cap="none" baseline="0" dirty="0">
                          <a:solidFill>
                            <a:schemeClr val="tx1"/>
                          </a:solidFill>
                          <a:latin typeface="+mn-lt"/>
                          <a:ea typeface="+mn-ea"/>
                          <a:cs typeface="+mn-cs"/>
                          <a:sym typeface="Arial"/>
                        </a:rPr>
                        <a:t> </a:t>
                      </a:r>
                      <a:r>
                        <a:rPr lang="en-IN" sz="1200" b="0" i="0" u="none" strike="noStrike" cap="none" baseline="0" dirty="0">
                          <a:solidFill>
                            <a:schemeClr val="tx1"/>
                          </a:solidFill>
                          <a:latin typeface="+mn-lt"/>
                          <a:ea typeface="+mn-ea"/>
                          <a:cs typeface="+mn-cs"/>
                          <a:sym typeface="Arial"/>
                        </a:rPr>
                        <a:t>D</a:t>
                      </a:r>
                      <a:r>
                        <a:rPr lang="en-IN" sz="100" b="0" i="0" u="none" strike="noStrike" cap="none" baseline="0" dirty="0">
                          <a:solidFill>
                            <a:schemeClr val="tx1"/>
                          </a:solidFill>
                          <a:latin typeface="+mn-lt"/>
                          <a:ea typeface="+mn-ea"/>
                          <a:cs typeface="+mn-cs"/>
                          <a:sym typeface="Arial"/>
                        </a:rPr>
                        <a:t> </a:t>
                      </a:r>
                      <a:r>
                        <a:rPr lang="en-IN" sz="1200" b="0" i="0" u="none" strike="noStrike" cap="none" baseline="0" dirty="0">
                          <a:solidFill>
                            <a:schemeClr val="tx1"/>
                          </a:solidFill>
                          <a:latin typeface="+mn-lt"/>
                          <a:ea typeface="+mn-ea"/>
                          <a:cs typeface="+mn-cs"/>
                          <a:sym typeface="Arial"/>
                        </a:rPr>
                        <a:t>A nodes and network</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0" i="0" u="none" strike="noStrike" cap="none" baseline="0" dirty="0">
                          <a:solidFill>
                            <a:schemeClr val="tx1"/>
                          </a:solidFill>
                          <a:latin typeface="+mn-lt"/>
                          <a:ea typeface="+mn-ea"/>
                          <a:cs typeface="+mn-cs"/>
                          <a:sym typeface="Arial"/>
                        </a:rPr>
                        <a:t>High</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Intrusion detection and response system</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2</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4400939"/>
                  </a:ext>
                </a:extLst>
              </a:tr>
              <a:tr h="670528">
                <a:tc>
                  <a:txBody>
                    <a:bodyPr/>
                    <a:lstStyle/>
                    <a:p>
                      <a:r>
                        <a:rPr lang="en-IN" sz="1200" b="0" i="0" u="none" strike="noStrike" cap="none" baseline="0" dirty="0">
                          <a:solidFill>
                            <a:schemeClr val="tx1"/>
                          </a:solidFill>
                          <a:latin typeface="+mn-lt"/>
                          <a:ea typeface="+mn-ea"/>
                          <a:cs typeface="+mn-cs"/>
                          <a:sym typeface="Arial"/>
                        </a:rPr>
                        <a:t>Integrity of stored file and database information</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0" i="0" u="none" strike="noStrike" cap="none" baseline="0" dirty="0">
                          <a:solidFill>
                            <a:schemeClr val="tx1"/>
                          </a:solidFill>
                          <a:latin typeface="+mn-lt"/>
                          <a:ea typeface="+mn-ea"/>
                          <a:cs typeface="+mn-cs"/>
                          <a:sym typeface="Arial"/>
                        </a:rPr>
                        <a:t>Extreme</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Audit of critical documents</a:t>
                      </a:r>
                    </a:p>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Document creation and storage policy</a:t>
                      </a:r>
                    </a:p>
                    <a:p>
                      <a:pPr marL="342000" indent="-34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User security education and Training</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3</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a:t>
                      </a:r>
                    </a:p>
                    <a:p>
                      <a:pPr algn="ctr"/>
                      <a:r>
                        <a:rPr lang="en-US" sz="1200" dirty="0"/>
                        <a:t>2.</a:t>
                      </a:r>
                    </a:p>
                    <a:p>
                      <a:pPr algn="ctr"/>
                      <a:r>
                        <a:rPr lang="en-US" sz="1200" dirty="0"/>
                        <a:t>3.</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012530"/>
                  </a:ext>
                </a:extLst>
              </a:tr>
              <a:tr h="862108">
                <a:tc>
                  <a:txBody>
                    <a:bodyPr/>
                    <a:lstStyle/>
                    <a:p>
                      <a:r>
                        <a:rPr lang="en-IN" sz="1200" b="0" i="0" u="none" strike="noStrike" cap="none" baseline="0" dirty="0">
                          <a:solidFill>
                            <a:schemeClr val="tx1"/>
                          </a:solidFill>
                          <a:latin typeface="+mn-lt"/>
                          <a:ea typeface="+mn-ea"/>
                          <a:cs typeface="+mn-cs"/>
                          <a:sym typeface="Arial"/>
                        </a:rPr>
                        <a:t>Availability and integrity of Financial, Procurement, and Maintenance/ Production Systems</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0" i="0" u="none" strike="noStrike" cap="none" baseline="0" dirty="0">
                          <a:solidFill>
                            <a:schemeClr val="tx1"/>
                          </a:solidFill>
                          <a:latin typeface="+mn-lt"/>
                          <a:ea typeface="+mn-ea"/>
                          <a:cs typeface="+mn-cs"/>
                          <a:sym typeface="Arial"/>
                        </a:rPr>
                        <a:t>High</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 b="0" i="0" u="none" strike="noStrike" cap="none" baseline="0" dirty="0">
                          <a:solidFill>
                            <a:schemeClr val="tx1"/>
                          </a:solidFill>
                          <a:latin typeface="+mn-lt"/>
                          <a:ea typeface="+mn-ea"/>
                          <a:cs typeface="+mn-cs"/>
                          <a:sym typeface="Arial"/>
                        </a:rPr>
                        <a:t>Blank</a:t>
                      </a:r>
                      <a:endParaRPr lang="en-IN"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00" b="0" i="0" u="none" strike="noStrike" cap="none" baseline="0" dirty="0">
                          <a:solidFill>
                            <a:schemeClr val="tx1"/>
                          </a:solidFill>
                          <a:latin typeface="+mn-lt"/>
                          <a:ea typeface="+mn-ea"/>
                          <a:cs typeface="+mn-cs"/>
                          <a:sym typeface="Arial"/>
                        </a:rPr>
                        <a:t>Blank</a:t>
                      </a:r>
                      <a:endParaRPr lang="en-IN" sz="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0" i="0" u="none" strike="noStrike" cap="none" baseline="0" dirty="0">
                          <a:solidFill>
                            <a:schemeClr val="tx1"/>
                          </a:solidFill>
                          <a:latin typeface="+mn-lt"/>
                          <a:ea typeface="+mn-ea"/>
                          <a:cs typeface="+mn-cs"/>
                          <a:sym typeface="Arial"/>
                        </a:rPr>
                        <a:t>(general controls)</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1005942"/>
                  </a:ext>
                </a:extLst>
              </a:tr>
              <a:tr h="478949">
                <a:tc>
                  <a:txBody>
                    <a:bodyPr/>
                    <a:lstStyle/>
                    <a:p>
                      <a:r>
                        <a:rPr lang="en-IN" sz="1200" b="0" i="0" u="none" strike="noStrike" cap="none" baseline="0" dirty="0">
                          <a:solidFill>
                            <a:schemeClr val="tx1"/>
                          </a:solidFill>
                          <a:latin typeface="+mn-lt"/>
                          <a:ea typeface="+mn-ea"/>
                          <a:cs typeface="+mn-cs"/>
                          <a:sym typeface="Arial"/>
                        </a:rPr>
                        <a:t>Availability, integrity, and confidentiality of e-mail</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b="0" i="0" u="none" strike="noStrike" cap="none" baseline="0" dirty="0">
                          <a:solidFill>
                            <a:schemeClr val="tx1"/>
                          </a:solidFill>
                          <a:latin typeface="+mn-lt"/>
                          <a:ea typeface="+mn-ea"/>
                          <a:cs typeface="+mn-cs"/>
                          <a:sym typeface="Arial"/>
                        </a:rPr>
                        <a:t>High</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32000" indent="-432000">
                        <a:buClr>
                          <a:schemeClr val="tx2"/>
                        </a:buClr>
                        <a:buFont typeface="+mj-lt"/>
                        <a:buAutoNum type="arabicPeriod"/>
                      </a:pPr>
                      <a:r>
                        <a:rPr lang="en-IN" sz="1200" b="0" i="0" u="none" strike="noStrike" cap="none" baseline="0" dirty="0">
                          <a:solidFill>
                            <a:schemeClr val="tx1"/>
                          </a:solidFill>
                          <a:latin typeface="+mn-lt"/>
                          <a:ea typeface="+mn-ea"/>
                          <a:cs typeface="+mn-cs"/>
                          <a:sym typeface="Arial"/>
                        </a:rPr>
                        <a:t>Contingency planning—backup e-mail service</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4</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1.</a:t>
                      </a:r>
                      <a:endParaRPr lang="en-IN"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2666961"/>
                  </a:ext>
                </a:extLst>
              </a:tr>
            </a:tbl>
          </a:graphicData>
        </a:graphic>
      </p:graphicFrame>
    </p:spTree>
    <p:extLst>
      <p:ext uri="{BB962C8B-B14F-4D97-AF65-F5344CB8AC3E}">
        <p14:creationId xmlns:p14="http://schemas.microsoft.com/office/powerpoint/2010/main" val="4411743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Report – Capture All relevant information </a:t>
            </a:r>
          </a:p>
          <a:p>
            <a:pPr marL="432" indent="0">
              <a:spcBef>
                <a:spcPts val="600"/>
              </a:spcBef>
              <a:buNone/>
            </a:pPr>
            <a:r>
              <a:rPr lang="en-US" sz="1600" b="1" dirty="0"/>
              <a:t>Investigation</a:t>
            </a:r>
          </a:p>
          <a:p>
            <a:pPr marL="432" indent="0">
              <a:spcBef>
                <a:spcPts val="600"/>
              </a:spcBef>
              <a:buNone/>
            </a:pPr>
            <a:r>
              <a:rPr lang="en-US" sz="1600" b="1" dirty="0"/>
              <a:t>Assessment</a:t>
            </a:r>
          </a:p>
          <a:p>
            <a:pPr marL="432" indent="0">
              <a:spcBef>
                <a:spcPts val="600"/>
              </a:spcBef>
              <a:buNone/>
            </a:pPr>
            <a:r>
              <a:rPr lang="en-US" sz="1600" b="1" dirty="0"/>
              <a:t>Corrections</a:t>
            </a:r>
          </a:p>
          <a:p>
            <a:pPr marL="432" indent="0">
              <a:spcBef>
                <a:spcPts val="600"/>
              </a:spcBef>
              <a:buNone/>
            </a:pPr>
            <a:r>
              <a:rPr lang="en-US" sz="1600" b="1" dirty="0"/>
              <a:t>Review</a:t>
            </a:r>
          </a:p>
        </p:txBody>
      </p:sp>
    </p:spTree>
    <p:extLst>
      <p:ext uri="{BB962C8B-B14F-4D97-AF65-F5344CB8AC3E}">
        <p14:creationId xmlns:p14="http://schemas.microsoft.com/office/powerpoint/2010/main" val="14376753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Report – Capture All relevant information</a:t>
            </a:r>
          </a:p>
          <a:p>
            <a:pPr marL="400482" lvl="1" indent="0">
              <a:spcBef>
                <a:spcPts val="600"/>
              </a:spcBef>
            </a:pPr>
            <a:r>
              <a:rPr lang="en-US" sz="1600" b="1" dirty="0"/>
              <a:t>Time, location, responder, asset, description, impact, actions taken </a:t>
            </a:r>
          </a:p>
          <a:p>
            <a:pPr marL="432" indent="0">
              <a:spcBef>
                <a:spcPts val="600"/>
              </a:spcBef>
              <a:buNone/>
            </a:pPr>
            <a:r>
              <a:rPr lang="en-US" sz="1600" b="1" dirty="0"/>
              <a:t>Investigation</a:t>
            </a:r>
          </a:p>
          <a:p>
            <a:pPr marL="432" indent="0">
              <a:spcBef>
                <a:spcPts val="600"/>
              </a:spcBef>
              <a:buNone/>
            </a:pPr>
            <a:r>
              <a:rPr lang="en-US" sz="1600" b="1" dirty="0"/>
              <a:t>Assessment</a:t>
            </a:r>
          </a:p>
          <a:p>
            <a:pPr marL="432" indent="0">
              <a:spcBef>
                <a:spcPts val="600"/>
              </a:spcBef>
              <a:buNone/>
            </a:pPr>
            <a:r>
              <a:rPr lang="en-US" sz="1600" b="1" dirty="0"/>
              <a:t>Corrections</a:t>
            </a:r>
          </a:p>
          <a:p>
            <a:pPr marL="432" indent="0">
              <a:spcBef>
                <a:spcPts val="600"/>
              </a:spcBef>
              <a:buNone/>
            </a:pPr>
            <a:r>
              <a:rPr lang="en-US" sz="1600" b="1" dirty="0"/>
              <a:t>Review</a:t>
            </a:r>
          </a:p>
        </p:txBody>
      </p:sp>
    </p:spTree>
    <p:extLst>
      <p:ext uri="{BB962C8B-B14F-4D97-AF65-F5344CB8AC3E}">
        <p14:creationId xmlns:p14="http://schemas.microsoft.com/office/powerpoint/2010/main" val="23875530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Report – Capture All relevant information</a:t>
            </a:r>
          </a:p>
          <a:p>
            <a:pPr marL="432" indent="0">
              <a:spcBef>
                <a:spcPts val="600"/>
              </a:spcBef>
              <a:buNone/>
            </a:pPr>
            <a:r>
              <a:rPr lang="en-US" sz="1600" b="1" dirty="0"/>
              <a:t>Investigation</a:t>
            </a:r>
          </a:p>
          <a:p>
            <a:pPr marL="400482" lvl="1" indent="0">
              <a:spcBef>
                <a:spcPts val="600"/>
              </a:spcBef>
            </a:pPr>
            <a:r>
              <a:rPr lang="en-US" sz="1600" b="1" dirty="0"/>
              <a:t>Collection of Evidence</a:t>
            </a:r>
          </a:p>
          <a:p>
            <a:pPr marL="400482" lvl="1" indent="0">
              <a:spcBef>
                <a:spcPts val="600"/>
              </a:spcBef>
            </a:pPr>
            <a:r>
              <a:rPr lang="en-US" sz="1600" b="1" dirty="0"/>
              <a:t>Analysis of Evidence</a:t>
            </a:r>
          </a:p>
          <a:p>
            <a:pPr marL="400482" lvl="1" indent="0">
              <a:spcBef>
                <a:spcPts val="600"/>
              </a:spcBef>
            </a:pPr>
            <a:r>
              <a:rPr lang="en-US" sz="1600" b="1" dirty="0"/>
              <a:t>Forensics Procedures</a:t>
            </a:r>
          </a:p>
          <a:p>
            <a:pPr marL="432" indent="0">
              <a:spcBef>
                <a:spcPts val="600"/>
              </a:spcBef>
              <a:buNone/>
            </a:pPr>
            <a:r>
              <a:rPr lang="en-US" sz="1600" b="1" dirty="0"/>
              <a:t>Assessment</a:t>
            </a:r>
          </a:p>
          <a:p>
            <a:pPr marL="432" indent="0">
              <a:spcBef>
                <a:spcPts val="600"/>
              </a:spcBef>
              <a:buNone/>
            </a:pPr>
            <a:r>
              <a:rPr lang="en-US" sz="1600" b="1" dirty="0"/>
              <a:t>Corrections</a:t>
            </a:r>
          </a:p>
          <a:p>
            <a:pPr marL="432" indent="0">
              <a:spcBef>
                <a:spcPts val="600"/>
              </a:spcBef>
              <a:buNone/>
            </a:pPr>
            <a:r>
              <a:rPr lang="en-US" sz="1600" b="1" dirty="0"/>
              <a:t>Review</a:t>
            </a:r>
          </a:p>
        </p:txBody>
      </p:sp>
    </p:spTree>
    <p:extLst>
      <p:ext uri="{BB962C8B-B14F-4D97-AF65-F5344CB8AC3E}">
        <p14:creationId xmlns:p14="http://schemas.microsoft.com/office/powerpoint/2010/main" val="36779332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Report – Capture All relevant information</a:t>
            </a:r>
          </a:p>
          <a:p>
            <a:pPr marL="432" indent="0">
              <a:spcBef>
                <a:spcPts val="600"/>
              </a:spcBef>
              <a:buNone/>
            </a:pPr>
            <a:r>
              <a:rPr lang="en-US" sz="1600" b="1" dirty="0"/>
              <a:t>Investigation</a:t>
            </a:r>
          </a:p>
          <a:p>
            <a:pPr marL="432" indent="0">
              <a:spcBef>
                <a:spcPts val="600"/>
              </a:spcBef>
              <a:buNone/>
            </a:pPr>
            <a:r>
              <a:rPr lang="en-US" sz="1600" b="1" dirty="0"/>
              <a:t>Assessment</a:t>
            </a:r>
          </a:p>
          <a:p>
            <a:pPr marL="400482" lvl="1" indent="0">
              <a:spcBef>
                <a:spcPts val="600"/>
              </a:spcBef>
            </a:pPr>
            <a:r>
              <a:rPr lang="en-US" sz="1600" b="1" dirty="0"/>
              <a:t>Review and make a decision</a:t>
            </a:r>
          </a:p>
          <a:p>
            <a:pPr marL="800532" lvl="2" indent="0">
              <a:spcBef>
                <a:spcPts val="600"/>
              </a:spcBef>
            </a:pPr>
            <a:r>
              <a:rPr lang="en-US" sz="1600" b="1" dirty="0"/>
              <a:t>Keep as single event</a:t>
            </a:r>
          </a:p>
          <a:p>
            <a:pPr marL="800532" lvl="2" indent="0">
              <a:spcBef>
                <a:spcPts val="600"/>
              </a:spcBef>
            </a:pPr>
            <a:r>
              <a:rPr lang="en-US" sz="1600" b="1" dirty="0"/>
              <a:t>Raise to security incident</a:t>
            </a:r>
          </a:p>
          <a:p>
            <a:pPr marL="400482" lvl="1" indent="0">
              <a:spcBef>
                <a:spcPts val="600"/>
              </a:spcBef>
            </a:pPr>
            <a:r>
              <a:rPr lang="en-US" sz="1600" b="1" dirty="0"/>
              <a:t>Trigger Response Procedures</a:t>
            </a:r>
          </a:p>
          <a:p>
            <a:pPr marL="400482" lvl="1" indent="0">
              <a:spcBef>
                <a:spcPts val="600"/>
              </a:spcBef>
            </a:pPr>
            <a:r>
              <a:rPr lang="en-US" sz="1600" b="1" dirty="0"/>
              <a:t>Log Decisions and actions</a:t>
            </a:r>
          </a:p>
          <a:p>
            <a:pPr marL="432" indent="0">
              <a:spcBef>
                <a:spcPts val="600"/>
              </a:spcBef>
              <a:buNone/>
            </a:pPr>
            <a:r>
              <a:rPr lang="en-US" sz="1600" b="1" dirty="0"/>
              <a:t>Corrections</a:t>
            </a:r>
          </a:p>
          <a:p>
            <a:pPr marL="432" indent="0">
              <a:spcBef>
                <a:spcPts val="600"/>
              </a:spcBef>
              <a:buNone/>
            </a:pPr>
            <a:r>
              <a:rPr lang="en-US" sz="1600" b="1" dirty="0"/>
              <a:t>Review</a:t>
            </a:r>
          </a:p>
        </p:txBody>
      </p:sp>
    </p:spTree>
    <p:extLst>
      <p:ext uri="{BB962C8B-B14F-4D97-AF65-F5344CB8AC3E}">
        <p14:creationId xmlns:p14="http://schemas.microsoft.com/office/powerpoint/2010/main" val="33947452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Report – Capture All relevant information </a:t>
            </a:r>
          </a:p>
          <a:p>
            <a:pPr marL="432" indent="0">
              <a:spcBef>
                <a:spcPts val="600"/>
              </a:spcBef>
              <a:buNone/>
            </a:pPr>
            <a:r>
              <a:rPr lang="en-US" sz="1600" b="1" dirty="0"/>
              <a:t>Investigation</a:t>
            </a:r>
          </a:p>
          <a:p>
            <a:pPr marL="432" indent="0">
              <a:spcBef>
                <a:spcPts val="600"/>
              </a:spcBef>
              <a:buNone/>
            </a:pPr>
            <a:r>
              <a:rPr lang="en-US" sz="1600" b="1" dirty="0"/>
              <a:t>Assessment</a:t>
            </a:r>
          </a:p>
          <a:p>
            <a:pPr marL="432" indent="0">
              <a:spcBef>
                <a:spcPts val="600"/>
              </a:spcBef>
              <a:buNone/>
            </a:pPr>
            <a:r>
              <a:rPr lang="en-US" sz="1600" b="1" dirty="0"/>
              <a:t>Corrections</a:t>
            </a:r>
          </a:p>
          <a:p>
            <a:pPr marL="400482" lvl="1" indent="0">
              <a:spcBef>
                <a:spcPts val="600"/>
              </a:spcBef>
            </a:pPr>
            <a:r>
              <a:rPr lang="en-US" sz="1600" b="1" dirty="0"/>
              <a:t>Apply actions to mitigate incident</a:t>
            </a:r>
          </a:p>
          <a:p>
            <a:pPr marL="400482" lvl="1" indent="0">
              <a:spcBef>
                <a:spcPts val="600"/>
              </a:spcBef>
            </a:pPr>
            <a:r>
              <a:rPr lang="en-US" sz="1600" b="1" dirty="0"/>
              <a:t>Examples:</a:t>
            </a:r>
          </a:p>
          <a:p>
            <a:pPr marL="800532" lvl="2" indent="0">
              <a:spcBef>
                <a:spcPts val="600"/>
              </a:spcBef>
            </a:pPr>
            <a:r>
              <a:rPr lang="en-US" sz="1600" b="1" dirty="0"/>
              <a:t>Backups</a:t>
            </a:r>
          </a:p>
          <a:p>
            <a:pPr marL="800532" lvl="2" indent="0">
              <a:spcBef>
                <a:spcPts val="600"/>
              </a:spcBef>
            </a:pPr>
            <a:r>
              <a:rPr lang="en-US" sz="1600" b="1" dirty="0"/>
              <a:t>Turn on servers</a:t>
            </a:r>
          </a:p>
          <a:p>
            <a:pPr marL="800532" lvl="2" indent="0">
              <a:spcBef>
                <a:spcPts val="600"/>
              </a:spcBef>
            </a:pPr>
            <a:r>
              <a:rPr lang="en-US" sz="1600" b="1" dirty="0"/>
              <a:t>Perform remote wipe</a:t>
            </a:r>
          </a:p>
          <a:p>
            <a:pPr marL="400482" lvl="1" indent="0">
              <a:spcBef>
                <a:spcPts val="600"/>
              </a:spcBef>
            </a:pPr>
            <a:r>
              <a:rPr lang="en-US" sz="1600" b="1" dirty="0"/>
              <a:t>Corrective actions should be logged</a:t>
            </a:r>
          </a:p>
          <a:p>
            <a:pPr marL="432" indent="0">
              <a:spcBef>
                <a:spcPts val="600"/>
              </a:spcBef>
              <a:buNone/>
            </a:pPr>
            <a:r>
              <a:rPr lang="en-US" sz="1600" b="1" dirty="0"/>
              <a:t>Review</a:t>
            </a:r>
          </a:p>
        </p:txBody>
      </p:sp>
    </p:spTree>
    <p:extLst>
      <p:ext uri="{BB962C8B-B14F-4D97-AF65-F5344CB8AC3E}">
        <p14:creationId xmlns:p14="http://schemas.microsoft.com/office/powerpoint/2010/main" val="28154588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Report – Capture All relevant information </a:t>
            </a:r>
          </a:p>
          <a:p>
            <a:pPr marL="432" indent="0">
              <a:spcBef>
                <a:spcPts val="600"/>
              </a:spcBef>
              <a:buNone/>
            </a:pPr>
            <a:r>
              <a:rPr lang="en-US" sz="1600" b="1" dirty="0"/>
              <a:t>Investigation</a:t>
            </a:r>
          </a:p>
          <a:p>
            <a:pPr marL="432" indent="0">
              <a:spcBef>
                <a:spcPts val="600"/>
              </a:spcBef>
              <a:buNone/>
            </a:pPr>
            <a:r>
              <a:rPr lang="en-US" sz="1600" b="1" dirty="0"/>
              <a:t>Assessment</a:t>
            </a:r>
          </a:p>
          <a:p>
            <a:pPr marL="432" indent="0">
              <a:spcBef>
                <a:spcPts val="600"/>
              </a:spcBef>
              <a:buNone/>
            </a:pPr>
            <a:r>
              <a:rPr lang="en-US" sz="1600" b="1" dirty="0"/>
              <a:t>Corrections</a:t>
            </a:r>
          </a:p>
          <a:p>
            <a:pPr marL="432" indent="0">
              <a:spcBef>
                <a:spcPts val="600"/>
              </a:spcBef>
              <a:buNone/>
            </a:pPr>
            <a:r>
              <a:rPr lang="en-US" sz="1600" b="1" dirty="0"/>
              <a:t>Review</a:t>
            </a:r>
          </a:p>
          <a:p>
            <a:pPr marL="400482" lvl="1" indent="0">
              <a:spcBef>
                <a:spcPts val="600"/>
              </a:spcBef>
            </a:pPr>
            <a:r>
              <a:rPr lang="en-US" sz="1600" b="1" dirty="0"/>
              <a:t>Check actions are being implemented</a:t>
            </a:r>
          </a:p>
          <a:p>
            <a:pPr marL="400482" lvl="1" indent="0">
              <a:spcBef>
                <a:spcPts val="600"/>
              </a:spcBef>
            </a:pPr>
            <a:r>
              <a:rPr lang="en-US" sz="1600" b="1" dirty="0"/>
              <a:t>Review controls and processes that failed</a:t>
            </a:r>
          </a:p>
          <a:p>
            <a:pPr marL="400482" lvl="1" indent="0">
              <a:spcBef>
                <a:spcPts val="600"/>
              </a:spcBef>
            </a:pPr>
            <a:r>
              <a:rPr lang="en-US" sz="1600" b="1" dirty="0"/>
              <a:t>Update and trigger processes</a:t>
            </a:r>
          </a:p>
        </p:txBody>
      </p:sp>
    </p:spTree>
    <p:extLst>
      <p:ext uri="{BB962C8B-B14F-4D97-AF65-F5344CB8AC3E}">
        <p14:creationId xmlns:p14="http://schemas.microsoft.com/office/powerpoint/2010/main" val="33425394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C00000"/>
                </a:solidFill>
              </a:rPr>
              <a:t>Incident Management – ISO 27002</a:t>
            </a:r>
            <a:endParaRPr lang="en-US" sz="2000" b="0" dirty="0">
              <a:solidFill>
                <a:srgbClr val="C00000"/>
              </a:solidFill>
            </a:endParaRPr>
          </a:p>
        </p:txBody>
      </p:sp>
      <p:sp>
        <p:nvSpPr>
          <p:cNvPr id="4" name="Content Placeholder 3"/>
          <p:cNvSpPr>
            <a:spLocks noGrp="1"/>
          </p:cNvSpPr>
          <p:nvPr>
            <p:ph sz="quarter" idx="13"/>
          </p:nvPr>
        </p:nvSpPr>
        <p:spPr>
          <a:xfrm>
            <a:off x="457200" y="1286146"/>
            <a:ext cx="8229600" cy="4788911"/>
          </a:xfrm>
        </p:spPr>
        <p:txBody>
          <a:bodyPr/>
          <a:lstStyle/>
          <a:p>
            <a:pPr marL="432" indent="0">
              <a:spcBef>
                <a:spcPts val="600"/>
              </a:spcBef>
              <a:buNone/>
            </a:pPr>
            <a:r>
              <a:rPr lang="en-US" sz="1600" b="1" dirty="0"/>
              <a:t>Business continuity plan</a:t>
            </a:r>
          </a:p>
          <a:p>
            <a:pPr marL="400482" lvl="1" indent="0">
              <a:spcBef>
                <a:spcPts val="600"/>
              </a:spcBef>
            </a:pPr>
            <a:r>
              <a:rPr lang="en-US" sz="1600" b="1" dirty="0"/>
              <a:t>Prioritize correction phase over other phases</a:t>
            </a:r>
          </a:p>
          <a:p>
            <a:pPr marL="400482" lvl="1" indent="0">
              <a:spcBef>
                <a:spcPts val="600"/>
              </a:spcBef>
            </a:pPr>
            <a:r>
              <a:rPr lang="en-US" sz="1600" b="1" dirty="0"/>
              <a:t>Top priority is to keep business running</a:t>
            </a:r>
          </a:p>
          <a:p>
            <a:pPr marL="400482" lvl="1" indent="0">
              <a:spcBef>
                <a:spcPts val="600"/>
              </a:spcBef>
            </a:pPr>
            <a:r>
              <a:rPr lang="en-US" sz="1600" b="1" dirty="0"/>
              <a:t>Triggered by severe incidents</a:t>
            </a:r>
          </a:p>
        </p:txBody>
      </p:sp>
    </p:spTree>
    <p:extLst>
      <p:ext uri="{BB962C8B-B14F-4D97-AF65-F5344CB8AC3E}">
        <p14:creationId xmlns:p14="http://schemas.microsoft.com/office/powerpoint/2010/main" val="35540349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Summary</a:t>
            </a:r>
          </a:p>
        </p:txBody>
      </p:sp>
      <p:sp>
        <p:nvSpPr>
          <p:cNvPr id="3" name="Content Placeholder 2"/>
          <p:cNvSpPr>
            <a:spLocks noGrp="1"/>
          </p:cNvSpPr>
          <p:nvPr>
            <p:ph sz="quarter" idx="13"/>
          </p:nvPr>
        </p:nvSpPr>
        <p:spPr>
          <a:xfrm>
            <a:off x="457200" y="1556326"/>
            <a:ext cx="3544784" cy="4609343"/>
          </a:xfrm>
        </p:spPr>
        <p:txBody>
          <a:bodyPr/>
          <a:lstStyle/>
          <a:p>
            <a:r>
              <a:rPr lang="en-US" sz="2200" dirty="0"/>
              <a:t>I</a:t>
            </a:r>
            <a:r>
              <a:rPr lang="en-US" sz="100" dirty="0"/>
              <a:t> </a:t>
            </a:r>
            <a:r>
              <a:rPr lang="en-US" sz="2200" dirty="0"/>
              <a:t>T security management implementation</a:t>
            </a:r>
          </a:p>
          <a:p>
            <a:r>
              <a:rPr lang="en-US" sz="2200" dirty="0"/>
              <a:t>Security controls or safeguards</a:t>
            </a:r>
          </a:p>
          <a:p>
            <a:r>
              <a:rPr lang="en-US" sz="2200" dirty="0"/>
              <a:t>I</a:t>
            </a:r>
            <a:r>
              <a:rPr lang="en-US" sz="100" dirty="0"/>
              <a:t> </a:t>
            </a:r>
            <a:r>
              <a:rPr lang="en-US" sz="2200" dirty="0"/>
              <a:t>T security plan</a:t>
            </a:r>
          </a:p>
          <a:p>
            <a:r>
              <a:rPr lang="en-US" sz="2200" dirty="0"/>
              <a:t>Implementation of controls</a:t>
            </a:r>
          </a:p>
          <a:p>
            <a:pPr lvl="1"/>
            <a:r>
              <a:rPr lang="en-US" sz="2200" dirty="0"/>
              <a:t>Implementation of security plan</a:t>
            </a:r>
          </a:p>
          <a:p>
            <a:pPr lvl="1"/>
            <a:r>
              <a:rPr lang="en-US" sz="2200" dirty="0"/>
              <a:t>Security awareness and training</a:t>
            </a:r>
          </a:p>
        </p:txBody>
      </p:sp>
      <p:sp>
        <p:nvSpPr>
          <p:cNvPr id="5" name="Content Placeholder 4"/>
          <p:cNvSpPr>
            <a:spLocks noGrp="1"/>
          </p:cNvSpPr>
          <p:nvPr>
            <p:ph sz="quarter" idx="14"/>
          </p:nvPr>
        </p:nvSpPr>
        <p:spPr>
          <a:xfrm>
            <a:off x="4667003" y="1557339"/>
            <a:ext cx="4019797" cy="4608330"/>
          </a:xfrm>
        </p:spPr>
        <p:txBody>
          <a:bodyPr/>
          <a:lstStyle/>
          <a:p>
            <a:r>
              <a:rPr lang="en-US" sz="2200" dirty="0"/>
              <a:t>Monitoring risks</a:t>
            </a:r>
          </a:p>
          <a:p>
            <a:pPr lvl="1"/>
            <a:r>
              <a:rPr lang="en-US" sz="2200" dirty="0"/>
              <a:t>Maintenance</a:t>
            </a:r>
          </a:p>
          <a:p>
            <a:pPr lvl="1"/>
            <a:r>
              <a:rPr lang="en-US" sz="2200" dirty="0"/>
              <a:t>Security compliance</a:t>
            </a:r>
          </a:p>
          <a:p>
            <a:pPr lvl="1"/>
            <a:r>
              <a:rPr lang="en-US" sz="2200" dirty="0"/>
              <a:t>Change and configuration management</a:t>
            </a:r>
          </a:p>
          <a:p>
            <a:pPr lvl="1"/>
            <a:r>
              <a:rPr lang="en-US" sz="2200" dirty="0"/>
              <a:t>Incident handling</a:t>
            </a:r>
          </a:p>
          <a:p>
            <a:r>
              <a:rPr lang="en-US" sz="2200" dirty="0"/>
              <a:t>Case study: Silver Star Mines</a:t>
            </a:r>
          </a:p>
        </p:txBody>
      </p:sp>
    </p:spTree>
    <p:extLst>
      <p:ext uri="{BB962C8B-B14F-4D97-AF65-F5344CB8AC3E}">
        <p14:creationId xmlns:p14="http://schemas.microsoft.com/office/powerpoint/2010/main" val="153993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2PSBATCH" val="latex --interaction=nonstopmode $(base).tex; dvips -D $(res) -E -o $(base).ps $(base).dvi"/>
  <p:tag name="TEXPOINTINIT" val=""/>
  <p:tag name="USEAMSFONTS" val="Fals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2"/>
  <p:tag name="DEFAULTFONTSIZE" val="10"/>
  <p:tag name="DEFAULTWIDTH" val="348"/>
  <p:tag name="DEFAULTHEIGHT" val="200"/>
  <p:tag name="FIRSTMEILIN@8OHDPYNFUVWXYL65" val="3173"/>
</p:tagLst>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0</TotalTime>
  <Words>18183</Words>
  <Application>Microsoft Office PowerPoint</Application>
  <PresentationFormat>On-screen Show (4:3)</PresentationFormat>
  <Paragraphs>1248</Paragraphs>
  <Slides>82</Slides>
  <Notes>78</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82</vt:i4>
      </vt:variant>
    </vt:vector>
  </HeadingPairs>
  <TitlesOfParts>
    <vt:vector size="97" baseType="lpstr">
      <vt:lpstr>Courier</vt:lpstr>
      <vt:lpstr>MS PGothic</vt:lpstr>
      <vt:lpstr>Roboto-Regular</vt:lpstr>
      <vt:lpstr>SimSun</vt:lpstr>
      <vt:lpstr>SimSun</vt:lpstr>
      <vt:lpstr>Arial</vt:lpstr>
      <vt:lpstr>Lucida Sans Unicode</vt:lpstr>
      <vt:lpstr>Source Sans Pro</vt:lpstr>
      <vt:lpstr>Symbol</vt:lpstr>
      <vt:lpstr>Times</vt:lpstr>
      <vt:lpstr>Times New Roman</vt:lpstr>
      <vt:lpstr>Trebuchet MS</vt:lpstr>
      <vt:lpstr>Wingdings</vt:lpstr>
      <vt:lpstr>Default Design</vt:lpstr>
      <vt:lpstr>Document</vt:lpstr>
      <vt:lpstr>CEG4424/6424 Security Attacks and Defenses  Risk Management</vt:lpstr>
      <vt:lpstr>Overview</vt:lpstr>
      <vt:lpstr>IT Security Management</vt:lpstr>
      <vt:lpstr>ISO 27000 Security Standards</vt:lpstr>
      <vt:lpstr>ISO 27000 Security Standards</vt:lpstr>
      <vt:lpstr>ISO 27000 Security Standards</vt:lpstr>
      <vt:lpstr>NIST Risk Management</vt:lpstr>
      <vt:lpstr>IT Security Management Process</vt:lpstr>
      <vt:lpstr>ISO 27003 :Plan - Do - Check – Act</vt:lpstr>
      <vt:lpstr>Organizational Context and Security Policy</vt:lpstr>
      <vt:lpstr>Security Policy: Topics to Cover</vt:lpstr>
      <vt:lpstr>Security Policy: Topics to Cover</vt:lpstr>
      <vt:lpstr>Management Support</vt:lpstr>
      <vt:lpstr>Risk Management</vt:lpstr>
      <vt:lpstr>Security Risk Assessment</vt:lpstr>
      <vt:lpstr>Baseline Approach</vt:lpstr>
      <vt:lpstr>Informal Approach</vt:lpstr>
      <vt:lpstr>Detailed Risk Analysis</vt:lpstr>
      <vt:lpstr>Combined Approach</vt:lpstr>
      <vt:lpstr>Detailed Security Risk Analysis</vt:lpstr>
      <vt:lpstr>Figure 14.3 Risk Assessment Process</vt:lpstr>
      <vt:lpstr>Establishing the Context</vt:lpstr>
      <vt:lpstr>Figure 14.4 Generic Organizational Risk Context</vt:lpstr>
      <vt:lpstr>Asset Identification</vt:lpstr>
      <vt:lpstr>Terminology</vt:lpstr>
      <vt:lpstr>Threat Identification</vt:lpstr>
      <vt:lpstr>Threat Sources</vt:lpstr>
      <vt:lpstr>Threat Identification</vt:lpstr>
      <vt:lpstr>Vulnerability Identification</vt:lpstr>
      <vt:lpstr>Security Analysis</vt:lpstr>
      <vt:lpstr>Analyze Risks</vt:lpstr>
      <vt:lpstr>Determine Likelihood</vt:lpstr>
      <vt:lpstr>Determine Consequence</vt:lpstr>
      <vt:lpstr>Determine Resultant Risk</vt:lpstr>
      <vt:lpstr>Document in Risk Register and Evaluate Risks</vt:lpstr>
      <vt:lpstr>Risk Treatment</vt:lpstr>
      <vt:lpstr>Risk Treatment Alternatives</vt:lpstr>
      <vt:lpstr>Risk Management – Iterative Process</vt:lpstr>
      <vt:lpstr>Case Study: Silver Star Mines</vt:lpstr>
      <vt:lpstr>Assets</vt:lpstr>
      <vt:lpstr>Assets</vt:lpstr>
      <vt:lpstr>Threats &amp; Vulnerabilities</vt:lpstr>
      <vt:lpstr>Risk Register</vt:lpstr>
      <vt:lpstr>Summary</vt:lpstr>
      <vt:lpstr>Figure 15.1 I T Security Management Controls and Implementation</vt:lpstr>
      <vt:lpstr>Security Control</vt:lpstr>
      <vt:lpstr>Security Control</vt:lpstr>
      <vt:lpstr>Security Management</vt:lpstr>
      <vt:lpstr>Security Development Lifecycle</vt:lpstr>
      <vt:lpstr>Control Classifications</vt:lpstr>
      <vt:lpstr>Figure 15.2 Technical Security Controls</vt:lpstr>
      <vt:lpstr>Control Classes</vt:lpstr>
      <vt:lpstr>Table 15.1 N I S T S P 800-53 Security Controls</vt:lpstr>
      <vt:lpstr>Table 15.2 I S O/I E C 27002 Security Controls (1 of 2)</vt:lpstr>
      <vt:lpstr>Table 15.2 I S O/I E C 27002 Security Controls (2 of 2)</vt:lpstr>
      <vt:lpstr>Table 15.3 Detailed N I S T S P 800-53 Security Controls (1 of 8)</vt:lpstr>
      <vt:lpstr>Table 15.3 Detailed N I S T S P 800-53 Security Controls (2 of 8)</vt:lpstr>
      <vt:lpstr>Table 15.3 Detailed N I S T S P 800-53 Security Controls (3 of 8)</vt:lpstr>
      <vt:lpstr>Table 15.3 Detailed N I S T S P 800-53 Security Controls (4 of 8)</vt:lpstr>
      <vt:lpstr>Table 15.3 Detailed N I S T S P 800-53 Security Controls (5 of 8)</vt:lpstr>
      <vt:lpstr>Table 15.3 Detailed N I S T S P 800-53 Security Controls (6 of 8)</vt:lpstr>
      <vt:lpstr>Table 15.3 Detailed N I S T S P 800-53 Security Controls (7 of 8)</vt:lpstr>
      <vt:lpstr>Table 15.3 Detailed N I S T S P 800-53 Security Controls (8 of 8)</vt:lpstr>
      <vt:lpstr>Figure 15.3 Residual Risk</vt:lpstr>
      <vt:lpstr>Cost-Benefit Analysis</vt:lpstr>
      <vt:lpstr>I T Security Plan</vt:lpstr>
      <vt:lpstr>Table 15.4 Implementation Plan</vt:lpstr>
      <vt:lpstr>Security Plan Implementation</vt:lpstr>
      <vt:lpstr>Implementation Follow-Up</vt:lpstr>
      <vt:lpstr>Maintenance</vt:lpstr>
      <vt:lpstr>Security Compliance</vt:lpstr>
      <vt:lpstr>Change and Configuration Management</vt:lpstr>
      <vt:lpstr>Case Study: Silver Star Mines</vt:lpstr>
      <vt:lpstr>Table 15.5 Silver Star Mines: Implementation Plan</vt:lpstr>
      <vt:lpstr>Incident Management – ISO 27002</vt:lpstr>
      <vt:lpstr>Incident Management – ISO 27002</vt:lpstr>
      <vt:lpstr>Incident Management – ISO 27002</vt:lpstr>
      <vt:lpstr>Incident Management – ISO 27002</vt:lpstr>
      <vt:lpstr>Incident Management – ISO 27002</vt:lpstr>
      <vt:lpstr>Incident Management – ISO 27002</vt:lpstr>
      <vt:lpstr>Incident Management – ISO 27002</vt:lpstr>
      <vt:lpstr>Summary</vt:lpstr>
    </vt:vector>
  </TitlesOfParts>
  <Company>UTD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Dr. Edwin Sha Computer Science University of Texas at Dallas  http://www.utdallas.edu/~edsha edsha@utdallas.edu</dc:title>
  <dc:creator>edsha</dc:creator>
  <cp:lastModifiedBy>Meilin</cp:lastModifiedBy>
  <cp:revision>551</cp:revision>
  <cp:lastPrinted>2013-11-26T21:54:56Z</cp:lastPrinted>
  <dcterms:created xsi:type="dcterms:W3CDTF">2003-01-12T21:12:39Z</dcterms:created>
  <dcterms:modified xsi:type="dcterms:W3CDTF">2024-04-12T20:51:44Z</dcterms:modified>
</cp:coreProperties>
</file>