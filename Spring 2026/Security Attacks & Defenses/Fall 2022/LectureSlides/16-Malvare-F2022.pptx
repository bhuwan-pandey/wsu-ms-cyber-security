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96" r:id="rId7"/>
    <p:sldId id="297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95" r:id="rId17"/>
    <p:sldId id="269" r:id="rId18"/>
    <p:sldId id="289" r:id="rId19"/>
    <p:sldId id="290" r:id="rId20"/>
    <p:sldId id="291" r:id="rId21"/>
    <p:sldId id="292" r:id="rId22"/>
    <p:sldId id="293" r:id="rId23"/>
    <p:sldId id="294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80069" autoAdjust="0"/>
  </p:normalViewPr>
  <p:slideViewPr>
    <p:cSldViewPr snapToGrid="0" snapToObjects="1">
      <p:cViewPr varScale="1">
        <p:scale>
          <a:sx n="59" d="100"/>
          <a:sy n="59" d="100"/>
        </p:scale>
        <p:origin x="17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261AE-3279-2B40-971D-FE5BBF2C3878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787D6-74B1-B44D-8654-BCEE28471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09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Backdoor_(computing)" TargetMode="External"/><Relationship Id="rId7" Type="http://schemas.openxmlformats.org/officeDocument/2006/relationships/hyperlink" Target="http://en.wikipedia.org/wiki/Mimail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en.wikipedia.org/wiki/Windows_Explorer" TargetMode="External"/><Relationship Id="rId5" Type="http://schemas.openxmlformats.org/officeDocument/2006/relationships/hyperlink" Target="http://en.wikipedia.org/wiki/Child_process" TargetMode="External"/><Relationship Id="rId4" Type="http://schemas.openxmlformats.org/officeDocument/2006/relationships/hyperlink" Target="http://en.wikipedia.org/wiki/TCP_and_UDP_port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Backdoor_(computing)" TargetMode="External"/><Relationship Id="rId7" Type="http://schemas.openxmlformats.org/officeDocument/2006/relationships/hyperlink" Target="http://en.wikipedia.org/wiki/Mimail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en.wikipedia.org/wiki/Windows_Explorer" TargetMode="External"/><Relationship Id="rId5" Type="http://schemas.openxmlformats.org/officeDocument/2006/relationships/hyperlink" Target="http://en.wikipedia.org/wiki/Child_process" TargetMode="External"/><Relationship Id="rId4" Type="http://schemas.openxmlformats.org/officeDocument/2006/relationships/hyperlink" Target="http://en.wikipedia.org/wiki/TCP_and_UDP_port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5A16E4E-133E-4D66-97C0-022C10009D7B}" type="slidenum">
              <a:rPr kumimoji="0" lang="en-US" altLang="en-US" sz="1300"/>
              <a:pPr eaLnBrk="1" hangingPunct="1">
                <a:spcBef>
                  <a:spcPct val="0"/>
                </a:spcBef>
              </a:pPr>
              <a:t>2</a:t>
            </a:fld>
            <a:endParaRPr kumimoji="0"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06653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5351FA1-B7A6-4BCC-9103-EC1B962A0C3D}" type="slidenum">
              <a:rPr kumimoji="0" lang="en-US" altLang="en-US" sz="1300"/>
              <a:pPr eaLnBrk="1" hangingPunct="1">
                <a:spcBef>
                  <a:spcPct val="0"/>
                </a:spcBef>
              </a:pPr>
              <a:t>5</a:t>
            </a:fld>
            <a:endParaRPr kumimoji="0" lang="en-US" altLang="en-US" sz="13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/>
              <a:t>MyDoom worm:  Places a </a:t>
            </a:r>
            <a:r>
              <a:rPr lang="en-US" altLang="en-US" smtClean="0">
                <a:hlinkClick r:id="rId3" tooltip="Backdoor (computing)"/>
              </a:rPr>
              <a:t>backdoor</a:t>
            </a:r>
            <a:r>
              <a:rPr lang="en-US" altLang="en-US" smtClean="0"/>
              <a:t> on </a:t>
            </a:r>
            <a:r>
              <a:rPr lang="en-US" altLang="en-US" smtClean="0">
                <a:hlinkClick r:id="rId4" tooltip="TCP and UDP port"/>
              </a:rPr>
              <a:t>port</a:t>
            </a:r>
            <a:r>
              <a:rPr lang="en-US" altLang="en-US" smtClean="0"/>
              <a:t> 3127/tcp to allow remote control of the subverted PC (by putting its own SHIMGAPI.DLL file in the system32 directory and launching it as a </a:t>
            </a:r>
            <a:r>
              <a:rPr lang="en-US" altLang="en-US" smtClean="0">
                <a:hlinkClick r:id="rId5" tooltip="Child process"/>
              </a:rPr>
              <a:t>child process</a:t>
            </a:r>
            <a:r>
              <a:rPr lang="en-US" altLang="en-US" smtClean="0"/>
              <a:t> of the </a:t>
            </a:r>
            <a:r>
              <a:rPr lang="en-US" altLang="en-US" smtClean="0">
                <a:hlinkClick r:id="rId6" tooltip="Windows Explorer"/>
              </a:rPr>
              <a:t>Windows Explorer</a:t>
            </a:r>
            <a:r>
              <a:rPr lang="en-US" altLang="en-US" smtClean="0"/>
              <a:t>); this is essentially the same backdoor used by </a:t>
            </a:r>
            <a:r>
              <a:rPr lang="en-US" altLang="en-US" smtClean="0">
                <a:hlinkClick r:id="rId7" tooltip="Mimail"/>
              </a:rPr>
              <a:t>Mimail</a:t>
            </a:r>
            <a:r>
              <a:rPr lang="en-US" altLang="en-US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56946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5351FA1-B7A6-4BCC-9103-EC1B962A0C3D}" type="slidenum">
              <a:rPr kumimoji="0" lang="en-US" altLang="en-US" sz="1300"/>
              <a:pPr eaLnBrk="1" hangingPunct="1">
                <a:spcBef>
                  <a:spcPct val="0"/>
                </a:spcBef>
              </a:pPr>
              <a:t>6</a:t>
            </a:fld>
            <a:endParaRPr kumimoji="0" lang="en-US" altLang="en-US" sz="13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/>
              <a:t>MyDoom worm:  Places a </a:t>
            </a:r>
            <a:r>
              <a:rPr lang="en-US" altLang="en-US" smtClean="0">
                <a:hlinkClick r:id="rId3" tooltip="Backdoor (computing)"/>
              </a:rPr>
              <a:t>backdoor</a:t>
            </a:r>
            <a:r>
              <a:rPr lang="en-US" altLang="en-US" smtClean="0"/>
              <a:t> on </a:t>
            </a:r>
            <a:r>
              <a:rPr lang="en-US" altLang="en-US" smtClean="0">
                <a:hlinkClick r:id="rId4" tooltip="TCP and UDP port"/>
              </a:rPr>
              <a:t>port</a:t>
            </a:r>
            <a:r>
              <a:rPr lang="en-US" altLang="en-US" smtClean="0"/>
              <a:t> 3127/tcp to allow remote control of the subverted PC (by putting its own SHIMGAPI.DLL file in the system32 directory and launching it as a </a:t>
            </a:r>
            <a:r>
              <a:rPr lang="en-US" altLang="en-US" smtClean="0">
                <a:hlinkClick r:id="rId5" tooltip="Child process"/>
              </a:rPr>
              <a:t>child process</a:t>
            </a:r>
            <a:r>
              <a:rPr lang="en-US" altLang="en-US" smtClean="0"/>
              <a:t> of the </a:t>
            </a:r>
            <a:r>
              <a:rPr lang="en-US" altLang="en-US" smtClean="0">
                <a:hlinkClick r:id="rId6" tooltip="Windows Explorer"/>
              </a:rPr>
              <a:t>Windows Explorer</a:t>
            </a:r>
            <a:r>
              <a:rPr lang="en-US" altLang="en-US" smtClean="0"/>
              <a:t>); this is essentially the same backdoor used by </a:t>
            </a:r>
            <a:r>
              <a:rPr lang="en-US" altLang="en-US" smtClean="0">
                <a:hlinkClick r:id="rId7" tooltip="Mimail"/>
              </a:rPr>
              <a:t>Mimail</a:t>
            </a:r>
            <a:r>
              <a:rPr lang="en-US" altLang="en-US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15856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5351FA1-B7A6-4BCC-9103-EC1B962A0C3D}" type="slidenum">
              <a:rPr kumimoji="0" lang="en-US" altLang="en-US" sz="1300"/>
              <a:pPr eaLnBrk="1" hangingPunct="1">
                <a:spcBef>
                  <a:spcPct val="0"/>
                </a:spcBef>
              </a:pPr>
              <a:t>7</a:t>
            </a:fld>
            <a:endParaRPr kumimoji="0" lang="en-US" altLang="en-US" sz="13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3622452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ABD9F5F-B152-4C6D-B740-429718537AAC}" type="slidenum">
              <a:rPr kumimoji="0" lang="en-US" altLang="en-US" sz="1300"/>
              <a:pPr eaLnBrk="1" hangingPunct="1">
                <a:spcBef>
                  <a:spcPct val="0"/>
                </a:spcBef>
              </a:pPr>
              <a:t>8</a:t>
            </a:fld>
            <a:endParaRPr kumimoji="0" lang="en-US" altLang="en-US" sz="13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95484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mtClean="0"/>
              <a:t>Zili Shao</a:t>
            </a:r>
            <a:endParaRPr lang="en-US" altLang="zh-CN" smtClean="0"/>
          </a:p>
        </p:txBody>
      </p:sp>
      <p:sp>
        <p:nvSpPr>
          <p:cNvPr id="3174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6452A63-AB47-4D4A-8559-E6646C839FEE}" type="slidenum">
              <a:rPr lang="zh-CN" altLang="en-US" smtClean="0"/>
              <a:pPr>
                <a:spcBef>
                  <a:spcPct val="0"/>
                </a:spcBef>
              </a:pPr>
              <a:t>16</a:t>
            </a:fld>
            <a:endParaRPr lang="en-US" altLang="zh-CN" smtClean="0"/>
          </a:p>
        </p:txBody>
      </p:sp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5963" y="4487863"/>
            <a:ext cx="5730875" cy="4252912"/>
          </a:xfrm>
          <a:noFill/>
        </p:spPr>
        <p:txBody>
          <a:bodyPr/>
          <a:lstStyle/>
          <a:p>
            <a:pPr eaLnBrk="1" hangingPunct="1"/>
            <a:endParaRPr lang="en-AU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332854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smtClean="0"/>
              <a:t>Software installed before EULAs are shown. EULA: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 User License Agreement.</a:t>
            </a:r>
          </a:p>
          <a:p>
            <a:r>
              <a:rPr lang="en-US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rootkit</a:t>
            </a:r>
            <a:r>
              <a:rPr lang="en-US" altLang="en-US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set of programs installed on a system to maintain administrator (or root) access to that system. </a:t>
            </a:r>
          </a:p>
          <a:p>
            <a:endParaRPr lang="en-US" altLang="en-US" sz="1200" b="1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en-US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rootkit alters the host’s standard functionality in a malicious and stealthy way. </a:t>
            </a:r>
          </a:p>
          <a:p>
            <a:endParaRPr lang="en-US" alt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en-US" dirty="0" smtClean="0"/>
          </a:p>
          <a:p>
            <a:r>
              <a:rPr lang="en-US" altLang="en-US" dirty="0" smtClean="0"/>
              <a:t>The supposed rootkit removal didn’t remove the software, simply unhide the files.  </a:t>
            </a:r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ED74270-CE7E-4517-AE41-4CB8ECB680B0}" type="slidenum">
              <a:rPr kumimoji="0" lang="en-US" altLang="en-US" sz="1300"/>
              <a:pPr eaLnBrk="1" hangingPunct="1">
                <a:spcBef>
                  <a:spcPct val="0"/>
                </a:spcBef>
              </a:pPr>
              <a:t>20</a:t>
            </a:fld>
            <a:endParaRPr kumimoji="0"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753909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It appears these are the four primary ways.</a:t>
            </a:r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C8F8D37-5C24-4E2B-BF5C-B23913099F31}" type="slidenum">
              <a:rPr kumimoji="0" lang="en-US" altLang="en-US" sz="1300"/>
              <a:pPr eaLnBrk="1" hangingPunct="1">
                <a:spcBef>
                  <a:spcPct val="0"/>
                </a:spcBef>
              </a:pPr>
              <a:t>23</a:t>
            </a:fld>
            <a:endParaRPr kumimoji="0"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412895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86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13607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172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9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4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970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8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909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95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3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5A904-05D1-2E4C-BE20-0B31593015EC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245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Filesystem_permission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71097"/>
            <a:ext cx="7772400" cy="1470025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Malware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3886200"/>
            <a:ext cx="7658100" cy="1752600"/>
          </a:xfrm>
        </p:spPr>
        <p:txBody>
          <a:bodyPr/>
          <a:lstStyle/>
          <a:p>
            <a:pPr algn="l"/>
            <a:r>
              <a:rPr lang="en-US" altLang="en-US" dirty="0">
                <a:solidFill>
                  <a:schemeClr val="tx1"/>
                </a:solidFill>
              </a:rPr>
              <a:t>This lecture is mainly based on the </a:t>
            </a:r>
            <a:r>
              <a:rPr lang="en-US" altLang="en-US" dirty="0" err="1">
                <a:solidFill>
                  <a:schemeClr val="tx1"/>
                </a:solidFill>
              </a:rPr>
              <a:t>powerpoint</a:t>
            </a:r>
            <a:r>
              <a:rPr lang="en-US" altLang="en-US" dirty="0">
                <a:solidFill>
                  <a:schemeClr val="tx1"/>
                </a:solidFill>
              </a:rPr>
              <a:t> slides by Prof. Mark Stamp.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65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4638F8C-8940-4B91-8FEA-EE2EA52730C0}" type="slidenum">
              <a:rPr lang="en-US" altLang="en-US" sz="1400">
                <a:solidFill>
                  <a:srgbClr val="254C9C"/>
                </a:solidFill>
                <a:latin typeface="Arial" panose="020B0604020202020204" pitchFamily="34" charset="0"/>
              </a:rPr>
              <a:pPr eaLnBrk="1" hangingPunct="1"/>
              <a:t>2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 smtClean="0"/>
              <a:t>Topics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5257800" cy="41148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en-US" dirty="0" smtClean="0"/>
              <a:t>Topics</a:t>
            </a:r>
          </a:p>
          <a:p>
            <a:pPr lvl="1" eaLnBrk="1" hangingPunct="1">
              <a:spcBef>
                <a:spcPct val="0"/>
              </a:spcBef>
              <a:buFontTx/>
              <a:buChar char="•"/>
            </a:pPr>
            <a:r>
              <a:rPr lang="en-US" altLang="en-US" dirty="0" smtClean="0"/>
              <a:t>Malware</a:t>
            </a:r>
          </a:p>
          <a:p>
            <a:pPr lvl="1" eaLnBrk="1" hangingPunct="1">
              <a:spcBef>
                <a:spcPct val="0"/>
              </a:spcBef>
              <a:buFontTx/>
              <a:buChar char="•"/>
            </a:pPr>
            <a:r>
              <a:rPr lang="en-US" altLang="en-US" dirty="0" smtClean="0"/>
              <a:t>Computer Virus</a:t>
            </a:r>
          </a:p>
          <a:p>
            <a:pPr lvl="1" eaLnBrk="1" hangingPunct="1">
              <a:spcBef>
                <a:spcPct val="0"/>
              </a:spcBef>
              <a:buFontTx/>
              <a:buChar char="•"/>
            </a:pPr>
            <a:r>
              <a:rPr lang="en-US" altLang="en-US" dirty="0" smtClean="0"/>
              <a:t>Worm</a:t>
            </a:r>
          </a:p>
          <a:p>
            <a:pPr lvl="1" eaLnBrk="1" hangingPunct="1">
              <a:spcBef>
                <a:spcPct val="0"/>
              </a:spcBef>
              <a:buFontTx/>
              <a:buChar char="•"/>
            </a:pPr>
            <a:r>
              <a:rPr lang="en-US" altLang="en-US" dirty="0" smtClean="0"/>
              <a:t>Rootkit</a:t>
            </a:r>
          </a:p>
          <a:p>
            <a:pPr lvl="1" eaLnBrk="1" hangingPunct="1">
              <a:spcBef>
                <a:spcPct val="0"/>
              </a:spcBef>
              <a:buFontTx/>
              <a:buChar char="•"/>
            </a:pPr>
            <a:endParaRPr lang="en-US" altLang="en-US" dirty="0" smtClean="0"/>
          </a:p>
          <a:p>
            <a:pPr lvl="1" eaLnBrk="1" hangingPunct="1">
              <a:spcBef>
                <a:spcPct val="0"/>
              </a:spcBef>
              <a:buFontTx/>
              <a:buChar char="•"/>
            </a:pPr>
            <a:endParaRPr lang="en-US" altLang="en-US" dirty="0" smtClean="0"/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en-US" altLang="en-US" b="1" dirty="0" smtClean="0"/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en-US" altLang="en-US" b="1" dirty="0" smtClean="0"/>
          </a:p>
          <a:p>
            <a:pPr lvl="1" eaLnBrk="1" hangingPunct="1">
              <a:spcBef>
                <a:spcPct val="0"/>
              </a:spcBef>
              <a:buFontTx/>
              <a:buChar char="•"/>
            </a:pPr>
            <a:endParaRPr lang="en-US" altLang="en-US" dirty="0" smtClean="0">
              <a:hlinkClick r:id="rId3"/>
            </a:endParaRPr>
          </a:p>
          <a:p>
            <a:pPr lvl="2" eaLnBrk="1" hangingPunct="1">
              <a:spcBef>
                <a:spcPct val="0"/>
              </a:spcBef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77123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Malware Types 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 smtClean="0"/>
              <a:t>Infectious: </a:t>
            </a:r>
          </a:p>
          <a:p>
            <a:pPr lvl="1"/>
            <a:r>
              <a:rPr lang="en-US" altLang="en-US" sz="2000" dirty="0" smtClean="0"/>
              <a:t>Viruses, worms</a:t>
            </a:r>
          </a:p>
          <a:p>
            <a:r>
              <a:rPr lang="en-US" altLang="en-US" sz="2400" dirty="0" smtClean="0"/>
              <a:t>Concealment: </a:t>
            </a:r>
          </a:p>
          <a:p>
            <a:pPr lvl="1"/>
            <a:r>
              <a:rPr lang="en-US" altLang="en-US" sz="2000" dirty="0" smtClean="0"/>
              <a:t>Trojan horses, and backdoors (trapdoors), logic bombs, rootkits</a:t>
            </a:r>
          </a:p>
          <a:p>
            <a:r>
              <a:rPr lang="en-US" altLang="en-US" sz="2400" dirty="0" smtClean="0"/>
              <a:t>Malware for stealing information:</a:t>
            </a:r>
          </a:p>
          <a:p>
            <a:pPr lvl="1"/>
            <a:r>
              <a:rPr lang="en-US" altLang="en-US" sz="2000" dirty="0" smtClean="0"/>
              <a:t>Spyware, </a:t>
            </a:r>
            <a:r>
              <a:rPr lang="en-US" altLang="en-US" sz="2000" dirty="0" err="1" smtClean="0"/>
              <a:t>keyloggers</a:t>
            </a:r>
            <a:r>
              <a:rPr lang="en-US" altLang="en-US" sz="2000" dirty="0" smtClean="0"/>
              <a:t>, screen scrapers</a:t>
            </a:r>
          </a:p>
          <a:p>
            <a:r>
              <a:rPr lang="en-US" altLang="en-US" sz="2400" dirty="0" smtClean="0"/>
              <a:t>Malware for profit:</a:t>
            </a:r>
          </a:p>
          <a:p>
            <a:pPr lvl="1"/>
            <a:r>
              <a:rPr lang="en-US" altLang="en-US" sz="2000" dirty="0" smtClean="0"/>
              <a:t>Dialers, </a:t>
            </a:r>
            <a:r>
              <a:rPr lang="en-US" altLang="en-US" sz="2000" dirty="0" err="1" smtClean="0"/>
              <a:t>scarewares</a:t>
            </a:r>
            <a:r>
              <a:rPr lang="en-US" altLang="en-US" sz="2000" dirty="0" smtClean="0"/>
              <a:t>, ransomware</a:t>
            </a:r>
          </a:p>
          <a:p>
            <a:r>
              <a:rPr lang="en-US" altLang="en-US" sz="2400" dirty="0" smtClean="0"/>
              <a:t>Many malwares have characteristics of multiple types</a:t>
            </a:r>
          </a:p>
        </p:txBody>
      </p:sp>
    </p:spTree>
    <p:extLst>
      <p:ext uri="{BB962C8B-B14F-4D97-AF65-F5344CB8AC3E}">
        <p14:creationId xmlns:p14="http://schemas.microsoft.com/office/powerpoint/2010/main" val="184489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Trojan Horse</a:t>
            </a:r>
          </a:p>
        </p:txBody>
      </p:sp>
      <p:sp>
        <p:nvSpPr>
          <p:cNvPr id="17415" name="Rectangle 4"/>
          <p:cNvSpPr>
            <a:spLocks noChangeArrowheads="1"/>
          </p:cNvSpPr>
          <p:nvPr/>
        </p:nvSpPr>
        <p:spPr bwMode="auto">
          <a:xfrm>
            <a:off x="525463" y="1524000"/>
            <a:ext cx="4627562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2"/>
              </a:buClr>
              <a:buSzPct val="100000"/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Software that appears to perform a desirable function for the user prior to run or install, but (perhaps in addition to the expected function) steals information or harms the system. </a:t>
            </a:r>
          </a:p>
          <a:p>
            <a:pPr eaLnBrk="1" hangingPunct="1"/>
            <a:r>
              <a:rPr lang="en-US" altLang="en-US" sz="2400"/>
              <a:t>User tricked into executing Trojan horse</a:t>
            </a:r>
          </a:p>
          <a:p>
            <a:pPr lvl="1" eaLnBrk="1" hangingPunct="1"/>
            <a:r>
              <a:rPr lang="en-US" altLang="en-US" sz="2000"/>
              <a:t>Expects (and sees) overt and expected behavior</a:t>
            </a:r>
          </a:p>
          <a:p>
            <a:pPr lvl="1" eaLnBrk="1" hangingPunct="1"/>
            <a:r>
              <a:rPr lang="en-US" altLang="en-US" sz="2000"/>
              <a:t>Covertly perform malicious acts with user’s authorization</a:t>
            </a:r>
          </a:p>
        </p:txBody>
      </p:sp>
      <p:pic>
        <p:nvPicPr>
          <p:cNvPr id="17416" name="Picture 5" descr="bd04940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3475" y="0"/>
            <a:ext cx="1660525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3515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Trapdoor or Backdoor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mtClean="0"/>
              <a:t>Secret entry point into a system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mtClean="0"/>
              <a:t>Specific user identifier or password that circumvents normal security procedures.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mtClean="0"/>
              <a:t>Commonly used by developers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mtClean="0"/>
              <a:t>Could be included in a compiler.</a:t>
            </a:r>
          </a:p>
          <a:p>
            <a:pPr eaLnBrk="1" hangingPunct="1"/>
            <a:endParaRPr lang="en-US" altLang="en-US" smtClean="0"/>
          </a:p>
        </p:txBody>
      </p:sp>
      <p:pic>
        <p:nvPicPr>
          <p:cNvPr id="18439" name="Picture 4" descr="bs00412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238" y="0"/>
            <a:ext cx="1655762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1487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Trapdoor or Backdoor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eaLnBrk="1" hangingPunct="1">
              <a:buNone/>
            </a:pPr>
            <a:r>
              <a:rPr lang="en-US" altLang="en-US" dirty="0" smtClean="0"/>
              <a:t>Normal Login Program sketch:</a:t>
            </a:r>
          </a:p>
          <a:p>
            <a:pPr marL="0" indent="0" eaLnBrk="1" hangingPunct="1">
              <a:buNone/>
            </a:pPr>
            <a:r>
              <a:rPr lang="en-US" altLang="en-US" dirty="0" smtClean="0"/>
              <a:t>Logic</a:t>
            </a:r>
          </a:p>
          <a:p>
            <a:pPr marL="0" indent="0" eaLnBrk="1" hangingPunct="1">
              <a:buNone/>
            </a:pPr>
            <a:r>
              <a:rPr lang="en-US" altLang="en-US" dirty="0" smtClean="0"/>
              <a:t>…</a:t>
            </a:r>
          </a:p>
          <a:p>
            <a:pPr marL="0" indent="0" eaLnBrk="1" hangingPunct="1">
              <a:buNone/>
            </a:pPr>
            <a:r>
              <a:rPr lang="en-US" altLang="en-US" dirty="0" smtClean="0"/>
              <a:t>Print “Type password.”</a:t>
            </a:r>
          </a:p>
          <a:p>
            <a:pPr marL="0" indent="0" eaLnBrk="1" hangingPunct="1">
              <a:buNone/>
            </a:pPr>
            <a:r>
              <a:rPr lang="en-US" altLang="en-US" dirty="0" smtClean="0"/>
              <a:t>Read (password)</a:t>
            </a:r>
          </a:p>
          <a:p>
            <a:pPr marL="0" indent="0" eaLnBrk="1" hangingPunct="1">
              <a:buNone/>
            </a:pPr>
            <a:r>
              <a:rPr lang="en-US" altLang="en-US" dirty="0" smtClean="0"/>
              <a:t>If valid (password)</a:t>
            </a:r>
          </a:p>
          <a:p>
            <a:pPr marL="0" indent="0" eaLnBrk="1" hangingPunct="1">
              <a:buNone/>
            </a:pPr>
            <a:r>
              <a:rPr lang="en-US" altLang="en-US" dirty="0"/>
              <a:t> </a:t>
            </a:r>
            <a:r>
              <a:rPr lang="en-US" altLang="en-US" dirty="0" smtClean="0"/>
              <a:t>    then permit</a:t>
            </a:r>
          </a:p>
          <a:p>
            <a:pPr marL="0" indent="0" eaLnBrk="1" hangingPunct="1">
              <a:buNone/>
            </a:pPr>
            <a:r>
              <a:rPr lang="en-US" altLang="en-US" dirty="0" smtClean="0"/>
              <a:t>Else deny</a:t>
            </a:r>
          </a:p>
          <a:p>
            <a:pPr marL="0" indent="0">
              <a:buNone/>
            </a:pPr>
            <a:r>
              <a:rPr lang="en-US" altLang="en-US" dirty="0"/>
              <a:t>…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end</a:t>
            </a:r>
          </a:p>
          <a:p>
            <a:pPr marL="0" indent="0" eaLnBrk="1" hangingPunct="1">
              <a:buNone/>
            </a:pPr>
            <a:endParaRPr lang="en-US" altLang="en-US" dirty="0" smtClean="0"/>
          </a:p>
          <a:p>
            <a:pPr marL="0" indent="0" eaLnBrk="1" hangingPunct="1">
              <a:buNone/>
            </a:pPr>
            <a:endParaRPr lang="en-US" altLang="en-US" dirty="0" smtClean="0"/>
          </a:p>
        </p:txBody>
      </p:sp>
      <p:pic>
        <p:nvPicPr>
          <p:cNvPr id="18439" name="Picture 4" descr="bs00412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238" y="0"/>
            <a:ext cx="1655762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601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Trapdoor or Backdoor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eaLnBrk="1" hangingPunct="1">
              <a:buNone/>
            </a:pPr>
            <a:r>
              <a:rPr lang="en-US" altLang="en-US" dirty="0" smtClean="0"/>
              <a:t>Trojan horse “trapdoor” Login Program sketch:</a:t>
            </a:r>
          </a:p>
          <a:p>
            <a:pPr marL="0" indent="0" eaLnBrk="1" hangingPunct="1">
              <a:buNone/>
            </a:pPr>
            <a:endParaRPr lang="en-US" altLang="en-US" dirty="0" smtClean="0"/>
          </a:p>
          <a:p>
            <a:pPr marL="0" indent="0" eaLnBrk="1" hangingPunct="1">
              <a:buNone/>
            </a:pPr>
            <a:r>
              <a:rPr lang="en-US" altLang="en-US" dirty="0" smtClean="0"/>
              <a:t>Logic</a:t>
            </a:r>
          </a:p>
          <a:p>
            <a:pPr marL="0" indent="0" eaLnBrk="1" hangingPunct="1">
              <a:buNone/>
            </a:pPr>
            <a:r>
              <a:rPr lang="en-US" altLang="en-US" dirty="0" smtClean="0"/>
              <a:t>…</a:t>
            </a:r>
          </a:p>
          <a:p>
            <a:pPr marL="0" indent="0" eaLnBrk="1" hangingPunct="1">
              <a:buNone/>
            </a:pPr>
            <a:r>
              <a:rPr lang="en-US" altLang="en-US" dirty="0" smtClean="0"/>
              <a:t>Print “Type password.”</a:t>
            </a:r>
          </a:p>
          <a:p>
            <a:pPr marL="0" indent="0" eaLnBrk="1" hangingPunct="1">
              <a:buNone/>
            </a:pPr>
            <a:r>
              <a:rPr lang="en-US" altLang="en-US" dirty="0" smtClean="0"/>
              <a:t>Read (password)</a:t>
            </a:r>
          </a:p>
          <a:p>
            <a:pPr marL="0" indent="0" eaLnBrk="1" hangingPunct="1">
              <a:buNone/>
            </a:pPr>
            <a:r>
              <a:rPr lang="en-US" altLang="en-US" dirty="0" smtClean="0"/>
              <a:t>If valid (password) or (password == “abc123”)</a:t>
            </a:r>
          </a:p>
          <a:p>
            <a:pPr marL="0" indent="0" eaLnBrk="1" hangingPunct="1">
              <a:buNone/>
            </a:pPr>
            <a:r>
              <a:rPr lang="en-US" altLang="en-US" dirty="0"/>
              <a:t> </a:t>
            </a:r>
            <a:r>
              <a:rPr lang="en-US" altLang="en-US" dirty="0" smtClean="0"/>
              <a:t>    then permit</a:t>
            </a:r>
          </a:p>
          <a:p>
            <a:pPr marL="0" indent="0" eaLnBrk="1" hangingPunct="1">
              <a:buNone/>
            </a:pPr>
            <a:r>
              <a:rPr lang="en-US" altLang="en-US" dirty="0" smtClean="0"/>
              <a:t>Else deny</a:t>
            </a:r>
          </a:p>
          <a:p>
            <a:pPr marL="0" indent="0" eaLnBrk="1" hangingPunct="1">
              <a:buNone/>
            </a:pPr>
            <a:r>
              <a:rPr lang="en-US" altLang="en-US" dirty="0" smtClean="0"/>
              <a:t>…</a:t>
            </a:r>
          </a:p>
          <a:p>
            <a:pPr marL="0" indent="0" eaLnBrk="1" hangingPunct="1">
              <a:buNone/>
            </a:pPr>
            <a:endParaRPr lang="en-US" altLang="en-US" dirty="0"/>
          </a:p>
          <a:p>
            <a:pPr marL="0" indent="0" eaLnBrk="1" hangingPunct="1">
              <a:buNone/>
            </a:pPr>
            <a:r>
              <a:rPr lang="en-US" altLang="en-US" dirty="0" smtClean="0"/>
              <a:t>end</a:t>
            </a:r>
          </a:p>
        </p:txBody>
      </p:sp>
      <p:pic>
        <p:nvPicPr>
          <p:cNvPr id="18439" name="Picture 4" descr="bs00412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238" y="0"/>
            <a:ext cx="1655762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8646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Logic Bomb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752600"/>
            <a:ext cx="8302625" cy="4267200"/>
          </a:xfrm>
        </p:spPr>
        <p:txBody>
          <a:bodyPr/>
          <a:lstStyle/>
          <a:p>
            <a:pPr eaLnBrk="1" hangingPunct="1"/>
            <a:r>
              <a:rPr lang="en-US" altLang="en-US" smtClean="0"/>
              <a:t>Embedded in legitimate programs</a:t>
            </a:r>
          </a:p>
          <a:p>
            <a:pPr eaLnBrk="1" hangingPunct="1"/>
            <a:r>
              <a:rPr lang="en-US" altLang="en-US" smtClean="0"/>
              <a:t>Activated when specified conditions met</a:t>
            </a:r>
          </a:p>
          <a:p>
            <a:pPr lvl="1" eaLnBrk="1" hangingPunct="1"/>
            <a:r>
              <a:rPr lang="en-US" altLang="en-US" smtClean="0"/>
              <a:t>E.g., presence/absence of some file; Particular date/time or particular user</a:t>
            </a:r>
          </a:p>
          <a:p>
            <a:pPr eaLnBrk="1" hangingPunct="1"/>
            <a:r>
              <a:rPr lang="en-US" altLang="en-US" smtClean="0"/>
              <a:t>When triggered, typically damages system</a:t>
            </a:r>
          </a:p>
          <a:p>
            <a:pPr lvl="1" eaLnBrk="1" hangingPunct="1"/>
            <a:r>
              <a:rPr lang="en-US" altLang="en-US" smtClean="0"/>
              <a:t>Modify/delete files/disks</a:t>
            </a:r>
          </a:p>
        </p:txBody>
      </p:sp>
      <p:pic>
        <p:nvPicPr>
          <p:cNvPr id="19463" name="Picture 4" descr="bd06207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0"/>
            <a:ext cx="14763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1167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 of Logic Bomb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mtClean="0"/>
              <a:t>In 1982, the Trans-Siberian Pipeline incident occurred. A KGB operative was to steal the plans for a sophisticated control system and its software from a Canadian firm, for use on their Siberian pipeline. The CIA was tipped off by documents in the Farewell Dossier and had the company insert a logic bomb in the program for sabotage purposes. This eventually resulted in "the most monumental non-nuclear explosion and fire ever seen from space“.</a:t>
            </a:r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33646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Spyware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Malware that collects little bits of information at a time about users without their knowledge</a:t>
            </a:r>
          </a:p>
          <a:p>
            <a:pPr lvl="1"/>
            <a:r>
              <a:rPr lang="en-US" altLang="en-US" smtClean="0"/>
              <a:t>Keyloggers: stealthly tracking and logging key strokes</a:t>
            </a:r>
          </a:p>
          <a:p>
            <a:pPr lvl="1"/>
            <a:r>
              <a:rPr lang="en-US" altLang="en-US" smtClean="0"/>
              <a:t>Screen scrapers: stealthly reading data from a computer display</a:t>
            </a:r>
          </a:p>
          <a:p>
            <a:pPr lvl="1"/>
            <a:r>
              <a:rPr lang="en-US" altLang="en-US" smtClean="0"/>
              <a:t>May also tracking browsing habit</a:t>
            </a:r>
          </a:p>
          <a:p>
            <a:pPr lvl="1"/>
            <a:r>
              <a:rPr lang="en-US" altLang="en-US" smtClean="0"/>
              <a:t>May also re-direct browsing and display ads</a:t>
            </a:r>
          </a:p>
        </p:txBody>
      </p:sp>
    </p:spTree>
    <p:extLst>
      <p:ext uri="{BB962C8B-B14F-4D97-AF65-F5344CB8AC3E}">
        <p14:creationId xmlns:p14="http://schemas.microsoft.com/office/powerpoint/2010/main" val="206269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Scareware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686800" cy="4114800"/>
          </a:xfrm>
        </p:spPr>
        <p:txBody>
          <a:bodyPr/>
          <a:lstStyle/>
          <a:p>
            <a:r>
              <a:rPr lang="en-US" altLang="en-US" sz="2400" smtClean="0"/>
              <a:t>Software </a:t>
            </a:r>
          </a:p>
          <a:p>
            <a:pPr lvl="1"/>
            <a:r>
              <a:rPr lang="en-US" altLang="en-US" sz="2000" smtClean="0"/>
              <a:t>with malicious payloads, or of limited or no benefit</a:t>
            </a:r>
          </a:p>
          <a:p>
            <a:pPr lvl="1"/>
            <a:r>
              <a:rPr lang="en-US" altLang="en-US" sz="2000" smtClean="0"/>
              <a:t>Sold by social engineering to cause shock, anxiety, or the perception of a threat</a:t>
            </a:r>
          </a:p>
          <a:p>
            <a:r>
              <a:rPr lang="en-US" altLang="en-US" sz="2400" smtClean="0"/>
              <a:t>Rapidly increasing</a:t>
            </a:r>
          </a:p>
          <a:p>
            <a:pPr lvl="1"/>
            <a:r>
              <a:rPr lang="en-US" altLang="en-US" sz="2000" smtClean="0"/>
              <a:t>Anti-Phishing Working Group: # of scareware packages rose from 2,850 to 9,287 in 2nd half of 2008.</a:t>
            </a:r>
          </a:p>
          <a:p>
            <a:pPr lvl="1"/>
            <a:r>
              <a:rPr lang="en-US" altLang="en-US" sz="2000" smtClean="0"/>
              <a:t>In 1st half of 2009, the APWG identified a 583% increase in scareware programs.</a:t>
            </a:r>
          </a:p>
          <a:p>
            <a:pPr lvl="1"/>
            <a:r>
              <a:rPr lang="en-US" altLang="en-US" sz="2000" smtClean="0"/>
              <a:t>A 2010 study by Google found 11,000 domains hosting fake anti-virus software, accounting for 50% of malware delivered via Internet advertising</a:t>
            </a:r>
          </a:p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68006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-217714"/>
            <a:ext cx="7620000" cy="618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986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Ransomware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smtClean="0"/>
              <a:t>Holds a computer system, or the data it contains, hostage against its user by demanding a ransom.</a:t>
            </a:r>
          </a:p>
          <a:p>
            <a:pPr lvl="1"/>
            <a:r>
              <a:rPr lang="en-US" altLang="en-US" sz="2000" smtClean="0"/>
              <a:t>Disable an essential system service or lock the display at system startup</a:t>
            </a:r>
          </a:p>
          <a:p>
            <a:pPr lvl="1"/>
            <a:r>
              <a:rPr lang="en-US" altLang="en-US" sz="2000" smtClean="0"/>
              <a:t>Encrypt some of the user's personal files, originally referred to as </a:t>
            </a:r>
            <a:r>
              <a:rPr lang="en-US" altLang="en-US" sz="2000" b="1" smtClean="0"/>
              <a:t>cryptoviruses</a:t>
            </a:r>
            <a:r>
              <a:rPr lang="en-US" altLang="en-US" sz="2000" smtClean="0"/>
              <a:t>, </a:t>
            </a:r>
            <a:r>
              <a:rPr lang="en-US" altLang="en-US" sz="2000" b="1" smtClean="0"/>
              <a:t>cryptotrojans</a:t>
            </a:r>
            <a:r>
              <a:rPr lang="en-US" altLang="en-US" sz="2000" smtClean="0"/>
              <a:t> or </a:t>
            </a:r>
            <a:r>
              <a:rPr lang="en-US" altLang="en-US" sz="2000" b="1" smtClean="0"/>
              <a:t>cryptoworms</a:t>
            </a:r>
          </a:p>
          <a:p>
            <a:endParaRPr lang="en-US" altLang="en-US" sz="2400" smtClean="0"/>
          </a:p>
          <a:p>
            <a:r>
              <a:rPr lang="en-US" altLang="en-US" sz="2400" smtClean="0"/>
              <a:t>Victim user has to </a:t>
            </a:r>
          </a:p>
          <a:p>
            <a:pPr lvl="1"/>
            <a:r>
              <a:rPr lang="en-US" altLang="en-US" sz="2000" smtClean="0"/>
              <a:t>enter a code obtainable only after wiring payment to the attacker or sending an SMS message</a:t>
            </a:r>
          </a:p>
          <a:p>
            <a:pPr lvl="1"/>
            <a:r>
              <a:rPr lang="en-US" altLang="en-US" sz="2000" smtClean="0"/>
              <a:t>buy a decryption or removal tool</a:t>
            </a:r>
            <a:endParaRPr lang="en-US" altLang="en-US" sz="2000" b="1" smtClean="0"/>
          </a:p>
        </p:txBody>
      </p:sp>
    </p:spTree>
    <p:extLst>
      <p:ext uri="{BB962C8B-B14F-4D97-AF65-F5344CB8AC3E}">
        <p14:creationId xmlns:p14="http://schemas.microsoft.com/office/powerpoint/2010/main" val="135420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Virus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Attach itself to a host (often a program) and replicate itself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Self-replicating code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smtClean="0"/>
              <a:t>Self-replicating Trojan horses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smtClean="0"/>
              <a:t>Alters normal code with “infected” version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Operates when infected code executed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smtClean="0"/>
              <a:t>If </a:t>
            </a:r>
            <a:r>
              <a:rPr lang="en-US" altLang="en-US" sz="2000" i="1" smtClean="0"/>
              <a:t>spread condition</a:t>
            </a:r>
            <a:r>
              <a:rPr lang="en-US" altLang="en-US" sz="1800" smtClean="0"/>
              <a:t> then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2000" smtClean="0"/>
              <a:t>For </a:t>
            </a:r>
            <a:r>
              <a:rPr lang="en-US" altLang="en-US" sz="2000" i="1" smtClean="0"/>
              <a:t>target files</a:t>
            </a:r>
            <a:endParaRPr lang="en-US" altLang="en-US" sz="2000" smtClean="0"/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en-US" sz="1800" smtClean="0"/>
              <a:t>if </a:t>
            </a:r>
            <a:r>
              <a:rPr lang="en-US" altLang="en-US" sz="1800" i="1" smtClean="0"/>
              <a:t>not infected</a:t>
            </a:r>
            <a:r>
              <a:rPr lang="en-US" altLang="en-US" sz="1800" smtClean="0"/>
              <a:t> then </a:t>
            </a:r>
            <a:r>
              <a:rPr lang="en-US" altLang="en-US" sz="1800" i="1" smtClean="0"/>
              <a:t>alter to include virus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smtClean="0"/>
              <a:t>Perform malicious action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smtClean="0"/>
              <a:t>Execute normal program</a:t>
            </a:r>
          </a:p>
        </p:txBody>
      </p:sp>
      <p:pic>
        <p:nvPicPr>
          <p:cNvPr id="25607" name="Picture 4" descr="an03368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188" y="381000"/>
            <a:ext cx="1801812" cy="72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50619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Worm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280319"/>
            <a:ext cx="8742362" cy="4267200"/>
          </a:xfrm>
        </p:spPr>
        <p:txBody>
          <a:bodyPr/>
          <a:lstStyle/>
          <a:p>
            <a:pPr marL="342900" lvl="1" indent="-342900" eaLnBrk="1" hangingPunct="1">
              <a:buClr>
                <a:schemeClr val="accent2"/>
              </a:buClr>
              <a:buSzPct val="100000"/>
              <a:buFont typeface="Times" pitchFamily="18" charset="0"/>
              <a:buChar char="•"/>
              <a:defRPr/>
            </a:pPr>
            <a:r>
              <a:rPr lang="en-US" sz="2800" dirty="0" smtClean="0"/>
              <a:t>Self-replicating malware that does not require a host program</a:t>
            </a:r>
          </a:p>
          <a:p>
            <a:pPr eaLnBrk="1" hangingPunct="1">
              <a:defRPr/>
            </a:pPr>
            <a:r>
              <a:rPr lang="en-US" dirty="0" smtClean="0"/>
              <a:t>Propagates a fully working version of itself to other machines</a:t>
            </a:r>
          </a:p>
          <a:p>
            <a:pPr eaLnBrk="1" hangingPunct="1">
              <a:defRPr/>
            </a:pPr>
            <a:r>
              <a:rPr lang="en-US" dirty="0" smtClean="0"/>
              <a:t>Carries a payload performing hidden tasks</a:t>
            </a:r>
          </a:p>
          <a:p>
            <a:pPr lvl="1" eaLnBrk="1" hangingPunct="1">
              <a:defRPr/>
            </a:pPr>
            <a:r>
              <a:rPr lang="en-US" dirty="0" smtClean="0"/>
              <a:t>Backdoors, spam relays, </a:t>
            </a:r>
            <a:r>
              <a:rPr lang="en-US" dirty="0" err="1" smtClean="0"/>
              <a:t>DDoS</a:t>
            </a:r>
            <a:r>
              <a:rPr lang="en-US" dirty="0" smtClean="0"/>
              <a:t> agents; … </a:t>
            </a:r>
          </a:p>
          <a:p>
            <a:pPr eaLnBrk="1" hangingPunct="1">
              <a:defRPr/>
            </a:pPr>
            <a:r>
              <a:rPr lang="en-US" dirty="0" smtClean="0"/>
              <a:t>Phases</a:t>
            </a:r>
          </a:p>
          <a:p>
            <a:pPr lvl="1" eaLnBrk="1" hangingPunct="1">
              <a:defRPr/>
            </a:pPr>
            <a:r>
              <a:rPr lang="en-US" altLang="zh-CN" sz="2400" dirty="0" smtClean="0">
                <a:solidFill>
                  <a:srgbClr val="FF0000"/>
                </a:solidFill>
                <a:ea typeface="宋体" pitchFamily="2" charset="-122"/>
                <a:sym typeface="Wingdings" charset="2"/>
              </a:rPr>
              <a:t>Probing</a:t>
            </a:r>
            <a:r>
              <a:rPr lang="en-US" altLang="zh-CN" sz="2400" dirty="0" smtClean="0">
                <a:ea typeface="宋体" pitchFamily="2" charset="-122"/>
                <a:sym typeface="Wingdings" charset="2"/>
              </a:rPr>
              <a:t>  </a:t>
            </a:r>
            <a:r>
              <a:rPr lang="en-US" altLang="zh-CN" sz="2400" dirty="0" smtClean="0">
                <a:solidFill>
                  <a:srgbClr val="FF0000"/>
                </a:solidFill>
                <a:ea typeface="宋体" pitchFamily="2" charset="-122"/>
                <a:sym typeface="Wingdings" charset="2"/>
              </a:rPr>
              <a:t>Exploitation</a:t>
            </a:r>
            <a:r>
              <a:rPr lang="en-US" altLang="zh-CN" sz="2400" dirty="0" smtClean="0">
                <a:ea typeface="宋体" pitchFamily="2" charset="-122"/>
                <a:sym typeface="Wingdings" charset="2"/>
              </a:rPr>
              <a:t>  </a:t>
            </a:r>
            <a:r>
              <a:rPr lang="en-US" altLang="zh-CN" sz="2400" dirty="0" smtClean="0">
                <a:solidFill>
                  <a:srgbClr val="FF0000"/>
                </a:solidFill>
                <a:ea typeface="宋体" pitchFamily="2" charset="-122"/>
                <a:sym typeface="Wingdings" charset="2"/>
              </a:rPr>
              <a:t>Replication</a:t>
            </a:r>
            <a:r>
              <a:rPr lang="en-US" altLang="zh-CN" sz="2400" dirty="0" smtClean="0">
                <a:ea typeface="宋体" pitchFamily="2" charset="-122"/>
                <a:sym typeface="Wingdings" charset="2"/>
              </a:rPr>
              <a:t>  </a:t>
            </a:r>
            <a:r>
              <a:rPr lang="en-US" altLang="zh-CN" sz="2400" dirty="0" smtClean="0">
                <a:solidFill>
                  <a:srgbClr val="FF0000"/>
                </a:solidFill>
                <a:ea typeface="宋体" pitchFamily="2" charset="-122"/>
                <a:sym typeface="Wingdings" charset="2"/>
              </a:rPr>
              <a:t>Payload</a:t>
            </a:r>
          </a:p>
          <a:p>
            <a:pPr lvl="1" eaLnBrk="1" hangingPunct="1">
              <a:defRPr/>
            </a:pPr>
            <a:endParaRPr lang="en-US" sz="2200" dirty="0" smtClean="0"/>
          </a:p>
          <a:p>
            <a:pPr eaLnBrk="1" hangingPunct="1">
              <a:defRPr/>
            </a:pPr>
            <a:endParaRPr lang="en-US" dirty="0" smtClean="0"/>
          </a:p>
        </p:txBody>
      </p:sp>
      <p:pic>
        <p:nvPicPr>
          <p:cNvPr id="26631" name="Picture 4" descr="topicwor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513" y="239713"/>
            <a:ext cx="1700212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6885" name="Freeform 5"/>
          <p:cNvSpPr>
            <a:spLocks/>
          </p:cNvSpPr>
          <p:nvPr/>
        </p:nvSpPr>
        <p:spPr bwMode="auto">
          <a:xfrm>
            <a:off x="-210457" y="5219700"/>
            <a:ext cx="8721725" cy="457200"/>
          </a:xfrm>
          <a:custGeom>
            <a:avLst/>
            <a:gdLst>
              <a:gd name="T0" fmla="*/ 2147483647 w 4914"/>
              <a:gd name="T1" fmla="*/ 0 h 413"/>
              <a:gd name="T2" fmla="*/ 2147483647 w 4914"/>
              <a:gd name="T3" fmla="*/ 2147483647 h 413"/>
              <a:gd name="T4" fmla="*/ 2147483647 w 4914"/>
              <a:gd name="T5" fmla="*/ 2147483647 h 413"/>
              <a:gd name="T6" fmla="*/ 2147483647 w 4914"/>
              <a:gd name="T7" fmla="*/ 2147483647 h 413"/>
              <a:gd name="T8" fmla="*/ 2147483647 w 4914"/>
              <a:gd name="T9" fmla="*/ 2147483647 h 41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914" h="413">
                <a:moveTo>
                  <a:pt x="4544" y="0"/>
                </a:moveTo>
                <a:cubicBezTo>
                  <a:pt x="4590" y="19"/>
                  <a:pt x="4914" y="48"/>
                  <a:pt x="4818" y="112"/>
                </a:cubicBezTo>
                <a:cubicBezTo>
                  <a:pt x="4722" y="176"/>
                  <a:pt x="4678" y="355"/>
                  <a:pt x="3968" y="384"/>
                </a:cubicBezTo>
                <a:cubicBezTo>
                  <a:pt x="3258" y="413"/>
                  <a:pt x="1120" y="344"/>
                  <a:pt x="560" y="288"/>
                </a:cubicBezTo>
                <a:cubicBezTo>
                  <a:pt x="0" y="232"/>
                  <a:pt x="600" y="88"/>
                  <a:pt x="608" y="48"/>
                </a:cubicBezTo>
              </a:path>
            </a:pathLst>
          </a:custGeom>
          <a:noFill/>
          <a:ln w="63500" cap="flat" cmpd="sng">
            <a:solidFill>
              <a:srgbClr val="0000FF"/>
            </a:solidFill>
            <a:prstDash val="solid"/>
            <a:round/>
            <a:headEnd/>
            <a:tailEnd type="triangle" w="med" len="med"/>
          </a:ln>
          <a:effectLst>
            <a:outerShdw dist="107763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951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50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Worm Propagation</a:t>
            </a:r>
            <a:endParaRPr lang="en-AU" altLang="en-US" smtClean="0"/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8229600" cy="4392613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</a:pPr>
            <a:r>
              <a:rPr lang="en-AU" altLang="zh-CN" smtClean="0">
                <a:ea typeface="SimSun" panose="02010600030101010101" pitchFamily="2" charset="-122"/>
              </a:rPr>
              <a:t>Worm Program: propagate</a:t>
            </a:r>
          </a:p>
          <a:p>
            <a:pPr marL="0" indent="0" eaLnBrk="1" hangingPunct="1">
              <a:lnSpc>
                <a:spcPct val="80000"/>
              </a:lnSpc>
            </a:pPr>
            <a:endParaRPr lang="en-AU" altLang="zh-CN" smtClean="0">
              <a:ea typeface="SimSun" panose="02010600030101010101" pitchFamily="2" charset="-122"/>
            </a:endParaRPr>
          </a:p>
          <a:p>
            <a:pPr marL="0" indent="0" eaLnBrk="1" hangingPunct="1">
              <a:lnSpc>
                <a:spcPct val="80000"/>
              </a:lnSpc>
            </a:pPr>
            <a:r>
              <a:rPr lang="en-AU" altLang="zh-CN" smtClean="0">
                <a:ea typeface="SimSun" panose="02010600030101010101" pitchFamily="2" charset="-122"/>
              </a:rPr>
              <a:t>Worm Propagation:</a:t>
            </a:r>
          </a:p>
          <a:p>
            <a:pPr marL="0" indent="0" eaLnBrk="1" hangingPunct="1">
              <a:lnSpc>
                <a:spcPct val="80000"/>
              </a:lnSpc>
            </a:pPr>
            <a:endParaRPr lang="en-AU" altLang="zh-CN" smtClean="0">
              <a:ea typeface="SimSun" panose="02010600030101010101" pitchFamily="2" charset="-122"/>
            </a:endParaRPr>
          </a:p>
          <a:p>
            <a:pPr marL="0" indent="0" eaLnBrk="1" hangingPunct="1">
              <a:lnSpc>
                <a:spcPct val="80000"/>
              </a:lnSpc>
            </a:pPr>
            <a:r>
              <a:rPr lang="en-AU" altLang="zh-CN" sz="2000" smtClean="0">
                <a:ea typeface="SimSun" panose="02010600030101010101" pitchFamily="2" charset="-122"/>
              </a:rPr>
              <a:t>  (1) Find a target</a:t>
            </a:r>
          </a:p>
          <a:p>
            <a:pPr marL="0" indent="0" eaLnBrk="1" hangingPunct="1">
              <a:lnSpc>
                <a:spcPct val="80000"/>
              </a:lnSpc>
            </a:pPr>
            <a:endParaRPr lang="en-AU" altLang="zh-CN" sz="2000" smtClean="0">
              <a:ea typeface="SimSun" panose="02010600030101010101" pitchFamily="2" charset="-122"/>
            </a:endParaRPr>
          </a:p>
          <a:p>
            <a:pPr marL="0" indent="0" eaLnBrk="1" hangingPunct="1">
              <a:lnSpc>
                <a:spcPct val="80000"/>
              </a:lnSpc>
            </a:pPr>
            <a:r>
              <a:rPr lang="en-AU" altLang="zh-CN" sz="2000" smtClean="0">
                <a:ea typeface="SimSun" panose="02010600030101010101" pitchFamily="2" charset="-122"/>
              </a:rPr>
              <a:t>    (2) Copy Worm to target</a:t>
            </a:r>
          </a:p>
          <a:p>
            <a:pPr marL="0" indent="0" eaLnBrk="1" hangingPunct="1">
              <a:lnSpc>
                <a:spcPct val="80000"/>
              </a:lnSpc>
            </a:pPr>
            <a:endParaRPr lang="en-AU" altLang="zh-CN" sz="2000" smtClean="0">
              <a:ea typeface="SimSun" panose="02010600030101010101" pitchFamily="2" charset="-122"/>
            </a:endParaRPr>
          </a:p>
          <a:p>
            <a:pPr marL="0" indent="0" eaLnBrk="1" hangingPunct="1">
              <a:lnSpc>
                <a:spcPct val="80000"/>
              </a:lnSpc>
            </a:pPr>
            <a:r>
              <a:rPr lang="en-AU" altLang="zh-CN" sz="2000" smtClean="0">
                <a:ea typeface="SimSun" panose="02010600030101010101" pitchFamily="2" charset="-122"/>
              </a:rPr>
              <a:t>    (3) Remote Execution on target machine</a:t>
            </a:r>
          </a:p>
          <a:p>
            <a:pPr marL="0" indent="0" eaLnBrk="1" hangingPunct="1">
              <a:lnSpc>
                <a:spcPct val="80000"/>
              </a:lnSpc>
            </a:pPr>
            <a:endParaRPr lang="en-AU" altLang="en-US" sz="1800" smtClean="0"/>
          </a:p>
        </p:txBody>
      </p:sp>
    </p:spTree>
    <p:extLst>
      <p:ext uri="{BB962C8B-B14F-4D97-AF65-F5344CB8AC3E}">
        <p14:creationId xmlns:p14="http://schemas.microsoft.com/office/powerpoint/2010/main" val="240337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General Worm Trends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mtClean="0"/>
              <a:t>Speed of spreading</a:t>
            </a:r>
          </a:p>
          <a:p>
            <a:pPr lvl="1"/>
            <a:r>
              <a:rPr lang="en-US" altLang="en-US" smtClean="0"/>
              <a:t>Slow to fast to stealthy</a:t>
            </a:r>
          </a:p>
          <a:p>
            <a:r>
              <a:rPr lang="en-US" altLang="en-US" smtClean="0"/>
              <a:t>Vector of infection</a:t>
            </a:r>
          </a:p>
          <a:p>
            <a:pPr lvl="1"/>
            <a:r>
              <a:rPr lang="en-US" altLang="en-US" smtClean="0"/>
              <a:t>Single to varied</a:t>
            </a:r>
          </a:p>
          <a:p>
            <a:pPr lvl="1"/>
            <a:r>
              <a:rPr lang="en-US" altLang="en-US" smtClean="0"/>
              <a:t>Exploiting software vulnerabilities to exploiting human vulnerabilities</a:t>
            </a:r>
          </a:p>
          <a:p>
            <a:r>
              <a:rPr lang="en-US" altLang="en-US" smtClean="0"/>
              <a:t>Payloads</a:t>
            </a:r>
          </a:p>
          <a:p>
            <a:pPr lvl="1"/>
            <a:r>
              <a:rPr lang="en-US" altLang="en-US" smtClean="0"/>
              <a:t>From “no malicious payloads beyond spreading” to botnets, spywares, and physical systems</a:t>
            </a:r>
          </a:p>
          <a:p>
            <a:pPr lvl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92202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Antivirus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Typical strategies</a:t>
            </a:r>
          </a:p>
          <a:p>
            <a:pPr lvl="1"/>
            <a:r>
              <a:rPr lang="en-US" altLang="en-US" smtClean="0"/>
              <a:t>Check for integrity of known good files</a:t>
            </a:r>
          </a:p>
          <a:p>
            <a:pPr lvl="1"/>
            <a:r>
              <a:rPr lang="en-US" altLang="en-US" smtClean="0"/>
              <a:t>Check for known malware, using signatures,</a:t>
            </a:r>
          </a:p>
          <a:p>
            <a:pPr lvl="2"/>
            <a:r>
              <a:rPr lang="en-US" altLang="en-US" smtClean="0"/>
              <a:t>Each signature is a sequence of bytes that an antivirus program looks for because it is known to be part of the virus</a:t>
            </a:r>
          </a:p>
          <a:p>
            <a:pPr lvl="1"/>
            <a:r>
              <a:rPr lang="en-US" altLang="en-US" smtClean="0"/>
              <a:t>Main challenges</a:t>
            </a:r>
          </a:p>
          <a:p>
            <a:pPr lvl="2"/>
            <a:r>
              <a:rPr lang="en-US" altLang="en-US" smtClean="0"/>
              <a:t>Reduce false positives/false negatives</a:t>
            </a:r>
          </a:p>
          <a:p>
            <a:pPr lvl="2"/>
            <a:r>
              <a:rPr lang="en-US" altLang="en-US" smtClean="0"/>
              <a:t>Improve speed of checking</a:t>
            </a:r>
          </a:p>
        </p:txBody>
      </p:sp>
    </p:spTree>
    <p:extLst>
      <p:ext uri="{BB962C8B-B14F-4D97-AF65-F5344CB8AC3E}">
        <p14:creationId xmlns:p14="http://schemas.microsoft.com/office/powerpoint/2010/main" val="4236838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Malware Anti-detection Strategy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mtClean="0"/>
              <a:t>Encrypt malware code using variable key</a:t>
            </a:r>
          </a:p>
          <a:p>
            <a:pPr lvl="1"/>
            <a:r>
              <a:rPr lang="en-US" altLang="en-US" smtClean="0"/>
              <a:t>Self modifying code may look suspicious</a:t>
            </a:r>
          </a:p>
          <a:p>
            <a:pPr lvl="1"/>
            <a:r>
              <a:rPr lang="en-US" altLang="en-US" smtClean="0"/>
              <a:t>Decryption part may become signature</a:t>
            </a:r>
          </a:p>
          <a:p>
            <a:r>
              <a:rPr lang="en-US" altLang="en-US" smtClean="0"/>
              <a:t>Polymorphic code</a:t>
            </a:r>
          </a:p>
          <a:p>
            <a:pPr lvl="1"/>
            <a:r>
              <a:rPr lang="en-US" altLang="en-US" smtClean="0"/>
              <a:t>Use encryption, but also change decryption routine each time</a:t>
            </a:r>
          </a:p>
          <a:p>
            <a:r>
              <a:rPr lang="en-US" altLang="en-US" smtClean="0"/>
              <a:t>Metamorphic</a:t>
            </a:r>
          </a:p>
          <a:p>
            <a:pPr lvl="1"/>
            <a:r>
              <a:rPr lang="en-US" altLang="en-US" smtClean="0"/>
              <a:t>Use an engine each time to generate a functional equivalent but different code</a:t>
            </a:r>
          </a:p>
        </p:txBody>
      </p:sp>
    </p:spTree>
    <p:extLst>
      <p:ext uri="{BB962C8B-B14F-4D97-AF65-F5344CB8AC3E}">
        <p14:creationId xmlns:p14="http://schemas.microsoft.com/office/powerpoint/2010/main" val="398540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Rootkit</a:t>
            </a:r>
          </a:p>
        </p:txBody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001000" cy="45672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A </a:t>
            </a:r>
            <a:r>
              <a:rPr lang="en-US" altLang="en-US" sz="2400" b="1" dirty="0" smtClean="0"/>
              <a:t>rootkit</a:t>
            </a:r>
            <a:r>
              <a:rPr lang="en-US" altLang="en-US" sz="2400" dirty="0" smtClean="0"/>
              <a:t> is software that enables continued privileged access to a computer while actively hiding its presence from administrators by subverting standard operating system functionality or other applications. 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Emphasis is on hiding information from administrators’ view, so that malware is not detected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E.g., hiding processes, files, opened network connections, </a:t>
            </a:r>
            <a:r>
              <a:rPr lang="en-US" altLang="en-US" sz="2000" dirty="0" err="1" smtClean="0"/>
              <a:t>etc</a:t>
            </a:r>
            <a:endParaRPr lang="en-US" altLang="en-US" sz="2000" dirty="0" smtClean="0"/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Example: Sony BMG copy protection rootkit scandal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In 2005, Sony BMG included Extended Copy Protection on music CDs, which are automatically installed on Windows on CDs are played.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97852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Types of Rootkits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 smtClean="0"/>
              <a:t>User-level rootkits</a:t>
            </a:r>
          </a:p>
          <a:p>
            <a:pPr lvl="1"/>
            <a:r>
              <a:rPr lang="en-US" altLang="en-US" sz="2000" dirty="0" smtClean="0"/>
              <a:t>Replace utilities such as </a:t>
            </a:r>
            <a:r>
              <a:rPr lang="en-US" altLang="en-US" sz="2000" dirty="0" err="1" smtClean="0"/>
              <a:t>ps</a:t>
            </a:r>
            <a:r>
              <a:rPr lang="en-US" altLang="en-US" sz="2000" dirty="0" smtClean="0"/>
              <a:t>, ls, </a:t>
            </a:r>
            <a:r>
              <a:rPr lang="en-US" altLang="en-US" sz="2000" dirty="0" err="1" smtClean="0"/>
              <a:t>ifconfig</a:t>
            </a:r>
            <a:r>
              <a:rPr lang="en-US" altLang="en-US" sz="2000" dirty="0" smtClean="0"/>
              <a:t>, </a:t>
            </a:r>
            <a:r>
              <a:rPr lang="en-US" altLang="en-US" sz="2000" dirty="0" err="1" smtClean="0"/>
              <a:t>etc</a:t>
            </a:r>
            <a:endParaRPr lang="en-US" altLang="en-US" sz="2000" dirty="0" smtClean="0"/>
          </a:p>
          <a:p>
            <a:pPr lvl="1"/>
            <a:r>
              <a:rPr lang="en-US" altLang="en-US" sz="2000" dirty="0" smtClean="0"/>
              <a:t>Replace key libraries</a:t>
            </a:r>
          </a:p>
          <a:p>
            <a:pPr lvl="1"/>
            <a:r>
              <a:rPr lang="en-US" altLang="en-US" sz="2000" dirty="0" smtClean="0"/>
              <a:t>Detectable by utilities like tripwire</a:t>
            </a:r>
          </a:p>
          <a:p>
            <a:r>
              <a:rPr lang="en-US" altLang="en-US" sz="2400" dirty="0" smtClean="0"/>
              <a:t>Kernel-level rootkits</a:t>
            </a:r>
          </a:p>
          <a:p>
            <a:pPr lvl="1"/>
            <a:r>
              <a:rPr lang="en-US" altLang="en-US" sz="2000" dirty="0" smtClean="0"/>
              <a:t>Replace or hook key kernel functions</a:t>
            </a:r>
          </a:p>
          <a:p>
            <a:pPr lvl="1"/>
            <a:r>
              <a:rPr lang="en-US" altLang="en-US" sz="2000" dirty="0" smtClean="0"/>
              <a:t>Through, e.g., loadable kernel modules or direct kernel memory access</a:t>
            </a:r>
          </a:p>
          <a:p>
            <a:pPr lvl="1"/>
            <a:r>
              <a:rPr lang="en-US" altLang="en-US" sz="2000" dirty="0" smtClean="0"/>
              <a:t>A common detection strategy: compare the view obtained by enumerating kernel data structures with that obtained by the API interface</a:t>
            </a:r>
          </a:p>
          <a:p>
            <a:pPr lvl="1"/>
            <a:r>
              <a:rPr lang="en-US" altLang="en-US" sz="2000" dirty="0" smtClean="0"/>
              <a:t>Can be defended by kernel-driver signing (required by 64-bit windows)</a:t>
            </a:r>
          </a:p>
          <a:p>
            <a:pPr lvl="1"/>
            <a:endParaRPr lang="en-US" altLang="en-US" sz="2000" dirty="0" smtClean="0"/>
          </a:p>
          <a:p>
            <a:pPr lvl="1"/>
            <a:endParaRPr lang="en-US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11296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More Rootkits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smtClean="0"/>
              <a:t>Bootkit (variant of kernel-level rootkit)</a:t>
            </a:r>
          </a:p>
          <a:p>
            <a:pPr lvl="1"/>
            <a:r>
              <a:rPr lang="en-US" altLang="en-US" sz="2000" smtClean="0"/>
              <a:t>Replace the boot loader (master boot record)</a:t>
            </a:r>
          </a:p>
          <a:p>
            <a:pPr lvl="1"/>
            <a:r>
              <a:rPr lang="en-US" altLang="en-US" sz="2000" smtClean="0"/>
              <a:t>Used to attack full disk encryption key</a:t>
            </a:r>
          </a:p>
          <a:p>
            <a:pPr lvl="1"/>
            <a:r>
              <a:rPr lang="en-US" altLang="en-US" sz="2000" smtClean="0"/>
              <a:t>Malicious boot loader can intercept encryption keys or disable requirement for kernel-driver signing</a:t>
            </a:r>
          </a:p>
          <a:p>
            <a:endParaRPr lang="en-US" altLang="en-US" sz="2400" smtClean="0"/>
          </a:p>
          <a:p>
            <a:r>
              <a:rPr lang="en-US" altLang="en-US" sz="2400" smtClean="0"/>
              <a:t>Hypervisor-level rootkits</a:t>
            </a:r>
            <a:endParaRPr lang="en-US" altLang="en-US" sz="2000" smtClean="0"/>
          </a:p>
          <a:p>
            <a:r>
              <a:rPr lang="en-US" altLang="en-US" sz="2400" smtClean="0"/>
              <a:t>Hardware/firmware rootkits</a:t>
            </a:r>
          </a:p>
          <a:p>
            <a:r>
              <a:rPr lang="en-US" altLang="en-US" sz="2400" smtClean="0">
                <a:solidFill>
                  <a:srgbClr val="FF0000"/>
                </a:solidFill>
              </a:rPr>
              <a:t>Whoever gets to the lower level has the upper hand.</a:t>
            </a:r>
          </a:p>
        </p:txBody>
      </p:sp>
    </p:spTree>
    <p:extLst>
      <p:ext uri="{BB962C8B-B14F-4D97-AF65-F5344CB8AC3E}">
        <p14:creationId xmlns:p14="http://schemas.microsoft.com/office/powerpoint/2010/main" val="2022276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 smtClean="0"/>
              <a:t>How does a computer get infected with malware or being intruded? </a:t>
            </a:r>
          </a:p>
        </p:txBody>
      </p:sp>
      <p:sp>
        <p:nvSpPr>
          <p:cNvPr id="570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05800" cy="4572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 smtClean="0"/>
              <a:t>Executes malicious code via user actions (email attachment, download and execute trojan horses, or inserting USB drives)</a:t>
            </a:r>
          </a:p>
          <a:p>
            <a:pPr eaLnBrk="1" hangingPunct="1"/>
            <a:endParaRPr lang="en-US" altLang="en-US" sz="2000" smtClean="0"/>
          </a:p>
          <a:p>
            <a:pPr eaLnBrk="1" hangingPunct="1"/>
            <a:r>
              <a:rPr lang="en-US" altLang="en-US" sz="2000" smtClean="0"/>
              <a:t>Buggy programs accept malicious input</a:t>
            </a:r>
          </a:p>
          <a:p>
            <a:pPr lvl="1" eaLnBrk="1" hangingPunct="1"/>
            <a:r>
              <a:rPr lang="en-US" altLang="en-US" sz="2000" smtClean="0"/>
              <a:t>daemon programs that receive network traffic</a:t>
            </a:r>
          </a:p>
          <a:p>
            <a:pPr lvl="1" eaLnBrk="1" hangingPunct="1"/>
            <a:r>
              <a:rPr lang="en-US" altLang="en-US" sz="2000" smtClean="0"/>
              <a:t>client programs (e.g., web browser, mail client) that receive input data from network</a:t>
            </a:r>
          </a:p>
          <a:p>
            <a:pPr lvl="1" eaLnBrk="1" hangingPunct="1"/>
            <a:r>
              <a:rPr lang="en-US" altLang="en-US" sz="2000" smtClean="0"/>
              <a:t>Programs Read malicious files with buggy file reader program</a:t>
            </a:r>
          </a:p>
          <a:p>
            <a:pPr eaLnBrk="1" hangingPunct="1"/>
            <a:endParaRPr lang="en-US" altLang="en-US" sz="2000" smtClean="0"/>
          </a:p>
          <a:p>
            <a:pPr eaLnBrk="1" hangingPunct="1"/>
            <a:r>
              <a:rPr lang="en-US" altLang="en-US" sz="2000" smtClean="0"/>
              <a:t>Configuration errors (e.g., weak passwords, guest accounts, DEBUG options, etc)</a:t>
            </a:r>
          </a:p>
          <a:p>
            <a:pPr eaLnBrk="1" hangingPunct="1"/>
            <a:endParaRPr lang="en-US" altLang="en-US" sz="2000" smtClean="0"/>
          </a:p>
          <a:p>
            <a:pPr eaLnBrk="1" hangingPunct="1"/>
            <a:r>
              <a:rPr lang="en-US" altLang="en-US" sz="2000" smtClean="0"/>
              <a:t>Physical access to computer</a:t>
            </a:r>
          </a:p>
        </p:txBody>
      </p:sp>
    </p:spTree>
    <p:extLst>
      <p:ext uri="{BB962C8B-B14F-4D97-AF65-F5344CB8AC3E}">
        <p14:creationId xmlns:p14="http://schemas.microsoft.com/office/powerpoint/2010/main" val="287949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71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1417</TotalTime>
  <Words>1321</Words>
  <Application>Microsoft Office PowerPoint</Application>
  <PresentationFormat>On-screen Show (4:3)</PresentationFormat>
  <Paragraphs>199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SimSun</vt:lpstr>
      <vt:lpstr>SimSun</vt:lpstr>
      <vt:lpstr>Arial</vt:lpstr>
      <vt:lpstr>Calibri</vt:lpstr>
      <vt:lpstr>Times</vt:lpstr>
      <vt:lpstr>Times New Roman</vt:lpstr>
      <vt:lpstr>Wingdings</vt:lpstr>
      <vt:lpstr>Office Theme</vt:lpstr>
      <vt:lpstr>Malware</vt:lpstr>
      <vt:lpstr>Topics</vt:lpstr>
      <vt:lpstr>Malware Types </vt:lpstr>
      <vt:lpstr>Trojan Horse</vt:lpstr>
      <vt:lpstr>Trapdoor or Backdoor</vt:lpstr>
      <vt:lpstr>Trapdoor or Backdoor</vt:lpstr>
      <vt:lpstr>Trapdoor or Backdoor</vt:lpstr>
      <vt:lpstr>Logic Bomb</vt:lpstr>
      <vt:lpstr>Example of Logic Bomb</vt:lpstr>
      <vt:lpstr>Spyware</vt:lpstr>
      <vt:lpstr>Scareware</vt:lpstr>
      <vt:lpstr>PowerPoint Presentation</vt:lpstr>
      <vt:lpstr>Ransomware</vt:lpstr>
      <vt:lpstr>Virus</vt:lpstr>
      <vt:lpstr>Worm</vt:lpstr>
      <vt:lpstr>Worm Propagation</vt:lpstr>
      <vt:lpstr>General Worm Trends</vt:lpstr>
      <vt:lpstr>Antivirus</vt:lpstr>
      <vt:lpstr>Malware Anti-detection Strategy</vt:lpstr>
      <vt:lpstr>Rootkit</vt:lpstr>
      <vt:lpstr>Types of Rootkits</vt:lpstr>
      <vt:lpstr>More Rootkits</vt:lpstr>
      <vt:lpstr>How does a computer get infected with malware or being intruded? </vt:lpstr>
    </vt:vector>
  </TitlesOfParts>
  <Company>Wright State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Junjie Zhang</dc:creator>
  <cp:lastModifiedBy>mliu</cp:lastModifiedBy>
  <cp:revision>706</cp:revision>
  <dcterms:created xsi:type="dcterms:W3CDTF">2014-02-25T02:06:58Z</dcterms:created>
  <dcterms:modified xsi:type="dcterms:W3CDTF">2022-10-31T16:41:50Z</dcterms:modified>
</cp:coreProperties>
</file>