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5"/>
  </p:notesMasterIdLst>
  <p:sldIdLst>
    <p:sldId id="256" r:id="rId2"/>
    <p:sldId id="265" r:id="rId3"/>
    <p:sldId id="266" r:id="rId4"/>
    <p:sldId id="267" r:id="rId5"/>
    <p:sldId id="268" r:id="rId6"/>
    <p:sldId id="269" r:id="rId7"/>
    <p:sldId id="319" r:id="rId8"/>
    <p:sldId id="320" r:id="rId9"/>
    <p:sldId id="321" r:id="rId10"/>
    <p:sldId id="270" r:id="rId11"/>
    <p:sldId id="271" r:id="rId12"/>
    <p:sldId id="296" r:id="rId13"/>
    <p:sldId id="272" r:id="rId14"/>
    <p:sldId id="276" r:id="rId15"/>
    <p:sldId id="311" r:id="rId16"/>
    <p:sldId id="274" r:id="rId17"/>
    <p:sldId id="275" r:id="rId18"/>
    <p:sldId id="277" r:id="rId19"/>
    <p:sldId id="278" r:id="rId20"/>
    <p:sldId id="313" r:id="rId21"/>
    <p:sldId id="312" r:id="rId22"/>
    <p:sldId id="315" r:id="rId23"/>
    <p:sldId id="279" r:id="rId24"/>
    <p:sldId id="314" r:id="rId25"/>
    <p:sldId id="316" r:id="rId26"/>
    <p:sldId id="317" r:id="rId27"/>
    <p:sldId id="318" r:id="rId28"/>
    <p:sldId id="280" r:id="rId29"/>
    <p:sldId id="281" r:id="rId30"/>
    <p:sldId id="282" r:id="rId31"/>
    <p:sldId id="288" r:id="rId32"/>
    <p:sldId id="291" r:id="rId33"/>
    <p:sldId id="287" r:id="rId34"/>
    <p:sldId id="286" r:id="rId35"/>
    <p:sldId id="289" r:id="rId36"/>
    <p:sldId id="290" r:id="rId37"/>
    <p:sldId id="292" r:id="rId38"/>
    <p:sldId id="293" r:id="rId39"/>
    <p:sldId id="294" r:id="rId40"/>
    <p:sldId id="295" r:id="rId41"/>
    <p:sldId id="297" r:id="rId42"/>
    <p:sldId id="310" r:id="rId43"/>
    <p:sldId id="309" r:id="rId4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80069" autoAdjust="0"/>
  </p:normalViewPr>
  <p:slideViewPr>
    <p:cSldViewPr snapToGrid="0" snapToObjects="1">
      <p:cViewPr varScale="1">
        <p:scale>
          <a:sx n="59" d="100"/>
          <a:sy n="59" d="100"/>
        </p:scale>
        <p:origin x="171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2261AE-3279-2B40-971D-FE5BBF2C3878}" type="datetimeFigureOut">
              <a:rPr lang="en-US" smtClean="0"/>
              <a:t>11/2/2022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9787D6-74B1-B44D-8654-BCEE28471B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094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Datagram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en.wikipedia.org/wiki/Communication_channel" TargetMode="External"/><Relationship Id="rId4" Type="http://schemas.openxmlformats.org/officeDocument/2006/relationships/hyperlink" Target="https://en.wikipedia.org/wiki/Internet_Protocol" TargetMode="Externa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TCP/IP</a:t>
            </a:r>
            <a:r>
              <a:rPr lang="en-US" baseline="0" dirty="0" smtClean="0"/>
              <a:t> are usually implemented in the OS. 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9787D6-74B1-B44D-8654-BCEE28471BC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9001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1200" dirty="0" smtClean="0"/>
              <a:t>Physical Layer:</a:t>
            </a:r>
            <a:r>
              <a:rPr lang="en-US" altLang="en-US" sz="1200" baseline="0" dirty="0" smtClean="0"/>
              <a:t>  </a:t>
            </a:r>
            <a:r>
              <a:rPr lang="en-US" altLang="en-US" sz="1200" dirty="0" smtClean="0"/>
              <a:t>Coaxial cable,  Optical fiber, Wireless communications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200" dirty="0" smtClean="0"/>
              <a:t>Data</a:t>
            </a:r>
            <a:r>
              <a:rPr lang="en-US" altLang="en-US" sz="1200" baseline="0" dirty="0" smtClean="0"/>
              <a:t> Link Layer: </a:t>
            </a:r>
            <a:r>
              <a:rPr lang="en-US" dirty="0" smtClean="0"/>
              <a:t>transferring datagram from one node to physically adjacent node over a link, using MAC address, </a:t>
            </a:r>
            <a:r>
              <a:rPr kumimoji="1" lang="en-US" altLang="ja-JP" sz="1200" dirty="0" smtClean="0">
                <a:latin typeface="Tahoma" panose="020B0604030504040204" pitchFamily="34" charset="0"/>
                <a:ea typeface="+mn-ea"/>
              </a:rPr>
              <a:t>includes device driver and network interface card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200" dirty="0" smtClean="0"/>
              <a:t>IP</a:t>
            </a:r>
            <a:r>
              <a:rPr lang="en-US" altLang="en-US" sz="1200" baseline="0" dirty="0" smtClean="0"/>
              <a:t> (Internet Protocol): </a:t>
            </a:r>
            <a:r>
              <a:rPr lang="en-US" sz="1200" dirty="0" smtClean="0"/>
              <a:t>To move packets from source to destination,</a:t>
            </a:r>
            <a:r>
              <a:rPr lang="en-US" sz="1200" baseline="0" dirty="0" smtClean="0"/>
              <a:t> </a:t>
            </a:r>
            <a:r>
              <a:rPr lang="en-US" altLang="en-US" sz="1200" baseline="0" dirty="0" smtClean="0"/>
              <a:t>using IP address </a:t>
            </a:r>
          </a:p>
          <a:p>
            <a:r>
              <a:rPr lang="en-US" altLang="en-US" sz="1200" baseline="0" dirty="0" smtClean="0"/>
              <a:t>TCP layer (</a:t>
            </a:r>
            <a:r>
              <a:rPr lang="en-US" dirty="0" smtClean="0"/>
              <a:t>Transmission Control Protocol):</a:t>
            </a:r>
            <a:r>
              <a:rPr lang="en-US" baseline="0" dirty="0" smtClean="0"/>
              <a:t>  </a:t>
            </a:r>
            <a:r>
              <a:rPr kumimoji="1" lang="en-US" altLang="ja-JP" sz="1200" dirty="0" smtClean="0">
                <a:latin typeface="Tahoma" panose="020B0604030504040204" pitchFamily="34" charset="0"/>
                <a:ea typeface="+mn-ea"/>
              </a:rPr>
              <a:t>provides a reliable flow of data between two hosts</a:t>
            </a:r>
            <a:endParaRPr lang="en-US" baseline="0" dirty="0" smtClean="0"/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smtClean="0"/>
              <a:t>Application Layer: </a:t>
            </a:r>
            <a:r>
              <a:rPr kumimoji="1" lang="en-US" altLang="ja-JP" sz="1200" dirty="0" smtClean="0"/>
              <a:t>handles the details of the particular application, using TCP/IP suite, FTP, HTTP, Web service, SMTP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1200" dirty="0" smtClean="0"/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200" dirty="0" smtClean="0"/>
              <a:t>MTU: Maximum</a:t>
            </a:r>
            <a:r>
              <a:rPr kumimoji="1" lang="en-US" altLang="ja-JP" sz="1200" baseline="0" dirty="0" smtClean="0"/>
              <a:t> transmission unit: 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1500-byte packet, the largest allowed by Ethernet at the network layer</a:t>
            </a:r>
            <a:endParaRPr kumimoji="1" lang="en-US" altLang="ja-JP" sz="1200" dirty="0" smtClean="0"/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1200" dirty="0" smtClean="0"/>
          </a:p>
          <a:p>
            <a: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None/>
            </a:pPr>
            <a:r>
              <a:rPr kumimoji="1" lang="en-US" altLang="ja-JP" dirty="0" smtClean="0">
                <a:latin typeface="Tahoma" panose="020B0604030504040204" pitchFamily="34" charset="0"/>
                <a:ea typeface="+mn-ea"/>
              </a:rPr>
              <a:t>The data is sent down the protocol stack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None/>
            </a:pPr>
            <a:r>
              <a:rPr kumimoji="1" lang="en-US" altLang="ja-JP" dirty="0" smtClean="0">
                <a:latin typeface="Tahoma" panose="020B0604030504040204" pitchFamily="34" charset="0"/>
                <a:ea typeface="+mn-ea"/>
              </a:rPr>
              <a:t>Each layer adds to the data by prepending headers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None/>
            </a:pPr>
            <a:endParaRPr kumimoji="1" lang="en-US" altLang="ja-JP" dirty="0" smtClean="0">
              <a:latin typeface="Tahoma" panose="020B0604030504040204" pitchFamily="34" charset="0"/>
              <a:ea typeface="+mn-ea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None/>
            </a:pPr>
            <a:r>
              <a:rPr kumimoji="1" lang="en-US" altLang="ja-JP" dirty="0" smtClean="0">
                <a:latin typeface="Tahoma" panose="020B0604030504040204" pitchFamily="34" charset="0"/>
                <a:ea typeface="+mn-ea"/>
              </a:rPr>
              <a:t>MTU: Maximum</a:t>
            </a:r>
            <a:r>
              <a:rPr kumimoji="1" lang="en-US" altLang="ja-JP" baseline="0" dirty="0" smtClean="0">
                <a:latin typeface="Tahoma" panose="020B0604030504040204" pitchFamily="34" charset="0"/>
                <a:ea typeface="+mn-ea"/>
              </a:rPr>
              <a:t> Transmission Unit</a:t>
            </a:r>
            <a:endParaRPr kumimoji="1" lang="en-US" altLang="ja-JP" dirty="0" smtClean="0">
              <a:latin typeface="Tahoma" panose="020B0604030504040204" pitchFamily="34" charset="0"/>
              <a:ea typeface="+mn-ea"/>
            </a:endParaRP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1200" dirty="0" smtClean="0"/>
          </a:p>
          <a:p>
            <a:endParaRPr lang="en-US" altLang="en-US" sz="1200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9787D6-74B1-B44D-8654-BCEE28471BC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4253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6E6FDE-BABB-4E7B-8AFF-F4EB839DEDC6}" type="slidenum">
              <a:rPr lang="en-US" altLang="en-US"/>
              <a:pPr/>
              <a:t>8</a:t>
            </a:fld>
            <a:endParaRPr lang="en-US" altLang="en-US"/>
          </a:p>
        </p:txBody>
      </p:sp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416425"/>
            <a:ext cx="5029200" cy="4183063"/>
          </a:xfrm>
        </p:spPr>
        <p:txBody>
          <a:bodyPr/>
          <a:lstStyle/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 Datagram Protocol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</a:t>
            </a: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UDP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</a:t>
            </a:r>
            <a:r>
              <a:rPr lang="en-US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 UDP, computer applications can send messages, in this case referred to as </a:t>
            </a:r>
            <a:r>
              <a:rPr lang="en-US" sz="1200" b="0" i="1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 tooltip="Datagram"/>
              </a:rPr>
              <a:t>datagrams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to other hosts on an </a:t>
            </a:r>
            <a:r>
              <a:rPr lang="en-US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 tooltip="Internet Protocol"/>
              </a:rPr>
              <a:t>Internet Protocol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(IP) network. Prior communications are not required in order to set up </a:t>
            </a:r>
            <a:r>
              <a:rPr lang="en-US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 tooltip="Communication channel"/>
              </a:rPr>
              <a:t>communication channels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or data paths.</a:t>
            </a:r>
            <a:endParaRPr lang="en-US" altLang="ja-JP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772287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B18187F-A5F5-4B65-A345-9EF48DF25395}" type="slidenum">
              <a:rPr lang="en-US" altLang="en-US"/>
              <a:pPr/>
              <a:t>9</a:t>
            </a:fld>
            <a:endParaRPr lang="en-US" altLang="en-US"/>
          </a:p>
        </p:txBody>
      </p:sp>
      <p:sp>
        <p:nvSpPr>
          <p:cNvPr id="692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2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 smtClean="0"/>
              <a:t>Session:</a:t>
            </a:r>
            <a:r>
              <a:rPr lang="en-US" altLang="en-US" baseline="0" dirty="0" smtClean="0"/>
              <a:t> </a:t>
            </a:r>
            <a:r>
              <a:rPr lang="en-US" altLang="en-US" baseline="0" dirty="0" err="1" smtClean="0"/>
              <a:t>Interhost</a:t>
            </a:r>
            <a:r>
              <a:rPr lang="en-US" altLang="en-US" baseline="0" dirty="0" smtClean="0"/>
              <a:t> communication: NFS, RPC, SQL</a:t>
            </a:r>
          </a:p>
          <a:p>
            <a:r>
              <a:rPr lang="en-US" altLang="en-US" baseline="0" dirty="0" smtClean="0"/>
              <a:t>Presentation: JPEG, MPEG, ASCII</a:t>
            </a:r>
          </a:p>
          <a:p>
            <a:r>
              <a:rPr lang="en-US" altLang="en-US" baseline="0" dirty="0" smtClean="0"/>
              <a:t>Application: HTTP, FTP, DNS, SMTP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7994858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MAC address:</a:t>
            </a:r>
            <a:r>
              <a:rPr lang="en-US" baseline="0" dirty="0" smtClean="0"/>
              <a:t> physical address, assigned by the manufacturer, unique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9787D6-74B1-B44D-8654-BCEE28471BC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9346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</a:t>
            </a:r>
            <a:r>
              <a:rPr lang="en-US" baseline="0" dirty="0"/>
              <a:t> we have a </a:t>
            </a:r>
            <a:r>
              <a:rPr lang="en-US" baseline="0" dirty="0" smtClean="0"/>
              <a:t>demo, </a:t>
            </a:r>
            <a:r>
              <a:rPr lang="en-US" baseline="0" dirty="0" err="1" smtClean="0"/>
              <a:t>ifconfig</a:t>
            </a:r>
            <a:r>
              <a:rPr lang="en-US" baseline="0" dirty="0" smtClean="0"/>
              <a:t> to show the IP address, and MAC address.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9787D6-74B1-B44D-8654-BCEE28471BC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5637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altLang="en-US" dirty="0" smtClean="0">
                <a:latin typeface="Arial" panose="020B0604020202020204" pitchFamily="34" charset="0"/>
              </a:rPr>
              <a:t>Protocol:</a:t>
            </a:r>
            <a:r>
              <a:rPr lang="en-GB" altLang="en-US" baseline="0" dirty="0" smtClean="0">
                <a:latin typeface="Arial" panose="020B0604020202020204" pitchFamily="34" charset="0"/>
              </a:rPr>
              <a:t> </a:t>
            </a:r>
            <a:r>
              <a:rPr lang="en-GB" altLang="en-US" dirty="0" smtClean="0">
                <a:latin typeface="Arial" panose="020B0604020202020204" pitchFamily="34" charset="0"/>
              </a:rPr>
              <a:t>1 = ICMP, 6 = TCP, 17 = UDP</a:t>
            </a:r>
          </a:p>
          <a:p>
            <a:r>
              <a:rPr lang="en-US" dirty="0" smtClean="0"/>
              <a:t>ICMP: 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Internet Control Message Protocol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9787D6-74B1-B44D-8654-BCEE28471BC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9547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altLang="en-US" dirty="0" smtClean="0">
                <a:latin typeface="Arial" panose="020B0604020202020204" pitchFamily="34" charset="0"/>
              </a:rPr>
              <a:t>Protocol:</a:t>
            </a:r>
            <a:r>
              <a:rPr lang="en-GB" altLang="en-US" baseline="0" dirty="0" smtClean="0">
                <a:latin typeface="Arial" panose="020B0604020202020204" pitchFamily="34" charset="0"/>
              </a:rPr>
              <a:t> </a:t>
            </a:r>
            <a:r>
              <a:rPr lang="en-GB" altLang="en-US" dirty="0" smtClean="0">
                <a:latin typeface="Arial" panose="020B0604020202020204" pitchFamily="34" charset="0"/>
              </a:rPr>
              <a:t>1 = ICMP, 6 = TCP, 17 = UDP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ICMP: 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Internet Control Message Protocol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9787D6-74B1-B44D-8654-BCEE28471BC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9721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Port number</a:t>
            </a:r>
            <a:r>
              <a:rPr lang="en-US" baseline="0" dirty="0" smtClean="0"/>
              <a:t> is associated with a specific </a:t>
            </a:r>
            <a:r>
              <a:rPr lang="en-US" baseline="0" dirty="0" smtClean="0"/>
              <a:t>process (a specific application).</a:t>
            </a:r>
          </a:p>
          <a:p>
            <a:endParaRPr lang="en-US" baseline="0" dirty="0" smtClean="0"/>
          </a:p>
          <a:p>
            <a:r>
              <a:rPr lang="en-US" baseline="0" dirty="0" smtClean="0"/>
              <a:t>FTP port: 21</a:t>
            </a:r>
          </a:p>
          <a:p>
            <a:r>
              <a:rPr lang="en-US" baseline="0" dirty="0" smtClean="0"/>
              <a:t>HTTP port: 80</a:t>
            </a:r>
          </a:p>
          <a:p>
            <a:r>
              <a:rPr lang="en-US" baseline="0" dirty="0" smtClean="0"/>
              <a:t>HTTPS port: 443</a:t>
            </a:r>
          </a:p>
          <a:p>
            <a:r>
              <a:rPr lang="en-US" baseline="0" dirty="0" smtClean="0"/>
              <a:t>DNS port: 53</a:t>
            </a:r>
          </a:p>
          <a:p>
            <a:r>
              <a:rPr lang="en-US" baseline="0" dirty="0" smtClean="0"/>
              <a:t>SSH: 22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9787D6-74B1-B44D-8654-BCEE28471BCE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0739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9787D6-74B1-B44D-8654-BCEE28471BCE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9611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PSH flag in the TCP header </a:t>
            </a: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informs the receiving host that the data should be pushed up to the receiving application immediately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URG flag is </a:t>
            </a: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used to inform a receiving station that certain data within a segment is urgent and should be prioritized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9787D6-74B1-B44D-8654-BCEE28471BCE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9122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Loss of the packet can be detected. Retransmission</a:t>
            </a:r>
            <a:r>
              <a:rPr lang="en-US" baseline="0" dirty="0" smtClean="0"/>
              <a:t> will be done.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9787D6-74B1-B44D-8654-BCEE28471BCE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9894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SYN flag </a:t>
            </a: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synchronizes sequence numbers to initiate a TCP connection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ACK - </a:t>
            </a: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acknowledgment flag is used to acknowledge the successful receipt of a packet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PSH flag in the TCP header </a:t>
            </a: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informs the receiving host that the data should be pushed up to the receiving application immediately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URG flag is </a:t>
            </a: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used to inform a receiving station that certain data within a segment is urgent and should be prioritized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TCP SYN packet is sent when the client wants to connect on a particular port, but if the destination/server for some reason doesn't want to accept the packet, it would send an ACK+RST packet.</a:t>
            </a:r>
            <a:endParaRPr lang="en-US" dirty="0" smtClean="0"/>
          </a:p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FIN flag </a:t>
            </a: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indicates the end of data transmission to finish a TCP connection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9787D6-74B1-B44D-8654-BCEE28471BCE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5865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 </a:t>
            </a:r>
            <a:r>
              <a:rPr lang="en-US" dirty="0"/>
              <a:t>computer is practically connected to another network device (e.g., router, switch, and etc.) through certain physical media (e.g., cable). </a:t>
            </a:r>
            <a:endParaRPr lang="en-US" dirty="0" smtClean="0"/>
          </a:p>
          <a:p>
            <a:r>
              <a:rPr lang="en-US" dirty="0" smtClean="0"/>
              <a:t>Data</a:t>
            </a:r>
            <a:r>
              <a:rPr lang="en-US" baseline="0" dirty="0" smtClean="0"/>
              <a:t> link layer: Ethernet card, </a:t>
            </a:r>
            <a:r>
              <a:rPr lang="en-US" baseline="0" smtClean="0"/>
              <a:t>wireless adapter</a:t>
            </a:r>
            <a:endParaRPr lang="en-US" dirty="0"/>
          </a:p>
          <a:p>
            <a:endParaRPr lang="en-US" dirty="0"/>
          </a:p>
          <a:p>
            <a:r>
              <a:rPr lang="en-US" dirty="0"/>
              <a:t>The physical media might be</a:t>
            </a:r>
          </a:p>
          <a:p>
            <a:pPr lvl="1"/>
            <a:r>
              <a:rPr lang="en-US" dirty="0"/>
              <a:t>Unreliable =&gt; Introducing error to the packets</a:t>
            </a:r>
          </a:p>
          <a:p>
            <a:pPr lvl="1"/>
            <a:r>
              <a:rPr lang="en-US" dirty="0"/>
              <a:t>Shared =&gt; Introducing conflicts when sending packets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9787D6-74B1-B44D-8654-BCEE28471BCE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37573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+mn-ea"/>
              </a:rPr>
              <a:t>Data Link Layer: Ethernet, cellular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9787D6-74B1-B44D-8654-BCEE28471BCE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95120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computer is practically connected to another network device (e.g., router, switch, and etc.) through certain physical media (e.g., cable). </a:t>
            </a:r>
          </a:p>
          <a:p>
            <a:endParaRPr lang="en-US" dirty="0"/>
          </a:p>
          <a:p>
            <a:r>
              <a:rPr lang="en-US" dirty="0"/>
              <a:t>The physical media might be</a:t>
            </a:r>
          </a:p>
          <a:p>
            <a:pPr lvl="1"/>
            <a:r>
              <a:rPr lang="en-US" dirty="0"/>
              <a:t>Unreliable =&gt; Introducing error to the packets</a:t>
            </a:r>
          </a:p>
          <a:p>
            <a:pPr lvl="1"/>
            <a:r>
              <a:rPr lang="en-US" dirty="0"/>
              <a:t>Shared =&gt; Introducing conflicts when sending packets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9787D6-74B1-B44D-8654-BCEE28471BCE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37573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 smtClean="0"/>
              <a:t>Pcap</a:t>
            </a:r>
            <a:r>
              <a:rPr lang="en-US" dirty="0" smtClean="0"/>
              <a:t>, </a:t>
            </a:r>
            <a:r>
              <a:rPr lang="en-US" dirty="0" err="1" smtClean="0"/>
              <a:t>winpcap</a:t>
            </a:r>
            <a:endParaRPr lang="en-US" dirty="0" smtClean="0"/>
          </a:p>
          <a:p>
            <a:r>
              <a:rPr lang="en-US" dirty="0" smtClean="0"/>
              <a:t>The honeypot</a:t>
            </a:r>
            <a:r>
              <a:rPr lang="en-US" baseline="0" dirty="0" smtClean="0"/>
              <a:t> project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9787D6-74B1-B44D-8654-BCEE28471BCE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54940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Wireshark: The value of Header</a:t>
            </a:r>
            <a:r>
              <a:rPr lang="en-US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length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field, when multiplied by 4, gives the number of bytes contained in the header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dirty="0" smtClean="0"/>
              <a:t>Octet = 8-bit number (usually we call this a byte, but old DEC systems used 7-bit bytes) = values 0-255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9787D6-74B1-B44D-8654-BCEE28471BCE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2659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5A904-05D1-2E4C-BE20-0B31593015EC}" type="datetimeFigureOut">
              <a:rPr lang="en-US" smtClean="0"/>
              <a:t>11/2/2022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28EB6-31A1-AB4C-A835-6662C14E3F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0860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5A904-05D1-2E4C-BE20-0B31593015EC}" type="datetimeFigureOut">
              <a:rPr lang="en-US" smtClean="0"/>
              <a:t>11/2/2022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28EB6-31A1-AB4C-A835-6662C14E3F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6072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5A904-05D1-2E4C-BE20-0B31593015EC}" type="datetimeFigureOut">
              <a:rPr lang="en-US" smtClean="0"/>
              <a:t>11/2/2022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28EB6-31A1-AB4C-A835-6662C14E3F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172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5A904-05D1-2E4C-BE20-0B31593015EC}" type="datetimeFigureOut">
              <a:rPr lang="en-US" smtClean="0"/>
              <a:t>11/2/2022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28EB6-31A1-AB4C-A835-6662C14E3F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791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5A904-05D1-2E4C-BE20-0B31593015EC}" type="datetimeFigureOut">
              <a:rPr lang="en-US" smtClean="0"/>
              <a:t>11/2/2022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28EB6-31A1-AB4C-A835-6662C14E3F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745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5A904-05D1-2E4C-BE20-0B31593015EC}" type="datetimeFigureOut">
              <a:rPr lang="en-US" smtClean="0"/>
              <a:t>11/2/2022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28EB6-31A1-AB4C-A835-6662C14E3F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9709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5A904-05D1-2E4C-BE20-0B31593015EC}" type="datetimeFigureOut">
              <a:rPr lang="en-US" smtClean="0"/>
              <a:t>11/2/2022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28EB6-31A1-AB4C-A835-6662C14E3F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785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5A904-05D1-2E4C-BE20-0B31593015EC}" type="datetimeFigureOut">
              <a:rPr lang="en-US" smtClean="0"/>
              <a:t>11/2/2022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28EB6-31A1-AB4C-A835-6662C14E3F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9091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5A904-05D1-2E4C-BE20-0B31593015EC}" type="datetimeFigureOut">
              <a:rPr lang="en-US" smtClean="0"/>
              <a:t>11/2/2022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28EB6-31A1-AB4C-A835-6662C14E3F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4951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5A904-05D1-2E4C-BE20-0B31593015EC}" type="datetimeFigureOut">
              <a:rPr lang="en-US" smtClean="0"/>
              <a:t>11/2/2022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28EB6-31A1-AB4C-A835-6662C14E3F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9367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5A904-05D1-2E4C-BE20-0B31593015EC}" type="datetimeFigureOut">
              <a:rPr lang="en-US" smtClean="0"/>
              <a:t>11/2/2022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28EB6-31A1-AB4C-A835-6662C14E3F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437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E5A904-05D1-2E4C-BE20-0B31593015EC}" type="datetimeFigureOut">
              <a:rPr lang="en-US" smtClean="0"/>
              <a:t>11/2/2022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D28EB6-31A1-AB4C-A835-6662C14E3F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245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jpe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gi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gi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gif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0100" y="733425"/>
            <a:ext cx="7772400" cy="1470025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Introduction to Networking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0100" y="3886200"/>
            <a:ext cx="7658100" cy="1752600"/>
          </a:xfrm>
        </p:spPr>
        <p:txBody>
          <a:bodyPr/>
          <a:lstStyle/>
          <a:p>
            <a:pPr algn="l"/>
            <a:r>
              <a:rPr lang="en-US" altLang="en-US" dirty="0">
                <a:solidFill>
                  <a:schemeClr val="tx1"/>
                </a:solidFill>
              </a:rPr>
              <a:t>This lecture is mainly based on the </a:t>
            </a:r>
            <a:r>
              <a:rPr lang="en-US" altLang="en-US" dirty="0" err="1">
                <a:solidFill>
                  <a:schemeClr val="tx1"/>
                </a:solidFill>
              </a:rPr>
              <a:t>powerpoint</a:t>
            </a:r>
            <a:r>
              <a:rPr lang="en-US" altLang="en-US" dirty="0">
                <a:solidFill>
                  <a:schemeClr val="tx1"/>
                </a:solidFill>
              </a:rPr>
              <a:t> slides by Prof. Mark </a:t>
            </a:r>
            <a:r>
              <a:rPr lang="en-US" altLang="en-US" dirty="0" smtClean="0">
                <a:solidFill>
                  <a:schemeClr val="tx1"/>
                </a:solidFill>
              </a:rPr>
              <a:t>Stamp, Dr. </a:t>
            </a:r>
            <a:r>
              <a:rPr lang="en-US" altLang="en-US" dirty="0" err="1" smtClean="0">
                <a:solidFill>
                  <a:schemeClr val="tx1"/>
                </a:solidFill>
              </a:rPr>
              <a:t>Junjie</a:t>
            </a:r>
            <a:r>
              <a:rPr lang="en-US" altLang="en-US" dirty="0" smtClean="0">
                <a:solidFill>
                  <a:schemeClr val="tx1"/>
                </a:solidFill>
              </a:rPr>
              <a:t> Zhang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36546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Network</a:t>
            </a:r>
          </a:p>
          <a:p>
            <a:pPr lvl="1"/>
            <a:r>
              <a:rPr lang="en-US" dirty="0"/>
              <a:t>A network is a set of protocols, software, and hardware used to exchange information among different systems.</a:t>
            </a:r>
          </a:p>
        </p:txBody>
      </p:sp>
      <p:pic>
        <p:nvPicPr>
          <p:cNvPr id="4" name="Picture 3" descr="Unstructured_peer-to-peer_network_diagr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1285" y="3630611"/>
            <a:ext cx="3366392" cy="2743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18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Types</a:t>
            </a:r>
          </a:p>
        </p:txBody>
      </p:sp>
      <p:pic>
        <p:nvPicPr>
          <p:cNvPr id="4" name="Picture 3" descr="download.jpe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8223" y="1839962"/>
            <a:ext cx="2152036" cy="1793363"/>
          </a:xfrm>
          <a:prstGeom prst="rect">
            <a:avLst/>
          </a:prstGeom>
        </p:spPr>
      </p:pic>
      <p:pic>
        <p:nvPicPr>
          <p:cNvPr id="5" name="Picture 4" descr="tower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1075" y="1646903"/>
            <a:ext cx="2217032" cy="2058219"/>
          </a:xfrm>
          <a:prstGeom prst="rect">
            <a:avLst/>
          </a:prstGeom>
        </p:spPr>
      </p:pic>
      <p:pic>
        <p:nvPicPr>
          <p:cNvPr id="6" name="Picture 5" descr="US_Military_Satellite_Network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742" y="4285524"/>
            <a:ext cx="2777612" cy="1699863"/>
          </a:xfrm>
          <a:prstGeom prst="rect">
            <a:avLst/>
          </a:prstGeom>
        </p:spPr>
      </p:pic>
      <p:pic>
        <p:nvPicPr>
          <p:cNvPr id="7" name="Picture 6" descr="screen+shot+2011-10-11+at+9_05_00+am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6350" y="4285524"/>
            <a:ext cx="2492684" cy="169986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64037" y="5078586"/>
            <a:ext cx="6225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……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39806" y="3106993"/>
            <a:ext cx="20457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Telephone Network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034" y="3131575"/>
            <a:ext cx="18517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Cellular Networks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4531" y="6008330"/>
            <a:ext cx="19030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Satellite Networks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34015" y="6015705"/>
            <a:ext cx="13516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Internet</a:t>
            </a:r>
          </a:p>
        </p:txBody>
      </p:sp>
      <p:pic>
        <p:nvPicPr>
          <p:cNvPr id="13" name="Picture 12" descr="tower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2307" y="1839962"/>
            <a:ext cx="2217032" cy="2058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70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Internet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Internet is a global-scale network</a:t>
            </a:r>
          </a:p>
          <a:p>
            <a:pPr lvl="1"/>
            <a:r>
              <a:rPr lang="en-US" dirty="0"/>
              <a:t>Offers general-purpose service</a:t>
            </a:r>
          </a:p>
          <a:p>
            <a:pPr lvl="1"/>
            <a:r>
              <a:rPr lang="en-US" dirty="0"/>
              <a:t>Has billions of users worldwide</a:t>
            </a:r>
          </a:p>
          <a:p>
            <a:pPr lvl="1"/>
            <a:r>
              <a:rPr lang="en-US" dirty="0"/>
              <a:t>Consists of millions of “</a:t>
            </a:r>
            <a:r>
              <a:rPr lang="en-US" i="1" dirty="0"/>
              <a:t>smaller</a:t>
            </a:r>
            <a:r>
              <a:rPr lang="en-US" dirty="0"/>
              <a:t>” networks</a:t>
            </a:r>
          </a:p>
          <a:p>
            <a:pPr lvl="1"/>
            <a:r>
              <a:rPr lang="en-US" dirty="0"/>
              <a:t>Supports numerous types of services (Web, Email, VoIP……)</a:t>
            </a:r>
          </a:p>
        </p:txBody>
      </p:sp>
      <p:pic>
        <p:nvPicPr>
          <p:cNvPr id="5" name="Content Placeholder 4" descr="the-internet-of-things.jpg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0048" b="-30048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7090700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Timeline Of The Internet</a:t>
            </a:r>
          </a:p>
        </p:txBody>
      </p:sp>
      <p:pic>
        <p:nvPicPr>
          <p:cNvPr id="9" name="Picture 8" descr="1969_4-node_map (1).gi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12632" y="568530"/>
            <a:ext cx="4136075" cy="3762680"/>
          </a:xfrm>
          <a:prstGeom prst="rect">
            <a:avLst/>
          </a:prstGeom>
        </p:spPr>
      </p:pic>
      <p:pic>
        <p:nvPicPr>
          <p:cNvPr id="10" name="Picture 9" descr="internetmapsmall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7387" y="-1182184"/>
            <a:ext cx="9038765" cy="6797152"/>
          </a:xfrm>
          <a:prstGeom prst="rect">
            <a:avLst/>
          </a:prstGeom>
        </p:spPr>
      </p:pic>
      <p:pic>
        <p:nvPicPr>
          <p:cNvPr id="11" name="Picture 10" descr="weblogos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3804" y="-440846"/>
            <a:ext cx="4982342" cy="5355512"/>
          </a:xfrm>
          <a:prstGeom prst="rect">
            <a:avLst/>
          </a:prstGeom>
        </p:spPr>
      </p:pic>
      <p:pic>
        <p:nvPicPr>
          <p:cNvPr id="12" name="Picture 11" descr="Internet-Growth-Chart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965745" y="-5736772"/>
            <a:ext cx="7359326" cy="9775636"/>
          </a:xfrm>
          <a:prstGeom prst="rect">
            <a:avLst/>
          </a:prstGeom>
        </p:spPr>
      </p:pic>
      <p:sp>
        <p:nvSpPr>
          <p:cNvPr id="13" name="Right Arrow 12"/>
          <p:cNvSpPr/>
          <p:nvPr/>
        </p:nvSpPr>
        <p:spPr>
          <a:xfrm>
            <a:off x="2679290" y="3875548"/>
            <a:ext cx="835742" cy="221226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755227" y="4096774"/>
            <a:ext cx="6526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1969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66721" y="5436730"/>
            <a:ext cx="6526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2010</a:t>
            </a:r>
          </a:p>
        </p:txBody>
      </p:sp>
    </p:spTree>
    <p:extLst>
      <p:ext uri="{BB962C8B-B14F-4D97-AF65-F5344CB8AC3E}">
        <p14:creationId xmlns:p14="http://schemas.microsoft.com/office/powerpoint/2010/main" val="18774851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TCP/IP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8088" y="1354394"/>
            <a:ext cx="8229600" cy="857864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The Internet mainly uses the standard Internet protocol suite (a.k.a., TCP/IP). 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1534216" y="2687049"/>
            <a:ext cx="6026450" cy="3414621"/>
            <a:chOff x="741421" y="2752597"/>
            <a:chExt cx="6026450" cy="3414621"/>
          </a:xfrm>
        </p:grpSpPr>
        <p:grpSp>
          <p:nvGrpSpPr>
            <p:cNvPr id="7" name="Group 6"/>
            <p:cNvGrpSpPr/>
            <p:nvPr/>
          </p:nvGrpSpPr>
          <p:grpSpPr>
            <a:xfrm>
              <a:off x="741421" y="2752597"/>
              <a:ext cx="3187098" cy="3185549"/>
              <a:chOff x="3592775" y="1089896"/>
              <a:chExt cx="4776865" cy="5102685"/>
            </a:xfrm>
          </p:grpSpPr>
          <p:pic>
            <p:nvPicPr>
              <p:cNvPr id="4" name="Picture 3" descr="internetmapsmall.png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929098" y="1089896"/>
                <a:ext cx="2850775" cy="2143783"/>
              </a:xfrm>
              <a:prstGeom prst="rect">
                <a:avLst/>
              </a:prstGeom>
            </p:spPr>
          </p:pic>
          <p:pic>
            <p:nvPicPr>
              <p:cNvPr id="5" name="Picture 4" descr="weblogos.png"/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762702" y="2449870"/>
                <a:ext cx="2606938" cy="2802194"/>
              </a:xfrm>
              <a:prstGeom prst="rect">
                <a:avLst/>
              </a:prstGeom>
            </p:spPr>
          </p:pic>
          <p:pic>
            <p:nvPicPr>
              <p:cNvPr id="6" name="Picture 5" descr="Internet-Growth-Chart.png"/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592775" y="3310195"/>
                <a:ext cx="2169927" cy="2882386"/>
              </a:xfrm>
              <a:prstGeom prst="rect">
                <a:avLst/>
              </a:prstGeom>
            </p:spPr>
          </p:pic>
        </p:grpSp>
        <p:cxnSp>
          <p:nvCxnSpPr>
            <p:cNvPr id="9" name="Straight Connector 8"/>
            <p:cNvCxnSpPr/>
            <p:nvPr/>
          </p:nvCxnSpPr>
          <p:spPr>
            <a:xfrm flipV="1">
              <a:off x="2654709" y="4219677"/>
              <a:ext cx="4113162" cy="1718470"/>
            </a:xfrm>
            <a:prstGeom prst="line">
              <a:avLst/>
            </a:prstGeom>
            <a:ln w="76200" cmpd="sng">
              <a:solidFill>
                <a:schemeClr val="tx1">
                  <a:lumMod val="85000"/>
                  <a:lumOff val="1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Isosceles Triangle 11"/>
            <p:cNvSpPr/>
            <p:nvPr/>
          </p:nvSpPr>
          <p:spPr>
            <a:xfrm>
              <a:off x="3834581" y="5382193"/>
              <a:ext cx="589936" cy="415694"/>
            </a:xfrm>
            <a:prstGeom prst="triangle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719871" y="5797886"/>
              <a:ext cx="8275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TCP/IP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624377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 smtClean="0"/>
              <a:t> Part 2 </a:t>
            </a:r>
            <a:r>
              <a:rPr lang="en-US" smtClean="0">
                <a:sym typeface="Symbol" charset="2"/>
              </a:rPr>
              <a:t></a:t>
            </a:r>
            <a:r>
              <a:rPr lang="en-US" smtClean="0"/>
              <a:t> Access Control                                                                                                  </a:t>
            </a:r>
            <a:fld id="{C522C007-07DD-5B4F-B0C5-ADA68E46590E}" type="slidenum">
              <a:rPr lang="en-US" smtClean="0">
                <a:latin typeface="Times New Roman" charset="0"/>
              </a:rPr>
              <a:pPr/>
              <a:t>7</a:t>
            </a:fld>
            <a:endParaRPr lang="en-US" smtClean="0">
              <a:latin typeface="Times New Roman" charset="0"/>
            </a:endParaRPr>
          </a:p>
        </p:txBody>
      </p:sp>
      <p:sp>
        <p:nvSpPr>
          <p:cNvPr id="138243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7772400" cy="1143000"/>
          </a:xfrm>
        </p:spPr>
        <p:txBody>
          <a:bodyPr/>
          <a:lstStyle/>
          <a:p>
            <a:pPr eaLnBrk="1" hangingPunct="1"/>
            <a:r>
              <a:rPr lang="en-US" dirty="0" smtClean="0"/>
              <a:t>TCP/IP suite</a:t>
            </a:r>
            <a:endParaRPr lang="en-US" dirty="0"/>
          </a:p>
        </p:txBody>
      </p:sp>
      <p:sp>
        <p:nvSpPr>
          <p:cNvPr id="2252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00200"/>
            <a:ext cx="6019800" cy="4267200"/>
          </a:xfrm>
        </p:spPr>
        <p:txBody>
          <a:bodyPr>
            <a:normAutofit fontScale="70000" lnSpcReduction="20000"/>
          </a:bodyPr>
          <a:lstStyle/>
          <a:p>
            <a:r>
              <a:rPr lang="en-US" sz="2800" dirty="0" smtClean="0"/>
              <a:t>Physical Layer: To transmission bits over a media</a:t>
            </a:r>
            <a:endParaRPr lang="en-US" altLang="en-US" sz="2800" dirty="0"/>
          </a:p>
          <a:p>
            <a:r>
              <a:rPr lang="en-US" altLang="en-US" sz="2800" dirty="0" smtClean="0"/>
              <a:t>Data Link Layer: </a:t>
            </a:r>
            <a:r>
              <a:rPr lang="en-US" sz="2800" dirty="0"/>
              <a:t>transferring datagram from one node to physically adjacent node over a link, using MAC address</a:t>
            </a:r>
            <a:endParaRPr lang="en-US" altLang="en-US" sz="2800" dirty="0"/>
          </a:p>
          <a:p>
            <a:r>
              <a:rPr lang="en-US" sz="2800" dirty="0" smtClean="0"/>
              <a:t>Network Layer:  To move packets from source to destination</a:t>
            </a:r>
          </a:p>
          <a:p>
            <a:r>
              <a:rPr lang="en-US" sz="2800" dirty="0" smtClean="0"/>
              <a:t>TCP layer: </a:t>
            </a:r>
            <a:r>
              <a:rPr kumimoji="1" lang="en-US" altLang="ja-JP" sz="2800" dirty="0"/>
              <a:t>provides a </a:t>
            </a:r>
            <a:r>
              <a:rPr kumimoji="1" lang="en-US" altLang="ja-JP" sz="2800" dirty="0" smtClean="0"/>
              <a:t>message delivery between </a:t>
            </a:r>
            <a:r>
              <a:rPr kumimoji="1" lang="en-US" altLang="ja-JP" sz="2800" dirty="0"/>
              <a:t>two </a:t>
            </a:r>
            <a:r>
              <a:rPr kumimoji="1" lang="en-US" altLang="ja-JP" sz="2800" dirty="0" smtClean="0"/>
              <a:t>hosts (two processes), error control</a:t>
            </a:r>
            <a:endParaRPr kumimoji="1" lang="en-US" altLang="ja-JP" sz="2800" dirty="0"/>
          </a:p>
          <a:p>
            <a:r>
              <a:rPr lang="en-US" sz="2800" dirty="0" smtClean="0"/>
              <a:t>Application Layer: </a:t>
            </a:r>
            <a:r>
              <a:rPr kumimoji="1" lang="en-US" altLang="ja-JP" sz="2800" dirty="0"/>
              <a:t>handles the details of the particular </a:t>
            </a:r>
            <a:r>
              <a:rPr kumimoji="1" lang="en-US" altLang="ja-JP" sz="2800" dirty="0" smtClean="0"/>
              <a:t>application, using TCP/IP suite</a:t>
            </a:r>
          </a:p>
          <a:p>
            <a:endParaRPr kumimoji="1" lang="en-US" altLang="ja-JP" sz="2800" dirty="0"/>
          </a:p>
          <a:p>
            <a:pPr>
              <a:buClr>
                <a:schemeClr val="folHlink"/>
              </a:buClr>
              <a:buNone/>
            </a:pPr>
            <a:r>
              <a:rPr kumimoji="1" lang="en-US" altLang="ja-JP" sz="2800" dirty="0">
                <a:latin typeface="Tahoma" panose="020B0604030504040204" pitchFamily="34" charset="0"/>
              </a:rPr>
              <a:t>The data is sent down the protocol stack</a:t>
            </a:r>
          </a:p>
          <a:p>
            <a:pPr>
              <a:buClr>
                <a:schemeClr val="folHlink"/>
              </a:buClr>
              <a:buNone/>
            </a:pPr>
            <a:r>
              <a:rPr kumimoji="1" lang="en-US" altLang="ja-JP" sz="2800" dirty="0">
                <a:latin typeface="Tahoma" panose="020B0604030504040204" pitchFamily="34" charset="0"/>
              </a:rPr>
              <a:t>Each layer adds to the data by prepending headers</a:t>
            </a:r>
          </a:p>
          <a:p>
            <a:endParaRPr kumimoji="1" lang="en-US" altLang="ja-JP" sz="2800" dirty="0"/>
          </a:p>
          <a:p>
            <a:endParaRPr lang="en-US" dirty="0"/>
          </a:p>
        </p:txBody>
      </p:sp>
      <p:sp>
        <p:nvSpPr>
          <p:cNvPr id="138245" name="Rectangle 4"/>
          <p:cNvSpPr>
            <a:spLocks noChangeArrowheads="1"/>
          </p:cNvSpPr>
          <p:nvPr/>
        </p:nvSpPr>
        <p:spPr bwMode="auto">
          <a:xfrm>
            <a:off x="7080250" y="1765300"/>
            <a:ext cx="1892300" cy="3530600"/>
          </a:xfrm>
          <a:prstGeom prst="rect">
            <a:avLst/>
          </a:prstGeom>
          <a:solidFill>
            <a:schemeClr val="accent2"/>
          </a:solidFill>
          <a:ln w="38100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138246" name="Group 5"/>
          <p:cNvGrpSpPr>
            <a:grpSpLocks/>
          </p:cNvGrpSpPr>
          <p:nvPr/>
        </p:nvGrpSpPr>
        <p:grpSpPr bwMode="auto">
          <a:xfrm>
            <a:off x="7010400" y="1879600"/>
            <a:ext cx="1898650" cy="3530600"/>
            <a:chOff x="3076" y="888"/>
            <a:chExt cx="1196" cy="2224"/>
          </a:xfrm>
        </p:grpSpPr>
        <p:sp>
          <p:nvSpPr>
            <p:cNvPr id="138247" name="Rectangle 6"/>
            <p:cNvSpPr>
              <a:spLocks noChangeArrowheads="1"/>
            </p:cNvSpPr>
            <p:nvPr/>
          </p:nvSpPr>
          <p:spPr bwMode="auto">
            <a:xfrm>
              <a:off x="3080" y="888"/>
              <a:ext cx="1192" cy="2224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8248" name="Text Box 7"/>
            <p:cNvSpPr txBox="1">
              <a:spLocks noChangeArrowheads="1"/>
            </p:cNvSpPr>
            <p:nvPr/>
          </p:nvSpPr>
          <p:spPr bwMode="auto">
            <a:xfrm>
              <a:off x="3245" y="949"/>
              <a:ext cx="884" cy="197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n-US" b="1" dirty="0">
                  <a:solidFill>
                    <a:srgbClr val="C00000"/>
                  </a:solidFill>
                  <a:latin typeface="Arial" charset="0"/>
                </a:rPr>
                <a:t>application</a:t>
              </a:r>
              <a:endParaRPr lang="en-US" dirty="0">
                <a:solidFill>
                  <a:srgbClr val="C00000"/>
                </a:solidFill>
                <a:latin typeface="Arial" charset="0"/>
              </a:endParaRPr>
            </a:p>
            <a:p>
              <a:pPr algn="ctr" eaLnBrk="0" hangingPunct="0"/>
              <a:endParaRPr lang="en-US" dirty="0">
                <a:latin typeface="Arial" charset="0"/>
              </a:endParaRPr>
            </a:p>
            <a:p>
              <a:pPr algn="ctr" eaLnBrk="0" hangingPunct="0"/>
              <a:endParaRPr lang="en-US" b="1" dirty="0" smtClean="0">
                <a:solidFill>
                  <a:schemeClr val="accent2"/>
                </a:solidFill>
                <a:latin typeface="Arial" charset="0"/>
              </a:endParaRPr>
            </a:p>
            <a:p>
              <a:pPr algn="ctr" eaLnBrk="0" hangingPunct="0"/>
              <a:r>
                <a:rPr lang="en-US" b="1" dirty="0" smtClean="0">
                  <a:solidFill>
                    <a:schemeClr val="tx2"/>
                  </a:solidFill>
                  <a:latin typeface="Arial" charset="0"/>
                </a:rPr>
                <a:t>transport</a:t>
              </a:r>
              <a:endParaRPr lang="en-US" dirty="0">
                <a:solidFill>
                  <a:schemeClr val="tx2"/>
                </a:solidFill>
                <a:latin typeface="Arial" charset="0"/>
              </a:endParaRPr>
            </a:p>
            <a:p>
              <a:pPr algn="ctr" eaLnBrk="0" hangingPunct="0"/>
              <a:endParaRPr lang="en-US" dirty="0">
                <a:solidFill>
                  <a:schemeClr val="tx2"/>
                </a:solidFill>
                <a:latin typeface="Arial" charset="0"/>
              </a:endParaRPr>
            </a:p>
            <a:p>
              <a:pPr algn="ctr" eaLnBrk="0" hangingPunct="0"/>
              <a:r>
                <a:rPr lang="en-US" b="1" dirty="0">
                  <a:solidFill>
                    <a:schemeClr val="tx2"/>
                  </a:solidFill>
                  <a:latin typeface="Arial" charset="0"/>
                </a:rPr>
                <a:t>network</a:t>
              </a:r>
            </a:p>
            <a:p>
              <a:pPr algn="ctr" eaLnBrk="0" hangingPunct="0"/>
              <a:endParaRPr lang="en-US" dirty="0" smtClean="0">
                <a:latin typeface="Arial" charset="0"/>
              </a:endParaRPr>
            </a:p>
            <a:p>
              <a:pPr algn="ctr" eaLnBrk="0" hangingPunct="0"/>
              <a:endParaRPr lang="en-US" dirty="0">
                <a:latin typeface="Arial" charset="0"/>
              </a:endParaRPr>
            </a:p>
            <a:p>
              <a:pPr algn="ctr" eaLnBrk="0" hangingPunct="0"/>
              <a:r>
                <a:rPr lang="en-US" dirty="0" smtClean="0">
                  <a:latin typeface="Arial" charset="0"/>
                </a:rPr>
                <a:t>Data link</a:t>
              </a:r>
              <a:endParaRPr lang="en-US" dirty="0">
                <a:solidFill>
                  <a:srgbClr val="FF0000"/>
                </a:solidFill>
                <a:latin typeface="Arial" charset="0"/>
              </a:endParaRPr>
            </a:p>
            <a:p>
              <a:pPr algn="ctr" eaLnBrk="0" hangingPunct="0"/>
              <a:endParaRPr lang="en-US" dirty="0">
                <a:latin typeface="Arial" charset="0"/>
              </a:endParaRPr>
            </a:p>
            <a:p>
              <a:pPr algn="ctr" eaLnBrk="0" hangingPunct="0"/>
              <a:r>
                <a:rPr lang="en-US" dirty="0">
                  <a:latin typeface="Arial" charset="0"/>
                </a:rPr>
                <a:t>physical</a:t>
              </a:r>
            </a:p>
          </p:txBody>
        </p:sp>
        <p:sp>
          <p:nvSpPr>
            <p:cNvPr id="138249" name="Line 8"/>
            <p:cNvSpPr>
              <a:spLocks noChangeShapeType="1"/>
            </p:cNvSpPr>
            <p:nvPr/>
          </p:nvSpPr>
          <p:spPr bwMode="auto">
            <a:xfrm>
              <a:off x="3076" y="1324"/>
              <a:ext cx="1188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8250" name="Line 9"/>
            <p:cNvSpPr>
              <a:spLocks noChangeShapeType="1"/>
            </p:cNvSpPr>
            <p:nvPr/>
          </p:nvSpPr>
          <p:spPr bwMode="auto">
            <a:xfrm>
              <a:off x="3076" y="1768"/>
              <a:ext cx="1188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8251" name="Line 10"/>
            <p:cNvSpPr>
              <a:spLocks noChangeShapeType="1"/>
            </p:cNvSpPr>
            <p:nvPr/>
          </p:nvSpPr>
          <p:spPr bwMode="auto">
            <a:xfrm>
              <a:off x="3076" y="2216"/>
              <a:ext cx="1188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8252" name="Line 11"/>
            <p:cNvSpPr>
              <a:spLocks noChangeShapeType="1"/>
            </p:cNvSpPr>
            <p:nvPr/>
          </p:nvSpPr>
          <p:spPr bwMode="auto">
            <a:xfrm>
              <a:off x="3076" y="2664"/>
              <a:ext cx="1188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99158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52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52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252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252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252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252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252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283" grpId="0" build="p" bldLvl="2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0"/>
            <a:ext cx="7772400" cy="1143000"/>
          </a:xfrm>
        </p:spPr>
        <p:txBody>
          <a:bodyPr/>
          <a:lstStyle/>
          <a:p>
            <a:r>
              <a:rPr lang="en-US" altLang="ja-JP">
                <a:ea typeface="ＭＳ Ｐゴシック" panose="020B0600070205080204" pitchFamily="34" charset="-128"/>
              </a:rPr>
              <a:t>Packet Encapsulation </a:t>
            </a:r>
          </a:p>
        </p:txBody>
      </p:sp>
      <p:pic>
        <p:nvPicPr>
          <p:cNvPr id="35843" name="Picture 3" descr="encapsulatio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2133600"/>
            <a:ext cx="5268913" cy="3867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844" name="Text Box 4"/>
          <p:cNvSpPr txBox="1">
            <a:spLocks noChangeArrowheads="1"/>
          </p:cNvSpPr>
          <p:nvPr/>
        </p:nvSpPr>
        <p:spPr bwMode="auto">
          <a:xfrm>
            <a:off x="228600" y="1143000"/>
            <a:ext cx="8610600" cy="895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n"/>
            </a:pPr>
            <a:r>
              <a:rPr kumimoji="1" lang="en-US" altLang="ja-JP" dirty="0">
                <a:latin typeface="Tahoma" panose="020B0604030504040204" pitchFamily="34" charset="0"/>
                <a:ea typeface="ＭＳ Ｐゴシック" panose="020B0600070205080204" pitchFamily="34" charset="-128"/>
              </a:rPr>
              <a:t> The data is sent down the protocol stack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n"/>
            </a:pPr>
            <a:r>
              <a:rPr kumimoji="1" lang="en-US" altLang="ja-JP" dirty="0">
                <a:latin typeface="Tahoma" panose="020B0604030504040204" pitchFamily="34" charset="0"/>
                <a:ea typeface="ＭＳ Ｐゴシック" panose="020B0600070205080204" pitchFamily="34" charset="-128"/>
              </a:rPr>
              <a:t> Each layer adds to the data by prepending headers</a:t>
            </a:r>
          </a:p>
        </p:txBody>
      </p:sp>
      <p:sp>
        <p:nvSpPr>
          <p:cNvPr id="35845" name="Line 5"/>
          <p:cNvSpPr>
            <a:spLocks noChangeShapeType="1"/>
          </p:cNvSpPr>
          <p:nvPr/>
        </p:nvSpPr>
        <p:spPr bwMode="auto">
          <a:xfrm>
            <a:off x="2743200" y="57912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5846" name="Line 6"/>
          <p:cNvSpPr>
            <a:spLocks noChangeShapeType="1"/>
          </p:cNvSpPr>
          <p:nvPr/>
        </p:nvSpPr>
        <p:spPr bwMode="auto">
          <a:xfrm>
            <a:off x="3429000" y="57912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5847" name="Line 7"/>
          <p:cNvSpPr>
            <a:spLocks noChangeShapeType="1"/>
          </p:cNvSpPr>
          <p:nvPr/>
        </p:nvSpPr>
        <p:spPr bwMode="auto">
          <a:xfrm>
            <a:off x="4152900" y="57912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5848" name="Line 8"/>
          <p:cNvSpPr>
            <a:spLocks noChangeShapeType="1"/>
          </p:cNvSpPr>
          <p:nvPr/>
        </p:nvSpPr>
        <p:spPr bwMode="auto">
          <a:xfrm>
            <a:off x="4826000" y="57912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5849" name="Line 9"/>
          <p:cNvSpPr>
            <a:spLocks noChangeShapeType="1"/>
          </p:cNvSpPr>
          <p:nvPr/>
        </p:nvSpPr>
        <p:spPr bwMode="auto">
          <a:xfrm>
            <a:off x="6172200" y="57912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5850" name="Line 10"/>
          <p:cNvSpPr>
            <a:spLocks noChangeShapeType="1"/>
          </p:cNvSpPr>
          <p:nvPr/>
        </p:nvSpPr>
        <p:spPr bwMode="auto">
          <a:xfrm>
            <a:off x="6934200" y="57912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5851" name="Line 11"/>
          <p:cNvSpPr>
            <a:spLocks noChangeShapeType="1"/>
          </p:cNvSpPr>
          <p:nvPr/>
        </p:nvSpPr>
        <p:spPr bwMode="auto">
          <a:xfrm>
            <a:off x="2743200" y="59436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5852" name="Text Box 12"/>
          <p:cNvSpPr txBox="1">
            <a:spLocks noChangeArrowheads="1"/>
          </p:cNvSpPr>
          <p:nvPr/>
        </p:nvSpPr>
        <p:spPr bwMode="auto">
          <a:xfrm>
            <a:off x="2667000" y="5943600"/>
            <a:ext cx="8032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ja-JP" sz="1400">
                <a:latin typeface="Tahoma" panose="020B0604030504040204" pitchFamily="34" charset="0"/>
                <a:ea typeface="ＭＳ Ｐゴシック" panose="020B0600070205080204" pitchFamily="34" charset="-128"/>
              </a:rPr>
              <a:t>22Bytes</a:t>
            </a:r>
          </a:p>
        </p:txBody>
      </p:sp>
      <p:sp>
        <p:nvSpPr>
          <p:cNvPr id="35853" name="Line 13"/>
          <p:cNvSpPr>
            <a:spLocks noChangeShapeType="1"/>
          </p:cNvSpPr>
          <p:nvPr/>
        </p:nvSpPr>
        <p:spPr bwMode="auto">
          <a:xfrm>
            <a:off x="3454400" y="59436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5854" name="Text Box 14"/>
          <p:cNvSpPr txBox="1">
            <a:spLocks noChangeArrowheads="1"/>
          </p:cNvSpPr>
          <p:nvPr/>
        </p:nvSpPr>
        <p:spPr bwMode="auto">
          <a:xfrm>
            <a:off x="3387725" y="5943600"/>
            <a:ext cx="8032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ja-JP" sz="1400">
                <a:latin typeface="Tahoma" panose="020B0604030504040204" pitchFamily="34" charset="0"/>
                <a:ea typeface="ＭＳ Ｐゴシック" panose="020B0600070205080204" pitchFamily="34" charset="-128"/>
              </a:rPr>
              <a:t>20Bytes</a:t>
            </a:r>
          </a:p>
        </p:txBody>
      </p:sp>
      <p:sp>
        <p:nvSpPr>
          <p:cNvPr id="35855" name="Line 15"/>
          <p:cNvSpPr>
            <a:spLocks noChangeShapeType="1"/>
          </p:cNvSpPr>
          <p:nvPr/>
        </p:nvSpPr>
        <p:spPr bwMode="auto">
          <a:xfrm>
            <a:off x="4152900" y="59436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5856" name="Text Box 16"/>
          <p:cNvSpPr txBox="1">
            <a:spLocks noChangeArrowheads="1"/>
          </p:cNvSpPr>
          <p:nvPr/>
        </p:nvSpPr>
        <p:spPr bwMode="auto">
          <a:xfrm>
            <a:off x="4114800" y="5943600"/>
            <a:ext cx="8032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ja-JP" sz="1400">
                <a:latin typeface="Tahoma" panose="020B0604030504040204" pitchFamily="34" charset="0"/>
                <a:ea typeface="ＭＳ Ｐゴシック" panose="020B0600070205080204" pitchFamily="34" charset="-128"/>
              </a:rPr>
              <a:t>20Bytes</a:t>
            </a:r>
          </a:p>
        </p:txBody>
      </p:sp>
      <p:sp>
        <p:nvSpPr>
          <p:cNvPr id="35857" name="Text Box 17"/>
          <p:cNvSpPr txBox="1">
            <a:spLocks noChangeArrowheads="1"/>
          </p:cNvSpPr>
          <p:nvPr/>
        </p:nvSpPr>
        <p:spPr bwMode="auto">
          <a:xfrm>
            <a:off x="6172200" y="5943600"/>
            <a:ext cx="70643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ja-JP" sz="1400">
                <a:latin typeface="Tahoma" panose="020B0604030504040204" pitchFamily="34" charset="0"/>
                <a:ea typeface="ＭＳ Ｐゴシック" panose="020B0600070205080204" pitchFamily="34" charset="-128"/>
              </a:rPr>
              <a:t>4Bytes</a:t>
            </a:r>
          </a:p>
        </p:txBody>
      </p:sp>
      <p:sp>
        <p:nvSpPr>
          <p:cNvPr id="35858" name="Line 18"/>
          <p:cNvSpPr>
            <a:spLocks noChangeShapeType="1"/>
          </p:cNvSpPr>
          <p:nvPr/>
        </p:nvSpPr>
        <p:spPr bwMode="auto">
          <a:xfrm>
            <a:off x="6172200" y="5943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5859" name="Line 19"/>
          <p:cNvSpPr>
            <a:spLocks noChangeShapeType="1"/>
          </p:cNvSpPr>
          <p:nvPr/>
        </p:nvSpPr>
        <p:spPr bwMode="auto">
          <a:xfrm>
            <a:off x="3429000" y="62484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5860" name="Line 20"/>
          <p:cNvSpPr>
            <a:spLocks noChangeShapeType="1"/>
          </p:cNvSpPr>
          <p:nvPr/>
        </p:nvSpPr>
        <p:spPr bwMode="auto">
          <a:xfrm>
            <a:off x="6172200" y="62484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5861" name="Text Box 21"/>
          <p:cNvSpPr txBox="1">
            <a:spLocks noChangeArrowheads="1"/>
          </p:cNvSpPr>
          <p:nvPr/>
        </p:nvSpPr>
        <p:spPr bwMode="auto">
          <a:xfrm>
            <a:off x="4114800" y="6400800"/>
            <a:ext cx="151288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ja-JP" sz="1400">
                <a:latin typeface="Tahoma" panose="020B0604030504040204" pitchFamily="34" charset="0"/>
                <a:ea typeface="ＭＳ Ｐゴシック" panose="020B0600070205080204" pitchFamily="34" charset="-128"/>
              </a:rPr>
              <a:t>64 to 1500 Bytes</a:t>
            </a:r>
          </a:p>
        </p:txBody>
      </p:sp>
      <p:sp>
        <p:nvSpPr>
          <p:cNvPr id="35862" name="Line 22"/>
          <p:cNvSpPr>
            <a:spLocks noChangeShapeType="1"/>
          </p:cNvSpPr>
          <p:nvPr/>
        </p:nvSpPr>
        <p:spPr bwMode="auto">
          <a:xfrm>
            <a:off x="3429000" y="6400800"/>
            <a:ext cx="27432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5085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908" name="Text Box 4"/>
          <p:cNvSpPr txBox="1">
            <a:spLocks noChangeArrowheads="1"/>
          </p:cNvSpPr>
          <p:nvPr/>
        </p:nvSpPr>
        <p:spPr bwMode="auto">
          <a:xfrm>
            <a:off x="304800" y="457200"/>
            <a:ext cx="323678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 i="1" dirty="0" smtClean="0"/>
              <a:t>Seven </a:t>
            </a:r>
            <a:r>
              <a:rPr lang="en-US" altLang="en-US" sz="2000" i="1" dirty="0"/>
              <a:t>layers of the OSI model</a:t>
            </a:r>
          </a:p>
        </p:txBody>
      </p:sp>
      <p:pic>
        <p:nvPicPr>
          <p:cNvPr id="635910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9475" y="1427163"/>
            <a:ext cx="4251325" cy="4364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85730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Internet Addressing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199" y="1600200"/>
            <a:ext cx="4934155" cy="452596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The Internet Protocol (IP) address</a:t>
            </a:r>
          </a:p>
          <a:p>
            <a:pPr lvl="1"/>
            <a:r>
              <a:rPr lang="en-US" dirty="0"/>
              <a:t>Logical address</a:t>
            </a:r>
          </a:p>
          <a:p>
            <a:pPr lvl="1"/>
            <a:r>
              <a:rPr lang="en-US" dirty="0"/>
              <a:t>Manually or automatically assigned to a network interface controller (NIC)</a:t>
            </a:r>
          </a:p>
          <a:p>
            <a:pPr lvl="1"/>
            <a:r>
              <a:rPr lang="en-US" dirty="0"/>
              <a:t>32 bits for IPv4</a:t>
            </a:r>
          </a:p>
          <a:p>
            <a:r>
              <a:rPr lang="en-US" dirty="0"/>
              <a:t>Media Access Control (MAC) address</a:t>
            </a:r>
          </a:p>
          <a:p>
            <a:pPr lvl="1"/>
            <a:r>
              <a:rPr lang="en-US" dirty="0"/>
              <a:t>Physical address</a:t>
            </a:r>
          </a:p>
          <a:p>
            <a:pPr lvl="1"/>
            <a:r>
              <a:rPr lang="en-US" dirty="0"/>
              <a:t>Assigned to a NIC by the manufacturer and are stored in hardware or firmware</a:t>
            </a:r>
          </a:p>
          <a:p>
            <a:pPr lvl="1"/>
            <a:r>
              <a:rPr lang="en-US" dirty="0"/>
              <a:t>48 bits</a:t>
            </a:r>
          </a:p>
        </p:txBody>
      </p:sp>
      <p:pic>
        <p:nvPicPr>
          <p:cNvPr id="5" name="Picture 4" descr="11970860341366255994paco758_Air_Mail.svg.hi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9061" y="1869248"/>
            <a:ext cx="2179989" cy="1293460"/>
          </a:xfrm>
          <a:prstGeom prst="rect">
            <a:avLst/>
          </a:prstGeom>
        </p:spPr>
      </p:pic>
      <p:pic>
        <p:nvPicPr>
          <p:cNvPr id="8" name="Picture 7" descr="enetcard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5694" y="4080385"/>
            <a:ext cx="2243356" cy="1762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2871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Internet Addressing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185606"/>
          </a:xfrm>
        </p:spPr>
        <p:txBody>
          <a:bodyPr/>
          <a:lstStyle/>
          <a:p>
            <a:r>
              <a:rPr lang="en-US" dirty="0"/>
              <a:t>An address is usually converted to a human-readable notation based on octets.</a:t>
            </a:r>
          </a:p>
        </p:txBody>
      </p:sp>
      <p:pic>
        <p:nvPicPr>
          <p:cNvPr id="7" name="Picture 6" descr="fig1_ip_address (1)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3784" y="3113747"/>
            <a:ext cx="5230368" cy="1572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281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Here we have a demo, </a:t>
            </a:r>
            <a:r>
              <a:rPr lang="en-US" dirty="0" err="1"/>
              <a:t>ifconfig</a:t>
            </a:r>
            <a:r>
              <a:rPr lang="en-US" dirty="0"/>
              <a:t> to show the IP address, and MAC address.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5781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Layer</a:t>
            </a:r>
          </a:p>
        </p:txBody>
      </p:sp>
      <p:pic>
        <p:nvPicPr>
          <p:cNvPr id="4" name="Picture 3" descr="office-building-icon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9109" y="2763986"/>
            <a:ext cx="1314245" cy="1314245"/>
          </a:xfrm>
          <a:prstGeom prst="rect">
            <a:avLst/>
          </a:prstGeom>
        </p:spPr>
      </p:pic>
      <p:pic>
        <p:nvPicPr>
          <p:cNvPr id="5" name="Picture 4" descr="netalloy_commercial_building-999px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1681" y="2576136"/>
            <a:ext cx="1022667" cy="1533489"/>
          </a:xfrm>
          <a:prstGeom prst="rect">
            <a:avLst/>
          </a:prstGeom>
        </p:spPr>
      </p:pic>
      <p:pic>
        <p:nvPicPr>
          <p:cNvPr id="6" name="Picture 5" descr="11970860341366255994paco758_Air_Mail.svg.hi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1422" y="2089922"/>
            <a:ext cx="1007389" cy="59771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921422" y="4120473"/>
            <a:ext cx="11058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Address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95423" y="4228971"/>
            <a:ext cx="11058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Address 2</a:t>
            </a:r>
          </a:p>
        </p:txBody>
      </p:sp>
      <p:sp>
        <p:nvSpPr>
          <p:cNvPr id="9" name="Cloud 8"/>
          <p:cNvSpPr/>
          <p:nvPr/>
        </p:nvSpPr>
        <p:spPr>
          <a:xfrm>
            <a:off x="3531420" y="1417638"/>
            <a:ext cx="2466257" cy="1253613"/>
          </a:xfrm>
          <a:prstGeom prst="cloud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Mailing Service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 flipV="1">
            <a:off x="3027276" y="2576136"/>
            <a:ext cx="725369" cy="31618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5634992" y="2521542"/>
            <a:ext cx="725369" cy="51007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ular Callout 13"/>
          <p:cNvSpPr/>
          <p:nvPr/>
        </p:nvSpPr>
        <p:spPr>
          <a:xfrm>
            <a:off x="1921422" y="4120473"/>
            <a:ext cx="1138903" cy="434258"/>
          </a:xfrm>
          <a:prstGeom prst="wedgeRoundRectCallout">
            <a:avLst>
              <a:gd name="adj1" fmla="val -35941"/>
              <a:gd name="adj2" fmla="val -479009"/>
              <a:gd name="adj3" fmla="val 16667"/>
            </a:avLst>
          </a:prstGeom>
          <a:solidFill>
            <a:srgbClr val="FF0000">
              <a:alpha val="39000"/>
            </a:srgbClr>
          </a:solidFill>
          <a:ln>
            <a:solidFill>
              <a:schemeClr val="accent1">
                <a:shade val="95000"/>
                <a:satMod val="105000"/>
                <a:alpha val="47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ular Callout 14"/>
          <p:cNvSpPr/>
          <p:nvPr/>
        </p:nvSpPr>
        <p:spPr>
          <a:xfrm>
            <a:off x="6295423" y="4228971"/>
            <a:ext cx="1138903" cy="434258"/>
          </a:xfrm>
          <a:prstGeom prst="wedgeRoundRectCallout">
            <a:avLst>
              <a:gd name="adj1" fmla="val -387020"/>
              <a:gd name="adj2" fmla="val -463915"/>
              <a:gd name="adj3" fmla="val 16667"/>
            </a:avLst>
          </a:prstGeom>
          <a:solidFill>
            <a:srgbClr val="FF0000">
              <a:alpha val="39000"/>
            </a:srgbClr>
          </a:solidFill>
          <a:ln>
            <a:solidFill>
              <a:schemeClr val="accent1">
                <a:shade val="95000"/>
                <a:satMod val="105000"/>
                <a:alpha val="47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/>
          <p:cNvGrpSpPr/>
          <p:nvPr/>
        </p:nvGrpSpPr>
        <p:grpSpPr>
          <a:xfrm>
            <a:off x="924027" y="1048774"/>
            <a:ext cx="728737" cy="1204452"/>
            <a:chOff x="924027" y="1048774"/>
            <a:chExt cx="728737" cy="1204452"/>
          </a:xfrm>
        </p:grpSpPr>
        <p:pic>
          <p:nvPicPr>
            <p:cNvPr id="16" name="Picture 15" descr="download (1).jpeg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4027" y="1048774"/>
              <a:ext cx="728737" cy="926485"/>
            </a:xfrm>
            <a:prstGeom prst="rect">
              <a:avLst/>
            </a:prstGeom>
          </p:spPr>
        </p:pic>
        <p:sp>
          <p:nvSpPr>
            <p:cNvPr id="17" name="Line Callout 1 16"/>
            <p:cNvSpPr/>
            <p:nvPr/>
          </p:nvSpPr>
          <p:spPr>
            <a:xfrm>
              <a:off x="924027" y="2024987"/>
              <a:ext cx="728737" cy="228239"/>
            </a:xfrm>
            <a:prstGeom prst="borderCallout1">
              <a:avLst>
                <a:gd name="adj1" fmla="val 54479"/>
                <a:gd name="adj2" fmla="val 97356"/>
                <a:gd name="adj3" fmla="val 137221"/>
                <a:gd name="adj4" fmla="val 138190"/>
              </a:avLst>
            </a:prstGeom>
            <a:ln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rgbClr val="000000"/>
                  </a:solidFill>
                </a:rPr>
                <a:t>Content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74593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1745" y="1256227"/>
            <a:ext cx="8229600" cy="54651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Send a packet to a networked computer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2259293" y="4048827"/>
            <a:ext cx="1147168" cy="89164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Computer 1</a:t>
            </a:r>
          </a:p>
          <a:p>
            <a:pPr algn="ctr"/>
            <a:r>
              <a:rPr lang="en-US" sz="1200" dirty="0"/>
              <a:t>Address: IP1</a:t>
            </a:r>
          </a:p>
        </p:txBody>
      </p:sp>
      <p:sp>
        <p:nvSpPr>
          <p:cNvPr id="6" name="Rectangle 5"/>
          <p:cNvSpPr/>
          <p:nvPr/>
        </p:nvSpPr>
        <p:spPr>
          <a:xfrm>
            <a:off x="5686252" y="4048827"/>
            <a:ext cx="1147168" cy="89164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Computer 2</a:t>
            </a:r>
          </a:p>
          <a:p>
            <a:pPr algn="ctr"/>
            <a:r>
              <a:rPr lang="en-US" sz="1200" dirty="0"/>
              <a:t>Address: IP2</a:t>
            </a:r>
          </a:p>
        </p:txBody>
      </p:sp>
      <p:sp>
        <p:nvSpPr>
          <p:cNvPr id="7" name="Cloud 6"/>
          <p:cNvSpPr/>
          <p:nvPr/>
        </p:nvSpPr>
        <p:spPr>
          <a:xfrm>
            <a:off x="2546184" y="1802737"/>
            <a:ext cx="4080721" cy="1255833"/>
          </a:xfrm>
          <a:prstGeom prst="cloud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The Internet</a:t>
            </a:r>
          </a:p>
        </p:txBody>
      </p:sp>
      <p:cxnSp>
        <p:nvCxnSpPr>
          <p:cNvPr id="8" name="Curved Connector 7"/>
          <p:cNvCxnSpPr/>
          <p:nvPr/>
        </p:nvCxnSpPr>
        <p:spPr>
          <a:xfrm rot="5400000">
            <a:off x="2794786" y="3264457"/>
            <a:ext cx="1038328" cy="530411"/>
          </a:xfrm>
          <a:prstGeom prst="curved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urved Connector 8"/>
          <p:cNvCxnSpPr>
            <a:endCxn id="6" idx="0"/>
          </p:cNvCxnSpPr>
          <p:nvPr/>
        </p:nvCxnSpPr>
        <p:spPr>
          <a:xfrm rot="16200000" flipH="1">
            <a:off x="5466215" y="3255207"/>
            <a:ext cx="1038330" cy="548912"/>
          </a:xfrm>
          <a:prstGeom prst="curved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Freeform 9"/>
          <p:cNvSpPr/>
          <p:nvPr/>
        </p:nvSpPr>
        <p:spPr>
          <a:xfrm>
            <a:off x="3258439" y="2652461"/>
            <a:ext cx="2652056" cy="1308458"/>
          </a:xfrm>
          <a:custGeom>
            <a:avLst/>
            <a:gdLst>
              <a:gd name="connsiteX0" fmla="*/ 0 w 3174744"/>
              <a:gd name="connsiteY0" fmla="*/ 1538709 h 1538709"/>
              <a:gd name="connsiteX1" fmla="*/ 959807 w 3174744"/>
              <a:gd name="connsiteY1" fmla="*/ 165263 h 1538709"/>
              <a:gd name="connsiteX2" fmla="*/ 2126340 w 3174744"/>
              <a:gd name="connsiteY2" fmla="*/ 76654 h 1538709"/>
              <a:gd name="connsiteX3" fmla="*/ 2820354 w 3174744"/>
              <a:gd name="connsiteY3" fmla="*/ 637847 h 1538709"/>
              <a:gd name="connsiteX4" fmla="*/ 3174744 w 3174744"/>
              <a:gd name="connsiteY4" fmla="*/ 1450100 h 15387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74744" h="1538709">
                <a:moveTo>
                  <a:pt x="0" y="1538709"/>
                </a:moveTo>
                <a:cubicBezTo>
                  <a:pt x="302708" y="973824"/>
                  <a:pt x="605417" y="408939"/>
                  <a:pt x="959807" y="165263"/>
                </a:cubicBezTo>
                <a:cubicBezTo>
                  <a:pt x="1314197" y="-78413"/>
                  <a:pt x="1816249" y="-2110"/>
                  <a:pt x="2126340" y="76654"/>
                </a:cubicBezTo>
                <a:cubicBezTo>
                  <a:pt x="2436431" y="155418"/>
                  <a:pt x="2645620" y="408939"/>
                  <a:pt x="2820354" y="637847"/>
                </a:cubicBezTo>
                <a:cubicBezTo>
                  <a:pt x="2995088" y="866755"/>
                  <a:pt x="3174744" y="1450100"/>
                  <a:pt x="3174744" y="1450100"/>
                </a:cubicBezTo>
              </a:path>
            </a:pathLst>
          </a:custGeom>
          <a:ln>
            <a:solidFill>
              <a:srgbClr val="FF0000"/>
            </a:solidFill>
            <a:prstDash val="sysDash"/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grpSp>
        <p:nvGrpSpPr>
          <p:cNvPr id="11" name="Group 10"/>
          <p:cNvGrpSpPr/>
          <p:nvPr/>
        </p:nvGrpSpPr>
        <p:grpSpPr>
          <a:xfrm>
            <a:off x="3579156" y="3265390"/>
            <a:ext cx="1736126" cy="926485"/>
            <a:chOff x="3579156" y="3036212"/>
            <a:chExt cx="1736126" cy="926485"/>
          </a:xfrm>
        </p:grpSpPr>
        <p:grpSp>
          <p:nvGrpSpPr>
            <p:cNvPr id="12" name="Group 11"/>
            <p:cNvGrpSpPr/>
            <p:nvPr/>
          </p:nvGrpSpPr>
          <p:grpSpPr>
            <a:xfrm>
              <a:off x="3579156" y="3036212"/>
              <a:ext cx="1736126" cy="926485"/>
              <a:chOff x="3579156" y="3036212"/>
              <a:chExt cx="1736126" cy="926485"/>
            </a:xfrm>
          </p:grpSpPr>
          <p:pic>
            <p:nvPicPr>
              <p:cNvPr id="15" name="Picture 14" descr="11970860341366255994paco758_Air_Mail.svg.hi.png"/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579156" y="3221932"/>
                <a:ext cx="1007389" cy="597717"/>
              </a:xfrm>
              <a:prstGeom prst="rect">
                <a:avLst/>
              </a:prstGeom>
            </p:spPr>
          </p:pic>
          <p:pic>
            <p:nvPicPr>
              <p:cNvPr id="16" name="Picture 15" descr="download (1).jpeg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586545" y="3036212"/>
                <a:ext cx="728737" cy="926485"/>
              </a:xfrm>
              <a:prstGeom prst="rect">
                <a:avLst/>
              </a:prstGeom>
            </p:spPr>
          </p:pic>
        </p:grpSp>
        <p:sp>
          <p:nvSpPr>
            <p:cNvPr id="13" name="Rectangle 12"/>
            <p:cNvSpPr/>
            <p:nvPr/>
          </p:nvSpPr>
          <p:spPr>
            <a:xfrm>
              <a:off x="3611915" y="3255953"/>
              <a:ext cx="402923" cy="24622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US" sz="1000" dirty="0"/>
                <a:t>IP1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887218" y="3408353"/>
              <a:ext cx="402923" cy="24622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US" sz="1000" dirty="0"/>
                <a:t>IP2</a:t>
              </a: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2892323" y="5296236"/>
            <a:ext cx="3146323" cy="517919"/>
            <a:chOff x="2898956" y="5006305"/>
            <a:chExt cx="3072581" cy="709001"/>
          </a:xfrm>
        </p:grpSpPr>
        <p:grpSp>
          <p:nvGrpSpPr>
            <p:cNvPr id="18" name="Group 17"/>
            <p:cNvGrpSpPr/>
            <p:nvPr/>
          </p:nvGrpSpPr>
          <p:grpSpPr>
            <a:xfrm>
              <a:off x="2898956" y="5139127"/>
              <a:ext cx="3072581" cy="576179"/>
              <a:chOff x="1882729" y="5685553"/>
              <a:chExt cx="3072581" cy="576179"/>
            </a:xfrm>
          </p:grpSpPr>
          <p:sp>
            <p:nvSpPr>
              <p:cNvPr id="20" name="Rectangle 19"/>
              <p:cNvSpPr/>
              <p:nvPr/>
            </p:nvSpPr>
            <p:spPr>
              <a:xfrm>
                <a:off x="1882729" y="5685553"/>
                <a:ext cx="1351087" cy="576179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Packet Header</a:t>
                </a:r>
              </a:p>
            </p:txBody>
          </p:sp>
          <p:sp>
            <p:nvSpPr>
              <p:cNvPr id="21" name="Rectangle 20"/>
              <p:cNvSpPr/>
              <p:nvPr/>
            </p:nvSpPr>
            <p:spPr>
              <a:xfrm>
                <a:off x="3233815" y="5685553"/>
                <a:ext cx="1721495" cy="576179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Payload/data</a:t>
                </a:r>
              </a:p>
            </p:txBody>
          </p:sp>
        </p:grpSp>
        <p:sp>
          <p:nvSpPr>
            <p:cNvPr id="19" name="TextBox 18"/>
            <p:cNvSpPr txBox="1"/>
            <p:nvPr/>
          </p:nvSpPr>
          <p:spPr>
            <a:xfrm>
              <a:off x="3545998" y="5006305"/>
              <a:ext cx="18466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sz="1200" dirty="0"/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3743992" y="4121113"/>
            <a:ext cx="1393363" cy="1175123"/>
            <a:chOff x="3743992" y="3891935"/>
            <a:chExt cx="1393363" cy="1175123"/>
          </a:xfrm>
        </p:grpSpPr>
        <p:cxnSp>
          <p:nvCxnSpPr>
            <p:cNvPr id="23" name="Straight Arrow Connector 22"/>
            <p:cNvCxnSpPr/>
            <p:nvPr/>
          </p:nvCxnSpPr>
          <p:spPr>
            <a:xfrm flipH="1">
              <a:off x="3743992" y="3891935"/>
              <a:ext cx="270846" cy="1089742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/>
            <p:nvPr/>
          </p:nvCxnSpPr>
          <p:spPr>
            <a:xfrm>
              <a:off x="4866968" y="4047613"/>
              <a:ext cx="270387" cy="1019445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oup 24"/>
          <p:cNvGrpSpPr/>
          <p:nvPr/>
        </p:nvGrpSpPr>
        <p:grpSpPr>
          <a:xfrm>
            <a:off x="2905396" y="5868487"/>
            <a:ext cx="3098948" cy="783897"/>
            <a:chOff x="2905396" y="5639309"/>
            <a:chExt cx="3098948" cy="783897"/>
          </a:xfrm>
        </p:grpSpPr>
        <p:grpSp>
          <p:nvGrpSpPr>
            <p:cNvPr id="26" name="Group 25"/>
            <p:cNvGrpSpPr/>
            <p:nvPr/>
          </p:nvGrpSpPr>
          <p:grpSpPr>
            <a:xfrm>
              <a:off x="2905396" y="5905287"/>
              <a:ext cx="3098948" cy="517919"/>
              <a:chOff x="2902449" y="5809393"/>
              <a:chExt cx="3098948" cy="517919"/>
            </a:xfrm>
          </p:grpSpPr>
          <p:grpSp>
            <p:nvGrpSpPr>
              <p:cNvPr id="28" name="Group 27"/>
              <p:cNvGrpSpPr/>
              <p:nvPr/>
            </p:nvGrpSpPr>
            <p:grpSpPr>
              <a:xfrm>
                <a:off x="3517645" y="5809393"/>
                <a:ext cx="2483752" cy="517919"/>
                <a:chOff x="3545998" y="5006305"/>
                <a:chExt cx="2425539" cy="709001"/>
              </a:xfrm>
            </p:grpSpPr>
            <p:grpSp>
              <p:nvGrpSpPr>
                <p:cNvPr id="30" name="Group 29"/>
                <p:cNvGrpSpPr/>
                <p:nvPr/>
              </p:nvGrpSpPr>
              <p:grpSpPr>
                <a:xfrm>
                  <a:off x="3582374" y="5139127"/>
                  <a:ext cx="2389163" cy="576179"/>
                  <a:chOff x="2566147" y="5685553"/>
                  <a:chExt cx="2389163" cy="576179"/>
                </a:xfrm>
              </p:grpSpPr>
              <p:sp>
                <p:nvSpPr>
                  <p:cNvPr id="32" name="Rectangle 31"/>
                  <p:cNvSpPr/>
                  <p:nvPr/>
                </p:nvSpPr>
                <p:spPr>
                  <a:xfrm>
                    <a:off x="2566147" y="5685553"/>
                    <a:ext cx="667669" cy="576179"/>
                  </a:xfrm>
                  <a:prstGeom prst="rect">
                    <a:avLst/>
                  </a:prstGeom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/>
                      <a:t>IP2</a:t>
                    </a:r>
                  </a:p>
                </p:txBody>
              </p:sp>
              <p:sp>
                <p:nvSpPr>
                  <p:cNvPr id="33" name="Rectangle 32"/>
                  <p:cNvSpPr/>
                  <p:nvPr/>
                </p:nvSpPr>
                <p:spPr>
                  <a:xfrm>
                    <a:off x="3233815" y="5685553"/>
                    <a:ext cx="1721495" cy="576179"/>
                  </a:xfrm>
                  <a:prstGeom prst="rect">
                    <a:avLst/>
                  </a:prstGeom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/>
                      <a:t>payload</a:t>
                    </a:r>
                  </a:p>
                </p:txBody>
              </p:sp>
            </p:grpSp>
            <p:sp>
              <p:nvSpPr>
                <p:cNvPr id="31" name="TextBox 30"/>
                <p:cNvSpPr txBox="1"/>
                <p:nvPr/>
              </p:nvSpPr>
              <p:spPr>
                <a:xfrm>
                  <a:off x="3545998" y="5006305"/>
                  <a:ext cx="18466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en-US" sz="1200" dirty="0"/>
                </a:p>
              </p:txBody>
            </p:sp>
          </p:grpSp>
          <p:sp>
            <p:nvSpPr>
              <p:cNvPr id="29" name="Rectangle 28"/>
              <p:cNvSpPr/>
              <p:nvPr/>
            </p:nvSpPr>
            <p:spPr>
              <a:xfrm>
                <a:off x="2902449" y="5905287"/>
                <a:ext cx="652445" cy="42089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IP1</a:t>
                </a:r>
              </a:p>
            </p:txBody>
          </p:sp>
        </p:grpSp>
        <p:sp>
          <p:nvSpPr>
            <p:cNvPr id="27" name="Down Arrow 26"/>
            <p:cNvSpPr/>
            <p:nvPr/>
          </p:nvSpPr>
          <p:spPr>
            <a:xfrm>
              <a:off x="4422674" y="5639309"/>
              <a:ext cx="163871" cy="286774"/>
            </a:xfrm>
            <a:prstGeom prst="downArrow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73388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87477"/>
          </a:xfrm>
        </p:spPr>
        <p:txBody>
          <a:bodyPr/>
          <a:lstStyle/>
          <a:p>
            <a:r>
              <a:rPr lang="en-US" dirty="0"/>
              <a:t>The IPv4 Header</a:t>
            </a:r>
          </a:p>
        </p:txBody>
      </p:sp>
      <p:pic>
        <p:nvPicPr>
          <p:cNvPr id="5" name="Picture 4" descr="IP_Header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3644" y="2187677"/>
            <a:ext cx="5568509" cy="4302285"/>
          </a:xfrm>
          <a:prstGeom prst="rect">
            <a:avLst/>
          </a:prstGeom>
        </p:spPr>
      </p:pic>
      <p:grpSp>
        <p:nvGrpSpPr>
          <p:cNvPr id="6" name="Group 5"/>
          <p:cNvGrpSpPr/>
          <p:nvPr/>
        </p:nvGrpSpPr>
        <p:grpSpPr>
          <a:xfrm>
            <a:off x="860323" y="2187677"/>
            <a:ext cx="3146323" cy="517919"/>
            <a:chOff x="2898956" y="5006305"/>
            <a:chExt cx="3072581" cy="709001"/>
          </a:xfrm>
        </p:grpSpPr>
        <p:grpSp>
          <p:nvGrpSpPr>
            <p:cNvPr id="7" name="Group 6"/>
            <p:cNvGrpSpPr/>
            <p:nvPr/>
          </p:nvGrpSpPr>
          <p:grpSpPr>
            <a:xfrm>
              <a:off x="2898956" y="5139127"/>
              <a:ext cx="3072581" cy="576179"/>
              <a:chOff x="1882729" y="5685553"/>
              <a:chExt cx="3072581" cy="576179"/>
            </a:xfrm>
          </p:grpSpPr>
          <p:sp>
            <p:nvSpPr>
              <p:cNvPr id="9" name="Rectangle 8"/>
              <p:cNvSpPr/>
              <p:nvPr/>
            </p:nvSpPr>
            <p:spPr>
              <a:xfrm>
                <a:off x="1882729" y="5685553"/>
                <a:ext cx="1351087" cy="576179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IP Header</a:t>
                </a:r>
              </a:p>
            </p:txBody>
          </p:sp>
          <p:sp>
            <p:nvSpPr>
              <p:cNvPr id="10" name="Rectangle 9"/>
              <p:cNvSpPr/>
              <p:nvPr/>
            </p:nvSpPr>
            <p:spPr>
              <a:xfrm>
                <a:off x="3233815" y="5685553"/>
                <a:ext cx="1721495" cy="576179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Payload/data</a:t>
                </a:r>
              </a:p>
            </p:txBody>
          </p:sp>
        </p:grpSp>
        <p:sp>
          <p:nvSpPr>
            <p:cNvPr id="8" name="TextBox 7"/>
            <p:cNvSpPr txBox="1"/>
            <p:nvPr/>
          </p:nvSpPr>
          <p:spPr>
            <a:xfrm>
              <a:off x="3545998" y="5006305"/>
              <a:ext cx="18466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sz="1200" dirty="0"/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1552081" y="2705595"/>
            <a:ext cx="889596" cy="2562856"/>
            <a:chOff x="1552081" y="2705595"/>
            <a:chExt cx="889596" cy="2562856"/>
          </a:xfrm>
        </p:grpSpPr>
        <p:sp>
          <p:nvSpPr>
            <p:cNvPr id="11" name="Left Brace 10"/>
            <p:cNvSpPr/>
            <p:nvPr/>
          </p:nvSpPr>
          <p:spPr>
            <a:xfrm>
              <a:off x="2146710" y="3252838"/>
              <a:ext cx="294967" cy="2015613"/>
            </a:xfrm>
            <a:prstGeom prst="lef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" name="Elbow Connector 12"/>
            <p:cNvCxnSpPr>
              <a:stCxn id="9" idx="2"/>
              <a:endCxn id="11" idx="1"/>
            </p:cNvCxnSpPr>
            <p:nvPr/>
          </p:nvCxnSpPr>
          <p:spPr>
            <a:xfrm rot="16200000" flipH="1">
              <a:off x="1071871" y="3185805"/>
              <a:ext cx="1555049" cy="594630"/>
            </a:xfrm>
            <a:prstGeom prst="bentConnector2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Rectangle 14"/>
          <p:cNvSpPr/>
          <p:nvPr/>
        </p:nvSpPr>
        <p:spPr>
          <a:xfrm>
            <a:off x="2785806" y="4342579"/>
            <a:ext cx="4399935" cy="226961"/>
          </a:xfrm>
          <a:prstGeom prst="rect">
            <a:avLst/>
          </a:prstGeom>
          <a:solidFill>
            <a:srgbClr val="FF0000">
              <a:alpha val="3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2777612" y="4705554"/>
            <a:ext cx="4399935" cy="226961"/>
          </a:xfrm>
          <a:prstGeom prst="rect">
            <a:avLst/>
          </a:prstGeom>
          <a:solidFill>
            <a:srgbClr val="FF0000">
              <a:alpha val="3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132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87477"/>
          </a:xfrm>
        </p:spPr>
        <p:txBody>
          <a:bodyPr/>
          <a:lstStyle/>
          <a:p>
            <a:r>
              <a:rPr lang="en-US" dirty="0"/>
              <a:t>The IPv4 Header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860323" y="2187677"/>
            <a:ext cx="3146323" cy="517919"/>
            <a:chOff x="2898956" y="5006305"/>
            <a:chExt cx="3072581" cy="709001"/>
          </a:xfrm>
        </p:grpSpPr>
        <p:grpSp>
          <p:nvGrpSpPr>
            <p:cNvPr id="7" name="Group 6"/>
            <p:cNvGrpSpPr/>
            <p:nvPr/>
          </p:nvGrpSpPr>
          <p:grpSpPr>
            <a:xfrm>
              <a:off x="2898956" y="5139127"/>
              <a:ext cx="3072581" cy="576179"/>
              <a:chOff x="1882729" y="5685553"/>
              <a:chExt cx="3072581" cy="576179"/>
            </a:xfrm>
          </p:grpSpPr>
          <p:sp>
            <p:nvSpPr>
              <p:cNvPr id="9" name="Rectangle 8"/>
              <p:cNvSpPr/>
              <p:nvPr/>
            </p:nvSpPr>
            <p:spPr>
              <a:xfrm>
                <a:off x="1882729" y="5685553"/>
                <a:ext cx="1351087" cy="576179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IP Header</a:t>
                </a:r>
              </a:p>
            </p:txBody>
          </p:sp>
          <p:sp>
            <p:nvSpPr>
              <p:cNvPr id="10" name="Rectangle 9"/>
              <p:cNvSpPr/>
              <p:nvPr/>
            </p:nvSpPr>
            <p:spPr>
              <a:xfrm>
                <a:off x="3233815" y="5685553"/>
                <a:ext cx="1721495" cy="576179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Payload/data</a:t>
                </a:r>
              </a:p>
            </p:txBody>
          </p:sp>
        </p:grpSp>
        <p:sp>
          <p:nvSpPr>
            <p:cNvPr id="8" name="TextBox 7"/>
            <p:cNvSpPr txBox="1"/>
            <p:nvPr/>
          </p:nvSpPr>
          <p:spPr>
            <a:xfrm>
              <a:off x="3545998" y="5006305"/>
              <a:ext cx="18466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sz="1200" dirty="0"/>
            </a:p>
          </p:txBody>
        </p:sp>
      </p:grpSp>
      <p:sp>
        <p:nvSpPr>
          <p:cNvPr id="17" name="Rectangle 28"/>
          <p:cNvSpPr>
            <a:spLocks noChangeArrowheads="1"/>
          </p:cNvSpPr>
          <p:nvPr/>
        </p:nvSpPr>
        <p:spPr bwMode="auto">
          <a:xfrm>
            <a:off x="747713" y="3642632"/>
            <a:ext cx="3983038" cy="2006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altLang="en-US" sz="1400" b="1" u="sng" dirty="0"/>
              <a:t>Field	Purpose</a:t>
            </a:r>
            <a:endParaRPr lang="en-US" altLang="en-US" sz="1400" dirty="0"/>
          </a:p>
          <a:p>
            <a:pPr eaLnBrk="0" hangingPunct="0"/>
            <a:r>
              <a:rPr lang="en-US" altLang="en-US" sz="1400" dirty="0" err="1"/>
              <a:t>Vers</a:t>
            </a:r>
            <a:r>
              <a:rPr lang="en-US" altLang="en-US" sz="1400" dirty="0"/>
              <a:t>	IP version number</a:t>
            </a:r>
          </a:p>
          <a:p>
            <a:pPr eaLnBrk="0" hangingPunct="0"/>
            <a:r>
              <a:rPr lang="en-US" altLang="en-US" sz="1400" dirty="0"/>
              <a:t>Len	Length of IP header (4 octet units)</a:t>
            </a:r>
          </a:p>
          <a:p>
            <a:pPr eaLnBrk="0" hangingPunct="0"/>
            <a:r>
              <a:rPr lang="en-US" altLang="en-US" sz="1400" dirty="0"/>
              <a:t>TOS	Type of Service</a:t>
            </a:r>
          </a:p>
          <a:p>
            <a:pPr eaLnBrk="0" hangingPunct="0"/>
            <a:r>
              <a:rPr lang="en-US" altLang="en-US" sz="1400" dirty="0"/>
              <a:t>T.  Length	Length of entire datagram (octets)</a:t>
            </a:r>
          </a:p>
          <a:p>
            <a:pPr eaLnBrk="0" hangingPunct="0"/>
            <a:r>
              <a:rPr lang="en-US" altLang="en-US" sz="1400" dirty="0"/>
              <a:t>Ident.	IP datagram ID (for frag/reassembly)</a:t>
            </a:r>
          </a:p>
          <a:p>
            <a:pPr eaLnBrk="0" hangingPunct="0"/>
            <a:r>
              <a:rPr lang="en-US" altLang="en-US" sz="1400" dirty="0"/>
              <a:t>Flags	Don’t/More fragments</a:t>
            </a:r>
          </a:p>
          <a:p>
            <a:pPr eaLnBrk="0" hangingPunct="0"/>
            <a:r>
              <a:rPr lang="en-US" altLang="en-US" sz="1400" dirty="0"/>
              <a:t>Frag Off	Fragment Offset</a:t>
            </a:r>
          </a:p>
          <a:p>
            <a:pPr eaLnBrk="0" hangingPunct="0"/>
            <a:endParaRPr lang="en-US" altLang="en-US" sz="1400" dirty="0"/>
          </a:p>
        </p:txBody>
      </p:sp>
      <p:sp>
        <p:nvSpPr>
          <p:cNvPr id="18" name="Rectangle 29"/>
          <p:cNvSpPr>
            <a:spLocks noChangeArrowheads="1"/>
          </p:cNvSpPr>
          <p:nvPr/>
        </p:nvSpPr>
        <p:spPr bwMode="auto">
          <a:xfrm>
            <a:off x="5165726" y="3413125"/>
            <a:ext cx="3776663" cy="2219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altLang="en-US" sz="1400" b="1" u="sng" dirty="0"/>
              <a:t>Field	Purpose</a:t>
            </a:r>
          </a:p>
          <a:p>
            <a:pPr eaLnBrk="0" hangingPunct="0"/>
            <a:r>
              <a:rPr lang="en-US" altLang="en-US" sz="1400" dirty="0"/>
              <a:t>TTL	Time To Live - Max # of hops</a:t>
            </a:r>
          </a:p>
          <a:p>
            <a:pPr eaLnBrk="0" hangingPunct="0"/>
            <a:r>
              <a:rPr lang="en-US" altLang="en-US" sz="1400" dirty="0"/>
              <a:t>Protocol	Higher level protocol (1=ICMP,</a:t>
            </a:r>
          </a:p>
          <a:p>
            <a:pPr eaLnBrk="0" hangingPunct="0"/>
            <a:r>
              <a:rPr lang="en-US" altLang="en-US" sz="1400" dirty="0"/>
              <a:t>	6=TCP, 17=UDP)</a:t>
            </a:r>
          </a:p>
          <a:p>
            <a:pPr eaLnBrk="0" hangingPunct="0"/>
            <a:r>
              <a:rPr lang="en-US" altLang="en-US" sz="1400" dirty="0"/>
              <a:t>Checksum	Checksum for the IP header</a:t>
            </a:r>
          </a:p>
          <a:p>
            <a:pPr eaLnBrk="0" hangingPunct="0"/>
            <a:r>
              <a:rPr lang="en-US" altLang="en-US" sz="1400" dirty="0"/>
              <a:t>Source IA	Originator’s Internet Address</a:t>
            </a:r>
          </a:p>
          <a:p>
            <a:pPr eaLnBrk="0" hangingPunct="0"/>
            <a:r>
              <a:rPr lang="en-US" altLang="en-US" sz="1400" dirty="0" err="1"/>
              <a:t>Dest</a:t>
            </a:r>
            <a:r>
              <a:rPr lang="en-US" altLang="en-US" sz="1400" dirty="0"/>
              <a:t>. IA	Final Destination Internet Address</a:t>
            </a:r>
          </a:p>
          <a:p>
            <a:pPr eaLnBrk="0" hangingPunct="0"/>
            <a:r>
              <a:rPr lang="en-US" altLang="en-US" sz="1400" dirty="0"/>
              <a:t>Options	Source route, time stamp, etc.</a:t>
            </a:r>
          </a:p>
          <a:p>
            <a:pPr eaLnBrk="0" hangingPunct="0"/>
            <a:r>
              <a:rPr lang="en-US" altLang="en-US" sz="1400" dirty="0"/>
              <a:t>Data...	Higher level protocol data</a:t>
            </a:r>
          </a:p>
          <a:p>
            <a:pPr eaLnBrk="0" hangingPunct="0"/>
            <a:endParaRPr lang="en-US" altLang="en-US" sz="1400" dirty="0"/>
          </a:p>
        </p:txBody>
      </p:sp>
    </p:spTree>
    <p:extLst>
      <p:ext uri="{BB962C8B-B14F-4D97-AF65-F5344CB8AC3E}">
        <p14:creationId xmlns:p14="http://schemas.microsoft.com/office/powerpoint/2010/main" val="4190849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Transport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7192"/>
            <a:ext cx="8229600" cy="964381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Send a packet to an application in a networked computer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1726016" y="4073655"/>
            <a:ext cx="2285489" cy="1791134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dirty="0"/>
              <a:t>Computer 1</a:t>
            </a:r>
          </a:p>
          <a:p>
            <a:pPr algn="ctr"/>
            <a:r>
              <a:rPr lang="en-US" dirty="0"/>
              <a:t>IP1</a:t>
            </a:r>
          </a:p>
        </p:txBody>
      </p:sp>
      <p:sp>
        <p:nvSpPr>
          <p:cNvPr id="5" name="Rectangle 4"/>
          <p:cNvSpPr/>
          <p:nvPr/>
        </p:nvSpPr>
        <p:spPr>
          <a:xfrm>
            <a:off x="4826014" y="4063181"/>
            <a:ext cx="2285488" cy="179113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dirty="0"/>
              <a:t>Computer 2</a:t>
            </a:r>
          </a:p>
          <a:p>
            <a:pPr algn="ctr"/>
            <a:r>
              <a:rPr lang="en-US" dirty="0"/>
              <a:t>IP2</a:t>
            </a:r>
          </a:p>
        </p:txBody>
      </p:sp>
      <p:sp>
        <p:nvSpPr>
          <p:cNvPr id="6" name="Cloud 5"/>
          <p:cNvSpPr/>
          <p:nvPr/>
        </p:nvSpPr>
        <p:spPr>
          <a:xfrm>
            <a:off x="2662093" y="2261573"/>
            <a:ext cx="4021741" cy="1047447"/>
          </a:xfrm>
          <a:prstGeom prst="cloud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The Internet</a:t>
            </a:r>
          </a:p>
        </p:txBody>
      </p:sp>
      <p:cxnSp>
        <p:nvCxnSpPr>
          <p:cNvPr id="7" name="Curved Connector 6"/>
          <p:cNvCxnSpPr/>
          <p:nvPr/>
        </p:nvCxnSpPr>
        <p:spPr>
          <a:xfrm rot="5400000">
            <a:off x="2976725" y="3379266"/>
            <a:ext cx="866033" cy="522744"/>
          </a:xfrm>
          <a:prstGeom prst="curved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urved Connector 7"/>
          <p:cNvCxnSpPr>
            <a:endCxn id="5" idx="0"/>
          </p:cNvCxnSpPr>
          <p:nvPr/>
        </p:nvCxnSpPr>
        <p:spPr>
          <a:xfrm rot="16200000" flipH="1">
            <a:off x="5255293" y="3349715"/>
            <a:ext cx="855559" cy="571373"/>
          </a:xfrm>
          <a:prstGeom prst="curved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Screenshot-Terminal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8403" y="4489072"/>
            <a:ext cx="973262" cy="561513"/>
          </a:xfrm>
          <a:prstGeom prst="rect">
            <a:avLst/>
          </a:prstGeom>
        </p:spPr>
      </p:pic>
      <p:pic>
        <p:nvPicPr>
          <p:cNvPr id="11" name="Picture 10" descr="Franksouza183-Fs-Apps-google-chrome.ico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1340" y="4436701"/>
            <a:ext cx="790753" cy="681229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002287" y="4401714"/>
            <a:ext cx="838823" cy="56918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Web Service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78170" y="4398153"/>
            <a:ext cx="838823" cy="569184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</a:rPr>
              <a:t>SSH</a:t>
            </a:r>
          </a:p>
          <a:p>
            <a:pPr algn="ctr"/>
            <a:r>
              <a:rPr lang="en-US" sz="1400" dirty="0">
                <a:solidFill>
                  <a:srgbClr val="000000"/>
                </a:solidFill>
              </a:rPr>
              <a:t>Service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926401" y="3561199"/>
            <a:ext cx="1944048" cy="362534"/>
            <a:chOff x="2902449" y="5905287"/>
            <a:chExt cx="3098948" cy="422028"/>
          </a:xfrm>
        </p:grpSpPr>
        <p:grpSp>
          <p:nvGrpSpPr>
            <p:cNvPr id="20" name="Group 19"/>
            <p:cNvGrpSpPr/>
            <p:nvPr/>
          </p:nvGrpSpPr>
          <p:grpSpPr>
            <a:xfrm>
              <a:off x="3554894" y="5906421"/>
              <a:ext cx="2446503" cy="420894"/>
              <a:chOff x="2566147" y="5685553"/>
              <a:chExt cx="2389163" cy="576179"/>
            </a:xfrm>
          </p:grpSpPr>
          <p:sp>
            <p:nvSpPr>
              <p:cNvPr id="22" name="Rectangle 21"/>
              <p:cNvSpPr/>
              <p:nvPr/>
            </p:nvSpPr>
            <p:spPr>
              <a:xfrm>
                <a:off x="2566147" y="5685553"/>
                <a:ext cx="667669" cy="576179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IP2</a:t>
                </a:r>
              </a:p>
            </p:txBody>
          </p:sp>
          <p:sp>
            <p:nvSpPr>
              <p:cNvPr id="23" name="Rectangle 22"/>
              <p:cNvSpPr/>
              <p:nvPr/>
            </p:nvSpPr>
            <p:spPr>
              <a:xfrm>
                <a:off x="3233815" y="5685553"/>
                <a:ext cx="1721495" cy="576179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payload</a:t>
                </a:r>
              </a:p>
            </p:txBody>
          </p:sp>
        </p:grpSp>
        <p:sp>
          <p:nvSpPr>
            <p:cNvPr id="19" name="Rectangle 18"/>
            <p:cNvSpPr/>
            <p:nvPr/>
          </p:nvSpPr>
          <p:spPr>
            <a:xfrm>
              <a:off x="2902449" y="5905287"/>
              <a:ext cx="652445" cy="42089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IP1</a:t>
              </a:r>
            </a:p>
          </p:txBody>
        </p:sp>
      </p:grpSp>
      <p:sp>
        <p:nvSpPr>
          <p:cNvPr id="25" name="TextBox 24"/>
          <p:cNvSpPr txBox="1"/>
          <p:nvPr/>
        </p:nvSpPr>
        <p:spPr>
          <a:xfrm>
            <a:off x="1258281" y="3124354"/>
            <a:ext cx="13012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Insufficient!</a:t>
            </a:r>
          </a:p>
        </p:txBody>
      </p:sp>
    </p:spTree>
    <p:extLst>
      <p:ext uri="{BB962C8B-B14F-4D97-AF65-F5344CB8AC3E}">
        <p14:creationId xmlns:p14="http://schemas.microsoft.com/office/powerpoint/2010/main" val="2949253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Transport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8846"/>
            <a:ext cx="8229600" cy="472768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Send a packet to an application in a networked computer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1718484" y="4021282"/>
            <a:ext cx="2285489" cy="1791134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dirty="0"/>
              <a:t>Computer 1</a:t>
            </a:r>
          </a:p>
          <a:p>
            <a:pPr algn="ctr"/>
            <a:r>
              <a:rPr lang="en-US" dirty="0"/>
              <a:t>IP1</a:t>
            </a:r>
          </a:p>
        </p:txBody>
      </p:sp>
      <p:sp>
        <p:nvSpPr>
          <p:cNvPr id="6" name="Rectangle 5"/>
          <p:cNvSpPr/>
          <p:nvPr/>
        </p:nvSpPr>
        <p:spPr>
          <a:xfrm>
            <a:off x="4818482" y="4010808"/>
            <a:ext cx="2285488" cy="179113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dirty="0"/>
              <a:t>Computer 2</a:t>
            </a:r>
          </a:p>
          <a:p>
            <a:pPr algn="ctr"/>
            <a:r>
              <a:rPr lang="en-US" dirty="0"/>
              <a:t>IP2</a:t>
            </a:r>
          </a:p>
        </p:txBody>
      </p:sp>
      <p:sp>
        <p:nvSpPr>
          <p:cNvPr id="7" name="Cloud 6"/>
          <p:cNvSpPr/>
          <p:nvPr/>
        </p:nvSpPr>
        <p:spPr>
          <a:xfrm>
            <a:off x="2654561" y="2209200"/>
            <a:ext cx="4021741" cy="1047447"/>
          </a:xfrm>
          <a:prstGeom prst="cloud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The Internet</a:t>
            </a:r>
          </a:p>
        </p:txBody>
      </p:sp>
      <p:cxnSp>
        <p:nvCxnSpPr>
          <p:cNvPr id="8" name="Curved Connector 7"/>
          <p:cNvCxnSpPr/>
          <p:nvPr/>
        </p:nvCxnSpPr>
        <p:spPr>
          <a:xfrm rot="5400000">
            <a:off x="2969193" y="3326893"/>
            <a:ext cx="866033" cy="522744"/>
          </a:xfrm>
          <a:prstGeom prst="curved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urved Connector 8"/>
          <p:cNvCxnSpPr>
            <a:endCxn id="6" idx="0"/>
          </p:cNvCxnSpPr>
          <p:nvPr/>
        </p:nvCxnSpPr>
        <p:spPr>
          <a:xfrm rot="16200000" flipH="1">
            <a:off x="5247761" y="3297342"/>
            <a:ext cx="855559" cy="571373"/>
          </a:xfrm>
          <a:prstGeom prst="curved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Screenshot-Terminal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0871" y="4436699"/>
            <a:ext cx="973262" cy="561513"/>
          </a:xfrm>
          <a:prstGeom prst="rect">
            <a:avLst/>
          </a:prstGeom>
        </p:spPr>
      </p:pic>
      <p:pic>
        <p:nvPicPr>
          <p:cNvPr id="12" name="Picture 11" descr="Franksouza183-Fs-Apps-google-chrome.ico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3808" y="4384328"/>
            <a:ext cx="790753" cy="681229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4994755" y="4349341"/>
            <a:ext cx="838823" cy="56918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Web Service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70638" y="4345780"/>
            <a:ext cx="838823" cy="569184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</a:rPr>
              <a:t>SSH</a:t>
            </a:r>
          </a:p>
          <a:p>
            <a:pPr algn="ctr"/>
            <a:r>
              <a:rPr lang="en-US" sz="1400" dirty="0">
                <a:solidFill>
                  <a:srgbClr val="000000"/>
                </a:solidFill>
              </a:rPr>
              <a:t>Service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2595" y="4067367"/>
            <a:ext cx="831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Port_A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2931519" y="4067367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Port_B</a:t>
            </a:r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4973871" y="4014996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Port_C</a:t>
            </a:r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6070638" y="4021282"/>
            <a:ext cx="8404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Port_D</a:t>
            </a:r>
            <a:endParaRPr lang="en-US" dirty="0"/>
          </a:p>
        </p:txBody>
      </p:sp>
      <p:grpSp>
        <p:nvGrpSpPr>
          <p:cNvPr id="31" name="Group 30"/>
          <p:cNvGrpSpPr/>
          <p:nvPr/>
        </p:nvGrpSpPr>
        <p:grpSpPr>
          <a:xfrm>
            <a:off x="206418" y="2778962"/>
            <a:ext cx="2934419" cy="1073364"/>
            <a:chOff x="206418" y="2778962"/>
            <a:chExt cx="2934419" cy="1073364"/>
          </a:xfrm>
        </p:grpSpPr>
        <p:grpSp>
          <p:nvGrpSpPr>
            <p:cNvPr id="26" name="Group 25"/>
            <p:cNvGrpSpPr/>
            <p:nvPr/>
          </p:nvGrpSpPr>
          <p:grpSpPr>
            <a:xfrm>
              <a:off x="206418" y="3554501"/>
              <a:ext cx="2934419" cy="297825"/>
              <a:chOff x="323369" y="2856622"/>
              <a:chExt cx="3262146" cy="362534"/>
            </a:xfrm>
          </p:grpSpPr>
          <p:sp>
            <p:nvSpPr>
              <p:cNvPr id="22" name="Rectangle 21"/>
              <p:cNvSpPr/>
              <p:nvPr/>
            </p:nvSpPr>
            <p:spPr>
              <a:xfrm>
                <a:off x="732664" y="2857596"/>
                <a:ext cx="428898" cy="361560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/>
                  <a:t>IP2</a:t>
                </a:r>
              </a:p>
            </p:txBody>
          </p:sp>
          <p:sp>
            <p:nvSpPr>
              <p:cNvPr id="23" name="Rectangle 22"/>
              <p:cNvSpPr/>
              <p:nvPr/>
            </p:nvSpPr>
            <p:spPr>
              <a:xfrm>
                <a:off x="2479659" y="2856622"/>
                <a:ext cx="1105856" cy="361560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/>
                  <a:t>payload</a:t>
                </a:r>
              </a:p>
            </p:txBody>
          </p:sp>
          <p:sp>
            <p:nvSpPr>
              <p:cNvPr id="21" name="Rectangle 20"/>
              <p:cNvSpPr/>
              <p:nvPr/>
            </p:nvSpPr>
            <p:spPr>
              <a:xfrm>
                <a:off x="323369" y="2856622"/>
                <a:ext cx="409295" cy="361560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/>
                  <a:t>IP1</a:t>
                </a:r>
              </a:p>
            </p:txBody>
          </p:sp>
          <p:sp>
            <p:nvSpPr>
              <p:cNvPr id="24" name="Rectangle 23"/>
              <p:cNvSpPr/>
              <p:nvPr/>
            </p:nvSpPr>
            <p:spPr>
              <a:xfrm>
                <a:off x="1161562" y="2856622"/>
                <a:ext cx="664773" cy="361560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 err="1"/>
                  <a:t>Port_A</a:t>
                </a:r>
                <a:endParaRPr lang="en-US" sz="1100" dirty="0"/>
              </a:p>
            </p:txBody>
          </p:sp>
          <p:sp>
            <p:nvSpPr>
              <p:cNvPr id="25" name="Rectangle 24"/>
              <p:cNvSpPr/>
              <p:nvPr/>
            </p:nvSpPr>
            <p:spPr>
              <a:xfrm>
                <a:off x="1814886" y="2856622"/>
                <a:ext cx="664773" cy="361560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 err="1"/>
                  <a:t>Port_C</a:t>
                </a:r>
                <a:endParaRPr lang="en-US" sz="1100" dirty="0"/>
              </a:p>
            </p:txBody>
          </p:sp>
        </p:grpSp>
        <p:sp>
          <p:nvSpPr>
            <p:cNvPr id="27" name="Left Brace 26"/>
            <p:cNvSpPr/>
            <p:nvPr/>
          </p:nvSpPr>
          <p:spPr>
            <a:xfrm rot="5400000">
              <a:off x="1410347" y="3227051"/>
              <a:ext cx="222984" cy="393290"/>
            </a:xfrm>
            <a:prstGeom prst="lef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Left Brace 27"/>
            <p:cNvSpPr/>
            <p:nvPr/>
          </p:nvSpPr>
          <p:spPr>
            <a:xfrm rot="5400000">
              <a:off x="463102" y="3227051"/>
              <a:ext cx="222984" cy="393290"/>
            </a:xfrm>
            <a:prstGeom prst="lef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211153" y="2778962"/>
              <a:ext cx="72688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/>
                <a:t>Network</a:t>
              </a:r>
            </a:p>
            <a:p>
              <a:pPr algn="ctr"/>
              <a:r>
                <a:rPr lang="en-US" sz="1200" dirty="0"/>
                <a:t>Layer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863156" y="2782384"/>
              <a:ext cx="128292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/>
                <a:t>Transport</a:t>
              </a:r>
            </a:p>
            <a:p>
              <a:pPr algn="ctr"/>
              <a:r>
                <a:rPr lang="en-US" sz="1200" dirty="0"/>
                <a:t>Layer: UDP &amp; TCP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42425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Transport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95671"/>
          </a:xfrm>
        </p:spPr>
        <p:txBody>
          <a:bodyPr/>
          <a:lstStyle/>
          <a:p>
            <a:r>
              <a:rPr lang="en-US" dirty="0"/>
              <a:t>The User Datagram Protocol (UDP) Header</a:t>
            </a:r>
          </a:p>
        </p:txBody>
      </p:sp>
      <p:pic>
        <p:nvPicPr>
          <p:cNvPr id="4" name="Picture 3" descr="UDP-Header (1)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1176" y="2271890"/>
            <a:ext cx="5815584" cy="1453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280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Transport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95671"/>
          </a:xfrm>
        </p:spPr>
        <p:txBody>
          <a:bodyPr/>
          <a:lstStyle/>
          <a:p>
            <a:r>
              <a:rPr lang="en-US" dirty="0"/>
              <a:t>The User Datagram Protocol (UDP) Header</a:t>
            </a:r>
          </a:p>
        </p:txBody>
      </p:sp>
      <p:pic>
        <p:nvPicPr>
          <p:cNvPr id="4" name="Picture 3" descr="UDP-Header (1)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1176" y="2271890"/>
            <a:ext cx="5815584" cy="1453896"/>
          </a:xfrm>
          <a:prstGeom prst="rect">
            <a:avLst/>
          </a:prstGeom>
        </p:spPr>
      </p:pic>
      <p:sp>
        <p:nvSpPr>
          <p:cNvPr id="6" name="Rectangle 13"/>
          <p:cNvSpPr>
            <a:spLocks noChangeArrowheads="1"/>
          </p:cNvSpPr>
          <p:nvPr/>
        </p:nvSpPr>
        <p:spPr bwMode="auto">
          <a:xfrm>
            <a:off x="1281113" y="4534354"/>
            <a:ext cx="7094827" cy="1477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altLang="en-US" b="1" u="sng" dirty="0"/>
              <a:t>Field		Purpose</a:t>
            </a:r>
          </a:p>
          <a:p>
            <a:pPr eaLnBrk="0" hangingPunct="0"/>
            <a:r>
              <a:rPr lang="en-US" altLang="en-US" dirty="0"/>
              <a:t>Source Port	16-bit port number identifying originating application</a:t>
            </a:r>
          </a:p>
          <a:p>
            <a:pPr eaLnBrk="0" hangingPunct="0"/>
            <a:r>
              <a:rPr lang="en-US" altLang="en-US" dirty="0"/>
              <a:t>Destination Port	16-bit port number identifying destination application</a:t>
            </a:r>
          </a:p>
          <a:p>
            <a:pPr eaLnBrk="0" hangingPunct="0"/>
            <a:r>
              <a:rPr lang="en-US" altLang="en-US" dirty="0"/>
              <a:t>Length		Length of UDP datagram (UDP header + data)</a:t>
            </a:r>
          </a:p>
          <a:p>
            <a:pPr eaLnBrk="0" hangingPunct="0"/>
            <a:r>
              <a:rPr lang="en-US" altLang="en-US" dirty="0"/>
              <a:t>Checksum		Checksum of IP pseudo header, UDP header, and data</a:t>
            </a:r>
          </a:p>
        </p:txBody>
      </p:sp>
    </p:spTree>
    <p:extLst>
      <p:ext uri="{BB962C8B-B14F-4D97-AF65-F5344CB8AC3E}">
        <p14:creationId xmlns:p14="http://schemas.microsoft.com/office/powerpoint/2010/main" val="3395260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Transport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95671"/>
          </a:xfrm>
        </p:spPr>
        <p:txBody>
          <a:bodyPr/>
          <a:lstStyle/>
          <a:p>
            <a:r>
              <a:rPr lang="en-US" dirty="0"/>
              <a:t>The User Datagram Protocol (UDP) Header</a:t>
            </a:r>
          </a:p>
        </p:txBody>
      </p:sp>
      <p:pic>
        <p:nvPicPr>
          <p:cNvPr id="4" name="Picture 3" descr="UDP-Header (1)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1176" y="2271890"/>
            <a:ext cx="5815584" cy="1453896"/>
          </a:xfrm>
          <a:prstGeom prst="rect">
            <a:avLst/>
          </a:prstGeom>
        </p:spPr>
      </p:pic>
      <p:sp>
        <p:nvSpPr>
          <p:cNvPr id="5" name="Content Placeholder 2"/>
          <p:cNvSpPr txBox="1">
            <a:spLocks/>
          </p:cNvSpPr>
          <p:nvPr/>
        </p:nvSpPr>
        <p:spPr>
          <a:xfrm>
            <a:off x="457200" y="4380602"/>
            <a:ext cx="8229600" cy="17644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UDP offers best-effort, unreliable service</a:t>
            </a:r>
          </a:p>
          <a:p>
            <a:pPr lvl="1"/>
            <a:r>
              <a:rPr lang="en-US" dirty="0"/>
              <a:t>E.g., if a packet is dropped, UDP does not have any mechanism to inform networked nodes. </a:t>
            </a:r>
          </a:p>
        </p:txBody>
      </p:sp>
    </p:spTree>
    <p:extLst>
      <p:ext uri="{BB962C8B-B14F-4D97-AF65-F5344CB8AC3E}">
        <p14:creationId xmlns:p14="http://schemas.microsoft.com/office/powerpoint/2010/main" val="3520116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>
                <a:latin typeface="Comic Sans MS" panose="030F0702030302020204" pitchFamily="66" charset="0"/>
              </a:rPr>
              <a:t>Typical applications of UDP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>
              <a:lnSpc>
                <a:spcPct val="90000"/>
              </a:lnSpc>
            </a:pPr>
            <a:r>
              <a:rPr lang="en-GB" altLang="en-US">
                <a:latin typeface="Arial" panose="020B0604020202020204" pitchFamily="34" charset="0"/>
              </a:rPr>
              <a:t>Where packet loss etc is better handled by the application than the network stack</a:t>
            </a:r>
          </a:p>
          <a:p>
            <a:pPr lvl="1">
              <a:lnSpc>
                <a:spcPct val="90000"/>
              </a:lnSpc>
            </a:pPr>
            <a:r>
              <a:rPr lang="en-GB" altLang="en-US">
                <a:latin typeface="Arial" panose="020B0604020202020204" pitchFamily="34" charset="0"/>
              </a:rPr>
              <a:t>Where the overhead of setting up a connection isn’t wanted</a:t>
            </a:r>
          </a:p>
          <a:p>
            <a:pPr>
              <a:lnSpc>
                <a:spcPct val="90000"/>
              </a:lnSpc>
            </a:pPr>
            <a:endParaRPr lang="en-GB" altLang="en-US">
              <a:latin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lang="en-GB" altLang="en-US">
                <a:latin typeface="Arial" panose="020B0604020202020204" pitchFamily="34" charset="0"/>
              </a:rPr>
              <a:t>VOIP</a:t>
            </a:r>
          </a:p>
          <a:p>
            <a:pPr>
              <a:lnSpc>
                <a:spcPct val="90000"/>
              </a:lnSpc>
            </a:pPr>
            <a:r>
              <a:rPr lang="en-GB" altLang="en-US">
                <a:latin typeface="Arial" panose="020B0604020202020204" pitchFamily="34" charset="0"/>
              </a:rPr>
              <a:t>NFS – Network File System</a:t>
            </a:r>
          </a:p>
          <a:p>
            <a:pPr>
              <a:lnSpc>
                <a:spcPct val="90000"/>
              </a:lnSpc>
            </a:pPr>
            <a:r>
              <a:rPr lang="en-GB" altLang="en-US">
                <a:latin typeface="Arial" panose="020B0604020202020204" pitchFamily="34" charset="0"/>
              </a:rPr>
              <a:t>Most games</a:t>
            </a:r>
          </a:p>
        </p:txBody>
      </p:sp>
    </p:spTree>
    <p:extLst>
      <p:ext uri="{BB962C8B-B14F-4D97-AF65-F5344CB8AC3E}">
        <p14:creationId xmlns:p14="http://schemas.microsoft.com/office/powerpoint/2010/main" val="2466810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Transport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726995"/>
          </a:xfrm>
        </p:spPr>
        <p:txBody>
          <a:bodyPr>
            <a:normAutofit fontScale="92500"/>
          </a:bodyPr>
          <a:lstStyle/>
          <a:p>
            <a:r>
              <a:rPr lang="en-US" dirty="0"/>
              <a:t>The Transmission Control Protocol (TCP) Header</a:t>
            </a:r>
          </a:p>
        </p:txBody>
      </p:sp>
      <p:pic>
        <p:nvPicPr>
          <p:cNvPr id="4" name="Picture 3" descr="TCP_Header (1)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393" y="2190301"/>
            <a:ext cx="5307963" cy="4096288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1993380" y="3574451"/>
            <a:ext cx="2463724" cy="1057124"/>
            <a:chOff x="1993380" y="3574451"/>
            <a:chExt cx="2463724" cy="1057124"/>
          </a:xfrm>
        </p:grpSpPr>
        <p:sp>
          <p:nvSpPr>
            <p:cNvPr id="6" name="Right Arrow 5"/>
            <p:cNvSpPr/>
            <p:nvPr/>
          </p:nvSpPr>
          <p:spPr>
            <a:xfrm>
              <a:off x="2000685" y="3574451"/>
              <a:ext cx="243359" cy="205340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ight Arrow 6"/>
            <p:cNvSpPr/>
            <p:nvPr/>
          </p:nvSpPr>
          <p:spPr>
            <a:xfrm>
              <a:off x="1993380" y="3909371"/>
              <a:ext cx="243359" cy="205340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ight Arrow 7"/>
            <p:cNvSpPr/>
            <p:nvPr/>
          </p:nvSpPr>
          <p:spPr>
            <a:xfrm rot="16200000">
              <a:off x="3916993" y="4479617"/>
              <a:ext cx="175214" cy="128701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ight Arrow 8"/>
            <p:cNvSpPr/>
            <p:nvPr/>
          </p:nvSpPr>
          <p:spPr>
            <a:xfrm rot="16200000">
              <a:off x="4305147" y="4479617"/>
              <a:ext cx="175214" cy="128701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53628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Transport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726995"/>
          </a:xfrm>
        </p:spPr>
        <p:txBody>
          <a:bodyPr>
            <a:normAutofit fontScale="92500"/>
          </a:bodyPr>
          <a:lstStyle/>
          <a:p>
            <a:r>
              <a:rPr lang="en-US" dirty="0"/>
              <a:t>The Transmission Control Protocol (TCP) Header</a:t>
            </a:r>
          </a:p>
        </p:txBody>
      </p:sp>
      <p:sp>
        <p:nvSpPr>
          <p:cNvPr id="11" name="Rectangle 25"/>
          <p:cNvSpPr>
            <a:spLocks noChangeArrowheads="1"/>
          </p:cNvSpPr>
          <p:nvPr/>
        </p:nvSpPr>
        <p:spPr bwMode="auto">
          <a:xfrm>
            <a:off x="698792" y="2488779"/>
            <a:ext cx="7746416" cy="3139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altLang="en-US" b="1" u="sng" dirty="0"/>
              <a:t>Field		Purpose</a:t>
            </a:r>
            <a:endParaRPr lang="en-US" altLang="en-US" u="sng" dirty="0"/>
          </a:p>
          <a:p>
            <a:pPr eaLnBrk="0" hangingPunct="0"/>
            <a:r>
              <a:rPr lang="en-US" altLang="en-US" dirty="0"/>
              <a:t>Source Port		Identifies originating application</a:t>
            </a:r>
          </a:p>
          <a:p>
            <a:pPr eaLnBrk="0" hangingPunct="0"/>
            <a:r>
              <a:rPr lang="en-US" altLang="en-US" dirty="0"/>
              <a:t>Destination Port	Identifies destination application</a:t>
            </a:r>
          </a:p>
          <a:p>
            <a:pPr eaLnBrk="0" hangingPunct="0"/>
            <a:r>
              <a:rPr lang="en-US" altLang="en-US" dirty="0"/>
              <a:t>Sequence Number	Sequence number of first octet in the segment</a:t>
            </a:r>
          </a:p>
          <a:p>
            <a:pPr eaLnBrk="0" hangingPunct="0"/>
            <a:r>
              <a:rPr lang="en-US" altLang="en-US" dirty="0"/>
              <a:t>Acknowledgment #	Sequence number of the next expected octet (if ACK flag set)</a:t>
            </a:r>
          </a:p>
          <a:p>
            <a:pPr eaLnBrk="0" hangingPunct="0"/>
            <a:r>
              <a:rPr lang="en-US" altLang="en-US" dirty="0"/>
              <a:t>Len		</a:t>
            </a:r>
            <a:r>
              <a:rPr lang="en-US" altLang="en-US" dirty="0" smtClean="0"/>
              <a:t>                  Length </a:t>
            </a:r>
            <a:r>
              <a:rPr lang="en-US" altLang="en-US" dirty="0"/>
              <a:t>of TCP header in 4 octet units</a:t>
            </a:r>
          </a:p>
          <a:p>
            <a:pPr eaLnBrk="0" hangingPunct="0"/>
            <a:r>
              <a:rPr lang="en-US" altLang="en-US" dirty="0"/>
              <a:t>Flags		</a:t>
            </a:r>
            <a:r>
              <a:rPr lang="en-US" altLang="en-US" dirty="0" smtClean="0"/>
              <a:t>         TCP </a:t>
            </a:r>
            <a:r>
              <a:rPr lang="en-US" altLang="en-US" dirty="0"/>
              <a:t>flags: SYN, FIN, RST, PSH, ACK, URG</a:t>
            </a:r>
          </a:p>
          <a:p>
            <a:pPr eaLnBrk="0" hangingPunct="0"/>
            <a:r>
              <a:rPr lang="en-US" altLang="en-US" dirty="0"/>
              <a:t>Window		</a:t>
            </a:r>
            <a:r>
              <a:rPr lang="en-US" altLang="en-US" dirty="0" smtClean="0"/>
              <a:t>         Number </a:t>
            </a:r>
            <a:r>
              <a:rPr lang="en-US" altLang="en-US" dirty="0"/>
              <a:t>of octets from ACK that sender will accept</a:t>
            </a:r>
          </a:p>
          <a:p>
            <a:pPr eaLnBrk="0" hangingPunct="0"/>
            <a:r>
              <a:rPr lang="en-US" altLang="en-US" dirty="0"/>
              <a:t>Checksum		Checksum of IP pseudo-header + TCP header + data</a:t>
            </a:r>
          </a:p>
          <a:p>
            <a:pPr eaLnBrk="0" hangingPunct="0"/>
            <a:r>
              <a:rPr lang="en-US" altLang="en-US" dirty="0"/>
              <a:t>Urgent </a:t>
            </a:r>
            <a:r>
              <a:rPr lang="en-US" altLang="en-US" dirty="0" smtClean="0"/>
              <a:t>Pointer </a:t>
            </a:r>
            <a:r>
              <a:rPr lang="en-US" altLang="en-US" dirty="0"/>
              <a:t>	Pointer to end of “urgent data”</a:t>
            </a:r>
          </a:p>
          <a:p>
            <a:pPr eaLnBrk="0" hangingPunct="0"/>
            <a:r>
              <a:rPr lang="en-US" altLang="en-US" dirty="0"/>
              <a:t>Options		</a:t>
            </a:r>
            <a:r>
              <a:rPr lang="en-US" altLang="en-US" dirty="0" smtClean="0"/>
              <a:t>         Special </a:t>
            </a:r>
            <a:r>
              <a:rPr lang="en-US" altLang="en-US" dirty="0"/>
              <a:t>TCP options such as MSS and Window Scale</a:t>
            </a:r>
          </a:p>
        </p:txBody>
      </p:sp>
    </p:spTree>
    <p:extLst>
      <p:ext uri="{BB962C8B-B14F-4D97-AF65-F5344CB8AC3E}">
        <p14:creationId xmlns:p14="http://schemas.microsoft.com/office/powerpoint/2010/main" val="4211986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>
                <a:latin typeface="Comic Sans MS" panose="030F0702030302020204" pitchFamily="66" charset="0"/>
              </a:rPr>
              <a:t>TCP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>
                <a:latin typeface="Arial" panose="020B0604020202020204" pitchFamily="34" charset="0"/>
              </a:rPr>
              <a:t>Reliable, </a:t>
            </a:r>
            <a:r>
              <a:rPr lang="en-GB" altLang="en-US" i="1">
                <a:latin typeface="Arial" panose="020B0604020202020204" pitchFamily="34" charset="0"/>
              </a:rPr>
              <a:t>full-duplex</a:t>
            </a:r>
            <a:r>
              <a:rPr lang="en-GB" altLang="en-US">
                <a:latin typeface="Arial" panose="020B0604020202020204" pitchFamily="34" charset="0"/>
              </a:rPr>
              <a:t>,</a:t>
            </a:r>
            <a:r>
              <a:rPr lang="en-GB" altLang="en-US" i="1">
                <a:latin typeface="Arial" panose="020B0604020202020204" pitchFamily="34" charset="0"/>
              </a:rPr>
              <a:t> connection-oriented</a:t>
            </a:r>
            <a:r>
              <a:rPr lang="en-GB" altLang="en-US">
                <a:latin typeface="Arial" panose="020B0604020202020204" pitchFamily="34" charset="0"/>
              </a:rPr>
              <a:t>, </a:t>
            </a:r>
            <a:r>
              <a:rPr lang="en-GB" altLang="en-US" i="1">
                <a:latin typeface="Arial" panose="020B0604020202020204" pitchFamily="34" charset="0"/>
              </a:rPr>
              <a:t>stream</a:t>
            </a:r>
            <a:r>
              <a:rPr lang="en-GB" altLang="en-US">
                <a:latin typeface="Arial" panose="020B0604020202020204" pitchFamily="34" charset="0"/>
              </a:rPr>
              <a:t> delivery</a:t>
            </a:r>
          </a:p>
          <a:p>
            <a:pPr lvl="1"/>
            <a:r>
              <a:rPr lang="en-GB" altLang="en-US">
                <a:latin typeface="Arial" panose="020B0604020202020204" pitchFamily="34" charset="0"/>
              </a:rPr>
              <a:t>Interface presented to the application doesn’t require data in individual packets</a:t>
            </a:r>
          </a:p>
          <a:p>
            <a:pPr lvl="1"/>
            <a:r>
              <a:rPr lang="en-GB" altLang="en-US">
                <a:latin typeface="Arial" panose="020B0604020202020204" pitchFamily="34" charset="0"/>
              </a:rPr>
              <a:t>Data is guaranteed to arrive, and in the correct order without duplications</a:t>
            </a:r>
          </a:p>
          <a:p>
            <a:pPr lvl="2"/>
            <a:r>
              <a:rPr lang="en-GB" altLang="en-US">
                <a:latin typeface="Arial" panose="020B0604020202020204" pitchFamily="34" charset="0"/>
              </a:rPr>
              <a:t>Or the connection will be dropped</a:t>
            </a:r>
          </a:p>
          <a:p>
            <a:pPr lvl="1"/>
            <a:r>
              <a:rPr lang="en-GB" altLang="en-US">
                <a:latin typeface="Arial" panose="020B0604020202020204" pitchFamily="34" charset="0"/>
              </a:rPr>
              <a:t>Imposes significant overheads</a:t>
            </a:r>
          </a:p>
        </p:txBody>
      </p:sp>
    </p:spTree>
    <p:extLst>
      <p:ext uri="{BB962C8B-B14F-4D97-AF65-F5344CB8AC3E}">
        <p14:creationId xmlns:p14="http://schemas.microsoft.com/office/powerpoint/2010/main" val="919775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>
                <a:latin typeface="Comic Sans MS" panose="030F0702030302020204" pitchFamily="66" charset="0"/>
              </a:rPr>
              <a:t>Applications of TCP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>
                <a:latin typeface="Arial" panose="020B0604020202020204" pitchFamily="34" charset="0"/>
              </a:rPr>
              <a:t>Most things!</a:t>
            </a:r>
          </a:p>
          <a:p>
            <a:pPr lvl="1"/>
            <a:r>
              <a:rPr lang="en-GB" altLang="en-US">
                <a:latin typeface="Arial" panose="020B0604020202020204" pitchFamily="34" charset="0"/>
              </a:rPr>
              <a:t>HTTP, FTP, …</a:t>
            </a:r>
          </a:p>
          <a:p>
            <a:endParaRPr lang="en-GB" altLang="en-US">
              <a:latin typeface="Arial" panose="020B0604020202020204" pitchFamily="34" charset="0"/>
            </a:endParaRPr>
          </a:p>
          <a:p>
            <a:r>
              <a:rPr lang="en-GB" altLang="en-US">
                <a:latin typeface="Arial" panose="020B0604020202020204" pitchFamily="34" charset="0"/>
              </a:rPr>
              <a:t>Saves the application a lot of work, so used unless there’s a good reason not to</a:t>
            </a:r>
          </a:p>
        </p:txBody>
      </p:sp>
    </p:spTree>
    <p:extLst>
      <p:ext uri="{BB962C8B-B14F-4D97-AF65-F5344CB8AC3E}">
        <p14:creationId xmlns:p14="http://schemas.microsoft.com/office/powerpoint/2010/main" val="1209056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>
                <a:latin typeface="Comic Sans MS" panose="030F0702030302020204" pitchFamily="66" charset="0"/>
              </a:rPr>
              <a:t>TCP implementation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altLang="en-US">
                <a:latin typeface="Arial" panose="020B0604020202020204" pitchFamily="34" charset="0"/>
              </a:rPr>
              <a:t>Connections are established using a </a:t>
            </a:r>
            <a:r>
              <a:rPr lang="en-GB" altLang="en-US" i="1">
                <a:latin typeface="Arial" panose="020B0604020202020204" pitchFamily="34" charset="0"/>
              </a:rPr>
              <a:t>three-way handshake</a:t>
            </a:r>
            <a:endParaRPr lang="en-GB" altLang="en-US">
              <a:latin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lang="en-GB" altLang="en-US">
                <a:latin typeface="Arial" panose="020B0604020202020204" pitchFamily="34" charset="0"/>
              </a:rPr>
              <a:t>Data is divided up into packets by the operating system</a:t>
            </a:r>
          </a:p>
          <a:p>
            <a:pPr>
              <a:lnSpc>
                <a:spcPct val="90000"/>
              </a:lnSpc>
            </a:pPr>
            <a:r>
              <a:rPr lang="en-GB" altLang="en-US">
                <a:latin typeface="Arial" panose="020B0604020202020204" pitchFamily="34" charset="0"/>
              </a:rPr>
              <a:t>Packets are numbered, and received packets are acknowledged</a:t>
            </a:r>
          </a:p>
          <a:p>
            <a:pPr>
              <a:lnSpc>
                <a:spcPct val="90000"/>
              </a:lnSpc>
            </a:pPr>
            <a:r>
              <a:rPr lang="en-GB" altLang="en-US">
                <a:latin typeface="Arial" panose="020B0604020202020204" pitchFamily="34" charset="0"/>
              </a:rPr>
              <a:t>Connections are explicitly closed</a:t>
            </a:r>
          </a:p>
          <a:p>
            <a:pPr lvl="1">
              <a:lnSpc>
                <a:spcPct val="90000"/>
              </a:lnSpc>
            </a:pPr>
            <a:r>
              <a:rPr lang="en-GB" altLang="en-US">
                <a:latin typeface="Arial" panose="020B0604020202020204" pitchFamily="34" charset="0"/>
              </a:rPr>
              <a:t>(or may abnormally terminate)</a:t>
            </a:r>
          </a:p>
        </p:txBody>
      </p:sp>
    </p:spTree>
    <p:extLst>
      <p:ext uri="{BB962C8B-B14F-4D97-AF65-F5344CB8AC3E}">
        <p14:creationId xmlns:p14="http://schemas.microsoft.com/office/powerpoint/2010/main" val="3692496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Transport Layer: TCP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2862690" y="2120260"/>
            <a:ext cx="0" cy="378066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5943546" y="2120260"/>
            <a:ext cx="0" cy="378066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213564" y="1448242"/>
            <a:ext cx="1298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Computer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4448" y="1460281"/>
            <a:ext cx="1298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Computer 2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2862690" y="2651916"/>
            <a:ext cx="3080856" cy="51688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922157" y="2321178"/>
            <a:ext cx="9801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Seq1 = 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476" y="2740401"/>
            <a:ext cx="914400" cy="36933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 bytes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 flipH="1">
            <a:off x="2862690" y="3291669"/>
            <a:ext cx="3080856" cy="64508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724809" y="3744640"/>
            <a:ext cx="13104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Ack2 = 0 + 3</a:t>
            </a:r>
          </a:p>
        </p:txBody>
      </p:sp>
    </p:spTree>
    <p:extLst>
      <p:ext uri="{BB962C8B-B14F-4D97-AF65-F5344CB8AC3E}">
        <p14:creationId xmlns:p14="http://schemas.microsoft.com/office/powerpoint/2010/main" val="1572441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Transport Layer: TCP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2740015" y="2191802"/>
            <a:ext cx="0" cy="378066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5820871" y="2191802"/>
            <a:ext cx="0" cy="378066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090889" y="1531823"/>
            <a:ext cx="1298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Computer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81773" y="1531823"/>
            <a:ext cx="1298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Computer 2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2740015" y="2723458"/>
            <a:ext cx="3080856" cy="51688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309391" y="2354126"/>
            <a:ext cx="9801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Seq1 = 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77801" y="2811943"/>
            <a:ext cx="914400" cy="36933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 bytes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 flipH="1">
            <a:off x="2740015" y="3493640"/>
            <a:ext cx="3080856" cy="64508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167496" y="3292955"/>
            <a:ext cx="13104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Ack2 = 0 + 3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99482" y="3670733"/>
            <a:ext cx="914400" cy="36933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 bytes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91367" y="3308974"/>
            <a:ext cx="92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Seq2= 0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>
            <a:off x="2715810" y="4736656"/>
            <a:ext cx="3080856" cy="51688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3753596" y="4825141"/>
            <a:ext cx="914400" cy="36933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 bytes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77071" y="4367324"/>
            <a:ext cx="9801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Seq1 =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35611" y="4367324"/>
            <a:ext cx="13104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Ack1 = 0 + 5</a:t>
            </a:r>
          </a:p>
        </p:txBody>
      </p:sp>
    </p:spTree>
    <p:extLst>
      <p:ext uri="{BB962C8B-B14F-4D97-AF65-F5344CB8AC3E}">
        <p14:creationId xmlns:p14="http://schemas.microsoft.com/office/powerpoint/2010/main" val="877669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 descr="TCP_Header (1)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8484" y="3362909"/>
            <a:ext cx="4644342" cy="358415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Transport Layer: TCP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009214" y="1655676"/>
            <a:ext cx="0" cy="47610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 flipH="1">
            <a:off x="4114275" y="1653074"/>
            <a:ext cx="10028" cy="495753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48748" y="1255174"/>
            <a:ext cx="1298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Computer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72906" y="1283742"/>
            <a:ext cx="1298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Computer 2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1009214" y="3665140"/>
            <a:ext cx="3080856" cy="886221"/>
            <a:chOff x="2170639" y="2776429"/>
            <a:chExt cx="3080856" cy="886221"/>
          </a:xfrm>
        </p:grpSpPr>
        <p:cxnSp>
          <p:nvCxnSpPr>
            <p:cNvPr id="9" name="Straight Arrow Connector 8"/>
            <p:cNvCxnSpPr/>
            <p:nvPr/>
          </p:nvCxnSpPr>
          <p:spPr>
            <a:xfrm>
              <a:off x="2170639" y="3145761"/>
              <a:ext cx="3080856" cy="516889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/>
            <p:cNvSpPr txBox="1"/>
            <p:nvPr/>
          </p:nvSpPr>
          <p:spPr>
            <a:xfrm>
              <a:off x="2740015" y="2776429"/>
              <a:ext cx="13193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Seq1 = X + 1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208425" y="3234246"/>
              <a:ext cx="914400" cy="369332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 bytes</a:t>
              </a: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1049724" y="4590585"/>
            <a:ext cx="3080856" cy="806545"/>
            <a:chOff x="2170639" y="3754482"/>
            <a:chExt cx="3080856" cy="806545"/>
          </a:xfrm>
        </p:grpSpPr>
        <p:cxnSp>
          <p:nvCxnSpPr>
            <p:cNvPr id="13" name="Straight Arrow Connector 12"/>
            <p:cNvCxnSpPr/>
            <p:nvPr/>
          </p:nvCxnSpPr>
          <p:spPr>
            <a:xfrm flipH="1">
              <a:off x="2170639" y="3915943"/>
              <a:ext cx="3080856" cy="645084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/>
            <p:cNvSpPr txBox="1"/>
            <p:nvPr/>
          </p:nvSpPr>
          <p:spPr>
            <a:xfrm>
              <a:off x="3338887" y="3754482"/>
              <a:ext cx="161123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Ack2 = (X + 1) + 3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3230106" y="4093036"/>
              <a:ext cx="914400" cy="369332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 bytes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228424" y="3757832"/>
              <a:ext cx="104758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Seq2= Y+1</a:t>
              </a: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950235" y="5512687"/>
            <a:ext cx="3215396" cy="817707"/>
            <a:chOff x="2059466" y="4858141"/>
            <a:chExt cx="3215396" cy="817707"/>
          </a:xfrm>
        </p:grpSpPr>
        <p:cxnSp>
          <p:nvCxnSpPr>
            <p:cNvPr id="18" name="Straight Arrow Connector 17"/>
            <p:cNvCxnSpPr/>
            <p:nvPr/>
          </p:nvCxnSpPr>
          <p:spPr>
            <a:xfrm>
              <a:off x="2146434" y="5158959"/>
              <a:ext cx="3080856" cy="516889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Rectangle 18"/>
            <p:cNvSpPr/>
            <p:nvPr/>
          </p:nvSpPr>
          <p:spPr>
            <a:xfrm>
              <a:off x="3184220" y="5247444"/>
              <a:ext cx="914400" cy="369332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 bytes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2059466" y="4872654"/>
              <a:ext cx="152387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Seq1 = (X+1) + 3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596999" y="4858141"/>
              <a:ext cx="16778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Ack1 = (Y+1) + 5</a:t>
              </a:r>
            </a:p>
          </p:txBody>
        </p:sp>
      </p:grpSp>
      <p:cxnSp>
        <p:nvCxnSpPr>
          <p:cNvPr id="22" name="Straight Arrow Connector 21"/>
          <p:cNvCxnSpPr/>
          <p:nvPr/>
        </p:nvCxnSpPr>
        <p:spPr>
          <a:xfrm>
            <a:off x="1033419" y="1840343"/>
            <a:ext cx="3080856" cy="26582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flipH="1">
            <a:off x="1033419" y="2667365"/>
            <a:ext cx="3080857" cy="14768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1009214" y="3391008"/>
            <a:ext cx="3040346" cy="27413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842115" y="1624506"/>
            <a:ext cx="13185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SYN, Seq1 = 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7509" y="2327566"/>
            <a:ext cx="29234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SYN&amp;ACK, Seq2 = Y, ACK2 = X + 1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19506" y="3096758"/>
            <a:ext cx="16496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ACK, ACK1 = Y + 1</a:t>
            </a:r>
          </a:p>
        </p:txBody>
      </p:sp>
      <p:sp>
        <p:nvSpPr>
          <p:cNvPr id="28" name="Right Brace 27"/>
          <p:cNvSpPr/>
          <p:nvPr/>
        </p:nvSpPr>
        <p:spPr>
          <a:xfrm rot="10800000">
            <a:off x="646420" y="1840343"/>
            <a:ext cx="311130" cy="1742652"/>
          </a:xfrm>
          <a:prstGeom prst="rightBrace">
            <a:avLst>
              <a:gd name="adj1" fmla="val 8333"/>
              <a:gd name="adj2" fmla="val 49564"/>
            </a:avLst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/>
          <p:cNvSpPr txBox="1"/>
          <p:nvPr/>
        </p:nvSpPr>
        <p:spPr>
          <a:xfrm>
            <a:off x="0" y="2465707"/>
            <a:ext cx="8772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Three-way</a:t>
            </a:r>
          </a:p>
          <a:p>
            <a:r>
              <a:rPr lang="en-US" sz="1200" dirty="0"/>
              <a:t>Handshake</a:t>
            </a:r>
          </a:p>
        </p:txBody>
      </p:sp>
      <p:sp>
        <p:nvSpPr>
          <p:cNvPr id="31" name="Right Arrow 30"/>
          <p:cNvSpPr/>
          <p:nvPr/>
        </p:nvSpPr>
        <p:spPr>
          <a:xfrm rot="16200000">
            <a:off x="6083822" y="3636671"/>
            <a:ext cx="175214" cy="128701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ight Arrow 31"/>
          <p:cNvSpPr/>
          <p:nvPr/>
        </p:nvSpPr>
        <p:spPr>
          <a:xfrm rot="16200000">
            <a:off x="6419325" y="3636671"/>
            <a:ext cx="175214" cy="128701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4455938" y="1643644"/>
            <a:ext cx="4572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en-US" dirty="0"/>
              <a:t>The 3-way handshake</a:t>
            </a:r>
          </a:p>
          <a:p>
            <a:pPr lvl="1"/>
            <a:r>
              <a:rPr lang="en-US" altLang="en-US" dirty="0" smtClean="0"/>
              <a:t>Guarantees </a:t>
            </a:r>
            <a:r>
              <a:rPr lang="en-US" altLang="en-US" dirty="0"/>
              <a:t>that both sides are ready for connection</a:t>
            </a:r>
          </a:p>
          <a:p>
            <a:pPr lvl="1"/>
            <a:r>
              <a:rPr lang="en-US" altLang="en-US" dirty="0"/>
              <a:t>Allows both sides to agree on initial sequence numbers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189236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Transport Layer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06761" y="2460613"/>
            <a:ext cx="840725" cy="2970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IP Header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30860" y="2459813"/>
            <a:ext cx="1252596" cy="2970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payload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47486" y="2459813"/>
            <a:ext cx="983375" cy="2970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TCP Header</a:t>
            </a:r>
          </a:p>
        </p:txBody>
      </p:sp>
      <p:grpSp>
        <p:nvGrpSpPr>
          <p:cNvPr id="18" name="Group 17"/>
          <p:cNvGrpSpPr/>
          <p:nvPr/>
        </p:nvGrpSpPr>
        <p:grpSpPr>
          <a:xfrm>
            <a:off x="2906761" y="3770624"/>
            <a:ext cx="3076695" cy="297825"/>
            <a:chOff x="2906761" y="3770624"/>
            <a:chExt cx="3076695" cy="297825"/>
          </a:xfrm>
        </p:grpSpPr>
        <p:sp>
          <p:nvSpPr>
            <p:cNvPr id="15" name="Rectangle 14"/>
            <p:cNvSpPr/>
            <p:nvPr/>
          </p:nvSpPr>
          <p:spPr>
            <a:xfrm>
              <a:off x="2906761" y="3771424"/>
              <a:ext cx="840725" cy="29702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IP Header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4730860" y="3770624"/>
              <a:ext cx="1252596" cy="29702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payload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747486" y="3770624"/>
              <a:ext cx="983375" cy="29702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UDP Header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94232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Transport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TCP</a:t>
            </a:r>
          </a:p>
          <a:p>
            <a:pPr lvl="1"/>
            <a:r>
              <a:rPr lang="en-US" dirty="0"/>
              <a:t>Reliable</a:t>
            </a:r>
          </a:p>
          <a:p>
            <a:pPr lvl="1"/>
            <a:r>
              <a:rPr lang="en-US" dirty="0"/>
              <a:t>Relatively expensive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UDP</a:t>
            </a:r>
          </a:p>
          <a:p>
            <a:pPr lvl="1"/>
            <a:r>
              <a:rPr lang="en-US" dirty="0"/>
              <a:t>Best-effort</a:t>
            </a:r>
          </a:p>
          <a:p>
            <a:pPr lvl="1"/>
            <a:r>
              <a:rPr lang="en-US" dirty="0"/>
              <a:t>Inexpensive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2790490" y="1780050"/>
            <a:ext cx="3076695" cy="297825"/>
            <a:chOff x="2665276" y="3300572"/>
            <a:chExt cx="3076695" cy="297825"/>
          </a:xfrm>
        </p:grpSpPr>
        <p:sp>
          <p:nvSpPr>
            <p:cNvPr id="4" name="Rectangle 3"/>
            <p:cNvSpPr/>
            <p:nvPr/>
          </p:nvSpPr>
          <p:spPr>
            <a:xfrm>
              <a:off x="2665276" y="3301372"/>
              <a:ext cx="840725" cy="29702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IP Header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4489375" y="3300572"/>
              <a:ext cx="1252596" cy="29702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payload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3506001" y="3300572"/>
              <a:ext cx="983375" cy="29702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TCP Header</a:t>
              </a: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2790490" y="3918736"/>
            <a:ext cx="3076695" cy="297825"/>
            <a:chOff x="2906761" y="3770624"/>
            <a:chExt cx="3076695" cy="297825"/>
          </a:xfrm>
        </p:grpSpPr>
        <p:sp>
          <p:nvSpPr>
            <p:cNvPr id="9" name="Rectangle 8"/>
            <p:cNvSpPr/>
            <p:nvPr/>
          </p:nvSpPr>
          <p:spPr>
            <a:xfrm>
              <a:off x="2906761" y="3771424"/>
              <a:ext cx="840725" cy="29702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IP Header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4730860" y="3770624"/>
              <a:ext cx="1252596" cy="29702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payload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747486" y="3770624"/>
              <a:ext cx="983375" cy="29702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UDP Header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57344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Link Layer</a:t>
            </a:r>
          </a:p>
        </p:txBody>
      </p:sp>
      <p:pic>
        <p:nvPicPr>
          <p:cNvPr id="5" name="Picture 4" descr="pt2_1.gi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4195" y="1958791"/>
            <a:ext cx="6050626" cy="3443534"/>
          </a:xfrm>
          <a:prstGeom prst="rect">
            <a:avLst/>
          </a:prstGeom>
        </p:spPr>
      </p:pic>
      <p:sp>
        <p:nvSpPr>
          <p:cNvPr id="6" name="Rounded Rectangular Callout 5"/>
          <p:cNvSpPr/>
          <p:nvPr/>
        </p:nvSpPr>
        <p:spPr>
          <a:xfrm>
            <a:off x="7566523" y="4096466"/>
            <a:ext cx="992771" cy="733428"/>
          </a:xfrm>
          <a:prstGeom prst="wedgeRoundRectCallout">
            <a:avLst>
              <a:gd name="adj1" fmla="val -71284"/>
              <a:gd name="adj2" fmla="val -89862"/>
              <a:gd name="adj3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Bus Cable</a:t>
            </a:r>
          </a:p>
        </p:txBody>
      </p:sp>
      <p:grpSp>
        <p:nvGrpSpPr>
          <p:cNvPr id="15" name="Group 14"/>
          <p:cNvGrpSpPr/>
          <p:nvPr/>
        </p:nvGrpSpPr>
        <p:grpSpPr>
          <a:xfrm>
            <a:off x="1243198" y="1502076"/>
            <a:ext cx="6091139" cy="4198874"/>
            <a:chOff x="1243198" y="1502076"/>
            <a:chExt cx="6091139" cy="4198874"/>
          </a:xfrm>
        </p:grpSpPr>
        <p:grpSp>
          <p:nvGrpSpPr>
            <p:cNvPr id="3" name="Group 2"/>
            <p:cNvGrpSpPr/>
            <p:nvPr/>
          </p:nvGrpSpPr>
          <p:grpSpPr>
            <a:xfrm>
              <a:off x="1243198" y="1502076"/>
              <a:ext cx="2414849" cy="297825"/>
              <a:chOff x="1350526" y="1493835"/>
              <a:chExt cx="2825538" cy="297825"/>
            </a:xfrm>
          </p:grpSpPr>
          <p:sp>
            <p:nvSpPr>
              <p:cNvPr id="7" name="Rectangle 6"/>
              <p:cNvSpPr/>
              <p:nvPr/>
            </p:nvSpPr>
            <p:spPr>
              <a:xfrm>
                <a:off x="1350526" y="1494635"/>
                <a:ext cx="840725" cy="297025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IP Header</a:t>
                </a:r>
              </a:p>
            </p:txBody>
          </p:sp>
          <p:sp>
            <p:nvSpPr>
              <p:cNvPr id="8" name="Rectangle 7"/>
              <p:cNvSpPr/>
              <p:nvPr/>
            </p:nvSpPr>
            <p:spPr>
              <a:xfrm>
                <a:off x="3174626" y="1493835"/>
                <a:ext cx="1001438" cy="297025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payload</a:t>
                </a:r>
              </a:p>
            </p:txBody>
          </p:sp>
          <p:sp>
            <p:nvSpPr>
              <p:cNvPr id="9" name="Rectangle 8"/>
              <p:cNvSpPr/>
              <p:nvPr/>
            </p:nvSpPr>
            <p:spPr>
              <a:xfrm>
                <a:off x="2191251" y="1493835"/>
                <a:ext cx="983375" cy="297025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TCP Header</a:t>
                </a:r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4919488" y="5403125"/>
              <a:ext cx="2414849" cy="297825"/>
              <a:chOff x="1350526" y="1493835"/>
              <a:chExt cx="2825538" cy="297825"/>
            </a:xfrm>
          </p:grpSpPr>
          <p:sp>
            <p:nvSpPr>
              <p:cNvPr id="11" name="Rectangle 10"/>
              <p:cNvSpPr/>
              <p:nvPr/>
            </p:nvSpPr>
            <p:spPr>
              <a:xfrm>
                <a:off x="1350526" y="1494635"/>
                <a:ext cx="840725" cy="297025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IP Header</a:t>
                </a:r>
              </a:p>
            </p:txBody>
          </p:sp>
          <p:sp>
            <p:nvSpPr>
              <p:cNvPr id="12" name="Rectangle 11"/>
              <p:cNvSpPr/>
              <p:nvPr/>
            </p:nvSpPr>
            <p:spPr>
              <a:xfrm>
                <a:off x="3174626" y="1493835"/>
                <a:ext cx="1001438" cy="297025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payload</a:t>
                </a:r>
              </a:p>
            </p:txBody>
          </p:sp>
          <p:sp>
            <p:nvSpPr>
              <p:cNvPr id="13" name="Rectangle 12"/>
              <p:cNvSpPr/>
              <p:nvPr/>
            </p:nvSpPr>
            <p:spPr>
              <a:xfrm>
                <a:off x="2191251" y="1493835"/>
                <a:ext cx="983375" cy="297025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TCP Header</a:t>
                </a:r>
              </a:p>
            </p:txBody>
          </p:sp>
        </p:grpSp>
      </p:grpSp>
      <p:grpSp>
        <p:nvGrpSpPr>
          <p:cNvPr id="16" name="Group 15"/>
          <p:cNvGrpSpPr/>
          <p:nvPr/>
        </p:nvGrpSpPr>
        <p:grpSpPr>
          <a:xfrm>
            <a:off x="205709" y="2674328"/>
            <a:ext cx="1793246" cy="2164857"/>
            <a:chOff x="205709" y="2674328"/>
            <a:chExt cx="1793246" cy="2164857"/>
          </a:xfrm>
        </p:grpSpPr>
        <p:sp>
          <p:nvSpPr>
            <p:cNvPr id="4" name="Rounded Rectangular Callout 3"/>
            <p:cNvSpPr/>
            <p:nvPr/>
          </p:nvSpPr>
          <p:spPr>
            <a:xfrm>
              <a:off x="205709" y="2674328"/>
              <a:ext cx="1511515" cy="566153"/>
            </a:xfrm>
            <a:prstGeom prst="wedgeRoundRectCallout">
              <a:avLst>
                <a:gd name="adj1" fmla="val 50007"/>
                <a:gd name="adj2" fmla="val 99012"/>
                <a:gd name="adj3" fmla="val 16667"/>
              </a:avLst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rgbClr val="000000"/>
                  </a:solidFill>
                </a:rPr>
                <a:t>Challenge 1: Error </a:t>
              </a:r>
            </a:p>
          </p:txBody>
        </p:sp>
        <p:sp>
          <p:nvSpPr>
            <p:cNvPr id="14" name="Rounded Rectangular Callout 13"/>
            <p:cNvSpPr/>
            <p:nvPr/>
          </p:nvSpPr>
          <p:spPr>
            <a:xfrm>
              <a:off x="487440" y="4273032"/>
              <a:ext cx="1511515" cy="566153"/>
            </a:xfrm>
            <a:prstGeom prst="wedgeRoundRectCallout">
              <a:avLst>
                <a:gd name="adj1" fmla="val 57108"/>
                <a:gd name="adj2" fmla="val -122164"/>
                <a:gd name="adj3" fmla="val 16667"/>
              </a:avLst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rgbClr val="000000"/>
                  </a:solidFill>
                </a:rPr>
                <a:t>Challenge 2: Conflicts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27033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Link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600084"/>
          </a:xfrm>
        </p:spPr>
        <p:txBody>
          <a:bodyPr/>
          <a:lstStyle/>
          <a:p>
            <a:r>
              <a:rPr lang="en-US" dirty="0"/>
              <a:t>Ethernet Header</a:t>
            </a:r>
          </a:p>
        </p:txBody>
      </p:sp>
      <p:pic>
        <p:nvPicPr>
          <p:cNvPr id="4" name="Picture 3" descr="Ethernet_II_Header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8909" y="2044138"/>
            <a:ext cx="5938736" cy="4581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724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Link Layer</a:t>
            </a:r>
          </a:p>
        </p:txBody>
      </p:sp>
      <p:pic>
        <p:nvPicPr>
          <p:cNvPr id="5" name="Picture 4" descr="pt2_1.gi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4195" y="1958791"/>
            <a:ext cx="6050626" cy="3443534"/>
          </a:xfrm>
          <a:prstGeom prst="rect">
            <a:avLst/>
          </a:prstGeom>
        </p:spPr>
      </p:pic>
      <p:sp>
        <p:nvSpPr>
          <p:cNvPr id="6" name="Rounded Rectangular Callout 5"/>
          <p:cNvSpPr/>
          <p:nvPr/>
        </p:nvSpPr>
        <p:spPr>
          <a:xfrm>
            <a:off x="7566523" y="4096466"/>
            <a:ext cx="992771" cy="733428"/>
          </a:xfrm>
          <a:prstGeom prst="wedgeRoundRectCallout">
            <a:avLst>
              <a:gd name="adj1" fmla="val -71284"/>
              <a:gd name="adj2" fmla="val -89862"/>
              <a:gd name="adj3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Bus Cable</a:t>
            </a:r>
          </a:p>
        </p:txBody>
      </p:sp>
      <p:grpSp>
        <p:nvGrpSpPr>
          <p:cNvPr id="18" name="Group 17"/>
          <p:cNvGrpSpPr/>
          <p:nvPr/>
        </p:nvGrpSpPr>
        <p:grpSpPr>
          <a:xfrm>
            <a:off x="670791" y="1555741"/>
            <a:ext cx="3827980" cy="298068"/>
            <a:chOff x="304092" y="5652206"/>
            <a:chExt cx="3827980" cy="298068"/>
          </a:xfrm>
        </p:grpSpPr>
        <p:sp>
          <p:nvSpPr>
            <p:cNvPr id="7" name="Rectangle 6"/>
            <p:cNvSpPr/>
            <p:nvPr/>
          </p:nvSpPr>
          <p:spPr>
            <a:xfrm>
              <a:off x="1414195" y="5653006"/>
              <a:ext cx="718526" cy="29702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IP Header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2973163" y="5652206"/>
              <a:ext cx="1158909" cy="29702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payload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2132721" y="5652206"/>
              <a:ext cx="840442" cy="29702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TCP Header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4092" y="5653249"/>
              <a:ext cx="1110103" cy="29702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Ethernet Header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35421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Protocols that support functions based on the services provided by the transport layer</a:t>
            </a:r>
          </a:p>
          <a:p>
            <a:pPr lvl="1"/>
            <a:r>
              <a:rPr lang="en-US" dirty="0"/>
              <a:t>DNS</a:t>
            </a:r>
          </a:p>
          <a:p>
            <a:pPr lvl="1"/>
            <a:r>
              <a:rPr lang="en-US" dirty="0"/>
              <a:t>FTP</a:t>
            </a:r>
          </a:p>
          <a:p>
            <a:pPr lvl="1"/>
            <a:r>
              <a:rPr lang="en-US" dirty="0"/>
              <a:t>HTTP</a:t>
            </a:r>
          </a:p>
          <a:p>
            <a:pPr lvl="1"/>
            <a:r>
              <a:rPr lang="en-US" dirty="0"/>
              <a:t>IMAP</a:t>
            </a:r>
          </a:p>
          <a:p>
            <a:pPr lvl="1"/>
            <a:r>
              <a:rPr lang="en-US" dirty="0"/>
              <a:t>IRC</a:t>
            </a:r>
          </a:p>
          <a:p>
            <a:pPr lvl="1"/>
            <a:r>
              <a:rPr lang="en-US" dirty="0"/>
              <a:t>……</a:t>
            </a:r>
          </a:p>
        </p:txBody>
      </p:sp>
    </p:spTree>
    <p:extLst>
      <p:ext uri="{BB962C8B-B14F-4D97-AF65-F5344CB8AC3E}">
        <p14:creationId xmlns:p14="http://schemas.microsoft.com/office/powerpoint/2010/main" val="1534616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An Overview of TCP/IP Protocol Layers</a:t>
            </a:r>
          </a:p>
        </p:txBody>
      </p:sp>
      <p:pic>
        <p:nvPicPr>
          <p:cNvPr id="10" name="Picture 9" descr="encaps.gi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009502"/>
            <a:ext cx="4356100" cy="2349500"/>
          </a:xfrm>
          <a:prstGeom prst="rect">
            <a:avLst/>
          </a:prstGeom>
        </p:spPr>
      </p:pic>
      <p:grpSp>
        <p:nvGrpSpPr>
          <p:cNvPr id="4" name="Group 5"/>
          <p:cNvGrpSpPr>
            <a:grpSpLocks/>
          </p:cNvGrpSpPr>
          <p:nvPr/>
        </p:nvGrpSpPr>
        <p:grpSpPr bwMode="auto">
          <a:xfrm>
            <a:off x="6329363" y="1879600"/>
            <a:ext cx="1898650" cy="3530600"/>
            <a:chOff x="3076" y="888"/>
            <a:chExt cx="1196" cy="2224"/>
          </a:xfrm>
        </p:grpSpPr>
        <p:sp>
          <p:nvSpPr>
            <p:cNvPr id="5" name="Rectangle 6"/>
            <p:cNvSpPr>
              <a:spLocks noChangeArrowheads="1"/>
            </p:cNvSpPr>
            <p:nvPr/>
          </p:nvSpPr>
          <p:spPr bwMode="auto">
            <a:xfrm>
              <a:off x="3080" y="888"/>
              <a:ext cx="1192" cy="2224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Text Box 7"/>
            <p:cNvSpPr txBox="1">
              <a:spLocks noChangeArrowheads="1"/>
            </p:cNvSpPr>
            <p:nvPr/>
          </p:nvSpPr>
          <p:spPr bwMode="auto">
            <a:xfrm>
              <a:off x="3245" y="949"/>
              <a:ext cx="884" cy="197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n-US" b="1" dirty="0">
                  <a:solidFill>
                    <a:srgbClr val="C00000"/>
                  </a:solidFill>
                  <a:latin typeface="Arial" charset="0"/>
                </a:rPr>
                <a:t>application</a:t>
              </a:r>
              <a:endParaRPr lang="en-US" dirty="0">
                <a:solidFill>
                  <a:srgbClr val="C00000"/>
                </a:solidFill>
                <a:latin typeface="Arial" charset="0"/>
              </a:endParaRPr>
            </a:p>
            <a:p>
              <a:pPr algn="ctr" eaLnBrk="0" hangingPunct="0"/>
              <a:endParaRPr lang="en-US" dirty="0">
                <a:latin typeface="Arial" charset="0"/>
              </a:endParaRPr>
            </a:p>
            <a:p>
              <a:pPr algn="ctr" eaLnBrk="0" hangingPunct="0"/>
              <a:endParaRPr lang="en-US" b="1" dirty="0" smtClean="0">
                <a:solidFill>
                  <a:schemeClr val="accent2"/>
                </a:solidFill>
                <a:latin typeface="Arial" charset="0"/>
              </a:endParaRPr>
            </a:p>
            <a:p>
              <a:pPr algn="ctr" eaLnBrk="0" hangingPunct="0"/>
              <a:r>
                <a:rPr lang="en-US" b="1" dirty="0" smtClean="0">
                  <a:solidFill>
                    <a:schemeClr val="tx2"/>
                  </a:solidFill>
                  <a:latin typeface="Arial" charset="0"/>
                </a:rPr>
                <a:t>transport</a:t>
              </a:r>
              <a:endParaRPr lang="en-US" dirty="0">
                <a:solidFill>
                  <a:schemeClr val="tx2"/>
                </a:solidFill>
                <a:latin typeface="Arial" charset="0"/>
              </a:endParaRPr>
            </a:p>
            <a:p>
              <a:pPr algn="ctr" eaLnBrk="0" hangingPunct="0"/>
              <a:endParaRPr lang="en-US" dirty="0">
                <a:solidFill>
                  <a:schemeClr val="tx2"/>
                </a:solidFill>
                <a:latin typeface="Arial" charset="0"/>
              </a:endParaRPr>
            </a:p>
            <a:p>
              <a:pPr algn="ctr" eaLnBrk="0" hangingPunct="0"/>
              <a:r>
                <a:rPr lang="en-US" b="1" dirty="0">
                  <a:solidFill>
                    <a:schemeClr val="tx2"/>
                  </a:solidFill>
                  <a:latin typeface="Arial" charset="0"/>
                </a:rPr>
                <a:t>network</a:t>
              </a:r>
            </a:p>
            <a:p>
              <a:pPr algn="ctr" eaLnBrk="0" hangingPunct="0"/>
              <a:endParaRPr lang="en-US" dirty="0" smtClean="0">
                <a:latin typeface="Arial" charset="0"/>
              </a:endParaRPr>
            </a:p>
            <a:p>
              <a:pPr algn="ctr" eaLnBrk="0" hangingPunct="0"/>
              <a:endParaRPr lang="en-US" dirty="0">
                <a:latin typeface="Arial" charset="0"/>
              </a:endParaRPr>
            </a:p>
            <a:p>
              <a:pPr algn="ctr" eaLnBrk="0" hangingPunct="0"/>
              <a:r>
                <a:rPr lang="en-US" dirty="0" smtClean="0">
                  <a:latin typeface="Arial" charset="0"/>
                </a:rPr>
                <a:t>Data link</a:t>
              </a:r>
              <a:endParaRPr lang="en-US" dirty="0">
                <a:solidFill>
                  <a:srgbClr val="FF0000"/>
                </a:solidFill>
                <a:latin typeface="Arial" charset="0"/>
              </a:endParaRPr>
            </a:p>
            <a:p>
              <a:pPr algn="ctr" eaLnBrk="0" hangingPunct="0"/>
              <a:endParaRPr lang="en-US" dirty="0">
                <a:latin typeface="Arial" charset="0"/>
              </a:endParaRPr>
            </a:p>
            <a:p>
              <a:pPr algn="ctr" eaLnBrk="0" hangingPunct="0"/>
              <a:r>
                <a:rPr lang="en-US" dirty="0">
                  <a:latin typeface="Arial" charset="0"/>
                </a:rPr>
                <a:t>physical</a:t>
              </a:r>
            </a:p>
          </p:txBody>
        </p:sp>
        <p:sp>
          <p:nvSpPr>
            <p:cNvPr id="7" name="Line 8"/>
            <p:cNvSpPr>
              <a:spLocks noChangeShapeType="1"/>
            </p:cNvSpPr>
            <p:nvPr/>
          </p:nvSpPr>
          <p:spPr bwMode="auto">
            <a:xfrm>
              <a:off x="3076" y="1324"/>
              <a:ext cx="1188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Line 9"/>
            <p:cNvSpPr>
              <a:spLocks noChangeShapeType="1"/>
            </p:cNvSpPr>
            <p:nvPr/>
          </p:nvSpPr>
          <p:spPr bwMode="auto">
            <a:xfrm>
              <a:off x="3076" y="1768"/>
              <a:ext cx="1188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Line 10"/>
            <p:cNvSpPr>
              <a:spLocks noChangeShapeType="1"/>
            </p:cNvSpPr>
            <p:nvPr/>
          </p:nvSpPr>
          <p:spPr bwMode="auto">
            <a:xfrm>
              <a:off x="3076" y="2216"/>
              <a:ext cx="1188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Line 11"/>
            <p:cNvSpPr>
              <a:spLocks noChangeShapeType="1"/>
            </p:cNvSpPr>
            <p:nvPr/>
          </p:nvSpPr>
          <p:spPr bwMode="auto">
            <a:xfrm>
              <a:off x="3076" y="2664"/>
              <a:ext cx="1188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782989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Packet Sniffing and Parsing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Tools</a:t>
            </a:r>
          </a:p>
          <a:p>
            <a:pPr lvl="1"/>
            <a:r>
              <a:rPr lang="en-US" dirty="0"/>
              <a:t>TCPDUMP/</a:t>
            </a:r>
            <a:r>
              <a:rPr lang="en-US" dirty="0" err="1"/>
              <a:t>WireShark</a:t>
            </a:r>
            <a:endParaRPr lang="en-US" dirty="0"/>
          </a:p>
          <a:p>
            <a:pPr lvl="1"/>
            <a:r>
              <a:rPr lang="en-US" dirty="0" err="1"/>
              <a:t>Ngrep</a:t>
            </a:r>
            <a:endParaRPr lang="en-US" dirty="0"/>
          </a:p>
          <a:p>
            <a:pPr lvl="1"/>
            <a:r>
              <a:rPr lang="en-US" dirty="0"/>
              <a:t>……</a:t>
            </a:r>
          </a:p>
          <a:p>
            <a:r>
              <a:rPr lang="en-US" dirty="0"/>
              <a:t>Programming</a:t>
            </a:r>
          </a:p>
          <a:p>
            <a:pPr lvl="1"/>
            <a:r>
              <a:rPr lang="en-US" dirty="0"/>
              <a:t>Writing your own packet sniffer</a:t>
            </a:r>
          </a:p>
        </p:txBody>
      </p:sp>
    </p:spTree>
    <p:extLst>
      <p:ext uri="{BB962C8B-B14F-4D97-AF65-F5344CB8AC3E}">
        <p14:creationId xmlns:p14="http://schemas.microsoft.com/office/powerpoint/2010/main" val="1218482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Libpcap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734460" y="2410477"/>
            <a:ext cx="4038600" cy="2046403"/>
          </a:xfrm>
        </p:spPr>
        <p:txBody>
          <a:bodyPr/>
          <a:lstStyle/>
          <a:p>
            <a:r>
              <a:rPr lang="en-US" dirty="0"/>
              <a:t>A collection of APIs for a program to capture packets from a network interface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5273281" y="2458851"/>
            <a:ext cx="2214936" cy="2141517"/>
            <a:chOff x="694014" y="3115974"/>
            <a:chExt cx="2214936" cy="2141517"/>
          </a:xfrm>
        </p:grpSpPr>
        <p:sp>
          <p:nvSpPr>
            <p:cNvPr id="7" name="Rectangle 6"/>
            <p:cNvSpPr/>
            <p:nvPr/>
          </p:nvSpPr>
          <p:spPr>
            <a:xfrm>
              <a:off x="981369" y="3145634"/>
              <a:ext cx="1927581" cy="945168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989339" y="4135106"/>
              <a:ext cx="1919611" cy="100424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 descr="NIC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400786">
              <a:off x="694014" y="4336322"/>
              <a:ext cx="921169" cy="921169"/>
            </a:xfrm>
            <a:prstGeom prst="rect">
              <a:avLst/>
            </a:prstGeom>
          </p:spPr>
        </p:pic>
        <p:sp>
          <p:nvSpPr>
            <p:cNvPr id="10" name="Rectangle 9"/>
            <p:cNvSpPr/>
            <p:nvPr/>
          </p:nvSpPr>
          <p:spPr>
            <a:xfrm>
              <a:off x="989339" y="3662524"/>
              <a:ext cx="826910" cy="398742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err="1"/>
                <a:t>Libpcap</a:t>
              </a:r>
              <a:endParaRPr lang="en-US" sz="1400" dirty="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343729" y="4303726"/>
              <a:ext cx="310091" cy="132914"/>
            </a:xfrm>
            <a:prstGeom prst="rect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665632" y="4151666"/>
              <a:ext cx="81304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packet</a:t>
              </a:r>
            </a:p>
          </p:txBody>
        </p:sp>
        <p:cxnSp>
          <p:nvCxnSpPr>
            <p:cNvPr id="13" name="Straight Arrow Connector 12"/>
            <p:cNvCxnSpPr/>
            <p:nvPr/>
          </p:nvCxnSpPr>
          <p:spPr>
            <a:xfrm flipV="1">
              <a:off x="1200495" y="4135106"/>
              <a:ext cx="143234" cy="369332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4" name="Rectangle 13"/>
            <p:cNvSpPr/>
            <p:nvPr/>
          </p:nvSpPr>
          <p:spPr>
            <a:xfrm>
              <a:off x="2029189" y="3529610"/>
              <a:ext cx="310091" cy="132914"/>
            </a:xfrm>
            <a:prstGeom prst="rect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Arrow Connector 14"/>
            <p:cNvCxnSpPr>
              <a:endCxn id="14" idx="1"/>
            </p:cNvCxnSpPr>
            <p:nvPr/>
          </p:nvCxnSpPr>
          <p:spPr>
            <a:xfrm flipV="1">
              <a:off x="1816249" y="3596067"/>
              <a:ext cx="212940" cy="118209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6" name="Rectangle 15"/>
            <p:cNvSpPr/>
            <p:nvPr/>
          </p:nvSpPr>
          <p:spPr>
            <a:xfrm>
              <a:off x="1968649" y="3588684"/>
              <a:ext cx="81304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packet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959807" y="3115974"/>
              <a:ext cx="124651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Application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08321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TCPDUMP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22384664"/>
              </p:ext>
            </p:extLst>
          </p:nvPr>
        </p:nvGraphicFramePr>
        <p:xfrm>
          <a:off x="457200" y="2083189"/>
          <a:ext cx="82296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306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65653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Comments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  <a:r>
                        <a:rPr lang="en-US" dirty="0" err="1"/>
                        <a:t>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network</a:t>
                      </a:r>
                      <a:r>
                        <a:rPr lang="en-US" baseline="0" dirty="0"/>
                        <a:t> interface to monitor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-w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pcap</a:t>
                      </a:r>
                      <a:r>
                        <a:rPr lang="en-US" baseline="0" dirty="0"/>
                        <a:t> file to write</a:t>
                      </a:r>
                      <a:r>
                        <a:rPr lang="en-US" dirty="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-r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</a:t>
                      </a:r>
                      <a:r>
                        <a:rPr lang="en-US" dirty="0" err="1"/>
                        <a:t>pcap</a:t>
                      </a:r>
                      <a:r>
                        <a:rPr lang="en-US" baseline="0" dirty="0"/>
                        <a:t> file to read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  <a:r>
                        <a:rPr lang="en-US" dirty="0" err="1"/>
                        <a:t>nn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Do not resolve names</a:t>
                      </a:r>
                      <a:r>
                        <a:rPr lang="en-US" baseline="0" dirty="0"/>
                        <a:t> for </a:t>
                      </a:r>
                      <a:r>
                        <a:rPr lang="en-US" dirty="0"/>
                        <a:t>IP addresses and Port numbers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-S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Print the absolute</a:t>
                      </a:r>
                      <a:r>
                        <a:rPr lang="en-US" baseline="0" dirty="0"/>
                        <a:t> number for TCP sequence and acknowledgement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-XX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Show</a:t>
                      </a:r>
                      <a:r>
                        <a:rPr lang="en-US" baseline="0" dirty="0"/>
                        <a:t> every bytes in a packet in both Hex and ASCII format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3107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TCPDUMP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err="1"/>
              <a:t>tcpdump</a:t>
            </a:r>
            <a:r>
              <a:rPr lang="en-US" sz="2000" dirty="0"/>
              <a:t> -</a:t>
            </a:r>
            <a:r>
              <a:rPr lang="en-US" sz="2000" dirty="0" err="1"/>
              <a:t>i</a:t>
            </a:r>
            <a:r>
              <a:rPr lang="en-US" sz="2000" dirty="0"/>
              <a:t> eth0 -c 500 -s 0 -w </a:t>
            </a:r>
            <a:r>
              <a:rPr lang="en-US" sz="2000" dirty="0" err="1"/>
              <a:t>test.pcap</a:t>
            </a:r>
            <a:endParaRPr lang="en-US" sz="2000" dirty="0"/>
          </a:p>
          <a:p>
            <a:endParaRPr lang="en-US" sz="2000" dirty="0"/>
          </a:p>
          <a:p>
            <a:r>
              <a:rPr lang="en-US" sz="2000" dirty="0" err="1"/>
              <a:t>tcpdump</a:t>
            </a:r>
            <a:r>
              <a:rPr lang="en-US" sz="2000" dirty="0"/>
              <a:t> -r </a:t>
            </a:r>
            <a:r>
              <a:rPr lang="en-US" sz="2000" dirty="0" err="1"/>
              <a:t>test.pcap</a:t>
            </a:r>
            <a:r>
              <a:rPr lang="en-US" sz="2000" dirty="0"/>
              <a:t> -e -</a:t>
            </a:r>
            <a:r>
              <a:rPr lang="en-US" sz="2000" dirty="0" err="1"/>
              <a:t>nn</a:t>
            </a:r>
            <a:r>
              <a:rPr lang="en-US" sz="2000" dirty="0"/>
              <a:t> -S –XX</a:t>
            </a:r>
          </a:p>
          <a:p>
            <a:endParaRPr lang="en-US" sz="2000" dirty="0"/>
          </a:p>
          <a:p>
            <a:r>
              <a:rPr lang="en-US" sz="2000" dirty="0" err="1"/>
              <a:t>tcpdump</a:t>
            </a:r>
            <a:r>
              <a:rPr lang="en-US" sz="2000" dirty="0"/>
              <a:t> -r </a:t>
            </a:r>
            <a:r>
              <a:rPr lang="en-US" sz="2000" dirty="0" err="1"/>
              <a:t>test.pcap</a:t>
            </a:r>
            <a:r>
              <a:rPr lang="en-US" sz="2000" dirty="0"/>
              <a:t> -e -</a:t>
            </a:r>
            <a:r>
              <a:rPr lang="en-US" sz="2000" dirty="0" err="1"/>
              <a:t>nn</a:t>
            </a:r>
            <a:r>
              <a:rPr lang="en-US" sz="2000" dirty="0"/>
              <a:t> -S -XX proto TCP</a:t>
            </a:r>
          </a:p>
          <a:p>
            <a:r>
              <a:rPr lang="en-US" sz="2000" dirty="0" err="1"/>
              <a:t>tcpdump</a:t>
            </a:r>
            <a:r>
              <a:rPr lang="en-US" sz="2000" dirty="0"/>
              <a:t> -r </a:t>
            </a:r>
            <a:r>
              <a:rPr lang="en-US" sz="2000" dirty="0" err="1"/>
              <a:t>test.pcap</a:t>
            </a:r>
            <a:r>
              <a:rPr lang="en-US" sz="2000" dirty="0"/>
              <a:t> -e -</a:t>
            </a:r>
            <a:r>
              <a:rPr lang="en-US" sz="2000" dirty="0" err="1"/>
              <a:t>nn</a:t>
            </a:r>
            <a:r>
              <a:rPr lang="en-US" sz="2000" dirty="0"/>
              <a:t> -S -XX proto UDP</a:t>
            </a:r>
          </a:p>
          <a:p>
            <a:r>
              <a:rPr lang="tr-TR" sz="2000" dirty="0" err="1"/>
              <a:t>tcpdump</a:t>
            </a:r>
            <a:r>
              <a:rPr lang="tr-TR" sz="2000" dirty="0"/>
              <a:t> -r test2.pcap -e -</a:t>
            </a:r>
            <a:r>
              <a:rPr lang="tr-TR" sz="2000" dirty="0" err="1"/>
              <a:t>nn</a:t>
            </a:r>
            <a:r>
              <a:rPr lang="tr-TR" sz="2000" dirty="0"/>
              <a:t> -S -XX '</a:t>
            </a:r>
            <a:r>
              <a:rPr lang="tr-TR" sz="2000" dirty="0" err="1"/>
              <a:t>tcp</a:t>
            </a:r>
            <a:r>
              <a:rPr lang="tr-TR" sz="2000" dirty="0"/>
              <a:t>[13] &amp; 2!=0’</a:t>
            </a:r>
          </a:p>
          <a:p>
            <a:r>
              <a:rPr lang="en-US" sz="2000" dirty="0" err="1"/>
              <a:t>tcpdump</a:t>
            </a:r>
            <a:r>
              <a:rPr lang="en-US" sz="2000" dirty="0"/>
              <a:t> -r test2.pcap -e -</a:t>
            </a:r>
            <a:r>
              <a:rPr lang="en-US" sz="2000" dirty="0" err="1"/>
              <a:t>nn</a:t>
            </a:r>
            <a:r>
              <a:rPr lang="en-US" sz="2000" dirty="0"/>
              <a:t> -S -XX '</a:t>
            </a:r>
            <a:r>
              <a:rPr lang="en-US" sz="2000" dirty="0" err="1"/>
              <a:t>tcp</a:t>
            </a:r>
            <a:r>
              <a:rPr lang="en-US" sz="2000" dirty="0"/>
              <a:t>[13]=18’</a:t>
            </a:r>
          </a:p>
          <a:p>
            <a:r>
              <a:rPr lang="en-US" sz="2000" dirty="0" err="1"/>
              <a:t>tcpdump</a:t>
            </a:r>
            <a:r>
              <a:rPr lang="en-US" sz="2000" dirty="0"/>
              <a:t> -r test2.pcap -e -</a:t>
            </a:r>
            <a:r>
              <a:rPr lang="en-US" sz="2000" dirty="0" err="1"/>
              <a:t>nn</a:t>
            </a:r>
            <a:r>
              <a:rPr lang="en-US" sz="2000" dirty="0"/>
              <a:t> -S -XX '</a:t>
            </a:r>
            <a:r>
              <a:rPr lang="en-US" sz="2000" dirty="0" err="1"/>
              <a:t>tcp</a:t>
            </a:r>
            <a:r>
              <a:rPr lang="en-US" sz="2000" dirty="0"/>
              <a:t>[13] &amp; 2!=0' and '</a:t>
            </a:r>
            <a:r>
              <a:rPr lang="en-US" sz="2000" dirty="0" err="1"/>
              <a:t>tcp</a:t>
            </a:r>
            <a:r>
              <a:rPr lang="en-US" sz="2000" dirty="0"/>
              <a:t>[13]!=18'</a:t>
            </a:r>
          </a:p>
        </p:txBody>
      </p:sp>
    </p:spTree>
    <p:extLst>
      <p:ext uri="{BB962C8B-B14F-4D97-AF65-F5344CB8AC3E}">
        <p14:creationId xmlns:p14="http://schemas.microsoft.com/office/powerpoint/2010/main" val="3735031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C00000"/>
                </a:solidFill>
              </a:rPr>
              <a:t>Demo  - Using Wireshark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Wireshark: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altLang="en-US" dirty="0" smtClean="0"/>
              <a:t>Packet </a:t>
            </a:r>
            <a:r>
              <a:rPr lang="en-US" altLang="en-US" dirty="0"/>
              <a:t>sniffer/protocol analyzer</a:t>
            </a:r>
          </a:p>
          <a:p>
            <a:pPr marL="0" indent="0">
              <a:buNone/>
            </a:pPr>
            <a:r>
              <a:rPr lang="en-US" altLang="en-US" dirty="0" smtClean="0"/>
              <a:t>	Open </a:t>
            </a:r>
            <a:r>
              <a:rPr lang="en-US" altLang="en-US" dirty="0"/>
              <a:t>Source Network </a:t>
            </a:r>
            <a:r>
              <a:rPr lang="en-US" altLang="en-US" dirty="0" smtClean="0"/>
              <a:t>Tool</a:t>
            </a:r>
          </a:p>
          <a:p>
            <a:pPr marL="0" indent="0">
              <a:buNone/>
            </a:pPr>
            <a:r>
              <a:rPr lang="en-US" altLang="en-US" dirty="0" smtClean="0"/>
              <a:t>Three windows:</a:t>
            </a:r>
          </a:p>
          <a:p>
            <a:pPr marL="0" indent="0">
              <a:buNone/>
            </a:pPr>
            <a:r>
              <a:rPr lang="en-US" altLang="en-US" dirty="0"/>
              <a:t>	</a:t>
            </a:r>
            <a:r>
              <a:rPr lang="en-US" altLang="en-US" dirty="0" smtClean="0"/>
              <a:t>Listing of captured packets</a:t>
            </a:r>
          </a:p>
          <a:p>
            <a:pPr marL="0" indent="0">
              <a:buNone/>
            </a:pPr>
            <a:r>
              <a:rPr lang="en-US" altLang="en-US" dirty="0"/>
              <a:t>	</a:t>
            </a:r>
            <a:r>
              <a:rPr lang="en-US" altLang="en-US" dirty="0" smtClean="0"/>
              <a:t>Details of selected packet header</a:t>
            </a:r>
          </a:p>
          <a:p>
            <a:pPr marL="0" indent="0">
              <a:buNone/>
            </a:pPr>
            <a:r>
              <a:rPr lang="en-US" altLang="en-US" dirty="0"/>
              <a:t>	</a:t>
            </a:r>
            <a:r>
              <a:rPr lang="en-US" altLang="en-US" dirty="0" smtClean="0"/>
              <a:t>Packet content in hexadecimal and ASCII</a:t>
            </a:r>
            <a:endParaRPr lang="en-US" alt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4661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End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003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2295</TotalTime>
  <Words>1613</Words>
  <Application>Microsoft Office PowerPoint</Application>
  <PresentationFormat>On-screen Show (4:3)</PresentationFormat>
  <Paragraphs>416</Paragraphs>
  <Slides>43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3" baseType="lpstr">
      <vt:lpstr>ＭＳ Ｐゴシック</vt:lpstr>
      <vt:lpstr>宋体</vt:lpstr>
      <vt:lpstr>Arial</vt:lpstr>
      <vt:lpstr>Calibri</vt:lpstr>
      <vt:lpstr>Comic Sans MS</vt:lpstr>
      <vt:lpstr>Symbol</vt:lpstr>
      <vt:lpstr>Tahoma</vt:lpstr>
      <vt:lpstr>Times New Roman</vt:lpstr>
      <vt:lpstr>Wingdings</vt:lpstr>
      <vt:lpstr>Office Theme</vt:lpstr>
      <vt:lpstr>Introduction to Networking</vt:lpstr>
      <vt:lpstr>Network Basics</vt:lpstr>
      <vt:lpstr>Network Types</vt:lpstr>
      <vt:lpstr>The Internet</vt:lpstr>
      <vt:lpstr>Timeline Of The Internet</vt:lpstr>
      <vt:lpstr>TCP/IP</vt:lpstr>
      <vt:lpstr>TCP/IP suite</vt:lpstr>
      <vt:lpstr>Packet Encapsulation </vt:lpstr>
      <vt:lpstr>PowerPoint Presentation</vt:lpstr>
      <vt:lpstr>Internet Addressing</vt:lpstr>
      <vt:lpstr>Internet Addressing</vt:lpstr>
      <vt:lpstr>Demo</vt:lpstr>
      <vt:lpstr>Network Layer</vt:lpstr>
      <vt:lpstr>Network Layer</vt:lpstr>
      <vt:lpstr>Network Layer</vt:lpstr>
      <vt:lpstr>Network Layer</vt:lpstr>
      <vt:lpstr>Transport Layer</vt:lpstr>
      <vt:lpstr>Transport Layer</vt:lpstr>
      <vt:lpstr>Transport Layer</vt:lpstr>
      <vt:lpstr>Transport Layer</vt:lpstr>
      <vt:lpstr>Transport Layer</vt:lpstr>
      <vt:lpstr>Typical applications of UDP</vt:lpstr>
      <vt:lpstr>Transport Layer</vt:lpstr>
      <vt:lpstr>Transport Layer</vt:lpstr>
      <vt:lpstr>TCP</vt:lpstr>
      <vt:lpstr>Applications of TCP</vt:lpstr>
      <vt:lpstr>TCP implementation</vt:lpstr>
      <vt:lpstr>Transport Layer: TCP</vt:lpstr>
      <vt:lpstr>Transport Layer: TCP</vt:lpstr>
      <vt:lpstr>Transport Layer: TCP</vt:lpstr>
      <vt:lpstr>Transport Layer</vt:lpstr>
      <vt:lpstr>Transport Layer</vt:lpstr>
      <vt:lpstr>Data Link Layer</vt:lpstr>
      <vt:lpstr>Data Link Layer</vt:lpstr>
      <vt:lpstr>Data Link Layer</vt:lpstr>
      <vt:lpstr>Application Layer</vt:lpstr>
      <vt:lpstr>An Overview of TCP/IP Protocol Layers</vt:lpstr>
      <vt:lpstr>Packet Sniffing and Parsing</vt:lpstr>
      <vt:lpstr>Libpcap</vt:lpstr>
      <vt:lpstr>TCPDUMP</vt:lpstr>
      <vt:lpstr>TCPDUMP</vt:lpstr>
      <vt:lpstr>Demo  - Using Wireshark </vt:lpstr>
      <vt:lpstr>End</vt:lpstr>
    </vt:vector>
  </TitlesOfParts>
  <Company>Wright State University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creator>Junjie Zhang</dc:creator>
  <cp:lastModifiedBy>mliu</cp:lastModifiedBy>
  <cp:revision>718</cp:revision>
  <dcterms:created xsi:type="dcterms:W3CDTF">2014-02-25T02:06:58Z</dcterms:created>
  <dcterms:modified xsi:type="dcterms:W3CDTF">2022-11-03T01:07:44Z</dcterms:modified>
</cp:coreProperties>
</file>