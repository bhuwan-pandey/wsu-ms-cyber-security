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2.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16" r:id="rId1"/>
    <p:sldMasterId id="2147484133" r:id="rId2"/>
    <p:sldMasterId id="2147484145" r:id="rId3"/>
  </p:sldMasterIdLst>
  <p:notesMasterIdLst>
    <p:notesMasterId r:id="rId75"/>
  </p:notesMasterIdLst>
  <p:handoutMasterIdLst>
    <p:handoutMasterId r:id="rId76"/>
  </p:handoutMasterIdLst>
  <p:sldIdLst>
    <p:sldId id="427" r:id="rId4"/>
    <p:sldId id="626" r:id="rId5"/>
    <p:sldId id="475" r:id="rId6"/>
    <p:sldId id="546" r:id="rId7"/>
    <p:sldId id="477" r:id="rId8"/>
    <p:sldId id="478" r:id="rId9"/>
    <p:sldId id="519" r:id="rId10"/>
    <p:sldId id="520" r:id="rId11"/>
    <p:sldId id="518" r:id="rId12"/>
    <p:sldId id="517" r:id="rId13"/>
    <p:sldId id="487" r:id="rId14"/>
    <p:sldId id="488" r:id="rId15"/>
    <p:sldId id="627" r:id="rId16"/>
    <p:sldId id="628" r:id="rId17"/>
    <p:sldId id="642" r:id="rId18"/>
    <p:sldId id="629" r:id="rId19"/>
    <p:sldId id="630" r:id="rId20"/>
    <p:sldId id="631" r:id="rId21"/>
    <p:sldId id="645" r:id="rId22"/>
    <p:sldId id="640" r:id="rId23"/>
    <p:sldId id="641" r:id="rId24"/>
    <p:sldId id="586" r:id="rId25"/>
    <p:sldId id="493" r:id="rId26"/>
    <p:sldId id="494" r:id="rId27"/>
    <p:sldId id="495" r:id="rId28"/>
    <p:sldId id="496" r:id="rId29"/>
    <p:sldId id="497" r:id="rId30"/>
    <p:sldId id="498" r:id="rId31"/>
    <p:sldId id="499" r:id="rId32"/>
    <p:sldId id="500" r:id="rId33"/>
    <p:sldId id="528" r:id="rId34"/>
    <p:sldId id="530" r:id="rId35"/>
    <p:sldId id="643" r:id="rId36"/>
    <p:sldId id="547" r:id="rId37"/>
    <p:sldId id="533" r:id="rId38"/>
    <p:sldId id="535" r:id="rId39"/>
    <p:sldId id="536" r:id="rId40"/>
    <p:sldId id="644" r:id="rId41"/>
    <p:sldId id="549" r:id="rId42"/>
    <p:sldId id="550" r:id="rId43"/>
    <p:sldId id="551" r:id="rId44"/>
    <p:sldId id="632" r:id="rId45"/>
    <p:sldId id="552" r:id="rId46"/>
    <p:sldId id="554" r:id="rId47"/>
    <p:sldId id="633" r:id="rId48"/>
    <p:sldId id="555" r:id="rId49"/>
    <p:sldId id="1137" r:id="rId50"/>
    <p:sldId id="638" r:id="rId51"/>
    <p:sldId id="634" r:id="rId52"/>
    <p:sldId id="556" r:id="rId53"/>
    <p:sldId id="635" r:id="rId54"/>
    <p:sldId id="636" r:id="rId55"/>
    <p:sldId id="637" r:id="rId56"/>
    <p:sldId id="558" r:id="rId57"/>
    <p:sldId id="559" r:id="rId58"/>
    <p:sldId id="583" r:id="rId59"/>
    <p:sldId id="562" r:id="rId60"/>
    <p:sldId id="585" r:id="rId61"/>
    <p:sldId id="580" r:id="rId62"/>
    <p:sldId id="564" r:id="rId63"/>
    <p:sldId id="565" r:id="rId64"/>
    <p:sldId id="584" r:id="rId65"/>
    <p:sldId id="639" r:id="rId66"/>
    <p:sldId id="568" r:id="rId67"/>
    <p:sldId id="570" r:id="rId68"/>
    <p:sldId id="571" r:id="rId69"/>
    <p:sldId id="572" r:id="rId70"/>
    <p:sldId id="573" r:id="rId71"/>
    <p:sldId id="574" r:id="rId72"/>
    <p:sldId id="1136" r:id="rId73"/>
    <p:sldId id="579" r:id="rId7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Tahom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7C75D"/>
    <a:srgbClr val="33CC33"/>
    <a:srgbClr val="FF6600"/>
    <a:srgbClr val="FF3300"/>
    <a:srgbClr val="CC3300"/>
    <a:srgbClr val="0033CC"/>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71"/>
  </p:normalViewPr>
  <p:slideViewPr>
    <p:cSldViewPr snapToGrid="0">
      <p:cViewPr varScale="1">
        <p:scale>
          <a:sx n="91" d="100"/>
          <a:sy n="91" d="100"/>
        </p:scale>
        <p:origin x="121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400"/>
    </p:cViewPr>
  </p:sorterViewPr>
  <p:notesViewPr>
    <p:cSldViewPr snapToGrid="0">
      <p:cViewPr>
        <p:scale>
          <a:sx n="75" d="100"/>
          <a:sy n="75" d="100"/>
        </p:scale>
        <p:origin x="-1507" y="-5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handoutMaster" Target="handoutMasters/handout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6F3387-CE73-42C9-88B5-90778A33DBE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C8218E26-9164-4CE0-9876-0DF6CEC4B2B2}">
      <dgm:prSet phldrT="[Text]" custT="1"/>
      <dgm:spPr/>
      <dgm:t>
        <a:bodyPr/>
        <a:lstStyle/>
        <a:p>
          <a:r>
            <a:rPr lang="en-US" sz="2800" b="1" dirty="0">
              <a:solidFill>
                <a:schemeClr val="tx1"/>
              </a:solidFill>
              <a:latin typeface="Berlin Sans FB" panose="020E0602020502020306" pitchFamily="34" charset="0"/>
            </a:rPr>
            <a:t>Verification (Traditional)</a:t>
          </a:r>
        </a:p>
      </dgm:t>
    </dgm:pt>
    <dgm:pt modelId="{2DDA8802-CE4A-4A8F-9219-7A99B6ED12C3}" type="parTrans" cxnId="{7B510CE0-8BF2-48AC-8CA0-D548C3FE6E07}">
      <dgm:prSet/>
      <dgm:spPr/>
      <dgm:t>
        <a:bodyPr/>
        <a:lstStyle/>
        <a:p>
          <a:endParaRPr lang="en-US"/>
        </a:p>
      </dgm:t>
    </dgm:pt>
    <dgm:pt modelId="{306F432A-371D-426D-856E-FC67304BEE2B}" type="sibTrans" cxnId="{7B510CE0-8BF2-48AC-8CA0-D548C3FE6E07}">
      <dgm:prSet/>
      <dgm:spPr/>
      <dgm:t>
        <a:bodyPr/>
        <a:lstStyle/>
        <a:p>
          <a:endParaRPr lang="en-US"/>
        </a:p>
      </dgm:t>
    </dgm:pt>
    <dgm:pt modelId="{5CF877DD-42B6-4DC7-AB71-2D3A9A28F79E}">
      <dgm:prSet phldrT="[Text]"/>
      <dgm:spPr>
        <a:ln w="38100">
          <a:solidFill>
            <a:srgbClr val="00B050"/>
          </a:solidFill>
        </a:ln>
      </dgm:spPr>
      <dgm:t>
        <a:bodyPr/>
        <a:lstStyle/>
        <a:p>
          <a:r>
            <a:rPr lang="en-US" dirty="0">
              <a:solidFill>
                <a:srgbClr val="000099"/>
              </a:solidFill>
            </a:rPr>
            <a:t>Bugs (Unintentional)</a:t>
          </a:r>
        </a:p>
      </dgm:t>
    </dgm:pt>
    <dgm:pt modelId="{A515986D-1A17-441A-9C0D-85F2AB012C32}" type="parTrans" cxnId="{C8F81A95-9EC0-4C43-AE91-C863F26AAD04}">
      <dgm:prSet/>
      <dgm:spPr>
        <a:ln>
          <a:solidFill>
            <a:schemeClr val="tx1"/>
          </a:solidFill>
        </a:ln>
      </dgm:spPr>
      <dgm:t>
        <a:bodyPr/>
        <a:lstStyle/>
        <a:p>
          <a:endParaRPr lang="en-US"/>
        </a:p>
      </dgm:t>
    </dgm:pt>
    <dgm:pt modelId="{B66ABE6F-BFD9-46F3-BE77-AC40F82015EF}" type="sibTrans" cxnId="{C8F81A95-9EC0-4C43-AE91-C863F26AAD04}">
      <dgm:prSet/>
      <dgm:spPr/>
      <dgm:t>
        <a:bodyPr/>
        <a:lstStyle/>
        <a:p>
          <a:endParaRPr lang="en-US"/>
        </a:p>
      </dgm:t>
    </dgm:pt>
    <dgm:pt modelId="{FB5CA201-D9CB-445C-98F0-8B2B24752A17}">
      <dgm:prSet phldrT="[Text]"/>
      <dgm:spPr>
        <a:ln w="38100">
          <a:solidFill>
            <a:srgbClr val="00B050"/>
          </a:solidFill>
        </a:ln>
      </dgm:spPr>
      <dgm:t>
        <a:bodyPr/>
        <a:lstStyle/>
        <a:p>
          <a:r>
            <a:rPr lang="en-US" dirty="0">
              <a:solidFill>
                <a:srgbClr val="000099"/>
              </a:solidFill>
            </a:rPr>
            <a:t>Bounded by Spec</a:t>
          </a:r>
        </a:p>
      </dgm:t>
    </dgm:pt>
    <dgm:pt modelId="{BD6F5247-945F-4A6A-BC67-E92591EC86EB}" type="parTrans" cxnId="{71C19085-F4C6-45DC-835A-5A8E25FF3B71}">
      <dgm:prSet/>
      <dgm:spPr>
        <a:ln w="28575">
          <a:solidFill>
            <a:schemeClr val="tx1"/>
          </a:solidFill>
        </a:ln>
      </dgm:spPr>
      <dgm:t>
        <a:bodyPr/>
        <a:lstStyle/>
        <a:p>
          <a:endParaRPr lang="en-US"/>
        </a:p>
      </dgm:t>
    </dgm:pt>
    <dgm:pt modelId="{9D00BFE0-9100-42F1-8183-12970C5E84F4}" type="sibTrans" cxnId="{71C19085-F4C6-45DC-835A-5A8E25FF3B71}">
      <dgm:prSet/>
      <dgm:spPr/>
      <dgm:t>
        <a:bodyPr/>
        <a:lstStyle/>
        <a:p>
          <a:endParaRPr lang="en-US"/>
        </a:p>
      </dgm:t>
    </dgm:pt>
    <dgm:pt modelId="{CC931AC5-D9C4-4381-BE85-73573938ED9C}">
      <dgm:prSet phldrT="[Text]" custT="1"/>
      <dgm:spPr/>
      <dgm:t>
        <a:bodyPr/>
        <a:lstStyle/>
        <a:p>
          <a:r>
            <a:rPr lang="en-US" sz="2800" b="1" dirty="0">
              <a:solidFill>
                <a:schemeClr val="tx1"/>
              </a:solidFill>
              <a:latin typeface="Berlin Sans FB" panose="020E0602020502020306" pitchFamily="34" charset="0"/>
            </a:rPr>
            <a:t>Trust Verification</a:t>
          </a:r>
        </a:p>
      </dgm:t>
    </dgm:pt>
    <dgm:pt modelId="{2EEF2F16-A6B6-4C1D-98EA-C61402C89208}" type="parTrans" cxnId="{C611A590-34D7-4A62-B0F3-0917BE08A342}">
      <dgm:prSet/>
      <dgm:spPr/>
      <dgm:t>
        <a:bodyPr/>
        <a:lstStyle/>
        <a:p>
          <a:endParaRPr lang="en-US"/>
        </a:p>
      </dgm:t>
    </dgm:pt>
    <dgm:pt modelId="{F263C8A6-08CE-4A1B-B2B2-699B3B0A7591}" type="sibTrans" cxnId="{C611A590-34D7-4A62-B0F3-0917BE08A342}">
      <dgm:prSet/>
      <dgm:spPr/>
      <dgm:t>
        <a:bodyPr/>
        <a:lstStyle/>
        <a:p>
          <a:endParaRPr lang="en-US"/>
        </a:p>
      </dgm:t>
    </dgm:pt>
    <dgm:pt modelId="{F5A33F98-85C2-4476-B9E2-A5F2B86673CF}">
      <dgm:prSet phldrT="[Text]"/>
      <dgm:spPr>
        <a:ln w="28575">
          <a:solidFill>
            <a:srgbClr val="FF7C80"/>
          </a:solidFill>
        </a:ln>
      </dgm:spPr>
      <dgm:t>
        <a:bodyPr/>
        <a:lstStyle/>
        <a:p>
          <a:r>
            <a:rPr lang="en-US" dirty="0">
              <a:solidFill>
                <a:srgbClr val="FF0000"/>
              </a:solidFill>
            </a:rPr>
            <a:t>Malicious change</a:t>
          </a:r>
        </a:p>
        <a:p>
          <a:r>
            <a:rPr lang="en-US" dirty="0">
              <a:solidFill>
                <a:srgbClr val="000099"/>
              </a:solidFill>
              <a:latin typeface="Aharoni" panose="02010803020104030203" pitchFamily="2" charset="-79"/>
              <a:cs typeface="Aharoni" panose="02010803020104030203" pitchFamily="2" charset="-79"/>
            </a:rPr>
            <a:t>(</a:t>
          </a:r>
          <a:r>
            <a:rPr lang="en-US" u="sng" dirty="0">
              <a:solidFill>
                <a:srgbClr val="000099"/>
              </a:solidFill>
              <a:latin typeface="Aharoni" panose="02010803020104030203" pitchFamily="2" charset="-79"/>
              <a:cs typeface="Aharoni" panose="02010803020104030203" pitchFamily="2" charset="-79"/>
            </a:rPr>
            <a:t>Intentional</a:t>
          </a:r>
          <a:r>
            <a:rPr lang="en-US" dirty="0">
              <a:solidFill>
                <a:srgbClr val="000099"/>
              </a:solidFill>
              <a:latin typeface="Aharoni" panose="02010803020104030203" pitchFamily="2" charset="-79"/>
              <a:cs typeface="Aharoni" panose="02010803020104030203" pitchFamily="2" charset="-79"/>
            </a:rPr>
            <a:t>)</a:t>
          </a:r>
        </a:p>
      </dgm:t>
    </dgm:pt>
    <dgm:pt modelId="{7D3D9D56-83EE-499D-8B87-056C6335C452}" type="parTrans" cxnId="{A5FA368B-EFE9-44A1-9AA1-2E725726EFE1}">
      <dgm:prSet/>
      <dgm:spPr>
        <a:ln>
          <a:solidFill>
            <a:schemeClr val="tx1"/>
          </a:solidFill>
        </a:ln>
      </dgm:spPr>
      <dgm:t>
        <a:bodyPr/>
        <a:lstStyle/>
        <a:p>
          <a:endParaRPr lang="en-US"/>
        </a:p>
      </dgm:t>
    </dgm:pt>
    <dgm:pt modelId="{48A435B7-19FF-40A1-BB6C-F43DB1063427}" type="sibTrans" cxnId="{A5FA368B-EFE9-44A1-9AA1-2E725726EFE1}">
      <dgm:prSet/>
      <dgm:spPr/>
      <dgm:t>
        <a:bodyPr/>
        <a:lstStyle/>
        <a:p>
          <a:endParaRPr lang="en-US"/>
        </a:p>
      </dgm:t>
    </dgm:pt>
    <dgm:pt modelId="{7B06CDAD-DD84-4970-BE31-8E66ED85089F}">
      <dgm:prSet phldrT="[Text]"/>
      <dgm:spPr>
        <a:ln w="28575">
          <a:solidFill>
            <a:srgbClr val="FF7C80"/>
          </a:solidFill>
        </a:ln>
      </dgm:spPr>
      <dgm:t>
        <a:bodyPr/>
        <a:lstStyle/>
        <a:p>
          <a:r>
            <a:rPr lang="en-US" dirty="0">
              <a:solidFill>
                <a:srgbClr val="FF0000"/>
              </a:solidFill>
            </a:rPr>
            <a:t>Unwanted functionality</a:t>
          </a:r>
        </a:p>
        <a:p>
          <a:r>
            <a:rPr lang="en-US" dirty="0">
              <a:solidFill>
                <a:srgbClr val="000099"/>
              </a:solidFill>
            </a:rPr>
            <a:t>(</a:t>
          </a:r>
          <a:r>
            <a:rPr lang="en-US" u="sng" dirty="0">
              <a:solidFill>
                <a:srgbClr val="000099"/>
              </a:solidFill>
              <a:latin typeface="Aharoni" panose="02010803020104030203" pitchFamily="2" charset="-79"/>
              <a:cs typeface="Aharoni" panose="02010803020104030203" pitchFamily="2" charset="-79"/>
            </a:rPr>
            <a:t>Unbounded)</a:t>
          </a:r>
        </a:p>
      </dgm:t>
    </dgm:pt>
    <dgm:pt modelId="{F3BBB602-BD2B-49D5-BB72-DCD3ADCE5539}" type="parTrans" cxnId="{0BBABA54-C342-4A71-B8CF-F4AADBC7A6E3}">
      <dgm:prSet/>
      <dgm:spPr>
        <a:ln>
          <a:solidFill>
            <a:schemeClr val="tx1"/>
          </a:solidFill>
        </a:ln>
      </dgm:spPr>
      <dgm:t>
        <a:bodyPr/>
        <a:lstStyle/>
        <a:p>
          <a:endParaRPr lang="en-US"/>
        </a:p>
      </dgm:t>
    </dgm:pt>
    <dgm:pt modelId="{9A571211-BBA9-4EA3-AA06-B392A5E23444}" type="sibTrans" cxnId="{0BBABA54-C342-4A71-B8CF-F4AADBC7A6E3}">
      <dgm:prSet/>
      <dgm:spPr/>
      <dgm:t>
        <a:bodyPr/>
        <a:lstStyle/>
        <a:p>
          <a:endParaRPr lang="en-US"/>
        </a:p>
      </dgm:t>
    </dgm:pt>
    <dgm:pt modelId="{557DFA63-2A49-4AD2-8CF7-E9E55A2AF103}" type="pres">
      <dgm:prSet presAssocID="{616F3387-CE73-42C9-88B5-90778A33DBEA}" presName="diagram" presStyleCnt="0">
        <dgm:presLayoutVars>
          <dgm:chPref val="1"/>
          <dgm:dir/>
          <dgm:animOne val="branch"/>
          <dgm:animLvl val="lvl"/>
          <dgm:resizeHandles/>
        </dgm:presLayoutVars>
      </dgm:prSet>
      <dgm:spPr/>
    </dgm:pt>
    <dgm:pt modelId="{3B8FDCD0-D685-41A4-9BF4-CA23161A2BF9}" type="pres">
      <dgm:prSet presAssocID="{C8218E26-9164-4CE0-9876-0DF6CEC4B2B2}" presName="root" presStyleCnt="0"/>
      <dgm:spPr/>
    </dgm:pt>
    <dgm:pt modelId="{21AB6665-4AFC-4ADB-AAD8-E2DE03962C03}" type="pres">
      <dgm:prSet presAssocID="{C8218E26-9164-4CE0-9876-0DF6CEC4B2B2}" presName="rootComposite" presStyleCnt="0"/>
      <dgm:spPr/>
    </dgm:pt>
    <dgm:pt modelId="{5EE6A9E7-8B1F-4766-A6CA-8210FB071874}" type="pres">
      <dgm:prSet presAssocID="{C8218E26-9164-4CE0-9876-0DF6CEC4B2B2}" presName="rootText" presStyleLbl="node1" presStyleIdx="0" presStyleCnt="2"/>
      <dgm:spPr/>
    </dgm:pt>
    <dgm:pt modelId="{757FF47E-524F-414B-A17A-5305818C93E8}" type="pres">
      <dgm:prSet presAssocID="{C8218E26-9164-4CE0-9876-0DF6CEC4B2B2}" presName="rootConnector" presStyleLbl="node1" presStyleIdx="0" presStyleCnt="2"/>
      <dgm:spPr/>
    </dgm:pt>
    <dgm:pt modelId="{279C6D31-303C-418D-A810-04075616BC07}" type="pres">
      <dgm:prSet presAssocID="{C8218E26-9164-4CE0-9876-0DF6CEC4B2B2}" presName="childShape" presStyleCnt="0"/>
      <dgm:spPr/>
    </dgm:pt>
    <dgm:pt modelId="{AF205621-B505-42E8-826D-F04C17F78CCC}" type="pres">
      <dgm:prSet presAssocID="{A515986D-1A17-441A-9C0D-85F2AB012C32}" presName="Name13" presStyleLbl="parChTrans1D2" presStyleIdx="0" presStyleCnt="4"/>
      <dgm:spPr/>
    </dgm:pt>
    <dgm:pt modelId="{7C1B4CA4-5413-47F0-94EE-07878E188B37}" type="pres">
      <dgm:prSet presAssocID="{5CF877DD-42B6-4DC7-AB71-2D3A9A28F79E}" presName="childText" presStyleLbl="bgAcc1" presStyleIdx="0" presStyleCnt="4">
        <dgm:presLayoutVars>
          <dgm:bulletEnabled val="1"/>
        </dgm:presLayoutVars>
      </dgm:prSet>
      <dgm:spPr/>
    </dgm:pt>
    <dgm:pt modelId="{6BDB42BF-250A-4266-87FD-EF0F84CACAC6}" type="pres">
      <dgm:prSet presAssocID="{BD6F5247-945F-4A6A-BC67-E92591EC86EB}" presName="Name13" presStyleLbl="parChTrans1D2" presStyleIdx="1" presStyleCnt="4"/>
      <dgm:spPr/>
    </dgm:pt>
    <dgm:pt modelId="{05CDA764-94DA-4746-93DD-5A0C32ABDEFE}" type="pres">
      <dgm:prSet presAssocID="{FB5CA201-D9CB-445C-98F0-8B2B24752A17}" presName="childText" presStyleLbl="bgAcc1" presStyleIdx="1" presStyleCnt="4">
        <dgm:presLayoutVars>
          <dgm:bulletEnabled val="1"/>
        </dgm:presLayoutVars>
      </dgm:prSet>
      <dgm:spPr/>
    </dgm:pt>
    <dgm:pt modelId="{DDA1C8AA-0888-4DCD-AC24-D8B9451331D2}" type="pres">
      <dgm:prSet presAssocID="{CC931AC5-D9C4-4381-BE85-73573938ED9C}" presName="root" presStyleCnt="0"/>
      <dgm:spPr/>
    </dgm:pt>
    <dgm:pt modelId="{F33897C0-8A80-4AA1-9A32-75A5B60F3F02}" type="pres">
      <dgm:prSet presAssocID="{CC931AC5-D9C4-4381-BE85-73573938ED9C}" presName="rootComposite" presStyleCnt="0"/>
      <dgm:spPr/>
    </dgm:pt>
    <dgm:pt modelId="{A6ACC877-B751-488D-8E94-8D50495155F1}" type="pres">
      <dgm:prSet presAssocID="{CC931AC5-D9C4-4381-BE85-73573938ED9C}" presName="rootText" presStyleLbl="node1" presStyleIdx="1" presStyleCnt="2"/>
      <dgm:spPr/>
    </dgm:pt>
    <dgm:pt modelId="{68464918-E751-44FF-B2F9-5ED722F1EB94}" type="pres">
      <dgm:prSet presAssocID="{CC931AC5-D9C4-4381-BE85-73573938ED9C}" presName="rootConnector" presStyleLbl="node1" presStyleIdx="1" presStyleCnt="2"/>
      <dgm:spPr/>
    </dgm:pt>
    <dgm:pt modelId="{E9DF7BB3-C7FA-43DA-82D4-2953E687F85B}" type="pres">
      <dgm:prSet presAssocID="{CC931AC5-D9C4-4381-BE85-73573938ED9C}" presName="childShape" presStyleCnt="0"/>
      <dgm:spPr/>
    </dgm:pt>
    <dgm:pt modelId="{E69C13F7-1C71-4D60-9202-1C3892BAFAAE}" type="pres">
      <dgm:prSet presAssocID="{7D3D9D56-83EE-499D-8B87-056C6335C452}" presName="Name13" presStyleLbl="parChTrans1D2" presStyleIdx="2" presStyleCnt="4"/>
      <dgm:spPr/>
    </dgm:pt>
    <dgm:pt modelId="{D393BAA5-66C2-41E3-8E2C-5DE89F4E828B}" type="pres">
      <dgm:prSet presAssocID="{F5A33F98-85C2-4476-B9E2-A5F2B86673CF}" presName="childText" presStyleLbl="bgAcc1" presStyleIdx="2" presStyleCnt="4">
        <dgm:presLayoutVars>
          <dgm:bulletEnabled val="1"/>
        </dgm:presLayoutVars>
      </dgm:prSet>
      <dgm:spPr/>
    </dgm:pt>
    <dgm:pt modelId="{4E967D35-C391-452B-8948-7F9E0615CC31}" type="pres">
      <dgm:prSet presAssocID="{F3BBB602-BD2B-49D5-BB72-DCD3ADCE5539}" presName="Name13" presStyleLbl="parChTrans1D2" presStyleIdx="3" presStyleCnt="4"/>
      <dgm:spPr/>
    </dgm:pt>
    <dgm:pt modelId="{57E6F46D-11D1-42FF-8420-68B2A8E9258C}" type="pres">
      <dgm:prSet presAssocID="{7B06CDAD-DD84-4970-BE31-8E66ED85089F}" presName="childText" presStyleLbl="bgAcc1" presStyleIdx="3" presStyleCnt="4">
        <dgm:presLayoutVars>
          <dgm:bulletEnabled val="1"/>
        </dgm:presLayoutVars>
      </dgm:prSet>
      <dgm:spPr/>
    </dgm:pt>
  </dgm:ptLst>
  <dgm:cxnLst>
    <dgm:cxn modelId="{EDF11C05-9F2D-45D7-8C4F-F27976E87004}" type="presOf" srcId="{7D3D9D56-83EE-499D-8B87-056C6335C452}" destId="{E69C13F7-1C71-4D60-9202-1C3892BAFAAE}" srcOrd="0" destOrd="0" presId="urn:microsoft.com/office/officeart/2005/8/layout/hierarchy3"/>
    <dgm:cxn modelId="{640D331A-937E-447F-B95C-15ADA7D7BEE1}" type="presOf" srcId="{CC931AC5-D9C4-4381-BE85-73573938ED9C}" destId="{68464918-E751-44FF-B2F9-5ED722F1EB94}" srcOrd="1" destOrd="0" presId="urn:microsoft.com/office/officeart/2005/8/layout/hierarchy3"/>
    <dgm:cxn modelId="{FA26452B-F2DB-4717-B6DF-29A4C3990829}" type="presOf" srcId="{7B06CDAD-DD84-4970-BE31-8E66ED85089F}" destId="{57E6F46D-11D1-42FF-8420-68B2A8E9258C}" srcOrd="0" destOrd="0" presId="urn:microsoft.com/office/officeart/2005/8/layout/hierarchy3"/>
    <dgm:cxn modelId="{3E9E973A-1B51-4076-9303-C4FC00E8033C}" type="presOf" srcId="{5CF877DD-42B6-4DC7-AB71-2D3A9A28F79E}" destId="{7C1B4CA4-5413-47F0-94EE-07878E188B37}" srcOrd="0" destOrd="0" presId="urn:microsoft.com/office/officeart/2005/8/layout/hierarchy3"/>
    <dgm:cxn modelId="{6F39993E-744D-4E53-BE60-ED0742932EA1}" type="presOf" srcId="{C8218E26-9164-4CE0-9876-0DF6CEC4B2B2}" destId="{757FF47E-524F-414B-A17A-5305818C93E8}" srcOrd="1" destOrd="0" presId="urn:microsoft.com/office/officeart/2005/8/layout/hierarchy3"/>
    <dgm:cxn modelId="{57701E4D-B0A3-4298-BB94-F26BE212F926}" type="presOf" srcId="{F3BBB602-BD2B-49D5-BB72-DCD3ADCE5539}" destId="{4E967D35-C391-452B-8948-7F9E0615CC31}" srcOrd="0" destOrd="0" presId="urn:microsoft.com/office/officeart/2005/8/layout/hierarchy3"/>
    <dgm:cxn modelId="{38270754-2B3C-49BC-AB40-E9F43E6D134B}" type="presOf" srcId="{BD6F5247-945F-4A6A-BC67-E92591EC86EB}" destId="{6BDB42BF-250A-4266-87FD-EF0F84CACAC6}" srcOrd="0" destOrd="0" presId="urn:microsoft.com/office/officeart/2005/8/layout/hierarchy3"/>
    <dgm:cxn modelId="{0BBABA54-C342-4A71-B8CF-F4AADBC7A6E3}" srcId="{CC931AC5-D9C4-4381-BE85-73573938ED9C}" destId="{7B06CDAD-DD84-4970-BE31-8E66ED85089F}" srcOrd="1" destOrd="0" parTransId="{F3BBB602-BD2B-49D5-BB72-DCD3ADCE5539}" sibTransId="{9A571211-BBA9-4EA3-AA06-B392A5E23444}"/>
    <dgm:cxn modelId="{3E244458-465B-45AC-B752-50EB900BCD96}" type="presOf" srcId="{A515986D-1A17-441A-9C0D-85F2AB012C32}" destId="{AF205621-B505-42E8-826D-F04C17F78CCC}" srcOrd="0" destOrd="0" presId="urn:microsoft.com/office/officeart/2005/8/layout/hierarchy3"/>
    <dgm:cxn modelId="{71C19085-F4C6-45DC-835A-5A8E25FF3B71}" srcId="{C8218E26-9164-4CE0-9876-0DF6CEC4B2B2}" destId="{FB5CA201-D9CB-445C-98F0-8B2B24752A17}" srcOrd="1" destOrd="0" parTransId="{BD6F5247-945F-4A6A-BC67-E92591EC86EB}" sibTransId="{9D00BFE0-9100-42F1-8183-12970C5E84F4}"/>
    <dgm:cxn modelId="{A5FA368B-EFE9-44A1-9AA1-2E725726EFE1}" srcId="{CC931AC5-D9C4-4381-BE85-73573938ED9C}" destId="{F5A33F98-85C2-4476-B9E2-A5F2B86673CF}" srcOrd="0" destOrd="0" parTransId="{7D3D9D56-83EE-499D-8B87-056C6335C452}" sibTransId="{48A435B7-19FF-40A1-BB6C-F43DB1063427}"/>
    <dgm:cxn modelId="{C611A590-34D7-4A62-B0F3-0917BE08A342}" srcId="{616F3387-CE73-42C9-88B5-90778A33DBEA}" destId="{CC931AC5-D9C4-4381-BE85-73573938ED9C}" srcOrd="1" destOrd="0" parTransId="{2EEF2F16-A6B6-4C1D-98EA-C61402C89208}" sibTransId="{F263C8A6-08CE-4A1B-B2B2-699B3B0A7591}"/>
    <dgm:cxn modelId="{C8F81A95-9EC0-4C43-AE91-C863F26AAD04}" srcId="{C8218E26-9164-4CE0-9876-0DF6CEC4B2B2}" destId="{5CF877DD-42B6-4DC7-AB71-2D3A9A28F79E}" srcOrd="0" destOrd="0" parTransId="{A515986D-1A17-441A-9C0D-85F2AB012C32}" sibTransId="{B66ABE6F-BFD9-46F3-BE77-AC40F82015EF}"/>
    <dgm:cxn modelId="{581786B6-114F-418B-A7DA-777D68875ED5}" type="presOf" srcId="{FB5CA201-D9CB-445C-98F0-8B2B24752A17}" destId="{05CDA764-94DA-4746-93DD-5A0C32ABDEFE}" srcOrd="0" destOrd="0" presId="urn:microsoft.com/office/officeart/2005/8/layout/hierarchy3"/>
    <dgm:cxn modelId="{3C8B24DF-22F8-4558-AD87-5DB7FE5B3880}" type="presOf" srcId="{C8218E26-9164-4CE0-9876-0DF6CEC4B2B2}" destId="{5EE6A9E7-8B1F-4766-A6CA-8210FB071874}" srcOrd="0" destOrd="0" presId="urn:microsoft.com/office/officeart/2005/8/layout/hierarchy3"/>
    <dgm:cxn modelId="{8AAE8BDF-5976-4A78-9310-490DBB2CE8E6}" type="presOf" srcId="{616F3387-CE73-42C9-88B5-90778A33DBEA}" destId="{557DFA63-2A49-4AD2-8CF7-E9E55A2AF103}" srcOrd="0" destOrd="0" presId="urn:microsoft.com/office/officeart/2005/8/layout/hierarchy3"/>
    <dgm:cxn modelId="{7B510CE0-8BF2-48AC-8CA0-D548C3FE6E07}" srcId="{616F3387-CE73-42C9-88B5-90778A33DBEA}" destId="{C8218E26-9164-4CE0-9876-0DF6CEC4B2B2}" srcOrd="0" destOrd="0" parTransId="{2DDA8802-CE4A-4A8F-9219-7A99B6ED12C3}" sibTransId="{306F432A-371D-426D-856E-FC67304BEE2B}"/>
    <dgm:cxn modelId="{78223CE9-BA7D-4761-8B87-8883235BBB2E}" type="presOf" srcId="{F5A33F98-85C2-4476-B9E2-A5F2B86673CF}" destId="{D393BAA5-66C2-41E3-8E2C-5DE89F4E828B}" srcOrd="0" destOrd="0" presId="urn:microsoft.com/office/officeart/2005/8/layout/hierarchy3"/>
    <dgm:cxn modelId="{1CC256F8-DECC-466E-B11E-37FD6AEB9C7C}" type="presOf" srcId="{CC931AC5-D9C4-4381-BE85-73573938ED9C}" destId="{A6ACC877-B751-488D-8E94-8D50495155F1}" srcOrd="0" destOrd="0" presId="urn:microsoft.com/office/officeart/2005/8/layout/hierarchy3"/>
    <dgm:cxn modelId="{58F6BE4E-D460-463E-9F64-4062DF27A92A}" type="presParOf" srcId="{557DFA63-2A49-4AD2-8CF7-E9E55A2AF103}" destId="{3B8FDCD0-D685-41A4-9BF4-CA23161A2BF9}" srcOrd="0" destOrd="0" presId="urn:microsoft.com/office/officeart/2005/8/layout/hierarchy3"/>
    <dgm:cxn modelId="{BA290C4E-0515-4DBD-898C-6451C91D884D}" type="presParOf" srcId="{3B8FDCD0-D685-41A4-9BF4-CA23161A2BF9}" destId="{21AB6665-4AFC-4ADB-AAD8-E2DE03962C03}" srcOrd="0" destOrd="0" presId="urn:microsoft.com/office/officeart/2005/8/layout/hierarchy3"/>
    <dgm:cxn modelId="{4700626B-7450-4491-8AB3-3D69924D68E7}" type="presParOf" srcId="{21AB6665-4AFC-4ADB-AAD8-E2DE03962C03}" destId="{5EE6A9E7-8B1F-4766-A6CA-8210FB071874}" srcOrd="0" destOrd="0" presId="urn:microsoft.com/office/officeart/2005/8/layout/hierarchy3"/>
    <dgm:cxn modelId="{3C145471-9089-43E6-9F1D-516C749D2DB5}" type="presParOf" srcId="{21AB6665-4AFC-4ADB-AAD8-E2DE03962C03}" destId="{757FF47E-524F-414B-A17A-5305818C93E8}" srcOrd="1" destOrd="0" presId="urn:microsoft.com/office/officeart/2005/8/layout/hierarchy3"/>
    <dgm:cxn modelId="{573DD4D5-75EB-4A66-953D-4B66EB45A1DE}" type="presParOf" srcId="{3B8FDCD0-D685-41A4-9BF4-CA23161A2BF9}" destId="{279C6D31-303C-418D-A810-04075616BC07}" srcOrd="1" destOrd="0" presId="urn:microsoft.com/office/officeart/2005/8/layout/hierarchy3"/>
    <dgm:cxn modelId="{3F4F4761-F71A-434E-8B48-F9CDDC2BDFEA}" type="presParOf" srcId="{279C6D31-303C-418D-A810-04075616BC07}" destId="{AF205621-B505-42E8-826D-F04C17F78CCC}" srcOrd="0" destOrd="0" presId="urn:microsoft.com/office/officeart/2005/8/layout/hierarchy3"/>
    <dgm:cxn modelId="{6B5540E5-7B2A-4753-B0D2-91A88D5F0F7F}" type="presParOf" srcId="{279C6D31-303C-418D-A810-04075616BC07}" destId="{7C1B4CA4-5413-47F0-94EE-07878E188B37}" srcOrd="1" destOrd="0" presId="urn:microsoft.com/office/officeart/2005/8/layout/hierarchy3"/>
    <dgm:cxn modelId="{F770889F-8433-41AA-92B0-671139F6E933}" type="presParOf" srcId="{279C6D31-303C-418D-A810-04075616BC07}" destId="{6BDB42BF-250A-4266-87FD-EF0F84CACAC6}" srcOrd="2" destOrd="0" presId="urn:microsoft.com/office/officeart/2005/8/layout/hierarchy3"/>
    <dgm:cxn modelId="{5F3351DB-7934-4B07-874F-48FD6931FBBE}" type="presParOf" srcId="{279C6D31-303C-418D-A810-04075616BC07}" destId="{05CDA764-94DA-4746-93DD-5A0C32ABDEFE}" srcOrd="3" destOrd="0" presId="urn:microsoft.com/office/officeart/2005/8/layout/hierarchy3"/>
    <dgm:cxn modelId="{CD0FCCED-B533-45A7-845E-9790F6F0C049}" type="presParOf" srcId="{557DFA63-2A49-4AD2-8CF7-E9E55A2AF103}" destId="{DDA1C8AA-0888-4DCD-AC24-D8B9451331D2}" srcOrd="1" destOrd="0" presId="urn:microsoft.com/office/officeart/2005/8/layout/hierarchy3"/>
    <dgm:cxn modelId="{F711EBCE-CE45-41EA-8F45-2761CDE9A5EC}" type="presParOf" srcId="{DDA1C8AA-0888-4DCD-AC24-D8B9451331D2}" destId="{F33897C0-8A80-4AA1-9A32-75A5B60F3F02}" srcOrd="0" destOrd="0" presId="urn:microsoft.com/office/officeart/2005/8/layout/hierarchy3"/>
    <dgm:cxn modelId="{627D76A9-2988-424F-A2A3-1499BE917924}" type="presParOf" srcId="{F33897C0-8A80-4AA1-9A32-75A5B60F3F02}" destId="{A6ACC877-B751-488D-8E94-8D50495155F1}" srcOrd="0" destOrd="0" presId="urn:microsoft.com/office/officeart/2005/8/layout/hierarchy3"/>
    <dgm:cxn modelId="{9A6D6EDD-030D-421A-8F49-37563C39CDBF}" type="presParOf" srcId="{F33897C0-8A80-4AA1-9A32-75A5B60F3F02}" destId="{68464918-E751-44FF-B2F9-5ED722F1EB94}" srcOrd="1" destOrd="0" presId="urn:microsoft.com/office/officeart/2005/8/layout/hierarchy3"/>
    <dgm:cxn modelId="{D9C5F244-7BAE-4DA1-9FE0-26C8EE310F5D}" type="presParOf" srcId="{DDA1C8AA-0888-4DCD-AC24-D8B9451331D2}" destId="{E9DF7BB3-C7FA-43DA-82D4-2953E687F85B}" srcOrd="1" destOrd="0" presId="urn:microsoft.com/office/officeart/2005/8/layout/hierarchy3"/>
    <dgm:cxn modelId="{298D8B20-4F59-4D62-98E4-C97BE6CF2882}" type="presParOf" srcId="{E9DF7BB3-C7FA-43DA-82D4-2953E687F85B}" destId="{E69C13F7-1C71-4D60-9202-1C3892BAFAAE}" srcOrd="0" destOrd="0" presId="urn:microsoft.com/office/officeart/2005/8/layout/hierarchy3"/>
    <dgm:cxn modelId="{BC0A7481-EE2C-4A46-BE86-414E609EA56D}" type="presParOf" srcId="{E9DF7BB3-C7FA-43DA-82D4-2953E687F85B}" destId="{D393BAA5-66C2-41E3-8E2C-5DE89F4E828B}" srcOrd="1" destOrd="0" presId="urn:microsoft.com/office/officeart/2005/8/layout/hierarchy3"/>
    <dgm:cxn modelId="{B8A3E3B1-E4FC-448A-8A2A-77221CFD0988}" type="presParOf" srcId="{E9DF7BB3-C7FA-43DA-82D4-2953E687F85B}" destId="{4E967D35-C391-452B-8948-7F9E0615CC31}" srcOrd="2" destOrd="0" presId="urn:microsoft.com/office/officeart/2005/8/layout/hierarchy3"/>
    <dgm:cxn modelId="{355FA406-FE62-4C9E-A67A-DF564D02C4F6}" type="presParOf" srcId="{E9DF7BB3-C7FA-43DA-82D4-2953E687F85B}" destId="{57E6F46D-11D1-42FF-8420-68B2A8E9258C}"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6A9E7-8B1F-4766-A6CA-8210FB071874}">
      <dsp:nvSpPr>
        <dsp:cNvPr id="0" name=""/>
        <dsp:cNvSpPr/>
      </dsp:nvSpPr>
      <dsp:spPr>
        <a:xfrm>
          <a:off x="903275" y="1127"/>
          <a:ext cx="2177355" cy="1088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Berlin Sans FB" panose="020E0602020502020306" pitchFamily="34" charset="0"/>
            </a:rPr>
            <a:t>Verification (Traditional)</a:t>
          </a:r>
        </a:p>
      </dsp:txBody>
      <dsp:txXfrm>
        <a:off x="935161" y="33013"/>
        <a:ext cx="2113583" cy="1024905"/>
      </dsp:txXfrm>
    </dsp:sp>
    <dsp:sp modelId="{AF205621-B505-42E8-826D-F04C17F78CCC}">
      <dsp:nvSpPr>
        <dsp:cNvPr id="0" name=""/>
        <dsp:cNvSpPr/>
      </dsp:nvSpPr>
      <dsp:spPr>
        <a:xfrm>
          <a:off x="1121010" y="1089805"/>
          <a:ext cx="217735" cy="816508"/>
        </a:xfrm>
        <a:custGeom>
          <a:avLst/>
          <a:gdLst/>
          <a:ahLst/>
          <a:cxnLst/>
          <a:rect l="0" t="0" r="0" b="0"/>
          <a:pathLst>
            <a:path>
              <a:moveTo>
                <a:pt x="0" y="0"/>
              </a:moveTo>
              <a:lnTo>
                <a:pt x="0" y="816508"/>
              </a:lnTo>
              <a:lnTo>
                <a:pt x="217735" y="81650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7C1B4CA4-5413-47F0-94EE-07878E188B37}">
      <dsp:nvSpPr>
        <dsp:cNvPr id="0" name=""/>
        <dsp:cNvSpPr/>
      </dsp:nvSpPr>
      <dsp:spPr>
        <a:xfrm>
          <a:off x="1338746" y="1361975"/>
          <a:ext cx="1741884" cy="1088677"/>
        </a:xfrm>
        <a:prstGeom prst="roundRect">
          <a:avLst>
            <a:gd name="adj" fmla="val 10000"/>
          </a:avLst>
        </a:prstGeom>
        <a:solidFill>
          <a:schemeClr val="lt1">
            <a:alpha val="90000"/>
            <a:hueOff val="0"/>
            <a:satOff val="0"/>
            <a:lumOff val="0"/>
            <a:alphaOff val="0"/>
          </a:schemeClr>
        </a:solidFill>
        <a:ln w="381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000099"/>
              </a:solidFill>
            </a:rPr>
            <a:t>Bugs (Unintentional)</a:t>
          </a:r>
        </a:p>
      </dsp:txBody>
      <dsp:txXfrm>
        <a:off x="1370632" y="1393861"/>
        <a:ext cx="1678112" cy="1024905"/>
      </dsp:txXfrm>
    </dsp:sp>
    <dsp:sp modelId="{6BDB42BF-250A-4266-87FD-EF0F84CACAC6}">
      <dsp:nvSpPr>
        <dsp:cNvPr id="0" name=""/>
        <dsp:cNvSpPr/>
      </dsp:nvSpPr>
      <dsp:spPr>
        <a:xfrm>
          <a:off x="1121010" y="1089805"/>
          <a:ext cx="217735" cy="2177355"/>
        </a:xfrm>
        <a:custGeom>
          <a:avLst/>
          <a:gdLst/>
          <a:ahLst/>
          <a:cxnLst/>
          <a:rect l="0" t="0" r="0" b="0"/>
          <a:pathLst>
            <a:path>
              <a:moveTo>
                <a:pt x="0" y="0"/>
              </a:moveTo>
              <a:lnTo>
                <a:pt x="0" y="2177355"/>
              </a:lnTo>
              <a:lnTo>
                <a:pt x="217735" y="2177355"/>
              </a:lnTo>
            </a:path>
          </a:pathLst>
        </a:custGeom>
        <a:noFill/>
        <a:ln w="28575"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05CDA764-94DA-4746-93DD-5A0C32ABDEFE}">
      <dsp:nvSpPr>
        <dsp:cNvPr id="0" name=""/>
        <dsp:cNvSpPr/>
      </dsp:nvSpPr>
      <dsp:spPr>
        <a:xfrm>
          <a:off x="1338746" y="2722822"/>
          <a:ext cx="1741884" cy="1088677"/>
        </a:xfrm>
        <a:prstGeom prst="roundRect">
          <a:avLst>
            <a:gd name="adj" fmla="val 10000"/>
          </a:avLst>
        </a:prstGeom>
        <a:solidFill>
          <a:schemeClr val="lt1">
            <a:alpha val="90000"/>
            <a:hueOff val="0"/>
            <a:satOff val="0"/>
            <a:lumOff val="0"/>
            <a:alphaOff val="0"/>
          </a:schemeClr>
        </a:solidFill>
        <a:ln w="381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000099"/>
              </a:solidFill>
            </a:rPr>
            <a:t>Bounded by Spec</a:t>
          </a:r>
        </a:p>
      </dsp:txBody>
      <dsp:txXfrm>
        <a:off x="1370632" y="2754708"/>
        <a:ext cx="1678112" cy="1024905"/>
      </dsp:txXfrm>
    </dsp:sp>
    <dsp:sp modelId="{A6ACC877-B751-488D-8E94-8D50495155F1}">
      <dsp:nvSpPr>
        <dsp:cNvPr id="0" name=""/>
        <dsp:cNvSpPr/>
      </dsp:nvSpPr>
      <dsp:spPr>
        <a:xfrm>
          <a:off x="3624969" y="1127"/>
          <a:ext cx="2177355" cy="1088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Berlin Sans FB" panose="020E0602020502020306" pitchFamily="34" charset="0"/>
            </a:rPr>
            <a:t>Trust Verification</a:t>
          </a:r>
        </a:p>
      </dsp:txBody>
      <dsp:txXfrm>
        <a:off x="3656855" y="33013"/>
        <a:ext cx="2113583" cy="1024905"/>
      </dsp:txXfrm>
    </dsp:sp>
    <dsp:sp modelId="{E69C13F7-1C71-4D60-9202-1C3892BAFAAE}">
      <dsp:nvSpPr>
        <dsp:cNvPr id="0" name=""/>
        <dsp:cNvSpPr/>
      </dsp:nvSpPr>
      <dsp:spPr>
        <a:xfrm>
          <a:off x="3842704" y="1089805"/>
          <a:ext cx="217735" cy="816508"/>
        </a:xfrm>
        <a:custGeom>
          <a:avLst/>
          <a:gdLst/>
          <a:ahLst/>
          <a:cxnLst/>
          <a:rect l="0" t="0" r="0" b="0"/>
          <a:pathLst>
            <a:path>
              <a:moveTo>
                <a:pt x="0" y="0"/>
              </a:moveTo>
              <a:lnTo>
                <a:pt x="0" y="816508"/>
              </a:lnTo>
              <a:lnTo>
                <a:pt x="217735" y="81650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D393BAA5-66C2-41E3-8E2C-5DE89F4E828B}">
      <dsp:nvSpPr>
        <dsp:cNvPr id="0" name=""/>
        <dsp:cNvSpPr/>
      </dsp:nvSpPr>
      <dsp:spPr>
        <a:xfrm>
          <a:off x="4060440" y="1361975"/>
          <a:ext cx="1741884" cy="1088677"/>
        </a:xfrm>
        <a:prstGeom prst="roundRect">
          <a:avLst>
            <a:gd name="adj" fmla="val 10000"/>
          </a:avLst>
        </a:prstGeom>
        <a:solidFill>
          <a:schemeClr val="lt1">
            <a:alpha val="90000"/>
            <a:hueOff val="0"/>
            <a:satOff val="0"/>
            <a:lumOff val="0"/>
            <a:alphaOff val="0"/>
          </a:schemeClr>
        </a:solidFill>
        <a:ln w="28575" cap="flat" cmpd="sng" algn="ctr">
          <a:solidFill>
            <a:srgbClr val="FF7C80"/>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FF0000"/>
              </a:solidFill>
            </a:rPr>
            <a:t>Malicious change</a:t>
          </a:r>
        </a:p>
        <a:p>
          <a:pPr marL="0" lvl="0" indent="0" algn="ctr" defTabSz="844550">
            <a:lnSpc>
              <a:spcPct val="90000"/>
            </a:lnSpc>
            <a:spcBef>
              <a:spcPct val="0"/>
            </a:spcBef>
            <a:spcAft>
              <a:spcPct val="35000"/>
            </a:spcAft>
            <a:buNone/>
          </a:pPr>
          <a:r>
            <a:rPr lang="en-US" sz="1900" kern="1200" dirty="0">
              <a:solidFill>
                <a:srgbClr val="000099"/>
              </a:solidFill>
              <a:latin typeface="Aharoni" panose="02010803020104030203" pitchFamily="2" charset="-79"/>
              <a:cs typeface="Aharoni" panose="02010803020104030203" pitchFamily="2" charset="-79"/>
            </a:rPr>
            <a:t>(</a:t>
          </a:r>
          <a:r>
            <a:rPr lang="en-US" sz="1900" u="sng" kern="1200" dirty="0">
              <a:solidFill>
                <a:srgbClr val="000099"/>
              </a:solidFill>
              <a:latin typeface="Aharoni" panose="02010803020104030203" pitchFamily="2" charset="-79"/>
              <a:cs typeface="Aharoni" panose="02010803020104030203" pitchFamily="2" charset="-79"/>
            </a:rPr>
            <a:t>Intentional</a:t>
          </a:r>
          <a:r>
            <a:rPr lang="en-US" sz="1900" kern="1200" dirty="0">
              <a:solidFill>
                <a:srgbClr val="000099"/>
              </a:solidFill>
              <a:latin typeface="Aharoni" panose="02010803020104030203" pitchFamily="2" charset="-79"/>
              <a:cs typeface="Aharoni" panose="02010803020104030203" pitchFamily="2" charset="-79"/>
            </a:rPr>
            <a:t>)</a:t>
          </a:r>
        </a:p>
      </dsp:txBody>
      <dsp:txXfrm>
        <a:off x="4092326" y="1393861"/>
        <a:ext cx="1678112" cy="1024905"/>
      </dsp:txXfrm>
    </dsp:sp>
    <dsp:sp modelId="{4E967D35-C391-452B-8948-7F9E0615CC31}">
      <dsp:nvSpPr>
        <dsp:cNvPr id="0" name=""/>
        <dsp:cNvSpPr/>
      </dsp:nvSpPr>
      <dsp:spPr>
        <a:xfrm>
          <a:off x="3842704" y="1089805"/>
          <a:ext cx="217735" cy="2177355"/>
        </a:xfrm>
        <a:custGeom>
          <a:avLst/>
          <a:gdLst/>
          <a:ahLst/>
          <a:cxnLst/>
          <a:rect l="0" t="0" r="0" b="0"/>
          <a:pathLst>
            <a:path>
              <a:moveTo>
                <a:pt x="0" y="0"/>
              </a:moveTo>
              <a:lnTo>
                <a:pt x="0" y="2177355"/>
              </a:lnTo>
              <a:lnTo>
                <a:pt x="217735" y="2177355"/>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57E6F46D-11D1-42FF-8420-68B2A8E9258C}">
      <dsp:nvSpPr>
        <dsp:cNvPr id="0" name=""/>
        <dsp:cNvSpPr/>
      </dsp:nvSpPr>
      <dsp:spPr>
        <a:xfrm>
          <a:off x="4060440" y="2722822"/>
          <a:ext cx="1741884" cy="1088677"/>
        </a:xfrm>
        <a:prstGeom prst="roundRect">
          <a:avLst>
            <a:gd name="adj" fmla="val 10000"/>
          </a:avLst>
        </a:prstGeom>
        <a:solidFill>
          <a:schemeClr val="lt1">
            <a:alpha val="90000"/>
            <a:hueOff val="0"/>
            <a:satOff val="0"/>
            <a:lumOff val="0"/>
            <a:alphaOff val="0"/>
          </a:schemeClr>
        </a:solidFill>
        <a:ln w="28575" cap="flat" cmpd="sng" algn="ctr">
          <a:solidFill>
            <a:srgbClr val="FF7C80"/>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rgbClr val="FF0000"/>
              </a:solidFill>
            </a:rPr>
            <a:t>Unwanted functionality</a:t>
          </a:r>
        </a:p>
        <a:p>
          <a:pPr marL="0" lvl="0" indent="0" algn="ctr" defTabSz="844550">
            <a:lnSpc>
              <a:spcPct val="90000"/>
            </a:lnSpc>
            <a:spcBef>
              <a:spcPct val="0"/>
            </a:spcBef>
            <a:spcAft>
              <a:spcPct val="35000"/>
            </a:spcAft>
            <a:buNone/>
          </a:pPr>
          <a:r>
            <a:rPr lang="en-US" sz="1900" kern="1200" dirty="0">
              <a:solidFill>
                <a:srgbClr val="000099"/>
              </a:solidFill>
            </a:rPr>
            <a:t>(</a:t>
          </a:r>
          <a:r>
            <a:rPr lang="en-US" sz="1900" u="sng" kern="1200" dirty="0">
              <a:solidFill>
                <a:srgbClr val="000099"/>
              </a:solidFill>
              <a:latin typeface="Aharoni" panose="02010803020104030203" pitchFamily="2" charset="-79"/>
              <a:cs typeface="Aharoni" panose="02010803020104030203" pitchFamily="2" charset="-79"/>
            </a:rPr>
            <a:t>Unbounded)</a:t>
          </a:r>
        </a:p>
      </dsp:txBody>
      <dsp:txXfrm>
        <a:off x="4092326" y="2754708"/>
        <a:ext cx="1678112" cy="10249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739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charset="0"/>
                <a:ea typeface="ＭＳ Ｐゴシック" charset="0"/>
                <a:cs typeface="+mn-cs"/>
              </a:defRPr>
            </a:lvl1pPr>
          </a:lstStyle>
          <a:p>
            <a:pPr>
              <a:defRPr/>
            </a:pPr>
            <a:endParaRPr lang="en-US"/>
          </a:p>
        </p:txBody>
      </p:sp>
      <p:sp>
        <p:nvSpPr>
          <p:cNvPr id="187395"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charset="0"/>
                <a:ea typeface="ＭＳ Ｐゴシック" charset="0"/>
                <a:cs typeface="+mn-cs"/>
              </a:defRPr>
            </a:lvl1pPr>
          </a:lstStyle>
          <a:p>
            <a:pPr>
              <a:defRPr/>
            </a:pPr>
            <a:endParaRPr lang="en-US"/>
          </a:p>
        </p:txBody>
      </p:sp>
      <p:sp>
        <p:nvSpPr>
          <p:cNvPr id="187396"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charset="0"/>
                <a:ea typeface="ＭＳ Ｐゴシック" charset="0"/>
                <a:cs typeface="+mn-cs"/>
              </a:defRPr>
            </a:lvl1pPr>
          </a:lstStyle>
          <a:p>
            <a:pPr>
              <a:defRPr/>
            </a:pPr>
            <a:endParaRPr lang="en-US"/>
          </a:p>
        </p:txBody>
      </p:sp>
      <p:sp>
        <p:nvSpPr>
          <p:cNvPr id="187397"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smtClean="0">
                <a:latin typeface="Times New Roman" panose="02020603050405020304" pitchFamily="18" charset="0"/>
              </a:defRPr>
            </a:lvl1pPr>
          </a:lstStyle>
          <a:p>
            <a:pPr>
              <a:defRPr/>
            </a:pPr>
            <a:fld id="{26624A84-5E14-4ADB-B9CA-00DE57B50CC7}" type="slidenum">
              <a:rPr lang="en-US" altLang="en-US"/>
              <a:pPr>
                <a:defRPr/>
              </a:pPr>
              <a:t>‹#›</a:t>
            </a:fld>
            <a:endParaRPr lang="en-US" altLang="en-US"/>
          </a:p>
        </p:txBody>
      </p:sp>
    </p:spTree>
    <p:extLst>
      <p:ext uri="{BB962C8B-B14F-4D97-AF65-F5344CB8AC3E}">
        <p14:creationId xmlns:p14="http://schemas.microsoft.com/office/powerpoint/2010/main" val="1504492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b="1">
                <a:latin typeface="Arial Black" charset="0"/>
                <a:ea typeface="ＭＳ Ｐゴシック" charset="0"/>
                <a:cs typeface="+mn-cs"/>
              </a:defRPr>
            </a:lvl1pPr>
          </a:lstStyle>
          <a:p>
            <a:pPr>
              <a:defRPr/>
            </a:pPr>
            <a:endParaRPr lang="en-US"/>
          </a:p>
        </p:txBody>
      </p:sp>
      <p:sp>
        <p:nvSpPr>
          <p:cNvPr id="5123"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b="1">
                <a:latin typeface="Arial Black" charset="0"/>
                <a:ea typeface="ＭＳ Ｐゴシック" charset="0"/>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b="1">
                <a:latin typeface="Arial Black" charset="0"/>
                <a:ea typeface="ＭＳ Ｐゴシック" charset="0"/>
                <a:cs typeface="+mn-cs"/>
              </a:defRPr>
            </a:lvl1pPr>
          </a:lstStyle>
          <a:p>
            <a:pPr>
              <a:defRPr/>
            </a:pPr>
            <a:endParaRPr lang="en-US"/>
          </a:p>
        </p:txBody>
      </p:sp>
      <p:sp>
        <p:nvSpPr>
          <p:cNvPr id="5127"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b="1" smtClean="0">
                <a:latin typeface="Arial Black" panose="020B0A04020102020204" pitchFamily="34" charset="0"/>
              </a:defRPr>
            </a:lvl1pPr>
          </a:lstStyle>
          <a:p>
            <a:pPr>
              <a:defRPr/>
            </a:pPr>
            <a:fld id="{F784C655-781C-4BB8-B6F4-4CA2CA5B5FB6}" type="slidenum">
              <a:rPr lang="en-US" altLang="en-US"/>
              <a:pPr>
                <a:defRPr/>
              </a:pPr>
              <a:t>‹#›</a:t>
            </a:fld>
            <a:endParaRPr lang="en-US" altLang="en-US"/>
          </a:p>
        </p:txBody>
      </p:sp>
    </p:spTree>
    <p:extLst>
      <p:ext uri="{BB962C8B-B14F-4D97-AF65-F5344CB8AC3E}">
        <p14:creationId xmlns:p14="http://schemas.microsoft.com/office/powerpoint/2010/main" val="15439437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1153657-AF55-43B2-ADB3-A7BB644A2D06}" type="slidenum">
              <a:rPr lang="en-US" altLang="en-US" sz="1300">
                <a:latin typeface="Arial Black" panose="020B0A04020102020204" pitchFamily="34" charset="0"/>
              </a:rPr>
              <a:pPr>
                <a:spcBef>
                  <a:spcPct val="0"/>
                </a:spcBef>
              </a:pPr>
              <a:t>1</a:t>
            </a:fld>
            <a:endParaRPr lang="en-US" altLang="en-US" sz="1300">
              <a:latin typeface="Arial Black" panose="020B0A04020102020204" pitchFamily="34" charset="0"/>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xfrm>
            <a:off x="731838" y="4560888"/>
            <a:ext cx="5851525"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07621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30109F6-E732-4766-89BC-DA418189C411}" type="slidenum">
              <a:rPr lang="en-US" altLang="en-US" sz="1300">
                <a:latin typeface="Arial Black" panose="020B0A04020102020204" pitchFamily="34" charset="0"/>
              </a:rPr>
              <a:pPr>
                <a:spcBef>
                  <a:spcPct val="0"/>
                </a:spcBef>
              </a:pPr>
              <a:t>3</a:t>
            </a:fld>
            <a:endParaRPr lang="en-US" altLang="en-US" sz="1300">
              <a:latin typeface="Arial Black" panose="020B0A04020102020204" pitchFamily="34" charset="0"/>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Everyone may be familiar with software Trojan. The definition of hardware Trojan is malicious additions or modification to the original design. </a:t>
            </a:r>
          </a:p>
          <a:p>
            <a:r>
              <a:rPr lang="en-US" altLang="en-US"/>
              <a:t>Comparing to software Trojan, hardware Trojan is more difficult to detect and kill them. Once the chip is fabricated, we cannot make any change anymore.</a:t>
            </a:r>
          </a:p>
          <a:p>
            <a:r>
              <a:rPr lang="en-US" altLang="en-US"/>
              <a:t>Therefore, hardware Trojan is potential threat to the security of our systems. </a:t>
            </a:r>
          </a:p>
          <a:p>
            <a:endParaRPr lang="en-US" altLang="en-US"/>
          </a:p>
          <a:p>
            <a:r>
              <a:rPr lang="en-US" altLang="en-US"/>
              <a:t>Hardware Torjan can change the functionality and create failure. It can reduce the reliability as well. It also can leak secret informatino and transmit to adversaries.</a:t>
            </a:r>
          </a:p>
          <a:p>
            <a:r>
              <a:rPr lang="en-US" altLang="en-US"/>
              <a:t>All the secure-critical applications are potential targets for attackers, such as military, financial and transportation applications.</a:t>
            </a:r>
          </a:p>
        </p:txBody>
      </p:sp>
    </p:spTree>
    <p:extLst>
      <p:ext uri="{BB962C8B-B14F-4D97-AF65-F5344CB8AC3E}">
        <p14:creationId xmlns:p14="http://schemas.microsoft.com/office/powerpoint/2010/main" val="31425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p:spPr>
      </p:sp>
      <p:sp>
        <p:nvSpPr>
          <p:cNvPr id="19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 the process of integrated circuits (ICs) shrinks to submicron level, the complexity of and cost of IC fabrication increase significantly. Many IC companies cannot afford to keep upgrading the manufacture process. They just send their design to foundry and let foundry to fabricate and test them. This might be a potential opportunity for attacker to implant Trojans. Additionally, design may use third party IPs. These Trojans may be already inserted in IP cores. </a:t>
            </a:r>
          </a:p>
        </p:txBody>
      </p:sp>
      <p:sp>
        <p:nvSpPr>
          <p:cNvPr id="194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90CAC9C-3AD9-4023-B082-C97041141339}" type="slidenum">
              <a:rPr lang="en-US" altLang="en-US" sz="1300">
                <a:latin typeface="Arial Black" panose="020B0A04020102020204" pitchFamily="34" charset="0"/>
              </a:rPr>
              <a:pPr>
                <a:spcBef>
                  <a:spcPct val="0"/>
                </a:spcBef>
              </a:pPr>
              <a:t>4</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463169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5139362-7BB2-4D91-893D-6127C1DFA862}" type="slidenum">
              <a:rPr lang="en-US" altLang="en-US" sz="1300">
                <a:latin typeface="Arial Black" panose="020B0A04020102020204" pitchFamily="34" charset="0"/>
              </a:rPr>
              <a:pPr>
                <a:spcBef>
                  <a:spcPct val="0"/>
                </a:spcBef>
              </a:pPr>
              <a:t>5</a:t>
            </a:fld>
            <a:endParaRPr lang="en-US" altLang="en-US" sz="1300">
              <a:latin typeface="Arial Black" panose="020B0A04020102020204" pitchFamily="34"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figure shows the relationship among IP vendor, system integrator and manufacture (foundry). </a:t>
            </a:r>
          </a:p>
          <a:p>
            <a:r>
              <a:rPr lang="en-US" altLang="en-US"/>
              <a:t>System integrator integrates IPs from its own or IP vender on a system. </a:t>
            </a:r>
          </a:p>
          <a:p>
            <a:r>
              <a:rPr lang="en-US" altLang="en-US"/>
              <a:t>The design is given to foundry to manufacture. </a:t>
            </a:r>
          </a:p>
          <a:p>
            <a:r>
              <a:rPr lang="nl-NL" altLang="en-US"/>
              <a:t>However, any of these steps can be untrusted to cause hardware security issues.</a:t>
            </a:r>
          </a:p>
        </p:txBody>
      </p:sp>
    </p:spTree>
    <p:extLst>
      <p:ext uri="{BB962C8B-B14F-4D97-AF65-F5344CB8AC3E}">
        <p14:creationId xmlns:p14="http://schemas.microsoft.com/office/powerpoint/2010/main" val="811839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01AFB65-48B9-4B4E-9DB3-58C55DEE07CF}" type="slidenum">
              <a:rPr lang="en-US" altLang="en-US" sz="1300">
                <a:latin typeface="Arial Black" panose="020B0A04020102020204" pitchFamily="34" charset="0"/>
              </a:rPr>
              <a:pPr>
                <a:spcBef>
                  <a:spcPct val="0"/>
                </a:spcBef>
              </a:pPr>
              <a:t>6</a:t>
            </a:fld>
            <a:endParaRPr lang="en-US" altLang="en-US" sz="1300">
              <a:latin typeface="Arial Black" panose="020B0A04020102020204"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the IP vendor is untrusted, IPs designed by IP vendor may contain Hardware Trojans to threat the system. </a:t>
            </a:r>
          </a:p>
          <a:p>
            <a:r>
              <a:rPr lang="en-US" altLang="en-US"/>
              <a:t>This is called </a:t>
            </a:r>
            <a:r>
              <a:rPr lang="ja-JP" altLang="en-US"/>
              <a:t>“</a:t>
            </a:r>
            <a:r>
              <a:rPr lang="en-US" altLang="ja-JP"/>
              <a:t>IP trust</a:t>
            </a:r>
            <a:r>
              <a:rPr lang="ja-JP" altLang="en-US"/>
              <a:t>”</a:t>
            </a:r>
            <a:r>
              <a:rPr lang="en-US" altLang="ja-JP"/>
              <a:t> issue.</a:t>
            </a:r>
          </a:p>
          <a:p>
            <a:endParaRPr lang="nl-NL" altLang="en-US"/>
          </a:p>
        </p:txBody>
      </p:sp>
    </p:spTree>
    <p:extLst>
      <p:ext uri="{BB962C8B-B14F-4D97-AF65-F5344CB8AC3E}">
        <p14:creationId xmlns:p14="http://schemas.microsoft.com/office/powerpoint/2010/main" val="474737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B7B5F83-3BD0-4387-8A49-4DDF3FCCE924}" type="slidenum">
              <a:rPr lang="en-US" altLang="en-US" sz="1300">
                <a:latin typeface="Arial Black" panose="020B0A04020102020204" pitchFamily="34" charset="0"/>
              </a:rPr>
              <a:pPr>
                <a:spcBef>
                  <a:spcPct val="0"/>
                </a:spcBef>
              </a:pPr>
              <a:t>7</a:t>
            </a:fld>
            <a:endParaRPr lang="en-US" altLang="en-US" sz="1300">
              <a:latin typeface="Arial Black" panose="020B0A04020102020204" pitchFamily="3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example of SOC design.  </a:t>
            </a:r>
          </a:p>
          <a:p>
            <a:r>
              <a:rPr lang="en-US" altLang="en-US"/>
              <a:t>Each module is designed independently by different IP vendors. System integrator puts them together on a single chip. </a:t>
            </a:r>
          </a:p>
        </p:txBody>
      </p:sp>
    </p:spTree>
    <p:extLst>
      <p:ext uri="{BB962C8B-B14F-4D97-AF65-F5344CB8AC3E}">
        <p14:creationId xmlns:p14="http://schemas.microsoft.com/office/powerpoint/2010/main" val="575126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16D1786-9FF2-4F77-AA31-3F053EC71BD9}" type="slidenum">
              <a:rPr lang="en-US" altLang="en-US" sz="1300">
                <a:latin typeface="Arial Black" panose="020B0A04020102020204" pitchFamily="34" charset="0"/>
              </a:rPr>
              <a:pPr>
                <a:spcBef>
                  <a:spcPct val="0"/>
                </a:spcBef>
              </a:pPr>
              <a:t>8</a:t>
            </a:fld>
            <a:endParaRPr lang="en-US" altLang="en-US" sz="1300">
              <a:latin typeface="Arial Black" panose="020B0A04020102020204" pitchFamily="34"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Since IPs are designed by IP vendors across the world, there is no control on the design process.</a:t>
            </a:r>
          </a:p>
          <a:p>
            <a:r>
              <a:rPr lang="en-US" altLang="en-US"/>
              <a:t>Therefore, the entire system is untrusted if any IP is untrusted. </a:t>
            </a:r>
          </a:p>
          <a:p>
            <a:endParaRPr lang="nl-NL" altLang="en-US"/>
          </a:p>
        </p:txBody>
      </p:sp>
    </p:spTree>
    <p:extLst>
      <p:ext uri="{BB962C8B-B14F-4D97-AF65-F5344CB8AC3E}">
        <p14:creationId xmlns:p14="http://schemas.microsoft.com/office/powerpoint/2010/main" val="4089719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B16CA16-EFF7-4C3E-B439-82F0D88AAE5A}" type="slidenum">
              <a:rPr lang="en-US" altLang="en-US" sz="1300">
                <a:latin typeface="Arial Black" panose="020B0A04020102020204" pitchFamily="34" charset="0"/>
              </a:rPr>
              <a:pPr>
                <a:spcBef>
                  <a:spcPct val="0"/>
                </a:spcBef>
              </a:pPr>
              <a:t>9</a:t>
            </a:fld>
            <a:endParaRPr lang="en-US" altLang="en-US" sz="1300">
              <a:latin typeface="Arial Black" panose="020B0A04020102020204"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the system integrator is untrusted, system integrator can steal the design of IP or manufacture more than the number they should manufacture (overproduce). These are IP piracy and system trust issues. </a:t>
            </a:r>
          </a:p>
          <a:p>
            <a:r>
              <a:rPr lang="en-US" altLang="en-US"/>
              <a:t>IP watermarking techniques are proposed to deal with these issues.</a:t>
            </a:r>
          </a:p>
          <a:p>
            <a:endParaRPr lang="nl-NL" altLang="en-US"/>
          </a:p>
        </p:txBody>
      </p:sp>
    </p:spTree>
    <p:extLst>
      <p:ext uri="{BB962C8B-B14F-4D97-AF65-F5344CB8AC3E}">
        <p14:creationId xmlns:p14="http://schemas.microsoft.com/office/powerpoint/2010/main" val="296392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45592DE-3B7B-4F96-B2BB-A1B6BDE36A2C}" type="slidenum">
              <a:rPr lang="en-US" altLang="en-US" sz="1300">
                <a:latin typeface="Arial Black" panose="020B0A04020102020204" pitchFamily="34" charset="0"/>
              </a:rPr>
              <a:pPr>
                <a:spcBef>
                  <a:spcPct val="0"/>
                </a:spcBef>
              </a:pPr>
              <a:t>10</a:t>
            </a:fld>
            <a:endParaRPr lang="en-US" altLang="en-US" sz="1300">
              <a:latin typeface="Arial Black" panose="020B0A04020102020204" pitchFamily="3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Since most IC companies become fabless, chips are fabricated and tested at third party foundry. If chips are fabricated in an untrusted foundry, a lot of security issues are involved. </a:t>
            </a:r>
          </a:p>
          <a:p>
            <a:r>
              <a:rPr lang="en-US" altLang="en-US"/>
              <a:t>If foundry modifies the original design and inserts a Trojan into it, this is IC trust issue. </a:t>
            </a:r>
          </a:p>
          <a:p>
            <a:r>
              <a:rPr lang="en-US" altLang="en-US"/>
              <a:t>If foundry overproduces chips, clone chips and so on, these are counterfeit issues. </a:t>
            </a:r>
          </a:p>
          <a:p>
            <a:r>
              <a:rPr lang="en-US" altLang="en-US"/>
              <a:t>In the end, the foundry will test all chips. This is about secure manufacturing test.</a:t>
            </a:r>
          </a:p>
          <a:p>
            <a:r>
              <a:rPr lang="en-US" altLang="en-US"/>
              <a:t>In this chapter, we focus on IC trust issue.</a:t>
            </a:r>
          </a:p>
          <a:p>
            <a:endParaRPr lang="nl-NL" altLang="en-US"/>
          </a:p>
        </p:txBody>
      </p:sp>
    </p:spTree>
    <p:extLst>
      <p:ext uri="{BB962C8B-B14F-4D97-AF65-F5344CB8AC3E}">
        <p14:creationId xmlns:p14="http://schemas.microsoft.com/office/powerpoint/2010/main" val="3823713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277DADA-65AA-4EF9-824E-97A697CDFBA4}" type="slidenum">
              <a:rPr lang="en-US" altLang="en-US" sz="1300">
                <a:latin typeface="Arial Black" panose="020B0A04020102020204" pitchFamily="34" charset="0"/>
              </a:rPr>
              <a:pPr>
                <a:spcBef>
                  <a:spcPct val="0"/>
                </a:spcBef>
              </a:pPr>
              <a:t>11</a:t>
            </a:fld>
            <a:endParaRPr lang="en-US" altLang="en-US" sz="1300">
              <a:latin typeface="Arial Black" panose="020B0A04020102020204" pitchFamily="3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slide show the AISC process in foundry, which includes design process, fabrication process and manufacturing test process. </a:t>
            </a:r>
          </a:p>
          <a:p>
            <a:r>
              <a:rPr lang="en-US" altLang="en-US"/>
              <a:t>Untrusted foundry may result in insecure fabrication process, as shown in red rectangles.</a:t>
            </a:r>
          </a:p>
          <a:p>
            <a:endParaRPr lang="nl-NL" altLang="en-US"/>
          </a:p>
        </p:txBody>
      </p:sp>
    </p:spTree>
    <p:extLst>
      <p:ext uri="{BB962C8B-B14F-4D97-AF65-F5344CB8AC3E}">
        <p14:creationId xmlns:p14="http://schemas.microsoft.com/office/powerpoint/2010/main" val="1841841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3D4F997-2E73-4EB0-A0E6-A77207E7E10A}" type="slidenum">
              <a:rPr lang="en-US" altLang="en-US" sz="1300">
                <a:latin typeface="Arial Black" panose="020B0A04020102020204" pitchFamily="34" charset="0"/>
              </a:rPr>
              <a:pPr>
                <a:spcBef>
                  <a:spcPct val="0"/>
                </a:spcBef>
              </a:pPr>
              <a:t>12</a:t>
            </a:fld>
            <a:endParaRPr lang="en-US" altLang="en-US" sz="1300">
              <a:latin typeface="Arial Black" panose="020B0A040201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slide show the AISC process in foundry, which includes design process, fabrication process and manufacturing test process. </a:t>
            </a:r>
          </a:p>
          <a:p>
            <a:r>
              <a:rPr lang="en-US" altLang="en-US"/>
              <a:t>In this figure, both design process and fabrication process are untrusted. </a:t>
            </a:r>
            <a:endParaRPr lang="nl-NL" altLang="en-US"/>
          </a:p>
        </p:txBody>
      </p:sp>
    </p:spTree>
    <p:extLst>
      <p:ext uri="{BB962C8B-B14F-4D97-AF65-F5344CB8AC3E}">
        <p14:creationId xmlns:p14="http://schemas.microsoft.com/office/powerpoint/2010/main" val="2707084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281FE0D-7606-44E8-B223-62DD3651048B}" type="slidenum">
              <a:rPr lang="en-US" altLang="en-US" sz="1300">
                <a:latin typeface="Arial Black" panose="020B0A04020102020204" pitchFamily="34" charset="0"/>
              </a:rPr>
              <a:pPr>
                <a:spcBef>
                  <a:spcPct val="0"/>
                </a:spcBef>
              </a:pPr>
              <a:t>16</a:t>
            </a:fld>
            <a:endParaRPr lang="en-US" altLang="en-US" sz="1300">
              <a:latin typeface="Arial Black" panose="020B0A04020102020204" pitchFamily="34" charset="0"/>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Here is an example of hardware Trojan. An antenna is inserted by attackers on a fabricated chip which might be used in security systems.  Such Trojan cannot be detected by functional structural test since it does not change the functionality of the circuit. When this chip is put into a system, it will act like a back door. Attacker can receive secret information from chip inside and send command to control the chip, such as disable chip, blowup chip and so on.</a:t>
            </a:r>
            <a:endParaRPr lang="nl-NL" altLang="en-US"/>
          </a:p>
          <a:p>
            <a:endParaRPr lang="nl-NL" altLang="en-US"/>
          </a:p>
          <a:p>
            <a:endParaRPr lang="nl-NL" altLang="en-US"/>
          </a:p>
          <a:p>
            <a:endParaRPr lang="nl-NL" altLang="en-US"/>
          </a:p>
          <a:p>
            <a:r>
              <a:rPr lang="nl-NL" altLang="en-US"/>
              <a:t> </a:t>
            </a:r>
          </a:p>
        </p:txBody>
      </p:sp>
    </p:spTree>
    <p:extLst>
      <p:ext uri="{BB962C8B-B14F-4D97-AF65-F5344CB8AC3E}">
        <p14:creationId xmlns:p14="http://schemas.microsoft.com/office/powerpoint/2010/main" val="385204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9DB5D23-C5ED-4BDE-B9A9-9B3871A7C737}" type="slidenum">
              <a:rPr lang="en-US" altLang="en-US" sz="1300">
                <a:latin typeface="Arial Black" panose="020B0A04020102020204" pitchFamily="34" charset="0"/>
              </a:rPr>
              <a:pPr>
                <a:spcBef>
                  <a:spcPct val="0"/>
                </a:spcBef>
              </a:pPr>
              <a:t>17</a:t>
            </a:fld>
            <a:endParaRPr lang="en-US" altLang="en-US" sz="1300">
              <a:latin typeface="Arial Black" panose="020B0A04020102020204" pitchFamily="34" charset="0"/>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Here is another example of hardware Trojan, a time bomb which will destroy the chip. Trojan has many ways to be triggered.  It will be activated when a counter gets to a specified value, FSM goes to a certain state, or a certain key is used. Additionally, attacker can modify the wire/transistor width to make it age faster to cause reliability issues.</a:t>
            </a:r>
          </a:p>
          <a:p>
            <a:endParaRPr lang="nl-NL" altLang="en-US"/>
          </a:p>
        </p:txBody>
      </p:sp>
    </p:spTree>
    <p:extLst>
      <p:ext uri="{BB962C8B-B14F-4D97-AF65-F5344CB8AC3E}">
        <p14:creationId xmlns:p14="http://schemas.microsoft.com/office/powerpoint/2010/main" val="4276444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45ED643-9742-4D97-A433-FF53243514AC}" type="slidenum">
              <a:rPr lang="en-US" altLang="en-US" sz="1300">
                <a:latin typeface="Arial Black" panose="020B0A04020102020204" pitchFamily="34" charset="0"/>
              </a:rPr>
              <a:pPr>
                <a:spcBef>
                  <a:spcPct val="0"/>
                </a:spcBef>
              </a:pPr>
              <a:t>18</a:t>
            </a:fld>
            <a:endParaRPr lang="en-US" altLang="en-US" sz="1300">
              <a:latin typeface="Arial Black" panose="020B0A04020102020204" pitchFamily="34"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All there application might be attacked.</a:t>
            </a:r>
          </a:p>
        </p:txBody>
      </p:sp>
    </p:spTree>
    <p:extLst>
      <p:ext uri="{BB962C8B-B14F-4D97-AF65-F5344CB8AC3E}">
        <p14:creationId xmlns:p14="http://schemas.microsoft.com/office/powerpoint/2010/main" val="1855542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can we trust an IP? How can one establish that the IP does exactly as the specification, nothing less and nothing more? </a:t>
            </a:r>
          </a:p>
          <a:p>
            <a:r>
              <a:rPr lang="en-US" altLang="en-US"/>
              <a:t>IP cores from untrusted vendors need to be verified for trust before they are integrated in a system. </a:t>
            </a:r>
          </a:p>
          <a:p>
            <a:r>
              <a:rPr lang="en-US" altLang="en-US"/>
              <a:t>Since IP cores have different formats, different methods should be used. </a:t>
            </a:r>
          </a:p>
          <a:p>
            <a:r>
              <a:rPr lang="en-US" altLang="en-US"/>
              <a:t>Here are challenges to detect Trojans in IP cores. </a:t>
            </a:r>
          </a:p>
          <a:p>
            <a:pPr>
              <a:buFontTx/>
              <a:buAutoNum type="arabicParenR"/>
            </a:pPr>
            <a:r>
              <a:rPr lang="en-US" altLang="en-US"/>
              <a:t>There is no golden model for IP core. We have to check its functionality.</a:t>
            </a:r>
          </a:p>
          <a:p>
            <a:pPr>
              <a:buFontTx/>
              <a:buAutoNum type="arabicParenR"/>
            </a:pPr>
            <a:r>
              <a:rPr lang="en-US" altLang="en-US"/>
              <a:t>We do not know how the layout looks like, if only the HDL is available.</a:t>
            </a:r>
          </a:p>
          <a:p>
            <a:pPr>
              <a:buFontTx/>
              <a:buAutoNum type="arabicParenR"/>
            </a:pPr>
            <a:r>
              <a:rPr lang="en-US" altLang="en-US"/>
              <a:t>Side-channel signal methods are not working for soft IP.</a:t>
            </a:r>
          </a:p>
          <a:p>
            <a:endParaRPr lang="en-US" altLang="en-US"/>
          </a:p>
          <a:p>
            <a:endParaRPr lang="en-US" altLang="en-US"/>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C1308AA-68AE-4251-AD51-15559847DA40}" type="slidenum">
              <a:rPr lang="en-US" altLang="en-US" sz="1300">
                <a:latin typeface="Arial Black" panose="020B0A04020102020204" pitchFamily="34" charset="0"/>
              </a:rPr>
              <a:pPr>
                <a:spcBef>
                  <a:spcPct val="0"/>
                </a:spcBef>
              </a:pPr>
              <a:t>19</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1269059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EEF942B-9D44-4B0C-8EC9-0865FC4A7849}" type="slidenum">
              <a:rPr lang="en-US" altLang="en-US" sz="1300">
                <a:latin typeface="Arial Black" panose="020B0A04020102020204" pitchFamily="34" charset="0"/>
              </a:rPr>
              <a:pPr>
                <a:spcBef>
                  <a:spcPct val="0"/>
                </a:spcBef>
              </a:pPr>
              <a:t>20</a:t>
            </a:fld>
            <a:endParaRPr lang="en-US" altLang="en-US" sz="1300">
              <a:latin typeface="Arial Black" panose="020B0A040201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Trojan is decomposed into three principle categories according to their physical, activation and action characteristics. </a:t>
            </a:r>
          </a:p>
          <a:p>
            <a:r>
              <a:rPr lang="en-US" altLang="en-US"/>
              <a:t>The physical characteristics of a Trojan are further partitioned into four categories: type, size, distribution, and structure. </a:t>
            </a:r>
          </a:p>
          <a:p>
            <a:r>
              <a:rPr lang="en-US" altLang="en-US"/>
              <a:t>This taxonomy describes Trojans using six attributes, including four physical, one activation and one action attribute. Although it is possible for Trojans to be hybrids of this classification, e.g., have more than one activation characteristic, we believe this taxonomy captures the elemental characteristics of Trojans and will be useful for defining the capabilities of various detection strategies. </a:t>
            </a:r>
          </a:p>
          <a:p>
            <a:r>
              <a:rPr lang="en-US" altLang="en-US"/>
              <a:t>We will explain them in detail in following slides.</a:t>
            </a:r>
            <a:endParaRPr lang="nl-NL" altLang="en-US"/>
          </a:p>
        </p:txBody>
      </p:sp>
    </p:spTree>
    <p:extLst>
      <p:ext uri="{BB962C8B-B14F-4D97-AF65-F5344CB8AC3E}">
        <p14:creationId xmlns:p14="http://schemas.microsoft.com/office/powerpoint/2010/main" val="1436822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EEF942B-9D44-4B0C-8EC9-0865FC4A7849}" type="slidenum">
              <a:rPr lang="en-US" altLang="en-US" sz="1300">
                <a:latin typeface="Arial Black" panose="020B0A04020102020204" pitchFamily="34" charset="0"/>
              </a:rPr>
              <a:pPr>
                <a:spcBef>
                  <a:spcPct val="0"/>
                </a:spcBef>
              </a:pPr>
              <a:t>21</a:t>
            </a:fld>
            <a:endParaRPr lang="en-US" altLang="en-US" sz="1300">
              <a:latin typeface="Arial Black" panose="020B0A040201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Trojan is decomposed into three principle categories according to their physical, activation and action characteristics. </a:t>
            </a:r>
          </a:p>
          <a:p>
            <a:r>
              <a:rPr lang="en-US" altLang="en-US"/>
              <a:t>The physical characteristics of a Trojan are further partitioned into four categories: type, size, distribution, and structure. </a:t>
            </a:r>
          </a:p>
          <a:p>
            <a:r>
              <a:rPr lang="en-US" altLang="en-US"/>
              <a:t>This taxonomy describes Trojans using six attributes, including four physical, one activation and one action attribute. Although it is possible for Trojans to be hybrids of this classification, e.g., have more than one activation characteristic, we believe this taxonomy captures the elemental characteristics of Trojans and will be useful for defining the capabilities of various detection strategies. </a:t>
            </a:r>
          </a:p>
          <a:p>
            <a:r>
              <a:rPr lang="en-US" altLang="en-US"/>
              <a:t>We will explain them in detail in following slides.</a:t>
            </a:r>
            <a:endParaRPr lang="nl-NL" altLang="en-US"/>
          </a:p>
        </p:txBody>
      </p:sp>
    </p:spTree>
    <p:extLst>
      <p:ext uri="{BB962C8B-B14F-4D97-AF65-F5344CB8AC3E}">
        <p14:creationId xmlns:p14="http://schemas.microsoft.com/office/powerpoint/2010/main" val="1998314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 the process of integrated circuits (ICs) shrinks to submicron level, the complexity of and cost of IC fabrication increase significantly. Many IC companies cannot afford to keep upgrading the manufacture process. They just send their design to foundry and let foundry to fabricate and test them. This might be a potential opportunity for attacker to implant Trojans. Additionally, design may use third party IPs. These Trojans may be already inserted in IP cores. </a:t>
            </a:r>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C28062F-AC8B-4BBC-989A-839EEB21970F}" type="slidenum">
              <a:rPr lang="en-US" altLang="en-US" sz="1300">
                <a:latin typeface="Arial Black" panose="020B0A04020102020204" pitchFamily="34" charset="0"/>
              </a:rPr>
              <a:pPr>
                <a:spcBef>
                  <a:spcPct val="0"/>
                </a:spcBef>
              </a:pPr>
              <a:t>22</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1026803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708D394-8110-41B4-961D-95E90598C6F5}" type="slidenum">
              <a:rPr lang="en-US" altLang="en-US" sz="1300">
                <a:latin typeface="Arial Black" panose="020B0A04020102020204" pitchFamily="34" charset="0"/>
              </a:rPr>
              <a:pPr>
                <a:spcBef>
                  <a:spcPct val="0"/>
                </a:spcBef>
              </a:pPr>
              <a:t>23</a:t>
            </a:fld>
            <a:endParaRPr lang="en-US" altLang="en-US" sz="1300">
              <a:latin typeface="Arial Black" panose="020B0A04020102020204"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type category partitions Trojans into functional and parametric classes. </a:t>
            </a:r>
          </a:p>
          <a:p>
            <a:r>
              <a:rPr lang="en-US" altLang="en-US"/>
              <a:t>The functional class includes Trojans that are physically realized through the addition or deletion of transistors or gates, while parametric refers to Trojans that are realized through modifications of existing wires and logic. The thinning of a wire, the weakening of a transistor or any modification of a physical geometry designed to sabotage reliability or increase the likelihood of a functional or performance failure are examples of the latter.  </a:t>
            </a:r>
          </a:p>
          <a:p>
            <a:endParaRPr lang="nl-NL" altLang="en-US"/>
          </a:p>
        </p:txBody>
      </p:sp>
    </p:spTree>
    <p:extLst>
      <p:ext uri="{BB962C8B-B14F-4D97-AF65-F5344CB8AC3E}">
        <p14:creationId xmlns:p14="http://schemas.microsoft.com/office/powerpoint/2010/main" val="2745326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B6C9DB2-D41A-402E-ADD5-F9432954BE45}" type="slidenum">
              <a:rPr lang="en-US" altLang="en-US" sz="1300">
                <a:latin typeface="Arial Black" panose="020B0A04020102020204" pitchFamily="34" charset="0"/>
              </a:rPr>
              <a:pPr>
                <a:spcBef>
                  <a:spcPct val="0"/>
                </a:spcBef>
              </a:pPr>
              <a:t>24</a:t>
            </a:fld>
            <a:endParaRPr lang="en-US" altLang="en-US" sz="1300">
              <a:latin typeface="Arial Black" panose="020B0A04020102020204" pitchFamily="3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size category accounts for the number of components in the chip that have been added, deleted or compromised. </a:t>
            </a:r>
          </a:p>
          <a:p>
            <a:r>
              <a:rPr lang="en-US" altLang="en-US"/>
              <a:t>Size of a Trojan can be an important factor during activation. </a:t>
            </a:r>
          </a:p>
          <a:p>
            <a:r>
              <a:rPr lang="en-US" altLang="en-US"/>
              <a:t>Generally speaking, a smaller Trojan has a higher probability for activation than a Trojan with larger number of inputs.</a:t>
            </a:r>
            <a:endParaRPr lang="nl-NL" altLang="en-US"/>
          </a:p>
        </p:txBody>
      </p:sp>
    </p:spTree>
    <p:extLst>
      <p:ext uri="{BB962C8B-B14F-4D97-AF65-F5344CB8AC3E}">
        <p14:creationId xmlns:p14="http://schemas.microsoft.com/office/powerpoint/2010/main" val="4024444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12CD91F-F350-4472-855C-34964532758C}" type="slidenum">
              <a:rPr lang="en-US" altLang="en-US" sz="1300">
                <a:latin typeface="Arial Black" panose="020B0A04020102020204" pitchFamily="34" charset="0"/>
              </a:rPr>
              <a:pPr>
                <a:spcBef>
                  <a:spcPct val="0"/>
                </a:spcBef>
              </a:pPr>
              <a:t>25</a:t>
            </a:fld>
            <a:endParaRPr lang="en-US" altLang="en-US" sz="1300">
              <a:latin typeface="Arial Black" panose="020B0A0402010202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distribution category describes the location of the Trojan in the physical layout of the chip. For example, a tight distribution describes a Trojan whose components are topologically close in the layout while a loose distribution describes Trojans that are dispersed across the layout of the chip. </a:t>
            </a:r>
          </a:p>
          <a:p>
            <a:r>
              <a:rPr lang="en-US" altLang="en-US"/>
              <a:t>Note that the distribution of Trojans depends on the availability of unused spaces on the layout. </a:t>
            </a:r>
          </a:p>
          <a:p>
            <a:r>
              <a:rPr lang="en-US" altLang="en-US"/>
              <a:t>If very small unused spaces are available on the layout, then the adversary may be forced to place and route smaller portions of the Trojan in different unused spaces. </a:t>
            </a:r>
          </a:p>
          <a:p>
            <a:r>
              <a:rPr lang="en-US" altLang="en-US"/>
              <a:t>Note that here we assume that the adversary may not change the physical layout dimension of the design.  </a:t>
            </a:r>
          </a:p>
          <a:p>
            <a:endParaRPr lang="nl-NL" altLang="en-US"/>
          </a:p>
        </p:txBody>
      </p:sp>
    </p:spTree>
    <p:extLst>
      <p:ext uri="{BB962C8B-B14F-4D97-AF65-F5344CB8AC3E}">
        <p14:creationId xmlns:p14="http://schemas.microsoft.com/office/powerpoint/2010/main" val="518227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4905C0B-6708-446F-ABD6-A7A766406EED}" type="slidenum">
              <a:rPr lang="en-US" altLang="en-US" sz="1300">
                <a:latin typeface="Arial Black" panose="020B0A04020102020204" pitchFamily="34" charset="0"/>
              </a:rPr>
              <a:pPr>
                <a:spcBef>
                  <a:spcPct val="0"/>
                </a:spcBef>
              </a:pPr>
              <a:t>26</a:t>
            </a:fld>
            <a:endParaRPr lang="en-US" altLang="en-US" sz="1300">
              <a:latin typeface="Arial Black" panose="020B0A0402010202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the adversary is forced to regenerate the layout to be able to insert the Trojan, then the chip dimensions change. </a:t>
            </a:r>
          </a:p>
          <a:p>
            <a:r>
              <a:rPr lang="en-US" altLang="en-US"/>
              <a:t>This change could result in different placement for some or all the design components. </a:t>
            </a:r>
          </a:p>
          <a:p>
            <a:r>
              <a:rPr lang="en-US" altLang="en-US"/>
              <a:t>Any changes in physical layout can change the delay and power characteristics of chip which will make it easier to detect the Trojan.</a:t>
            </a:r>
          </a:p>
          <a:p>
            <a:endParaRPr lang="nl-NL" altLang="en-US"/>
          </a:p>
        </p:txBody>
      </p:sp>
    </p:spTree>
    <p:extLst>
      <p:ext uri="{BB962C8B-B14F-4D97-AF65-F5344CB8AC3E}">
        <p14:creationId xmlns:p14="http://schemas.microsoft.com/office/powerpoint/2010/main" val="2987761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D590503-FDFF-4648-9613-68239AF5D011}" type="slidenum">
              <a:rPr lang="en-US" altLang="en-US" sz="1300">
                <a:latin typeface="Arial Black" panose="020B0A04020102020204" pitchFamily="34" charset="0"/>
              </a:rPr>
              <a:pPr>
                <a:spcBef>
                  <a:spcPct val="0"/>
                </a:spcBef>
              </a:pPr>
              <a:t>27</a:t>
            </a:fld>
            <a:endParaRPr lang="en-US" altLang="en-US" sz="1300">
              <a:latin typeface="Arial Black" panose="020B0A0402010202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Activation characteristics refer to the criteria that cause the Trojan to become active and carry out its disruptive function. </a:t>
            </a:r>
          </a:p>
          <a:p>
            <a:r>
              <a:rPr lang="en-US" altLang="en-US"/>
              <a:t>In order to prevent </a:t>
            </a:r>
            <a:r>
              <a:rPr lang="ja-JP" altLang="en-US"/>
              <a:t>‘</a:t>
            </a:r>
            <a:r>
              <a:rPr lang="en-US" altLang="ja-JP"/>
              <a:t>accidental</a:t>
            </a:r>
            <a:r>
              <a:rPr lang="ja-JP" altLang="en-US"/>
              <a:t>’</a:t>
            </a:r>
            <a:r>
              <a:rPr lang="en-US" altLang="ja-JP"/>
              <a:t> activation and detection during testing phase, attackers will use rare events to activate Trojans. </a:t>
            </a:r>
          </a:p>
          <a:p>
            <a:endParaRPr lang="en-US" altLang="en-US"/>
          </a:p>
          <a:p>
            <a:r>
              <a:rPr lang="en-US" altLang="en-US"/>
              <a:t>We partition Trojan activation into two sub-categories, externally-activated and internally-activated. </a:t>
            </a:r>
          </a:p>
          <a:p>
            <a:r>
              <a:rPr lang="en-US" altLang="en-US"/>
              <a:t>In externally-activated category, the Trojan can be activated externally by attackers in their time of choosing. This can be done by embedding a receiver and antenna on chip to control it through external signals. This can also be done by accessing the internal registers and forcing them to specific date to extract secret key.</a:t>
            </a:r>
          </a:p>
          <a:p>
            <a:r>
              <a:rPr lang="en-US" altLang="en-US"/>
              <a:t>In internally-activated category, Trojan can be always-on or conditional-based. Always-on indicates that the Trojan is always active and it can threat the chip all the time. Conditional-based means the Trojan is triggered under specific conditions, otherwise it will be inactive. In general, there are two ways to trigger it, sensor-based or logic-based. Sensor is usually used to sensor electrical and environmental parameters to activate Trojans. Logic-based uses internal signal or state in the circuits to trigger Trojans. </a:t>
            </a:r>
          </a:p>
          <a:p>
            <a:endParaRPr lang="nl-NL" altLang="en-US"/>
          </a:p>
        </p:txBody>
      </p:sp>
    </p:spTree>
    <p:extLst>
      <p:ext uri="{BB962C8B-B14F-4D97-AF65-F5344CB8AC3E}">
        <p14:creationId xmlns:p14="http://schemas.microsoft.com/office/powerpoint/2010/main" val="1698575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A010310-8B8B-4D8C-A703-A47B9F1E1387}" type="slidenum">
              <a:rPr lang="en-US" altLang="en-US" sz="1300">
                <a:latin typeface="Arial Black" panose="020B0A04020102020204" pitchFamily="34" charset="0"/>
              </a:rPr>
              <a:pPr>
                <a:spcBef>
                  <a:spcPct val="0"/>
                </a:spcBef>
              </a:pPr>
              <a:t>28</a:t>
            </a:fld>
            <a:endParaRPr lang="en-US" altLang="en-US" sz="1300">
              <a:latin typeface="Arial Black" panose="020B0A0402010202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an example of internally-activated Trojan.</a:t>
            </a:r>
            <a:endParaRPr lang="nl-NL" altLang="en-US"/>
          </a:p>
          <a:p>
            <a:r>
              <a:rPr lang="nl-NL" altLang="en-US"/>
              <a:t>In the top figure, the counter is always on and counts at every clock cycle. </a:t>
            </a:r>
          </a:p>
          <a:p>
            <a:r>
              <a:rPr lang="nl-NL" altLang="en-US"/>
              <a:t>In the bottom figure, AND gate is triggered only when two inputs are 1 to produce 1 at the output. Otherwise, the output is 0.</a:t>
            </a:r>
          </a:p>
          <a:p>
            <a:endParaRPr lang="en-US" altLang="en-US"/>
          </a:p>
        </p:txBody>
      </p:sp>
    </p:spTree>
    <p:extLst>
      <p:ext uri="{BB962C8B-B14F-4D97-AF65-F5344CB8AC3E}">
        <p14:creationId xmlns:p14="http://schemas.microsoft.com/office/powerpoint/2010/main" val="15997265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3F09961-542E-443E-A981-1CFE5883FA19}" type="slidenum">
              <a:rPr lang="en-US" altLang="en-US" sz="1300">
                <a:latin typeface="Arial Black" panose="020B0A04020102020204" pitchFamily="34" charset="0"/>
              </a:rPr>
              <a:pPr>
                <a:spcBef>
                  <a:spcPct val="0"/>
                </a:spcBef>
              </a:pPr>
              <a:t>29</a:t>
            </a:fld>
            <a:endParaRPr lang="en-US" altLang="en-US" sz="1300">
              <a:latin typeface="Arial Black" panose="020B0A040201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Action characteristics identify the types of disruptive behavior introduced by the Trojan. </a:t>
            </a:r>
          </a:p>
          <a:p>
            <a:r>
              <a:rPr lang="en-US" altLang="en-US"/>
              <a:t>It is classified into three categories: modify-function, modify-specification and transmit information. </a:t>
            </a:r>
          </a:p>
          <a:p>
            <a:r>
              <a:rPr lang="en-US" altLang="en-US"/>
              <a:t>They are very straight-forward. They will change functionality, specification of chips and even leak secret information to attackers. </a:t>
            </a:r>
          </a:p>
          <a:p>
            <a:endParaRPr lang="nl-NL" altLang="en-US"/>
          </a:p>
        </p:txBody>
      </p:sp>
    </p:spTree>
    <p:extLst>
      <p:ext uri="{BB962C8B-B14F-4D97-AF65-F5344CB8AC3E}">
        <p14:creationId xmlns:p14="http://schemas.microsoft.com/office/powerpoint/2010/main" val="298389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E183417-AA1C-4DD3-A936-5F470722413B}" type="slidenum">
              <a:rPr lang="en-US" altLang="en-US" sz="1300">
                <a:latin typeface="Arial Black" panose="020B0A04020102020204" pitchFamily="34" charset="0"/>
              </a:rPr>
              <a:pPr>
                <a:spcBef>
                  <a:spcPct val="0"/>
                </a:spcBef>
              </a:pPr>
              <a:t>30</a:t>
            </a:fld>
            <a:endParaRPr lang="en-US" altLang="en-US" sz="1300">
              <a:latin typeface="Arial Black" panose="020B0A040201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an example of some actions of Trojans.</a:t>
            </a:r>
            <a:endParaRPr lang="nl-NL" altLang="en-US"/>
          </a:p>
        </p:txBody>
      </p:sp>
    </p:spTree>
    <p:extLst>
      <p:ext uri="{BB962C8B-B14F-4D97-AF65-F5344CB8AC3E}">
        <p14:creationId xmlns:p14="http://schemas.microsoft.com/office/powerpoint/2010/main" val="34717508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Before we discuss IP trust issue, we should distinguish IP trust and IP security issue. </a:t>
            </a:r>
          </a:p>
          <a:p>
            <a:r>
              <a:rPr lang="en-US" altLang="en-US"/>
              <a:t>IP trust issue is for IP users (buyers). IP security issue is for IP holders (sellers). </a:t>
            </a:r>
          </a:p>
          <a:p>
            <a:r>
              <a:rPr lang="en-US" altLang="en-US"/>
              <a:t>In this chapter, we focus on IP trust issue that Trojans may be inserted into netlist or GDSII files. </a:t>
            </a:r>
          </a:p>
        </p:txBody>
      </p:sp>
      <p:sp>
        <p:nvSpPr>
          <p:cNvPr id="58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A5072E5-C3AA-4704-AA49-581C7D57516E}" type="slidenum">
              <a:rPr lang="en-US" altLang="en-US" sz="1300">
                <a:latin typeface="Arial Black" panose="020B0A04020102020204" pitchFamily="34" charset="0"/>
              </a:rPr>
              <a:pPr>
                <a:spcBef>
                  <a:spcPct val="0"/>
                </a:spcBef>
              </a:pPr>
              <a:t>31</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5793660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can we trust an IP? How can one establish that the IP does exactly as the specification, nothing less and nothing more? </a:t>
            </a:r>
          </a:p>
          <a:p>
            <a:r>
              <a:rPr lang="en-US" altLang="en-US"/>
              <a:t>IP cores from untrusted vendors need to be verified for trust before they are integrated in a system. </a:t>
            </a:r>
          </a:p>
          <a:p>
            <a:r>
              <a:rPr lang="en-US" altLang="en-US"/>
              <a:t>Since IP cores have different formats, different methods should be used. </a:t>
            </a:r>
          </a:p>
          <a:p>
            <a:r>
              <a:rPr lang="en-US" altLang="en-US"/>
              <a:t>Here are challenges to detect Trojans in IP cores. </a:t>
            </a:r>
          </a:p>
          <a:p>
            <a:pPr>
              <a:buFontTx/>
              <a:buAutoNum type="arabicParenR"/>
            </a:pPr>
            <a:r>
              <a:rPr lang="en-US" altLang="en-US"/>
              <a:t>There is no golden model for IP core. We have to check its functionality.</a:t>
            </a:r>
          </a:p>
          <a:p>
            <a:pPr>
              <a:buFontTx/>
              <a:buAutoNum type="arabicParenR"/>
            </a:pPr>
            <a:r>
              <a:rPr lang="en-US" altLang="en-US"/>
              <a:t>We do not know how the layout looks like, if only the HDL is available.</a:t>
            </a:r>
          </a:p>
          <a:p>
            <a:pPr>
              <a:buFontTx/>
              <a:buAutoNum type="arabicParenR"/>
            </a:pPr>
            <a:r>
              <a:rPr lang="en-US" altLang="en-US"/>
              <a:t>Side-channel signal methods are not working for soft IP.</a:t>
            </a:r>
          </a:p>
          <a:p>
            <a:endParaRPr lang="en-US" altLang="en-US"/>
          </a:p>
          <a:p>
            <a:endParaRPr lang="en-US" altLang="en-US"/>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C1308AA-68AE-4251-AD51-15559847DA40}" type="slidenum">
              <a:rPr lang="en-US" altLang="en-US" sz="1300">
                <a:latin typeface="Arial Black" panose="020B0A04020102020204" pitchFamily="34" charset="0"/>
              </a:rPr>
              <a:pPr>
                <a:spcBef>
                  <a:spcPct val="0"/>
                </a:spcBef>
              </a:pPr>
              <a:t>32</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9990729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can we trust an IP? How can one establish that the IP does exactly as the specification, nothing less and nothing more? </a:t>
            </a:r>
          </a:p>
          <a:p>
            <a:r>
              <a:rPr lang="en-US" altLang="en-US"/>
              <a:t>IP cores from untrusted vendors need to be verified for trust before they are integrated in a system. </a:t>
            </a:r>
          </a:p>
          <a:p>
            <a:r>
              <a:rPr lang="en-US" altLang="en-US"/>
              <a:t>Since IP cores have different formats, different methods should be used. </a:t>
            </a:r>
          </a:p>
          <a:p>
            <a:r>
              <a:rPr lang="en-US" altLang="en-US"/>
              <a:t>Here are challenges to detect Trojans in IP cores. </a:t>
            </a:r>
          </a:p>
          <a:p>
            <a:pPr>
              <a:buFontTx/>
              <a:buAutoNum type="arabicParenR"/>
            </a:pPr>
            <a:r>
              <a:rPr lang="en-US" altLang="en-US"/>
              <a:t>There is no golden model for IP core. We have to check its functionality.</a:t>
            </a:r>
          </a:p>
          <a:p>
            <a:pPr>
              <a:buFontTx/>
              <a:buAutoNum type="arabicParenR"/>
            </a:pPr>
            <a:r>
              <a:rPr lang="en-US" altLang="en-US"/>
              <a:t>We do not know how the layout looks like, if only the HDL is available.</a:t>
            </a:r>
          </a:p>
          <a:p>
            <a:pPr>
              <a:buFontTx/>
              <a:buAutoNum type="arabicParenR"/>
            </a:pPr>
            <a:r>
              <a:rPr lang="en-US" altLang="en-US"/>
              <a:t>Side-channel signal methods are not working for soft IP.</a:t>
            </a:r>
          </a:p>
          <a:p>
            <a:endParaRPr lang="en-US" altLang="en-US"/>
          </a:p>
          <a:p>
            <a:endParaRPr lang="en-US" altLang="en-US"/>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C1308AA-68AE-4251-AD51-15559847DA40}" type="slidenum">
              <a:rPr lang="en-US" altLang="en-US" sz="1300">
                <a:latin typeface="Arial Black" panose="020B0A04020102020204" pitchFamily="34" charset="0"/>
              </a:rPr>
              <a:pPr>
                <a:spcBef>
                  <a:spcPct val="0"/>
                </a:spcBef>
              </a:pPr>
              <a:t>33</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9368081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Soft IP is just RTL HDL code. After synthesis, the code will be translated to gate-level netlist. </a:t>
            </a:r>
          </a:p>
          <a:p>
            <a:r>
              <a:rPr lang="en-US" altLang="en-US"/>
              <a:t>Formal verification and coverage analysis are used to ensure the netlist can be trusted.</a:t>
            </a:r>
          </a:p>
          <a:p>
            <a:r>
              <a:rPr lang="en-US" altLang="en-US"/>
              <a:t>Three types of checking and two types of coverage analysis are described in the following slides.</a:t>
            </a:r>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CC71A78-E974-4756-9B88-E41648E38772}" type="slidenum">
              <a:rPr lang="en-US" altLang="en-US" sz="1300">
                <a:latin typeface="Arial Black" panose="020B0A04020102020204" pitchFamily="34" charset="0"/>
              </a:rPr>
              <a:pPr>
                <a:spcBef>
                  <a:spcPct val="0"/>
                </a:spcBef>
              </a:pPr>
              <a:t>34</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0592689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All functions in the speciﬁcation are deﬁned as properties.</a:t>
            </a:r>
          </a:p>
          <a:p>
            <a:r>
              <a:rPr lang="en-US" altLang="en-US"/>
              <a:t>Formal verification is an algorithmic-based approach to logic verification that exhaustively proves functional properties about a design.</a:t>
            </a:r>
          </a:p>
          <a:p>
            <a:r>
              <a:rPr lang="en-US" altLang="en-US"/>
              <a:t>Property checking: check whether the IP satisfies these properties.</a:t>
            </a:r>
          </a:p>
          <a:p>
            <a:r>
              <a:rPr lang="en-US" altLang="en-US"/>
              <a:t>Equivalence checking: check the equivalence of the RTL code, gate-level netlist, and GDSII file.</a:t>
            </a:r>
          </a:p>
          <a:p>
            <a:r>
              <a:rPr lang="en-US" altLang="en-US"/>
              <a:t>Model checking: Some functionalities are described using System Verilog Property and the corresponding assertion is defined simultaneously. We need to ensure IP core satisfies these properties.</a:t>
            </a: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F4BFFEE-3125-4A81-88E6-5456E13B340F}" type="slidenum">
              <a:rPr lang="en-US" altLang="en-US" sz="1300">
                <a:latin typeface="Arial Black" panose="020B0A04020102020204" pitchFamily="34" charset="0"/>
              </a:rPr>
              <a:pPr>
                <a:spcBef>
                  <a:spcPct val="0"/>
                </a:spcBef>
              </a:pPr>
              <a:t>35</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3276091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Coverage metrics include Code Coverage and Functional Coverage. </a:t>
            </a:r>
          </a:p>
          <a:p>
            <a:r>
              <a:rPr lang="en-US" altLang="en-US"/>
              <a:t>It has many different types but only a few of them are helpful for IP trust, namely line, statement, toggle, and ﬁnite state machine (FSM) coverage.  </a:t>
            </a:r>
          </a:p>
          <a:p>
            <a:r>
              <a:rPr lang="en-US" altLang="en-US"/>
              <a:t>Toggle coverage reports whether signals switch in gate-level netlist while the other three coverage metrics show which line(s) and statement(s) are executed, and whether states in FSM are reached in RTL code during veriﬁcation. </a:t>
            </a:r>
          </a:p>
          <a:p>
            <a:endParaRPr lang="en-US" altLang="en-US"/>
          </a:p>
          <a:p>
            <a:r>
              <a:rPr lang="en-US" altLang="en-US"/>
              <a:t>All the functional requirements can be translated as different types of assertions. Functional coverage checks those assertions to see whether they are successful</a:t>
            </a:r>
          </a:p>
          <a:p>
            <a:r>
              <a:rPr lang="en-US" altLang="en-US"/>
              <a:t>or not. </a:t>
            </a:r>
          </a:p>
          <a:p>
            <a:endParaRPr lang="en-US" altLang="en-US"/>
          </a:p>
          <a:p>
            <a:r>
              <a:rPr lang="en-US" altLang="en-US"/>
              <a:t>If all the assertions generated from the speciﬁcation of the 3PIP are successful and all the coverage metrics such as line, statement, and FSM are 100%, then with a high conﬁdence we can assume that the 3PIP is Trojan-free. Otherwise, the uncovered lines, statements, states in FSM, and signals are considered as suspicious. All the suspicious parts constitute our suspicious list.</a:t>
            </a: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E410647-B14F-415D-9241-79B4B2814DB8}" type="slidenum">
              <a:rPr lang="en-US" altLang="en-US" sz="1300">
                <a:latin typeface="Arial Black" panose="020B0A04020102020204" pitchFamily="34" charset="0"/>
              </a:rPr>
              <a:pPr>
                <a:spcBef>
                  <a:spcPct val="0"/>
                </a:spcBef>
              </a:pPr>
              <a:t>36</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14812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an IP fails any checking and coverage analysis, it is considered as a Trojan-inserted part.</a:t>
            </a:r>
          </a:p>
          <a:p>
            <a:r>
              <a:rPr lang="en-US" altLang="en-US"/>
              <a:t>If the coverage is not 100%, the uncovered parts are still suspicious.</a:t>
            </a: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EE52CC9-1268-4E64-9219-5ED8093E9F73}" type="slidenum">
              <a:rPr lang="en-US" altLang="en-US" sz="1300">
                <a:latin typeface="Arial Black" panose="020B0A04020102020204" pitchFamily="34" charset="0"/>
              </a:rPr>
              <a:pPr>
                <a:spcBef>
                  <a:spcPct val="0"/>
                </a:spcBef>
              </a:pPr>
              <a:t>37</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6449167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can we trust an IP? How can one establish that the IP does exactly as the specification, nothing less and nothing more? </a:t>
            </a:r>
          </a:p>
          <a:p>
            <a:r>
              <a:rPr lang="en-US" altLang="en-US"/>
              <a:t>IP cores from untrusted vendors need to be verified for trust before they are integrated in a system. </a:t>
            </a:r>
          </a:p>
          <a:p>
            <a:r>
              <a:rPr lang="en-US" altLang="en-US"/>
              <a:t>Since IP cores have different formats, different methods should be used. </a:t>
            </a:r>
          </a:p>
          <a:p>
            <a:r>
              <a:rPr lang="en-US" altLang="en-US"/>
              <a:t>Here are challenges to detect Trojans in IP cores. </a:t>
            </a:r>
          </a:p>
          <a:p>
            <a:pPr>
              <a:buFontTx/>
              <a:buAutoNum type="arabicParenR"/>
            </a:pPr>
            <a:r>
              <a:rPr lang="en-US" altLang="en-US"/>
              <a:t>There is no golden model for IP core. We have to check its functionality.</a:t>
            </a:r>
          </a:p>
          <a:p>
            <a:pPr>
              <a:buFontTx/>
              <a:buAutoNum type="arabicParenR"/>
            </a:pPr>
            <a:r>
              <a:rPr lang="en-US" altLang="en-US"/>
              <a:t>We do not know how the layout looks like, if only the HDL is available.</a:t>
            </a:r>
          </a:p>
          <a:p>
            <a:pPr>
              <a:buFontTx/>
              <a:buAutoNum type="arabicParenR"/>
            </a:pPr>
            <a:r>
              <a:rPr lang="en-US" altLang="en-US"/>
              <a:t>Side-channel signal methods are not working for soft IP.</a:t>
            </a:r>
          </a:p>
          <a:p>
            <a:endParaRPr lang="en-US" altLang="en-US"/>
          </a:p>
          <a:p>
            <a:endParaRPr lang="en-US" altLang="en-US"/>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C1308AA-68AE-4251-AD51-15559847DA40}" type="slidenum">
              <a:rPr lang="en-US" altLang="en-US" sz="1300">
                <a:latin typeface="Arial Black" panose="020B0A04020102020204" pitchFamily="34" charset="0"/>
              </a:rPr>
              <a:pPr>
                <a:spcBef>
                  <a:spcPct val="0"/>
                </a:spcBef>
              </a:pPr>
              <a:t>38</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4361197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E6428DE-E974-42C8-877E-1FC1F6504C82}" type="slidenum">
              <a:rPr lang="en-US" altLang="en-US" sz="1300">
                <a:latin typeface="Arial Black" panose="020B0A04020102020204" pitchFamily="34" charset="0"/>
              </a:rPr>
              <a:pPr>
                <a:spcBef>
                  <a:spcPct val="0"/>
                </a:spcBef>
              </a:pPr>
              <a:t>39</a:t>
            </a:fld>
            <a:endParaRPr lang="en-US" altLang="en-US" sz="1300">
              <a:latin typeface="Arial Black" panose="020B0A040201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IC trust issue is that Trojans might be inserted during fabrication phase. The objective is to ensure that the fabricated chip/system will carry out only our desired function and nothing more. Detecting Trojans in these fabricated chips is very challenging due to the following reasons:</a:t>
            </a:r>
          </a:p>
          <a:p>
            <a:r>
              <a:rPr lang="en-US" altLang="en-US"/>
              <a:t>Tiny: Comparing to original design, Trojan</a:t>
            </a:r>
            <a:r>
              <a:rPr lang="ja-JP" altLang="en-US"/>
              <a:t>’</a:t>
            </a:r>
            <a:r>
              <a:rPr lang="en-US" altLang="ja-JP"/>
              <a:t>s size is much smaller. </a:t>
            </a:r>
          </a:p>
          <a:p>
            <a:r>
              <a:rPr lang="en-US" altLang="en-US"/>
              <a:t>Dormant: Some Trojans do not create failure and just leak secret information. Some Trojans are only working under rare condition. In most time, the chip is working same as genuine chip. It is very difficult for us to find out whether it contains Trojan.</a:t>
            </a:r>
          </a:p>
          <a:p>
            <a:r>
              <a:rPr lang="en-US" altLang="en-US"/>
              <a:t>Hard to model: Trojan is intentionally designed and inserted by human beings.  Manufacture defects can be modeled, but Trojan is hard to model. Smart attacker will change their design out of expectation.</a:t>
            </a:r>
          </a:p>
          <a:p>
            <a:r>
              <a:rPr lang="en-US" altLang="en-US"/>
              <a:t>Tradition test and validation methods fail, because they are based on the defect model.</a:t>
            </a:r>
          </a:p>
          <a:p>
            <a:endParaRPr lang="nl-NL" altLang="en-US"/>
          </a:p>
        </p:txBody>
      </p:sp>
    </p:spTree>
    <p:extLst>
      <p:ext uri="{BB962C8B-B14F-4D97-AF65-F5344CB8AC3E}">
        <p14:creationId xmlns:p14="http://schemas.microsoft.com/office/powerpoint/2010/main" val="16072017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overall taxonomy of Trojan detection approaches is shown. They can be broadly classified into destructive and non-destructive approaches. </a:t>
            </a:r>
          </a:p>
          <a:p>
            <a:r>
              <a:rPr lang="en-US" altLang="en-US"/>
              <a:t>Basically, the destructive approach is doing reverse engineering and comparing it with the golden design. If any modification is found, it could be a Trojan-inserted chip. Since the chip is destroyed after destructive inspection, chips need to be sampled and we cannot ensure rest of chips are Trojan-free.</a:t>
            </a:r>
          </a:p>
          <a:p>
            <a:r>
              <a:rPr lang="en-US" altLang="en-US"/>
              <a:t>Non-destructive approach will not damage the chip under test.</a:t>
            </a:r>
          </a:p>
          <a:p>
            <a:endParaRPr lang="en-US" altLang="en-US"/>
          </a:p>
          <a:p>
            <a:endParaRPr lang="en-US" altLang="en-US"/>
          </a:p>
        </p:txBody>
      </p:sp>
      <p:sp>
        <p:nvSpPr>
          <p:cNvPr id="727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4A47E0E-D9EF-412D-8844-68A4968B871D}" type="slidenum">
              <a:rPr lang="en-US" altLang="en-US" sz="1300">
                <a:latin typeface="Arial Black" panose="020B0A04020102020204" pitchFamily="34" charset="0"/>
              </a:rPr>
              <a:pPr>
                <a:spcBef>
                  <a:spcPct val="0"/>
                </a:spcBef>
              </a:pPr>
              <a:t>40</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1974028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400"/>
              <a:t>The non-destructive technique can be classified into run-time monitoring and test-time.  </a:t>
            </a:r>
          </a:p>
          <a:p>
            <a:r>
              <a:rPr lang="en-US" altLang="en-US" sz="2400"/>
              <a:t>Run-time monitoring does not need any extra testing time. Untrusted components might be integrated in the system. Redundant components are added to ensure trust of critical computations. The system can disable the chip upon detection of malicious logic or bypass it to allow reliable operations.</a:t>
            </a:r>
          </a:p>
          <a:p>
            <a:endParaRPr lang="en-US" altLang="en-US" sz="2400"/>
          </a:p>
          <a:p>
            <a:r>
              <a:rPr lang="en-US" altLang="en-US" sz="2400"/>
              <a:t>On the other hand, test-time means that we need to spend extra testing time on Trojan detection.  </a:t>
            </a:r>
          </a:p>
          <a:p>
            <a:r>
              <a:rPr lang="en-US" altLang="en-US"/>
              <a:t>Only trusted ICs are picked to integrated into system.</a:t>
            </a:r>
          </a:p>
          <a:p>
            <a:r>
              <a:rPr lang="en-US" altLang="en-US"/>
              <a:t>Functional and structural testing are used to activate the Trojan and observe faulty logical results from outputs. </a:t>
            </a:r>
          </a:p>
          <a:p>
            <a:r>
              <a:rPr lang="en-US" altLang="en-US"/>
              <a:t>Extra gates induced by Trojans also can impact side-channel signals, such as delay, leakage current, transient current and radiation.</a:t>
            </a:r>
          </a:p>
          <a:p>
            <a:r>
              <a:rPr lang="en-US" altLang="en-US"/>
              <a:t>By comparing side-channel signals, Trojan-inserted chips could be identified. </a:t>
            </a:r>
          </a:p>
          <a:p>
            <a:endParaRPr lang="en-US" altLang="en-US" sz="2000"/>
          </a:p>
          <a:p>
            <a:endParaRPr lang="en-US" altLang="en-US"/>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071897D-3833-45FC-916A-64305D2BA224}" type="slidenum">
              <a:rPr lang="en-US" altLang="en-US" sz="1300">
                <a:latin typeface="Arial Black" panose="020B0A04020102020204" pitchFamily="34" charset="0"/>
              </a:rPr>
              <a:pPr>
                <a:spcBef>
                  <a:spcPct val="0"/>
                </a:spcBef>
              </a:pPr>
              <a:t>41</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048003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400" dirty="0"/>
              <a:t>Before we discuss</a:t>
            </a:r>
            <a:r>
              <a:rPr lang="en-US" altLang="en-US" sz="1400" baseline="0" dirty="0"/>
              <a:t> methods for detecting and/or preventing Trojan insertion, we’ll conclude this background portion of the slides with a brief discussion of benchmarks and their importance.</a:t>
            </a:r>
          </a:p>
          <a:p>
            <a:endParaRPr lang="en-US" altLang="en-US" sz="1400" baseline="0" dirty="0"/>
          </a:p>
          <a:p>
            <a:pPr rtl="0"/>
            <a:r>
              <a:rPr lang="en-US" altLang="en-US" sz="1400" dirty="0"/>
              <a:t>We are all familiar</a:t>
            </a:r>
            <a:r>
              <a:rPr lang="en-US" altLang="en-US" sz="1400" baseline="0" dirty="0"/>
              <a:t> with benchmarks. </a:t>
            </a:r>
            <a:r>
              <a:rPr lang="en-US" sz="1400" kern="1200" dirty="0">
                <a:solidFill>
                  <a:schemeClr val="tx1"/>
                </a:solidFill>
                <a:effectLst/>
                <a:latin typeface="Arial" charset="0"/>
                <a:ea typeface="Lucida Grande"/>
                <a:cs typeface="Lucida Grande"/>
                <a:sym typeface="Lucida Grande"/>
              </a:rPr>
              <a:t>In the scope of the performance analysis of computer systems, we define benchmarking</a:t>
            </a:r>
          </a:p>
          <a:p>
            <a:pPr rtl="0"/>
            <a:r>
              <a:rPr lang="en-US" sz="1400" kern="1200" dirty="0">
                <a:solidFill>
                  <a:schemeClr val="tx1"/>
                </a:solidFill>
                <a:effectLst/>
                <a:latin typeface="Arial" charset="0"/>
                <a:ea typeface="Lucida Grande"/>
                <a:cs typeface="Lucida Grande"/>
                <a:sym typeface="Lucida Grande"/>
              </a:rPr>
              <a:t>as the act of </a:t>
            </a:r>
            <a:r>
              <a:rPr lang="en-US" sz="1400" b="1" kern="1200" dirty="0">
                <a:solidFill>
                  <a:schemeClr val="tx1"/>
                </a:solidFill>
                <a:effectLst/>
                <a:latin typeface="Arial" charset="0"/>
                <a:ea typeface="Lucida Grande"/>
                <a:cs typeface="Lucida Grande"/>
                <a:sym typeface="Lucida Grande"/>
              </a:rPr>
              <a:t>measuring and evaluating computational performance (hardware and/or software), under reference conditions</a:t>
            </a:r>
            <a:r>
              <a:rPr lang="en-US" sz="1400" kern="1200" dirty="0">
                <a:solidFill>
                  <a:schemeClr val="tx1"/>
                </a:solidFill>
                <a:effectLst/>
                <a:latin typeface="Arial" charset="0"/>
                <a:ea typeface="Lucida Grande"/>
                <a:cs typeface="Lucida Grande"/>
                <a:sym typeface="Lucida Grande"/>
              </a:rPr>
              <a:t>, relative to a reference evaluation. The goal of this benchmarking</a:t>
            </a:r>
            <a:r>
              <a:rPr lang="en-US" sz="1400" kern="1200" baseline="0" dirty="0">
                <a:solidFill>
                  <a:schemeClr val="tx1"/>
                </a:solidFill>
                <a:effectLst/>
                <a:latin typeface="Arial" charset="0"/>
                <a:ea typeface="Lucida Grande"/>
                <a:cs typeface="Lucida Grande"/>
                <a:sym typeface="Lucida Grande"/>
              </a:rPr>
              <a:t> </a:t>
            </a:r>
            <a:r>
              <a:rPr lang="en-US" sz="1400" kern="1200" dirty="0">
                <a:solidFill>
                  <a:schemeClr val="tx1"/>
                </a:solidFill>
                <a:effectLst/>
                <a:latin typeface="Arial" charset="0"/>
                <a:ea typeface="Lucida Grande"/>
                <a:cs typeface="Lucida Grande"/>
                <a:sym typeface="Lucida Grande"/>
              </a:rPr>
              <a:t>process is to </a:t>
            </a:r>
            <a:r>
              <a:rPr lang="en-US" sz="1400" b="1" kern="1200" dirty="0">
                <a:solidFill>
                  <a:schemeClr val="tx1"/>
                </a:solidFill>
                <a:effectLst/>
                <a:latin typeface="Arial" charset="0"/>
                <a:ea typeface="Lucida Grande"/>
                <a:cs typeface="Lucida Grande"/>
                <a:sym typeface="Lucida Grande"/>
              </a:rPr>
              <a:t>enable fair comparison between different solutions, </a:t>
            </a:r>
            <a:r>
              <a:rPr lang="en-US" sz="1400" kern="1200" dirty="0">
                <a:solidFill>
                  <a:schemeClr val="tx1"/>
                </a:solidFill>
                <a:effectLst/>
                <a:latin typeface="Arial" charset="0"/>
                <a:ea typeface="Lucida Grande"/>
                <a:cs typeface="Lucida Grande"/>
                <a:sym typeface="Lucida Grande"/>
              </a:rPr>
              <a:t>or between </a:t>
            </a:r>
            <a:r>
              <a:rPr lang="en-US" sz="1400" b="1" kern="1200" dirty="0">
                <a:solidFill>
                  <a:schemeClr val="tx1"/>
                </a:solidFill>
                <a:effectLst/>
                <a:latin typeface="Arial" charset="0"/>
                <a:ea typeface="Lucida Grande"/>
                <a:cs typeface="Lucida Grande"/>
                <a:sym typeface="Lucida Grande"/>
              </a:rPr>
              <a:t>subsequent developments.</a:t>
            </a:r>
            <a:endParaRPr lang="en-US" altLang="en-US" sz="1400" b="1" dirty="0"/>
          </a:p>
          <a:p>
            <a:endParaRPr lang="en-US" altLang="en-US" sz="1400" dirty="0"/>
          </a:p>
          <a:p>
            <a:r>
              <a:rPr lang="en-US" sz="1400" dirty="0">
                <a:effectLst/>
              </a:rPr>
              <a:t>Now you’ve seen</a:t>
            </a:r>
            <a:r>
              <a:rPr lang="en-US" sz="1400" baseline="0" dirty="0">
                <a:effectLst/>
              </a:rPr>
              <a:t> all </a:t>
            </a:r>
            <a:r>
              <a:rPr lang="en-US" sz="1400" dirty="0">
                <a:effectLst/>
              </a:rPr>
              <a:t>the classes</a:t>
            </a:r>
            <a:r>
              <a:rPr lang="en-US" sz="1400" baseline="0" dirty="0">
                <a:effectLst/>
              </a:rPr>
              <a:t> of Trojan attacks and characteristics possible ranging from physical to activation to action. It should be clear that there’s no silver bullet solution to detect and avoid them, but there was also an even greater issue: evaluation. </a:t>
            </a:r>
            <a:r>
              <a:rPr lang="en-US" sz="1400" dirty="0">
                <a:effectLst/>
              </a:rPr>
              <a:t>A multitude of approaches and methodologies were</a:t>
            </a:r>
            <a:r>
              <a:rPr lang="en-US" sz="1400" baseline="0" dirty="0">
                <a:effectLst/>
              </a:rPr>
              <a:t> being developed by</a:t>
            </a:r>
            <a:r>
              <a:rPr lang="en-US" sz="1400" dirty="0">
                <a:effectLst/>
              </a:rPr>
              <a:t> researchers in academia and industry</a:t>
            </a:r>
            <a:r>
              <a:rPr lang="en-US" sz="1400" baseline="0" dirty="0">
                <a:effectLst/>
              </a:rPr>
              <a:t> to deal with hardware Trojans and other problems</a:t>
            </a:r>
            <a:r>
              <a:rPr lang="en-US" sz="1400" dirty="0">
                <a:effectLst/>
              </a:rPr>
              <a:t>, but the </a:t>
            </a:r>
            <a:r>
              <a:rPr lang="en-US" sz="1400" b="1" dirty="0">
                <a:effectLst/>
              </a:rPr>
              <a:t>effectiveness of these methods were not universally accepted and maybe applicable to some designs, some platforms, some technologies but not to others. </a:t>
            </a:r>
            <a:r>
              <a:rPr lang="en-US" sz="1400" dirty="0">
                <a:effectLst/>
              </a:rPr>
              <a:t> </a:t>
            </a:r>
          </a:p>
          <a:p>
            <a:endParaRPr lang="en-US" sz="1400" dirty="0"/>
          </a:p>
          <a:p>
            <a:r>
              <a:rPr lang="en-US" sz="1400" dirty="0"/>
              <a:t>So Prof. Tehranipoor</a:t>
            </a:r>
            <a:r>
              <a:rPr lang="en-US" sz="1400" baseline="0" dirty="0"/>
              <a:t> brought together a bunch of leaders in the community to develop </a:t>
            </a:r>
            <a:r>
              <a:rPr lang="en-US" sz="1400" b="1" baseline="0" dirty="0"/>
              <a:t>a resource </a:t>
            </a:r>
            <a:r>
              <a:rPr lang="en-US" sz="1400" dirty="0"/>
              <a:t>to provide the community with a </a:t>
            </a:r>
            <a:r>
              <a:rPr lang="en-US" sz="1400" b="1" dirty="0"/>
              <a:t>forum to exchange ideas, benchmark</a:t>
            </a:r>
            <a:r>
              <a:rPr lang="en-US" sz="1400" b="1" baseline="0" dirty="0"/>
              <a:t> </a:t>
            </a:r>
            <a:r>
              <a:rPr lang="en-US" sz="1400" b="1" dirty="0"/>
              <a:t>circuits, platforms, tools, and resources</a:t>
            </a:r>
            <a:r>
              <a:rPr lang="en-US" sz="1400" dirty="0"/>
              <a:t>. The</a:t>
            </a:r>
            <a:r>
              <a:rPr lang="en-US" sz="1400" baseline="0" dirty="0"/>
              <a:t> resource is</a:t>
            </a:r>
            <a:r>
              <a:rPr lang="en-US" sz="1400" dirty="0"/>
              <a:t> website called </a:t>
            </a:r>
            <a:r>
              <a:rPr lang="en-US" sz="1400" b="1" dirty="0"/>
              <a:t>Trust-hub.org</a:t>
            </a:r>
            <a:r>
              <a:rPr lang="en-US" sz="1400" baseline="0" dirty="0"/>
              <a:t> and i</a:t>
            </a:r>
            <a:r>
              <a:rPr lang="en-US" sz="1400" dirty="0"/>
              <a:t>t hosts various resources which will help you learn about your science area, including online presentations, courses, learning modules, animations, teaching materials, and more. It also includes information about community activities such as technical events, workshops, seminars, and news stories.</a:t>
            </a:r>
            <a:r>
              <a:rPr lang="en-US" sz="1400" baseline="0" dirty="0"/>
              <a:t> </a:t>
            </a:r>
          </a:p>
          <a:p>
            <a:endParaRPr lang="en-US" sz="1400" baseline="0" dirty="0"/>
          </a:p>
          <a:p>
            <a:r>
              <a:rPr lang="en-US" sz="1400" baseline="0" dirty="0"/>
              <a:t>With respect to Trojans, </a:t>
            </a:r>
            <a:r>
              <a:rPr lang="en-US" sz="1400" dirty="0"/>
              <a:t>Trust-HUB provides</a:t>
            </a:r>
            <a:r>
              <a:rPr lang="en-US" sz="1400" baseline="0" dirty="0"/>
              <a:t> more than 80 Trojan benchmarks (free to the public) which vary based on point of insertion, activation characteristics, actions, etc.</a:t>
            </a:r>
            <a:r>
              <a:rPr lang="en-US" sz="1400" dirty="0"/>
              <a:t> This provides a much </a:t>
            </a:r>
            <a:r>
              <a:rPr lang="en-US" sz="1400" b="1" dirty="0"/>
              <a:t>needed baseline for examining various methods </a:t>
            </a:r>
            <a:r>
              <a:rPr lang="en-US" sz="1400" dirty="0"/>
              <a:t>developed by researchers in academia and industry, establishing a sound basis for the hardness of each design instance, and providing common platforms that can enable effective implementation of methodologies and </a:t>
            </a:r>
            <a:r>
              <a:rPr lang="en-US" sz="1400" b="1" dirty="0"/>
              <a:t>allow for </a:t>
            </a:r>
            <a:r>
              <a:rPr lang="en-US" sz="1400" b="1" dirty="0" err="1"/>
              <a:t>repeatabilty</a:t>
            </a:r>
            <a:r>
              <a:rPr lang="en-US" sz="1400" b="1" baseline="0" dirty="0"/>
              <a:t> </a:t>
            </a:r>
            <a:r>
              <a:rPr lang="en-US" sz="1400" baseline="0" dirty="0"/>
              <a:t>of experiments</a:t>
            </a:r>
            <a:r>
              <a:rPr lang="en-US" sz="1400" dirty="0"/>
              <a:t>. </a:t>
            </a:r>
          </a:p>
          <a:p>
            <a:endParaRPr lang="en-US" altLang="en-US" sz="1400" dirty="0"/>
          </a:p>
          <a:p>
            <a:r>
              <a:rPr lang="en-US" altLang="en-US" sz="1400" dirty="0"/>
              <a:t>If you are interested in performing research in this area,</a:t>
            </a:r>
            <a:r>
              <a:rPr lang="en-US" altLang="en-US" sz="1400" baseline="0" dirty="0"/>
              <a:t> </a:t>
            </a:r>
            <a:r>
              <a:rPr lang="en-US" altLang="en-US" sz="1400" b="1" baseline="0" dirty="0"/>
              <a:t>w</a:t>
            </a:r>
            <a:r>
              <a:rPr lang="en-US" altLang="en-US" sz="1400" b="1" dirty="0"/>
              <a:t>e</a:t>
            </a:r>
            <a:r>
              <a:rPr lang="en-US" altLang="en-US" sz="1400" b="1" baseline="0" dirty="0"/>
              <a:t> strongly encourage </a:t>
            </a:r>
            <a:r>
              <a:rPr lang="en-US" altLang="en-US" sz="1400" baseline="0" dirty="0"/>
              <a:t>you to have a look have a look at the benchmarks available on trust-hub, to use them in your research, and to develop your own benchmarks and submit them for use in the community as well.</a:t>
            </a:r>
            <a:endParaRPr lang="en-US" altLang="en-US" sz="1400" dirty="0"/>
          </a:p>
          <a:p>
            <a:endParaRPr lang="en-US" sz="1400" dirty="0"/>
          </a:p>
        </p:txBody>
      </p:sp>
    </p:spTree>
    <p:extLst>
      <p:ext uri="{BB962C8B-B14F-4D97-AF65-F5344CB8AC3E}">
        <p14:creationId xmlns:p14="http://schemas.microsoft.com/office/powerpoint/2010/main" val="11599717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US" altLang="en-US" sz="2000"/>
              <a:t>Logic-testing approach is a very straight-forward. We try to trigger the Trojan and see what happens.</a:t>
            </a:r>
          </a:p>
          <a:p>
            <a:pPr marL="0" lvl="1"/>
            <a:r>
              <a:rPr lang="en-US" altLang="en-US" sz="2000"/>
              <a:t>The difficulty is how to activate Trojan and observe its effect. We know many nets in complex design are hard-to-reach or hard-to-observe.</a:t>
            </a:r>
          </a:p>
          <a:p>
            <a:pPr marL="0" lvl="1"/>
            <a:r>
              <a:rPr lang="en-US" altLang="en-US" sz="2000"/>
              <a:t>In order to hide Trojans</a:t>
            </a:r>
            <a:r>
              <a:rPr lang="ja-JP" altLang="en-US" sz="2000"/>
              <a:t>’</a:t>
            </a:r>
            <a:r>
              <a:rPr lang="en-US" altLang="ja-JP" sz="2000"/>
              <a:t> effect, we can expect that Trojans can only be triggered under very rare conditions.</a:t>
            </a:r>
          </a:p>
          <a:p>
            <a:pPr marL="0" lvl="1"/>
            <a:r>
              <a:rPr lang="en-US" altLang="en-US" sz="2000"/>
              <a:t>For some Trojans which are activated externally or transmitting information by antenna, this method fails to detect them.</a:t>
            </a:r>
          </a:p>
          <a:p>
            <a:pPr marL="0" lvl="1"/>
            <a:r>
              <a:rPr lang="en-US" altLang="en-US" sz="2000"/>
              <a:t>#Stuck-at-fault: manufacturing defects are typically modeled as stuck-at-faults where an internal node is stuck at a particular logic value.</a:t>
            </a:r>
          </a:p>
          <a:p>
            <a:endParaRPr lang="en-US" altLang="en-US"/>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4DA36F4-BFC7-4E6F-9F77-96116A53093D}" type="slidenum">
              <a:rPr lang="en-US" altLang="en-US" sz="1300">
                <a:latin typeface="Arial Black" panose="020B0A04020102020204" pitchFamily="34" charset="0"/>
              </a:rPr>
              <a:pPr>
                <a:spcBef>
                  <a:spcPct val="0"/>
                </a:spcBef>
              </a:pPr>
              <a:t>43</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8913827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Exhaustively testing functions by using functional patterns is not practical. </a:t>
            </a:r>
          </a:p>
          <a:p>
            <a:r>
              <a:rPr lang="en-US" altLang="en-US"/>
              <a:t>Structure tests are used.</a:t>
            </a: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FE29B62-14C2-4845-8E3F-D157B3452E9E}" type="slidenum">
              <a:rPr lang="en-US" altLang="en-US" sz="1300">
                <a:latin typeface="Arial Black" panose="020B0A04020102020204" pitchFamily="34" charset="0"/>
              </a:rPr>
              <a:pPr>
                <a:spcBef>
                  <a:spcPct val="0"/>
                </a:spcBef>
              </a:pPr>
              <a:t>44</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0258782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603E95A3-673E-43F9-AC01-6ABBA7EED6F4}" type="slidenum">
              <a:rPr lang="en-US" altLang="en-US">
                <a:solidFill>
                  <a:srgbClr val="000000"/>
                </a:solidFill>
              </a:rPr>
              <a:pPr/>
              <a:t>45</a:t>
            </a:fld>
            <a:endParaRPr lang="en-US" altLang="en-US">
              <a:solidFill>
                <a:srgbClr val="000000"/>
              </a:solidFill>
            </a:endParaRPr>
          </a:p>
        </p:txBody>
      </p:sp>
    </p:spTree>
    <p:extLst>
      <p:ext uri="{BB962C8B-B14F-4D97-AF65-F5344CB8AC3E}">
        <p14:creationId xmlns:p14="http://schemas.microsoft.com/office/powerpoint/2010/main" val="8166925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One-time trigger cannot ensure the Trojan will be activated. </a:t>
            </a:r>
          </a:p>
          <a:p>
            <a:r>
              <a:rPr lang="en-US" altLang="en-US"/>
              <a:t>A new test vector generation technique was proposed to increase the test coverage.</a:t>
            </a:r>
          </a:p>
          <a:p>
            <a:r>
              <a:rPr lang="en-US" altLang="en-US"/>
              <a:t>It is still effective for sequential Trojans. </a:t>
            </a:r>
          </a:p>
          <a:p>
            <a:r>
              <a:rPr lang="en-US" altLang="en-US"/>
              <a:t>The Trojan detection coverage increases for higher values of </a:t>
            </a:r>
            <a:r>
              <a:rPr lang="ja-JP" altLang="en-US"/>
              <a:t>“</a:t>
            </a:r>
            <a:r>
              <a:rPr lang="en-US" altLang="ja-JP"/>
              <a:t>N</a:t>
            </a:r>
            <a:r>
              <a:rPr lang="ja-JP" altLang="en-US"/>
              <a:t>”</a:t>
            </a:r>
            <a:r>
              <a:rPr lang="en-US" altLang="ja-JP"/>
              <a:t>, at the cost of increased test length.</a:t>
            </a:r>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90D6E1B-A48A-43F1-8E21-07B9DE4FC7F0}" type="slidenum">
              <a:rPr lang="en-US" altLang="en-US" sz="1300">
                <a:latin typeface="Arial Black" panose="020B0A04020102020204" pitchFamily="34" charset="0"/>
              </a:rPr>
              <a:pPr>
                <a:spcBef>
                  <a:spcPct val="0"/>
                </a:spcBef>
              </a:pPr>
              <a:t>46</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5336849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can we trust an IP? How can one establish that the IP does exactly as the specification, nothing less and nothing more? </a:t>
            </a:r>
          </a:p>
          <a:p>
            <a:r>
              <a:rPr lang="en-US" altLang="en-US"/>
              <a:t>IP cores from untrusted vendors need to be verified for trust before they are integrated in a system. </a:t>
            </a:r>
          </a:p>
          <a:p>
            <a:r>
              <a:rPr lang="en-US" altLang="en-US"/>
              <a:t>Since IP cores have different formats, different methods should be used. </a:t>
            </a:r>
          </a:p>
          <a:p>
            <a:r>
              <a:rPr lang="en-US" altLang="en-US"/>
              <a:t>Here are challenges to detect Trojans in IP cores. </a:t>
            </a:r>
          </a:p>
          <a:p>
            <a:pPr>
              <a:buFontTx/>
              <a:buAutoNum type="arabicParenR"/>
            </a:pPr>
            <a:r>
              <a:rPr lang="en-US" altLang="en-US"/>
              <a:t>There is no golden model for IP core. We have to check its functionality.</a:t>
            </a:r>
          </a:p>
          <a:p>
            <a:pPr>
              <a:buFontTx/>
              <a:buAutoNum type="arabicParenR"/>
            </a:pPr>
            <a:r>
              <a:rPr lang="en-US" altLang="en-US"/>
              <a:t>We do not know how the layout looks like, if only the HDL is available.</a:t>
            </a:r>
          </a:p>
          <a:p>
            <a:pPr>
              <a:buFontTx/>
              <a:buAutoNum type="arabicParenR"/>
            </a:pPr>
            <a:r>
              <a:rPr lang="en-US" altLang="en-US"/>
              <a:t>Side-channel signal methods are not working for soft IP.</a:t>
            </a:r>
          </a:p>
          <a:p>
            <a:endParaRPr lang="en-US" altLang="en-US"/>
          </a:p>
          <a:p>
            <a:endParaRPr lang="en-US" altLang="en-US"/>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C1308AA-68AE-4251-AD51-15559847DA40}" type="slidenum">
              <a:rPr lang="en-US" altLang="en-US" sz="1300">
                <a:latin typeface="Arial Black" panose="020B0A04020102020204" pitchFamily="34" charset="0"/>
              </a:rPr>
              <a:pPr>
                <a:spcBef>
                  <a:spcPct val="0"/>
                </a:spcBef>
              </a:pPr>
              <a:t>47</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13398591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44477B9-D46B-4DA0-BBB2-2D5E6FCDB934}" type="slidenum">
              <a:rPr lang="en-US" altLang="en-US" sz="1300">
                <a:latin typeface="Arial Black" panose="020B0A04020102020204" pitchFamily="34" charset="0"/>
              </a:rPr>
              <a:pPr>
                <a:spcBef>
                  <a:spcPct val="0"/>
                </a:spcBef>
              </a:pPr>
              <a:t>48</a:t>
            </a:fld>
            <a:endParaRPr lang="en-US" altLang="en-US" sz="1300">
              <a:latin typeface="Arial Black" panose="020B0A04020102020204" pitchFamily="34"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en-US"/>
              <a:t>An example of IDDT (transient current) Trojan detection method is presented. </a:t>
            </a:r>
          </a:p>
          <a:p>
            <a:r>
              <a:rPr lang="nl-NL" altLang="en-US"/>
              <a:t>Extra transient current is induced by Trojan with partial activation.</a:t>
            </a:r>
          </a:p>
          <a:p>
            <a:r>
              <a:rPr lang="nl-NL" altLang="en-US"/>
              <a:t>More switchings in Trojan can draw more current and make Trojan detection easier.</a:t>
            </a:r>
          </a:p>
        </p:txBody>
      </p:sp>
    </p:spTree>
    <p:extLst>
      <p:ext uri="{BB962C8B-B14F-4D97-AF65-F5344CB8AC3E}">
        <p14:creationId xmlns:p14="http://schemas.microsoft.com/office/powerpoint/2010/main" val="2393489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a:ln/>
        </p:spPr>
      </p:sp>
      <p:sp>
        <p:nvSpPr>
          <p:cNvPr id="10445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0445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247DF20-1F2C-4EFC-B3D5-C1A26CA14679}" type="slidenum">
              <a:rPr lang="en-US" altLang="en-US" sz="1200">
                <a:solidFill>
                  <a:srgbClr val="000000"/>
                </a:solidFill>
              </a:rPr>
              <a:pPr/>
              <a:t>49</a:t>
            </a:fld>
            <a:endParaRPr lang="en-US" altLang="en-US" sz="1200">
              <a:solidFill>
                <a:srgbClr val="000000"/>
              </a:solidFill>
            </a:endParaRPr>
          </a:p>
        </p:txBody>
      </p:sp>
    </p:spTree>
    <p:extLst>
      <p:ext uri="{BB962C8B-B14F-4D97-AF65-F5344CB8AC3E}">
        <p14:creationId xmlns:p14="http://schemas.microsoft.com/office/powerpoint/2010/main" val="36806259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Additional gates induced by Trojans will impact some physical parameters, such as IDDQ, DDT, delay and EM.</a:t>
            </a:r>
          </a:p>
          <a:p>
            <a:endParaRPr lang="en-US" altLang="en-US"/>
          </a:p>
          <a:p>
            <a:r>
              <a:rPr lang="en-US" altLang="en-US"/>
              <a:t>Full Trojan activation is not required. For power and EM, partial activation is needed. For path delay, activation is not required, because gates and capacitance are already added on a path.</a:t>
            </a:r>
          </a:p>
          <a:p>
            <a:endParaRPr lang="en-US" altLang="en-US"/>
          </a:p>
          <a:p>
            <a:r>
              <a:rPr lang="en-US" altLang="en-US"/>
              <a:t>Process variation might mask Trojan</a:t>
            </a:r>
            <a:r>
              <a:rPr lang="ja-JP" altLang="en-US"/>
              <a:t>’</a:t>
            </a:r>
            <a:r>
              <a:rPr lang="en-US" altLang="ja-JP"/>
              <a:t>s effect. Existing side-channel approaches tend to perform process calibration by using normalization (or process-corner estimation) and measurement noise calibration by averaging over multiple measurements to get rid of random noise. </a:t>
            </a:r>
          </a:p>
          <a:p>
            <a:r>
              <a:rPr lang="en-US" altLang="en-US"/>
              <a:t>In order to get rid of inter-die variations and calibrate systematic intra-die variations, region-based approaches are used where measurements from multiple power pins corresponding to activation of distinct regions, help to compare the measured parameter from the same IC under different circumstances. </a:t>
            </a:r>
          </a:p>
          <a:p>
            <a:r>
              <a:rPr lang="en-US" altLang="en-US"/>
              <a:t>Statistical signal processing techniques can be used to calibrate the process noise and reduce the measured side-channel parameter to be close to the nominal value, for all ICs.</a:t>
            </a:r>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037A555-793C-4C53-85B0-C59C525DED0D}" type="slidenum">
              <a:rPr lang="en-US" altLang="en-US" sz="1300">
                <a:latin typeface="Arial Black" panose="020B0A04020102020204" pitchFamily="34" charset="0"/>
              </a:rPr>
              <a:pPr>
                <a:spcBef>
                  <a:spcPct val="0"/>
                </a:spcBef>
              </a:pPr>
              <a:t>50</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2450538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a:ln/>
        </p:spPr>
      </p:sp>
      <p:sp>
        <p:nvSpPr>
          <p:cNvPr id="10649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06499" name="Slide Number Placeholder 3"/>
          <p:cNvSpPr txBox="1">
            <a:spLocks noGrp="1"/>
          </p:cNvSpPr>
          <p:nvPr/>
        </p:nvSpPr>
        <p:spPr bwMode="auto">
          <a:xfrm>
            <a:off x="3884613" y="8683625"/>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4" tIns="45713" rIns="91424" bIns="45713" anchor="b"/>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fld id="{F8F6D18E-CFE7-4F02-A05F-53FBC5A911B4}" type="slidenum">
              <a:rPr lang="en-US" altLang="en-US" sz="1100">
                <a:solidFill>
                  <a:srgbClr val="000000"/>
                </a:solidFill>
                <a:cs typeface="Arial" panose="020B0604020202020204" pitchFamily="34" charset="0"/>
              </a:rPr>
              <a:pPr algn="r" eaLnBrk="1" hangingPunct="1"/>
              <a:t>53</a:t>
            </a:fld>
            <a:endParaRPr lang="en-US" altLang="en-US" sz="1100">
              <a:solidFill>
                <a:srgbClr val="000000"/>
              </a:solidFill>
              <a:cs typeface="Arial" panose="020B0604020202020204" pitchFamily="34" charset="0"/>
            </a:endParaRPr>
          </a:p>
        </p:txBody>
      </p:sp>
    </p:spTree>
    <p:extLst>
      <p:ext uri="{BB962C8B-B14F-4D97-AF65-F5344CB8AC3E}">
        <p14:creationId xmlns:p14="http://schemas.microsoft.com/office/powerpoint/2010/main" val="41644022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47A0127-8AC2-4E06-A028-0E5973BBE8B1}" type="slidenum">
              <a:rPr lang="en-US" altLang="en-US" sz="1300">
                <a:latin typeface="Arial Black" panose="020B0A04020102020204" pitchFamily="34" charset="0"/>
              </a:rPr>
              <a:pPr>
                <a:spcBef>
                  <a:spcPct val="0"/>
                </a:spcBef>
              </a:pPr>
              <a:t>54</a:t>
            </a:fld>
            <a:endParaRPr lang="en-US" altLang="en-US" sz="1300">
              <a:latin typeface="Arial Black" panose="020B0A0402010202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en-US"/>
              <a:t>RC model is used to simulate the power distribution network.</a:t>
            </a:r>
          </a:p>
          <a:p>
            <a:r>
              <a:rPr lang="nl-NL" altLang="en-US"/>
              <a:t>High switchings at one location will draw more current from power pad nearby.</a:t>
            </a:r>
          </a:p>
        </p:txBody>
      </p:sp>
    </p:spTree>
    <p:extLst>
      <p:ext uri="{BB962C8B-B14F-4D97-AF65-F5344CB8AC3E}">
        <p14:creationId xmlns:p14="http://schemas.microsoft.com/office/powerpoint/2010/main" val="29103458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BB08040-7238-4336-B57E-F3E34E80732D}" type="slidenum">
              <a:rPr lang="en-US" altLang="en-US" sz="1300">
                <a:latin typeface="Arial Black" panose="020B0A04020102020204" pitchFamily="34" charset="0"/>
              </a:rPr>
              <a:pPr>
                <a:spcBef>
                  <a:spcPct val="0"/>
                </a:spcBef>
              </a:pPr>
              <a:t>55</a:t>
            </a:fld>
            <a:endParaRPr lang="en-US" altLang="en-US" sz="1300">
              <a:latin typeface="Arial Black" panose="020B0A04020102020204"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en-US"/>
              <a:t>Supply current difference between a Trojan-inserted chip and a Trojan-free chip can indicate the exsitence and location of Trojans.</a:t>
            </a:r>
          </a:p>
        </p:txBody>
      </p:sp>
    </p:spTree>
    <p:extLst>
      <p:ext uri="{BB962C8B-B14F-4D97-AF65-F5344CB8AC3E}">
        <p14:creationId xmlns:p14="http://schemas.microsoft.com/office/powerpoint/2010/main" val="1345560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Current integration is used to differentiate Trojan-free and Trojan-inserted ICs.</a:t>
            </a:r>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654BC5B-8F8C-451A-BD1E-A1C663219AAC}" type="slidenum">
              <a:rPr lang="en-US" altLang="en-US" sz="1300">
                <a:latin typeface="Arial Black" panose="020B0A04020102020204" pitchFamily="34" charset="0"/>
              </a:rPr>
              <a:pPr>
                <a:spcBef>
                  <a:spcPct val="0"/>
                </a:spcBef>
              </a:pPr>
              <a:t>56</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8816765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866D196-D5CC-427F-B6CB-FD337A654A26}" type="slidenum">
              <a:rPr lang="en-US" altLang="en-US" sz="1300">
                <a:latin typeface="Arial Black" panose="020B0A04020102020204" pitchFamily="34" charset="0"/>
              </a:rPr>
              <a:pPr>
                <a:spcBef>
                  <a:spcPct val="0"/>
                </a:spcBef>
              </a:pPr>
              <a:t>57</a:t>
            </a:fld>
            <a:endParaRPr lang="en-US" altLang="en-US" sz="1300">
              <a:latin typeface="Arial Black" panose="020B0A04020102020204" pitchFamily="34"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extLst>
      <p:ext uri="{BB962C8B-B14F-4D97-AF65-F5344CB8AC3E}">
        <p14:creationId xmlns:p14="http://schemas.microsoft.com/office/powerpoint/2010/main" val="28207495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E524DAF-4EDC-4FF3-AA30-86271FC59939}" type="slidenum">
              <a:rPr lang="en-US" altLang="en-US" sz="1300">
                <a:latin typeface="Arial Black" panose="020B0A04020102020204" pitchFamily="34" charset="0"/>
              </a:rPr>
              <a:pPr>
                <a:spcBef>
                  <a:spcPct val="0"/>
                </a:spcBef>
              </a:pPr>
              <a:t>58</a:t>
            </a:fld>
            <a:endParaRPr lang="en-US" altLang="en-US" sz="1300">
              <a:latin typeface="Arial Black" panose="020B0A04020102020204"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en-US"/>
              <a:t>Some types of Trojan, such as distributed Trojan, are hard to be detected by using power.</a:t>
            </a:r>
          </a:p>
          <a:p>
            <a:r>
              <a:rPr lang="nl-NL" altLang="en-US"/>
              <a:t>Additional capacitances or gates from Trojans will increase path delay.</a:t>
            </a:r>
          </a:p>
        </p:txBody>
      </p:sp>
    </p:spTree>
    <p:extLst>
      <p:ext uri="{BB962C8B-B14F-4D97-AF65-F5344CB8AC3E}">
        <p14:creationId xmlns:p14="http://schemas.microsoft.com/office/powerpoint/2010/main" val="29632455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shadow register is located in parallel with the destination register at which a path ends. Different from the system clock, shadow registers are controlled by a negative-skewed clock signal the shadow clock. The frequency and phase of the system clock are kept constant in order to maintain the functionality of the original circuit even when in delay testing mode. The shadow clock has the same frequency as the system clock but its phase is adjustable. </a:t>
            </a:r>
          </a:p>
          <a:p>
            <a:endParaRPr lang="en-US" altLang="en-US"/>
          </a:p>
          <a:p>
            <a:r>
              <a:rPr lang="en-US" altLang="en-US"/>
              <a:t>Limitation:</a:t>
            </a:r>
          </a:p>
          <a:p>
            <a:pPr>
              <a:buFontTx/>
              <a:buAutoNum type="arabicParenR"/>
            </a:pPr>
            <a:r>
              <a:rPr lang="en-US" altLang="en-US"/>
              <a:t>Need to a very accurate clock signal</a:t>
            </a:r>
          </a:p>
          <a:p>
            <a:pPr>
              <a:buFontTx/>
              <a:buAutoNum type="arabicParenR"/>
            </a:pPr>
            <a:r>
              <a:rPr lang="en-US" altLang="en-US"/>
              <a:t>High overhead</a:t>
            </a:r>
          </a:p>
          <a:p>
            <a:pPr>
              <a:buFontTx/>
              <a:buAutoNum type="arabicParenR"/>
            </a:pPr>
            <a:r>
              <a:rPr lang="en-US" altLang="en-US"/>
              <a:t>PV can easily deteriorate this method.</a:t>
            </a: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CCF16CF-774C-4F12-9B60-A5876AA4C7B5}" type="slidenum">
              <a:rPr lang="en-US" altLang="en-US" sz="1300">
                <a:latin typeface="Arial Black" panose="020B0A04020102020204" pitchFamily="34" charset="0"/>
              </a:rPr>
              <a:pPr>
                <a:spcBef>
                  <a:spcPct val="0"/>
                </a:spcBef>
              </a:pPr>
              <a:t>59</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8373208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detect the small delay change caused by Trojan, clock sweeping technique is proposed.</a:t>
            </a:r>
          </a:p>
          <a:p>
            <a:r>
              <a:rPr lang="en-US" altLang="en-US"/>
              <a:t>It uses different clock frequencies to measure length of path.</a:t>
            </a: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BCDD10E-8F4C-44E0-81E7-AF42D53964A7}" type="slidenum">
              <a:rPr lang="en-US" altLang="en-US" sz="1300">
                <a:latin typeface="Arial Black" panose="020B0A04020102020204" pitchFamily="34" charset="0"/>
              </a:rPr>
              <a:pPr>
                <a:spcBef>
                  <a:spcPct val="0"/>
                </a:spcBef>
              </a:pPr>
              <a:t>60</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1747307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5664285-E896-4CA1-BFFF-EC393184DBCC}" type="slidenum">
              <a:rPr lang="en-US" altLang="en-US" sz="1300">
                <a:latin typeface="Arial Black" panose="020B0A04020102020204" pitchFamily="34" charset="0"/>
              </a:rPr>
              <a:pPr>
                <a:spcBef>
                  <a:spcPct val="0"/>
                </a:spcBef>
              </a:pPr>
              <a:t>61</a:t>
            </a:fld>
            <a:endParaRPr lang="en-US" altLang="en-US" sz="1300">
              <a:latin typeface="Arial Black" panose="020B0A0402010202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extLst>
      <p:ext uri="{BB962C8B-B14F-4D97-AF65-F5344CB8AC3E}">
        <p14:creationId xmlns:p14="http://schemas.microsoft.com/office/powerpoint/2010/main" val="41142688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8E84539-EF84-4541-81F6-0F60C4F48460}" type="slidenum">
              <a:rPr lang="en-US" altLang="en-US" sz="1300">
                <a:latin typeface="Arial Black" panose="020B0A04020102020204" pitchFamily="34" charset="0"/>
              </a:rPr>
              <a:pPr>
                <a:spcBef>
                  <a:spcPct val="0"/>
                </a:spcBef>
              </a:pPr>
              <a:t>62</a:t>
            </a:fld>
            <a:endParaRPr lang="en-US" altLang="en-US" sz="1300">
              <a:latin typeface="Arial Black" panose="020B0A04020102020204"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extLst>
      <p:ext uri="{BB962C8B-B14F-4D97-AF65-F5344CB8AC3E}">
        <p14:creationId xmlns:p14="http://schemas.microsoft.com/office/powerpoint/2010/main" val="33173014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Detecting such a low-overhead and quiet Trojan is extremely challenging, so some design for hardware trust methods are proposed to change the design for facilitating Trojan detection and preventing Trojan insertion.</a:t>
            </a:r>
          </a:p>
          <a:p>
            <a:endParaRPr lang="en-US" altLang="en-US"/>
          </a:p>
          <a:p>
            <a:r>
              <a:rPr lang="en-US" altLang="en-US"/>
              <a:t>Hard-to-activated Trojans are not easy to be detected by using either full activation methods or side-channel signal methods.</a:t>
            </a:r>
          </a:p>
          <a:p>
            <a:r>
              <a:rPr lang="en-US" altLang="en-US"/>
              <a:t>Some techniques can improve sensitive to power and delay or remove low controllability/observability nets in the design.</a:t>
            </a:r>
          </a:p>
          <a:p>
            <a:r>
              <a:rPr lang="en-US" altLang="en-US"/>
              <a:t>Other techniques can make adversary difficult to insert hardware Trojans.</a:t>
            </a:r>
          </a:p>
          <a:p>
            <a:endParaRPr lang="en-US" altLang="en-US"/>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3438A91-9920-42C0-B5DD-CEFD0BFD57BF}" type="slidenum">
              <a:rPr lang="en-US" altLang="en-US" sz="1300">
                <a:latin typeface="Arial Black" panose="020B0A04020102020204" pitchFamily="34" charset="0"/>
              </a:rPr>
              <a:pPr>
                <a:spcBef>
                  <a:spcPct val="0"/>
                </a:spcBef>
              </a:pPr>
              <a:t>64</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7052127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116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8B11BFB-F6E4-4278-9C69-EC2B3CB17AA2}" type="slidenum">
              <a:rPr lang="en-US" altLang="en-US" sz="1300">
                <a:latin typeface="Arial Black" panose="020B0A04020102020204" pitchFamily="34" charset="0"/>
              </a:rPr>
              <a:pPr>
                <a:spcBef>
                  <a:spcPct val="0"/>
                </a:spcBef>
              </a:pPr>
              <a:t>65</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35157761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27BD299-23B1-41E5-97FF-F18388A3E743}" type="slidenum">
              <a:rPr lang="en-US" altLang="en-US" sz="1300">
                <a:latin typeface="Arial Black" panose="020B0A04020102020204" pitchFamily="34" charset="0"/>
              </a:rPr>
              <a:pPr>
                <a:spcBef>
                  <a:spcPct val="0"/>
                </a:spcBef>
              </a:pPr>
              <a:t>66</a:t>
            </a:fld>
            <a:endParaRPr lang="en-US" altLang="en-US" sz="1300">
              <a:latin typeface="Arial Black" panose="020B0A04020102020204"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en-US"/>
              <a:t>To increase transition probability of nets whose transition probability is lower than a sepcific probability threshold, some efficient dummy flip-flops are inserted at these nets.</a:t>
            </a:r>
          </a:p>
          <a:p>
            <a:r>
              <a:rPr lang="nl-NL" altLang="en-US"/>
              <a:t>In the figure, for each net the first value is probability of “0” and the second value is probability of “1”.</a:t>
            </a:r>
          </a:p>
          <a:p>
            <a:r>
              <a:rPr lang="nl-NL" altLang="en-US"/>
              <a:t>In figure a, the transition probability of Trojan gate is low because of low transition probability on two inputs.</a:t>
            </a:r>
          </a:p>
          <a:p>
            <a:r>
              <a:rPr lang="nl-NL" altLang="en-US"/>
              <a:t>If one dummy filp-flop is inserted at the first input in figure b, the transition probability of Trojan gate increases, so that it can be activated easier.</a:t>
            </a:r>
          </a:p>
          <a:p>
            <a:endParaRPr lang="nl-NL" altLang="en-US"/>
          </a:p>
        </p:txBody>
      </p:sp>
    </p:spTree>
    <p:extLst>
      <p:ext uri="{BB962C8B-B14F-4D97-AF65-F5344CB8AC3E}">
        <p14:creationId xmlns:p14="http://schemas.microsoft.com/office/powerpoint/2010/main" val="9739105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BD0288F-EC3D-40DF-AB49-618D4BF404C1}" type="slidenum">
              <a:rPr lang="en-US" altLang="en-US" sz="1300">
                <a:latin typeface="Arial Black" panose="020B0A04020102020204" pitchFamily="34" charset="0"/>
              </a:rPr>
              <a:pPr>
                <a:spcBef>
                  <a:spcPct val="0"/>
                </a:spcBef>
              </a:pPr>
              <a:t>67</a:t>
            </a:fld>
            <a:endParaRPr lang="en-US" altLang="en-US" sz="1300">
              <a:latin typeface="Arial Black" panose="020B0A0402010202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en-US"/>
              <a:t>Dummy flip-flops insertion technique is useful in full activation, power-based, and delay-based hardware Trojan detection methods.</a:t>
            </a:r>
          </a:p>
        </p:txBody>
      </p:sp>
    </p:spTree>
    <p:extLst>
      <p:ext uri="{BB962C8B-B14F-4D97-AF65-F5344CB8AC3E}">
        <p14:creationId xmlns:p14="http://schemas.microsoft.com/office/powerpoint/2010/main" val="24965014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Design obfuscation means that a design will be transformed to another one which is  functionally equivalent to the original, but in which it is much harder for attackers to obtain complete understanding of the internal logic, making reverse engineering much more difﬁcult to perform. </a:t>
            </a:r>
          </a:p>
          <a:p>
            <a:endParaRPr lang="en-US" altLang="en-US"/>
          </a:p>
          <a:p>
            <a:r>
              <a:rPr lang="en-US" altLang="en-US">
                <a:latin typeface="Arial" panose="020B0604020202020204" pitchFamily="34" charset="0"/>
                <a:cs typeface="Arial" panose="020B0604020202020204" pitchFamily="34" charset="0"/>
              </a:rPr>
              <a:t>The authors propose a Trojan prevention method that obfuscates the state transition function to add an obfuscated mode on top of the original functionality (called normal mode).</a:t>
            </a:r>
          </a:p>
          <a:p>
            <a:endParaRPr lang="en-US" altLang="en-US"/>
          </a:p>
        </p:txBody>
      </p:sp>
      <p:sp>
        <p:nvSpPr>
          <p:cNvPr id="1177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E3AE65B-E634-4502-96A6-EB6DDA82520F}" type="slidenum">
              <a:rPr lang="en-US" altLang="en-US" sz="1300">
                <a:latin typeface="Arial Black" panose="020B0A04020102020204" pitchFamily="34" charset="0"/>
              </a:rPr>
              <a:pPr>
                <a:spcBef>
                  <a:spcPct val="0"/>
                </a:spcBef>
              </a:pPr>
              <a:t>68</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27806684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Designer adds obfuscated functionality in front of normal functionality. </a:t>
            </a:r>
          </a:p>
          <a:p>
            <a:r>
              <a:rPr lang="en-US" altLang="en-US"/>
              <a:t>Only designer knows the specified pattern (initialization key) to access normal function. </a:t>
            </a:r>
          </a:p>
          <a:p>
            <a:r>
              <a:rPr lang="en-US" altLang="en-US"/>
              <a:t>If a Trojan is inserted in the obfuscated circuits, it will not affect the original functionality. This is an invalid Trojan in the figure.</a:t>
            </a:r>
          </a:p>
          <a:p>
            <a:r>
              <a:rPr lang="en-US" altLang="en-US"/>
              <a:t>If a Trojan is inserted in the original circuits, it will threaten the original circuits.</a:t>
            </a: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2119C0A-38A6-461D-8A20-A80652462F22}" type="slidenum">
              <a:rPr lang="en-US" altLang="en-US" sz="1300">
                <a:latin typeface="Arial Black" panose="020B0A04020102020204" pitchFamily="34" charset="0"/>
              </a:rPr>
              <a:pPr>
                <a:spcBef>
                  <a:spcPct val="0"/>
                </a:spcBef>
              </a:pPr>
              <a:t>69</a:t>
            </a:fld>
            <a:endParaRPr lang="en-US" altLang="en-US" sz="1300">
              <a:latin typeface="Arial Black" panose="020B0A04020102020204" pitchFamily="34" charset="0"/>
            </a:endParaRPr>
          </a:p>
        </p:txBody>
      </p:sp>
    </p:spTree>
    <p:extLst>
      <p:ext uri="{BB962C8B-B14F-4D97-AF65-F5344CB8AC3E}">
        <p14:creationId xmlns:p14="http://schemas.microsoft.com/office/powerpoint/2010/main" val="18458931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E75FBF6-6F2B-4EC3-B32E-E157B0480CD0}" type="slidenum">
              <a:rPr lang="en-US" smtClean="0"/>
              <a:pPr>
                <a:defRPr/>
              </a:pPr>
              <a:t>70</a:t>
            </a:fld>
            <a:endParaRPr lang="en-US"/>
          </a:p>
        </p:txBody>
      </p:sp>
    </p:spTree>
    <p:extLst>
      <p:ext uri="{BB962C8B-B14F-4D97-AF65-F5344CB8AC3E}">
        <p14:creationId xmlns:p14="http://schemas.microsoft.com/office/powerpoint/2010/main" val="3614075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flipV="1">
            <a:off x="588963" y="682625"/>
            <a:ext cx="7924800" cy="6985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p:cNvSpPr>
            <a:spLocks noChangeShapeType="1"/>
          </p:cNvSpPr>
          <p:nvPr/>
        </p:nvSpPr>
        <p:spPr bwMode="auto">
          <a:xfrm>
            <a:off x="517525" y="5934075"/>
            <a:ext cx="8066088" cy="11113"/>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9"/>
          <p:cNvSpPr>
            <a:spLocks noChangeShapeType="1"/>
          </p:cNvSpPr>
          <p:nvPr/>
        </p:nvSpPr>
        <p:spPr bwMode="auto">
          <a:xfrm>
            <a:off x="8515350" y="731838"/>
            <a:ext cx="0" cy="1016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Line 9"/>
          <p:cNvSpPr>
            <a:spLocks noChangeShapeType="1"/>
          </p:cNvSpPr>
          <p:nvPr userDrawn="1"/>
        </p:nvSpPr>
        <p:spPr bwMode="auto">
          <a:xfrm>
            <a:off x="8515350" y="731838"/>
            <a:ext cx="0" cy="1016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50" name="Rectangle 2"/>
          <p:cNvSpPr>
            <a:spLocks noGrp="1" noChangeArrowheads="1"/>
          </p:cNvSpPr>
          <p:nvPr>
            <p:ph type="ctrTitle"/>
          </p:nvPr>
        </p:nvSpPr>
        <p:spPr>
          <a:xfrm>
            <a:off x="0" y="0"/>
            <a:ext cx="9144000" cy="768350"/>
          </a:xfrm>
        </p:spPr>
        <p:txBody>
          <a:bodyPr/>
          <a:lstStyle>
            <a:lvl1pPr>
              <a:defRPr/>
            </a:lvl1pPr>
          </a:lstStyle>
          <a:p>
            <a:r>
              <a:rPr lang="en-US" altLang="en-US"/>
              <a:t>Click to edit Master title style</a:t>
            </a:r>
            <a:endParaRPr lang="en-US" altLang="en-US" dirty="0"/>
          </a:p>
        </p:txBody>
      </p:sp>
      <p:sp>
        <p:nvSpPr>
          <p:cNvPr id="155651" name="Rectangle 3"/>
          <p:cNvSpPr>
            <a:spLocks noGrp="1" noChangeArrowheads="1"/>
          </p:cNvSpPr>
          <p:nvPr>
            <p:ph type="subTitle" idx="1"/>
          </p:nvPr>
        </p:nvSpPr>
        <p:spPr>
          <a:xfrm>
            <a:off x="152400" y="927100"/>
            <a:ext cx="8826500" cy="4978400"/>
          </a:xfrm>
        </p:spPr>
        <p:txBody>
          <a:bodyPr/>
          <a:lstStyle>
            <a:lvl1pPr marL="0" indent="0">
              <a:buFont typeface="Wingdings" pitchFamily="2" charset="2"/>
              <a:buNone/>
              <a:defRPr sz="2800"/>
            </a:lvl1pPr>
          </a:lstStyle>
          <a:p>
            <a:r>
              <a:rPr lang="en-US" altLang="en-US"/>
              <a:t>Click to edit Master subtitle style</a:t>
            </a:r>
            <a:endParaRPr lang="en-US" altLang="en-US" dirty="0"/>
          </a:p>
        </p:txBody>
      </p:sp>
      <p:sp>
        <p:nvSpPr>
          <p:cNvPr id="8" name="Rectangle 4"/>
          <p:cNvSpPr>
            <a:spLocks noGrp="1" noChangeArrowheads="1"/>
          </p:cNvSpPr>
          <p:nvPr>
            <p:ph type="dt" sz="half" idx="10"/>
          </p:nvPr>
        </p:nvSpPr>
        <p:spPr/>
        <p:txBody>
          <a:bodyPr/>
          <a:lstStyle>
            <a:lvl1pPr>
              <a:defRPr smtClean="0"/>
            </a:lvl1pPr>
          </a:lstStyle>
          <a:p>
            <a:pPr>
              <a:defRPr/>
            </a:pPr>
            <a:fld id="{63950E37-CAE5-4479-9335-2E4404C79ED0}" type="datetime3">
              <a:rPr lang="en-US" altLang="en-US"/>
              <a:pPr>
                <a:defRPr/>
              </a:pPr>
              <a:t>15 December 2018</a:t>
            </a:fld>
            <a:endParaRPr lang="en-US" altLang="en-US"/>
          </a:p>
        </p:txBody>
      </p:sp>
      <p:sp>
        <p:nvSpPr>
          <p:cNvPr id="9"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en-US"/>
              <a:t>VLSI Test: Bushnell-Agrawal/Lecture 5</a:t>
            </a:r>
          </a:p>
        </p:txBody>
      </p:sp>
      <p:sp>
        <p:nvSpPr>
          <p:cNvPr id="10" name="Rectangle 6"/>
          <p:cNvSpPr>
            <a:spLocks noGrp="1" noChangeArrowheads="1"/>
          </p:cNvSpPr>
          <p:nvPr>
            <p:ph type="sldNum" sz="quarter" idx="12"/>
          </p:nvPr>
        </p:nvSpPr>
        <p:spPr/>
        <p:txBody>
          <a:bodyPr/>
          <a:lstStyle>
            <a:lvl1pPr>
              <a:defRPr smtClean="0"/>
            </a:lvl1pPr>
          </a:lstStyle>
          <a:p>
            <a:pPr>
              <a:defRPr/>
            </a:pPr>
            <a:fld id="{845C9156-DD3F-49D1-AB6B-D34ABC1694CA}" type="slidenum">
              <a:rPr lang="en-US" altLang="en-US"/>
              <a:pPr>
                <a:defRPr/>
              </a:pPr>
              <a:t>‹#›</a:t>
            </a:fld>
            <a:endParaRPr lang="en-US" altLang="en-US"/>
          </a:p>
        </p:txBody>
      </p:sp>
    </p:spTree>
    <p:extLst>
      <p:ext uri="{BB962C8B-B14F-4D97-AF65-F5344CB8AC3E}">
        <p14:creationId xmlns:p14="http://schemas.microsoft.com/office/powerpoint/2010/main" val="3341744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838200"/>
          </a:xfrm>
        </p:spPr>
        <p:txBody>
          <a:bodyPr/>
          <a:lstStyle>
            <a:lvl1pPr>
              <a:defRPr>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90500" y="1054100"/>
            <a:ext cx="8750300" cy="5076825"/>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atin typeface="Arial" panose="020B0604020202020204" pitchFamily="34" charset="0"/>
                <a:cs typeface="Arial" panose="020B0604020202020204" pitchFamily="34" charset="0"/>
              </a:defRPr>
            </a:lvl1pPr>
          </a:lstStyle>
          <a:p>
            <a:pPr>
              <a:defRPr/>
            </a:pPr>
            <a:fld id="{04290F57-EF12-4F06-B1D8-FED090C48135}" type="datetime3">
              <a:rPr lang="en-US" altLang="en-US"/>
              <a:pPr>
                <a:defRPr/>
              </a:pPr>
              <a:t>15 December 2018</a:t>
            </a:fld>
            <a:endParaRPr lang="en-US" altLang="en-US"/>
          </a:p>
        </p:txBody>
      </p:sp>
      <p:sp>
        <p:nvSpPr>
          <p:cNvPr id="5" name="Footer Placeholder 4"/>
          <p:cNvSpPr>
            <a:spLocks noGrp="1"/>
          </p:cNvSpPr>
          <p:nvPr>
            <p:ph type="ftr" sz="quarter" idx="11"/>
          </p:nvPr>
        </p:nvSpPr>
        <p:spPr/>
        <p:txBody>
          <a:bodyPr/>
          <a:lstStyle>
            <a:lvl1pPr>
              <a:defRPr>
                <a:latin typeface="Arial" pitchFamily="34" charset="0"/>
                <a:cs typeface="Arial" pitchFamily="34" charset="0"/>
              </a:defRPr>
            </a:lvl1pPr>
          </a:lstStyle>
          <a:p>
            <a:pPr>
              <a:defRPr/>
            </a:pPr>
            <a:r>
              <a:rPr lang="en-US" altLang="en-US"/>
              <a:t>Hardware Security and Trust</a:t>
            </a:r>
            <a:endParaRPr lang="en-US" altLang="en-US" dirty="0"/>
          </a:p>
        </p:txBody>
      </p:sp>
      <p:sp>
        <p:nvSpPr>
          <p:cNvPr id="6" name="Slide Number Placeholder 5"/>
          <p:cNvSpPr>
            <a:spLocks noGrp="1"/>
          </p:cNvSpPr>
          <p:nvPr>
            <p:ph type="sldNum" sz="quarter" idx="12"/>
          </p:nvPr>
        </p:nvSpPr>
        <p:spPr/>
        <p:txBody>
          <a:bodyPr/>
          <a:lstStyle>
            <a:lvl1pPr>
              <a:defRPr smtClean="0">
                <a:latin typeface="Arial" panose="020B0604020202020204" pitchFamily="34" charset="0"/>
                <a:cs typeface="Arial" panose="020B0604020202020204" pitchFamily="34" charset="0"/>
              </a:defRPr>
            </a:lvl1pPr>
          </a:lstStyle>
          <a:p>
            <a:pPr>
              <a:defRPr/>
            </a:pPr>
            <a:fld id="{21A81C56-0B69-4215-B357-8B75DAD7D4F3}" type="slidenum">
              <a:rPr lang="en-US" altLang="en-US"/>
              <a:pPr>
                <a:defRPr/>
              </a:pPr>
              <a:t>‹#›</a:t>
            </a:fld>
            <a:endParaRPr lang="en-US" altLang="en-US"/>
          </a:p>
        </p:txBody>
      </p:sp>
    </p:spTree>
    <p:extLst>
      <p:ext uri="{BB962C8B-B14F-4D97-AF65-F5344CB8AC3E}">
        <p14:creationId xmlns:p14="http://schemas.microsoft.com/office/powerpoint/2010/main" val="390504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98005F99-E4F0-45B3-988B-28797017F73C}" type="datetime3">
              <a:rPr lang="en-US" altLang="en-US"/>
              <a:pPr>
                <a:defRPr/>
              </a:pPr>
              <a:t>15 December 2018</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6" name="Rectangle 6"/>
          <p:cNvSpPr>
            <a:spLocks noGrp="1" noChangeArrowheads="1"/>
          </p:cNvSpPr>
          <p:nvPr>
            <p:ph type="sldNum" sz="quarter" idx="12"/>
          </p:nvPr>
        </p:nvSpPr>
        <p:spPr>
          <a:ln/>
        </p:spPr>
        <p:txBody>
          <a:bodyPr/>
          <a:lstStyle>
            <a:lvl1pPr>
              <a:defRPr/>
            </a:lvl1pPr>
          </a:lstStyle>
          <a:p>
            <a:pPr>
              <a:defRPr/>
            </a:pPr>
            <a:fld id="{6867C388-D3C1-421F-9B52-CA860C4A5F18}" type="slidenum">
              <a:rPr lang="en-US" altLang="en-US"/>
              <a:pPr>
                <a:defRPr/>
              </a:pPr>
              <a:t>‹#›</a:t>
            </a:fld>
            <a:endParaRPr lang="en-US" altLang="en-US"/>
          </a:p>
        </p:txBody>
      </p:sp>
    </p:spTree>
    <p:extLst>
      <p:ext uri="{BB962C8B-B14F-4D97-AF65-F5344CB8AC3E}">
        <p14:creationId xmlns:p14="http://schemas.microsoft.com/office/powerpoint/2010/main" val="897244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76C0514C-9CE9-4740-9835-4B7366C04D88}" type="datetime3">
              <a:rPr lang="en-US" altLang="en-US"/>
              <a:pPr>
                <a:defRPr/>
              </a:pPr>
              <a:t>15 December 2018</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7" name="Rectangle 6"/>
          <p:cNvSpPr>
            <a:spLocks noGrp="1" noChangeArrowheads="1"/>
          </p:cNvSpPr>
          <p:nvPr>
            <p:ph type="sldNum" sz="quarter" idx="12"/>
          </p:nvPr>
        </p:nvSpPr>
        <p:spPr>
          <a:ln/>
        </p:spPr>
        <p:txBody>
          <a:bodyPr/>
          <a:lstStyle>
            <a:lvl1pPr>
              <a:defRPr/>
            </a:lvl1pPr>
          </a:lstStyle>
          <a:p>
            <a:pPr>
              <a:defRPr/>
            </a:pPr>
            <a:fld id="{3FC84B7A-C1E7-404A-93AC-5413C119918B}" type="slidenum">
              <a:rPr lang="en-US" altLang="en-US"/>
              <a:pPr>
                <a:defRPr/>
              </a:pPr>
              <a:t>‹#›</a:t>
            </a:fld>
            <a:endParaRPr lang="en-US" altLang="en-US"/>
          </a:p>
        </p:txBody>
      </p:sp>
    </p:spTree>
    <p:extLst>
      <p:ext uri="{BB962C8B-B14F-4D97-AF65-F5344CB8AC3E}">
        <p14:creationId xmlns:p14="http://schemas.microsoft.com/office/powerpoint/2010/main" val="3473904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BF89805D-B385-4C08-85C2-65B37CC153FF}" type="datetime3">
              <a:rPr lang="en-US" altLang="en-US"/>
              <a:pPr>
                <a:defRPr/>
              </a:pPr>
              <a:t>15 December 2018</a:t>
            </a:fld>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9" name="Rectangle 6"/>
          <p:cNvSpPr>
            <a:spLocks noGrp="1" noChangeArrowheads="1"/>
          </p:cNvSpPr>
          <p:nvPr>
            <p:ph type="sldNum" sz="quarter" idx="12"/>
          </p:nvPr>
        </p:nvSpPr>
        <p:spPr>
          <a:ln/>
        </p:spPr>
        <p:txBody>
          <a:bodyPr/>
          <a:lstStyle>
            <a:lvl1pPr>
              <a:defRPr/>
            </a:lvl1pPr>
          </a:lstStyle>
          <a:p>
            <a:pPr>
              <a:defRPr/>
            </a:pPr>
            <a:fld id="{D82141CC-86A8-47FE-BC7F-DF4F38D1CA74}" type="slidenum">
              <a:rPr lang="en-US" altLang="en-US"/>
              <a:pPr>
                <a:defRPr/>
              </a:pPr>
              <a:t>‹#›</a:t>
            </a:fld>
            <a:endParaRPr lang="en-US" altLang="en-US"/>
          </a:p>
        </p:txBody>
      </p:sp>
    </p:spTree>
    <p:extLst>
      <p:ext uri="{BB962C8B-B14F-4D97-AF65-F5344CB8AC3E}">
        <p14:creationId xmlns:p14="http://schemas.microsoft.com/office/powerpoint/2010/main" val="302485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18A27FAC-FFA8-444F-85F5-BCECF8300EB3}" type="datetime3">
              <a:rPr lang="en-US" altLang="en-US"/>
              <a:pPr>
                <a:defRPr/>
              </a:pPr>
              <a:t>15 December 2018</a:t>
            </a:fld>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5" name="Rectangle 6"/>
          <p:cNvSpPr>
            <a:spLocks noGrp="1" noChangeArrowheads="1"/>
          </p:cNvSpPr>
          <p:nvPr>
            <p:ph type="sldNum" sz="quarter" idx="12"/>
          </p:nvPr>
        </p:nvSpPr>
        <p:spPr>
          <a:ln/>
        </p:spPr>
        <p:txBody>
          <a:bodyPr/>
          <a:lstStyle>
            <a:lvl1pPr>
              <a:defRPr/>
            </a:lvl1pPr>
          </a:lstStyle>
          <a:p>
            <a:pPr>
              <a:defRPr/>
            </a:pPr>
            <a:fld id="{D8221EF8-3482-4CD5-8EF7-C9B586DEAE2A}" type="slidenum">
              <a:rPr lang="en-US" altLang="en-US"/>
              <a:pPr>
                <a:defRPr/>
              </a:pPr>
              <a:t>‹#›</a:t>
            </a:fld>
            <a:endParaRPr lang="en-US" altLang="en-US"/>
          </a:p>
        </p:txBody>
      </p:sp>
    </p:spTree>
    <p:extLst>
      <p:ext uri="{BB962C8B-B14F-4D97-AF65-F5344CB8AC3E}">
        <p14:creationId xmlns:p14="http://schemas.microsoft.com/office/powerpoint/2010/main" val="223122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7841FE4A-F6BC-4C78-AF8D-13366A5D87C5}" type="datetime3">
              <a:rPr lang="en-US" altLang="en-US"/>
              <a:pPr>
                <a:defRPr/>
              </a:pPr>
              <a:t>15 December 2018</a:t>
            </a:fld>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4" name="Rectangle 6"/>
          <p:cNvSpPr>
            <a:spLocks noGrp="1" noChangeArrowheads="1"/>
          </p:cNvSpPr>
          <p:nvPr>
            <p:ph type="sldNum" sz="quarter" idx="12"/>
          </p:nvPr>
        </p:nvSpPr>
        <p:spPr>
          <a:ln/>
        </p:spPr>
        <p:txBody>
          <a:bodyPr/>
          <a:lstStyle>
            <a:lvl1pPr>
              <a:defRPr/>
            </a:lvl1pPr>
          </a:lstStyle>
          <a:p>
            <a:pPr>
              <a:defRPr/>
            </a:pPr>
            <a:fld id="{42760B9A-C0CC-4272-917A-032F57070A3F}" type="slidenum">
              <a:rPr lang="en-US" altLang="en-US"/>
              <a:pPr>
                <a:defRPr/>
              </a:pPr>
              <a:t>‹#›</a:t>
            </a:fld>
            <a:endParaRPr lang="en-US" altLang="en-US"/>
          </a:p>
        </p:txBody>
      </p:sp>
    </p:spTree>
    <p:extLst>
      <p:ext uri="{BB962C8B-B14F-4D97-AF65-F5344CB8AC3E}">
        <p14:creationId xmlns:p14="http://schemas.microsoft.com/office/powerpoint/2010/main" val="4034200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623AB4E1-32AD-4202-9406-A4BF8BB47E58}" type="datetime3">
              <a:rPr lang="en-US" altLang="en-US"/>
              <a:pPr>
                <a:defRPr/>
              </a:pPr>
              <a:t>15 December 2018</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7" name="Rectangle 6"/>
          <p:cNvSpPr>
            <a:spLocks noGrp="1" noChangeArrowheads="1"/>
          </p:cNvSpPr>
          <p:nvPr>
            <p:ph type="sldNum" sz="quarter" idx="12"/>
          </p:nvPr>
        </p:nvSpPr>
        <p:spPr>
          <a:ln/>
        </p:spPr>
        <p:txBody>
          <a:bodyPr/>
          <a:lstStyle>
            <a:lvl1pPr>
              <a:defRPr/>
            </a:lvl1pPr>
          </a:lstStyle>
          <a:p>
            <a:pPr>
              <a:defRPr/>
            </a:pPr>
            <a:fld id="{7E582D67-206A-4006-A449-CDFE958E1F53}" type="slidenum">
              <a:rPr lang="en-US" altLang="en-US"/>
              <a:pPr>
                <a:defRPr/>
              </a:pPr>
              <a:t>‹#›</a:t>
            </a:fld>
            <a:endParaRPr lang="en-US" altLang="en-US"/>
          </a:p>
        </p:txBody>
      </p:sp>
    </p:spTree>
    <p:extLst>
      <p:ext uri="{BB962C8B-B14F-4D97-AF65-F5344CB8AC3E}">
        <p14:creationId xmlns:p14="http://schemas.microsoft.com/office/powerpoint/2010/main" val="387061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52DF4E4-B123-4B1D-98E8-A493994E949E}" type="datetime3">
              <a:rPr lang="en-US" altLang="en-US"/>
              <a:pPr>
                <a:defRPr/>
              </a:pPr>
              <a:t>15 December 2018</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7" name="Rectangle 6"/>
          <p:cNvSpPr>
            <a:spLocks noGrp="1" noChangeArrowheads="1"/>
          </p:cNvSpPr>
          <p:nvPr>
            <p:ph type="sldNum" sz="quarter" idx="12"/>
          </p:nvPr>
        </p:nvSpPr>
        <p:spPr>
          <a:ln/>
        </p:spPr>
        <p:txBody>
          <a:bodyPr/>
          <a:lstStyle>
            <a:lvl1pPr>
              <a:defRPr/>
            </a:lvl1pPr>
          </a:lstStyle>
          <a:p>
            <a:pPr>
              <a:defRPr/>
            </a:pPr>
            <a:fld id="{480810AC-38A5-48D3-8780-EB37F2A55259}" type="slidenum">
              <a:rPr lang="en-US" altLang="en-US"/>
              <a:pPr>
                <a:defRPr/>
              </a:pPr>
              <a:t>‹#›</a:t>
            </a:fld>
            <a:endParaRPr lang="en-US" altLang="en-US"/>
          </a:p>
        </p:txBody>
      </p:sp>
    </p:spTree>
    <p:extLst>
      <p:ext uri="{BB962C8B-B14F-4D97-AF65-F5344CB8AC3E}">
        <p14:creationId xmlns:p14="http://schemas.microsoft.com/office/powerpoint/2010/main" val="1491075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97A08C4-BCF9-4E8B-A272-473E0888094C}" type="datetime3">
              <a:rPr lang="en-US" altLang="en-US"/>
              <a:pPr>
                <a:defRPr/>
              </a:pPr>
              <a:t>15 December 2018</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6" name="Rectangle 6"/>
          <p:cNvSpPr>
            <a:spLocks noGrp="1" noChangeArrowheads="1"/>
          </p:cNvSpPr>
          <p:nvPr>
            <p:ph type="sldNum" sz="quarter" idx="12"/>
          </p:nvPr>
        </p:nvSpPr>
        <p:spPr>
          <a:ln/>
        </p:spPr>
        <p:txBody>
          <a:bodyPr/>
          <a:lstStyle>
            <a:lvl1pPr>
              <a:defRPr/>
            </a:lvl1pPr>
          </a:lstStyle>
          <a:p>
            <a:pPr>
              <a:defRPr/>
            </a:pPr>
            <a:fld id="{061DAC68-C6CB-4D61-9C70-105420008991}" type="slidenum">
              <a:rPr lang="en-US" altLang="en-US"/>
              <a:pPr>
                <a:defRPr/>
              </a:pPr>
              <a:t>‹#›</a:t>
            </a:fld>
            <a:endParaRPr lang="en-US" altLang="en-US"/>
          </a:p>
        </p:txBody>
      </p:sp>
    </p:spTree>
    <p:extLst>
      <p:ext uri="{BB962C8B-B14F-4D97-AF65-F5344CB8AC3E}">
        <p14:creationId xmlns:p14="http://schemas.microsoft.com/office/powerpoint/2010/main" val="213017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1309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1309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9CC6D0CD-3DAB-49D9-8CE6-6FDD88034DB5}" type="datetime3">
              <a:rPr lang="en-US" altLang="en-US"/>
              <a:pPr>
                <a:defRPr/>
              </a:pPr>
              <a:t>15 December 2018</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6" name="Rectangle 6"/>
          <p:cNvSpPr>
            <a:spLocks noGrp="1" noChangeArrowheads="1"/>
          </p:cNvSpPr>
          <p:nvPr>
            <p:ph type="sldNum" sz="quarter" idx="12"/>
          </p:nvPr>
        </p:nvSpPr>
        <p:spPr>
          <a:ln/>
        </p:spPr>
        <p:txBody>
          <a:bodyPr/>
          <a:lstStyle>
            <a:lvl1pPr>
              <a:defRPr/>
            </a:lvl1pPr>
          </a:lstStyle>
          <a:p>
            <a:pPr>
              <a:defRPr/>
            </a:pPr>
            <a:fld id="{C0325288-244D-4435-9F8F-B3E8946C4514}" type="slidenum">
              <a:rPr lang="en-US" altLang="en-US"/>
              <a:pPr>
                <a:defRPr/>
              </a:pPr>
              <a:t>‹#›</a:t>
            </a:fld>
            <a:endParaRPr lang="en-US" altLang="en-US"/>
          </a:p>
        </p:txBody>
      </p:sp>
    </p:spTree>
    <p:extLst>
      <p:ext uri="{BB962C8B-B14F-4D97-AF65-F5344CB8AC3E}">
        <p14:creationId xmlns:p14="http://schemas.microsoft.com/office/powerpoint/2010/main" val="2858937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8107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CB94304D-3B27-4019-921A-A7DD49351271}" type="datetime3">
              <a:rPr lang="en-US" altLang="en-US"/>
              <a:pPr>
                <a:defRPr/>
              </a:pPr>
              <a:t>15 December 2018</a:t>
            </a:fld>
            <a:endParaRPr lang="en-US" altLang="en-US"/>
          </a:p>
        </p:txBody>
      </p:sp>
      <p:sp>
        <p:nvSpPr>
          <p:cNvPr id="7"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8" name="Rectangle 6"/>
          <p:cNvSpPr>
            <a:spLocks noGrp="1" noChangeArrowheads="1"/>
          </p:cNvSpPr>
          <p:nvPr>
            <p:ph type="sldNum" sz="quarter" idx="12"/>
          </p:nvPr>
        </p:nvSpPr>
        <p:spPr>
          <a:ln/>
        </p:spPr>
        <p:txBody>
          <a:bodyPr/>
          <a:lstStyle>
            <a:lvl1pPr>
              <a:defRPr/>
            </a:lvl1pPr>
          </a:lstStyle>
          <a:p>
            <a:pPr>
              <a:defRPr/>
            </a:pPr>
            <a:fld id="{41596C7D-8C0E-4206-9642-A30E588027CF}" type="slidenum">
              <a:rPr lang="en-US" altLang="en-US"/>
              <a:pPr>
                <a:defRPr/>
              </a:pPr>
              <a:t>‹#›</a:t>
            </a:fld>
            <a:endParaRPr lang="en-US" altLang="en-US"/>
          </a:p>
        </p:txBody>
      </p:sp>
    </p:spTree>
    <p:extLst>
      <p:ext uri="{BB962C8B-B14F-4D97-AF65-F5344CB8AC3E}">
        <p14:creationId xmlns:p14="http://schemas.microsoft.com/office/powerpoint/2010/main" val="411783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8107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45C13FD3-6002-4BB4-AC24-88F57732E418}" type="datetime3">
              <a:rPr lang="en-US" altLang="en-US"/>
              <a:pPr>
                <a:defRPr/>
              </a:pPr>
              <a:t>15 December 2018</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VLSI Test: Bushnell-Agrawal/Lecture 5</a:t>
            </a:r>
          </a:p>
        </p:txBody>
      </p:sp>
      <p:sp>
        <p:nvSpPr>
          <p:cNvPr id="7" name="Rectangle 6"/>
          <p:cNvSpPr>
            <a:spLocks noGrp="1" noChangeArrowheads="1"/>
          </p:cNvSpPr>
          <p:nvPr>
            <p:ph type="sldNum" sz="quarter" idx="12"/>
          </p:nvPr>
        </p:nvSpPr>
        <p:spPr>
          <a:ln/>
        </p:spPr>
        <p:txBody>
          <a:bodyPr/>
          <a:lstStyle>
            <a:lvl1pPr>
              <a:defRPr/>
            </a:lvl1pPr>
          </a:lstStyle>
          <a:p>
            <a:pPr>
              <a:defRPr/>
            </a:pPr>
            <a:fld id="{105F9BF7-5F8A-4DFB-A6C9-4DAF40F0D2B2}" type="slidenum">
              <a:rPr lang="en-US" altLang="en-US"/>
              <a:pPr>
                <a:defRPr/>
              </a:pPr>
              <a:t>‹#›</a:t>
            </a:fld>
            <a:endParaRPr lang="en-US" altLang="en-US"/>
          </a:p>
        </p:txBody>
      </p:sp>
    </p:spTree>
    <p:extLst>
      <p:ext uri="{BB962C8B-B14F-4D97-AF65-F5344CB8AC3E}">
        <p14:creationId xmlns:p14="http://schemas.microsoft.com/office/powerpoint/2010/main" val="1945483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
            <a:ext cx="8229600" cy="838200"/>
          </a:xfrm>
        </p:spPr>
        <p:txBody>
          <a:bodyPr/>
          <a:lstStyle/>
          <a:p>
            <a:r>
              <a:rPr lang="zh-CN" altLang="en-US"/>
              <a:t>单击此处编辑母版标题样式</a:t>
            </a:r>
            <a:endParaRPr lang="en-US"/>
          </a:p>
        </p:txBody>
      </p:sp>
      <p:sp>
        <p:nvSpPr>
          <p:cNvPr id="3" name="表格占位符 2"/>
          <p:cNvSpPr>
            <a:spLocks noGrp="1"/>
          </p:cNvSpPr>
          <p:nvPr>
            <p:ph type="tbl" idx="1"/>
          </p:nvPr>
        </p:nvSpPr>
        <p:spPr>
          <a:xfrm>
            <a:off x="228600" y="990600"/>
            <a:ext cx="8686800" cy="5486400"/>
          </a:xfrm>
        </p:spPr>
        <p:txBody>
          <a:bodyPr/>
          <a:lstStyle/>
          <a:p>
            <a:pPr lvl="0"/>
            <a:endParaRPr lang="en-US" noProof="0"/>
          </a:p>
        </p:txBody>
      </p:sp>
      <p:sp>
        <p:nvSpPr>
          <p:cNvPr id="4" name="灯片编号占位符 3"/>
          <p:cNvSpPr>
            <a:spLocks noGrp="1"/>
          </p:cNvSpPr>
          <p:nvPr>
            <p:ph type="sldNum" sz="quarter" idx="10"/>
          </p:nvPr>
        </p:nvSpPr>
        <p:spPr>
          <a:xfrm>
            <a:off x="6553200" y="6534150"/>
            <a:ext cx="2133600" cy="323850"/>
          </a:xfrm>
        </p:spPr>
        <p:txBody>
          <a:bodyPr/>
          <a:lstStyle>
            <a:lvl1pPr>
              <a:defRPr smtClean="0"/>
            </a:lvl1pPr>
          </a:lstStyle>
          <a:p>
            <a:pPr>
              <a:defRPr/>
            </a:pPr>
            <a:fld id="{DCB35C40-DF02-4B69-960C-7725BE51F48B}" type="slidenum">
              <a:rPr lang="en-US" altLang="en-US"/>
              <a:pPr>
                <a:defRPr/>
              </a:pPr>
              <a:t>‹#›</a:t>
            </a:fld>
            <a:endParaRPr lang="en-US" altLang="en-US"/>
          </a:p>
        </p:txBody>
      </p:sp>
    </p:spTree>
    <p:extLst>
      <p:ext uri="{BB962C8B-B14F-4D97-AF65-F5344CB8AC3E}">
        <p14:creationId xmlns:p14="http://schemas.microsoft.com/office/powerpoint/2010/main" val="482054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594506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6761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81701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6549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91619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915991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7720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018923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5546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6356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34150" y="180975"/>
            <a:ext cx="2152650" cy="59451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 y="180975"/>
            <a:ext cx="6305550" cy="59451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428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2588933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63378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079370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68715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50189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586838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4256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5465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971527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8949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34150" y="180975"/>
            <a:ext cx="2152650" cy="59451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 y="180975"/>
            <a:ext cx="6305550" cy="59451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678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91440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177800" y="1092200"/>
            <a:ext cx="88011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5462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latin typeface="Garamond" panose="02020404030301010803" pitchFamily="18" charset="0"/>
              </a:defRPr>
            </a:lvl1pPr>
          </a:lstStyle>
          <a:p>
            <a:pPr>
              <a:defRPr/>
            </a:pPr>
            <a:fld id="{F99EB6FA-8A20-4F04-BD7E-2865FD31C41A}" type="datetime3">
              <a:rPr lang="en-US" altLang="en-US"/>
              <a:pPr>
                <a:defRPr/>
              </a:pPr>
              <a:t>15 December 2018</a:t>
            </a:fld>
            <a:endParaRPr lang="en-US" altLang="en-US"/>
          </a:p>
        </p:txBody>
      </p:sp>
      <p:sp>
        <p:nvSpPr>
          <p:cNvPr id="1546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itchFamily="18" charset="0"/>
                <a:ea typeface="+mn-ea"/>
                <a:cs typeface="+mn-cs"/>
              </a:defRPr>
            </a:lvl1pPr>
          </a:lstStyle>
          <a:p>
            <a:pPr>
              <a:defRPr/>
            </a:pPr>
            <a:r>
              <a:rPr lang="en-US" altLang="en-US"/>
              <a:t>VLSI Test: Bushnell-Agrawal/Lecture 5</a:t>
            </a:r>
          </a:p>
        </p:txBody>
      </p:sp>
      <p:sp>
        <p:nvSpPr>
          <p:cNvPr id="15463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Garamond" panose="02020404030301010803" pitchFamily="18" charset="0"/>
              </a:defRPr>
            </a:lvl1pPr>
          </a:lstStyle>
          <a:p>
            <a:pPr>
              <a:defRPr/>
            </a:pPr>
            <a:fld id="{1DA24B59-B6ED-44EB-9EFA-80F4815A87A7}" type="slidenum">
              <a:rPr lang="en-US" altLang="en-US"/>
              <a:pPr>
                <a:defRPr/>
              </a:pPr>
              <a:t>‹#›</a:t>
            </a:fld>
            <a:endParaRPr lang="en-US" altLang="en-US"/>
          </a:p>
        </p:txBody>
      </p:sp>
      <p:sp>
        <p:nvSpPr>
          <p:cNvPr id="1031" name="Freeform 7"/>
          <p:cNvSpPr>
            <a:spLocks noChangeArrowheads="1"/>
          </p:cNvSpPr>
          <p:nvPr/>
        </p:nvSpPr>
        <p:spPr bwMode="auto">
          <a:xfrm flipV="1">
            <a:off x="484188" y="704850"/>
            <a:ext cx="8239125" cy="122238"/>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p:cNvSpPr>
            <a:spLocks noChangeShapeType="1"/>
          </p:cNvSpPr>
          <p:nvPr/>
        </p:nvSpPr>
        <p:spPr bwMode="auto">
          <a:xfrm>
            <a:off x="457200" y="6172200"/>
            <a:ext cx="822960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Line 9"/>
          <p:cNvSpPr>
            <a:spLocks noChangeShapeType="1"/>
          </p:cNvSpPr>
          <p:nvPr/>
        </p:nvSpPr>
        <p:spPr bwMode="auto">
          <a:xfrm>
            <a:off x="8728075" y="822325"/>
            <a:ext cx="0" cy="111125"/>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 name="Line 9"/>
          <p:cNvSpPr>
            <a:spLocks noChangeShapeType="1"/>
          </p:cNvSpPr>
          <p:nvPr userDrawn="1"/>
        </p:nvSpPr>
        <p:spPr bwMode="auto">
          <a:xfrm>
            <a:off x="8728075" y="822325"/>
            <a:ext cx="0" cy="111125"/>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130" r:id="rId1"/>
    <p:sldLayoutId id="2147484131"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 id="2147484128" r:id="rId12"/>
    <p:sldLayoutId id="2147484129" r:id="rId13"/>
    <p:sldLayoutId id="2147484132" r:id="rId14"/>
  </p:sldLayoutIdLst>
  <p:hf hdr="0" ftr="0"/>
  <p:txStyles>
    <p:titleStyle>
      <a:lvl1pPr algn="ctr" rtl="0" eaLnBrk="0" fontAlgn="base" hangingPunct="0">
        <a:spcBef>
          <a:spcPct val="0"/>
        </a:spcBef>
        <a:spcAft>
          <a:spcPct val="0"/>
        </a:spcAft>
        <a:defRPr sz="4000">
          <a:solidFill>
            <a:srgbClr val="FF0000"/>
          </a:solidFill>
          <a:latin typeface="Arial" pitchFamily="34" charset="0"/>
          <a:ea typeface="MS PGothic" panose="020B0600070205080204" pitchFamily="34" charset="-128"/>
          <a:cs typeface="Arial" pitchFamily="34" charset="0"/>
        </a:defRPr>
      </a:lvl1pPr>
      <a:lvl2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5pPr>
      <a:lvl6pPr marL="457200" algn="ctr" rtl="0" eaLnBrk="1" fontAlgn="base" hangingPunct="1">
        <a:spcBef>
          <a:spcPct val="0"/>
        </a:spcBef>
        <a:spcAft>
          <a:spcPct val="0"/>
        </a:spcAft>
        <a:defRPr sz="4000">
          <a:solidFill>
            <a:srgbClr val="FF0000"/>
          </a:solidFill>
          <a:latin typeface="Tahoma" pitchFamily="34" charset="0"/>
        </a:defRPr>
      </a:lvl6pPr>
      <a:lvl7pPr marL="914400" algn="ctr" rtl="0" eaLnBrk="1" fontAlgn="base" hangingPunct="1">
        <a:spcBef>
          <a:spcPct val="0"/>
        </a:spcBef>
        <a:spcAft>
          <a:spcPct val="0"/>
        </a:spcAft>
        <a:defRPr sz="4000">
          <a:solidFill>
            <a:srgbClr val="FF0000"/>
          </a:solidFill>
          <a:latin typeface="Tahoma" pitchFamily="34" charset="0"/>
        </a:defRPr>
      </a:lvl7pPr>
      <a:lvl8pPr marL="1371600" algn="ctr" rtl="0" eaLnBrk="1" fontAlgn="base" hangingPunct="1">
        <a:spcBef>
          <a:spcPct val="0"/>
        </a:spcBef>
        <a:spcAft>
          <a:spcPct val="0"/>
        </a:spcAft>
        <a:defRPr sz="4000">
          <a:solidFill>
            <a:srgbClr val="FF0000"/>
          </a:solidFill>
          <a:latin typeface="Tahoma" pitchFamily="34" charset="0"/>
        </a:defRPr>
      </a:lvl8pPr>
      <a:lvl9pPr marL="1828800" algn="ctr" rtl="0" eaLnBrk="1" fontAlgn="base" hangingPunct="1">
        <a:spcBef>
          <a:spcPct val="0"/>
        </a:spcBef>
        <a:spcAft>
          <a:spcPct val="0"/>
        </a:spcAft>
        <a:defRPr sz="4000">
          <a:solidFill>
            <a:srgbClr val="FF0000"/>
          </a:solidFill>
          <a:latin typeface="Tahoma" pitchFamily="34"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Arial" pitchFamily="34" charset="0"/>
          <a:ea typeface="MS PGothic" panose="020B0600070205080204" pitchFamily="34" charset="-128"/>
          <a:cs typeface="Arial" pitchFamily="34"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Arial" pitchFamily="34" charset="0"/>
          <a:ea typeface="Arial" charset="0"/>
          <a:cs typeface="Arial" pitchFamily="34"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Arial" pitchFamily="34" charset="0"/>
          <a:ea typeface="Arial" charset="0"/>
          <a:cs typeface="Arial" pitchFamily="34"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Arial" pitchFamily="34" charset="0"/>
          <a:ea typeface="Arial" charset="0"/>
          <a:cs typeface="Arial" pitchFamily="34"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itchFamily="34" charset="0"/>
          <a:ea typeface="Arial" charset="0"/>
          <a:cs typeface="Arial" pitchFamily="34"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47"/>
            </a:gs>
            <a:gs pos="50000">
              <a:srgbClr val="000099"/>
            </a:gs>
            <a:gs pos="100000">
              <a:srgbClr val="000047"/>
            </a:gs>
          </a:gsLst>
          <a:lin ang="5400000" scaled="1"/>
        </a:gradFill>
        <a:effectLst/>
      </p:bgPr>
    </p:bg>
    <p:spTree>
      <p:nvGrpSpPr>
        <p:cNvPr id="1" name=""/>
        <p:cNvGrpSpPr/>
        <p:nvPr/>
      </p:nvGrpSpPr>
      <p:grpSpPr>
        <a:xfrm>
          <a:off x="0" y="0"/>
          <a:ext cx="0" cy="0"/>
          <a:chOff x="0" y="0"/>
          <a:chExt cx="0" cy="0"/>
        </a:xfrm>
      </p:grpSpPr>
      <p:sp>
        <p:nvSpPr>
          <p:cNvPr id="373826" name="Rectangle 66"/>
          <p:cNvSpPr>
            <a:spLocks noGrp="1" noChangeArrowheads="1"/>
          </p:cNvSpPr>
          <p:nvPr>
            <p:ph type="title"/>
          </p:nvPr>
        </p:nvSpPr>
        <p:spPr bwMode="auto">
          <a:xfrm>
            <a:off x="76200" y="180975"/>
            <a:ext cx="7467600" cy="865188"/>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027" name="Rectangle 78"/>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14"/>
          <p:cNvSpPr>
            <a:spLocks noChangeArrowheads="1"/>
          </p:cNvSpPr>
          <p:nvPr userDrawn="1"/>
        </p:nvSpPr>
        <p:spPr bwMode="auto">
          <a:xfrm>
            <a:off x="1" y="6596063"/>
            <a:ext cx="9144000" cy="2619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08" tIns="45704" rIns="91408" bIns="45704"/>
          <a:lstStyle/>
          <a:p>
            <a:pPr algn="ctr" eaLnBrk="1" hangingPunct="1"/>
            <a:r>
              <a:rPr lang="en-US" sz="1200" b="1" dirty="0">
                <a:solidFill>
                  <a:srgbClr val="FFFF00"/>
                </a:solidFill>
                <a:latin typeface="Arial" charset="0"/>
                <a:ea typeface="ＭＳ Ｐゴシック" charset="0"/>
              </a:rPr>
              <a:t>IVSW</a:t>
            </a:r>
            <a:r>
              <a:rPr lang="en-US" sz="1200" b="1" dirty="0">
                <a:solidFill>
                  <a:srgbClr val="FFFFFF"/>
                </a:solidFill>
                <a:latin typeface="Arial" charset="0"/>
                <a:ea typeface="ＭＳ Ｐゴシック" charset="0"/>
              </a:rPr>
              <a:t> | July 2016</a:t>
            </a:r>
            <a:r>
              <a:rPr lang="en-US" sz="1400" b="1" dirty="0">
                <a:solidFill>
                  <a:srgbClr val="FFFFFF"/>
                </a:solidFill>
                <a:latin typeface="Arial" charset="0"/>
                <a:ea typeface="ＭＳ Ｐゴシック" charset="0"/>
              </a:rPr>
              <a:t>                                                                                                                                                       </a:t>
            </a:r>
            <a:fld id="{2BBD399C-524B-A74C-82CF-9975B7F908F1}" type="slidenum">
              <a:rPr lang="en-US" sz="1200" b="1">
                <a:solidFill>
                  <a:srgbClr val="FFFF00"/>
                </a:solidFill>
                <a:latin typeface="Helvetica" charset="0"/>
                <a:ea typeface="ＭＳ Ｐゴシック" charset="0"/>
              </a:rPr>
              <a:pPr algn="ctr" eaLnBrk="1" hangingPunct="1"/>
              <a:t>‹#›</a:t>
            </a:fld>
            <a:endParaRPr lang="en-US" sz="1200" b="1" dirty="0">
              <a:solidFill>
                <a:srgbClr val="FFFF00"/>
              </a:solidFill>
              <a:latin typeface="Helvetica" charset="0"/>
              <a:ea typeface="ＭＳ Ｐゴシック" charset="0"/>
            </a:endParaRPr>
          </a:p>
        </p:txBody>
      </p:sp>
    </p:spTree>
    <p:extLst>
      <p:ext uri="{BB962C8B-B14F-4D97-AF65-F5344CB8AC3E}">
        <p14:creationId xmlns:p14="http://schemas.microsoft.com/office/powerpoint/2010/main" val="1654443671"/>
      </p:ext>
    </p:extLst>
  </p:cSld>
  <p:clrMap bg1="dk2" tx1="lt1" bg2="dk1" tx2="lt2" accent1="accent1" accent2="accent2" accent3="accent3" accent4="accent4" accent5="accent5" accent6="accent6" hlink="hlink" folHlink="folHlink"/>
  <p:sldLayoutIdLst>
    <p:sldLayoutId id="2147484134" r:id="rId1"/>
    <p:sldLayoutId id="2147484135" r:id="rId2"/>
    <p:sldLayoutId id="2147484136" r:id="rId3"/>
    <p:sldLayoutId id="2147484137" r:id="rId4"/>
    <p:sldLayoutId id="2147484138" r:id="rId5"/>
    <p:sldLayoutId id="2147484139" r:id="rId6"/>
    <p:sldLayoutId id="2147484140" r:id="rId7"/>
    <p:sldLayoutId id="2147484141" r:id="rId8"/>
    <p:sldLayoutId id="2147484142" r:id="rId9"/>
    <p:sldLayoutId id="2147484143" r:id="rId10"/>
    <p:sldLayoutId id="2147484144" r:id="rId11"/>
  </p:sldLayoutIdLst>
  <p:hf hdr="0"/>
  <p:txStyles>
    <p:titleStyle>
      <a:lvl1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mj-lt"/>
          <a:ea typeface="ＭＳ Ｐゴシック" charset="0"/>
          <a:cs typeface="ＭＳ Ｐゴシック" charset="0"/>
        </a:defRPr>
      </a:lvl1pPr>
      <a:lvl2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2pPr>
      <a:lvl3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3pPr>
      <a:lvl4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4pPr>
      <a:lvl5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5pPr>
      <a:lvl6pPr marL="4572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6pPr>
      <a:lvl7pPr marL="9144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7pPr>
      <a:lvl8pPr marL="13716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8pPr>
      <a:lvl9pPr marL="18288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charset="0"/>
        <a:buChar char="Ø"/>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chemeClr val="tx2"/>
        </a:buClr>
        <a:buSzPct val="50000"/>
        <a:buFont typeface="Wingdings" charset="0"/>
        <a:buChar char="l"/>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lr>
          <a:schemeClr val="folHlink"/>
        </a:buClr>
        <a:buSzPct val="50000"/>
        <a:buFont typeface="Wingdings" charset="0"/>
        <a:buChar char="l"/>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lr>
          <a:schemeClr val="hlink"/>
        </a:buClr>
        <a:buChar char="•"/>
        <a:defRPr sz="2000">
          <a:solidFill>
            <a:schemeClr val="tx1"/>
          </a:solidFill>
          <a:latin typeface="+mn-lt"/>
          <a:ea typeface="ＭＳ Ｐゴシック" charset="0"/>
        </a:defRPr>
      </a:lvl5pPr>
      <a:lvl6pPr marL="2514600" indent="-228600" algn="l" rtl="0" eaLnBrk="0" fontAlgn="base" hangingPunct="0">
        <a:spcBef>
          <a:spcPct val="20000"/>
        </a:spcBef>
        <a:spcAft>
          <a:spcPct val="0"/>
        </a:spcAft>
        <a:buClr>
          <a:schemeClr val="hlink"/>
        </a:buClr>
        <a:buChar char="•"/>
        <a:defRPr sz="2000">
          <a:solidFill>
            <a:schemeClr val="tx1"/>
          </a:solidFill>
          <a:latin typeface="+mn-lt"/>
        </a:defRPr>
      </a:lvl6pPr>
      <a:lvl7pPr marL="2971800" indent="-228600" algn="l" rtl="0" eaLnBrk="0" fontAlgn="base" hangingPunct="0">
        <a:spcBef>
          <a:spcPct val="20000"/>
        </a:spcBef>
        <a:spcAft>
          <a:spcPct val="0"/>
        </a:spcAft>
        <a:buClr>
          <a:schemeClr val="hlink"/>
        </a:buClr>
        <a:buChar char="•"/>
        <a:defRPr sz="2000">
          <a:solidFill>
            <a:schemeClr val="tx1"/>
          </a:solidFill>
          <a:latin typeface="+mn-lt"/>
        </a:defRPr>
      </a:lvl7pPr>
      <a:lvl8pPr marL="3429000" indent="-228600" algn="l" rtl="0" eaLnBrk="0" fontAlgn="base" hangingPunct="0">
        <a:spcBef>
          <a:spcPct val="20000"/>
        </a:spcBef>
        <a:spcAft>
          <a:spcPct val="0"/>
        </a:spcAft>
        <a:buClr>
          <a:schemeClr val="hlink"/>
        </a:buClr>
        <a:buChar char="•"/>
        <a:defRPr sz="2000">
          <a:solidFill>
            <a:schemeClr val="tx1"/>
          </a:solidFill>
          <a:latin typeface="+mn-lt"/>
        </a:defRPr>
      </a:lvl8pPr>
      <a:lvl9pPr marL="3886200" indent="-228600" algn="l" rtl="0" eaLnBrk="0" fontAlgn="base" hangingPunct="0">
        <a:spcBef>
          <a:spcPct val="20000"/>
        </a:spcBef>
        <a:spcAft>
          <a:spcPct val="0"/>
        </a:spcAft>
        <a:buClr>
          <a:schemeClr val="hlink"/>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47"/>
            </a:gs>
            <a:gs pos="50000">
              <a:srgbClr val="000099"/>
            </a:gs>
            <a:gs pos="100000">
              <a:srgbClr val="000047"/>
            </a:gs>
          </a:gsLst>
          <a:lin ang="5400000" scaled="1"/>
        </a:gradFill>
        <a:effectLst/>
      </p:bgPr>
    </p:bg>
    <p:spTree>
      <p:nvGrpSpPr>
        <p:cNvPr id="1" name=""/>
        <p:cNvGrpSpPr/>
        <p:nvPr/>
      </p:nvGrpSpPr>
      <p:grpSpPr>
        <a:xfrm>
          <a:off x="0" y="0"/>
          <a:ext cx="0" cy="0"/>
          <a:chOff x="0" y="0"/>
          <a:chExt cx="0" cy="0"/>
        </a:xfrm>
      </p:grpSpPr>
      <p:sp>
        <p:nvSpPr>
          <p:cNvPr id="373826" name="Rectangle 66"/>
          <p:cNvSpPr>
            <a:spLocks noGrp="1" noChangeArrowheads="1"/>
          </p:cNvSpPr>
          <p:nvPr>
            <p:ph type="title"/>
          </p:nvPr>
        </p:nvSpPr>
        <p:spPr bwMode="auto">
          <a:xfrm>
            <a:off x="76200" y="180975"/>
            <a:ext cx="7467600" cy="865188"/>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027" name="Rectangle 78"/>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14"/>
          <p:cNvSpPr>
            <a:spLocks noChangeArrowheads="1"/>
          </p:cNvSpPr>
          <p:nvPr userDrawn="1"/>
        </p:nvSpPr>
        <p:spPr bwMode="auto">
          <a:xfrm>
            <a:off x="1" y="6596063"/>
            <a:ext cx="9144000" cy="2619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08" tIns="45704" rIns="91408" bIns="45704"/>
          <a:lstStyle/>
          <a:p>
            <a:pPr algn="ctr" eaLnBrk="1" hangingPunct="1"/>
            <a:r>
              <a:rPr lang="en-US" sz="1200" b="1" dirty="0">
                <a:solidFill>
                  <a:srgbClr val="FFFF00"/>
                </a:solidFill>
                <a:latin typeface="Arial" charset="0"/>
                <a:ea typeface="ＭＳ Ｐゴシック" charset="0"/>
              </a:rPr>
              <a:t>IVSW</a:t>
            </a:r>
            <a:r>
              <a:rPr lang="en-US" sz="1200" b="1" dirty="0">
                <a:solidFill>
                  <a:srgbClr val="FFFFFF"/>
                </a:solidFill>
                <a:latin typeface="Arial" charset="0"/>
                <a:ea typeface="ＭＳ Ｐゴシック" charset="0"/>
              </a:rPr>
              <a:t> | July 2016</a:t>
            </a:r>
            <a:r>
              <a:rPr lang="en-US" sz="1400" b="1" dirty="0">
                <a:solidFill>
                  <a:srgbClr val="FFFFFF"/>
                </a:solidFill>
                <a:latin typeface="Arial" charset="0"/>
                <a:ea typeface="ＭＳ Ｐゴシック" charset="0"/>
              </a:rPr>
              <a:t>                                                                                                                                                       </a:t>
            </a:r>
            <a:fld id="{2BBD399C-524B-A74C-82CF-9975B7F908F1}" type="slidenum">
              <a:rPr lang="en-US" sz="1200" b="1">
                <a:solidFill>
                  <a:srgbClr val="FFFF00"/>
                </a:solidFill>
                <a:latin typeface="Helvetica" charset="0"/>
                <a:ea typeface="ＭＳ Ｐゴシック" charset="0"/>
              </a:rPr>
              <a:pPr algn="ctr" eaLnBrk="1" hangingPunct="1"/>
              <a:t>‹#›</a:t>
            </a:fld>
            <a:endParaRPr lang="en-US" sz="1200" b="1" dirty="0">
              <a:solidFill>
                <a:srgbClr val="FFFF00"/>
              </a:solidFill>
              <a:latin typeface="Helvetica" charset="0"/>
              <a:ea typeface="ＭＳ Ｐゴシック" charset="0"/>
            </a:endParaRPr>
          </a:p>
        </p:txBody>
      </p:sp>
    </p:spTree>
    <p:extLst>
      <p:ext uri="{BB962C8B-B14F-4D97-AF65-F5344CB8AC3E}">
        <p14:creationId xmlns:p14="http://schemas.microsoft.com/office/powerpoint/2010/main" val="3983302764"/>
      </p:ext>
    </p:extLst>
  </p:cSld>
  <p:clrMap bg1="dk2" tx1="lt1" bg2="dk1" tx2="lt2" accent1="accent1" accent2="accent2" accent3="accent3" accent4="accent4" accent5="accent5" accent6="accent6" hlink="hlink" folHlink="folHlink"/>
  <p:sldLayoutIdLst>
    <p:sldLayoutId id="2147484146" r:id="rId1"/>
    <p:sldLayoutId id="2147484147" r:id="rId2"/>
    <p:sldLayoutId id="2147484148" r:id="rId3"/>
    <p:sldLayoutId id="2147484149" r:id="rId4"/>
    <p:sldLayoutId id="2147484150" r:id="rId5"/>
    <p:sldLayoutId id="2147484151" r:id="rId6"/>
    <p:sldLayoutId id="2147484152" r:id="rId7"/>
    <p:sldLayoutId id="2147484153" r:id="rId8"/>
    <p:sldLayoutId id="2147484154" r:id="rId9"/>
    <p:sldLayoutId id="2147484155" r:id="rId10"/>
    <p:sldLayoutId id="2147484156" r:id="rId11"/>
  </p:sldLayoutIdLst>
  <p:hf hdr="0"/>
  <p:txStyles>
    <p:titleStyle>
      <a:lvl1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mj-lt"/>
          <a:ea typeface="ＭＳ Ｐゴシック" charset="0"/>
          <a:cs typeface="ＭＳ Ｐゴシック" charset="0"/>
        </a:defRPr>
      </a:lvl1pPr>
      <a:lvl2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2pPr>
      <a:lvl3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3pPr>
      <a:lvl4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4pPr>
      <a:lvl5pPr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ea typeface="ＭＳ Ｐゴシック" charset="0"/>
          <a:cs typeface="ＭＳ Ｐゴシック" charset="0"/>
        </a:defRPr>
      </a:lvl5pPr>
      <a:lvl6pPr marL="4572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6pPr>
      <a:lvl7pPr marL="9144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7pPr>
      <a:lvl8pPr marL="13716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8pPr>
      <a:lvl9pPr marL="1828800" algn="ctr" rtl="0" eaLnBrk="0" fontAlgn="base" hangingPunct="0">
        <a:spcBef>
          <a:spcPct val="0"/>
        </a:spcBef>
        <a:spcAft>
          <a:spcPct val="0"/>
        </a:spcAft>
        <a:defRPr sz="3600" b="1">
          <a:solidFill>
            <a:srgbClr val="FFFF00"/>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charset="0"/>
        <a:buChar char="Ø"/>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chemeClr val="tx2"/>
        </a:buClr>
        <a:buSzPct val="50000"/>
        <a:buFont typeface="Wingdings" charset="0"/>
        <a:buChar char="l"/>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lr>
          <a:schemeClr val="folHlink"/>
        </a:buClr>
        <a:buSzPct val="50000"/>
        <a:buFont typeface="Wingdings" charset="0"/>
        <a:buChar char="l"/>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lr>
          <a:schemeClr val="hlink"/>
        </a:buClr>
        <a:buChar char="•"/>
        <a:defRPr sz="2000">
          <a:solidFill>
            <a:schemeClr val="tx1"/>
          </a:solidFill>
          <a:latin typeface="+mn-lt"/>
          <a:ea typeface="ＭＳ Ｐゴシック" charset="0"/>
        </a:defRPr>
      </a:lvl5pPr>
      <a:lvl6pPr marL="2514600" indent="-228600" algn="l" rtl="0" eaLnBrk="0" fontAlgn="base" hangingPunct="0">
        <a:spcBef>
          <a:spcPct val="20000"/>
        </a:spcBef>
        <a:spcAft>
          <a:spcPct val="0"/>
        </a:spcAft>
        <a:buClr>
          <a:schemeClr val="hlink"/>
        </a:buClr>
        <a:buChar char="•"/>
        <a:defRPr sz="2000">
          <a:solidFill>
            <a:schemeClr val="tx1"/>
          </a:solidFill>
          <a:latin typeface="+mn-lt"/>
        </a:defRPr>
      </a:lvl6pPr>
      <a:lvl7pPr marL="2971800" indent="-228600" algn="l" rtl="0" eaLnBrk="0" fontAlgn="base" hangingPunct="0">
        <a:spcBef>
          <a:spcPct val="20000"/>
        </a:spcBef>
        <a:spcAft>
          <a:spcPct val="0"/>
        </a:spcAft>
        <a:buClr>
          <a:schemeClr val="hlink"/>
        </a:buClr>
        <a:buChar char="•"/>
        <a:defRPr sz="2000">
          <a:solidFill>
            <a:schemeClr val="tx1"/>
          </a:solidFill>
          <a:latin typeface="+mn-lt"/>
        </a:defRPr>
      </a:lvl7pPr>
      <a:lvl8pPr marL="3429000" indent="-228600" algn="l" rtl="0" eaLnBrk="0" fontAlgn="base" hangingPunct="0">
        <a:spcBef>
          <a:spcPct val="20000"/>
        </a:spcBef>
        <a:spcAft>
          <a:spcPct val="0"/>
        </a:spcAft>
        <a:buClr>
          <a:schemeClr val="hlink"/>
        </a:buClr>
        <a:buChar char="•"/>
        <a:defRPr sz="2000">
          <a:solidFill>
            <a:schemeClr val="tx1"/>
          </a:solidFill>
          <a:latin typeface="+mn-lt"/>
        </a:defRPr>
      </a:lvl8pPr>
      <a:lvl9pPr marL="3886200" indent="-228600" algn="l" rtl="0" eaLnBrk="0" fontAlgn="base" hangingPunct="0">
        <a:spcBef>
          <a:spcPct val="20000"/>
        </a:spcBef>
        <a:spcAft>
          <a:spcPct val="0"/>
        </a:spcAft>
        <a:buClr>
          <a:schemeClr val="hlink"/>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2.jpeg"/><Relationship Id="rId7"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6.jpe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5.jpeg"/><Relationship Id="rId7"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8" Type="http://schemas.openxmlformats.org/officeDocument/2006/relationships/image" Target="../media/image28.jpeg"/><Relationship Id="rId13" Type="http://schemas.openxmlformats.org/officeDocument/2006/relationships/image" Target="../media/image32.jpeg"/><Relationship Id="rId3" Type="http://schemas.openxmlformats.org/officeDocument/2006/relationships/image" Target="../media/image24.jpeg"/><Relationship Id="rId7" Type="http://schemas.openxmlformats.org/officeDocument/2006/relationships/image" Target="../media/image19.jpeg"/><Relationship Id="rId12" Type="http://schemas.openxmlformats.org/officeDocument/2006/relationships/image" Target="../media/image22.jpeg"/><Relationship Id="rId2" Type="http://schemas.openxmlformats.org/officeDocument/2006/relationships/notesSlide" Target="../notesSlides/notesSlide14.xml"/><Relationship Id="rId16"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27.jpeg"/><Relationship Id="rId11" Type="http://schemas.openxmlformats.org/officeDocument/2006/relationships/image" Target="../media/image31.jpeg"/><Relationship Id="rId5" Type="http://schemas.openxmlformats.org/officeDocument/2006/relationships/image" Target="../media/image26.jpeg"/><Relationship Id="rId15" Type="http://schemas.openxmlformats.org/officeDocument/2006/relationships/image" Target="../media/image33.jpeg"/><Relationship Id="rId10" Type="http://schemas.openxmlformats.org/officeDocument/2006/relationships/image" Target="../media/image30.jpeg"/><Relationship Id="rId4" Type="http://schemas.openxmlformats.org/officeDocument/2006/relationships/image" Target="../media/image25.jpeg"/><Relationship Id="rId9" Type="http://schemas.openxmlformats.org/officeDocument/2006/relationships/image" Target="../media/image29.jpeg"/><Relationship Id="rId1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9.wmf"/></Relationships>
</file>

<file path=ppt/slides/_rels/slide24.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1.wmf"/></Relationships>
</file>

<file path=ppt/slides/_rels/slide2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wmf"/></Relationships>
</file>

<file path=ppt/slides/_rels/slide26.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www.trust-hub.org/"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1.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53.png"/><Relationship Id="rId4" Type="http://schemas.openxmlformats.org/officeDocument/2006/relationships/image" Target="../media/image52.png"/></Relationships>
</file>

<file path=ppt/slides/_rels/slide54.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45976C4C-42A2-45B0-88DA-972C6BE85713}" type="slidenum">
              <a:rPr lang="en-US" altLang="en-US" sz="1200">
                <a:latin typeface="Garamond" panose="02020404030301010803" pitchFamily="18" charset="0"/>
              </a:rPr>
              <a:pPr>
                <a:spcBef>
                  <a:spcPct val="0"/>
                </a:spcBef>
                <a:buClrTx/>
                <a:buSzTx/>
                <a:buFontTx/>
                <a:buNone/>
              </a:pPr>
              <a:t>1</a:t>
            </a:fld>
            <a:endParaRPr lang="en-US" altLang="en-US" sz="1200">
              <a:latin typeface="Garamond" panose="02020404030301010803" pitchFamily="18" charset="0"/>
            </a:endParaRPr>
          </a:p>
        </p:txBody>
      </p:sp>
      <p:sp>
        <p:nvSpPr>
          <p:cNvPr id="7171" name="Rectangle 2"/>
          <p:cNvSpPr>
            <a:spLocks noChangeArrowheads="1"/>
          </p:cNvSpPr>
          <p:nvPr/>
        </p:nvSpPr>
        <p:spPr bwMode="auto">
          <a:xfrm>
            <a:off x="0" y="1916870"/>
            <a:ext cx="9144000" cy="287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None/>
            </a:pPr>
            <a:r>
              <a:rPr lang="en-US" altLang="en-US" sz="3200" b="1" dirty="0"/>
              <a:t>Chapter 5</a:t>
            </a:r>
          </a:p>
          <a:p>
            <a:pPr algn="ctr" eaLnBrk="1" hangingPunct="1">
              <a:spcBef>
                <a:spcPct val="0"/>
              </a:spcBef>
              <a:buClrTx/>
              <a:buSzTx/>
              <a:buFontTx/>
              <a:buNone/>
            </a:pPr>
            <a:endParaRPr lang="en-US" altLang="en-US" sz="4000" b="1" dirty="0">
              <a:solidFill>
                <a:srgbClr val="FF0000"/>
              </a:solidFill>
            </a:endParaRPr>
          </a:p>
          <a:p>
            <a:pPr algn="ctr" eaLnBrk="1" hangingPunct="1">
              <a:spcBef>
                <a:spcPct val="0"/>
              </a:spcBef>
              <a:buClrTx/>
              <a:buSzTx/>
              <a:buFontTx/>
              <a:buNone/>
            </a:pPr>
            <a:r>
              <a:rPr lang="en-US" altLang="en-US" sz="4000" b="1" dirty="0">
                <a:solidFill>
                  <a:srgbClr val="FF0000"/>
                </a:solidFill>
              </a:rPr>
              <a:t>Hardware Trojan</a:t>
            </a:r>
          </a:p>
          <a:p>
            <a:pPr algn="ctr" eaLnBrk="1" hangingPunct="1">
              <a:spcBef>
                <a:spcPct val="0"/>
              </a:spcBef>
              <a:buClrTx/>
              <a:buSzTx/>
              <a:buFontTx/>
              <a:buNone/>
            </a:pPr>
            <a:endParaRPr lang="en-US" altLang="en-US"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9"/>
          <p:cNvSpPr>
            <a:spLocks noChangeArrowheads="1"/>
          </p:cNvSpPr>
          <p:nvPr/>
        </p:nvSpPr>
        <p:spPr bwMode="auto">
          <a:xfrm>
            <a:off x="635000" y="1562200"/>
            <a:ext cx="2286000" cy="8636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2200" b="1" dirty="0">
                <a:solidFill>
                  <a:srgbClr val="000099"/>
                </a:solidFill>
              </a:rPr>
              <a:t>IP Vendor</a:t>
            </a:r>
          </a:p>
        </p:txBody>
      </p:sp>
      <p:sp>
        <p:nvSpPr>
          <p:cNvPr id="5" name="Rectangle 39"/>
          <p:cNvSpPr>
            <a:spLocks noChangeArrowheads="1"/>
          </p:cNvSpPr>
          <p:nvPr/>
        </p:nvSpPr>
        <p:spPr bwMode="auto">
          <a:xfrm>
            <a:off x="635000" y="2743300"/>
            <a:ext cx="2286000" cy="8509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2200" b="1" dirty="0" err="1">
                <a:solidFill>
                  <a:srgbClr val="000099"/>
                </a:solidFill>
              </a:rPr>
              <a:t>SoC</a:t>
            </a:r>
            <a:r>
              <a:rPr lang="en-US" altLang="en-US" sz="2200" b="1" dirty="0">
                <a:solidFill>
                  <a:srgbClr val="000099"/>
                </a:solidFill>
              </a:rPr>
              <a:t> Design </a:t>
            </a:r>
            <a:br>
              <a:rPr lang="en-US" altLang="en-US" sz="2200" b="1" dirty="0">
                <a:solidFill>
                  <a:srgbClr val="000099"/>
                </a:solidFill>
              </a:rPr>
            </a:br>
            <a:r>
              <a:rPr lang="en-US" altLang="en-US" sz="2200" b="1" dirty="0">
                <a:solidFill>
                  <a:srgbClr val="000099"/>
                </a:solidFill>
              </a:rPr>
              <a:t>House</a:t>
            </a:r>
          </a:p>
        </p:txBody>
      </p:sp>
      <p:sp>
        <p:nvSpPr>
          <p:cNvPr id="6" name="Rectangle 39"/>
          <p:cNvSpPr>
            <a:spLocks noChangeArrowheads="1"/>
          </p:cNvSpPr>
          <p:nvPr/>
        </p:nvSpPr>
        <p:spPr bwMode="auto">
          <a:xfrm>
            <a:off x="635000" y="3886300"/>
            <a:ext cx="2286000" cy="7620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2200" b="1" dirty="0">
                <a:solidFill>
                  <a:srgbClr val="000099"/>
                </a:solidFill>
              </a:rPr>
              <a:t>Foundry</a:t>
            </a:r>
          </a:p>
        </p:txBody>
      </p:sp>
      <p:sp>
        <p:nvSpPr>
          <p:cNvPr id="7" name="Rectangle 39"/>
          <p:cNvSpPr>
            <a:spLocks noChangeArrowheads="1"/>
          </p:cNvSpPr>
          <p:nvPr/>
        </p:nvSpPr>
        <p:spPr bwMode="auto">
          <a:xfrm>
            <a:off x="622300" y="4953100"/>
            <a:ext cx="2286000" cy="800100"/>
          </a:xfrm>
          <a:prstGeom prst="rect">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2200" b="1" dirty="0">
                <a:solidFill>
                  <a:srgbClr val="000099"/>
                </a:solidFill>
              </a:rPr>
              <a:t>Deployment</a:t>
            </a:r>
          </a:p>
        </p:txBody>
      </p:sp>
      <p:sp>
        <p:nvSpPr>
          <p:cNvPr id="8" name="Down Arrow 7"/>
          <p:cNvSpPr/>
          <p:nvPr/>
        </p:nvSpPr>
        <p:spPr bwMode="auto">
          <a:xfrm>
            <a:off x="1473200" y="2438500"/>
            <a:ext cx="622300" cy="304800"/>
          </a:xfrm>
          <a:prstGeom prst="downArrow">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endParaRPr lang="en-US" sz="2400" b="1">
              <a:solidFill>
                <a:srgbClr val="000099"/>
              </a:solidFill>
              <a:latin typeface="Arial" panose="020B0604020202020204" pitchFamily="34" charset="0"/>
            </a:endParaRPr>
          </a:p>
        </p:txBody>
      </p:sp>
      <p:sp>
        <p:nvSpPr>
          <p:cNvPr id="9" name="Down Arrow 8"/>
          <p:cNvSpPr/>
          <p:nvPr/>
        </p:nvSpPr>
        <p:spPr bwMode="auto">
          <a:xfrm>
            <a:off x="1473200" y="3581500"/>
            <a:ext cx="622300" cy="317500"/>
          </a:xfrm>
          <a:prstGeom prst="downArrow">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endParaRPr lang="en-US" sz="2400" b="1">
              <a:solidFill>
                <a:srgbClr val="000099"/>
              </a:solidFill>
              <a:latin typeface="Arial" panose="020B0604020202020204" pitchFamily="34" charset="0"/>
            </a:endParaRPr>
          </a:p>
        </p:txBody>
      </p:sp>
      <p:sp>
        <p:nvSpPr>
          <p:cNvPr id="10" name="Down Arrow 9"/>
          <p:cNvSpPr/>
          <p:nvPr/>
        </p:nvSpPr>
        <p:spPr bwMode="auto">
          <a:xfrm>
            <a:off x="1473200" y="4648300"/>
            <a:ext cx="622300" cy="304800"/>
          </a:xfrm>
          <a:prstGeom prst="downArrow">
            <a:avLst/>
          </a:prstGeom>
          <a:gradFill flip="none" rotWithShape="1">
            <a:gsLst>
              <a:gs pos="0">
                <a:schemeClr val="accent2">
                  <a:lumMod val="40000"/>
                  <a:lumOff val="60000"/>
                  <a:shade val="30000"/>
                  <a:satMod val="115000"/>
                </a:schemeClr>
              </a:gs>
              <a:gs pos="50000">
                <a:schemeClr val="accent2">
                  <a:lumMod val="40000"/>
                  <a:lumOff val="60000"/>
                  <a:shade val="67500"/>
                  <a:satMod val="115000"/>
                </a:schemeClr>
              </a:gs>
              <a:gs pos="100000">
                <a:schemeClr val="accent2">
                  <a:lumMod val="40000"/>
                  <a:lumOff val="60000"/>
                  <a:shade val="100000"/>
                  <a:satMod val="115000"/>
                </a:schemeClr>
              </a:gs>
            </a:gsLst>
            <a:lin ang="2700000" scaled="1"/>
            <a:tileRect/>
          </a:gradFill>
          <a:ln w="254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eaLnBrk="1" hangingPunct="1">
              <a:defRPr/>
            </a:pPr>
            <a:endParaRPr lang="en-US" sz="2400" b="1">
              <a:solidFill>
                <a:srgbClr val="000099"/>
              </a:solidFill>
              <a:latin typeface="Arial" panose="020B0604020202020204" pitchFamily="34" charset="0"/>
            </a:endParaRPr>
          </a:p>
        </p:txBody>
      </p:sp>
      <p:sp>
        <p:nvSpPr>
          <p:cNvPr id="12" name="Rounded Rectangle 11"/>
          <p:cNvSpPr/>
          <p:nvPr/>
        </p:nvSpPr>
        <p:spPr bwMode="auto">
          <a:xfrm>
            <a:off x="620010" y="994340"/>
            <a:ext cx="2235200" cy="457200"/>
          </a:xfrm>
          <a:prstGeom prst="roundRect">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algn="ctr">
              <a:defRPr/>
            </a:pPr>
            <a:r>
              <a:rPr lang="en-US" sz="2200" b="1" dirty="0" err="1">
                <a:solidFill>
                  <a:srgbClr val="000099"/>
                </a:solidFill>
                <a:latin typeface="Calibri" panose="020F0502020204030204" pitchFamily="34" charset="0"/>
              </a:rPr>
              <a:t>SoC</a:t>
            </a:r>
            <a:r>
              <a:rPr lang="en-US" sz="2200" b="1" dirty="0">
                <a:solidFill>
                  <a:srgbClr val="000099"/>
                </a:solidFill>
                <a:latin typeface="Calibri" panose="020F0502020204030204" pitchFamily="34" charset="0"/>
              </a:rPr>
              <a:t> Life-Cycle</a:t>
            </a:r>
          </a:p>
        </p:txBody>
      </p:sp>
      <p:sp>
        <p:nvSpPr>
          <p:cNvPr id="13" name="Rounded Rectangle 12"/>
          <p:cNvSpPr/>
          <p:nvPr/>
        </p:nvSpPr>
        <p:spPr bwMode="auto">
          <a:xfrm>
            <a:off x="3180648" y="981640"/>
            <a:ext cx="2146300" cy="457200"/>
          </a:xfrm>
          <a:prstGeom prst="roundRect">
            <a:avLst/>
          </a:prstGeom>
          <a:solidFill>
            <a:srgbClr val="FF7C8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algn="ctr">
              <a:defRPr/>
            </a:pPr>
            <a:r>
              <a:rPr lang="en-US" sz="2200" b="1" dirty="0">
                <a:solidFill>
                  <a:srgbClr val="000099"/>
                </a:solidFill>
                <a:latin typeface="Calibri" panose="020F0502020204030204" pitchFamily="34" charset="0"/>
              </a:rPr>
              <a:t>Threats</a:t>
            </a:r>
          </a:p>
        </p:txBody>
      </p:sp>
      <p:sp>
        <p:nvSpPr>
          <p:cNvPr id="14" name="Rounded Rectangle 13"/>
          <p:cNvSpPr/>
          <p:nvPr/>
        </p:nvSpPr>
        <p:spPr bwMode="auto">
          <a:xfrm>
            <a:off x="6553200" y="981640"/>
            <a:ext cx="2036164" cy="457200"/>
          </a:xfrm>
          <a:prstGeom prst="roundRect">
            <a:avLst/>
          </a:prstGeom>
          <a:solidFill>
            <a:srgbClr val="92D05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a:lstStyle/>
          <a:p>
            <a:pPr algn="ctr">
              <a:defRPr/>
            </a:pPr>
            <a:r>
              <a:rPr lang="en-US" sz="2200" b="1" dirty="0">
                <a:solidFill>
                  <a:srgbClr val="000099"/>
                </a:solidFill>
                <a:latin typeface="Calibri" panose="020F0502020204030204" pitchFamily="34" charset="0"/>
              </a:rPr>
              <a:t>Solutions</a:t>
            </a:r>
          </a:p>
        </p:txBody>
      </p:sp>
      <p:cxnSp>
        <p:nvCxnSpPr>
          <p:cNvPr id="17" name="Straight Arrow Connector 16"/>
          <p:cNvCxnSpPr/>
          <p:nvPr/>
        </p:nvCxnSpPr>
        <p:spPr>
          <a:xfrm flipV="1">
            <a:off x="5181600" y="1898750"/>
            <a:ext cx="1219200" cy="127000"/>
          </a:xfrm>
          <a:prstGeom prst="straightConnector1">
            <a:avLst/>
          </a:prstGeom>
          <a:ln w="25400">
            <a:solidFill>
              <a:srgbClr val="FF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37" idx="3"/>
          </p:cNvCxnSpPr>
          <p:nvPr/>
        </p:nvCxnSpPr>
        <p:spPr>
          <a:xfrm flipV="1">
            <a:off x="5192713" y="2438500"/>
            <a:ext cx="1519237" cy="1619250"/>
          </a:xfrm>
          <a:prstGeom prst="straightConnector1">
            <a:avLst/>
          </a:prstGeom>
          <a:ln w="25400">
            <a:solidFill>
              <a:srgbClr val="FF000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a:spLocks noChangeArrowheads="1"/>
          </p:cNvSpPr>
          <p:nvPr/>
        </p:nvSpPr>
        <p:spPr bwMode="auto">
          <a:xfrm>
            <a:off x="6553200" y="1593950"/>
            <a:ext cx="2438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algn="ctr" eaLnBrk="1" hangingPunct="1"/>
            <a:r>
              <a:rPr lang="en-US" altLang="en-US"/>
              <a:t>Trojan-res. design; improve. detectability; trust validation</a:t>
            </a:r>
            <a:endParaRPr lang="en-US" altLang="en-US" baseline="30000"/>
          </a:p>
        </p:txBody>
      </p:sp>
      <p:sp>
        <p:nvSpPr>
          <p:cNvPr id="20" name="Oval 19"/>
          <p:cNvSpPr/>
          <p:nvPr/>
        </p:nvSpPr>
        <p:spPr>
          <a:xfrm>
            <a:off x="6400800" y="1517750"/>
            <a:ext cx="2590800" cy="1141413"/>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TextBox 20"/>
          <p:cNvSpPr txBox="1">
            <a:spLocks noChangeArrowheads="1"/>
          </p:cNvSpPr>
          <p:nvPr/>
        </p:nvSpPr>
        <p:spPr bwMode="auto">
          <a:xfrm>
            <a:off x="6451600" y="3116490"/>
            <a:ext cx="2514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algn="ctr" eaLnBrk="1" hangingPunct="1"/>
            <a:r>
              <a:rPr lang="en-US" altLang="en-US" dirty="0"/>
              <a:t>Hardware Obfuscation; Protect IP </a:t>
            </a:r>
            <a:r>
              <a:rPr lang="en-US" altLang="en-US" dirty="0" err="1"/>
              <a:t>Eval</a:t>
            </a:r>
            <a:r>
              <a:rPr lang="en-US" altLang="en-US" dirty="0"/>
              <a:t>. Copy, PUF, Low-cost authentication</a:t>
            </a:r>
            <a:endParaRPr lang="en-US" altLang="en-US" baseline="30000" dirty="0"/>
          </a:p>
        </p:txBody>
      </p:sp>
      <p:sp>
        <p:nvSpPr>
          <p:cNvPr id="22" name="Oval 21"/>
          <p:cNvSpPr/>
          <p:nvPr/>
        </p:nvSpPr>
        <p:spPr>
          <a:xfrm>
            <a:off x="6324600" y="2787750"/>
            <a:ext cx="2667000" cy="1676400"/>
          </a:xfrm>
          <a:prstGeom prst="ellipse">
            <a:avLst/>
          </a:prstGeom>
          <a:noFill/>
          <a:ln w="254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3" name="TextBox 22"/>
          <p:cNvSpPr txBox="1">
            <a:spLocks noChangeArrowheads="1"/>
          </p:cNvSpPr>
          <p:nvPr/>
        </p:nvSpPr>
        <p:spPr bwMode="auto">
          <a:xfrm>
            <a:off x="6629400" y="4749900"/>
            <a:ext cx="21224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algn="ctr" eaLnBrk="1" hangingPunct="1"/>
            <a:r>
              <a:rPr lang="en-US" altLang="en-US"/>
              <a:t>SCA resistant Design; Prevent scan-based attack;</a:t>
            </a:r>
            <a:r>
              <a:rPr lang="en-US" altLang="en-US" baseline="-25000"/>
              <a:t> </a:t>
            </a:r>
            <a:r>
              <a:rPr lang="en-US" altLang="en-US"/>
              <a:t>variable ECC</a:t>
            </a:r>
          </a:p>
        </p:txBody>
      </p:sp>
      <p:sp>
        <p:nvSpPr>
          <p:cNvPr id="24" name="Oval 23"/>
          <p:cNvSpPr/>
          <p:nvPr/>
        </p:nvSpPr>
        <p:spPr>
          <a:xfrm>
            <a:off x="6324600" y="4641950"/>
            <a:ext cx="2667000" cy="1422400"/>
          </a:xfrm>
          <a:prstGeom prst="ellipse">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5" name="Straight Arrow Connector 24"/>
          <p:cNvCxnSpPr>
            <a:stCxn id="40" idx="3"/>
          </p:cNvCxnSpPr>
          <p:nvPr/>
        </p:nvCxnSpPr>
        <p:spPr>
          <a:xfrm flipV="1">
            <a:off x="5202238" y="5556350"/>
            <a:ext cx="1131887" cy="180975"/>
          </a:xfrm>
          <a:prstGeom prst="straightConnector1">
            <a:avLst/>
          </a:prstGeom>
          <a:ln w="25400">
            <a:solidFill>
              <a:srgbClr val="00B05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35" idx="3"/>
          </p:cNvCxnSpPr>
          <p:nvPr/>
        </p:nvCxnSpPr>
        <p:spPr>
          <a:xfrm>
            <a:off x="5181600" y="2733775"/>
            <a:ext cx="1447800" cy="282575"/>
          </a:xfrm>
          <a:prstGeom prst="straightConnector1">
            <a:avLst/>
          </a:prstGeom>
          <a:ln w="25400">
            <a:solidFill>
              <a:srgbClr val="FF99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5202238" y="3270350"/>
            <a:ext cx="1198562" cy="276225"/>
          </a:xfrm>
          <a:prstGeom prst="straightConnector1">
            <a:avLst/>
          </a:prstGeom>
          <a:ln w="25400">
            <a:solidFill>
              <a:srgbClr val="FF99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22" idx="2"/>
          </p:cNvCxnSpPr>
          <p:nvPr/>
        </p:nvCxnSpPr>
        <p:spPr>
          <a:xfrm flipV="1">
            <a:off x="5232400" y="3625950"/>
            <a:ext cx="1092200" cy="885825"/>
          </a:xfrm>
          <a:prstGeom prst="straightConnector1">
            <a:avLst/>
          </a:prstGeom>
          <a:ln w="25400">
            <a:solidFill>
              <a:srgbClr val="FF99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5213350" y="5197575"/>
            <a:ext cx="1095375" cy="53975"/>
          </a:xfrm>
          <a:prstGeom prst="straightConnector1">
            <a:avLst/>
          </a:prstGeom>
          <a:ln w="25400">
            <a:solidFill>
              <a:srgbClr val="00B05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32" name="Up-Down Arrow 3"/>
          <p:cNvSpPr>
            <a:spLocks noChangeArrowheads="1"/>
          </p:cNvSpPr>
          <p:nvPr/>
        </p:nvSpPr>
        <p:spPr bwMode="auto">
          <a:xfrm>
            <a:off x="339725" y="1587600"/>
            <a:ext cx="165100" cy="4165600"/>
          </a:xfrm>
          <a:prstGeom prst="upDownArrow">
            <a:avLst>
              <a:gd name="adj1" fmla="val 50000"/>
              <a:gd name="adj2" fmla="val 49994"/>
            </a:avLst>
          </a:prstGeom>
          <a:solidFill>
            <a:schemeClr val="bg1">
              <a:lumMod val="50000"/>
            </a:schemeClr>
          </a:solidFill>
          <a:ln w="28575">
            <a:solidFill>
              <a:schemeClr val="tx1"/>
            </a:solidFill>
            <a:round/>
            <a:headEnd/>
            <a:tailEnd/>
          </a:ln>
        </p:spPr>
        <p:txBody>
          <a:bodyPr/>
          <a:lstStyle/>
          <a:p>
            <a:pPr eaLnBrk="1" hangingPunct="1">
              <a:defRPr/>
            </a:pPr>
            <a:endParaRPr lang="en-US" i="1">
              <a:solidFill>
                <a:srgbClr val="FFFF00"/>
              </a:solidFill>
            </a:endParaRPr>
          </a:p>
        </p:txBody>
      </p:sp>
      <p:sp>
        <p:nvSpPr>
          <p:cNvPr id="33" name="TextBox 4"/>
          <p:cNvSpPr txBox="1">
            <a:spLocks noChangeArrowheads="1"/>
          </p:cNvSpPr>
          <p:nvPr/>
        </p:nvSpPr>
        <p:spPr bwMode="auto">
          <a:xfrm>
            <a:off x="-28575" y="1816200"/>
            <a:ext cx="49371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algn="ctr" eaLnBrk="1" hangingPunct="1"/>
            <a:r>
              <a:rPr lang="en-US" altLang="en-US" sz="2000" i="1">
                <a:latin typeface="Arial" panose="020B0604020202020204" pitchFamily="34" charset="0"/>
              </a:rPr>
              <a:t>Spans all stages in IC life cycle</a:t>
            </a:r>
          </a:p>
        </p:txBody>
      </p:sp>
      <p:sp>
        <p:nvSpPr>
          <p:cNvPr id="34" name="Rectangle 33"/>
          <p:cNvSpPr/>
          <p:nvPr/>
        </p:nvSpPr>
        <p:spPr bwMode="auto">
          <a:xfrm>
            <a:off x="3200400" y="1660625"/>
            <a:ext cx="1981200" cy="66675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b="1" i="1" u="sng" dirty="0">
                <a:solidFill>
                  <a:srgbClr val="C00000"/>
                </a:solidFill>
                <a:latin typeface="Calibri" panose="020F0502020204030204" pitchFamily="34" charset="0"/>
              </a:rPr>
              <a:t>Insert h/w Trojan; hidden backdoor</a:t>
            </a:r>
          </a:p>
        </p:txBody>
      </p:sp>
      <p:sp>
        <p:nvSpPr>
          <p:cNvPr id="35" name="Rectangle 34"/>
          <p:cNvSpPr/>
          <p:nvPr/>
        </p:nvSpPr>
        <p:spPr bwMode="auto">
          <a:xfrm>
            <a:off x="3200400" y="2451200"/>
            <a:ext cx="1981200" cy="56515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i="1" u="sng" dirty="0">
                <a:solidFill>
                  <a:srgbClr val="C00000"/>
                </a:solidFill>
                <a:latin typeface="Calibri" panose="020F0502020204030204" pitchFamily="34" charset="0"/>
              </a:rPr>
              <a:t>IP piracy (cloning)</a:t>
            </a:r>
          </a:p>
        </p:txBody>
      </p:sp>
      <p:sp>
        <p:nvSpPr>
          <p:cNvPr id="36" name="Rectangle 35"/>
          <p:cNvSpPr/>
          <p:nvPr/>
        </p:nvSpPr>
        <p:spPr bwMode="auto">
          <a:xfrm>
            <a:off x="3200400" y="3140175"/>
            <a:ext cx="1981200" cy="63500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b="1" i="1" u="sng" dirty="0">
                <a:solidFill>
                  <a:srgbClr val="C00000"/>
                </a:solidFill>
                <a:latin typeface="Calibri" panose="020F0502020204030204" pitchFamily="34" charset="0"/>
              </a:rPr>
              <a:t>Trojan in design </a:t>
            </a:r>
            <a:r>
              <a:rPr lang="en-US" i="1" dirty="0">
                <a:solidFill>
                  <a:srgbClr val="C00000"/>
                </a:solidFill>
                <a:latin typeface="Calibri" panose="020F0502020204030204" pitchFamily="34" charset="0"/>
              </a:rPr>
              <a:t>(e.g. by tools)</a:t>
            </a:r>
          </a:p>
        </p:txBody>
      </p:sp>
      <p:sp>
        <p:nvSpPr>
          <p:cNvPr id="37" name="Rectangle 36"/>
          <p:cNvSpPr/>
          <p:nvPr/>
        </p:nvSpPr>
        <p:spPr bwMode="auto">
          <a:xfrm>
            <a:off x="3211513" y="3854550"/>
            <a:ext cx="1981200" cy="40640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b="1" i="1" u="sng" dirty="0">
                <a:solidFill>
                  <a:srgbClr val="C00000"/>
                </a:solidFill>
                <a:latin typeface="Calibri" panose="020F0502020204030204" pitchFamily="34" charset="0"/>
              </a:rPr>
              <a:t>Implant Trojan</a:t>
            </a:r>
          </a:p>
        </p:txBody>
      </p:sp>
      <p:sp>
        <p:nvSpPr>
          <p:cNvPr id="38" name="Rectangle 37"/>
          <p:cNvSpPr/>
          <p:nvPr/>
        </p:nvSpPr>
        <p:spPr bwMode="auto">
          <a:xfrm>
            <a:off x="3211513" y="4324450"/>
            <a:ext cx="1981200" cy="62865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i="1" dirty="0">
                <a:solidFill>
                  <a:srgbClr val="C00000"/>
                </a:solidFill>
                <a:latin typeface="Calibri" panose="020F0502020204030204" pitchFamily="34" charset="0"/>
              </a:rPr>
              <a:t>Overproduction &amp; cloning</a:t>
            </a:r>
          </a:p>
        </p:txBody>
      </p:sp>
      <p:sp>
        <p:nvSpPr>
          <p:cNvPr id="39" name="Rectangle 38"/>
          <p:cNvSpPr/>
          <p:nvPr/>
        </p:nvSpPr>
        <p:spPr bwMode="auto">
          <a:xfrm>
            <a:off x="3221038" y="5048350"/>
            <a:ext cx="1981200" cy="41275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i="1" dirty="0">
                <a:solidFill>
                  <a:srgbClr val="C00000"/>
                </a:solidFill>
                <a:latin typeface="Calibri" panose="020F0502020204030204" pitchFamily="34" charset="0"/>
              </a:rPr>
              <a:t>Leak secret info.</a:t>
            </a:r>
          </a:p>
        </p:txBody>
      </p:sp>
      <p:sp>
        <p:nvSpPr>
          <p:cNvPr id="40" name="Rectangle 39"/>
          <p:cNvSpPr/>
          <p:nvPr/>
        </p:nvSpPr>
        <p:spPr bwMode="auto">
          <a:xfrm>
            <a:off x="3221038" y="5530950"/>
            <a:ext cx="1981200" cy="412750"/>
          </a:xfrm>
          <a:prstGeom prst="rect">
            <a:avLst/>
          </a:prstGeom>
          <a:solidFill>
            <a:schemeClr val="bg1">
              <a:lumMod val="85000"/>
            </a:schemeClr>
          </a:solidFill>
          <a:ln w="19050" cap="flat" cmpd="sng" algn="ctr">
            <a:solidFill>
              <a:srgbClr val="C00000"/>
            </a:solidFill>
            <a:prstDash val="solid"/>
            <a:round/>
            <a:headEnd type="none" w="med" len="med"/>
            <a:tailEnd type="none" w="med" len="med"/>
          </a:ln>
          <a:effectLst/>
        </p:spPr>
        <p:txBody>
          <a:bodyPr/>
          <a:lstStyle/>
          <a:p>
            <a:pPr>
              <a:defRPr/>
            </a:pPr>
            <a:r>
              <a:rPr lang="en-US" i="1" dirty="0">
                <a:solidFill>
                  <a:srgbClr val="C00000"/>
                </a:solidFill>
                <a:latin typeface="Calibri" panose="020F0502020204030204" pitchFamily="34" charset="0"/>
              </a:rPr>
              <a:t>Magnetic field </a:t>
            </a:r>
            <a:r>
              <a:rPr lang="en-US" i="1" dirty="0" err="1">
                <a:solidFill>
                  <a:srgbClr val="C00000"/>
                </a:solidFill>
                <a:latin typeface="Calibri" panose="020F0502020204030204" pitchFamily="34" charset="0"/>
              </a:rPr>
              <a:t>atk</a:t>
            </a:r>
            <a:r>
              <a:rPr lang="en-US" i="1" dirty="0">
                <a:solidFill>
                  <a:srgbClr val="C00000"/>
                </a:solidFill>
                <a:latin typeface="Calibri" panose="020F0502020204030204" pitchFamily="34" charset="0"/>
              </a:rPr>
              <a:t>.</a:t>
            </a:r>
          </a:p>
        </p:txBody>
      </p:sp>
      <p:cxnSp>
        <p:nvCxnSpPr>
          <p:cNvPr id="44" name="Straight Arrow Connector 43"/>
          <p:cNvCxnSpPr/>
          <p:nvPr/>
        </p:nvCxnSpPr>
        <p:spPr>
          <a:xfrm flipV="1">
            <a:off x="5202238" y="2270225"/>
            <a:ext cx="1198562" cy="1022350"/>
          </a:xfrm>
          <a:prstGeom prst="straightConnector1">
            <a:avLst/>
          </a:prstGeom>
          <a:ln w="25400">
            <a:solidFill>
              <a:srgbClr val="FF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cxnSpLocks noChangeShapeType="1"/>
            <a:stCxn id="4" idx="3"/>
            <a:endCxn id="34" idx="1"/>
          </p:cNvCxnSpPr>
          <p:nvPr/>
        </p:nvCxnSpPr>
        <p:spPr bwMode="auto">
          <a:xfrm flipV="1">
            <a:off x="2921000" y="1994000"/>
            <a:ext cx="279400" cy="0"/>
          </a:xfrm>
          <a:prstGeom prst="straightConnector1">
            <a:avLst/>
          </a:prstGeom>
          <a:noFill/>
          <a:ln w="19050" algn="ctr">
            <a:solidFill>
              <a:schemeClr val="tx1"/>
            </a:solidFill>
            <a:round/>
            <a:headEnd/>
            <a:tailEnd type="triangle" w="med" len="med"/>
          </a:ln>
        </p:spPr>
      </p:cxnSp>
      <p:cxnSp>
        <p:nvCxnSpPr>
          <p:cNvPr id="49" name="Straight Arrow Connector 48"/>
          <p:cNvCxnSpPr>
            <a:cxnSpLocks noChangeShapeType="1"/>
            <a:stCxn id="5" idx="3"/>
            <a:endCxn id="35" idx="1"/>
          </p:cNvCxnSpPr>
          <p:nvPr/>
        </p:nvCxnSpPr>
        <p:spPr bwMode="auto">
          <a:xfrm flipV="1">
            <a:off x="2921000" y="2733775"/>
            <a:ext cx="279400" cy="434975"/>
          </a:xfrm>
          <a:prstGeom prst="straightConnector1">
            <a:avLst/>
          </a:prstGeom>
          <a:noFill/>
          <a:ln w="19050" algn="ctr">
            <a:solidFill>
              <a:schemeClr val="tx1"/>
            </a:solidFill>
            <a:round/>
            <a:headEnd/>
            <a:tailEnd type="triangle" w="med" len="med"/>
          </a:ln>
        </p:spPr>
      </p:cxnSp>
      <p:cxnSp>
        <p:nvCxnSpPr>
          <p:cNvPr id="51" name="Straight Arrow Connector 50"/>
          <p:cNvCxnSpPr>
            <a:cxnSpLocks noChangeShapeType="1"/>
            <a:stCxn id="5" idx="3"/>
            <a:endCxn id="36" idx="1"/>
          </p:cNvCxnSpPr>
          <p:nvPr/>
        </p:nvCxnSpPr>
        <p:spPr bwMode="auto">
          <a:xfrm>
            <a:off x="2921000" y="3168750"/>
            <a:ext cx="279400" cy="288925"/>
          </a:xfrm>
          <a:prstGeom prst="straightConnector1">
            <a:avLst/>
          </a:prstGeom>
          <a:noFill/>
          <a:ln w="19050" algn="ctr">
            <a:solidFill>
              <a:schemeClr val="tx1"/>
            </a:solidFill>
            <a:round/>
            <a:headEnd/>
            <a:tailEnd type="triangle" w="med" len="med"/>
          </a:ln>
        </p:spPr>
      </p:cxnSp>
      <p:cxnSp>
        <p:nvCxnSpPr>
          <p:cNvPr id="53" name="Straight Arrow Connector 52"/>
          <p:cNvCxnSpPr>
            <a:cxnSpLocks noChangeShapeType="1"/>
            <a:stCxn id="6" idx="3"/>
            <a:endCxn id="37" idx="1"/>
          </p:cNvCxnSpPr>
          <p:nvPr/>
        </p:nvCxnSpPr>
        <p:spPr bwMode="auto">
          <a:xfrm flipV="1">
            <a:off x="2921000" y="4057750"/>
            <a:ext cx="290513" cy="209550"/>
          </a:xfrm>
          <a:prstGeom prst="straightConnector1">
            <a:avLst/>
          </a:prstGeom>
          <a:noFill/>
          <a:ln w="19050" algn="ctr">
            <a:solidFill>
              <a:schemeClr val="tx1"/>
            </a:solidFill>
            <a:round/>
            <a:headEnd/>
            <a:tailEnd type="triangle" w="med" len="med"/>
          </a:ln>
        </p:spPr>
      </p:cxnSp>
      <p:cxnSp>
        <p:nvCxnSpPr>
          <p:cNvPr id="55" name="Straight Arrow Connector 54"/>
          <p:cNvCxnSpPr>
            <a:cxnSpLocks noChangeShapeType="1"/>
            <a:stCxn id="6" idx="3"/>
            <a:endCxn id="38" idx="1"/>
          </p:cNvCxnSpPr>
          <p:nvPr/>
        </p:nvCxnSpPr>
        <p:spPr bwMode="auto">
          <a:xfrm>
            <a:off x="2921000" y="4267300"/>
            <a:ext cx="290513" cy="371475"/>
          </a:xfrm>
          <a:prstGeom prst="straightConnector1">
            <a:avLst/>
          </a:prstGeom>
          <a:noFill/>
          <a:ln w="19050" algn="ctr">
            <a:solidFill>
              <a:schemeClr val="tx1"/>
            </a:solidFill>
            <a:round/>
            <a:headEnd/>
            <a:tailEnd type="triangle" w="med" len="med"/>
          </a:ln>
        </p:spPr>
      </p:cxnSp>
      <p:cxnSp>
        <p:nvCxnSpPr>
          <p:cNvPr id="57" name="Straight Arrow Connector 56"/>
          <p:cNvCxnSpPr>
            <a:cxnSpLocks noChangeShapeType="1"/>
            <a:stCxn id="7" idx="3"/>
            <a:endCxn id="39" idx="1"/>
          </p:cNvCxnSpPr>
          <p:nvPr/>
        </p:nvCxnSpPr>
        <p:spPr bwMode="auto">
          <a:xfrm flipV="1">
            <a:off x="2908300" y="5254725"/>
            <a:ext cx="312738" cy="98425"/>
          </a:xfrm>
          <a:prstGeom prst="straightConnector1">
            <a:avLst/>
          </a:prstGeom>
          <a:noFill/>
          <a:ln w="19050" algn="ctr">
            <a:solidFill>
              <a:schemeClr val="tx1"/>
            </a:solidFill>
            <a:round/>
            <a:headEnd/>
            <a:tailEnd type="triangle" w="med" len="med"/>
          </a:ln>
        </p:spPr>
      </p:cxnSp>
      <p:cxnSp>
        <p:nvCxnSpPr>
          <p:cNvPr id="59" name="Straight Arrow Connector 58"/>
          <p:cNvCxnSpPr>
            <a:cxnSpLocks noChangeShapeType="1"/>
            <a:stCxn id="7" idx="3"/>
            <a:endCxn id="40" idx="1"/>
          </p:cNvCxnSpPr>
          <p:nvPr/>
        </p:nvCxnSpPr>
        <p:spPr bwMode="auto">
          <a:xfrm>
            <a:off x="2908300" y="5353150"/>
            <a:ext cx="312738" cy="384175"/>
          </a:xfrm>
          <a:prstGeom prst="straightConnector1">
            <a:avLst/>
          </a:prstGeom>
          <a:noFill/>
          <a:ln w="19050" algn="ctr">
            <a:solidFill>
              <a:schemeClr val="tx1"/>
            </a:solidFill>
            <a:round/>
            <a:headEnd/>
            <a:tailEnd type="triangle" w="med" len="med"/>
          </a:ln>
        </p:spPr>
      </p:cxnSp>
      <p:sp>
        <p:nvSpPr>
          <p:cNvPr id="43" name="Rectangle 2">
            <a:extLst>
              <a:ext uri="{FF2B5EF4-FFF2-40B4-BE49-F238E27FC236}">
                <a16:creationId xmlns:a16="http://schemas.microsoft.com/office/drawing/2014/main" id="{9A69184F-8DC9-1541-829A-B0BABD01E99B}"/>
              </a:ext>
            </a:extLst>
          </p:cNvPr>
          <p:cNvSpPr>
            <a:spLocks noGrp="1" noChangeArrowheads="1"/>
          </p:cNvSpPr>
          <p:nvPr>
            <p:ph type="title"/>
          </p:nvPr>
        </p:nvSpPr>
        <p:spPr>
          <a:xfrm>
            <a:off x="0" y="0"/>
            <a:ext cx="9144000" cy="812800"/>
          </a:xfrm>
        </p:spPr>
        <p:txBody>
          <a:bodyPr/>
          <a:lstStyle/>
          <a:p>
            <a:pPr eaLnBrk="1" hangingPunct="1"/>
            <a:r>
              <a:rPr lang="en-US" altLang="en-US" b="1" dirty="0"/>
              <a:t>Threats</a:t>
            </a:r>
          </a:p>
        </p:txBody>
      </p:sp>
      <p:sp>
        <p:nvSpPr>
          <p:cNvPr id="2" name="TextBox 1">
            <a:extLst>
              <a:ext uri="{FF2B5EF4-FFF2-40B4-BE49-F238E27FC236}">
                <a16:creationId xmlns:a16="http://schemas.microsoft.com/office/drawing/2014/main" id="{E2CFE695-1BA2-4341-814B-369E69E11C35}"/>
              </a:ext>
            </a:extLst>
          </p:cNvPr>
          <p:cNvSpPr txBox="1"/>
          <p:nvPr/>
        </p:nvSpPr>
        <p:spPr>
          <a:xfrm>
            <a:off x="9968459" y="367259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9064459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53" presetClass="entr" presetSubtype="16"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500" fill="hold"/>
                                        <p:tgtEl>
                                          <p:spTgt spid="32"/>
                                        </p:tgtEl>
                                        <p:attrNameLst>
                                          <p:attrName>ppt_w</p:attrName>
                                        </p:attrNameLst>
                                      </p:cBhvr>
                                      <p:tavLst>
                                        <p:tav tm="0">
                                          <p:val>
                                            <p:fltVal val="0"/>
                                          </p:val>
                                        </p:tav>
                                        <p:tav tm="100000">
                                          <p:val>
                                            <p:strVal val="#ppt_w"/>
                                          </p:val>
                                        </p:tav>
                                      </p:tavLst>
                                    </p:anim>
                                    <p:anim calcmode="lin" valueType="num">
                                      <p:cBhvr>
                                        <p:cTn id="36" dur="500" fill="hold"/>
                                        <p:tgtEl>
                                          <p:spTgt spid="32"/>
                                        </p:tgtEl>
                                        <p:attrNameLst>
                                          <p:attrName>ppt_h</p:attrName>
                                        </p:attrNameLst>
                                      </p:cBhvr>
                                      <p:tavLst>
                                        <p:tav tm="0">
                                          <p:val>
                                            <p:fltVal val="0"/>
                                          </p:val>
                                        </p:tav>
                                        <p:tav tm="100000">
                                          <p:val>
                                            <p:strVal val="#ppt_h"/>
                                          </p:val>
                                        </p:tav>
                                      </p:tavLst>
                                    </p:anim>
                                    <p:animEffect transition="in" filter="fade">
                                      <p:cBhvr>
                                        <p:cTn id="37" dur="500"/>
                                        <p:tgtEl>
                                          <p:spTgt spid="32"/>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9" grpId="0"/>
      <p:bldP spid="20" grpId="0" animBg="1"/>
      <p:bldP spid="21" grpId="0"/>
      <p:bldP spid="22" grpId="0" animBg="1"/>
      <p:bldP spid="23" grpId="0"/>
      <p:bldP spid="24" grpId="0" animBg="1"/>
      <p:bldP spid="32" grpId="0" animBg="1"/>
      <p:bldP spid="33" grpId="0"/>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0"/>
            <a:ext cx="9144000" cy="812800"/>
          </a:xfrm>
        </p:spPr>
        <p:txBody>
          <a:bodyPr/>
          <a:lstStyle/>
          <a:p>
            <a:pPr eaLnBrk="1" hangingPunct="1"/>
            <a:r>
              <a:rPr lang="en-US" altLang="en-US" sz="3600" b="1" dirty="0"/>
              <a:t>What </a:t>
            </a:r>
            <a:r>
              <a:rPr lang="en-US" altLang="ja-JP" sz="3600" b="1" dirty="0"/>
              <a:t>is Hardware Trojan?</a:t>
            </a:r>
            <a:endParaRPr lang="en-US" altLang="en-US" sz="3600" b="1" dirty="0"/>
          </a:p>
        </p:txBody>
      </p:sp>
      <p:sp>
        <p:nvSpPr>
          <p:cNvPr id="10243" name="Rectangle 3"/>
          <p:cNvSpPr>
            <a:spLocks noGrp="1" noChangeArrowheads="1"/>
          </p:cNvSpPr>
          <p:nvPr>
            <p:ph idx="1"/>
          </p:nvPr>
        </p:nvSpPr>
        <p:spPr>
          <a:xfrm>
            <a:off x="241300" y="821440"/>
            <a:ext cx="8788400" cy="5249576"/>
          </a:xfrm>
        </p:spPr>
        <p:txBody>
          <a:bodyPr/>
          <a:lstStyle/>
          <a:p>
            <a:pPr eaLnBrk="1" hangingPunct="1">
              <a:lnSpc>
                <a:spcPct val="90000"/>
              </a:lnSpc>
            </a:pPr>
            <a:r>
              <a:rPr lang="en-US" altLang="en-US" sz="2400" b="1" dirty="0"/>
              <a:t>Hardware Trojan: </a:t>
            </a:r>
          </a:p>
          <a:p>
            <a:pPr lvl="1" eaLnBrk="1" hangingPunct="1">
              <a:lnSpc>
                <a:spcPct val="90000"/>
              </a:lnSpc>
            </a:pPr>
            <a:r>
              <a:rPr lang="en-US" altLang="en-US" sz="2000" dirty="0">
                <a:ea typeface="Arial" panose="020B0604020202020204" pitchFamily="34" charset="0"/>
              </a:rPr>
              <a:t>A malicious addition or modification to the existing circuit elements.</a:t>
            </a:r>
          </a:p>
          <a:p>
            <a:pPr eaLnBrk="1" hangingPunct="1">
              <a:lnSpc>
                <a:spcPct val="90000"/>
              </a:lnSpc>
            </a:pPr>
            <a:r>
              <a:rPr lang="en-US" altLang="en-US" sz="2400" b="1" dirty="0"/>
              <a:t>What hardware Trojans can do?</a:t>
            </a:r>
          </a:p>
          <a:p>
            <a:pPr lvl="1" eaLnBrk="1" hangingPunct="1">
              <a:lnSpc>
                <a:spcPct val="90000"/>
              </a:lnSpc>
            </a:pPr>
            <a:r>
              <a:rPr lang="en-US" altLang="en-US" sz="2000" dirty="0">
                <a:ea typeface="Arial" panose="020B0604020202020204" pitchFamily="34" charset="0"/>
              </a:rPr>
              <a:t>Change the functionality</a:t>
            </a:r>
          </a:p>
          <a:p>
            <a:pPr lvl="1" eaLnBrk="1" hangingPunct="1">
              <a:lnSpc>
                <a:spcPct val="90000"/>
              </a:lnSpc>
            </a:pPr>
            <a:r>
              <a:rPr lang="en-US" altLang="en-US" sz="2000" dirty="0">
                <a:ea typeface="Arial" panose="020B0604020202020204" pitchFamily="34" charset="0"/>
              </a:rPr>
              <a:t>Reduce the reliability</a:t>
            </a:r>
          </a:p>
          <a:p>
            <a:pPr lvl="1" eaLnBrk="1" hangingPunct="1">
              <a:lnSpc>
                <a:spcPct val="90000"/>
              </a:lnSpc>
            </a:pPr>
            <a:r>
              <a:rPr lang="en-US" altLang="en-US" sz="2000" dirty="0">
                <a:ea typeface="Arial" panose="020B0604020202020204" pitchFamily="34" charset="0"/>
              </a:rPr>
              <a:t>Leak valuable information</a:t>
            </a:r>
          </a:p>
          <a:p>
            <a:pPr eaLnBrk="1" hangingPunct="1">
              <a:lnSpc>
                <a:spcPct val="90000"/>
              </a:lnSpc>
            </a:pPr>
            <a:r>
              <a:rPr lang="en-US" altLang="en-US" sz="2400" b="1" dirty="0"/>
              <a:t>Applications that are likely to be targets for attackers</a:t>
            </a:r>
          </a:p>
          <a:p>
            <a:pPr lvl="1" eaLnBrk="1" hangingPunct="1">
              <a:lnSpc>
                <a:spcPct val="90000"/>
              </a:lnSpc>
            </a:pPr>
            <a:r>
              <a:rPr lang="en-US" altLang="en-US" sz="2000" dirty="0">
                <a:ea typeface="Arial" panose="020B0604020202020204" pitchFamily="34" charset="0"/>
              </a:rPr>
              <a:t>Military applications</a:t>
            </a:r>
          </a:p>
          <a:p>
            <a:pPr lvl="1" eaLnBrk="1" hangingPunct="1">
              <a:lnSpc>
                <a:spcPct val="90000"/>
              </a:lnSpc>
            </a:pPr>
            <a:r>
              <a:rPr lang="en-US" altLang="en-US" sz="2000" dirty="0">
                <a:ea typeface="Arial" panose="020B0604020202020204" pitchFamily="34" charset="0"/>
              </a:rPr>
              <a:t>Aerospace applications</a:t>
            </a:r>
          </a:p>
          <a:p>
            <a:pPr lvl="1" eaLnBrk="1" hangingPunct="1">
              <a:lnSpc>
                <a:spcPct val="90000"/>
              </a:lnSpc>
            </a:pPr>
            <a:r>
              <a:rPr lang="en-US" altLang="en-US" sz="2000" dirty="0">
                <a:ea typeface="Arial" panose="020B0604020202020204" pitchFamily="34" charset="0"/>
              </a:rPr>
              <a:t>Civilian security-critical applications</a:t>
            </a:r>
          </a:p>
          <a:p>
            <a:pPr lvl="1" eaLnBrk="1" hangingPunct="1">
              <a:lnSpc>
                <a:spcPct val="90000"/>
              </a:lnSpc>
            </a:pPr>
            <a:r>
              <a:rPr lang="en-US" altLang="en-US" sz="2000" dirty="0">
                <a:ea typeface="Arial" panose="020B0604020202020204" pitchFamily="34" charset="0"/>
              </a:rPr>
              <a:t>Financial applications</a:t>
            </a:r>
          </a:p>
          <a:p>
            <a:pPr lvl="1" eaLnBrk="1" hangingPunct="1">
              <a:lnSpc>
                <a:spcPct val="90000"/>
              </a:lnSpc>
            </a:pPr>
            <a:r>
              <a:rPr lang="en-US" altLang="en-US" sz="2000" dirty="0">
                <a:ea typeface="Arial" panose="020B0604020202020204" pitchFamily="34" charset="0"/>
              </a:rPr>
              <a:t>Transportation security</a:t>
            </a:r>
          </a:p>
          <a:p>
            <a:pPr lvl="1" eaLnBrk="1" hangingPunct="1">
              <a:lnSpc>
                <a:spcPct val="90000"/>
              </a:lnSpc>
            </a:pPr>
            <a:r>
              <a:rPr lang="en-US" altLang="en-US" sz="2000" dirty="0" err="1">
                <a:ea typeface="Arial" panose="020B0604020202020204" pitchFamily="34" charset="0"/>
              </a:rPr>
              <a:t>IoT</a:t>
            </a:r>
            <a:r>
              <a:rPr lang="en-US" altLang="en-US" sz="2000" dirty="0">
                <a:ea typeface="Arial" panose="020B0604020202020204" pitchFamily="34" charset="0"/>
              </a:rPr>
              <a:t> devices</a:t>
            </a:r>
          </a:p>
          <a:p>
            <a:pPr lvl="1" eaLnBrk="1" hangingPunct="1">
              <a:lnSpc>
                <a:spcPct val="90000"/>
              </a:lnSpc>
            </a:pPr>
            <a:r>
              <a:rPr lang="en-US" altLang="en-US" sz="2000" dirty="0">
                <a:ea typeface="Arial" panose="020B0604020202020204" pitchFamily="34" charset="0"/>
              </a:rPr>
              <a:t>Commercial devices</a:t>
            </a:r>
          </a:p>
          <a:p>
            <a:pPr lvl="1" eaLnBrk="1" hangingPunct="1">
              <a:lnSpc>
                <a:spcPct val="90000"/>
              </a:lnSpc>
            </a:pPr>
            <a:r>
              <a:rPr lang="en-US" altLang="en-US" sz="2000" dirty="0">
                <a:ea typeface="Arial" panose="020B0604020202020204" pitchFamily="34" charset="0"/>
              </a:rPr>
              <a:t>More</a:t>
            </a:r>
          </a:p>
          <a:p>
            <a:pPr lvl="1" eaLnBrk="1" hangingPunct="1">
              <a:lnSpc>
                <a:spcPct val="90000"/>
              </a:lnSpc>
            </a:pPr>
            <a:endParaRPr lang="en-US" altLang="en-US" sz="2000" dirty="0">
              <a:ea typeface="Arial" panose="020B0604020202020204" pitchFamily="34" charset="0"/>
            </a:endParaRPr>
          </a:p>
        </p:txBody>
      </p:sp>
      <p:sp>
        <p:nvSpPr>
          <p:cNvPr id="1024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1FCEAEA6-E601-4CCE-ADC3-32CA13B54CFE}" type="slidenum">
              <a:rPr lang="en-US" altLang="en-US" sz="1200"/>
              <a:pPr>
                <a:spcBef>
                  <a:spcPct val="0"/>
                </a:spcBef>
                <a:buClrTx/>
                <a:buSzTx/>
                <a:buFontTx/>
                <a:buNone/>
              </a:pPr>
              <a:t>3</a:t>
            </a:fld>
            <a:endParaRPr lang="en-US"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0" y="0"/>
            <a:ext cx="9144000" cy="838200"/>
          </a:xfrm>
        </p:spPr>
        <p:txBody>
          <a:bodyPr/>
          <a:lstStyle/>
          <a:p>
            <a:pPr eaLnBrk="1" hangingPunct="1"/>
            <a:r>
              <a:rPr lang="en-US" altLang="en-US" b="1"/>
              <a:t>IC/IP Trust Problem</a:t>
            </a:r>
            <a:endParaRPr lang="en-US" altLang="en-US"/>
          </a:p>
        </p:txBody>
      </p:sp>
      <p:sp>
        <p:nvSpPr>
          <p:cNvPr id="18435" name="Content Placeholder 2"/>
          <p:cNvSpPr>
            <a:spLocks noGrp="1"/>
          </p:cNvSpPr>
          <p:nvPr>
            <p:ph idx="1"/>
          </p:nvPr>
        </p:nvSpPr>
        <p:spPr/>
        <p:txBody>
          <a:bodyPr/>
          <a:lstStyle/>
          <a:p>
            <a:pPr eaLnBrk="1" hangingPunct="1"/>
            <a:r>
              <a:rPr lang="en-US" altLang="en-US" sz="2400" dirty="0"/>
              <a:t>Chip design and fabrication has become increasingly vulnerable to malicious activities and alterations with globalization.</a:t>
            </a:r>
          </a:p>
          <a:p>
            <a:pPr eaLnBrk="1" hangingPunct="1"/>
            <a:endParaRPr lang="en-US" altLang="en-US" sz="2400" dirty="0"/>
          </a:p>
          <a:p>
            <a:pPr eaLnBrk="1" hangingPunct="1"/>
            <a:r>
              <a:rPr lang="en-US" altLang="en-US" sz="2400" b="1" dirty="0"/>
              <a:t>IP Vendor and System Integrator:</a:t>
            </a:r>
          </a:p>
          <a:p>
            <a:pPr lvl="1" eaLnBrk="1" hangingPunct="1"/>
            <a:r>
              <a:rPr lang="en-US" altLang="en-US" sz="2000" dirty="0">
                <a:ea typeface="Arial" panose="020B0604020202020204" pitchFamily="34" charset="0"/>
              </a:rPr>
              <a:t>IP vendor may place a Trojan in the IP</a:t>
            </a:r>
          </a:p>
          <a:p>
            <a:pPr lvl="1" eaLnBrk="1" hangingPunct="1"/>
            <a:r>
              <a:rPr lang="en-US" altLang="en-US" sz="2000" i="1" dirty="0">
                <a:ea typeface="Arial" panose="020B0604020202020204" pitchFamily="34" charset="0"/>
              </a:rPr>
              <a:t>IP Trust problem</a:t>
            </a:r>
          </a:p>
          <a:p>
            <a:pPr eaLnBrk="1" hangingPunct="1"/>
            <a:endParaRPr lang="en-US" altLang="en-US" sz="2400" dirty="0"/>
          </a:p>
          <a:p>
            <a:pPr eaLnBrk="1" hangingPunct="1"/>
            <a:r>
              <a:rPr lang="en-US" altLang="en-US" sz="2400" b="1" dirty="0"/>
              <a:t>Designer and Foundry: </a:t>
            </a:r>
          </a:p>
          <a:p>
            <a:pPr lvl="1" eaLnBrk="1" hangingPunct="1"/>
            <a:r>
              <a:rPr lang="en-US" altLang="en-US" sz="2000" dirty="0">
                <a:ea typeface="Arial" panose="020B0604020202020204" pitchFamily="34" charset="0"/>
              </a:rPr>
              <a:t>Foundry may place a Trojan in the layout design.</a:t>
            </a:r>
          </a:p>
          <a:p>
            <a:pPr lvl="1" eaLnBrk="1" hangingPunct="1"/>
            <a:r>
              <a:rPr lang="en-US" altLang="en-US" sz="2000" i="1" dirty="0">
                <a:ea typeface="Arial" panose="020B0604020202020204" pitchFamily="34" charset="0"/>
              </a:rPr>
              <a:t>IC Trust problem</a:t>
            </a:r>
          </a:p>
          <a:p>
            <a:pPr eaLnBrk="1" hangingPunct="1"/>
            <a:endParaRPr lang="en-US" altLang="en-US" dirty="0"/>
          </a:p>
        </p:txBody>
      </p:sp>
      <p:sp>
        <p:nvSpPr>
          <p:cNvPr id="1843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C94057D2-CBAA-4694-9B10-1AFEE8C14B1C}" type="slidenum">
              <a:rPr lang="en-US" altLang="en-US" sz="1200"/>
              <a:pPr>
                <a:spcBef>
                  <a:spcPct val="0"/>
                </a:spcBef>
                <a:buClrTx/>
                <a:buSzTx/>
                <a:buFontTx/>
                <a:buNone/>
              </a:pPr>
              <a:t>4</a:t>
            </a:fld>
            <a:endParaRPr lang="en-US" alt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76200"/>
            <a:ext cx="8229600" cy="685800"/>
          </a:xfrm>
          <a:noFill/>
        </p:spPr>
        <p:txBody>
          <a:bodyPr/>
          <a:lstStyle/>
          <a:p>
            <a:pPr eaLnBrk="1" hangingPunct="1"/>
            <a:r>
              <a:rPr lang="en-US" altLang="en-US" b="1" dirty="0"/>
              <a:t>Hardware Trojan Threat</a:t>
            </a:r>
          </a:p>
        </p:txBody>
      </p:sp>
      <p:grpSp>
        <p:nvGrpSpPr>
          <p:cNvPr id="20483" name="Group 3"/>
          <p:cNvGrpSpPr>
            <a:grpSpLocks/>
          </p:cNvGrpSpPr>
          <p:nvPr/>
        </p:nvGrpSpPr>
        <p:grpSpPr bwMode="auto">
          <a:xfrm>
            <a:off x="2362200" y="1371600"/>
            <a:ext cx="3352800" cy="3962400"/>
            <a:chOff x="1488" y="1008"/>
            <a:chExt cx="2112" cy="2496"/>
          </a:xfrm>
        </p:grpSpPr>
        <p:sp>
          <p:nvSpPr>
            <p:cNvPr id="20486" name="Rectangle 4"/>
            <p:cNvSpPr>
              <a:spLocks noChangeArrowheads="1"/>
            </p:cNvSpPr>
            <p:nvPr/>
          </p:nvSpPr>
          <p:spPr bwMode="auto">
            <a:xfrm>
              <a:off x="2496" y="1008"/>
              <a:ext cx="1104" cy="336"/>
            </a:xfrm>
            <a:prstGeom prst="rect">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0487" name="Rectangle 5"/>
            <p:cNvSpPr>
              <a:spLocks noChangeArrowheads="1"/>
            </p:cNvSpPr>
            <p:nvPr/>
          </p:nvSpPr>
          <p:spPr bwMode="auto">
            <a:xfrm>
              <a:off x="2496" y="3168"/>
              <a:ext cx="1104" cy="336"/>
            </a:xfrm>
            <a:prstGeom prst="rect">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0488" name="Rectangle 6"/>
            <p:cNvSpPr>
              <a:spLocks noChangeArrowheads="1"/>
            </p:cNvSpPr>
            <p:nvPr/>
          </p:nvSpPr>
          <p:spPr bwMode="auto">
            <a:xfrm>
              <a:off x="1488" y="2064"/>
              <a:ext cx="1104" cy="336"/>
            </a:xfrm>
            <a:prstGeom prst="rect">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0489" name="Line 7"/>
            <p:cNvSpPr>
              <a:spLocks noChangeShapeType="1"/>
            </p:cNvSpPr>
            <p:nvPr/>
          </p:nvSpPr>
          <p:spPr bwMode="auto">
            <a:xfrm>
              <a:off x="3120" y="1344"/>
              <a:ext cx="0" cy="1824"/>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490" name="Line 8"/>
            <p:cNvSpPr>
              <a:spLocks noChangeShapeType="1"/>
            </p:cNvSpPr>
            <p:nvPr/>
          </p:nvSpPr>
          <p:spPr bwMode="auto">
            <a:xfrm flipH="1">
              <a:off x="1968" y="1344"/>
              <a:ext cx="1008" cy="72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491" name="Line 9"/>
            <p:cNvSpPr>
              <a:spLocks noChangeShapeType="1"/>
            </p:cNvSpPr>
            <p:nvPr/>
          </p:nvSpPr>
          <p:spPr bwMode="auto">
            <a:xfrm>
              <a:off x="2016" y="2400"/>
              <a:ext cx="960" cy="768"/>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0492" name="Text Box 10"/>
            <p:cNvSpPr txBox="1">
              <a:spLocks noChangeArrowheads="1"/>
            </p:cNvSpPr>
            <p:nvPr/>
          </p:nvSpPr>
          <p:spPr bwMode="auto">
            <a:xfrm>
              <a:off x="2652" y="1056"/>
              <a:ext cx="7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IP Vendor</a:t>
              </a:r>
            </a:p>
          </p:txBody>
        </p:sp>
        <p:sp>
          <p:nvSpPr>
            <p:cNvPr id="20493" name="Text Box 11"/>
            <p:cNvSpPr txBox="1">
              <a:spLocks noChangeArrowheads="1"/>
            </p:cNvSpPr>
            <p:nvPr/>
          </p:nvSpPr>
          <p:spPr bwMode="auto">
            <a:xfrm>
              <a:off x="1488" y="2064"/>
              <a:ext cx="1056"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en-US" altLang="en-US" sz="1800" b="1">
                  <a:latin typeface="Tahoma" panose="020B0604030504040204" pitchFamily="34" charset="0"/>
                </a:rPr>
                <a:t>System Integrator</a:t>
              </a:r>
            </a:p>
          </p:txBody>
        </p:sp>
        <p:sp>
          <p:nvSpPr>
            <p:cNvPr id="20494" name="Text Box 12"/>
            <p:cNvSpPr txBox="1">
              <a:spLocks noChangeArrowheads="1"/>
            </p:cNvSpPr>
            <p:nvPr/>
          </p:nvSpPr>
          <p:spPr bwMode="auto">
            <a:xfrm>
              <a:off x="2592" y="3216"/>
              <a:ext cx="9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Manufacture</a:t>
              </a:r>
            </a:p>
          </p:txBody>
        </p:sp>
      </p:grpSp>
      <p:sp>
        <p:nvSpPr>
          <p:cNvPr id="20484" name="Text Box 13"/>
          <p:cNvSpPr txBox="1">
            <a:spLocks noChangeArrowheads="1"/>
          </p:cNvSpPr>
          <p:nvPr/>
        </p:nvSpPr>
        <p:spPr bwMode="auto">
          <a:xfrm>
            <a:off x="2667000" y="5699125"/>
            <a:ext cx="4557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b="1">
                <a:latin typeface="Tahoma" panose="020B0604030504040204" pitchFamily="34" charset="0"/>
              </a:rPr>
              <a:t>Any of these steps can be untrusted</a:t>
            </a:r>
          </a:p>
        </p:txBody>
      </p:sp>
      <p:sp>
        <p:nvSpPr>
          <p:cNvPr id="20485"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AECE70E4-E7A0-4883-9083-C2F376E3F7F1}" type="slidenum">
              <a:rPr lang="en-US" altLang="en-US" sz="1200"/>
              <a:pPr algn="r" eaLnBrk="1" hangingPunct="1">
                <a:spcBef>
                  <a:spcPct val="0"/>
                </a:spcBef>
                <a:buClrTx/>
                <a:buSzTx/>
                <a:buFontTx/>
                <a:buNone/>
              </a:pPr>
              <a:t>5</a:t>
            </a:fld>
            <a:endParaRPr lang="en-US" altLang="en-US" sz="120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33400" y="76200"/>
            <a:ext cx="8229600" cy="685800"/>
          </a:xfrm>
          <a:noFill/>
        </p:spPr>
        <p:txBody>
          <a:bodyPr/>
          <a:lstStyle/>
          <a:p>
            <a:pPr eaLnBrk="1" hangingPunct="1"/>
            <a:r>
              <a:rPr lang="en-US" altLang="en-US" b="1" dirty="0"/>
              <a:t>Hardware Trojan Threat</a:t>
            </a:r>
          </a:p>
        </p:txBody>
      </p:sp>
      <p:sp>
        <p:nvSpPr>
          <p:cNvPr id="22531" name="Rectangle 3"/>
          <p:cNvSpPr>
            <a:spLocks noChangeArrowheads="1"/>
          </p:cNvSpPr>
          <p:nvPr/>
        </p:nvSpPr>
        <p:spPr bwMode="auto">
          <a:xfrm>
            <a:off x="3581400" y="1219200"/>
            <a:ext cx="1752600" cy="533400"/>
          </a:xfrm>
          <a:prstGeom prst="rect">
            <a:avLst/>
          </a:prstGeom>
          <a:solidFill>
            <a:srgbClr val="FF0000"/>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2532" name="Rectangle 4"/>
          <p:cNvSpPr>
            <a:spLocks noChangeArrowheads="1"/>
          </p:cNvSpPr>
          <p:nvPr/>
        </p:nvSpPr>
        <p:spPr bwMode="auto">
          <a:xfrm>
            <a:off x="3581400" y="4648200"/>
            <a:ext cx="1752600" cy="533400"/>
          </a:xfrm>
          <a:prstGeom prst="rect">
            <a:avLst/>
          </a:prstGeom>
          <a:solidFill>
            <a:schemeClr val="accent1"/>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2533" name="Rectangle 5"/>
          <p:cNvSpPr>
            <a:spLocks noChangeArrowheads="1"/>
          </p:cNvSpPr>
          <p:nvPr/>
        </p:nvSpPr>
        <p:spPr bwMode="auto">
          <a:xfrm>
            <a:off x="1981200" y="2895600"/>
            <a:ext cx="1752600" cy="533400"/>
          </a:xfrm>
          <a:prstGeom prst="rect">
            <a:avLst/>
          </a:prstGeom>
          <a:solidFill>
            <a:schemeClr val="accent1"/>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2534" name="Line 6"/>
          <p:cNvSpPr>
            <a:spLocks noChangeShapeType="1"/>
          </p:cNvSpPr>
          <p:nvPr/>
        </p:nvSpPr>
        <p:spPr bwMode="auto">
          <a:xfrm>
            <a:off x="4572000" y="1752600"/>
            <a:ext cx="0" cy="28956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35" name="Line 7"/>
          <p:cNvSpPr>
            <a:spLocks noChangeShapeType="1"/>
          </p:cNvSpPr>
          <p:nvPr/>
        </p:nvSpPr>
        <p:spPr bwMode="auto">
          <a:xfrm flipH="1">
            <a:off x="2743200" y="1752600"/>
            <a:ext cx="1600200" cy="11430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36" name="Line 8"/>
          <p:cNvSpPr>
            <a:spLocks noChangeShapeType="1"/>
          </p:cNvSpPr>
          <p:nvPr/>
        </p:nvSpPr>
        <p:spPr bwMode="auto">
          <a:xfrm>
            <a:off x="2819400" y="3429000"/>
            <a:ext cx="1524000" cy="12192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2537" name="Text Box 9"/>
          <p:cNvSpPr txBox="1">
            <a:spLocks noChangeArrowheads="1"/>
          </p:cNvSpPr>
          <p:nvPr/>
        </p:nvSpPr>
        <p:spPr bwMode="auto">
          <a:xfrm>
            <a:off x="3829050" y="1295400"/>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IP Vendor</a:t>
            </a:r>
          </a:p>
        </p:txBody>
      </p:sp>
      <p:sp>
        <p:nvSpPr>
          <p:cNvPr id="22538" name="Text Box 10"/>
          <p:cNvSpPr txBox="1">
            <a:spLocks noChangeArrowheads="1"/>
          </p:cNvSpPr>
          <p:nvPr/>
        </p:nvSpPr>
        <p:spPr bwMode="auto">
          <a:xfrm>
            <a:off x="1981200" y="2895600"/>
            <a:ext cx="1752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en-US" altLang="en-US" sz="1800" b="1">
                <a:latin typeface="Tahoma" panose="020B0604030504040204" pitchFamily="34" charset="0"/>
              </a:rPr>
              <a:t>System Integrator</a:t>
            </a:r>
          </a:p>
        </p:txBody>
      </p:sp>
      <p:sp>
        <p:nvSpPr>
          <p:cNvPr id="22539" name="Text Box 11"/>
          <p:cNvSpPr txBox="1">
            <a:spLocks noChangeArrowheads="1"/>
          </p:cNvSpPr>
          <p:nvPr/>
        </p:nvSpPr>
        <p:spPr bwMode="auto">
          <a:xfrm>
            <a:off x="3733800" y="4724400"/>
            <a:ext cx="154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Manufacture</a:t>
            </a:r>
          </a:p>
        </p:txBody>
      </p:sp>
      <p:sp>
        <p:nvSpPr>
          <p:cNvPr id="22540" name="Text Box 13"/>
          <p:cNvSpPr txBox="1">
            <a:spLocks noChangeArrowheads="1"/>
          </p:cNvSpPr>
          <p:nvPr/>
        </p:nvSpPr>
        <p:spPr bwMode="auto">
          <a:xfrm>
            <a:off x="984250" y="5446713"/>
            <a:ext cx="1184275" cy="376237"/>
          </a:xfrm>
          <a:prstGeom prst="rect">
            <a:avLst/>
          </a:prstGeom>
          <a:solidFill>
            <a:srgbClr val="FF0000"/>
          </a:solidFill>
          <a:ln w="9525">
            <a:solidFill>
              <a:schemeClr val="tx1"/>
            </a:solidFill>
            <a:miter lim="800000"/>
            <a:headEnd/>
            <a:tailEnd/>
          </a:ln>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Untrusted</a:t>
            </a:r>
          </a:p>
        </p:txBody>
      </p:sp>
      <p:sp>
        <p:nvSpPr>
          <p:cNvPr id="22541" name="AutoShape 15"/>
          <p:cNvSpPr>
            <a:spLocks noChangeArrowheads="1"/>
          </p:cNvSpPr>
          <p:nvPr/>
        </p:nvSpPr>
        <p:spPr bwMode="auto">
          <a:xfrm>
            <a:off x="5867400" y="2286000"/>
            <a:ext cx="1447800" cy="533400"/>
          </a:xfrm>
          <a:prstGeom prst="wedgeRoundRectCallout">
            <a:avLst>
              <a:gd name="adj1" fmla="val -86731"/>
              <a:gd name="adj2" fmla="val -193454"/>
              <a:gd name="adj3" fmla="val 16667"/>
            </a:avLst>
          </a:prstGeom>
          <a:solidFill>
            <a:srgbClr val="FF9900"/>
          </a:solidFill>
          <a:ln w="9525">
            <a:solidFill>
              <a:schemeClr val="tx1"/>
            </a:solidFill>
            <a:prstDash val="dash"/>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800" b="1">
                <a:latin typeface="Tahoma" panose="020B0604030504040204" pitchFamily="34" charset="0"/>
              </a:rPr>
              <a:t>IP Trust</a:t>
            </a:r>
          </a:p>
        </p:txBody>
      </p:sp>
      <p:sp>
        <p:nvSpPr>
          <p:cNvPr id="22542"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E3634409-587E-4A99-A543-D4D94D6D0BD3}" type="slidenum">
              <a:rPr lang="en-US" altLang="en-US" sz="1200"/>
              <a:pPr algn="r" eaLnBrk="1" hangingPunct="1">
                <a:spcBef>
                  <a:spcPct val="0"/>
                </a:spcBef>
                <a:buClrTx/>
                <a:buSzTx/>
                <a:buFontTx/>
                <a:buNone/>
              </a:pPr>
              <a:t>6</a:t>
            </a:fld>
            <a:endParaRPr lang="en-US" altLang="en-US" sz="1200"/>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33400" y="76200"/>
            <a:ext cx="8229600" cy="762000"/>
          </a:xfrm>
        </p:spPr>
        <p:txBody>
          <a:bodyPr/>
          <a:lstStyle/>
          <a:p>
            <a:pPr eaLnBrk="1" hangingPunct="1"/>
            <a:r>
              <a:rPr lang="en-US" altLang="en-US" b="1"/>
              <a:t>Issues with Third IP Design</a:t>
            </a:r>
          </a:p>
        </p:txBody>
      </p:sp>
      <p:pic>
        <p:nvPicPr>
          <p:cNvPr id="24579" name="Picture 3" descr="Pic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38300"/>
            <a:ext cx="4991100"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4"/>
          <p:cNvSpPr>
            <a:spLocks noChangeArrowheads="1"/>
          </p:cNvSpPr>
          <p:nvPr/>
        </p:nvSpPr>
        <p:spPr bwMode="auto">
          <a:xfrm>
            <a:off x="1981200" y="5067300"/>
            <a:ext cx="533400"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nvGrpSpPr>
          <p:cNvPr id="2" name="Group 18"/>
          <p:cNvGrpSpPr>
            <a:grpSpLocks/>
          </p:cNvGrpSpPr>
          <p:nvPr/>
        </p:nvGrpSpPr>
        <p:grpSpPr bwMode="auto">
          <a:xfrm>
            <a:off x="228600" y="876300"/>
            <a:ext cx="8559800" cy="5243513"/>
            <a:chOff x="144" y="672"/>
            <a:chExt cx="5392" cy="3303"/>
          </a:xfrm>
        </p:grpSpPr>
        <p:sp>
          <p:nvSpPr>
            <p:cNvPr id="24584" name="Line 10"/>
            <p:cNvSpPr>
              <a:spLocks noChangeShapeType="1"/>
            </p:cNvSpPr>
            <p:nvPr/>
          </p:nvSpPr>
          <p:spPr bwMode="auto">
            <a:xfrm flipV="1">
              <a:off x="3696" y="1824"/>
              <a:ext cx="81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4585" name="Group 17"/>
            <p:cNvGrpSpPr>
              <a:grpSpLocks/>
            </p:cNvGrpSpPr>
            <p:nvPr/>
          </p:nvGrpSpPr>
          <p:grpSpPr bwMode="auto">
            <a:xfrm>
              <a:off x="144" y="672"/>
              <a:ext cx="5392" cy="3303"/>
              <a:chOff x="144" y="672"/>
              <a:chExt cx="5392" cy="3303"/>
            </a:xfrm>
          </p:grpSpPr>
          <p:sp>
            <p:nvSpPr>
              <p:cNvPr id="24586" name="Text Box 5"/>
              <p:cNvSpPr txBox="1">
                <a:spLocks noChangeArrowheads="1"/>
              </p:cNvSpPr>
              <p:nvPr/>
            </p:nvSpPr>
            <p:spPr bwMode="auto">
              <a:xfrm>
                <a:off x="528" y="672"/>
                <a:ext cx="1056"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X </a:t>
                </a:r>
              </a:p>
            </p:txBody>
          </p:sp>
          <p:sp>
            <p:nvSpPr>
              <p:cNvPr id="24587" name="Text Box 6"/>
              <p:cNvSpPr txBox="1">
                <a:spLocks noChangeArrowheads="1"/>
              </p:cNvSpPr>
              <p:nvPr/>
            </p:nvSpPr>
            <p:spPr bwMode="auto">
              <a:xfrm>
                <a:off x="4512" y="1680"/>
                <a:ext cx="1024"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Y </a:t>
                </a:r>
              </a:p>
            </p:txBody>
          </p:sp>
          <p:sp>
            <p:nvSpPr>
              <p:cNvPr id="24588" name="Text Box 7"/>
              <p:cNvSpPr txBox="1">
                <a:spLocks noChangeArrowheads="1"/>
              </p:cNvSpPr>
              <p:nvPr/>
            </p:nvSpPr>
            <p:spPr bwMode="auto">
              <a:xfrm>
                <a:off x="144" y="1920"/>
                <a:ext cx="1008"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Z </a:t>
                </a:r>
              </a:p>
            </p:txBody>
          </p:sp>
          <p:sp>
            <p:nvSpPr>
              <p:cNvPr id="24589" name="Text Box 8"/>
              <p:cNvSpPr txBox="1">
                <a:spLocks noChangeArrowheads="1"/>
              </p:cNvSpPr>
              <p:nvPr/>
            </p:nvSpPr>
            <p:spPr bwMode="auto">
              <a:xfrm>
                <a:off x="3072" y="3744"/>
                <a:ext cx="1032"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W </a:t>
                </a:r>
              </a:p>
            </p:txBody>
          </p:sp>
          <p:sp>
            <p:nvSpPr>
              <p:cNvPr id="24590" name="Line 9"/>
              <p:cNvSpPr>
                <a:spLocks noChangeShapeType="1"/>
              </p:cNvSpPr>
              <p:nvPr/>
            </p:nvSpPr>
            <p:spPr bwMode="auto">
              <a:xfrm flipH="1" flipV="1">
                <a:off x="1152" y="912"/>
                <a:ext cx="672"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1" name="Line 11"/>
              <p:cNvSpPr>
                <a:spLocks noChangeShapeType="1"/>
              </p:cNvSpPr>
              <p:nvPr/>
            </p:nvSpPr>
            <p:spPr bwMode="auto">
              <a:xfrm flipH="1" flipV="1">
                <a:off x="1056" y="2064"/>
                <a:ext cx="139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2" name="Line 12"/>
              <p:cNvSpPr>
                <a:spLocks noChangeShapeType="1"/>
              </p:cNvSpPr>
              <p:nvPr/>
            </p:nvSpPr>
            <p:spPr bwMode="auto">
              <a:xfrm>
                <a:off x="2736" y="3168"/>
                <a:ext cx="624"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3" name="Text Box 13"/>
              <p:cNvSpPr txBox="1">
                <a:spLocks noChangeArrowheads="1"/>
              </p:cNvSpPr>
              <p:nvPr/>
            </p:nvSpPr>
            <p:spPr bwMode="auto">
              <a:xfrm>
                <a:off x="1488" y="3696"/>
                <a:ext cx="960"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V </a:t>
                </a:r>
              </a:p>
            </p:txBody>
          </p:sp>
          <p:sp>
            <p:nvSpPr>
              <p:cNvPr id="24594" name="Line 14"/>
              <p:cNvSpPr>
                <a:spLocks noChangeShapeType="1"/>
              </p:cNvSpPr>
              <p:nvPr/>
            </p:nvSpPr>
            <p:spPr bwMode="auto">
              <a:xfrm flipH="1">
                <a:off x="2064" y="3168"/>
                <a:ext cx="19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24582" name="Text Box 16"/>
          <p:cNvSpPr txBox="1">
            <a:spLocks noChangeArrowheads="1"/>
          </p:cNvSpPr>
          <p:nvPr/>
        </p:nvSpPr>
        <p:spPr bwMode="auto">
          <a:xfrm>
            <a:off x="3200400" y="1293813"/>
            <a:ext cx="257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System-on-chip (SoC)</a:t>
            </a:r>
          </a:p>
        </p:txBody>
      </p:sp>
      <p:sp>
        <p:nvSpPr>
          <p:cNvPr id="24583" name="Slide Number Placeholder 5"/>
          <p:cNvSpPr txBox="1">
            <a:spLocks/>
          </p:cNvSpPr>
          <p:nvPr/>
        </p:nvSpPr>
        <p:spPr bwMode="auto">
          <a:xfrm>
            <a:off x="6553200" y="62055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DE0D3196-B1FC-4EB1-A817-D8DA6CA98DFA}" type="slidenum">
              <a:rPr lang="en-US" altLang="en-US" sz="1200"/>
              <a:pPr algn="r" eaLnBrk="1" hangingPunct="1">
                <a:spcBef>
                  <a:spcPct val="0"/>
                </a:spcBef>
                <a:buClrTx/>
                <a:buSzTx/>
                <a:buFontTx/>
                <a:buNone/>
              </a:pPr>
              <a:t>7</a:t>
            </a:fld>
            <a:endParaRPr lang="en-US" altLang="en-US" sz="12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33400" y="76200"/>
            <a:ext cx="8229600" cy="762000"/>
          </a:xfrm>
        </p:spPr>
        <p:txBody>
          <a:bodyPr/>
          <a:lstStyle/>
          <a:p>
            <a:pPr eaLnBrk="1" hangingPunct="1"/>
            <a:r>
              <a:rPr lang="en-US" altLang="en-US" b="1"/>
              <a:t>Issues with Third IP Design</a:t>
            </a:r>
          </a:p>
        </p:txBody>
      </p:sp>
      <p:pic>
        <p:nvPicPr>
          <p:cNvPr id="26627" name="Picture 3" descr="Pic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25600"/>
            <a:ext cx="4991100"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4"/>
          <p:cNvSpPr>
            <a:spLocks noChangeArrowheads="1"/>
          </p:cNvSpPr>
          <p:nvPr/>
        </p:nvSpPr>
        <p:spPr bwMode="auto">
          <a:xfrm>
            <a:off x="1981200" y="5054600"/>
            <a:ext cx="533400"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nvGrpSpPr>
          <p:cNvPr id="2" name="Group 5"/>
          <p:cNvGrpSpPr>
            <a:grpSpLocks/>
          </p:cNvGrpSpPr>
          <p:nvPr/>
        </p:nvGrpSpPr>
        <p:grpSpPr bwMode="auto">
          <a:xfrm>
            <a:off x="228600" y="863600"/>
            <a:ext cx="8509000" cy="5243513"/>
            <a:chOff x="144" y="672"/>
            <a:chExt cx="5360" cy="3303"/>
          </a:xfrm>
        </p:grpSpPr>
        <p:sp>
          <p:nvSpPr>
            <p:cNvPr id="26633" name="Line 6"/>
            <p:cNvSpPr>
              <a:spLocks noChangeShapeType="1"/>
            </p:cNvSpPr>
            <p:nvPr/>
          </p:nvSpPr>
          <p:spPr bwMode="auto">
            <a:xfrm flipV="1">
              <a:off x="3696" y="1824"/>
              <a:ext cx="816"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6634" name="Group 7"/>
            <p:cNvGrpSpPr>
              <a:grpSpLocks/>
            </p:cNvGrpSpPr>
            <p:nvPr/>
          </p:nvGrpSpPr>
          <p:grpSpPr bwMode="auto">
            <a:xfrm>
              <a:off x="144" y="672"/>
              <a:ext cx="5360" cy="3303"/>
              <a:chOff x="144" y="672"/>
              <a:chExt cx="5360" cy="3303"/>
            </a:xfrm>
          </p:grpSpPr>
          <p:sp>
            <p:nvSpPr>
              <p:cNvPr id="26635" name="Text Box 8"/>
              <p:cNvSpPr txBox="1">
                <a:spLocks noChangeArrowheads="1"/>
              </p:cNvSpPr>
              <p:nvPr/>
            </p:nvSpPr>
            <p:spPr bwMode="auto">
              <a:xfrm>
                <a:off x="528" y="672"/>
                <a:ext cx="960"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X </a:t>
                </a:r>
              </a:p>
            </p:txBody>
          </p:sp>
          <p:sp>
            <p:nvSpPr>
              <p:cNvPr id="26636" name="Text Box 9"/>
              <p:cNvSpPr txBox="1">
                <a:spLocks noChangeArrowheads="1"/>
              </p:cNvSpPr>
              <p:nvPr/>
            </p:nvSpPr>
            <p:spPr bwMode="auto">
              <a:xfrm>
                <a:off x="4512" y="1680"/>
                <a:ext cx="992"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Y </a:t>
                </a:r>
              </a:p>
            </p:txBody>
          </p:sp>
          <p:sp>
            <p:nvSpPr>
              <p:cNvPr id="26637" name="Text Box 10"/>
              <p:cNvSpPr txBox="1">
                <a:spLocks noChangeArrowheads="1"/>
              </p:cNvSpPr>
              <p:nvPr/>
            </p:nvSpPr>
            <p:spPr bwMode="auto">
              <a:xfrm>
                <a:off x="144" y="1920"/>
                <a:ext cx="1008"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Z </a:t>
                </a:r>
              </a:p>
            </p:txBody>
          </p:sp>
          <p:sp>
            <p:nvSpPr>
              <p:cNvPr id="26638" name="Text Box 11"/>
              <p:cNvSpPr txBox="1">
                <a:spLocks noChangeArrowheads="1"/>
              </p:cNvSpPr>
              <p:nvPr/>
            </p:nvSpPr>
            <p:spPr bwMode="auto">
              <a:xfrm>
                <a:off x="3072" y="3744"/>
                <a:ext cx="1032"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W </a:t>
                </a:r>
              </a:p>
            </p:txBody>
          </p:sp>
          <p:sp>
            <p:nvSpPr>
              <p:cNvPr id="26639" name="Line 12"/>
              <p:cNvSpPr>
                <a:spLocks noChangeShapeType="1"/>
              </p:cNvSpPr>
              <p:nvPr/>
            </p:nvSpPr>
            <p:spPr bwMode="auto">
              <a:xfrm flipH="1" flipV="1">
                <a:off x="1152" y="912"/>
                <a:ext cx="672"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0" name="Line 13"/>
              <p:cNvSpPr>
                <a:spLocks noChangeShapeType="1"/>
              </p:cNvSpPr>
              <p:nvPr/>
            </p:nvSpPr>
            <p:spPr bwMode="auto">
              <a:xfrm flipH="1" flipV="1">
                <a:off x="1056" y="2064"/>
                <a:ext cx="139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1" name="Line 14"/>
              <p:cNvSpPr>
                <a:spLocks noChangeShapeType="1"/>
              </p:cNvSpPr>
              <p:nvPr/>
            </p:nvSpPr>
            <p:spPr bwMode="auto">
              <a:xfrm>
                <a:off x="2736" y="3168"/>
                <a:ext cx="624"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2" name="Text Box 15"/>
              <p:cNvSpPr txBox="1">
                <a:spLocks noChangeArrowheads="1"/>
              </p:cNvSpPr>
              <p:nvPr/>
            </p:nvSpPr>
            <p:spPr bwMode="auto">
              <a:xfrm>
                <a:off x="1488" y="3696"/>
                <a:ext cx="960" cy="231"/>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Company V </a:t>
                </a:r>
              </a:p>
            </p:txBody>
          </p:sp>
          <p:sp>
            <p:nvSpPr>
              <p:cNvPr id="26643" name="Line 16"/>
              <p:cNvSpPr>
                <a:spLocks noChangeShapeType="1"/>
              </p:cNvSpPr>
              <p:nvPr/>
            </p:nvSpPr>
            <p:spPr bwMode="auto">
              <a:xfrm flipH="1">
                <a:off x="2064" y="3168"/>
                <a:ext cx="19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501777" name="Text Box 17"/>
          <p:cNvSpPr txBox="1">
            <a:spLocks noChangeArrowheads="1"/>
          </p:cNvSpPr>
          <p:nvPr/>
        </p:nvSpPr>
        <p:spPr bwMode="auto">
          <a:xfrm>
            <a:off x="1828800" y="2387600"/>
            <a:ext cx="5257800" cy="2014538"/>
          </a:xfrm>
          <a:prstGeom prst="rect">
            <a:avLst/>
          </a:prstGeom>
          <a:solidFill>
            <a:srgbClr val="FF9900"/>
          </a:solidFill>
          <a:ln>
            <a:noFill/>
          </a:ln>
          <a:effectLst>
            <a:outerShdw blurRad="63500" dist="107763" dir="18900000" algn="ctr" rotWithShape="0">
              <a:schemeClr val="bg2">
                <a:alpha val="50000"/>
              </a:schemeClr>
            </a:outerShdw>
          </a:effectLst>
          <a:extLst>
            <a:ext uri="{91240B29-F687-4f45-9708-019B960494DF}"/>
          </a:extLst>
        </p:spPr>
        <p:txBody>
          <a:bodyPr>
            <a:spAutoFit/>
          </a:bodyPr>
          <a:lstStyle>
            <a:lvl1pPr eaLnBrk="0" hangingPunct="0">
              <a:defRPr>
                <a:solidFill>
                  <a:schemeClr val="tx1"/>
                </a:solidFill>
                <a:latin typeface="Tahoma" charset="0"/>
                <a:ea typeface="ＭＳ Ｐゴシック" charset="0"/>
              </a:defRPr>
            </a:lvl1pPr>
            <a:lvl2pPr marL="742950" indent="-285750" eaLnBrk="0" hangingPunct="0">
              <a:defRPr>
                <a:solidFill>
                  <a:schemeClr val="tx1"/>
                </a:solidFill>
                <a:latin typeface="Tahoma" charset="0"/>
                <a:ea typeface="ＭＳ Ｐゴシック" charset="0"/>
              </a:defRPr>
            </a:lvl2pPr>
            <a:lvl3pPr marL="1143000" indent="-228600" eaLnBrk="0" hangingPunct="0">
              <a:defRPr>
                <a:solidFill>
                  <a:schemeClr val="tx1"/>
                </a:solidFill>
                <a:latin typeface="Tahoma" charset="0"/>
                <a:ea typeface="ＭＳ Ｐゴシック" charset="0"/>
              </a:defRPr>
            </a:lvl3pPr>
            <a:lvl4pPr marL="1600200" indent="-228600" eaLnBrk="0" hangingPunct="0">
              <a:defRPr>
                <a:solidFill>
                  <a:schemeClr val="tx1"/>
                </a:solidFill>
                <a:latin typeface="Tahoma" charset="0"/>
                <a:ea typeface="ＭＳ Ｐゴシック" charset="0"/>
              </a:defRPr>
            </a:lvl4pPr>
            <a:lvl5pPr marL="2057400" indent="-228600" eaLnBrk="0" hangingPunct="0">
              <a:defRPr>
                <a:solidFill>
                  <a:schemeClr val="tx1"/>
                </a:solidFill>
                <a:latin typeface="Tahoma" charset="0"/>
                <a:ea typeface="ＭＳ Ｐゴシック" charset="0"/>
              </a:defRPr>
            </a:lvl5pPr>
            <a:lvl6pPr marL="2514600" indent="-228600" eaLnBrk="0" fontAlgn="base" hangingPunct="0">
              <a:spcBef>
                <a:spcPct val="0"/>
              </a:spcBef>
              <a:spcAft>
                <a:spcPct val="0"/>
              </a:spcAft>
              <a:defRPr>
                <a:solidFill>
                  <a:schemeClr val="tx1"/>
                </a:solidFill>
                <a:latin typeface="Tahoma" charset="0"/>
                <a:ea typeface="ＭＳ Ｐゴシック" charset="0"/>
              </a:defRPr>
            </a:lvl6pPr>
            <a:lvl7pPr marL="2971800" indent="-228600" eaLnBrk="0" fontAlgn="base" hangingPunct="0">
              <a:spcBef>
                <a:spcPct val="0"/>
              </a:spcBef>
              <a:spcAft>
                <a:spcPct val="0"/>
              </a:spcAft>
              <a:defRPr>
                <a:solidFill>
                  <a:schemeClr val="tx1"/>
                </a:solidFill>
                <a:latin typeface="Tahoma" charset="0"/>
                <a:ea typeface="ＭＳ Ｐゴシック" charset="0"/>
              </a:defRPr>
            </a:lvl7pPr>
            <a:lvl8pPr marL="3429000" indent="-228600" eaLnBrk="0" fontAlgn="base" hangingPunct="0">
              <a:spcBef>
                <a:spcPct val="0"/>
              </a:spcBef>
              <a:spcAft>
                <a:spcPct val="0"/>
              </a:spcAft>
              <a:defRPr>
                <a:solidFill>
                  <a:schemeClr val="tx1"/>
                </a:solidFill>
                <a:latin typeface="Tahoma" charset="0"/>
                <a:ea typeface="ＭＳ Ｐゴシック" charset="0"/>
              </a:defRPr>
            </a:lvl8pPr>
            <a:lvl9pPr marL="3886200" indent="-228600" eaLnBrk="0" fontAlgn="base" hangingPunct="0">
              <a:spcBef>
                <a:spcPct val="0"/>
              </a:spcBef>
              <a:spcAft>
                <a:spcPct val="0"/>
              </a:spcAft>
              <a:defRPr>
                <a:solidFill>
                  <a:schemeClr val="tx1"/>
                </a:solidFill>
                <a:latin typeface="Tahoma" charset="0"/>
                <a:ea typeface="ＭＳ Ｐゴシック" charset="0"/>
              </a:defRPr>
            </a:lvl9pPr>
          </a:lstStyle>
          <a:p>
            <a:pPr algn="ctr" eaLnBrk="1" hangingPunct="1">
              <a:spcBef>
                <a:spcPct val="50000"/>
              </a:spcBef>
              <a:defRPr/>
            </a:pPr>
            <a:r>
              <a:rPr lang="en-US" sz="2800" b="1"/>
              <a:t>These companies are located across the world</a:t>
            </a:r>
          </a:p>
          <a:p>
            <a:pPr algn="ctr" eaLnBrk="1" hangingPunct="1">
              <a:spcBef>
                <a:spcPct val="50000"/>
              </a:spcBef>
              <a:defRPr/>
            </a:pPr>
            <a:r>
              <a:rPr lang="en-US" sz="2800" b="1"/>
              <a:t>There is no control on the design process</a:t>
            </a:r>
          </a:p>
        </p:txBody>
      </p:sp>
      <p:sp>
        <p:nvSpPr>
          <p:cNvPr id="26631" name="Text Box 18"/>
          <p:cNvSpPr txBox="1">
            <a:spLocks noChangeArrowheads="1"/>
          </p:cNvSpPr>
          <p:nvPr/>
        </p:nvSpPr>
        <p:spPr bwMode="auto">
          <a:xfrm>
            <a:off x="3200400" y="1281113"/>
            <a:ext cx="257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System-on-chip (SoC)</a:t>
            </a:r>
          </a:p>
        </p:txBody>
      </p:sp>
      <p:sp>
        <p:nvSpPr>
          <p:cNvPr id="26632" name="Slide Number Placeholder 5"/>
          <p:cNvSpPr txBox="1">
            <a:spLocks/>
          </p:cNvSpPr>
          <p:nvPr/>
        </p:nvSpPr>
        <p:spPr bwMode="auto">
          <a:xfrm>
            <a:off x="6553200" y="62055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01EBB628-9EC3-454E-A6CD-10CABBCABB2D}" type="slidenum">
              <a:rPr lang="en-US" altLang="en-US" sz="1200"/>
              <a:pPr algn="r" eaLnBrk="1" hangingPunct="1">
                <a:spcBef>
                  <a:spcPct val="0"/>
                </a:spcBef>
                <a:buClrTx/>
                <a:buSzTx/>
                <a:buFontTx/>
                <a:buNone/>
              </a:pPr>
              <a:t>8</a:t>
            </a:fld>
            <a:endParaRPr lang="en-US" altLang="en-US" sz="12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777"/>
                                        </p:tgtEl>
                                        <p:attrNameLst>
                                          <p:attrName>style.visibility</p:attrName>
                                        </p:attrNameLst>
                                      </p:cBhvr>
                                      <p:to>
                                        <p:strVal val="visible"/>
                                      </p:to>
                                    </p:set>
                                    <p:animEffect transition="in" filter="blinds(horizontal)">
                                      <p:cBhvr>
                                        <p:cTn id="12" dur="500"/>
                                        <p:tgtEl>
                                          <p:spTgt spid="501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77"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33400" y="76200"/>
            <a:ext cx="8229600" cy="685800"/>
          </a:xfrm>
          <a:noFill/>
        </p:spPr>
        <p:txBody>
          <a:bodyPr/>
          <a:lstStyle/>
          <a:p>
            <a:pPr eaLnBrk="1" hangingPunct="1"/>
            <a:r>
              <a:rPr lang="en-US" altLang="en-US" b="1" dirty="0"/>
              <a:t>Hardware Trojan Threat</a:t>
            </a:r>
          </a:p>
        </p:txBody>
      </p:sp>
      <p:sp>
        <p:nvSpPr>
          <p:cNvPr id="28675" name="Rectangle 3"/>
          <p:cNvSpPr>
            <a:spLocks noChangeArrowheads="1"/>
          </p:cNvSpPr>
          <p:nvPr/>
        </p:nvSpPr>
        <p:spPr bwMode="auto">
          <a:xfrm>
            <a:off x="3581400" y="1219200"/>
            <a:ext cx="1752600" cy="533400"/>
          </a:xfrm>
          <a:prstGeom prst="rect">
            <a:avLst/>
          </a:prstGeom>
          <a:solidFill>
            <a:schemeClr val="accent1"/>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8676" name="Rectangle 4"/>
          <p:cNvSpPr>
            <a:spLocks noChangeArrowheads="1"/>
          </p:cNvSpPr>
          <p:nvPr/>
        </p:nvSpPr>
        <p:spPr bwMode="auto">
          <a:xfrm>
            <a:off x="3581400" y="4648200"/>
            <a:ext cx="1752600" cy="533400"/>
          </a:xfrm>
          <a:prstGeom prst="rect">
            <a:avLst/>
          </a:prstGeom>
          <a:solidFill>
            <a:schemeClr val="accent1"/>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8677" name="Rectangle 5"/>
          <p:cNvSpPr>
            <a:spLocks noChangeArrowheads="1"/>
          </p:cNvSpPr>
          <p:nvPr/>
        </p:nvSpPr>
        <p:spPr bwMode="auto">
          <a:xfrm>
            <a:off x="1981200" y="2895600"/>
            <a:ext cx="1752600" cy="533400"/>
          </a:xfrm>
          <a:prstGeom prst="rect">
            <a:avLst/>
          </a:prstGeom>
          <a:solidFill>
            <a:srgbClr val="FF0000"/>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8678" name="Line 6"/>
          <p:cNvSpPr>
            <a:spLocks noChangeShapeType="1"/>
          </p:cNvSpPr>
          <p:nvPr/>
        </p:nvSpPr>
        <p:spPr bwMode="auto">
          <a:xfrm>
            <a:off x="4572000" y="1752600"/>
            <a:ext cx="0" cy="28956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679" name="Line 7"/>
          <p:cNvSpPr>
            <a:spLocks noChangeShapeType="1"/>
          </p:cNvSpPr>
          <p:nvPr/>
        </p:nvSpPr>
        <p:spPr bwMode="auto">
          <a:xfrm flipH="1">
            <a:off x="2743200" y="1752600"/>
            <a:ext cx="1600200" cy="11430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680" name="Line 8"/>
          <p:cNvSpPr>
            <a:spLocks noChangeShapeType="1"/>
          </p:cNvSpPr>
          <p:nvPr/>
        </p:nvSpPr>
        <p:spPr bwMode="auto">
          <a:xfrm>
            <a:off x="2819400" y="3429000"/>
            <a:ext cx="1524000" cy="12192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681" name="Text Box 9"/>
          <p:cNvSpPr txBox="1">
            <a:spLocks noChangeArrowheads="1"/>
          </p:cNvSpPr>
          <p:nvPr/>
        </p:nvSpPr>
        <p:spPr bwMode="auto">
          <a:xfrm>
            <a:off x="3829050" y="1295400"/>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IP Vendor</a:t>
            </a:r>
          </a:p>
        </p:txBody>
      </p:sp>
      <p:sp>
        <p:nvSpPr>
          <p:cNvPr id="28682" name="Text Box 10"/>
          <p:cNvSpPr txBox="1">
            <a:spLocks noChangeArrowheads="1"/>
          </p:cNvSpPr>
          <p:nvPr/>
        </p:nvSpPr>
        <p:spPr bwMode="auto">
          <a:xfrm>
            <a:off x="1981200" y="2895600"/>
            <a:ext cx="1752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en-US" altLang="en-US" sz="1800" b="1">
                <a:latin typeface="Tahoma" panose="020B0604030504040204" pitchFamily="34" charset="0"/>
              </a:rPr>
              <a:t>System Integrator</a:t>
            </a:r>
          </a:p>
        </p:txBody>
      </p:sp>
      <p:sp>
        <p:nvSpPr>
          <p:cNvPr id="28683" name="Text Box 11"/>
          <p:cNvSpPr txBox="1">
            <a:spLocks noChangeArrowheads="1"/>
          </p:cNvSpPr>
          <p:nvPr/>
        </p:nvSpPr>
        <p:spPr bwMode="auto">
          <a:xfrm>
            <a:off x="3733800" y="4724400"/>
            <a:ext cx="154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Manufacture</a:t>
            </a:r>
          </a:p>
        </p:txBody>
      </p:sp>
      <p:sp>
        <p:nvSpPr>
          <p:cNvPr id="28684" name="Text Box 12"/>
          <p:cNvSpPr txBox="1">
            <a:spLocks noChangeArrowheads="1"/>
          </p:cNvSpPr>
          <p:nvPr/>
        </p:nvSpPr>
        <p:spPr bwMode="auto">
          <a:xfrm>
            <a:off x="654050" y="5535613"/>
            <a:ext cx="1184275" cy="376237"/>
          </a:xfrm>
          <a:prstGeom prst="rect">
            <a:avLst/>
          </a:prstGeom>
          <a:solidFill>
            <a:srgbClr val="FF0000"/>
          </a:solidFill>
          <a:ln w="9525">
            <a:solidFill>
              <a:schemeClr val="tx1"/>
            </a:solidFill>
            <a:miter lim="800000"/>
            <a:headEnd/>
            <a:tailEnd/>
          </a:ln>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Untrusted</a:t>
            </a:r>
          </a:p>
        </p:txBody>
      </p:sp>
      <p:sp>
        <p:nvSpPr>
          <p:cNvPr id="28685" name="AutoShape 13"/>
          <p:cNvSpPr>
            <a:spLocks noChangeArrowheads="1"/>
          </p:cNvSpPr>
          <p:nvPr/>
        </p:nvSpPr>
        <p:spPr bwMode="auto">
          <a:xfrm>
            <a:off x="5715000" y="3733800"/>
            <a:ext cx="1981200" cy="493426"/>
          </a:xfrm>
          <a:prstGeom prst="wedgeRoundRectCallout">
            <a:avLst>
              <a:gd name="adj1" fmla="val -151204"/>
              <a:gd name="adj2" fmla="val -139352"/>
              <a:gd name="adj3" fmla="val 16667"/>
            </a:avLst>
          </a:prstGeom>
          <a:solidFill>
            <a:srgbClr val="FF9900"/>
          </a:solidFill>
          <a:ln w="9525">
            <a:solidFill>
              <a:schemeClr val="tx1"/>
            </a:solidFill>
            <a:prstDash val="dash"/>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800" b="1" dirty="0" err="1">
                <a:latin typeface="Tahoma" panose="020B0604030504040204" pitchFamily="34" charset="0"/>
              </a:rPr>
              <a:t>SoC</a:t>
            </a:r>
            <a:r>
              <a:rPr lang="en-US" altLang="en-US" sz="1800" b="1" dirty="0">
                <a:latin typeface="Tahoma" panose="020B0604030504040204" pitchFamily="34" charset="0"/>
              </a:rPr>
              <a:t> Trust</a:t>
            </a:r>
          </a:p>
        </p:txBody>
      </p:sp>
      <p:sp>
        <p:nvSpPr>
          <p:cNvPr id="28686"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10083967-84BB-43C9-9377-08CB91B00304}" type="slidenum">
              <a:rPr lang="en-US" altLang="en-US" sz="1200"/>
              <a:pPr algn="r" eaLnBrk="1" hangingPunct="1">
                <a:spcBef>
                  <a:spcPct val="0"/>
                </a:spcBef>
                <a:buClrTx/>
                <a:buSzTx/>
                <a:buFontTx/>
                <a:buNone/>
              </a:pPr>
              <a:t>9</a:t>
            </a:fld>
            <a:endParaRPr lang="en-US" altLang="en-US" sz="1200"/>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33400" y="76200"/>
            <a:ext cx="8229600" cy="685800"/>
          </a:xfrm>
          <a:noFill/>
        </p:spPr>
        <p:txBody>
          <a:bodyPr/>
          <a:lstStyle/>
          <a:p>
            <a:pPr eaLnBrk="1" hangingPunct="1"/>
            <a:r>
              <a:rPr lang="en-US" altLang="en-US" b="1" dirty="0"/>
              <a:t>Hardware Trojan Threat</a:t>
            </a:r>
          </a:p>
        </p:txBody>
      </p:sp>
      <p:sp>
        <p:nvSpPr>
          <p:cNvPr id="30723" name="Rectangle 3"/>
          <p:cNvSpPr>
            <a:spLocks noChangeArrowheads="1"/>
          </p:cNvSpPr>
          <p:nvPr/>
        </p:nvSpPr>
        <p:spPr bwMode="auto">
          <a:xfrm>
            <a:off x="3581400" y="1219200"/>
            <a:ext cx="1752600" cy="533400"/>
          </a:xfrm>
          <a:prstGeom prst="rect">
            <a:avLst/>
          </a:prstGeom>
          <a:solidFill>
            <a:schemeClr val="accent1"/>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0724" name="Rectangle 4"/>
          <p:cNvSpPr>
            <a:spLocks noChangeArrowheads="1"/>
          </p:cNvSpPr>
          <p:nvPr/>
        </p:nvSpPr>
        <p:spPr bwMode="auto">
          <a:xfrm>
            <a:off x="3581400" y="4648200"/>
            <a:ext cx="1752600" cy="533400"/>
          </a:xfrm>
          <a:prstGeom prst="rect">
            <a:avLst/>
          </a:prstGeom>
          <a:solidFill>
            <a:srgbClr val="FF0000"/>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0725" name="Rectangle 5"/>
          <p:cNvSpPr>
            <a:spLocks noChangeArrowheads="1"/>
          </p:cNvSpPr>
          <p:nvPr/>
        </p:nvSpPr>
        <p:spPr bwMode="auto">
          <a:xfrm>
            <a:off x="1981200" y="2895600"/>
            <a:ext cx="1752600" cy="533400"/>
          </a:xfrm>
          <a:prstGeom prst="rect">
            <a:avLst/>
          </a:prstGeom>
          <a:solidFill>
            <a:schemeClr val="accent1"/>
          </a:solidFill>
          <a:ln w="1587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0726" name="Line 6"/>
          <p:cNvSpPr>
            <a:spLocks noChangeShapeType="1"/>
          </p:cNvSpPr>
          <p:nvPr/>
        </p:nvSpPr>
        <p:spPr bwMode="auto">
          <a:xfrm>
            <a:off x="4572000" y="1752600"/>
            <a:ext cx="0" cy="28956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7" name="Line 7"/>
          <p:cNvSpPr>
            <a:spLocks noChangeShapeType="1"/>
          </p:cNvSpPr>
          <p:nvPr/>
        </p:nvSpPr>
        <p:spPr bwMode="auto">
          <a:xfrm flipH="1">
            <a:off x="2743200" y="1752600"/>
            <a:ext cx="1600200" cy="11430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8" name="Line 8"/>
          <p:cNvSpPr>
            <a:spLocks noChangeShapeType="1"/>
          </p:cNvSpPr>
          <p:nvPr/>
        </p:nvSpPr>
        <p:spPr bwMode="auto">
          <a:xfrm>
            <a:off x="2819400" y="3429000"/>
            <a:ext cx="1524000" cy="121920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9" name="Text Box 9"/>
          <p:cNvSpPr txBox="1">
            <a:spLocks noChangeArrowheads="1"/>
          </p:cNvSpPr>
          <p:nvPr/>
        </p:nvSpPr>
        <p:spPr bwMode="auto">
          <a:xfrm>
            <a:off x="3829050" y="1295400"/>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IP Vendor</a:t>
            </a:r>
          </a:p>
        </p:txBody>
      </p:sp>
      <p:sp>
        <p:nvSpPr>
          <p:cNvPr id="30730" name="Text Box 10"/>
          <p:cNvSpPr txBox="1">
            <a:spLocks noChangeArrowheads="1"/>
          </p:cNvSpPr>
          <p:nvPr/>
        </p:nvSpPr>
        <p:spPr bwMode="auto">
          <a:xfrm>
            <a:off x="1981200" y="2895600"/>
            <a:ext cx="1752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en-US" altLang="en-US" sz="1800" b="1">
                <a:latin typeface="Tahoma" panose="020B0604030504040204" pitchFamily="34" charset="0"/>
              </a:rPr>
              <a:t>System Integrator</a:t>
            </a:r>
          </a:p>
        </p:txBody>
      </p:sp>
      <p:sp>
        <p:nvSpPr>
          <p:cNvPr id="30731" name="Text Box 11"/>
          <p:cNvSpPr txBox="1">
            <a:spLocks noChangeArrowheads="1"/>
          </p:cNvSpPr>
          <p:nvPr/>
        </p:nvSpPr>
        <p:spPr bwMode="auto">
          <a:xfrm>
            <a:off x="3733800" y="4724400"/>
            <a:ext cx="154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Manufacture</a:t>
            </a:r>
          </a:p>
        </p:txBody>
      </p:sp>
      <p:sp>
        <p:nvSpPr>
          <p:cNvPr id="30732" name="Text Box 12"/>
          <p:cNvSpPr txBox="1">
            <a:spLocks noChangeArrowheads="1"/>
          </p:cNvSpPr>
          <p:nvPr/>
        </p:nvSpPr>
        <p:spPr bwMode="auto">
          <a:xfrm>
            <a:off x="666750" y="5535613"/>
            <a:ext cx="1184275" cy="376237"/>
          </a:xfrm>
          <a:prstGeom prst="rect">
            <a:avLst/>
          </a:prstGeom>
          <a:solidFill>
            <a:srgbClr val="FF0000"/>
          </a:solidFill>
          <a:ln w="9525">
            <a:solidFill>
              <a:schemeClr val="tx1"/>
            </a:solidFill>
            <a:miter lim="800000"/>
            <a:headEnd/>
            <a:tailEnd/>
          </a:ln>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Untrusted</a:t>
            </a:r>
          </a:p>
        </p:txBody>
      </p:sp>
      <p:sp>
        <p:nvSpPr>
          <p:cNvPr id="30733" name="AutoShape 14"/>
          <p:cNvSpPr>
            <a:spLocks noChangeArrowheads="1"/>
          </p:cNvSpPr>
          <p:nvPr/>
        </p:nvSpPr>
        <p:spPr bwMode="auto">
          <a:xfrm>
            <a:off x="5181600" y="5410200"/>
            <a:ext cx="3657600" cy="471488"/>
          </a:xfrm>
          <a:prstGeom prst="wedgeRoundRectCallout">
            <a:avLst>
              <a:gd name="adj1" fmla="val -46139"/>
              <a:gd name="adj2" fmla="val -100319"/>
              <a:gd name="adj3" fmla="val 16667"/>
            </a:avLst>
          </a:prstGeom>
          <a:solidFill>
            <a:srgbClr val="FF9900"/>
          </a:solidFill>
          <a:ln w="9525">
            <a:solidFill>
              <a:schemeClr val="tx1"/>
            </a:solidFill>
            <a:prstDash val="dash"/>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800" b="1" dirty="0">
                <a:latin typeface="Tahoma" panose="020B0604030504040204" pitchFamily="34" charset="0"/>
              </a:rPr>
              <a:t>IC Trust</a:t>
            </a:r>
          </a:p>
        </p:txBody>
      </p:sp>
      <p:sp>
        <p:nvSpPr>
          <p:cNvPr id="30734" name="Text Box 15"/>
          <p:cNvSpPr txBox="1">
            <a:spLocks noChangeArrowheads="1"/>
          </p:cNvSpPr>
          <p:nvPr/>
        </p:nvSpPr>
        <p:spPr bwMode="auto">
          <a:xfrm>
            <a:off x="6096000" y="4891088"/>
            <a:ext cx="2241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latin typeface="Tahoma" panose="020B0604030504040204" pitchFamily="34" charset="0"/>
              </a:rPr>
              <a:t>Untrusted Foundry</a:t>
            </a:r>
          </a:p>
        </p:txBody>
      </p:sp>
      <p:sp>
        <p:nvSpPr>
          <p:cNvPr id="30735"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C9D689AC-5C0F-4249-829D-6CA31DEC0EA4}" type="slidenum">
              <a:rPr lang="en-US" altLang="en-US" sz="1200"/>
              <a:pPr algn="r" eaLnBrk="1" hangingPunct="1">
                <a:spcBef>
                  <a:spcPct val="0"/>
                </a:spcBef>
                <a:buClrTx/>
                <a:buSzTx/>
                <a:buFontTx/>
                <a:buNone/>
              </a:pPr>
              <a:t>10</a:t>
            </a:fld>
            <a:endParaRPr lang="en-US" altLang="en-US" sz="1200"/>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76200"/>
            <a:ext cx="9144000" cy="685800"/>
          </a:xfrm>
        </p:spPr>
        <p:txBody>
          <a:bodyPr/>
          <a:lstStyle/>
          <a:p>
            <a:pPr eaLnBrk="1" hangingPunct="1"/>
            <a:r>
              <a:rPr lang="en-US" altLang="en-US" sz="3400" b="1"/>
              <a:t>ASIC Design Process – Untrusted Foundry</a:t>
            </a:r>
          </a:p>
        </p:txBody>
      </p:sp>
      <p:sp>
        <p:nvSpPr>
          <p:cNvPr id="32771" name="AutoShape 257"/>
          <p:cNvSpPr>
            <a:spLocks noChangeArrowheads="1"/>
          </p:cNvSpPr>
          <p:nvPr/>
        </p:nvSpPr>
        <p:spPr bwMode="auto">
          <a:xfrm>
            <a:off x="271463" y="860425"/>
            <a:ext cx="6813550" cy="1576388"/>
          </a:xfrm>
          <a:prstGeom prst="roundRect">
            <a:avLst>
              <a:gd name="adj" fmla="val 16667"/>
            </a:avLst>
          </a:prstGeom>
          <a:solidFill>
            <a:srgbClr val="FABF8F"/>
          </a:solidFill>
          <a:ln w="28575">
            <a:solidFill>
              <a:srgbClr val="000000"/>
            </a:solidFill>
            <a:prstDash val="dash"/>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17412" name="AutoShape 268"/>
          <p:cNvSpPr>
            <a:spLocks noChangeArrowheads="1"/>
          </p:cNvSpPr>
          <p:nvPr/>
        </p:nvSpPr>
        <p:spPr bwMode="auto">
          <a:xfrm>
            <a:off x="2668588" y="1908175"/>
            <a:ext cx="1263650" cy="444500"/>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Design</a:t>
            </a:r>
            <a:endParaRPr lang="en-US" sz="9500" b="1">
              <a:latin typeface="Tahoma" charset="0"/>
              <a:ea typeface="ＭＳ Ｐゴシック" charset="0"/>
            </a:endParaRPr>
          </a:p>
        </p:txBody>
      </p:sp>
      <p:sp>
        <p:nvSpPr>
          <p:cNvPr id="32773" name="AutoShape 269"/>
          <p:cNvSpPr>
            <a:spLocks noChangeArrowheads="1"/>
          </p:cNvSpPr>
          <p:nvPr/>
        </p:nvSpPr>
        <p:spPr bwMode="auto">
          <a:xfrm>
            <a:off x="466725" y="1701800"/>
            <a:ext cx="1231900" cy="71278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spcAft>
                <a:spcPts val="1000"/>
              </a:spcAft>
              <a:buClrTx/>
              <a:buSzTx/>
              <a:buFontTx/>
              <a:buNone/>
            </a:pPr>
            <a:r>
              <a:rPr lang="en-US" altLang="en-US" sz="1600" b="1">
                <a:latin typeface="Calibri" panose="020F0502020204030204" pitchFamily="34" charset="0"/>
              </a:rPr>
              <a:t>Design Process</a:t>
            </a:r>
            <a:endParaRPr lang="en-US" altLang="en-US" sz="1600" b="1">
              <a:latin typeface="Tahoma" panose="020B0604030504040204" pitchFamily="34" charset="0"/>
            </a:endParaRPr>
          </a:p>
        </p:txBody>
      </p:sp>
      <p:sp>
        <p:nvSpPr>
          <p:cNvPr id="32774" name="Rounded Rectangle 1204"/>
          <p:cNvSpPr>
            <a:spLocks noChangeArrowheads="1"/>
          </p:cNvSpPr>
          <p:nvPr/>
        </p:nvSpPr>
        <p:spPr bwMode="auto">
          <a:xfrm>
            <a:off x="171450" y="4908550"/>
            <a:ext cx="1149350" cy="381000"/>
          </a:xfrm>
          <a:prstGeom prst="roundRect">
            <a:avLst>
              <a:gd name="adj" fmla="val 16667"/>
            </a:avLst>
          </a:prstGeom>
          <a:solidFill>
            <a:srgbClr val="00B050"/>
          </a:solidFill>
          <a:ln w="9525">
            <a:solidFill>
              <a:schemeClr val="tx1"/>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b="1">
                <a:latin typeface="Tahoma" panose="020B0604030504040204" pitchFamily="34" charset="0"/>
              </a:rPr>
              <a:t>Trusted</a:t>
            </a:r>
          </a:p>
        </p:txBody>
      </p:sp>
      <p:sp>
        <p:nvSpPr>
          <p:cNvPr id="32775" name="Rounded Rectangle 1205"/>
          <p:cNvSpPr>
            <a:spLocks noChangeArrowheads="1"/>
          </p:cNvSpPr>
          <p:nvPr/>
        </p:nvSpPr>
        <p:spPr bwMode="auto">
          <a:xfrm>
            <a:off x="171450" y="5321300"/>
            <a:ext cx="1149350" cy="381000"/>
          </a:xfrm>
          <a:prstGeom prst="roundRect">
            <a:avLst>
              <a:gd name="adj" fmla="val 16667"/>
            </a:avLst>
          </a:prstGeom>
          <a:solidFill>
            <a:srgbClr val="FFFF00"/>
          </a:solidFill>
          <a:ln w="9525">
            <a:solidFill>
              <a:schemeClr val="tx1"/>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b="1">
                <a:solidFill>
                  <a:schemeClr val="bg2"/>
                </a:solidFill>
                <a:latin typeface="Tahoma" panose="020B0604030504040204" pitchFamily="34" charset="0"/>
              </a:rPr>
              <a:t>Either</a:t>
            </a:r>
          </a:p>
        </p:txBody>
      </p:sp>
      <p:sp>
        <p:nvSpPr>
          <p:cNvPr id="32776" name="Rounded Rectangle 1206"/>
          <p:cNvSpPr>
            <a:spLocks noChangeArrowheads="1"/>
          </p:cNvSpPr>
          <p:nvPr/>
        </p:nvSpPr>
        <p:spPr bwMode="auto">
          <a:xfrm>
            <a:off x="171450" y="5740400"/>
            <a:ext cx="1149350" cy="381000"/>
          </a:xfrm>
          <a:prstGeom prst="roundRect">
            <a:avLst>
              <a:gd name="adj" fmla="val 16667"/>
            </a:avLst>
          </a:prstGeom>
          <a:solidFill>
            <a:srgbClr val="FF0000"/>
          </a:solidFill>
          <a:ln w="9525">
            <a:solidFill>
              <a:schemeClr val="tx1"/>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b="1">
                <a:latin typeface="Tahoma" panose="020B0604030504040204" pitchFamily="34" charset="0"/>
              </a:rPr>
              <a:t>Untrusted</a:t>
            </a:r>
          </a:p>
        </p:txBody>
      </p:sp>
      <p:sp>
        <p:nvSpPr>
          <p:cNvPr id="17417" name="AutoShape 258"/>
          <p:cNvSpPr>
            <a:spLocks noChangeArrowheads="1"/>
          </p:cNvSpPr>
          <p:nvPr/>
        </p:nvSpPr>
        <p:spPr bwMode="auto">
          <a:xfrm>
            <a:off x="322263" y="966788"/>
            <a:ext cx="517525" cy="430212"/>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IP</a:t>
            </a:r>
            <a:endParaRPr lang="en-US" sz="1600" b="1">
              <a:latin typeface="Tahoma" charset="0"/>
              <a:ea typeface="ＭＳ Ｐゴシック" charset="0"/>
            </a:endParaRPr>
          </a:p>
        </p:txBody>
      </p:sp>
      <p:sp>
        <p:nvSpPr>
          <p:cNvPr id="32778" name="Line 10"/>
          <p:cNvSpPr>
            <a:spLocks noChangeShapeType="1"/>
          </p:cNvSpPr>
          <p:nvPr/>
        </p:nvSpPr>
        <p:spPr bwMode="auto">
          <a:xfrm>
            <a:off x="539750" y="1374775"/>
            <a:ext cx="0" cy="2921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9" name="Line 11"/>
          <p:cNvSpPr>
            <a:spLocks noChangeShapeType="1"/>
          </p:cNvSpPr>
          <p:nvPr/>
        </p:nvSpPr>
        <p:spPr bwMode="auto">
          <a:xfrm>
            <a:off x="527050" y="1654175"/>
            <a:ext cx="5562600" cy="127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12"/>
          <p:cNvSpPr>
            <a:spLocks noChangeShapeType="1"/>
          </p:cNvSpPr>
          <p:nvPr/>
        </p:nvSpPr>
        <p:spPr bwMode="auto">
          <a:xfrm>
            <a:off x="1581150" y="1260475"/>
            <a:ext cx="0" cy="4064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1" name="Line 13"/>
          <p:cNvSpPr>
            <a:spLocks noChangeShapeType="1"/>
          </p:cNvSpPr>
          <p:nvPr/>
        </p:nvSpPr>
        <p:spPr bwMode="auto">
          <a:xfrm>
            <a:off x="3219450" y="1311275"/>
            <a:ext cx="0" cy="3556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2" name="Line 14"/>
          <p:cNvSpPr>
            <a:spLocks noChangeShapeType="1"/>
          </p:cNvSpPr>
          <p:nvPr/>
        </p:nvSpPr>
        <p:spPr bwMode="auto">
          <a:xfrm>
            <a:off x="4578350" y="1273175"/>
            <a:ext cx="0" cy="3937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3" name="Line 15"/>
          <p:cNvSpPr>
            <a:spLocks noChangeShapeType="1"/>
          </p:cNvSpPr>
          <p:nvPr/>
        </p:nvSpPr>
        <p:spPr bwMode="auto">
          <a:xfrm>
            <a:off x="6089650" y="1387475"/>
            <a:ext cx="0" cy="2794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4" name="AutoShape 259"/>
          <p:cNvSpPr>
            <a:spLocks noChangeArrowheads="1"/>
          </p:cNvSpPr>
          <p:nvPr/>
        </p:nvSpPr>
        <p:spPr bwMode="auto">
          <a:xfrm>
            <a:off x="958850" y="947738"/>
            <a:ext cx="1438275" cy="461962"/>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CAD Tools</a:t>
            </a:r>
            <a:endParaRPr lang="en-US" sz="1600" b="1">
              <a:latin typeface="Tahoma" charset="0"/>
              <a:ea typeface="ＭＳ Ｐゴシック" charset="0"/>
            </a:endParaRPr>
          </a:p>
        </p:txBody>
      </p:sp>
      <p:sp>
        <p:nvSpPr>
          <p:cNvPr id="17425" name="AutoShape 260"/>
          <p:cNvSpPr>
            <a:spLocks noChangeArrowheads="1"/>
          </p:cNvSpPr>
          <p:nvPr/>
        </p:nvSpPr>
        <p:spPr bwMode="auto">
          <a:xfrm>
            <a:off x="2601913" y="946150"/>
            <a:ext cx="1285875" cy="495300"/>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STD Cells</a:t>
            </a:r>
            <a:endParaRPr lang="en-US" sz="9500" b="1">
              <a:latin typeface="Tahoma" charset="0"/>
              <a:ea typeface="ＭＳ Ｐゴシック" charset="0"/>
            </a:endParaRPr>
          </a:p>
        </p:txBody>
      </p:sp>
      <p:sp>
        <p:nvSpPr>
          <p:cNvPr id="17426" name="AutoShape 261"/>
          <p:cNvSpPr>
            <a:spLocks noChangeArrowheads="1"/>
          </p:cNvSpPr>
          <p:nvPr/>
        </p:nvSpPr>
        <p:spPr bwMode="auto">
          <a:xfrm>
            <a:off x="4052888" y="974725"/>
            <a:ext cx="1163637" cy="457200"/>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Models</a:t>
            </a:r>
            <a:endParaRPr lang="en-US" sz="9500" b="1">
              <a:latin typeface="Tahoma" charset="0"/>
              <a:ea typeface="ＭＳ Ｐゴシック" charset="0"/>
            </a:endParaRPr>
          </a:p>
        </p:txBody>
      </p:sp>
      <p:sp>
        <p:nvSpPr>
          <p:cNvPr id="17427" name="AutoShape 262"/>
          <p:cNvSpPr>
            <a:spLocks noChangeArrowheads="1"/>
          </p:cNvSpPr>
          <p:nvPr/>
        </p:nvSpPr>
        <p:spPr bwMode="auto">
          <a:xfrm>
            <a:off x="5337175" y="874713"/>
            <a:ext cx="1649413" cy="673100"/>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rPr>
              <a:t>Design Specification</a:t>
            </a:r>
            <a:endParaRPr lang="en-US" sz="9500" b="1">
              <a:latin typeface="Tahoma" charset="0"/>
              <a:ea typeface="ＭＳ Ｐゴシック" charset="0"/>
            </a:endParaRPr>
          </a:p>
        </p:txBody>
      </p:sp>
      <p:sp>
        <p:nvSpPr>
          <p:cNvPr id="32788" name="Line 20"/>
          <p:cNvSpPr>
            <a:spLocks noChangeShapeType="1"/>
          </p:cNvSpPr>
          <p:nvPr/>
        </p:nvSpPr>
        <p:spPr bwMode="auto">
          <a:xfrm>
            <a:off x="3333750" y="1654175"/>
            <a:ext cx="0" cy="241300"/>
          </a:xfrm>
          <a:prstGeom prst="line">
            <a:avLst/>
          </a:prstGeom>
          <a:noFill/>
          <a:ln w="25400">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32789" name="Picture 21" descr="Computer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6138" y="993775"/>
            <a:ext cx="173990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0" name="AutoShape 235"/>
          <p:cNvSpPr>
            <a:spLocks noChangeArrowheads="1"/>
          </p:cNvSpPr>
          <p:nvPr/>
        </p:nvSpPr>
        <p:spPr bwMode="auto">
          <a:xfrm>
            <a:off x="4314825" y="3522663"/>
            <a:ext cx="484188" cy="333375"/>
          </a:xfrm>
          <a:prstGeom prst="downArrow">
            <a:avLst>
              <a:gd name="adj1" fmla="val 50000"/>
              <a:gd name="adj2" fmla="val 23653"/>
            </a:avLst>
          </a:prstGeom>
          <a:solidFill>
            <a:srgbClr val="FABF8F"/>
          </a:solidFill>
          <a:ln w="9525">
            <a:solidFill>
              <a:srgbClr val="000000"/>
            </a:solidFill>
            <a:miter lim="800000"/>
            <a:headEnd/>
            <a:tailEnd/>
          </a:ln>
        </p:spPr>
        <p:txBody>
          <a:bodyPr vert="eaVert"/>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2791" name="AutoShape 237"/>
          <p:cNvSpPr>
            <a:spLocks noChangeArrowheads="1"/>
          </p:cNvSpPr>
          <p:nvPr/>
        </p:nvSpPr>
        <p:spPr bwMode="auto">
          <a:xfrm>
            <a:off x="1746250" y="3851275"/>
            <a:ext cx="6102350" cy="796925"/>
          </a:xfrm>
          <a:prstGeom prst="roundRect">
            <a:avLst>
              <a:gd name="adj" fmla="val 16667"/>
            </a:avLst>
          </a:prstGeom>
          <a:solidFill>
            <a:srgbClr val="FABF8F"/>
          </a:solidFill>
          <a:ln w="28575">
            <a:solidFill>
              <a:srgbClr val="000000"/>
            </a:solidFill>
            <a:prstDash val="dash"/>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2792" name="AutoShape 238"/>
          <p:cNvSpPr>
            <a:spLocks noChangeArrowheads="1"/>
          </p:cNvSpPr>
          <p:nvPr/>
        </p:nvSpPr>
        <p:spPr bwMode="auto">
          <a:xfrm>
            <a:off x="-39688" y="4171950"/>
            <a:ext cx="1990726" cy="68738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60000"/>
              </a:lnSpc>
              <a:spcBef>
                <a:spcPct val="0"/>
              </a:spcBef>
              <a:spcAft>
                <a:spcPts val="1000"/>
              </a:spcAft>
              <a:buClrTx/>
              <a:buSzTx/>
              <a:buFontTx/>
              <a:buNone/>
            </a:pPr>
            <a:r>
              <a:rPr lang="en-US" altLang="en-US" sz="1600" b="1">
                <a:latin typeface="Calibri" panose="020F0502020204030204" pitchFamily="34" charset="0"/>
              </a:rPr>
              <a:t>Manufacturing </a:t>
            </a:r>
          </a:p>
          <a:p>
            <a:pPr algn="ctr">
              <a:lnSpc>
                <a:spcPct val="60000"/>
              </a:lnSpc>
              <a:spcBef>
                <a:spcPct val="0"/>
              </a:spcBef>
              <a:spcAft>
                <a:spcPts val="1000"/>
              </a:spcAft>
              <a:buClrTx/>
              <a:buSzTx/>
              <a:buFontTx/>
              <a:buNone/>
            </a:pPr>
            <a:r>
              <a:rPr lang="en-US" altLang="en-US" sz="1600" b="1">
                <a:latin typeface="Calibri" panose="020F0502020204030204" pitchFamily="34" charset="0"/>
              </a:rPr>
              <a:t>Test Process</a:t>
            </a:r>
            <a:endParaRPr lang="en-US" altLang="en-US" sz="9500" b="1">
              <a:latin typeface="Tahoma" panose="020B0604030504040204" pitchFamily="34" charset="0"/>
            </a:endParaRPr>
          </a:p>
        </p:txBody>
      </p:sp>
      <p:sp>
        <p:nvSpPr>
          <p:cNvPr id="17433" name="AutoShape 239"/>
          <p:cNvSpPr>
            <a:spLocks noChangeArrowheads="1"/>
          </p:cNvSpPr>
          <p:nvPr/>
        </p:nvSpPr>
        <p:spPr bwMode="auto">
          <a:xfrm>
            <a:off x="1917700" y="3951288"/>
            <a:ext cx="1639888" cy="531812"/>
          </a:xfrm>
          <a:prstGeom prst="roundRect">
            <a:avLst>
              <a:gd name="adj" fmla="val 16667"/>
            </a:avLst>
          </a:prstGeom>
          <a:solidFill>
            <a:srgbClr val="FFFF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solidFill>
                  <a:schemeClr val="bg2"/>
                </a:solidFill>
                <a:latin typeface="Calibri" charset="0"/>
                <a:ea typeface="ＭＳ Ｐゴシック" charset="0"/>
                <a:cs typeface="Arial" charset="0"/>
              </a:rPr>
              <a:t>Wafer Probe</a:t>
            </a:r>
            <a:endParaRPr lang="en-US" sz="1600" b="1">
              <a:solidFill>
                <a:schemeClr val="bg2"/>
              </a:solidFill>
              <a:latin typeface="Tahoma" charset="0"/>
              <a:ea typeface="ＭＳ Ｐゴシック" charset="0"/>
            </a:endParaRPr>
          </a:p>
        </p:txBody>
      </p:sp>
      <p:cxnSp>
        <p:nvCxnSpPr>
          <p:cNvPr id="17434" name="AutoShape 240"/>
          <p:cNvCxnSpPr>
            <a:cxnSpLocks noChangeShapeType="1"/>
          </p:cNvCxnSpPr>
          <p:nvPr/>
        </p:nvCxnSpPr>
        <p:spPr bwMode="auto">
          <a:xfrm>
            <a:off x="3563938" y="42243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cxnSp>
        <p:nvCxnSpPr>
          <p:cNvPr id="17435" name="AutoShape 241"/>
          <p:cNvCxnSpPr>
            <a:cxnSpLocks noChangeShapeType="1"/>
          </p:cNvCxnSpPr>
          <p:nvPr/>
        </p:nvCxnSpPr>
        <p:spPr bwMode="auto">
          <a:xfrm>
            <a:off x="5832475" y="42370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sp>
        <p:nvSpPr>
          <p:cNvPr id="17436" name="AutoShape 242"/>
          <p:cNvSpPr>
            <a:spLocks noChangeArrowheads="1"/>
          </p:cNvSpPr>
          <p:nvPr/>
        </p:nvSpPr>
        <p:spPr bwMode="auto">
          <a:xfrm>
            <a:off x="3911600" y="3976688"/>
            <a:ext cx="1930400" cy="531812"/>
          </a:xfrm>
          <a:prstGeom prst="roundRect">
            <a:avLst>
              <a:gd name="adj" fmla="val 16667"/>
            </a:avLst>
          </a:prstGeom>
          <a:solidFill>
            <a:srgbClr val="FFFF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solidFill>
                  <a:schemeClr val="bg2"/>
                </a:solidFill>
                <a:latin typeface="Calibri" charset="0"/>
                <a:ea typeface="ＭＳ Ｐゴシック" charset="0"/>
                <a:cs typeface="Arial" charset="0"/>
              </a:rPr>
              <a:t>Dice &amp; Package</a:t>
            </a:r>
            <a:endParaRPr lang="en-US" sz="1600" b="1">
              <a:solidFill>
                <a:schemeClr val="bg2"/>
              </a:solidFill>
              <a:latin typeface="Tahoma" charset="0"/>
              <a:ea typeface="ＭＳ Ｐゴシック" charset="0"/>
            </a:endParaRPr>
          </a:p>
        </p:txBody>
      </p:sp>
      <p:sp>
        <p:nvSpPr>
          <p:cNvPr id="17437" name="AutoShape 243"/>
          <p:cNvSpPr>
            <a:spLocks noChangeArrowheads="1"/>
          </p:cNvSpPr>
          <p:nvPr/>
        </p:nvSpPr>
        <p:spPr bwMode="auto">
          <a:xfrm>
            <a:off x="6154738" y="3973513"/>
            <a:ext cx="1611312" cy="534987"/>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Package Test</a:t>
            </a:r>
            <a:endParaRPr lang="en-US" sz="1600" b="1">
              <a:latin typeface="Tahoma" charset="0"/>
              <a:ea typeface="ＭＳ Ｐゴシック" charset="0"/>
            </a:endParaRPr>
          </a:p>
        </p:txBody>
      </p:sp>
      <p:pic>
        <p:nvPicPr>
          <p:cNvPr id="32798" name="Picture 31" descr="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1463" y="3983038"/>
            <a:ext cx="1092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9" name="AutoShape 234"/>
          <p:cNvSpPr>
            <a:spLocks noChangeArrowheads="1"/>
          </p:cNvSpPr>
          <p:nvPr/>
        </p:nvSpPr>
        <p:spPr bwMode="auto">
          <a:xfrm>
            <a:off x="3298825" y="2430463"/>
            <a:ext cx="484188" cy="384175"/>
          </a:xfrm>
          <a:prstGeom prst="downArrow">
            <a:avLst>
              <a:gd name="adj1" fmla="val 50000"/>
              <a:gd name="adj2" fmla="val 23653"/>
            </a:avLst>
          </a:prstGeom>
          <a:solidFill>
            <a:srgbClr val="FABF8F"/>
          </a:solidFill>
          <a:ln w="9525">
            <a:solidFill>
              <a:srgbClr val="000000"/>
            </a:solidFill>
            <a:miter lim="800000"/>
            <a:headEnd/>
            <a:tailEnd/>
          </a:ln>
        </p:spPr>
        <p:txBody>
          <a:bodyPr vert="eaVert"/>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2800" name="AutoShape 249"/>
          <p:cNvSpPr>
            <a:spLocks noChangeArrowheads="1"/>
          </p:cNvSpPr>
          <p:nvPr/>
        </p:nvSpPr>
        <p:spPr bwMode="auto">
          <a:xfrm>
            <a:off x="2341563" y="2819400"/>
            <a:ext cx="4273550" cy="812800"/>
          </a:xfrm>
          <a:prstGeom prst="roundRect">
            <a:avLst>
              <a:gd name="adj" fmla="val 16667"/>
            </a:avLst>
          </a:prstGeom>
          <a:solidFill>
            <a:srgbClr val="FABF8F"/>
          </a:solidFill>
          <a:ln w="28575">
            <a:solidFill>
              <a:srgbClr val="000000"/>
            </a:solidFill>
            <a:prstDash val="dash"/>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17441" name="AutoShape 250"/>
          <p:cNvSpPr>
            <a:spLocks noChangeArrowheads="1"/>
          </p:cNvSpPr>
          <p:nvPr/>
        </p:nvSpPr>
        <p:spPr bwMode="auto">
          <a:xfrm>
            <a:off x="2474913" y="2940050"/>
            <a:ext cx="1633537" cy="539750"/>
          </a:xfrm>
          <a:prstGeom prst="roundRect">
            <a:avLst>
              <a:gd name="adj" fmla="val 16667"/>
            </a:avLst>
          </a:prstGeom>
          <a:solidFill>
            <a:srgbClr val="FFFF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solidFill>
                  <a:schemeClr val="bg2"/>
                </a:solidFill>
                <a:latin typeface="Calibri" charset="0"/>
                <a:ea typeface="ＭＳ Ｐゴシック" charset="0"/>
                <a:cs typeface="Arial" charset="0"/>
              </a:rPr>
              <a:t>Fab Interface</a:t>
            </a:r>
            <a:endParaRPr lang="en-US" sz="1600" b="1">
              <a:solidFill>
                <a:schemeClr val="bg2"/>
              </a:solidFill>
              <a:latin typeface="Tahoma" charset="0"/>
              <a:ea typeface="ＭＳ Ｐゴシック" charset="0"/>
            </a:endParaRPr>
          </a:p>
        </p:txBody>
      </p:sp>
      <p:cxnSp>
        <p:nvCxnSpPr>
          <p:cNvPr id="17442" name="AutoShape 251"/>
          <p:cNvCxnSpPr>
            <a:cxnSpLocks noChangeShapeType="1"/>
          </p:cNvCxnSpPr>
          <p:nvPr/>
        </p:nvCxnSpPr>
        <p:spPr bwMode="auto">
          <a:xfrm>
            <a:off x="4127500" y="31956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cxnSp>
        <p:nvCxnSpPr>
          <p:cNvPr id="17443" name="AutoShape 252"/>
          <p:cNvCxnSpPr>
            <a:cxnSpLocks noChangeShapeType="1"/>
          </p:cNvCxnSpPr>
          <p:nvPr/>
        </p:nvCxnSpPr>
        <p:spPr bwMode="auto">
          <a:xfrm>
            <a:off x="5360988" y="32083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sp>
        <p:nvSpPr>
          <p:cNvPr id="17444" name="AutoShape 253"/>
          <p:cNvSpPr>
            <a:spLocks noChangeArrowheads="1"/>
          </p:cNvSpPr>
          <p:nvPr/>
        </p:nvSpPr>
        <p:spPr bwMode="auto">
          <a:xfrm>
            <a:off x="4457700" y="2952750"/>
            <a:ext cx="895350" cy="539750"/>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Mask</a:t>
            </a:r>
            <a:endParaRPr lang="en-US" sz="9500" b="1">
              <a:latin typeface="Tahoma" charset="0"/>
              <a:ea typeface="ＭＳ Ｐゴシック" charset="0"/>
            </a:endParaRPr>
          </a:p>
        </p:txBody>
      </p:sp>
      <p:sp>
        <p:nvSpPr>
          <p:cNvPr id="17445" name="AutoShape 254"/>
          <p:cNvSpPr>
            <a:spLocks noChangeArrowheads="1"/>
          </p:cNvSpPr>
          <p:nvPr/>
        </p:nvSpPr>
        <p:spPr bwMode="auto">
          <a:xfrm>
            <a:off x="5689600" y="2963863"/>
            <a:ext cx="742950" cy="541337"/>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Fab</a:t>
            </a:r>
            <a:endParaRPr lang="en-US" sz="1600" b="1">
              <a:latin typeface="Tahoma" charset="0"/>
              <a:ea typeface="ＭＳ Ｐゴシック" charset="0"/>
            </a:endParaRPr>
          </a:p>
        </p:txBody>
      </p:sp>
      <p:sp>
        <p:nvSpPr>
          <p:cNvPr id="32806" name="AutoShape 255"/>
          <p:cNvSpPr>
            <a:spLocks noChangeArrowheads="1"/>
          </p:cNvSpPr>
          <p:nvPr/>
        </p:nvSpPr>
        <p:spPr bwMode="auto">
          <a:xfrm>
            <a:off x="633413" y="2863850"/>
            <a:ext cx="1581150" cy="7270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spcAft>
                <a:spcPts val="1000"/>
              </a:spcAft>
              <a:buClrTx/>
              <a:buSzTx/>
              <a:buFontTx/>
              <a:buNone/>
            </a:pPr>
            <a:r>
              <a:rPr lang="en-US" altLang="en-US" sz="1600" b="1">
                <a:latin typeface="Calibri" panose="020F0502020204030204" pitchFamily="34" charset="0"/>
              </a:rPr>
              <a:t>Fabrication Process</a:t>
            </a:r>
            <a:endParaRPr lang="en-US" altLang="en-US" sz="9500" b="1">
              <a:latin typeface="Tahoma" panose="020B0604030504040204" pitchFamily="34" charset="0"/>
            </a:endParaRPr>
          </a:p>
        </p:txBody>
      </p:sp>
      <p:pic>
        <p:nvPicPr>
          <p:cNvPr id="32807" name="Picture 41" descr="Old faund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0050" y="2770188"/>
            <a:ext cx="828675"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8" name="Picture 42" descr="p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37475" y="2792413"/>
            <a:ext cx="88582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09" name="AutoShape 244"/>
          <p:cNvSpPr>
            <a:spLocks noChangeArrowheads="1"/>
          </p:cNvSpPr>
          <p:nvPr/>
        </p:nvSpPr>
        <p:spPr bwMode="auto">
          <a:xfrm>
            <a:off x="6778625" y="4597400"/>
            <a:ext cx="484188" cy="511175"/>
          </a:xfrm>
          <a:prstGeom prst="downArrow">
            <a:avLst>
              <a:gd name="adj1" fmla="val 50000"/>
              <a:gd name="adj2" fmla="val 24971"/>
            </a:avLst>
          </a:prstGeom>
          <a:solidFill>
            <a:srgbClr val="FABF8F"/>
          </a:solidFill>
          <a:ln w="9525">
            <a:solidFill>
              <a:srgbClr val="000000"/>
            </a:solidFill>
            <a:miter lim="800000"/>
            <a:headEnd/>
            <a:tailEnd/>
          </a:ln>
        </p:spPr>
        <p:txBody>
          <a:bodyPr vert="eaVert"/>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6200">
              <a:latin typeface="Tahoma" panose="020B0604030504040204" pitchFamily="34" charset="0"/>
            </a:endParaRPr>
          </a:p>
        </p:txBody>
      </p:sp>
      <p:sp>
        <p:nvSpPr>
          <p:cNvPr id="17450" name="AutoShape 245"/>
          <p:cNvSpPr>
            <a:spLocks noChangeArrowheads="1"/>
          </p:cNvSpPr>
          <p:nvPr/>
        </p:nvSpPr>
        <p:spPr bwMode="auto">
          <a:xfrm>
            <a:off x="5876925" y="5094288"/>
            <a:ext cx="2413000" cy="550862"/>
          </a:xfrm>
          <a:prstGeom prst="roundRect">
            <a:avLst>
              <a:gd name="adj" fmla="val 16667"/>
            </a:avLst>
          </a:prstGeom>
          <a:solidFill>
            <a:srgbClr val="00B050"/>
          </a:solidFill>
          <a:ln w="28575">
            <a:solidFill>
              <a:srgbClr val="000000"/>
            </a:solidFill>
            <a:prstDash val="dash"/>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b="1">
                <a:latin typeface="Calibri" charset="0"/>
                <a:ea typeface="ＭＳ Ｐゴシック" charset="0"/>
                <a:cs typeface="Arial" charset="0"/>
              </a:rPr>
              <a:t>Deploy and Monitor</a:t>
            </a:r>
            <a:endParaRPr lang="en-US" b="1">
              <a:latin typeface="Tahoma" charset="0"/>
              <a:ea typeface="ＭＳ Ｐゴシック" charset="0"/>
            </a:endParaRPr>
          </a:p>
        </p:txBody>
      </p:sp>
      <p:sp>
        <p:nvSpPr>
          <p:cNvPr id="32811" name="AutoShape 246"/>
          <p:cNvSpPr>
            <a:spLocks noChangeArrowheads="1"/>
          </p:cNvSpPr>
          <p:nvPr/>
        </p:nvSpPr>
        <p:spPr bwMode="auto">
          <a:xfrm rot="5400000">
            <a:off x="5501482" y="5218906"/>
            <a:ext cx="484188" cy="307975"/>
          </a:xfrm>
          <a:prstGeom prst="downArrow">
            <a:avLst>
              <a:gd name="adj1" fmla="val 50000"/>
              <a:gd name="adj2" fmla="val 23653"/>
            </a:avLst>
          </a:prstGeom>
          <a:solidFill>
            <a:srgbClr val="FABF8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6200">
              <a:latin typeface="Tahoma" panose="020B0604030504040204" pitchFamily="34" charset="0"/>
            </a:endParaRPr>
          </a:p>
        </p:txBody>
      </p:sp>
      <p:sp>
        <p:nvSpPr>
          <p:cNvPr id="17452" name="AutoShape 247"/>
          <p:cNvSpPr>
            <a:spLocks noChangeArrowheads="1"/>
          </p:cNvSpPr>
          <p:nvPr/>
        </p:nvSpPr>
        <p:spPr bwMode="auto">
          <a:xfrm>
            <a:off x="3200400" y="4824413"/>
            <a:ext cx="2378075" cy="1100137"/>
          </a:xfrm>
          <a:prstGeom prst="roundRect">
            <a:avLst>
              <a:gd name="adj" fmla="val 16667"/>
            </a:avLst>
          </a:prstGeom>
          <a:solidFill>
            <a:srgbClr val="00B050"/>
          </a:solidFill>
          <a:ln w="28575">
            <a:solidFill>
              <a:srgbClr val="000000"/>
            </a:solidFill>
            <a:prstDash val="dash"/>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b="1">
                <a:latin typeface="Calibri" charset="0"/>
                <a:ea typeface="ＭＳ Ｐゴシック" charset="0"/>
                <a:cs typeface="Arial" charset="0"/>
              </a:rPr>
              <a:t>IC Authentication: Trojan Detection and Isolation</a:t>
            </a:r>
            <a:endParaRPr lang="en-US" b="1">
              <a:latin typeface="Tahoma" charset="0"/>
              <a:ea typeface="ＭＳ Ｐゴシック" charset="0"/>
            </a:endParaRPr>
          </a:p>
        </p:txBody>
      </p:sp>
      <p:grpSp>
        <p:nvGrpSpPr>
          <p:cNvPr id="32813" name="Group 47"/>
          <p:cNvGrpSpPr>
            <a:grpSpLocks/>
          </p:cNvGrpSpPr>
          <p:nvPr/>
        </p:nvGrpSpPr>
        <p:grpSpPr bwMode="auto">
          <a:xfrm>
            <a:off x="1524000" y="4699000"/>
            <a:ext cx="1530350" cy="1409700"/>
            <a:chOff x="1008" y="3239"/>
            <a:chExt cx="964" cy="888"/>
          </a:xfrm>
        </p:grpSpPr>
        <p:pic>
          <p:nvPicPr>
            <p:cNvPr id="32815" name="Picture 48" descr="magnifie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 y="3239"/>
              <a:ext cx="964" cy="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16" name="Picture 49" descr="p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91" y="3638"/>
              <a:ext cx="263"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17" name="Oval 50"/>
            <p:cNvSpPr>
              <a:spLocks noChangeArrowheads="1"/>
            </p:cNvSpPr>
            <p:nvPr/>
          </p:nvSpPr>
          <p:spPr bwMode="auto">
            <a:xfrm>
              <a:off x="1656" y="3420"/>
              <a:ext cx="204" cy="168"/>
            </a:xfrm>
            <a:prstGeom prst="ellipse">
              <a:avLst/>
            </a:prstGeom>
            <a:solidFill>
              <a:schemeClr val="bg1"/>
            </a:solidFill>
            <a:ln>
              <a:noFill/>
            </a:ln>
            <a:extLst>
              <a:ext uri="{91240B29-F687-4F45-9708-019B960494DF}">
                <a14:hiddenLine xmlns:a14="http://schemas.microsoft.com/office/drawing/2010/main" w="2540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pic>
          <p:nvPicPr>
            <p:cNvPr id="32818" name="Picture 51" descr="p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90" y="3451"/>
              <a:ext cx="115"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814"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DA0A3C09-398E-4478-9ACD-A11D96601D07}" type="slidenum">
              <a:rPr lang="en-US" altLang="en-US" sz="1200"/>
              <a:pPr algn="r" eaLnBrk="1" hangingPunct="1">
                <a:spcBef>
                  <a:spcPct val="0"/>
                </a:spcBef>
                <a:buClrTx/>
                <a:buSzTx/>
                <a:buFontTx/>
                <a:buNone/>
              </a:pPr>
              <a:t>11</a:t>
            </a:fld>
            <a:endParaRPr lang="en-US" altLang="en-US" sz="1200"/>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0"/>
            <a:ext cx="8229600" cy="838200"/>
          </a:xfrm>
        </p:spPr>
        <p:txBody>
          <a:bodyPr/>
          <a:lstStyle/>
          <a:p>
            <a:pPr eaLnBrk="1" hangingPunct="1"/>
            <a:r>
              <a:rPr lang="en-US" altLang="en-US" b="1"/>
              <a:t>Untrusted Designer and Foundry</a:t>
            </a:r>
          </a:p>
        </p:txBody>
      </p:sp>
      <p:sp>
        <p:nvSpPr>
          <p:cNvPr id="34819" name="AutoShape 246"/>
          <p:cNvSpPr>
            <a:spLocks noChangeArrowheads="1"/>
          </p:cNvSpPr>
          <p:nvPr/>
        </p:nvSpPr>
        <p:spPr bwMode="auto">
          <a:xfrm rot="5400000">
            <a:off x="4926807" y="5420519"/>
            <a:ext cx="484187" cy="307975"/>
          </a:xfrm>
          <a:prstGeom prst="downArrow">
            <a:avLst>
              <a:gd name="adj1" fmla="val 50000"/>
              <a:gd name="adj2" fmla="val 23653"/>
            </a:avLst>
          </a:prstGeom>
          <a:solidFill>
            <a:srgbClr val="FABF8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4820" name="AutoShape 244"/>
          <p:cNvSpPr>
            <a:spLocks noChangeArrowheads="1"/>
          </p:cNvSpPr>
          <p:nvPr/>
        </p:nvSpPr>
        <p:spPr bwMode="auto">
          <a:xfrm>
            <a:off x="6818313" y="4787900"/>
            <a:ext cx="484187" cy="511175"/>
          </a:xfrm>
          <a:prstGeom prst="downArrow">
            <a:avLst>
              <a:gd name="adj1" fmla="val 50000"/>
              <a:gd name="adj2" fmla="val 24971"/>
            </a:avLst>
          </a:prstGeom>
          <a:solidFill>
            <a:srgbClr val="FABF8F"/>
          </a:solidFill>
          <a:ln w="9525">
            <a:solidFill>
              <a:srgbClr val="000000"/>
            </a:solidFill>
            <a:miter lim="800000"/>
            <a:headEnd/>
            <a:tailEnd/>
          </a:ln>
        </p:spPr>
        <p:txBody>
          <a:bodyPr vert="eaVert"/>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4821" name="AutoShape 234"/>
          <p:cNvSpPr>
            <a:spLocks noChangeArrowheads="1"/>
          </p:cNvSpPr>
          <p:nvPr/>
        </p:nvSpPr>
        <p:spPr bwMode="auto">
          <a:xfrm>
            <a:off x="3262313" y="2544763"/>
            <a:ext cx="484187" cy="384175"/>
          </a:xfrm>
          <a:prstGeom prst="downArrow">
            <a:avLst>
              <a:gd name="adj1" fmla="val 50000"/>
              <a:gd name="adj2" fmla="val 23653"/>
            </a:avLst>
          </a:prstGeom>
          <a:solidFill>
            <a:srgbClr val="FABF8F"/>
          </a:solidFill>
          <a:ln w="9525">
            <a:solidFill>
              <a:srgbClr val="000000"/>
            </a:solidFill>
            <a:miter lim="800000"/>
            <a:headEnd/>
            <a:tailEnd/>
          </a:ln>
        </p:spPr>
        <p:txBody>
          <a:bodyPr vert="eaVert"/>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4822" name="AutoShape 235"/>
          <p:cNvSpPr>
            <a:spLocks noChangeArrowheads="1"/>
          </p:cNvSpPr>
          <p:nvPr/>
        </p:nvSpPr>
        <p:spPr bwMode="auto">
          <a:xfrm>
            <a:off x="4278313" y="3636963"/>
            <a:ext cx="484187" cy="333375"/>
          </a:xfrm>
          <a:prstGeom prst="downArrow">
            <a:avLst>
              <a:gd name="adj1" fmla="val 50000"/>
              <a:gd name="adj2" fmla="val 23653"/>
            </a:avLst>
          </a:prstGeom>
          <a:solidFill>
            <a:srgbClr val="FABF8F"/>
          </a:solidFill>
          <a:ln w="9525">
            <a:solidFill>
              <a:srgbClr val="000000"/>
            </a:solidFill>
            <a:miter lim="800000"/>
            <a:headEnd/>
            <a:tailEnd/>
          </a:ln>
        </p:spPr>
        <p:txBody>
          <a:bodyPr vert="eaVert"/>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4823" name="AutoShape 237"/>
          <p:cNvSpPr>
            <a:spLocks noChangeArrowheads="1"/>
          </p:cNvSpPr>
          <p:nvPr/>
        </p:nvSpPr>
        <p:spPr bwMode="auto">
          <a:xfrm>
            <a:off x="2374900" y="3965575"/>
            <a:ext cx="6102350" cy="796925"/>
          </a:xfrm>
          <a:prstGeom prst="roundRect">
            <a:avLst>
              <a:gd name="adj" fmla="val 16667"/>
            </a:avLst>
          </a:prstGeom>
          <a:solidFill>
            <a:srgbClr val="FABF8F"/>
          </a:solidFill>
          <a:ln w="28575">
            <a:solidFill>
              <a:srgbClr val="000000"/>
            </a:solidFill>
            <a:prstDash val="dash"/>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34824" name="AutoShape 238"/>
          <p:cNvSpPr>
            <a:spLocks noChangeArrowheads="1"/>
          </p:cNvSpPr>
          <p:nvPr/>
        </p:nvSpPr>
        <p:spPr bwMode="auto">
          <a:xfrm>
            <a:off x="0" y="4171950"/>
            <a:ext cx="1743075" cy="68738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60000"/>
              </a:lnSpc>
              <a:spcBef>
                <a:spcPct val="0"/>
              </a:spcBef>
              <a:spcAft>
                <a:spcPts val="1000"/>
              </a:spcAft>
              <a:buClrTx/>
              <a:buSzTx/>
              <a:buFontTx/>
              <a:buNone/>
            </a:pPr>
            <a:r>
              <a:rPr lang="en-US" altLang="en-US" sz="1600" b="1">
                <a:latin typeface="Calibri" panose="020F0502020204030204" pitchFamily="34" charset="0"/>
              </a:rPr>
              <a:t>Manufacturing </a:t>
            </a:r>
          </a:p>
          <a:p>
            <a:pPr algn="ctr">
              <a:lnSpc>
                <a:spcPct val="60000"/>
              </a:lnSpc>
              <a:spcBef>
                <a:spcPct val="0"/>
              </a:spcBef>
              <a:spcAft>
                <a:spcPts val="1000"/>
              </a:spcAft>
              <a:buClrTx/>
              <a:buSzTx/>
              <a:buFontTx/>
              <a:buNone/>
            </a:pPr>
            <a:r>
              <a:rPr lang="en-US" altLang="en-US" sz="1600" b="1">
                <a:latin typeface="Calibri" panose="020F0502020204030204" pitchFamily="34" charset="0"/>
              </a:rPr>
              <a:t>Test Process</a:t>
            </a:r>
            <a:endParaRPr lang="en-US" altLang="en-US" sz="9500" b="1">
              <a:latin typeface="Tahoma" panose="020B0604030504040204" pitchFamily="34" charset="0"/>
            </a:endParaRPr>
          </a:p>
        </p:txBody>
      </p:sp>
      <p:sp>
        <p:nvSpPr>
          <p:cNvPr id="18441" name="AutoShape 239"/>
          <p:cNvSpPr>
            <a:spLocks noChangeArrowheads="1"/>
          </p:cNvSpPr>
          <p:nvPr/>
        </p:nvSpPr>
        <p:spPr bwMode="auto">
          <a:xfrm>
            <a:off x="1924050" y="4065588"/>
            <a:ext cx="1639888" cy="531812"/>
          </a:xfrm>
          <a:prstGeom prst="roundRect">
            <a:avLst>
              <a:gd name="adj" fmla="val 16667"/>
            </a:avLst>
          </a:prstGeom>
          <a:solidFill>
            <a:srgbClr val="FFFF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solidFill>
                  <a:schemeClr val="bg2"/>
                </a:solidFill>
                <a:latin typeface="Calibri" charset="0"/>
                <a:ea typeface="ＭＳ Ｐゴシック" charset="0"/>
                <a:cs typeface="Arial" charset="0"/>
              </a:rPr>
              <a:t>Wafer Probe</a:t>
            </a:r>
            <a:endParaRPr lang="en-US" sz="1600" b="1">
              <a:solidFill>
                <a:schemeClr val="bg2"/>
              </a:solidFill>
              <a:latin typeface="Tahoma" charset="0"/>
              <a:ea typeface="ＭＳ Ｐゴシック" charset="0"/>
            </a:endParaRPr>
          </a:p>
        </p:txBody>
      </p:sp>
      <p:cxnSp>
        <p:nvCxnSpPr>
          <p:cNvPr id="18442" name="AutoShape 240"/>
          <p:cNvCxnSpPr>
            <a:cxnSpLocks noChangeShapeType="1"/>
          </p:cNvCxnSpPr>
          <p:nvPr/>
        </p:nvCxnSpPr>
        <p:spPr bwMode="auto">
          <a:xfrm>
            <a:off x="3570288" y="43386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cxnSp>
        <p:nvCxnSpPr>
          <p:cNvPr id="18443" name="AutoShape 241"/>
          <p:cNvCxnSpPr>
            <a:cxnSpLocks noChangeShapeType="1"/>
          </p:cNvCxnSpPr>
          <p:nvPr/>
        </p:nvCxnSpPr>
        <p:spPr bwMode="auto">
          <a:xfrm>
            <a:off x="5838825" y="43513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sp>
        <p:nvSpPr>
          <p:cNvPr id="18444" name="AutoShape 242"/>
          <p:cNvSpPr>
            <a:spLocks noChangeArrowheads="1"/>
          </p:cNvSpPr>
          <p:nvPr/>
        </p:nvSpPr>
        <p:spPr bwMode="auto">
          <a:xfrm>
            <a:off x="3917950" y="4090988"/>
            <a:ext cx="1930400" cy="531812"/>
          </a:xfrm>
          <a:prstGeom prst="roundRect">
            <a:avLst>
              <a:gd name="adj" fmla="val 16667"/>
            </a:avLst>
          </a:prstGeom>
          <a:solidFill>
            <a:srgbClr val="FFFF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solidFill>
                  <a:schemeClr val="bg2"/>
                </a:solidFill>
                <a:latin typeface="Calibri" charset="0"/>
                <a:ea typeface="ＭＳ Ｐゴシック" charset="0"/>
                <a:cs typeface="Arial" charset="0"/>
              </a:rPr>
              <a:t>Dice &amp; Package</a:t>
            </a:r>
            <a:endParaRPr lang="en-US" sz="1600" b="1">
              <a:solidFill>
                <a:schemeClr val="bg2"/>
              </a:solidFill>
              <a:latin typeface="Tahoma" charset="0"/>
              <a:ea typeface="ＭＳ Ｐゴシック" charset="0"/>
            </a:endParaRPr>
          </a:p>
        </p:txBody>
      </p:sp>
      <p:sp>
        <p:nvSpPr>
          <p:cNvPr id="18445" name="AutoShape 243"/>
          <p:cNvSpPr>
            <a:spLocks noChangeArrowheads="1"/>
          </p:cNvSpPr>
          <p:nvPr/>
        </p:nvSpPr>
        <p:spPr bwMode="auto">
          <a:xfrm>
            <a:off x="6161088" y="4087813"/>
            <a:ext cx="1611312" cy="534987"/>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Package Test</a:t>
            </a:r>
            <a:endParaRPr lang="en-US" sz="1600" b="1">
              <a:latin typeface="Tahoma" charset="0"/>
              <a:ea typeface="ＭＳ Ｐゴシック" charset="0"/>
            </a:endParaRPr>
          </a:p>
        </p:txBody>
      </p:sp>
      <p:sp>
        <p:nvSpPr>
          <p:cNvPr id="18446" name="AutoShape 245"/>
          <p:cNvSpPr>
            <a:spLocks noChangeArrowheads="1"/>
          </p:cNvSpPr>
          <p:nvPr/>
        </p:nvSpPr>
        <p:spPr bwMode="auto">
          <a:xfrm>
            <a:off x="5943600" y="5283200"/>
            <a:ext cx="2413000" cy="550863"/>
          </a:xfrm>
          <a:prstGeom prst="roundRect">
            <a:avLst>
              <a:gd name="adj" fmla="val 16667"/>
            </a:avLst>
          </a:prstGeom>
          <a:solidFill>
            <a:srgbClr val="00B050"/>
          </a:solidFill>
          <a:ln w="28575">
            <a:solidFill>
              <a:srgbClr val="000000"/>
            </a:solidFill>
            <a:prstDash val="dash"/>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Deploy and Monitor</a:t>
            </a:r>
            <a:endParaRPr lang="en-US" sz="1600" b="1">
              <a:latin typeface="Tahoma" charset="0"/>
              <a:ea typeface="ＭＳ Ｐゴシック" charset="0"/>
            </a:endParaRPr>
          </a:p>
        </p:txBody>
      </p:sp>
      <p:sp>
        <p:nvSpPr>
          <p:cNvPr id="18447" name="AutoShape 247"/>
          <p:cNvSpPr>
            <a:spLocks noChangeArrowheads="1"/>
          </p:cNvSpPr>
          <p:nvPr/>
        </p:nvSpPr>
        <p:spPr bwMode="auto">
          <a:xfrm>
            <a:off x="3200400" y="4999038"/>
            <a:ext cx="2425700" cy="1100137"/>
          </a:xfrm>
          <a:prstGeom prst="roundRect">
            <a:avLst>
              <a:gd name="adj" fmla="val 16667"/>
            </a:avLst>
          </a:prstGeom>
          <a:solidFill>
            <a:srgbClr val="00B050"/>
          </a:solidFill>
          <a:ln w="28575">
            <a:solidFill>
              <a:srgbClr val="000000"/>
            </a:solidFill>
            <a:prstDash val="dash"/>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b="1">
                <a:latin typeface="Calibri" charset="0"/>
                <a:ea typeface="ＭＳ Ｐゴシック" charset="0"/>
                <a:cs typeface="Arial" charset="0"/>
              </a:rPr>
              <a:t>IC Authentication: Trojan Detection and Isolation</a:t>
            </a:r>
            <a:endParaRPr lang="en-US" b="1">
              <a:latin typeface="Tahoma" charset="0"/>
              <a:ea typeface="ＭＳ Ｐゴシック" charset="0"/>
            </a:endParaRPr>
          </a:p>
        </p:txBody>
      </p:sp>
      <p:sp>
        <p:nvSpPr>
          <p:cNvPr id="34832" name="AutoShape 249"/>
          <p:cNvSpPr>
            <a:spLocks noChangeArrowheads="1"/>
          </p:cNvSpPr>
          <p:nvPr/>
        </p:nvSpPr>
        <p:spPr bwMode="auto">
          <a:xfrm>
            <a:off x="2286000" y="2933700"/>
            <a:ext cx="4273550" cy="812800"/>
          </a:xfrm>
          <a:prstGeom prst="roundRect">
            <a:avLst>
              <a:gd name="adj" fmla="val 16667"/>
            </a:avLst>
          </a:prstGeom>
          <a:solidFill>
            <a:srgbClr val="FABF8F"/>
          </a:solidFill>
          <a:ln w="28575">
            <a:solidFill>
              <a:srgbClr val="000000"/>
            </a:solidFill>
            <a:prstDash val="dash"/>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18449" name="AutoShape 250"/>
          <p:cNvSpPr>
            <a:spLocks noChangeArrowheads="1"/>
          </p:cNvSpPr>
          <p:nvPr/>
        </p:nvSpPr>
        <p:spPr bwMode="auto">
          <a:xfrm>
            <a:off x="2438400" y="3054350"/>
            <a:ext cx="1633538" cy="539750"/>
          </a:xfrm>
          <a:prstGeom prst="roundRect">
            <a:avLst>
              <a:gd name="adj" fmla="val 16667"/>
            </a:avLst>
          </a:prstGeom>
          <a:solidFill>
            <a:srgbClr val="FFFF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solidFill>
                  <a:schemeClr val="bg2"/>
                </a:solidFill>
                <a:latin typeface="Calibri" charset="0"/>
                <a:ea typeface="ＭＳ Ｐゴシック" charset="0"/>
                <a:cs typeface="Arial" charset="0"/>
              </a:rPr>
              <a:t>Fab Interface</a:t>
            </a:r>
            <a:endParaRPr lang="en-US" sz="1600" b="1">
              <a:solidFill>
                <a:schemeClr val="bg2"/>
              </a:solidFill>
              <a:latin typeface="Tahoma" charset="0"/>
              <a:ea typeface="ＭＳ Ｐゴシック" charset="0"/>
            </a:endParaRPr>
          </a:p>
        </p:txBody>
      </p:sp>
      <p:cxnSp>
        <p:nvCxnSpPr>
          <p:cNvPr id="18450" name="AutoShape 251"/>
          <p:cNvCxnSpPr>
            <a:cxnSpLocks noChangeShapeType="1"/>
          </p:cNvCxnSpPr>
          <p:nvPr/>
        </p:nvCxnSpPr>
        <p:spPr bwMode="auto">
          <a:xfrm>
            <a:off x="4090988" y="33099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cxnSp>
        <p:nvCxnSpPr>
          <p:cNvPr id="18451" name="AutoShape 252"/>
          <p:cNvCxnSpPr>
            <a:cxnSpLocks noChangeShapeType="1"/>
          </p:cNvCxnSpPr>
          <p:nvPr/>
        </p:nvCxnSpPr>
        <p:spPr bwMode="auto">
          <a:xfrm>
            <a:off x="5324475" y="3322638"/>
            <a:ext cx="349250" cy="1587"/>
          </a:xfrm>
          <a:prstGeom prst="straightConnector1">
            <a:avLst/>
          </a:prstGeom>
          <a:noFill/>
          <a:ln w="9525">
            <a:solidFill>
              <a:srgbClr val="000000"/>
            </a:solidFill>
            <a:round/>
            <a:headEnd/>
            <a:tailEnd type="triangle" w="med" len="med"/>
          </a:ln>
          <a:effectLst>
            <a:outerShdw blurRad="63500" dist="38099" dir="2700000" algn="ctr" rotWithShape="0">
              <a:srgbClr val="000000">
                <a:alpha val="74998"/>
              </a:srgbClr>
            </a:outerShdw>
          </a:effectLst>
          <a:extLst>
            <a:ext uri="{909E8E84-426E-40dd-AFC4-6F175D3DCCD1}"/>
          </a:extLst>
        </p:spPr>
      </p:cxnSp>
      <p:sp>
        <p:nvSpPr>
          <p:cNvPr id="18452" name="AutoShape 253"/>
          <p:cNvSpPr>
            <a:spLocks noChangeArrowheads="1"/>
          </p:cNvSpPr>
          <p:nvPr/>
        </p:nvSpPr>
        <p:spPr bwMode="auto">
          <a:xfrm>
            <a:off x="4421188" y="3067050"/>
            <a:ext cx="895350" cy="539750"/>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Mask</a:t>
            </a:r>
            <a:endParaRPr lang="en-US" sz="9500" b="1">
              <a:latin typeface="Tahoma" charset="0"/>
              <a:ea typeface="ＭＳ Ｐゴシック" charset="0"/>
            </a:endParaRPr>
          </a:p>
        </p:txBody>
      </p:sp>
      <p:sp>
        <p:nvSpPr>
          <p:cNvPr id="18453" name="AutoShape 254"/>
          <p:cNvSpPr>
            <a:spLocks noChangeArrowheads="1"/>
          </p:cNvSpPr>
          <p:nvPr/>
        </p:nvSpPr>
        <p:spPr bwMode="auto">
          <a:xfrm>
            <a:off x="5653088" y="3078163"/>
            <a:ext cx="742950" cy="541337"/>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Fab</a:t>
            </a:r>
            <a:endParaRPr lang="en-US" sz="1600" b="1">
              <a:latin typeface="Tahoma" charset="0"/>
              <a:ea typeface="ＭＳ Ｐゴシック" charset="0"/>
            </a:endParaRPr>
          </a:p>
        </p:txBody>
      </p:sp>
      <p:sp>
        <p:nvSpPr>
          <p:cNvPr id="34838" name="AutoShape 255"/>
          <p:cNvSpPr>
            <a:spLocks noChangeArrowheads="1"/>
          </p:cNvSpPr>
          <p:nvPr/>
        </p:nvSpPr>
        <p:spPr bwMode="auto">
          <a:xfrm>
            <a:off x="481013" y="3036888"/>
            <a:ext cx="1581150" cy="7270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spcAft>
                <a:spcPts val="1000"/>
              </a:spcAft>
              <a:buClrTx/>
              <a:buSzTx/>
              <a:buFontTx/>
              <a:buNone/>
            </a:pPr>
            <a:r>
              <a:rPr lang="en-US" altLang="en-US" sz="1600" b="1">
                <a:latin typeface="Calibri" panose="020F0502020204030204" pitchFamily="34" charset="0"/>
              </a:rPr>
              <a:t>Fabrication Process</a:t>
            </a:r>
            <a:endParaRPr lang="en-US" altLang="en-US" sz="9500" b="1">
              <a:latin typeface="Tahoma" panose="020B0604030504040204" pitchFamily="34" charset="0"/>
            </a:endParaRPr>
          </a:p>
        </p:txBody>
      </p:sp>
      <p:sp>
        <p:nvSpPr>
          <p:cNvPr id="34839" name="AutoShape 257"/>
          <p:cNvSpPr>
            <a:spLocks noChangeArrowheads="1"/>
          </p:cNvSpPr>
          <p:nvPr/>
        </p:nvSpPr>
        <p:spPr bwMode="auto">
          <a:xfrm>
            <a:off x="444500" y="974725"/>
            <a:ext cx="6932613" cy="1576388"/>
          </a:xfrm>
          <a:prstGeom prst="roundRect">
            <a:avLst>
              <a:gd name="adj" fmla="val 16667"/>
            </a:avLst>
          </a:prstGeom>
          <a:solidFill>
            <a:srgbClr val="FABF8F"/>
          </a:solidFill>
          <a:ln w="28575">
            <a:solidFill>
              <a:srgbClr val="000000"/>
            </a:solidFill>
            <a:prstDash val="dash"/>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5000">
              <a:latin typeface="Tahoma" panose="020B0604030504040204" pitchFamily="34" charset="0"/>
            </a:endParaRPr>
          </a:p>
        </p:txBody>
      </p:sp>
      <p:sp>
        <p:nvSpPr>
          <p:cNvPr id="18456" name="AutoShape 268"/>
          <p:cNvSpPr>
            <a:spLocks noChangeArrowheads="1"/>
          </p:cNvSpPr>
          <p:nvPr/>
        </p:nvSpPr>
        <p:spPr bwMode="auto">
          <a:xfrm>
            <a:off x="2960688" y="2022475"/>
            <a:ext cx="1263650" cy="444500"/>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Design</a:t>
            </a:r>
            <a:endParaRPr lang="en-US" sz="9500" b="1">
              <a:latin typeface="Tahoma" charset="0"/>
              <a:ea typeface="ＭＳ Ｐゴシック" charset="0"/>
            </a:endParaRPr>
          </a:p>
        </p:txBody>
      </p:sp>
      <p:sp>
        <p:nvSpPr>
          <p:cNvPr id="34841" name="AutoShape 269"/>
          <p:cNvSpPr>
            <a:spLocks noChangeArrowheads="1"/>
          </p:cNvSpPr>
          <p:nvPr/>
        </p:nvSpPr>
        <p:spPr bwMode="auto">
          <a:xfrm>
            <a:off x="976313" y="1846263"/>
            <a:ext cx="1231900" cy="712787"/>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spcAft>
                <a:spcPts val="1000"/>
              </a:spcAft>
              <a:buClrTx/>
              <a:buSzTx/>
              <a:buFontTx/>
              <a:buNone/>
            </a:pPr>
            <a:r>
              <a:rPr lang="en-US" altLang="en-US" sz="1600" b="1">
                <a:latin typeface="Calibri" panose="020F0502020204030204" pitchFamily="34" charset="0"/>
              </a:rPr>
              <a:t>Design Process</a:t>
            </a:r>
            <a:endParaRPr lang="en-US" altLang="en-US" sz="1600" b="1">
              <a:latin typeface="Tahoma" panose="020B0604030504040204" pitchFamily="34" charset="0"/>
            </a:endParaRPr>
          </a:p>
        </p:txBody>
      </p:sp>
      <p:sp>
        <p:nvSpPr>
          <p:cNvPr id="34842" name="Rounded Rectangle 1204"/>
          <p:cNvSpPr>
            <a:spLocks noChangeArrowheads="1"/>
          </p:cNvSpPr>
          <p:nvPr/>
        </p:nvSpPr>
        <p:spPr bwMode="auto">
          <a:xfrm>
            <a:off x="158750" y="4864100"/>
            <a:ext cx="1231900" cy="381000"/>
          </a:xfrm>
          <a:prstGeom prst="roundRect">
            <a:avLst>
              <a:gd name="adj" fmla="val 16667"/>
            </a:avLst>
          </a:prstGeom>
          <a:solidFill>
            <a:srgbClr val="00B050"/>
          </a:solidFill>
          <a:ln w="9525">
            <a:solidFill>
              <a:schemeClr val="tx1"/>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600" b="1">
                <a:latin typeface="Tahoma" panose="020B0604030504040204" pitchFamily="34" charset="0"/>
              </a:rPr>
              <a:t>Trusted</a:t>
            </a:r>
          </a:p>
        </p:txBody>
      </p:sp>
      <p:sp>
        <p:nvSpPr>
          <p:cNvPr id="34843" name="Rounded Rectangle 1205"/>
          <p:cNvSpPr>
            <a:spLocks noChangeArrowheads="1"/>
          </p:cNvSpPr>
          <p:nvPr/>
        </p:nvSpPr>
        <p:spPr bwMode="auto">
          <a:xfrm>
            <a:off x="158750" y="5276850"/>
            <a:ext cx="1244600" cy="381000"/>
          </a:xfrm>
          <a:prstGeom prst="roundRect">
            <a:avLst>
              <a:gd name="adj" fmla="val 16667"/>
            </a:avLst>
          </a:prstGeom>
          <a:solidFill>
            <a:srgbClr val="FFFF00"/>
          </a:solidFill>
          <a:ln w="9525">
            <a:solidFill>
              <a:schemeClr val="tx1"/>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600" b="1">
                <a:solidFill>
                  <a:schemeClr val="bg2"/>
                </a:solidFill>
                <a:latin typeface="Tahoma" panose="020B0604030504040204" pitchFamily="34" charset="0"/>
              </a:rPr>
              <a:t>Either</a:t>
            </a:r>
          </a:p>
        </p:txBody>
      </p:sp>
      <p:sp>
        <p:nvSpPr>
          <p:cNvPr id="34844" name="Rounded Rectangle 1206"/>
          <p:cNvSpPr>
            <a:spLocks noChangeArrowheads="1"/>
          </p:cNvSpPr>
          <p:nvPr/>
        </p:nvSpPr>
        <p:spPr bwMode="auto">
          <a:xfrm>
            <a:off x="171450" y="5695950"/>
            <a:ext cx="1257300" cy="381000"/>
          </a:xfrm>
          <a:prstGeom prst="roundRect">
            <a:avLst>
              <a:gd name="adj" fmla="val 16667"/>
            </a:avLst>
          </a:prstGeom>
          <a:solidFill>
            <a:srgbClr val="FF0000"/>
          </a:solidFill>
          <a:ln w="9525">
            <a:solidFill>
              <a:schemeClr val="tx1"/>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600" b="1">
                <a:latin typeface="Tahoma" panose="020B0604030504040204" pitchFamily="34" charset="0"/>
              </a:rPr>
              <a:t>Untrusted</a:t>
            </a:r>
          </a:p>
        </p:txBody>
      </p:sp>
      <p:sp>
        <p:nvSpPr>
          <p:cNvPr id="18461" name="AutoShape 258"/>
          <p:cNvSpPr>
            <a:spLocks noChangeArrowheads="1"/>
          </p:cNvSpPr>
          <p:nvPr/>
        </p:nvSpPr>
        <p:spPr bwMode="auto">
          <a:xfrm>
            <a:off x="614363" y="1081088"/>
            <a:ext cx="517525" cy="430212"/>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IP</a:t>
            </a:r>
            <a:endParaRPr lang="en-US" sz="1600" b="1">
              <a:latin typeface="Tahoma" charset="0"/>
              <a:ea typeface="ＭＳ Ｐゴシック" charset="0"/>
            </a:endParaRPr>
          </a:p>
        </p:txBody>
      </p:sp>
      <p:sp>
        <p:nvSpPr>
          <p:cNvPr id="34846" name="Line 30"/>
          <p:cNvSpPr>
            <a:spLocks noChangeShapeType="1"/>
          </p:cNvSpPr>
          <p:nvPr/>
        </p:nvSpPr>
        <p:spPr bwMode="auto">
          <a:xfrm>
            <a:off x="831850" y="1489075"/>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7" name="Line 31"/>
          <p:cNvSpPr>
            <a:spLocks noChangeShapeType="1"/>
          </p:cNvSpPr>
          <p:nvPr/>
        </p:nvSpPr>
        <p:spPr bwMode="auto">
          <a:xfrm>
            <a:off x="819150" y="1768475"/>
            <a:ext cx="5562600" cy="12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8" name="Line 32"/>
          <p:cNvSpPr>
            <a:spLocks noChangeShapeType="1"/>
          </p:cNvSpPr>
          <p:nvPr/>
        </p:nvSpPr>
        <p:spPr bwMode="auto">
          <a:xfrm>
            <a:off x="1873250" y="1374775"/>
            <a:ext cx="0" cy="406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9" name="Line 33"/>
          <p:cNvSpPr>
            <a:spLocks noChangeShapeType="1"/>
          </p:cNvSpPr>
          <p:nvPr/>
        </p:nvSpPr>
        <p:spPr bwMode="auto">
          <a:xfrm>
            <a:off x="3511550" y="1425575"/>
            <a:ext cx="0" cy="355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0" name="Line 34"/>
          <p:cNvSpPr>
            <a:spLocks noChangeShapeType="1"/>
          </p:cNvSpPr>
          <p:nvPr/>
        </p:nvSpPr>
        <p:spPr bwMode="auto">
          <a:xfrm>
            <a:off x="4870450" y="1387475"/>
            <a:ext cx="0" cy="393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1" name="Line 35"/>
          <p:cNvSpPr>
            <a:spLocks noChangeShapeType="1"/>
          </p:cNvSpPr>
          <p:nvPr/>
        </p:nvSpPr>
        <p:spPr bwMode="auto">
          <a:xfrm>
            <a:off x="6381750" y="1501775"/>
            <a:ext cx="0" cy="279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8" name="AutoShape 259"/>
          <p:cNvSpPr>
            <a:spLocks noChangeArrowheads="1"/>
          </p:cNvSpPr>
          <p:nvPr/>
        </p:nvSpPr>
        <p:spPr bwMode="auto">
          <a:xfrm>
            <a:off x="1250950" y="1062038"/>
            <a:ext cx="1438275" cy="461962"/>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CAD Tools</a:t>
            </a:r>
            <a:endParaRPr lang="en-US" sz="1600" b="1">
              <a:latin typeface="Tahoma" charset="0"/>
              <a:ea typeface="ＭＳ Ｐゴシック" charset="0"/>
            </a:endParaRPr>
          </a:p>
        </p:txBody>
      </p:sp>
      <p:sp>
        <p:nvSpPr>
          <p:cNvPr id="18469" name="AutoShape 260"/>
          <p:cNvSpPr>
            <a:spLocks noChangeArrowheads="1"/>
          </p:cNvSpPr>
          <p:nvPr/>
        </p:nvSpPr>
        <p:spPr bwMode="auto">
          <a:xfrm>
            <a:off x="2894013" y="1060450"/>
            <a:ext cx="1285875" cy="495300"/>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STD Cells</a:t>
            </a:r>
            <a:endParaRPr lang="en-US" sz="9500" b="1">
              <a:latin typeface="Tahoma" charset="0"/>
              <a:ea typeface="ＭＳ Ｐゴシック" charset="0"/>
            </a:endParaRPr>
          </a:p>
        </p:txBody>
      </p:sp>
      <p:sp>
        <p:nvSpPr>
          <p:cNvPr id="18470" name="AutoShape 261"/>
          <p:cNvSpPr>
            <a:spLocks noChangeArrowheads="1"/>
          </p:cNvSpPr>
          <p:nvPr/>
        </p:nvSpPr>
        <p:spPr bwMode="auto">
          <a:xfrm>
            <a:off x="4344988" y="1089025"/>
            <a:ext cx="1163637" cy="457200"/>
          </a:xfrm>
          <a:prstGeom prst="roundRect">
            <a:avLst>
              <a:gd name="adj" fmla="val 16667"/>
            </a:avLst>
          </a:prstGeom>
          <a:solidFill>
            <a:srgbClr val="FF000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cs typeface="Arial" charset="0"/>
              </a:rPr>
              <a:t>Models</a:t>
            </a:r>
            <a:endParaRPr lang="en-US" sz="9500" b="1">
              <a:latin typeface="Tahoma" charset="0"/>
              <a:ea typeface="ＭＳ Ｐゴシック" charset="0"/>
            </a:endParaRPr>
          </a:p>
        </p:txBody>
      </p:sp>
      <p:sp>
        <p:nvSpPr>
          <p:cNvPr id="18471" name="AutoShape 262"/>
          <p:cNvSpPr>
            <a:spLocks noChangeArrowheads="1"/>
          </p:cNvSpPr>
          <p:nvPr/>
        </p:nvSpPr>
        <p:spPr bwMode="auto">
          <a:xfrm>
            <a:off x="5629275" y="989013"/>
            <a:ext cx="1649413" cy="698500"/>
          </a:xfrm>
          <a:prstGeom prst="roundRect">
            <a:avLst>
              <a:gd name="adj" fmla="val 16667"/>
            </a:avLst>
          </a:prstGeom>
          <a:solidFill>
            <a:srgbClr val="00B050"/>
          </a:solidFill>
          <a:ln w="9525">
            <a:solidFill>
              <a:srgbClr val="000000"/>
            </a:solidFill>
            <a:round/>
            <a:headEnd/>
            <a:tailEnd/>
          </a:ln>
          <a:effectLst>
            <a:outerShdw blurRad="63500" dist="38099" dir="2700000" algn="ctr" rotWithShape="0">
              <a:srgbClr val="000000">
                <a:alpha val="74998"/>
              </a:srgbClr>
            </a:outerShdw>
          </a:effectLst>
        </p:spPr>
        <p:txBody>
          <a:bodyPr/>
          <a:lstStyle/>
          <a:p>
            <a:pPr algn="ctr" defTabSz="3135313">
              <a:spcAft>
                <a:spcPts val="1000"/>
              </a:spcAft>
              <a:defRPr/>
            </a:pPr>
            <a:r>
              <a:rPr lang="en-US" sz="1600" b="1">
                <a:latin typeface="Calibri" charset="0"/>
                <a:ea typeface="ＭＳ Ｐゴシック" charset="0"/>
              </a:rPr>
              <a:t>Design Specification</a:t>
            </a:r>
            <a:endParaRPr lang="en-US" sz="9500" b="1">
              <a:latin typeface="Tahoma" charset="0"/>
              <a:ea typeface="ＭＳ Ｐゴシック" charset="0"/>
            </a:endParaRPr>
          </a:p>
        </p:txBody>
      </p:sp>
      <p:sp>
        <p:nvSpPr>
          <p:cNvPr id="34856" name="Line 40"/>
          <p:cNvSpPr>
            <a:spLocks noChangeShapeType="1"/>
          </p:cNvSpPr>
          <p:nvPr/>
        </p:nvSpPr>
        <p:spPr bwMode="auto">
          <a:xfrm>
            <a:off x="3625850" y="1768475"/>
            <a:ext cx="0" cy="2413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34857" name="Picture 41" descr="Computer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1282700"/>
            <a:ext cx="1468438"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58" name="Picture 54" descr="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5600" y="3894138"/>
            <a:ext cx="1092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59" name="Group 55"/>
          <p:cNvGrpSpPr>
            <a:grpSpLocks/>
          </p:cNvGrpSpPr>
          <p:nvPr/>
        </p:nvGrpSpPr>
        <p:grpSpPr bwMode="auto">
          <a:xfrm>
            <a:off x="1524000" y="4813300"/>
            <a:ext cx="1530350" cy="1409700"/>
            <a:chOff x="1008" y="3239"/>
            <a:chExt cx="964" cy="888"/>
          </a:xfrm>
        </p:grpSpPr>
        <p:pic>
          <p:nvPicPr>
            <p:cNvPr id="34864" name="Picture 56" descr="magnifi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3239"/>
              <a:ext cx="964" cy="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65" name="Picture 57" descr="p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91" y="3638"/>
              <a:ext cx="263"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66" name="Oval 58"/>
            <p:cNvSpPr>
              <a:spLocks noChangeArrowheads="1"/>
            </p:cNvSpPr>
            <p:nvPr/>
          </p:nvSpPr>
          <p:spPr bwMode="auto">
            <a:xfrm>
              <a:off x="1656" y="3420"/>
              <a:ext cx="204" cy="168"/>
            </a:xfrm>
            <a:prstGeom prst="ellipse">
              <a:avLst/>
            </a:prstGeom>
            <a:solidFill>
              <a:schemeClr val="bg1"/>
            </a:solidFill>
            <a:ln>
              <a:noFill/>
            </a:ln>
            <a:extLst>
              <a:ext uri="{91240B29-F687-4F45-9708-019B960494DF}">
                <a14:hiddenLine xmlns:a14="http://schemas.microsoft.com/office/drawing/2010/main" w="2540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pic>
          <p:nvPicPr>
            <p:cNvPr id="34867" name="Picture 59" descr="p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90" y="3451"/>
              <a:ext cx="115"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4860" name="Picture 60" descr="Old faundry"/>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1800" y="2860675"/>
            <a:ext cx="828675"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61" name="Picture 61" descr="p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9225" y="2882900"/>
            <a:ext cx="88582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62" name="AutoShape 246"/>
          <p:cNvSpPr>
            <a:spLocks noChangeArrowheads="1"/>
          </p:cNvSpPr>
          <p:nvPr/>
        </p:nvSpPr>
        <p:spPr bwMode="auto">
          <a:xfrm rot="5400000">
            <a:off x="5547519" y="5382419"/>
            <a:ext cx="484187" cy="307975"/>
          </a:xfrm>
          <a:prstGeom prst="downArrow">
            <a:avLst>
              <a:gd name="adj1" fmla="val 50000"/>
              <a:gd name="adj2" fmla="val 23653"/>
            </a:avLst>
          </a:prstGeom>
          <a:solidFill>
            <a:srgbClr val="FABF8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6200">
              <a:latin typeface="Tahoma" panose="020B0604030504040204" pitchFamily="34" charset="0"/>
            </a:endParaRPr>
          </a:p>
        </p:txBody>
      </p:sp>
      <p:sp>
        <p:nvSpPr>
          <p:cNvPr id="34863"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D2A5B9C5-F0F8-4BC0-B8E9-10F140EB371F}" type="slidenum">
              <a:rPr lang="en-US" altLang="en-US" sz="1200"/>
              <a:pPr algn="r" eaLnBrk="1" hangingPunct="1">
                <a:spcBef>
                  <a:spcPct val="0"/>
                </a:spcBef>
                <a:buClrTx/>
                <a:buSzTx/>
                <a:buFontTx/>
                <a:buNone/>
              </a:pPr>
              <a:t>12</a:t>
            </a:fld>
            <a:endParaRPr lang="en-US" altLang="en-US" sz="1200"/>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0" y="16240"/>
            <a:ext cx="9144000" cy="865188"/>
          </a:xfrm>
        </p:spPr>
        <p:txBody>
          <a:bodyPr/>
          <a:lstStyle/>
          <a:p>
            <a:pPr>
              <a:defRPr/>
            </a:pPr>
            <a:r>
              <a:rPr lang="en-US" altLang="en-US" sz="3600" b="1" dirty="0">
                <a:ea typeface="ＭＳ Ｐゴシック" panose="020B0600070205080204" pitchFamily="34" charset="-128"/>
              </a:rPr>
              <a:t>HW Trojan Examples / Models</a:t>
            </a:r>
          </a:p>
        </p:txBody>
      </p:sp>
      <p:grpSp>
        <p:nvGrpSpPr>
          <p:cNvPr id="2" name="Group 19"/>
          <p:cNvGrpSpPr>
            <a:grpSpLocks/>
          </p:cNvGrpSpPr>
          <p:nvPr/>
        </p:nvGrpSpPr>
        <p:grpSpPr bwMode="auto">
          <a:xfrm>
            <a:off x="0" y="3481468"/>
            <a:ext cx="6019800" cy="2209800"/>
            <a:chOff x="0" y="3886200"/>
            <a:chExt cx="6019800" cy="2209800"/>
          </a:xfrm>
        </p:grpSpPr>
        <p:pic>
          <p:nvPicPr>
            <p:cNvPr id="9235" name="Picture 7" descr="C:\Documents and Settings\RSC\My Documents\Work\TRUST in IC\Test Generation\N_detect_Journal_Paper\IEEE_N_detect_version_8\Latex\figures\comb_trojan.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4343400"/>
              <a:ext cx="290353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6" name="Picture 9" descr="C:\Documents and Settings\RSC\My Documents\Work\TRUST in IC\Test Generation\N_detect_Journal_Paper\IEEE_N_detect_version_8\Latex\figures\seq_trojan.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71800" y="4343400"/>
              <a:ext cx="280035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7" name="TextBox 21"/>
            <p:cNvSpPr txBox="1">
              <a:spLocks noChangeArrowheads="1"/>
            </p:cNvSpPr>
            <p:nvPr/>
          </p:nvSpPr>
          <p:spPr bwMode="auto">
            <a:xfrm>
              <a:off x="0" y="3886200"/>
              <a:ext cx="289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1800" b="1" i="1" dirty="0"/>
                <a:t>Comb.</a:t>
              </a:r>
              <a:r>
                <a:rPr lang="en-US" altLang="en-US" sz="1800" b="1" dirty="0"/>
                <a:t> </a:t>
              </a:r>
              <a:r>
                <a:rPr lang="en-US" altLang="en-US" sz="1800" b="1" i="1" dirty="0"/>
                <a:t>Trojan model</a:t>
              </a:r>
            </a:p>
          </p:txBody>
        </p:sp>
        <p:sp>
          <p:nvSpPr>
            <p:cNvPr id="9238" name="TextBox 22"/>
            <p:cNvSpPr txBox="1">
              <a:spLocks noChangeArrowheads="1"/>
            </p:cNvSpPr>
            <p:nvPr/>
          </p:nvSpPr>
          <p:spPr bwMode="auto">
            <a:xfrm>
              <a:off x="2971800" y="3886200"/>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1800" b="1" i="1" dirty="0"/>
                <a:t>Seq.</a:t>
              </a:r>
              <a:r>
                <a:rPr lang="en-US" altLang="en-US" sz="1800" b="1" dirty="0"/>
                <a:t> </a:t>
              </a:r>
              <a:r>
                <a:rPr lang="en-US" altLang="en-US" sz="1800" b="1" i="1" dirty="0"/>
                <a:t>Trojan Model</a:t>
              </a:r>
            </a:p>
          </p:txBody>
        </p:sp>
      </p:grpSp>
      <p:grpSp>
        <p:nvGrpSpPr>
          <p:cNvPr id="9221" name="Group 16"/>
          <p:cNvGrpSpPr>
            <a:grpSpLocks/>
          </p:cNvGrpSpPr>
          <p:nvPr/>
        </p:nvGrpSpPr>
        <p:grpSpPr bwMode="auto">
          <a:xfrm>
            <a:off x="0" y="1030368"/>
            <a:ext cx="5557838" cy="1795463"/>
            <a:chOff x="0" y="1435100"/>
            <a:chExt cx="5557838" cy="1795463"/>
          </a:xfrm>
        </p:grpSpPr>
        <p:pic>
          <p:nvPicPr>
            <p:cNvPr id="9231" name="Picture 3" descr="C:\Documents and Settings\RSC\My Documents\Work\TRUST in IC\Test Generation\DATE-2009\figures\comb_trojan_exampl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 y="1981200"/>
              <a:ext cx="243840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2" name="Picture 4" descr="C:\Documents and Settings\RSC\My Documents\Work\TRUST in IC\Test Generation\DATE-2009\figures\trojan_time_bomb.pn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819400" y="1905000"/>
              <a:ext cx="273843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3" name="TextBox 9"/>
            <p:cNvSpPr txBox="1">
              <a:spLocks noChangeArrowheads="1"/>
            </p:cNvSpPr>
            <p:nvPr/>
          </p:nvSpPr>
          <p:spPr bwMode="auto">
            <a:xfrm>
              <a:off x="0" y="1447800"/>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1800" b="1" i="1" dirty="0"/>
                <a:t>Comb.</a:t>
              </a:r>
              <a:r>
                <a:rPr lang="en-US" altLang="en-US" sz="1800" b="1" dirty="0"/>
                <a:t> </a:t>
              </a:r>
              <a:r>
                <a:rPr lang="en-US" altLang="en-US" sz="1800" b="1" i="1" dirty="0"/>
                <a:t>Trojan Example</a:t>
              </a:r>
            </a:p>
          </p:txBody>
        </p:sp>
        <p:sp>
          <p:nvSpPr>
            <p:cNvPr id="9234" name="TextBox 9"/>
            <p:cNvSpPr txBox="1">
              <a:spLocks noChangeArrowheads="1"/>
            </p:cNvSpPr>
            <p:nvPr/>
          </p:nvSpPr>
          <p:spPr bwMode="auto">
            <a:xfrm>
              <a:off x="2819400" y="1435100"/>
              <a:ext cx="259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1800" b="1" i="1" dirty="0"/>
                <a:t>Seq.</a:t>
              </a:r>
              <a:r>
                <a:rPr lang="en-US" altLang="en-US" sz="1800" b="1" dirty="0"/>
                <a:t> </a:t>
              </a:r>
              <a:r>
                <a:rPr lang="en-US" altLang="en-US" sz="1800" b="1" i="1" dirty="0"/>
                <a:t>Trojan Example</a:t>
              </a:r>
            </a:p>
          </p:txBody>
        </p:sp>
      </p:grpSp>
      <p:grpSp>
        <p:nvGrpSpPr>
          <p:cNvPr id="5" name="Group 20"/>
          <p:cNvGrpSpPr>
            <a:grpSpLocks/>
          </p:cNvGrpSpPr>
          <p:nvPr/>
        </p:nvGrpSpPr>
        <p:grpSpPr bwMode="auto">
          <a:xfrm>
            <a:off x="2438400" y="1043068"/>
            <a:ext cx="6705600" cy="5182849"/>
            <a:chOff x="2438400" y="1458931"/>
            <a:chExt cx="6705600" cy="5183274"/>
          </a:xfrm>
        </p:grpSpPr>
        <p:grpSp>
          <p:nvGrpSpPr>
            <p:cNvPr id="9225" name="Group 17"/>
            <p:cNvGrpSpPr>
              <a:grpSpLocks/>
            </p:cNvGrpSpPr>
            <p:nvPr/>
          </p:nvGrpSpPr>
          <p:grpSpPr bwMode="auto">
            <a:xfrm>
              <a:off x="5791200" y="1458931"/>
              <a:ext cx="3352800" cy="2770195"/>
              <a:chOff x="5791200" y="1458931"/>
              <a:chExt cx="3352800" cy="2770195"/>
            </a:xfrm>
          </p:grpSpPr>
          <p:pic>
            <p:nvPicPr>
              <p:cNvPr id="9227" name="Picture 14"/>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324600" y="1905026"/>
                <a:ext cx="2579688"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8" name="TextBox 9"/>
              <p:cNvSpPr txBox="1">
                <a:spLocks noChangeArrowheads="1"/>
              </p:cNvSpPr>
              <p:nvPr/>
            </p:nvSpPr>
            <p:spPr bwMode="auto">
              <a:xfrm>
                <a:off x="5791200" y="1458931"/>
                <a:ext cx="335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1800" b="1" i="1" dirty="0"/>
                  <a:t>MOLES</a:t>
                </a:r>
                <a:r>
                  <a:rPr lang="en-US" altLang="en-US" sz="1800" b="1" i="1" baseline="30000" dirty="0"/>
                  <a:t>*</a:t>
                </a:r>
                <a:r>
                  <a:rPr lang="en-US" altLang="en-US" sz="1800" b="1" i="1" dirty="0"/>
                  <a:t>: Info Leakage Trojan</a:t>
                </a:r>
              </a:p>
            </p:txBody>
          </p:sp>
        </p:grpSp>
        <p:sp>
          <p:nvSpPr>
            <p:cNvPr id="9226" name="TextBox 9"/>
            <p:cNvSpPr txBox="1">
              <a:spLocks noChangeArrowheads="1"/>
            </p:cNvSpPr>
            <p:nvPr/>
          </p:nvSpPr>
          <p:spPr bwMode="auto">
            <a:xfrm>
              <a:off x="2438400" y="6303651"/>
              <a:ext cx="3352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1600" i="1" dirty="0"/>
                <a:t>*Lin et al, ICCAD 2009</a:t>
              </a:r>
            </a:p>
          </p:txBody>
        </p:sp>
      </p:grpSp>
      <p:pic>
        <p:nvPicPr>
          <p:cNvPr id="23" name="Picture 2"/>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6096000" y="4045797"/>
            <a:ext cx="2392363" cy="23208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4" name="TextBox 9"/>
          <p:cNvSpPr txBox="1">
            <a:spLocks noChangeArrowheads="1"/>
          </p:cNvSpPr>
          <p:nvPr/>
        </p:nvSpPr>
        <p:spPr bwMode="auto">
          <a:xfrm rot="5400000">
            <a:off x="7380741" y="4996383"/>
            <a:ext cx="2592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defTabSz="45720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defTabSz="4572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ClrTx/>
              <a:buSzTx/>
              <a:buFontTx/>
              <a:buNone/>
            </a:pPr>
            <a:r>
              <a:rPr lang="en-US" altLang="en-US" sz="2000" b="1" i="1" dirty="0">
                <a:latin typeface="Calibri" panose="020F0502020204030204" pitchFamily="34" charset="0"/>
              </a:rPr>
              <a:t>HW</a:t>
            </a:r>
            <a:r>
              <a:rPr lang="en-US" altLang="en-US" sz="2000" b="1" dirty="0">
                <a:latin typeface="Calibri" panose="020F0502020204030204" pitchFamily="34" charset="0"/>
              </a:rPr>
              <a:t> </a:t>
            </a:r>
            <a:r>
              <a:rPr lang="en-US" altLang="en-US" sz="2000" b="1" i="1" dirty="0">
                <a:latin typeface="Calibri" panose="020F0502020204030204" pitchFamily="34" charset="0"/>
              </a:rPr>
              <a:t>Trojan evidence!</a:t>
            </a:r>
          </a:p>
        </p:txBody>
      </p:sp>
    </p:spTree>
    <p:extLst>
      <p:ext uri="{BB962C8B-B14F-4D97-AF65-F5344CB8AC3E}">
        <p14:creationId xmlns:p14="http://schemas.microsoft.com/office/powerpoint/2010/main" val="6824916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9705" y="2730746"/>
            <a:ext cx="8064708" cy="954107"/>
          </a:xfrm>
          <a:prstGeom prst="rect">
            <a:avLst/>
          </a:prstGeom>
          <a:noFill/>
        </p:spPr>
        <p:txBody>
          <a:bodyPr wrap="square" rtlCol="0">
            <a:spAutoFit/>
          </a:bodyPr>
          <a:lstStyle/>
          <a:p>
            <a:pPr algn="ctr"/>
            <a:r>
              <a:rPr lang="en-US" sz="2800" b="1" dirty="0">
                <a:latin typeface="Arial Black" panose="020B0A04020102020204" pitchFamily="34" charset="0"/>
                <a:ea typeface="ＭＳ Ｐゴシック" charset="0"/>
              </a:rPr>
              <a:t>Why is detection of hardware Trojans very difficult? </a:t>
            </a:r>
          </a:p>
        </p:txBody>
      </p:sp>
    </p:spTree>
    <p:extLst>
      <p:ext uri="{BB962C8B-B14F-4D97-AF65-F5344CB8AC3E}">
        <p14:creationId xmlns:p14="http://schemas.microsoft.com/office/powerpoint/2010/main" val="33120637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bwMode="auto">
          <a:xfrm>
            <a:off x="228601" y="5336500"/>
            <a:ext cx="8693258" cy="633981"/>
          </a:xfrm>
          <a:prstGeom prst="roundRect">
            <a:avLst/>
          </a:prstGeom>
          <a:solidFill>
            <a:schemeClr val="bg1">
              <a:lumMod val="75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en-US">
              <a:solidFill>
                <a:srgbClr val="FFFFFF"/>
              </a:solidFill>
              <a:latin typeface="Arial" charset="0"/>
              <a:ea typeface="ＭＳ Ｐゴシック" charset="0"/>
            </a:endParaRPr>
          </a:p>
        </p:txBody>
      </p:sp>
      <p:sp>
        <p:nvSpPr>
          <p:cNvPr id="4" name="TextBox 3"/>
          <p:cNvSpPr txBox="1"/>
          <p:nvPr/>
        </p:nvSpPr>
        <p:spPr>
          <a:xfrm>
            <a:off x="90065" y="5428975"/>
            <a:ext cx="8742676" cy="461665"/>
          </a:xfrm>
          <a:prstGeom prst="rect">
            <a:avLst/>
          </a:prstGeom>
          <a:noFill/>
        </p:spPr>
        <p:txBody>
          <a:bodyPr wrap="square" rtlCol="0">
            <a:spAutoFit/>
          </a:bodyPr>
          <a:lstStyle/>
          <a:p>
            <a:pPr algn="ctr"/>
            <a:r>
              <a:rPr lang="en-US" sz="2400" b="1" dirty="0">
                <a:solidFill>
                  <a:srgbClr val="FF0000"/>
                </a:solidFill>
                <a:latin typeface="Arial Black" panose="020B0A04020102020204" pitchFamily="34" charset="0"/>
                <a:ea typeface="ＭＳ Ｐゴシック" charset="0"/>
              </a:rPr>
              <a:t>Trojan Attacks </a:t>
            </a:r>
            <a:r>
              <a:rPr lang="en-US" sz="2400" b="1" dirty="0">
                <a:solidFill>
                  <a:srgbClr val="FF0000"/>
                </a:solidFill>
                <a:latin typeface="Arial" panose="020B0604020202020204" pitchFamily="34" charset="0"/>
                <a:ea typeface="ＭＳ Ｐゴシック" charset="0"/>
                <a:cs typeface="Arial" panose="020B0604020202020204" pitchFamily="34" charset="0"/>
              </a:rPr>
              <a:t>→</a:t>
            </a:r>
            <a:r>
              <a:rPr lang="en-US" sz="2400" b="1" dirty="0">
                <a:solidFill>
                  <a:srgbClr val="FF0000"/>
                </a:solidFill>
                <a:latin typeface="Arial Black" panose="020B0A04020102020204" pitchFamily="34" charset="0"/>
                <a:ea typeface="ＭＳ Ｐゴシック" charset="0"/>
              </a:rPr>
              <a:t> BIGGER verification challenge!</a:t>
            </a:r>
          </a:p>
        </p:txBody>
      </p:sp>
      <p:graphicFrame>
        <p:nvGraphicFramePr>
          <p:cNvPr id="2" name="Diagram 1"/>
          <p:cNvGraphicFramePr/>
          <p:nvPr>
            <p:extLst/>
          </p:nvPr>
        </p:nvGraphicFramePr>
        <p:xfrm>
          <a:off x="914400" y="1064172"/>
          <a:ext cx="6705600" cy="3812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2">
            <a:extLst>
              <a:ext uri="{FF2B5EF4-FFF2-40B4-BE49-F238E27FC236}">
                <a16:creationId xmlns:a16="http://schemas.microsoft.com/office/drawing/2014/main" id="{667932CD-EB96-314C-B930-4F35B3C73372}"/>
              </a:ext>
            </a:extLst>
          </p:cNvPr>
          <p:cNvSpPr txBox="1">
            <a:spLocks noChangeArrowheads="1"/>
          </p:cNvSpPr>
          <p:nvPr/>
        </p:nvSpPr>
        <p:spPr>
          <a:xfrm>
            <a:off x="0" y="16240"/>
            <a:ext cx="9144000" cy="865188"/>
          </a:xfrm>
          <a:prstGeom prst="rect">
            <a:avLst/>
          </a:prstGeom>
        </p:spPr>
        <p:txBody>
          <a:bodyPr/>
          <a:lstStyle>
            <a:lvl1pPr algn="ctr" rtl="0" eaLnBrk="0" fontAlgn="base" hangingPunct="0">
              <a:spcBef>
                <a:spcPct val="0"/>
              </a:spcBef>
              <a:spcAft>
                <a:spcPct val="0"/>
              </a:spcAft>
              <a:defRPr sz="4000">
                <a:solidFill>
                  <a:srgbClr val="FF0000"/>
                </a:solidFill>
                <a:latin typeface="Arial" pitchFamily="34" charset="0"/>
                <a:ea typeface="MS PGothic" panose="020B0600070205080204" pitchFamily="34" charset="-128"/>
                <a:cs typeface="Arial" pitchFamily="34" charset="0"/>
              </a:defRPr>
            </a:lvl1pPr>
            <a:lvl2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000">
                <a:solidFill>
                  <a:srgbClr val="FF0000"/>
                </a:solidFill>
                <a:latin typeface="Arial" charset="0"/>
                <a:ea typeface="MS PGothic" panose="020B0600070205080204" pitchFamily="34" charset="-128"/>
                <a:cs typeface="Arial" charset="0"/>
              </a:defRPr>
            </a:lvl5pPr>
            <a:lvl6pPr marL="457200" algn="ctr" rtl="0" eaLnBrk="1" fontAlgn="base" hangingPunct="1">
              <a:spcBef>
                <a:spcPct val="0"/>
              </a:spcBef>
              <a:spcAft>
                <a:spcPct val="0"/>
              </a:spcAft>
              <a:defRPr sz="4000">
                <a:solidFill>
                  <a:srgbClr val="FF0000"/>
                </a:solidFill>
                <a:latin typeface="Tahoma" pitchFamily="34" charset="0"/>
              </a:defRPr>
            </a:lvl6pPr>
            <a:lvl7pPr marL="914400" algn="ctr" rtl="0" eaLnBrk="1" fontAlgn="base" hangingPunct="1">
              <a:spcBef>
                <a:spcPct val="0"/>
              </a:spcBef>
              <a:spcAft>
                <a:spcPct val="0"/>
              </a:spcAft>
              <a:defRPr sz="4000">
                <a:solidFill>
                  <a:srgbClr val="FF0000"/>
                </a:solidFill>
                <a:latin typeface="Tahoma" pitchFamily="34" charset="0"/>
              </a:defRPr>
            </a:lvl7pPr>
            <a:lvl8pPr marL="1371600" algn="ctr" rtl="0" eaLnBrk="1" fontAlgn="base" hangingPunct="1">
              <a:spcBef>
                <a:spcPct val="0"/>
              </a:spcBef>
              <a:spcAft>
                <a:spcPct val="0"/>
              </a:spcAft>
              <a:defRPr sz="4000">
                <a:solidFill>
                  <a:srgbClr val="FF0000"/>
                </a:solidFill>
                <a:latin typeface="Tahoma" pitchFamily="34" charset="0"/>
              </a:defRPr>
            </a:lvl8pPr>
            <a:lvl9pPr marL="1828800" algn="ctr" rtl="0" eaLnBrk="1" fontAlgn="base" hangingPunct="1">
              <a:spcBef>
                <a:spcPct val="0"/>
              </a:spcBef>
              <a:spcAft>
                <a:spcPct val="0"/>
              </a:spcAft>
              <a:defRPr sz="4000">
                <a:solidFill>
                  <a:srgbClr val="FF0000"/>
                </a:solidFill>
                <a:latin typeface="Tahoma" pitchFamily="34" charset="0"/>
              </a:defRPr>
            </a:lvl9pPr>
          </a:lstStyle>
          <a:p>
            <a:pPr>
              <a:defRPr/>
            </a:pPr>
            <a:r>
              <a:rPr lang="en-US" altLang="en-US" sz="3600" b="1" kern="0" dirty="0">
                <a:ea typeface="ＭＳ Ｐゴシック" panose="020B0600070205080204" pitchFamily="34" charset="-128"/>
              </a:rPr>
              <a:t>Bug vs. Malicious Change</a:t>
            </a:r>
          </a:p>
        </p:txBody>
      </p:sp>
    </p:spTree>
    <p:extLst>
      <p:ext uri="{BB962C8B-B14F-4D97-AF65-F5344CB8AC3E}">
        <p14:creationId xmlns:p14="http://schemas.microsoft.com/office/powerpoint/2010/main" val="32642244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a:xfrm>
            <a:off x="533400" y="76200"/>
            <a:ext cx="8229600" cy="685800"/>
          </a:xfrm>
        </p:spPr>
        <p:txBody>
          <a:bodyPr/>
          <a:lstStyle/>
          <a:p>
            <a:pPr eaLnBrk="1" hangingPunct="1"/>
            <a:r>
              <a:rPr lang="en-US" altLang="en-US" b="1" dirty="0"/>
              <a:t>Silicon Back Door</a:t>
            </a:r>
          </a:p>
        </p:txBody>
      </p:sp>
      <p:sp>
        <p:nvSpPr>
          <p:cNvPr id="12291" name="Rectangle 6"/>
          <p:cNvSpPr>
            <a:spLocks noGrp="1" noChangeArrowheads="1"/>
          </p:cNvSpPr>
          <p:nvPr>
            <p:ph idx="1"/>
          </p:nvPr>
        </p:nvSpPr>
        <p:spPr>
          <a:xfrm>
            <a:off x="304800" y="3725890"/>
            <a:ext cx="2520950" cy="395288"/>
          </a:xfrm>
          <a:solidFill>
            <a:srgbClr val="FF0000"/>
          </a:solidFill>
          <a:ln>
            <a:solidFill>
              <a:srgbClr val="FF0000"/>
            </a:solidFill>
            <a:miter lim="800000"/>
            <a:headEnd/>
            <a:tailEnd/>
          </a:ln>
        </p:spPr>
        <p:txBody>
          <a:bodyPr lIns="90488" tIns="44450" rIns="90488" bIns="44450"/>
          <a:lstStyle/>
          <a:p>
            <a:pPr marL="0" indent="0" algn="ctr" eaLnBrk="1" hangingPunct="1">
              <a:buFontTx/>
              <a:buNone/>
            </a:pPr>
            <a:r>
              <a:rPr lang="en-US" altLang="en-US" sz="1800" b="1"/>
              <a:t>Untrusted Hardware</a:t>
            </a:r>
          </a:p>
        </p:txBody>
      </p:sp>
      <p:grpSp>
        <p:nvGrpSpPr>
          <p:cNvPr id="12292" name="Group 2"/>
          <p:cNvGrpSpPr>
            <a:grpSpLocks/>
          </p:cNvGrpSpPr>
          <p:nvPr/>
        </p:nvGrpSpPr>
        <p:grpSpPr bwMode="auto">
          <a:xfrm>
            <a:off x="541338" y="1754215"/>
            <a:ext cx="1943100" cy="1941513"/>
            <a:chOff x="477" y="1046"/>
            <a:chExt cx="1262" cy="1253"/>
          </a:xfrm>
        </p:grpSpPr>
        <p:pic>
          <p:nvPicPr>
            <p:cNvPr id="12309" name="Picture 3" descr="p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 y="1053"/>
              <a:ext cx="1256" cy="1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10" name="Rectangle 4"/>
            <p:cNvSpPr>
              <a:spLocks noChangeArrowheads="1"/>
            </p:cNvSpPr>
            <p:nvPr/>
          </p:nvSpPr>
          <p:spPr bwMode="auto">
            <a:xfrm>
              <a:off x="477" y="1046"/>
              <a:ext cx="1257" cy="1253"/>
            </a:xfrm>
            <a:prstGeom prst="rect">
              <a:avLst/>
            </a:prstGeom>
            <a:noFill/>
            <a:ln w="44450">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grpSp>
        <p:nvGrpSpPr>
          <p:cNvPr id="3" name="Group 7"/>
          <p:cNvGrpSpPr>
            <a:grpSpLocks/>
          </p:cNvGrpSpPr>
          <p:nvPr/>
        </p:nvGrpSpPr>
        <p:grpSpPr bwMode="auto">
          <a:xfrm>
            <a:off x="1862138" y="1790728"/>
            <a:ext cx="2759075" cy="1376362"/>
            <a:chOff x="1173" y="1213"/>
            <a:chExt cx="1738" cy="867"/>
          </a:xfrm>
        </p:grpSpPr>
        <p:sp>
          <p:nvSpPr>
            <p:cNvPr id="12305" name="Rectangle 8"/>
            <p:cNvSpPr>
              <a:spLocks noChangeArrowheads="1"/>
            </p:cNvSpPr>
            <p:nvPr/>
          </p:nvSpPr>
          <p:spPr bwMode="auto">
            <a:xfrm>
              <a:off x="1173" y="1712"/>
              <a:ext cx="56" cy="56"/>
            </a:xfrm>
            <a:prstGeom prst="rect">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2306" name="AutoShape 9"/>
            <p:cNvSpPr>
              <a:spLocks/>
            </p:cNvSpPr>
            <p:nvPr/>
          </p:nvSpPr>
          <p:spPr bwMode="auto">
            <a:xfrm>
              <a:off x="2261" y="1440"/>
              <a:ext cx="628" cy="640"/>
            </a:xfrm>
            <a:prstGeom prst="borderCallout1">
              <a:avLst>
                <a:gd name="adj1" fmla="val 11250"/>
                <a:gd name="adj2" fmla="val -7644"/>
                <a:gd name="adj3" fmla="val 46875"/>
                <a:gd name="adj4" fmla="val -168153"/>
              </a:avLst>
            </a:prstGeom>
            <a:noFill/>
            <a:ln w="25400">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600">
                <a:latin typeface="Tahoma" panose="020B0604030504040204" pitchFamily="34" charset="0"/>
              </a:endParaRPr>
            </a:p>
          </p:txBody>
        </p:sp>
        <p:pic>
          <p:nvPicPr>
            <p:cNvPr id="12307" name="Picture 10" descr="Antenna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 y="1452"/>
              <a:ext cx="618"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8" name="Text Box 11"/>
            <p:cNvSpPr txBox="1">
              <a:spLocks noChangeArrowheads="1"/>
            </p:cNvSpPr>
            <p:nvPr/>
          </p:nvSpPr>
          <p:spPr bwMode="auto">
            <a:xfrm>
              <a:off x="2234" y="1213"/>
              <a:ext cx="677" cy="212"/>
            </a:xfrm>
            <a:prstGeom prst="rect">
              <a:avLst/>
            </a:prstGeom>
            <a:solidFill>
              <a:srgbClr val="FF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Antenna</a:t>
              </a:r>
            </a:p>
          </p:txBody>
        </p:sp>
      </p:grpSp>
      <p:grpSp>
        <p:nvGrpSpPr>
          <p:cNvPr id="4" name="Group 12"/>
          <p:cNvGrpSpPr>
            <a:grpSpLocks/>
          </p:cNvGrpSpPr>
          <p:nvPr/>
        </p:nvGrpSpPr>
        <p:grpSpPr bwMode="auto">
          <a:xfrm>
            <a:off x="7294563" y="4359303"/>
            <a:ext cx="1497012" cy="1497012"/>
            <a:chOff x="4595" y="2831"/>
            <a:chExt cx="943" cy="943"/>
          </a:xfrm>
        </p:grpSpPr>
        <p:pic>
          <p:nvPicPr>
            <p:cNvPr id="12303" name="Picture 13" descr="bad pers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2" y="3024"/>
              <a:ext cx="546"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4" name="Picture 14" descr="Antenna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5" y="2831"/>
              <a:ext cx="39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999" name="Line 15"/>
          <p:cNvSpPr>
            <a:spLocks noChangeShapeType="1"/>
          </p:cNvSpPr>
          <p:nvPr/>
        </p:nvSpPr>
        <p:spPr bwMode="auto">
          <a:xfrm>
            <a:off x="4648200" y="3370290"/>
            <a:ext cx="2536825" cy="1446213"/>
          </a:xfrm>
          <a:prstGeom prst="line">
            <a:avLst/>
          </a:prstGeom>
          <a:noFill/>
          <a:ln w="25400">
            <a:solidFill>
              <a:schemeClr val="tx1"/>
            </a:solidFill>
            <a:prstDash val="dash"/>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298000" name="Text Box 16"/>
          <p:cNvSpPr txBox="1">
            <a:spLocks noChangeArrowheads="1"/>
          </p:cNvSpPr>
          <p:nvPr/>
        </p:nvSpPr>
        <p:spPr bwMode="auto">
          <a:xfrm>
            <a:off x="449263" y="4268815"/>
            <a:ext cx="5341937" cy="1768475"/>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tabLst>
                <a:tab pos="231775" algn="l"/>
              </a:tabLst>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tabLst>
                <a:tab pos="231775" algn="l"/>
              </a:tabLst>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tabLst>
                <a:tab pos="231775" algn="l"/>
              </a:tabLst>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
                <a:srgbClr val="FF0000"/>
              </a:buClr>
              <a:buSzTx/>
              <a:buFont typeface="Wingdings" panose="05000000000000000000" pitchFamily="2" charset="2"/>
              <a:buChar char="Ø"/>
            </a:pPr>
            <a:r>
              <a:rPr lang="en-US" altLang="en-US" sz="2000" b="1"/>
              <a:t>Adversary can place an Antenna on the 	fabricated chip</a:t>
            </a:r>
          </a:p>
          <a:p>
            <a:pPr eaLnBrk="1" hangingPunct="1">
              <a:spcBef>
                <a:spcPct val="50000"/>
              </a:spcBef>
              <a:buClr>
                <a:srgbClr val="FF0000"/>
              </a:buClr>
              <a:buSzTx/>
              <a:buFont typeface="Wingdings" panose="05000000000000000000" pitchFamily="2" charset="2"/>
              <a:buChar char="Ø"/>
            </a:pPr>
            <a:r>
              <a:rPr lang="en-US" altLang="en-US" sz="2000" b="1"/>
              <a:t>Such Trojan cannot be detected since it 	does not change the functionality of the 	circuit.</a:t>
            </a:r>
          </a:p>
        </p:txBody>
      </p:sp>
      <p:sp>
        <p:nvSpPr>
          <p:cNvPr id="298001" name="Text Box 17"/>
          <p:cNvSpPr txBox="1">
            <a:spLocks noChangeArrowheads="1"/>
          </p:cNvSpPr>
          <p:nvPr/>
        </p:nvSpPr>
        <p:spPr bwMode="auto">
          <a:xfrm>
            <a:off x="5175250" y="1136678"/>
            <a:ext cx="3598863" cy="2378075"/>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tabLst>
                <a:tab pos="231775" algn="l"/>
              </a:tabLst>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tabLst>
                <a:tab pos="231775" algn="l"/>
              </a:tabLst>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tabLst>
                <a:tab pos="231775" algn="l"/>
              </a:tabLst>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
                <a:srgbClr val="FF0000"/>
              </a:buClr>
              <a:buSzTx/>
              <a:buFont typeface="Wingdings" panose="05000000000000000000" pitchFamily="2" charset="2"/>
              <a:buChar char="Ø"/>
            </a:pPr>
            <a:r>
              <a:rPr lang="en-US" altLang="en-US" sz="2000" b="1"/>
              <a:t> Adversary can send and 	receive secret information</a:t>
            </a:r>
          </a:p>
          <a:p>
            <a:pPr eaLnBrk="1" hangingPunct="1">
              <a:spcBef>
                <a:spcPct val="50000"/>
              </a:spcBef>
              <a:buClr>
                <a:srgbClr val="FF0000"/>
              </a:buClr>
              <a:buSzTx/>
              <a:buFont typeface="Wingdings" panose="05000000000000000000" pitchFamily="2" charset="2"/>
              <a:buChar char="Ø"/>
            </a:pPr>
            <a:r>
              <a:rPr lang="en-US" altLang="en-US" sz="2000" b="1"/>
              <a:t>Adversary can disable the 	chip, blowup the chip, 	send wrong processing 	data, impact circuit 	information etc.</a:t>
            </a:r>
          </a:p>
        </p:txBody>
      </p:sp>
      <p:pic>
        <p:nvPicPr>
          <p:cNvPr id="12298" name="Picture 18" descr="Airport towe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825" y="960465"/>
            <a:ext cx="939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19" descr="Harbor towe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063" y="950940"/>
            <a:ext cx="963612"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0" name="Picture 20" descr="cell phon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1800" y="962053"/>
            <a:ext cx="7127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1" name="Picture 21" descr="police ca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9338" y="966815"/>
            <a:ext cx="94297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1921DDDE-DE84-421A-B3CF-A4002DD69456}" type="slidenum">
              <a:rPr lang="en-US" altLang="en-US" sz="1200"/>
              <a:pPr>
                <a:spcBef>
                  <a:spcPct val="0"/>
                </a:spcBef>
                <a:buClrTx/>
                <a:buSzTx/>
                <a:buFontTx/>
                <a:buNone/>
              </a:pPr>
              <a:t>16</a:t>
            </a:fld>
            <a:endParaRPr lang="en-US" altLang="en-US" sz="1200"/>
          </a:p>
        </p:txBody>
      </p:sp>
    </p:spTree>
    <p:extLst>
      <p:ext uri="{BB962C8B-B14F-4D97-AF65-F5344CB8AC3E}">
        <p14:creationId xmlns:p14="http://schemas.microsoft.com/office/powerpoint/2010/main" val="37696690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8000"/>
                                        </p:tgtEl>
                                        <p:attrNameLst>
                                          <p:attrName>style.visibility</p:attrName>
                                        </p:attrNameLst>
                                      </p:cBhvr>
                                      <p:to>
                                        <p:strVal val="visible"/>
                                      </p:to>
                                    </p:set>
                                    <p:animEffect transition="in" filter="blinds(horizontal)">
                                      <p:cBhvr>
                                        <p:cTn id="12" dur="500"/>
                                        <p:tgtEl>
                                          <p:spTgt spid="29800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98001"/>
                                        </p:tgtEl>
                                        <p:attrNameLst>
                                          <p:attrName>style.visibility</p:attrName>
                                        </p:attrNameLst>
                                      </p:cBhvr>
                                      <p:to>
                                        <p:strVal val="visible"/>
                                      </p:to>
                                    </p:set>
                                    <p:animEffect transition="in" filter="blinds(horizontal)">
                                      <p:cBhvr>
                                        <p:cTn id="15" dur="500"/>
                                        <p:tgtEl>
                                          <p:spTgt spid="29800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97999"/>
                                        </p:tgtEl>
                                        <p:attrNameLst>
                                          <p:attrName>style.visibility</p:attrName>
                                        </p:attrNameLst>
                                      </p:cBhvr>
                                      <p:to>
                                        <p:strVal val="visible"/>
                                      </p:to>
                                    </p:set>
                                    <p:animEffect transition="in" filter="blinds(horizontal)">
                                      <p:cBhvr>
                                        <p:cTn id="25" dur="500"/>
                                        <p:tgtEl>
                                          <p:spTgt spid="297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9" grpId="0" animBg="1"/>
      <p:bldP spid="298000" grpId="0" animBg="1"/>
      <p:bldP spid="298001"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76200"/>
            <a:ext cx="8229600" cy="685800"/>
          </a:xfrm>
        </p:spPr>
        <p:txBody>
          <a:bodyPr/>
          <a:lstStyle/>
          <a:p>
            <a:pPr eaLnBrk="1" hangingPunct="1"/>
            <a:r>
              <a:rPr lang="en-US" altLang="en-US" b="1" dirty="0"/>
              <a:t>Silicon Time Bomb</a:t>
            </a:r>
          </a:p>
        </p:txBody>
      </p:sp>
      <p:sp>
        <p:nvSpPr>
          <p:cNvPr id="14339" name="Rectangle 4"/>
          <p:cNvSpPr>
            <a:spLocks noGrp="1" noChangeArrowheads="1"/>
          </p:cNvSpPr>
          <p:nvPr>
            <p:ph idx="1"/>
          </p:nvPr>
        </p:nvSpPr>
        <p:spPr>
          <a:xfrm>
            <a:off x="152400" y="2943070"/>
            <a:ext cx="2590800" cy="381000"/>
          </a:xfrm>
          <a:solidFill>
            <a:srgbClr val="FF0000"/>
          </a:solidFill>
          <a:ln>
            <a:solidFill>
              <a:srgbClr val="FF0000"/>
            </a:solidFill>
            <a:miter lim="800000"/>
            <a:headEnd/>
            <a:tailEnd/>
          </a:ln>
        </p:spPr>
        <p:txBody>
          <a:bodyPr lIns="90488" tIns="44450" rIns="90488" bIns="44450"/>
          <a:lstStyle/>
          <a:p>
            <a:pPr marL="0" indent="0" algn="ctr" eaLnBrk="1" hangingPunct="1">
              <a:buFontTx/>
              <a:buNone/>
            </a:pPr>
            <a:r>
              <a:rPr lang="en-US" altLang="en-US" sz="1800" b="1"/>
              <a:t>Untrusted Hardware</a:t>
            </a:r>
          </a:p>
        </p:txBody>
      </p:sp>
      <p:pic>
        <p:nvPicPr>
          <p:cNvPr id="14340" name="Picture 3" descr="p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72983"/>
            <a:ext cx="23685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a:grpSpLocks/>
          </p:cNvGrpSpPr>
          <p:nvPr/>
        </p:nvGrpSpPr>
        <p:grpSpPr bwMode="auto">
          <a:xfrm>
            <a:off x="644525" y="3203420"/>
            <a:ext cx="3562350" cy="2863850"/>
            <a:chOff x="541" y="2195"/>
            <a:chExt cx="2244" cy="1804"/>
          </a:xfrm>
        </p:grpSpPr>
        <p:sp>
          <p:nvSpPr>
            <p:cNvPr id="14351" name="AutoShape 6"/>
            <p:cNvSpPr>
              <a:spLocks noChangeArrowheads="1"/>
            </p:cNvSpPr>
            <p:nvPr/>
          </p:nvSpPr>
          <p:spPr bwMode="auto">
            <a:xfrm rot="10800000">
              <a:off x="2164" y="2195"/>
              <a:ext cx="621" cy="1343"/>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17 w 21600"/>
                <a:gd name="T13" fmla="*/ 2911 h 21600"/>
                <a:gd name="T14" fmla="*/ 18226 w 21600"/>
                <a:gd name="T15" fmla="*/ 924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25400">
              <a:solidFill>
                <a:schemeClr val="tx1"/>
              </a:solidFill>
              <a:miter lim="800000"/>
              <a:headEnd/>
              <a:tailEnd/>
            </a:ln>
          </p:spPr>
          <p:txBody>
            <a:bodyPr wrap="none" anchor="ctr"/>
            <a:lstStyle/>
            <a:p>
              <a:endParaRPr lang="en-US"/>
            </a:p>
          </p:txBody>
        </p:sp>
        <p:pic>
          <p:nvPicPr>
            <p:cNvPr id="14352" name="Picture 7" descr="miss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 y="2815"/>
              <a:ext cx="1583"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0040" name="Text Box 8"/>
          <p:cNvSpPr txBox="1">
            <a:spLocks noChangeArrowheads="1"/>
          </p:cNvSpPr>
          <p:nvPr/>
        </p:nvSpPr>
        <p:spPr bwMode="auto">
          <a:xfrm>
            <a:off x="4473575" y="3438370"/>
            <a:ext cx="4325938" cy="2530475"/>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tabLst>
                <a:tab pos="231775" algn="l"/>
              </a:tabLst>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tabLst>
                <a:tab pos="231775" algn="l"/>
              </a:tabLst>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tabLst>
                <a:tab pos="231775" algn="l"/>
              </a:tabLst>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tabLst>
                <a:tab pos="231775"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
                <a:srgbClr val="FF0000"/>
              </a:buClr>
              <a:buSzTx/>
              <a:buFont typeface="Wingdings" panose="05000000000000000000" pitchFamily="2" charset="2"/>
              <a:buChar char="Ø"/>
            </a:pPr>
            <a:r>
              <a:rPr lang="en-US" altLang="en-US" sz="2000" b="1"/>
              <a:t> Such Trojan cannot be detected 	since it does not change the 	functionality of the circuit.</a:t>
            </a:r>
          </a:p>
          <a:p>
            <a:pPr eaLnBrk="1" hangingPunct="1">
              <a:spcBef>
                <a:spcPct val="50000"/>
              </a:spcBef>
              <a:buClr>
                <a:srgbClr val="FF0000"/>
              </a:buClr>
              <a:buSzTx/>
              <a:buFont typeface="Wingdings" panose="05000000000000000000" pitchFamily="2" charset="2"/>
              <a:buChar char="Ø"/>
            </a:pPr>
            <a:r>
              <a:rPr lang="en-US" altLang="en-US" sz="2000" b="1"/>
              <a:t> In some cases, adversary has 	little control on the exact time of 	Trojan action</a:t>
            </a:r>
          </a:p>
          <a:p>
            <a:pPr eaLnBrk="1" hangingPunct="1">
              <a:spcBef>
                <a:spcPct val="50000"/>
              </a:spcBef>
              <a:buClr>
                <a:srgbClr val="FF0000"/>
              </a:buClr>
              <a:buSzTx/>
              <a:buFont typeface="Wingdings" panose="05000000000000000000" pitchFamily="2" charset="2"/>
              <a:buChar char="Ø"/>
            </a:pPr>
            <a:r>
              <a:rPr lang="en-US" altLang="en-US" sz="2000" b="1"/>
              <a:t> Cause reliability issue </a:t>
            </a:r>
          </a:p>
        </p:txBody>
      </p:sp>
      <p:grpSp>
        <p:nvGrpSpPr>
          <p:cNvPr id="3" name="Group 9"/>
          <p:cNvGrpSpPr>
            <a:grpSpLocks/>
          </p:cNvGrpSpPr>
          <p:nvPr/>
        </p:nvGrpSpPr>
        <p:grpSpPr bwMode="auto">
          <a:xfrm>
            <a:off x="2198688" y="1242155"/>
            <a:ext cx="6589712" cy="1647825"/>
            <a:chOff x="1385" y="969"/>
            <a:chExt cx="3996" cy="1038"/>
          </a:xfrm>
        </p:grpSpPr>
        <p:sp>
          <p:nvSpPr>
            <p:cNvPr id="14348" name="Rectangle 10"/>
            <p:cNvSpPr>
              <a:spLocks noChangeArrowheads="1"/>
            </p:cNvSpPr>
            <p:nvPr/>
          </p:nvSpPr>
          <p:spPr bwMode="auto">
            <a:xfrm>
              <a:off x="1385" y="1141"/>
              <a:ext cx="56" cy="56"/>
            </a:xfrm>
            <a:prstGeom prst="rect">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4349" name="Text Box 11"/>
            <p:cNvSpPr txBox="1">
              <a:spLocks noChangeArrowheads="1"/>
            </p:cNvSpPr>
            <p:nvPr/>
          </p:nvSpPr>
          <p:spPr bwMode="auto">
            <a:xfrm>
              <a:off x="2003" y="989"/>
              <a:ext cx="3369" cy="1018"/>
            </a:xfrm>
            <a:prstGeom prst="rect">
              <a:avLst/>
            </a:prstGeom>
            <a:solidFill>
              <a:srgbClr val="FF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dirty="0">
                  <a:latin typeface="Tahoma" panose="020B0604030504040204" pitchFamily="34" charset="0"/>
                </a:rPr>
                <a:t>Counter</a:t>
              </a:r>
            </a:p>
            <a:p>
              <a:pPr eaLnBrk="1" hangingPunct="1">
                <a:spcBef>
                  <a:spcPct val="50000"/>
                </a:spcBef>
                <a:buClrTx/>
                <a:buSzTx/>
                <a:buFontTx/>
                <a:buNone/>
              </a:pPr>
              <a:r>
                <a:rPr lang="en-US" altLang="en-US" sz="1800" b="1" dirty="0">
                  <a:latin typeface="Tahoma" panose="020B0604030504040204" pitchFamily="34" charset="0"/>
                </a:rPr>
                <a:t>Finite state machine (FSM)</a:t>
              </a:r>
            </a:p>
            <a:p>
              <a:pPr eaLnBrk="1" hangingPunct="1">
                <a:spcBef>
                  <a:spcPct val="50000"/>
                </a:spcBef>
                <a:buClrTx/>
                <a:buSzTx/>
                <a:buFontTx/>
                <a:buNone/>
              </a:pPr>
              <a:r>
                <a:rPr lang="en-US" altLang="en-US" sz="1800" b="1" dirty="0">
                  <a:latin typeface="Tahoma" panose="020B0604030504040204" pitchFamily="34" charset="0"/>
                </a:rPr>
                <a:t>Comparator to monitor key data</a:t>
              </a:r>
            </a:p>
            <a:p>
              <a:pPr eaLnBrk="1" hangingPunct="1">
                <a:spcBef>
                  <a:spcPct val="50000"/>
                </a:spcBef>
                <a:buClrTx/>
                <a:buSzTx/>
                <a:buFontTx/>
                <a:buNone/>
              </a:pPr>
              <a:r>
                <a:rPr lang="en-US" altLang="en-US" sz="1800" b="1" dirty="0">
                  <a:latin typeface="Tahoma" panose="020B0604030504040204" pitchFamily="34" charset="0"/>
                </a:rPr>
                <a:t>Wires/transistors that violate design rules</a:t>
              </a:r>
            </a:p>
          </p:txBody>
        </p:sp>
        <p:sp>
          <p:nvSpPr>
            <p:cNvPr id="14350" name="AutoShape 12"/>
            <p:cNvSpPr>
              <a:spLocks/>
            </p:cNvSpPr>
            <p:nvPr/>
          </p:nvSpPr>
          <p:spPr bwMode="auto">
            <a:xfrm>
              <a:off x="2003" y="969"/>
              <a:ext cx="3378" cy="1038"/>
            </a:xfrm>
            <a:prstGeom prst="borderCallout1">
              <a:avLst>
                <a:gd name="adj1" fmla="val 6333"/>
                <a:gd name="adj2" fmla="val -1444"/>
                <a:gd name="adj3" fmla="val 17236"/>
                <a:gd name="adj4" fmla="val -19218"/>
              </a:avLst>
            </a:prstGeom>
            <a:noFill/>
            <a:ln w="44450">
              <a:solidFill>
                <a:srgbClr val="969696"/>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600">
                <a:latin typeface="Tahoma" panose="020B0604030504040204" pitchFamily="34" charset="0"/>
              </a:endParaRPr>
            </a:p>
          </p:txBody>
        </p:sp>
      </p:grpSp>
      <p:pic>
        <p:nvPicPr>
          <p:cNvPr id="300045" name="Picture 13" descr="cloc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1388388"/>
            <a:ext cx="1054100"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0046" name="AutoShape 14"/>
          <p:cNvSpPr>
            <a:spLocks noChangeArrowheads="1"/>
          </p:cNvSpPr>
          <p:nvPr/>
        </p:nvSpPr>
        <p:spPr bwMode="auto">
          <a:xfrm>
            <a:off x="1204913" y="4668683"/>
            <a:ext cx="1046162" cy="871537"/>
          </a:xfrm>
          <a:prstGeom prst="irregularSeal1">
            <a:avLst/>
          </a:prstGeom>
          <a:solidFill>
            <a:srgbClr val="FF0000"/>
          </a:solidFill>
          <a:ln w="25400">
            <a:solidFill>
              <a:srgbClr val="FF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4346" name="Rectangle 15"/>
          <p:cNvSpPr>
            <a:spLocks noChangeArrowheads="1"/>
          </p:cNvSpPr>
          <p:nvPr/>
        </p:nvSpPr>
        <p:spPr bwMode="auto">
          <a:xfrm>
            <a:off x="304800" y="961870"/>
            <a:ext cx="2362200" cy="190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4347"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61CCF9CE-C25B-4DA4-AC73-4EE5C2BB4C51}" type="slidenum">
              <a:rPr lang="en-US" altLang="en-US" sz="1200"/>
              <a:pPr algn="r" eaLnBrk="1" hangingPunct="1">
                <a:spcBef>
                  <a:spcPct val="0"/>
                </a:spcBef>
                <a:buClrTx/>
                <a:buSzTx/>
                <a:buFontTx/>
                <a:buNone/>
              </a:pPr>
              <a:t>17</a:t>
            </a:fld>
            <a:endParaRPr lang="en-US" altLang="en-US" sz="1200"/>
          </a:p>
        </p:txBody>
      </p:sp>
    </p:spTree>
    <p:extLst>
      <p:ext uri="{BB962C8B-B14F-4D97-AF65-F5344CB8AC3E}">
        <p14:creationId xmlns:p14="http://schemas.microsoft.com/office/powerpoint/2010/main" val="3791755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0045"/>
                                        </p:tgtEl>
                                        <p:attrNameLst>
                                          <p:attrName>style.visibility</p:attrName>
                                        </p:attrNameLst>
                                      </p:cBhvr>
                                      <p:to>
                                        <p:strVal val="visible"/>
                                      </p:to>
                                    </p:set>
                                    <p:animEffect transition="in" filter="blinds(horizontal)">
                                      <p:cBhvr>
                                        <p:cTn id="12" dur="500"/>
                                        <p:tgtEl>
                                          <p:spTgt spid="3000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0046"/>
                                        </p:tgtEl>
                                        <p:attrNameLst>
                                          <p:attrName>style.visibility</p:attrName>
                                        </p:attrNameLst>
                                      </p:cBhvr>
                                      <p:to>
                                        <p:strVal val="visible"/>
                                      </p:to>
                                    </p:set>
                                    <p:animEffect transition="in" filter="blinds(horizontal)">
                                      <p:cBhvr>
                                        <p:cTn id="22" dur="500"/>
                                        <p:tgtEl>
                                          <p:spTgt spid="3000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0040"/>
                                        </p:tgtEl>
                                        <p:attrNameLst>
                                          <p:attrName>style.visibility</p:attrName>
                                        </p:attrNameLst>
                                      </p:cBhvr>
                                      <p:to>
                                        <p:strVal val="visible"/>
                                      </p:to>
                                    </p:set>
                                    <p:animEffect transition="in" filter="blinds(horizontal)">
                                      <p:cBhvr>
                                        <p:cTn id="27" dur="500"/>
                                        <p:tgtEl>
                                          <p:spTgt spid="300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0" grpId="0" animBg="1"/>
      <p:bldP spid="30004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3400" y="0"/>
            <a:ext cx="8229600" cy="762000"/>
          </a:xfrm>
        </p:spPr>
        <p:txBody>
          <a:bodyPr/>
          <a:lstStyle/>
          <a:p>
            <a:pPr eaLnBrk="1" hangingPunct="1"/>
            <a:r>
              <a:rPr lang="en-US" altLang="en-US" b="1"/>
              <a:t>Applications and Threats</a:t>
            </a:r>
          </a:p>
        </p:txBody>
      </p:sp>
      <p:pic>
        <p:nvPicPr>
          <p:cNvPr id="16387" name="Picture 3" descr="p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4350" y="1117600"/>
            <a:ext cx="1357313"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p:cNvGrpSpPr>
            <a:grpSpLocks/>
          </p:cNvGrpSpPr>
          <p:nvPr/>
        </p:nvGrpSpPr>
        <p:grpSpPr bwMode="auto">
          <a:xfrm>
            <a:off x="4532313" y="1125538"/>
            <a:ext cx="1846262" cy="1266825"/>
            <a:chOff x="2288" y="709"/>
            <a:chExt cx="1163" cy="798"/>
          </a:xfrm>
        </p:grpSpPr>
        <p:pic>
          <p:nvPicPr>
            <p:cNvPr id="16406" name="Picture 5" descr="p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3" y="709"/>
              <a:ext cx="798"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7" name="AutoShape 6"/>
            <p:cNvSpPr>
              <a:spLocks noChangeArrowheads="1"/>
            </p:cNvSpPr>
            <p:nvPr/>
          </p:nvSpPr>
          <p:spPr bwMode="auto">
            <a:xfrm>
              <a:off x="2288" y="1048"/>
              <a:ext cx="328" cy="18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59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w="25400">
              <a:solidFill>
                <a:schemeClr val="tx1"/>
              </a:solidFill>
              <a:miter lim="800000"/>
              <a:headEnd/>
              <a:tailEnd/>
            </a:ln>
          </p:spPr>
          <p:txBody>
            <a:bodyPr wrap="none" anchor="ctr"/>
            <a:lstStyle/>
            <a:p>
              <a:endParaRPr lang="en-US"/>
            </a:p>
          </p:txBody>
        </p:sp>
      </p:grpSp>
      <p:sp>
        <p:nvSpPr>
          <p:cNvPr id="295943" name="AutoShape 7"/>
          <p:cNvSpPr>
            <a:spLocks noChangeArrowheads="1"/>
          </p:cNvSpPr>
          <p:nvPr/>
        </p:nvSpPr>
        <p:spPr bwMode="auto">
          <a:xfrm rot="5400000">
            <a:off x="5402263" y="2457450"/>
            <a:ext cx="774700" cy="5842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00"/>
          </a:solidFill>
          <a:ln w="25400">
            <a:solidFill>
              <a:schemeClr val="tx1"/>
            </a:solidFill>
            <a:miter lim="800000"/>
            <a:headEnd/>
            <a:tailEnd/>
          </a:ln>
        </p:spPr>
        <p:txBody>
          <a:bodyPr wrap="none" anchor="ctr"/>
          <a:lstStyle/>
          <a:p>
            <a:endParaRPr lang="en-US"/>
          </a:p>
        </p:txBody>
      </p:sp>
      <p:grpSp>
        <p:nvGrpSpPr>
          <p:cNvPr id="3" name="Group 8"/>
          <p:cNvGrpSpPr>
            <a:grpSpLocks/>
          </p:cNvGrpSpPr>
          <p:nvPr/>
        </p:nvGrpSpPr>
        <p:grpSpPr bwMode="auto">
          <a:xfrm>
            <a:off x="190500" y="3136900"/>
            <a:ext cx="8737600" cy="3035300"/>
            <a:chOff x="120" y="2056"/>
            <a:chExt cx="5504" cy="1912"/>
          </a:xfrm>
        </p:grpSpPr>
        <p:pic>
          <p:nvPicPr>
            <p:cNvPr id="16393" name="Picture 9" descr="Airpla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8" y="3132"/>
              <a:ext cx="910"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10" descr="Drug search devi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6" y="2192"/>
              <a:ext cx="674"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Picture 11" descr="cell phon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6" y="2192"/>
              <a:ext cx="706"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6" name="Picture 12" descr="Trai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92" y="2192"/>
              <a:ext cx="750"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7" name="Picture 13" descr="Hard dis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 y="2184"/>
              <a:ext cx="696"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8" name="Picture 14" descr="Jet"/>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64" y="3112"/>
              <a:ext cx="900"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9" name="Picture 15" descr="laptop"/>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0" y="2184"/>
              <a:ext cx="748"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0" name="Picture 16" descr="missl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2" y="3120"/>
              <a:ext cx="882"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1" name="Picture 17" descr="Navy Ship"/>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52" y="3120"/>
              <a:ext cx="85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2" name="Picture 18" descr="police ca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2200"/>
              <a:ext cx="884"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3" name="Picture 19" descr="Satellit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4" y="3120"/>
              <a:ext cx="640"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4" name="Picture 20" descr="Space shuttl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8" y="3112"/>
              <a:ext cx="61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5" name="AutoShape 21"/>
            <p:cNvSpPr>
              <a:spLocks noChangeArrowheads="1"/>
            </p:cNvSpPr>
            <p:nvPr/>
          </p:nvSpPr>
          <p:spPr bwMode="auto">
            <a:xfrm>
              <a:off x="120" y="2056"/>
              <a:ext cx="5504" cy="1912"/>
            </a:xfrm>
            <a:prstGeom prst="roundRect">
              <a:avLst>
                <a:gd name="adj" fmla="val 16667"/>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6391" name="Text Box 22"/>
          <p:cNvSpPr txBox="1">
            <a:spLocks noChangeArrowheads="1"/>
          </p:cNvSpPr>
          <p:nvPr/>
        </p:nvSpPr>
        <p:spPr bwMode="auto">
          <a:xfrm>
            <a:off x="566738" y="1030288"/>
            <a:ext cx="1973262" cy="1465262"/>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latin typeface="Tahoma" panose="020B0604030504040204" pitchFamily="34" charset="0"/>
              </a:rPr>
              <a:t>Thousands of chips are being fabricated in untrusted foundries</a:t>
            </a:r>
          </a:p>
        </p:txBody>
      </p:sp>
      <p:sp>
        <p:nvSpPr>
          <p:cNvPr id="16392"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5E9326B4-589D-4677-B835-036D5AE2290C}" type="slidenum">
              <a:rPr lang="en-US" altLang="en-US" sz="1200"/>
              <a:pPr algn="r" eaLnBrk="1" hangingPunct="1">
                <a:spcBef>
                  <a:spcPct val="0"/>
                </a:spcBef>
                <a:buClrTx/>
                <a:buSzTx/>
                <a:buFontTx/>
                <a:buNone/>
              </a:pPr>
              <a:t>18</a:t>
            </a:fld>
            <a:endParaRPr lang="en-US" altLang="en-US" sz="1200"/>
          </a:p>
        </p:txBody>
      </p:sp>
    </p:spTree>
    <p:extLst>
      <p:ext uri="{BB962C8B-B14F-4D97-AF65-F5344CB8AC3E}">
        <p14:creationId xmlns:p14="http://schemas.microsoft.com/office/powerpoint/2010/main" val="6028771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5943"/>
                                        </p:tgtEl>
                                        <p:attrNameLst>
                                          <p:attrName>style.visibility</p:attrName>
                                        </p:attrNameLst>
                                      </p:cBhvr>
                                      <p:to>
                                        <p:strVal val="visible"/>
                                      </p:to>
                                    </p:set>
                                    <p:animEffect transition="in" filter="blinds(horizontal)">
                                      <p:cBhvr>
                                        <p:cTn id="12" dur="500"/>
                                        <p:tgtEl>
                                          <p:spTgt spid="295943"/>
                                        </p:tgtEl>
                                      </p:cBhvr>
                                    </p:animEffect>
                                  </p:childTnLst>
                                </p:cTn>
                              </p:par>
                              <p:par>
                                <p:cTn id="13" presetID="3"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1B8526C0-FCA2-43B7-8909-06EDAFDCDC54}" type="slidenum">
              <a:rPr lang="en-US" altLang="en-US" sz="1200"/>
              <a:pPr algn="r" eaLnBrk="1" hangingPunct="1">
                <a:spcBef>
                  <a:spcPct val="0"/>
                </a:spcBef>
                <a:buClrTx/>
                <a:buSzTx/>
                <a:buFontTx/>
                <a:buNone/>
              </a:pPr>
              <a:t>19</a:t>
            </a:fld>
            <a:endParaRPr lang="en-US" altLang="en-US" sz="1200"/>
          </a:p>
        </p:txBody>
      </p:sp>
      <p:sp>
        <p:nvSpPr>
          <p:cNvPr id="3" name="Title 2">
            <a:extLst>
              <a:ext uri="{FF2B5EF4-FFF2-40B4-BE49-F238E27FC236}">
                <a16:creationId xmlns:a16="http://schemas.microsoft.com/office/drawing/2014/main" id="{AE8A4DED-27B8-8A42-BE4A-D38138A54B1E}"/>
              </a:ext>
            </a:extLst>
          </p:cNvPr>
          <p:cNvSpPr>
            <a:spLocks noGrp="1"/>
          </p:cNvSpPr>
          <p:nvPr>
            <p:ph type="title"/>
          </p:nvPr>
        </p:nvSpPr>
        <p:spPr/>
        <p:txBody>
          <a:bodyPr/>
          <a:lstStyle/>
          <a:p>
            <a:r>
              <a:rPr lang="en-US" dirty="0"/>
              <a:t>Comprehensive Attack Model</a:t>
            </a:r>
          </a:p>
        </p:txBody>
      </p:sp>
      <p:pic>
        <p:nvPicPr>
          <p:cNvPr id="4" name="Picture 3">
            <a:extLst>
              <a:ext uri="{FF2B5EF4-FFF2-40B4-BE49-F238E27FC236}">
                <a16:creationId xmlns:a16="http://schemas.microsoft.com/office/drawing/2014/main" id="{1A7F75A2-3AE6-604D-B8EA-2919F745E024}"/>
              </a:ext>
            </a:extLst>
          </p:cNvPr>
          <p:cNvPicPr>
            <a:picLocks noChangeAspect="1"/>
          </p:cNvPicPr>
          <p:nvPr/>
        </p:nvPicPr>
        <p:blipFill>
          <a:blip r:embed="rId3"/>
          <a:stretch>
            <a:fillRect/>
          </a:stretch>
        </p:blipFill>
        <p:spPr>
          <a:xfrm>
            <a:off x="320626" y="1899588"/>
            <a:ext cx="8411144" cy="2102786"/>
          </a:xfrm>
          <a:prstGeom prst="rect">
            <a:avLst/>
          </a:prstGeom>
        </p:spPr>
      </p:pic>
    </p:spTree>
    <p:extLst>
      <p:ext uri="{BB962C8B-B14F-4D97-AF65-F5344CB8AC3E}">
        <p14:creationId xmlns:p14="http://schemas.microsoft.com/office/powerpoint/2010/main" val="1772232761"/>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0"/>
            <a:ext cx="9144000" cy="838200"/>
          </a:xfrm>
        </p:spPr>
        <p:txBody>
          <a:bodyPr/>
          <a:lstStyle/>
          <a:p>
            <a:pPr eaLnBrk="1" hangingPunct="1"/>
            <a:r>
              <a:rPr lang="en-US" altLang="en-US" b="1"/>
              <a:t>Trojan Taxonomy</a:t>
            </a:r>
          </a:p>
        </p:txBody>
      </p:sp>
      <p:sp>
        <p:nvSpPr>
          <p:cNvPr id="36890"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757A4D07-87AB-421C-AE5C-70DBBE4E16C2}" type="slidenum">
              <a:rPr lang="en-US" altLang="en-US" sz="1200"/>
              <a:pPr algn="r" eaLnBrk="1" hangingPunct="1">
                <a:spcBef>
                  <a:spcPct val="0"/>
                </a:spcBef>
                <a:buClrTx/>
                <a:buSzTx/>
                <a:buFontTx/>
                <a:buNone/>
              </a:pPr>
              <a:t>20</a:t>
            </a:fld>
            <a:endParaRPr lang="en-US" altLang="en-US" sz="1200"/>
          </a:p>
        </p:txBody>
      </p:sp>
      <p:pic>
        <p:nvPicPr>
          <p:cNvPr id="3" name="Picture 2">
            <a:extLst>
              <a:ext uri="{FF2B5EF4-FFF2-40B4-BE49-F238E27FC236}">
                <a16:creationId xmlns:a16="http://schemas.microsoft.com/office/drawing/2014/main" id="{8D4B9194-B2D5-EE45-96A5-226C082BD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38162"/>
            <a:ext cx="9144000" cy="3360373"/>
          </a:xfrm>
          <a:prstGeom prst="rect">
            <a:avLst/>
          </a:prstGeom>
        </p:spPr>
      </p:pic>
      <p:pic>
        <p:nvPicPr>
          <p:cNvPr id="5" name="Picture 4">
            <a:extLst>
              <a:ext uri="{FF2B5EF4-FFF2-40B4-BE49-F238E27FC236}">
                <a16:creationId xmlns:a16="http://schemas.microsoft.com/office/drawing/2014/main" id="{58434F7B-C77E-1B41-9FF9-0EA63D61F5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717475"/>
            <a:ext cx="9144000" cy="1946542"/>
          </a:xfrm>
          <a:prstGeom prst="rect">
            <a:avLst/>
          </a:prstGeom>
        </p:spPr>
      </p:pic>
    </p:spTree>
    <p:extLst>
      <p:ext uri="{BB962C8B-B14F-4D97-AF65-F5344CB8AC3E}">
        <p14:creationId xmlns:p14="http://schemas.microsoft.com/office/powerpoint/2010/main" val="1946130379"/>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0"/>
            <a:ext cx="9144000" cy="838200"/>
          </a:xfrm>
        </p:spPr>
        <p:txBody>
          <a:bodyPr/>
          <a:lstStyle/>
          <a:p>
            <a:pPr eaLnBrk="1" hangingPunct="1"/>
            <a:r>
              <a:rPr lang="en-US" altLang="en-US" b="1"/>
              <a:t>Trojan Taxonomy</a:t>
            </a:r>
          </a:p>
        </p:txBody>
      </p:sp>
      <p:sp>
        <p:nvSpPr>
          <p:cNvPr id="36867" name="Rectangle 3"/>
          <p:cNvSpPr>
            <a:spLocks noChangeArrowheads="1"/>
          </p:cNvSpPr>
          <p:nvPr/>
        </p:nvSpPr>
        <p:spPr bwMode="auto">
          <a:xfrm>
            <a:off x="4051300" y="1511300"/>
            <a:ext cx="2336800" cy="698500"/>
          </a:xfrm>
          <a:prstGeom prst="rect">
            <a:avLst/>
          </a:prstGeom>
          <a:solidFill>
            <a:srgbClr val="FF0000"/>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68" name="Text Box 4"/>
          <p:cNvSpPr txBox="1">
            <a:spLocks noChangeArrowheads="1"/>
          </p:cNvSpPr>
          <p:nvPr/>
        </p:nvSpPr>
        <p:spPr bwMode="auto">
          <a:xfrm>
            <a:off x="4037013" y="1535113"/>
            <a:ext cx="2362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latin typeface="Tahoma" panose="020B0604030504040204" pitchFamily="34" charset="0"/>
              </a:rPr>
              <a:t>Trojan Classification</a:t>
            </a:r>
          </a:p>
        </p:txBody>
      </p:sp>
      <p:sp>
        <p:nvSpPr>
          <p:cNvPr id="36869" name="Rectangle 5"/>
          <p:cNvSpPr>
            <a:spLocks noChangeArrowheads="1"/>
          </p:cNvSpPr>
          <p:nvPr/>
        </p:nvSpPr>
        <p:spPr bwMode="auto">
          <a:xfrm>
            <a:off x="1841500" y="3225800"/>
            <a:ext cx="2108200" cy="6223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70" name="Rectangle 6"/>
          <p:cNvSpPr>
            <a:spLocks noChangeArrowheads="1"/>
          </p:cNvSpPr>
          <p:nvPr/>
        </p:nvSpPr>
        <p:spPr bwMode="auto">
          <a:xfrm>
            <a:off x="4279900" y="3225800"/>
            <a:ext cx="2108200" cy="6223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71" name="Rectangle 7"/>
          <p:cNvSpPr>
            <a:spLocks noChangeArrowheads="1"/>
          </p:cNvSpPr>
          <p:nvPr/>
        </p:nvSpPr>
        <p:spPr bwMode="auto">
          <a:xfrm>
            <a:off x="6718300" y="3238500"/>
            <a:ext cx="2108200" cy="6223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72" name="Text Box 8"/>
          <p:cNvSpPr txBox="1">
            <a:spLocks noChangeArrowheads="1"/>
          </p:cNvSpPr>
          <p:nvPr/>
        </p:nvSpPr>
        <p:spPr bwMode="auto">
          <a:xfrm>
            <a:off x="1801813" y="3236913"/>
            <a:ext cx="213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Physical</a:t>
            </a:r>
            <a:r>
              <a:rPr lang="en-US" altLang="en-US" sz="1400" b="1">
                <a:latin typeface="Tahoma" panose="020B0604030504040204" pitchFamily="34" charset="0"/>
              </a:rPr>
              <a:t> Characteristics</a:t>
            </a:r>
          </a:p>
        </p:txBody>
      </p:sp>
      <p:sp>
        <p:nvSpPr>
          <p:cNvPr id="36873" name="Text Box 9"/>
          <p:cNvSpPr txBox="1">
            <a:spLocks noChangeArrowheads="1"/>
          </p:cNvSpPr>
          <p:nvPr/>
        </p:nvSpPr>
        <p:spPr bwMode="auto">
          <a:xfrm>
            <a:off x="4265613" y="3249613"/>
            <a:ext cx="213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Activation</a:t>
            </a:r>
            <a:r>
              <a:rPr lang="en-US" altLang="en-US" sz="1400" b="1">
                <a:latin typeface="Tahoma" panose="020B0604030504040204" pitchFamily="34" charset="0"/>
              </a:rPr>
              <a:t> Characteristics</a:t>
            </a:r>
          </a:p>
        </p:txBody>
      </p:sp>
      <p:sp>
        <p:nvSpPr>
          <p:cNvPr id="36874" name="Text Box 10"/>
          <p:cNvSpPr txBox="1">
            <a:spLocks noChangeArrowheads="1"/>
          </p:cNvSpPr>
          <p:nvPr/>
        </p:nvSpPr>
        <p:spPr bwMode="auto">
          <a:xfrm>
            <a:off x="6704013" y="3224213"/>
            <a:ext cx="213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Action</a:t>
            </a:r>
            <a:r>
              <a:rPr lang="en-US" altLang="en-US" sz="1400" b="1">
                <a:latin typeface="Tahoma" panose="020B0604030504040204" pitchFamily="34" charset="0"/>
              </a:rPr>
              <a:t>   Characteristics</a:t>
            </a:r>
          </a:p>
        </p:txBody>
      </p:sp>
      <p:sp>
        <p:nvSpPr>
          <p:cNvPr id="36875" name="Rectangle 11"/>
          <p:cNvSpPr>
            <a:spLocks noChangeArrowheads="1"/>
          </p:cNvSpPr>
          <p:nvPr/>
        </p:nvSpPr>
        <p:spPr bwMode="auto">
          <a:xfrm>
            <a:off x="660400" y="4584700"/>
            <a:ext cx="1270000" cy="546100"/>
          </a:xfrm>
          <a:prstGeom prst="rect">
            <a:avLst/>
          </a:prstGeom>
          <a:solidFill>
            <a:schemeClr va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76" name="Text Box 12"/>
          <p:cNvSpPr txBox="1">
            <a:spLocks noChangeArrowheads="1"/>
          </p:cNvSpPr>
          <p:nvPr/>
        </p:nvSpPr>
        <p:spPr bwMode="auto">
          <a:xfrm>
            <a:off x="709613" y="4684713"/>
            <a:ext cx="1143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Type</a:t>
            </a:r>
          </a:p>
        </p:txBody>
      </p:sp>
      <p:sp>
        <p:nvSpPr>
          <p:cNvPr id="36877" name="Rectangle 13"/>
          <p:cNvSpPr>
            <a:spLocks noChangeArrowheads="1"/>
          </p:cNvSpPr>
          <p:nvPr/>
        </p:nvSpPr>
        <p:spPr bwMode="auto">
          <a:xfrm>
            <a:off x="2120900" y="4597400"/>
            <a:ext cx="1270000" cy="546100"/>
          </a:xfrm>
          <a:prstGeom prst="rect">
            <a:avLst/>
          </a:prstGeom>
          <a:solidFill>
            <a:schemeClr va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78" name="Text Box 14"/>
          <p:cNvSpPr txBox="1">
            <a:spLocks noChangeArrowheads="1"/>
          </p:cNvSpPr>
          <p:nvPr/>
        </p:nvSpPr>
        <p:spPr bwMode="auto">
          <a:xfrm>
            <a:off x="2195513" y="4672013"/>
            <a:ext cx="1143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Size</a:t>
            </a:r>
          </a:p>
        </p:txBody>
      </p:sp>
      <p:sp>
        <p:nvSpPr>
          <p:cNvPr id="36879" name="Rectangle 15"/>
          <p:cNvSpPr>
            <a:spLocks noChangeArrowheads="1"/>
          </p:cNvSpPr>
          <p:nvPr/>
        </p:nvSpPr>
        <p:spPr bwMode="auto">
          <a:xfrm>
            <a:off x="3606800" y="4597400"/>
            <a:ext cx="1701800" cy="546100"/>
          </a:xfrm>
          <a:prstGeom prst="rect">
            <a:avLst/>
          </a:prstGeom>
          <a:solidFill>
            <a:schemeClr va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80" name="Rectangle 16"/>
          <p:cNvSpPr>
            <a:spLocks noChangeArrowheads="1"/>
          </p:cNvSpPr>
          <p:nvPr/>
        </p:nvSpPr>
        <p:spPr bwMode="auto">
          <a:xfrm>
            <a:off x="5575300" y="4610100"/>
            <a:ext cx="1270000" cy="546100"/>
          </a:xfrm>
          <a:prstGeom prst="rect">
            <a:avLst/>
          </a:prstGeom>
          <a:solidFill>
            <a:schemeClr va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36881" name="Text Box 17"/>
          <p:cNvSpPr txBox="1">
            <a:spLocks noChangeArrowheads="1"/>
          </p:cNvSpPr>
          <p:nvPr/>
        </p:nvSpPr>
        <p:spPr bwMode="auto">
          <a:xfrm>
            <a:off x="3681413" y="4684713"/>
            <a:ext cx="15763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Distribution</a:t>
            </a:r>
          </a:p>
        </p:txBody>
      </p:sp>
      <p:sp>
        <p:nvSpPr>
          <p:cNvPr id="36882" name="Text Box 18"/>
          <p:cNvSpPr txBox="1">
            <a:spLocks noChangeArrowheads="1"/>
          </p:cNvSpPr>
          <p:nvPr/>
        </p:nvSpPr>
        <p:spPr bwMode="auto">
          <a:xfrm>
            <a:off x="5575300" y="4697413"/>
            <a:ext cx="13065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Structure</a:t>
            </a:r>
          </a:p>
        </p:txBody>
      </p:sp>
      <p:sp>
        <p:nvSpPr>
          <p:cNvPr id="36883" name="Line 19"/>
          <p:cNvSpPr>
            <a:spLocks noChangeShapeType="1"/>
          </p:cNvSpPr>
          <p:nvPr/>
        </p:nvSpPr>
        <p:spPr bwMode="auto">
          <a:xfrm flipH="1">
            <a:off x="2819400" y="2209800"/>
            <a:ext cx="2425700" cy="10033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84" name="Line 20"/>
          <p:cNvSpPr>
            <a:spLocks noChangeShapeType="1"/>
          </p:cNvSpPr>
          <p:nvPr/>
        </p:nvSpPr>
        <p:spPr bwMode="auto">
          <a:xfrm>
            <a:off x="5245100" y="2184400"/>
            <a:ext cx="12700" cy="10668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85" name="Line 21"/>
          <p:cNvSpPr>
            <a:spLocks noChangeShapeType="1"/>
          </p:cNvSpPr>
          <p:nvPr/>
        </p:nvSpPr>
        <p:spPr bwMode="auto">
          <a:xfrm>
            <a:off x="5245100" y="2235200"/>
            <a:ext cx="2552700" cy="10287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86" name="Line 22"/>
          <p:cNvSpPr>
            <a:spLocks noChangeShapeType="1"/>
          </p:cNvSpPr>
          <p:nvPr/>
        </p:nvSpPr>
        <p:spPr bwMode="auto">
          <a:xfrm flipH="1">
            <a:off x="1244600" y="3835400"/>
            <a:ext cx="1701800" cy="7620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87" name="Line 23"/>
          <p:cNvSpPr>
            <a:spLocks noChangeShapeType="1"/>
          </p:cNvSpPr>
          <p:nvPr/>
        </p:nvSpPr>
        <p:spPr bwMode="auto">
          <a:xfrm flipH="1">
            <a:off x="2717800" y="3848100"/>
            <a:ext cx="215900" cy="7620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88" name="Line 24"/>
          <p:cNvSpPr>
            <a:spLocks noChangeShapeType="1"/>
          </p:cNvSpPr>
          <p:nvPr/>
        </p:nvSpPr>
        <p:spPr bwMode="auto">
          <a:xfrm>
            <a:off x="2933700" y="3835400"/>
            <a:ext cx="1409700" cy="7620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89" name="Line 25"/>
          <p:cNvSpPr>
            <a:spLocks noChangeShapeType="1"/>
          </p:cNvSpPr>
          <p:nvPr/>
        </p:nvSpPr>
        <p:spPr bwMode="auto">
          <a:xfrm>
            <a:off x="2921000" y="3835400"/>
            <a:ext cx="3200400" cy="800100"/>
          </a:xfrm>
          <a:prstGeom prst="line">
            <a:avLst/>
          </a:prstGeom>
          <a:noFill/>
          <a:ln w="444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en-US"/>
          </a:p>
        </p:txBody>
      </p:sp>
      <p:sp>
        <p:nvSpPr>
          <p:cNvPr id="36890"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757A4D07-87AB-421C-AE5C-70DBBE4E16C2}" type="slidenum">
              <a:rPr lang="en-US" altLang="en-US" sz="1200"/>
              <a:pPr algn="r" eaLnBrk="1" hangingPunct="1">
                <a:spcBef>
                  <a:spcPct val="0"/>
                </a:spcBef>
                <a:buClrTx/>
                <a:buSzTx/>
                <a:buFontTx/>
                <a:buNone/>
              </a:pPr>
              <a:t>21</a:t>
            </a:fld>
            <a:endParaRPr lang="en-US" altLang="en-US" sz="1200"/>
          </a:p>
        </p:txBody>
      </p:sp>
    </p:spTree>
    <p:extLst>
      <p:ext uri="{BB962C8B-B14F-4D97-AF65-F5344CB8AC3E}">
        <p14:creationId xmlns:p14="http://schemas.microsoft.com/office/powerpoint/2010/main" val="1440128665"/>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0" y="2557463"/>
            <a:ext cx="9144000" cy="838200"/>
          </a:xfrm>
        </p:spPr>
        <p:txBody>
          <a:bodyPr/>
          <a:lstStyle/>
          <a:p>
            <a:pPr eaLnBrk="1" hangingPunct="1"/>
            <a:r>
              <a:rPr lang="en-US" altLang="en-US" b="1"/>
              <a:t>Examples for Layout Level Trojans</a:t>
            </a:r>
            <a:endParaRPr lang="en-US" altLang="en-US"/>
          </a:p>
        </p:txBody>
      </p:sp>
      <p:sp>
        <p:nvSpPr>
          <p:cNvPr id="3891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63889DA7-19D7-49F8-85F1-4ED0623345D2}" type="slidenum">
              <a:rPr lang="en-US" altLang="en-US" sz="1200"/>
              <a:pPr>
                <a:spcBef>
                  <a:spcPct val="0"/>
                </a:spcBef>
                <a:buClrTx/>
                <a:buSzTx/>
                <a:buFontTx/>
                <a:buNone/>
              </a:pPr>
              <a:t>22</a:t>
            </a:fld>
            <a:endParaRPr lang="en-US" altLang="en-US"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3"/>
          <p:cNvSpPr>
            <a:spLocks noGrp="1" noChangeArrowheads="1"/>
          </p:cNvSpPr>
          <p:nvPr>
            <p:ph type="title"/>
          </p:nvPr>
        </p:nvSpPr>
        <p:spPr>
          <a:xfrm>
            <a:off x="533400" y="76200"/>
            <a:ext cx="8229600" cy="685800"/>
          </a:xfrm>
        </p:spPr>
        <p:txBody>
          <a:bodyPr/>
          <a:lstStyle/>
          <a:p>
            <a:pPr eaLnBrk="1" hangingPunct="1"/>
            <a:r>
              <a:rPr lang="en-US" altLang="en-US" b="1"/>
              <a:t>Example: Type</a:t>
            </a:r>
          </a:p>
        </p:txBody>
      </p:sp>
      <p:sp>
        <p:nvSpPr>
          <p:cNvPr id="40963" name="Rectangle 11"/>
          <p:cNvSpPr>
            <a:spLocks noGrp="1" noChangeArrowheads="1"/>
          </p:cNvSpPr>
          <p:nvPr>
            <p:ph idx="1"/>
          </p:nvPr>
        </p:nvSpPr>
        <p:spPr>
          <a:xfrm>
            <a:off x="203200" y="3990975"/>
            <a:ext cx="3987800" cy="2305050"/>
          </a:xfrm>
        </p:spPr>
        <p:txBody>
          <a:bodyPr lIns="90488" tIns="44450" rIns="90488" bIns="44450"/>
          <a:lstStyle/>
          <a:p>
            <a:pPr eaLnBrk="1" hangingPunct="1"/>
            <a:r>
              <a:rPr lang="en-US" altLang="en-US" sz="1800" b="1"/>
              <a:t>Functional</a:t>
            </a:r>
          </a:p>
          <a:p>
            <a:pPr lvl="1" eaLnBrk="1" hangingPunct="1"/>
            <a:r>
              <a:rPr lang="en-US" altLang="en-US" sz="1600" b="1">
                <a:ea typeface="Arial" panose="020B0604020202020204" pitchFamily="34" charset="0"/>
              </a:rPr>
              <a:t>Addition or deletion of components</a:t>
            </a:r>
          </a:p>
          <a:p>
            <a:pPr lvl="1" eaLnBrk="1" hangingPunct="1"/>
            <a:r>
              <a:rPr lang="en-US" altLang="en-US" sz="1600" b="1">
                <a:ea typeface="Arial" panose="020B0604020202020204" pitchFamily="34" charset="0"/>
              </a:rPr>
              <a:t>Sequential circuits</a:t>
            </a:r>
          </a:p>
          <a:p>
            <a:pPr lvl="1" eaLnBrk="1" hangingPunct="1"/>
            <a:r>
              <a:rPr lang="en-US" altLang="en-US" sz="1600" b="1">
                <a:ea typeface="Arial" panose="020B0604020202020204" pitchFamily="34" charset="0"/>
              </a:rPr>
              <a:t>Combinational circuits</a:t>
            </a:r>
          </a:p>
          <a:p>
            <a:pPr lvl="1" eaLnBrk="1" hangingPunct="1"/>
            <a:r>
              <a:rPr lang="en-US" altLang="en-US" sz="1600" b="1">
                <a:ea typeface="Arial" panose="020B0604020202020204" pitchFamily="34" charset="0"/>
              </a:rPr>
              <a:t>Modification to function or no change</a:t>
            </a:r>
          </a:p>
        </p:txBody>
      </p:sp>
      <p:grpSp>
        <p:nvGrpSpPr>
          <p:cNvPr id="40964" name="Group 9"/>
          <p:cNvGrpSpPr>
            <a:grpSpLocks/>
          </p:cNvGrpSpPr>
          <p:nvPr/>
        </p:nvGrpSpPr>
        <p:grpSpPr bwMode="auto">
          <a:xfrm>
            <a:off x="1041400" y="1485900"/>
            <a:ext cx="2616200" cy="2306638"/>
            <a:chOff x="329" y="944"/>
            <a:chExt cx="2375" cy="2381"/>
          </a:xfrm>
        </p:grpSpPr>
        <p:pic>
          <p:nvPicPr>
            <p:cNvPr id="4097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 y="944"/>
              <a:ext cx="2375" cy="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0975" name="Rectangle 5"/>
            <p:cNvSpPr>
              <a:spLocks noChangeArrowheads="1"/>
            </p:cNvSpPr>
            <p:nvPr/>
          </p:nvSpPr>
          <p:spPr bwMode="auto">
            <a:xfrm>
              <a:off x="347" y="951"/>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0965" name="Text Box 6"/>
          <p:cNvSpPr txBox="1">
            <a:spLocks noChangeArrowheads="1"/>
          </p:cNvSpPr>
          <p:nvPr/>
        </p:nvSpPr>
        <p:spPr bwMode="auto">
          <a:xfrm>
            <a:off x="1219200" y="9525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Functional</a:t>
            </a:r>
          </a:p>
        </p:txBody>
      </p:sp>
      <p:grpSp>
        <p:nvGrpSpPr>
          <p:cNvPr id="40966" name="Group 10"/>
          <p:cNvGrpSpPr>
            <a:grpSpLocks/>
          </p:cNvGrpSpPr>
          <p:nvPr/>
        </p:nvGrpSpPr>
        <p:grpSpPr bwMode="auto">
          <a:xfrm>
            <a:off x="5257800" y="1485900"/>
            <a:ext cx="2514600" cy="2286000"/>
            <a:chOff x="3073" y="937"/>
            <a:chExt cx="2348" cy="2356"/>
          </a:xfrm>
        </p:grpSpPr>
        <p:pic>
          <p:nvPicPr>
            <p:cNvPr id="4097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1" y="940"/>
              <a:ext cx="2330" cy="2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0973" name="Rectangle 7"/>
            <p:cNvSpPr>
              <a:spLocks noChangeArrowheads="1"/>
            </p:cNvSpPr>
            <p:nvPr/>
          </p:nvSpPr>
          <p:spPr bwMode="auto">
            <a:xfrm>
              <a:off x="3073" y="937"/>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0967" name="Text Box 8"/>
          <p:cNvSpPr txBox="1">
            <a:spLocks noChangeArrowheads="1"/>
          </p:cNvSpPr>
          <p:nvPr/>
        </p:nvSpPr>
        <p:spPr bwMode="auto">
          <a:xfrm>
            <a:off x="5334000" y="9525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Parametric</a:t>
            </a:r>
          </a:p>
        </p:txBody>
      </p:sp>
      <p:sp>
        <p:nvSpPr>
          <p:cNvPr id="40968" name="AutoShape 13"/>
          <p:cNvSpPr>
            <a:spLocks noChangeArrowheads="1"/>
          </p:cNvSpPr>
          <p:nvPr/>
        </p:nvSpPr>
        <p:spPr bwMode="auto">
          <a:xfrm>
            <a:off x="1981200" y="3848100"/>
            <a:ext cx="457200" cy="4572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0969" name="AutoShape 14"/>
          <p:cNvSpPr>
            <a:spLocks noChangeArrowheads="1"/>
          </p:cNvSpPr>
          <p:nvPr/>
        </p:nvSpPr>
        <p:spPr bwMode="auto">
          <a:xfrm>
            <a:off x="6324600" y="3848100"/>
            <a:ext cx="457200" cy="4572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0970" name="Rectangle 11"/>
          <p:cNvSpPr txBox="1">
            <a:spLocks noChangeArrowheads="1"/>
          </p:cNvSpPr>
          <p:nvPr/>
        </p:nvSpPr>
        <p:spPr bwMode="auto">
          <a:xfrm>
            <a:off x="3657600" y="3971925"/>
            <a:ext cx="53467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en-US" sz="1800" b="1"/>
              <a:t>Parametric</a:t>
            </a:r>
          </a:p>
          <a:p>
            <a:pPr lvl="1" eaLnBrk="1" hangingPunct="1"/>
            <a:r>
              <a:rPr lang="en-US" altLang="en-US" sz="1600" b="1">
                <a:ea typeface="MS PGothic" panose="020B0600070205080204" pitchFamily="34" charset="-128"/>
              </a:rPr>
              <a:t>Modifications of existing components</a:t>
            </a:r>
          </a:p>
          <a:p>
            <a:pPr lvl="2" eaLnBrk="1" hangingPunct="1"/>
            <a:r>
              <a:rPr lang="en-US" altLang="en-US" sz="1400" b="1">
                <a:ea typeface="MS PGothic" panose="020B0600070205080204" pitchFamily="34" charset="-128"/>
              </a:rPr>
              <a:t>Wire: e.g. thinning of wires</a:t>
            </a:r>
          </a:p>
          <a:p>
            <a:pPr lvl="2" eaLnBrk="1" hangingPunct="1"/>
            <a:r>
              <a:rPr lang="en-US" altLang="en-US" sz="1400" b="1">
                <a:ea typeface="MS PGothic" panose="020B0600070205080204" pitchFamily="34" charset="-128"/>
              </a:rPr>
              <a:t>Logic: Weakening of a transistor, modification to physical geometry of a gate</a:t>
            </a:r>
          </a:p>
          <a:p>
            <a:pPr lvl="2" eaLnBrk="1" hangingPunct="1"/>
            <a:r>
              <a:rPr lang="en-US" altLang="en-US" sz="1400" b="1">
                <a:ea typeface="MS PGothic" panose="020B0600070205080204" pitchFamily="34" charset="-128"/>
              </a:rPr>
              <a:t>Modification to power distribution network</a:t>
            </a:r>
            <a:r>
              <a:rPr lang="en-US" altLang="en-US" sz="1400">
                <a:ea typeface="MS PGothic" panose="020B0600070205080204" pitchFamily="34" charset="-128"/>
              </a:rPr>
              <a:t> </a:t>
            </a:r>
          </a:p>
          <a:p>
            <a:pPr lvl="1" eaLnBrk="1" hangingPunct="1"/>
            <a:r>
              <a:rPr lang="en-US" altLang="en-US" sz="1600" b="1">
                <a:ea typeface="MS PGothic" panose="020B0600070205080204" pitchFamily="34" charset="-128"/>
              </a:rPr>
              <a:t>Sabotage reliability or increase the likelihood of a functional or performance failure</a:t>
            </a:r>
            <a:r>
              <a:rPr lang="en-US" altLang="en-US" sz="1600">
                <a:ea typeface="MS PGothic" panose="020B0600070205080204" pitchFamily="34" charset="-128"/>
              </a:rPr>
              <a:t> </a:t>
            </a:r>
          </a:p>
          <a:p>
            <a:pPr eaLnBrk="1" hangingPunct="1"/>
            <a:endParaRPr lang="en-US" altLang="en-US" sz="1600" b="1"/>
          </a:p>
          <a:p>
            <a:pPr eaLnBrk="1" hangingPunct="1"/>
            <a:endParaRPr lang="en-US" altLang="en-US" sz="1600" b="1"/>
          </a:p>
        </p:txBody>
      </p:sp>
      <p:sp>
        <p:nvSpPr>
          <p:cNvPr id="40971"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DE3948DF-C1A6-47FD-AF78-EDE37554E23C}" type="slidenum">
              <a:rPr lang="en-US" altLang="en-US" sz="1200"/>
              <a:pPr algn="r" eaLnBrk="1" hangingPunct="1">
                <a:spcBef>
                  <a:spcPct val="0"/>
                </a:spcBef>
                <a:buClrTx/>
                <a:buSzTx/>
                <a:buFontTx/>
                <a:buNone/>
              </a:pPr>
              <a:t>23</a:t>
            </a:fld>
            <a:endParaRPr lang="en-US" altLang="en-US" sz="1200"/>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a:xfrm>
            <a:off x="533400" y="76200"/>
            <a:ext cx="8229600" cy="685800"/>
          </a:xfrm>
        </p:spPr>
        <p:txBody>
          <a:bodyPr/>
          <a:lstStyle/>
          <a:p>
            <a:pPr eaLnBrk="1" hangingPunct="1"/>
            <a:r>
              <a:rPr lang="en-US" altLang="en-US" b="1"/>
              <a:t>Example: Size</a:t>
            </a:r>
          </a:p>
        </p:txBody>
      </p:sp>
      <p:sp>
        <p:nvSpPr>
          <p:cNvPr id="43011" name="Rectangle 11"/>
          <p:cNvSpPr>
            <a:spLocks noGrp="1" noChangeArrowheads="1"/>
          </p:cNvSpPr>
          <p:nvPr>
            <p:ph idx="1"/>
          </p:nvPr>
        </p:nvSpPr>
        <p:spPr>
          <a:xfrm>
            <a:off x="339725" y="4071938"/>
            <a:ext cx="3886200" cy="1882775"/>
          </a:xfrm>
        </p:spPr>
        <p:txBody>
          <a:bodyPr lIns="90488" tIns="44450" rIns="90488" bIns="44450"/>
          <a:lstStyle/>
          <a:p>
            <a:pPr eaLnBrk="1" hangingPunct="1"/>
            <a:r>
              <a:rPr lang="en-US" altLang="en-US" sz="2000" b="1"/>
              <a:t>Size:</a:t>
            </a:r>
          </a:p>
          <a:p>
            <a:pPr lvl="1" eaLnBrk="1" hangingPunct="1"/>
            <a:r>
              <a:rPr lang="en-US" altLang="en-US" sz="1800" b="1">
                <a:ea typeface="Arial" panose="020B0604020202020204" pitchFamily="34" charset="0"/>
              </a:rPr>
              <a:t>Number of components added to the circuit</a:t>
            </a:r>
          </a:p>
          <a:p>
            <a:pPr lvl="2" eaLnBrk="1" hangingPunct="1"/>
            <a:r>
              <a:rPr lang="en-US" altLang="en-US" sz="1600" b="1">
                <a:ea typeface="Arial" panose="020B0604020202020204" pitchFamily="34" charset="0"/>
              </a:rPr>
              <a:t>Small transistors</a:t>
            </a:r>
          </a:p>
          <a:p>
            <a:pPr lvl="2" eaLnBrk="1" hangingPunct="1"/>
            <a:r>
              <a:rPr lang="en-US" altLang="en-US" sz="1600" b="1">
                <a:ea typeface="Arial" panose="020B0604020202020204" pitchFamily="34" charset="0"/>
              </a:rPr>
              <a:t>Small gates</a:t>
            </a:r>
          </a:p>
          <a:p>
            <a:pPr lvl="2" eaLnBrk="1" hangingPunct="1"/>
            <a:r>
              <a:rPr lang="en-US" altLang="en-US" sz="1600" b="1">
                <a:ea typeface="Arial" panose="020B0604020202020204" pitchFamily="34" charset="0"/>
              </a:rPr>
              <a:t>Large gates</a:t>
            </a:r>
          </a:p>
        </p:txBody>
      </p:sp>
      <p:grpSp>
        <p:nvGrpSpPr>
          <p:cNvPr id="43012" name="Group 9"/>
          <p:cNvGrpSpPr>
            <a:grpSpLocks/>
          </p:cNvGrpSpPr>
          <p:nvPr/>
        </p:nvGrpSpPr>
        <p:grpSpPr bwMode="auto">
          <a:xfrm>
            <a:off x="990600" y="1524000"/>
            <a:ext cx="2590800" cy="2438400"/>
            <a:chOff x="343" y="939"/>
            <a:chExt cx="2344" cy="2352"/>
          </a:xfrm>
        </p:grpSpPr>
        <p:pic>
          <p:nvPicPr>
            <p:cNvPr id="430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 y="939"/>
              <a:ext cx="2339" cy="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3021" name="Rectangle 5"/>
            <p:cNvSpPr>
              <a:spLocks noChangeArrowheads="1"/>
            </p:cNvSpPr>
            <p:nvPr/>
          </p:nvSpPr>
          <p:spPr bwMode="auto">
            <a:xfrm>
              <a:off x="347" y="951"/>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3013" name="Text Box 6"/>
          <p:cNvSpPr txBox="1">
            <a:spLocks noChangeArrowheads="1"/>
          </p:cNvSpPr>
          <p:nvPr/>
        </p:nvSpPr>
        <p:spPr bwMode="auto">
          <a:xfrm>
            <a:off x="1143000" y="9906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Big</a:t>
            </a:r>
          </a:p>
        </p:txBody>
      </p:sp>
      <p:grpSp>
        <p:nvGrpSpPr>
          <p:cNvPr id="43014" name="Group 10"/>
          <p:cNvGrpSpPr>
            <a:grpSpLocks/>
          </p:cNvGrpSpPr>
          <p:nvPr/>
        </p:nvGrpSpPr>
        <p:grpSpPr bwMode="auto">
          <a:xfrm>
            <a:off x="5486400" y="1579563"/>
            <a:ext cx="2590800" cy="2382837"/>
            <a:chOff x="3069" y="936"/>
            <a:chExt cx="2344" cy="2341"/>
          </a:xfrm>
        </p:grpSpPr>
        <p:pic>
          <p:nvPicPr>
            <p:cNvPr id="430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9" y="936"/>
              <a:ext cx="2330" cy="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3019" name="Rectangle 7"/>
            <p:cNvSpPr>
              <a:spLocks noChangeArrowheads="1"/>
            </p:cNvSpPr>
            <p:nvPr/>
          </p:nvSpPr>
          <p:spPr bwMode="auto">
            <a:xfrm>
              <a:off x="3073" y="937"/>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3015" name="Text Box 8"/>
          <p:cNvSpPr txBox="1">
            <a:spLocks noChangeArrowheads="1"/>
          </p:cNvSpPr>
          <p:nvPr/>
        </p:nvSpPr>
        <p:spPr bwMode="auto">
          <a:xfrm>
            <a:off x="5616575" y="9906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Small</a:t>
            </a:r>
          </a:p>
        </p:txBody>
      </p:sp>
      <p:sp>
        <p:nvSpPr>
          <p:cNvPr id="43016" name="Rectangle 11"/>
          <p:cNvSpPr txBox="1">
            <a:spLocks noChangeArrowheads="1"/>
          </p:cNvSpPr>
          <p:nvPr/>
        </p:nvSpPr>
        <p:spPr bwMode="auto">
          <a:xfrm>
            <a:off x="4562475" y="4117975"/>
            <a:ext cx="44434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en-US" sz="2000" b="1"/>
              <a:t>In case of layout, depends on availability of:</a:t>
            </a:r>
          </a:p>
          <a:p>
            <a:pPr lvl="1" eaLnBrk="1" hangingPunct="1"/>
            <a:r>
              <a:rPr lang="en-US" altLang="en-US" sz="1800" b="1">
                <a:ea typeface="MS PGothic" panose="020B0600070205080204" pitchFamily="34" charset="-128"/>
              </a:rPr>
              <a:t>Dead spaces</a:t>
            </a:r>
          </a:p>
          <a:p>
            <a:pPr lvl="1" eaLnBrk="1" hangingPunct="1"/>
            <a:r>
              <a:rPr lang="en-US" altLang="en-US" sz="1800" b="1">
                <a:ea typeface="MS PGothic" panose="020B0600070205080204" pitchFamily="34" charset="-128"/>
              </a:rPr>
              <a:t>Filler cells</a:t>
            </a:r>
          </a:p>
          <a:p>
            <a:pPr lvl="1" eaLnBrk="1" hangingPunct="1"/>
            <a:r>
              <a:rPr lang="en-US" altLang="en-US" sz="1800" b="1">
                <a:ea typeface="MS PGothic" panose="020B0600070205080204" pitchFamily="34" charset="-128"/>
              </a:rPr>
              <a:t>Decap cells</a:t>
            </a:r>
          </a:p>
          <a:p>
            <a:pPr lvl="1" eaLnBrk="1" hangingPunct="1"/>
            <a:r>
              <a:rPr lang="en-US" altLang="en-US" sz="1800" b="1">
                <a:ea typeface="MS PGothic" panose="020B0600070205080204" pitchFamily="34" charset="-128"/>
              </a:rPr>
              <a:t>Change in the structure</a:t>
            </a:r>
          </a:p>
          <a:p>
            <a:pPr eaLnBrk="1" hangingPunct="1"/>
            <a:endParaRPr lang="en-US" altLang="en-US" sz="1800" b="1"/>
          </a:p>
        </p:txBody>
      </p:sp>
      <p:sp>
        <p:nvSpPr>
          <p:cNvPr id="43017"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30956D6C-5CD9-4AAA-9FDC-026A518FE197}" type="slidenum">
              <a:rPr lang="en-US" altLang="en-US" sz="1200"/>
              <a:pPr algn="r" eaLnBrk="1" hangingPunct="1">
                <a:spcBef>
                  <a:spcPct val="0"/>
                </a:spcBef>
                <a:buClrTx/>
                <a:buSzTx/>
                <a:buFontTx/>
                <a:buNone/>
              </a:pPr>
              <a:t>24</a:t>
            </a:fld>
            <a:endParaRPr lang="en-US" altLang="en-US" sz="1200"/>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a:xfrm>
            <a:off x="533400" y="76200"/>
            <a:ext cx="8229600" cy="685800"/>
          </a:xfrm>
        </p:spPr>
        <p:txBody>
          <a:bodyPr/>
          <a:lstStyle/>
          <a:p>
            <a:pPr eaLnBrk="1" hangingPunct="1"/>
            <a:r>
              <a:rPr lang="en-US" altLang="en-US" b="1"/>
              <a:t>Example: Distribution</a:t>
            </a:r>
          </a:p>
        </p:txBody>
      </p:sp>
      <p:sp>
        <p:nvSpPr>
          <p:cNvPr id="45059" name="Rectangle 13"/>
          <p:cNvSpPr>
            <a:spLocks noGrp="1" noChangeArrowheads="1"/>
          </p:cNvSpPr>
          <p:nvPr>
            <p:ph idx="1"/>
          </p:nvPr>
        </p:nvSpPr>
        <p:spPr>
          <a:xfrm>
            <a:off x="152400" y="3962400"/>
            <a:ext cx="4648200" cy="1274763"/>
          </a:xfrm>
        </p:spPr>
        <p:txBody>
          <a:bodyPr lIns="90488" tIns="44450" rIns="90488" bIns="44450"/>
          <a:lstStyle/>
          <a:p>
            <a:pPr eaLnBrk="1" hangingPunct="1"/>
            <a:r>
              <a:rPr lang="en-US" altLang="en-US" sz="2000" b="1"/>
              <a:t>Tight Distribution</a:t>
            </a:r>
          </a:p>
          <a:p>
            <a:pPr lvl="1" eaLnBrk="1" hangingPunct="1"/>
            <a:r>
              <a:rPr lang="en-US" altLang="en-US" sz="1800" b="1">
                <a:ea typeface="Arial" panose="020B0604020202020204" pitchFamily="34" charset="0"/>
              </a:rPr>
              <a:t>Trojan components are topologically close in the layout</a:t>
            </a:r>
            <a:r>
              <a:rPr lang="en-US" altLang="en-US" sz="1800">
                <a:ea typeface="Arial" panose="020B0604020202020204" pitchFamily="34" charset="0"/>
              </a:rPr>
              <a:t> </a:t>
            </a:r>
            <a:endParaRPr lang="en-US" altLang="en-US" sz="1800" b="1">
              <a:ea typeface="Arial" panose="020B0604020202020204" pitchFamily="34" charset="0"/>
            </a:endParaRPr>
          </a:p>
        </p:txBody>
      </p:sp>
      <p:grpSp>
        <p:nvGrpSpPr>
          <p:cNvPr id="45060" name="Group 11"/>
          <p:cNvGrpSpPr>
            <a:grpSpLocks/>
          </p:cNvGrpSpPr>
          <p:nvPr/>
        </p:nvGrpSpPr>
        <p:grpSpPr bwMode="auto">
          <a:xfrm>
            <a:off x="1066800" y="1509713"/>
            <a:ext cx="2497138" cy="2224087"/>
            <a:chOff x="347" y="951"/>
            <a:chExt cx="2340" cy="2342"/>
          </a:xfrm>
        </p:grpSpPr>
        <p:pic>
          <p:nvPicPr>
            <p:cNvPr id="4506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 y="957"/>
              <a:ext cx="2330" cy="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5070" name="Rectangle 5"/>
            <p:cNvSpPr>
              <a:spLocks noChangeArrowheads="1"/>
            </p:cNvSpPr>
            <p:nvPr/>
          </p:nvSpPr>
          <p:spPr bwMode="auto">
            <a:xfrm>
              <a:off x="347" y="951"/>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5061" name="Text Box 6"/>
          <p:cNvSpPr txBox="1">
            <a:spLocks noChangeArrowheads="1"/>
          </p:cNvSpPr>
          <p:nvPr/>
        </p:nvSpPr>
        <p:spPr bwMode="auto">
          <a:xfrm>
            <a:off x="1143000" y="9906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Tight</a:t>
            </a:r>
          </a:p>
        </p:txBody>
      </p:sp>
      <p:grpSp>
        <p:nvGrpSpPr>
          <p:cNvPr id="45062" name="Group 12"/>
          <p:cNvGrpSpPr>
            <a:grpSpLocks/>
          </p:cNvGrpSpPr>
          <p:nvPr/>
        </p:nvGrpSpPr>
        <p:grpSpPr bwMode="auto">
          <a:xfrm>
            <a:off x="5427663" y="1524000"/>
            <a:ext cx="2497137" cy="2209800"/>
            <a:chOff x="3073" y="937"/>
            <a:chExt cx="2340" cy="2356"/>
          </a:xfrm>
        </p:grpSpPr>
        <p:pic>
          <p:nvPicPr>
            <p:cNvPr id="4506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7" y="957"/>
              <a:ext cx="2330" cy="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5068" name="Rectangle 7"/>
            <p:cNvSpPr>
              <a:spLocks noChangeArrowheads="1"/>
            </p:cNvSpPr>
            <p:nvPr/>
          </p:nvSpPr>
          <p:spPr bwMode="auto">
            <a:xfrm>
              <a:off x="3073" y="937"/>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5063" name="Text Box 8"/>
          <p:cNvSpPr txBox="1">
            <a:spLocks noChangeArrowheads="1"/>
          </p:cNvSpPr>
          <p:nvPr/>
        </p:nvSpPr>
        <p:spPr bwMode="auto">
          <a:xfrm>
            <a:off x="5410200" y="9906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Loose</a:t>
            </a:r>
          </a:p>
        </p:txBody>
      </p:sp>
      <p:sp>
        <p:nvSpPr>
          <p:cNvPr id="45064" name="Rectangle 15"/>
          <p:cNvSpPr>
            <a:spLocks noChangeArrowheads="1"/>
          </p:cNvSpPr>
          <p:nvPr/>
        </p:nvSpPr>
        <p:spPr bwMode="auto">
          <a:xfrm>
            <a:off x="228600" y="5262563"/>
            <a:ext cx="8763000" cy="711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buClrTx/>
              <a:buSzTx/>
              <a:buFontTx/>
              <a:buBlip>
                <a:blip r:embed="rId5"/>
              </a:buBlip>
            </a:pPr>
            <a:r>
              <a:rPr lang="en-US" altLang="en-US" sz="2000" b="1">
                <a:latin typeface="Tahoma" panose="020B0604030504040204" pitchFamily="34" charset="0"/>
              </a:rPr>
              <a:t>Distribution of Trojans depends on the availability of dead spaces on the layout</a:t>
            </a:r>
            <a:r>
              <a:rPr lang="en-US" altLang="en-US" sz="2000">
                <a:latin typeface="Tahoma" panose="020B0604030504040204" pitchFamily="34" charset="0"/>
              </a:rPr>
              <a:t> </a:t>
            </a:r>
          </a:p>
        </p:txBody>
      </p:sp>
      <p:sp>
        <p:nvSpPr>
          <p:cNvPr id="450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C580407-E77E-48E0-8A22-55D67005CBFD}" type="slidenum">
              <a:rPr lang="en-US" altLang="en-US" sz="1200"/>
              <a:pPr>
                <a:spcBef>
                  <a:spcPct val="0"/>
                </a:spcBef>
                <a:buClrTx/>
                <a:buSzTx/>
                <a:buFontTx/>
                <a:buNone/>
              </a:pPr>
              <a:t>25</a:t>
            </a:fld>
            <a:endParaRPr lang="en-US" altLang="en-US" sz="1200"/>
          </a:p>
        </p:txBody>
      </p:sp>
      <p:sp>
        <p:nvSpPr>
          <p:cNvPr id="45066" name="Rectangle 13"/>
          <p:cNvSpPr txBox="1">
            <a:spLocks noChangeArrowheads="1"/>
          </p:cNvSpPr>
          <p:nvPr/>
        </p:nvSpPr>
        <p:spPr bwMode="auto">
          <a:xfrm>
            <a:off x="4610100" y="3975100"/>
            <a:ext cx="4381500"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en-US" sz="2000" b="1"/>
              <a:t>Loose Distribution</a:t>
            </a:r>
          </a:p>
          <a:p>
            <a:pPr lvl="1">
              <a:buFont typeface="Wingdings" panose="05000000000000000000" pitchFamily="2" charset="2"/>
              <a:buBlip>
                <a:blip r:embed="rId5"/>
              </a:buBlip>
            </a:pPr>
            <a:r>
              <a:rPr lang="en-US" altLang="en-US" sz="1800" b="1">
                <a:ea typeface="MS PGothic" panose="020B0600070205080204" pitchFamily="34" charset="-128"/>
              </a:rPr>
              <a:t>Trojan  components are dispersed across the layout of a chip</a:t>
            </a:r>
            <a:endParaRPr lang="en-US" altLang="en-US" sz="1800">
              <a:ea typeface="MS PGothic" panose="020B0600070205080204" pitchFamily="34" charset="-128"/>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3"/>
          <p:cNvSpPr>
            <a:spLocks noGrp="1" noChangeArrowheads="1"/>
          </p:cNvSpPr>
          <p:nvPr>
            <p:ph type="title"/>
          </p:nvPr>
        </p:nvSpPr>
        <p:spPr>
          <a:xfrm>
            <a:off x="533400" y="76200"/>
            <a:ext cx="8229600" cy="685800"/>
          </a:xfrm>
        </p:spPr>
        <p:txBody>
          <a:bodyPr/>
          <a:lstStyle/>
          <a:p>
            <a:pPr eaLnBrk="1" hangingPunct="1"/>
            <a:r>
              <a:rPr lang="en-US" altLang="en-US" b="1"/>
              <a:t>Example: Structure</a:t>
            </a:r>
          </a:p>
        </p:txBody>
      </p:sp>
      <p:sp>
        <p:nvSpPr>
          <p:cNvPr id="47107" name="Rectangle 21"/>
          <p:cNvSpPr>
            <a:spLocks noGrp="1" noChangeArrowheads="1"/>
          </p:cNvSpPr>
          <p:nvPr>
            <p:ph idx="1"/>
          </p:nvPr>
        </p:nvSpPr>
        <p:spPr>
          <a:xfrm>
            <a:off x="279400" y="4013200"/>
            <a:ext cx="4216400" cy="2209800"/>
          </a:xfrm>
        </p:spPr>
        <p:txBody>
          <a:bodyPr lIns="90488" tIns="44450" rIns="90488" bIns="44450"/>
          <a:lstStyle/>
          <a:p>
            <a:pPr eaLnBrk="1" hangingPunct="1"/>
            <a:r>
              <a:rPr lang="en-US" altLang="en-US" sz="2000" b="1"/>
              <a:t>The adversary may be forced to regenerate the layout to be able to insert the Trojan, then the chip dimensions change</a:t>
            </a:r>
          </a:p>
          <a:p>
            <a:pPr lvl="1" eaLnBrk="1" hangingPunct="1"/>
            <a:r>
              <a:rPr lang="en-US" altLang="en-US" sz="1800" b="1">
                <a:ea typeface="Arial" panose="020B0604020202020204" pitchFamily="34" charset="0"/>
              </a:rPr>
              <a:t>It could result in different placement for some or all the design components</a:t>
            </a:r>
          </a:p>
        </p:txBody>
      </p:sp>
      <p:grpSp>
        <p:nvGrpSpPr>
          <p:cNvPr id="47108" name="Group 19"/>
          <p:cNvGrpSpPr>
            <a:grpSpLocks/>
          </p:cNvGrpSpPr>
          <p:nvPr/>
        </p:nvGrpSpPr>
        <p:grpSpPr bwMode="auto">
          <a:xfrm>
            <a:off x="1014413" y="1630363"/>
            <a:ext cx="2717800" cy="2232025"/>
            <a:chOff x="343" y="951"/>
            <a:chExt cx="2344" cy="2342"/>
          </a:xfrm>
        </p:grpSpPr>
        <p:pic>
          <p:nvPicPr>
            <p:cNvPr id="471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 y="957"/>
              <a:ext cx="2330" cy="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7128" name="Rectangle 4"/>
            <p:cNvSpPr>
              <a:spLocks noChangeArrowheads="1"/>
            </p:cNvSpPr>
            <p:nvPr/>
          </p:nvSpPr>
          <p:spPr bwMode="auto">
            <a:xfrm>
              <a:off x="347" y="951"/>
              <a:ext cx="2340" cy="2340"/>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47109" name="Text Box 5"/>
          <p:cNvSpPr txBox="1">
            <a:spLocks noChangeArrowheads="1"/>
          </p:cNvSpPr>
          <p:nvPr/>
        </p:nvSpPr>
        <p:spPr bwMode="auto">
          <a:xfrm>
            <a:off x="1219200" y="990600"/>
            <a:ext cx="2308225"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No-change</a:t>
            </a:r>
          </a:p>
        </p:txBody>
      </p:sp>
      <p:sp>
        <p:nvSpPr>
          <p:cNvPr id="47110" name="Text Box 6"/>
          <p:cNvSpPr txBox="1">
            <a:spLocks noChangeArrowheads="1"/>
          </p:cNvSpPr>
          <p:nvPr/>
        </p:nvSpPr>
        <p:spPr bwMode="auto">
          <a:xfrm>
            <a:off x="5181600" y="990600"/>
            <a:ext cx="2716213" cy="4572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400" b="1">
                <a:latin typeface="Tahoma" panose="020B0604030504040204" pitchFamily="34" charset="0"/>
              </a:rPr>
              <a:t>Modified Layout</a:t>
            </a:r>
          </a:p>
        </p:txBody>
      </p:sp>
      <p:grpSp>
        <p:nvGrpSpPr>
          <p:cNvPr id="47111" name="Group 20"/>
          <p:cNvGrpSpPr>
            <a:grpSpLocks/>
          </p:cNvGrpSpPr>
          <p:nvPr/>
        </p:nvGrpSpPr>
        <p:grpSpPr bwMode="auto">
          <a:xfrm>
            <a:off x="5257800" y="1562100"/>
            <a:ext cx="2743200" cy="2324100"/>
            <a:chOff x="2832" y="840"/>
            <a:chExt cx="2664" cy="2723"/>
          </a:xfrm>
        </p:grpSpPr>
        <p:pic>
          <p:nvPicPr>
            <p:cNvPr id="471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 y="953"/>
              <a:ext cx="2558" cy="2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47116" name="Rectangle 8"/>
            <p:cNvSpPr>
              <a:spLocks noChangeArrowheads="1"/>
            </p:cNvSpPr>
            <p:nvPr/>
          </p:nvSpPr>
          <p:spPr bwMode="auto">
            <a:xfrm>
              <a:off x="2858" y="937"/>
              <a:ext cx="2550" cy="2605"/>
            </a:xfrm>
            <a:prstGeom prst="rect">
              <a:avLst/>
            </a:prstGeom>
            <a:noFill/>
            <a:ln w="762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17" name="Rectangle 9"/>
            <p:cNvSpPr>
              <a:spLocks noChangeArrowheads="1"/>
            </p:cNvSpPr>
            <p:nvPr/>
          </p:nvSpPr>
          <p:spPr bwMode="auto">
            <a:xfrm>
              <a:off x="3128" y="1156"/>
              <a:ext cx="873" cy="336"/>
            </a:xfrm>
            <a:prstGeom prst="rect">
              <a:avLst/>
            </a:prstGeom>
            <a:solidFill>
              <a:schemeClr val="accent1"/>
            </a:solidFill>
            <a:ln w="25400">
              <a:solidFill>
                <a:srgbClr val="80808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600">
                <a:solidFill>
                  <a:schemeClr val="accent1"/>
                </a:solidFill>
                <a:latin typeface="Tahoma" panose="020B0604030504040204" pitchFamily="34" charset="0"/>
              </a:endParaRPr>
            </a:p>
          </p:txBody>
        </p:sp>
        <p:sp>
          <p:nvSpPr>
            <p:cNvPr id="47118" name="Rectangle 10"/>
            <p:cNvSpPr>
              <a:spLocks noChangeArrowheads="1"/>
            </p:cNvSpPr>
            <p:nvPr/>
          </p:nvSpPr>
          <p:spPr bwMode="auto">
            <a:xfrm>
              <a:off x="4006" y="1120"/>
              <a:ext cx="150" cy="358"/>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19" name="Rectangle 11"/>
            <p:cNvSpPr>
              <a:spLocks noChangeArrowheads="1"/>
            </p:cNvSpPr>
            <p:nvPr/>
          </p:nvSpPr>
          <p:spPr bwMode="auto">
            <a:xfrm>
              <a:off x="4985" y="1228"/>
              <a:ext cx="159" cy="264"/>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20" name="Rectangle 12"/>
            <p:cNvSpPr>
              <a:spLocks noChangeArrowheads="1"/>
            </p:cNvSpPr>
            <p:nvPr/>
          </p:nvSpPr>
          <p:spPr bwMode="auto">
            <a:xfrm>
              <a:off x="4147" y="1152"/>
              <a:ext cx="873" cy="326"/>
            </a:xfrm>
            <a:prstGeom prst="rect">
              <a:avLst/>
            </a:prstGeom>
            <a:solidFill>
              <a:schemeClr val="accent1"/>
            </a:solidFill>
            <a:ln w="25400">
              <a:solidFill>
                <a:srgbClr val="80808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600">
                <a:solidFill>
                  <a:schemeClr val="accent1"/>
                </a:solidFill>
                <a:latin typeface="Tahoma" panose="020B0604030504040204" pitchFamily="34" charset="0"/>
              </a:endParaRPr>
            </a:p>
          </p:txBody>
        </p:sp>
        <p:sp>
          <p:nvSpPr>
            <p:cNvPr id="47121" name="Rectangle 13"/>
            <p:cNvSpPr>
              <a:spLocks noChangeArrowheads="1"/>
            </p:cNvSpPr>
            <p:nvPr/>
          </p:nvSpPr>
          <p:spPr bwMode="auto">
            <a:xfrm>
              <a:off x="3687" y="1610"/>
              <a:ext cx="1193" cy="214"/>
            </a:xfrm>
            <a:prstGeom prst="rect">
              <a:avLst/>
            </a:prstGeom>
            <a:solidFill>
              <a:schemeClr val="accent1"/>
            </a:solidFill>
            <a:ln w="25400">
              <a:solidFill>
                <a:srgbClr val="80808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22" name="Rectangle 14"/>
            <p:cNvSpPr>
              <a:spLocks noChangeArrowheads="1"/>
            </p:cNvSpPr>
            <p:nvPr/>
          </p:nvSpPr>
          <p:spPr bwMode="auto">
            <a:xfrm>
              <a:off x="4185" y="2935"/>
              <a:ext cx="150" cy="358"/>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23" name="Rectangle 15"/>
            <p:cNvSpPr>
              <a:spLocks noChangeArrowheads="1"/>
            </p:cNvSpPr>
            <p:nvPr/>
          </p:nvSpPr>
          <p:spPr bwMode="auto">
            <a:xfrm>
              <a:off x="3094" y="2946"/>
              <a:ext cx="1144" cy="286"/>
            </a:xfrm>
            <a:prstGeom prst="rect">
              <a:avLst/>
            </a:prstGeom>
            <a:solidFill>
              <a:schemeClr val="accent1"/>
            </a:solidFill>
            <a:ln w="25400">
              <a:solidFill>
                <a:srgbClr val="80808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24" name="Rectangle 16"/>
            <p:cNvSpPr>
              <a:spLocks noChangeArrowheads="1"/>
            </p:cNvSpPr>
            <p:nvPr/>
          </p:nvSpPr>
          <p:spPr bwMode="auto">
            <a:xfrm>
              <a:off x="4276" y="2940"/>
              <a:ext cx="873" cy="287"/>
            </a:xfrm>
            <a:prstGeom prst="rect">
              <a:avLst/>
            </a:prstGeom>
            <a:solidFill>
              <a:schemeClr val="accent1"/>
            </a:solidFill>
            <a:ln w="25400">
              <a:solidFill>
                <a:srgbClr val="80808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25" name="Line 17"/>
            <p:cNvSpPr>
              <a:spLocks noChangeShapeType="1"/>
            </p:cNvSpPr>
            <p:nvPr/>
          </p:nvSpPr>
          <p:spPr bwMode="auto">
            <a:xfrm>
              <a:off x="5496" y="920"/>
              <a:ext cx="0" cy="2616"/>
            </a:xfrm>
            <a:prstGeom prst="line">
              <a:avLst/>
            </a:prstGeom>
            <a:noFill/>
            <a:ln w="38100">
              <a:solidFill>
                <a:schemeClr val="accent2"/>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47126" name="Line 18"/>
            <p:cNvSpPr>
              <a:spLocks noChangeShapeType="1"/>
            </p:cNvSpPr>
            <p:nvPr/>
          </p:nvSpPr>
          <p:spPr bwMode="auto">
            <a:xfrm>
              <a:off x="2832" y="840"/>
              <a:ext cx="2552" cy="0"/>
            </a:xfrm>
            <a:prstGeom prst="line">
              <a:avLst/>
            </a:prstGeom>
            <a:noFill/>
            <a:ln w="38100">
              <a:solidFill>
                <a:schemeClr val="accent2"/>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47112" name="Rectangle 22"/>
          <p:cNvSpPr>
            <a:spLocks noChangeArrowheads="1"/>
          </p:cNvSpPr>
          <p:nvPr/>
        </p:nvSpPr>
        <p:spPr bwMode="auto">
          <a:xfrm>
            <a:off x="4724400" y="4013200"/>
            <a:ext cx="4038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buClrTx/>
              <a:buSzTx/>
              <a:buFontTx/>
              <a:buBlip>
                <a:blip r:embed="rId4"/>
              </a:buBlip>
            </a:pPr>
            <a:r>
              <a:rPr lang="en-US" altLang="en-US" sz="2000" b="1"/>
              <a:t>A change in physical layout can change the delay and power characteristics of chip</a:t>
            </a:r>
          </a:p>
          <a:p>
            <a:pPr lvl="1" eaLnBrk="1" hangingPunct="1">
              <a:buClrTx/>
              <a:buSzTx/>
              <a:buFontTx/>
              <a:buBlip>
                <a:blip r:embed="rId4"/>
              </a:buBlip>
            </a:pPr>
            <a:r>
              <a:rPr lang="en-US" altLang="en-US" sz="1800" b="1">
                <a:ea typeface="MS PGothic" panose="020B0600070205080204" pitchFamily="34" charset="-128"/>
              </a:rPr>
              <a:t>It is easier to detect the Trojan</a:t>
            </a:r>
          </a:p>
          <a:p>
            <a:pPr eaLnBrk="1" hangingPunct="1">
              <a:buClrTx/>
              <a:buSzTx/>
              <a:buFontTx/>
              <a:buBlip>
                <a:blip r:embed="rId4"/>
              </a:buBlip>
            </a:pPr>
            <a:endParaRPr lang="en-US" altLang="en-US" sz="2000" b="1">
              <a:latin typeface="Tahoma" panose="020B0604030504040204" pitchFamily="34" charset="0"/>
            </a:endParaRPr>
          </a:p>
        </p:txBody>
      </p:sp>
      <p:sp>
        <p:nvSpPr>
          <p:cNvPr id="47113" name="Text Box 23"/>
          <p:cNvSpPr txBox="1">
            <a:spLocks noChangeArrowheads="1"/>
          </p:cNvSpPr>
          <p:nvPr/>
        </p:nvSpPr>
        <p:spPr bwMode="auto">
          <a:xfrm rot="5400000">
            <a:off x="7375525" y="2422525"/>
            <a:ext cx="2286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800" b="1">
                <a:latin typeface="Tahoma" panose="020B0604030504040204" pitchFamily="34" charset="0"/>
              </a:rPr>
              <a:t>Change in circuit Form Factor</a:t>
            </a:r>
          </a:p>
        </p:txBody>
      </p:sp>
      <p:sp>
        <p:nvSpPr>
          <p:cNvPr id="47114"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8C0BE591-1781-4CEC-8F6F-563EDCD62D9D}" type="slidenum">
              <a:rPr lang="en-US" altLang="en-US" sz="1200"/>
              <a:pPr algn="r" eaLnBrk="1" hangingPunct="1">
                <a:spcBef>
                  <a:spcPct val="0"/>
                </a:spcBef>
                <a:buClrTx/>
                <a:buSzTx/>
                <a:buFontTx/>
                <a:buNone/>
              </a:pPr>
              <a:t>26</a:t>
            </a:fld>
            <a:endParaRPr lang="en-US" altLang="en-US" sz="1200"/>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0" y="0"/>
            <a:ext cx="9144000" cy="838200"/>
          </a:xfrm>
        </p:spPr>
        <p:txBody>
          <a:bodyPr/>
          <a:lstStyle/>
          <a:p>
            <a:pPr eaLnBrk="1" hangingPunct="1"/>
            <a:r>
              <a:rPr lang="en-US" altLang="en-US" b="1"/>
              <a:t>Trojan Taxonomy: Activation</a:t>
            </a:r>
          </a:p>
        </p:txBody>
      </p:sp>
      <p:sp>
        <p:nvSpPr>
          <p:cNvPr id="49155" name="Line 3"/>
          <p:cNvSpPr>
            <a:spLocks noChangeShapeType="1"/>
          </p:cNvSpPr>
          <p:nvPr/>
        </p:nvSpPr>
        <p:spPr bwMode="auto">
          <a:xfrm flipH="1">
            <a:off x="3228975" y="1647825"/>
            <a:ext cx="0" cy="17145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56" name="Line 4"/>
          <p:cNvSpPr>
            <a:spLocks noChangeShapeType="1"/>
          </p:cNvSpPr>
          <p:nvPr/>
        </p:nvSpPr>
        <p:spPr bwMode="auto">
          <a:xfrm>
            <a:off x="1819275" y="1809750"/>
            <a:ext cx="2809875" cy="952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57" name="Oval 5"/>
          <p:cNvSpPr>
            <a:spLocks noChangeArrowheads="1"/>
          </p:cNvSpPr>
          <p:nvPr/>
        </p:nvSpPr>
        <p:spPr bwMode="auto">
          <a:xfrm>
            <a:off x="1130300" y="2000250"/>
            <a:ext cx="1346200" cy="609600"/>
          </a:xfrm>
          <a:prstGeom prst="ellipse">
            <a:avLst/>
          </a:prstGeom>
          <a:solidFill>
            <a:srgbClr val="3366FF"/>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58" name="Text Box 6"/>
          <p:cNvSpPr txBox="1">
            <a:spLocks noChangeArrowheads="1"/>
          </p:cNvSpPr>
          <p:nvPr/>
        </p:nvSpPr>
        <p:spPr bwMode="auto">
          <a:xfrm>
            <a:off x="1104900" y="2000250"/>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Externally-activated</a:t>
            </a:r>
          </a:p>
        </p:txBody>
      </p:sp>
      <p:sp>
        <p:nvSpPr>
          <p:cNvPr id="49159" name="Oval 7"/>
          <p:cNvSpPr>
            <a:spLocks noChangeArrowheads="1"/>
          </p:cNvSpPr>
          <p:nvPr/>
        </p:nvSpPr>
        <p:spPr bwMode="auto">
          <a:xfrm>
            <a:off x="3095625" y="3052763"/>
            <a:ext cx="1143000" cy="519112"/>
          </a:xfrm>
          <a:prstGeom prst="ellipse">
            <a:avLst/>
          </a:prstGeom>
          <a:solidFill>
            <a:schemeClr val="accent1"/>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60" name="Text Box 8"/>
          <p:cNvSpPr txBox="1">
            <a:spLocks noChangeArrowheads="1"/>
          </p:cNvSpPr>
          <p:nvPr/>
        </p:nvSpPr>
        <p:spPr bwMode="auto">
          <a:xfrm>
            <a:off x="3095625" y="3067050"/>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Always on</a:t>
            </a:r>
          </a:p>
        </p:txBody>
      </p:sp>
      <p:sp>
        <p:nvSpPr>
          <p:cNvPr id="49161" name="Oval 9"/>
          <p:cNvSpPr>
            <a:spLocks noChangeArrowheads="1"/>
          </p:cNvSpPr>
          <p:nvPr/>
        </p:nvSpPr>
        <p:spPr bwMode="auto">
          <a:xfrm>
            <a:off x="4919663" y="3052763"/>
            <a:ext cx="1447800" cy="533400"/>
          </a:xfrm>
          <a:prstGeom prst="ellipse">
            <a:avLst/>
          </a:prstGeom>
          <a:solidFill>
            <a:schemeClr val="accent1"/>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62" name="Text Box 10"/>
          <p:cNvSpPr txBox="1">
            <a:spLocks noChangeArrowheads="1"/>
          </p:cNvSpPr>
          <p:nvPr/>
        </p:nvSpPr>
        <p:spPr bwMode="auto">
          <a:xfrm>
            <a:off x="4919663" y="3067050"/>
            <a:ext cx="1524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Condition-based</a:t>
            </a:r>
          </a:p>
        </p:txBody>
      </p:sp>
      <p:sp>
        <p:nvSpPr>
          <p:cNvPr id="49163" name="Line 11"/>
          <p:cNvSpPr>
            <a:spLocks noChangeShapeType="1"/>
          </p:cNvSpPr>
          <p:nvPr/>
        </p:nvSpPr>
        <p:spPr bwMode="auto">
          <a:xfrm>
            <a:off x="1814513" y="1819275"/>
            <a:ext cx="0" cy="19050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4" name="Line 12"/>
          <p:cNvSpPr>
            <a:spLocks noChangeShapeType="1"/>
          </p:cNvSpPr>
          <p:nvPr/>
        </p:nvSpPr>
        <p:spPr bwMode="auto">
          <a:xfrm flipH="1">
            <a:off x="3629025" y="2824163"/>
            <a:ext cx="9525" cy="22860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5" name="Line 13"/>
          <p:cNvSpPr>
            <a:spLocks noChangeShapeType="1"/>
          </p:cNvSpPr>
          <p:nvPr/>
        </p:nvSpPr>
        <p:spPr bwMode="auto">
          <a:xfrm>
            <a:off x="5595938" y="2833688"/>
            <a:ext cx="9525" cy="21907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6" name="Line 14"/>
          <p:cNvSpPr>
            <a:spLocks noChangeShapeType="1"/>
          </p:cNvSpPr>
          <p:nvPr/>
        </p:nvSpPr>
        <p:spPr bwMode="auto">
          <a:xfrm>
            <a:off x="1790700" y="2609850"/>
            <a:ext cx="0" cy="18097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7" name="Line 15"/>
          <p:cNvSpPr>
            <a:spLocks noChangeShapeType="1"/>
          </p:cNvSpPr>
          <p:nvPr/>
        </p:nvSpPr>
        <p:spPr bwMode="auto">
          <a:xfrm>
            <a:off x="1104900" y="2809875"/>
            <a:ext cx="13716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68" name="Line 16"/>
          <p:cNvSpPr>
            <a:spLocks noChangeShapeType="1"/>
          </p:cNvSpPr>
          <p:nvPr/>
        </p:nvSpPr>
        <p:spPr bwMode="auto">
          <a:xfrm>
            <a:off x="1095375" y="2800350"/>
            <a:ext cx="9525" cy="2000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69" name="Line 17"/>
          <p:cNvSpPr>
            <a:spLocks noChangeShapeType="1"/>
          </p:cNvSpPr>
          <p:nvPr/>
        </p:nvSpPr>
        <p:spPr bwMode="auto">
          <a:xfrm>
            <a:off x="2466975" y="2800350"/>
            <a:ext cx="9525" cy="2000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0" name="Oval 18"/>
          <p:cNvSpPr>
            <a:spLocks noChangeArrowheads="1"/>
          </p:cNvSpPr>
          <p:nvPr/>
        </p:nvSpPr>
        <p:spPr bwMode="auto">
          <a:xfrm>
            <a:off x="571500" y="3000375"/>
            <a:ext cx="1143000" cy="609600"/>
          </a:xfrm>
          <a:prstGeom prst="ellipse">
            <a:avLst/>
          </a:prstGeom>
          <a:solidFill>
            <a:schemeClr val="accent1"/>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71" name="Text Box 19"/>
          <p:cNvSpPr txBox="1">
            <a:spLocks noChangeArrowheads="1"/>
          </p:cNvSpPr>
          <p:nvPr/>
        </p:nvSpPr>
        <p:spPr bwMode="auto">
          <a:xfrm>
            <a:off x="571500" y="3076575"/>
            <a:ext cx="1143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Receiver/ Antenna</a:t>
            </a:r>
          </a:p>
        </p:txBody>
      </p:sp>
      <p:sp>
        <p:nvSpPr>
          <p:cNvPr id="49172" name="Oval 20"/>
          <p:cNvSpPr>
            <a:spLocks noChangeArrowheads="1"/>
          </p:cNvSpPr>
          <p:nvPr/>
        </p:nvSpPr>
        <p:spPr bwMode="auto">
          <a:xfrm>
            <a:off x="1790700" y="3000375"/>
            <a:ext cx="1143000" cy="609600"/>
          </a:xfrm>
          <a:prstGeom prst="ellipse">
            <a:avLst/>
          </a:prstGeom>
          <a:solidFill>
            <a:schemeClr val="accent1"/>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73" name="Text Box 21"/>
          <p:cNvSpPr txBox="1">
            <a:spLocks noChangeArrowheads="1"/>
          </p:cNvSpPr>
          <p:nvPr/>
        </p:nvSpPr>
        <p:spPr bwMode="auto">
          <a:xfrm>
            <a:off x="1790700" y="3076575"/>
            <a:ext cx="114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Access Data</a:t>
            </a:r>
          </a:p>
        </p:txBody>
      </p:sp>
      <p:sp>
        <p:nvSpPr>
          <p:cNvPr id="49174" name="Line 22"/>
          <p:cNvSpPr>
            <a:spLocks noChangeShapeType="1"/>
          </p:cNvSpPr>
          <p:nvPr/>
        </p:nvSpPr>
        <p:spPr bwMode="auto">
          <a:xfrm>
            <a:off x="5634038" y="3586163"/>
            <a:ext cx="0" cy="2286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5" name="Line 23"/>
          <p:cNvSpPr>
            <a:spLocks noChangeShapeType="1"/>
          </p:cNvSpPr>
          <p:nvPr/>
        </p:nvSpPr>
        <p:spPr bwMode="auto">
          <a:xfrm>
            <a:off x="3876675" y="3814763"/>
            <a:ext cx="31527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76" name="Line 24"/>
          <p:cNvSpPr>
            <a:spLocks noChangeShapeType="1"/>
          </p:cNvSpPr>
          <p:nvPr/>
        </p:nvSpPr>
        <p:spPr bwMode="auto">
          <a:xfrm flipH="1">
            <a:off x="3871913" y="3816350"/>
            <a:ext cx="0" cy="24765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7" name="Line 25"/>
          <p:cNvSpPr>
            <a:spLocks noChangeShapeType="1"/>
          </p:cNvSpPr>
          <p:nvPr/>
        </p:nvSpPr>
        <p:spPr bwMode="auto">
          <a:xfrm>
            <a:off x="7029450" y="3814763"/>
            <a:ext cx="0" cy="223837"/>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78" name="Oval 26"/>
          <p:cNvSpPr>
            <a:spLocks noChangeArrowheads="1"/>
          </p:cNvSpPr>
          <p:nvPr/>
        </p:nvSpPr>
        <p:spPr bwMode="auto">
          <a:xfrm>
            <a:off x="3324225" y="4067175"/>
            <a:ext cx="1143000" cy="685800"/>
          </a:xfrm>
          <a:prstGeom prst="ellipse">
            <a:avLst/>
          </a:prstGeom>
          <a:solidFill>
            <a:srgbClr val="00CC99"/>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79" name="Text Box 27"/>
          <p:cNvSpPr txBox="1">
            <a:spLocks noChangeArrowheads="1"/>
          </p:cNvSpPr>
          <p:nvPr/>
        </p:nvSpPr>
        <p:spPr bwMode="auto">
          <a:xfrm>
            <a:off x="3324225" y="4143375"/>
            <a:ext cx="1143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Sensor-based</a:t>
            </a:r>
          </a:p>
        </p:txBody>
      </p:sp>
      <p:sp>
        <p:nvSpPr>
          <p:cNvPr id="49180" name="Oval 28"/>
          <p:cNvSpPr>
            <a:spLocks noChangeArrowheads="1"/>
          </p:cNvSpPr>
          <p:nvPr/>
        </p:nvSpPr>
        <p:spPr bwMode="auto">
          <a:xfrm>
            <a:off x="6496050" y="4038600"/>
            <a:ext cx="1143000" cy="685800"/>
          </a:xfrm>
          <a:prstGeom prst="ellipse">
            <a:avLst/>
          </a:prstGeom>
          <a:solidFill>
            <a:srgbClr val="00CC99"/>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81" name="Text Box 29"/>
          <p:cNvSpPr txBox="1">
            <a:spLocks noChangeArrowheads="1"/>
          </p:cNvSpPr>
          <p:nvPr/>
        </p:nvSpPr>
        <p:spPr bwMode="auto">
          <a:xfrm>
            <a:off x="6496050" y="4114800"/>
            <a:ext cx="1143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Logic-based</a:t>
            </a:r>
          </a:p>
        </p:txBody>
      </p:sp>
      <p:sp>
        <p:nvSpPr>
          <p:cNvPr id="49182" name="Line 30"/>
          <p:cNvSpPr>
            <a:spLocks noChangeShapeType="1"/>
          </p:cNvSpPr>
          <p:nvPr/>
        </p:nvSpPr>
        <p:spPr bwMode="auto">
          <a:xfrm>
            <a:off x="5886450" y="4867275"/>
            <a:ext cx="25908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3" name="Line 31"/>
          <p:cNvSpPr>
            <a:spLocks noChangeShapeType="1"/>
          </p:cNvSpPr>
          <p:nvPr/>
        </p:nvSpPr>
        <p:spPr bwMode="auto">
          <a:xfrm>
            <a:off x="5886450" y="4867275"/>
            <a:ext cx="0" cy="2381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84" name="Line 32"/>
          <p:cNvSpPr>
            <a:spLocks noChangeShapeType="1"/>
          </p:cNvSpPr>
          <p:nvPr/>
        </p:nvSpPr>
        <p:spPr bwMode="auto">
          <a:xfrm>
            <a:off x="8477250" y="4848225"/>
            <a:ext cx="0" cy="25717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85" name="Oval 33"/>
          <p:cNvSpPr>
            <a:spLocks noChangeArrowheads="1"/>
          </p:cNvSpPr>
          <p:nvPr/>
        </p:nvSpPr>
        <p:spPr bwMode="auto">
          <a:xfrm>
            <a:off x="5353050" y="5105400"/>
            <a:ext cx="1143000" cy="457200"/>
          </a:xfrm>
          <a:prstGeom prst="ellipse">
            <a:avLst/>
          </a:prstGeom>
          <a:solidFill>
            <a:schemeClr val="accent2"/>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86" name="Text Box 34"/>
          <p:cNvSpPr txBox="1">
            <a:spLocks noChangeArrowheads="1"/>
          </p:cNvSpPr>
          <p:nvPr/>
        </p:nvSpPr>
        <p:spPr bwMode="auto">
          <a:xfrm>
            <a:off x="5353050" y="5068888"/>
            <a:ext cx="114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Internal state</a:t>
            </a:r>
          </a:p>
        </p:txBody>
      </p:sp>
      <p:sp>
        <p:nvSpPr>
          <p:cNvPr id="49187" name="Oval 35"/>
          <p:cNvSpPr>
            <a:spLocks noChangeArrowheads="1"/>
          </p:cNvSpPr>
          <p:nvPr/>
        </p:nvSpPr>
        <p:spPr bwMode="auto">
          <a:xfrm>
            <a:off x="7791450" y="5105400"/>
            <a:ext cx="1143000" cy="457200"/>
          </a:xfrm>
          <a:prstGeom prst="ellipse">
            <a:avLst/>
          </a:prstGeom>
          <a:solidFill>
            <a:schemeClr val="accent2"/>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88" name="Text Box 36"/>
          <p:cNvSpPr txBox="1">
            <a:spLocks noChangeArrowheads="1"/>
          </p:cNvSpPr>
          <p:nvPr/>
        </p:nvSpPr>
        <p:spPr bwMode="auto">
          <a:xfrm>
            <a:off x="7791450" y="5181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Cnt/clock</a:t>
            </a:r>
          </a:p>
        </p:txBody>
      </p:sp>
      <p:sp>
        <p:nvSpPr>
          <p:cNvPr id="49189" name="Oval 37"/>
          <p:cNvSpPr>
            <a:spLocks noChangeArrowheads="1"/>
          </p:cNvSpPr>
          <p:nvPr/>
        </p:nvSpPr>
        <p:spPr bwMode="auto">
          <a:xfrm>
            <a:off x="3968750" y="2014538"/>
            <a:ext cx="1409700" cy="609600"/>
          </a:xfrm>
          <a:prstGeom prst="ellipse">
            <a:avLst/>
          </a:prstGeom>
          <a:solidFill>
            <a:srgbClr val="3366FF"/>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90" name="Text Box 38"/>
          <p:cNvSpPr txBox="1">
            <a:spLocks noChangeArrowheads="1"/>
          </p:cNvSpPr>
          <p:nvPr/>
        </p:nvSpPr>
        <p:spPr bwMode="auto">
          <a:xfrm>
            <a:off x="3943350" y="2014538"/>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Internally-activated</a:t>
            </a:r>
          </a:p>
        </p:txBody>
      </p:sp>
      <p:sp>
        <p:nvSpPr>
          <p:cNvPr id="49191" name="Line 39"/>
          <p:cNvSpPr>
            <a:spLocks noChangeShapeType="1"/>
          </p:cNvSpPr>
          <p:nvPr/>
        </p:nvSpPr>
        <p:spPr bwMode="auto">
          <a:xfrm flipH="1">
            <a:off x="4619625" y="1809750"/>
            <a:ext cx="9525" cy="20955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2" name="Line 40"/>
          <p:cNvSpPr>
            <a:spLocks noChangeShapeType="1"/>
          </p:cNvSpPr>
          <p:nvPr/>
        </p:nvSpPr>
        <p:spPr bwMode="auto">
          <a:xfrm>
            <a:off x="4672013" y="2624138"/>
            <a:ext cx="0" cy="18097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3" name="Line 41"/>
          <p:cNvSpPr>
            <a:spLocks noChangeShapeType="1"/>
          </p:cNvSpPr>
          <p:nvPr/>
        </p:nvSpPr>
        <p:spPr bwMode="auto">
          <a:xfrm>
            <a:off x="3624263" y="2833688"/>
            <a:ext cx="19812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4" name="Line 42"/>
          <p:cNvSpPr>
            <a:spLocks noChangeShapeType="1"/>
          </p:cNvSpPr>
          <p:nvPr/>
        </p:nvSpPr>
        <p:spPr bwMode="auto">
          <a:xfrm>
            <a:off x="2971800" y="4872038"/>
            <a:ext cx="18288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95" name="Line 43"/>
          <p:cNvSpPr>
            <a:spLocks noChangeShapeType="1"/>
          </p:cNvSpPr>
          <p:nvPr/>
        </p:nvSpPr>
        <p:spPr bwMode="auto">
          <a:xfrm>
            <a:off x="2971800" y="4852988"/>
            <a:ext cx="0" cy="25717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6" name="Line 44"/>
          <p:cNvSpPr>
            <a:spLocks noChangeShapeType="1"/>
          </p:cNvSpPr>
          <p:nvPr/>
        </p:nvSpPr>
        <p:spPr bwMode="auto">
          <a:xfrm flipH="1">
            <a:off x="4800600" y="4872038"/>
            <a:ext cx="0" cy="2381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197" name="Oval 45"/>
          <p:cNvSpPr>
            <a:spLocks noChangeArrowheads="1"/>
          </p:cNvSpPr>
          <p:nvPr/>
        </p:nvSpPr>
        <p:spPr bwMode="auto">
          <a:xfrm>
            <a:off x="2590800" y="5110163"/>
            <a:ext cx="838200" cy="457200"/>
          </a:xfrm>
          <a:prstGeom prst="ellipse">
            <a:avLst/>
          </a:prstGeom>
          <a:solidFill>
            <a:schemeClr val="accent2"/>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98" name="Text Box 46"/>
          <p:cNvSpPr txBox="1">
            <a:spLocks noChangeArrowheads="1"/>
          </p:cNvSpPr>
          <p:nvPr/>
        </p:nvSpPr>
        <p:spPr bwMode="auto">
          <a:xfrm>
            <a:off x="2438400" y="5186363"/>
            <a:ext cx="1143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Temp</a:t>
            </a:r>
          </a:p>
        </p:txBody>
      </p:sp>
      <p:sp>
        <p:nvSpPr>
          <p:cNvPr id="49199" name="Line 47"/>
          <p:cNvSpPr>
            <a:spLocks noChangeShapeType="1"/>
          </p:cNvSpPr>
          <p:nvPr/>
        </p:nvSpPr>
        <p:spPr bwMode="auto">
          <a:xfrm>
            <a:off x="3881438" y="4745038"/>
            <a:ext cx="4762" cy="37465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0" name="Oval 48"/>
          <p:cNvSpPr>
            <a:spLocks noChangeArrowheads="1"/>
          </p:cNvSpPr>
          <p:nvPr/>
        </p:nvSpPr>
        <p:spPr bwMode="auto">
          <a:xfrm>
            <a:off x="3505200" y="5110163"/>
            <a:ext cx="838200" cy="457200"/>
          </a:xfrm>
          <a:prstGeom prst="ellipse">
            <a:avLst/>
          </a:prstGeom>
          <a:solidFill>
            <a:schemeClr val="accent2"/>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01" name="Text Box 49"/>
          <p:cNvSpPr txBox="1">
            <a:spLocks noChangeArrowheads="1"/>
          </p:cNvSpPr>
          <p:nvPr/>
        </p:nvSpPr>
        <p:spPr bwMode="auto">
          <a:xfrm>
            <a:off x="3352800" y="5186363"/>
            <a:ext cx="1143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Volt</a:t>
            </a:r>
          </a:p>
        </p:txBody>
      </p:sp>
      <p:sp>
        <p:nvSpPr>
          <p:cNvPr id="49202" name="Oval 50"/>
          <p:cNvSpPr>
            <a:spLocks noChangeArrowheads="1"/>
          </p:cNvSpPr>
          <p:nvPr/>
        </p:nvSpPr>
        <p:spPr bwMode="auto">
          <a:xfrm>
            <a:off x="4419600" y="5110163"/>
            <a:ext cx="838200" cy="457200"/>
          </a:xfrm>
          <a:prstGeom prst="ellipse">
            <a:avLst/>
          </a:prstGeom>
          <a:solidFill>
            <a:schemeClr val="accent2"/>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03" name="Text Box 51"/>
          <p:cNvSpPr txBox="1">
            <a:spLocks noChangeArrowheads="1"/>
          </p:cNvSpPr>
          <p:nvPr/>
        </p:nvSpPr>
        <p:spPr bwMode="auto">
          <a:xfrm>
            <a:off x="4495800" y="518636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Ext</a:t>
            </a:r>
            <a:r>
              <a:rPr lang="en-US" altLang="en-US" sz="1400" b="1">
                <a:latin typeface="Tahoma" panose="020B0604030504040204" pitchFamily="34" charset="0"/>
              </a:rPr>
              <a:t>.</a:t>
            </a:r>
          </a:p>
        </p:txBody>
      </p:sp>
      <p:sp>
        <p:nvSpPr>
          <p:cNvPr id="49204" name="Line 52"/>
          <p:cNvSpPr>
            <a:spLocks noChangeShapeType="1"/>
          </p:cNvSpPr>
          <p:nvPr/>
        </p:nvSpPr>
        <p:spPr bwMode="auto">
          <a:xfrm>
            <a:off x="7105650" y="4724400"/>
            <a:ext cx="0" cy="38100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5" name="Oval 53"/>
          <p:cNvSpPr>
            <a:spLocks noChangeArrowheads="1"/>
          </p:cNvSpPr>
          <p:nvPr/>
        </p:nvSpPr>
        <p:spPr bwMode="auto">
          <a:xfrm>
            <a:off x="6572250" y="5105400"/>
            <a:ext cx="1143000" cy="457200"/>
          </a:xfrm>
          <a:prstGeom prst="ellipse">
            <a:avLst/>
          </a:prstGeom>
          <a:solidFill>
            <a:schemeClr val="accent2"/>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06" name="Text Box 54"/>
          <p:cNvSpPr txBox="1">
            <a:spLocks noChangeArrowheads="1"/>
          </p:cNvSpPr>
          <p:nvPr/>
        </p:nvSpPr>
        <p:spPr bwMode="auto">
          <a:xfrm>
            <a:off x="6572250" y="5181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400" b="1">
                <a:latin typeface="Tahoma" panose="020B0604030504040204" pitchFamily="34" charset="0"/>
              </a:rPr>
              <a:t>Input</a:t>
            </a:r>
          </a:p>
        </p:txBody>
      </p:sp>
      <p:sp>
        <p:nvSpPr>
          <p:cNvPr id="49207" name="Line 55"/>
          <p:cNvSpPr>
            <a:spLocks noChangeShapeType="1"/>
          </p:cNvSpPr>
          <p:nvPr/>
        </p:nvSpPr>
        <p:spPr bwMode="auto">
          <a:xfrm>
            <a:off x="6257925" y="5700713"/>
            <a:ext cx="18288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08" name="Line 56"/>
          <p:cNvSpPr>
            <a:spLocks noChangeShapeType="1"/>
          </p:cNvSpPr>
          <p:nvPr/>
        </p:nvSpPr>
        <p:spPr bwMode="auto">
          <a:xfrm>
            <a:off x="6257925" y="5695950"/>
            <a:ext cx="0" cy="25717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09" name="Line 57"/>
          <p:cNvSpPr>
            <a:spLocks noChangeShapeType="1"/>
          </p:cNvSpPr>
          <p:nvPr/>
        </p:nvSpPr>
        <p:spPr bwMode="auto">
          <a:xfrm>
            <a:off x="8086725" y="5695950"/>
            <a:ext cx="0" cy="25717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10" name="Oval 58"/>
          <p:cNvSpPr>
            <a:spLocks noChangeArrowheads="1"/>
          </p:cNvSpPr>
          <p:nvPr/>
        </p:nvSpPr>
        <p:spPr bwMode="auto">
          <a:xfrm>
            <a:off x="5876925" y="5953125"/>
            <a:ext cx="838200" cy="457200"/>
          </a:xfrm>
          <a:prstGeom prst="ellipse">
            <a:avLst/>
          </a:prstGeom>
          <a:solidFill>
            <a:srgbClr val="FF0000"/>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11" name="Text Box 59"/>
          <p:cNvSpPr txBox="1">
            <a:spLocks noChangeArrowheads="1"/>
          </p:cNvSpPr>
          <p:nvPr/>
        </p:nvSpPr>
        <p:spPr bwMode="auto">
          <a:xfrm>
            <a:off x="5724525" y="6029325"/>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Data</a:t>
            </a:r>
          </a:p>
        </p:txBody>
      </p:sp>
      <p:sp>
        <p:nvSpPr>
          <p:cNvPr id="49212" name="Line 60"/>
          <p:cNvSpPr>
            <a:spLocks noChangeShapeType="1"/>
          </p:cNvSpPr>
          <p:nvPr/>
        </p:nvSpPr>
        <p:spPr bwMode="auto">
          <a:xfrm>
            <a:off x="7172325" y="5572125"/>
            <a:ext cx="0" cy="38100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13" name="Oval 61"/>
          <p:cNvSpPr>
            <a:spLocks noChangeArrowheads="1"/>
          </p:cNvSpPr>
          <p:nvPr/>
        </p:nvSpPr>
        <p:spPr bwMode="auto">
          <a:xfrm>
            <a:off x="6791325" y="5953125"/>
            <a:ext cx="838200" cy="457200"/>
          </a:xfrm>
          <a:prstGeom prst="ellipse">
            <a:avLst/>
          </a:prstGeom>
          <a:solidFill>
            <a:srgbClr val="FF0000"/>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14" name="Text Box 62"/>
          <p:cNvSpPr txBox="1">
            <a:spLocks noChangeArrowheads="1"/>
          </p:cNvSpPr>
          <p:nvPr/>
        </p:nvSpPr>
        <p:spPr bwMode="auto">
          <a:xfrm>
            <a:off x="6638925" y="6029325"/>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Instruction</a:t>
            </a:r>
          </a:p>
        </p:txBody>
      </p:sp>
      <p:sp>
        <p:nvSpPr>
          <p:cNvPr id="49215" name="Oval 63"/>
          <p:cNvSpPr>
            <a:spLocks noChangeArrowheads="1"/>
          </p:cNvSpPr>
          <p:nvPr/>
        </p:nvSpPr>
        <p:spPr bwMode="auto">
          <a:xfrm>
            <a:off x="7705725" y="5953125"/>
            <a:ext cx="838200" cy="457200"/>
          </a:xfrm>
          <a:prstGeom prst="ellipse">
            <a:avLst/>
          </a:prstGeom>
          <a:solidFill>
            <a:srgbClr val="FF0000"/>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16" name="Text Box 64"/>
          <p:cNvSpPr txBox="1">
            <a:spLocks noChangeArrowheads="1"/>
          </p:cNvSpPr>
          <p:nvPr/>
        </p:nvSpPr>
        <p:spPr bwMode="auto">
          <a:xfrm>
            <a:off x="7629525" y="6029325"/>
            <a:ext cx="990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Interrupt</a:t>
            </a:r>
          </a:p>
        </p:txBody>
      </p:sp>
      <p:grpSp>
        <p:nvGrpSpPr>
          <p:cNvPr id="49217" name="Group 65"/>
          <p:cNvGrpSpPr>
            <a:grpSpLocks/>
          </p:cNvGrpSpPr>
          <p:nvPr/>
        </p:nvGrpSpPr>
        <p:grpSpPr bwMode="auto">
          <a:xfrm>
            <a:off x="2157413" y="1028700"/>
            <a:ext cx="2133600" cy="622300"/>
            <a:chOff x="3671" y="1064"/>
            <a:chExt cx="1344" cy="392"/>
          </a:xfrm>
        </p:grpSpPr>
        <p:sp>
          <p:nvSpPr>
            <p:cNvPr id="49219" name="Rectangle 66"/>
            <p:cNvSpPr>
              <a:spLocks noChangeArrowheads="1"/>
            </p:cNvSpPr>
            <p:nvPr/>
          </p:nvSpPr>
          <p:spPr bwMode="auto">
            <a:xfrm>
              <a:off x="3680" y="1064"/>
              <a:ext cx="1328" cy="392"/>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220" name="Text Box 67"/>
            <p:cNvSpPr txBox="1">
              <a:spLocks noChangeArrowheads="1"/>
            </p:cNvSpPr>
            <p:nvPr/>
          </p:nvSpPr>
          <p:spPr bwMode="auto">
            <a:xfrm>
              <a:off x="3671" y="1079"/>
              <a:ext cx="13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Activation</a:t>
              </a:r>
              <a:r>
                <a:rPr lang="en-US" altLang="en-US" sz="1400" b="1">
                  <a:latin typeface="Tahoma" panose="020B0604030504040204" pitchFamily="34" charset="0"/>
                </a:rPr>
                <a:t> Characteristics</a:t>
              </a:r>
            </a:p>
          </p:txBody>
        </p:sp>
      </p:grpSp>
      <p:sp>
        <p:nvSpPr>
          <p:cNvPr id="49218"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F64AFBFF-481D-4A42-B3AF-6D928AC64BF6}" type="slidenum">
              <a:rPr lang="en-US" altLang="en-US" sz="1200"/>
              <a:pPr algn="r" eaLnBrk="1" hangingPunct="1">
                <a:spcBef>
                  <a:spcPct val="0"/>
                </a:spcBef>
                <a:buClrTx/>
                <a:buSzTx/>
                <a:buFontTx/>
                <a:buNone/>
              </a:pPr>
              <a:t>27</a:t>
            </a:fld>
            <a:endParaRPr lang="en-US" altLang="en-US" sz="1200"/>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33400" y="76200"/>
            <a:ext cx="8229600" cy="685800"/>
          </a:xfrm>
        </p:spPr>
        <p:txBody>
          <a:bodyPr/>
          <a:lstStyle/>
          <a:p>
            <a:pPr eaLnBrk="1" hangingPunct="1"/>
            <a:r>
              <a:rPr lang="en-US" altLang="en-US" b="1"/>
              <a:t>Activation: Internally Activated</a:t>
            </a:r>
          </a:p>
        </p:txBody>
      </p:sp>
      <p:sp>
        <p:nvSpPr>
          <p:cNvPr id="51203" name="Line 3"/>
          <p:cNvSpPr>
            <a:spLocks noChangeShapeType="1"/>
          </p:cNvSpPr>
          <p:nvPr/>
        </p:nvSpPr>
        <p:spPr bwMode="auto">
          <a:xfrm>
            <a:off x="7061200" y="4897438"/>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4" name="Line 4"/>
          <p:cNvSpPr>
            <a:spLocks noChangeShapeType="1"/>
          </p:cNvSpPr>
          <p:nvPr/>
        </p:nvSpPr>
        <p:spPr bwMode="auto">
          <a:xfrm>
            <a:off x="7899400" y="5354638"/>
            <a:ext cx="393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5" name="AutoShape 5"/>
          <p:cNvSpPr>
            <a:spLocks noChangeArrowheads="1"/>
          </p:cNvSpPr>
          <p:nvPr/>
        </p:nvSpPr>
        <p:spPr bwMode="auto">
          <a:xfrm>
            <a:off x="5805488" y="4135438"/>
            <a:ext cx="358775" cy="500062"/>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06" name="AutoShape 6"/>
          <p:cNvSpPr>
            <a:spLocks noChangeArrowheads="1"/>
          </p:cNvSpPr>
          <p:nvPr/>
        </p:nvSpPr>
        <p:spPr bwMode="auto">
          <a:xfrm>
            <a:off x="5803900" y="5181600"/>
            <a:ext cx="358775"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07" name="AutoShape 7"/>
          <p:cNvSpPr>
            <a:spLocks noChangeArrowheads="1"/>
          </p:cNvSpPr>
          <p:nvPr/>
        </p:nvSpPr>
        <p:spPr bwMode="auto">
          <a:xfrm>
            <a:off x="4875213" y="4673600"/>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08" name="Line 8"/>
          <p:cNvSpPr>
            <a:spLocks noChangeShapeType="1"/>
          </p:cNvSpPr>
          <p:nvPr/>
        </p:nvSpPr>
        <p:spPr bwMode="auto">
          <a:xfrm flipH="1">
            <a:off x="4106863" y="4799013"/>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09" name="Line 9"/>
          <p:cNvSpPr>
            <a:spLocks noChangeShapeType="1"/>
          </p:cNvSpPr>
          <p:nvPr/>
        </p:nvSpPr>
        <p:spPr bwMode="auto">
          <a:xfrm flipH="1">
            <a:off x="4103688" y="5029200"/>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0" name="Line 10"/>
          <p:cNvSpPr>
            <a:spLocks noChangeShapeType="1"/>
          </p:cNvSpPr>
          <p:nvPr/>
        </p:nvSpPr>
        <p:spPr bwMode="auto">
          <a:xfrm>
            <a:off x="5248275" y="4938713"/>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1" name="Line 11"/>
          <p:cNvSpPr>
            <a:spLocks noChangeShapeType="1"/>
          </p:cNvSpPr>
          <p:nvPr/>
        </p:nvSpPr>
        <p:spPr bwMode="auto">
          <a:xfrm flipV="1">
            <a:off x="5522913" y="4522788"/>
            <a:ext cx="0" cy="4127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2" name="Line 12"/>
          <p:cNvSpPr>
            <a:spLocks noChangeShapeType="1"/>
          </p:cNvSpPr>
          <p:nvPr/>
        </p:nvSpPr>
        <p:spPr bwMode="auto">
          <a:xfrm>
            <a:off x="5522913" y="4532313"/>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3" name="Line 13"/>
          <p:cNvSpPr>
            <a:spLocks noChangeShapeType="1"/>
          </p:cNvSpPr>
          <p:nvPr/>
        </p:nvSpPr>
        <p:spPr bwMode="auto">
          <a:xfrm flipH="1">
            <a:off x="4089400" y="4305300"/>
            <a:ext cx="170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4" name="Line 14"/>
          <p:cNvSpPr>
            <a:spLocks noChangeShapeType="1"/>
          </p:cNvSpPr>
          <p:nvPr/>
        </p:nvSpPr>
        <p:spPr bwMode="auto">
          <a:xfrm flipV="1">
            <a:off x="5521325" y="4932363"/>
            <a:ext cx="0" cy="414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5" name="Line 15"/>
          <p:cNvSpPr>
            <a:spLocks noChangeShapeType="1"/>
          </p:cNvSpPr>
          <p:nvPr/>
        </p:nvSpPr>
        <p:spPr bwMode="auto">
          <a:xfrm>
            <a:off x="5519738" y="5346700"/>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6" name="Line 16"/>
          <p:cNvSpPr>
            <a:spLocks noChangeShapeType="1"/>
          </p:cNvSpPr>
          <p:nvPr/>
        </p:nvSpPr>
        <p:spPr bwMode="auto">
          <a:xfrm flipH="1">
            <a:off x="4106863" y="5576888"/>
            <a:ext cx="1703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7" name="Line 17"/>
          <p:cNvSpPr>
            <a:spLocks noChangeShapeType="1"/>
          </p:cNvSpPr>
          <p:nvPr/>
        </p:nvSpPr>
        <p:spPr bwMode="auto">
          <a:xfrm flipV="1">
            <a:off x="6426200" y="4378325"/>
            <a:ext cx="0" cy="4143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8" name="Line 18"/>
          <p:cNvSpPr>
            <a:spLocks noChangeShapeType="1"/>
          </p:cNvSpPr>
          <p:nvPr/>
        </p:nvSpPr>
        <p:spPr bwMode="auto">
          <a:xfrm>
            <a:off x="6164263" y="4392613"/>
            <a:ext cx="274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9" name="Line 19"/>
          <p:cNvSpPr>
            <a:spLocks noChangeShapeType="1"/>
          </p:cNvSpPr>
          <p:nvPr/>
        </p:nvSpPr>
        <p:spPr bwMode="auto">
          <a:xfrm>
            <a:off x="6410325" y="4792663"/>
            <a:ext cx="411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0" name="Line 20"/>
          <p:cNvSpPr>
            <a:spLocks noChangeShapeType="1"/>
          </p:cNvSpPr>
          <p:nvPr/>
        </p:nvSpPr>
        <p:spPr bwMode="auto">
          <a:xfrm>
            <a:off x="6418263" y="5008563"/>
            <a:ext cx="412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1" name="Line 21"/>
          <p:cNvSpPr>
            <a:spLocks noChangeShapeType="1"/>
          </p:cNvSpPr>
          <p:nvPr/>
        </p:nvSpPr>
        <p:spPr bwMode="auto">
          <a:xfrm flipV="1">
            <a:off x="6426200" y="5010150"/>
            <a:ext cx="0" cy="442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2" name="Line 22"/>
          <p:cNvSpPr>
            <a:spLocks noChangeShapeType="1"/>
          </p:cNvSpPr>
          <p:nvPr/>
        </p:nvSpPr>
        <p:spPr bwMode="auto">
          <a:xfrm flipV="1">
            <a:off x="6175375" y="5448300"/>
            <a:ext cx="1377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3" name="Line 23"/>
          <p:cNvSpPr>
            <a:spLocks noChangeShapeType="1"/>
          </p:cNvSpPr>
          <p:nvPr/>
        </p:nvSpPr>
        <p:spPr bwMode="auto">
          <a:xfrm flipV="1">
            <a:off x="7337425" y="5214938"/>
            <a:ext cx="212725"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4" name="Line 24"/>
          <p:cNvSpPr>
            <a:spLocks noChangeShapeType="1"/>
          </p:cNvSpPr>
          <p:nvPr/>
        </p:nvSpPr>
        <p:spPr bwMode="auto">
          <a:xfrm flipV="1">
            <a:off x="7343775" y="4899025"/>
            <a:ext cx="0" cy="320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5" name="AutoShape 25"/>
          <p:cNvSpPr>
            <a:spLocks noChangeArrowheads="1"/>
          </p:cNvSpPr>
          <p:nvPr/>
        </p:nvSpPr>
        <p:spPr bwMode="auto">
          <a:xfrm rot="10800000">
            <a:off x="6637338" y="4654550"/>
            <a:ext cx="471487" cy="500063"/>
          </a:xfrm>
          <a:prstGeom prst="moon">
            <a:avLst>
              <a:gd name="adj" fmla="val 78870"/>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26" name="Oval 26"/>
          <p:cNvSpPr>
            <a:spLocks noChangeArrowheads="1"/>
          </p:cNvSpPr>
          <p:nvPr/>
        </p:nvSpPr>
        <p:spPr bwMode="auto">
          <a:xfrm>
            <a:off x="6146800" y="5430838"/>
            <a:ext cx="76200"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27" name="Text Box 27"/>
          <p:cNvSpPr txBox="1">
            <a:spLocks noChangeArrowheads="1"/>
          </p:cNvSpPr>
          <p:nvPr/>
        </p:nvSpPr>
        <p:spPr bwMode="auto">
          <a:xfrm>
            <a:off x="4165600" y="39830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a</a:t>
            </a:r>
          </a:p>
        </p:txBody>
      </p:sp>
      <p:sp>
        <p:nvSpPr>
          <p:cNvPr id="51228" name="Text Box 28"/>
          <p:cNvSpPr txBox="1">
            <a:spLocks noChangeArrowheads="1"/>
          </p:cNvSpPr>
          <p:nvPr/>
        </p:nvSpPr>
        <p:spPr bwMode="auto">
          <a:xfrm>
            <a:off x="4241800" y="45164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b</a:t>
            </a:r>
          </a:p>
        </p:txBody>
      </p:sp>
      <p:sp>
        <p:nvSpPr>
          <p:cNvPr id="51229" name="Text Box 29"/>
          <p:cNvSpPr txBox="1">
            <a:spLocks noChangeArrowheads="1"/>
          </p:cNvSpPr>
          <p:nvPr/>
        </p:nvSpPr>
        <p:spPr bwMode="auto">
          <a:xfrm>
            <a:off x="4241800" y="48974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c</a:t>
            </a:r>
          </a:p>
        </p:txBody>
      </p:sp>
      <p:sp>
        <p:nvSpPr>
          <p:cNvPr id="51230" name="Text Box 30"/>
          <p:cNvSpPr txBox="1">
            <a:spLocks noChangeArrowheads="1"/>
          </p:cNvSpPr>
          <p:nvPr/>
        </p:nvSpPr>
        <p:spPr bwMode="auto">
          <a:xfrm>
            <a:off x="4241800" y="52784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d</a:t>
            </a:r>
          </a:p>
        </p:txBody>
      </p:sp>
      <p:sp>
        <p:nvSpPr>
          <p:cNvPr id="51231" name="Text Box 31"/>
          <p:cNvSpPr txBox="1">
            <a:spLocks noChangeArrowheads="1"/>
          </p:cNvSpPr>
          <p:nvPr/>
        </p:nvSpPr>
        <p:spPr bwMode="auto">
          <a:xfrm>
            <a:off x="6146800" y="40592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e</a:t>
            </a:r>
          </a:p>
        </p:txBody>
      </p:sp>
      <p:sp>
        <p:nvSpPr>
          <p:cNvPr id="51232" name="Text Box 32"/>
          <p:cNvSpPr txBox="1">
            <a:spLocks noChangeArrowheads="1"/>
          </p:cNvSpPr>
          <p:nvPr/>
        </p:nvSpPr>
        <p:spPr bwMode="auto">
          <a:xfrm>
            <a:off x="5232400" y="45926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f</a:t>
            </a:r>
          </a:p>
        </p:txBody>
      </p:sp>
      <p:sp>
        <p:nvSpPr>
          <p:cNvPr id="51233" name="Text Box 33"/>
          <p:cNvSpPr txBox="1">
            <a:spLocks noChangeArrowheads="1"/>
          </p:cNvSpPr>
          <p:nvPr/>
        </p:nvSpPr>
        <p:spPr bwMode="auto">
          <a:xfrm>
            <a:off x="6146800" y="53546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g</a:t>
            </a:r>
          </a:p>
        </p:txBody>
      </p:sp>
      <p:sp>
        <p:nvSpPr>
          <p:cNvPr id="51234" name="Text Box 34"/>
          <p:cNvSpPr txBox="1">
            <a:spLocks noChangeArrowheads="1"/>
          </p:cNvSpPr>
          <p:nvPr/>
        </p:nvSpPr>
        <p:spPr bwMode="auto">
          <a:xfrm>
            <a:off x="7137400" y="536892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h</a:t>
            </a:r>
          </a:p>
        </p:txBody>
      </p:sp>
      <p:sp>
        <p:nvSpPr>
          <p:cNvPr id="51235" name="Text Box 35"/>
          <p:cNvSpPr txBox="1">
            <a:spLocks noChangeArrowheads="1"/>
          </p:cNvSpPr>
          <p:nvPr/>
        </p:nvSpPr>
        <p:spPr bwMode="auto">
          <a:xfrm>
            <a:off x="6375400" y="498792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i</a:t>
            </a:r>
          </a:p>
        </p:txBody>
      </p:sp>
      <p:sp>
        <p:nvSpPr>
          <p:cNvPr id="51236" name="Text Box 36"/>
          <p:cNvSpPr txBox="1">
            <a:spLocks noChangeArrowheads="1"/>
          </p:cNvSpPr>
          <p:nvPr/>
        </p:nvSpPr>
        <p:spPr bwMode="auto">
          <a:xfrm>
            <a:off x="7137400" y="45164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j</a:t>
            </a:r>
          </a:p>
        </p:txBody>
      </p:sp>
      <p:sp>
        <p:nvSpPr>
          <p:cNvPr id="51237" name="Text Box 37"/>
          <p:cNvSpPr txBox="1">
            <a:spLocks noChangeArrowheads="1"/>
          </p:cNvSpPr>
          <p:nvPr/>
        </p:nvSpPr>
        <p:spPr bwMode="auto">
          <a:xfrm>
            <a:off x="8051800" y="497363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k</a:t>
            </a:r>
          </a:p>
        </p:txBody>
      </p:sp>
      <p:sp>
        <p:nvSpPr>
          <p:cNvPr id="51238" name="AutoShape 38"/>
          <p:cNvSpPr>
            <a:spLocks noChangeArrowheads="1"/>
          </p:cNvSpPr>
          <p:nvPr/>
        </p:nvSpPr>
        <p:spPr bwMode="auto">
          <a:xfrm>
            <a:off x="6146800" y="5811838"/>
            <a:ext cx="360363" cy="500062"/>
          </a:xfrm>
          <a:prstGeom prst="flowChartDelay">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39" name="Line 39"/>
          <p:cNvSpPr>
            <a:spLocks noChangeShapeType="1"/>
          </p:cNvSpPr>
          <p:nvPr/>
        </p:nvSpPr>
        <p:spPr bwMode="auto">
          <a:xfrm flipH="1">
            <a:off x="5080000" y="6192838"/>
            <a:ext cx="10668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0" name="Line 40"/>
          <p:cNvSpPr>
            <a:spLocks noChangeShapeType="1"/>
          </p:cNvSpPr>
          <p:nvPr/>
        </p:nvSpPr>
        <p:spPr bwMode="auto">
          <a:xfrm flipV="1">
            <a:off x="5080000" y="5583238"/>
            <a:ext cx="0" cy="6096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1" name="Line 41"/>
          <p:cNvSpPr>
            <a:spLocks noChangeShapeType="1"/>
          </p:cNvSpPr>
          <p:nvPr/>
        </p:nvSpPr>
        <p:spPr bwMode="auto">
          <a:xfrm flipV="1">
            <a:off x="5613400" y="5354638"/>
            <a:ext cx="0" cy="5334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2" name="Line 42"/>
          <p:cNvSpPr>
            <a:spLocks noChangeShapeType="1"/>
          </p:cNvSpPr>
          <p:nvPr/>
        </p:nvSpPr>
        <p:spPr bwMode="auto">
          <a:xfrm>
            <a:off x="5613400" y="5888038"/>
            <a:ext cx="5334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3" name="Line 43"/>
          <p:cNvSpPr>
            <a:spLocks noChangeShapeType="1"/>
          </p:cNvSpPr>
          <p:nvPr/>
        </p:nvSpPr>
        <p:spPr bwMode="auto">
          <a:xfrm>
            <a:off x="6527800" y="6040438"/>
            <a:ext cx="3810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4" name="AutoShape 44"/>
          <p:cNvSpPr>
            <a:spLocks noChangeArrowheads="1"/>
          </p:cNvSpPr>
          <p:nvPr/>
        </p:nvSpPr>
        <p:spPr bwMode="auto">
          <a:xfrm>
            <a:off x="7551738" y="5076825"/>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45" name="Text Box 45"/>
          <p:cNvSpPr txBox="1">
            <a:spLocks noChangeArrowheads="1"/>
          </p:cNvSpPr>
          <p:nvPr/>
        </p:nvSpPr>
        <p:spPr bwMode="auto">
          <a:xfrm>
            <a:off x="3679825" y="5967413"/>
            <a:ext cx="1323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solidFill>
                  <a:srgbClr val="FF0000"/>
                </a:solidFill>
                <a:latin typeface="Tahoma" panose="020B0604030504040204" pitchFamily="34" charset="0"/>
              </a:rPr>
              <a:t>Trojan</a:t>
            </a:r>
          </a:p>
        </p:txBody>
      </p:sp>
      <p:sp>
        <p:nvSpPr>
          <p:cNvPr id="51246" name="Line 46"/>
          <p:cNvSpPr>
            <a:spLocks noChangeShapeType="1"/>
          </p:cNvSpPr>
          <p:nvPr/>
        </p:nvSpPr>
        <p:spPr bwMode="auto">
          <a:xfrm>
            <a:off x="4029075" y="2170113"/>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47" name="Line 47"/>
          <p:cNvSpPr>
            <a:spLocks noChangeShapeType="1"/>
          </p:cNvSpPr>
          <p:nvPr/>
        </p:nvSpPr>
        <p:spPr bwMode="auto">
          <a:xfrm>
            <a:off x="4867275" y="2627313"/>
            <a:ext cx="393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48" name="AutoShape 48"/>
          <p:cNvSpPr>
            <a:spLocks noChangeArrowheads="1"/>
          </p:cNvSpPr>
          <p:nvPr/>
        </p:nvSpPr>
        <p:spPr bwMode="auto">
          <a:xfrm>
            <a:off x="2773363" y="1408113"/>
            <a:ext cx="358775" cy="500062"/>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49" name="AutoShape 49"/>
          <p:cNvSpPr>
            <a:spLocks noChangeArrowheads="1"/>
          </p:cNvSpPr>
          <p:nvPr/>
        </p:nvSpPr>
        <p:spPr bwMode="auto">
          <a:xfrm>
            <a:off x="2771775" y="2454275"/>
            <a:ext cx="358775"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50" name="AutoShape 50"/>
          <p:cNvSpPr>
            <a:spLocks noChangeArrowheads="1"/>
          </p:cNvSpPr>
          <p:nvPr/>
        </p:nvSpPr>
        <p:spPr bwMode="auto">
          <a:xfrm>
            <a:off x="1843088" y="1946275"/>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51" name="Line 51"/>
          <p:cNvSpPr>
            <a:spLocks noChangeShapeType="1"/>
          </p:cNvSpPr>
          <p:nvPr/>
        </p:nvSpPr>
        <p:spPr bwMode="auto">
          <a:xfrm flipH="1">
            <a:off x="1074738" y="2071688"/>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2" name="Line 52"/>
          <p:cNvSpPr>
            <a:spLocks noChangeShapeType="1"/>
          </p:cNvSpPr>
          <p:nvPr/>
        </p:nvSpPr>
        <p:spPr bwMode="auto">
          <a:xfrm flipH="1">
            <a:off x="1071563" y="2301875"/>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3" name="Line 53"/>
          <p:cNvSpPr>
            <a:spLocks noChangeShapeType="1"/>
          </p:cNvSpPr>
          <p:nvPr/>
        </p:nvSpPr>
        <p:spPr bwMode="auto">
          <a:xfrm>
            <a:off x="2216150" y="2211388"/>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4" name="Line 54"/>
          <p:cNvSpPr>
            <a:spLocks noChangeShapeType="1"/>
          </p:cNvSpPr>
          <p:nvPr/>
        </p:nvSpPr>
        <p:spPr bwMode="auto">
          <a:xfrm flipV="1">
            <a:off x="2490788" y="1795463"/>
            <a:ext cx="0" cy="4127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5" name="Line 55"/>
          <p:cNvSpPr>
            <a:spLocks noChangeShapeType="1"/>
          </p:cNvSpPr>
          <p:nvPr/>
        </p:nvSpPr>
        <p:spPr bwMode="auto">
          <a:xfrm>
            <a:off x="2490788" y="1804988"/>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6" name="Line 56"/>
          <p:cNvSpPr>
            <a:spLocks noChangeShapeType="1"/>
          </p:cNvSpPr>
          <p:nvPr/>
        </p:nvSpPr>
        <p:spPr bwMode="auto">
          <a:xfrm flipH="1">
            <a:off x="1057275" y="1577975"/>
            <a:ext cx="170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7" name="Line 57"/>
          <p:cNvSpPr>
            <a:spLocks noChangeShapeType="1"/>
          </p:cNvSpPr>
          <p:nvPr/>
        </p:nvSpPr>
        <p:spPr bwMode="auto">
          <a:xfrm flipV="1">
            <a:off x="2489200" y="2205038"/>
            <a:ext cx="0" cy="414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8" name="Line 58"/>
          <p:cNvSpPr>
            <a:spLocks noChangeShapeType="1"/>
          </p:cNvSpPr>
          <p:nvPr/>
        </p:nvSpPr>
        <p:spPr bwMode="auto">
          <a:xfrm>
            <a:off x="2487613" y="2619375"/>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59" name="Line 59"/>
          <p:cNvSpPr>
            <a:spLocks noChangeShapeType="1"/>
          </p:cNvSpPr>
          <p:nvPr/>
        </p:nvSpPr>
        <p:spPr bwMode="auto">
          <a:xfrm flipH="1">
            <a:off x="1074738" y="2849563"/>
            <a:ext cx="1703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0" name="Line 60"/>
          <p:cNvSpPr>
            <a:spLocks noChangeShapeType="1"/>
          </p:cNvSpPr>
          <p:nvPr/>
        </p:nvSpPr>
        <p:spPr bwMode="auto">
          <a:xfrm flipV="1">
            <a:off x="3394075" y="1651000"/>
            <a:ext cx="0" cy="4143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1" name="Line 61"/>
          <p:cNvSpPr>
            <a:spLocks noChangeShapeType="1"/>
          </p:cNvSpPr>
          <p:nvPr/>
        </p:nvSpPr>
        <p:spPr bwMode="auto">
          <a:xfrm>
            <a:off x="3132138" y="1665288"/>
            <a:ext cx="274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2" name="Line 62"/>
          <p:cNvSpPr>
            <a:spLocks noChangeShapeType="1"/>
          </p:cNvSpPr>
          <p:nvPr/>
        </p:nvSpPr>
        <p:spPr bwMode="auto">
          <a:xfrm>
            <a:off x="3378200" y="2065338"/>
            <a:ext cx="411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3" name="Line 63"/>
          <p:cNvSpPr>
            <a:spLocks noChangeShapeType="1"/>
          </p:cNvSpPr>
          <p:nvPr/>
        </p:nvSpPr>
        <p:spPr bwMode="auto">
          <a:xfrm>
            <a:off x="3386138" y="2281238"/>
            <a:ext cx="412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4" name="Line 64"/>
          <p:cNvSpPr>
            <a:spLocks noChangeShapeType="1"/>
          </p:cNvSpPr>
          <p:nvPr/>
        </p:nvSpPr>
        <p:spPr bwMode="auto">
          <a:xfrm flipV="1">
            <a:off x="3394075" y="2282825"/>
            <a:ext cx="0" cy="442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5" name="Line 65"/>
          <p:cNvSpPr>
            <a:spLocks noChangeShapeType="1"/>
          </p:cNvSpPr>
          <p:nvPr/>
        </p:nvSpPr>
        <p:spPr bwMode="auto">
          <a:xfrm flipV="1">
            <a:off x="3143250" y="2720975"/>
            <a:ext cx="1377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6" name="Line 66"/>
          <p:cNvSpPr>
            <a:spLocks noChangeShapeType="1"/>
          </p:cNvSpPr>
          <p:nvPr/>
        </p:nvSpPr>
        <p:spPr bwMode="auto">
          <a:xfrm flipV="1">
            <a:off x="4305300" y="2487613"/>
            <a:ext cx="212725"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7" name="Line 67"/>
          <p:cNvSpPr>
            <a:spLocks noChangeShapeType="1"/>
          </p:cNvSpPr>
          <p:nvPr/>
        </p:nvSpPr>
        <p:spPr bwMode="auto">
          <a:xfrm flipV="1">
            <a:off x="4311650" y="2171700"/>
            <a:ext cx="0" cy="320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68" name="AutoShape 68"/>
          <p:cNvSpPr>
            <a:spLocks noChangeArrowheads="1"/>
          </p:cNvSpPr>
          <p:nvPr/>
        </p:nvSpPr>
        <p:spPr bwMode="auto">
          <a:xfrm rot="10800000">
            <a:off x="3605213" y="1927225"/>
            <a:ext cx="471487" cy="500063"/>
          </a:xfrm>
          <a:prstGeom prst="moon">
            <a:avLst>
              <a:gd name="adj" fmla="val 78870"/>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69" name="Oval 69"/>
          <p:cNvSpPr>
            <a:spLocks noChangeArrowheads="1"/>
          </p:cNvSpPr>
          <p:nvPr/>
        </p:nvSpPr>
        <p:spPr bwMode="auto">
          <a:xfrm>
            <a:off x="3114675" y="2703513"/>
            <a:ext cx="76200"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70" name="Text Box 70"/>
          <p:cNvSpPr txBox="1">
            <a:spLocks noChangeArrowheads="1"/>
          </p:cNvSpPr>
          <p:nvPr/>
        </p:nvSpPr>
        <p:spPr bwMode="auto">
          <a:xfrm>
            <a:off x="1133475" y="12557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a</a:t>
            </a:r>
          </a:p>
        </p:txBody>
      </p:sp>
      <p:sp>
        <p:nvSpPr>
          <p:cNvPr id="51271" name="Text Box 71"/>
          <p:cNvSpPr txBox="1">
            <a:spLocks noChangeArrowheads="1"/>
          </p:cNvSpPr>
          <p:nvPr/>
        </p:nvSpPr>
        <p:spPr bwMode="auto">
          <a:xfrm>
            <a:off x="1209675" y="17891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b</a:t>
            </a:r>
          </a:p>
        </p:txBody>
      </p:sp>
      <p:sp>
        <p:nvSpPr>
          <p:cNvPr id="51272" name="Text Box 72"/>
          <p:cNvSpPr txBox="1">
            <a:spLocks noChangeArrowheads="1"/>
          </p:cNvSpPr>
          <p:nvPr/>
        </p:nvSpPr>
        <p:spPr bwMode="auto">
          <a:xfrm>
            <a:off x="1209675" y="21701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c</a:t>
            </a:r>
          </a:p>
        </p:txBody>
      </p:sp>
      <p:sp>
        <p:nvSpPr>
          <p:cNvPr id="51273" name="Text Box 73"/>
          <p:cNvSpPr txBox="1">
            <a:spLocks noChangeArrowheads="1"/>
          </p:cNvSpPr>
          <p:nvPr/>
        </p:nvSpPr>
        <p:spPr bwMode="auto">
          <a:xfrm>
            <a:off x="1209675" y="25511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d</a:t>
            </a:r>
          </a:p>
        </p:txBody>
      </p:sp>
      <p:sp>
        <p:nvSpPr>
          <p:cNvPr id="51274" name="Text Box 74"/>
          <p:cNvSpPr txBox="1">
            <a:spLocks noChangeArrowheads="1"/>
          </p:cNvSpPr>
          <p:nvPr/>
        </p:nvSpPr>
        <p:spPr bwMode="auto">
          <a:xfrm>
            <a:off x="3114675" y="13319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e</a:t>
            </a:r>
          </a:p>
        </p:txBody>
      </p:sp>
      <p:sp>
        <p:nvSpPr>
          <p:cNvPr id="51275" name="Text Box 75"/>
          <p:cNvSpPr txBox="1">
            <a:spLocks noChangeArrowheads="1"/>
          </p:cNvSpPr>
          <p:nvPr/>
        </p:nvSpPr>
        <p:spPr bwMode="auto">
          <a:xfrm>
            <a:off x="2200275" y="18653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f</a:t>
            </a:r>
          </a:p>
        </p:txBody>
      </p:sp>
      <p:sp>
        <p:nvSpPr>
          <p:cNvPr id="51276" name="Text Box 76"/>
          <p:cNvSpPr txBox="1">
            <a:spLocks noChangeArrowheads="1"/>
          </p:cNvSpPr>
          <p:nvPr/>
        </p:nvSpPr>
        <p:spPr bwMode="auto">
          <a:xfrm>
            <a:off x="3114675" y="26273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g</a:t>
            </a:r>
          </a:p>
        </p:txBody>
      </p:sp>
      <p:sp>
        <p:nvSpPr>
          <p:cNvPr id="51277" name="Text Box 77"/>
          <p:cNvSpPr txBox="1">
            <a:spLocks noChangeArrowheads="1"/>
          </p:cNvSpPr>
          <p:nvPr/>
        </p:nvSpPr>
        <p:spPr bwMode="auto">
          <a:xfrm>
            <a:off x="4105275" y="26416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h</a:t>
            </a:r>
          </a:p>
        </p:txBody>
      </p:sp>
      <p:sp>
        <p:nvSpPr>
          <p:cNvPr id="51278" name="Text Box 78"/>
          <p:cNvSpPr txBox="1">
            <a:spLocks noChangeArrowheads="1"/>
          </p:cNvSpPr>
          <p:nvPr/>
        </p:nvSpPr>
        <p:spPr bwMode="auto">
          <a:xfrm>
            <a:off x="3343275" y="22606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i</a:t>
            </a:r>
          </a:p>
        </p:txBody>
      </p:sp>
      <p:sp>
        <p:nvSpPr>
          <p:cNvPr id="51279" name="Text Box 79"/>
          <p:cNvSpPr txBox="1">
            <a:spLocks noChangeArrowheads="1"/>
          </p:cNvSpPr>
          <p:nvPr/>
        </p:nvSpPr>
        <p:spPr bwMode="auto">
          <a:xfrm>
            <a:off x="4105275" y="17891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j</a:t>
            </a:r>
          </a:p>
        </p:txBody>
      </p:sp>
      <p:sp>
        <p:nvSpPr>
          <p:cNvPr id="51280" name="Text Box 80"/>
          <p:cNvSpPr txBox="1">
            <a:spLocks noChangeArrowheads="1"/>
          </p:cNvSpPr>
          <p:nvPr/>
        </p:nvSpPr>
        <p:spPr bwMode="auto">
          <a:xfrm>
            <a:off x="5019675" y="224631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k</a:t>
            </a:r>
          </a:p>
        </p:txBody>
      </p:sp>
      <p:sp>
        <p:nvSpPr>
          <p:cNvPr id="51281" name="Line 81"/>
          <p:cNvSpPr>
            <a:spLocks noChangeShapeType="1"/>
          </p:cNvSpPr>
          <p:nvPr/>
        </p:nvSpPr>
        <p:spPr bwMode="auto">
          <a:xfrm>
            <a:off x="3495675" y="3313113"/>
            <a:ext cx="3810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2" name="AutoShape 82"/>
          <p:cNvSpPr>
            <a:spLocks noChangeArrowheads="1"/>
          </p:cNvSpPr>
          <p:nvPr/>
        </p:nvSpPr>
        <p:spPr bwMode="auto">
          <a:xfrm>
            <a:off x="4519613" y="2349500"/>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83" name="Text Box 83"/>
          <p:cNvSpPr txBox="1">
            <a:spLocks noChangeArrowheads="1"/>
          </p:cNvSpPr>
          <p:nvPr/>
        </p:nvSpPr>
        <p:spPr bwMode="auto">
          <a:xfrm>
            <a:off x="1895475" y="3236913"/>
            <a:ext cx="160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a:solidFill>
                  <a:srgbClr val="FF0000"/>
                </a:solidFill>
                <a:latin typeface="Tahoma" panose="020B0604030504040204" pitchFamily="34" charset="0"/>
              </a:rPr>
              <a:t>Counter</a:t>
            </a:r>
          </a:p>
        </p:txBody>
      </p:sp>
      <p:sp>
        <p:nvSpPr>
          <p:cNvPr id="51284" name="Rectangle 84"/>
          <p:cNvSpPr>
            <a:spLocks noChangeArrowheads="1"/>
          </p:cNvSpPr>
          <p:nvPr/>
        </p:nvSpPr>
        <p:spPr bwMode="auto">
          <a:xfrm>
            <a:off x="1895475" y="3160713"/>
            <a:ext cx="1600200" cy="457200"/>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285" name="Text Box 85"/>
          <p:cNvSpPr txBox="1">
            <a:spLocks noChangeArrowheads="1"/>
          </p:cNvSpPr>
          <p:nvPr/>
        </p:nvSpPr>
        <p:spPr bwMode="auto">
          <a:xfrm>
            <a:off x="1895475" y="3694113"/>
            <a:ext cx="160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solidFill>
                  <a:srgbClr val="FF0000"/>
                </a:solidFill>
                <a:latin typeface="Tahoma" panose="020B0604030504040204" pitchFamily="34" charset="0"/>
              </a:rPr>
              <a:t>Trojan</a:t>
            </a:r>
          </a:p>
        </p:txBody>
      </p:sp>
      <p:sp>
        <p:nvSpPr>
          <p:cNvPr id="51286" name="Line 86"/>
          <p:cNvSpPr>
            <a:spLocks noChangeShapeType="1"/>
          </p:cNvSpPr>
          <p:nvPr/>
        </p:nvSpPr>
        <p:spPr bwMode="auto">
          <a:xfrm>
            <a:off x="1285875" y="3389313"/>
            <a:ext cx="609600" cy="0"/>
          </a:xfrm>
          <a:prstGeom prst="line">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1287" name="Text Box 87"/>
          <p:cNvSpPr txBox="1">
            <a:spLocks noChangeArrowheads="1"/>
          </p:cNvSpPr>
          <p:nvPr/>
        </p:nvSpPr>
        <p:spPr bwMode="auto">
          <a:xfrm>
            <a:off x="600075" y="323691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a:solidFill>
                  <a:srgbClr val="FF0000"/>
                </a:solidFill>
                <a:latin typeface="Tahoma" panose="020B0604030504040204" pitchFamily="34" charset="0"/>
              </a:rPr>
              <a:t>Clk</a:t>
            </a:r>
          </a:p>
        </p:txBody>
      </p:sp>
      <p:sp>
        <p:nvSpPr>
          <p:cNvPr id="51288" name="Line 88"/>
          <p:cNvSpPr>
            <a:spLocks noChangeShapeType="1"/>
          </p:cNvSpPr>
          <p:nvPr/>
        </p:nvSpPr>
        <p:spPr bwMode="auto">
          <a:xfrm>
            <a:off x="3876675" y="3308350"/>
            <a:ext cx="381000" cy="0"/>
          </a:xfrm>
          <a:prstGeom prst="line">
            <a:avLst/>
          </a:prstGeom>
          <a:noFill/>
          <a:ln w="3175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289" name="Line 89"/>
          <p:cNvSpPr>
            <a:spLocks noChangeShapeType="1"/>
          </p:cNvSpPr>
          <p:nvPr/>
        </p:nvSpPr>
        <p:spPr bwMode="auto">
          <a:xfrm>
            <a:off x="6902450" y="6043613"/>
            <a:ext cx="381000" cy="0"/>
          </a:xfrm>
          <a:prstGeom prst="line">
            <a:avLst/>
          </a:prstGeom>
          <a:noFill/>
          <a:ln w="31750">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1290" name="Line 90"/>
          <p:cNvSpPr>
            <a:spLocks noChangeShapeType="1"/>
          </p:cNvSpPr>
          <p:nvPr/>
        </p:nvSpPr>
        <p:spPr bwMode="auto">
          <a:xfrm flipH="1">
            <a:off x="3468688" y="4324350"/>
            <a:ext cx="477837"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1" name="Line 91"/>
          <p:cNvSpPr>
            <a:spLocks noChangeShapeType="1"/>
          </p:cNvSpPr>
          <p:nvPr/>
        </p:nvSpPr>
        <p:spPr bwMode="auto">
          <a:xfrm flipH="1">
            <a:off x="3521075" y="4805363"/>
            <a:ext cx="477838"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2" name="Line 92"/>
          <p:cNvSpPr>
            <a:spLocks noChangeShapeType="1"/>
          </p:cNvSpPr>
          <p:nvPr/>
        </p:nvSpPr>
        <p:spPr bwMode="auto">
          <a:xfrm flipH="1">
            <a:off x="3516313" y="5029200"/>
            <a:ext cx="477837"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3" name="Line 93"/>
          <p:cNvSpPr>
            <a:spLocks noChangeShapeType="1"/>
          </p:cNvSpPr>
          <p:nvPr/>
        </p:nvSpPr>
        <p:spPr bwMode="auto">
          <a:xfrm flipH="1">
            <a:off x="3511550" y="5567363"/>
            <a:ext cx="477838"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4" name="Line 94"/>
          <p:cNvSpPr>
            <a:spLocks noChangeShapeType="1"/>
          </p:cNvSpPr>
          <p:nvPr/>
        </p:nvSpPr>
        <p:spPr bwMode="auto">
          <a:xfrm flipH="1">
            <a:off x="471488" y="1582738"/>
            <a:ext cx="477837"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5" name="Line 95"/>
          <p:cNvSpPr>
            <a:spLocks noChangeShapeType="1"/>
          </p:cNvSpPr>
          <p:nvPr/>
        </p:nvSpPr>
        <p:spPr bwMode="auto">
          <a:xfrm flipH="1">
            <a:off x="8272463" y="5349875"/>
            <a:ext cx="477837"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6" name="Line 96"/>
          <p:cNvSpPr>
            <a:spLocks noChangeShapeType="1"/>
          </p:cNvSpPr>
          <p:nvPr/>
        </p:nvSpPr>
        <p:spPr bwMode="auto">
          <a:xfrm flipH="1">
            <a:off x="509588" y="2063750"/>
            <a:ext cx="477837"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7" name="Line 97"/>
          <p:cNvSpPr>
            <a:spLocks noChangeShapeType="1"/>
          </p:cNvSpPr>
          <p:nvPr/>
        </p:nvSpPr>
        <p:spPr bwMode="auto">
          <a:xfrm flipH="1">
            <a:off x="490538" y="2287588"/>
            <a:ext cx="477837"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8" name="Line 98"/>
          <p:cNvSpPr>
            <a:spLocks noChangeShapeType="1"/>
          </p:cNvSpPr>
          <p:nvPr/>
        </p:nvSpPr>
        <p:spPr bwMode="auto">
          <a:xfrm flipH="1">
            <a:off x="485775" y="2840038"/>
            <a:ext cx="477838"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9" name="Line 99"/>
          <p:cNvSpPr>
            <a:spLocks noChangeShapeType="1"/>
          </p:cNvSpPr>
          <p:nvPr/>
        </p:nvSpPr>
        <p:spPr bwMode="auto">
          <a:xfrm flipH="1">
            <a:off x="5049838" y="2619375"/>
            <a:ext cx="477837"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0" name="Oval 101"/>
          <p:cNvSpPr>
            <a:spLocks noChangeArrowheads="1"/>
          </p:cNvSpPr>
          <p:nvPr/>
        </p:nvSpPr>
        <p:spPr bwMode="auto">
          <a:xfrm>
            <a:off x="5635625" y="2938463"/>
            <a:ext cx="1143000" cy="519112"/>
          </a:xfrm>
          <a:prstGeom prst="ellipse">
            <a:avLst/>
          </a:prstGeom>
          <a:solidFill>
            <a:schemeClr val="accent1"/>
          </a:solidFill>
          <a:ln w="31750">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301" name="Text Box 102"/>
          <p:cNvSpPr txBox="1">
            <a:spLocks noChangeArrowheads="1"/>
          </p:cNvSpPr>
          <p:nvPr/>
        </p:nvSpPr>
        <p:spPr bwMode="auto">
          <a:xfrm>
            <a:off x="5635625" y="2952750"/>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Always on</a:t>
            </a:r>
          </a:p>
        </p:txBody>
      </p:sp>
      <p:sp>
        <p:nvSpPr>
          <p:cNvPr id="51302" name="Oval 103"/>
          <p:cNvSpPr>
            <a:spLocks noChangeArrowheads="1"/>
          </p:cNvSpPr>
          <p:nvPr/>
        </p:nvSpPr>
        <p:spPr bwMode="auto">
          <a:xfrm>
            <a:off x="7459663" y="2938463"/>
            <a:ext cx="1447800" cy="533400"/>
          </a:xfrm>
          <a:prstGeom prst="ellipse">
            <a:avLst/>
          </a:prstGeom>
          <a:solidFill>
            <a:schemeClr val="accent1"/>
          </a:solidFill>
          <a:ln w="31750">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303" name="Text Box 104"/>
          <p:cNvSpPr txBox="1">
            <a:spLocks noChangeArrowheads="1"/>
          </p:cNvSpPr>
          <p:nvPr/>
        </p:nvSpPr>
        <p:spPr bwMode="auto">
          <a:xfrm>
            <a:off x="7459663" y="2952750"/>
            <a:ext cx="1524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Condition-based</a:t>
            </a:r>
          </a:p>
        </p:txBody>
      </p:sp>
      <p:sp>
        <p:nvSpPr>
          <p:cNvPr id="51304" name="Line 105"/>
          <p:cNvSpPr>
            <a:spLocks noChangeShapeType="1"/>
          </p:cNvSpPr>
          <p:nvPr/>
        </p:nvSpPr>
        <p:spPr bwMode="auto">
          <a:xfrm flipH="1">
            <a:off x="6169025" y="2709863"/>
            <a:ext cx="9525" cy="22860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305" name="Line 106"/>
          <p:cNvSpPr>
            <a:spLocks noChangeShapeType="1"/>
          </p:cNvSpPr>
          <p:nvPr/>
        </p:nvSpPr>
        <p:spPr bwMode="auto">
          <a:xfrm>
            <a:off x="8135938" y="2719388"/>
            <a:ext cx="9525" cy="219075"/>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306" name="Oval 107"/>
          <p:cNvSpPr>
            <a:spLocks noChangeArrowheads="1"/>
          </p:cNvSpPr>
          <p:nvPr/>
        </p:nvSpPr>
        <p:spPr bwMode="auto">
          <a:xfrm>
            <a:off x="6508750" y="1900238"/>
            <a:ext cx="1409700" cy="609600"/>
          </a:xfrm>
          <a:prstGeom prst="ellipse">
            <a:avLst/>
          </a:prstGeom>
          <a:solidFill>
            <a:srgbClr val="0099FF"/>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1307" name="Text Box 108"/>
          <p:cNvSpPr txBox="1">
            <a:spLocks noChangeArrowheads="1"/>
          </p:cNvSpPr>
          <p:nvPr/>
        </p:nvSpPr>
        <p:spPr bwMode="auto">
          <a:xfrm>
            <a:off x="6483350" y="1900238"/>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Internally-activated</a:t>
            </a:r>
          </a:p>
        </p:txBody>
      </p:sp>
      <p:sp>
        <p:nvSpPr>
          <p:cNvPr id="51308" name="Line 109"/>
          <p:cNvSpPr>
            <a:spLocks noChangeShapeType="1"/>
          </p:cNvSpPr>
          <p:nvPr/>
        </p:nvSpPr>
        <p:spPr bwMode="auto">
          <a:xfrm flipH="1">
            <a:off x="7159625" y="1695450"/>
            <a:ext cx="9525" cy="20955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309" name="Line 110"/>
          <p:cNvSpPr>
            <a:spLocks noChangeShapeType="1"/>
          </p:cNvSpPr>
          <p:nvPr/>
        </p:nvSpPr>
        <p:spPr bwMode="auto">
          <a:xfrm>
            <a:off x="7212013" y="2509838"/>
            <a:ext cx="0" cy="180975"/>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0" name="Line 111"/>
          <p:cNvSpPr>
            <a:spLocks noChangeShapeType="1"/>
          </p:cNvSpPr>
          <p:nvPr/>
        </p:nvSpPr>
        <p:spPr bwMode="auto">
          <a:xfrm>
            <a:off x="6164263" y="2719388"/>
            <a:ext cx="1981200" cy="0"/>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1"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96A6C1AA-C9C9-4E8A-9FE2-64EA2B6661BC}" type="slidenum">
              <a:rPr lang="en-US" altLang="en-US" sz="1200"/>
              <a:pPr algn="r" eaLnBrk="1" hangingPunct="1">
                <a:spcBef>
                  <a:spcPct val="0"/>
                </a:spcBef>
                <a:buClrTx/>
                <a:buSzTx/>
                <a:buFontTx/>
                <a:buNone/>
              </a:pPr>
              <a:t>28</a:t>
            </a:fld>
            <a:endParaRPr lang="en-US" altLang="en-US" sz="1200"/>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0"/>
            <a:ext cx="9144000" cy="838200"/>
          </a:xfrm>
        </p:spPr>
        <p:txBody>
          <a:bodyPr/>
          <a:lstStyle/>
          <a:p>
            <a:pPr eaLnBrk="1" hangingPunct="1"/>
            <a:r>
              <a:rPr lang="en-US" altLang="en-US" b="1"/>
              <a:t>Trojan Taxonomy: Action</a:t>
            </a:r>
          </a:p>
        </p:txBody>
      </p:sp>
      <p:sp>
        <p:nvSpPr>
          <p:cNvPr id="53251" name="Line 3"/>
          <p:cNvSpPr>
            <a:spLocks noChangeShapeType="1"/>
          </p:cNvSpPr>
          <p:nvPr/>
        </p:nvSpPr>
        <p:spPr bwMode="auto">
          <a:xfrm>
            <a:off x="4610100" y="2514600"/>
            <a:ext cx="0" cy="304800"/>
          </a:xfrm>
          <a:prstGeom prst="line">
            <a:avLst/>
          </a:prstGeom>
          <a:noFill/>
          <a:ln w="317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52" name="Line 4"/>
          <p:cNvSpPr>
            <a:spLocks noChangeShapeType="1"/>
          </p:cNvSpPr>
          <p:nvPr/>
        </p:nvSpPr>
        <p:spPr bwMode="auto">
          <a:xfrm>
            <a:off x="2400300" y="2819400"/>
            <a:ext cx="4419600" cy="0"/>
          </a:xfrm>
          <a:prstGeom prst="line">
            <a:avLst/>
          </a:prstGeom>
          <a:noFill/>
          <a:ln w="317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53" name="Oval 5"/>
          <p:cNvSpPr>
            <a:spLocks noChangeArrowheads="1"/>
          </p:cNvSpPr>
          <p:nvPr/>
        </p:nvSpPr>
        <p:spPr bwMode="auto">
          <a:xfrm>
            <a:off x="1790700" y="3200400"/>
            <a:ext cx="1295400" cy="609600"/>
          </a:xfrm>
          <a:prstGeom prst="ellipse">
            <a:avLst/>
          </a:prstGeom>
          <a:solidFill>
            <a:srgbClr val="3366FF"/>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54" name="Text Box 6"/>
          <p:cNvSpPr txBox="1">
            <a:spLocks noChangeArrowheads="1"/>
          </p:cNvSpPr>
          <p:nvPr/>
        </p:nvSpPr>
        <p:spPr bwMode="auto">
          <a:xfrm>
            <a:off x="1714500" y="3200400"/>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Modify Function</a:t>
            </a:r>
          </a:p>
        </p:txBody>
      </p:sp>
      <p:sp>
        <p:nvSpPr>
          <p:cNvPr id="53255" name="Line 7"/>
          <p:cNvSpPr>
            <a:spLocks noChangeShapeType="1"/>
          </p:cNvSpPr>
          <p:nvPr/>
        </p:nvSpPr>
        <p:spPr bwMode="auto">
          <a:xfrm>
            <a:off x="2400300" y="28194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56" name="Line 8"/>
          <p:cNvSpPr>
            <a:spLocks noChangeShapeType="1"/>
          </p:cNvSpPr>
          <p:nvPr/>
        </p:nvSpPr>
        <p:spPr bwMode="auto">
          <a:xfrm>
            <a:off x="2400300" y="3810000"/>
            <a:ext cx="0" cy="228600"/>
          </a:xfrm>
          <a:prstGeom prst="line">
            <a:avLst/>
          </a:prstGeom>
          <a:noFill/>
          <a:ln w="317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57" name="Line 9"/>
          <p:cNvSpPr>
            <a:spLocks noChangeShapeType="1"/>
          </p:cNvSpPr>
          <p:nvPr/>
        </p:nvSpPr>
        <p:spPr bwMode="auto">
          <a:xfrm>
            <a:off x="1714500" y="4038600"/>
            <a:ext cx="1371600" cy="0"/>
          </a:xfrm>
          <a:prstGeom prst="line">
            <a:avLst/>
          </a:prstGeom>
          <a:noFill/>
          <a:ln w="317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58" name="Line 10"/>
          <p:cNvSpPr>
            <a:spLocks noChangeShapeType="1"/>
          </p:cNvSpPr>
          <p:nvPr/>
        </p:nvSpPr>
        <p:spPr bwMode="auto">
          <a:xfrm>
            <a:off x="1714500" y="40386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59" name="Line 11"/>
          <p:cNvSpPr>
            <a:spLocks noChangeShapeType="1"/>
          </p:cNvSpPr>
          <p:nvPr/>
        </p:nvSpPr>
        <p:spPr bwMode="auto">
          <a:xfrm>
            <a:off x="3086100" y="40386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60" name="Oval 12"/>
          <p:cNvSpPr>
            <a:spLocks noChangeArrowheads="1"/>
          </p:cNvSpPr>
          <p:nvPr/>
        </p:nvSpPr>
        <p:spPr bwMode="auto">
          <a:xfrm>
            <a:off x="4000500" y="3200400"/>
            <a:ext cx="1295400" cy="609600"/>
          </a:xfrm>
          <a:prstGeom prst="ellipse">
            <a:avLst/>
          </a:prstGeom>
          <a:solidFill>
            <a:srgbClr val="3366FF"/>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61" name="Text Box 13"/>
          <p:cNvSpPr txBox="1">
            <a:spLocks noChangeArrowheads="1"/>
          </p:cNvSpPr>
          <p:nvPr/>
        </p:nvSpPr>
        <p:spPr bwMode="auto">
          <a:xfrm>
            <a:off x="3924300" y="3200400"/>
            <a:ext cx="14478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Modify </a:t>
            </a:r>
            <a:r>
              <a:rPr lang="en-US" altLang="en-US" sz="1500" b="1">
                <a:latin typeface="Tahoma" panose="020B0604030504040204" pitchFamily="34" charset="0"/>
              </a:rPr>
              <a:t>Specification</a:t>
            </a:r>
          </a:p>
        </p:txBody>
      </p:sp>
      <p:sp>
        <p:nvSpPr>
          <p:cNvPr id="53262" name="Line 14"/>
          <p:cNvSpPr>
            <a:spLocks noChangeShapeType="1"/>
          </p:cNvSpPr>
          <p:nvPr/>
        </p:nvSpPr>
        <p:spPr bwMode="auto">
          <a:xfrm>
            <a:off x="4610100" y="28194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63" name="Oval 15"/>
          <p:cNvSpPr>
            <a:spLocks noChangeArrowheads="1"/>
          </p:cNvSpPr>
          <p:nvPr/>
        </p:nvSpPr>
        <p:spPr bwMode="auto">
          <a:xfrm>
            <a:off x="1333500" y="4419600"/>
            <a:ext cx="838200" cy="457200"/>
          </a:xfrm>
          <a:prstGeom prst="ellipse">
            <a:avLst/>
          </a:prstGeom>
          <a:solidFill>
            <a:schemeClr val="accent1"/>
          </a:solidFill>
          <a:ln w="31750">
            <a:solidFill>
              <a:schemeClr val="accent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64" name="Text Box 16"/>
          <p:cNvSpPr txBox="1">
            <a:spLocks noChangeArrowheads="1"/>
          </p:cNvSpPr>
          <p:nvPr/>
        </p:nvSpPr>
        <p:spPr bwMode="auto">
          <a:xfrm>
            <a:off x="1181100" y="4495800"/>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Add</a:t>
            </a:r>
          </a:p>
        </p:txBody>
      </p:sp>
      <p:sp>
        <p:nvSpPr>
          <p:cNvPr id="53265" name="Oval 17"/>
          <p:cNvSpPr>
            <a:spLocks noChangeArrowheads="1"/>
          </p:cNvSpPr>
          <p:nvPr/>
        </p:nvSpPr>
        <p:spPr bwMode="auto">
          <a:xfrm>
            <a:off x="2705100" y="4419600"/>
            <a:ext cx="838200" cy="457200"/>
          </a:xfrm>
          <a:prstGeom prst="ellipse">
            <a:avLst/>
          </a:prstGeom>
          <a:solidFill>
            <a:schemeClr val="accent1"/>
          </a:solidFill>
          <a:ln w="31750">
            <a:solidFill>
              <a:schemeClr val="accent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66" name="Text Box 18"/>
          <p:cNvSpPr txBox="1">
            <a:spLocks noChangeArrowheads="1"/>
          </p:cNvSpPr>
          <p:nvPr/>
        </p:nvSpPr>
        <p:spPr bwMode="auto">
          <a:xfrm>
            <a:off x="2552700" y="4495800"/>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Bypass</a:t>
            </a:r>
          </a:p>
        </p:txBody>
      </p:sp>
      <p:sp>
        <p:nvSpPr>
          <p:cNvPr id="53267" name="Oval 19"/>
          <p:cNvSpPr>
            <a:spLocks noChangeArrowheads="1"/>
          </p:cNvSpPr>
          <p:nvPr/>
        </p:nvSpPr>
        <p:spPr bwMode="auto">
          <a:xfrm>
            <a:off x="6210300" y="3200400"/>
            <a:ext cx="1295400" cy="609600"/>
          </a:xfrm>
          <a:prstGeom prst="ellipse">
            <a:avLst/>
          </a:prstGeom>
          <a:solidFill>
            <a:srgbClr val="3366FF"/>
          </a:solidFill>
          <a:ln>
            <a:noFill/>
          </a:ln>
          <a:extLst>
            <a:ext uri="{91240B29-F687-4F45-9708-019B960494DF}">
              <a14:hiddenLine xmlns:a14="http://schemas.microsoft.com/office/drawing/2010/main" w="3175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68" name="Text Box 20"/>
          <p:cNvSpPr txBox="1">
            <a:spLocks noChangeArrowheads="1"/>
          </p:cNvSpPr>
          <p:nvPr/>
        </p:nvSpPr>
        <p:spPr bwMode="auto">
          <a:xfrm>
            <a:off x="6134100" y="3200400"/>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Transmit-information</a:t>
            </a:r>
          </a:p>
        </p:txBody>
      </p:sp>
      <p:sp>
        <p:nvSpPr>
          <p:cNvPr id="53269" name="Line 21"/>
          <p:cNvSpPr>
            <a:spLocks noChangeShapeType="1"/>
          </p:cNvSpPr>
          <p:nvPr/>
        </p:nvSpPr>
        <p:spPr bwMode="auto">
          <a:xfrm>
            <a:off x="6819900" y="28194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70" name="Line 22"/>
          <p:cNvSpPr>
            <a:spLocks noChangeShapeType="1"/>
          </p:cNvSpPr>
          <p:nvPr/>
        </p:nvSpPr>
        <p:spPr bwMode="auto">
          <a:xfrm>
            <a:off x="2324100" y="4648200"/>
            <a:ext cx="228600" cy="0"/>
          </a:xfrm>
          <a:prstGeom prst="line">
            <a:avLst/>
          </a:prstGeom>
          <a:noFill/>
          <a:ln w="31750">
            <a:solidFill>
              <a:schemeClr val="tx1"/>
            </a:solidFill>
            <a:prstDash val="sysDot"/>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71" name="Line 23"/>
          <p:cNvSpPr>
            <a:spLocks noChangeShapeType="1"/>
          </p:cNvSpPr>
          <p:nvPr/>
        </p:nvSpPr>
        <p:spPr bwMode="auto">
          <a:xfrm>
            <a:off x="4686300" y="3810000"/>
            <a:ext cx="0" cy="228600"/>
          </a:xfrm>
          <a:prstGeom prst="line">
            <a:avLst/>
          </a:prstGeom>
          <a:noFill/>
          <a:ln w="317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72" name="Line 24"/>
          <p:cNvSpPr>
            <a:spLocks noChangeShapeType="1"/>
          </p:cNvSpPr>
          <p:nvPr/>
        </p:nvSpPr>
        <p:spPr bwMode="auto">
          <a:xfrm>
            <a:off x="4000500" y="4038600"/>
            <a:ext cx="1371600" cy="0"/>
          </a:xfrm>
          <a:prstGeom prst="line">
            <a:avLst/>
          </a:prstGeom>
          <a:noFill/>
          <a:ln w="317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en-US"/>
          </a:p>
        </p:txBody>
      </p:sp>
      <p:sp>
        <p:nvSpPr>
          <p:cNvPr id="53273" name="Line 25"/>
          <p:cNvSpPr>
            <a:spLocks noChangeShapeType="1"/>
          </p:cNvSpPr>
          <p:nvPr/>
        </p:nvSpPr>
        <p:spPr bwMode="auto">
          <a:xfrm>
            <a:off x="4000500" y="40386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74" name="Line 26"/>
          <p:cNvSpPr>
            <a:spLocks noChangeShapeType="1"/>
          </p:cNvSpPr>
          <p:nvPr/>
        </p:nvSpPr>
        <p:spPr bwMode="auto">
          <a:xfrm>
            <a:off x="5372100" y="4038600"/>
            <a:ext cx="0" cy="381000"/>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3275" name="Oval 27"/>
          <p:cNvSpPr>
            <a:spLocks noChangeArrowheads="1"/>
          </p:cNvSpPr>
          <p:nvPr/>
        </p:nvSpPr>
        <p:spPr bwMode="auto">
          <a:xfrm>
            <a:off x="3619500" y="4419600"/>
            <a:ext cx="838200" cy="457200"/>
          </a:xfrm>
          <a:prstGeom prst="ellipse">
            <a:avLst/>
          </a:prstGeom>
          <a:solidFill>
            <a:schemeClr val="accent1"/>
          </a:solidFill>
          <a:ln w="31750">
            <a:solidFill>
              <a:schemeClr val="accent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76" name="Text Box 28"/>
          <p:cNvSpPr txBox="1">
            <a:spLocks noChangeArrowheads="1"/>
          </p:cNvSpPr>
          <p:nvPr/>
        </p:nvSpPr>
        <p:spPr bwMode="auto">
          <a:xfrm>
            <a:off x="3467100" y="4495800"/>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Defects</a:t>
            </a:r>
          </a:p>
        </p:txBody>
      </p:sp>
      <p:sp>
        <p:nvSpPr>
          <p:cNvPr id="53277" name="Oval 29"/>
          <p:cNvSpPr>
            <a:spLocks noChangeArrowheads="1"/>
          </p:cNvSpPr>
          <p:nvPr/>
        </p:nvSpPr>
        <p:spPr bwMode="auto">
          <a:xfrm>
            <a:off x="4991100" y="4419600"/>
            <a:ext cx="838200" cy="457200"/>
          </a:xfrm>
          <a:prstGeom prst="ellipse">
            <a:avLst/>
          </a:prstGeom>
          <a:solidFill>
            <a:schemeClr val="accent1"/>
          </a:solidFill>
          <a:ln w="31750">
            <a:solidFill>
              <a:schemeClr val="accent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78" name="Text Box 30"/>
          <p:cNvSpPr txBox="1">
            <a:spLocks noChangeArrowheads="1"/>
          </p:cNvSpPr>
          <p:nvPr/>
        </p:nvSpPr>
        <p:spPr bwMode="auto">
          <a:xfrm>
            <a:off x="4851400" y="4495800"/>
            <a:ext cx="1143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200" b="1">
                <a:latin typeface="Tahoma" panose="020B0604030504040204" pitchFamily="34" charset="0"/>
              </a:rPr>
              <a:t>Reliability</a:t>
            </a:r>
          </a:p>
        </p:txBody>
      </p:sp>
      <p:grpSp>
        <p:nvGrpSpPr>
          <p:cNvPr id="53279" name="Group 31"/>
          <p:cNvGrpSpPr>
            <a:grpSpLocks/>
          </p:cNvGrpSpPr>
          <p:nvPr/>
        </p:nvGrpSpPr>
        <p:grpSpPr bwMode="auto">
          <a:xfrm>
            <a:off x="3541713" y="1916113"/>
            <a:ext cx="2133600" cy="636587"/>
            <a:chOff x="4223" y="2031"/>
            <a:chExt cx="1344" cy="401"/>
          </a:xfrm>
        </p:grpSpPr>
        <p:sp>
          <p:nvSpPr>
            <p:cNvPr id="53281" name="Rectangle 32"/>
            <p:cNvSpPr>
              <a:spLocks noChangeArrowheads="1"/>
            </p:cNvSpPr>
            <p:nvPr/>
          </p:nvSpPr>
          <p:spPr bwMode="auto">
            <a:xfrm>
              <a:off x="4232" y="2040"/>
              <a:ext cx="1328" cy="392"/>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3282" name="Text Box 33"/>
            <p:cNvSpPr txBox="1">
              <a:spLocks noChangeArrowheads="1"/>
            </p:cNvSpPr>
            <p:nvPr/>
          </p:nvSpPr>
          <p:spPr bwMode="auto">
            <a:xfrm>
              <a:off x="4223" y="2031"/>
              <a:ext cx="13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u="sng">
                  <a:latin typeface="Tahoma" panose="020B0604030504040204" pitchFamily="34" charset="0"/>
                </a:rPr>
                <a:t>Action</a:t>
              </a:r>
              <a:r>
                <a:rPr lang="en-US" altLang="en-US" sz="1400" b="1">
                  <a:latin typeface="Tahoma" panose="020B0604030504040204" pitchFamily="34" charset="0"/>
                </a:rPr>
                <a:t>   Characteristics</a:t>
              </a:r>
            </a:p>
          </p:txBody>
        </p:sp>
      </p:grpSp>
      <p:sp>
        <p:nvSpPr>
          <p:cNvPr id="53280"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87ED89B2-3BC6-465E-B40D-689C0B12C867}" type="slidenum">
              <a:rPr lang="en-US" altLang="en-US" sz="1200"/>
              <a:pPr algn="r" eaLnBrk="1" hangingPunct="1">
                <a:spcBef>
                  <a:spcPct val="0"/>
                </a:spcBef>
                <a:buClrTx/>
                <a:buSzTx/>
                <a:buFontTx/>
                <a:buNone/>
              </a:pPr>
              <a:t>29</a:t>
            </a:fld>
            <a:endParaRPr lang="en-US" altLang="en-US" sz="1200"/>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33400" y="76200"/>
            <a:ext cx="8229600" cy="685800"/>
          </a:xfrm>
        </p:spPr>
        <p:txBody>
          <a:bodyPr/>
          <a:lstStyle/>
          <a:p>
            <a:pPr eaLnBrk="1" hangingPunct="1"/>
            <a:r>
              <a:rPr lang="en-US" altLang="en-US" b="1"/>
              <a:t>Example: Action</a:t>
            </a:r>
          </a:p>
        </p:txBody>
      </p:sp>
      <p:sp>
        <p:nvSpPr>
          <p:cNvPr id="55299" name="Line 3"/>
          <p:cNvSpPr>
            <a:spLocks noChangeShapeType="1"/>
          </p:cNvSpPr>
          <p:nvPr/>
        </p:nvSpPr>
        <p:spPr bwMode="auto">
          <a:xfrm>
            <a:off x="3736975" y="2024063"/>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0" name="Line 4"/>
          <p:cNvSpPr>
            <a:spLocks noChangeShapeType="1"/>
          </p:cNvSpPr>
          <p:nvPr/>
        </p:nvSpPr>
        <p:spPr bwMode="auto">
          <a:xfrm>
            <a:off x="4575175" y="2481263"/>
            <a:ext cx="393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1" name="AutoShape 5"/>
          <p:cNvSpPr>
            <a:spLocks noChangeArrowheads="1"/>
          </p:cNvSpPr>
          <p:nvPr/>
        </p:nvSpPr>
        <p:spPr bwMode="auto">
          <a:xfrm>
            <a:off x="2481263" y="1262063"/>
            <a:ext cx="358775" cy="500062"/>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02" name="AutoShape 6"/>
          <p:cNvSpPr>
            <a:spLocks noChangeArrowheads="1"/>
          </p:cNvSpPr>
          <p:nvPr/>
        </p:nvSpPr>
        <p:spPr bwMode="auto">
          <a:xfrm>
            <a:off x="2479675" y="2308225"/>
            <a:ext cx="358775"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03" name="AutoShape 7"/>
          <p:cNvSpPr>
            <a:spLocks noChangeArrowheads="1"/>
          </p:cNvSpPr>
          <p:nvPr/>
        </p:nvSpPr>
        <p:spPr bwMode="auto">
          <a:xfrm>
            <a:off x="1550988" y="1800225"/>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04" name="Line 8"/>
          <p:cNvSpPr>
            <a:spLocks noChangeShapeType="1"/>
          </p:cNvSpPr>
          <p:nvPr/>
        </p:nvSpPr>
        <p:spPr bwMode="auto">
          <a:xfrm flipH="1">
            <a:off x="782638" y="1925638"/>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5" name="Line 9"/>
          <p:cNvSpPr>
            <a:spLocks noChangeShapeType="1"/>
          </p:cNvSpPr>
          <p:nvPr/>
        </p:nvSpPr>
        <p:spPr bwMode="auto">
          <a:xfrm flipH="1">
            <a:off x="779463" y="2155825"/>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6" name="Line 10"/>
          <p:cNvSpPr>
            <a:spLocks noChangeShapeType="1"/>
          </p:cNvSpPr>
          <p:nvPr/>
        </p:nvSpPr>
        <p:spPr bwMode="auto">
          <a:xfrm>
            <a:off x="1924050" y="2065338"/>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7" name="Line 11"/>
          <p:cNvSpPr>
            <a:spLocks noChangeShapeType="1"/>
          </p:cNvSpPr>
          <p:nvPr/>
        </p:nvSpPr>
        <p:spPr bwMode="auto">
          <a:xfrm flipV="1">
            <a:off x="2198688" y="1649413"/>
            <a:ext cx="0" cy="4127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8" name="Line 12"/>
          <p:cNvSpPr>
            <a:spLocks noChangeShapeType="1"/>
          </p:cNvSpPr>
          <p:nvPr/>
        </p:nvSpPr>
        <p:spPr bwMode="auto">
          <a:xfrm>
            <a:off x="2198688" y="1658938"/>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09" name="Line 13"/>
          <p:cNvSpPr>
            <a:spLocks noChangeShapeType="1"/>
          </p:cNvSpPr>
          <p:nvPr/>
        </p:nvSpPr>
        <p:spPr bwMode="auto">
          <a:xfrm flipH="1">
            <a:off x="765175" y="1431925"/>
            <a:ext cx="170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0" name="Line 14"/>
          <p:cNvSpPr>
            <a:spLocks noChangeShapeType="1"/>
          </p:cNvSpPr>
          <p:nvPr/>
        </p:nvSpPr>
        <p:spPr bwMode="auto">
          <a:xfrm flipV="1">
            <a:off x="2197100" y="2058988"/>
            <a:ext cx="0" cy="414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1" name="Line 15"/>
          <p:cNvSpPr>
            <a:spLocks noChangeShapeType="1"/>
          </p:cNvSpPr>
          <p:nvPr/>
        </p:nvSpPr>
        <p:spPr bwMode="auto">
          <a:xfrm>
            <a:off x="2195513" y="2473325"/>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2" name="Line 16"/>
          <p:cNvSpPr>
            <a:spLocks noChangeShapeType="1"/>
          </p:cNvSpPr>
          <p:nvPr/>
        </p:nvSpPr>
        <p:spPr bwMode="auto">
          <a:xfrm flipH="1">
            <a:off x="782638" y="2703513"/>
            <a:ext cx="1703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3" name="Line 17"/>
          <p:cNvSpPr>
            <a:spLocks noChangeShapeType="1"/>
          </p:cNvSpPr>
          <p:nvPr/>
        </p:nvSpPr>
        <p:spPr bwMode="auto">
          <a:xfrm flipV="1">
            <a:off x="3101975" y="1504950"/>
            <a:ext cx="0" cy="4143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4" name="Line 18"/>
          <p:cNvSpPr>
            <a:spLocks noChangeShapeType="1"/>
          </p:cNvSpPr>
          <p:nvPr/>
        </p:nvSpPr>
        <p:spPr bwMode="auto">
          <a:xfrm>
            <a:off x="2840038" y="1519238"/>
            <a:ext cx="274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5" name="Line 19"/>
          <p:cNvSpPr>
            <a:spLocks noChangeShapeType="1"/>
          </p:cNvSpPr>
          <p:nvPr/>
        </p:nvSpPr>
        <p:spPr bwMode="auto">
          <a:xfrm>
            <a:off x="3086100" y="1919288"/>
            <a:ext cx="411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6" name="Line 20"/>
          <p:cNvSpPr>
            <a:spLocks noChangeShapeType="1"/>
          </p:cNvSpPr>
          <p:nvPr/>
        </p:nvSpPr>
        <p:spPr bwMode="auto">
          <a:xfrm>
            <a:off x="3094038" y="2135188"/>
            <a:ext cx="412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7" name="Line 21"/>
          <p:cNvSpPr>
            <a:spLocks noChangeShapeType="1"/>
          </p:cNvSpPr>
          <p:nvPr/>
        </p:nvSpPr>
        <p:spPr bwMode="auto">
          <a:xfrm flipV="1">
            <a:off x="3101975" y="2136775"/>
            <a:ext cx="0" cy="442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8" name="Line 22"/>
          <p:cNvSpPr>
            <a:spLocks noChangeShapeType="1"/>
          </p:cNvSpPr>
          <p:nvPr/>
        </p:nvSpPr>
        <p:spPr bwMode="auto">
          <a:xfrm flipV="1">
            <a:off x="2851150" y="2574925"/>
            <a:ext cx="1377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19" name="Line 23"/>
          <p:cNvSpPr>
            <a:spLocks noChangeShapeType="1"/>
          </p:cNvSpPr>
          <p:nvPr/>
        </p:nvSpPr>
        <p:spPr bwMode="auto">
          <a:xfrm flipV="1">
            <a:off x="4013200" y="2341563"/>
            <a:ext cx="212725"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20" name="Line 24"/>
          <p:cNvSpPr>
            <a:spLocks noChangeShapeType="1"/>
          </p:cNvSpPr>
          <p:nvPr/>
        </p:nvSpPr>
        <p:spPr bwMode="auto">
          <a:xfrm flipV="1">
            <a:off x="4019550" y="2025650"/>
            <a:ext cx="0" cy="320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21" name="AutoShape 25"/>
          <p:cNvSpPr>
            <a:spLocks noChangeArrowheads="1"/>
          </p:cNvSpPr>
          <p:nvPr/>
        </p:nvSpPr>
        <p:spPr bwMode="auto">
          <a:xfrm rot="10800000">
            <a:off x="3313113" y="1781175"/>
            <a:ext cx="471487" cy="500063"/>
          </a:xfrm>
          <a:prstGeom prst="moon">
            <a:avLst>
              <a:gd name="adj" fmla="val 78870"/>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22" name="Oval 26"/>
          <p:cNvSpPr>
            <a:spLocks noChangeArrowheads="1"/>
          </p:cNvSpPr>
          <p:nvPr/>
        </p:nvSpPr>
        <p:spPr bwMode="auto">
          <a:xfrm>
            <a:off x="2822575" y="2557463"/>
            <a:ext cx="76200"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23" name="Text Box 27"/>
          <p:cNvSpPr txBox="1">
            <a:spLocks noChangeArrowheads="1"/>
          </p:cNvSpPr>
          <p:nvPr/>
        </p:nvSpPr>
        <p:spPr bwMode="auto">
          <a:xfrm>
            <a:off x="841375" y="11096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a</a:t>
            </a:r>
          </a:p>
        </p:txBody>
      </p:sp>
      <p:sp>
        <p:nvSpPr>
          <p:cNvPr id="55324" name="Text Box 28"/>
          <p:cNvSpPr txBox="1">
            <a:spLocks noChangeArrowheads="1"/>
          </p:cNvSpPr>
          <p:nvPr/>
        </p:nvSpPr>
        <p:spPr bwMode="auto">
          <a:xfrm>
            <a:off x="917575" y="16430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b</a:t>
            </a:r>
          </a:p>
        </p:txBody>
      </p:sp>
      <p:sp>
        <p:nvSpPr>
          <p:cNvPr id="55325" name="Text Box 29"/>
          <p:cNvSpPr txBox="1">
            <a:spLocks noChangeArrowheads="1"/>
          </p:cNvSpPr>
          <p:nvPr/>
        </p:nvSpPr>
        <p:spPr bwMode="auto">
          <a:xfrm>
            <a:off x="917575" y="20240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c</a:t>
            </a:r>
          </a:p>
        </p:txBody>
      </p:sp>
      <p:sp>
        <p:nvSpPr>
          <p:cNvPr id="55326" name="Text Box 30"/>
          <p:cNvSpPr txBox="1">
            <a:spLocks noChangeArrowheads="1"/>
          </p:cNvSpPr>
          <p:nvPr/>
        </p:nvSpPr>
        <p:spPr bwMode="auto">
          <a:xfrm>
            <a:off x="917575" y="24050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d</a:t>
            </a:r>
          </a:p>
        </p:txBody>
      </p:sp>
      <p:sp>
        <p:nvSpPr>
          <p:cNvPr id="55327" name="Text Box 31"/>
          <p:cNvSpPr txBox="1">
            <a:spLocks noChangeArrowheads="1"/>
          </p:cNvSpPr>
          <p:nvPr/>
        </p:nvSpPr>
        <p:spPr bwMode="auto">
          <a:xfrm>
            <a:off x="2822575" y="11858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e</a:t>
            </a:r>
          </a:p>
        </p:txBody>
      </p:sp>
      <p:sp>
        <p:nvSpPr>
          <p:cNvPr id="55328" name="Text Box 32"/>
          <p:cNvSpPr txBox="1">
            <a:spLocks noChangeArrowheads="1"/>
          </p:cNvSpPr>
          <p:nvPr/>
        </p:nvSpPr>
        <p:spPr bwMode="auto">
          <a:xfrm>
            <a:off x="1908175" y="17192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f</a:t>
            </a:r>
          </a:p>
        </p:txBody>
      </p:sp>
      <p:sp>
        <p:nvSpPr>
          <p:cNvPr id="55329" name="Text Box 33"/>
          <p:cNvSpPr txBox="1">
            <a:spLocks noChangeArrowheads="1"/>
          </p:cNvSpPr>
          <p:nvPr/>
        </p:nvSpPr>
        <p:spPr bwMode="auto">
          <a:xfrm>
            <a:off x="2822575" y="24812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g</a:t>
            </a:r>
          </a:p>
        </p:txBody>
      </p:sp>
      <p:sp>
        <p:nvSpPr>
          <p:cNvPr id="55330" name="Text Box 34"/>
          <p:cNvSpPr txBox="1">
            <a:spLocks noChangeArrowheads="1"/>
          </p:cNvSpPr>
          <p:nvPr/>
        </p:nvSpPr>
        <p:spPr bwMode="auto">
          <a:xfrm>
            <a:off x="3813175" y="249555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h</a:t>
            </a:r>
          </a:p>
        </p:txBody>
      </p:sp>
      <p:sp>
        <p:nvSpPr>
          <p:cNvPr id="55331" name="Text Box 35"/>
          <p:cNvSpPr txBox="1">
            <a:spLocks noChangeArrowheads="1"/>
          </p:cNvSpPr>
          <p:nvPr/>
        </p:nvSpPr>
        <p:spPr bwMode="auto">
          <a:xfrm>
            <a:off x="3051175" y="211455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i</a:t>
            </a:r>
          </a:p>
        </p:txBody>
      </p:sp>
      <p:sp>
        <p:nvSpPr>
          <p:cNvPr id="55332" name="Text Box 36"/>
          <p:cNvSpPr txBox="1">
            <a:spLocks noChangeArrowheads="1"/>
          </p:cNvSpPr>
          <p:nvPr/>
        </p:nvSpPr>
        <p:spPr bwMode="auto">
          <a:xfrm>
            <a:off x="3813175" y="16430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j</a:t>
            </a:r>
          </a:p>
        </p:txBody>
      </p:sp>
      <p:sp>
        <p:nvSpPr>
          <p:cNvPr id="55333" name="Text Box 37"/>
          <p:cNvSpPr txBox="1">
            <a:spLocks noChangeArrowheads="1"/>
          </p:cNvSpPr>
          <p:nvPr/>
        </p:nvSpPr>
        <p:spPr bwMode="auto">
          <a:xfrm>
            <a:off x="4727575" y="2100263"/>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k</a:t>
            </a:r>
          </a:p>
        </p:txBody>
      </p:sp>
      <p:sp>
        <p:nvSpPr>
          <p:cNvPr id="55334" name="AutoShape 38"/>
          <p:cNvSpPr>
            <a:spLocks noChangeArrowheads="1"/>
          </p:cNvSpPr>
          <p:nvPr/>
        </p:nvSpPr>
        <p:spPr bwMode="auto">
          <a:xfrm>
            <a:off x="2822575" y="2938463"/>
            <a:ext cx="360363" cy="500062"/>
          </a:xfrm>
          <a:prstGeom prst="flowChartDelay">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35" name="Line 39"/>
          <p:cNvSpPr>
            <a:spLocks noChangeShapeType="1"/>
          </p:cNvSpPr>
          <p:nvPr/>
        </p:nvSpPr>
        <p:spPr bwMode="auto">
          <a:xfrm flipH="1">
            <a:off x="1755775" y="3319463"/>
            <a:ext cx="10668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6" name="Line 40"/>
          <p:cNvSpPr>
            <a:spLocks noChangeShapeType="1"/>
          </p:cNvSpPr>
          <p:nvPr/>
        </p:nvSpPr>
        <p:spPr bwMode="auto">
          <a:xfrm flipV="1">
            <a:off x="1755775" y="2709863"/>
            <a:ext cx="0" cy="6096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7" name="Line 41"/>
          <p:cNvSpPr>
            <a:spLocks noChangeShapeType="1"/>
          </p:cNvSpPr>
          <p:nvPr/>
        </p:nvSpPr>
        <p:spPr bwMode="auto">
          <a:xfrm flipV="1">
            <a:off x="2289175" y="2481263"/>
            <a:ext cx="0" cy="5334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8" name="Line 42"/>
          <p:cNvSpPr>
            <a:spLocks noChangeShapeType="1"/>
          </p:cNvSpPr>
          <p:nvPr/>
        </p:nvSpPr>
        <p:spPr bwMode="auto">
          <a:xfrm>
            <a:off x="2289175" y="3014663"/>
            <a:ext cx="5334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9" name="Line 43"/>
          <p:cNvSpPr>
            <a:spLocks noChangeShapeType="1"/>
          </p:cNvSpPr>
          <p:nvPr/>
        </p:nvSpPr>
        <p:spPr bwMode="auto">
          <a:xfrm>
            <a:off x="3203575" y="3167063"/>
            <a:ext cx="3810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0" name="Line 44"/>
          <p:cNvSpPr>
            <a:spLocks noChangeShapeType="1"/>
          </p:cNvSpPr>
          <p:nvPr/>
        </p:nvSpPr>
        <p:spPr bwMode="auto">
          <a:xfrm flipV="1">
            <a:off x="3584575" y="2481263"/>
            <a:ext cx="0" cy="6858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1" name="Line 45"/>
          <p:cNvSpPr>
            <a:spLocks noChangeShapeType="1"/>
          </p:cNvSpPr>
          <p:nvPr/>
        </p:nvSpPr>
        <p:spPr bwMode="auto">
          <a:xfrm>
            <a:off x="3584575" y="2481263"/>
            <a:ext cx="68580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2" name="AutoShape 46"/>
          <p:cNvSpPr>
            <a:spLocks noChangeArrowheads="1"/>
          </p:cNvSpPr>
          <p:nvPr/>
        </p:nvSpPr>
        <p:spPr bwMode="auto">
          <a:xfrm>
            <a:off x="4227513" y="2203450"/>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3" name="Text Box 47"/>
          <p:cNvSpPr txBox="1">
            <a:spLocks noChangeArrowheads="1"/>
          </p:cNvSpPr>
          <p:nvPr/>
        </p:nvSpPr>
        <p:spPr bwMode="auto">
          <a:xfrm>
            <a:off x="2517775" y="3471863"/>
            <a:ext cx="160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solidFill>
                  <a:srgbClr val="FF0000"/>
                </a:solidFill>
                <a:latin typeface="Tahoma" panose="020B0604030504040204" pitchFamily="34" charset="0"/>
              </a:rPr>
              <a:t>Trojan</a:t>
            </a:r>
          </a:p>
        </p:txBody>
      </p:sp>
      <p:sp>
        <p:nvSpPr>
          <p:cNvPr id="55344" name="Line 48"/>
          <p:cNvSpPr>
            <a:spLocks noChangeShapeType="1"/>
          </p:cNvSpPr>
          <p:nvPr/>
        </p:nvSpPr>
        <p:spPr bwMode="auto">
          <a:xfrm>
            <a:off x="7359650" y="4741241"/>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5" name="Line 49"/>
          <p:cNvSpPr>
            <a:spLocks noChangeShapeType="1"/>
          </p:cNvSpPr>
          <p:nvPr/>
        </p:nvSpPr>
        <p:spPr bwMode="auto">
          <a:xfrm>
            <a:off x="8197850" y="5198441"/>
            <a:ext cx="393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6" name="AutoShape 50"/>
          <p:cNvSpPr>
            <a:spLocks noChangeArrowheads="1"/>
          </p:cNvSpPr>
          <p:nvPr/>
        </p:nvSpPr>
        <p:spPr bwMode="auto">
          <a:xfrm>
            <a:off x="6103938" y="3979241"/>
            <a:ext cx="358775" cy="500062"/>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7" name="AutoShape 51"/>
          <p:cNvSpPr>
            <a:spLocks noChangeArrowheads="1"/>
          </p:cNvSpPr>
          <p:nvPr/>
        </p:nvSpPr>
        <p:spPr bwMode="auto">
          <a:xfrm>
            <a:off x="6102350" y="5025403"/>
            <a:ext cx="358775"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8" name="AutoShape 52"/>
          <p:cNvSpPr>
            <a:spLocks noChangeArrowheads="1"/>
          </p:cNvSpPr>
          <p:nvPr/>
        </p:nvSpPr>
        <p:spPr bwMode="auto">
          <a:xfrm>
            <a:off x="5173663" y="4517403"/>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9" name="Line 53"/>
          <p:cNvSpPr>
            <a:spLocks noChangeShapeType="1"/>
          </p:cNvSpPr>
          <p:nvPr/>
        </p:nvSpPr>
        <p:spPr bwMode="auto">
          <a:xfrm flipH="1">
            <a:off x="4405313" y="4642816"/>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0" name="Line 54"/>
          <p:cNvSpPr>
            <a:spLocks noChangeShapeType="1"/>
          </p:cNvSpPr>
          <p:nvPr/>
        </p:nvSpPr>
        <p:spPr bwMode="auto">
          <a:xfrm flipH="1">
            <a:off x="4402138" y="4873003"/>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1" name="Line 55"/>
          <p:cNvSpPr>
            <a:spLocks noChangeShapeType="1"/>
          </p:cNvSpPr>
          <p:nvPr/>
        </p:nvSpPr>
        <p:spPr bwMode="auto">
          <a:xfrm>
            <a:off x="5546725" y="4782516"/>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2" name="Line 56"/>
          <p:cNvSpPr>
            <a:spLocks noChangeShapeType="1"/>
          </p:cNvSpPr>
          <p:nvPr/>
        </p:nvSpPr>
        <p:spPr bwMode="auto">
          <a:xfrm flipV="1">
            <a:off x="5821363" y="4366591"/>
            <a:ext cx="0" cy="4127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3" name="Line 57"/>
          <p:cNvSpPr>
            <a:spLocks noChangeShapeType="1"/>
          </p:cNvSpPr>
          <p:nvPr/>
        </p:nvSpPr>
        <p:spPr bwMode="auto">
          <a:xfrm>
            <a:off x="5821363" y="4376116"/>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4" name="Line 58"/>
          <p:cNvSpPr>
            <a:spLocks noChangeShapeType="1"/>
          </p:cNvSpPr>
          <p:nvPr/>
        </p:nvSpPr>
        <p:spPr bwMode="auto">
          <a:xfrm flipH="1">
            <a:off x="4387850" y="4149103"/>
            <a:ext cx="170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5" name="Line 59"/>
          <p:cNvSpPr>
            <a:spLocks noChangeShapeType="1"/>
          </p:cNvSpPr>
          <p:nvPr/>
        </p:nvSpPr>
        <p:spPr bwMode="auto">
          <a:xfrm flipV="1">
            <a:off x="5819775" y="4776166"/>
            <a:ext cx="0" cy="414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6" name="Line 60"/>
          <p:cNvSpPr>
            <a:spLocks noChangeShapeType="1"/>
          </p:cNvSpPr>
          <p:nvPr/>
        </p:nvSpPr>
        <p:spPr bwMode="auto">
          <a:xfrm>
            <a:off x="5818188" y="5190503"/>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7" name="Line 61"/>
          <p:cNvSpPr>
            <a:spLocks noChangeShapeType="1"/>
          </p:cNvSpPr>
          <p:nvPr/>
        </p:nvSpPr>
        <p:spPr bwMode="auto">
          <a:xfrm flipH="1">
            <a:off x="4405313" y="5420691"/>
            <a:ext cx="1703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8" name="Line 62"/>
          <p:cNvSpPr>
            <a:spLocks noChangeShapeType="1"/>
          </p:cNvSpPr>
          <p:nvPr/>
        </p:nvSpPr>
        <p:spPr bwMode="auto">
          <a:xfrm flipV="1">
            <a:off x="6724650" y="4222128"/>
            <a:ext cx="0" cy="4143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59" name="Line 63"/>
          <p:cNvSpPr>
            <a:spLocks noChangeShapeType="1"/>
          </p:cNvSpPr>
          <p:nvPr/>
        </p:nvSpPr>
        <p:spPr bwMode="auto">
          <a:xfrm>
            <a:off x="6462713" y="4236416"/>
            <a:ext cx="274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0" name="Line 64"/>
          <p:cNvSpPr>
            <a:spLocks noChangeShapeType="1"/>
          </p:cNvSpPr>
          <p:nvPr/>
        </p:nvSpPr>
        <p:spPr bwMode="auto">
          <a:xfrm>
            <a:off x="6708775" y="4636466"/>
            <a:ext cx="411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1" name="Line 65"/>
          <p:cNvSpPr>
            <a:spLocks noChangeShapeType="1"/>
          </p:cNvSpPr>
          <p:nvPr/>
        </p:nvSpPr>
        <p:spPr bwMode="auto">
          <a:xfrm>
            <a:off x="6716713" y="4852366"/>
            <a:ext cx="412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2" name="Line 66"/>
          <p:cNvSpPr>
            <a:spLocks noChangeShapeType="1"/>
          </p:cNvSpPr>
          <p:nvPr/>
        </p:nvSpPr>
        <p:spPr bwMode="auto">
          <a:xfrm flipV="1">
            <a:off x="6724650" y="4853953"/>
            <a:ext cx="0" cy="442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3" name="Line 67"/>
          <p:cNvSpPr>
            <a:spLocks noChangeShapeType="1"/>
          </p:cNvSpPr>
          <p:nvPr/>
        </p:nvSpPr>
        <p:spPr bwMode="auto">
          <a:xfrm flipV="1">
            <a:off x="6473825" y="5292103"/>
            <a:ext cx="1377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4" name="Line 68"/>
          <p:cNvSpPr>
            <a:spLocks noChangeShapeType="1"/>
          </p:cNvSpPr>
          <p:nvPr/>
        </p:nvSpPr>
        <p:spPr bwMode="auto">
          <a:xfrm flipV="1">
            <a:off x="7635875" y="5058741"/>
            <a:ext cx="212725" cy="3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5" name="Line 69"/>
          <p:cNvSpPr>
            <a:spLocks noChangeShapeType="1"/>
          </p:cNvSpPr>
          <p:nvPr/>
        </p:nvSpPr>
        <p:spPr bwMode="auto">
          <a:xfrm flipV="1">
            <a:off x="7642225" y="4742828"/>
            <a:ext cx="0" cy="320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66" name="AutoShape 70"/>
          <p:cNvSpPr>
            <a:spLocks noChangeArrowheads="1"/>
          </p:cNvSpPr>
          <p:nvPr/>
        </p:nvSpPr>
        <p:spPr bwMode="auto">
          <a:xfrm rot="10800000">
            <a:off x="6935788" y="4498353"/>
            <a:ext cx="471487" cy="500063"/>
          </a:xfrm>
          <a:prstGeom prst="moon">
            <a:avLst>
              <a:gd name="adj" fmla="val 78870"/>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67" name="Oval 71"/>
          <p:cNvSpPr>
            <a:spLocks noChangeArrowheads="1"/>
          </p:cNvSpPr>
          <p:nvPr/>
        </p:nvSpPr>
        <p:spPr bwMode="auto">
          <a:xfrm>
            <a:off x="6445250" y="5274641"/>
            <a:ext cx="76200"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68" name="Text Box 72"/>
          <p:cNvSpPr txBox="1">
            <a:spLocks noChangeArrowheads="1"/>
          </p:cNvSpPr>
          <p:nvPr/>
        </p:nvSpPr>
        <p:spPr bwMode="auto">
          <a:xfrm>
            <a:off x="4464050" y="38268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a</a:t>
            </a:r>
          </a:p>
        </p:txBody>
      </p:sp>
      <p:sp>
        <p:nvSpPr>
          <p:cNvPr id="55369" name="Text Box 73"/>
          <p:cNvSpPr txBox="1">
            <a:spLocks noChangeArrowheads="1"/>
          </p:cNvSpPr>
          <p:nvPr/>
        </p:nvSpPr>
        <p:spPr bwMode="auto">
          <a:xfrm>
            <a:off x="4540250" y="43602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b</a:t>
            </a:r>
          </a:p>
        </p:txBody>
      </p:sp>
      <p:sp>
        <p:nvSpPr>
          <p:cNvPr id="55370" name="Text Box 74"/>
          <p:cNvSpPr txBox="1">
            <a:spLocks noChangeArrowheads="1"/>
          </p:cNvSpPr>
          <p:nvPr/>
        </p:nvSpPr>
        <p:spPr bwMode="auto">
          <a:xfrm>
            <a:off x="4540250" y="47412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c</a:t>
            </a:r>
          </a:p>
        </p:txBody>
      </p:sp>
      <p:sp>
        <p:nvSpPr>
          <p:cNvPr id="55371" name="Text Box 75"/>
          <p:cNvSpPr txBox="1">
            <a:spLocks noChangeArrowheads="1"/>
          </p:cNvSpPr>
          <p:nvPr/>
        </p:nvSpPr>
        <p:spPr bwMode="auto">
          <a:xfrm>
            <a:off x="4540250" y="51222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d</a:t>
            </a:r>
          </a:p>
        </p:txBody>
      </p:sp>
      <p:sp>
        <p:nvSpPr>
          <p:cNvPr id="55372" name="Text Box 76"/>
          <p:cNvSpPr txBox="1">
            <a:spLocks noChangeArrowheads="1"/>
          </p:cNvSpPr>
          <p:nvPr/>
        </p:nvSpPr>
        <p:spPr bwMode="auto">
          <a:xfrm>
            <a:off x="6445250" y="39030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e</a:t>
            </a:r>
          </a:p>
        </p:txBody>
      </p:sp>
      <p:sp>
        <p:nvSpPr>
          <p:cNvPr id="55373" name="Text Box 77"/>
          <p:cNvSpPr txBox="1">
            <a:spLocks noChangeArrowheads="1"/>
          </p:cNvSpPr>
          <p:nvPr/>
        </p:nvSpPr>
        <p:spPr bwMode="auto">
          <a:xfrm>
            <a:off x="5530850" y="44364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f</a:t>
            </a:r>
          </a:p>
        </p:txBody>
      </p:sp>
      <p:sp>
        <p:nvSpPr>
          <p:cNvPr id="55374" name="Text Box 78"/>
          <p:cNvSpPr txBox="1">
            <a:spLocks noChangeArrowheads="1"/>
          </p:cNvSpPr>
          <p:nvPr/>
        </p:nvSpPr>
        <p:spPr bwMode="auto">
          <a:xfrm>
            <a:off x="6445250" y="51984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g</a:t>
            </a:r>
          </a:p>
        </p:txBody>
      </p:sp>
      <p:sp>
        <p:nvSpPr>
          <p:cNvPr id="55375" name="Text Box 79"/>
          <p:cNvSpPr txBox="1">
            <a:spLocks noChangeArrowheads="1"/>
          </p:cNvSpPr>
          <p:nvPr/>
        </p:nvSpPr>
        <p:spPr bwMode="auto">
          <a:xfrm>
            <a:off x="7435850" y="5212728"/>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h</a:t>
            </a:r>
          </a:p>
        </p:txBody>
      </p:sp>
      <p:sp>
        <p:nvSpPr>
          <p:cNvPr id="55376" name="Text Box 80"/>
          <p:cNvSpPr txBox="1">
            <a:spLocks noChangeArrowheads="1"/>
          </p:cNvSpPr>
          <p:nvPr/>
        </p:nvSpPr>
        <p:spPr bwMode="auto">
          <a:xfrm>
            <a:off x="6673850" y="4831728"/>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i</a:t>
            </a:r>
          </a:p>
        </p:txBody>
      </p:sp>
      <p:sp>
        <p:nvSpPr>
          <p:cNvPr id="55377" name="Text Box 81"/>
          <p:cNvSpPr txBox="1">
            <a:spLocks noChangeArrowheads="1"/>
          </p:cNvSpPr>
          <p:nvPr/>
        </p:nvSpPr>
        <p:spPr bwMode="auto">
          <a:xfrm>
            <a:off x="7435850" y="43602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j</a:t>
            </a:r>
          </a:p>
        </p:txBody>
      </p:sp>
      <p:sp>
        <p:nvSpPr>
          <p:cNvPr id="55378" name="Text Box 82"/>
          <p:cNvSpPr txBox="1">
            <a:spLocks noChangeArrowheads="1"/>
          </p:cNvSpPr>
          <p:nvPr/>
        </p:nvSpPr>
        <p:spPr bwMode="auto">
          <a:xfrm>
            <a:off x="8350250" y="4817441"/>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latin typeface="Tahoma" panose="020B0604030504040204" pitchFamily="34" charset="0"/>
              </a:rPr>
              <a:t>k</a:t>
            </a:r>
          </a:p>
        </p:txBody>
      </p:sp>
      <p:sp>
        <p:nvSpPr>
          <p:cNvPr id="55379" name="Line 83"/>
          <p:cNvSpPr>
            <a:spLocks noChangeShapeType="1"/>
          </p:cNvSpPr>
          <p:nvPr/>
        </p:nvSpPr>
        <p:spPr bwMode="auto">
          <a:xfrm flipV="1">
            <a:off x="6902450" y="5274641"/>
            <a:ext cx="0" cy="2286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0" name="AutoShape 84"/>
          <p:cNvSpPr>
            <a:spLocks noChangeArrowheads="1"/>
          </p:cNvSpPr>
          <p:nvPr/>
        </p:nvSpPr>
        <p:spPr bwMode="auto">
          <a:xfrm>
            <a:off x="7850188" y="4920628"/>
            <a:ext cx="360362"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nvGrpSpPr>
          <p:cNvPr id="55381" name="Group 85"/>
          <p:cNvGrpSpPr>
            <a:grpSpLocks/>
          </p:cNvGrpSpPr>
          <p:nvPr/>
        </p:nvGrpSpPr>
        <p:grpSpPr bwMode="auto">
          <a:xfrm>
            <a:off x="6750050" y="5503241"/>
            <a:ext cx="304800" cy="76200"/>
            <a:chOff x="3072" y="3024"/>
            <a:chExt cx="192" cy="48"/>
          </a:xfrm>
        </p:grpSpPr>
        <p:sp>
          <p:nvSpPr>
            <p:cNvPr id="55398" name="Line 86"/>
            <p:cNvSpPr>
              <a:spLocks noChangeShapeType="1"/>
            </p:cNvSpPr>
            <p:nvPr/>
          </p:nvSpPr>
          <p:spPr bwMode="auto">
            <a:xfrm>
              <a:off x="3072" y="3024"/>
              <a:ext cx="192"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9" name="Line 87"/>
            <p:cNvSpPr>
              <a:spLocks noChangeShapeType="1"/>
            </p:cNvSpPr>
            <p:nvPr/>
          </p:nvSpPr>
          <p:spPr bwMode="auto">
            <a:xfrm>
              <a:off x="3072" y="3072"/>
              <a:ext cx="192"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82" name="Line 88"/>
          <p:cNvSpPr>
            <a:spLocks noChangeShapeType="1"/>
          </p:cNvSpPr>
          <p:nvPr/>
        </p:nvSpPr>
        <p:spPr bwMode="auto">
          <a:xfrm flipV="1">
            <a:off x="6902450" y="5579441"/>
            <a:ext cx="0" cy="2286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3" name="AutoShape 89"/>
          <p:cNvSpPr>
            <a:spLocks noChangeArrowheads="1"/>
          </p:cNvSpPr>
          <p:nvPr/>
        </p:nvSpPr>
        <p:spPr bwMode="auto">
          <a:xfrm rot="10800000">
            <a:off x="6826250" y="5808041"/>
            <a:ext cx="152400" cy="152400"/>
          </a:xfrm>
          <a:prstGeom prst="triangle">
            <a:avLst>
              <a:gd name="adj" fmla="val 50000"/>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84" name="Line 90"/>
          <p:cNvSpPr>
            <a:spLocks noChangeShapeType="1"/>
          </p:cNvSpPr>
          <p:nvPr/>
        </p:nvSpPr>
        <p:spPr bwMode="auto">
          <a:xfrm flipH="1">
            <a:off x="228600" y="1439863"/>
            <a:ext cx="477838"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85" name="Line 91"/>
          <p:cNvSpPr>
            <a:spLocks noChangeShapeType="1"/>
          </p:cNvSpPr>
          <p:nvPr/>
        </p:nvSpPr>
        <p:spPr bwMode="auto">
          <a:xfrm flipH="1">
            <a:off x="266700" y="1920875"/>
            <a:ext cx="477838"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86" name="Line 92"/>
          <p:cNvSpPr>
            <a:spLocks noChangeShapeType="1"/>
          </p:cNvSpPr>
          <p:nvPr/>
        </p:nvSpPr>
        <p:spPr bwMode="auto">
          <a:xfrm flipH="1">
            <a:off x="247650" y="2144713"/>
            <a:ext cx="477838"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87" name="Line 93"/>
          <p:cNvSpPr>
            <a:spLocks noChangeShapeType="1"/>
          </p:cNvSpPr>
          <p:nvPr/>
        </p:nvSpPr>
        <p:spPr bwMode="auto">
          <a:xfrm flipH="1">
            <a:off x="242888" y="2697163"/>
            <a:ext cx="477837"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88" name="Line 94"/>
          <p:cNvSpPr>
            <a:spLocks noChangeShapeType="1"/>
          </p:cNvSpPr>
          <p:nvPr/>
        </p:nvSpPr>
        <p:spPr bwMode="auto">
          <a:xfrm flipH="1">
            <a:off x="3832225" y="4168153"/>
            <a:ext cx="477838"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89" name="Line 95"/>
          <p:cNvSpPr>
            <a:spLocks noChangeShapeType="1"/>
          </p:cNvSpPr>
          <p:nvPr/>
        </p:nvSpPr>
        <p:spPr bwMode="auto">
          <a:xfrm flipH="1">
            <a:off x="3870325" y="4649166"/>
            <a:ext cx="477838"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90" name="Line 96"/>
          <p:cNvSpPr>
            <a:spLocks noChangeShapeType="1"/>
          </p:cNvSpPr>
          <p:nvPr/>
        </p:nvSpPr>
        <p:spPr bwMode="auto">
          <a:xfrm flipH="1">
            <a:off x="3851275" y="4873003"/>
            <a:ext cx="477838"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91" name="Line 97"/>
          <p:cNvSpPr>
            <a:spLocks noChangeShapeType="1"/>
          </p:cNvSpPr>
          <p:nvPr/>
        </p:nvSpPr>
        <p:spPr bwMode="auto">
          <a:xfrm flipH="1">
            <a:off x="3846513" y="5425453"/>
            <a:ext cx="477837"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92" name="Line 98"/>
          <p:cNvSpPr>
            <a:spLocks noChangeShapeType="1"/>
          </p:cNvSpPr>
          <p:nvPr/>
        </p:nvSpPr>
        <p:spPr bwMode="auto">
          <a:xfrm flipH="1">
            <a:off x="4949825" y="2476500"/>
            <a:ext cx="477838" cy="1588"/>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93" name="Line 99"/>
          <p:cNvSpPr>
            <a:spLocks noChangeShapeType="1"/>
          </p:cNvSpPr>
          <p:nvPr/>
        </p:nvSpPr>
        <p:spPr bwMode="auto">
          <a:xfrm flipH="1">
            <a:off x="8434388" y="5198441"/>
            <a:ext cx="477837" cy="1587"/>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94" name="Text Box 100"/>
          <p:cNvSpPr txBox="1">
            <a:spLocks noChangeArrowheads="1"/>
          </p:cNvSpPr>
          <p:nvPr/>
        </p:nvSpPr>
        <p:spPr bwMode="auto">
          <a:xfrm>
            <a:off x="5486400" y="2362200"/>
            <a:ext cx="1792288" cy="701675"/>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000" b="1">
                <a:latin typeface="Tahoma" panose="020B0604030504040204" pitchFamily="34" charset="0"/>
              </a:rPr>
              <a:t>Modify Function</a:t>
            </a:r>
          </a:p>
        </p:txBody>
      </p:sp>
      <p:sp>
        <p:nvSpPr>
          <p:cNvPr id="55395" name="Text Box 101"/>
          <p:cNvSpPr txBox="1">
            <a:spLocks noChangeArrowheads="1"/>
          </p:cNvSpPr>
          <p:nvPr/>
        </p:nvSpPr>
        <p:spPr bwMode="auto">
          <a:xfrm>
            <a:off x="161925" y="4355478"/>
            <a:ext cx="3635375" cy="1130300"/>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2000" b="1">
                <a:latin typeface="Tahoma" panose="020B0604030504040204" pitchFamily="34" charset="0"/>
              </a:rPr>
              <a:t>Modify Specification:</a:t>
            </a:r>
          </a:p>
          <a:p>
            <a:pPr algn="ctr" eaLnBrk="1" hangingPunct="1">
              <a:spcBef>
                <a:spcPct val="50000"/>
              </a:spcBef>
              <a:buClrTx/>
              <a:buSzTx/>
              <a:buFontTx/>
              <a:buNone/>
            </a:pPr>
            <a:r>
              <a:rPr lang="en-US" altLang="en-US" sz="1800" b="1">
                <a:latin typeface="Tahoma" panose="020B0604030504040204" pitchFamily="34" charset="0"/>
              </a:rPr>
              <a:t>Noise, Delay and Temperature</a:t>
            </a:r>
          </a:p>
        </p:txBody>
      </p:sp>
      <p:pic>
        <p:nvPicPr>
          <p:cNvPr id="55396" name="Picture 102"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2900" y="952500"/>
            <a:ext cx="11811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97"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B8242BC2-C0B1-4C46-9A1B-CED6FA96028C}" type="slidenum">
              <a:rPr lang="en-US" altLang="en-US" sz="1200"/>
              <a:pPr algn="r" eaLnBrk="1" hangingPunct="1">
                <a:spcBef>
                  <a:spcPct val="0"/>
                </a:spcBef>
                <a:buClrTx/>
                <a:buSzTx/>
                <a:buFontTx/>
                <a:buNone/>
              </a:pPr>
              <a:t>30</a:t>
            </a:fld>
            <a:endParaRPr lang="en-US" altLang="en-US" sz="1200"/>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0" y="0"/>
            <a:ext cx="9144000" cy="838200"/>
          </a:xfrm>
        </p:spPr>
        <p:txBody>
          <a:bodyPr/>
          <a:lstStyle/>
          <a:p>
            <a:pPr eaLnBrk="1" hangingPunct="1"/>
            <a:r>
              <a:rPr lang="en-US" altLang="zh-CN" sz="3600" b="1" dirty="0">
                <a:ea typeface="SimSun" panose="02010600030101010101" pitchFamily="2" charset="-122"/>
              </a:rPr>
              <a:t>IP Trust &amp; IP Security </a:t>
            </a:r>
          </a:p>
        </p:txBody>
      </p:sp>
      <p:sp>
        <p:nvSpPr>
          <p:cNvPr id="57347" name="Rectangle 3"/>
          <p:cNvSpPr>
            <a:spLocks noGrp="1" noChangeArrowheads="1"/>
          </p:cNvSpPr>
          <p:nvPr>
            <p:ph idx="1"/>
          </p:nvPr>
        </p:nvSpPr>
        <p:spPr/>
        <p:txBody>
          <a:bodyPr/>
          <a:lstStyle/>
          <a:p>
            <a:pPr eaLnBrk="1" hangingPunct="1"/>
            <a:r>
              <a:rPr lang="en-US" altLang="zh-CN" sz="2800" b="1" dirty="0">
                <a:ea typeface="SimSun" panose="02010600030101010101" pitchFamily="2" charset="-122"/>
              </a:rPr>
              <a:t>IP Trust</a:t>
            </a:r>
          </a:p>
          <a:p>
            <a:pPr lvl="1" eaLnBrk="1" hangingPunct="1"/>
            <a:r>
              <a:rPr lang="en-US" altLang="zh-CN" sz="2400" dirty="0">
                <a:ea typeface="SimSun" panose="02010600030101010101" pitchFamily="2" charset="-122"/>
              </a:rPr>
              <a:t>Detect </a:t>
            </a:r>
            <a:r>
              <a:rPr lang="en-US" altLang="zh-CN" sz="2400" b="1" i="1" dirty="0">
                <a:ea typeface="SimSun" panose="02010600030101010101" pitchFamily="2" charset="-122"/>
              </a:rPr>
              <a:t>malicious</a:t>
            </a:r>
            <a:r>
              <a:rPr lang="en-US" altLang="zh-CN" sz="2400" dirty="0">
                <a:ea typeface="SimSun" panose="02010600030101010101" pitchFamily="2" charset="-122"/>
              </a:rPr>
              <a:t> circuits inserted by IP designers </a:t>
            </a:r>
          </a:p>
          <a:p>
            <a:pPr lvl="2" eaLnBrk="1" hangingPunct="1"/>
            <a:r>
              <a:rPr lang="en-US" altLang="zh-CN" sz="2000" b="1" u="sng" dirty="0">
                <a:ea typeface="SimSun" panose="02010600030101010101" pitchFamily="2" charset="-122"/>
              </a:rPr>
              <a:t>Goal to Verify Trust</a:t>
            </a:r>
            <a:r>
              <a:rPr lang="en-US" altLang="zh-CN" sz="2000" dirty="0">
                <a:ea typeface="SimSun" panose="02010600030101010101" pitchFamily="2" charset="-122"/>
              </a:rPr>
              <a:t>: Protect IP buyers, e.g., </a:t>
            </a:r>
            <a:r>
              <a:rPr lang="en-US" altLang="zh-CN" sz="2000" dirty="0" err="1">
                <a:ea typeface="SimSun" panose="02010600030101010101" pitchFamily="2" charset="-122"/>
              </a:rPr>
              <a:t>SoC</a:t>
            </a:r>
            <a:r>
              <a:rPr lang="en-US" altLang="zh-CN" sz="2000" dirty="0">
                <a:ea typeface="SimSun" panose="02010600030101010101" pitchFamily="2" charset="-122"/>
              </a:rPr>
              <a:t> integrators</a:t>
            </a:r>
          </a:p>
          <a:p>
            <a:pPr lvl="1" eaLnBrk="1" hangingPunct="1"/>
            <a:r>
              <a:rPr lang="en-US" altLang="zh-CN" sz="2400" dirty="0">
                <a:ea typeface="SimSun" panose="02010600030101010101" pitchFamily="2" charset="-122"/>
              </a:rPr>
              <a:t>Focus of this lecture</a:t>
            </a:r>
          </a:p>
          <a:p>
            <a:pPr lvl="1" eaLnBrk="1" hangingPunct="1"/>
            <a:endParaRPr lang="en-US" altLang="zh-CN" sz="2400" b="1" dirty="0">
              <a:ea typeface="SimSun" panose="02010600030101010101" pitchFamily="2" charset="-122"/>
            </a:endParaRPr>
          </a:p>
          <a:p>
            <a:pPr eaLnBrk="1" hangingPunct="1"/>
            <a:r>
              <a:rPr lang="en-US" altLang="zh-CN" sz="2800" b="1" dirty="0">
                <a:ea typeface="SimSun" panose="02010600030101010101" pitchFamily="2" charset="-122"/>
              </a:rPr>
              <a:t>IP Security</a:t>
            </a:r>
          </a:p>
          <a:p>
            <a:pPr lvl="1" eaLnBrk="1" hangingPunct="1"/>
            <a:r>
              <a:rPr lang="en-US" altLang="zh-CN" sz="2400" dirty="0">
                <a:ea typeface="SimSun" panose="02010600030101010101" pitchFamily="2" charset="-122"/>
              </a:rPr>
              <a:t>Information leakage, side-channel leakage, backdoors, functional bugs and flaws, illegal IP use/overuse, etc. </a:t>
            </a:r>
          </a:p>
          <a:p>
            <a:pPr lvl="2" eaLnBrk="1" hangingPunct="1"/>
            <a:r>
              <a:rPr lang="en-US" altLang="zh-CN" sz="2000" b="1" u="sng" dirty="0">
                <a:ea typeface="SimSun" panose="02010600030101010101" pitchFamily="2" charset="-122"/>
              </a:rPr>
              <a:t>Goal to Verify Security</a:t>
            </a:r>
            <a:r>
              <a:rPr lang="en-US" altLang="zh-CN" sz="2000" dirty="0">
                <a:ea typeface="SimSun" panose="02010600030101010101" pitchFamily="2" charset="-122"/>
              </a:rPr>
              <a:t>: Protect application</a:t>
            </a:r>
          </a:p>
        </p:txBody>
      </p:sp>
      <p:sp>
        <p:nvSpPr>
          <p:cNvPr id="57348"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2F4E22B1-FBD4-40F0-9443-63E09B9EEE80}" type="slidenum">
              <a:rPr lang="en-US" altLang="en-US" sz="1200"/>
              <a:pPr algn="r" eaLnBrk="1" hangingPunct="1">
                <a:spcBef>
                  <a:spcPct val="0"/>
                </a:spcBef>
                <a:buClrTx/>
                <a:buSzTx/>
                <a:buFontTx/>
                <a:buNone/>
              </a:pPr>
              <a:t>31</a:t>
            </a:fld>
            <a:endParaRPr lang="en-US" altLang="en-US" sz="120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2773180"/>
            <a:ext cx="9144000" cy="838200"/>
          </a:xfrm>
        </p:spPr>
        <p:txBody>
          <a:bodyPr/>
          <a:lstStyle/>
          <a:p>
            <a:pPr eaLnBrk="1" hangingPunct="1"/>
            <a:r>
              <a:rPr lang="en-US" altLang="zh-CN" b="1" dirty="0">
                <a:ea typeface="SimSun" panose="02010600030101010101" pitchFamily="2" charset="-122"/>
              </a:rPr>
              <a:t>IP Trust</a:t>
            </a:r>
          </a:p>
        </p:txBody>
      </p:sp>
      <p:sp>
        <p:nvSpPr>
          <p:cNvPr id="59396"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1B8526C0-FCA2-43B7-8909-06EDAFDCDC54}" type="slidenum">
              <a:rPr lang="en-US" altLang="en-US" sz="1200"/>
              <a:pPr algn="r" eaLnBrk="1" hangingPunct="1">
                <a:spcBef>
                  <a:spcPct val="0"/>
                </a:spcBef>
                <a:buClrTx/>
                <a:buSzTx/>
                <a:buFontTx/>
                <a:buNone/>
              </a:pPr>
              <a:t>32</a:t>
            </a:fld>
            <a:endParaRPr lang="en-US" altLang="en-US" sz="120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0"/>
            <a:ext cx="9144000" cy="838200"/>
          </a:xfrm>
        </p:spPr>
        <p:txBody>
          <a:bodyPr/>
          <a:lstStyle/>
          <a:p>
            <a:pPr eaLnBrk="1" hangingPunct="1"/>
            <a:r>
              <a:rPr lang="en-US" altLang="zh-CN" b="1" dirty="0">
                <a:ea typeface="SimSun" panose="02010600030101010101" pitchFamily="2" charset="-122"/>
              </a:rPr>
              <a:t>IP Trust</a:t>
            </a:r>
          </a:p>
        </p:txBody>
      </p:sp>
      <p:sp>
        <p:nvSpPr>
          <p:cNvPr id="59395" name="Rectangle 3"/>
          <p:cNvSpPr>
            <a:spLocks noGrp="1" noChangeArrowheads="1"/>
          </p:cNvSpPr>
          <p:nvPr>
            <p:ph idx="1"/>
          </p:nvPr>
        </p:nvSpPr>
        <p:spPr/>
        <p:txBody>
          <a:bodyPr/>
          <a:lstStyle/>
          <a:p>
            <a:pPr eaLnBrk="1" hangingPunct="1"/>
            <a:r>
              <a:rPr lang="en-US" altLang="zh-CN" sz="2400" dirty="0">
                <a:ea typeface="SimSun" panose="02010600030101010101" pitchFamily="2" charset="-122"/>
              </a:rPr>
              <a:t>IPs from untrusted vendors need to be verified for trust before use in a system design</a:t>
            </a:r>
          </a:p>
          <a:p>
            <a:pPr eaLnBrk="1" hangingPunct="1"/>
            <a:r>
              <a:rPr lang="en-US" altLang="zh-CN" sz="2400" b="1" dirty="0">
                <a:ea typeface="SimSun" panose="02010600030101010101" pitchFamily="2" charset="-122"/>
              </a:rPr>
              <a:t>Problem statement:</a:t>
            </a:r>
            <a:r>
              <a:rPr lang="en-US" altLang="zh-CN" sz="2400" dirty="0">
                <a:ea typeface="SimSun" panose="02010600030101010101" pitchFamily="2" charset="-122"/>
              </a:rPr>
              <a:t> How can one establish that the IP does exactly as the specification, nothing less, nothing more?</a:t>
            </a:r>
          </a:p>
          <a:p>
            <a:pPr eaLnBrk="1" hangingPunct="1"/>
            <a:endParaRPr lang="en-US" altLang="zh-CN" sz="2400" dirty="0">
              <a:ea typeface="SimSun" panose="02010600030101010101" pitchFamily="2" charset="-122"/>
            </a:endParaRPr>
          </a:p>
          <a:p>
            <a:pPr eaLnBrk="1" hangingPunct="1"/>
            <a:r>
              <a:rPr lang="en-US" altLang="zh-CN" sz="2400" b="1" dirty="0">
                <a:ea typeface="SimSun" panose="02010600030101010101" pitchFamily="2" charset="-122"/>
              </a:rPr>
              <a:t>IP Cores</a:t>
            </a:r>
            <a:r>
              <a:rPr lang="en-US" altLang="zh-CN" sz="2400" dirty="0">
                <a:ea typeface="SimSun" panose="02010600030101010101" pitchFamily="2" charset="-122"/>
              </a:rPr>
              <a:t>: </a:t>
            </a:r>
          </a:p>
          <a:p>
            <a:pPr lvl="1" eaLnBrk="1" hangingPunct="1"/>
            <a:r>
              <a:rPr lang="en-US" altLang="zh-CN" sz="2000" dirty="0">
                <a:ea typeface="SimSun" panose="02010600030101010101" pitchFamily="2" charset="-122"/>
              </a:rPr>
              <a:t>Soft IP, firm IP and hard IP</a:t>
            </a:r>
          </a:p>
          <a:p>
            <a:pPr lvl="1" eaLnBrk="1" hangingPunct="1"/>
            <a:endParaRPr lang="en-US" altLang="zh-CN" sz="2000" dirty="0">
              <a:ea typeface="SimSun" panose="02010600030101010101" pitchFamily="2" charset="-122"/>
            </a:endParaRPr>
          </a:p>
          <a:p>
            <a:pPr eaLnBrk="1" hangingPunct="1"/>
            <a:r>
              <a:rPr lang="en-US" altLang="zh-CN" sz="2400" b="1" dirty="0">
                <a:ea typeface="SimSun" panose="02010600030101010101" pitchFamily="2" charset="-122"/>
              </a:rPr>
              <a:t>Challenges</a:t>
            </a:r>
            <a:r>
              <a:rPr lang="en-US" altLang="zh-CN" sz="2400" dirty="0">
                <a:ea typeface="SimSun" panose="02010600030101010101" pitchFamily="2" charset="-122"/>
              </a:rPr>
              <a:t>:</a:t>
            </a:r>
          </a:p>
          <a:p>
            <a:pPr lvl="1" eaLnBrk="1" hangingPunct="1"/>
            <a:r>
              <a:rPr lang="en-US" altLang="zh-CN" sz="2000" dirty="0">
                <a:ea typeface="SimSun" panose="02010600030101010101" pitchFamily="2" charset="-122"/>
              </a:rPr>
              <a:t>No known golden model for the IP</a:t>
            </a:r>
          </a:p>
          <a:p>
            <a:pPr lvl="2" eaLnBrk="1" hangingPunct="1"/>
            <a:r>
              <a:rPr lang="en-US" altLang="zh-CN" sz="1800" dirty="0">
                <a:ea typeface="SimSun" panose="02010600030101010101" pitchFamily="2" charset="-122"/>
              </a:rPr>
              <a:t>Spec could be assumed as golden</a:t>
            </a:r>
          </a:p>
          <a:p>
            <a:pPr lvl="1" eaLnBrk="1" hangingPunct="1"/>
            <a:r>
              <a:rPr lang="en-US" altLang="zh-CN" sz="2000" dirty="0">
                <a:ea typeface="SimSun" panose="02010600030101010101" pitchFamily="2" charset="-122"/>
              </a:rPr>
              <a:t>Soft IP is just a code so that we cannot read its implementation</a:t>
            </a:r>
          </a:p>
          <a:p>
            <a:pPr lvl="1" eaLnBrk="1" hangingPunct="1"/>
            <a:endParaRPr lang="en-US" altLang="zh-CN" sz="2000" dirty="0">
              <a:ea typeface="SimSun" panose="02010600030101010101" pitchFamily="2" charset="-122"/>
            </a:endParaRPr>
          </a:p>
          <a:p>
            <a:pPr lvl="1" eaLnBrk="1" hangingPunct="1"/>
            <a:endParaRPr lang="en-US" altLang="zh-CN" sz="1800" dirty="0">
              <a:latin typeface="Times New Roman" panose="02020603050405020304" pitchFamily="18" charset="0"/>
              <a:ea typeface="SimSun" panose="02010600030101010101" pitchFamily="2" charset="-122"/>
            </a:endParaRPr>
          </a:p>
          <a:p>
            <a:pPr eaLnBrk="1" hangingPunct="1"/>
            <a:endParaRPr lang="en-US" altLang="zh-CN" sz="2000" dirty="0">
              <a:ea typeface="SimSun" panose="02010600030101010101" pitchFamily="2" charset="-122"/>
            </a:endParaRPr>
          </a:p>
        </p:txBody>
      </p:sp>
      <p:sp>
        <p:nvSpPr>
          <p:cNvPr id="59396"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1B8526C0-FCA2-43B7-8909-06EDAFDCDC54}" type="slidenum">
              <a:rPr lang="en-US" altLang="en-US" sz="1200"/>
              <a:pPr algn="r" eaLnBrk="1" hangingPunct="1">
                <a:spcBef>
                  <a:spcPct val="0"/>
                </a:spcBef>
                <a:buClrTx/>
                <a:buSzTx/>
                <a:buFontTx/>
                <a:buNone/>
              </a:pPr>
              <a:t>33</a:t>
            </a:fld>
            <a:endParaRPr lang="en-US" altLang="en-US" sz="1200"/>
          </a:p>
        </p:txBody>
      </p:sp>
    </p:spTree>
    <p:extLst>
      <p:ext uri="{BB962C8B-B14F-4D97-AF65-F5344CB8AC3E}">
        <p14:creationId xmlns:p14="http://schemas.microsoft.com/office/powerpoint/2010/main" val="1587883809"/>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0" y="0"/>
            <a:ext cx="9144000" cy="838200"/>
          </a:xfrm>
        </p:spPr>
        <p:txBody>
          <a:bodyPr/>
          <a:lstStyle/>
          <a:p>
            <a:pPr eaLnBrk="1" hangingPunct="1"/>
            <a:r>
              <a:rPr lang="en-US" altLang="zh-CN" b="1" dirty="0">
                <a:ea typeface="SimSun" panose="02010600030101010101" pitchFamily="2" charset="-122"/>
              </a:rPr>
              <a:t>Approaches for Pre-synthesis</a:t>
            </a:r>
            <a:endParaRPr lang="en-US" altLang="en-US" dirty="0"/>
          </a:p>
        </p:txBody>
      </p:sp>
      <p:sp>
        <p:nvSpPr>
          <p:cNvPr id="61443" name="Content Placeholder 2"/>
          <p:cNvSpPr>
            <a:spLocks noGrp="1"/>
          </p:cNvSpPr>
          <p:nvPr>
            <p:ph idx="1"/>
          </p:nvPr>
        </p:nvSpPr>
        <p:spPr/>
        <p:txBody>
          <a:bodyPr/>
          <a:lstStyle/>
          <a:p>
            <a:pPr eaLnBrk="1" hangingPunct="1"/>
            <a:endParaRPr lang="en-US" altLang="zh-CN" sz="2400" dirty="0">
              <a:ea typeface="SimSun" panose="02010600030101010101" pitchFamily="2" charset="-122"/>
            </a:endParaRPr>
          </a:p>
          <a:p>
            <a:pPr eaLnBrk="1" hangingPunct="1"/>
            <a:r>
              <a:rPr lang="en-US" altLang="zh-CN" sz="2400" b="1" dirty="0">
                <a:ea typeface="SimSun" panose="02010600030101010101" pitchFamily="2" charset="-122"/>
              </a:rPr>
              <a:t>Formal verification</a:t>
            </a:r>
          </a:p>
          <a:p>
            <a:pPr lvl="1" eaLnBrk="1" hangingPunct="1"/>
            <a:r>
              <a:rPr lang="en-US" altLang="zh-CN" sz="2000" dirty="0">
                <a:ea typeface="SimSun" panose="02010600030101010101" pitchFamily="2" charset="-122"/>
              </a:rPr>
              <a:t>Property checking</a:t>
            </a:r>
          </a:p>
          <a:p>
            <a:pPr lvl="1" eaLnBrk="1" hangingPunct="1"/>
            <a:r>
              <a:rPr lang="en-US" altLang="zh-CN" sz="2000" dirty="0">
                <a:ea typeface="SimSun" panose="02010600030101010101" pitchFamily="2" charset="-122"/>
              </a:rPr>
              <a:t>Model checking</a:t>
            </a:r>
          </a:p>
          <a:p>
            <a:pPr lvl="1" eaLnBrk="1" hangingPunct="1"/>
            <a:r>
              <a:rPr lang="en-US" altLang="zh-CN" sz="2000" dirty="0">
                <a:ea typeface="SimSun" panose="02010600030101010101" pitchFamily="2" charset="-122"/>
              </a:rPr>
              <a:t>Equivalence checking</a:t>
            </a:r>
          </a:p>
          <a:p>
            <a:pPr lvl="1" eaLnBrk="1" hangingPunct="1"/>
            <a:endParaRPr lang="en-US" altLang="zh-CN" sz="2000" dirty="0">
              <a:ea typeface="SimSun" panose="02010600030101010101" pitchFamily="2" charset="-122"/>
            </a:endParaRPr>
          </a:p>
          <a:p>
            <a:pPr eaLnBrk="1" hangingPunct="1"/>
            <a:r>
              <a:rPr lang="en-US" altLang="zh-CN" sz="2400" b="1" dirty="0">
                <a:ea typeface="SimSun" panose="02010600030101010101" pitchFamily="2" charset="-122"/>
              </a:rPr>
              <a:t>Coverage analysis</a:t>
            </a:r>
          </a:p>
          <a:p>
            <a:pPr lvl="1" eaLnBrk="1" hangingPunct="1"/>
            <a:r>
              <a:rPr lang="en-US" altLang="zh-CN" sz="2000" dirty="0">
                <a:ea typeface="SimSun" panose="02010600030101010101" pitchFamily="2" charset="-122"/>
              </a:rPr>
              <a:t>Code coverage</a:t>
            </a:r>
          </a:p>
          <a:p>
            <a:pPr lvl="1" eaLnBrk="1" hangingPunct="1"/>
            <a:r>
              <a:rPr lang="en-US" altLang="zh-CN" sz="2000" dirty="0">
                <a:ea typeface="SimSun" panose="02010600030101010101" pitchFamily="2" charset="-122"/>
              </a:rPr>
              <a:t>Functional coverage</a:t>
            </a:r>
          </a:p>
          <a:p>
            <a:pPr eaLnBrk="1" hangingPunct="1"/>
            <a:endParaRPr lang="en-US" altLang="zh-CN" sz="3200" dirty="0">
              <a:ea typeface="SimSun" panose="02010600030101010101" pitchFamily="2" charset="-122"/>
            </a:endParaRPr>
          </a:p>
          <a:p>
            <a:pPr eaLnBrk="1" hangingPunct="1"/>
            <a:endParaRPr lang="en-US" altLang="en-US" dirty="0"/>
          </a:p>
        </p:txBody>
      </p:sp>
      <p:sp>
        <p:nvSpPr>
          <p:cNvPr id="6144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68E6C246-FE75-43D3-B44A-438694B57AF4}" type="slidenum">
              <a:rPr lang="en-US" altLang="en-US" sz="1200"/>
              <a:pPr>
                <a:spcBef>
                  <a:spcPct val="0"/>
                </a:spcBef>
                <a:buClrTx/>
                <a:buSzTx/>
                <a:buFontTx/>
                <a:buNone/>
              </a:pPr>
              <a:t>34</a:t>
            </a:fld>
            <a:endParaRPr lang="en-US" altLang="en-US"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0" y="0"/>
            <a:ext cx="9296400" cy="838200"/>
          </a:xfrm>
        </p:spPr>
        <p:txBody>
          <a:bodyPr/>
          <a:lstStyle/>
          <a:p>
            <a:pPr eaLnBrk="1" hangingPunct="1"/>
            <a:r>
              <a:rPr lang="en-US" altLang="zh-CN" b="1" dirty="0">
                <a:ea typeface="SimSun" panose="02010600030101010101" pitchFamily="2" charset="-122"/>
              </a:rPr>
              <a:t>Formal Verification</a:t>
            </a:r>
            <a:endParaRPr lang="zh-CN" altLang="en-US" b="1" dirty="0">
              <a:ea typeface="SimSun" panose="02010600030101010101" pitchFamily="2" charset="-122"/>
            </a:endParaRPr>
          </a:p>
        </p:txBody>
      </p:sp>
      <p:sp>
        <p:nvSpPr>
          <p:cNvPr id="63491" name="Rectangle 3"/>
          <p:cNvSpPr>
            <a:spLocks noChangeArrowheads="1"/>
          </p:cNvSpPr>
          <p:nvPr/>
        </p:nvSpPr>
        <p:spPr bwMode="auto">
          <a:xfrm>
            <a:off x="152400" y="990600"/>
            <a:ext cx="8646826" cy="5020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00150" indent="-28575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zh-CN" sz="2800" b="1" dirty="0">
                <a:ea typeface="SimSun" panose="02010600030101010101" pitchFamily="2" charset="-122"/>
              </a:rPr>
              <a:t>Formal verification </a:t>
            </a:r>
          </a:p>
          <a:p>
            <a:pPr lvl="1" eaLnBrk="1" hangingPunct="1">
              <a:spcBef>
                <a:spcPct val="30000"/>
              </a:spcBef>
              <a:buClrTx/>
              <a:buSzTx/>
              <a:buFontTx/>
              <a:buBlip>
                <a:blip r:embed="rId3"/>
              </a:buBlip>
            </a:pPr>
            <a:r>
              <a:rPr lang="en-US" altLang="zh-CN" sz="2400" dirty="0">
                <a:ea typeface="SimSun" panose="02010600030101010101" pitchFamily="2" charset="-122"/>
              </a:rPr>
              <a:t>Ensuring IP core is exactly same as its specification</a:t>
            </a:r>
          </a:p>
          <a:p>
            <a:pPr lvl="1" eaLnBrk="1" hangingPunct="1">
              <a:spcBef>
                <a:spcPct val="30000"/>
              </a:spcBef>
              <a:buClrTx/>
              <a:buSzTx/>
              <a:buFontTx/>
              <a:buBlip>
                <a:blip r:embed="rId3"/>
              </a:buBlip>
            </a:pPr>
            <a:r>
              <a:rPr lang="en-US" altLang="zh-CN" sz="2400" dirty="0">
                <a:ea typeface="SimSun" panose="02010600030101010101" pitchFamily="2" charset="-122"/>
              </a:rPr>
              <a:t>Three types of verification methods</a:t>
            </a:r>
          </a:p>
          <a:p>
            <a:pPr lvl="2" eaLnBrk="1" hangingPunct="1">
              <a:spcBef>
                <a:spcPct val="30000"/>
              </a:spcBef>
              <a:buClrTx/>
              <a:buSzTx/>
              <a:buFontTx/>
              <a:buBlip>
                <a:blip r:embed="rId3"/>
              </a:buBlip>
            </a:pPr>
            <a:r>
              <a:rPr lang="en-US" altLang="zh-CN" sz="2000" b="1" dirty="0">
                <a:ea typeface="SimSun" panose="02010600030101010101" pitchFamily="2" charset="-122"/>
              </a:rPr>
              <a:t>Property checking</a:t>
            </a:r>
            <a:r>
              <a:rPr lang="en-US" altLang="zh-CN" sz="2000" dirty="0">
                <a:ea typeface="SimSun" panose="02010600030101010101" pitchFamily="2" charset="-122"/>
              </a:rPr>
              <a:t>: Every </a:t>
            </a:r>
            <a:r>
              <a:rPr lang="en-US" altLang="zh-CN" sz="2000" i="1" dirty="0">
                <a:ea typeface="SimSun" panose="02010600030101010101" pitchFamily="2" charset="-122"/>
              </a:rPr>
              <a:t>requirement</a:t>
            </a:r>
            <a:r>
              <a:rPr lang="en-US" altLang="zh-CN" sz="2000" dirty="0">
                <a:ea typeface="SimSun" panose="02010600030101010101" pitchFamily="2" charset="-122"/>
              </a:rPr>
              <a:t> is defined as assertion in </a:t>
            </a:r>
            <a:r>
              <a:rPr lang="en-US" altLang="zh-CN" sz="2000" dirty="0" err="1">
                <a:ea typeface="SimSun" panose="02010600030101010101" pitchFamily="2" charset="-122"/>
              </a:rPr>
              <a:t>testbench</a:t>
            </a:r>
            <a:r>
              <a:rPr lang="en-US" altLang="zh-CN" sz="2000" dirty="0">
                <a:ea typeface="SimSun" panose="02010600030101010101" pitchFamily="2" charset="-122"/>
              </a:rPr>
              <a:t> and is checked</a:t>
            </a:r>
          </a:p>
          <a:p>
            <a:pPr lvl="2" eaLnBrk="1" hangingPunct="1">
              <a:spcBef>
                <a:spcPct val="30000"/>
              </a:spcBef>
              <a:buClrTx/>
              <a:buSzTx/>
              <a:buFontTx/>
              <a:buBlip>
                <a:blip r:embed="rId3"/>
              </a:buBlip>
            </a:pPr>
            <a:r>
              <a:rPr lang="en-US" altLang="zh-CN" sz="2000" b="1" dirty="0">
                <a:ea typeface="SimSun" panose="02010600030101010101" pitchFamily="2" charset="-122"/>
              </a:rPr>
              <a:t>Equivalence checking</a:t>
            </a:r>
            <a:r>
              <a:rPr lang="en-US" altLang="zh-CN" sz="2000" dirty="0">
                <a:ea typeface="SimSun" panose="02010600030101010101" pitchFamily="2" charset="-122"/>
              </a:rPr>
              <a:t>: Check the equivalence of RTL code, gate-level netlist and GDSII file</a:t>
            </a:r>
            <a:endParaRPr lang="en-US" altLang="zh-CN" sz="2400" dirty="0">
              <a:ea typeface="SimSun" panose="02010600030101010101" pitchFamily="2" charset="-122"/>
            </a:endParaRPr>
          </a:p>
          <a:p>
            <a:pPr lvl="2" eaLnBrk="1" hangingPunct="1">
              <a:spcBef>
                <a:spcPct val="30000"/>
              </a:spcBef>
              <a:buClrTx/>
              <a:buSzTx/>
              <a:buFontTx/>
              <a:buBlip>
                <a:blip r:embed="rId3"/>
              </a:buBlip>
            </a:pPr>
            <a:r>
              <a:rPr lang="en-US" altLang="zh-CN" sz="2000" b="1" dirty="0">
                <a:ea typeface="SimSun" panose="02010600030101010101" pitchFamily="2" charset="-122"/>
              </a:rPr>
              <a:t>Model checking </a:t>
            </a:r>
          </a:p>
          <a:p>
            <a:pPr lvl="3" eaLnBrk="1" hangingPunct="1">
              <a:buClrTx/>
              <a:buSzTx/>
              <a:buFontTx/>
              <a:buBlip>
                <a:blip r:embed="rId3"/>
              </a:buBlip>
            </a:pPr>
            <a:r>
              <a:rPr lang="en-US" altLang="zh-CN" sz="1800" dirty="0">
                <a:ea typeface="SimSun" panose="02010600030101010101" pitchFamily="2" charset="-122"/>
              </a:rPr>
              <a:t>System is described in a formal model (C, HDL)</a:t>
            </a:r>
          </a:p>
          <a:p>
            <a:pPr lvl="3" eaLnBrk="1" hangingPunct="1">
              <a:buClrTx/>
              <a:buSzTx/>
              <a:buFontTx/>
              <a:buBlip>
                <a:blip r:embed="rId3"/>
              </a:buBlip>
            </a:pPr>
            <a:r>
              <a:rPr lang="en-US" altLang="zh-CN" sz="1800" dirty="0">
                <a:ea typeface="SimSun" panose="02010600030101010101" pitchFamily="2" charset="-122"/>
              </a:rPr>
              <a:t>The desired behavior is expressed as a set of properties</a:t>
            </a:r>
          </a:p>
          <a:p>
            <a:pPr lvl="3" eaLnBrk="1" hangingPunct="1">
              <a:buClrTx/>
              <a:buSzTx/>
              <a:buFontTx/>
              <a:buBlip>
                <a:blip r:embed="rId3"/>
              </a:buBlip>
            </a:pPr>
            <a:r>
              <a:rPr lang="en-US" altLang="zh-CN" sz="1800" dirty="0">
                <a:ea typeface="SimSun" panose="02010600030101010101" pitchFamily="2" charset="-122"/>
              </a:rPr>
              <a:t>The</a:t>
            </a:r>
            <a:r>
              <a:rPr lang="en-US" altLang="zh-CN" sz="1800" dirty="0">
                <a:solidFill>
                  <a:srgbClr val="663300"/>
                </a:solidFill>
                <a:ea typeface="SimSun" panose="02010600030101010101" pitchFamily="2" charset="-122"/>
              </a:rPr>
              <a:t> </a:t>
            </a:r>
            <a:r>
              <a:rPr lang="en-US" altLang="zh-CN" sz="1800" dirty="0">
                <a:ea typeface="SimSun" panose="02010600030101010101" pitchFamily="2" charset="-122"/>
              </a:rPr>
              <a:t>specification is checked against the model </a:t>
            </a:r>
          </a:p>
        </p:txBody>
      </p:sp>
      <p:sp>
        <p:nvSpPr>
          <p:cNvPr id="63492"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97CA01A4-4813-476E-BEE5-7CF7631DC055}" type="slidenum">
              <a:rPr lang="en-US" altLang="en-US" sz="1200"/>
              <a:pPr algn="r" eaLnBrk="1" hangingPunct="1">
                <a:spcBef>
                  <a:spcPct val="0"/>
                </a:spcBef>
                <a:buClrTx/>
                <a:buSzTx/>
                <a:buFontTx/>
                <a:buNone/>
              </a:pPr>
              <a:t>35</a:t>
            </a:fld>
            <a:endParaRPr lang="en-US" altLang="en-US" sz="1200"/>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0" y="0"/>
            <a:ext cx="9144000" cy="838200"/>
          </a:xfrm>
        </p:spPr>
        <p:txBody>
          <a:bodyPr/>
          <a:lstStyle/>
          <a:p>
            <a:pPr eaLnBrk="1" hangingPunct="1"/>
            <a:r>
              <a:rPr lang="en-US" altLang="zh-CN" b="1" dirty="0">
                <a:ea typeface="SimSun" panose="02010600030101010101" pitchFamily="2" charset="-122"/>
              </a:rPr>
              <a:t>Coverage Analysis</a:t>
            </a:r>
          </a:p>
        </p:txBody>
      </p:sp>
      <p:sp>
        <p:nvSpPr>
          <p:cNvPr id="65539" name="Rectangle 4"/>
          <p:cNvSpPr>
            <a:spLocks noChangeArrowheads="1"/>
          </p:cNvSpPr>
          <p:nvPr/>
        </p:nvSpPr>
        <p:spPr bwMode="auto">
          <a:xfrm>
            <a:off x="228600" y="990600"/>
            <a:ext cx="86868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90000"/>
              </a:lnSpc>
              <a:spcBef>
                <a:spcPct val="30000"/>
              </a:spcBef>
              <a:buClrTx/>
              <a:buSzTx/>
              <a:buFontTx/>
              <a:buBlip>
                <a:blip r:embed="rId3"/>
              </a:buBlip>
            </a:pPr>
            <a:r>
              <a:rPr lang="en-US" altLang="zh-CN" sz="2400" b="1">
                <a:latin typeface="Tahoma" panose="020B0604030504040204" pitchFamily="34" charset="0"/>
                <a:ea typeface="SimSun" panose="02010600030101010101" pitchFamily="2" charset="-122"/>
              </a:rPr>
              <a:t>Code coverage </a:t>
            </a:r>
          </a:p>
          <a:p>
            <a:pPr lvl="1" eaLnBrk="1" hangingPunct="1">
              <a:lnSpc>
                <a:spcPct val="90000"/>
              </a:lnSpc>
              <a:spcBef>
                <a:spcPct val="30000"/>
              </a:spcBef>
              <a:buClrTx/>
              <a:buSzTx/>
              <a:buFontTx/>
              <a:buBlip>
                <a:blip r:embed="rId3"/>
              </a:buBlip>
            </a:pPr>
            <a:r>
              <a:rPr lang="en-US" altLang="zh-CN" sz="2000" b="1">
                <a:latin typeface="Tahoma" panose="020B0604030504040204" pitchFamily="34" charset="0"/>
                <a:ea typeface="SimSun" panose="02010600030101010101" pitchFamily="2" charset="-122"/>
              </a:rPr>
              <a:t>Line coverage</a:t>
            </a:r>
          </a:p>
          <a:p>
            <a:pPr lvl="1" eaLnBrk="1" hangingPunct="1">
              <a:lnSpc>
                <a:spcPct val="90000"/>
              </a:lnSpc>
              <a:spcBef>
                <a:spcPct val="30000"/>
              </a:spcBef>
              <a:buClrTx/>
              <a:buSzTx/>
              <a:buFontTx/>
              <a:buNone/>
            </a:pPr>
            <a:endParaRPr lang="en-US" altLang="zh-CN" sz="20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None/>
            </a:pPr>
            <a:r>
              <a:rPr lang="en-US" altLang="zh-CN" sz="2000" b="1">
                <a:latin typeface="Tahoma" panose="020B0604030504040204" pitchFamily="34" charset="0"/>
                <a:ea typeface="SimSun" panose="02010600030101010101" pitchFamily="2" charset="-122"/>
              </a:rPr>
              <a:t>     </a:t>
            </a:r>
            <a:endParaRPr lang="en-US" altLang="zh-CN" sz="24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Blip>
                <a:blip r:embed="rId3"/>
              </a:buBlip>
            </a:pPr>
            <a:r>
              <a:rPr lang="en-US" altLang="zh-CN" sz="2000" b="1">
                <a:latin typeface="Tahoma" panose="020B0604030504040204" pitchFamily="34" charset="0"/>
                <a:ea typeface="SimSun" panose="02010600030101010101" pitchFamily="2" charset="-122"/>
              </a:rPr>
              <a:t>Statement Coverage</a:t>
            </a:r>
          </a:p>
          <a:p>
            <a:pPr lvl="1" eaLnBrk="1" hangingPunct="1">
              <a:lnSpc>
                <a:spcPct val="90000"/>
              </a:lnSpc>
              <a:spcBef>
                <a:spcPct val="30000"/>
              </a:spcBef>
              <a:buClrTx/>
              <a:buSzTx/>
              <a:buFontTx/>
              <a:buNone/>
            </a:pPr>
            <a:endParaRPr lang="en-US" altLang="zh-CN" sz="20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None/>
            </a:pPr>
            <a:endParaRPr lang="en-US" altLang="zh-CN" sz="20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Blip>
                <a:blip r:embed="rId3"/>
              </a:buBlip>
            </a:pPr>
            <a:r>
              <a:rPr lang="en-US" altLang="zh-CN" sz="2000" b="1">
                <a:latin typeface="Tahoma" panose="020B0604030504040204" pitchFamily="34" charset="0"/>
                <a:ea typeface="SimSun" panose="02010600030101010101" pitchFamily="2" charset="-122"/>
              </a:rPr>
              <a:t>FSM Coverage</a:t>
            </a:r>
          </a:p>
          <a:p>
            <a:pPr lvl="1" eaLnBrk="1" hangingPunct="1">
              <a:lnSpc>
                <a:spcPct val="90000"/>
              </a:lnSpc>
              <a:spcBef>
                <a:spcPct val="30000"/>
              </a:spcBef>
              <a:buClrTx/>
              <a:buSzTx/>
              <a:buFontTx/>
              <a:buBlip>
                <a:blip r:embed="rId3"/>
              </a:buBlip>
            </a:pPr>
            <a:endParaRPr lang="en-US" altLang="zh-CN" sz="20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None/>
            </a:pPr>
            <a:endParaRPr lang="en-US" altLang="zh-CN" sz="20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Blip>
                <a:blip r:embed="rId3"/>
              </a:buBlip>
            </a:pPr>
            <a:r>
              <a:rPr lang="en-US" altLang="zh-CN" sz="2000" b="1">
                <a:latin typeface="Tahoma" panose="020B0604030504040204" pitchFamily="34" charset="0"/>
                <a:ea typeface="SimSun" panose="02010600030101010101" pitchFamily="2" charset="-122"/>
              </a:rPr>
              <a:t>Toggle</a:t>
            </a:r>
          </a:p>
          <a:p>
            <a:pPr eaLnBrk="1" hangingPunct="1">
              <a:lnSpc>
                <a:spcPct val="90000"/>
              </a:lnSpc>
              <a:spcBef>
                <a:spcPct val="30000"/>
              </a:spcBef>
              <a:buClrTx/>
              <a:buSzTx/>
              <a:buFontTx/>
              <a:buBlip>
                <a:blip r:embed="rId3"/>
              </a:buBlip>
            </a:pPr>
            <a:r>
              <a:rPr lang="en-US" altLang="zh-CN" sz="2400" b="1">
                <a:latin typeface="Tahoma" panose="020B0604030504040204" pitchFamily="34" charset="0"/>
                <a:ea typeface="SimSun" panose="02010600030101010101" pitchFamily="2" charset="-122"/>
              </a:rPr>
              <a:t>Function coverage</a:t>
            </a:r>
          </a:p>
          <a:p>
            <a:pPr lvl="1" eaLnBrk="1" hangingPunct="1">
              <a:lnSpc>
                <a:spcPct val="90000"/>
              </a:lnSpc>
              <a:spcBef>
                <a:spcPct val="30000"/>
              </a:spcBef>
              <a:buClrTx/>
              <a:buSzTx/>
              <a:buFontTx/>
              <a:buBlip>
                <a:blip r:embed="rId3"/>
              </a:buBlip>
            </a:pPr>
            <a:r>
              <a:rPr lang="en-US" altLang="zh-CN" sz="2000" b="1">
                <a:latin typeface="Tahoma" panose="020B0604030504040204" pitchFamily="34" charset="0"/>
                <a:ea typeface="SimSun" panose="02010600030101010101" pitchFamily="2" charset="-122"/>
              </a:rPr>
              <a:t>Assertion</a:t>
            </a:r>
          </a:p>
          <a:p>
            <a:pPr lvl="1" eaLnBrk="1" hangingPunct="1">
              <a:lnSpc>
                <a:spcPct val="90000"/>
              </a:lnSpc>
              <a:spcBef>
                <a:spcPct val="30000"/>
              </a:spcBef>
              <a:buClrTx/>
              <a:buSzTx/>
              <a:buFontTx/>
              <a:buNone/>
            </a:pPr>
            <a:endParaRPr lang="en-US" altLang="zh-CN" sz="2400" b="1">
              <a:latin typeface="Tahoma" panose="020B0604030504040204" pitchFamily="34" charset="0"/>
              <a:ea typeface="SimSun" panose="02010600030101010101" pitchFamily="2" charset="-122"/>
            </a:endParaRPr>
          </a:p>
          <a:p>
            <a:pPr lvl="1" eaLnBrk="1" hangingPunct="1">
              <a:lnSpc>
                <a:spcPct val="90000"/>
              </a:lnSpc>
              <a:spcBef>
                <a:spcPct val="30000"/>
              </a:spcBef>
              <a:buClrTx/>
              <a:buSzTx/>
              <a:buFontTx/>
              <a:buBlip>
                <a:blip r:embed="rId3"/>
              </a:buBlip>
            </a:pPr>
            <a:endParaRPr lang="en-US" altLang="zh-CN" sz="2000" b="1">
              <a:latin typeface="Tahoma" panose="020B0604030504040204" pitchFamily="34" charset="0"/>
              <a:ea typeface="SimSun" panose="02010600030101010101" pitchFamily="2" charset="-122"/>
            </a:endParaRPr>
          </a:p>
        </p:txBody>
      </p:sp>
      <p:sp>
        <p:nvSpPr>
          <p:cNvPr id="65540" name="AutoShape 6"/>
          <p:cNvSpPr>
            <a:spLocks noChangeArrowheads="1"/>
          </p:cNvSpPr>
          <p:nvPr/>
        </p:nvSpPr>
        <p:spPr bwMode="auto">
          <a:xfrm>
            <a:off x="1524000" y="2819400"/>
            <a:ext cx="5638800" cy="685800"/>
          </a:xfrm>
          <a:prstGeom prst="horizontalScroll">
            <a:avLst>
              <a:gd name="adj" fmla="val 12500"/>
            </a:avLst>
          </a:prstGeom>
          <a:gradFill rotWithShape="1">
            <a:gsLst>
              <a:gs pos="0">
                <a:schemeClr val="accent1"/>
              </a:gs>
              <a:gs pos="100000">
                <a:srgbClr val="FF0000"/>
              </a:gs>
            </a:gsLst>
            <a:lin ang="5400000" scaled="1"/>
          </a:gradFill>
          <a:ln w="9525">
            <a:solidFill>
              <a:schemeClr val="tx1"/>
            </a:solidFill>
            <a:round/>
            <a:headEnd/>
            <a:tailEnd/>
          </a:ln>
        </p:spPr>
        <p:txBody>
          <a:bodyPr wrap="none" anchor="ct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1" algn="ctr" eaLnBrk="1" hangingPunct="1">
              <a:lnSpc>
                <a:spcPct val="90000"/>
              </a:lnSpc>
              <a:spcBef>
                <a:spcPct val="30000"/>
              </a:spcBef>
              <a:buClrTx/>
              <a:buSzTx/>
              <a:buFontTx/>
              <a:buNone/>
            </a:pPr>
            <a:r>
              <a:rPr lang="en-US" altLang="zh-CN" sz="1800" b="1">
                <a:latin typeface="Tahoma" panose="020B0604030504040204" pitchFamily="34" charset="0"/>
                <a:ea typeface="SimSun" panose="02010600030101010101" pitchFamily="2" charset="-122"/>
              </a:rPr>
              <a:t>Spans multiple lines, more precise</a:t>
            </a:r>
            <a:r>
              <a:rPr lang="en-US" altLang="zh-CN" sz="1800">
                <a:latin typeface="Tahoma" panose="020B0604030504040204" pitchFamily="34" charset="0"/>
                <a:ea typeface="SimSun" panose="02010600030101010101" pitchFamily="2" charset="-122"/>
              </a:rPr>
              <a:t> </a:t>
            </a:r>
          </a:p>
        </p:txBody>
      </p:sp>
      <p:sp>
        <p:nvSpPr>
          <p:cNvPr id="65541" name="AutoShape 7"/>
          <p:cNvSpPr>
            <a:spLocks noChangeArrowheads="1"/>
          </p:cNvSpPr>
          <p:nvPr/>
        </p:nvSpPr>
        <p:spPr bwMode="auto">
          <a:xfrm>
            <a:off x="1219200" y="1752600"/>
            <a:ext cx="5765800" cy="685800"/>
          </a:xfrm>
          <a:prstGeom prst="horizontalScroll">
            <a:avLst>
              <a:gd name="adj" fmla="val 12500"/>
            </a:avLst>
          </a:prstGeom>
          <a:gradFill rotWithShape="1">
            <a:gsLst>
              <a:gs pos="0">
                <a:schemeClr val="accent1"/>
              </a:gs>
              <a:gs pos="100000">
                <a:srgbClr val="FF0000"/>
              </a:gs>
            </a:gsLst>
            <a:lin ang="5400000" scaled="1"/>
          </a:gra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b="1">
                <a:latin typeface="Tahoma" panose="020B0604030504040204" pitchFamily="34" charset="0"/>
                <a:ea typeface="SimSun" panose="02010600030101010101" pitchFamily="2" charset="-122"/>
              </a:rPr>
              <a:t>Show which </a:t>
            </a:r>
            <a:r>
              <a:rPr lang="en-US" altLang="zh-CN" sz="2000" b="1">
                <a:latin typeface="Tahoma" panose="020B0604030504040204" pitchFamily="34" charset="0"/>
                <a:ea typeface="SimSun" panose="02010600030101010101" pitchFamily="2" charset="-122"/>
              </a:rPr>
              <a:t>lines </a:t>
            </a:r>
            <a:r>
              <a:rPr lang="en-US" altLang="zh-CN" sz="1800" b="1">
                <a:latin typeface="Tahoma" panose="020B0604030504040204" pitchFamily="34" charset="0"/>
                <a:ea typeface="SimSun" panose="02010600030101010101" pitchFamily="2" charset="-122"/>
              </a:rPr>
              <a:t>of the RTL have been executed</a:t>
            </a:r>
          </a:p>
        </p:txBody>
      </p:sp>
      <p:sp>
        <p:nvSpPr>
          <p:cNvPr id="65542" name="AutoShape 8"/>
          <p:cNvSpPr>
            <a:spLocks noChangeArrowheads="1"/>
          </p:cNvSpPr>
          <p:nvPr/>
        </p:nvSpPr>
        <p:spPr bwMode="auto">
          <a:xfrm>
            <a:off x="2082800" y="3860800"/>
            <a:ext cx="5638800" cy="685800"/>
          </a:xfrm>
          <a:prstGeom prst="horizontalScroll">
            <a:avLst>
              <a:gd name="adj" fmla="val 12500"/>
            </a:avLst>
          </a:prstGeom>
          <a:gradFill rotWithShape="1">
            <a:gsLst>
              <a:gs pos="0">
                <a:schemeClr val="accent1"/>
              </a:gs>
              <a:gs pos="100000">
                <a:srgbClr val="FF0000"/>
              </a:gs>
            </a:gsLst>
            <a:lin ang="5400000" scaled="1"/>
          </a:gradFill>
          <a:ln w="9525">
            <a:solidFill>
              <a:schemeClr val="tx1"/>
            </a:solidFill>
            <a:round/>
            <a:headEnd/>
            <a:tailEnd/>
          </a:ln>
        </p:spPr>
        <p:txBody>
          <a:bodyPr wrap="none" anchor="ct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1" algn="ctr" eaLnBrk="1" hangingPunct="1">
              <a:lnSpc>
                <a:spcPct val="90000"/>
              </a:lnSpc>
              <a:spcBef>
                <a:spcPct val="30000"/>
              </a:spcBef>
              <a:buClrTx/>
              <a:buSzTx/>
              <a:buFontTx/>
              <a:buNone/>
            </a:pPr>
            <a:r>
              <a:rPr lang="en-US" altLang="zh-CN" sz="1800" b="1">
                <a:latin typeface="Tahoma" panose="020B0604030504040204" pitchFamily="34" charset="0"/>
                <a:ea typeface="SimSun" panose="02010600030101010101" pitchFamily="2" charset="-122"/>
              </a:rPr>
              <a:t>Show which state can be reached</a:t>
            </a:r>
            <a:endParaRPr lang="en-US" altLang="zh-CN" sz="1800">
              <a:latin typeface="Tahoma" panose="020B0604030504040204" pitchFamily="34" charset="0"/>
              <a:ea typeface="SimSun" panose="02010600030101010101" pitchFamily="2" charset="-122"/>
            </a:endParaRPr>
          </a:p>
        </p:txBody>
      </p:sp>
      <p:sp>
        <p:nvSpPr>
          <p:cNvPr id="65543" name="AutoShape 9"/>
          <p:cNvSpPr>
            <a:spLocks noChangeArrowheads="1"/>
          </p:cNvSpPr>
          <p:nvPr/>
        </p:nvSpPr>
        <p:spPr bwMode="auto">
          <a:xfrm>
            <a:off x="2552700" y="4533900"/>
            <a:ext cx="5638800" cy="685800"/>
          </a:xfrm>
          <a:prstGeom prst="horizontalScroll">
            <a:avLst>
              <a:gd name="adj" fmla="val 12500"/>
            </a:avLst>
          </a:prstGeom>
          <a:gradFill rotWithShape="1">
            <a:gsLst>
              <a:gs pos="0">
                <a:schemeClr val="accent1"/>
              </a:gs>
              <a:gs pos="100000">
                <a:srgbClr val="FF0000"/>
              </a:gs>
            </a:gsLst>
            <a:lin ang="5400000" scaled="1"/>
          </a:gradFill>
          <a:ln w="9525">
            <a:solidFill>
              <a:schemeClr val="tx1"/>
            </a:solidFill>
            <a:round/>
            <a:headEnd/>
            <a:tailEnd/>
          </a:ln>
        </p:spPr>
        <p:txBody>
          <a:bodyPr wrap="none" anchor="ct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1" algn="ctr" eaLnBrk="1" hangingPunct="1">
              <a:lnSpc>
                <a:spcPct val="90000"/>
              </a:lnSpc>
              <a:spcBef>
                <a:spcPct val="30000"/>
              </a:spcBef>
              <a:buClrTx/>
              <a:buSzTx/>
              <a:buFontTx/>
              <a:buNone/>
            </a:pPr>
            <a:r>
              <a:rPr lang="en-US" altLang="zh-CN" sz="1800" b="1">
                <a:latin typeface="Tahoma" panose="020B0604030504040204" pitchFamily="34" charset="0"/>
                <a:ea typeface="SimSun" panose="02010600030101010101" pitchFamily="2" charset="-122"/>
              </a:rPr>
              <a:t>Each Signal in gate-level netlist</a:t>
            </a:r>
            <a:r>
              <a:rPr lang="en-US" altLang="zh-CN" sz="1800">
                <a:latin typeface="Tahoma" panose="020B0604030504040204" pitchFamily="34" charset="0"/>
                <a:ea typeface="SimSun" panose="02010600030101010101" pitchFamily="2" charset="-122"/>
              </a:rPr>
              <a:t> </a:t>
            </a:r>
          </a:p>
        </p:txBody>
      </p:sp>
      <p:sp>
        <p:nvSpPr>
          <p:cNvPr id="65544" name="AutoShape 10"/>
          <p:cNvSpPr>
            <a:spLocks noChangeArrowheads="1"/>
          </p:cNvSpPr>
          <p:nvPr/>
        </p:nvSpPr>
        <p:spPr bwMode="auto">
          <a:xfrm>
            <a:off x="3009900" y="5473700"/>
            <a:ext cx="6096000" cy="685800"/>
          </a:xfrm>
          <a:prstGeom prst="horizontalScroll">
            <a:avLst>
              <a:gd name="adj" fmla="val 12500"/>
            </a:avLst>
          </a:prstGeom>
          <a:gradFill rotWithShape="1">
            <a:gsLst>
              <a:gs pos="0">
                <a:schemeClr val="accent1"/>
              </a:gs>
              <a:gs pos="100000">
                <a:srgbClr val="FF0000"/>
              </a:gs>
            </a:gsLst>
            <a:lin ang="5400000" scaled="1"/>
          </a:gradFill>
          <a:ln w="9525">
            <a:solidFill>
              <a:schemeClr val="tx1"/>
            </a:solidFill>
            <a:round/>
            <a:headEnd/>
            <a:tailEnd/>
          </a:ln>
        </p:spPr>
        <p:txBody>
          <a:bodyPr wrap="none" anchor="ct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1" algn="ctr" eaLnBrk="1" hangingPunct="1">
              <a:lnSpc>
                <a:spcPct val="90000"/>
              </a:lnSpc>
              <a:spcBef>
                <a:spcPct val="30000"/>
              </a:spcBef>
              <a:buClrTx/>
              <a:buSzTx/>
              <a:buFontTx/>
              <a:buNone/>
            </a:pPr>
            <a:r>
              <a:rPr lang="en-US" altLang="zh-CN" sz="1800" b="1">
                <a:latin typeface="Tahoma" panose="020B0604030504040204" pitchFamily="34" charset="0"/>
                <a:ea typeface="SimSun" panose="02010600030101010101" pitchFamily="2" charset="-122"/>
              </a:rPr>
              <a:t>Successful or Failure </a:t>
            </a:r>
            <a:endParaRPr lang="en-US" altLang="zh-CN" sz="1800">
              <a:latin typeface="Tahoma" panose="020B0604030504040204" pitchFamily="34" charset="0"/>
              <a:ea typeface="SimSun" panose="02010600030101010101" pitchFamily="2" charset="-122"/>
            </a:endParaRPr>
          </a:p>
        </p:txBody>
      </p:sp>
      <p:sp>
        <p:nvSpPr>
          <p:cNvPr id="65545"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5E440D97-51BF-43F2-8306-2B2D4FF49872}" type="slidenum">
              <a:rPr lang="en-US" altLang="en-US" sz="1200"/>
              <a:pPr algn="r" eaLnBrk="1" hangingPunct="1">
                <a:spcBef>
                  <a:spcPct val="0"/>
                </a:spcBef>
                <a:buClrTx/>
                <a:buSzTx/>
                <a:buFontTx/>
                <a:buNone/>
              </a:pPr>
              <a:t>36</a:t>
            </a:fld>
            <a:endParaRPr lang="en-US" altLang="en-US" sz="1200"/>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0" y="0"/>
            <a:ext cx="9144000" cy="838200"/>
          </a:xfrm>
        </p:spPr>
        <p:txBody>
          <a:bodyPr/>
          <a:lstStyle/>
          <a:p>
            <a:pPr eaLnBrk="1" hangingPunct="1"/>
            <a:r>
              <a:rPr lang="en-US" altLang="zh-CN" b="1">
                <a:ea typeface="SimSun" panose="02010600030101010101" pitchFamily="2" charset="-122"/>
              </a:rPr>
              <a:t>Suspicious Parts</a:t>
            </a:r>
          </a:p>
        </p:txBody>
      </p:sp>
      <p:sp>
        <p:nvSpPr>
          <p:cNvPr id="67589"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0100148C-FFA8-49B7-8A5F-17B684086D67}" type="slidenum">
              <a:rPr lang="en-US" altLang="en-US" sz="1200"/>
              <a:pPr algn="r" eaLnBrk="1" hangingPunct="1">
                <a:spcBef>
                  <a:spcPct val="0"/>
                </a:spcBef>
                <a:buClrTx/>
                <a:buSzTx/>
                <a:buFontTx/>
                <a:buNone/>
              </a:pPr>
              <a:t>37</a:t>
            </a:fld>
            <a:endParaRPr lang="en-US" altLang="en-US" sz="1200"/>
          </a:p>
        </p:txBody>
      </p:sp>
      <p:sp>
        <p:nvSpPr>
          <p:cNvPr id="2" name="Rectangle 1">
            <a:extLst>
              <a:ext uri="{FF2B5EF4-FFF2-40B4-BE49-F238E27FC236}">
                <a16:creationId xmlns:a16="http://schemas.microsoft.com/office/drawing/2014/main" id="{FA4E157C-5119-8341-860C-18DC9953266A}"/>
              </a:ext>
            </a:extLst>
          </p:cNvPr>
          <p:cNvSpPr/>
          <p:nvPr/>
        </p:nvSpPr>
        <p:spPr>
          <a:xfrm>
            <a:off x="449705" y="1633928"/>
            <a:ext cx="8237095" cy="2936188"/>
          </a:xfrm>
          <a:prstGeom prst="rect">
            <a:avLst/>
          </a:prstGeom>
        </p:spPr>
        <p:txBody>
          <a:bodyPr wrap="square">
            <a:spAutoFit/>
          </a:bodyPr>
          <a:lstStyle/>
          <a:p>
            <a:pPr marL="515938" lvl="1" indent="-280988" eaLnBrk="1" hangingPunct="1">
              <a:spcBef>
                <a:spcPct val="30000"/>
              </a:spcBef>
              <a:buClrTx/>
              <a:buSzTx/>
              <a:buFont typeface="Arial" panose="020B0604020202020204" pitchFamily="34" charset="0"/>
              <a:buChar char="•"/>
            </a:pPr>
            <a:r>
              <a:rPr lang="en-US" altLang="zh-CN" sz="2800" b="1" dirty="0">
                <a:ea typeface="SimSun" panose="02010600030101010101" pitchFamily="2" charset="-122"/>
              </a:rPr>
              <a:t>If one of the assertions fails, the IP is assumed untrusted.</a:t>
            </a:r>
          </a:p>
          <a:p>
            <a:pPr marL="515938" lvl="1" indent="-280988" eaLnBrk="1" hangingPunct="1">
              <a:spcBef>
                <a:spcPct val="30000"/>
              </a:spcBef>
              <a:buClrTx/>
              <a:buSzTx/>
              <a:buFont typeface="Arial" panose="020B0604020202020204" pitchFamily="34" charset="0"/>
              <a:buChar char="•"/>
            </a:pPr>
            <a:endParaRPr lang="en-US" altLang="zh-CN" sz="2800" b="1" dirty="0">
              <a:ea typeface="SimSun" panose="02010600030101010101" pitchFamily="2" charset="-122"/>
            </a:endParaRPr>
          </a:p>
          <a:p>
            <a:pPr marL="515938" lvl="1" indent="-280988" eaLnBrk="1" hangingPunct="1">
              <a:spcBef>
                <a:spcPct val="30000"/>
              </a:spcBef>
              <a:buClrTx/>
              <a:buSzTx/>
              <a:buFont typeface="Arial" panose="020B0604020202020204" pitchFamily="34" charset="0"/>
              <a:buChar char="•"/>
            </a:pPr>
            <a:r>
              <a:rPr lang="en-US" altLang="zh-CN" sz="2800" b="1" dirty="0">
                <a:ea typeface="SimSun" panose="02010600030101010101" pitchFamily="2" charset="-122"/>
              </a:rPr>
              <a:t>If coverage is not 100%, </a:t>
            </a:r>
            <a:r>
              <a:rPr lang="en-US" altLang="zh-CN" sz="2800" b="1" i="1" dirty="0">
                <a:ea typeface="SimSun" panose="02010600030101010101" pitchFamily="2" charset="-122"/>
              </a:rPr>
              <a:t>uncovered</a:t>
            </a:r>
            <a:r>
              <a:rPr lang="en-US" altLang="zh-CN" sz="2800" b="1" dirty="0">
                <a:ea typeface="SimSun" panose="02010600030101010101" pitchFamily="2" charset="-122"/>
              </a:rPr>
              <a:t> parts of the code (RTL, netlist) are assumed suspicious.</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2773180"/>
            <a:ext cx="9144000" cy="838200"/>
          </a:xfrm>
        </p:spPr>
        <p:txBody>
          <a:bodyPr/>
          <a:lstStyle/>
          <a:p>
            <a:pPr eaLnBrk="1" hangingPunct="1"/>
            <a:r>
              <a:rPr lang="en-US" altLang="zh-CN" b="1" dirty="0">
                <a:ea typeface="SimSun" panose="02010600030101010101" pitchFamily="2" charset="-122"/>
              </a:rPr>
              <a:t>IC Trust</a:t>
            </a:r>
          </a:p>
        </p:txBody>
      </p:sp>
      <p:sp>
        <p:nvSpPr>
          <p:cNvPr id="59396"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1B8526C0-FCA2-43B7-8909-06EDAFDCDC54}" type="slidenum">
              <a:rPr lang="en-US" altLang="en-US" sz="1200"/>
              <a:pPr algn="r" eaLnBrk="1" hangingPunct="1">
                <a:spcBef>
                  <a:spcPct val="0"/>
                </a:spcBef>
                <a:buClrTx/>
                <a:buSzTx/>
                <a:buFontTx/>
                <a:buNone/>
              </a:pPr>
              <a:t>38</a:t>
            </a:fld>
            <a:endParaRPr lang="en-US" altLang="en-US" sz="1200"/>
          </a:p>
        </p:txBody>
      </p:sp>
    </p:spTree>
    <p:extLst>
      <p:ext uri="{BB962C8B-B14F-4D97-AF65-F5344CB8AC3E}">
        <p14:creationId xmlns:p14="http://schemas.microsoft.com/office/powerpoint/2010/main" val="1476532314"/>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2388" y="65088"/>
            <a:ext cx="9091612" cy="760412"/>
          </a:xfrm>
        </p:spPr>
        <p:txBody>
          <a:bodyPr/>
          <a:lstStyle/>
          <a:p>
            <a:pPr eaLnBrk="1" hangingPunct="1"/>
            <a:r>
              <a:rPr lang="en-US" altLang="en-US" sz="3600" b="1" dirty="0"/>
              <a:t>IC (System) Trust</a:t>
            </a:r>
          </a:p>
        </p:txBody>
      </p:sp>
      <p:sp>
        <p:nvSpPr>
          <p:cNvPr id="69635" name="Rectangle 3"/>
          <p:cNvSpPr>
            <a:spLocks noGrp="1" noChangeArrowheads="1"/>
          </p:cNvSpPr>
          <p:nvPr>
            <p:ph idx="1"/>
          </p:nvPr>
        </p:nvSpPr>
        <p:spPr>
          <a:xfrm>
            <a:off x="288924" y="1069300"/>
            <a:ext cx="8570263" cy="5014913"/>
          </a:xfrm>
        </p:spPr>
        <p:txBody>
          <a:bodyPr lIns="90488" tIns="44450" rIns="90488" bIns="44450"/>
          <a:lstStyle/>
          <a:p>
            <a:pPr eaLnBrk="1" hangingPunct="1">
              <a:spcBef>
                <a:spcPct val="30000"/>
              </a:spcBef>
            </a:pPr>
            <a:r>
              <a:rPr lang="en-US" altLang="en-US" sz="2400" b="1" dirty="0"/>
              <a:t>Objective</a:t>
            </a:r>
            <a:r>
              <a:rPr lang="en-US" altLang="en-US" sz="2400" dirty="0"/>
              <a:t>: </a:t>
            </a:r>
          </a:p>
          <a:p>
            <a:pPr lvl="1" eaLnBrk="1" hangingPunct="1">
              <a:spcBef>
                <a:spcPct val="30000"/>
              </a:spcBef>
            </a:pPr>
            <a:r>
              <a:rPr lang="en-US" altLang="en-US" sz="2000" dirty="0"/>
              <a:t>Ensure that the </a:t>
            </a:r>
            <a:r>
              <a:rPr lang="en-US" altLang="en-US" sz="2000" i="1" dirty="0"/>
              <a:t>fabricated chip/system </a:t>
            </a:r>
            <a:r>
              <a:rPr lang="en-US" altLang="en-US" sz="2000" dirty="0"/>
              <a:t>will carry out only our desired function and </a:t>
            </a:r>
            <a:r>
              <a:rPr lang="en-US" altLang="en-US" sz="2000" u="sng" dirty="0"/>
              <a:t>nothing more</a:t>
            </a:r>
            <a:r>
              <a:rPr lang="en-US" altLang="en-US" sz="2000" dirty="0"/>
              <a:t>.</a:t>
            </a:r>
          </a:p>
          <a:p>
            <a:pPr eaLnBrk="1" hangingPunct="1">
              <a:spcBef>
                <a:spcPct val="30000"/>
              </a:spcBef>
            </a:pPr>
            <a:r>
              <a:rPr lang="en-US" altLang="en-US" sz="2400" b="1" dirty="0"/>
              <a:t>Challenges</a:t>
            </a:r>
            <a:r>
              <a:rPr lang="en-US" altLang="en-US" sz="2400" dirty="0"/>
              <a:t>:</a:t>
            </a:r>
          </a:p>
          <a:p>
            <a:pPr lvl="1" eaLnBrk="1" hangingPunct="1"/>
            <a:r>
              <a:rPr lang="en-US" altLang="en-US" sz="2000" b="1" dirty="0">
                <a:ea typeface="Arial" panose="020B0604020202020204" pitchFamily="34" charset="0"/>
              </a:rPr>
              <a:t>Tiny</a:t>
            </a:r>
            <a:r>
              <a:rPr lang="en-US" altLang="en-US" sz="2000" dirty="0">
                <a:ea typeface="Arial" panose="020B0604020202020204" pitchFamily="34" charset="0"/>
              </a:rPr>
              <a:t>: several gates to millions of gates</a:t>
            </a:r>
          </a:p>
          <a:p>
            <a:pPr lvl="1" eaLnBrk="1" hangingPunct="1"/>
            <a:r>
              <a:rPr lang="en-US" altLang="en-US" sz="2000" b="1" dirty="0">
                <a:ea typeface="Arial" panose="020B0604020202020204" pitchFamily="34" charset="0"/>
              </a:rPr>
              <a:t>Quiet</a:t>
            </a:r>
            <a:r>
              <a:rPr lang="en-US" altLang="en-US" sz="2000" dirty="0">
                <a:ea typeface="Arial" panose="020B0604020202020204" pitchFamily="34" charset="0"/>
              </a:rPr>
              <a:t>: hard-to-activate (rare event) or triggered itself (time-bomb)</a:t>
            </a:r>
          </a:p>
          <a:p>
            <a:pPr lvl="1" eaLnBrk="1" hangingPunct="1"/>
            <a:r>
              <a:rPr lang="en-US" altLang="en-US" sz="2000" b="1" dirty="0">
                <a:ea typeface="Arial" panose="020B0604020202020204" pitchFamily="34" charset="0"/>
              </a:rPr>
              <a:t>Hard to model</a:t>
            </a:r>
            <a:r>
              <a:rPr lang="en-US" altLang="en-US" sz="2000" dirty="0">
                <a:ea typeface="Arial" panose="020B0604020202020204" pitchFamily="34" charset="0"/>
              </a:rPr>
              <a:t>: human intelligence </a:t>
            </a:r>
          </a:p>
          <a:p>
            <a:pPr marL="693738" lvl="1" indent="-349250" eaLnBrk="1" hangingPunct="1"/>
            <a:r>
              <a:rPr lang="en-US" altLang="en-US" sz="2000" dirty="0">
                <a:ea typeface="Arial" panose="020B0604020202020204" pitchFamily="34" charset="0"/>
              </a:rPr>
              <a:t>Conventional test and validation </a:t>
            </a:r>
          </a:p>
          <a:p>
            <a:pPr marL="693738" lvl="1" indent="-349250" eaLnBrk="1" hangingPunct="1">
              <a:buFont typeface="Wingdings" panose="05000000000000000000" pitchFamily="2" charset="2"/>
              <a:buNone/>
            </a:pPr>
            <a:r>
              <a:rPr lang="en-US" altLang="en-US" sz="2000" dirty="0">
                <a:ea typeface="Arial" panose="020B0604020202020204" pitchFamily="34" charset="0"/>
              </a:rPr>
              <a:t>	approaches fail to reliably detect </a:t>
            </a:r>
          </a:p>
          <a:p>
            <a:pPr marL="693738" lvl="1" indent="-349250" eaLnBrk="1" hangingPunct="1">
              <a:buFont typeface="Wingdings" panose="05000000000000000000" pitchFamily="2" charset="2"/>
              <a:buNone/>
            </a:pPr>
            <a:r>
              <a:rPr lang="en-US" altLang="en-US" sz="2000" dirty="0">
                <a:ea typeface="Arial" panose="020B0604020202020204" pitchFamily="34" charset="0"/>
              </a:rPr>
              <a:t>	hardware Trojans.</a:t>
            </a:r>
          </a:p>
          <a:p>
            <a:pPr marL="1270000" lvl="2" indent="-296863" eaLnBrk="1" hangingPunct="1"/>
            <a:r>
              <a:rPr lang="en-US" altLang="en-US" sz="1800" dirty="0">
                <a:ea typeface="Arial" panose="020B0604020202020204" pitchFamily="34" charset="0"/>
              </a:rPr>
              <a:t>Focus on manufacture defects and</a:t>
            </a:r>
          </a:p>
          <a:p>
            <a:pPr marL="1270000" lvl="2" indent="-296863" eaLnBrk="1" hangingPunct="1">
              <a:buFont typeface="Wingdings" panose="05000000000000000000" pitchFamily="2" charset="2"/>
              <a:buNone/>
            </a:pPr>
            <a:r>
              <a:rPr lang="en-US" altLang="en-US" sz="1800" dirty="0">
                <a:ea typeface="Arial" panose="020B0604020202020204" pitchFamily="34" charset="0"/>
              </a:rPr>
              <a:t> 	does not target detection of additional</a:t>
            </a:r>
          </a:p>
          <a:p>
            <a:pPr marL="1270000" lvl="2" indent="-296863" eaLnBrk="1" hangingPunct="1">
              <a:buFont typeface="Wingdings" panose="05000000000000000000" pitchFamily="2" charset="2"/>
              <a:buNone/>
            </a:pPr>
            <a:r>
              <a:rPr lang="en-US" altLang="en-US" sz="1800" dirty="0">
                <a:ea typeface="Arial" panose="020B0604020202020204" pitchFamily="34" charset="0"/>
              </a:rPr>
              <a:t> 	functionality in a design</a:t>
            </a:r>
          </a:p>
          <a:p>
            <a:pPr lvl="1" eaLnBrk="1" hangingPunct="1">
              <a:spcBef>
                <a:spcPct val="30000"/>
              </a:spcBef>
            </a:pPr>
            <a:endParaRPr lang="en-US" altLang="en-US" sz="2000" dirty="0">
              <a:ea typeface="Arial" panose="020B0604020202020204" pitchFamily="34" charset="0"/>
            </a:endParaRPr>
          </a:p>
          <a:p>
            <a:pPr eaLnBrk="1" hangingPunct="1">
              <a:spcBef>
                <a:spcPct val="30000"/>
              </a:spcBef>
            </a:pPr>
            <a:endParaRPr lang="en-US" altLang="en-US" sz="2400" u="sng" dirty="0"/>
          </a:p>
        </p:txBody>
      </p:sp>
      <p:sp>
        <p:nvSpPr>
          <p:cNvPr id="6963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4ADAFAF6-93DE-4907-BBA8-BF10A8956AC6}" type="slidenum">
              <a:rPr lang="en-US" altLang="en-US" sz="1200"/>
              <a:pPr>
                <a:spcBef>
                  <a:spcPct val="0"/>
                </a:spcBef>
                <a:buClrTx/>
                <a:buSzTx/>
                <a:buFontTx/>
                <a:buNone/>
              </a:pPr>
              <a:t>39</a:t>
            </a:fld>
            <a:endParaRPr lang="en-US" altLang="en-US" sz="1200"/>
          </a:p>
        </p:txBody>
      </p:sp>
      <p:grpSp>
        <p:nvGrpSpPr>
          <p:cNvPr id="69637" name="Group 15"/>
          <p:cNvGrpSpPr>
            <a:grpSpLocks/>
          </p:cNvGrpSpPr>
          <p:nvPr/>
        </p:nvGrpSpPr>
        <p:grpSpPr bwMode="auto">
          <a:xfrm>
            <a:off x="5402263" y="3503613"/>
            <a:ext cx="3328987" cy="2633662"/>
            <a:chOff x="3264" y="2208"/>
            <a:chExt cx="2097" cy="1659"/>
          </a:xfrm>
        </p:grpSpPr>
        <p:pic>
          <p:nvPicPr>
            <p:cNvPr id="69638" name="Picture 5" descr="magnif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4" y="2208"/>
              <a:ext cx="2097" cy="1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6" descr="p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0" y="2953"/>
              <a:ext cx="572"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0" name="Oval 7"/>
            <p:cNvSpPr>
              <a:spLocks noChangeArrowheads="1"/>
            </p:cNvSpPr>
            <p:nvPr/>
          </p:nvSpPr>
          <p:spPr bwMode="auto">
            <a:xfrm>
              <a:off x="4674" y="2546"/>
              <a:ext cx="443" cy="314"/>
            </a:xfrm>
            <a:prstGeom prst="ellipse">
              <a:avLst/>
            </a:prstGeom>
            <a:solidFill>
              <a:schemeClr val="bg1"/>
            </a:solidFill>
            <a:ln>
              <a:noFill/>
            </a:ln>
            <a:extLst>
              <a:ext uri="{91240B29-F687-4F45-9708-019B960494DF}">
                <a14:hiddenLine xmlns:a14="http://schemas.microsoft.com/office/drawing/2010/main" w="25400">
                  <a:solidFill>
                    <a:srgbClr val="000000"/>
                  </a:solidFill>
                  <a:round/>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9641" name="Rectangle 10"/>
            <p:cNvSpPr>
              <a:spLocks noChangeArrowheads="1"/>
            </p:cNvSpPr>
            <p:nvPr/>
          </p:nvSpPr>
          <p:spPr bwMode="auto">
            <a:xfrm>
              <a:off x="4752" y="2592"/>
              <a:ext cx="288" cy="19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9642" name="Line 11"/>
            <p:cNvSpPr>
              <a:spLocks noChangeShapeType="1"/>
            </p:cNvSpPr>
            <p:nvPr/>
          </p:nvSpPr>
          <p:spPr bwMode="auto">
            <a:xfrm flipH="1">
              <a:off x="4752" y="26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3" name="Line 12"/>
            <p:cNvSpPr>
              <a:spLocks noChangeShapeType="1"/>
            </p:cNvSpPr>
            <p:nvPr/>
          </p:nvSpPr>
          <p:spPr bwMode="auto">
            <a:xfrm flipH="1">
              <a:off x="4800" y="26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4" name="Line 13"/>
            <p:cNvSpPr>
              <a:spLocks noChangeShapeType="1"/>
            </p:cNvSpPr>
            <p:nvPr/>
          </p:nvSpPr>
          <p:spPr bwMode="auto">
            <a:xfrm flipH="1">
              <a:off x="4896" y="26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5" name="Line 14"/>
            <p:cNvSpPr>
              <a:spLocks noChangeShapeType="1"/>
            </p:cNvSpPr>
            <p:nvPr/>
          </p:nvSpPr>
          <p:spPr bwMode="auto">
            <a:xfrm flipH="1">
              <a:off x="4848" y="264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0" y="139700"/>
            <a:ext cx="9144000" cy="838200"/>
          </a:xfrm>
        </p:spPr>
        <p:txBody>
          <a:bodyPr/>
          <a:lstStyle/>
          <a:p>
            <a:pPr eaLnBrk="1" hangingPunct="1"/>
            <a:r>
              <a:rPr lang="en-US" altLang="en-US" sz="3200" b="1"/>
              <a:t>Classification of Trojan Detection Approaches</a:t>
            </a:r>
          </a:p>
        </p:txBody>
      </p:sp>
      <p:sp>
        <p:nvSpPr>
          <p:cNvPr id="71683" name="内容占位符 2"/>
          <p:cNvSpPr>
            <a:spLocks noGrp="1"/>
          </p:cNvSpPr>
          <p:nvPr>
            <p:ph idx="1"/>
          </p:nvPr>
        </p:nvSpPr>
        <p:spPr>
          <a:xfrm>
            <a:off x="190500" y="666750"/>
            <a:ext cx="8750300" cy="5538788"/>
          </a:xfrm>
        </p:spPr>
        <p:txBody>
          <a:bodyPr/>
          <a:lstStyle/>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sz="2400" dirty="0"/>
          </a:p>
          <a:p>
            <a:pPr eaLnBrk="1" hangingPunct="1"/>
            <a:r>
              <a:rPr lang="en-US" altLang="en-US" sz="2400" b="1" dirty="0"/>
              <a:t>Destructive Approach</a:t>
            </a:r>
            <a:r>
              <a:rPr lang="en-US" altLang="en-US" sz="2400" dirty="0"/>
              <a:t>: Expensive and time consuming</a:t>
            </a:r>
          </a:p>
          <a:p>
            <a:pPr lvl="1" eaLnBrk="1" hangingPunct="1"/>
            <a:r>
              <a:rPr lang="en-US" altLang="en-US" sz="2000" dirty="0">
                <a:ea typeface="Arial" panose="020B0604020202020204" pitchFamily="34" charset="0"/>
              </a:rPr>
              <a:t>Reverse engineering to extract layer-by-layer images by using delayering and Scanning Electron Microscope</a:t>
            </a:r>
          </a:p>
          <a:p>
            <a:pPr lvl="1" eaLnBrk="1" hangingPunct="1"/>
            <a:r>
              <a:rPr lang="en-US" altLang="en-US" sz="2000" dirty="0">
                <a:ea typeface="Arial" panose="020B0604020202020204" pitchFamily="34" charset="0"/>
              </a:rPr>
              <a:t>Identify transistors, gates and routing elements by using a template-matching approach – </a:t>
            </a:r>
            <a:r>
              <a:rPr lang="en-US" altLang="en-US" sz="2000" b="1" dirty="0">
                <a:ea typeface="Arial" panose="020B0604020202020204" pitchFamily="34" charset="0"/>
              </a:rPr>
              <a:t>needs golden IC/layout</a:t>
            </a:r>
          </a:p>
        </p:txBody>
      </p:sp>
      <p:sp>
        <p:nvSpPr>
          <p:cNvPr id="71684"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49178858-B230-4FCA-81D2-A33C8AB5A2F4}" type="slidenum">
              <a:rPr lang="en-US" altLang="en-US" sz="1200"/>
              <a:pPr>
                <a:spcBef>
                  <a:spcPct val="0"/>
                </a:spcBef>
                <a:buClrTx/>
                <a:buSzTx/>
                <a:buFontTx/>
                <a:buNone/>
              </a:pPr>
              <a:t>40</a:t>
            </a:fld>
            <a:endParaRPr lang="en-US" altLang="en-US" sz="1200"/>
          </a:p>
        </p:txBody>
      </p:sp>
      <p:pic>
        <p:nvPicPr>
          <p:cNvPr id="7168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9788"/>
            <a:ext cx="9144000"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0" y="155575"/>
            <a:ext cx="9144000" cy="630238"/>
          </a:xfrm>
        </p:spPr>
        <p:txBody>
          <a:bodyPr/>
          <a:lstStyle/>
          <a:p>
            <a:pPr eaLnBrk="1" hangingPunct="1"/>
            <a:r>
              <a:rPr lang="en-US" altLang="en-US" sz="3200" b="1"/>
              <a:t>Classification of Trojan Detection Approaches</a:t>
            </a:r>
          </a:p>
        </p:txBody>
      </p:sp>
      <p:sp>
        <p:nvSpPr>
          <p:cNvPr id="73731" name="内容占位符 2"/>
          <p:cNvSpPr>
            <a:spLocks noGrp="1"/>
          </p:cNvSpPr>
          <p:nvPr>
            <p:ph idx="1"/>
          </p:nvPr>
        </p:nvSpPr>
        <p:spPr>
          <a:xfrm>
            <a:off x="190500" y="1009130"/>
            <a:ext cx="8750300" cy="2409825"/>
          </a:xfrm>
        </p:spPr>
        <p:txBody>
          <a:bodyPr/>
          <a:lstStyle/>
          <a:p>
            <a:pPr eaLnBrk="1" hangingPunct="1"/>
            <a:r>
              <a:rPr lang="en-US" altLang="en-US" sz="2400" b="1" dirty="0"/>
              <a:t>Non-destructive Approach </a:t>
            </a:r>
          </a:p>
          <a:p>
            <a:pPr lvl="1" eaLnBrk="1" hangingPunct="1"/>
            <a:r>
              <a:rPr lang="en-US" altLang="en-US" sz="2000" b="1" dirty="0">
                <a:ea typeface="Arial" panose="020B0604020202020204" pitchFamily="34" charset="0"/>
              </a:rPr>
              <a:t>Run-time monitoring</a:t>
            </a:r>
            <a:r>
              <a:rPr lang="en-US" altLang="en-US" sz="2000" dirty="0">
                <a:ea typeface="Arial" panose="020B0604020202020204" pitchFamily="34" charset="0"/>
              </a:rPr>
              <a:t>: Monitor abnormal behavior during run-time</a:t>
            </a:r>
          </a:p>
          <a:p>
            <a:pPr lvl="2" eaLnBrk="1" hangingPunct="1"/>
            <a:r>
              <a:rPr lang="en-US" altLang="en-US" sz="1600" dirty="0">
                <a:ea typeface="Arial" panose="020B0604020202020204" pitchFamily="34" charset="0"/>
              </a:rPr>
              <a:t>Exploit pre-existing redundancy in the circuit </a:t>
            </a:r>
          </a:p>
          <a:p>
            <a:pPr lvl="2" eaLnBrk="1" hangingPunct="1"/>
            <a:r>
              <a:rPr lang="en-US" altLang="en-US" sz="1600" dirty="0">
                <a:ea typeface="Arial" panose="020B0604020202020204" pitchFamily="34" charset="0"/>
              </a:rPr>
              <a:t>Compare results and select a trusted part to avoid an infected part of the circuit.</a:t>
            </a:r>
          </a:p>
          <a:p>
            <a:pPr lvl="1" eaLnBrk="1" hangingPunct="1"/>
            <a:r>
              <a:rPr lang="en-US" altLang="en-US" sz="2000" b="1" dirty="0">
                <a:ea typeface="Arial" panose="020B0604020202020204" pitchFamily="34" charset="0"/>
              </a:rPr>
              <a:t>Test-time Authentication</a:t>
            </a:r>
            <a:r>
              <a:rPr lang="en-US" altLang="en-US" sz="2000" dirty="0">
                <a:ea typeface="Arial" panose="020B0604020202020204" pitchFamily="34" charset="0"/>
              </a:rPr>
              <a:t>: Detect Trojans throughout test duration.</a:t>
            </a:r>
          </a:p>
          <a:p>
            <a:pPr lvl="2" eaLnBrk="1" hangingPunct="1"/>
            <a:r>
              <a:rPr lang="en-US" altLang="en-US" sz="1600" dirty="0">
                <a:ea typeface="Arial" panose="020B0604020202020204" pitchFamily="34" charset="0"/>
              </a:rPr>
              <a:t>Logic-testing-based approaches</a:t>
            </a:r>
          </a:p>
          <a:p>
            <a:pPr lvl="2" eaLnBrk="1" hangingPunct="1"/>
            <a:r>
              <a:rPr lang="en-US" altLang="en-US" sz="1600" dirty="0">
                <a:ea typeface="Arial" panose="020B0604020202020204" pitchFamily="34" charset="0"/>
              </a:rPr>
              <a:t>Side-channel analysis-based approaches</a:t>
            </a:r>
          </a:p>
        </p:txBody>
      </p:sp>
      <p:sp>
        <p:nvSpPr>
          <p:cNvPr id="73732"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07B76BF9-8B52-4E1B-B3D2-0248EA52665A}" type="slidenum">
              <a:rPr lang="en-US" altLang="en-US" sz="1200"/>
              <a:pPr>
                <a:spcBef>
                  <a:spcPct val="0"/>
                </a:spcBef>
                <a:buClrTx/>
                <a:buSzTx/>
                <a:buFontTx/>
                <a:buNone/>
              </a:pPr>
              <a:t>41</a:t>
            </a:fld>
            <a:endParaRPr lang="en-US" altLang="en-US" sz="1200"/>
          </a:p>
        </p:txBody>
      </p:sp>
      <p:pic>
        <p:nvPicPr>
          <p:cNvPr id="7373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38" y="3424238"/>
            <a:ext cx="7469187" cy="296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99" y="1250"/>
            <a:ext cx="8962869" cy="865188"/>
          </a:xfrm>
        </p:spPr>
        <p:txBody>
          <a:bodyPr/>
          <a:lstStyle/>
          <a:p>
            <a:r>
              <a:rPr lang="en-US" sz="3600" b="1" dirty="0"/>
              <a:t>Hardware Trojan Benchmarks</a:t>
            </a:r>
          </a:p>
        </p:txBody>
      </p:sp>
      <p:sp>
        <p:nvSpPr>
          <p:cNvPr id="3" name="Content Placeholder 2"/>
          <p:cNvSpPr>
            <a:spLocks noGrp="1"/>
          </p:cNvSpPr>
          <p:nvPr>
            <p:ph idx="1"/>
          </p:nvPr>
        </p:nvSpPr>
        <p:spPr>
          <a:xfrm>
            <a:off x="76200" y="1046163"/>
            <a:ext cx="9067800" cy="5126037"/>
          </a:xfrm>
        </p:spPr>
        <p:txBody>
          <a:bodyPr>
            <a:noAutofit/>
          </a:bodyPr>
          <a:lstStyle/>
          <a:p>
            <a:pPr>
              <a:lnSpc>
                <a:spcPct val="110000"/>
              </a:lnSpc>
              <a:spcBef>
                <a:spcPts val="422"/>
              </a:spcBef>
              <a:buClr>
                <a:schemeClr val="tx1"/>
              </a:buClr>
              <a:buSzPct val="100000"/>
              <a:buFont typeface="Arial" panose="020B0604020202020204" pitchFamily="34" charset="0"/>
              <a:buChar char="•"/>
            </a:pPr>
            <a:r>
              <a:rPr lang="en-US" sz="2400" b="0" dirty="0"/>
              <a:t>A set of </a:t>
            </a:r>
            <a:r>
              <a:rPr lang="en-US" sz="2400" b="1" dirty="0"/>
              <a:t>trust benchmarks </a:t>
            </a:r>
            <a:r>
              <a:rPr lang="en-US" sz="2400" b="0" dirty="0"/>
              <a:t>for researchers in academia, industry, and government is needed to</a:t>
            </a:r>
          </a:p>
          <a:p>
            <a:pPr lvl="1">
              <a:lnSpc>
                <a:spcPct val="110000"/>
              </a:lnSpc>
              <a:spcBef>
                <a:spcPts val="422"/>
              </a:spcBef>
              <a:buClr>
                <a:schemeClr val="tx1"/>
              </a:buClr>
              <a:buSzPct val="100000"/>
              <a:buFont typeface="Arial" panose="020B0604020202020204" pitchFamily="34" charset="0"/>
              <a:buChar char="─"/>
            </a:pPr>
            <a:r>
              <a:rPr lang="en-US" sz="1800" b="0" dirty="0"/>
              <a:t>Provide a  baseline for examining diverse methods developed </a:t>
            </a:r>
          </a:p>
          <a:p>
            <a:pPr lvl="1">
              <a:lnSpc>
                <a:spcPct val="110000"/>
              </a:lnSpc>
              <a:spcBef>
                <a:spcPts val="422"/>
              </a:spcBef>
              <a:buClr>
                <a:schemeClr val="tx1"/>
              </a:buClr>
              <a:buSzPct val="100000"/>
              <a:buFont typeface="Arial" panose="020B0604020202020204" pitchFamily="34" charset="0"/>
              <a:buChar char="─"/>
            </a:pPr>
            <a:r>
              <a:rPr lang="en-US" sz="1800" b="0" dirty="0"/>
              <a:t>Establishing a sound basis for the hardness of each benchmark instance</a:t>
            </a:r>
          </a:p>
          <a:p>
            <a:pPr lvl="1">
              <a:lnSpc>
                <a:spcPct val="110000"/>
              </a:lnSpc>
              <a:spcBef>
                <a:spcPts val="422"/>
              </a:spcBef>
              <a:buClr>
                <a:schemeClr val="tx1"/>
              </a:buClr>
              <a:buSzPct val="100000"/>
              <a:buFont typeface="Arial" panose="020B0604020202020204" pitchFamily="34" charset="0"/>
              <a:buChar char="─"/>
            </a:pPr>
            <a:r>
              <a:rPr lang="en-US" sz="1800" b="0" dirty="0"/>
              <a:t>Help increase reproducibility of results by others who intend to employ certain methodologies in their design flow</a:t>
            </a:r>
          </a:p>
          <a:p>
            <a:pPr>
              <a:lnSpc>
                <a:spcPct val="110000"/>
              </a:lnSpc>
              <a:spcBef>
                <a:spcPts val="422"/>
              </a:spcBef>
              <a:buClr>
                <a:schemeClr val="tx1"/>
              </a:buClr>
              <a:buSzPct val="100000"/>
              <a:buFont typeface="Arial" panose="020B0604020202020204" pitchFamily="34" charset="0"/>
              <a:buChar char="•"/>
            </a:pPr>
            <a:r>
              <a:rPr lang="en-US" sz="2400" b="0" dirty="0"/>
              <a:t>See NSF supported </a:t>
            </a:r>
            <a:r>
              <a:rPr lang="en-US" sz="2400" b="1" dirty="0"/>
              <a:t>Trust-Hub</a:t>
            </a:r>
            <a:r>
              <a:rPr lang="en-US" sz="2400" b="0" dirty="0"/>
              <a:t> website (</a:t>
            </a:r>
            <a:r>
              <a:rPr lang="en-US" sz="2400" b="0" dirty="0">
                <a:hlinkClick r:id="rId3"/>
              </a:rPr>
              <a:t>www.trust-hub.org</a:t>
            </a:r>
            <a:r>
              <a:rPr lang="en-US" sz="2400" b="0" dirty="0"/>
              <a:t>)</a:t>
            </a:r>
          </a:p>
          <a:p>
            <a:pPr lvl="1">
              <a:lnSpc>
                <a:spcPct val="110000"/>
              </a:lnSpc>
              <a:spcBef>
                <a:spcPts val="422"/>
              </a:spcBef>
              <a:buClr>
                <a:schemeClr val="tx1"/>
              </a:buClr>
              <a:buSzPct val="100000"/>
              <a:buFont typeface="Arial" panose="020B0604020202020204" pitchFamily="34" charset="0"/>
              <a:buChar char="─"/>
            </a:pPr>
            <a:r>
              <a:rPr lang="en-US" sz="1800" b="0" dirty="0"/>
              <a:t>Complete taxonomy of Trojans</a:t>
            </a:r>
          </a:p>
          <a:p>
            <a:pPr lvl="1">
              <a:lnSpc>
                <a:spcPct val="110000"/>
              </a:lnSpc>
              <a:spcBef>
                <a:spcPts val="422"/>
              </a:spcBef>
              <a:buClr>
                <a:schemeClr val="tx1"/>
              </a:buClr>
              <a:buSzPct val="100000"/>
              <a:buFont typeface="Arial" panose="020B0604020202020204" pitchFamily="34" charset="0"/>
              <a:buChar char="─"/>
            </a:pPr>
            <a:r>
              <a:rPr lang="en-US" sz="1800" b="0" dirty="0"/>
              <a:t>More than 120 trust benchmarks available which were designed at different abstraction levels, triggered in several ways, and have different effect mechanisms</a:t>
            </a:r>
          </a:p>
          <a:p>
            <a:pPr lvl="1">
              <a:lnSpc>
                <a:spcPct val="110000"/>
              </a:lnSpc>
              <a:spcBef>
                <a:spcPts val="422"/>
              </a:spcBef>
              <a:buClr>
                <a:schemeClr val="tx1"/>
              </a:buClr>
              <a:buSzPct val="100000"/>
              <a:buFont typeface="Arial" panose="020B0604020202020204" pitchFamily="34" charset="0"/>
              <a:buChar char="─"/>
            </a:pPr>
            <a:r>
              <a:rPr lang="en-US" sz="1800" dirty="0"/>
              <a:t>More than 300 publications used these benchmarks</a:t>
            </a:r>
            <a:endParaRPr lang="en-US" sz="1800" b="0" dirty="0"/>
          </a:p>
        </p:txBody>
      </p:sp>
      <p:sp>
        <p:nvSpPr>
          <p:cNvPr id="5" name="Slide Number Placeholder 4"/>
          <p:cNvSpPr>
            <a:spLocks noGrp="1"/>
          </p:cNvSpPr>
          <p:nvPr>
            <p:ph type="sldNum" sz="quarter" idx="4294967295"/>
          </p:nvPr>
        </p:nvSpPr>
        <p:spPr>
          <a:xfrm>
            <a:off x="8718680" y="6567388"/>
            <a:ext cx="198772" cy="194797"/>
          </a:xfrm>
          <a:prstGeom prst="rect">
            <a:avLst/>
          </a:prstGeom>
        </p:spPr>
        <p:txBody>
          <a:bodyPr/>
          <a:lstStyle/>
          <a:p>
            <a:fld id="{86CB4B4D-7CA3-9044-876B-883B54F8677D}" type="slidenum">
              <a:rPr lang="en-US">
                <a:solidFill>
                  <a:srgbClr val="FFFFFF"/>
                </a:solidFill>
              </a:rPr>
              <a:pPr/>
              <a:t>42</a:t>
            </a:fld>
            <a:endParaRPr lang="en-US" dirty="0">
              <a:solidFill>
                <a:srgbClr val="FFFFFF"/>
              </a:solidFill>
            </a:endParaRPr>
          </a:p>
        </p:txBody>
      </p:sp>
    </p:spTree>
    <p:extLst>
      <p:ext uri="{BB962C8B-B14F-4D97-AF65-F5344CB8AC3E}">
        <p14:creationId xmlns:p14="http://schemas.microsoft.com/office/powerpoint/2010/main" val="3980757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0" y="0"/>
            <a:ext cx="9144000" cy="838200"/>
          </a:xfrm>
        </p:spPr>
        <p:txBody>
          <a:bodyPr/>
          <a:lstStyle/>
          <a:p>
            <a:pPr eaLnBrk="1" hangingPunct="1"/>
            <a:r>
              <a:rPr lang="en-US" altLang="en-US" b="1" dirty="0"/>
              <a:t>Logic Testing Approach</a:t>
            </a:r>
          </a:p>
        </p:txBody>
      </p:sp>
      <p:sp>
        <p:nvSpPr>
          <p:cNvPr id="75779" name="Content Placeholder 2"/>
          <p:cNvSpPr>
            <a:spLocks noGrp="1"/>
          </p:cNvSpPr>
          <p:nvPr>
            <p:ph idx="1"/>
          </p:nvPr>
        </p:nvSpPr>
        <p:spPr>
          <a:xfrm>
            <a:off x="70580" y="1054100"/>
            <a:ext cx="8953500" cy="5076825"/>
          </a:xfrm>
        </p:spPr>
        <p:txBody>
          <a:bodyPr/>
          <a:lstStyle/>
          <a:p>
            <a:pPr eaLnBrk="1" hangingPunct="1"/>
            <a:r>
              <a:rPr lang="en-US" altLang="en-US" sz="2400" b="1" dirty="0"/>
              <a:t>Logic-testing approach </a:t>
            </a:r>
            <a:r>
              <a:rPr lang="en-US" altLang="en-US" sz="2400" dirty="0"/>
              <a:t>focuses on test-vector generation for </a:t>
            </a:r>
          </a:p>
          <a:p>
            <a:pPr lvl="1" eaLnBrk="1" hangingPunct="1"/>
            <a:r>
              <a:rPr lang="en-US" altLang="en-US" sz="2000" dirty="0">
                <a:ea typeface="Arial" panose="020B0604020202020204" pitchFamily="34" charset="0"/>
              </a:rPr>
              <a:t>Activating a Trojan circuit</a:t>
            </a:r>
          </a:p>
          <a:p>
            <a:pPr lvl="1" eaLnBrk="1" hangingPunct="1"/>
            <a:r>
              <a:rPr lang="en-US" altLang="en-US" sz="2000" dirty="0">
                <a:ea typeface="Arial" panose="020B0604020202020204" pitchFamily="34" charset="0"/>
              </a:rPr>
              <a:t>Observing its malicious effect on the payload at the primary outputs</a:t>
            </a:r>
          </a:p>
          <a:p>
            <a:pPr lvl="1" eaLnBrk="1" hangingPunct="1"/>
            <a:r>
              <a:rPr lang="en-US" altLang="en-US" sz="2000" dirty="0">
                <a:ea typeface="Arial" panose="020B0604020202020204" pitchFamily="34" charset="0"/>
              </a:rPr>
              <a:t>Both functional and structural test vectors are applicable.</a:t>
            </a:r>
          </a:p>
          <a:p>
            <a:pPr eaLnBrk="1" hangingPunct="1"/>
            <a:r>
              <a:rPr lang="en-US" altLang="en-US" sz="2400" b="1" dirty="0"/>
              <a:t>Pros &amp; Cons:</a:t>
            </a:r>
          </a:p>
          <a:p>
            <a:pPr lvl="1" eaLnBrk="1" hangingPunct="1"/>
            <a:r>
              <a:rPr lang="en-US" altLang="en-US" sz="2000" b="1" dirty="0">
                <a:ea typeface="Arial" panose="020B0604020202020204" pitchFamily="34" charset="0"/>
              </a:rPr>
              <a:t>Pros</a:t>
            </a:r>
            <a:r>
              <a:rPr lang="en-US" altLang="en-US" sz="2000" dirty="0">
                <a:ea typeface="Arial" panose="020B0604020202020204" pitchFamily="34" charset="0"/>
              </a:rPr>
              <a:t>: </a:t>
            </a:r>
          </a:p>
          <a:p>
            <a:pPr lvl="2" eaLnBrk="1" hangingPunct="1"/>
            <a:r>
              <a:rPr lang="en-US" altLang="en-US" sz="1800" dirty="0">
                <a:ea typeface="Arial" panose="020B0604020202020204" pitchFamily="34" charset="0"/>
              </a:rPr>
              <a:t>Straight-forward and easy to differentiate </a:t>
            </a:r>
          </a:p>
          <a:p>
            <a:pPr lvl="1" eaLnBrk="1" hangingPunct="1"/>
            <a:r>
              <a:rPr lang="en-US" altLang="en-US" sz="2000" b="1" dirty="0">
                <a:ea typeface="Arial" panose="020B0604020202020204" pitchFamily="34" charset="0"/>
              </a:rPr>
              <a:t>Cons</a:t>
            </a:r>
            <a:r>
              <a:rPr lang="en-US" altLang="en-US" sz="2000" dirty="0">
                <a:ea typeface="Arial" panose="020B0604020202020204" pitchFamily="34" charset="0"/>
              </a:rPr>
              <a:t>:</a:t>
            </a:r>
          </a:p>
          <a:p>
            <a:pPr lvl="2" eaLnBrk="1" hangingPunct="1"/>
            <a:r>
              <a:rPr lang="en-US" altLang="en-US" sz="1800" dirty="0">
                <a:ea typeface="Arial" panose="020B0604020202020204" pitchFamily="34" charset="0"/>
              </a:rPr>
              <a:t>The difficulty in exciting or observing low controllability or low observability nodes.</a:t>
            </a:r>
          </a:p>
          <a:p>
            <a:pPr lvl="2" eaLnBrk="1" hangingPunct="1"/>
            <a:r>
              <a:rPr lang="en-US" altLang="en-US" sz="1800" dirty="0">
                <a:ea typeface="Arial" panose="020B0604020202020204" pitchFamily="34" charset="0"/>
              </a:rPr>
              <a:t>Intentionally inserted Trojans are triggered under rare conditions.</a:t>
            </a:r>
          </a:p>
          <a:p>
            <a:pPr lvl="2" eaLnBrk="1" hangingPunct="1">
              <a:buFont typeface="Wingdings" panose="05000000000000000000" pitchFamily="2" charset="2"/>
              <a:buNone/>
            </a:pPr>
            <a:r>
              <a:rPr lang="en-US" altLang="en-US" sz="1800" dirty="0">
                <a:ea typeface="Arial" panose="020B0604020202020204" pitchFamily="34" charset="0"/>
              </a:rPr>
              <a:t>     (e.g., sequential Trojans)</a:t>
            </a:r>
          </a:p>
          <a:p>
            <a:pPr lvl="2" eaLnBrk="1" hangingPunct="1"/>
            <a:r>
              <a:rPr lang="en-US" altLang="en-US" sz="1800" dirty="0">
                <a:ea typeface="Arial" panose="020B0604020202020204" pitchFamily="34" charset="0"/>
              </a:rPr>
              <a:t>It cannot trigger Trojans that are activated externally and can only observe functional Trojans.</a:t>
            </a:r>
          </a:p>
          <a:p>
            <a:pPr lvl="1" eaLnBrk="1" hangingPunct="1"/>
            <a:endParaRPr lang="en-US" altLang="en-US" sz="2000" dirty="0">
              <a:ea typeface="Arial" panose="020B0604020202020204" pitchFamily="34" charset="0"/>
            </a:endParaRPr>
          </a:p>
          <a:p>
            <a:pPr lvl="1" eaLnBrk="1" hangingPunct="1"/>
            <a:endParaRPr lang="en-US" altLang="en-US" sz="2000" dirty="0">
              <a:ea typeface="Arial" panose="020B0604020202020204" pitchFamily="34" charset="0"/>
            </a:endParaRPr>
          </a:p>
        </p:txBody>
      </p:sp>
      <p:sp>
        <p:nvSpPr>
          <p:cNvPr id="7578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C26E066C-7BE0-4C3C-A1F3-E8BFB6A8AA6A}" type="slidenum">
              <a:rPr lang="en-US" altLang="en-US" sz="1200"/>
              <a:pPr>
                <a:spcBef>
                  <a:spcPct val="0"/>
                </a:spcBef>
                <a:buClrTx/>
                <a:buSzTx/>
                <a:buFontTx/>
                <a:buNone/>
              </a:pPr>
              <a:t>43</a:t>
            </a:fld>
            <a:endParaRPr lang="en-US" altLang="en-US" sz="12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a:xfrm>
            <a:off x="0" y="0"/>
            <a:ext cx="9144000" cy="838200"/>
          </a:xfrm>
        </p:spPr>
        <p:txBody>
          <a:bodyPr/>
          <a:lstStyle/>
          <a:p>
            <a:r>
              <a:rPr lang="en-US" altLang="en-US" b="1"/>
              <a:t>Functional Test Deficiency</a:t>
            </a:r>
            <a:br>
              <a:rPr lang="en-US" altLang="en-US" b="1"/>
            </a:br>
            <a:endParaRPr lang="en-US" altLang="en-US"/>
          </a:p>
        </p:txBody>
      </p:sp>
      <p:sp>
        <p:nvSpPr>
          <p:cNvPr id="77827" name="Content Placeholder 2"/>
          <p:cNvSpPr>
            <a:spLocks noGrp="1"/>
          </p:cNvSpPr>
          <p:nvPr>
            <p:ph idx="1"/>
          </p:nvPr>
        </p:nvSpPr>
        <p:spPr/>
        <p:txBody>
          <a:bodyPr/>
          <a:lstStyle/>
          <a:p>
            <a:r>
              <a:rPr lang="en-US" altLang="en-US" sz="2400" dirty="0"/>
              <a:t>Functional patterns could potentially detect a </a:t>
            </a:r>
            <a:r>
              <a:rPr lang="ja-JP" altLang="en-US" sz="2400" dirty="0"/>
              <a:t>“</a:t>
            </a:r>
            <a:r>
              <a:rPr lang="en-US" altLang="ja-JP" sz="2400" dirty="0"/>
              <a:t>functional</a:t>
            </a:r>
            <a:r>
              <a:rPr lang="ja-JP" altLang="en-US" sz="2400" dirty="0"/>
              <a:t>”</a:t>
            </a:r>
            <a:r>
              <a:rPr lang="en-US" altLang="ja-JP" sz="2400" dirty="0"/>
              <a:t> Trojan.</a:t>
            </a:r>
          </a:p>
          <a:p>
            <a:pPr lvl="1"/>
            <a:r>
              <a:rPr lang="en-US" altLang="en-US" sz="2000" dirty="0">
                <a:ea typeface="Arial" panose="020B0604020202020204" pitchFamily="34" charset="0"/>
              </a:rPr>
              <a:t>Exhaustive test would be effective, but certainly not applicable for large circuits</a:t>
            </a:r>
          </a:p>
          <a:p>
            <a:pPr lvl="1"/>
            <a:r>
              <a:rPr lang="en-US" altLang="en-US" sz="2000" dirty="0">
                <a:ea typeface="Arial" panose="020B0604020202020204" pitchFamily="34" charset="0"/>
              </a:rPr>
              <a:t>E.g.  64 input adder </a:t>
            </a:r>
            <a:r>
              <a:rPr lang="en-US" altLang="en-US" sz="2000" dirty="0">
                <a:ea typeface="Arial" panose="020B0604020202020204" pitchFamily="34" charset="0"/>
                <a:sym typeface="Wingdings" panose="05000000000000000000" pitchFamily="2" charset="2"/>
              </a:rPr>
              <a:t> 2</a:t>
            </a:r>
            <a:r>
              <a:rPr lang="en-US" altLang="en-US" sz="2000" baseline="30000" dirty="0">
                <a:ea typeface="Arial" panose="020B0604020202020204" pitchFamily="34" charset="0"/>
                <a:sym typeface="Wingdings" panose="05000000000000000000" pitchFamily="2" charset="2"/>
              </a:rPr>
              <a:t>65</a:t>
            </a:r>
            <a:r>
              <a:rPr lang="en-US" altLang="en-US" sz="2000" dirty="0">
                <a:ea typeface="Arial" panose="020B0604020202020204" pitchFamily="34" charset="0"/>
                <a:sym typeface="Wingdings" panose="05000000000000000000" pitchFamily="2" charset="2"/>
              </a:rPr>
              <a:t> input combination (including carry in)</a:t>
            </a:r>
          </a:p>
          <a:p>
            <a:pPr lvl="1"/>
            <a:r>
              <a:rPr lang="en-US" altLang="en-US" sz="2000" dirty="0">
                <a:ea typeface="Arial" panose="020B0604020202020204" pitchFamily="34" charset="0"/>
                <a:sym typeface="Wingdings" panose="05000000000000000000" pitchFamily="2" charset="2"/>
              </a:rPr>
              <a:t>2</a:t>
            </a:r>
            <a:r>
              <a:rPr lang="en-US" altLang="en-US" sz="2000" baseline="30000" dirty="0">
                <a:ea typeface="Arial" panose="020B0604020202020204" pitchFamily="34" charset="0"/>
                <a:sym typeface="Wingdings" panose="05000000000000000000" pitchFamily="2" charset="2"/>
              </a:rPr>
              <a:t>65</a:t>
            </a:r>
            <a:r>
              <a:rPr lang="en-US" altLang="en-US" sz="2000" dirty="0">
                <a:ea typeface="Arial" panose="020B0604020202020204" pitchFamily="34" charset="0"/>
                <a:sym typeface="Wingdings" panose="05000000000000000000" pitchFamily="2" charset="2"/>
              </a:rPr>
              <a:t> &gt; 10</a:t>
            </a:r>
            <a:r>
              <a:rPr lang="en-US" altLang="en-US" sz="2000" baseline="30000" dirty="0">
                <a:ea typeface="Arial" panose="020B0604020202020204" pitchFamily="34" charset="0"/>
                <a:sym typeface="Wingdings" panose="05000000000000000000" pitchFamily="2" charset="2"/>
              </a:rPr>
              <a:t>18</a:t>
            </a:r>
            <a:r>
              <a:rPr lang="en-US" altLang="en-US" sz="2000" dirty="0">
                <a:ea typeface="Arial" panose="020B0604020202020204" pitchFamily="34" charset="0"/>
                <a:sym typeface="Wingdings" panose="05000000000000000000" pitchFamily="2" charset="2"/>
              </a:rPr>
              <a:t> – This is impractical</a:t>
            </a:r>
          </a:p>
          <a:p>
            <a:pPr lvl="1"/>
            <a:r>
              <a:rPr lang="en-US" altLang="en-US" sz="2000" dirty="0">
                <a:ea typeface="Arial" panose="020B0604020202020204" pitchFamily="34" charset="0"/>
                <a:sym typeface="Wingdings" panose="05000000000000000000" pitchFamily="2" charset="2"/>
              </a:rPr>
              <a:t>100MHz is used  10</a:t>
            </a:r>
            <a:r>
              <a:rPr lang="en-US" altLang="en-US" sz="2000" baseline="30000" dirty="0">
                <a:ea typeface="Arial" panose="020B0604020202020204" pitchFamily="34" charset="0"/>
                <a:sym typeface="Wingdings" panose="05000000000000000000" pitchFamily="2" charset="2"/>
              </a:rPr>
              <a:t>10</a:t>
            </a:r>
            <a:r>
              <a:rPr lang="en-US" altLang="en-US" sz="2000" dirty="0">
                <a:ea typeface="Arial" panose="020B0604020202020204" pitchFamily="34" charset="0"/>
                <a:sym typeface="Wingdings" panose="05000000000000000000" pitchFamily="2" charset="2"/>
              </a:rPr>
              <a:t> s  317 years</a:t>
            </a:r>
          </a:p>
          <a:p>
            <a:pPr lvl="1"/>
            <a:r>
              <a:rPr lang="en-US" altLang="en-US" sz="2000" dirty="0">
                <a:ea typeface="Arial" panose="020B0604020202020204" pitchFamily="34" charset="0"/>
                <a:sym typeface="Wingdings" panose="05000000000000000000" pitchFamily="2" charset="2"/>
              </a:rPr>
              <a:t>Only a few and more effective patterns are used  Trojan can escape.</a:t>
            </a:r>
          </a:p>
          <a:p>
            <a:pPr lvl="1"/>
            <a:r>
              <a:rPr lang="en-US" altLang="en-US" sz="2000" dirty="0">
                <a:ea typeface="Arial" panose="020B0604020202020204" pitchFamily="34" charset="0"/>
                <a:sym typeface="Wingdings" panose="05000000000000000000" pitchFamily="2" charset="2"/>
              </a:rPr>
              <a:t>The fault coverage is low for manufacturing test</a:t>
            </a:r>
          </a:p>
          <a:p>
            <a:pPr lvl="1"/>
            <a:endParaRPr lang="en-US" altLang="en-US" sz="2000" dirty="0">
              <a:ea typeface="Arial" panose="020B0604020202020204" pitchFamily="34" charset="0"/>
              <a:sym typeface="Wingdings" panose="05000000000000000000" pitchFamily="2" charset="2"/>
            </a:endParaRPr>
          </a:p>
          <a:p>
            <a:r>
              <a:rPr lang="en-US" altLang="en-US" sz="2400" dirty="0"/>
              <a:t>In practice, structural tests are used. </a:t>
            </a:r>
          </a:p>
          <a:p>
            <a:endParaRPr lang="en-US" altLang="en-US" sz="2400" dirty="0"/>
          </a:p>
          <a:p>
            <a:endParaRPr lang="en-US" altLang="en-US" dirty="0"/>
          </a:p>
        </p:txBody>
      </p:sp>
      <p:sp>
        <p:nvSpPr>
          <p:cNvPr id="7782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AFA98E04-1410-4D8F-A424-D0C5706A3EA0}" type="slidenum">
              <a:rPr lang="en-US" altLang="en-US" sz="1200"/>
              <a:pPr>
                <a:spcBef>
                  <a:spcPct val="0"/>
                </a:spcBef>
                <a:buClrTx/>
                <a:buSzTx/>
                <a:buFontTx/>
                <a:buNone/>
              </a:pPr>
              <a:t>44</a:t>
            </a:fld>
            <a:endParaRPr lang="en-US" altLang="en-US" sz="1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1230"/>
            <a:ext cx="9144001" cy="944563"/>
          </a:xfrm>
        </p:spPr>
        <p:txBody>
          <a:bodyPr/>
          <a:lstStyle/>
          <a:p>
            <a:pPr>
              <a:defRPr/>
            </a:pPr>
            <a:r>
              <a:rPr lang="en-US" altLang="en-US" b="1" dirty="0">
                <a:ea typeface="ＭＳ Ｐゴシック" panose="020B0600070205080204" pitchFamily="34" charset="-128"/>
              </a:rPr>
              <a:t>Functional Testing</a:t>
            </a:r>
          </a:p>
        </p:txBody>
      </p:sp>
      <p:sp>
        <p:nvSpPr>
          <p:cNvPr id="11267" name="TextBox 4"/>
          <p:cNvSpPr txBox="1">
            <a:spLocks noChangeArrowheads="1"/>
          </p:cNvSpPr>
          <p:nvPr/>
        </p:nvSpPr>
        <p:spPr bwMode="auto">
          <a:xfrm>
            <a:off x="0" y="990600"/>
            <a:ext cx="9055100" cy="141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282575">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096963" indent="-236538">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spcBef>
                <a:spcPts val="600"/>
              </a:spcBef>
              <a:buClr>
                <a:srgbClr val="FFFFFF"/>
              </a:buClr>
              <a:buFont typeface="Wingdings 2" panose="05020102010507070707" pitchFamily="18" charset="2"/>
              <a:buChar char=""/>
            </a:pPr>
            <a:r>
              <a:rPr lang="en-US" altLang="en-US" sz="2800" b="1" dirty="0">
                <a:cs typeface="Arial" panose="020B0604020202020204" pitchFamily="34" charset="0"/>
              </a:rPr>
              <a:t>Feasible Trojan space inordinately large!</a:t>
            </a:r>
          </a:p>
          <a:p>
            <a:pPr lvl="2">
              <a:spcBef>
                <a:spcPts val="550"/>
              </a:spcBef>
              <a:buClr>
                <a:srgbClr val="FFFFFF"/>
              </a:buClr>
              <a:buFont typeface="Courier New" panose="02070309020205020404" pitchFamily="49" charset="0"/>
              <a:buChar char="o"/>
            </a:pPr>
            <a:r>
              <a:rPr lang="en-US" altLang="en-US" i="1" u="sng" dirty="0">
                <a:cs typeface="Arial" panose="020B0604020202020204" pitchFamily="34" charset="0"/>
              </a:rPr>
              <a:t>Deterministic</a:t>
            </a:r>
            <a:r>
              <a:rPr lang="en-US" altLang="en-US" dirty="0">
                <a:cs typeface="Arial" panose="020B0604020202020204" pitchFamily="34" charset="0"/>
              </a:rPr>
              <a:t> test generation infeasible</a:t>
            </a:r>
          </a:p>
          <a:p>
            <a:pPr lvl="2">
              <a:spcBef>
                <a:spcPts val="550"/>
              </a:spcBef>
              <a:buClr>
                <a:srgbClr val="FFFFFF"/>
              </a:buClr>
              <a:buFont typeface="Courier New" panose="02070309020205020404" pitchFamily="49" charset="0"/>
              <a:buChar char="o"/>
            </a:pPr>
            <a:r>
              <a:rPr lang="en-US" altLang="en-US" dirty="0">
                <a:cs typeface="Arial" panose="020B0604020202020204" pitchFamily="34" charset="0"/>
              </a:rPr>
              <a:t>A statistical approach is, more effective</a:t>
            </a:r>
          </a:p>
        </p:txBody>
      </p:sp>
      <p:grpSp>
        <p:nvGrpSpPr>
          <p:cNvPr id="3" name="Group 6"/>
          <p:cNvGrpSpPr>
            <a:grpSpLocks/>
          </p:cNvGrpSpPr>
          <p:nvPr/>
        </p:nvGrpSpPr>
        <p:grpSpPr bwMode="auto">
          <a:xfrm>
            <a:off x="127000" y="2508731"/>
            <a:ext cx="8890000" cy="1905000"/>
            <a:chOff x="1066800" y="4191000"/>
            <a:chExt cx="7975600" cy="2286000"/>
          </a:xfrm>
        </p:grpSpPr>
        <p:sp>
          <p:nvSpPr>
            <p:cNvPr id="6" name="AutoShape 70"/>
            <p:cNvSpPr>
              <a:spLocks noChangeArrowheads="1"/>
            </p:cNvSpPr>
            <p:nvPr/>
          </p:nvSpPr>
          <p:spPr bwMode="auto">
            <a:xfrm>
              <a:off x="1066800" y="4191000"/>
              <a:ext cx="7975600" cy="2286000"/>
            </a:xfrm>
            <a:prstGeom prst="roundRect">
              <a:avLst>
                <a:gd name="adj" fmla="val 16667"/>
              </a:avLst>
            </a:prstGeom>
            <a:solidFill>
              <a:srgbClr val="C2E6FF"/>
            </a:solidFill>
            <a:ln w="9525">
              <a:solidFill>
                <a:schemeClr val="tx1"/>
              </a:solidFill>
              <a:round/>
              <a:headEnd/>
              <a:tailEnd/>
            </a:ln>
            <a:effectLst>
              <a:outerShdw dist="53882" dir="2700000" algn="ctr" rotWithShape="0">
                <a:srgbClr val="5F5F5F"/>
              </a:outerShdw>
            </a:effectLst>
          </p:spPr>
          <p:txBody>
            <a:bodyPr wrap="none" anchor="ctr"/>
            <a:lstStyle/>
            <a:p>
              <a:pPr algn="ctr">
                <a:defRPr/>
              </a:pPr>
              <a:endParaRPr lang="en-US" sz="2000" b="1" dirty="0">
                <a:latin typeface="Arial" charset="0"/>
                <a:ea typeface="ＭＳ Ｐゴシック" charset="0"/>
              </a:endParaRPr>
            </a:p>
          </p:txBody>
        </p:sp>
        <p:sp>
          <p:nvSpPr>
            <p:cNvPr id="11272" name="TextBox 4"/>
            <p:cNvSpPr txBox="1">
              <a:spLocks noChangeArrowheads="1"/>
            </p:cNvSpPr>
            <p:nvPr/>
          </p:nvSpPr>
          <p:spPr bwMode="auto">
            <a:xfrm>
              <a:off x="1143000" y="4332330"/>
              <a:ext cx="7848600" cy="204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282575">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096963" indent="-236538">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spcBef>
                  <a:spcPts val="600"/>
                </a:spcBef>
                <a:buClrTx/>
                <a:buFont typeface="Wingdings 2" panose="05020102010507070707" pitchFamily="18" charset="2"/>
                <a:buChar char=""/>
              </a:pPr>
              <a:r>
                <a:rPr lang="en-US" altLang="en-US" sz="2400" b="1" dirty="0">
                  <a:cs typeface="Arial" panose="020B0604020202020204" pitchFamily="34" charset="0"/>
                </a:rPr>
                <a:t>MERO: A </a:t>
              </a:r>
              <a:r>
                <a:rPr lang="en-US" altLang="en-US" sz="2400" b="1" u="sng" dirty="0">
                  <a:cs typeface="Arial" panose="020B0604020202020204" pitchFamily="34" charset="0"/>
                </a:rPr>
                <a:t>Statistical</a:t>
              </a:r>
              <a:r>
                <a:rPr lang="en-US" altLang="en-US" sz="2400" b="1" dirty="0">
                  <a:cs typeface="Arial" panose="020B0604020202020204" pitchFamily="34" charset="0"/>
                </a:rPr>
                <a:t> Approach</a:t>
              </a:r>
            </a:p>
            <a:p>
              <a:pPr lvl="2">
                <a:spcBef>
                  <a:spcPts val="550"/>
                </a:spcBef>
                <a:buClr>
                  <a:srgbClr val="080808"/>
                </a:buClr>
                <a:buFont typeface="Arial" panose="020B0604020202020204" pitchFamily="34" charset="0"/>
                <a:buChar char="−"/>
              </a:pPr>
              <a:r>
                <a:rPr lang="en-US" altLang="en-US" sz="2200" dirty="0">
                  <a:cs typeface="Arial" panose="020B0604020202020204" pitchFamily="34" charset="0"/>
                </a:rPr>
                <a:t>Find the rare events in the circuit</a:t>
              </a:r>
            </a:p>
            <a:p>
              <a:pPr lvl="2">
                <a:spcBef>
                  <a:spcPts val="550"/>
                </a:spcBef>
                <a:buClr>
                  <a:srgbClr val="080808"/>
                </a:buClr>
                <a:buFont typeface="Arial" panose="020B0604020202020204" pitchFamily="34" charset="0"/>
                <a:buChar char="−"/>
              </a:pPr>
              <a:r>
                <a:rPr lang="en-US" altLang="en-US" sz="2200" dirty="0">
                  <a:cs typeface="Arial" panose="020B0604020202020204" pitchFamily="34" charset="0"/>
                </a:rPr>
                <a:t>Generate vectors to trigger each rare node </a:t>
              </a:r>
              <a:r>
                <a:rPr lang="en-US" altLang="en-US" sz="2200" b="1" i="1" u="sng" dirty="0">
                  <a:cs typeface="Arial" panose="020B0604020202020204" pitchFamily="34" charset="0"/>
                </a:rPr>
                <a:t>N times</a:t>
              </a:r>
              <a:endParaRPr lang="en-US" altLang="en-US" sz="2200" b="1" i="1" dirty="0">
                <a:cs typeface="Arial" panose="020B0604020202020204" pitchFamily="34" charset="0"/>
              </a:endParaRPr>
            </a:p>
            <a:p>
              <a:pPr lvl="2">
                <a:spcBef>
                  <a:spcPts val="550"/>
                </a:spcBef>
                <a:buClr>
                  <a:srgbClr val="080808"/>
                </a:buClr>
                <a:buFont typeface="Arial" panose="020B0604020202020204" pitchFamily="34" charset="0"/>
                <a:buChar char="−"/>
              </a:pPr>
              <a:r>
                <a:rPr lang="en-US" altLang="en-US" sz="2200" dirty="0">
                  <a:cs typeface="Arial" panose="020B0604020202020204" pitchFamily="34" charset="0"/>
                </a:rPr>
                <a:t>Provides high confidence in detecting unknown Trojans!</a:t>
              </a:r>
              <a:endParaRPr lang="en-US" altLang="en-US" sz="2200" i="1" dirty="0">
                <a:cs typeface="Arial" panose="020B0604020202020204" pitchFamily="34" charset="0"/>
              </a:endParaRPr>
            </a:p>
          </p:txBody>
        </p:sp>
      </p:grpSp>
      <p:sp>
        <p:nvSpPr>
          <p:cNvPr id="11269" name="Text Box 74"/>
          <p:cNvSpPr txBox="1">
            <a:spLocks noChangeArrowheads="1"/>
          </p:cNvSpPr>
          <p:nvPr/>
        </p:nvSpPr>
        <p:spPr bwMode="auto">
          <a:xfrm>
            <a:off x="5410200" y="6248400"/>
            <a:ext cx="3049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accent2"/>
              </a:buClr>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hlink"/>
              </a:buClr>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ClrTx/>
              <a:buSzTx/>
              <a:buFontTx/>
              <a:buNone/>
            </a:pPr>
            <a:r>
              <a:rPr lang="en-US" altLang="en-US" sz="1600" i="1" dirty="0">
                <a:solidFill>
                  <a:srgbClr val="FFFFFF"/>
                </a:solidFill>
              </a:rPr>
              <a:t>Chakraborty et al, CHES 2009</a:t>
            </a:r>
          </a:p>
        </p:txBody>
      </p:sp>
      <p:pic>
        <p:nvPicPr>
          <p:cNvPr id="4" name="Picture 3"/>
          <p:cNvPicPr>
            <a:picLocks noChangeAspect="1"/>
          </p:cNvPicPr>
          <p:nvPr/>
        </p:nvPicPr>
        <p:blipFill>
          <a:blip r:embed="rId3"/>
          <a:stretch>
            <a:fillRect/>
          </a:stretch>
        </p:blipFill>
        <p:spPr>
          <a:xfrm>
            <a:off x="180846" y="4443287"/>
            <a:ext cx="4793326" cy="1905000"/>
          </a:xfrm>
          <a:prstGeom prst="rect">
            <a:avLst/>
          </a:prstGeom>
        </p:spPr>
      </p:pic>
      <p:sp>
        <p:nvSpPr>
          <p:cNvPr id="5" name="Rectangle 4"/>
          <p:cNvSpPr/>
          <p:nvPr/>
        </p:nvSpPr>
        <p:spPr>
          <a:xfrm>
            <a:off x="5289025" y="4872707"/>
            <a:ext cx="3778775" cy="846386"/>
          </a:xfrm>
          <a:prstGeom prst="rect">
            <a:avLst/>
          </a:prstGeom>
        </p:spPr>
        <p:txBody>
          <a:bodyPr wrap="square">
            <a:spAutoFit/>
          </a:bodyPr>
          <a:lstStyle/>
          <a:p>
            <a:pPr>
              <a:spcBef>
                <a:spcPts val="600"/>
              </a:spcBef>
              <a:buClr>
                <a:srgbClr val="FFFFFF"/>
              </a:buClr>
              <a:buFont typeface="Wingdings 2" panose="05020102010507070707" pitchFamily="18" charset="2"/>
              <a:buChar char=""/>
            </a:pPr>
            <a:r>
              <a:rPr lang="en-US" altLang="en-US" sz="2200" b="1" dirty="0">
                <a:latin typeface="Arial" charset="0"/>
                <a:ea typeface="ＭＳ Ｐゴシック" charset="0"/>
                <a:cs typeface="Arial" panose="020B0604020202020204" pitchFamily="34" charset="0"/>
              </a:rPr>
              <a:t> Trojan Trigger Condition</a:t>
            </a:r>
          </a:p>
          <a:p>
            <a:pPr lvl="1">
              <a:spcBef>
                <a:spcPts val="600"/>
              </a:spcBef>
              <a:buClr>
                <a:srgbClr val="FFFFFF"/>
              </a:buClr>
              <a:buSzPct val="80000"/>
            </a:pPr>
            <a:r>
              <a:rPr lang="en-US" altLang="en-US" sz="2200" b="1" i="1" dirty="0">
                <a:latin typeface="Arial" charset="0"/>
                <a:ea typeface="ＭＳ Ｐゴシック" charset="0"/>
                <a:cs typeface="Arial" panose="020B0604020202020204" pitchFamily="34" charset="0"/>
              </a:rPr>
              <a:t>      a=0, b=1, c=1 </a:t>
            </a:r>
            <a:endParaRPr lang="en-US" dirty="0">
              <a:latin typeface="Arial" charset="0"/>
              <a:ea typeface="ＭＳ Ｐゴシック" charset="0"/>
            </a:endParaRPr>
          </a:p>
        </p:txBody>
      </p:sp>
      <p:sp>
        <p:nvSpPr>
          <p:cNvPr id="7" name="TextBox 6">
            <a:extLst>
              <a:ext uri="{FF2B5EF4-FFF2-40B4-BE49-F238E27FC236}">
                <a16:creationId xmlns:a16="http://schemas.microsoft.com/office/drawing/2014/main" id="{CBE89149-2743-014D-871A-F9C1529B544E}"/>
              </a:ext>
            </a:extLst>
          </p:cNvPr>
          <p:cNvSpPr txBox="1"/>
          <p:nvPr/>
        </p:nvSpPr>
        <p:spPr>
          <a:xfrm>
            <a:off x="626798" y="4754003"/>
            <a:ext cx="306494" cy="369332"/>
          </a:xfrm>
          <a:prstGeom prst="rect">
            <a:avLst/>
          </a:prstGeom>
          <a:noFill/>
        </p:spPr>
        <p:txBody>
          <a:bodyPr wrap="none" rtlCol="0">
            <a:spAutoFit/>
          </a:bodyPr>
          <a:lstStyle/>
          <a:p>
            <a:r>
              <a:rPr lang="en-US" dirty="0"/>
              <a:t>a</a:t>
            </a:r>
          </a:p>
        </p:txBody>
      </p:sp>
      <p:sp>
        <p:nvSpPr>
          <p:cNvPr id="8" name="TextBox 7">
            <a:extLst>
              <a:ext uri="{FF2B5EF4-FFF2-40B4-BE49-F238E27FC236}">
                <a16:creationId xmlns:a16="http://schemas.microsoft.com/office/drawing/2014/main" id="{6C240B6A-2AC3-A341-B623-90EB0FEB180C}"/>
              </a:ext>
            </a:extLst>
          </p:cNvPr>
          <p:cNvSpPr txBox="1"/>
          <p:nvPr/>
        </p:nvSpPr>
        <p:spPr>
          <a:xfrm>
            <a:off x="626798" y="5123335"/>
            <a:ext cx="312906" cy="369332"/>
          </a:xfrm>
          <a:prstGeom prst="rect">
            <a:avLst/>
          </a:prstGeom>
          <a:noFill/>
        </p:spPr>
        <p:txBody>
          <a:bodyPr wrap="none" rtlCol="0">
            <a:spAutoFit/>
          </a:bodyPr>
          <a:lstStyle/>
          <a:p>
            <a:r>
              <a:rPr lang="en-US" dirty="0"/>
              <a:t>b</a:t>
            </a:r>
          </a:p>
        </p:txBody>
      </p:sp>
      <p:sp>
        <p:nvSpPr>
          <p:cNvPr id="9" name="TextBox 8">
            <a:extLst>
              <a:ext uri="{FF2B5EF4-FFF2-40B4-BE49-F238E27FC236}">
                <a16:creationId xmlns:a16="http://schemas.microsoft.com/office/drawing/2014/main" id="{20583BAC-8647-FF4F-A4A1-9D9B1DFF916B}"/>
              </a:ext>
            </a:extLst>
          </p:cNvPr>
          <p:cNvSpPr txBox="1"/>
          <p:nvPr/>
        </p:nvSpPr>
        <p:spPr>
          <a:xfrm>
            <a:off x="624009" y="5426084"/>
            <a:ext cx="290464" cy="369332"/>
          </a:xfrm>
          <a:prstGeom prst="rect">
            <a:avLst/>
          </a:prstGeom>
          <a:noFill/>
        </p:spPr>
        <p:txBody>
          <a:bodyPr wrap="none" rtlCol="0">
            <a:spAutoFit/>
          </a:bodyPr>
          <a:lstStyle/>
          <a:p>
            <a:r>
              <a:rPr lang="en-US" dirty="0"/>
              <a:t>c</a:t>
            </a:r>
          </a:p>
        </p:txBody>
      </p:sp>
      <p:sp>
        <p:nvSpPr>
          <p:cNvPr id="10" name="TextBox 9">
            <a:extLst>
              <a:ext uri="{FF2B5EF4-FFF2-40B4-BE49-F238E27FC236}">
                <a16:creationId xmlns:a16="http://schemas.microsoft.com/office/drawing/2014/main" id="{0360BB0F-1BA7-1441-B3ED-CADC558B1507}"/>
              </a:ext>
            </a:extLst>
          </p:cNvPr>
          <p:cNvSpPr txBox="1"/>
          <p:nvPr/>
        </p:nvSpPr>
        <p:spPr>
          <a:xfrm>
            <a:off x="1890706" y="6193177"/>
            <a:ext cx="2200987" cy="369332"/>
          </a:xfrm>
          <a:prstGeom prst="rect">
            <a:avLst/>
          </a:prstGeom>
          <a:noFill/>
        </p:spPr>
        <p:txBody>
          <a:bodyPr wrap="none" rtlCol="0">
            <a:spAutoFit/>
          </a:bodyPr>
          <a:lstStyle/>
          <a:p>
            <a:r>
              <a:rPr lang="en-US" dirty="0"/>
              <a:t>From original circuit</a:t>
            </a:r>
          </a:p>
        </p:txBody>
      </p:sp>
    </p:spTree>
    <p:extLst>
      <p:ext uri="{BB962C8B-B14F-4D97-AF65-F5344CB8AC3E}">
        <p14:creationId xmlns:p14="http://schemas.microsoft.com/office/powerpoint/2010/main" val="37493908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0" y="0"/>
            <a:ext cx="9144000" cy="838200"/>
          </a:xfrm>
        </p:spPr>
        <p:txBody>
          <a:bodyPr/>
          <a:lstStyle/>
          <a:p>
            <a:pPr eaLnBrk="1" hangingPunct="1"/>
            <a:r>
              <a:rPr lang="en-US" altLang="en-US" b="1"/>
              <a:t>MERO</a:t>
            </a:r>
          </a:p>
        </p:txBody>
      </p:sp>
      <p:sp>
        <p:nvSpPr>
          <p:cNvPr id="79875" name="Content Placeholder 2"/>
          <p:cNvSpPr>
            <a:spLocks noGrp="1"/>
          </p:cNvSpPr>
          <p:nvPr>
            <p:ph idx="1"/>
          </p:nvPr>
        </p:nvSpPr>
        <p:spPr>
          <a:xfrm>
            <a:off x="190500" y="829251"/>
            <a:ext cx="8750300" cy="1824530"/>
          </a:xfrm>
        </p:spPr>
        <p:txBody>
          <a:bodyPr/>
          <a:lstStyle/>
          <a:p>
            <a:pPr eaLnBrk="1" hangingPunct="1"/>
            <a:r>
              <a:rPr lang="en-US" altLang="en-US" sz="2400" b="1" dirty="0"/>
              <a:t>MERO</a:t>
            </a:r>
            <a:r>
              <a:rPr lang="en-US" altLang="en-US" sz="2400" dirty="0"/>
              <a:t>:</a:t>
            </a:r>
          </a:p>
          <a:p>
            <a:pPr lvl="1" eaLnBrk="1" hangingPunct="1"/>
            <a:r>
              <a:rPr lang="en-US" altLang="en-US" sz="2000" dirty="0">
                <a:ea typeface="Arial" panose="020B0604020202020204" pitchFamily="34" charset="0"/>
              </a:rPr>
              <a:t>Generates a set of test vectors that can trigger each rare node to its rare value multiple times (N times)</a:t>
            </a:r>
          </a:p>
          <a:p>
            <a:pPr lvl="1" eaLnBrk="1" hangingPunct="1"/>
            <a:r>
              <a:rPr lang="en-US" altLang="en-US" sz="2000" dirty="0">
                <a:ea typeface="Arial" panose="020B0604020202020204" pitchFamily="34" charset="0"/>
              </a:rPr>
              <a:t>It improves the probability of triggering a Trojan activated by a rare combination of a selection of the nodes</a:t>
            </a:r>
          </a:p>
          <a:p>
            <a:pPr eaLnBrk="1" hangingPunct="1"/>
            <a:endParaRPr lang="en-US" altLang="en-US" sz="2400" dirty="0"/>
          </a:p>
          <a:p>
            <a:pPr eaLnBrk="1" hangingPunct="1"/>
            <a:endParaRPr lang="en-US" altLang="en-US" sz="2400" dirty="0"/>
          </a:p>
        </p:txBody>
      </p:sp>
      <p:sp>
        <p:nvSpPr>
          <p:cNvPr id="7987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FF2FC182-A745-4A4F-8DB9-E21408C5F1B2}" type="slidenum">
              <a:rPr lang="en-US" altLang="en-US" sz="1200"/>
              <a:pPr>
                <a:spcBef>
                  <a:spcPct val="0"/>
                </a:spcBef>
                <a:buClrTx/>
                <a:buSzTx/>
                <a:buFontTx/>
                <a:buNone/>
              </a:pPr>
              <a:t>46</a:t>
            </a:fld>
            <a:endParaRPr lang="en-US" altLang="en-US" sz="1200"/>
          </a:p>
        </p:txBody>
      </p:sp>
      <p:pic>
        <p:nvPicPr>
          <p:cNvPr id="7987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8" y="2567590"/>
            <a:ext cx="7172325"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F2D15344-58A1-684B-8B94-0FECCD8D003F}"/>
              </a:ext>
            </a:extLst>
          </p:cNvPr>
          <p:cNvSpPr txBox="1">
            <a:spLocks/>
          </p:cNvSpPr>
          <p:nvPr/>
        </p:nvSpPr>
        <p:spPr bwMode="auto">
          <a:xfrm>
            <a:off x="0" y="5559973"/>
            <a:ext cx="9144000" cy="795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Arial" pitchFamily="34" charset="0"/>
                <a:ea typeface="MS PGothic" panose="020B0600070205080204" pitchFamily="34" charset="-128"/>
                <a:cs typeface="Arial" pitchFamily="34"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Arial" pitchFamily="34" charset="0"/>
                <a:ea typeface="Arial" charset="0"/>
                <a:cs typeface="Arial" pitchFamily="34"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Arial" pitchFamily="34" charset="0"/>
                <a:ea typeface="Arial" charset="0"/>
                <a:cs typeface="Arial" pitchFamily="34"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Arial" pitchFamily="34" charset="0"/>
                <a:ea typeface="Arial" charset="0"/>
                <a:cs typeface="Arial" pitchFamily="34"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itchFamily="34" charset="0"/>
                <a:ea typeface="Arial" charset="0"/>
                <a:cs typeface="Arial" pitchFamily="34"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eaLnBrk="1" hangingPunct="1"/>
            <a:r>
              <a:rPr lang="en-US" altLang="en-US" sz="2400" b="1" kern="0" dirty="0">
                <a:ea typeface="Arial" panose="020B0604020202020204" pitchFamily="34" charset="0"/>
              </a:rPr>
              <a:t>Challenge: </a:t>
            </a:r>
            <a:r>
              <a:rPr lang="en-US" altLang="en-US" sz="2000" kern="0" dirty="0">
                <a:ea typeface="Arial" panose="020B0604020202020204" pitchFamily="34" charset="0"/>
              </a:rPr>
              <a:t>Triggering each net N times in a large circuit is challenging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Slide Number Placeholder 5"/>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eaLnBrk="1" hangingPunct="1">
              <a:spcBef>
                <a:spcPct val="0"/>
              </a:spcBef>
              <a:buClrTx/>
              <a:buSzTx/>
              <a:buFontTx/>
              <a:buNone/>
            </a:pPr>
            <a:fld id="{1B8526C0-FCA2-43B7-8909-06EDAFDCDC54}" type="slidenum">
              <a:rPr lang="en-US" altLang="en-US" sz="1200"/>
              <a:pPr algn="r" eaLnBrk="1" hangingPunct="1">
                <a:spcBef>
                  <a:spcPct val="0"/>
                </a:spcBef>
                <a:buClrTx/>
                <a:buSzTx/>
                <a:buFontTx/>
                <a:buNone/>
              </a:pPr>
              <a:t>47</a:t>
            </a:fld>
            <a:endParaRPr lang="en-US" altLang="en-US" sz="1200"/>
          </a:p>
        </p:txBody>
      </p:sp>
      <p:sp>
        <p:nvSpPr>
          <p:cNvPr id="3" name="Title 2">
            <a:extLst>
              <a:ext uri="{FF2B5EF4-FFF2-40B4-BE49-F238E27FC236}">
                <a16:creationId xmlns:a16="http://schemas.microsoft.com/office/drawing/2014/main" id="{AE8A4DED-27B8-8A42-BE4A-D38138A54B1E}"/>
              </a:ext>
            </a:extLst>
          </p:cNvPr>
          <p:cNvSpPr>
            <a:spLocks noGrp="1"/>
          </p:cNvSpPr>
          <p:nvPr>
            <p:ph type="title"/>
          </p:nvPr>
        </p:nvSpPr>
        <p:spPr/>
        <p:txBody>
          <a:bodyPr/>
          <a:lstStyle/>
          <a:p>
            <a:r>
              <a:rPr lang="en-US" dirty="0"/>
              <a:t>Comprehensive Attack Model</a:t>
            </a:r>
          </a:p>
        </p:txBody>
      </p:sp>
      <p:pic>
        <p:nvPicPr>
          <p:cNvPr id="4" name="Picture 3">
            <a:extLst>
              <a:ext uri="{FF2B5EF4-FFF2-40B4-BE49-F238E27FC236}">
                <a16:creationId xmlns:a16="http://schemas.microsoft.com/office/drawing/2014/main" id="{1A7F75A2-3AE6-604D-B8EA-2919F745E024}"/>
              </a:ext>
            </a:extLst>
          </p:cNvPr>
          <p:cNvPicPr>
            <a:picLocks noChangeAspect="1"/>
          </p:cNvPicPr>
          <p:nvPr/>
        </p:nvPicPr>
        <p:blipFill>
          <a:blip r:embed="rId3"/>
          <a:stretch>
            <a:fillRect/>
          </a:stretch>
        </p:blipFill>
        <p:spPr>
          <a:xfrm>
            <a:off x="320626" y="1899588"/>
            <a:ext cx="8411144" cy="2102786"/>
          </a:xfrm>
          <a:prstGeom prst="rect">
            <a:avLst/>
          </a:prstGeom>
        </p:spPr>
      </p:pic>
    </p:spTree>
    <p:extLst>
      <p:ext uri="{BB962C8B-B14F-4D97-AF65-F5344CB8AC3E}">
        <p14:creationId xmlns:p14="http://schemas.microsoft.com/office/powerpoint/2010/main" val="1290691296"/>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B0DBB4C4-D68D-4BD9-88F4-2441CF9EB1A8}" type="slidenum">
              <a:rPr lang="en-US" altLang="en-US" sz="1200"/>
              <a:pPr>
                <a:spcBef>
                  <a:spcPct val="0"/>
                </a:spcBef>
                <a:buClrTx/>
                <a:buSzTx/>
                <a:buFontTx/>
                <a:buNone/>
              </a:pPr>
              <a:t>48</a:t>
            </a:fld>
            <a:endParaRPr lang="en-US" altLang="en-US" sz="1200"/>
          </a:p>
        </p:txBody>
      </p:sp>
      <p:sp>
        <p:nvSpPr>
          <p:cNvPr id="83971" name="Rectangle 2"/>
          <p:cNvSpPr>
            <a:spLocks noChangeArrowheads="1"/>
          </p:cNvSpPr>
          <p:nvPr/>
        </p:nvSpPr>
        <p:spPr bwMode="auto">
          <a:xfrm>
            <a:off x="190500" y="949325"/>
            <a:ext cx="8648700" cy="267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None/>
            </a:pPr>
            <a:endParaRPr lang="en-US" altLang="en-US" sz="2400"/>
          </a:p>
        </p:txBody>
      </p:sp>
      <p:sp>
        <p:nvSpPr>
          <p:cNvPr id="83972" name="Line 3"/>
          <p:cNvSpPr>
            <a:spLocks noChangeShapeType="1"/>
          </p:cNvSpPr>
          <p:nvPr/>
        </p:nvSpPr>
        <p:spPr bwMode="auto">
          <a:xfrm>
            <a:off x="7427730" y="4693589"/>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73" name="AutoShape 4"/>
          <p:cNvSpPr>
            <a:spLocks noChangeArrowheads="1"/>
          </p:cNvSpPr>
          <p:nvPr/>
        </p:nvSpPr>
        <p:spPr bwMode="auto">
          <a:xfrm>
            <a:off x="6172018" y="3931589"/>
            <a:ext cx="358775" cy="500063"/>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974" name="AutoShape 5"/>
          <p:cNvSpPr>
            <a:spLocks noChangeArrowheads="1"/>
          </p:cNvSpPr>
          <p:nvPr/>
        </p:nvSpPr>
        <p:spPr bwMode="auto">
          <a:xfrm>
            <a:off x="6170430" y="4977752"/>
            <a:ext cx="358775" cy="500062"/>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975" name="AutoShape 6"/>
          <p:cNvSpPr>
            <a:spLocks noChangeArrowheads="1"/>
          </p:cNvSpPr>
          <p:nvPr/>
        </p:nvSpPr>
        <p:spPr bwMode="auto">
          <a:xfrm>
            <a:off x="5241743" y="4469752"/>
            <a:ext cx="360362" cy="500062"/>
          </a:xfrm>
          <a:prstGeom prst="flowChartDelay">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976" name="Line 7"/>
          <p:cNvSpPr>
            <a:spLocks noChangeShapeType="1"/>
          </p:cNvSpPr>
          <p:nvPr/>
        </p:nvSpPr>
        <p:spPr bwMode="auto">
          <a:xfrm flipH="1">
            <a:off x="4473393" y="4595164"/>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77" name="Line 8"/>
          <p:cNvSpPr>
            <a:spLocks noChangeShapeType="1"/>
          </p:cNvSpPr>
          <p:nvPr/>
        </p:nvSpPr>
        <p:spPr bwMode="auto">
          <a:xfrm flipH="1">
            <a:off x="4470218" y="4825352"/>
            <a:ext cx="757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78" name="Line 9"/>
          <p:cNvSpPr>
            <a:spLocks noChangeShapeType="1"/>
          </p:cNvSpPr>
          <p:nvPr/>
        </p:nvSpPr>
        <p:spPr bwMode="auto">
          <a:xfrm>
            <a:off x="5614805" y="4734864"/>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79" name="Line 10"/>
          <p:cNvSpPr>
            <a:spLocks noChangeShapeType="1"/>
          </p:cNvSpPr>
          <p:nvPr/>
        </p:nvSpPr>
        <p:spPr bwMode="auto">
          <a:xfrm flipV="1">
            <a:off x="5889443" y="4318939"/>
            <a:ext cx="0" cy="4127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0" name="Line 11"/>
          <p:cNvSpPr>
            <a:spLocks noChangeShapeType="1"/>
          </p:cNvSpPr>
          <p:nvPr/>
        </p:nvSpPr>
        <p:spPr bwMode="auto">
          <a:xfrm>
            <a:off x="5889443" y="4328464"/>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1" name="Line 12"/>
          <p:cNvSpPr>
            <a:spLocks noChangeShapeType="1"/>
          </p:cNvSpPr>
          <p:nvPr/>
        </p:nvSpPr>
        <p:spPr bwMode="auto">
          <a:xfrm flipH="1">
            <a:off x="4455930" y="4101452"/>
            <a:ext cx="170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2" name="Line 13"/>
          <p:cNvSpPr>
            <a:spLocks noChangeShapeType="1"/>
          </p:cNvSpPr>
          <p:nvPr/>
        </p:nvSpPr>
        <p:spPr bwMode="auto">
          <a:xfrm flipV="1">
            <a:off x="5887855" y="4728514"/>
            <a:ext cx="0" cy="4143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3" name="Line 14"/>
          <p:cNvSpPr>
            <a:spLocks noChangeShapeType="1"/>
          </p:cNvSpPr>
          <p:nvPr/>
        </p:nvSpPr>
        <p:spPr bwMode="auto">
          <a:xfrm>
            <a:off x="5886268" y="5142852"/>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4" name="Line 15"/>
          <p:cNvSpPr>
            <a:spLocks noChangeShapeType="1"/>
          </p:cNvSpPr>
          <p:nvPr/>
        </p:nvSpPr>
        <p:spPr bwMode="auto">
          <a:xfrm flipH="1">
            <a:off x="4473393" y="5373039"/>
            <a:ext cx="1703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5" name="Line 16"/>
          <p:cNvSpPr>
            <a:spLocks noChangeShapeType="1"/>
          </p:cNvSpPr>
          <p:nvPr/>
        </p:nvSpPr>
        <p:spPr bwMode="auto">
          <a:xfrm flipV="1">
            <a:off x="6792730" y="4174477"/>
            <a:ext cx="0" cy="414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6" name="Line 17"/>
          <p:cNvSpPr>
            <a:spLocks noChangeShapeType="1"/>
          </p:cNvSpPr>
          <p:nvPr/>
        </p:nvSpPr>
        <p:spPr bwMode="auto">
          <a:xfrm>
            <a:off x="6530793" y="4188764"/>
            <a:ext cx="274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7" name="Line 18"/>
          <p:cNvSpPr>
            <a:spLocks noChangeShapeType="1"/>
          </p:cNvSpPr>
          <p:nvPr/>
        </p:nvSpPr>
        <p:spPr bwMode="auto">
          <a:xfrm>
            <a:off x="6776855" y="4588814"/>
            <a:ext cx="411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8" name="Line 19"/>
          <p:cNvSpPr>
            <a:spLocks noChangeShapeType="1"/>
          </p:cNvSpPr>
          <p:nvPr/>
        </p:nvSpPr>
        <p:spPr bwMode="auto">
          <a:xfrm>
            <a:off x="6784793" y="4804714"/>
            <a:ext cx="412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89" name="Line 20"/>
          <p:cNvSpPr>
            <a:spLocks noChangeShapeType="1"/>
          </p:cNvSpPr>
          <p:nvPr/>
        </p:nvSpPr>
        <p:spPr bwMode="auto">
          <a:xfrm flipV="1">
            <a:off x="6792730" y="4806302"/>
            <a:ext cx="0" cy="4429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90" name="Line 21"/>
          <p:cNvSpPr>
            <a:spLocks noChangeShapeType="1"/>
          </p:cNvSpPr>
          <p:nvPr/>
        </p:nvSpPr>
        <p:spPr bwMode="auto">
          <a:xfrm flipV="1">
            <a:off x="6541905" y="5244452"/>
            <a:ext cx="247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991" name="AutoShape 22"/>
          <p:cNvSpPr>
            <a:spLocks noChangeArrowheads="1"/>
          </p:cNvSpPr>
          <p:nvPr/>
        </p:nvSpPr>
        <p:spPr bwMode="auto">
          <a:xfrm rot="10800000">
            <a:off x="7003868" y="4450702"/>
            <a:ext cx="471487" cy="500062"/>
          </a:xfrm>
          <a:prstGeom prst="moon">
            <a:avLst>
              <a:gd name="adj" fmla="val 78870"/>
            </a:avLst>
          </a:prstGeom>
          <a:solidFill>
            <a:schemeClr val="accent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992" name="Oval 23"/>
          <p:cNvSpPr>
            <a:spLocks noChangeArrowheads="1"/>
          </p:cNvSpPr>
          <p:nvPr/>
        </p:nvSpPr>
        <p:spPr bwMode="auto">
          <a:xfrm>
            <a:off x="6513330" y="5226989"/>
            <a:ext cx="76200"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993" name="Rectangle 24"/>
          <p:cNvSpPr>
            <a:spLocks noChangeArrowheads="1"/>
          </p:cNvSpPr>
          <p:nvPr/>
        </p:nvSpPr>
        <p:spPr bwMode="auto">
          <a:xfrm>
            <a:off x="4919480" y="3837927"/>
            <a:ext cx="2616200" cy="1714500"/>
          </a:xfrm>
          <a:prstGeom prst="rect">
            <a:avLst/>
          </a:prstGeom>
          <a:solidFill>
            <a:srgbClr val="FF5050">
              <a:alpha val="70195"/>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994" name="Text Box 25"/>
          <p:cNvSpPr txBox="1">
            <a:spLocks noChangeArrowheads="1"/>
          </p:cNvSpPr>
          <p:nvPr/>
        </p:nvSpPr>
        <p:spPr bwMode="auto">
          <a:xfrm>
            <a:off x="5783080" y="3520427"/>
            <a:ext cx="1460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solidFill>
                  <a:srgbClr val="FF0000"/>
                </a:solidFill>
                <a:latin typeface="Tahoma" panose="020B0604030504040204" pitchFamily="34" charset="0"/>
              </a:rPr>
              <a:t>Trojan</a:t>
            </a:r>
          </a:p>
        </p:txBody>
      </p:sp>
      <p:sp>
        <p:nvSpPr>
          <p:cNvPr id="83995" name="Rectangle 39"/>
          <p:cNvSpPr>
            <a:spLocks noChangeArrowheads="1"/>
          </p:cNvSpPr>
          <p:nvPr/>
        </p:nvSpPr>
        <p:spPr bwMode="auto">
          <a:xfrm>
            <a:off x="180975" y="0"/>
            <a:ext cx="871855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3600" b="1">
                <a:solidFill>
                  <a:srgbClr val="FF0000"/>
                </a:solidFill>
                <a:latin typeface="Tahoma" panose="020B0604030504040204" pitchFamily="34" charset="0"/>
              </a:rPr>
              <a:t>Side Channel Signal Analysis -- Power</a:t>
            </a:r>
          </a:p>
        </p:txBody>
      </p:sp>
      <p:grpSp>
        <p:nvGrpSpPr>
          <p:cNvPr id="2" name="Group 47"/>
          <p:cNvGrpSpPr>
            <a:grpSpLocks/>
          </p:cNvGrpSpPr>
          <p:nvPr/>
        </p:nvGrpSpPr>
        <p:grpSpPr bwMode="auto">
          <a:xfrm>
            <a:off x="3560580" y="3901427"/>
            <a:ext cx="3505200" cy="1498600"/>
            <a:chOff x="2224" y="2880"/>
            <a:chExt cx="2208" cy="944"/>
          </a:xfrm>
        </p:grpSpPr>
        <p:grpSp>
          <p:nvGrpSpPr>
            <p:cNvPr id="84000" name="Group 26"/>
            <p:cNvGrpSpPr>
              <a:grpSpLocks/>
            </p:cNvGrpSpPr>
            <p:nvPr/>
          </p:nvGrpSpPr>
          <p:grpSpPr bwMode="auto">
            <a:xfrm>
              <a:off x="2240" y="2888"/>
              <a:ext cx="304" cy="120"/>
              <a:chOff x="2216" y="3072"/>
              <a:chExt cx="304" cy="120"/>
            </a:xfrm>
          </p:grpSpPr>
          <p:sp>
            <p:nvSpPr>
              <p:cNvPr id="84014" name="Line 27"/>
              <p:cNvSpPr>
                <a:spLocks noChangeShapeType="1"/>
              </p:cNvSpPr>
              <p:nvPr/>
            </p:nvSpPr>
            <p:spPr bwMode="auto">
              <a:xfrm>
                <a:off x="2216" y="3192"/>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15" name="Line 28"/>
              <p:cNvSpPr>
                <a:spLocks noChangeShapeType="1"/>
              </p:cNvSpPr>
              <p:nvPr/>
            </p:nvSpPr>
            <p:spPr bwMode="auto">
              <a:xfrm flipV="1">
                <a:off x="2360" y="3080"/>
                <a:ext cx="0"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16" name="Line 29"/>
              <p:cNvSpPr>
                <a:spLocks noChangeShapeType="1"/>
              </p:cNvSpPr>
              <p:nvPr/>
            </p:nvSpPr>
            <p:spPr bwMode="auto">
              <a:xfrm>
                <a:off x="2352" y="3072"/>
                <a:ext cx="1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4001" name="Group 30"/>
            <p:cNvGrpSpPr>
              <a:grpSpLocks/>
            </p:cNvGrpSpPr>
            <p:nvPr/>
          </p:nvGrpSpPr>
          <p:grpSpPr bwMode="auto">
            <a:xfrm>
              <a:off x="2256" y="3696"/>
              <a:ext cx="296" cy="128"/>
              <a:chOff x="2168" y="3496"/>
              <a:chExt cx="296" cy="128"/>
            </a:xfrm>
          </p:grpSpPr>
          <p:sp>
            <p:nvSpPr>
              <p:cNvPr id="84011" name="Line 31"/>
              <p:cNvSpPr>
                <a:spLocks noChangeShapeType="1"/>
              </p:cNvSpPr>
              <p:nvPr/>
            </p:nvSpPr>
            <p:spPr bwMode="auto">
              <a:xfrm>
                <a:off x="2168" y="3496"/>
                <a:ext cx="1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12" name="Line 32"/>
              <p:cNvSpPr>
                <a:spLocks noChangeShapeType="1"/>
              </p:cNvSpPr>
              <p:nvPr/>
            </p:nvSpPr>
            <p:spPr bwMode="auto">
              <a:xfrm>
                <a:off x="2328" y="3496"/>
                <a:ext cx="0"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13" name="Line 33"/>
              <p:cNvSpPr>
                <a:spLocks noChangeShapeType="1"/>
              </p:cNvSpPr>
              <p:nvPr/>
            </p:nvSpPr>
            <p:spPr bwMode="auto">
              <a:xfrm>
                <a:off x="2320" y="3624"/>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84002" name="Line 34"/>
            <p:cNvSpPr>
              <a:spLocks noChangeShapeType="1"/>
            </p:cNvSpPr>
            <p:nvPr/>
          </p:nvSpPr>
          <p:spPr bwMode="auto">
            <a:xfrm>
              <a:off x="2224" y="3320"/>
              <a:ext cx="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03" name="Line 35"/>
            <p:cNvSpPr>
              <a:spLocks noChangeShapeType="1"/>
            </p:cNvSpPr>
            <p:nvPr/>
          </p:nvSpPr>
          <p:spPr bwMode="auto">
            <a:xfrm>
              <a:off x="2240" y="3504"/>
              <a:ext cx="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04" name="Text Box 36"/>
            <p:cNvSpPr txBox="1">
              <a:spLocks noChangeArrowheads="1"/>
            </p:cNvSpPr>
            <p:nvPr/>
          </p:nvSpPr>
          <p:spPr bwMode="auto">
            <a:xfrm>
              <a:off x="2280" y="3312"/>
              <a:ext cx="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1</a:t>
              </a:r>
            </a:p>
          </p:txBody>
        </p:sp>
        <p:sp>
          <p:nvSpPr>
            <p:cNvPr id="84005" name="Text Box 37"/>
            <p:cNvSpPr txBox="1">
              <a:spLocks noChangeArrowheads="1"/>
            </p:cNvSpPr>
            <p:nvPr/>
          </p:nvSpPr>
          <p:spPr bwMode="auto">
            <a:xfrm>
              <a:off x="2232" y="3112"/>
              <a:ext cx="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1</a:t>
              </a:r>
            </a:p>
          </p:txBody>
        </p:sp>
        <p:grpSp>
          <p:nvGrpSpPr>
            <p:cNvPr id="84006" name="Group 40"/>
            <p:cNvGrpSpPr>
              <a:grpSpLocks/>
            </p:cNvGrpSpPr>
            <p:nvPr/>
          </p:nvGrpSpPr>
          <p:grpSpPr bwMode="auto">
            <a:xfrm>
              <a:off x="4128" y="2880"/>
              <a:ext cx="304" cy="120"/>
              <a:chOff x="2216" y="3072"/>
              <a:chExt cx="304" cy="120"/>
            </a:xfrm>
          </p:grpSpPr>
          <p:sp>
            <p:nvSpPr>
              <p:cNvPr id="84008" name="Line 41"/>
              <p:cNvSpPr>
                <a:spLocks noChangeShapeType="1"/>
              </p:cNvSpPr>
              <p:nvPr/>
            </p:nvSpPr>
            <p:spPr bwMode="auto">
              <a:xfrm>
                <a:off x="2216" y="3192"/>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09" name="Line 42"/>
              <p:cNvSpPr>
                <a:spLocks noChangeShapeType="1"/>
              </p:cNvSpPr>
              <p:nvPr/>
            </p:nvSpPr>
            <p:spPr bwMode="auto">
              <a:xfrm flipV="1">
                <a:off x="2360" y="3080"/>
                <a:ext cx="0"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010" name="Line 43"/>
              <p:cNvSpPr>
                <a:spLocks noChangeShapeType="1"/>
              </p:cNvSpPr>
              <p:nvPr/>
            </p:nvSpPr>
            <p:spPr bwMode="auto">
              <a:xfrm>
                <a:off x="2352" y="3072"/>
                <a:ext cx="1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84007" name="Text Box 44"/>
            <p:cNvSpPr txBox="1">
              <a:spLocks noChangeArrowheads="1"/>
            </p:cNvSpPr>
            <p:nvPr/>
          </p:nvSpPr>
          <p:spPr bwMode="auto">
            <a:xfrm>
              <a:off x="3408" y="3216"/>
              <a:ext cx="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600" b="1">
                  <a:latin typeface="Tahoma" panose="020B0604030504040204" pitchFamily="34" charset="0"/>
                </a:rPr>
                <a:t>1</a:t>
              </a:r>
            </a:p>
          </p:txBody>
        </p:sp>
      </p:grpSp>
      <p:sp>
        <p:nvSpPr>
          <p:cNvPr id="83997" name="Text Box 38"/>
          <p:cNvSpPr txBox="1">
            <a:spLocks noChangeArrowheads="1"/>
          </p:cNvSpPr>
          <p:nvPr/>
        </p:nvSpPr>
        <p:spPr bwMode="auto">
          <a:xfrm>
            <a:off x="918980" y="4485627"/>
            <a:ext cx="2273300" cy="366712"/>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latin typeface="Tahoma" panose="020B0604030504040204" pitchFamily="34" charset="0"/>
              </a:rPr>
              <a:t>Partial Activation</a:t>
            </a:r>
          </a:p>
        </p:txBody>
      </p:sp>
      <p:pic>
        <p:nvPicPr>
          <p:cNvPr id="39428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7380" y="4434827"/>
            <a:ext cx="8572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83999" name="Content Placeholder 2"/>
          <p:cNvSpPr>
            <a:spLocks noGrp="1"/>
          </p:cNvSpPr>
          <p:nvPr>
            <p:ph idx="1"/>
          </p:nvPr>
        </p:nvSpPr>
        <p:spPr/>
        <p:txBody>
          <a:bodyPr/>
          <a:lstStyle/>
          <a:p>
            <a:pPr eaLnBrk="1" hangingPunct="1"/>
            <a:r>
              <a:rPr lang="en-US" altLang="en-US" sz="2400"/>
              <a:t>Hardware Trojans inserted in a chip can change the power consumption characteristics.</a:t>
            </a:r>
          </a:p>
          <a:p>
            <a:pPr eaLnBrk="1" hangingPunct="1"/>
            <a:r>
              <a:rPr lang="en-US" altLang="en-US" sz="2400" b="1"/>
              <a:t>Partial activation </a:t>
            </a:r>
            <a:r>
              <a:rPr lang="en-US" altLang="en-US" sz="2400"/>
              <a:t>of Trojan can be extremely valuable for power analysis.</a:t>
            </a:r>
          </a:p>
          <a:p>
            <a:pPr eaLnBrk="1" hangingPunct="1"/>
            <a:r>
              <a:rPr lang="en-US" altLang="en-US" sz="2400"/>
              <a:t>The more number of cells in Trojan is activated the more the Trojan will draw current from power grid.</a:t>
            </a:r>
          </a:p>
          <a:p>
            <a:pPr lvl="1" eaLnBrk="1" hangingPunct="1"/>
            <a:endParaRPr lang="en-US" altLang="en-US" sz="2000">
              <a:ea typeface="Arial" panose="020B0604020202020204" pitchFamily="34" charset="0"/>
            </a:endParaRPr>
          </a:p>
        </p:txBody>
      </p:sp>
      <p:grpSp>
        <p:nvGrpSpPr>
          <p:cNvPr id="49" name="Group 48">
            <a:extLst>
              <a:ext uri="{FF2B5EF4-FFF2-40B4-BE49-F238E27FC236}">
                <a16:creationId xmlns:a16="http://schemas.microsoft.com/office/drawing/2014/main" id="{C5E9F9C2-6D1D-FD4E-8ECC-577E7E9FCD4E}"/>
              </a:ext>
            </a:extLst>
          </p:cNvPr>
          <p:cNvGrpSpPr/>
          <p:nvPr/>
        </p:nvGrpSpPr>
        <p:grpSpPr>
          <a:xfrm>
            <a:off x="2977598" y="5918301"/>
            <a:ext cx="3255182" cy="541602"/>
            <a:chOff x="2254372" y="5937979"/>
            <a:chExt cx="5004618" cy="452351"/>
          </a:xfrm>
        </p:grpSpPr>
        <p:sp>
          <p:nvSpPr>
            <p:cNvPr id="50" name="AutoShape 70">
              <a:extLst>
                <a:ext uri="{FF2B5EF4-FFF2-40B4-BE49-F238E27FC236}">
                  <a16:creationId xmlns:a16="http://schemas.microsoft.com/office/drawing/2014/main" id="{D0C6A10D-3E3C-E94C-ADC1-29801E31833C}"/>
                </a:ext>
              </a:extLst>
            </p:cNvPr>
            <p:cNvSpPr>
              <a:spLocks noChangeArrowheads="1"/>
            </p:cNvSpPr>
            <p:nvPr/>
          </p:nvSpPr>
          <p:spPr bwMode="auto">
            <a:xfrm>
              <a:off x="2254372" y="5937979"/>
              <a:ext cx="5004618" cy="379170"/>
            </a:xfrm>
            <a:prstGeom prst="roundRect">
              <a:avLst>
                <a:gd name="adj" fmla="val 16667"/>
              </a:avLst>
            </a:prstGeom>
            <a:solidFill>
              <a:schemeClr val="accent6">
                <a:lumMod val="20000"/>
                <a:lumOff val="80000"/>
              </a:schemeClr>
            </a:solidFill>
            <a:ln w="9525">
              <a:solidFill>
                <a:schemeClr val="tx1"/>
              </a:solidFill>
              <a:round/>
              <a:headEnd/>
              <a:tailEnd/>
            </a:ln>
            <a:effectLst>
              <a:outerShdw dist="53882" dir="2700000" algn="ctr" rotWithShape="0">
                <a:srgbClr val="5F5F5F"/>
              </a:outerShdw>
            </a:effectLst>
          </p:spPr>
          <p:txBody>
            <a:bodyPr wrap="none" anchor="ctr"/>
            <a:lstStyle/>
            <a:p>
              <a:pPr algn="ctr">
                <a:defRPr/>
              </a:pPr>
              <a:endParaRPr lang="en-US" sz="1400" b="1" dirty="0">
                <a:solidFill>
                  <a:srgbClr val="C00000"/>
                </a:solidFill>
              </a:endParaRPr>
            </a:p>
          </p:txBody>
        </p:sp>
        <p:sp>
          <p:nvSpPr>
            <p:cNvPr id="51" name="Rectangle 50">
              <a:extLst>
                <a:ext uri="{FF2B5EF4-FFF2-40B4-BE49-F238E27FC236}">
                  <a16:creationId xmlns:a16="http://schemas.microsoft.com/office/drawing/2014/main" id="{430F9DCB-D43A-FF42-81BF-1C99C085D72F}"/>
                </a:ext>
              </a:extLst>
            </p:cNvPr>
            <p:cNvSpPr>
              <a:spLocks noChangeArrowheads="1"/>
            </p:cNvSpPr>
            <p:nvPr/>
          </p:nvSpPr>
          <p:spPr bwMode="auto">
            <a:xfrm>
              <a:off x="2254372" y="5946731"/>
              <a:ext cx="5004618" cy="4435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ctr"/>
              <a:r>
                <a:rPr lang="en-US" sz="2000" b="1" dirty="0">
                  <a:solidFill>
                    <a:srgbClr val="000099"/>
                  </a:solidFill>
                  <a:cs typeface="Arial" charset="0"/>
                </a:rPr>
                <a:t>Golden chip required!</a:t>
              </a:r>
              <a:endParaRPr lang="en-US" sz="2000" dirty="0">
                <a:solidFill>
                  <a:srgbClr val="000099"/>
                </a:solidFill>
                <a:cs typeface="Arial" charset="0"/>
              </a:endParaRPr>
            </a:p>
          </p:txBody>
        </p:sp>
      </p:grpSp>
    </p:spTree>
    <p:extLst>
      <p:ext uri="{BB962C8B-B14F-4D97-AF65-F5344CB8AC3E}">
        <p14:creationId xmlns:p14="http://schemas.microsoft.com/office/powerpoint/2010/main" val="158202967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4285"/>
                                        </p:tgtEl>
                                        <p:attrNameLst>
                                          <p:attrName>style.visibility</p:attrName>
                                        </p:attrNameLst>
                                      </p:cBhvr>
                                      <p:to>
                                        <p:strVal val="visible"/>
                                      </p:to>
                                    </p:set>
                                    <p:animEffect transition="in" filter="blinds(horizontal)">
                                      <p:cBhvr>
                                        <p:cTn id="12" dur="500"/>
                                        <p:tgtEl>
                                          <p:spTgt spid="394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99" y="16085"/>
            <a:ext cx="8927124" cy="865188"/>
          </a:xfrm>
        </p:spPr>
        <p:txBody>
          <a:bodyPr/>
          <a:lstStyle/>
          <a:p>
            <a:pPr algn="ctr"/>
            <a:r>
              <a:rPr lang="en-US" altLang="en-US" sz="3600" b="1" dirty="0">
                <a:effectLst>
                  <a:outerShdw blurRad="38100" dist="38100" dir="2700000" algn="tl">
                    <a:srgbClr val="000000"/>
                  </a:outerShdw>
                </a:effectLst>
              </a:rPr>
              <a:t>Side-Channel Trojan Detection</a:t>
            </a:r>
          </a:p>
        </p:txBody>
      </p:sp>
      <p:sp>
        <p:nvSpPr>
          <p:cNvPr id="103426" name="Content Placeholder 2"/>
          <p:cNvSpPr>
            <a:spLocks noGrp="1"/>
          </p:cNvSpPr>
          <p:nvPr>
            <p:ph idx="1"/>
          </p:nvPr>
        </p:nvSpPr>
        <p:spPr>
          <a:xfrm>
            <a:off x="194872" y="978204"/>
            <a:ext cx="8808451" cy="2531267"/>
          </a:xfrm>
        </p:spPr>
        <p:txBody>
          <a:bodyPr/>
          <a:lstStyle/>
          <a:p>
            <a:r>
              <a:rPr lang="en-US" altLang="en-US" sz="2000" b="1" dirty="0">
                <a:cs typeface="Arial" panose="020B0604020202020204" pitchFamily="34" charset="0"/>
              </a:rPr>
              <a:t>Side-Channel Approach for Trojan Detection relies on observing Trojan effect in physical side-channel parameter, such as switching current, leakage current, path delay, electromagnetic (EM) emission</a:t>
            </a:r>
          </a:p>
          <a:p>
            <a:pPr lvl="1"/>
            <a:r>
              <a:rPr lang="en-US" altLang="en-US" sz="2000" dirty="0"/>
              <a:t>Due to process variations, it is extremely challenging to detect the Trojan by considering </a:t>
            </a:r>
            <a:r>
              <a:rPr lang="en-US" altLang="en-US" sz="2000" dirty="0" err="1"/>
              <a:t>F</a:t>
            </a:r>
            <a:r>
              <a:rPr lang="en-US" altLang="en-US" sz="2000" baseline="-25000" dirty="0" err="1"/>
              <a:t>max</a:t>
            </a:r>
            <a:r>
              <a:rPr lang="en-US" altLang="en-US" sz="2000" dirty="0"/>
              <a:t> or I</a:t>
            </a:r>
            <a:r>
              <a:rPr lang="en-US" altLang="en-US" sz="2000" baseline="-25000" dirty="0"/>
              <a:t>DDT</a:t>
            </a:r>
            <a:r>
              <a:rPr lang="en-US" altLang="en-US" sz="2000" dirty="0"/>
              <a:t> individually.</a:t>
            </a:r>
          </a:p>
          <a:p>
            <a:endParaRPr lang="en-US" altLang="en-US" dirty="0"/>
          </a:p>
        </p:txBody>
      </p:sp>
      <p:sp>
        <p:nvSpPr>
          <p:cNvPr id="9" name="Rounded Rectangular Callout 8"/>
          <p:cNvSpPr>
            <a:spLocks noChangeArrowheads="1"/>
          </p:cNvSpPr>
          <p:nvPr/>
        </p:nvSpPr>
        <p:spPr bwMode="auto">
          <a:xfrm rot="10800000">
            <a:off x="1104900" y="3127723"/>
            <a:ext cx="7086600" cy="3041166"/>
          </a:xfrm>
          <a:prstGeom prst="wedgeRoundRectCallout">
            <a:avLst>
              <a:gd name="adj1" fmla="val 26815"/>
              <a:gd name="adj2" fmla="val 70981"/>
              <a:gd name="adj3" fmla="val 16667"/>
            </a:avLst>
          </a:prstGeom>
          <a:noFill/>
          <a:ln w="50800">
            <a:solidFill>
              <a:schemeClr val="tx1">
                <a:lumMod val="75000"/>
                <a:lumOff val="2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sz="1800">
              <a:solidFill>
                <a:srgbClr val="FFFFFF"/>
              </a:solidFill>
              <a:cs typeface="Arial" panose="020B0604020202020204" pitchFamily="34" charset="0"/>
            </a:endParaRPr>
          </a:p>
        </p:txBody>
      </p:sp>
      <p:sp>
        <p:nvSpPr>
          <p:cNvPr id="10" name="Rounded Rectangle 9"/>
          <p:cNvSpPr>
            <a:spLocks noChangeArrowheads="1"/>
          </p:cNvSpPr>
          <p:nvPr/>
        </p:nvSpPr>
        <p:spPr bwMode="auto">
          <a:xfrm>
            <a:off x="1723869" y="1964323"/>
            <a:ext cx="2205573" cy="385853"/>
          </a:xfrm>
          <a:prstGeom prst="roundRect">
            <a:avLst>
              <a:gd name="adj" fmla="val 16667"/>
            </a:avLst>
          </a:prstGeom>
          <a:noFill/>
          <a:ln w="44450">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sz="1800">
              <a:solidFill>
                <a:srgbClr val="FFFFFF"/>
              </a:solidFill>
              <a:cs typeface="Arial" panose="020B0604020202020204" pitchFamily="34" charset="0"/>
            </a:endParaRPr>
          </a:p>
        </p:txBody>
      </p:sp>
      <p:pic>
        <p:nvPicPr>
          <p:cNvPr id="128002" name="Picture 2" descr="C:\Users\Dongdong\Documents\Work in Nanoscape Lab\All-papers\CHES_final\figures\process_variati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3947" y="3187684"/>
            <a:ext cx="654367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4350875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par>
                          <p:cTn id="13" fill="hold" nodeType="afterGroup">
                            <p:stCondLst>
                              <p:cond delay="1000"/>
                            </p:stCondLst>
                            <p:childTnLst>
                              <p:par>
                                <p:cTn id="14" presetID="3" presetClass="entr" presetSubtype="10" fill="hold" nodeType="afterEffect">
                                  <p:stCondLst>
                                    <p:cond delay="0"/>
                                  </p:stCondLst>
                                  <p:childTnLst>
                                    <p:set>
                                      <p:cBhvr>
                                        <p:cTn id="15" dur="1" fill="hold">
                                          <p:stCondLst>
                                            <p:cond delay="0"/>
                                          </p:stCondLst>
                                        </p:cTn>
                                        <p:tgtEl>
                                          <p:spTgt spid="128002"/>
                                        </p:tgtEl>
                                        <p:attrNameLst>
                                          <p:attrName>style.visibility</p:attrName>
                                        </p:attrNameLst>
                                      </p:cBhvr>
                                      <p:to>
                                        <p:strVal val="visible"/>
                                      </p:to>
                                    </p:set>
                                    <p:animEffect transition="in" filter="blinds(horizontal)">
                                      <p:cBhvr>
                                        <p:cTn id="16" dur="500"/>
                                        <p:tgtEl>
                                          <p:spTgt spid="12800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xit" presetSubtype="10" fill="hold" nodeType="clickEffect">
                                  <p:stCondLst>
                                    <p:cond delay="0"/>
                                  </p:stCondLst>
                                  <p:childTnLst>
                                    <p:animEffect transition="out" filter="blinds(horizontal)">
                                      <p:cBhvr>
                                        <p:cTn id="20" dur="500"/>
                                        <p:tgtEl>
                                          <p:spTgt spid="128002"/>
                                        </p:tgtEl>
                                      </p:cBhvr>
                                    </p:animEffect>
                                    <p:set>
                                      <p:cBhvr>
                                        <p:cTn id="21" dur="1" fill="hold">
                                          <p:stCondLst>
                                            <p:cond delay="499"/>
                                          </p:stCondLst>
                                        </p:cTn>
                                        <p:tgtEl>
                                          <p:spTgt spid="128002"/>
                                        </p:tgtEl>
                                        <p:attrNameLst>
                                          <p:attrName>style.visibility</p:attrName>
                                        </p:attrNameLst>
                                      </p:cBhvr>
                                      <p:to>
                                        <p:strVal val="hidden"/>
                                      </p:to>
                                    </p:set>
                                  </p:childTnLst>
                                </p:cTn>
                              </p:par>
                              <p:par>
                                <p:cTn id="22" presetID="3" presetClass="exit" presetSubtype="10" fill="hold" grpId="1" nodeType="withEffect">
                                  <p:stCondLst>
                                    <p:cond delay="0"/>
                                  </p:stCondLst>
                                  <p:childTnLst>
                                    <p:animEffect transition="out" filter="blinds(horizontal)">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par>
                                <p:cTn id="25" presetID="3" presetClass="exit" presetSubtype="10" fill="hold" grpId="1" nodeType="withEffect">
                                  <p:stCondLst>
                                    <p:cond delay="0"/>
                                  </p:stCondLst>
                                  <p:childTnLst>
                                    <p:animEffect transition="out" filter="blinds(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0" y="77788"/>
            <a:ext cx="9144000" cy="838200"/>
          </a:xfrm>
        </p:spPr>
        <p:txBody>
          <a:bodyPr/>
          <a:lstStyle/>
          <a:p>
            <a:pPr eaLnBrk="1" hangingPunct="1"/>
            <a:r>
              <a:rPr lang="en-US" altLang="en-US" sz="3600" b="1" dirty="0"/>
              <a:t>Side-channel Signals</a:t>
            </a:r>
          </a:p>
        </p:txBody>
      </p:sp>
      <p:sp>
        <p:nvSpPr>
          <p:cNvPr id="81923" name="Content Placeholder 2"/>
          <p:cNvSpPr>
            <a:spLocks noGrp="1"/>
          </p:cNvSpPr>
          <p:nvPr>
            <p:ph idx="1"/>
          </p:nvPr>
        </p:nvSpPr>
        <p:spPr>
          <a:xfrm>
            <a:off x="100560" y="1054100"/>
            <a:ext cx="8953500" cy="5076825"/>
          </a:xfrm>
        </p:spPr>
        <p:txBody>
          <a:bodyPr/>
          <a:lstStyle/>
          <a:p>
            <a:pPr eaLnBrk="1" hangingPunct="1"/>
            <a:r>
              <a:rPr lang="en-US" altLang="en-US" sz="2400" dirty="0"/>
              <a:t>All the side-channel analyses are based on observing the effect of an inserted Trojan on a physical parameter such as</a:t>
            </a:r>
          </a:p>
          <a:p>
            <a:pPr lvl="1" eaLnBrk="1" hangingPunct="1"/>
            <a:r>
              <a:rPr lang="en-US" altLang="en-US" sz="2000" b="1" dirty="0">
                <a:ea typeface="Arial" panose="020B0604020202020204" pitchFamily="34" charset="0"/>
              </a:rPr>
              <a:t>IDDQ</a:t>
            </a:r>
            <a:r>
              <a:rPr lang="en-US" altLang="en-US" sz="2000" dirty="0">
                <a:ea typeface="Arial" panose="020B0604020202020204" pitchFamily="34" charset="0"/>
              </a:rPr>
              <a:t>: Extra gates will consume leakage power.</a:t>
            </a:r>
          </a:p>
          <a:p>
            <a:pPr lvl="1" eaLnBrk="1" hangingPunct="1"/>
            <a:r>
              <a:rPr lang="en-US" altLang="en-US" sz="2000" b="1" dirty="0">
                <a:ea typeface="Arial" panose="020B0604020202020204" pitchFamily="34" charset="0"/>
              </a:rPr>
              <a:t>IDDT</a:t>
            </a:r>
            <a:r>
              <a:rPr lang="en-US" altLang="en-US" sz="2000" dirty="0">
                <a:ea typeface="Arial" panose="020B0604020202020204" pitchFamily="34" charset="0"/>
              </a:rPr>
              <a:t>: Extra switching activities will consume more dynamic power.</a:t>
            </a:r>
          </a:p>
          <a:p>
            <a:pPr lvl="1" eaLnBrk="1" hangingPunct="1"/>
            <a:r>
              <a:rPr lang="en-US" altLang="en-US" sz="2000" b="1" dirty="0">
                <a:ea typeface="Arial" panose="020B0604020202020204" pitchFamily="34" charset="0"/>
              </a:rPr>
              <a:t>Path Delay</a:t>
            </a:r>
            <a:r>
              <a:rPr lang="en-US" altLang="en-US" sz="2000" dirty="0">
                <a:ea typeface="Arial" panose="020B0604020202020204" pitchFamily="34" charset="0"/>
              </a:rPr>
              <a:t>: Additional gates and capacitance will increase path delay.</a:t>
            </a:r>
          </a:p>
          <a:p>
            <a:pPr lvl="1" eaLnBrk="1" hangingPunct="1"/>
            <a:r>
              <a:rPr lang="en-US" altLang="en-US" sz="2000" b="1" dirty="0">
                <a:ea typeface="Arial" panose="020B0604020202020204" pitchFamily="34" charset="0"/>
              </a:rPr>
              <a:t>EM</a:t>
            </a:r>
            <a:r>
              <a:rPr lang="en-US" altLang="en-US" sz="2000" dirty="0">
                <a:ea typeface="Arial" panose="020B0604020202020204" pitchFamily="34" charset="0"/>
              </a:rPr>
              <a:t>: Electromagnetic radiation due to switching activity</a:t>
            </a:r>
          </a:p>
          <a:p>
            <a:pPr lvl="1" eaLnBrk="1" hangingPunct="1"/>
            <a:endParaRPr lang="en-US" altLang="en-US" sz="2000" dirty="0">
              <a:ea typeface="Arial" panose="020B0604020202020204" pitchFamily="34" charset="0"/>
            </a:endParaRPr>
          </a:p>
          <a:p>
            <a:pPr eaLnBrk="1" hangingPunct="1"/>
            <a:r>
              <a:rPr lang="en-US" altLang="en-US" sz="2400" b="1" dirty="0"/>
              <a:t>Pros &amp; Cons</a:t>
            </a:r>
          </a:p>
          <a:p>
            <a:pPr lvl="1" eaLnBrk="1" hangingPunct="1"/>
            <a:r>
              <a:rPr lang="en-US" altLang="en-US" sz="2000" b="1" dirty="0">
                <a:ea typeface="Arial" panose="020B0604020202020204" pitchFamily="34" charset="0"/>
              </a:rPr>
              <a:t>Pros</a:t>
            </a:r>
            <a:r>
              <a:rPr lang="en-US" altLang="en-US" sz="2000" dirty="0">
                <a:ea typeface="Arial" panose="020B0604020202020204" pitchFamily="34" charset="0"/>
              </a:rPr>
              <a:t>: It is effective for Trojan which does not cause observable malfunction in the circuits.</a:t>
            </a:r>
          </a:p>
          <a:p>
            <a:pPr lvl="1" eaLnBrk="1" hangingPunct="1"/>
            <a:r>
              <a:rPr lang="en-US" altLang="en-US" sz="2000" b="1" dirty="0">
                <a:ea typeface="Arial" panose="020B0604020202020204" pitchFamily="34" charset="0"/>
              </a:rPr>
              <a:t>Cons</a:t>
            </a:r>
            <a:r>
              <a:rPr lang="en-US" altLang="en-US" sz="2000" dirty="0">
                <a:ea typeface="Arial" panose="020B0604020202020204" pitchFamily="34" charset="0"/>
              </a:rPr>
              <a:t>: Large process variations in modern nanometer technologies and measurement noise can mask the effect of the Trojan circuits, especially for small Trojan.</a:t>
            </a:r>
          </a:p>
        </p:txBody>
      </p:sp>
      <p:sp>
        <p:nvSpPr>
          <p:cNvPr id="8192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B5128936-494A-4B48-9228-35FA9D9EB13B}" type="slidenum">
              <a:rPr lang="en-US" altLang="en-US" sz="1200"/>
              <a:pPr>
                <a:spcBef>
                  <a:spcPct val="0"/>
                </a:spcBef>
                <a:buClrTx/>
                <a:buSzTx/>
                <a:buFontTx/>
                <a:buNone/>
              </a:pPr>
              <a:t>50</a:t>
            </a:fld>
            <a:endParaRPr lang="en-US" altLang="en-US" sz="1200"/>
          </a:p>
        </p:txBody>
      </p:sp>
      <p:grpSp>
        <p:nvGrpSpPr>
          <p:cNvPr id="5" name="Group 4">
            <a:extLst>
              <a:ext uri="{FF2B5EF4-FFF2-40B4-BE49-F238E27FC236}">
                <a16:creationId xmlns:a16="http://schemas.microsoft.com/office/drawing/2014/main" id="{7D15D819-AC2C-D74C-9C7D-631CBBC34243}"/>
              </a:ext>
            </a:extLst>
          </p:cNvPr>
          <p:cNvGrpSpPr/>
          <p:nvPr/>
        </p:nvGrpSpPr>
        <p:grpSpPr>
          <a:xfrm>
            <a:off x="3082531" y="5916481"/>
            <a:ext cx="3255182" cy="541602"/>
            <a:chOff x="2254372" y="5937979"/>
            <a:chExt cx="5004618" cy="452351"/>
          </a:xfrm>
        </p:grpSpPr>
        <p:sp>
          <p:nvSpPr>
            <p:cNvPr id="6" name="AutoShape 70">
              <a:extLst>
                <a:ext uri="{FF2B5EF4-FFF2-40B4-BE49-F238E27FC236}">
                  <a16:creationId xmlns:a16="http://schemas.microsoft.com/office/drawing/2014/main" id="{09C1D946-CFA2-F049-8B98-431448F0E50E}"/>
                </a:ext>
              </a:extLst>
            </p:cNvPr>
            <p:cNvSpPr>
              <a:spLocks noChangeArrowheads="1"/>
            </p:cNvSpPr>
            <p:nvPr/>
          </p:nvSpPr>
          <p:spPr bwMode="auto">
            <a:xfrm>
              <a:off x="2254372" y="5937979"/>
              <a:ext cx="5004618" cy="379170"/>
            </a:xfrm>
            <a:prstGeom prst="roundRect">
              <a:avLst>
                <a:gd name="adj" fmla="val 16667"/>
              </a:avLst>
            </a:prstGeom>
            <a:solidFill>
              <a:schemeClr val="accent6">
                <a:lumMod val="20000"/>
                <a:lumOff val="80000"/>
              </a:schemeClr>
            </a:solidFill>
            <a:ln w="9525">
              <a:solidFill>
                <a:schemeClr val="tx1"/>
              </a:solidFill>
              <a:round/>
              <a:headEnd/>
              <a:tailEnd/>
            </a:ln>
            <a:effectLst>
              <a:outerShdw dist="53882" dir="2700000" algn="ctr" rotWithShape="0">
                <a:srgbClr val="5F5F5F"/>
              </a:outerShdw>
            </a:effectLst>
          </p:spPr>
          <p:txBody>
            <a:bodyPr wrap="none" anchor="ctr"/>
            <a:lstStyle/>
            <a:p>
              <a:pPr algn="ctr">
                <a:defRPr/>
              </a:pPr>
              <a:endParaRPr lang="en-US" sz="1400" b="1" dirty="0">
                <a:solidFill>
                  <a:srgbClr val="C00000"/>
                </a:solidFill>
              </a:endParaRPr>
            </a:p>
          </p:txBody>
        </p:sp>
        <p:sp>
          <p:nvSpPr>
            <p:cNvPr id="7" name="Rectangle 6">
              <a:extLst>
                <a:ext uri="{FF2B5EF4-FFF2-40B4-BE49-F238E27FC236}">
                  <a16:creationId xmlns:a16="http://schemas.microsoft.com/office/drawing/2014/main" id="{B6377230-7DBA-204E-A265-4E5E5F8E7B97}"/>
                </a:ext>
              </a:extLst>
            </p:cNvPr>
            <p:cNvSpPr>
              <a:spLocks noChangeArrowheads="1"/>
            </p:cNvSpPr>
            <p:nvPr/>
          </p:nvSpPr>
          <p:spPr bwMode="auto">
            <a:xfrm>
              <a:off x="2254372" y="5946731"/>
              <a:ext cx="5004618" cy="4435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ctr"/>
              <a:r>
                <a:rPr lang="en-US" sz="2000" b="1" dirty="0">
                  <a:solidFill>
                    <a:srgbClr val="000099"/>
                  </a:solidFill>
                  <a:cs typeface="Arial" charset="0"/>
                </a:rPr>
                <a:t>Golden chip required!</a:t>
              </a:r>
              <a:endParaRPr lang="en-US" sz="2000" dirty="0">
                <a:solidFill>
                  <a:srgbClr val="000099"/>
                </a:solidFill>
                <a:cs typeface="Arial" charset="0"/>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242"/>
            <a:ext cx="9144000" cy="865188"/>
          </a:xfrm>
        </p:spPr>
        <p:txBody>
          <a:bodyPr/>
          <a:lstStyle/>
          <a:p>
            <a:pPr algn="ctr"/>
            <a:r>
              <a:rPr lang="en-US" altLang="en-US" b="1" dirty="0">
                <a:effectLst>
                  <a:outerShdw blurRad="38100" dist="38100" dir="2700000" algn="tl">
                    <a:srgbClr val="000000"/>
                  </a:outerShdw>
                </a:effectLst>
              </a:rPr>
              <a:t>Sensitivity Metric</a:t>
            </a:r>
          </a:p>
        </p:txBody>
      </p:sp>
      <p:sp>
        <p:nvSpPr>
          <p:cNvPr id="109570" name="Content Placeholder 2"/>
          <p:cNvSpPr>
            <a:spLocks noGrp="1"/>
          </p:cNvSpPr>
          <p:nvPr>
            <p:ph idx="1"/>
          </p:nvPr>
        </p:nvSpPr>
        <p:spPr/>
        <p:txBody>
          <a:bodyPr/>
          <a:lstStyle/>
          <a:p>
            <a:r>
              <a:rPr lang="en-US" altLang="en-US" sz="3200" b="1">
                <a:cs typeface="Arial" panose="020B0604020202020204" pitchFamily="34" charset="0"/>
              </a:rPr>
              <a:t>Improving Detection Sensitivity </a:t>
            </a:r>
          </a:p>
        </p:txBody>
      </p:sp>
      <p:sp>
        <p:nvSpPr>
          <p:cNvPr id="109572" name="TextBox 9"/>
          <p:cNvSpPr txBox="1">
            <a:spLocks noChangeArrowheads="1"/>
          </p:cNvSpPr>
          <p:nvPr/>
        </p:nvSpPr>
        <p:spPr bwMode="auto">
          <a:xfrm>
            <a:off x="1206500" y="1762596"/>
            <a:ext cx="1917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cs typeface="Arial" panose="020B0604020202020204" pitchFamily="34" charset="0"/>
              </a:rPr>
              <a:t>Trojan Size</a:t>
            </a:r>
          </a:p>
        </p:txBody>
      </p:sp>
      <p:sp>
        <p:nvSpPr>
          <p:cNvPr id="109573" name="Right Arrow 10"/>
          <p:cNvSpPr>
            <a:spLocks noChangeArrowheads="1"/>
          </p:cNvSpPr>
          <p:nvPr/>
        </p:nvSpPr>
        <p:spPr bwMode="auto">
          <a:xfrm>
            <a:off x="3797300" y="1787996"/>
            <a:ext cx="977900" cy="484188"/>
          </a:xfrm>
          <a:prstGeom prst="rightArrow">
            <a:avLst>
              <a:gd name="adj1" fmla="val 50000"/>
              <a:gd name="adj2" fmla="val 50024"/>
            </a:avLst>
          </a:prstGeom>
          <a:solidFill>
            <a:srgbClr val="92D050"/>
          </a:solidFill>
          <a:ln w="9525">
            <a:solidFill>
              <a:schemeClr val="tx1"/>
            </a:solidFill>
            <a:round/>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sz="1800">
              <a:cs typeface="Arial" panose="020B0604020202020204" pitchFamily="34" charset="0"/>
            </a:endParaRPr>
          </a:p>
        </p:txBody>
      </p:sp>
      <p:cxnSp>
        <p:nvCxnSpPr>
          <p:cNvPr id="109574" name="Straight Arrow Connector 14"/>
          <p:cNvCxnSpPr>
            <a:cxnSpLocks noChangeShapeType="1"/>
          </p:cNvCxnSpPr>
          <p:nvPr/>
        </p:nvCxnSpPr>
        <p:spPr bwMode="auto">
          <a:xfrm rot="5400000">
            <a:off x="3030538" y="1959446"/>
            <a:ext cx="620712" cy="1588"/>
          </a:xfrm>
          <a:prstGeom prst="straightConnector1">
            <a:avLst/>
          </a:prstGeom>
          <a:noFill/>
          <a:ln w="317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09575" name="TextBox 16"/>
          <p:cNvSpPr txBox="1">
            <a:spLocks noChangeArrowheads="1"/>
          </p:cNvSpPr>
          <p:nvPr/>
        </p:nvSpPr>
        <p:spPr bwMode="auto">
          <a:xfrm>
            <a:off x="1193800" y="2740496"/>
            <a:ext cx="1917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cs typeface="Arial" panose="020B0604020202020204" pitchFamily="34" charset="0"/>
              </a:rPr>
              <a:t>Circuit Size</a:t>
            </a:r>
          </a:p>
        </p:txBody>
      </p:sp>
      <p:cxnSp>
        <p:nvCxnSpPr>
          <p:cNvPr id="109576" name="Straight Arrow Connector 17"/>
          <p:cNvCxnSpPr>
            <a:cxnSpLocks noChangeShapeType="1"/>
          </p:cNvCxnSpPr>
          <p:nvPr/>
        </p:nvCxnSpPr>
        <p:spPr bwMode="auto">
          <a:xfrm rot="16200000">
            <a:off x="3030538" y="3013546"/>
            <a:ext cx="620712" cy="1588"/>
          </a:xfrm>
          <a:prstGeom prst="straightConnector1">
            <a:avLst/>
          </a:prstGeom>
          <a:noFill/>
          <a:ln w="317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09577" name="Right Arrow 18"/>
          <p:cNvSpPr>
            <a:spLocks noChangeArrowheads="1"/>
          </p:cNvSpPr>
          <p:nvPr/>
        </p:nvSpPr>
        <p:spPr bwMode="auto">
          <a:xfrm>
            <a:off x="3797300" y="2778596"/>
            <a:ext cx="977900" cy="484188"/>
          </a:xfrm>
          <a:prstGeom prst="rightArrow">
            <a:avLst>
              <a:gd name="adj1" fmla="val 50000"/>
              <a:gd name="adj2" fmla="val 50024"/>
            </a:avLst>
          </a:prstGeom>
          <a:solidFill>
            <a:srgbClr val="92D050"/>
          </a:solidFill>
          <a:ln w="9525">
            <a:solidFill>
              <a:schemeClr val="tx1"/>
            </a:solidFill>
            <a:round/>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sz="1800">
              <a:cs typeface="Arial" panose="020B0604020202020204" pitchFamily="34" charset="0"/>
            </a:endParaRPr>
          </a:p>
        </p:txBody>
      </p:sp>
      <p:sp>
        <p:nvSpPr>
          <p:cNvPr id="109578" name="TextBox 19"/>
          <p:cNvSpPr txBox="1">
            <a:spLocks noChangeArrowheads="1"/>
          </p:cNvSpPr>
          <p:nvPr/>
        </p:nvSpPr>
        <p:spPr bwMode="auto">
          <a:xfrm>
            <a:off x="5232400" y="1775296"/>
            <a:ext cx="1917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cs typeface="Arial" panose="020B0604020202020204" pitchFamily="34" charset="0"/>
              </a:rPr>
              <a:t>Sensitivity</a:t>
            </a:r>
          </a:p>
        </p:txBody>
      </p:sp>
      <p:sp>
        <p:nvSpPr>
          <p:cNvPr id="109579" name="TextBox 20"/>
          <p:cNvSpPr txBox="1">
            <a:spLocks noChangeArrowheads="1"/>
          </p:cNvSpPr>
          <p:nvPr/>
        </p:nvSpPr>
        <p:spPr bwMode="auto">
          <a:xfrm>
            <a:off x="5245100" y="2740496"/>
            <a:ext cx="1917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cs typeface="Arial" panose="020B0604020202020204" pitchFamily="34" charset="0"/>
              </a:rPr>
              <a:t>Sensitivity</a:t>
            </a:r>
          </a:p>
        </p:txBody>
      </p:sp>
      <p:cxnSp>
        <p:nvCxnSpPr>
          <p:cNvPr id="109580" name="Straight Arrow Connector 21"/>
          <p:cNvCxnSpPr>
            <a:cxnSpLocks noChangeShapeType="1"/>
          </p:cNvCxnSpPr>
          <p:nvPr/>
        </p:nvCxnSpPr>
        <p:spPr bwMode="auto">
          <a:xfrm rot="5400000">
            <a:off x="6992938" y="1972146"/>
            <a:ext cx="620712" cy="1588"/>
          </a:xfrm>
          <a:prstGeom prst="straightConnector1">
            <a:avLst/>
          </a:prstGeom>
          <a:noFill/>
          <a:ln w="317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9581" name="Straight Arrow Connector 22"/>
          <p:cNvCxnSpPr>
            <a:cxnSpLocks noChangeShapeType="1"/>
          </p:cNvCxnSpPr>
          <p:nvPr/>
        </p:nvCxnSpPr>
        <p:spPr bwMode="auto">
          <a:xfrm rot="5400000">
            <a:off x="7005638" y="2988146"/>
            <a:ext cx="620712" cy="1588"/>
          </a:xfrm>
          <a:prstGeom prst="straightConnector1">
            <a:avLst/>
          </a:prstGeom>
          <a:noFill/>
          <a:ln w="317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0958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sz="1800">
              <a:solidFill>
                <a:srgbClr val="FFFFFF"/>
              </a:solidFill>
              <a:cs typeface="Arial" panose="020B0604020202020204" pitchFamily="34" charset="0"/>
            </a:endParaRPr>
          </a:p>
        </p:txBody>
      </p:sp>
      <p:sp>
        <p:nvSpPr>
          <p:cNvPr id="10958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sz="1800">
              <a:solidFill>
                <a:srgbClr val="FFFFFF"/>
              </a:solidFill>
              <a:cs typeface="Arial" panose="020B0604020202020204" pitchFamily="34" charset="0"/>
            </a:endParaRPr>
          </a:p>
        </p:txBody>
      </p:sp>
      <p:graphicFrame>
        <p:nvGraphicFramePr>
          <p:cNvPr id="109585" name="Object 10"/>
          <p:cNvGraphicFramePr>
            <a:graphicFrameLocks noChangeAspect="1"/>
          </p:cNvGraphicFramePr>
          <p:nvPr>
            <p:extLst>
              <p:ext uri="{D42A27DB-BD31-4B8C-83A1-F6EECF244321}">
                <p14:modId xmlns:p14="http://schemas.microsoft.com/office/powerpoint/2010/main" val="3375495065"/>
              </p:ext>
            </p:extLst>
          </p:nvPr>
        </p:nvGraphicFramePr>
        <p:xfrm>
          <a:off x="1278731" y="3861743"/>
          <a:ext cx="6992938" cy="1422400"/>
        </p:xfrm>
        <a:graphic>
          <a:graphicData uri="http://schemas.openxmlformats.org/presentationml/2006/ole">
            <mc:AlternateContent xmlns:mc="http://schemas.openxmlformats.org/markup-compatibility/2006">
              <mc:Choice xmlns:v="urn:schemas-microsoft-com:vml" Requires="v">
                <p:oleObj spid="_x0000_s137314" name="Equation" r:id="rId3" imgW="2247900" imgH="457200" progId="Equation.3">
                  <p:embed/>
                </p:oleObj>
              </mc:Choice>
              <mc:Fallback>
                <p:oleObj name="Equation" r:id="rId3" imgW="2247900" imgH="457200" progId="Equation.3">
                  <p:embed/>
                  <p:pic>
                    <p:nvPicPr>
                      <p:cNvPr id="10958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8731" y="3861743"/>
                        <a:ext cx="6992938" cy="1422400"/>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782535125"/>
      </p:ext>
    </p:extLst>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76200" y="53975"/>
            <a:ext cx="9010650" cy="865188"/>
          </a:xfrm>
        </p:spPr>
        <p:txBody>
          <a:bodyPr/>
          <a:lstStyle/>
          <a:p>
            <a:r>
              <a:rPr lang="en-US" altLang="en-US" b="1" dirty="0"/>
              <a:t>Comparing Approaches</a:t>
            </a:r>
          </a:p>
        </p:txBody>
      </p:sp>
      <p:graphicFrame>
        <p:nvGraphicFramePr>
          <p:cNvPr id="206921" name="Group 73"/>
          <p:cNvGraphicFramePr>
            <a:graphicFrameLocks noGrp="1"/>
          </p:cNvGraphicFramePr>
          <p:nvPr>
            <p:ph sz="half" idx="1"/>
            <p:extLst>
              <p:ext uri="{D42A27DB-BD31-4B8C-83A1-F6EECF244321}">
                <p14:modId xmlns:p14="http://schemas.microsoft.com/office/powerpoint/2010/main" val="4218228271"/>
              </p:ext>
            </p:extLst>
          </p:nvPr>
        </p:nvGraphicFramePr>
        <p:xfrm>
          <a:off x="52388" y="1116770"/>
          <a:ext cx="9034462" cy="2693760"/>
        </p:xfrm>
        <a:graphic>
          <a:graphicData uri="http://schemas.openxmlformats.org/drawingml/2006/table">
            <a:tbl>
              <a:tblPr/>
              <a:tblGrid>
                <a:gridCol w="1014412">
                  <a:extLst>
                    <a:ext uri="{9D8B030D-6E8A-4147-A177-3AD203B41FA5}">
                      <a16:colId xmlns:a16="http://schemas.microsoft.com/office/drawing/2014/main" val="20000"/>
                    </a:ext>
                  </a:extLst>
                </a:gridCol>
                <a:gridCol w="3859213">
                  <a:extLst>
                    <a:ext uri="{9D8B030D-6E8A-4147-A177-3AD203B41FA5}">
                      <a16:colId xmlns:a16="http://schemas.microsoft.com/office/drawing/2014/main" val="20001"/>
                    </a:ext>
                  </a:extLst>
                </a:gridCol>
                <a:gridCol w="4160837">
                  <a:extLst>
                    <a:ext uri="{9D8B030D-6E8A-4147-A177-3AD203B41FA5}">
                      <a16:colId xmlns:a16="http://schemas.microsoft.com/office/drawing/2014/main" val="20002"/>
                    </a:ext>
                  </a:extLst>
                </a:gridCol>
              </a:tblGrid>
              <a:tr h="589869">
                <a:tc>
                  <a:txBody>
                    <a:bodyPr/>
                    <a:lstStyle/>
                    <a:p>
                      <a:pPr marL="90488" marR="0" lvl="0" indent="0" algn="l" defTabSz="1008063" rtl="0" eaLnBrk="0" fontAlgn="base" latinLnBrk="0" hangingPunct="0">
                        <a:lnSpc>
                          <a:spcPct val="100000"/>
                        </a:lnSpc>
                        <a:spcBef>
                          <a:spcPct val="20000"/>
                        </a:spcBef>
                        <a:spcAft>
                          <a:spcPct val="0"/>
                        </a:spcAft>
                        <a:buClr>
                          <a:schemeClr val="hlink"/>
                        </a:buClr>
                        <a:buSzPct val="80000"/>
                        <a:buFont typeface="Wingdings" pitchFamily="2" charset="2"/>
                        <a:buNone/>
                        <a:tabLst/>
                      </a:pPr>
                      <a:endParaRPr kumimoji="0" lang="en-US" sz="2200" b="0" i="0" u="none" strike="noStrike" cap="none" normalizeH="0" baseline="0" dirty="0">
                        <a:ln>
                          <a:noFill/>
                        </a:ln>
                        <a:solidFill>
                          <a:schemeClr val="tx1"/>
                        </a:solidFill>
                        <a:effectLst/>
                        <a:latin typeface="Arial"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0488" marR="0" lvl="0" indent="0" algn="ctr" defTabSz="1008063"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2400" b="1" i="0" u="none" strike="noStrike" cap="none" normalizeH="0" baseline="0" dirty="0">
                          <a:ln>
                            <a:noFill/>
                          </a:ln>
                          <a:solidFill>
                            <a:schemeClr val="tx1"/>
                          </a:solidFill>
                          <a:effectLst/>
                          <a:latin typeface="AvantGarde Bk BT" pitchFamily="34" charset="0"/>
                        </a:rPr>
                        <a:t>Logic Testing</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0488" marR="0" lvl="0" indent="0" algn="ctr" defTabSz="1008063"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2400" b="1" i="0" u="none" strike="noStrike" cap="none" normalizeH="0" baseline="0" dirty="0">
                          <a:ln>
                            <a:noFill/>
                          </a:ln>
                          <a:solidFill>
                            <a:schemeClr val="tx1"/>
                          </a:solidFill>
                          <a:effectLst/>
                          <a:latin typeface="AvantGarde Bk BT" pitchFamily="34" charset="0"/>
                        </a:rPr>
                        <a:t>Side-Channel Analysis</a:t>
                      </a:r>
                    </a:p>
                  </a:txBody>
                  <a:tcPr marR="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037091">
                <a:tc>
                  <a:txBody>
                    <a:bodyPr/>
                    <a:lstStyle/>
                    <a:p>
                      <a:pPr marL="90488" marR="0" lvl="0" indent="0" algn="l" defTabSz="1008063"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2200" b="1" i="0" u="none" strike="noStrike" cap="none" normalizeH="0" baseline="0" dirty="0">
                          <a:ln>
                            <a:noFill/>
                          </a:ln>
                          <a:solidFill>
                            <a:schemeClr val="tx1"/>
                          </a:solidFill>
                          <a:effectLst/>
                          <a:latin typeface="AvantGarde Bk BT" pitchFamily="34" charset="0"/>
                        </a:rPr>
                        <a:t>Pros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0488" marR="0" lvl="0" indent="0"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dirty="0">
                          <a:ln>
                            <a:noFill/>
                          </a:ln>
                          <a:solidFill>
                            <a:schemeClr val="tx1"/>
                          </a:solidFill>
                          <a:effectLst/>
                          <a:latin typeface="Calibri" pitchFamily="34" charset="0"/>
                        </a:rPr>
                        <a:t> Robust under process noise</a:t>
                      </a:r>
                    </a:p>
                    <a:p>
                      <a:pPr marL="90488" marR="0" lvl="0" indent="0"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dirty="0">
                          <a:ln>
                            <a:noFill/>
                          </a:ln>
                          <a:solidFill>
                            <a:schemeClr val="tx1"/>
                          </a:solidFill>
                          <a:effectLst/>
                          <a:latin typeface="Calibri" pitchFamily="34" charset="0"/>
                        </a:rPr>
                        <a:t> Effective for ultra-small Trojans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0488" marR="0" lvl="0" indent="0"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a:ln>
                            <a:noFill/>
                          </a:ln>
                          <a:solidFill>
                            <a:schemeClr val="tx1"/>
                          </a:solidFill>
                          <a:effectLst/>
                          <a:latin typeface="Calibri" pitchFamily="34" charset="0"/>
                        </a:rPr>
                        <a:t> Effective for large Trojans</a:t>
                      </a:r>
                    </a:p>
                    <a:p>
                      <a:pPr marL="90488" marR="0" lvl="0" indent="0"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a:ln>
                            <a:noFill/>
                          </a:ln>
                          <a:solidFill>
                            <a:schemeClr val="tx1"/>
                          </a:solidFill>
                          <a:effectLst/>
                          <a:latin typeface="Calibri" pitchFamily="34" charset="0"/>
                        </a:rPr>
                        <a:t> Easy to generate test vectors</a:t>
                      </a:r>
                    </a:p>
                  </a:txBody>
                  <a:tcPr marR="91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63839">
                <a:tc>
                  <a:txBody>
                    <a:bodyPr/>
                    <a:lstStyle/>
                    <a:p>
                      <a:pPr marL="90488" marR="0" lvl="0" indent="0" algn="l" defTabSz="1008063" rtl="0" eaLnBrk="0" fontAlgn="base" latinLnBrk="0" hangingPunct="0">
                        <a:lnSpc>
                          <a:spcPct val="100000"/>
                        </a:lnSpc>
                        <a:spcBef>
                          <a:spcPct val="20000"/>
                        </a:spcBef>
                        <a:spcAft>
                          <a:spcPct val="0"/>
                        </a:spcAft>
                        <a:buClr>
                          <a:schemeClr val="hlink"/>
                        </a:buClr>
                        <a:buSzPct val="80000"/>
                        <a:buFont typeface="Wingdings" pitchFamily="2" charset="2"/>
                        <a:buNone/>
                        <a:tabLst/>
                      </a:pPr>
                      <a:r>
                        <a:rPr kumimoji="0" lang="en-US" sz="2200" b="1" i="0" u="none" strike="noStrike" cap="none" normalizeH="0" baseline="0" dirty="0">
                          <a:ln>
                            <a:noFill/>
                          </a:ln>
                          <a:solidFill>
                            <a:schemeClr val="tx1"/>
                          </a:solidFill>
                          <a:effectLst/>
                          <a:latin typeface="AvantGarde Bk BT" pitchFamily="34" charset="0"/>
                        </a:rPr>
                        <a:t>Cons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295275" marR="0" lvl="0" indent="-204788"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dirty="0">
                          <a:ln>
                            <a:noFill/>
                          </a:ln>
                          <a:solidFill>
                            <a:schemeClr val="tx1"/>
                          </a:solidFill>
                          <a:effectLst/>
                          <a:latin typeface="Calibri" pitchFamily="34" charset="0"/>
                        </a:rPr>
                        <a:t>Difficult to generate test vectors</a:t>
                      </a:r>
                    </a:p>
                    <a:p>
                      <a:pPr marL="295275" marR="0" lvl="0" indent="-204788"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dirty="0">
                          <a:ln>
                            <a:noFill/>
                          </a:ln>
                          <a:solidFill>
                            <a:schemeClr val="tx1"/>
                          </a:solidFill>
                          <a:effectLst/>
                          <a:latin typeface="Calibri" pitchFamily="34" charset="0"/>
                        </a:rPr>
                        <a:t>Large Trojan detection challenging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0488" marR="0" lvl="0" indent="0"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dirty="0">
                          <a:ln>
                            <a:noFill/>
                          </a:ln>
                          <a:solidFill>
                            <a:schemeClr val="tx1"/>
                          </a:solidFill>
                          <a:effectLst/>
                          <a:latin typeface="Calibri" pitchFamily="34" charset="0"/>
                        </a:rPr>
                        <a:t> Vulnerable to process noise</a:t>
                      </a:r>
                    </a:p>
                    <a:p>
                      <a:pPr marL="90488" marR="0" lvl="0" indent="0" algn="l" defTabSz="1008063" rtl="0" eaLnBrk="0" fontAlgn="base" latinLnBrk="0" hangingPunct="0">
                        <a:lnSpc>
                          <a:spcPct val="100000"/>
                        </a:lnSpc>
                        <a:spcBef>
                          <a:spcPct val="20000"/>
                        </a:spcBef>
                        <a:spcAft>
                          <a:spcPct val="0"/>
                        </a:spcAft>
                        <a:buClr>
                          <a:schemeClr val="tx1"/>
                        </a:buClr>
                        <a:buSzTx/>
                        <a:buFont typeface="Arial" charset="0"/>
                        <a:buChar char="●"/>
                        <a:tabLst/>
                      </a:pPr>
                      <a:r>
                        <a:rPr kumimoji="0" lang="en-US" sz="2000" b="0" i="0" u="none" strike="noStrike" cap="none" normalizeH="0" baseline="0" dirty="0">
                          <a:ln>
                            <a:noFill/>
                          </a:ln>
                          <a:solidFill>
                            <a:schemeClr val="tx1"/>
                          </a:solidFill>
                          <a:effectLst/>
                          <a:latin typeface="Calibri" pitchFamily="34" charset="0"/>
                        </a:rPr>
                        <a:t> Ultra-small Trojan Det. challenging</a:t>
                      </a:r>
                    </a:p>
                  </a:txBody>
                  <a:tcPr marR="91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6918" name="AutoShape 70"/>
          <p:cNvSpPr>
            <a:spLocks noChangeArrowheads="1"/>
          </p:cNvSpPr>
          <p:nvPr/>
        </p:nvSpPr>
        <p:spPr bwMode="auto">
          <a:xfrm>
            <a:off x="150019" y="3990410"/>
            <a:ext cx="8839200" cy="1968500"/>
          </a:xfrm>
          <a:prstGeom prst="roundRect">
            <a:avLst>
              <a:gd name="adj" fmla="val 16667"/>
            </a:avLst>
          </a:prstGeom>
          <a:solidFill>
            <a:schemeClr val="accent6">
              <a:lumMod val="60000"/>
              <a:lumOff val="40000"/>
            </a:schemeClr>
          </a:solidFill>
          <a:ln w="9525">
            <a:solidFill>
              <a:schemeClr val="tx1"/>
            </a:solidFill>
            <a:round/>
            <a:headEnd/>
            <a:tailEnd/>
          </a:ln>
          <a:effectLst>
            <a:outerShdw dist="53882" dir="2700000" algn="ctr" rotWithShape="0">
              <a:srgbClr val="5F5F5F"/>
            </a:outerShdw>
          </a:effectLst>
        </p:spPr>
        <p:txBody>
          <a:bodyPr anchor="ctr"/>
          <a:lstStyle/>
          <a:p>
            <a:pPr algn="ctr">
              <a:buFont typeface="Arial" pitchFamily="34" charset="0"/>
              <a:buChar char="•"/>
              <a:defRPr/>
            </a:pPr>
            <a:r>
              <a:rPr lang="en-US" sz="2400" b="1" dirty="0">
                <a:latin typeface="Arial" charset="0"/>
              </a:rPr>
              <a:t> A combination of logic testing &amp; side-channel analysis could provide the good coverage!</a:t>
            </a:r>
          </a:p>
          <a:p>
            <a:pPr algn="ctr">
              <a:buFont typeface="Arial" pitchFamily="34" charset="0"/>
              <a:buChar char="•"/>
              <a:defRPr/>
            </a:pPr>
            <a:r>
              <a:rPr lang="en-US" sz="2400" b="1" dirty="0">
                <a:latin typeface="Arial" charset="0"/>
              </a:rPr>
              <a:t> Online validation approaches can potentially provide a second layer of defense!</a:t>
            </a:r>
          </a:p>
          <a:p>
            <a:pPr algn="ctr">
              <a:defRPr/>
            </a:pPr>
            <a:endParaRPr lang="en-US" sz="1600" b="1" dirty="0">
              <a:latin typeface="Arial" charset="0"/>
            </a:endParaRPr>
          </a:p>
        </p:txBody>
      </p:sp>
    </p:spTree>
    <p:extLst>
      <p:ext uri="{BB962C8B-B14F-4D97-AF65-F5344CB8AC3E}">
        <p14:creationId xmlns:p14="http://schemas.microsoft.com/office/powerpoint/2010/main" val="303613634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6918"/>
                                        </p:tgtEl>
                                        <p:attrNameLst>
                                          <p:attrName>style.visibility</p:attrName>
                                        </p:attrNameLst>
                                      </p:cBhvr>
                                      <p:to>
                                        <p:strVal val="visible"/>
                                      </p:to>
                                    </p:set>
                                    <p:anim calcmode="lin" valueType="num">
                                      <p:cBhvr>
                                        <p:cTn id="7" dur="500" fill="hold"/>
                                        <p:tgtEl>
                                          <p:spTgt spid="206918"/>
                                        </p:tgtEl>
                                        <p:attrNameLst>
                                          <p:attrName>ppt_w</p:attrName>
                                        </p:attrNameLst>
                                      </p:cBhvr>
                                      <p:tavLst>
                                        <p:tav tm="0">
                                          <p:val>
                                            <p:fltVal val="0"/>
                                          </p:val>
                                        </p:tav>
                                        <p:tav tm="100000">
                                          <p:val>
                                            <p:strVal val="#ppt_w"/>
                                          </p:val>
                                        </p:tav>
                                      </p:tavLst>
                                    </p:anim>
                                    <p:anim calcmode="lin" valueType="num">
                                      <p:cBhvr>
                                        <p:cTn id="8" dur="500" fill="hold"/>
                                        <p:tgtEl>
                                          <p:spTgt spid="2069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6199" y="91035"/>
            <a:ext cx="8983000" cy="647637"/>
          </a:xfrm>
        </p:spPr>
        <p:txBody>
          <a:bodyPr/>
          <a:lstStyle/>
          <a:p>
            <a:pPr algn="ctr"/>
            <a:r>
              <a:rPr lang="en-US" altLang="en-US" sz="3600" b="1" dirty="0">
                <a:ea typeface="ＭＳ Ｐゴシック" panose="020B0600070205080204" pitchFamily="34" charset="-128"/>
              </a:rPr>
              <a:t>Side-channel Approach</a:t>
            </a:r>
            <a:endParaRPr lang="en-US" altLang="en-US" sz="3600" b="1" dirty="0">
              <a:effectLst>
                <a:outerShdw blurRad="38100" dist="38100" dir="2700000" algn="tl">
                  <a:srgbClr val="000000"/>
                </a:outerShdw>
              </a:effectLst>
              <a:ea typeface="ＭＳ Ｐゴシック" panose="020B0600070205080204" pitchFamily="34" charset="-128"/>
            </a:endParaRPr>
          </a:p>
        </p:txBody>
      </p:sp>
      <p:sp>
        <p:nvSpPr>
          <p:cNvPr id="105474" name="Content Placeholder 2"/>
          <p:cNvSpPr>
            <a:spLocks noGrp="1"/>
          </p:cNvSpPr>
          <p:nvPr>
            <p:ph idx="4294967295"/>
          </p:nvPr>
        </p:nvSpPr>
        <p:spPr>
          <a:xfrm>
            <a:off x="76199" y="977552"/>
            <a:ext cx="8982999" cy="4525963"/>
          </a:xfrm>
        </p:spPr>
        <p:txBody>
          <a:bodyPr/>
          <a:lstStyle/>
          <a:p>
            <a:pPr>
              <a:buClr>
                <a:schemeClr val="tx1"/>
              </a:buClr>
              <a:buSzPct val="100000"/>
              <a:buFont typeface="Arial" panose="020B0604020202020204" pitchFamily="34" charset="0"/>
              <a:buChar char="•"/>
            </a:pPr>
            <a:r>
              <a:rPr lang="en-US" altLang="en-US" sz="2800" i="1" u="sng" dirty="0">
                <a:ea typeface="ＭＳ Ｐゴシック" panose="020B0600070205080204" pitchFamily="34" charset="-128"/>
                <a:cs typeface="Arial" panose="020B0604020202020204" pitchFamily="34" charset="0"/>
              </a:rPr>
              <a:t>Multiple-parameter</a:t>
            </a:r>
            <a:r>
              <a:rPr lang="en-US" altLang="en-US" sz="2800" dirty="0">
                <a:ea typeface="ＭＳ Ｐゴシック" panose="020B0600070205080204" pitchFamily="34" charset="-128"/>
                <a:cs typeface="Arial" panose="020B0604020202020204" pitchFamily="34" charset="0"/>
              </a:rPr>
              <a:t> </a:t>
            </a:r>
            <a:r>
              <a:rPr lang="en-US" altLang="en-US" sz="2800" i="1" dirty="0">
                <a:ea typeface="ＭＳ Ｐゴシック" panose="020B0600070205080204" pitchFamily="34" charset="-128"/>
                <a:cs typeface="Arial" panose="020B0604020202020204" pitchFamily="34" charset="0"/>
              </a:rPr>
              <a:t>Trojan Detection</a:t>
            </a:r>
          </a:p>
          <a:p>
            <a:pPr lvl="1">
              <a:buClr>
                <a:schemeClr val="tx1"/>
              </a:buClr>
              <a:buSzPct val="100000"/>
              <a:buFont typeface="Arial" panose="020B0604020202020204" pitchFamily="34" charset="0"/>
              <a:buChar char="–"/>
            </a:pPr>
            <a:r>
              <a:rPr lang="en-US" altLang="en-US" sz="2400" dirty="0">
                <a:ea typeface="ＭＳ Ｐゴシック" panose="020B0600070205080204" pitchFamily="34" charset="-128"/>
              </a:rPr>
              <a:t>Due to process variations, Trojan detection by </a:t>
            </a:r>
            <a:r>
              <a:rPr lang="en-US" altLang="en-US" sz="2400" dirty="0" err="1">
                <a:ea typeface="ＭＳ Ｐゴシック" panose="020B0600070205080204" pitchFamily="34" charset="-128"/>
              </a:rPr>
              <a:t>F</a:t>
            </a:r>
            <a:r>
              <a:rPr lang="en-US" altLang="en-US" sz="2400" baseline="-25000" dirty="0" err="1">
                <a:ea typeface="ＭＳ Ｐゴシック" panose="020B0600070205080204" pitchFamily="34" charset="-128"/>
              </a:rPr>
              <a:t>max</a:t>
            </a:r>
            <a:r>
              <a:rPr lang="en-US" altLang="en-US" sz="2400" dirty="0">
                <a:ea typeface="ＭＳ Ｐゴシック" panose="020B0600070205080204" pitchFamily="34" charset="-128"/>
              </a:rPr>
              <a:t> or I</a:t>
            </a:r>
            <a:r>
              <a:rPr lang="en-US" altLang="en-US" sz="2400" baseline="-25000" dirty="0">
                <a:ea typeface="ＭＳ Ｐゴシック" panose="020B0600070205080204" pitchFamily="34" charset="-128"/>
              </a:rPr>
              <a:t>DDT</a:t>
            </a:r>
            <a:r>
              <a:rPr lang="en-US" altLang="en-US" sz="2400" dirty="0">
                <a:ea typeface="ＭＳ Ｐゴシック" panose="020B0600070205080204" pitchFamily="34" charset="-128"/>
              </a:rPr>
              <a:t> alone is challenging!</a:t>
            </a:r>
          </a:p>
          <a:p>
            <a:endParaRPr lang="en-US" altLang="en-US" dirty="0">
              <a:ea typeface="ＭＳ Ｐゴシック" panose="020B0600070205080204" pitchFamily="34" charset="-128"/>
            </a:endParaRPr>
          </a:p>
        </p:txBody>
      </p:sp>
      <p:pic>
        <p:nvPicPr>
          <p:cNvPr id="14" name="Picture 3" descr="C:\Users\Dongdong\Documents\Graduation-Case\Dongdong_Du_thesis\Mul_figures\IDDT_pc.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8655" y="2590800"/>
            <a:ext cx="4430195"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C:\Users\Dongdong\Documents\Graduation-Case\Dongdong_Du_thesis\Mul_figures\IDDT_FMAX.pn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667269" y="2590800"/>
            <a:ext cx="4391930" cy="266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8655" y="5290280"/>
            <a:ext cx="8990544" cy="461665"/>
          </a:xfrm>
          <a:prstGeom prst="rect">
            <a:avLst/>
          </a:prstGeom>
        </p:spPr>
        <p:txBody>
          <a:bodyPr wrap="square">
            <a:spAutoFit/>
          </a:bodyPr>
          <a:lstStyle/>
          <a:p>
            <a:pPr marL="800100" lvl="1" indent="-342900">
              <a:buClr>
                <a:schemeClr val="tx1"/>
              </a:buClr>
              <a:buSzPct val="100000"/>
              <a:buFont typeface="Arial" panose="020B0604020202020204" pitchFamily="34" charset="0"/>
              <a:buChar char="•"/>
            </a:pPr>
            <a:r>
              <a:rPr lang="en-US" altLang="en-US" sz="2400" dirty="0">
                <a:ea typeface="ＭＳ Ｐゴシック" panose="020B0600070205080204" pitchFamily="34" charset="-128"/>
              </a:rPr>
              <a:t>Consider the intrinsic relationship between I</a:t>
            </a:r>
            <a:r>
              <a:rPr lang="en-US" altLang="en-US" sz="2400" baseline="-25000" dirty="0">
                <a:ea typeface="ＭＳ Ｐゴシック" panose="020B0600070205080204" pitchFamily="34" charset="-128"/>
              </a:rPr>
              <a:t>DDT</a:t>
            </a:r>
            <a:r>
              <a:rPr lang="en-US" altLang="en-US" sz="2400" dirty="0">
                <a:ea typeface="ＭＳ Ｐゴシック" panose="020B0600070205080204" pitchFamily="34" charset="-128"/>
              </a:rPr>
              <a:t> and </a:t>
            </a:r>
            <a:r>
              <a:rPr lang="en-US" altLang="en-US" sz="2400" dirty="0" err="1">
                <a:ea typeface="ＭＳ Ｐゴシック" panose="020B0600070205080204" pitchFamily="34" charset="-128"/>
              </a:rPr>
              <a:t>F</a:t>
            </a:r>
            <a:r>
              <a:rPr lang="en-US" altLang="en-US" sz="2400" baseline="-25000" dirty="0" err="1">
                <a:ea typeface="ＭＳ Ｐゴシック" panose="020B0600070205080204" pitchFamily="34" charset="-128"/>
              </a:rPr>
              <a:t>max</a:t>
            </a:r>
            <a:endParaRPr lang="en-US" altLang="en-US" sz="2400" dirty="0">
              <a:ea typeface="ＭＳ Ｐゴシック" panose="020B0600070205080204" pitchFamily="34" charset="-128"/>
            </a:endParaRPr>
          </a:p>
        </p:txBody>
      </p:sp>
      <p:grpSp>
        <p:nvGrpSpPr>
          <p:cNvPr id="4" name="Group 3">
            <a:extLst>
              <a:ext uri="{FF2B5EF4-FFF2-40B4-BE49-F238E27FC236}">
                <a16:creationId xmlns:a16="http://schemas.microsoft.com/office/drawing/2014/main" id="{25CADFC5-C2FF-8E4F-B500-290485BCE02A}"/>
              </a:ext>
            </a:extLst>
          </p:cNvPr>
          <p:cNvGrpSpPr/>
          <p:nvPr/>
        </p:nvGrpSpPr>
        <p:grpSpPr>
          <a:xfrm>
            <a:off x="2254372" y="5818059"/>
            <a:ext cx="5004618" cy="647701"/>
            <a:chOff x="2254372" y="5937979"/>
            <a:chExt cx="5004618" cy="647701"/>
          </a:xfrm>
        </p:grpSpPr>
        <p:sp>
          <p:nvSpPr>
            <p:cNvPr id="11" name="AutoShape 70"/>
            <p:cNvSpPr>
              <a:spLocks noChangeArrowheads="1"/>
            </p:cNvSpPr>
            <p:nvPr/>
          </p:nvSpPr>
          <p:spPr bwMode="auto">
            <a:xfrm>
              <a:off x="2254372" y="5937979"/>
              <a:ext cx="5004618" cy="647701"/>
            </a:xfrm>
            <a:prstGeom prst="roundRect">
              <a:avLst>
                <a:gd name="adj" fmla="val 16667"/>
              </a:avLst>
            </a:prstGeom>
            <a:solidFill>
              <a:schemeClr val="accent6">
                <a:lumMod val="20000"/>
                <a:lumOff val="80000"/>
              </a:schemeClr>
            </a:solidFill>
            <a:ln w="9525">
              <a:solidFill>
                <a:schemeClr val="tx1"/>
              </a:solidFill>
              <a:round/>
              <a:headEnd/>
              <a:tailEnd/>
            </a:ln>
            <a:effectLst>
              <a:outerShdw dist="53882" dir="2700000" algn="ctr" rotWithShape="0">
                <a:srgbClr val="5F5F5F"/>
              </a:outerShdw>
            </a:effectLst>
          </p:spPr>
          <p:txBody>
            <a:bodyPr wrap="none" anchor="ctr"/>
            <a:lstStyle/>
            <a:p>
              <a:pPr algn="ctr">
                <a:defRPr/>
              </a:pPr>
              <a:endParaRPr lang="en-US" sz="2000" b="1" dirty="0">
                <a:solidFill>
                  <a:srgbClr val="C00000"/>
                </a:solidFill>
              </a:endParaRPr>
            </a:p>
          </p:txBody>
        </p:sp>
        <p:sp>
          <p:nvSpPr>
            <p:cNvPr id="12" name="Rectangle 11"/>
            <p:cNvSpPr>
              <a:spLocks noChangeArrowheads="1"/>
            </p:cNvSpPr>
            <p:nvPr/>
          </p:nvSpPr>
          <p:spPr bwMode="auto">
            <a:xfrm>
              <a:off x="2254372" y="5961721"/>
              <a:ext cx="5004618"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ctr"/>
              <a:r>
                <a:rPr lang="en-US" sz="3000" b="1" dirty="0">
                  <a:solidFill>
                    <a:srgbClr val="000099"/>
                  </a:solidFill>
                  <a:cs typeface="Arial" charset="0"/>
                </a:rPr>
                <a:t>Golden chip required!</a:t>
              </a:r>
              <a:endParaRPr lang="en-US" sz="3000" dirty="0">
                <a:solidFill>
                  <a:srgbClr val="000099"/>
                </a:solidFill>
                <a:cs typeface="Arial" charset="0"/>
              </a:endParaRPr>
            </a:p>
          </p:txBody>
        </p:sp>
      </p:grpSp>
    </p:spTree>
    <p:custDataLst>
      <p:tags r:id="rId1"/>
    </p:custDataLst>
    <p:extLst>
      <p:ext uri="{BB962C8B-B14F-4D97-AF65-F5344CB8AC3E}">
        <p14:creationId xmlns:p14="http://schemas.microsoft.com/office/powerpoint/2010/main" val="5063833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52400" y="76200"/>
            <a:ext cx="8763000" cy="685800"/>
          </a:xfrm>
        </p:spPr>
        <p:txBody>
          <a:bodyPr/>
          <a:lstStyle/>
          <a:p>
            <a:pPr eaLnBrk="1" hangingPunct="1"/>
            <a:r>
              <a:rPr lang="en-US" altLang="en-US" sz="3600" b="1"/>
              <a:t>Trojan Inserted into s38417 Benchmark</a:t>
            </a:r>
          </a:p>
        </p:txBody>
      </p:sp>
      <p:sp>
        <p:nvSpPr>
          <p:cNvPr id="8601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38460B01-8AE9-47AC-9273-4F748D887CDA}" type="slidenum">
              <a:rPr lang="en-US" altLang="en-US" sz="1200"/>
              <a:pPr>
                <a:spcBef>
                  <a:spcPct val="0"/>
                </a:spcBef>
                <a:buClrTx/>
                <a:buSzTx/>
                <a:buFontTx/>
                <a:buNone/>
              </a:pPr>
              <a:t>54</a:t>
            </a:fld>
            <a:endParaRPr lang="en-US" altLang="en-US" sz="1200"/>
          </a:p>
        </p:txBody>
      </p:sp>
      <p:pic>
        <p:nvPicPr>
          <p:cNvPr id="860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675" y="1066800"/>
            <a:ext cx="6248400"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1" name="Text Box 5"/>
          <p:cNvSpPr txBox="1">
            <a:spLocks noChangeArrowheads="1"/>
          </p:cNvSpPr>
          <p:nvPr/>
        </p:nvSpPr>
        <p:spPr bwMode="auto">
          <a:xfrm>
            <a:off x="6203950" y="3935414"/>
            <a:ext cx="172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dirty="0">
                <a:solidFill>
                  <a:srgbClr val="FF0000"/>
                </a:solidFill>
                <a:latin typeface="Tahoma" panose="020B0604030504040204" pitchFamily="34" charset="0"/>
              </a:rPr>
              <a:t>3-Bit Counter</a:t>
            </a:r>
          </a:p>
        </p:txBody>
      </p:sp>
      <p:sp>
        <p:nvSpPr>
          <p:cNvPr id="86022" name="Rectangle 6"/>
          <p:cNvSpPr>
            <a:spLocks noChangeArrowheads="1"/>
          </p:cNvSpPr>
          <p:nvPr/>
        </p:nvSpPr>
        <p:spPr bwMode="auto">
          <a:xfrm>
            <a:off x="5651500" y="4481513"/>
            <a:ext cx="254000" cy="266700"/>
          </a:xfrm>
          <a:prstGeom prst="rect">
            <a:avLst/>
          </a:prstGeom>
          <a:solidFill>
            <a:srgbClr val="FF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600">
              <a:solidFill>
                <a:srgbClr val="FF0000"/>
              </a:solidFill>
              <a:latin typeface="Tahoma" panose="020B0604030504040204" pitchFamily="34" charset="0"/>
            </a:endParaRPr>
          </a:p>
        </p:txBody>
      </p:sp>
      <p:sp>
        <p:nvSpPr>
          <p:cNvPr id="86023" name="Text Box 8"/>
          <p:cNvSpPr txBox="1">
            <a:spLocks noChangeArrowheads="1"/>
          </p:cNvSpPr>
          <p:nvPr/>
        </p:nvSpPr>
        <p:spPr bwMode="auto">
          <a:xfrm>
            <a:off x="914400" y="1600200"/>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PP1</a:t>
            </a:r>
          </a:p>
        </p:txBody>
      </p:sp>
      <p:sp>
        <p:nvSpPr>
          <p:cNvPr id="86024" name="Text Box 9"/>
          <p:cNvSpPr txBox="1">
            <a:spLocks noChangeArrowheads="1"/>
          </p:cNvSpPr>
          <p:nvPr/>
        </p:nvSpPr>
        <p:spPr bwMode="auto">
          <a:xfrm>
            <a:off x="7461250" y="1600200"/>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PP2</a:t>
            </a:r>
          </a:p>
        </p:txBody>
      </p:sp>
      <p:sp>
        <p:nvSpPr>
          <p:cNvPr id="86025" name="Text Box 10"/>
          <p:cNvSpPr txBox="1">
            <a:spLocks noChangeArrowheads="1"/>
          </p:cNvSpPr>
          <p:nvPr/>
        </p:nvSpPr>
        <p:spPr bwMode="auto">
          <a:xfrm>
            <a:off x="990600" y="4953000"/>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PP3</a:t>
            </a:r>
          </a:p>
        </p:txBody>
      </p:sp>
      <p:sp>
        <p:nvSpPr>
          <p:cNvPr id="86026" name="Text Box 11"/>
          <p:cNvSpPr txBox="1">
            <a:spLocks noChangeArrowheads="1"/>
          </p:cNvSpPr>
          <p:nvPr/>
        </p:nvSpPr>
        <p:spPr bwMode="auto">
          <a:xfrm>
            <a:off x="7461250" y="4891088"/>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PP4</a:t>
            </a:r>
          </a:p>
        </p:txBody>
      </p:sp>
      <p:sp>
        <p:nvSpPr>
          <p:cNvPr id="86027" name="Text Box 12"/>
          <p:cNvSpPr txBox="1">
            <a:spLocks noChangeArrowheads="1"/>
          </p:cNvSpPr>
          <p:nvPr/>
        </p:nvSpPr>
        <p:spPr bwMode="auto">
          <a:xfrm>
            <a:off x="685800" y="5791200"/>
            <a:ext cx="173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latin typeface="Tahoma" panose="020B0604030504040204" pitchFamily="34" charset="0"/>
              </a:rPr>
              <a:t>PP: Power Pad</a:t>
            </a: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33400" y="76200"/>
            <a:ext cx="8229600" cy="685800"/>
          </a:xfrm>
        </p:spPr>
        <p:txBody>
          <a:bodyPr/>
          <a:lstStyle/>
          <a:p>
            <a:pPr eaLnBrk="1" hangingPunct="1"/>
            <a:r>
              <a:rPr lang="en-US" altLang="en-US" b="1"/>
              <a:t>Power Analysis -- Locality</a:t>
            </a:r>
          </a:p>
        </p:txBody>
      </p:sp>
      <p:sp>
        <p:nvSpPr>
          <p:cNvPr id="8806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7EEF8D47-884A-47F2-B9DF-DE7521DF6EC7}" type="slidenum">
              <a:rPr lang="en-US" altLang="en-US" sz="1200"/>
              <a:pPr>
                <a:spcBef>
                  <a:spcPct val="0"/>
                </a:spcBef>
                <a:buClrTx/>
                <a:buSzTx/>
                <a:buFontTx/>
                <a:buNone/>
              </a:pPr>
              <a:t>55</a:t>
            </a:fld>
            <a:endParaRPr lang="en-US" altLang="en-US" sz="1200"/>
          </a:p>
        </p:txBody>
      </p:sp>
      <p:sp>
        <p:nvSpPr>
          <p:cNvPr id="88068" name="Text Box 4"/>
          <p:cNvSpPr txBox="1">
            <a:spLocks noChangeArrowheads="1"/>
          </p:cNvSpPr>
          <p:nvPr/>
        </p:nvSpPr>
        <p:spPr bwMode="auto">
          <a:xfrm>
            <a:off x="529991" y="4720003"/>
            <a:ext cx="8075612" cy="1463675"/>
          </a:xfrm>
          <a:prstGeom prst="rect">
            <a:avLst/>
          </a:prstGeom>
          <a:solidFill>
            <a:schemeClr val="folHlink"/>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342900" indent="-342900" eaLnBrk="1" hangingPunct="1">
              <a:spcBef>
                <a:spcPct val="50000"/>
              </a:spcBef>
              <a:buClrTx/>
              <a:buSzTx/>
              <a:buFont typeface="Arial" panose="020B0604020202020204" pitchFamily="34" charset="0"/>
              <a:buChar char="•"/>
            </a:pPr>
            <a:r>
              <a:rPr lang="en-US" altLang="en-US" sz="2000" b="1" dirty="0"/>
              <a:t>Current difference measured from power pad 17 (Trojan-free vs Trojan-inserted)</a:t>
            </a:r>
          </a:p>
          <a:p>
            <a:pPr marL="342900" indent="-342900" eaLnBrk="1" hangingPunct="1">
              <a:spcBef>
                <a:spcPct val="50000"/>
              </a:spcBef>
              <a:buClrTx/>
              <a:buSzTx/>
              <a:buFont typeface="Arial" panose="020B0604020202020204" pitchFamily="34" charset="0"/>
              <a:buChar char="•"/>
            </a:pPr>
            <a:r>
              <a:rPr lang="en-US" altLang="en-US" sz="2000" b="1" dirty="0"/>
              <a:t>There is no change in layout of the circuit. Trojan was inserted in an unused space in the circuit layout.</a:t>
            </a:r>
          </a:p>
        </p:txBody>
      </p:sp>
      <p:grpSp>
        <p:nvGrpSpPr>
          <p:cNvPr id="88069" name="Group 6"/>
          <p:cNvGrpSpPr>
            <a:grpSpLocks noChangeAspect="1"/>
          </p:cNvGrpSpPr>
          <p:nvPr/>
        </p:nvGrpSpPr>
        <p:grpSpPr bwMode="auto">
          <a:xfrm>
            <a:off x="1814513" y="914400"/>
            <a:ext cx="5514975" cy="3654425"/>
            <a:chOff x="862" y="571"/>
            <a:chExt cx="3846" cy="2549"/>
          </a:xfrm>
        </p:grpSpPr>
        <p:sp>
          <p:nvSpPr>
            <p:cNvPr id="88070" name="AutoShape 5"/>
            <p:cNvSpPr>
              <a:spLocks noChangeAspect="1" noChangeArrowheads="1" noTextEdit="1"/>
            </p:cNvSpPr>
            <p:nvPr/>
          </p:nvSpPr>
          <p:spPr bwMode="auto">
            <a:xfrm>
              <a:off x="862" y="571"/>
              <a:ext cx="3846" cy="2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8807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 y="571"/>
              <a:ext cx="3851" cy="2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B47A62C-C8C4-4121-868E-2B415FE6BB41}" type="slidenum">
              <a:rPr lang="en-US" altLang="en-US" sz="1200">
                <a:latin typeface="Garamond" panose="02020404030301010803" pitchFamily="18" charset="0"/>
              </a:rPr>
              <a:pPr>
                <a:spcBef>
                  <a:spcPct val="0"/>
                </a:spcBef>
                <a:buClrTx/>
                <a:buSzTx/>
                <a:buFontTx/>
                <a:buNone/>
              </a:pPr>
              <a:t>56</a:t>
            </a:fld>
            <a:endParaRPr lang="en-US" altLang="en-US" sz="1200">
              <a:latin typeface="Garamond" panose="02020404030301010803" pitchFamily="18" charset="0"/>
            </a:endParaRPr>
          </a:p>
        </p:txBody>
      </p:sp>
      <p:sp>
        <p:nvSpPr>
          <p:cNvPr id="90115" name="Title 1"/>
          <p:cNvSpPr>
            <a:spLocks noGrp="1"/>
          </p:cNvSpPr>
          <p:nvPr>
            <p:ph type="title" idx="4294967295"/>
          </p:nvPr>
        </p:nvSpPr>
        <p:spPr>
          <a:xfrm>
            <a:off x="515938" y="76200"/>
            <a:ext cx="8229600" cy="685800"/>
          </a:xfrm>
        </p:spPr>
        <p:txBody>
          <a:bodyPr lIns="0" tIns="0" rIns="0" bIns="0"/>
          <a:lstStyle/>
          <a:p>
            <a:pPr eaLnBrk="1" hangingPunct="1"/>
            <a:r>
              <a:rPr lang="en-US" altLang="en-US" sz="3600" b="1"/>
              <a:t>Current (Charge) Integration Method</a:t>
            </a:r>
          </a:p>
        </p:txBody>
      </p:sp>
      <p:sp>
        <p:nvSpPr>
          <p:cNvPr id="90116" name="Content Placeholder 2"/>
          <p:cNvSpPr>
            <a:spLocks noGrp="1"/>
          </p:cNvSpPr>
          <p:nvPr>
            <p:ph idx="4294967295"/>
          </p:nvPr>
        </p:nvSpPr>
        <p:spPr>
          <a:xfrm>
            <a:off x="387350" y="1066800"/>
            <a:ext cx="8756650" cy="688975"/>
          </a:xfrm>
        </p:spPr>
        <p:txBody>
          <a:bodyPr lIns="90488" tIns="44450" rIns="90488" bIns="44450"/>
          <a:lstStyle/>
          <a:p>
            <a:pPr marL="452438" indent="-452438" eaLnBrk="1" hangingPunct="1"/>
            <a:r>
              <a:rPr lang="en-US" altLang="en-US" sz="2400"/>
              <a:t>Current consumption of Trojan-free and Trojan-inserted circuits</a:t>
            </a:r>
          </a:p>
        </p:txBody>
      </p:sp>
      <p:pic>
        <p:nvPicPr>
          <p:cNvPr id="901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3" y="2663825"/>
            <a:ext cx="77501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9011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1841500"/>
            <a:ext cx="3322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90119" name="AutoShape 138"/>
          <p:cNvSpPr>
            <a:spLocks noChangeArrowheads="1"/>
          </p:cNvSpPr>
          <p:nvPr/>
        </p:nvSpPr>
        <p:spPr bwMode="auto">
          <a:xfrm>
            <a:off x="2830513" y="4489450"/>
            <a:ext cx="1301750" cy="511175"/>
          </a:xfrm>
          <a:prstGeom prst="cube">
            <a:avLst>
              <a:gd name="adj" fmla="val 55264"/>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grpSp>
        <p:nvGrpSpPr>
          <p:cNvPr id="90120" name="Group 173"/>
          <p:cNvGrpSpPr>
            <a:grpSpLocks/>
          </p:cNvGrpSpPr>
          <p:nvPr/>
        </p:nvGrpSpPr>
        <p:grpSpPr bwMode="auto">
          <a:xfrm>
            <a:off x="312738" y="3816350"/>
            <a:ext cx="3289300" cy="1054100"/>
            <a:chOff x="312927" y="3816098"/>
            <a:chExt cx="3289039" cy="1054240"/>
          </a:xfrm>
        </p:grpSpPr>
        <p:grpSp>
          <p:nvGrpSpPr>
            <p:cNvPr id="90215" name="Group 4"/>
            <p:cNvGrpSpPr>
              <a:grpSpLocks/>
            </p:cNvGrpSpPr>
            <p:nvPr/>
          </p:nvGrpSpPr>
          <p:grpSpPr bwMode="auto">
            <a:xfrm>
              <a:off x="312927" y="4211679"/>
              <a:ext cx="1195264" cy="390281"/>
              <a:chOff x="2375" y="9134"/>
              <a:chExt cx="2171" cy="810"/>
            </a:xfrm>
          </p:grpSpPr>
          <p:sp>
            <p:nvSpPr>
              <p:cNvPr id="90279" name="AutoShape 5"/>
              <p:cNvSpPr>
                <a:spLocks noChangeArrowheads="1"/>
              </p:cNvSpPr>
              <p:nvPr/>
            </p:nvSpPr>
            <p:spPr bwMode="auto">
              <a:xfrm>
                <a:off x="2375" y="9134"/>
                <a:ext cx="2171" cy="810"/>
              </a:xfrm>
              <a:prstGeom prst="cube">
                <a:avLst>
                  <a:gd name="adj" fmla="val 76394"/>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80" name="Oval 6"/>
              <p:cNvSpPr>
                <a:spLocks noChangeArrowheads="1"/>
              </p:cNvSpPr>
              <p:nvPr/>
            </p:nvSpPr>
            <p:spPr bwMode="auto">
              <a:xfrm>
                <a:off x="2624" y="9558"/>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81" name="Oval 7"/>
              <p:cNvSpPr>
                <a:spLocks noChangeArrowheads="1"/>
              </p:cNvSpPr>
              <p:nvPr/>
            </p:nvSpPr>
            <p:spPr bwMode="auto">
              <a:xfrm>
                <a:off x="2994" y="9174"/>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82" name="Oval 8"/>
              <p:cNvSpPr>
                <a:spLocks noChangeArrowheads="1"/>
              </p:cNvSpPr>
              <p:nvPr/>
            </p:nvSpPr>
            <p:spPr bwMode="auto">
              <a:xfrm>
                <a:off x="3669" y="9558"/>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83" name="Oval 9"/>
              <p:cNvSpPr>
                <a:spLocks noChangeArrowheads="1"/>
              </p:cNvSpPr>
              <p:nvPr/>
            </p:nvSpPr>
            <p:spPr bwMode="auto">
              <a:xfrm>
                <a:off x="4039" y="9174"/>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grpSp>
        <p:grpSp>
          <p:nvGrpSpPr>
            <p:cNvPr id="90216" name="Group 172"/>
            <p:cNvGrpSpPr>
              <a:grpSpLocks/>
            </p:cNvGrpSpPr>
            <p:nvPr/>
          </p:nvGrpSpPr>
          <p:grpSpPr bwMode="auto">
            <a:xfrm>
              <a:off x="405421" y="3816098"/>
              <a:ext cx="3196545" cy="1054240"/>
              <a:chOff x="405421" y="3816098"/>
              <a:chExt cx="3196545" cy="1054240"/>
            </a:xfrm>
          </p:grpSpPr>
          <p:grpSp>
            <p:nvGrpSpPr>
              <p:cNvPr id="90217" name="Group 10"/>
              <p:cNvGrpSpPr>
                <a:grpSpLocks/>
              </p:cNvGrpSpPr>
              <p:nvPr/>
            </p:nvGrpSpPr>
            <p:grpSpPr bwMode="auto">
              <a:xfrm rot="-1614780">
                <a:off x="608577" y="4068094"/>
                <a:ext cx="112314" cy="211523"/>
                <a:chOff x="5223" y="8436"/>
                <a:chExt cx="204" cy="439"/>
              </a:xfrm>
            </p:grpSpPr>
            <p:cxnSp>
              <p:nvCxnSpPr>
                <p:cNvPr id="90266" name="AutoShape 11"/>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7" name="AutoShape 12"/>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8" name="AutoShape 13"/>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9" name="AutoShape 14"/>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0" name="AutoShape 15"/>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1" name="AutoShape 16"/>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2" name="AutoShape 17"/>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3" name="AutoShape 18"/>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4" name="AutoShape 19"/>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5" name="AutoShape 20"/>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6" name="AutoShape 21"/>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7" name="AutoShape 22"/>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78" name="AutoShape 23"/>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0218" name="Group 24"/>
              <p:cNvGrpSpPr>
                <a:grpSpLocks/>
              </p:cNvGrpSpPr>
              <p:nvPr/>
            </p:nvGrpSpPr>
            <p:grpSpPr bwMode="auto">
              <a:xfrm rot="1629129">
                <a:off x="1284663" y="4069058"/>
                <a:ext cx="112314" cy="211523"/>
                <a:chOff x="5223" y="8436"/>
                <a:chExt cx="204" cy="439"/>
              </a:xfrm>
            </p:grpSpPr>
            <p:cxnSp>
              <p:nvCxnSpPr>
                <p:cNvPr id="90253" name="AutoShape 25"/>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4" name="AutoShape 26"/>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5" name="AutoShape 27"/>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6" name="AutoShape 28"/>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7" name="AutoShape 29"/>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8" name="AutoShape 30"/>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9" name="AutoShape 31"/>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0" name="AutoShape 32"/>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1" name="AutoShape 33"/>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2" name="AutoShape 34"/>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3" name="AutoShape 35"/>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4" name="AutoShape 36"/>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65" name="AutoShape 37"/>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0219" name="Group 38"/>
              <p:cNvGrpSpPr>
                <a:grpSpLocks/>
              </p:cNvGrpSpPr>
              <p:nvPr/>
            </p:nvGrpSpPr>
            <p:grpSpPr bwMode="auto">
              <a:xfrm rot="-1614780">
                <a:off x="408724" y="4261307"/>
                <a:ext cx="112314" cy="211523"/>
                <a:chOff x="5223" y="8436"/>
                <a:chExt cx="204" cy="439"/>
              </a:xfrm>
            </p:grpSpPr>
            <p:cxnSp>
              <p:nvCxnSpPr>
                <p:cNvPr id="90240" name="AutoShape 39"/>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1" name="AutoShape 40"/>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2" name="AutoShape 41"/>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3" name="AutoShape 42"/>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4" name="AutoShape 43"/>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5" name="AutoShape 44"/>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6" name="AutoShape 45"/>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7" name="AutoShape 46"/>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8" name="AutoShape 47"/>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49" name="AutoShape 48"/>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0" name="AutoShape 49"/>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1" name="AutoShape 50"/>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52" name="AutoShape 51"/>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0220" name="Group 52"/>
              <p:cNvGrpSpPr>
                <a:grpSpLocks/>
              </p:cNvGrpSpPr>
              <p:nvPr/>
            </p:nvGrpSpPr>
            <p:grpSpPr bwMode="auto">
              <a:xfrm rot="1629129">
                <a:off x="1084810" y="4262271"/>
                <a:ext cx="112314" cy="211523"/>
                <a:chOff x="5223" y="8436"/>
                <a:chExt cx="204" cy="439"/>
              </a:xfrm>
            </p:grpSpPr>
            <p:cxnSp>
              <p:nvCxnSpPr>
                <p:cNvPr id="90227" name="AutoShape 53"/>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28" name="AutoShape 54"/>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29" name="AutoShape 55"/>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0" name="AutoShape 56"/>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1" name="AutoShape 57"/>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2" name="AutoShape 58"/>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3" name="AutoShape 59"/>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4" name="AutoShape 60"/>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5" name="AutoShape 61"/>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6" name="AutoShape 62"/>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7" name="AutoShape 63"/>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8" name="AutoShape 64"/>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39" name="AutoShape 65"/>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90221" name="Freeform 66"/>
              <p:cNvSpPr>
                <a:spLocks/>
              </p:cNvSpPr>
              <p:nvPr/>
            </p:nvSpPr>
            <p:spPr bwMode="auto">
              <a:xfrm>
                <a:off x="1398629" y="3930291"/>
                <a:ext cx="1133050" cy="716479"/>
              </a:xfrm>
              <a:custGeom>
                <a:avLst/>
                <a:gdLst>
                  <a:gd name="T0" fmla="*/ 0 w 1242"/>
                  <a:gd name="T1" fmla="*/ 2147483646 h 909"/>
                  <a:gd name="T2" fmla="*/ 2147483646 w 1242"/>
                  <a:gd name="T3" fmla="*/ 2147483646 h 909"/>
                  <a:gd name="T4" fmla="*/ 2147483646 w 1242"/>
                  <a:gd name="T5" fmla="*/ 2147483646 h 909"/>
                  <a:gd name="T6" fmla="*/ 2147483646 w 1242"/>
                  <a:gd name="T7" fmla="*/ 2147483646 h 909"/>
                  <a:gd name="T8" fmla="*/ 2147483646 w 1242"/>
                  <a:gd name="T9" fmla="*/ 2147483646 h 909"/>
                  <a:gd name="T10" fmla="*/ 2147483646 w 1242"/>
                  <a:gd name="T11" fmla="*/ 2147483646 h 909"/>
                  <a:gd name="T12" fmla="*/ 2147483646 w 1242"/>
                  <a:gd name="T13" fmla="*/ 2147483646 h 909"/>
                  <a:gd name="T14" fmla="*/ 2147483646 w 1242"/>
                  <a:gd name="T15" fmla="*/ 2147483646 h 909"/>
                  <a:gd name="T16" fmla="*/ 2147483646 w 1242"/>
                  <a:gd name="T17" fmla="*/ 0 h 909"/>
                  <a:gd name="T18" fmla="*/ 2147483646 w 1242"/>
                  <a:gd name="T19" fmla="*/ 2147483646 h 909"/>
                  <a:gd name="T20" fmla="*/ 2147483646 w 1242"/>
                  <a:gd name="T21" fmla="*/ 2147483646 h 909"/>
                  <a:gd name="T22" fmla="*/ 2147483646 w 1242"/>
                  <a:gd name="T23" fmla="*/ 2147483646 h 909"/>
                  <a:gd name="T24" fmla="*/ 2147483646 w 1242"/>
                  <a:gd name="T25" fmla="*/ 2147483646 h 909"/>
                  <a:gd name="T26" fmla="*/ 2147483646 w 1242"/>
                  <a:gd name="T27" fmla="*/ 2147483646 h 909"/>
                  <a:gd name="T28" fmla="*/ 2147483646 w 1242"/>
                  <a:gd name="T29" fmla="*/ 2147483646 h 909"/>
                  <a:gd name="T30" fmla="*/ 2147483646 w 1242"/>
                  <a:gd name="T31" fmla="*/ 2147483646 h 909"/>
                  <a:gd name="T32" fmla="*/ 2147483646 w 1242"/>
                  <a:gd name="T33" fmla="*/ 2147483646 h 909"/>
                  <a:gd name="T34" fmla="*/ 2147483646 w 1242"/>
                  <a:gd name="T35" fmla="*/ 2147483646 h 909"/>
                  <a:gd name="T36" fmla="*/ 2147483646 w 1242"/>
                  <a:gd name="T37" fmla="*/ 2147483646 h 909"/>
                  <a:gd name="T38" fmla="*/ 2147483646 w 1242"/>
                  <a:gd name="T39" fmla="*/ 2147483646 h 909"/>
                  <a:gd name="T40" fmla="*/ 2147483646 w 1242"/>
                  <a:gd name="T41" fmla="*/ 2147483646 h 909"/>
                  <a:gd name="T42" fmla="*/ 2147483646 w 1242"/>
                  <a:gd name="T43" fmla="*/ 2147483646 h 909"/>
                  <a:gd name="T44" fmla="*/ 2147483646 w 1242"/>
                  <a:gd name="T45" fmla="*/ 2147483646 h 909"/>
                  <a:gd name="T46" fmla="*/ 2147483646 w 1242"/>
                  <a:gd name="T47" fmla="*/ 2147483646 h 909"/>
                  <a:gd name="T48" fmla="*/ 2147483646 w 1242"/>
                  <a:gd name="T49" fmla="*/ 2147483646 h 909"/>
                  <a:gd name="T50" fmla="*/ 2147483646 w 1242"/>
                  <a:gd name="T51" fmla="*/ 2147483646 h 909"/>
                  <a:gd name="T52" fmla="*/ 2147483646 w 1242"/>
                  <a:gd name="T53" fmla="*/ 2147483646 h 909"/>
                  <a:gd name="T54" fmla="*/ 2147483646 w 1242"/>
                  <a:gd name="T55" fmla="*/ 2147483646 h 9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42"/>
                  <a:gd name="T85" fmla="*/ 0 h 909"/>
                  <a:gd name="T86" fmla="*/ 1242 w 1242"/>
                  <a:gd name="T87" fmla="*/ 909 h 90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42" h="909">
                    <a:moveTo>
                      <a:pt x="0" y="186"/>
                    </a:moveTo>
                    <a:cubicBezTo>
                      <a:pt x="10" y="179"/>
                      <a:pt x="14" y="172"/>
                      <a:pt x="24" y="165"/>
                    </a:cubicBezTo>
                    <a:cubicBezTo>
                      <a:pt x="35" y="148"/>
                      <a:pt x="46" y="136"/>
                      <a:pt x="66" y="129"/>
                    </a:cubicBezTo>
                    <a:cubicBezTo>
                      <a:pt x="77" y="121"/>
                      <a:pt x="82" y="112"/>
                      <a:pt x="93" y="105"/>
                    </a:cubicBezTo>
                    <a:cubicBezTo>
                      <a:pt x="110" y="79"/>
                      <a:pt x="87" y="110"/>
                      <a:pt x="108" y="93"/>
                    </a:cubicBezTo>
                    <a:cubicBezTo>
                      <a:pt x="123" y="81"/>
                      <a:pt x="134" y="65"/>
                      <a:pt x="150" y="54"/>
                    </a:cubicBezTo>
                    <a:cubicBezTo>
                      <a:pt x="157" y="44"/>
                      <a:pt x="162" y="40"/>
                      <a:pt x="174" y="36"/>
                    </a:cubicBezTo>
                    <a:cubicBezTo>
                      <a:pt x="180" y="19"/>
                      <a:pt x="205" y="12"/>
                      <a:pt x="222" y="6"/>
                    </a:cubicBezTo>
                    <a:cubicBezTo>
                      <a:pt x="228" y="4"/>
                      <a:pt x="240" y="0"/>
                      <a:pt x="240" y="0"/>
                    </a:cubicBezTo>
                    <a:cubicBezTo>
                      <a:pt x="281" y="1"/>
                      <a:pt x="322" y="1"/>
                      <a:pt x="363" y="3"/>
                    </a:cubicBezTo>
                    <a:cubicBezTo>
                      <a:pt x="424" y="6"/>
                      <a:pt x="438" y="73"/>
                      <a:pt x="489" y="90"/>
                    </a:cubicBezTo>
                    <a:cubicBezTo>
                      <a:pt x="499" y="100"/>
                      <a:pt x="505" y="104"/>
                      <a:pt x="519" y="108"/>
                    </a:cubicBezTo>
                    <a:cubicBezTo>
                      <a:pt x="539" y="121"/>
                      <a:pt x="571" y="132"/>
                      <a:pt x="594" y="138"/>
                    </a:cubicBezTo>
                    <a:cubicBezTo>
                      <a:pt x="613" y="151"/>
                      <a:pt x="640" y="151"/>
                      <a:pt x="660" y="165"/>
                    </a:cubicBezTo>
                    <a:cubicBezTo>
                      <a:pt x="667" y="187"/>
                      <a:pt x="676" y="215"/>
                      <a:pt x="690" y="234"/>
                    </a:cubicBezTo>
                    <a:cubicBezTo>
                      <a:pt x="696" y="242"/>
                      <a:pt x="708" y="258"/>
                      <a:pt x="708" y="258"/>
                    </a:cubicBezTo>
                    <a:cubicBezTo>
                      <a:pt x="725" y="310"/>
                      <a:pt x="787" y="346"/>
                      <a:pt x="831" y="375"/>
                    </a:cubicBezTo>
                    <a:cubicBezTo>
                      <a:pt x="849" y="387"/>
                      <a:pt x="864" y="431"/>
                      <a:pt x="876" y="450"/>
                    </a:cubicBezTo>
                    <a:cubicBezTo>
                      <a:pt x="890" y="473"/>
                      <a:pt x="908" y="486"/>
                      <a:pt x="930" y="498"/>
                    </a:cubicBezTo>
                    <a:cubicBezTo>
                      <a:pt x="939" y="503"/>
                      <a:pt x="960" y="510"/>
                      <a:pt x="960" y="510"/>
                    </a:cubicBezTo>
                    <a:cubicBezTo>
                      <a:pt x="979" y="529"/>
                      <a:pt x="977" y="540"/>
                      <a:pt x="987" y="561"/>
                    </a:cubicBezTo>
                    <a:cubicBezTo>
                      <a:pt x="998" y="586"/>
                      <a:pt x="1006" y="583"/>
                      <a:pt x="1023" y="600"/>
                    </a:cubicBezTo>
                    <a:cubicBezTo>
                      <a:pt x="1041" y="618"/>
                      <a:pt x="1059" y="643"/>
                      <a:pt x="1080" y="657"/>
                    </a:cubicBezTo>
                    <a:cubicBezTo>
                      <a:pt x="1089" y="670"/>
                      <a:pt x="1104" y="679"/>
                      <a:pt x="1110" y="693"/>
                    </a:cubicBezTo>
                    <a:cubicBezTo>
                      <a:pt x="1127" y="731"/>
                      <a:pt x="1144" y="772"/>
                      <a:pt x="1173" y="801"/>
                    </a:cubicBezTo>
                    <a:cubicBezTo>
                      <a:pt x="1183" y="831"/>
                      <a:pt x="1166" y="785"/>
                      <a:pt x="1185" y="819"/>
                    </a:cubicBezTo>
                    <a:cubicBezTo>
                      <a:pt x="1195" y="838"/>
                      <a:pt x="1192" y="870"/>
                      <a:pt x="1209" y="885"/>
                    </a:cubicBezTo>
                    <a:cubicBezTo>
                      <a:pt x="1220" y="894"/>
                      <a:pt x="1232" y="899"/>
                      <a:pt x="1242" y="909"/>
                    </a:cubicBezTo>
                  </a:path>
                </a:pathLst>
              </a:custGeom>
              <a:noFill/>
              <a:ln w="22225">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222" name="Freeform 67"/>
              <p:cNvSpPr>
                <a:spLocks/>
              </p:cNvSpPr>
              <p:nvPr/>
            </p:nvSpPr>
            <p:spPr bwMode="auto">
              <a:xfrm>
                <a:off x="606375" y="3816098"/>
                <a:ext cx="1899429" cy="810917"/>
              </a:xfrm>
              <a:custGeom>
                <a:avLst/>
                <a:gdLst>
                  <a:gd name="T0" fmla="*/ 0 w 3639"/>
                  <a:gd name="T1" fmla="*/ 2147483646 h 1702"/>
                  <a:gd name="T2" fmla="*/ 2147483646 w 3639"/>
                  <a:gd name="T3" fmla="*/ 2147483646 h 1702"/>
                  <a:gd name="T4" fmla="*/ 2147483646 w 3639"/>
                  <a:gd name="T5" fmla="*/ 2147483646 h 1702"/>
                  <a:gd name="T6" fmla="*/ 2147483646 w 3639"/>
                  <a:gd name="T7" fmla="*/ 2147483646 h 1702"/>
                  <a:gd name="T8" fmla="*/ 2147483646 w 3639"/>
                  <a:gd name="T9" fmla="*/ 2147483646 h 1702"/>
                  <a:gd name="T10" fmla="*/ 2147483646 w 3639"/>
                  <a:gd name="T11" fmla="*/ 2147483646 h 1702"/>
                  <a:gd name="T12" fmla="*/ 2147483646 w 3639"/>
                  <a:gd name="T13" fmla="*/ 2147483646 h 1702"/>
                  <a:gd name="T14" fmla="*/ 2147483646 w 3639"/>
                  <a:gd name="T15" fmla="*/ 2147483646 h 1702"/>
                  <a:gd name="T16" fmla="*/ 2147483646 w 3639"/>
                  <a:gd name="T17" fmla="*/ 2147483646 h 1702"/>
                  <a:gd name="T18" fmla="*/ 2147483646 w 3639"/>
                  <a:gd name="T19" fmla="*/ 0 h 1702"/>
                  <a:gd name="T20" fmla="*/ 2147483646 w 3639"/>
                  <a:gd name="T21" fmla="*/ 2147483646 h 1702"/>
                  <a:gd name="T22" fmla="*/ 2147483646 w 3639"/>
                  <a:gd name="T23" fmla="*/ 2147483646 h 1702"/>
                  <a:gd name="T24" fmla="*/ 2147483646 w 3639"/>
                  <a:gd name="T25" fmla="*/ 2147483646 h 1702"/>
                  <a:gd name="T26" fmla="*/ 2147483646 w 3639"/>
                  <a:gd name="T27" fmla="*/ 2147483646 h 1702"/>
                  <a:gd name="T28" fmla="*/ 2147483646 w 3639"/>
                  <a:gd name="T29" fmla="*/ 2147483646 h 1702"/>
                  <a:gd name="T30" fmla="*/ 2147483646 w 3639"/>
                  <a:gd name="T31" fmla="*/ 2147483646 h 1702"/>
                  <a:gd name="T32" fmla="*/ 2147483646 w 3639"/>
                  <a:gd name="T33" fmla="*/ 2147483646 h 1702"/>
                  <a:gd name="T34" fmla="*/ 2147483646 w 3639"/>
                  <a:gd name="T35" fmla="*/ 2147483646 h 1702"/>
                  <a:gd name="T36" fmla="*/ 2147483646 w 3639"/>
                  <a:gd name="T37" fmla="*/ 2147483646 h 1702"/>
                  <a:gd name="T38" fmla="*/ 2147483646 w 3639"/>
                  <a:gd name="T39" fmla="*/ 2147483646 h 1702"/>
                  <a:gd name="T40" fmla="*/ 2147483646 w 3639"/>
                  <a:gd name="T41" fmla="*/ 2147483646 h 1702"/>
                  <a:gd name="T42" fmla="*/ 2147483646 w 3639"/>
                  <a:gd name="T43" fmla="*/ 2147483646 h 1702"/>
                  <a:gd name="T44" fmla="*/ 2147483646 w 3639"/>
                  <a:gd name="T45" fmla="*/ 2147483646 h 1702"/>
                  <a:gd name="T46" fmla="*/ 2147483646 w 3639"/>
                  <a:gd name="T47" fmla="*/ 2147483646 h 1702"/>
                  <a:gd name="T48" fmla="*/ 2147483646 w 3639"/>
                  <a:gd name="T49" fmla="*/ 2147483646 h 1702"/>
                  <a:gd name="T50" fmla="*/ 2147483646 w 3639"/>
                  <a:gd name="T51" fmla="*/ 2147483646 h 1702"/>
                  <a:gd name="T52" fmla="*/ 2147483646 w 3639"/>
                  <a:gd name="T53" fmla="*/ 2147483646 h 1702"/>
                  <a:gd name="T54" fmla="*/ 2147483646 w 3639"/>
                  <a:gd name="T55" fmla="*/ 2147483646 h 1702"/>
                  <a:gd name="T56" fmla="*/ 2147483646 w 3639"/>
                  <a:gd name="T57" fmla="*/ 2147483646 h 1702"/>
                  <a:gd name="T58" fmla="*/ 2147483646 w 3639"/>
                  <a:gd name="T59" fmla="*/ 2147483646 h 1702"/>
                  <a:gd name="T60" fmla="*/ 2147483646 w 3639"/>
                  <a:gd name="T61" fmla="*/ 2147483646 h 1702"/>
                  <a:gd name="T62" fmla="*/ 2147483646 w 3639"/>
                  <a:gd name="T63" fmla="*/ 2147483646 h 1702"/>
                  <a:gd name="T64" fmla="*/ 2147483646 w 3639"/>
                  <a:gd name="T65" fmla="*/ 2147483646 h 1702"/>
                  <a:gd name="T66" fmla="*/ 2147483646 w 3639"/>
                  <a:gd name="T67" fmla="*/ 2147483646 h 1702"/>
                  <a:gd name="T68" fmla="*/ 2147483646 w 3639"/>
                  <a:gd name="T69" fmla="*/ 2147483646 h 1702"/>
                  <a:gd name="T70" fmla="*/ 2147483646 w 3639"/>
                  <a:gd name="T71" fmla="*/ 2147483646 h 1702"/>
                  <a:gd name="T72" fmla="*/ 2147483646 w 3639"/>
                  <a:gd name="T73" fmla="*/ 2147483646 h 17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39"/>
                  <a:gd name="T112" fmla="*/ 0 h 1702"/>
                  <a:gd name="T113" fmla="*/ 3639 w 3639"/>
                  <a:gd name="T114" fmla="*/ 1702 h 170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39" h="1702">
                    <a:moveTo>
                      <a:pt x="0" y="542"/>
                    </a:moveTo>
                    <a:cubicBezTo>
                      <a:pt x="9" y="478"/>
                      <a:pt x="25" y="416"/>
                      <a:pt x="47" y="355"/>
                    </a:cubicBezTo>
                    <a:cubicBezTo>
                      <a:pt x="50" y="330"/>
                      <a:pt x="47" y="304"/>
                      <a:pt x="56" y="280"/>
                    </a:cubicBezTo>
                    <a:cubicBezTo>
                      <a:pt x="80" y="213"/>
                      <a:pt x="119" y="216"/>
                      <a:pt x="178" y="196"/>
                    </a:cubicBezTo>
                    <a:cubicBezTo>
                      <a:pt x="214" y="184"/>
                      <a:pt x="245" y="162"/>
                      <a:pt x="281" y="149"/>
                    </a:cubicBezTo>
                    <a:cubicBezTo>
                      <a:pt x="414" y="179"/>
                      <a:pt x="336" y="170"/>
                      <a:pt x="514" y="159"/>
                    </a:cubicBezTo>
                    <a:cubicBezTo>
                      <a:pt x="625" y="135"/>
                      <a:pt x="511" y="166"/>
                      <a:pt x="589" y="131"/>
                    </a:cubicBezTo>
                    <a:cubicBezTo>
                      <a:pt x="607" y="123"/>
                      <a:pt x="626" y="118"/>
                      <a:pt x="645" y="112"/>
                    </a:cubicBezTo>
                    <a:cubicBezTo>
                      <a:pt x="654" y="109"/>
                      <a:pt x="673" y="103"/>
                      <a:pt x="673" y="103"/>
                    </a:cubicBezTo>
                    <a:cubicBezTo>
                      <a:pt x="804" y="14"/>
                      <a:pt x="1067" y="6"/>
                      <a:pt x="1206" y="0"/>
                    </a:cubicBezTo>
                    <a:cubicBezTo>
                      <a:pt x="1633" y="6"/>
                      <a:pt x="1682" y="6"/>
                      <a:pt x="1973" y="37"/>
                    </a:cubicBezTo>
                    <a:cubicBezTo>
                      <a:pt x="2046" y="55"/>
                      <a:pt x="2122" y="57"/>
                      <a:pt x="2197" y="65"/>
                    </a:cubicBezTo>
                    <a:cubicBezTo>
                      <a:pt x="2262" y="87"/>
                      <a:pt x="2300" y="147"/>
                      <a:pt x="2366" y="168"/>
                    </a:cubicBezTo>
                    <a:cubicBezTo>
                      <a:pt x="2404" y="193"/>
                      <a:pt x="2441" y="218"/>
                      <a:pt x="2478" y="243"/>
                    </a:cubicBezTo>
                    <a:cubicBezTo>
                      <a:pt x="2491" y="252"/>
                      <a:pt x="2496" y="268"/>
                      <a:pt x="2506" y="280"/>
                    </a:cubicBezTo>
                    <a:cubicBezTo>
                      <a:pt x="2530" y="308"/>
                      <a:pt x="2533" y="308"/>
                      <a:pt x="2562" y="327"/>
                    </a:cubicBezTo>
                    <a:cubicBezTo>
                      <a:pt x="2609" y="396"/>
                      <a:pt x="2693" y="415"/>
                      <a:pt x="2768" y="439"/>
                    </a:cubicBezTo>
                    <a:cubicBezTo>
                      <a:pt x="2787" y="452"/>
                      <a:pt x="2805" y="464"/>
                      <a:pt x="2824" y="477"/>
                    </a:cubicBezTo>
                    <a:cubicBezTo>
                      <a:pt x="2835" y="485"/>
                      <a:pt x="2833" y="504"/>
                      <a:pt x="2843" y="514"/>
                    </a:cubicBezTo>
                    <a:cubicBezTo>
                      <a:pt x="2850" y="521"/>
                      <a:pt x="2862" y="520"/>
                      <a:pt x="2871" y="523"/>
                    </a:cubicBezTo>
                    <a:cubicBezTo>
                      <a:pt x="2893" y="569"/>
                      <a:pt x="2905" y="586"/>
                      <a:pt x="2946" y="617"/>
                    </a:cubicBezTo>
                    <a:cubicBezTo>
                      <a:pt x="2959" y="656"/>
                      <a:pt x="2972" y="678"/>
                      <a:pt x="3011" y="692"/>
                    </a:cubicBezTo>
                    <a:cubicBezTo>
                      <a:pt x="3037" y="730"/>
                      <a:pt x="3067" y="770"/>
                      <a:pt x="3104" y="795"/>
                    </a:cubicBezTo>
                    <a:cubicBezTo>
                      <a:pt x="3110" y="804"/>
                      <a:pt x="3115" y="815"/>
                      <a:pt x="3123" y="823"/>
                    </a:cubicBezTo>
                    <a:cubicBezTo>
                      <a:pt x="3131" y="831"/>
                      <a:pt x="3144" y="833"/>
                      <a:pt x="3151" y="841"/>
                    </a:cubicBezTo>
                    <a:cubicBezTo>
                      <a:pt x="3187" y="881"/>
                      <a:pt x="3216" y="937"/>
                      <a:pt x="3245" y="982"/>
                    </a:cubicBezTo>
                    <a:cubicBezTo>
                      <a:pt x="3263" y="1010"/>
                      <a:pt x="3282" y="1038"/>
                      <a:pt x="3301" y="1066"/>
                    </a:cubicBezTo>
                    <a:cubicBezTo>
                      <a:pt x="3307" y="1075"/>
                      <a:pt x="3320" y="1094"/>
                      <a:pt x="3320" y="1094"/>
                    </a:cubicBezTo>
                    <a:cubicBezTo>
                      <a:pt x="3335" y="1140"/>
                      <a:pt x="3355" y="1171"/>
                      <a:pt x="3394" y="1197"/>
                    </a:cubicBezTo>
                    <a:cubicBezTo>
                      <a:pt x="3409" y="1239"/>
                      <a:pt x="3429" y="1278"/>
                      <a:pt x="3460" y="1309"/>
                    </a:cubicBezTo>
                    <a:cubicBezTo>
                      <a:pt x="3481" y="1374"/>
                      <a:pt x="3471" y="1347"/>
                      <a:pt x="3488" y="1393"/>
                    </a:cubicBezTo>
                    <a:cubicBezTo>
                      <a:pt x="3496" y="1414"/>
                      <a:pt x="3513" y="1430"/>
                      <a:pt x="3525" y="1449"/>
                    </a:cubicBezTo>
                    <a:cubicBezTo>
                      <a:pt x="3531" y="1458"/>
                      <a:pt x="3544" y="1477"/>
                      <a:pt x="3544" y="1477"/>
                    </a:cubicBezTo>
                    <a:cubicBezTo>
                      <a:pt x="3557" y="1517"/>
                      <a:pt x="3577" y="1548"/>
                      <a:pt x="3591" y="1589"/>
                    </a:cubicBezTo>
                    <a:cubicBezTo>
                      <a:pt x="3600" y="1616"/>
                      <a:pt x="3596" y="1647"/>
                      <a:pt x="3609" y="1673"/>
                    </a:cubicBezTo>
                    <a:cubicBezTo>
                      <a:pt x="3614" y="1683"/>
                      <a:pt x="3633" y="1681"/>
                      <a:pt x="3637" y="1692"/>
                    </a:cubicBezTo>
                    <a:cubicBezTo>
                      <a:pt x="3639" y="1698"/>
                      <a:pt x="3625" y="1699"/>
                      <a:pt x="3619" y="1702"/>
                    </a:cubicBezTo>
                  </a:path>
                </a:pathLst>
              </a:custGeom>
              <a:noFill/>
              <a:ln w="22225">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223" name="Freeform 68"/>
              <p:cNvSpPr>
                <a:spLocks/>
              </p:cNvSpPr>
              <p:nvPr/>
            </p:nvSpPr>
            <p:spPr bwMode="auto">
              <a:xfrm>
                <a:off x="1198226" y="4271426"/>
                <a:ext cx="1333454" cy="366671"/>
              </a:xfrm>
              <a:custGeom>
                <a:avLst/>
                <a:gdLst>
                  <a:gd name="T0" fmla="*/ 0 w 2285"/>
                  <a:gd name="T1" fmla="*/ 0 h 776"/>
                  <a:gd name="T2" fmla="*/ 2147483646 w 2285"/>
                  <a:gd name="T3" fmla="*/ 2147483646 h 776"/>
                  <a:gd name="T4" fmla="*/ 2147483646 w 2285"/>
                  <a:gd name="T5" fmla="*/ 2147483646 h 776"/>
                  <a:gd name="T6" fmla="*/ 2147483646 w 2285"/>
                  <a:gd name="T7" fmla="*/ 2147483646 h 776"/>
                  <a:gd name="T8" fmla="*/ 2147483646 w 2285"/>
                  <a:gd name="T9" fmla="*/ 2147483646 h 776"/>
                  <a:gd name="T10" fmla="*/ 2147483646 w 2285"/>
                  <a:gd name="T11" fmla="*/ 2147483646 h 776"/>
                  <a:gd name="T12" fmla="*/ 2147483646 w 2285"/>
                  <a:gd name="T13" fmla="*/ 2147483646 h 776"/>
                  <a:gd name="T14" fmla="*/ 2147483646 w 2285"/>
                  <a:gd name="T15" fmla="*/ 2147483646 h 776"/>
                  <a:gd name="T16" fmla="*/ 2147483646 w 2285"/>
                  <a:gd name="T17" fmla="*/ 2147483646 h 776"/>
                  <a:gd name="T18" fmla="*/ 2147483646 w 2285"/>
                  <a:gd name="T19" fmla="*/ 2147483646 h 776"/>
                  <a:gd name="T20" fmla="*/ 2147483646 w 2285"/>
                  <a:gd name="T21" fmla="*/ 2147483646 h 776"/>
                  <a:gd name="T22" fmla="*/ 2147483646 w 2285"/>
                  <a:gd name="T23" fmla="*/ 2147483646 h 776"/>
                  <a:gd name="T24" fmla="*/ 2147483646 w 2285"/>
                  <a:gd name="T25" fmla="*/ 2147483646 h 776"/>
                  <a:gd name="T26" fmla="*/ 2147483646 w 2285"/>
                  <a:gd name="T27" fmla="*/ 2147483646 h 776"/>
                  <a:gd name="T28" fmla="*/ 2147483646 w 2285"/>
                  <a:gd name="T29" fmla="*/ 2147483646 h 776"/>
                  <a:gd name="T30" fmla="*/ 2147483646 w 2285"/>
                  <a:gd name="T31" fmla="*/ 2147483646 h 776"/>
                  <a:gd name="T32" fmla="*/ 2147483646 w 2285"/>
                  <a:gd name="T33" fmla="*/ 2147483646 h 776"/>
                  <a:gd name="T34" fmla="*/ 2147483646 w 2285"/>
                  <a:gd name="T35" fmla="*/ 2147483646 h 7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85"/>
                  <a:gd name="T55" fmla="*/ 0 h 776"/>
                  <a:gd name="T56" fmla="*/ 2285 w 2285"/>
                  <a:gd name="T57" fmla="*/ 776 h 7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85" h="776">
                    <a:moveTo>
                      <a:pt x="0" y="0"/>
                    </a:moveTo>
                    <a:cubicBezTo>
                      <a:pt x="29" y="3"/>
                      <a:pt x="135" y="12"/>
                      <a:pt x="169" y="19"/>
                    </a:cubicBezTo>
                    <a:cubicBezTo>
                      <a:pt x="188" y="23"/>
                      <a:pt x="225" y="37"/>
                      <a:pt x="225" y="37"/>
                    </a:cubicBezTo>
                    <a:cubicBezTo>
                      <a:pt x="269" y="104"/>
                      <a:pt x="313" y="170"/>
                      <a:pt x="393" y="196"/>
                    </a:cubicBezTo>
                    <a:cubicBezTo>
                      <a:pt x="456" y="239"/>
                      <a:pt x="525" y="247"/>
                      <a:pt x="599" y="262"/>
                    </a:cubicBezTo>
                    <a:cubicBezTo>
                      <a:pt x="650" y="273"/>
                      <a:pt x="706" y="295"/>
                      <a:pt x="758" y="299"/>
                    </a:cubicBezTo>
                    <a:cubicBezTo>
                      <a:pt x="815" y="304"/>
                      <a:pt x="1171" y="317"/>
                      <a:pt x="1197" y="318"/>
                    </a:cubicBezTo>
                    <a:cubicBezTo>
                      <a:pt x="1299" y="342"/>
                      <a:pt x="1403" y="357"/>
                      <a:pt x="1506" y="383"/>
                    </a:cubicBezTo>
                    <a:cubicBezTo>
                      <a:pt x="1586" y="403"/>
                      <a:pt x="1660" y="436"/>
                      <a:pt x="1740" y="458"/>
                    </a:cubicBezTo>
                    <a:cubicBezTo>
                      <a:pt x="1785" y="470"/>
                      <a:pt x="1822" y="486"/>
                      <a:pt x="1852" y="523"/>
                    </a:cubicBezTo>
                    <a:cubicBezTo>
                      <a:pt x="1859" y="532"/>
                      <a:pt x="1862" y="544"/>
                      <a:pt x="1871" y="552"/>
                    </a:cubicBezTo>
                    <a:cubicBezTo>
                      <a:pt x="1888" y="567"/>
                      <a:pt x="1927" y="589"/>
                      <a:pt x="1927" y="589"/>
                    </a:cubicBezTo>
                    <a:cubicBezTo>
                      <a:pt x="1948" y="622"/>
                      <a:pt x="1964" y="633"/>
                      <a:pt x="2001" y="645"/>
                    </a:cubicBezTo>
                    <a:cubicBezTo>
                      <a:pt x="2048" y="677"/>
                      <a:pt x="2014" y="657"/>
                      <a:pt x="2086" y="682"/>
                    </a:cubicBezTo>
                    <a:cubicBezTo>
                      <a:pt x="2105" y="688"/>
                      <a:pt x="2123" y="695"/>
                      <a:pt x="2142" y="701"/>
                    </a:cubicBezTo>
                    <a:cubicBezTo>
                      <a:pt x="2151" y="704"/>
                      <a:pt x="2170" y="710"/>
                      <a:pt x="2170" y="710"/>
                    </a:cubicBezTo>
                    <a:cubicBezTo>
                      <a:pt x="2240" y="758"/>
                      <a:pt x="2202" y="739"/>
                      <a:pt x="2254" y="757"/>
                    </a:cubicBezTo>
                    <a:cubicBezTo>
                      <a:pt x="2285" y="767"/>
                      <a:pt x="2282" y="757"/>
                      <a:pt x="2282" y="776"/>
                    </a:cubicBezTo>
                  </a:path>
                </a:pathLst>
              </a:custGeom>
              <a:noFill/>
              <a:ln w="22225">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224" name="Freeform 69"/>
              <p:cNvSpPr>
                <a:spLocks/>
              </p:cNvSpPr>
              <p:nvPr/>
            </p:nvSpPr>
            <p:spPr bwMode="auto">
              <a:xfrm>
                <a:off x="405421" y="4209752"/>
                <a:ext cx="2100383" cy="417263"/>
              </a:xfrm>
              <a:custGeom>
                <a:avLst/>
                <a:gdLst>
                  <a:gd name="T0" fmla="*/ 0 w 3759"/>
                  <a:gd name="T1" fmla="*/ 2147483646 h 866"/>
                  <a:gd name="T2" fmla="*/ 2147483646 w 3759"/>
                  <a:gd name="T3" fmla="*/ 2147483646 h 866"/>
                  <a:gd name="T4" fmla="*/ 2147483646 w 3759"/>
                  <a:gd name="T5" fmla="*/ 2147483646 h 866"/>
                  <a:gd name="T6" fmla="*/ 2147483646 w 3759"/>
                  <a:gd name="T7" fmla="*/ 2147483646 h 866"/>
                  <a:gd name="T8" fmla="*/ 2147483646 w 3759"/>
                  <a:gd name="T9" fmla="*/ 2147483646 h 866"/>
                  <a:gd name="T10" fmla="*/ 2147483646 w 3759"/>
                  <a:gd name="T11" fmla="*/ 2147483646 h 866"/>
                  <a:gd name="T12" fmla="*/ 2147483646 w 3759"/>
                  <a:gd name="T13" fmla="*/ 2147483646 h 866"/>
                  <a:gd name="T14" fmla="*/ 2147483646 w 3759"/>
                  <a:gd name="T15" fmla="*/ 2147483646 h 866"/>
                  <a:gd name="T16" fmla="*/ 2147483646 w 3759"/>
                  <a:gd name="T17" fmla="*/ 2147483646 h 866"/>
                  <a:gd name="T18" fmla="*/ 2147483646 w 3759"/>
                  <a:gd name="T19" fmla="*/ 2147483646 h 866"/>
                  <a:gd name="T20" fmla="*/ 2147483646 w 3759"/>
                  <a:gd name="T21" fmla="*/ 2147483646 h 866"/>
                  <a:gd name="T22" fmla="*/ 2147483646 w 3759"/>
                  <a:gd name="T23" fmla="*/ 2147483646 h 866"/>
                  <a:gd name="T24" fmla="*/ 2147483646 w 3759"/>
                  <a:gd name="T25" fmla="*/ 2147483646 h 866"/>
                  <a:gd name="T26" fmla="*/ 2147483646 w 3759"/>
                  <a:gd name="T27" fmla="*/ 2147483646 h 866"/>
                  <a:gd name="T28" fmla="*/ 2147483646 w 3759"/>
                  <a:gd name="T29" fmla="*/ 2147483646 h 866"/>
                  <a:gd name="T30" fmla="*/ 2147483646 w 3759"/>
                  <a:gd name="T31" fmla="*/ 2147483646 h 866"/>
                  <a:gd name="T32" fmla="*/ 2147483646 w 3759"/>
                  <a:gd name="T33" fmla="*/ 2147483646 h 866"/>
                  <a:gd name="T34" fmla="*/ 2147483646 w 3759"/>
                  <a:gd name="T35" fmla="*/ 2147483646 h 866"/>
                  <a:gd name="T36" fmla="*/ 2147483646 w 3759"/>
                  <a:gd name="T37" fmla="*/ 2147483646 h 866"/>
                  <a:gd name="T38" fmla="*/ 2147483646 w 3759"/>
                  <a:gd name="T39" fmla="*/ 2147483646 h 866"/>
                  <a:gd name="T40" fmla="*/ 2147483646 w 3759"/>
                  <a:gd name="T41" fmla="*/ 2147483646 h 866"/>
                  <a:gd name="T42" fmla="*/ 2147483646 w 3759"/>
                  <a:gd name="T43" fmla="*/ 2147483646 h 86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759"/>
                  <a:gd name="T67" fmla="*/ 0 h 866"/>
                  <a:gd name="T68" fmla="*/ 3759 w 3759"/>
                  <a:gd name="T69" fmla="*/ 866 h 86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759" h="866">
                    <a:moveTo>
                      <a:pt x="0" y="118"/>
                    </a:moveTo>
                    <a:cubicBezTo>
                      <a:pt x="72" y="69"/>
                      <a:pt x="149" y="46"/>
                      <a:pt x="234" y="34"/>
                    </a:cubicBezTo>
                    <a:cubicBezTo>
                      <a:pt x="330" y="0"/>
                      <a:pt x="419" y="37"/>
                      <a:pt x="515" y="52"/>
                    </a:cubicBezTo>
                    <a:cubicBezTo>
                      <a:pt x="534" y="58"/>
                      <a:pt x="552" y="65"/>
                      <a:pt x="571" y="71"/>
                    </a:cubicBezTo>
                    <a:cubicBezTo>
                      <a:pt x="580" y="74"/>
                      <a:pt x="599" y="80"/>
                      <a:pt x="599" y="80"/>
                    </a:cubicBezTo>
                    <a:cubicBezTo>
                      <a:pt x="870" y="68"/>
                      <a:pt x="1142" y="69"/>
                      <a:pt x="1412" y="43"/>
                    </a:cubicBezTo>
                    <a:cubicBezTo>
                      <a:pt x="1502" y="46"/>
                      <a:pt x="1593" y="46"/>
                      <a:pt x="1683" y="52"/>
                    </a:cubicBezTo>
                    <a:cubicBezTo>
                      <a:pt x="1770" y="58"/>
                      <a:pt x="1851" y="111"/>
                      <a:pt x="1936" y="127"/>
                    </a:cubicBezTo>
                    <a:cubicBezTo>
                      <a:pt x="1989" y="137"/>
                      <a:pt x="2031" y="148"/>
                      <a:pt x="2086" y="155"/>
                    </a:cubicBezTo>
                    <a:cubicBezTo>
                      <a:pt x="2153" y="178"/>
                      <a:pt x="2126" y="163"/>
                      <a:pt x="2170" y="193"/>
                    </a:cubicBezTo>
                    <a:cubicBezTo>
                      <a:pt x="2192" y="227"/>
                      <a:pt x="2216" y="233"/>
                      <a:pt x="2254" y="249"/>
                    </a:cubicBezTo>
                    <a:cubicBezTo>
                      <a:pt x="2370" y="298"/>
                      <a:pt x="2647" y="293"/>
                      <a:pt x="2721" y="295"/>
                    </a:cubicBezTo>
                    <a:cubicBezTo>
                      <a:pt x="2811" y="307"/>
                      <a:pt x="2857" y="316"/>
                      <a:pt x="2936" y="333"/>
                    </a:cubicBezTo>
                    <a:cubicBezTo>
                      <a:pt x="2985" y="343"/>
                      <a:pt x="2975" y="343"/>
                      <a:pt x="3030" y="361"/>
                    </a:cubicBezTo>
                    <a:cubicBezTo>
                      <a:pt x="3039" y="364"/>
                      <a:pt x="3058" y="370"/>
                      <a:pt x="3058" y="370"/>
                    </a:cubicBezTo>
                    <a:cubicBezTo>
                      <a:pt x="3106" y="403"/>
                      <a:pt x="3150" y="440"/>
                      <a:pt x="3198" y="473"/>
                    </a:cubicBezTo>
                    <a:cubicBezTo>
                      <a:pt x="3245" y="505"/>
                      <a:pt x="3306" y="514"/>
                      <a:pt x="3357" y="539"/>
                    </a:cubicBezTo>
                    <a:cubicBezTo>
                      <a:pt x="3404" y="563"/>
                      <a:pt x="3447" y="588"/>
                      <a:pt x="3498" y="604"/>
                    </a:cubicBezTo>
                    <a:cubicBezTo>
                      <a:pt x="3534" y="628"/>
                      <a:pt x="3556" y="637"/>
                      <a:pt x="3582" y="669"/>
                    </a:cubicBezTo>
                    <a:cubicBezTo>
                      <a:pt x="3611" y="706"/>
                      <a:pt x="3595" y="717"/>
                      <a:pt x="3638" y="744"/>
                    </a:cubicBezTo>
                    <a:cubicBezTo>
                      <a:pt x="3650" y="782"/>
                      <a:pt x="3666" y="788"/>
                      <a:pt x="3703" y="800"/>
                    </a:cubicBezTo>
                    <a:cubicBezTo>
                      <a:pt x="3721" y="827"/>
                      <a:pt x="3746" y="838"/>
                      <a:pt x="3759" y="866"/>
                    </a:cubicBezTo>
                  </a:path>
                </a:pathLst>
              </a:custGeom>
              <a:noFill/>
              <a:ln w="22225">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90225" name="AutoShape 139"/>
              <p:cNvCxnSpPr>
                <a:cxnSpLocks noChangeShapeType="1"/>
              </p:cNvCxnSpPr>
              <p:nvPr/>
            </p:nvCxnSpPr>
            <p:spPr bwMode="auto">
              <a:xfrm>
                <a:off x="2515713" y="4638097"/>
                <a:ext cx="1086253" cy="0"/>
              </a:xfrm>
              <a:prstGeom prst="straightConnector1">
                <a:avLst/>
              </a:prstGeom>
              <a:noFill/>
              <a:ln w="28575">
                <a:solidFill>
                  <a:srgbClr val="FFC000"/>
                </a:solidFill>
                <a:round/>
                <a:headEnd/>
                <a:tailEnd/>
              </a:ln>
              <a:extLst>
                <a:ext uri="{909E8E84-426E-40DD-AFC4-6F175D3DCCD1}">
                  <a14:hiddenFill xmlns:a14="http://schemas.microsoft.com/office/drawing/2010/main">
                    <a:noFill/>
                  </a14:hiddenFill>
                </a:ext>
              </a:extLst>
            </p:spPr>
          </p:cxnSp>
          <p:cxnSp>
            <p:nvCxnSpPr>
              <p:cNvPr id="90226" name="AutoShape 140"/>
              <p:cNvCxnSpPr>
                <a:cxnSpLocks noChangeShapeType="1"/>
              </p:cNvCxnSpPr>
              <p:nvPr/>
            </p:nvCxnSpPr>
            <p:spPr bwMode="auto">
              <a:xfrm>
                <a:off x="3590955" y="4638097"/>
                <a:ext cx="0" cy="232241"/>
              </a:xfrm>
              <a:prstGeom prst="straightConnector1">
                <a:avLst/>
              </a:prstGeom>
              <a:noFill/>
              <a:ln w="28575">
                <a:solidFill>
                  <a:srgbClr val="FFC000"/>
                </a:solidFill>
                <a:round/>
                <a:headEnd/>
                <a:tailEnd/>
              </a:ln>
              <a:extLst>
                <a:ext uri="{909E8E84-426E-40DD-AFC4-6F175D3DCCD1}">
                  <a14:hiddenFill xmlns:a14="http://schemas.microsoft.com/office/drawing/2010/main">
                    <a:noFill/>
                  </a14:hiddenFill>
                </a:ext>
              </a:extLst>
            </p:spPr>
          </p:cxnSp>
        </p:grpSp>
      </p:grpSp>
      <p:sp>
        <p:nvSpPr>
          <p:cNvPr id="90121" name="Rectangle 143"/>
          <p:cNvSpPr>
            <a:spLocks noChangeArrowheads="1"/>
          </p:cNvSpPr>
          <p:nvPr/>
        </p:nvSpPr>
        <p:spPr bwMode="auto">
          <a:xfrm>
            <a:off x="2871788" y="4802188"/>
            <a:ext cx="617537" cy="163512"/>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122" name="Oval 144"/>
          <p:cNvSpPr>
            <a:spLocks noChangeArrowheads="1"/>
          </p:cNvSpPr>
          <p:nvPr/>
        </p:nvSpPr>
        <p:spPr bwMode="auto">
          <a:xfrm>
            <a:off x="3556000" y="4845050"/>
            <a:ext cx="77788" cy="73025"/>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123" name="Oval 145"/>
          <p:cNvSpPr>
            <a:spLocks noChangeArrowheads="1"/>
          </p:cNvSpPr>
          <p:nvPr/>
        </p:nvSpPr>
        <p:spPr bwMode="auto">
          <a:xfrm>
            <a:off x="3686175" y="4845050"/>
            <a:ext cx="79375" cy="73025"/>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124" name="TextBox 8"/>
          <p:cNvSpPr txBox="1">
            <a:spLocks noChangeArrowheads="1"/>
          </p:cNvSpPr>
          <p:nvPr/>
        </p:nvSpPr>
        <p:spPr bwMode="auto">
          <a:xfrm>
            <a:off x="2559050" y="4089400"/>
            <a:ext cx="1993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800" b="1">
                <a:latin typeface="Tahoma" panose="020B0604030504040204" pitchFamily="34" charset="0"/>
              </a:rPr>
              <a:t>Current Monitor</a:t>
            </a:r>
          </a:p>
        </p:txBody>
      </p:sp>
      <p:grpSp>
        <p:nvGrpSpPr>
          <p:cNvPr id="90125" name="Group 152"/>
          <p:cNvGrpSpPr>
            <a:grpSpLocks/>
          </p:cNvGrpSpPr>
          <p:nvPr/>
        </p:nvGrpSpPr>
        <p:grpSpPr bwMode="auto">
          <a:xfrm>
            <a:off x="6696075" y="3714750"/>
            <a:ext cx="2209800" cy="1749425"/>
            <a:chOff x="6562725" y="2733675"/>
            <a:chExt cx="2209801" cy="1749171"/>
          </a:xfrm>
        </p:grpSpPr>
        <p:cxnSp>
          <p:nvCxnSpPr>
            <p:cNvPr id="90207" name="Straight Arrow Connector 153"/>
            <p:cNvCxnSpPr>
              <a:cxnSpLocks noChangeShapeType="1"/>
            </p:cNvCxnSpPr>
            <p:nvPr/>
          </p:nvCxnSpPr>
          <p:spPr bwMode="auto">
            <a:xfrm>
              <a:off x="6562725" y="4410456"/>
              <a:ext cx="1819656"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0208" name="Straight Arrow Connector 154"/>
            <p:cNvCxnSpPr>
              <a:cxnSpLocks noChangeShapeType="1"/>
            </p:cNvCxnSpPr>
            <p:nvPr/>
          </p:nvCxnSpPr>
          <p:spPr bwMode="auto">
            <a:xfrm rot="16200000" flipV="1">
              <a:off x="5876925" y="3723894"/>
              <a:ext cx="1499616" cy="182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90209" name="Freeform 155"/>
            <p:cNvSpPr>
              <a:spLocks noChangeArrowheads="1"/>
            </p:cNvSpPr>
            <p:nvPr/>
          </p:nvSpPr>
          <p:spPr bwMode="auto">
            <a:xfrm>
              <a:off x="6645275" y="3317875"/>
              <a:ext cx="1409700" cy="1069975"/>
            </a:xfrm>
            <a:custGeom>
              <a:avLst/>
              <a:gdLst>
                <a:gd name="T0" fmla="*/ 0 w 1317625"/>
                <a:gd name="T1" fmla="*/ 1601964 h 1054100"/>
                <a:gd name="T2" fmla="*/ 2630442 w 1317625"/>
                <a:gd name="T3" fmla="*/ 607973 h 1054100"/>
                <a:gd name="T4" fmla="*/ 8733096 w 1317625"/>
                <a:gd name="T5" fmla="*/ 0 h 1054100"/>
                <a:gd name="T6" fmla="*/ 8733096 w 1317625"/>
                <a:gd name="T7" fmla="*/ 0 h 1054100"/>
                <a:gd name="T8" fmla="*/ 0 60000 65536"/>
                <a:gd name="T9" fmla="*/ 0 60000 65536"/>
                <a:gd name="T10" fmla="*/ 0 60000 65536"/>
                <a:gd name="T11" fmla="*/ 0 60000 65536"/>
                <a:gd name="T12" fmla="*/ 0 w 1317625"/>
                <a:gd name="T13" fmla="*/ 0 h 1054100"/>
                <a:gd name="T14" fmla="*/ 1317625 w 1317625"/>
                <a:gd name="T15" fmla="*/ 1054100 h 1054100"/>
              </a:gdLst>
              <a:ahLst/>
              <a:cxnLst>
                <a:cxn ang="T8">
                  <a:pos x="T0" y="T1"/>
                </a:cxn>
                <a:cxn ang="T9">
                  <a:pos x="T2" y="T3"/>
                </a:cxn>
                <a:cxn ang="T10">
                  <a:pos x="T4" y="T5"/>
                </a:cxn>
                <a:cxn ang="T11">
                  <a:pos x="T6" y="T7"/>
                </a:cxn>
              </a:cxnLst>
              <a:rect l="T12" t="T13" r="T14" b="T15"/>
              <a:pathLst>
                <a:path w="1317625" h="1054100">
                  <a:moveTo>
                    <a:pt x="0" y="1054100"/>
                  </a:moveTo>
                  <a:cubicBezTo>
                    <a:pt x="88635" y="814916"/>
                    <a:pt x="177271" y="575733"/>
                    <a:pt x="396875" y="400050"/>
                  </a:cubicBezTo>
                  <a:cubicBezTo>
                    <a:pt x="616479" y="224367"/>
                    <a:pt x="1317625" y="0"/>
                    <a:pt x="1317625" y="0"/>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0210" name="Freeform 156"/>
            <p:cNvSpPr>
              <a:spLocks noChangeArrowheads="1"/>
            </p:cNvSpPr>
            <p:nvPr/>
          </p:nvSpPr>
          <p:spPr bwMode="auto">
            <a:xfrm>
              <a:off x="6638925" y="3600449"/>
              <a:ext cx="1425575" cy="803275"/>
            </a:xfrm>
            <a:custGeom>
              <a:avLst/>
              <a:gdLst>
                <a:gd name="T0" fmla="*/ 0 w 1317625"/>
                <a:gd name="T1" fmla="*/ 523 h 1054100"/>
                <a:gd name="T2" fmla="*/ 3599183 w 1317625"/>
                <a:gd name="T3" fmla="*/ 199 h 1054100"/>
                <a:gd name="T4" fmla="*/ 11949271 w 1317625"/>
                <a:gd name="T5" fmla="*/ 0 h 1054100"/>
                <a:gd name="T6" fmla="*/ 11949271 w 1317625"/>
                <a:gd name="T7" fmla="*/ 0 h 1054100"/>
                <a:gd name="T8" fmla="*/ 0 60000 65536"/>
                <a:gd name="T9" fmla="*/ 0 60000 65536"/>
                <a:gd name="T10" fmla="*/ 0 60000 65536"/>
                <a:gd name="T11" fmla="*/ 0 60000 65536"/>
                <a:gd name="T12" fmla="*/ 0 w 1317625"/>
                <a:gd name="T13" fmla="*/ 0 h 1054100"/>
                <a:gd name="T14" fmla="*/ 1317625 w 1317625"/>
                <a:gd name="T15" fmla="*/ 1054100 h 1054100"/>
              </a:gdLst>
              <a:ahLst/>
              <a:cxnLst>
                <a:cxn ang="T8">
                  <a:pos x="T0" y="T1"/>
                </a:cxn>
                <a:cxn ang="T9">
                  <a:pos x="T2" y="T3"/>
                </a:cxn>
                <a:cxn ang="T10">
                  <a:pos x="T4" y="T5"/>
                </a:cxn>
                <a:cxn ang="T11">
                  <a:pos x="T6" y="T7"/>
                </a:cxn>
              </a:cxnLst>
              <a:rect l="T12" t="T13" r="T14" b="T15"/>
              <a:pathLst>
                <a:path w="1317625" h="1054100">
                  <a:moveTo>
                    <a:pt x="0" y="1054100"/>
                  </a:moveTo>
                  <a:cubicBezTo>
                    <a:pt x="88635" y="814916"/>
                    <a:pt x="177271" y="575733"/>
                    <a:pt x="396875" y="400050"/>
                  </a:cubicBezTo>
                  <a:cubicBezTo>
                    <a:pt x="616479" y="224367"/>
                    <a:pt x="1317625" y="0"/>
                    <a:pt x="1317625" y="0"/>
                  </a:cubicBezTo>
                </a:path>
              </a:pathLst>
            </a:custGeom>
            <a:noFill/>
            <a:ln w="254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90211" name="Group 165"/>
            <p:cNvGrpSpPr>
              <a:grpSpLocks/>
            </p:cNvGrpSpPr>
            <p:nvPr/>
          </p:nvGrpSpPr>
          <p:grpSpPr bwMode="auto">
            <a:xfrm>
              <a:off x="6810375" y="2733675"/>
              <a:ext cx="1962151" cy="516878"/>
              <a:chOff x="6543675" y="2552700"/>
              <a:chExt cx="1962151" cy="516878"/>
            </a:xfrm>
          </p:grpSpPr>
          <p:sp>
            <p:nvSpPr>
              <p:cNvPr id="90212" name="TextBox 158"/>
              <p:cNvSpPr txBox="1">
                <a:spLocks noChangeArrowheads="1"/>
              </p:cNvSpPr>
              <p:nvPr/>
            </p:nvSpPr>
            <p:spPr bwMode="auto">
              <a:xfrm>
                <a:off x="6981825" y="2552700"/>
                <a:ext cx="1524001" cy="51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400" b="1">
                    <a:latin typeface="Tahoma" panose="020B0604030504040204" pitchFamily="34" charset="0"/>
                  </a:rPr>
                  <a:t>Trojan inserted</a:t>
                </a:r>
              </a:p>
              <a:p>
                <a:pPr eaLnBrk="1" hangingPunct="1">
                  <a:spcBef>
                    <a:spcPct val="0"/>
                  </a:spcBef>
                  <a:buClrTx/>
                  <a:buSzTx/>
                  <a:buFontTx/>
                  <a:buNone/>
                </a:pPr>
                <a:r>
                  <a:rPr lang="en-US" altLang="en-US" sz="1400" b="1">
                    <a:latin typeface="Tahoma" panose="020B0604030504040204" pitchFamily="34" charset="0"/>
                  </a:rPr>
                  <a:t>Trojan free</a:t>
                </a:r>
              </a:p>
            </p:txBody>
          </p:sp>
          <p:cxnSp>
            <p:nvCxnSpPr>
              <p:cNvPr id="90213" name="Straight Connector 159"/>
              <p:cNvCxnSpPr>
                <a:cxnSpLocks noChangeShapeType="1"/>
              </p:cNvCxnSpPr>
              <p:nvPr/>
            </p:nvCxnSpPr>
            <p:spPr bwMode="auto">
              <a:xfrm>
                <a:off x="6543675" y="2695575"/>
                <a:ext cx="466725"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90214" name="Straight Connector 160"/>
              <p:cNvCxnSpPr>
                <a:cxnSpLocks noChangeShapeType="1"/>
              </p:cNvCxnSpPr>
              <p:nvPr/>
            </p:nvCxnSpPr>
            <p:spPr bwMode="auto">
              <a:xfrm>
                <a:off x="6543675" y="2914650"/>
                <a:ext cx="466725" cy="1588"/>
              </a:xfrm>
              <a:prstGeom prst="line">
                <a:avLst/>
              </a:prstGeom>
              <a:noFill/>
              <a:ln w="25400">
                <a:solidFill>
                  <a:schemeClr val="tx1"/>
                </a:solidFill>
                <a:prstDash val="sysDash"/>
                <a:round/>
                <a:headEnd/>
                <a:tailEnd/>
              </a:ln>
              <a:extLst>
                <a:ext uri="{909E8E84-426E-40DD-AFC4-6F175D3DCCD1}">
                  <a14:hiddenFill xmlns:a14="http://schemas.microsoft.com/office/drawing/2010/main">
                    <a:noFill/>
                  </a14:hiddenFill>
                </a:ext>
              </a:extLst>
            </p:spPr>
          </p:cxnSp>
        </p:grpSp>
      </p:grpSp>
      <p:pic>
        <p:nvPicPr>
          <p:cNvPr id="9012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8825" y="4757738"/>
            <a:ext cx="8572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90127"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8350" y="4191000"/>
            <a:ext cx="8636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90128" name="Right Arrow 163"/>
          <p:cNvSpPr>
            <a:spLocks noChangeArrowheads="1"/>
          </p:cNvSpPr>
          <p:nvPr/>
        </p:nvSpPr>
        <p:spPr bwMode="auto">
          <a:xfrm>
            <a:off x="4267200" y="4676775"/>
            <a:ext cx="190500" cy="95250"/>
          </a:xfrm>
          <a:prstGeom prst="rightArrow">
            <a:avLst>
              <a:gd name="adj1" fmla="val 50000"/>
              <a:gd name="adj2" fmla="val 50000"/>
            </a:avLst>
          </a:prstGeom>
          <a:solidFill>
            <a:schemeClr val="tx1"/>
          </a:solidFill>
          <a:ln w="25400">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129" name="Right Arrow 164"/>
          <p:cNvSpPr>
            <a:spLocks noChangeArrowheads="1"/>
          </p:cNvSpPr>
          <p:nvPr/>
        </p:nvSpPr>
        <p:spPr bwMode="auto">
          <a:xfrm>
            <a:off x="5768975" y="4676775"/>
            <a:ext cx="565150" cy="95250"/>
          </a:xfrm>
          <a:prstGeom prst="rightArrow">
            <a:avLst>
              <a:gd name="adj1" fmla="val 50000"/>
              <a:gd name="adj2" fmla="val 148333"/>
            </a:avLst>
          </a:prstGeom>
          <a:solidFill>
            <a:schemeClr val="tx1"/>
          </a:solidFill>
          <a:ln w="25400">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130" name="TextBox 166"/>
          <p:cNvSpPr txBox="1">
            <a:spLocks noChangeArrowheads="1"/>
          </p:cNvSpPr>
          <p:nvPr/>
        </p:nvSpPr>
        <p:spPr bwMode="auto">
          <a:xfrm>
            <a:off x="5191125" y="4010025"/>
            <a:ext cx="1828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800" b="1">
                <a:latin typeface="Tahoma" panose="020B0604030504040204" pitchFamily="34" charset="0"/>
              </a:rPr>
              <a:t>Current </a:t>
            </a:r>
          </a:p>
          <a:p>
            <a:pPr algn="ctr" eaLnBrk="1" hangingPunct="1">
              <a:spcBef>
                <a:spcPct val="0"/>
              </a:spcBef>
              <a:buClrTx/>
              <a:buSzTx/>
              <a:buFontTx/>
              <a:buNone/>
            </a:pPr>
            <a:r>
              <a:rPr lang="en-US" altLang="en-US" sz="1800" b="1">
                <a:latin typeface="Tahoma" panose="020B0604030504040204" pitchFamily="34" charset="0"/>
              </a:rPr>
              <a:t>Integration</a:t>
            </a:r>
          </a:p>
        </p:txBody>
      </p:sp>
      <p:grpSp>
        <p:nvGrpSpPr>
          <p:cNvPr id="90131" name="Group 171"/>
          <p:cNvGrpSpPr>
            <a:grpSpLocks/>
          </p:cNvGrpSpPr>
          <p:nvPr/>
        </p:nvGrpSpPr>
        <p:grpSpPr bwMode="auto">
          <a:xfrm>
            <a:off x="22225" y="4870450"/>
            <a:ext cx="3700463" cy="1166813"/>
            <a:chOff x="21809" y="4870338"/>
            <a:chExt cx="3701280" cy="1167550"/>
          </a:xfrm>
        </p:grpSpPr>
        <p:grpSp>
          <p:nvGrpSpPr>
            <p:cNvPr id="90136" name="Group 70"/>
            <p:cNvGrpSpPr>
              <a:grpSpLocks/>
            </p:cNvGrpSpPr>
            <p:nvPr/>
          </p:nvGrpSpPr>
          <p:grpSpPr bwMode="auto">
            <a:xfrm>
              <a:off x="311275" y="5005870"/>
              <a:ext cx="2430167" cy="830672"/>
              <a:chOff x="2300" y="10040"/>
              <a:chExt cx="4414" cy="1724"/>
            </a:xfrm>
          </p:grpSpPr>
          <p:grpSp>
            <p:nvGrpSpPr>
              <p:cNvPr id="90140" name="Group 71"/>
              <p:cNvGrpSpPr>
                <a:grpSpLocks/>
              </p:cNvGrpSpPr>
              <p:nvPr/>
            </p:nvGrpSpPr>
            <p:grpSpPr bwMode="auto">
              <a:xfrm>
                <a:off x="2300" y="10861"/>
                <a:ext cx="2171" cy="810"/>
                <a:chOff x="2375" y="9134"/>
                <a:chExt cx="2171" cy="810"/>
              </a:xfrm>
            </p:grpSpPr>
            <p:sp>
              <p:nvSpPr>
                <p:cNvPr id="90202" name="AutoShape 72"/>
                <p:cNvSpPr>
                  <a:spLocks noChangeArrowheads="1"/>
                </p:cNvSpPr>
                <p:nvPr/>
              </p:nvSpPr>
              <p:spPr bwMode="auto">
                <a:xfrm>
                  <a:off x="2375" y="9134"/>
                  <a:ext cx="2171" cy="810"/>
                </a:xfrm>
                <a:prstGeom prst="cube">
                  <a:avLst>
                    <a:gd name="adj" fmla="val 76394"/>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03" name="Oval 73"/>
                <p:cNvSpPr>
                  <a:spLocks noChangeArrowheads="1"/>
                </p:cNvSpPr>
                <p:nvPr/>
              </p:nvSpPr>
              <p:spPr bwMode="auto">
                <a:xfrm>
                  <a:off x="2624" y="9558"/>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04" name="Oval 74"/>
                <p:cNvSpPr>
                  <a:spLocks noChangeArrowheads="1"/>
                </p:cNvSpPr>
                <p:nvPr/>
              </p:nvSpPr>
              <p:spPr bwMode="auto">
                <a:xfrm>
                  <a:off x="2994" y="9174"/>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05" name="Oval 75"/>
                <p:cNvSpPr>
                  <a:spLocks noChangeArrowheads="1"/>
                </p:cNvSpPr>
                <p:nvPr/>
              </p:nvSpPr>
              <p:spPr bwMode="auto">
                <a:xfrm>
                  <a:off x="3669" y="9558"/>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sp>
              <p:nvSpPr>
                <p:cNvPr id="90206" name="Oval 76"/>
                <p:cNvSpPr>
                  <a:spLocks noChangeArrowheads="1"/>
                </p:cNvSpPr>
                <p:nvPr/>
              </p:nvSpPr>
              <p:spPr bwMode="auto">
                <a:xfrm>
                  <a:off x="4039" y="9174"/>
                  <a:ext cx="246" cy="151"/>
                </a:xfrm>
                <a:prstGeom prst="ellipse">
                  <a:avLst/>
                </a:prstGeom>
                <a:solidFill>
                  <a:srgbClr val="FF0000"/>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latin typeface="Tahoma" panose="020B0604030504040204" pitchFamily="34" charset="0"/>
                  </a:endParaRPr>
                </a:p>
              </p:txBody>
            </p:sp>
          </p:grpSp>
          <p:grpSp>
            <p:nvGrpSpPr>
              <p:cNvPr id="90141" name="Group 77"/>
              <p:cNvGrpSpPr>
                <a:grpSpLocks/>
              </p:cNvGrpSpPr>
              <p:nvPr/>
            </p:nvGrpSpPr>
            <p:grpSpPr bwMode="auto">
              <a:xfrm rot="-1614780">
                <a:off x="2837" y="10563"/>
                <a:ext cx="204" cy="439"/>
                <a:chOff x="5223" y="8436"/>
                <a:chExt cx="204" cy="439"/>
              </a:xfrm>
            </p:grpSpPr>
            <p:cxnSp>
              <p:nvCxnSpPr>
                <p:cNvPr id="90189" name="AutoShape 78"/>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0" name="AutoShape 79"/>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1" name="AutoShape 80"/>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2" name="AutoShape 81"/>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3" name="AutoShape 82"/>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4" name="AutoShape 83"/>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5" name="AutoShape 84"/>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6" name="AutoShape 85"/>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7" name="AutoShape 86"/>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8" name="AutoShape 87"/>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99" name="AutoShape 88"/>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00" name="AutoShape 89"/>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201" name="AutoShape 90"/>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0142" name="Group 91"/>
              <p:cNvGrpSpPr>
                <a:grpSpLocks/>
              </p:cNvGrpSpPr>
              <p:nvPr/>
            </p:nvGrpSpPr>
            <p:grpSpPr bwMode="auto">
              <a:xfrm rot="1629129">
                <a:off x="4065" y="10565"/>
                <a:ext cx="204" cy="439"/>
                <a:chOff x="5223" y="8436"/>
                <a:chExt cx="204" cy="439"/>
              </a:xfrm>
            </p:grpSpPr>
            <p:cxnSp>
              <p:nvCxnSpPr>
                <p:cNvPr id="90176" name="AutoShape 92"/>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7" name="AutoShape 93"/>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8" name="AutoShape 94"/>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9" name="AutoShape 95"/>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0" name="AutoShape 96"/>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1" name="AutoShape 97"/>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2" name="AutoShape 98"/>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3" name="AutoShape 99"/>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4" name="AutoShape 100"/>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5" name="AutoShape 101"/>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6" name="AutoShape 102"/>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7" name="AutoShape 103"/>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88" name="AutoShape 104"/>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0143" name="Group 105"/>
              <p:cNvGrpSpPr>
                <a:grpSpLocks/>
              </p:cNvGrpSpPr>
              <p:nvPr/>
            </p:nvGrpSpPr>
            <p:grpSpPr bwMode="auto">
              <a:xfrm rot="-1614780">
                <a:off x="2474" y="10964"/>
                <a:ext cx="204" cy="439"/>
                <a:chOff x="5223" y="8436"/>
                <a:chExt cx="204" cy="439"/>
              </a:xfrm>
            </p:grpSpPr>
            <p:cxnSp>
              <p:nvCxnSpPr>
                <p:cNvPr id="90163" name="AutoShape 106"/>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4" name="AutoShape 107"/>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5" name="AutoShape 108"/>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6" name="AutoShape 109"/>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7" name="AutoShape 110"/>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8" name="AutoShape 111"/>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9" name="AutoShape 112"/>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0" name="AutoShape 113"/>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1" name="AutoShape 114"/>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2" name="AutoShape 115"/>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3" name="AutoShape 116"/>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4" name="AutoShape 117"/>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75" name="AutoShape 118"/>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90144" name="Group 119"/>
              <p:cNvGrpSpPr>
                <a:grpSpLocks/>
              </p:cNvGrpSpPr>
              <p:nvPr/>
            </p:nvGrpSpPr>
            <p:grpSpPr bwMode="auto">
              <a:xfrm rot="1629129">
                <a:off x="3702" y="10966"/>
                <a:ext cx="204" cy="439"/>
                <a:chOff x="5223" y="8436"/>
                <a:chExt cx="204" cy="439"/>
              </a:xfrm>
            </p:grpSpPr>
            <p:cxnSp>
              <p:nvCxnSpPr>
                <p:cNvPr id="90150" name="AutoShape 120"/>
                <p:cNvCxnSpPr>
                  <a:cxnSpLocks noChangeShapeType="1"/>
                </p:cNvCxnSpPr>
                <p:nvPr/>
              </p:nvCxnSpPr>
              <p:spPr bwMode="auto">
                <a:xfrm>
                  <a:off x="5290" y="8840"/>
                  <a:ext cx="40"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1" name="AutoShape 121"/>
                <p:cNvCxnSpPr>
                  <a:cxnSpLocks noChangeShapeType="1"/>
                </p:cNvCxnSpPr>
                <p:nvPr/>
              </p:nvCxnSpPr>
              <p:spPr bwMode="auto">
                <a:xfrm flipV="1">
                  <a:off x="5330" y="8840"/>
                  <a:ext cx="35" cy="3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2" name="AutoShape 122"/>
                <p:cNvCxnSpPr>
                  <a:cxnSpLocks noChangeShapeType="1"/>
                </p:cNvCxnSpPr>
                <p:nvPr/>
              </p:nvCxnSpPr>
              <p:spPr bwMode="auto">
                <a:xfrm flipV="1">
                  <a:off x="5290"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3" name="AutoShape 123"/>
                <p:cNvCxnSpPr>
                  <a:cxnSpLocks noChangeShapeType="1"/>
                </p:cNvCxnSpPr>
                <p:nvPr/>
              </p:nvCxnSpPr>
              <p:spPr bwMode="auto">
                <a:xfrm flipV="1">
                  <a:off x="5365" y="8570"/>
                  <a:ext cx="0" cy="2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4" name="AutoShape 124"/>
                <p:cNvCxnSpPr>
                  <a:cxnSpLocks noChangeShapeType="1"/>
                </p:cNvCxnSpPr>
                <p:nvPr/>
              </p:nvCxnSpPr>
              <p:spPr bwMode="auto">
                <a:xfrm>
                  <a:off x="5365"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5" name="AutoShape 125"/>
                <p:cNvCxnSpPr>
                  <a:cxnSpLocks noChangeShapeType="1"/>
                </p:cNvCxnSpPr>
                <p:nvPr/>
              </p:nvCxnSpPr>
              <p:spPr bwMode="auto">
                <a:xfrm>
                  <a:off x="5230" y="857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6" name="AutoShape 126"/>
                <p:cNvCxnSpPr>
                  <a:cxnSpLocks noChangeShapeType="1"/>
                </p:cNvCxnSpPr>
                <p:nvPr/>
              </p:nvCxnSpPr>
              <p:spPr bwMode="auto">
                <a:xfrm>
                  <a:off x="5363"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7" name="AutoShape 127"/>
                <p:cNvCxnSpPr>
                  <a:cxnSpLocks noChangeShapeType="1"/>
                </p:cNvCxnSpPr>
                <p:nvPr/>
              </p:nvCxnSpPr>
              <p:spPr bwMode="auto">
                <a:xfrm>
                  <a:off x="5225" y="8530"/>
                  <a:ext cx="6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8" name="AutoShape 128"/>
                <p:cNvCxnSpPr>
                  <a:cxnSpLocks noChangeShapeType="1"/>
                </p:cNvCxnSpPr>
                <p:nvPr/>
              </p:nvCxnSpPr>
              <p:spPr bwMode="auto">
                <a:xfrm>
                  <a:off x="5223" y="8530"/>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59" name="AutoShape 129"/>
                <p:cNvCxnSpPr>
                  <a:cxnSpLocks noChangeShapeType="1"/>
                </p:cNvCxnSpPr>
                <p:nvPr/>
              </p:nvCxnSpPr>
              <p:spPr bwMode="auto">
                <a:xfrm>
                  <a:off x="5427" y="8527"/>
                  <a:ext cx="0" cy="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0" name="AutoShape 130"/>
                <p:cNvCxnSpPr>
                  <a:cxnSpLocks noChangeShapeType="1"/>
                </p:cNvCxnSpPr>
                <p:nvPr/>
              </p:nvCxnSpPr>
              <p:spPr bwMode="auto">
                <a:xfrm flipV="1">
                  <a:off x="5366" y="8439"/>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1" name="AutoShape 131"/>
                <p:cNvCxnSpPr>
                  <a:cxnSpLocks noChangeShapeType="1"/>
                </p:cNvCxnSpPr>
                <p:nvPr/>
              </p:nvCxnSpPr>
              <p:spPr bwMode="auto">
                <a:xfrm flipV="1">
                  <a:off x="5285" y="8436"/>
                  <a:ext cx="0" cy="9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0162" name="AutoShape 132"/>
                <p:cNvCxnSpPr>
                  <a:cxnSpLocks noChangeShapeType="1"/>
                </p:cNvCxnSpPr>
                <p:nvPr/>
              </p:nvCxnSpPr>
              <p:spPr bwMode="auto">
                <a:xfrm>
                  <a:off x="5285" y="8436"/>
                  <a:ext cx="8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90145" name="Freeform 133"/>
              <p:cNvSpPr>
                <a:spLocks/>
              </p:cNvSpPr>
              <p:nvPr/>
            </p:nvSpPr>
            <p:spPr bwMode="auto">
              <a:xfrm>
                <a:off x="4272" y="10277"/>
                <a:ext cx="2058" cy="1487"/>
              </a:xfrm>
              <a:custGeom>
                <a:avLst/>
                <a:gdLst>
                  <a:gd name="T0" fmla="*/ 0 w 1242"/>
                  <a:gd name="T1" fmla="*/ 109685943 h 909"/>
                  <a:gd name="T2" fmla="*/ 20058126 w 1242"/>
                  <a:gd name="T3" fmla="*/ 97524964 h 909"/>
                  <a:gd name="T4" fmla="*/ 55072895 w 1242"/>
                  <a:gd name="T5" fmla="*/ 76117220 h 909"/>
                  <a:gd name="T6" fmla="*/ 77677193 w 1242"/>
                  <a:gd name="T7" fmla="*/ 61983043 h 909"/>
                  <a:gd name="T8" fmla="*/ 90271373 w 1242"/>
                  <a:gd name="T9" fmla="*/ 54864007 h 909"/>
                  <a:gd name="T10" fmla="*/ 125471922 w 1242"/>
                  <a:gd name="T11" fmla="*/ 31789289 h 909"/>
                  <a:gd name="T12" fmla="*/ 144993243 w 1242"/>
                  <a:gd name="T13" fmla="*/ 21416109 h 909"/>
                  <a:gd name="T14" fmla="*/ 185520307 w 1242"/>
                  <a:gd name="T15" fmla="*/ 3545116 h 909"/>
                  <a:gd name="T16" fmla="*/ 200436623 w 1242"/>
                  <a:gd name="T17" fmla="*/ 0 h 909"/>
                  <a:gd name="T18" fmla="*/ 302821943 w 1242"/>
                  <a:gd name="T19" fmla="*/ 1725080 h 909"/>
                  <a:gd name="T20" fmla="*/ 408220733 w 1242"/>
                  <a:gd name="T21" fmla="*/ 53017431 h 909"/>
                  <a:gd name="T22" fmla="*/ 433356661 w 1242"/>
                  <a:gd name="T23" fmla="*/ 63897906 h 909"/>
                  <a:gd name="T24" fmla="*/ 495862210 w 1242"/>
                  <a:gd name="T25" fmla="*/ 81639524 h 909"/>
                  <a:gd name="T26" fmla="*/ 551491920 w 1242"/>
                  <a:gd name="T27" fmla="*/ 97524964 h 909"/>
                  <a:gd name="T28" fmla="*/ 576024591 w 1242"/>
                  <a:gd name="T29" fmla="*/ 138332065 h 909"/>
                  <a:gd name="T30" fmla="*/ 591184604 w 1242"/>
                  <a:gd name="T31" fmla="*/ 152254478 h 909"/>
                  <a:gd name="T32" fmla="*/ 693985191 w 1242"/>
                  <a:gd name="T33" fmla="*/ 221292299 h 909"/>
                  <a:gd name="T34" fmla="*/ 731790750 w 1242"/>
                  <a:gd name="T35" fmla="*/ 265710252 h 909"/>
                  <a:gd name="T36" fmla="*/ 776402661 w 1242"/>
                  <a:gd name="T37" fmla="*/ 294207997 h 909"/>
                  <a:gd name="T38" fmla="*/ 801751198 w 1242"/>
                  <a:gd name="T39" fmla="*/ 300945461 h 909"/>
                  <a:gd name="T40" fmla="*/ 823991941 w 1242"/>
                  <a:gd name="T41" fmla="*/ 331382692 h 909"/>
                  <a:gd name="T42" fmla="*/ 854390584 w 1242"/>
                  <a:gd name="T43" fmla="*/ 354251539 h 909"/>
                  <a:gd name="T44" fmla="*/ 902159626 w 1242"/>
                  <a:gd name="T45" fmla="*/ 387980811 h 909"/>
                  <a:gd name="T46" fmla="*/ 926792085 w 1242"/>
                  <a:gd name="T47" fmla="*/ 409340653 h 909"/>
                  <a:gd name="T48" fmla="*/ 979595697 w 1242"/>
                  <a:gd name="T49" fmla="*/ 472865373 h 909"/>
                  <a:gd name="T50" fmla="*/ 989770760 w 1242"/>
                  <a:gd name="T51" fmla="*/ 483656572 h 909"/>
                  <a:gd name="T52" fmla="*/ 1009616611 w 1242"/>
                  <a:gd name="T53" fmla="*/ 522659227 h 909"/>
                  <a:gd name="T54" fmla="*/ 1037079759 w 1242"/>
                  <a:gd name="T55" fmla="*/ 536818585 h 9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42"/>
                  <a:gd name="T85" fmla="*/ 0 h 909"/>
                  <a:gd name="T86" fmla="*/ 1242 w 1242"/>
                  <a:gd name="T87" fmla="*/ 909 h 90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42" h="909">
                    <a:moveTo>
                      <a:pt x="0" y="186"/>
                    </a:moveTo>
                    <a:cubicBezTo>
                      <a:pt x="10" y="179"/>
                      <a:pt x="14" y="172"/>
                      <a:pt x="24" y="165"/>
                    </a:cubicBezTo>
                    <a:cubicBezTo>
                      <a:pt x="35" y="148"/>
                      <a:pt x="46" y="136"/>
                      <a:pt x="66" y="129"/>
                    </a:cubicBezTo>
                    <a:cubicBezTo>
                      <a:pt x="77" y="121"/>
                      <a:pt x="82" y="112"/>
                      <a:pt x="93" y="105"/>
                    </a:cubicBezTo>
                    <a:cubicBezTo>
                      <a:pt x="110" y="79"/>
                      <a:pt x="87" y="110"/>
                      <a:pt x="108" y="93"/>
                    </a:cubicBezTo>
                    <a:cubicBezTo>
                      <a:pt x="123" y="81"/>
                      <a:pt x="134" y="65"/>
                      <a:pt x="150" y="54"/>
                    </a:cubicBezTo>
                    <a:cubicBezTo>
                      <a:pt x="157" y="44"/>
                      <a:pt x="162" y="40"/>
                      <a:pt x="174" y="36"/>
                    </a:cubicBezTo>
                    <a:cubicBezTo>
                      <a:pt x="180" y="19"/>
                      <a:pt x="205" y="12"/>
                      <a:pt x="222" y="6"/>
                    </a:cubicBezTo>
                    <a:cubicBezTo>
                      <a:pt x="228" y="4"/>
                      <a:pt x="240" y="0"/>
                      <a:pt x="240" y="0"/>
                    </a:cubicBezTo>
                    <a:cubicBezTo>
                      <a:pt x="281" y="1"/>
                      <a:pt x="322" y="1"/>
                      <a:pt x="363" y="3"/>
                    </a:cubicBezTo>
                    <a:cubicBezTo>
                      <a:pt x="424" y="6"/>
                      <a:pt x="438" y="73"/>
                      <a:pt x="489" y="90"/>
                    </a:cubicBezTo>
                    <a:cubicBezTo>
                      <a:pt x="499" y="100"/>
                      <a:pt x="505" y="104"/>
                      <a:pt x="519" y="108"/>
                    </a:cubicBezTo>
                    <a:cubicBezTo>
                      <a:pt x="539" y="121"/>
                      <a:pt x="571" y="132"/>
                      <a:pt x="594" y="138"/>
                    </a:cubicBezTo>
                    <a:cubicBezTo>
                      <a:pt x="613" y="151"/>
                      <a:pt x="640" y="151"/>
                      <a:pt x="660" y="165"/>
                    </a:cubicBezTo>
                    <a:cubicBezTo>
                      <a:pt x="667" y="187"/>
                      <a:pt x="676" y="215"/>
                      <a:pt x="690" y="234"/>
                    </a:cubicBezTo>
                    <a:cubicBezTo>
                      <a:pt x="696" y="242"/>
                      <a:pt x="708" y="258"/>
                      <a:pt x="708" y="258"/>
                    </a:cubicBezTo>
                    <a:cubicBezTo>
                      <a:pt x="725" y="310"/>
                      <a:pt x="787" y="346"/>
                      <a:pt x="831" y="375"/>
                    </a:cubicBezTo>
                    <a:cubicBezTo>
                      <a:pt x="849" y="387"/>
                      <a:pt x="864" y="431"/>
                      <a:pt x="876" y="450"/>
                    </a:cubicBezTo>
                    <a:cubicBezTo>
                      <a:pt x="890" y="473"/>
                      <a:pt x="908" y="486"/>
                      <a:pt x="930" y="498"/>
                    </a:cubicBezTo>
                    <a:cubicBezTo>
                      <a:pt x="939" y="503"/>
                      <a:pt x="960" y="510"/>
                      <a:pt x="960" y="510"/>
                    </a:cubicBezTo>
                    <a:cubicBezTo>
                      <a:pt x="979" y="529"/>
                      <a:pt x="977" y="540"/>
                      <a:pt x="987" y="561"/>
                    </a:cubicBezTo>
                    <a:cubicBezTo>
                      <a:pt x="998" y="586"/>
                      <a:pt x="1006" y="583"/>
                      <a:pt x="1023" y="600"/>
                    </a:cubicBezTo>
                    <a:cubicBezTo>
                      <a:pt x="1041" y="618"/>
                      <a:pt x="1059" y="643"/>
                      <a:pt x="1080" y="657"/>
                    </a:cubicBezTo>
                    <a:cubicBezTo>
                      <a:pt x="1089" y="670"/>
                      <a:pt x="1104" y="679"/>
                      <a:pt x="1110" y="693"/>
                    </a:cubicBezTo>
                    <a:cubicBezTo>
                      <a:pt x="1127" y="731"/>
                      <a:pt x="1144" y="772"/>
                      <a:pt x="1173" y="801"/>
                    </a:cubicBezTo>
                    <a:cubicBezTo>
                      <a:pt x="1183" y="831"/>
                      <a:pt x="1166" y="785"/>
                      <a:pt x="1185" y="819"/>
                    </a:cubicBezTo>
                    <a:cubicBezTo>
                      <a:pt x="1195" y="838"/>
                      <a:pt x="1192" y="870"/>
                      <a:pt x="1209" y="885"/>
                    </a:cubicBezTo>
                    <a:cubicBezTo>
                      <a:pt x="1220" y="894"/>
                      <a:pt x="1232" y="899"/>
                      <a:pt x="1242" y="909"/>
                    </a:cubicBezTo>
                  </a:path>
                </a:pathLst>
              </a:custGeom>
              <a:noFill/>
              <a:ln w="22225">
                <a:solidFill>
                  <a:srgbClr val="00B05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46" name="Freeform 134"/>
              <p:cNvSpPr>
                <a:spLocks/>
              </p:cNvSpPr>
              <p:nvPr/>
            </p:nvSpPr>
            <p:spPr bwMode="auto">
              <a:xfrm>
                <a:off x="2833" y="10040"/>
                <a:ext cx="3450" cy="1683"/>
              </a:xfrm>
              <a:custGeom>
                <a:avLst/>
                <a:gdLst>
                  <a:gd name="T0" fmla="*/ 0 w 3639"/>
                  <a:gd name="T1" fmla="*/ 399 h 1702"/>
                  <a:gd name="T2" fmla="*/ 10 w 3639"/>
                  <a:gd name="T3" fmla="*/ 263 h 1702"/>
                  <a:gd name="T4" fmla="*/ 13 w 3639"/>
                  <a:gd name="T5" fmla="*/ 207 h 1702"/>
                  <a:gd name="T6" fmla="*/ 43 w 3639"/>
                  <a:gd name="T7" fmla="*/ 142 h 1702"/>
                  <a:gd name="T8" fmla="*/ 66 w 3639"/>
                  <a:gd name="T9" fmla="*/ 114 h 1702"/>
                  <a:gd name="T10" fmla="*/ 122 w 3639"/>
                  <a:gd name="T11" fmla="*/ 119 h 1702"/>
                  <a:gd name="T12" fmla="*/ 139 w 3639"/>
                  <a:gd name="T13" fmla="*/ 104 h 1702"/>
                  <a:gd name="T14" fmla="*/ 153 w 3639"/>
                  <a:gd name="T15" fmla="*/ 85 h 1702"/>
                  <a:gd name="T16" fmla="*/ 159 w 3639"/>
                  <a:gd name="T17" fmla="*/ 76 h 1702"/>
                  <a:gd name="T18" fmla="*/ 286 w 3639"/>
                  <a:gd name="T19" fmla="*/ 0 h 1702"/>
                  <a:gd name="T20" fmla="*/ 468 w 3639"/>
                  <a:gd name="T21" fmla="*/ 37 h 1702"/>
                  <a:gd name="T22" fmla="*/ 521 w 3639"/>
                  <a:gd name="T23" fmla="*/ 44 h 1702"/>
                  <a:gd name="T24" fmla="*/ 562 w 3639"/>
                  <a:gd name="T25" fmla="*/ 124 h 1702"/>
                  <a:gd name="T26" fmla="*/ 585 w 3639"/>
                  <a:gd name="T27" fmla="*/ 182 h 1702"/>
                  <a:gd name="T28" fmla="*/ 594 w 3639"/>
                  <a:gd name="T29" fmla="*/ 207 h 1702"/>
                  <a:gd name="T30" fmla="*/ 607 w 3639"/>
                  <a:gd name="T31" fmla="*/ 242 h 1702"/>
                  <a:gd name="T32" fmla="*/ 656 w 3639"/>
                  <a:gd name="T33" fmla="*/ 323 h 1702"/>
                  <a:gd name="T34" fmla="*/ 669 w 3639"/>
                  <a:gd name="T35" fmla="*/ 354 h 1702"/>
                  <a:gd name="T36" fmla="*/ 672 w 3639"/>
                  <a:gd name="T37" fmla="*/ 380 h 1702"/>
                  <a:gd name="T38" fmla="*/ 681 w 3639"/>
                  <a:gd name="T39" fmla="*/ 386 h 1702"/>
                  <a:gd name="T40" fmla="*/ 698 w 3639"/>
                  <a:gd name="T41" fmla="*/ 457 h 1702"/>
                  <a:gd name="T42" fmla="*/ 714 w 3639"/>
                  <a:gd name="T43" fmla="*/ 511 h 1702"/>
                  <a:gd name="T44" fmla="*/ 736 w 3639"/>
                  <a:gd name="T45" fmla="*/ 587 h 1702"/>
                  <a:gd name="T46" fmla="*/ 739 w 3639"/>
                  <a:gd name="T47" fmla="*/ 608 h 1702"/>
                  <a:gd name="T48" fmla="*/ 747 w 3639"/>
                  <a:gd name="T49" fmla="*/ 622 h 1702"/>
                  <a:gd name="T50" fmla="*/ 769 w 3639"/>
                  <a:gd name="T51" fmla="*/ 726 h 1702"/>
                  <a:gd name="T52" fmla="*/ 783 w 3639"/>
                  <a:gd name="T53" fmla="*/ 788 h 1702"/>
                  <a:gd name="T54" fmla="*/ 788 w 3639"/>
                  <a:gd name="T55" fmla="*/ 808 h 1702"/>
                  <a:gd name="T56" fmla="*/ 804 w 3639"/>
                  <a:gd name="T57" fmla="*/ 885 h 1702"/>
                  <a:gd name="T58" fmla="*/ 818 w 3639"/>
                  <a:gd name="T59" fmla="*/ 967 h 1702"/>
                  <a:gd name="T60" fmla="*/ 827 w 3639"/>
                  <a:gd name="T61" fmla="*/ 1028 h 1702"/>
                  <a:gd name="T62" fmla="*/ 834 w 3639"/>
                  <a:gd name="T63" fmla="*/ 1071 h 1702"/>
                  <a:gd name="T64" fmla="*/ 840 w 3639"/>
                  <a:gd name="T65" fmla="*/ 1092 h 1702"/>
                  <a:gd name="T66" fmla="*/ 851 w 3639"/>
                  <a:gd name="T67" fmla="*/ 1174 h 1702"/>
                  <a:gd name="T68" fmla="*/ 855 w 3639"/>
                  <a:gd name="T69" fmla="*/ 1236 h 1702"/>
                  <a:gd name="T70" fmla="*/ 862 w 3639"/>
                  <a:gd name="T71" fmla="*/ 1250 h 1702"/>
                  <a:gd name="T72" fmla="*/ 858 w 3639"/>
                  <a:gd name="T73" fmla="*/ 1256 h 17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39"/>
                  <a:gd name="T112" fmla="*/ 0 h 1702"/>
                  <a:gd name="T113" fmla="*/ 3639 w 3639"/>
                  <a:gd name="T114" fmla="*/ 1702 h 170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39" h="1702">
                    <a:moveTo>
                      <a:pt x="0" y="542"/>
                    </a:moveTo>
                    <a:cubicBezTo>
                      <a:pt x="9" y="478"/>
                      <a:pt x="25" y="416"/>
                      <a:pt x="47" y="355"/>
                    </a:cubicBezTo>
                    <a:cubicBezTo>
                      <a:pt x="50" y="330"/>
                      <a:pt x="47" y="304"/>
                      <a:pt x="56" y="280"/>
                    </a:cubicBezTo>
                    <a:cubicBezTo>
                      <a:pt x="80" y="213"/>
                      <a:pt x="119" y="216"/>
                      <a:pt x="178" y="196"/>
                    </a:cubicBezTo>
                    <a:cubicBezTo>
                      <a:pt x="214" y="184"/>
                      <a:pt x="245" y="162"/>
                      <a:pt x="281" y="149"/>
                    </a:cubicBezTo>
                    <a:cubicBezTo>
                      <a:pt x="414" y="179"/>
                      <a:pt x="336" y="170"/>
                      <a:pt x="514" y="159"/>
                    </a:cubicBezTo>
                    <a:cubicBezTo>
                      <a:pt x="625" y="135"/>
                      <a:pt x="511" y="166"/>
                      <a:pt x="589" y="131"/>
                    </a:cubicBezTo>
                    <a:cubicBezTo>
                      <a:pt x="607" y="123"/>
                      <a:pt x="626" y="118"/>
                      <a:pt x="645" y="112"/>
                    </a:cubicBezTo>
                    <a:cubicBezTo>
                      <a:pt x="654" y="109"/>
                      <a:pt x="673" y="103"/>
                      <a:pt x="673" y="103"/>
                    </a:cubicBezTo>
                    <a:cubicBezTo>
                      <a:pt x="804" y="14"/>
                      <a:pt x="1067" y="6"/>
                      <a:pt x="1206" y="0"/>
                    </a:cubicBezTo>
                    <a:cubicBezTo>
                      <a:pt x="1633" y="6"/>
                      <a:pt x="1682" y="6"/>
                      <a:pt x="1973" y="37"/>
                    </a:cubicBezTo>
                    <a:cubicBezTo>
                      <a:pt x="2046" y="55"/>
                      <a:pt x="2122" y="57"/>
                      <a:pt x="2197" y="65"/>
                    </a:cubicBezTo>
                    <a:cubicBezTo>
                      <a:pt x="2262" y="87"/>
                      <a:pt x="2300" y="147"/>
                      <a:pt x="2366" y="168"/>
                    </a:cubicBezTo>
                    <a:cubicBezTo>
                      <a:pt x="2404" y="193"/>
                      <a:pt x="2441" y="218"/>
                      <a:pt x="2478" y="243"/>
                    </a:cubicBezTo>
                    <a:cubicBezTo>
                      <a:pt x="2491" y="252"/>
                      <a:pt x="2496" y="268"/>
                      <a:pt x="2506" y="280"/>
                    </a:cubicBezTo>
                    <a:cubicBezTo>
                      <a:pt x="2530" y="308"/>
                      <a:pt x="2533" y="308"/>
                      <a:pt x="2562" y="327"/>
                    </a:cubicBezTo>
                    <a:cubicBezTo>
                      <a:pt x="2609" y="396"/>
                      <a:pt x="2693" y="415"/>
                      <a:pt x="2768" y="439"/>
                    </a:cubicBezTo>
                    <a:cubicBezTo>
                      <a:pt x="2787" y="452"/>
                      <a:pt x="2805" y="464"/>
                      <a:pt x="2824" y="477"/>
                    </a:cubicBezTo>
                    <a:cubicBezTo>
                      <a:pt x="2835" y="485"/>
                      <a:pt x="2833" y="504"/>
                      <a:pt x="2843" y="514"/>
                    </a:cubicBezTo>
                    <a:cubicBezTo>
                      <a:pt x="2850" y="521"/>
                      <a:pt x="2862" y="520"/>
                      <a:pt x="2871" y="523"/>
                    </a:cubicBezTo>
                    <a:cubicBezTo>
                      <a:pt x="2893" y="569"/>
                      <a:pt x="2905" y="586"/>
                      <a:pt x="2946" y="617"/>
                    </a:cubicBezTo>
                    <a:cubicBezTo>
                      <a:pt x="2959" y="656"/>
                      <a:pt x="2972" y="678"/>
                      <a:pt x="3011" y="692"/>
                    </a:cubicBezTo>
                    <a:cubicBezTo>
                      <a:pt x="3037" y="730"/>
                      <a:pt x="3067" y="770"/>
                      <a:pt x="3104" y="795"/>
                    </a:cubicBezTo>
                    <a:cubicBezTo>
                      <a:pt x="3110" y="804"/>
                      <a:pt x="3115" y="815"/>
                      <a:pt x="3123" y="823"/>
                    </a:cubicBezTo>
                    <a:cubicBezTo>
                      <a:pt x="3131" y="831"/>
                      <a:pt x="3144" y="833"/>
                      <a:pt x="3151" y="841"/>
                    </a:cubicBezTo>
                    <a:cubicBezTo>
                      <a:pt x="3187" y="881"/>
                      <a:pt x="3216" y="937"/>
                      <a:pt x="3245" y="982"/>
                    </a:cubicBezTo>
                    <a:cubicBezTo>
                      <a:pt x="3263" y="1010"/>
                      <a:pt x="3282" y="1038"/>
                      <a:pt x="3301" y="1066"/>
                    </a:cubicBezTo>
                    <a:cubicBezTo>
                      <a:pt x="3307" y="1075"/>
                      <a:pt x="3320" y="1094"/>
                      <a:pt x="3320" y="1094"/>
                    </a:cubicBezTo>
                    <a:cubicBezTo>
                      <a:pt x="3335" y="1140"/>
                      <a:pt x="3355" y="1171"/>
                      <a:pt x="3394" y="1197"/>
                    </a:cubicBezTo>
                    <a:cubicBezTo>
                      <a:pt x="3409" y="1239"/>
                      <a:pt x="3429" y="1278"/>
                      <a:pt x="3460" y="1309"/>
                    </a:cubicBezTo>
                    <a:cubicBezTo>
                      <a:pt x="3481" y="1374"/>
                      <a:pt x="3471" y="1347"/>
                      <a:pt x="3488" y="1393"/>
                    </a:cubicBezTo>
                    <a:cubicBezTo>
                      <a:pt x="3496" y="1414"/>
                      <a:pt x="3513" y="1430"/>
                      <a:pt x="3525" y="1449"/>
                    </a:cubicBezTo>
                    <a:cubicBezTo>
                      <a:pt x="3531" y="1458"/>
                      <a:pt x="3544" y="1477"/>
                      <a:pt x="3544" y="1477"/>
                    </a:cubicBezTo>
                    <a:cubicBezTo>
                      <a:pt x="3557" y="1517"/>
                      <a:pt x="3577" y="1548"/>
                      <a:pt x="3591" y="1589"/>
                    </a:cubicBezTo>
                    <a:cubicBezTo>
                      <a:pt x="3600" y="1616"/>
                      <a:pt x="3596" y="1647"/>
                      <a:pt x="3609" y="1673"/>
                    </a:cubicBezTo>
                    <a:cubicBezTo>
                      <a:pt x="3614" y="1683"/>
                      <a:pt x="3633" y="1681"/>
                      <a:pt x="3637" y="1692"/>
                    </a:cubicBezTo>
                    <a:cubicBezTo>
                      <a:pt x="3639" y="1698"/>
                      <a:pt x="3625" y="1699"/>
                      <a:pt x="3619" y="1702"/>
                    </a:cubicBezTo>
                  </a:path>
                </a:pathLst>
              </a:custGeom>
              <a:noFill/>
              <a:ln w="22225">
                <a:solidFill>
                  <a:srgbClr val="00B05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47" name="Freeform 135"/>
              <p:cNvSpPr>
                <a:spLocks/>
              </p:cNvSpPr>
              <p:nvPr/>
            </p:nvSpPr>
            <p:spPr bwMode="auto">
              <a:xfrm>
                <a:off x="3908" y="10985"/>
                <a:ext cx="2422" cy="761"/>
              </a:xfrm>
              <a:custGeom>
                <a:avLst/>
                <a:gdLst>
                  <a:gd name="T0" fmla="*/ 0 w 2285"/>
                  <a:gd name="T1" fmla="*/ 0 h 776"/>
                  <a:gd name="T2" fmla="*/ 812 w 2285"/>
                  <a:gd name="T3" fmla="*/ 19 h 776"/>
                  <a:gd name="T4" fmla="*/ 1077 w 2285"/>
                  <a:gd name="T5" fmla="*/ 25 h 776"/>
                  <a:gd name="T6" fmla="*/ 1903 w 2285"/>
                  <a:gd name="T7" fmla="*/ 117 h 776"/>
                  <a:gd name="T8" fmla="*/ 2884 w 2285"/>
                  <a:gd name="T9" fmla="*/ 156 h 776"/>
                  <a:gd name="T10" fmla="*/ 3643 w 2285"/>
                  <a:gd name="T11" fmla="*/ 176 h 776"/>
                  <a:gd name="T12" fmla="*/ 5765 w 2285"/>
                  <a:gd name="T13" fmla="*/ 188 h 776"/>
                  <a:gd name="T14" fmla="*/ 7256 w 2285"/>
                  <a:gd name="T15" fmla="*/ 226 h 776"/>
                  <a:gd name="T16" fmla="*/ 8382 w 2285"/>
                  <a:gd name="T17" fmla="*/ 270 h 776"/>
                  <a:gd name="T18" fmla="*/ 8925 w 2285"/>
                  <a:gd name="T19" fmla="*/ 309 h 776"/>
                  <a:gd name="T20" fmla="*/ 9017 w 2285"/>
                  <a:gd name="T21" fmla="*/ 326 h 776"/>
                  <a:gd name="T22" fmla="*/ 9282 w 2285"/>
                  <a:gd name="T23" fmla="*/ 348 h 776"/>
                  <a:gd name="T24" fmla="*/ 9639 w 2285"/>
                  <a:gd name="T25" fmla="*/ 381 h 776"/>
                  <a:gd name="T26" fmla="*/ 10051 w 2285"/>
                  <a:gd name="T27" fmla="*/ 403 h 776"/>
                  <a:gd name="T28" fmla="*/ 10318 w 2285"/>
                  <a:gd name="T29" fmla="*/ 414 h 776"/>
                  <a:gd name="T30" fmla="*/ 10451 w 2285"/>
                  <a:gd name="T31" fmla="*/ 420 h 776"/>
                  <a:gd name="T32" fmla="*/ 10858 w 2285"/>
                  <a:gd name="T33" fmla="*/ 446 h 776"/>
                  <a:gd name="T34" fmla="*/ 10996 w 2285"/>
                  <a:gd name="T35" fmla="*/ 458 h 7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85"/>
                  <a:gd name="T55" fmla="*/ 0 h 776"/>
                  <a:gd name="T56" fmla="*/ 2285 w 2285"/>
                  <a:gd name="T57" fmla="*/ 776 h 77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85" h="776">
                    <a:moveTo>
                      <a:pt x="0" y="0"/>
                    </a:moveTo>
                    <a:cubicBezTo>
                      <a:pt x="29" y="3"/>
                      <a:pt x="135" y="12"/>
                      <a:pt x="169" y="19"/>
                    </a:cubicBezTo>
                    <a:cubicBezTo>
                      <a:pt x="188" y="23"/>
                      <a:pt x="225" y="37"/>
                      <a:pt x="225" y="37"/>
                    </a:cubicBezTo>
                    <a:cubicBezTo>
                      <a:pt x="269" y="104"/>
                      <a:pt x="313" y="170"/>
                      <a:pt x="393" y="196"/>
                    </a:cubicBezTo>
                    <a:cubicBezTo>
                      <a:pt x="456" y="239"/>
                      <a:pt x="525" y="247"/>
                      <a:pt x="599" y="262"/>
                    </a:cubicBezTo>
                    <a:cubicBezTo>
                      <a:pt x="650" y="273"/>
                      <a:pt x="706" y="295"/>
                      <a:pt x="758" y="299"/>
                    </a:cubicBezTo>
                    <a:cubicBezTo>
                      <a:pt x="815" y="304"/>
                      <a:pt x="1171" y="317"/>
                      <a:pt x="1197" y="318"/>
                    </a:cubicBezTo>
                    <a:cubicBezTo>
                      <a:pt x="1299" y="342"/>
                      <a:pt x="1403" y="357"/>
                      <a:pt x="1506" y="383"/>
                    </a:cubicBezTo>
                    <a:cubicBezTo>
                      <a:pt x="1586" y="403"/>
                      <a:pt x="1660" y="436"/>
                      <a:pt x="1740" y="458"/>
                    </a:cubicBezTo>
                    <a:cubicBezTo>
                      <a:pt x="1785" y="470"/>
                      <a:pt x="1822" y="486"/>
                      <a:pt x="1852" y="523"/>
                    </a:cubicBezTo>
                    <a:cubicBezTo>
                      <a:pt x="1859" y="532"/>
                      <a:pt x="1862" y="544"/>
                      <a:pt x="1871" y="552"/>
                    </a:cubicBezTo>
                    <a:cubicBezTo>
                      <a:pt x="1888" y="567"/>
                      <a:pt x="1927" y="589"/>
                      <a:pt x="1927" y="589"/>
                    </a:cubicBezTo>
                    <a:cubicBezTo>
                      <a:pt x="1948" y="622"/>
                      <a:pt x="1964" y="633"/>
                      <a:pt x="2001" y="645"/>
                    </a:cubicBezTo>
                    <a:cubicBezTo>
                      <a:pt x="2048" y="677"/>
                      <a:pt x="2014" y="657"/>
                      <a:pt x="2086" y="682"/>
                    </a:cubicBezTo>
                    <a:cubicBezTo>
                      <a:pt x="2105" y="688"/>
                      <a:pt x="2123" y="695"/>
                      <a:pt x="2142" y="701"/>
                    </a:cubicBezTo>
                    <a:cubicBezTo>
                      <a:pt x="2151" y="704"/>
                      <a:pt x="2170" y="710"/>
                      <a:pt x="2170" y="710"/>
                    </a:cubicBezTo>
                    <a:cubicBezTo>
                      <a:pt x="2240" y="758"/>
                      <a:pt x="2202" y="739"/>
                      <a:pt x="2254" y="757"/>
                    </a:cubicBezTo>
                    <a:cubicBezTo>
                      <a:pt x="2285" y="767"/>
                      <a:pt x="2282" y="757"/>
                      <a:pt x="2282" y="776"/>
                    </a:cubicBezTo>
                  </a:path>
                </a:pathLst>
              </a:custGeom>
              <a:noFill/>
              <a:ln w="22225">
                <a:solidFill>
                  <a:srgbClr val="00B05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148" name="Freeform 136"/>
              <p:cNvSpPr>
                <a:spLocks/>
              </p:cNvSpPr>
              <p:nvPr/>
            </p:nvSpPr>
            <p:spPr bwMode="auto">
              <a:xfrm>
                <a:off x="2468" y="10857"/>
                <a:ext cx="3815" cy="866"/>
              </a:xfrm>
              <a:custGeom>
                <a:avLst/>
                <a:gdLst>
                  <a:gd name="T0" fmla="*/ 0 w 3759"/>
                  <a:gd name="T1" fmla="*/ 118 h 866"/>
                  <a:gd name="T2" fmla="*/ 350 w 3759"/>
                  <a:gd name="T3" fmla="*/ 34 h 866"/>
                  <a:gd name="T4" fmla="*/ 768 w 3759"/>
                  <a:gd name="T5" fmla="*/ 52 h 866"/>
                  <a:gd name="T6" fmla="*/ 851 w 3759"/>
                  <a:gd name="T7" fmla="*/ 71 h 866"/>
                  <a:gd name="T8" fmla="*/ 892 w 3759"/>
                  <a:gd name="T9" fmla="*/ 80 h 866"/>
                  <a:gd name="T10" fmla="*/ 2104 w 3759"/>
                  <a:gd name="T11" fmla="*/ 43 h 866"/>
                  <a:gd name="T12" fmla="*/ 2508 w 3759"/>
                  <a:gd name="T13" fmla="*/ 52 h 866"/>
                  <a:gd name="T14" fmla="*/ 2886 w 3759"/>
                  <a:gd name="T15" fmla="*/ 127 h 866"/>
                  <a:gd name="T16" fmla="*/ 3109 w 3759"/>
                  <a:gd name="T17" fmla="*/ 155 h 866"/>
                  <a:gd name="T18" fmla="*/ 3233 w 3759"/>
                  <a:gd name="T19" fmla="*/ 193 h 866"/>
                  <a:gd name="T20" fmla="*/ 3362 w 3759"/>
                  <a:gd name="T21" fmla="*/ 249 h 866"/>
                  <a:gd name="T22" fmla="*/ 4057 w 3759"/>
                  <a:gd name="T23" fmla="*/ 295 h 866"/>
                  <a:gd name="T24" fmla="*/ 4376 w 3759"/>
                  <a:gd name="T25" fmla="*/ 333 h 866"/>
                  <a:gd name="T26" fmla="*/ 4517 w 3759"/>
                  <a:gd name="T27" fmla="*/ 361 h 866"/>
                  <a:gd name="T28" fmla="*/ 4559 w 3759"/>
                  <a:gd name="T29" fmla="*/ 370 h 866"/>
                  <a:gd name="T30" fmla="*/ 4767 w 3759"/>
                  <a:gd name="T31" fmla="*/ 473 h 866"/>
                  <a:gd name="T32" fmla="*/ 5002 w 3759"/>
                  <a:gd name="T33" fmla="*/ 539 h 866"/>
                  <a:gd name="T34" fmla="*/ 5213 w 3759"/>
                  <a:gd name="T35" fmla="*/ 604 h 866"/>
                  <a:gd name="T36" fmla="*/ 5342 w 3759"/>
                  <a:gd name="T37" fmla="*/ 669 h 866"/>
                  <a:gd name="T38" fmla="*/ 5426 w 3759"/>
                  <a:gd name="T39" fmla="*/ 744 h 866"/>
                  <a:gd name="T40" fmla="*/ 5521 w 3759"/>
                  <a:gd name="T41" fmla="*/ 800 h 866"/>
                  <a:gd name="T42" fmla="*/ 5604 w 3759"/>
                  <a:gd name="T43" fmla="*/ 866 h 86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759"/>
                  <a:gd name="T67" fmla="*/ 0 h 866"/>
                  <a:gd name="T68" fmla="*/ 3759 w 3759"/>
                  <a:gd name="T69" fmla="*/ 866 h 86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759" h="866">
                    <a:moveTo>
                      <a:pt x="0" y="118"/>
                    </a:moveTo>
                    <a:cubicBezTo>
                      <a:pt x="72" y="69"/>
                      <a:pt x="149" y="46"/>
                      <a:pt x="234" y="34"/>
                    </a:cubicBezTo>
                    <a:cubicBezTo>
                      <a:pt x="330" y="0"/>
                      <a:pt x="419" y="37"/>
                      <a:pt x="515" y="52"/>
                    </a:cubicBezTo>
                    <a:cubicBezTo>
                      <a:pt x="534" y="58"/>
                      <a:pt x="552" y="65"/>
                      <a:pt x="571" y="71"/>
                    </a:cubicBezTo>
                    <a:cubicBezTo>
                      <a:pt x="580" y="74"/>
                      <a:pt x="599" y="80"/>
                      <a:pt x="599" y="80"/>
                    </a:cubicBezTo>
                    <a:cubicBezTo>
                      <a:pt x="870" y="68"/>
                      <a:pt x="1142" y="69"/>
                      <a:pt x="1412" y="43"/>
                    </a:cubicBezTo>
                    <a:cubicBezTo>
                      <a:pt x="1502" y="46"/>
                      <a:pt x="1593" y="46"/>
                      <a:pt x="1683" y="52"/>
                    </a:cubicBezTo>
                    <a:cubicBezTo>
                      <a:pt x="1770" y="58"/>
                      <a:pt x="1851" y="111"/>
                      <a:pt x="1936" y="127"/>
                    </a:cubicBezTo>
                    <a:cubicBezTo>
                      <a:pt x="1989" y="137"/>
                      <a:pt x="2031" y="148"/>
                      <a:pt x="2086" y="155"/>
                    </a:cubicBezTo>
                    <a:cubicBezTo>
                      <a:pt x="2153" y="178"/>
                      <a:pt x="2126" y="163"/>
                      <a:pt x="2170" y="193"/>
                    </a:cubicBezTo>
                    <a:cubicBezTo>
                      <a:pt x="2192" y="227"/>
                      <a:pt x="2216" y="233"/>
                      <a:pt x="2254" y="249"/>
                    </a:cubicBezTo>
                    <a:cubicBezTo>
                      <a:pt x="2370" y="298"/>
                      <a:pt x="2647" y="293"/>
                      <a:pt x="2721" y="295"/>
                    </a:cubicBezTo>
                    <a:cubicBezTo>
                      <a:pt x="2811" y="307"/>
                      <a:pt x="2857" y="316"/>
                      <a:pt x="2936" y="333"/>
                    </a:cubicBezTo>
                    <a:cubicBezTo>
                      <a:pt x="2985" y="343"/>
                      <a:pt x="2975" y="343"/>
                      <a:pt x="3030" y="361"/>
                    </a:cubicBezTo>
                    <a:cubicBezTo>
                      <a:pt x="3039" y="364"/>
                      <a:pt x="3058" y="370"/>
                      <a:pt x="3058" y="370"/>
                    </a:cubicBezTo>
                    <a:cubicBezTo>
                      <a:pt x="3106" y="403"/>
                      <a:pt x="3150" y="440"/>
                      <a:pt x="3198" y="473"/>
                    </a:cubicBezTo>
                    <a:cubicBezTo>
                      <a:pt x="3245" y="505"/>
                      <a:pt x="3306" y="514"/>
                      <a:pt x="3357" y="539"/>
                    </a:cubicBezTo>
                    <a:cubicBezTo>
                      <a:pt x="3404" y="563"/>
                      <a:pt x="3447" y="588"/>
                      <a:pt x="3498" y="604"/>
                    </a:cubicBezTo>
                    <a:cubicBezTo>
                      <a:pt x="3534" y="628"/>
                      <a:pt x="3556" y="637"/>
                      <a:pt x="3582" y="669"/>
                    </a:cubicBezTo>
                    <a:cubicBezTo>
                      <a:pt x="3611" y="706"/>
                      <a:pt x="3595" y="717"/>
                      <a:pt x="3638" y="744"/>
                    </a:cubicBezTo>
                    <a:cubicBezTo>
                      <a:pt x="3650" y="782"/>
                      <a:pt x="3666" y="788"/>
                      <a:pt x="3703" y="800"/>
                    </a:cubicBezTo>
                    <a:cubicBezTo>
                      <a:pt x="3721" y="827"/>
                      <a:pt x="3746" y="838"/>
                      <a:pt x="3759" y="866"/>
                    </a:cubicBezTo>
                  </a:path>
                </a:pathLst>
              </a:custGeom>
              <a:noFill/>
              <a:ln w="22225">
                <a:solidFill>
                  <a:srgbClr val="00B05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90149" name="AutoShape 137"/>
              <p:cNvCxnSpPr>
                <a:cxnSpLocks noChangeShapeType="1"/>
              </p:cNvCxnSpPr>
              <p:nvPr/>
            </p:nvCxnSpPr>
            <p:spPr bwMode="auto">
              <a:xfrm>
                <a:off x="6301" y="11746"/>
                <a:ext cx="413" cy="0"/>
              </a:xfrm>
              <a:prstGeom prst="straightConnector1">
                <a:avLst/>
              </a:prstGeom>
              <a:noFill/>
              <a:ln w="28575">
                <a:solidFill>
                  <a:srgbClr val="00B050"/>
                </a:solidFill>
                <a:round/>
                <a:headEnd/>
                <a:tailEnd/>
              </a:ln>
              <a:extLst>
                <a:ext uri="{909E8E84-426E-40DD-AFC4-6F175D3DCCD1}">
                  <a14:hiddenFill xmlns:a14="http://schemas.microsoft.com/office/drawing/2010/main">
                    <a:noFill/>
                  </a14:hiddenFill>
                </a:ext>
              </a:extLst>
            </p:spPr>
          </p:cxnSp>
        </p:grpSp>
        <p:cxnSp>
          <p:nvCxnSpPr>
            <p:cNvPr id="90137" name="AutoShape 141"/>
            <p:cNvCxnSpPr>
              <a:cxnSpLocks noChangeShapeType="1"/>
            </p:cNvCxnSpPr>
            <p:nvPr/>
          </p:nvCxnSpPr>
          <p:spPr bwMode="auto">
            <a:xfrm>
              <a:off x="2611510" y="5827869"/>
              <a:ext cx="1111579" cy="0"/>
            </a:xfrm>
            <a:prstGeom prst="straightConnector1">
              <a:avLst/>
            </a:prstGeom>
            <a:noFill/>
            <a:ln w="28575">
              <a:solidFill>
                <a:srgbClr val="00B050"/>
              </a:solidFill>
              <a:round/>
              <a:headEnd/>
              <a:tailEnd/>
            </a:ln>
            <a:extLst>
              <a:ext uri="{909E8E84-426E-40DD-AFC4-6F175D3DCCD1}">
                <a14:hiddenFill xmlns:a14="http://schemas.microsoft.com/office/drawing/2010/main">
                  <a:noFill/>
                </a14:hiddenFill>
              </a:ext>
            </a:extLst>
          </p:spPr>
        </p:cxnSp>
        <p:cxnSp>
          <p:nvCxnSpPr>
            <p:cNvPr id="90138" name="AutoShape 142"/>
            <p:cNvCxnSpPr>
              <a:cxnSpLocks noChangeShapeType="1"/>
            </p:cNvCxnSpPr>
            <p:nvPr/>
          </p:nvCxnSpPr>
          <p:spPr bwMode="auto">
            <a:xfrm>
              <a:off x="3723089" y="4870338"/>
              <a:ext cx="0" cy="960120"/>
            </a:xfrm>
            <a:prstGeom prst="straightConnector1">
              <a:avLst/>
            </a:prstGeom>
            <a:noFill/>
            <a:ln w="28575">
              <a:solidFill>
                <a:srgbClr val="00B050"/>
              </a:solidFill>
              <a:round/>
              <a:headEnd/>
              <a:tailEnd/>
            </a:ln>
            <a:extLst>
              <a:ext uri="{909E8E84-426E-40DD-AFC4-6F175D3DCCD1}">
                <a14:hiddenFill xmlns:a14="http://schemas.microsoft.com/office/drawing/2010/main">
                  <a:noFill/>
                </a14:hiddenFill>
              </a:ext>
            </a:extLst>
          </p:spPr>
        </p:cxnSp>
        <p:sp>
          <p:nvSpPr>
            <p:cNvPr id="90139" name="TextBox 169"/>
            <p:cNvSpPr txBox="1">
              <a:spLocks noChangeArrowheads="1"/>
            </p:cNvSpPr>
            <p:nvPr/>
          </p:nvSpPr>
          <p:spPr bwMode="auto">
            <a:xfrm>
              <a:off x="21809" y="5732895"/>
              <a:ext cx="1654540" cy="3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b="1">
                  <a:latin typeface="Tahoma" panose="020B0604030504040204" pitchFamily="34" charset="0"/>
                </a:rPr>
                <a:t>Golden Die</a:t>
              </a:r>
            </a:p>
          </p:txBody>
        </p:sp>
      </p:grpSp>
      <p:sp>
        <p:nvSpPr>
          <p:cNvPr id="90132" name="TextBox 170"/>
          <p:cNvSpPr txBox="1">
            <a:spLocks noChangeArrowheads="1"/>
          </p:cNvSpPr>
          <p:nvPr/>
        </p:nvSpPr>
        <p:spPr bwMode="auto">
          <a:xfrm>
            <a:off x="23813" y="4532313"/>
            <a:ext cx="15208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400" b="1">
                <a:latin typeface="Tahoma" panose="020B0604030504040204" pitchFamily="34" charset="0"/>
              </a:rPr>
              <a:t>Die under authentication</a:t>
            </a:r>
          </a:p>
        </p:txBody>
      </p:sp>
      <p:sp>
        <p:nvSpPr>
          <p:cNvPr id="90133" name="Line 169"/>
          <p:cNvSpPr>
            <a:spLocks noChangeShapeType="1"/>
          </p:cNvSpPr>
          <p:nvPr/>
        </p:nvSpPr>
        <p:spPr bwMode="auto">
          <a:xfrm>
            <a:off x="7840663" y="4246563"/>
            <a:ext cx="0" cy="15081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0134" name="Line 170"/>
          <p:cNvSpPr>
            <a:spLocks noChangeShapeType="1"/>
          </p:cNvSpPr>
          <p:nvPr/>
        </p:nvSpPr>
        <p:spPr bwMode="auto">
          <a:xfrm flipV="1">
            <a:off x="7878763" y="4659313"/>
            <a:ext cx="0" cy="2127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0135" name="Text Box 171"/>
          <p:cNvSpPr txBox="1">
            <a:spLocks noChangeArrowheads="1"/>
          </p:cNvSpPr>
          <p:nvPr/>
        </p:nvSpPr>
        <p:spPr bwMode="auto">
          <a:xfrm>
            <a:off x="7740650" y="4646613"/>
            <a:ext cx="66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l-GR" altLang="en-US" sz="1400" b="1">
                <a:solidFill>
                  <a:srgbClr val="FF0000"/>
                </a:solidFill>
                <a:latin typeface="Tahoma" panose="020B0604030504040204" pitchFamily="34" charset="0"/>
              </a:rPr>
              <a:t>Δ</a:t>
            </a:r>
            <a:r>
              <a:rPr lang="en-US" altLang="en-US" sz="1400" b="1">
                <a:solidFill>
                  <a:srgbClr val="FF0000"/>
                </a:solidFill>
                <a:latin typeface="Tahoma" panose="020B0604030504040204" pitchFamily="34" charset="0"/>
              </a:rPr>
              <a:t>Q</a:t>
            </a:r>
          </a:p>
        </p:txBody>
      </p:sp>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533400" y="76200"/>
            <a:ext cx="8229600" cy="685800"/>
          </a:xfrm>
        </p:spPr>
        <p:txBody>
          <a:bodyPr/>
          <a:lstStyle/>
          <a:p>
            <a:pPr eaLnBrk="1" hangingPunct="1"/>
            <a:r>
              <a:rPr lang="en-US" altLang="en-US" b="1"/>
              <a:t>Power Analysis -- Challenges</a:t>
            </a:r>
          </a:p>
        </p:txBody>
      </p:sp>
      <p:sp>
        <p:nvSpPr>
          <p:cNvPr id="9421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6487314-F9DB-447B-BEE7-66861EAD4DAC}" type="slidenum">
              <a:rPr lang="en-US" altLang="en-US" sz="1100"/>
              <a:pPr>
                <a:spcBef>
                  <a:spcPct val="0"/>
                </a:spcBef>
                <a:buClrTx/>
                <a:buSzTx/>
                <a:buFontTx/>
                <a:buNone/>
              </a:pPr>
              <a:t>57</a:t>
            </a:fld>
            <a:endParaRPr lang="en-US" altLang="en-US" sz="1100"/>
          </a:p>
        </p:txBody>
      </p:sp>
      <p:sp>
        <p:nvSpPr>
          <p:cNvPr id="94212" name="Rectangle 3"/>
          <p:cNvSpPr>
            <a:spLocks noChangeArrowheads="1"/>
          </p:cNvSpPr>
          <p:nvPr/>
        </p:nvSpPr>
        <p:spPr bwMode="auto">
          <a:xfrm>
            <a:off x="304800" y="914400"/>
            <a:ext cx="6418263" cy="1912938"/>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2000" b="1" u="sng">
                <a:latin typeface="Tahoma" panose="020B0604030504040204" pitchFamily="34" charset="0"/>
              </a:rPr>
              <a:t>Pattern Generation</a:t>
            </a:r>
          </a:p>
          <a:p>
            <a:pPr lvl="1" eaLnBrk="1" hangingPunct="1">
              <a:buClrTx/>
              <a:buSzTx/>
              <a:buFontTx/>
              <a:buBlip>
                <a:blip r:embed="rId3"/>
              </a:buBlip>
            </a:pPr>
            <a:r>
              <a:rPr lang="en-US" altLang="en-US" sz="1600" b="1">
                <a:latin typeface="Tahoma" panose="020B0604030504040204" pitchFamily="34" charset="0"/>
                <a:ea typeface="MS PGothic" panose="020B0600070205080204" pitchFamily="34" charset="-128"/>
              </a:rPr>
              <a:t>How to increase switching activity in Trojans?</a:t>
            </a:r>
          </a:p>
          <a:p>
            <a:pPr lvl="1" eaLnBrk="1" hangingPunct="1">
              <a:buClrTx/>
              <a:buSzTx/>
              <a:buFontTx/>
              <a:buBlip>
                <a:blip r:embed="rId3"/>
              </a:buBlip>
            </a:pPr>
            <a:r>
              <a:rPr lang="en-US" altLang="en-US" sz="1600" b="1">
                <a:latin typeface="Tahoma" panose="020B0604030504040204" pitchFamily="34" charset="0"/>
                <a:ea typeface="MS PGothic" panose="020B0600070205080204" pitchFamily="34" charset="-128"/>
              </a:rPr>
              <a:t>How to reduce background noise?</a:t>
            </a:r>
            <a:endParaRPr lang="en-US" altLang="en-US" sz="1600" b="1" u="sng">
              <a:latin typeface="Tahoma" panose="020B0604030504040204" pitchFamily="34" charset="0"/>
              <a:ea typeface="MS PGothic" panose="020B0600070205080204" pitchFamily="34" charset="-128"/>
            </a:endParaRPr>
          </a:p>
          <a:p>
            <a:pPr lvl="1" eaLnBrk="1" hangingPunct="1">
              <a:spcBef>
                <a:spcPct val="30000"/>
              </a:spcBef>
              <a:buClrTx/>
              <a:buSzTx/>
              <a:buFontTx/>
              <a:buBlip>
                <a:blip r:embed="rId3"/>
              </a:buBlip>
            </a:pPr>
            <a:r>
              <a:rPr lang="en-US" altLang="en-US" sz="1600" b="1">
                <a:latin typeface="Tahoma" panose="020B0604030504040204" pitchFamily="34" charset="0"/>
                <a:ea typeface="MS PGothic" panose="020B0600070205080204" pitchFamily="34" charset="-128"/>
              </a:rPr>
              <a:t>Switching locality</a:t>
            </a:r>
          </a:p>
          <a:p>
            <a:pPr lvl="1" eaLnBrk="1" hangingPunct="1">
              <a:spcBef>
                <a:spcPct val="30000"/>
              </a:spcBef>
              <a:buClrTx/>
              <a:buSzTx/>
              <a:buFontTx/>
              <a:buBlip>
                <a:blip r:embed="rId3"/>
              </a:buBlip>
            </a:pPr>
            <a:r>
              <a:rPr lang="en-US" altLang="en-US" sz="1600" b="1">
                <a:latin typeface="Tahoma" panose="020B0604030504040204" pitchFamily="34" charset="0"/>
                <a:ea typeface="MS PGothic" panose="020B0600070205080204" pitchFamily="34" charset="-128"/>
              </a:rPr>
              <a:t>Random Patterns</a:t>
            </a:r>
          </a:p>
          <a:p>
            <a:pPr lvl="2" eaLnBrk="1" hangingPunct="1">
              <a:buClrTx/>
              <a:buSzTx/>
              <a:buFontTx/>
              <a:buBlip>
                <a:blip r:embed="rId3"/>
              </a:buBlip>
            </a:pPr>
            <a:r>
              <a:rPr lang="en-US" altLang="en-US" sz="1200" b="1" u="sng">
                <a:latin typeface="Tahoma" panose="020B0604030504040204" pitchFamily="34" charset="0"/>
                <a:ea typeface="MS PGothic" panose="020B0600070205080204" pitchFamily="34" charset="-128"/>
              </a:rPr>
              <a:t>No observation is necessary , Similar to test-per-clock</a:t>
            </a:r>
          </a:p>
        </p:txBody>
      </p:sp>
      <p:sp>
        <p:nvSpPr>
          <p:cNvPr id="94213" name="Rectangle 4"/>
          <p:cNvSpPr>
            <a:spLocks noChangeArrowheads="1"/>
          </p:cNvSpPr>
          <p:nvPr/>
        </p:nvSpPr>
        <p:spPr bwMode="auto">
          <a:xfrm>
            <a:off x="1295400" y="2801938"/>
            <a:ext cx="5765800" cy="8731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2000" b="1" u="sng">
                <a:latin typeface="Tahoma" panose="020B0604030504040204" pitchFamily="34" charset="0"/>
              </a:rPr>
              <a:t>Measurement Device Accuracy</a:t>
            </a:r>
          </a:p>
          <a:p>
            <a:pPr lvl="1" eaLnBrk="1" hangingPunct="1">
              <a:spcBef>
                <a:spcPct val="30000"/>
              </a:spcBef>
              <a:buClrTx/>
              <a:buSzTx/>
              <a:buFontTx/>
              <a:buBlip>
                <a:blip r:embed="rId3"/>
              </a:buBlip>
            </a:pPr>
            <a:r>
              <a:rPr lang="en-US" altLang="en-US" sz="1800" b="1">
                <a:latin typeface="Tahoma" panose="020B0604030504040204" pitchFamily="34" charset="0"/>
                <a:ea typeface="MS PGothic" panose="020B0600070205080204" pitchFamily="34" charset="-128"/>
              </a:rPr>
              <a:t>Measurement noise</a:t>
            </a:r>
          </a:p>
        </p:txBody>
      </p:sp>
      <p:sp>
        <p:nvSpPr>
          <p:cNvPr id="94214" name="Rectangle 5"/>
          <p:cNvSpPr>
            <a:spLocks noChangeArrowheads="1"/>
          </p:cNvSpPr>
          <p:nvPr/>
        </p:nvSpPr>
        <p:spPr bwMode="auto">
          <a:xfrm>
            <a:off x="2286000" y="3675063"/>
            <a:ext cx="5203825" cy="838200"/>
          </a:xfrm>
          <a:prstGeom prst="rect">
            <a:avLst/>
          </a:prstGeom>
          <a:solidFill>
            <a:srgbClr val="FF33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2000" b="1" u="sng">
                <a:latin typeface="Tahoma" panose="020B0604030504040204" pitchFamily="34" charset="0"/>
              </a:rPr>
              <a:t>Process Variations</a:t>
            </a:r>
          </a:p>
          <a:p>
            <a:pPr lvl="1" eaLnBrk="1" hangingPunct="1">
              <a:spcBef>
                <a:spcPct val="30000"/>
              </a:spcBef>
              <a:buClrTx/>
              <a:buSzTx/>
              <a:buFontTx/>
              <a:buBlip>
                <a:blip r:embed="rId3"/>
              </a:buBlip>
            </a:pPr>
            <a:r>
              <a:rPr lang="en-US" altLang="en-US" sz="1800" b="1">
                <a:latin typeface="Tahoma" panose="020B0604030504040204" pitchFamily="34" charset="0"/>
                <a:ea typeface="MS PGothic" panose="020B0600070205080204" pitchFamily="34" charset="-128"/>
              </a:rPr>
              <a:t>Calibration</a:t>
            </a:r>
          </a:p>
        </p:txBody>
      </p:sp>
      <p:sp>
        <p:nvSpPr>
          <p:cNvPr id="94215" name="Rectangle 6"/>
          <p:cNvSpPr>
            <a:spLocks noChangeArrowheads="1"/>
          </p:cNvSpPr>
          <p:nvPr/>
        </p:nvSpPr>
        <p:spPr bwMode="auto">
          <a:xfrm>
            <a:off x="3200400" y="4513263"/>
            <a:ext cx="4953000" cy="9144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2000" b="1" u="sng">
                <a:latin typeface="Tahoma" panose="020B0604030504040204" pitchFamily="34" charset="0"/>
              </a:rPr>
              <a:t>On-Chip Measurement</a:t>
            </a:r>
          </a:p>
          <a:p>
            <a:pPr lvl="1" eaLnBrk="1" hangingPunct="1">
              <a:spcBef>
                <a:spcPct val="30000"/>
              </a:spcBef>
              <a:buClrTx/>
              <a:buSzTx/>
              <a:buFontTx/>
              <a:buBlip>
                <a:blip r:embed="rId3"/>
              </a:buBlip>
            </a:pPr>
            <a:r>
              <a:rPr lang="en-US" altLang="en-US" sz="1800" b="1">
                <a:latin typeface="Tahoma" panose="020B0604030504040204" pitchFamily="34" charset="0"/>
                <a:ea typeface="MS PGothic" panose="020B0600070205080204" pitchFamily="34" charset="-128"/>
              </a:rPr>
              <a:t>Vulnerable to attack</a:t>
            </a:r>
          </a:p>
        </p:txBody>
      </p:sp>
      <p:sp>
        <p:nvSpPr>
          <p:cNvPr id="94216" name="Rectangle 7"/>
          <p:cNvSpPr>
            <a:spLocks noChangeArrowheads="1"/>
          </p:cNvSpPr>
          <p:nvPr/>
        </p:nvSpPr>
        <p:spPr bwMode="auto">
          <a:xfrm>
            <a:off x="4038600" y="5392738"/>
            <a:ext cx="5002213" cy="9144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2000" b="1" u="sng">
                <a:latin typeface="Tahoma" panose="020B0604030504040204" pitchFamily="34" charset="0"/>
              </a:rPr>
              <a:t>Authentication Time</a:t>
            </a:r>
          </a:p>
          <a:p>
            <a:pPr lvl="1" eaLnBrk="1" hangingPunct="1">
              <a:spcBef>
                <a:spcPct val="30000"/>
              </a:spcBef>
              <a:buClrTx/>
              <a:buSzTx/>
              <a:buFontTx/>
              <a:buBlip>
                <a:blip r:embed="rId3"/>
              </a:buBlip>
            </a:pPr>
            <a:r>
              <a:rPr lang="en-US" altLang="en-US" sz="1800" b="1">
                <a:latin typeface="Tahoma" panose="020B0604030504040204" pitchFamily="34" charset="0"/>
                <a:ea typeface="MS PGothic" panose="020B0600070205080204" pitchFamily="34" charset="-128"/>
              </a:rPr>
              <a:t>Trojans can be inserted randomly</a:t>
            </a: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533400" y="76200"/>
            <a:ext cx="8229600" cy="685800"/>
          </a:xfrm>
        </p:spPr>
        <p:txBody>
          <a:bodyPr/>
          <a:lstStyle/>
          <a:p>
            <a:pPr eaLnBrk="1" hangingPunct="1"/>
            <a:r>
              <a:rPr lang="en-US" altLang="en-US" b="1"/>
              <a:t>Side Channel Analysis -- Delay</a:t>
            </a:r>
          </a:p>
        </p:txBody>
      </p:sp>
      <p:sp>
        <p:nvSpPr>
          <p:cNvPr id="96259" name="Content Placeholder 2"/>
          <p:cNvSpPr>
            <a:spLocks noGrp="1"/>
          </p:cNvSpPr>
          <p:nvPr>
            <p:ph idx="1"/>
          </p:nvPr>
        </p:nvSpPr>
        <p:spPr>
          <a:xfrm>
            <a:off x="427038" y="912813"/>
            <a:ext cx="8139112" cy="2178050"/>
          </a:xfrm>
        </p:spPr>
        <p:txBody>
          <a:bodyPr lIns="90488" tIns="44450" rIns="90488" bIns="44450"/>
          <a:lstStyle/>
          <a:p>
            <a:pPr marL="452438" indent="-452438" eaLnBrk="1" hangingPunct="1"/>
            <a:r>
              <a:rPr lang="en-US" altLang="en-US" sz="2400" dirty="0"/>
              <a:t>Hard to detect using power analysis are:</a:t>
            </a:r>
          </a:p>
          <a:p>
            <a:pPr marL="779463" lvl="1" indent="-452438" eaLnBrk="1" hangingPunct="1"/>
            <a:r>
              <a:rPr lang="en-US" altLang="en-US" sz="2000" dirty="0">
                <a:ea typeface="Arial" panose="020B0604020202020204" pitchFamily="34" charset="0"/>
              </a:rPr>
              <a:t>Distributed Trojans</a:t>
            </a:r>
          </a:p>
          <a:p>
            <a:pPr marL="779463" lvl="1" indent="-452438" eaLnBrk="1" hangingPunct="1"/>
            <a:r>
              <a:rPr lang="en-US" altLang="en-US" sz="2000" dirty="0">
                <a:ea typeface="Arial" panose="020B0604020202020204" pitchFamily="34" charset="0"/>
              </a:rPr>
              <a:t>Hard-to-activate Trojans</a:t>
            </a:r>
          </a:p>
          <a:p>
            <a:pPr marL="452438" indent="-452438" eaLnBrk="1" hangingPunct="1"/>
            <a:r>
              <a:rPr lang="en-US" altLang="en-US" sz="2400" b="1" dirty="0"/>
              <a:t>Path delay</a:t>
            </a:r>
            <a:r>
              <a:rPr lang="en-US" altLang="en-US" sz="2400" dirty="0"/>
              <a:t>: A change in physical dimension of the wires and transistors can also change path delay.</a:t>
            </a:r>
          </a:p>
          <a:p>
            <a:pPr marL="452438" indent="-452438" eaLnBrk="1" hangingPunct="1"/>
            <a:r>
              <a:rPr lang="en-US" altLang="en-US" sz="2400" dirty="0"/>
              <a:t>We are developing new methods that can detect additional delays on each path of the circuit.</a:t>
            </a:r>
          </a:p>
          <a:p>
            <a:pPr marL="452438" indent="-452438" eaLnBrk="1" hangingPunct="1">
              <a:buFont typeface="Wingdings" panose="05000000000000000000" pitchFamily="2" charset="2"/>
              <a:buNone/>
            </a:pPr>
            <a:endParaRPr lang="en-US" altLang="en-US" sz="2400" dirty="0"/>
          </a:p>
        </p:txBody>
      </p:sp>
      <p:sp>
        <p:nvSpPr>
          <p:cNvPr id="9626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7FBA8C2D-17F7-4762-80CA-4A8F05464777}" type="slidenum">
              <a:rPr lang="en-US" altLang="en-US" sz="1200"/>
              <a:pPr>
                <a:spcBef>
                  <a:spcPct val="0"/>
                </a:spcBef>
                <a:buClrTx/>
                <a:buSzTx/>
                <a:buFontTx/>
                <a:buNone/>
              </a:pPr>
              <a:t>58</a:t>
            </a:fld>
            <a:endParaRPr lang="en-US" altLang="en-US" sz="1200"/>
          </a:p>
        </p:txBody>
      </p:sp>
      <p:cxnSp>
        <p:nvCxnSpPr>
          <p:cNvPr id="96261" name="Straight Connector 309"/>
          <p:cNvCxnSpPr>
            <a:cxnSpLocks noChangeShapeType="1"/>
          </p:cNvCxnSpPr>
          <p:nvPr/>
        </p:nvCxnSpPr>
        <p:spPr bwMode="auto">
          <a:xfrm rot="10800000" flipV="1">
            <a:off x="6069013" y="5356225"/>
            <a:ext cx="415925" cy="47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pic>
        <p:nvPicPr>
          <p:cNvPr id="96262" name="Group 240"/>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4238" y="3741738"/>
            <a:ext cx="4508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96263" name="Group 242"/>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2950" y="3876675"/>
            <a:ext cx="4556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cxnSp>
        <p:nvCxnSpPr>
          <p:cNvPr id="96264" name="Straight Connector 252"/>
          <p:cNvCxnSpPr>
            <a:cxnSpLocks noChangeShapeType="1"/>
          </p:cNvCxnSpPr>
          <p:nvPr/>
        </p:nvCxnSpPr>
        <p:spPr bwMode="auto">
          <a:xfrm rot="10800000">
            <a:off x="2738438" y="3813175"/>
            <a:ext cx="1979612"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65" name="Straight Connector 265"/>
          <p:cNvCxnSpPr>
            <a:cxnSpLocks noChangeShapeType="1"/>
          </p:cNvCxnSpPr>
          <p:nvPr/>
        </p:nvCxnSpPr>
        <p:spPr bwMode="auto">
          <a:xfrm rot="10800000">
            <a:off x="3722688" y="4079875"/>
            <a:ext cx="995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pic>
        <p:nvPicPr>
          <p:cNvPr id="96266" name="Group 290"/>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4363" y="4060825"/>
            <a:ext cx="4508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96267" name="Group 269"/>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3088" y="4462463"/>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cxnSp>
        <p:nvCxnSpPr>
          <p:cNvPr id="96268" name="Straight Connector 272"/>
          <p:cNvCxnSpPr>
            <a:cxnSpLocks noChangeShapeType="1"/>
          </p:cNvCxnSpPr>
          <p:nvPr/>
        </p:nvCxnSpPr>
        <p:spPr bwMode="auto">
          <a:xfrm rot="10800000">
            <a:off x="2346325" y="3948113"/>
            <a:ext cx="995363"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69" name="Straight Connector 273"/>
          <p:cNvCxnSpPr>
            <a:cxnSpLocks noChangeShapeType="1"/>
          </p:cNvCxnSpPr>
          <p:nvPr/>
        </p:nvCxnSpPr>
        <p:spPr bwMode="auto">
          <a:xfrm rot="10800000">
            <a:off x="2346325" y="4173538"/>
            <a:ext cx="995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0" name="Straight Connector 274"/>
          <p:cNvCxnSpPr>
            <a:cxnSpLocks noChangeShapeType="1"/>
          </p:cNvCxnSpPr>
          <p:nvPr/>
        </p:nvCxnSpPr>
        <p:spPr bwMode="auto">
          <a:xfrm rot="10800000">
            <a:off x="3967163" y="4546600"/>
            <a:ext cx="473075"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1" name="Straight Connector 275"/>
          <p:cNvCxnSpPr>
            <a:cxnSpLocks noChangeShapeType="1"/>
          </p:cNvCxnSpPr>
          <p:nvPr/>
        </p:nvCxnSpPr>
        <p:spPr bwMode="auto">
          <a:xfrm rot="10800000">
            <a:off x="3176588" y="4768850"/>
            <a:ext cx="1263650"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2" name="Straight Connector 277"/>
          <p:cNvCxnSpPr>
            <a:cxnSpLocks noChangeShapeType="1"/>
          </p:cNvCxnSpPr>
          <p:nvPr/>
        </p:nvCxnSpPr>
        <p:spPr bwMode="auto">
          <a:xfrm rot="5400000">
            <a:off x="3736181" y="4310857"/>
            <a:ext cx="466725" cy="4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3" name="Straight Connector 280"/>
          <p:cNvCxnSpPr>
            <a:cxnSpLocks noChangeShapeType="1"/>
          </p:cNvCxnSpPr>
          <p:nvPr/>
        </p:nvCxnSpPr>
        <p:spPr bwMode="auto">
          <a:xfrm rot="10800000">
            <a:off x="5122863" y="3946525"/>
            <a:ext cx="263525"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4" name="Straight Connector 281"/>
          <p:cNvCxnSpPr>
            <a:cxnSpLocks noChangeShapeType="1"/>
          </p:cNvCxnSpPr>
          <p:nvPr/>
        </p:nvCxnSpPr>
        <p:spPr bwMode="auto">
          <a:xfrm rot="5400000">
            <a:off x="5274470" y="4050506"/>
            <a:ext cx="214312" cy="3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5" name="Straight Connector 282"/>
          <p:cNvCxnSpPr>
            <a:cxnSpLocks noChangeShapeType="1"/>
          </p:cNvCxnSpPr>
          <p:nvPr/>
        </p:nvCxnSpPr>
        <p:spPr bwMode="auto">
          <a:xfrm rot="10800000">
            <a:off x="5380038" y="4162425"/>
            <a:ext cx="334962" cy="47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pic>
        <p:nvPicPr>
          <p:cNvPr id="96276" name="Group 289"/>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3313" y="4559300"/>
            <a:ext cx="327025"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cxnSp>
        <p:nvCxnSpPr>
          <p:cNvPr id="96277" name="Straight Connector 291"/>
          <p:cNvCxnSpPr>
            <a:cxnSpLocks noChangeShapeType="1"/>
          </p:cNvCxnSpPr>
          <p:nvPr/>
        </p:nvCxnSpPr>
        <p:spPr bwMode="auto">
          <a:xfrm rot="10800000">
            <a:off x="5375275" y="4356100"/>
            <a:ext cx="336550" cy="47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8" name="Straight Connector 292"/>
          <p:cNvCxnSpPr>
            <a:cxnSpLocks noChangeShapeType="1"/>
          </p:cNvCxnSpPr>
          <p:nvPr/>
        </p:nvCxnSpPr>
        <p:spPr bwMode="auto">
          <a:xfrm rot="5400000">
            <a:off x="5222081" y="4506119"/>
            <a:ext cx="307975" cy="79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79" name="Straight Connector 293"/>
          <p:cNvCxnSpPr>
            <a:cxnSpLocks noChangeShapeType="1"/>
          </p:cNvCxnSpPr>
          <p:nvPr/>
        </p:nvCxnSpPr>
        <p:spPr bwMode="auto">
          <a:xfrm rot="10800000">
            <a:off x="4810125" y="4660900"/>
            <a:ext cx="123825"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80" name="Straight Connector 296"/>
          <p:cNvCxnSpPr>
            <a:cxnSpLocks noChangeShapeType="1"/>
          </p:cNvCxnSpPr>
          <p:nvPr/>
        </p:nvCxnSpPr>
        <p:spPr bwMode="auto">
          <a:xfrm rot="10800000" flipV="1">
            <a:off x="5224463" y="4664075"/>
            <a:ext cx="1476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pic>
        <p:nvPicPr>
          <p:cNvPr id="96281" name="Group 298"/>
          <p:cNvPicPr preferRelativeResize="0">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8788" y="5049838"/>
            <a:ext cx="45561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cxnSp>
        <p:nvCxnSpPr>
          <p:cNvPr id="96282" name="Straight Connector 301"/>
          <p:cNvCxnSpPr>
            <a:cxnSpLocks noChangeShapeType="1"/>
          </p:cNvCxnSpPr>
          <p:nvPr/>
        </p:nvCxnSpPr>
        <p:spPr bwMode="auto">
          <a:xfrm rot="10800000">
            <a:off x="3551238" y="5141913"/>
            <a:ext cx="746125"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83" name="Straight Connector 302"/>
          <p:cNvCxnSpPr>
            <a:cxnSpLocks noChangeShapeType="1"/>
          </p:cNvCxnSpPr>
          <p:nvPr/>
        </p:nvCxnSpPr>
        <p:spPr bwMode="auto">
          <a:xfrm rot="10800000">
            <a:off x="3303588" y="5365750"/>
            <a:ext cx="9937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84" name="Straight Connector 303"/>
          <p:cNvCxnSpPr>
            <a:cxnSpLocks noChangeShapeType="1"/>
          </p:cNvCxnSpPr>
          <p:nvPr/>
        </p:nvCxnSpPr>
        <p:spPr bwMode="auto">
          <a:xfrm rot="10800000">
            <a:off x="4700588" y="5253038"/>
            <a:ext cx="9953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pic>
        <p:nvPicPr>
          <p:cNvPr id="96285" name="Group 304"/>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5625" y="5160963"/>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cxnSp>
        <p:nvCxnSpPr>
          <p:cNvPr id="96286" name="Straight Connector 307"/>
          <p:cNvCxnSpPr>
            <a:cxnSpLocks noChangeShapeType="1"/>
          </p:cNvCxnSpPr>
          <p:nvPr/>
        </p:nvCxnSpPr>
        <p:spPr bwMode="auto">
          <a:xfrm rot="10800000">
            <a:off x="4022725" y="5473700"/>
            <a:ext cx="1674813" cy="15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87" name="Straight Connector 308"/>
          <p:cNvCxnSpPr>
            <a:cxnSpLocks noChangeShapeType="1"/>
          </p:cNvCxnSpPr>
          <p:nvPr/>
        </p:nvCxnSpPr>
        <p:spPr bwMode="auto">
          <a:xfrm rot="5400000">
            <a:off x="3976688" y="5421312"/>
            <a:ext cx="107950" cy="3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88" name="Straight Connector 310"/>
          <p:cNvCxnSpPr>
            <a:cxnSpLocks noChangeShapeType="1"/>
          </p:cNvCxnSpPr>
          <p:nvPr/>
        </p:nvCxnSpPr>
        <p:spPr bwMode="auto">
          <a:xfrm rot="10800000">
            <a:off x="6122988" y="4262438"/>
            <a:ext cx="5095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96289" name="Rectangle 311"/>
          <p:cNvSpPr>
            <a:spLocks noChangeArrowheads="1"/>
          </p:cNvSpPr>
          <p:nvPr/>
        </p:nvSpPr>
        <p:spPr bwMode="auto">
          <a:xfrm>
            <a:off x="2663825" y="4694238"/>
            <a:ext cx="514350" cy="608012"/>
          </a:xfrm>
          <a:prstGeom prst="rect">
            <a:avLst/>
          </a:prstGeom>
          <a:solidFill>
            <a:schemeClr val="bg1"/>
          </a:solidFill>
          <a:ln w="25400">
            <a:solidFill>
              <a:schemeClr val="bg2"/>
            </a:solidFill>
            <a:round/>
            <a:headEnd/>
            <a:tailEnd/>
          </a:ln>
        </p:spPr>
        <p:txBody>
          <a:bodyPr/>
          <a:lstStyle>
            <a:lvl1pPr defTabSz="3135313">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3135313">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3135313">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31353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3135313">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3135313"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endParaRPr lang="en-US" altLang="en-US" sz="6200">
              <a:latin typeface="Tahoma" panose="020B0604030504040204" pitchFamily="34" charset="0"/>
            </a:endParaRPr>
          </a:p>
        </p:txBody>
      </p:sp>
      <p:grpSp>
        <p:nvGrpSpPr>
          <p:cNvPr id="2" name="Group 317"/>
          <p:cNvGrpSpPr/>
          <p:nvPr/>
        </p:nvGrpSpPr>
        <p:grpSpPr>
          <a:xfrm>
            <a:off x="2447255" y="5143994"/>
            <a:ext cx="347482" cy="122183"/>
            <a:chOff x="10118409" y="29672279"/>
            <a:chExt cx="427671" cy="181927"/>
          </a:xfrm>
          <a:solidFill>
            <a:schemeClr val="bg1"/>
          </a:solidFill>
        </p:grpSpPr>
        <p:cxnSp>
          <p:nvCxnSpPr>
            <p:cNvPr id="317" name="Straight Connector 316"/>
            <p:cNvCxnSpPr/>
            <p:nvPr/>
          </p:nvCxnSpPr>
          <p:spPr bwMode="auto">
            <a:xfrm rot="10800000">
              <a:off x="10118409" y="29755149"/>
              <a:ext cx="414331" cy="6349"/>
            </a:xfrm>
            <a:prstGeom prst="line">
              <a:avLst/>
            </a:prstGeom>
            <a:grpFill/>
            <a:ln w="38100" cap="flat" cmpd="sng" algn="ctr">
              <a:solidFill>
                <a:schemeClr val="tx1"/>
              </a:solidFill>
              <a:prstDash val="solid"/>
              <a:round/>
              <a:headEnd type="none" w="med" len="med"/>
              <a:tailEnd type="none" w="med" len="med"/>
            </a:ln>
            <a:effectLst/>
          </p:spPr>
        </p:cxnSp>
        <p:sp>
          <p:nvSpPr>
            <p:cNvPr id="314" name="Isosceles Triangle 313"/>
            <p:cNvSpPr/>
            <p:nvPr/>
          </p:nvSpPr>
          <p:spPr bwMode="auto">
            <a:xfrm rot="5400000">
              <a:off x="10378923" y="29687049"/>
              <a:ext cx="181927" cy="152387"/>
            </a:xfrm>
            <a:prstGeom prst="triangle">
              <a:avLst/>
            </a:prstGeom>
            <a:grpFill/>
            <a:ln w="38100" cap="flat" cmpd="sng" algn="ctr">
              <a:solidFill>
                <a:schemeClr val="tx1"/>
              </a:solidFill>
              <a:prstDash val="solid"/>
              <a:round/>
              <a:headEnd type="none" w="med" len="med"/>
              <a:tailEnd type="none" w="med" len="med"/>
            </a:ln>
            <a:effectLst/>
          </p:spPr>
          <p:txBody>
            <a:bodyPr/>
            <a:lstStyle/>
            <a:p>
              <a:pPr defTabSz="3135313">
                <a:defRPr/>
              </a:pPr>
              <a:endParaRPr lang="en-US" sz="6200">
                <a:ea typeface="+mn-ea"/>
              </a:endParaRPr>
            </a:p>
          </p:txBody>
        </p:sp>
      </p:grpSp>
      <p:cxnSp>
        <p:nvCxnSpPr>
          <p:cNvPr id="96291" name="Straight Connector 315"/>
          <p:cNvCxnSpPr>
            <a:cxnSpLocks noChangeShapeType="1"/>
          </p:cNvCxnSpPr>
          <p:nvPr/>
        </p:nvCxnSpPr>
        <p:spPr bwMode="auto">
          <a:xfrm rot="5400000">
            <a:off x="3366294" y="4963319"/>
            <a:ext cx="366713" cy="3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92" name="Straight Connector 318"/>
          <p:cNvCxnSpPr>
            <a:cxnSpLocks noChangeShapeType="1"/>
          </p:cNvCxnSpPr>
          <p:nvPr/>
        </p:nvCxnSpPr>
        <p:spPr bwMode="auto">
          <a:xfrm rot="5400000">
            <a:off x="2176463" y="4506913"/>
            <a:ext cx="663575" cy="3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93" name="Straight Connector 319"/>
          <p:cNvCxnSpPr>
            <a:cxnSpLocks noChangeShapeType="1"/>
          </p:cNvCxnSpPr>
          <p:nvPr/>
        </p:nvCxnSpPr>
        <p:spPr bwMode="auto">
          <a:xfrm rot="10800000">
            <a:off x="2514600" y="4816475"/>
            <a:ext cx="157163" cy="47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96294" name="Straight Connector 240"/>
          <p:cNvCxnSpPr>
            <a:cxnSpLocks noChangeShapeType="1"/>
          </p:cNvCxnSpPr>
          <p:nvPr/>
        </p:nvCxnSpPr>
        <p:spPr bwMode="auto">
          <a:xfrm rot="5400000">
            <a:off x="2870994" y="5074444"/>
            <a:ext cx="1997075" cy="1111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96295" name="Straight Connector 241"/>
          <p:cNvCxnSpPr>
            <a:cxnSpLocks noChangeShapeType="1"/>
          </p:cNvCxnSpPr>
          <p:nvPr/>
        </p:nvCxnSpPr>
        <p:spPr bwMode="auto">
          <a:xfrm rot="5400000">
            <a:off x="4579144" y="5566569"/>
            <a:ext cx="64135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grpSp>
        <p:nvGrpSpPr>
          <p:cNvPr id="3" name="Group 298"/>
          <p:cNvGrpSpPr/>
          <p:nvPr/>
        </p:nvGrpSpPr>
        <p:grpSpPr>
          <a:xfrm>
            <a:off x="5224280" y="5785645"/>
            <a:ext cx="402895" cy="375443"/>
            <a:chOff x="12992100" y="27736800"/>
            <a:chExt cx="742950" cy="666750"/>
          </a:xfrm>
          <a:solidFill>
            <a:schemeClr val="bg1"/>
          </a:solidFill>
        </p:grpSpPr>
        <p:sp>
          <p:nvSpPr>
            <p:cNvPr id="332" name="Flowchart: Delay 331"/>
            <p:cNvSpPr/>
            <p:nvPr/>
          </p:nvSpPr>
          <p:spPr bwMode="auto">
            <a:xfrm>
              <a:off x="12992100" y="27736800"/>
              <a:ext cx="609600" cy="666750"/>
            </a:xfrm>
            <a:prstGeom prst="flowChartDelay">
              <a:avLst/>
            </a:prstGeom>
            <a:solidFill>
              <a:srgbClr val="FF0000"/>
            </a:solidFill>
            <a:ln w="38100" cap="flat" cmpd="sng" algn="ctr">
              <a:solidFill>
                <a:schemeClr val="tx1"/>
              </a:solidFill>
              <a:prstDash val="solid"/>
              <a:round/>
              <a:headEnd type="none" w="med" len="med"/>
              <a:tailEnd type="none" w="med" len="med"/>
            </a:ln>
            <a:effectLst/>
          </p:spPr>
          <p:txBody>
            <a:bodyPr/>
            <a:lstStyle/>
            <a:p>
              <a:pPr defTabSz="3135313">
                <a:defRPr/>
              </a:pPr>
              <a:endParaRPr lang="en-US" sz="6200">
                <a:ea typeface="+mn-ea"/>
              </a:endParaRPr>
            </a:p>
          </p:txBody>
        </p:sp>
        <p:sp>
          <p:nvSpPr>
            <p:cNvPr id="333" name="Oval 332"/>
            <p:cNvSpPr/>
            <p:nvPr/>
          </p:nvSpPr>
          <p:spPr bwMode="auto">
            <a:xfrm>
              <a:off x="13582650" y="28003500"/>
              <a:ext cx="152400" cy="133350"/>
            </a:xfrm>
            <a:prstGeom prst="ellipse">
              <a:avLst/>
            </a:prstGeom>
            <a:solidFill>
              <a:srgbClr val="FF0000"/>
            </a:solidFill>
            <a:ln w="38100" cap="flat" cmpd="sng" algn="ctr">
              <a:solidFill>
                <a:schemeClr val="tx1"/>
              </a:solidFill>
              <a:prstDash val="solid"/>
              <a:round/>
              <a:headEnd type="none" w="med" len="med"/>
              <a:tailEnd type="none" w="med" len="med"/>
            </a:ln>
            <a:effectLst/>
          </p:spPr>
          <p:txBody>
            <a:bodyPr/>
            <a:lstStyle/>
            <a:p>
              <a:pPr defTabSz="3135313">
                <a:defRPr/>
              </a:pPr>
              <a:endParaRPr lang="en-US" sz="6200">
                <a:ea typeface="+mn-ea"/>
              </a:endParaRPr>
            </a:p>
          </p:txBody>
        </p:sp>
      </p:grpSp>
      <p:cxnSp>
        <p:nvCxnSpPr>
          <p:cNvPr id="96297" name="Straight Connector 333"/>
          <p:cNvCxnSpPr>
            <a:cxnSpLocks noChangeShapeType="1"/>
          </p:cNvCxnSpPr>
          <p:nvPr/>
        </p:nvCxnSpPr>
        <p:spPr bwMode="auto">
          <a:xfrm rot="10800000">
            <a:off x="3846513" y="6070600"/>
            <a:ext cx="1371600" cy="476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96298" name="Straight Connector 339"/>
          <p:cNvCxnSpPr>
            <a:cxnSpLocks noChangeShapeType="1"/>
          </p:cNvCxnSpPr>
          <p:nvPr/>
        </p:nvCxnSpPr>
        <p:spPr bwMode="auto">
          <a:xfrm rot="10800000">
            <a:off x="4899025" y="5878513"/>
            <a:ext cx="314325" cy="635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sp>
        <p:nvSpPr>
          <p:cNvPr id="96299" name="Line 42"/>
          <p:cNvSpPr>
            <a:spLocks noChangeShapeType="1"/>
          </p:cNvSpPr>
          <p:nvPr/>
        </p:nvSpPr>
        <p:spPr bwMode="auto">
          <a:xfrm>
            <a:off x="5980113" y="5976938"/>
            <a:ext cx="271462" cy="0"/>
          </a:xfrm>
          <a:prstGeom prst="line">
            <a:avLst/>
          </a:prstGeom>
          <a:noFill/>
          <a:ln w="38100">
            <a:solidFill>
              <a:srgbClr val="F73E19"/>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cxnSp>
        <p:nvCxnSpPr>
          <p:cNvPr id="96300" name="Straight Connector 339"/>
          <p:cNvCxnSpPr>
            <a:cxnSpLocks noChangeShapeType="1"/>
          </p:cNvCxnSpPr>
          <p:nvPr/>
        </p:nvCxnSpPr>
        <p:spPr bwMode="auto">
          <a:xfrm rot="10800000">
            <a:off x="5640388" y="5975350"/>
            <a:ext cx="3143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sp>
        <p:nvSpPr>
          <p:cNvPr id="96301" name="Line 44"/>
          <p:cNvSpPr>
            <a:spLocks noChangeShapeType="1"/>
          </p:cNvSpPr>
          <p:nvPr/>
        </p:nvSpPr>
        <p:spPr bwMode="auto">
          <a:xfrm flipH="1">
            <a:off x="2087563" y="5202238"/>
            <a:ext cx="234950" cy="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02" name="Line 45"/>
          <p:cNvSpPr>
            <a:spLocks noChangeShapeType="1"/>
          </p:cNvSpPr>
          <p:nvPr/>
        </p:nvSpPr>
        <p:spPr bwMode="auto">
          <a:xfrm flipH="1">
            <a:off x="2016125" y="4162425"/>
            <a:ext cx="236538" cy="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03" name="Line 46"/>
          <p:cNvSpPr>
            <a:spLocks noChangeShapeType="1"/>
          </p:cNvSpPr>
          <p:nvPr/>
        </p:nvSpPr>
        <p:spPr bwMode="auto">
          <a:xfrm flipH="1">
            <a:off x="2009775" y="3957638"/>
            <a:ext cx="234950" cy="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04" name="Line 47"/>
          <p:cNvSpPr>
            <a:spLocks noChangeShapeType="1"/>
          </p:cNvSpPr>
          <p:nvPr/>
        </p:nvSpPr>
        <p:spPr bwMode="auto">
          <a:xfrm flipH="1">
            <a:off x="2362200" y="3811588"/>
            <a:ext cx="236538" cy="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05" name="Line 48"/>
          <p:cNvSpPr>
            <a:spLocks noChangeShapeType="1"/>
          </p:cNvSpPr>
          <p:nvPr/>
        </p:nvSpPr>
        <p:spPr bwMode="auto">
          <a:xfrm flipH="1">
            <a:off x="6723063" y="4270375"/>
            <a:ext cx="234950" cy="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06" name="Line 49"/>
          <p:cNvSpPr>
            <a:spLocks noChangeShapeType="1"/>
          </p:cNvSpPr>
          <p:nvPr/>
        </p:nvSpPr>
        <p:spPr bwMode="auto">
          <a:xfrm flipH="1">
            <a:off x="6567488" y="5356225"/>
            <a:ext cx="234950" cy="0"/>
          </a:xfrm>
          <a:prstGeom prst="line">
            <a:avLst/>
          </a:prstGeom>
          <a:noFill/>
          <a:ln w="317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96307" name="Group 50"/>
          <p:cNvGrpSpPr>
            <a:grpSpLocks/>
          </p:cNvGrpSpPr>
          <p:nvPr/>
        </p:nvGrpSpPr>
        <p:grpSpPr bwMode="auto">
          <a:xfrm>
            <a:off x="3605213" y="5724525"/>
            <a:ext cx="255587" cy="441325"/>
            <a:chOff x="3708" y="1572"/>
            <a:chExt cx="108" cy="200"/>
          </a:xfrm>
        </p:grpSpPr>
        <p:sp>
          <p:nvSpPr>
            <p:cNvPr id="96316" name="Line 51"/>
            <p:cNvSpPr>
              <a:spLocks noChangeShapeType="1"/>
            </p:cNvSpPr>
            <p:nvPr/>
          </p:nvSpPr>
          <p:spPr bwMode="auto">
            <a:xfrm flipH="1">
              <a:off x="3740" y="1576"/>
              <a:ext cx="7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7" name="Line 52"/>
            <p:cNvSpPr>
              <a:spLocks noChangeShapeType="1"/>
            </p:cNvSpPr>
            <p:nvPr/>
          </p:nvSpPr>
          <p:spPr bwMode="auto">
            <a:xfrm>
              <a:off x="3744" y="1572"/>
              <a:ext cx="0" cy="4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8" name="Line 53"/>
            <p:cNvSpPr>
              <a:spLocks noChangeShapeType="1"/>
            </p:cNvSpPr>
            <p:nvPr/>
          </p:nvSpPr>
          <p:spPr bwMode="auto">
            <a:xfrm flipH="1">
              <a:off x="3708" y="1624"/>
              <a:ext cx="7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9" name="Line 54"/>
            <p:cNvSpPr>
              <a:spLocks noChangeShapeType="1"/>
            </p:cNvSpPr>
            <p:nvPr/>
          </p:nvSpPr>
          <p:spPr bwMode="auto">
            <a:xfrm flipH="1">
              <a:off x="3708" y="1660"/>
              <a:ext cx="7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20" name="Line 55"/>
            <p:cNvSpPr>
              <a:spLocks noChangeShapeType="1"/>
            </p:cNvSpPr>
            <p:nvPr/>
          </p:nvSpPr>
          <p:spPr bwMode="auto">
            <a:xfrm>
              <a:off x="3748" y="1668"/>
              <a:ext cx="0" cy="4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21" name="AutoShape 56"/>
            <p:cNvSpPr>
              <a:spLocks noChangeArrowheads="1"/>
            </p:cNvSpPr>
            <p:nvPr/>
          </p:nvSpPr>
          <p:spPr bwMode="auto">
            <a:xfrm rot="10800000">
              <a:off x="3720" y="1716"/>
              <a:ext cx="56" cy="56"/>
            </a:xfrm>
            <a:prstGeom prst="triangle">
              <a:avLst>
                <a:gd name="adj" fmla="val 50000"/>
              </a:avLst>
            </a:prstGeom>
            <a:solidFill>
              <a:schemeClr val="accent1"/>
            </a:solidFill>
            <a:ln w="25400">
              <a:solidFill>
                <a:srgbClr val="FF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grpSp>
        <p:nvGrpSpPr>
          <p:cNvPr id="96308" name="Group 57"/>
          <p:cNvGrpSpPr>
            <a:grpSpLocks/>
          </p:cNvGrpSpPr>
          <p:nvPr/>
        </p:nvGrpSpPr>
        <p:grpSpPr bwMode="auto">
          <a:xfrm>
            <a:off x="4622800" y="5556250"/>
            <a:ext cx="254000" cy="441325"/>
            <a:chOff x="3708" y="1572"/>
            <a:chExt cx="108" cy="200"/>
          </a:xfrm>
        </p:grpSpPr>
        <p:sp>
          <p:nvSpPr>
            <p:cNvPr id="96310" name="Line 58"/>
            <p:cNvSpPr>
              <a:spLocks noChangeShapeType="1"/>
            </p:cNvSpPr>
            <p:nvPr/>
          </p:nvSpPr>
          <p:spPr bwMode="auto">
            <a:xfrm flipH="1">
              <a:off x="3740" y="1576"/>
              <a:ext cx="7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1" name="Line 59"/>
            <p:cNvSpPr>
              <a:spLocks noChangeShapeType="1"/>
            </p:cNvSpPr>
            <p:nvPr/>
          </p:nvSpPr>
          <p:spPr bwMode="auto">
            <a:xfrm>
              <a:off x="3744" y="1572"/>
              <a:ext cx="0" cy="4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2" name="Line 60"/>
            <p:cNvSpPr>
              <a:spLocks noChangeShapeType="1"/>
            </p:cNvSpPr>
            <p:nvPr/>
          </p:nvSpPr>
          <p:spPr bwMode="auto">
            <a:xfrm flipH="1">
              <a:off x="3708" y="1624"/>
              <a:ext cx="7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3" name="Line 61"/>
            <p:cNvSpPr>
              <a:spLocks noChangeShapeType="1"/>
            </p:cNvSpPr>
            <p:nvPr/>
          </p:nvSpPr>
          <p:spPr bwMode="auto">
            <a:xfrm flipH="1">
              <a:off x="3708" y="1660"/>
              <a:ext cx="7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4" name="Line 62"/>
            <p:cNvSpPr>
              <a:spLocks noChangeShapeType="1"/>
            </p:cNvSpPr>
            <p:nvPr/>
          </p:nvSpPr>
          <p:spPr bwMode="auto">
            <a:xfrm>
              <a:off x="3748" y="1668"/>
              <a:ext cx="0" cy="4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315" name="AutoShape 63"/>
            <p:cNvSpPr>
              <a:spLocks noChangeArrowheads="1"/>
            </p:cNvSpPr>
            <p:nvPr/>
          </p:nvSpPr>
          <p:spPr bwMode="auto">
            <a:xfrm rot="10800000">
              <a:off x="3720" y="1716"/>
              <a:ext cx="56" cy="56"/>
            </a:xfrm>
            <a:prstGeom prst="triangle">
              <a:avLst>
                <a:gd name="adj" fmla="val 50000"/>
              </a:avLst>
            </a:prstGeom>
            <a:solidFill>
              <a:schemeClr val="accent1"/>
            </a:solidFill>
            <a:ln w="25400">
              <a:solidFill>
                <a:srgbClr val="FF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96309" name="Text Box 64"/>
          <p:cNvSpPr txBox="1">
            <a:spLocks noChangeArrowheads="1"/>
          </p:cNvSpPr>
          <p:nvPr/>
        </p:nvSpPr>
        <p:spPr bwMode="auto">
          <a:xfrm>
            <a:off x="5689600" y="5584825"/>
            <a:ext cx="1054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en-US" sz="1800" b="1">
                <a:solidFill>
                  <a:srgbClr val="FF0000"/>
                </a:solidFill>
                <a:latin typeface="Tahoma" panose="020B0604030504040204" pitchFamily="34" charset="0"/>
              </a:rPr>
              <a:t>Trojan</a:t>
            </a: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a:xfrm>
            <a:off x="0" y="0"/>
            <a:ext cx="9144000" cy="838200"/>
          </a:xfrm>
        </p:spPr>
        <p:txBody>
          <a:bodyPr/>
          <a:lstStyle/>
          <a:p>
            <a:pPr eaLnBrk="1" hangingPunct="1"/>
            <a:r>
              <a:rPr lang="en-US" altLang="en-US" b="1"/>
              <a:t>Delay-based Methods</a:t>
            </a:r>
          </a:p>
        </p:txBody>
      </p:sp>
      <p:sp>
        <p:nvSpPr>
          <p:cNvPr id="98307" name="Content Placeholder 2"/>
          <p:cNvSpPr>
            <a:spLocks noGrp="1"/>
          </p:cNvSpPr>
          <p:nvPr>
            <p:ph idx="1"/>
          </p:nvPr>
        </p:nvSpPr>
        <p:spPr>
          <a:xfrm>
            <a:off x="190500" y="1054100"/>
            <a:ext cx="8750300" cy="1771650"/>
          </a:xfrm>
        </p:spPr>
        <p:txBody>
          <a:bodyPr/>
          <a:lstStyle/>
          <a:p>
            <a:pPr eaLnBrk="1" hangingPunct="1"/>
            <a:r>
              <a:rPr lang="en-US" altLang="en-US" sz="2400" dirty="0"/>
              <a:t>Shadow-register provides a possible solution for measuring internal path delay.</a:t>
            </a:r>
          </a:p>
          <a:p>
            <a:pPr eaLnBrk="1" hangingPunct="1"/>
            <a:r>
              <a:rPr lang="en-US" altLang="en-US" sz="2400" dirty="0"/>
              <a:t>From this architecture, it can be seen that the basic unit contains one shadow register, one comparator and one result register. </a:t>
            </a:r>
          </a:p>
          <a:p>
            <a:pPr eaLnBrk="1" hangingPunct="1"/>
            <a:endParaRPr lang="en-US" altLang="en-US" sz="2400" b="1" dirty="0"/>
          </a:p>
          <a:p>
            <a:pPr eaLnBrk="1" hangingPunct="1"/>
            <a:r>
              <a:rPr lang="en-US" altLang="en-US" sz="2400" b="1" dirty="0"/>
              <a:t>Limitations</a:t>
            </a:r>
            <a:r>
              <a:rPr lang="en-US" altLang="en-US" sz="2400" dirty="0"/>
              <a:t>:</a:t>
            </a:r>
          </a:p>
          <a:p>
            <a:pPr lvl="1" eaLnBrk="1" hangingPunct="1"/>
            <a:r>
              <a:rPr lang="en-US" altLang="en-US" sz="2000" dirty="0">
                <a:ea typeface="Arial" panose="020B0604020202020204" pitchFamily="34" charset="0"/>
              </a:rPr>
              <a:t>PV</a:t>
            </a:r>
          </a:p>
          <a:p>
            <a:pPr lvl="1" eaLnBrk="1" hangingPunct="1"/>
            <a:r>
              <a:rPr lang="en-US" altLang="en-US" sz="2000" dirty="0">
                <a:ea typeface="Arial" panose="020B0604020202020204" pitchFamily="34" charset="0"/>
              </a:rPr>
              <a:t>Overhead</a:t>
            </a:r>
          </a:p>
          <a:p>
            <a:pPr lvl="1" eaLnBrk="1" hangingPunct="1"/>
            <a:r>
              <a:rPr lang="en-US" altLang="en-US" sz="2000" dirty="0">
                <a:ea typeface="Arial" panose="020B0604020202020204" pitchFamily="34" charset="0"/>
              </a:rPr>
              <a:t>S-clock</a:t>
            </a:r>
          </a:p>
          <a:p>
            <a:pPr lvl="1" eaLnBrk="1" hangingPunct="1"/>
            <a:r>
              <a:rPr lang="en-US" altLang="en-US" sz="2000" dirty="0">
                <a:ea typeface="Arial" panose="020B0604020202020204" pitchFamily="34" charset="0"/>
              </a:rPr>
              <a:t>Output</a:t>
            </a:r>
          </a:p>
        </p:txBody>
      </p:sp>
      <p:sp>
        <p:nvSpPr>
          <p:cNvPr id="9830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9E19EB1-BC86-4866-9B91-4899D90F772F}" type="slidenum">
              <a:rPr lang="en-US" altLang="en-US" sz="1200"/>
              <a:pPr>
                <a:spcBef>
                  <a:spcPct val="0"/>
                </a:spcBef>
                <a:buClrTx/>
                <a:buSzTx/>
                <a:buFontTx/>
                <a:buNone/>
              </a:pPr>
              <a:t>59</a:t>
            </a:fld>
            <a:endParaRPr lang="en-US" altLang="en-US" sz="1200"/>
          </a:p>
        </p:txBody>
      </p:sp>
      <p:pic>
        <p:nvPicPr>
          <p:cNvPr id="9830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0663" y="2851150"/>
            <a:ext cx="6299200" cy="321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0" y="0"/>
            <a:ext cx="9144000" cy="838200"/>
          </a:xfrm>
        </p:spPr>
        <p:txBody>
          <a:bodyPr/>
          <a:lstStyle/>
          <a:p>
            <a:pPr eaLnBrk="1" hangingPunct="1"/>
            <a:r>
              <a:rPr lang="en-US" altLang="en-US" b="1"/>
              <a:t>Clock Sweeping Technique</a:t>
            </a:r>
          </a:p>
        </p:txBody>
      </p:sp>
      <p:sp>
        <p:nvSpPr>
          <p:cNvPr id="100355" name="Content Placeholder 2"/>
          <p:cNvSpPr>
            <a:spLocks noGrp="1"/>
          </p:cNvSpPr>
          <p:nvPr>
            <p:ph idx="1"/>
          </p:nvPr>
        </p:nvSpPr>
        <p:spPr>
          <a:xfrm>
            <a:off x="190500" y="1054100"/>
            <a:ext cx="4651375" cy="5076825"/>
          </a:xfrm>
        </p:spPr>
        <p:txBody>
          <a:bodyPr/>
          <a:lstStyle/>
          <a:p>
            <a:pPr eaLnBrk="1" hangingPunct="1"/>
            <a:r>
              <a:rPr lang="en-US" altLang="en-US" sz="2400"/>
              <a:t>Clock  sweeping involves applying a pattern at different clock frequencies, from a lower speed to higher speeds.</a:t>
            </a:r>
          </a:p>
          <a:p>
            <a:pPr eaLnBrk="1" hangingPunct="1"/>
            <a:r>
              <a:rPr lang="en-US" altLang="en-US" sz="2400"/>
              <a:t>Some paths sensitized by the pattern which are longer than the current period start to fail when the clock speed increases.</a:t>
            </a:r>
          </a:p>
          <a:p>
            <a:pPr eaLnBrk="1" hangingPunct="1"/>
            <a:r>
              <a:rPr lang="en-US" altLang="en-US" sz="2400"/>
              <a:t>The obtained start-to-fail clock frequency can indicate the delays of the paths sensitized by the patterns</a:t>
            </a:r>
          </a:p>
          <a:p>
            <a:pPr eaLnBrk="1" hangingPunct="1"/>
            <a:endParaRPr lang="en-US" altLang="en-US"/>
          </a:p>
        </p:txBody>
      </p:sp>
      <p:sp>
        <p:nvSpPr>
          <p:cNvPr id="10035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14DC4C4-EAF8-4F56-A27F-92841303631F}" type="datetime3">
              <a:rPr lang="en-US" altLang="en-US" sz="1200"/>
              <a:pPr>
                <a:spcBef>
                  <a:spcPct val="0"/>
                </a:spcBef>
                <a:buClrTx/>
                <a:buSzTx/>
                <a:buFontTx/>
                <a:buNone/>
              </a:pPr>
              <a:t>15 December 2018</a:t>
            </a:fld>
            <a:endParaRPr lang="en-US" altLang="en-US" sz="1200"/>
          </a:p>
        </p:txBody>
      </p:sp>
      <p:sp>
        <p:nvSpPr>
          <p:cNvPr id="1003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76C80A33-9BB9-44A0-B4B5-FDCE29140B45}" type="slidenum">
              <a:rPr lang="en-US" altLang="en-US" sz="1200"/>
              <a:pPr>
                <a:spcBef>
                  <a:spcPct val="0"/>
                </a:spcBef>
                <a:buClrTx/>
                <a:buSzTx/>
                <a:buFontTx/>
                <a:buNone/>
              </a:pPr>
              <a:t>60</a:t>
            </a:fld>
            <a:endParaRPr lang="en-US" altLang="en-US" sz="1200"/>
          </a:p>
        </p:txBody>
      </p:sp>
      <p:pic>
        <p:nvPicPr>
          <p:cNvPr id="10035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2025" y="1603375"/>
            <a:ext cx="4262438" cy="37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533400" y="76200"/>
            <a:ext cx="8229600" cy="609600"/>
          </a:xfrm>
          <a:noFill/>
        </p:spPr>
        <p:txBody>
          <a:bodyPr lIns="0" tIns="0" rIns="0" bIns="0"/>
          <a:lstStyle/>
          <a:p>
            <a:pPr eaLnBrk="1" hangingPunct="1"/>
            <a:r>
              <a:rPr lang="en-US" altLang="en-US" b="1"/>
              <a:t>Delay Analysis -- Challenges</a:t>
            </a:r>
          </a:p>
        </p:txBody>
      </p:sp>
      <p:sp>
        <p:nvSpPr>
          <p:cNvPr id="10240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4109FF7-E31F-4034-9100-5F6FAE88B13B}" type="slidenum">
              <a:rPr lang="en-US" altLang="en-US" sz="1200"/>
              <a:pPr>
                <a:spcBef>
                  <a:spcPct val="0"/>
                </a:spcBef>
                <a:buClrTx/>
                <a:buSzTx/>
                <a:buFontTx/>
                <a:buNone/>
              </a:pPr>
              <a:t>61</a:t>
            </a:fld>
            <a:endParaRPr lang="en-US" altLang="en-US" sz="1200"/>
          </a:p>
        </p:txBody>
      </p:sp>
      <p:sp>
        <p:nvSpPr>
          <p:cNvPr id="102404" name="Rectangle 3"/>
          <p:cNvSpPr>
            <a:spLocks noChangeArrowheads="1"/>
          </p:cNvSpPr>
          <p:nvPr/>
        </p:nvSpPr>
        <p:spPr bwMode="auto">
          <a:xfrm>
            <a:off x="228600" y="990600"/>
            <a:ext cx="4648200" cy="6096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1600" b="1">
                <a:solidFill>
                  <a:srgbClr val="FF0000"/>
                </a:solidFill>
                <a:latin typeface="Tahoma" panose="020B0604030504040204" pitchFamily="34" charset="0"/>
              </a:rPr>
              <a:t>Major advantage over power analysis: No activation is required.</a:t>
            </a:r>
          </a:p>
        </p:txBody>
      </p:sp>
      <p:sp>
        <p:nvSpPr>
          <p:cNvPr id="102405" name="Rectangle 4"/>
          <p:cNvSpPr>
            <a:spLocks noChangeArrowheads="1"/>
          </p:cNvSpPr>
          <p:nvPr/>
        </p:nvSpPr>
        <p:spPr bwMode="auto">
          <a:xfrm>
            <a:off x="990600" y="1600200"/>
            <a:ext cx="5410200" cy="1447800"/>
          </a:xfrm>
          <a:prstGeom prst="rect">
            <a:avLst/>
          </a:prstGeom>
          <a:solidFill>
            <a:srgbClr val="0066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1800" b="1" u="sng">
                <a:latin typeface="Tahoma" panose="020B0604030504040204" pitchFamily="34" charset="0"/>
              </a:rPr>
              <a:t>Detection and Isolation</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How significant is the delay inserted by Trojan?</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It depends on Trojan size and type</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Location: on short paths or long paths</a:t>
            </a:r>
          </a:p>
        </p:txBody>
      </p:sp>
      <p:sp>
        <p:nvSpPr>
          <p:cNvPr id="102406" name="Rectangle 5"/>
          <p:cNvSpPr>
            <a:spLocks noChangeArrowheads="1"/>
          </p:cNvSpPr>
          <p:nvPr/>
        </p:nvSpPr>
        <p:spPr bwMode="auto">
          <a:xfrm>
            <a:off x="1752600" y="3048000"/>
            <a:ext cx="6400800" cy="944563"/>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1800" b="1" u="sng">
                <a:latin typeface="Tahoma" panose="020B0604030504040204" pitchFamily="34" charset="0"/>
              </a:rPr>
              <a:t>Pattern Generation</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Delay test patterns</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Path Coverage</a:t>
            </a:r>
          </a:p>
        </p:txBody>
      </p:sp>
      <p:sp>
        <p:nvSpPr>
          <p:cNvPr id="102407" name="Rectangle 6"/>
          <p:cNvSpPr>
            <a:spLocks noChangeArrowheads="1"/>
          </p:cNvSpPr>
          <p:nvPr/>
        </p:nvSpPr>
        <p:spPr bwMode="auto">
          <a:xfrm>
            <a:off x="2514600" y="3997325"/>
            <a:ext cx="6096000" cy="10668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1800" b="1" u="sng">
                <a:latin typeface="Tahoma" panose="020B0604030504040204" pitchFamily="34" charset="0"/>
              </a:rPr>
              <a:t>Process Variations (</a:t>
            </a:r>
            <a:r>
              <a:rPr lang="en-US" altLang="en-US" sz="1800" b="1" i="1" u="sng">
                <a:latin typeface="Tahoma" panose="020B0604030504040204" pitchFamily="34" charset="0"/>
              </a:rPr>
              <a:t>V</a:t>
            </a:r>
            <a:r>
              <a:rPr lang="en-US" altLang="en-US" sz="1800" b="1" i="1" u="sng" baseline="-25000">
                <a:latin typeface="Tahoma" panose="020B0604030504040204" pitchFamily="34" charset="0"/>
              </a:rPr>
              <a:t>th</a:t>
            </a:r>
            <a:r>
              <a:rPr lang="en-US" altLang="en-US" sz="1800" b="1" i="1" u="sng">
                <a:latin typeface="Tahoma" panose="020B0604030504040204" pitchFamily="34" charset="0"/>
              </a:rPr>
              <a:t>, L, T</a:t>
            </a:r>
            <a:r>
              <a:rPr lang="en-US" altLang="en-US" sz="1800" b="1" i="1" u="sng" baseline="-25000">
                <a:latin typeface="Tahoma" panose="020B0604030504040204" pitchFamily="34" charset="0"/>
              </a:rPr>
              <a:t>ox</a:t>
            </a:r>
            <a:r>
              <a:rPr lang="en-US" altLang="en-US" sz="1800" b="1" u="sng">
                <a:latin typeface="Tahoma" panose="020B0604030504040204" pitchFamily="34" charset="0"/>
              </a:rPr>
              <a:t>)</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Impact circuit delay characteristics significantly</a:t>
            </a:r>
          </a:p>
          <a:p>
            <a:pPr lvl="1" eaLnBrk="1" hangingPunct="1">
              <a:spcBef>
                <a:spcPct val="30000"/>
              </a:spcBef>
              <a:buClrTx/>
              <a:buSzTx/>
              <a:buFontTx/>
              <a:buBlip>
                <a:blip r:embed="rId3"/>
              </a:buBlip>
            </a:pPr>
            <a:r>
              <a:rPr lang="en-US" altLang="en-US" sz="1400" b="1">
                <a:latin typeface="Tahoma" panose="020B0604030504040204" pitchFamily="34" charset="0"/>
                <a:ea typeface="MS PGothic" panose="020B0600070205080204" pitchFamily="34" charset="-128"/>
              </a:rPr>
              <a:t>Differentiate between Trojan and PV</a:t>
            </a:r>
          </a:p>
        </p:txBody>
      </p:sp>
      <p:sp>
        <p:nvSpPr>
          <p:cNvPr id="102408" name="Rectangle 7"/>
          <p:cNvSpPr>
            <a:spLocks noChangeArrowheads="1"/>
          </p:cNvSpPr>
          <p:nvPr/>
        </p:nvSpPr>
        <p:spPr bwMode="auto">
          <a:xfrm>
            <a:off x="3962400" y="5064125"/>
            <a:ext cx="5105400" cy="7270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30000"/>
              </a:spcBef>
              <a:buClrTx/>
              <a:buSzTx/>
              <a:buFontTx/>
              <a:buBlip>
                <a:blip r:embed="rId3"/>
              </a:buBlip>
            </a:pPr>
            <a:r>
              <a:rPr lang="en-US" altLang="en-US" sz="1800" b="1">
                <a:solidFill>
                  <a:srgbClr val="FF0000"/>
                </a:solidFill>
                <a:latin typeface="Tahoma" panose="020B0604030504040204" pitchFamily="34" charset="0"/>
              </a:rPr>
              <a:t>Trojan can have impact on multiple paths (an advantage over PV)</a:t>
            </a:r>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533400" y="76200"/>
            <a:ext cx="8229600" cy="609600"/>
          </a:xfrm>
        </p:spPr>
        <p:txBody>
          <a:bodyPr/>
          <a:lstStyle/>
          <a:p>
            <a:pPr eaLnBrk="1" hangingPunct="1"/>
            <a:r>
              <a:rPr lang="en-US" altLang="en-US" b="1"/>
              <a:t>Trojan Detection</a:t>
            </a:r>
          </a:p>
        </p:txBody>
      </p:sp>
      <p:graphicFrame>
        <p:nvGraphicFramePr>
          <p:cNvPr id="540675" name="Group 3"/>
          <p:cNvGraphicFramePr>
            <a:graphicFrameLocks noGrp="1"/>
          </p:cNvGraphicFramePr>
          <p:nvPr>
            <p:ph type="tbl" idx="1"/>
          </p:nvPr>
        </p:nvGraphicFramePr>
        <p:xfrm>
          <a:off x="304800" y="990600"/>
          <a:ext cx="8534400" cy="4787904"/>
        </p:xfrm>
        <a:graphic>
          <a:graphicData uri="http://schemas.openxmlformats.org/drawingml/2006/table">
            <a:tbl>
              <a:tblPr/>
              <a:tblGrid>
                <a:gridCol w="887413">
                  <a:extLst>
                    <a:ext uri="{9D8B030D-6E8A-4147-A177-3AD203B41FA5}">
                      <a16:colId xmlns:a16="http://schemas.microsoft.com/office/drawing/2014/main" val="20000"/>
                    </a:ext>
                  </a:extLst>
                </a:gridCol>
                <a:gridCol w="1322387">
                  <a:extLst>
                    <a:ext uri="{9D8B030D-6E8A-4147-A177-3AD203B41FA5}">
                      <a16:colId xmlns:a16="http://schemas.microsoft.com/office/drawing/2014/main" val="20001"/>
                    </a:ext>
                  </a:extLst>
                </a:gridCol>
                <a:gridCol w="1708150">
                  <a:extLst>
                    <a:ext uri="{9D8B030D-6E8A-4147-A177-3AD203B41FA5}">
                      <a16:colId xmlns:a16="http://schemas.microsoft.com/office/drawing/2014/main" val="20002"/>
                    </a:ext>
                  </a:extLst>
                </a:gridCol>
                <a:gridCol w="1331913">
                  <a:extLst>
                    <a:ext uri="{9D8B030D-6E8A-4147-A177-3AD203B41FA5}">
                      <a16:colId xmlns:a16="http://schemas.microsoft.com/office/drawing/2014/main" val="20003"/>
                    </a:ext>
                  </a:extLst>
                </a:gridCol>
                <a:gridCol w="960437">
                  <a:extLst>
                    <a:ext uri="{9D8B030D-6E8A-4147-A177-3AD203B41FA5}">
                      <a16:colId xmlns:a16="http://schemas.microsoft.com/office/drawing/2014/main" val="20004"/>
                    </a:ext>
                  </a:extLst>
                </a:gridCol>
                <a:gridCol w="1184275">
                  <a:extLst>
                    <a:ext uri="{9D8B030D-6E8A-4147-A177-3AD203B41FA5}">
                      <a16:colId xmlns:a16="http://schemas.microsoft.com/office/drawing/2014/main" val="20005"/>
                    </a:ext>
                  </a:extLst>
                </a:gridCol>
                <a:gridCol w="1139825">
                  <a:extLst>
                    <a:ext uri="{9D8B030D-6E8A-4147-A177-3AD203B41FA5}">
                      <a16:colId xmlns:a16="http://schemas.microsoft.com/office/drawing/2014/main" val="20006"/>
                    </a:ext>
                  </a:extLst>
                </a:gridCol>
              </a:tblGrid>
              <a:tr h="476250">
                <a:tc gridSpan="4">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800" b="1" i="0" u="none" strike="noStrike" cap="none" normalizeH="0" baseline="0">
                          <a:ln>
                            <a:noFill/>
                          </a:ln>
                          <a:solidFill>
                            <a:schemeClr val="tx1"/>
                          </a:solidFill>
                          <a:effectLst/>
                          <a:latin typeface="Arial" charset="0"/>
                          <a:ea typeface="SimSun" charset="0"/>
                          <a:cs typeface="Times New Roman" charset="0"/>
                        </a:rPr>
                        <a:t>Trojan</a:t>
                      </a:r>
                      <a:endParaRPr kumimoji="0" lang="en-US" sz="40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Times New Roman" charset="0"/>
                        </a:rPr>
                        <a:t>Power Analysis</a:t>
                      </a:r>
                      <a:endParaRPr kumimoji="0" lang="en-US" sz="3200" b="1" i="0" u="none" strike="noStrike" cap="none" normalizeH="0" baseline="0">
                        <a:ln>
                          <a:noFill/>
                        </a:ln>
                        <a:solidFill>
                          <a:schemeClr val="tx1"/>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cs typeface="Times New Roman" charset="0"/>
                        </a:rPr>
                        <a:t>Delay Analysis</a:t>
                      </a:r>
                      <a:endParaRPr kumimoji="0" lang="en-US" sz="3200" b="1" i="0" u="none" strike="noStrike" cap="none" normalizeH="0" baseline="0">
                        <a:ln>
                          <a:noFill/>
                        </a:ln>
                        <a:solidFill>
                          <a:schemeClr val="tx1"/>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58738" marR="0" lvl="0" indent="-58738"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ＭＳ Ｐゴシック" charset="0"/>
                        </a:rPr>
                        <a:t>Fully Activation</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284163">
                <a:tc rowSpan="13">
                  <a:txBody>
                    <a:bodyPr/>
                    <a:lstStyle/>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r>
                        <a:rPr kumimoji="0" lang="en-US" sz="1800" b="1" i="0" u="none" strike="noStrike" cap="none" normalizeH="0" baseline="0">
                          <a:ln>
                            <a:noFill/>
                          </a:ln>
                          <a:solidFill>
                            <a:schemeClr val="tx1"/>
                          </a:solidFill>
                          <a:effectLst/>
                          <a:latin typeface="Arial" charset="0"/>
                          <a:ea typeface="SimSun" charset="0"/>
                          <a:cs typeface="Times New Roman" charset="0"/>
                        </a:rPr>
                        <a:t>Trojan </a:t>
                      </a:r>
                      <a:r>
                        <a:rPr kumimoji="0" lang="en-US" sz="1400" b="1" i="0" u="none" strike="noStrike" cap="none" normalizeH="0" baseline="0">
                          <a:ln>
                            <a:noFill/>
                          </a:ln>
                          <a:solidFill>
                            <a:schemeClr val="tx1"/>
                          </a:solidFill>
                          <a:effectLst/>
                          <a:latin typeface="Arial" charset="0"/>
                          <a:ea typeface="SimSun" charset="0"/>
                          <a:cs typeface="Times New Roman" charset="0"/>
                        </a:rPr>
                        <a:t>Classification</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7">
                  <a:txBody>
                    <a:bodyPr/>
                    <a:lstStyle/>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2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2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2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r>
                        <a:rPr kumimoji="0" lang="en-US" sz="1600" b="1" i="0" u="none" strike="noStrike" cap="none" normalizeH="0" baseline="0">
                          <a:ln>
                            <a:noFill/>
                          </a:ln>
                          <a:solidFill>
                            <a:schemeClr val="tx1"/>
                          </a:solidFill>
                          <a:effectLst/>
                          <a:latin typeface="Arial" charset="0"/>
                          <a:ea typeface="SimSun" charset="0"/>
                          <a:cs typeface="Times New Roman" charset="0"/>
                        </a:rPr>
                        <a:t>Physical</a:t>
                      </a:r>
                      <a:r>
                        <a:rPr kumimoji="0" lang="en-US" sz="1200" b="1" i="0" u="none" strike="noStrike" cap="none" normalizeH="0" baseline="0">
                          <a:ln>
                            <a:noFill/>
                          </a:ln>
                          <a:solidFill>
                            <a:schemeClr val="tx1"/>
                          </a:solidFill>
                          <a:effectLst/>
                          <a:latin typeface="Arial" charset="0"/>
                          <a:ea typeface="SimSun" charset="0"/>
                          <a:cs typeface="Times New Roman" charset="0"/>
                        </a:rPr>
                        <a:t> Characteristics</a:t>
                      </a:r>
                      <a:endParaRPr kumimoji="0" lang="en-US" sz="28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Type</a:t>
                      </a:r>
                      <a:endParaRPr kumimoji="0" lang="en-US" altLang="zh-CN"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Functional</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841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Parametric</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84163">
                <a:tc vMerge="1">
                  <a:txBody>
                    <a:bodyPr/>
                    <a:lstStyle/>
                    <a:p>
                      <a:endParaRPr lang="en-US"/>
                    </a:p>
                  </a:txBody>
                  <a:tcPr/>
                </a:tc>
                <a:tc vMerge="1">
                  <a:txBody>
                    <a:bodyPr/>
                    <a:lstStyle/>
                    <a:p>
                      <a:endParaRPr lang="en-US"/>
                    </a:p>
                  </a:txBody>
                  <a:tcPr/>
                </a:tc>
                <a:tc rowSpan="2">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Size</a:t>
                      </a:r>
                      <a:endParaRPr kumimoji="0" lang="en-US" altLang="zh-CN"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Small</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841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Large</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84163">
                <a:tc vMerge="1">
                  <a:txBody>
                    <a:bodyPr/>
                    <a:lstStyle/>
                    <a:p>
                      <a:endParaRPr lang="en-US"/>
                    </a:p>
                  </a:txBody>
                  <a:tcPr/>
                </a:tc>
                <a:tc vMerge="1">
                  <a:txBody>
                    <a:bodyPr/>
                    <a:lstStyle/>
                    <a:p>
                      <a:endParaRPr lang="en-US"/>
                    </a:p>
                  </a:txBody>
                  <a:tcPr/>
                </a:tc>
                <a:tc rowSpan="2">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Distribution</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Tight</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r h="28416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Loose</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6"/>
                  </a:ext>
                </a:extLst>
              </a:tr>
              <a:tr h="476250">
                <a:tc vMerge="1">
                  <a:txBody>
                    <a:bodyPr/>
                    <a:lstStyle/>
                    <a:p>
                      <a:endParaRPr lang="en-US"/>
                    </a:p>
                  </a:txBody>
                  <a:tcPr/>
                </a:tc>
                <a:tc vMerge="1">
                  <a:txBody>
                    <a:bodyPr/>
                    <a:lstStyle/>
                    <a:p>
                      <a:endParaRPr lang="en-US"/>
                    </a:p>
                  </a:txBody>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Structure</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Modify Layout</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7"/>
                  </a:ext>
                </a:extLst>
              </a:tr>
              <a:tr h="284163">
                <a:tc vMerge="1">
                  <a:txBody>
                    <a:bodyPr/>
                    <a:lstStyle/>
                    <a:p>
                      <a:endParaRPr lang="en-US"/>
                    </a:p>
                  </a:txBody>
                  <a:tcPr/>
                </a:tc>
                <a:tc rowSpan="3">
                  <a:txBody>
                    <a:bodyPr/>
                    <a:lstStyle/>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2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r>
                        <a:rPr kumimoji="0" lang="en-US" sz="1600" b="1" i="0" u="none" strike="noStrike" cap="none" normalizeH="0" baseline="0">
                          <a:ln>
                            <a:noFill/>
                          </a:ln>
                          <a:solidFill>
                            <a:schemeClr val="tx1"/>
                          </a:solidFill>
                          <a:effectLst/>
                          <a:latin typeface="Arial" charset="0"/>
                          <a:ea typeface="SimSun" charset="0"/>
                          <a:cs typeface="Times New Roman" charset="0"/>
                        </a:rPr>
                        <a:t>Activation</a:t>
                      </a:r>
                      <a:r>
                        <a:rPr kumimoji="0" lang="en-US" sz="1200" b="1" i="0" u="none" strike="noStrike" cap="none" normalizeH="0" baseline="0">
                          <a:ln>
                            <a:noFill/>
                          </a:ln>
                          <a:solidFill>
                            <a:schemeClr val="tx1"/>
                          </a:solidFill>
                          <a:effectLst/>
                          <a:latin typeface="Arial" charset="0"/>
                          <a:ea typeface="SimSun" charset="0"/>
                          <a:cs typeface="Times New Roman" charset="0"/>
                        </a:rPr>
                        <a:t> Characteristics</a:t>
                      </a:r>
                      <a:endParaRPr kumimoji="0" lang="en-US" sz="28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Always-on</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8"/>
                  </a:ext>
                </a:extLst>
              </a:tr>
              <a:tr h="284163">
                <a:tc vMerge="1">
                  <a:txBody>
                    <a:bodyPr/>
                    <a:lstStyle/>
                    <a:p>
                      <a:endParaRPr lang="en-US"/>
                    </a:p>
                  </a:txBody>
                  <a:tcPr/>
                </a:tc>
                <a:tc vMerge="1">
                  <a:txBody>
                    <a:bodyPr/>
                    <a:lstStyle/>
                    <a:p>
                      <a:endParaRPr lang="en-US"/>
                    </a:p>
                  </a:txBody>
                  <a:tcPr/>
                </a:tc>
                <a:tc rowSpan="2">
                  <a:txBody>
                    <a:bodyPr/>
                    <a:lstStyle/>
                    <a:p>
                      <a:pPr marL="0" marR="0" lvl="0" indent="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Condition-based</a:t>
                      </a:r>
                      <a:endParaRPr kumimoji="0" lang="en-US" altLang="zh-CN"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Logic-based</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9"/>
                  </a:ext>
                </a:extLst>
              </a:tr>
              <a:tr h="47625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Sensor-based</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l" defTabSz="914400" rtl="0" eaLnBrk="1" fontAlgn="base" latinLnBrk="0" hangingPunct="1">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l" defTabSz="914400" rtl="0" eaLnBrk="1" fontAlgn="base" latinLnBrk="0" hangingPunct="1">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10"/>
                  </a:ext>
                </a:extLst>
              </a:tr>
              <a:tr h="284163">
                <a:tc vMerge="1">
                  <a:txBody>
                    <a:bodyPr/>
                    <a:lstStyle/>
                    <a:p>
                      <a:endParaRPr lang="en-US"/>
                    </a:p>
                  </a:txBody>
                  <a:tcPr/>
                </a:tc>
                <a:tc rowSpan="3">
                  <a:txBody>
                    <a:bodyPr/>
                    <a:lstStyle/>
                    <a:p>
                      <a:pPr marL="0" marR="0" lvl="0" indent="0" algn="l" defTabSz="914400" rtl="0" eaLnBrk="0" fontAlgn="base" latinLnBrk="0" hangingPunct="0">
                        <a:lnSpc>
                          <a:spcPct val="90000"/>
                        </a:lnSpc>
                        <a:spcBef>
                          <a:spcPct val="10000"/>
                        </a:spcBef>
                        <a:spcAft>
                          <a:spcPct val="0"/>
                        </a:spcAft>
                        <a:buClrTx/>
                        <a:buSzTx/>
                        <a:buFontTx/>
                        <a:buNone/>
                        <a:tabLst/>
                      </a:pPr>
                      <a:endParaRPr kumimoji="0" lang="en-US" sz="1200" b="1" i="0" u="none" strike="noStrike" cap="none" normalizeH="0" baseline="0">
                        <a:ln>
                          <a:noFill/>
                        </a:ln>
                        <a:solidFill>
                          <a:schemeClr val="tx1"/>
                        </a:solidFill>
                        <a:effectLst/>
                        <a:latin typeface="Arial" charset="0"/>
                        <a:ea typeface="SimSun" charset="0"/>
                        <a:cs typeface="Times New Roman" charset="0"/>
                      </a:endParaRPr>
                    </a:p>
                    <a:p>
                      <a:pPr marL="0" marR="0" lvl="0" indent="0" algn="l" defTabSz="914400" rtl="0" eaLnBrk="0" fontAlgn="base" latinLnBrk="0" hangingPunct="0">
                        <a:lnSpc>
                          <a:spcPct val="90000"/>
                        </a:lnSpc>
                        <a:spcBef>
                          <a:spcPct val="10000"/>
                        </a:spcBef>
                        <a:spcAft>
                          <a:spcPct val="0"/>
                        </a:spcAft>
                        <a:buClrTx/>
                        <a:buSzTx/>
                        <a:buFontTx/>
                        <a:buNone/>
                        <a:tabLst/>
                      </a:pPr>
                      <a:r>
                        <a:rPr kumimoji="0" lang="en-US" sz="1600" b="1" i="0" u="none" strike="noStrike" cap="none" normalizeH="0" baseline="0">
                          <a:ln>
                            <a:noFill/>
                          </a:ln>
                          <a:solidFill>
                            <a:schemeClr val="tx1"/>
                          </a:solidFill>
                          <a:effectLst/>
                          <a:latin typeface="Arial" charset="0"/>
                          <a:ea typeface="SimSun" charset="0"/>
                          <a:cs typeface="Times New Roman" charset="0"/>
                        </a:rPr>
                        <a:t>Action </a:t>
                      </a:r>
                      <a:r>
                        <a:rPr kumimoji="0" lang="en-US" sz="1200" b="1" i="0" u="none" strike="noStrike" cap="none" normalizeH="0" baseline="0">
                          <a:ln>
                            <a:noFill/>
                          </a:ln>
                          <a:solidFill>
                            <a:schemeClr val="tx1"/>
                          </a:solidFill>
                          <a:effectLst/>
                          <a:latin typeface="Arial" charset="0"/>
                          <a:ea typeface="SimSun" charset="0"/>
                          <a:cs typeface="Times New Roman" charset="0"/>
                        </a:rPr>
                        <a:t>Characteristics</a:t>
                      </a:r>
                      <a:endParaRPr kumimoji="0" lang="en-US" sz="28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Modify Function</a:t>
                      </a:r>
                      <a:endParaRPr kumimoji="0" lang="en-US" altLang="zh-CN"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1000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a typeface="ＭＳ Ｐゴシック"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endParaRPr kumimoji="0" lang="en-US" sz="14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11"/>
                  </a:ext>
                </a:extLst>
              </a:tr>
              <a:tr h="284163">
                <a:tc vMerge="1">
                  <a:txBody>
                    <a:bodyPr/>
                    <a:lstStyle/>
                    <a:p>
                      <a:endParaRPr lang="en-US"/>
                    </a:p>
                  </a:txBody>
                  <a:tcPr/>
                </a:tc>
                <a:tc vMerge="1">
                  <a:txBody>
                    <a:bodyPr/>
                    <a:lstStyle/>
                    <a:p>
                      <a:endParaRPr lang="en-US"/>
                    </a:p>
                  </a:txBody>
                  <a:tcPr/>
                </a:tc>
                <a:tc rowSpan="2">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altLang="zh-CN" sz="1400" b="1" i="0" u="none" strike="noStrike" cap="none" normalizeH="0" baseline="0">
                          <a:ln>
                            <a:noFill/>
                          </a:ln>
                          <a:solidFill>
                            <a:schemeClr val="tx1"/>
                          </a:solidFill>
                          <a:effectLst/>
                          <a:latin typeface="Arial" charset="0"/>
                          <a:ea typeface="SimSun" charset="0"/>
                          <a:cs typeface="Times New Roman" charset="0"/>
                        </a:rPr>
                        <a:t>Modify Spec.</a:t>
                      </a:r>
                      <a:endParaRPr kumimoji="0" lang="en-US" altLang="zh-CN"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Defects</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D</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12"/>
                  </a:ext>
                </a:extLst>
              </a:tr>
              <a:tr h="51752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342900" marR="0" lvl="0" indent="-342900" algn="l"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chemeClr val="tx1"/>
                          </a:solidFill>
                          <a:effectLst/>
                          <a:latin typeface="Arial" charset="0"/>
                          <a:ea typeface="SimSun" charset="0"/>
                          <a:cs typeface="Times New Roman" charset="0"/>
                        </a:rPr>
                        <a:t>Reliability</a:t>
                      </a:r>
                      <a:endParaRPr kumimoji="0" lang="en-US" sz="3200" b="1" i="0" u="none" strike="noStrike" cap="none" normalizeH="0" baseline="0">
                        <a:ln>
                          <a:noFill/>
                        </a:ln>
                        <a:solidFill>
                          <a:schemeClr val="tx1"/>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endParaRPr kumimoji="0" lang="en-US" sz="3200" b="1" i="0" u="none" strike="noStrike" cap="none" normalizeH="0" baseline="0">
                        <a:ln>
                          <a:noFill/>
                        </a:ln>
                        <a:solidFill>
                          <a:srgbClr val="FF0000"/>
                        </a:solidFill>
                        <a:effectLst/>
                        <a:latin typeface="Arial" charset="0"/>
                        <a:ea typeface="SimSun" charset="0"/>
                        <a:cs typeface="Times New Roman" charset="0"/>
                      </a:endParaRP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0" fontAlgn="base" latinLnBrk="0" hangingPunct="0">
                        <a:lnSpc>
                          <a:spcPct val="90000"/>
                        </a:lnSpc>
                        <a:spcBef>
                          <a:spcPct val="10000"/>
                        </a:spcBef>
                        <a:spcAft>
                          <a:spcPct val="0"/>
                        </a:spcAft>
                        <a:buClrTx/>
                        <a:buSzTx/>
                        <a:buFontTx/>
                        <a:buNone/>
                        <a:tabLst/>
                      </a:pPr>
                      <a:r>
                        <a:rPr kumimoji="0" lang="en-US" sz="1400" b="1" i="0" u="none" strike="noStrike" cap="none" normalizeH="0" baseline="0" dirty="0">
                          <a:ln>
                            <a:noFill/>
                          </a:ln>
                          <a:solidFill>
                            <a:srgbClr val="FF0000"/>
                          </a:solidFill>
                          <a:effectLst/>
                          <a:latin typeface="Arial" charset="0"/>
                          <a:ea typeface="SimSun" charset="0"/>
                          <a:cs typeface="Times New Roman" charset="0"/>
                        </a:rPr>
                        <a:t>P</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13"/>
                  </a:ext>
                </a:extLst>
              </a:tr>
            </a:tbl>
          </a:graphicData>
        </a:graphic>
      </p:graphicFrame>
      <p:sp>
        <p:nvSpPr>
          <p:cNvPr id="106591" name="灯片编号占位符 3"/>
          <p:cNvSpPr>
            <a:spLocks noGrp="1"/>
          </p:cNvSpPr>
          <p:nvPr>
            <p:ph type="sldNum" sz="quarter" idx="10"/>
          </p:nvPr>
        </p:nvSpPr>
        <p:spPr>
          <a:xfrm>
            <a:off x="6553200" y="6372225"/>
            <a:ext cx="2133600" cy="323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3ADF4F1B-73B4-4096-86B8-B06EC363E62F}" type="slidenum">
              <a:rPr lang="en-US" altLang="en-US" sz="1200">
                <a:latin typeface="Garamond" panose="02020404030301010803" pitchFamily="18" charset="0"/>
              </a:rPr>
              <a:pPr>
                <a:spcBef>
                  <a:spcPct val="0"/>
                </a:spcBef>
                <a:buClrTx/>
                <a:buSzTx/>
                <a:buFontTx/>
                <a:buNone/>
              </a:pPr>
              <a:t>62</a:t>
            </a:fld>
            <a:endParaRPr lang="en-US" altLang="en-US" sz="1200">
              <a:latin typeface="Garamond" panose="02020404030301010803" pitchFamily="18" charset="0"/>
            </a:endParaRPr>
          </a:p>
        </p:txBody>
      </p:sp>
      <p:sp>
        <p:nvSpPr>
          <p:cNvPr id="106592" name="Text Box 95"/>
          <p:cNvSpPr txBox="1">
            <a:spLocks noChangeArrowheads="1"/>
          </p:cNvSpPr>
          <p:nvPr/>
        </p:nvSpPr>
        <p:spPr bwMode="auto">
          <a:xfrm>
            <a:off x="3505200" y="5808663"/>
            <a:ext cx="551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400" b="1">
                <a:solidFill>
                  <a:srgbClr val="FF0000"/>
                </a:solidFill>
                <a:latin typeface="Tahoma" panose="020B0604030504040204" pitchFamily="34" charset="0"/>
              </a:rPr>
              <a:t>P: Detection is possible      D: High level of confidence</a:t>
            </a:r>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12699" y="25401"/>
            <a:ext cx="9131301" cy="843490"/>
          </a:xfrm>
        </p:spPr>
        <p:txBody>
          <a:bodyPr/>
          <a:lstStyle/>
          <a:p>
            <a:pPr algn="l"/>
            <a:r>
              <a:rPr lang="en-US" b="1" dirty="0">
                <a:effectLst>
                  <a:outerShdw blurRad="38100" dist="38100" dir="2700000" algn="tl">
                    <a:srgbClr val="000000"/>
                  </a:outerShdw>
                </a:effectLst>
              </a:rPr>
              <a:t>Self-similarity in Space &amp; Time – for Trust Verification</a:t>
            </a:r>
          </a:p>
        </p:txBody>
      </p:sp>
      <p:pic>
        <p:nvPicPr>
          <p:cNvPr id="12" name="Picture 11"/>
          <p:cNvPicPr>
            <a:picLocks noChangeAspect="1"/>
          </p:cNvPicPr>
          <p:nvPr/>
        </p:nvPicPr>
        <p:blipFill>
          <a:blip r:embed="rId2"/>
          <a:stretch>
            <a:fillRect/>
          </a:stretch>
        </p:blipFill>
        <p:spPr>
          <a:xfrm>
            <a:off x="406400" y="1222830"/>
            <a:ext cx="3556000" cy="2233168"/>
          </a:xfrm>
          <a:prstGeom prst="rect">
            <a:avLst/>
          </a:prstGeom>
        </p:spPr>
      </p:pic>
      <p:sp>
        <p:nvSpPr>
          <p:cNvPr id="16" name="TextBox 9"/>
          <p:cNvSpPr txBox="1">
            <a:spLocks noChangeArrowheads="1"/>
          </p:cNvSpPr>
          <p:nvPr/>
        </p:nvSpPr>
        <p:spPr bwMode="auto">
          <a:xfrm rot="16200000">
            <a:off x="-966712" y="2096113"/>
            <a:ext cx="236220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sz="1600" dirty="0">
                <a:ea typeface="ＭＳ Ｐゴシック" charset="0"/>
              </a:rPr>
              <a:t>Image courtesy: Intel</a:t>
            </a:r>
          </a:p>
        </p:txBody>
      </p:sp>
      <p:grpSp>
        <p:nvGrpSpPr>
          <p:cNvPr id="3" name="Group 2"/>
          <p:cNvGrpSpPr/>
          <p:nvPr/>
        </p:nvGrpSpPr>
        <p:grpSpPr>
          <a:xfrm>
            <a:off x="762000" y="3540125"/>
            <a:ext cx="3124200" cy="3062700"/>
            <a:chOff x="762000" y="3463924"/>
            <a:chExt cx="3124200" cy="3062700"/>
          </a:xfrm>
        </p:grpSpPr>
        <p:pic>
          <p:nvPicPr>
            <p:cNvPr id="11" name="Picture 10"/>
            <p:cNvPicPr>
              <a:picLocks noChangeAspect="1"/>
            </p:cNvPicPr>
            <p:nvPr/>
          </p:nvPicPr>
          <p:blipFill>
            <a:blip r:embed="rId3"/>
            <a:stretch>
              <a:fillRect/>
            </a:stretch>
          </p:blipFill>
          <p:spPr>
            <a:xfrm>
              <a:off x="762000" y="3463924"/>
              <a:ext cx="3124200" cy="3062700"/>
            </a:xfrm>
            <a:prstGeom prst="rect">
              <a:avLst/>
            </a:prstGeom>
          </p:spPr>
        </p:pic>
        <p:sp>
          <p:nvSpPr>
            <p:cNvPr id="13" name="Oval 12"/>
            <p:cNvSpPr/>
            <p:nvPr/>
          </p:nvSpPr>
          <p:spPr>
            <a:xfrm>
              <a:off x="3308072" y="3939169"/>
              <a:ext cx="76200" cy="76200"/>
            </a:xfrm>
            <a:prstGeom prst="ellipse">
              <a:avLst/>
            </a:prstGeom>
            <a:solidFill>
              <a:srgbClr val="080808"/>
            </a:solidFill>
            <a:ln>
              <a:solidFill>
                <a:srgbClr val="080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8" name="Oval 17"/>
            <p:cNvSpPr/>
            <p:nvPr/>
          </p:nvSpPr>
          <p:spPr>
            <a:xfrm>
              <a:off x="3436282" y="3941637"/>
              <a:ext cx="76200" cy="76200"/>
            </a:xfrm>
            <a:prstGeom prst="ellipse">
              <a:avLst/>
            </a:prstGeom>
            <a:solidFill>
              <a:srgbClr val="080808"/>
            </a:solidFill>
            <a:ln>
              <a:solidFill>
                <a:srgbClr val="080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9" name="Oval 18"/>
            <p:cNvSpPr/>
            <p:nvPr/>
          </p:nvSpPr>
          <p:spPr>
            <a:xfrm>
              <a:off x="3559930" y="3940693"/>
              <a:ext cx="76200" cy="76200"/>
            </a:xfrm>
            <a:prstGeom prst="ellipse">
              <a:avLst/>
            </a:prstGeom>
            <a:solidFill>
              <a:srgbClr val="080808"/>
            </a:solidFill>
            <a:ln>
              <a:solidFill>
                <a:srgbClr val="080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sp>
        <p:nvSpPr>
          <p:cNvPr id="4" name="TextBox 3"/>
          <p:cNvSpPr txBox="1"/>
          <p:nvPr/>
        </p:nvSpPr>
        <p:spPr>
          <a:xfrm>
            <a:off x="2057400" y="4752307"/>
            <a:ext cx="641402" cy="276893"/>
          </a:xfrm>
          <a:prstGeom prst="rect">
            <a:avLst/>
          </a:prstGeom>
          <a:solidFill>
            <a:schemeClr val="tx1"/>
          </a:solidFill>
        </p:spPr>
        <p:txBody>
          <a:bodyPr wrap="square" lIns="0" tIns="0" rIns="0" bIns="0" rtlCol="0">
            <a:spAutoFit/>
          </a:bodyPr>
          <a:lstStyle/>
          <a:p>
            <a:pPr algn="ctr"/>
            <a:r>
              <a:rPr lang="en-US" b="1" dirty="0">
                <a:latin typeface="Arial" charset="0"/>
                <a:ea typeface="ＭＳ Ｐゴシック" charset="0"/>
              </a:rPr>
              <a:t>ALU</a:t>
            </a:r>
          </a:p>
        </p:txBody>
      </p:sp>
      <p:sp>
        <p:nvSpPr>
          <p:cNvPr id="17" name="TextBox 16"/>
          <p:cNvSpPr txBox="1"/>
          <p:nvPr/>
        </p:nvSpPr>
        <p:spPr>
          <a:xfrm>
            <a:off x="2863798" y="4743777"/>
            <a:ext cx="641402" cy="276893"/>
          </a:xfrm>
          <a:prstGeom prst="rect">
            <a:avLst/>
          </a:prstGeom>
          <a:solidFill>
            <a:schemeClr val="tx1"/>
          </a:solidFill>
        </p:spPr>
        <p:txBody>
          <a:bodyPr wrap="square" lIns="0" tIns="0" rIns="0" bIns="0" rtlCol="0">
            <a:spAutoFit/>
          </a:bodyPr>
          <a:lstStyle/>
          <a:p>
            <a:pPr algn="ctr"/>
            <a:r>
              <a:rPr lang="en-US" b="1" dirty="0">
                <a:latin typeface="Arial" charset="0"/>
                <a:ea typeface="ＭＳ Ｐゴシック" charset="0"/>
              </a:rPr>
              <a:t>ALU</a:t>
            </a:r>
          </a:p>
        </p:txBody>
      </p:sp>
      <p:pic>
        <p:nvPicPr>
          <p:cNvPr id="2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456168"/>
            <a:ext cx="4648200" cy="16566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 name="AutoShape 70"/>
          <p:cNvSpPr>
            <a:spLocks noChangeArrowheads="1"/>
          </p:cNvSpPr>
          <p:nvPr/>
        </p:nvSpPr>
        <p:spPr bwMode="auto">
          <a:xfrm>
            <a:off x="4724400" y="5517507"/>
            <a:ext cx="4203700" cy="1087438"/>
          </a:xfrm>
          <a:prstGeom prst="roundRect">
            <a:avLst>
              <a:gd name="adj" fmla="val 16667"/>
            </a:avLst>
          </a:prstGeom>
          <a:solidFill>
            <a:schemeClr val="accent6">
              <a:lumMod val="20000"/>
              <a:lumOff val="80000"/>
            </a:schemeClr>
          </a:solidFill>
          <a:ln w="9525">
            <a:solidFill>
              <a:schemeClr val="tx1"/>
            </a:solidFill>
            <a:round/>
            <a:headEnd/>
            <a:tailEnd/>
          </a:ln>
          <a:effectLst>
            <a:outerShdw dist="53882" dir="2700000" algn="ctr" rotWithShape="0">
              <a:srgbClr val="5F5F5F"/>
            </a:outerShdw>
          </a:effectLst>
        </p:spPr>
        <p:txBody>
          <a:bodyPr wrap="none" anchor="ctr"/>
          <a:lstStyle/>
          <a:p>
            <a:pPr algn="ctr">
              <a:defRPr/>
            </a:pPr>
            <a:endParaRPr lang="en-US" sz="2000" b="1" dirty="0">
              <a:latin typeface="Arial" charset="0"/>
              <a:ea typeface="ＭＳ Ｐゴシック" charset="0"/>
            </a:endParaRPr>
          </a:p>
        </p:txBody>
      </p:sp>
      <p:sp>
        <p:nvSpPr>
          <p:cNvPr id="22" name="Rectangle 11"/>
          <p:cNvSpPr>
            <a:spLocks noChangeArrowheads="1"/>
          </p:cNvSpPr>
          <p:nvPr/>
        </p:nvSpPr>
        <p:spPr bwMode="auto">
          <a:xfrm>
            <a:off x="4891088" y="5548997"/>
            <a:ext cx="3962400" cy="101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a:r>
              <a:rPr lang="en-US" sz="3000" b="1" dirty="0">
                <a:latin typeface="Arial" charset="0"/>
                <a:ea typeface="ＭＳ Ｐゴシック" charset="0"/>
                <a:cs typeface="Arial" charset="0"/>
              </a:rPr>
              <a:t>No golden chip required!!!</a:t>
            </a:r>
            <a:endParaRPr lang="en-US" sz="3000" dirty="0">
              <a:latin typeface="Arial" charset="0"/>
              <a:ea typeface="ＭＳ Ｐゴシック" charset="0"/>
              <a:cs typeface="Arial" charset="0"/>
            </a:endParaRPr>
          </a:p>
        </p:txBody>
      </p:sp>
      <p:sp>
        <p:nvSpPr>
          <p:cNvPr id="5" name="Rectangle 4"/>
          <p:cNvSpPr/>
          <p:nvPr/>
        </p:nvSpPr>
        <p:spPr>
          <a:xfrm>
            <a:off x="4191000" y="3357670"/>
            <a:ext cx="4795520" cy="757130"/>
          </a:xfrm>
          <a:prstGeom prst="rect">
            <a:avLst/>
          </a:prstGeom>
        </p:spPr>
        <p:txBody>
          <a:bodyPr wrap="square">
            <a:spAutoFit/>
          </a:bodyPr>
          <a:lstStyle/>
          <a:p>
            <a:pPr marL="363538" indent="-363538">
              <a:lnSpc>
                <a:spcPct val="90000"/>
              </a:lnSpc>
              <a:spcBef>
                <a:spcPct val="60000"/>
              </a:spcBef>
              <a:buClr>
                <a:srgbClr val="FFFFFF"/>
              </a:buClr>
              <a:buSzPct val="100000"/>
              <a:buFont typeface="Arial" charset="0"/>
              <a:buChar char="•"/>
            </a:pPr>
            <a:r>
              <a:rPr lang="en-US" sz="2400" b="1" dirty="0">
                <a:latin typeface="Arial" charset="0"/>
                <a:ea typeface="ＭＳ Ｐゴシック" charset="0"/>
                <a:cs typeface="Arial" charset="0"/>
              </a:rPr>
              <a:t>Uncorrelated switching in time due to a seq. Trojan!</a:t>
            </a:r>
          </a:p>
        </p:txBody>
      </p:sp>
      <p:sp>
        <p:nvSpPr>
          <p:cNvPr id="24" name="Rectangle 23"/>
          <p:cNvSpPr/>
          <p:nvPr/>
        </p:nvSpPr>
        <p:spPr>
          <a:xfrm>
            <a:off x="4114800" y="4272070"/>
            <a:ext cx="4871720" cy="867930"/>
          </a:xfrm>
          <a:prstGeom prst="rect">
            <a:avLst/>
          </a:prstGeom>
        </p:spPr>
        <p:txBody>
          <a:bodyPr wrap="square">
            <a:spAutoFit/>
          </a:bodyPr>
          <a:lstStyle/>
          <a:p>
            <a:pPr marL="363538" indent="-363538">
              <a:lnSpc>
                <a:spcPct val="90000"/>
              </a:lnSpc>
              <a:spcBef>
                <a:spcPct val="60000"/>
              </a:spcBef>
              <a:buClr>
                <a:srgbClr val="FFFFFF"/>
              </a:buClr>
              <a:buSzPct val="100000"/>
              <a:buFont typeface="Arial" charset="0"/>
              <a:buChar char="•"/>
            </a:pPr>
            <a:r>
              <a:rPr lang="en-US" sz="2800" u="sng" dirty="0">
                <a:latin typeface="Berlin Sans FB" panose="020E0602020502020306" pitchFamily="34" charset="0"/>
                <a:ea typeface="ＭＳ Ｐゴシック" charset="0"/>
                <a:cs typeface="Arial" charset="0"/>
              </a:rPr>
              <a:t>Simultaneously detects Trojan &amp; aged/recycled ICs!</a:t>
            </a:r>
          </a:p>
        </p:txBody>
      </p:sp>
    </p:spTree>
    <p:extLst>
      <p:ext uri="{BB962C8B-B14F-4D97-AF65-F5344CB8AC3E}">
        <p14:creationId xmlns:p14="http://schemas.microsoft.com/office/powerpoint/2010/main" val="104174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linds(horizontal)">
                                      <p:cBhvr>
                                        <p:cTn id="13" dur="500"/>
                                        <p:tgtEl>
                                          <p:spTgt spid="2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5" grpId="0"/>
      <p:bldP spid="2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a:xfrm>
            <a:off x="0" y="0"/>
            <a:ext cx="9144000" cy="838200"/>
          </a:xfrm>
        </p:spPr>
        <p:txBody>
          <a:bodyPr/>
          <a:lstStyle/>
          <a:p>
            <a:pPr eaLnBrk="1" hangingPunct="1"/>
            <a:r>
              <a:rPr lang="en-US" altLang="en-US" b="1"/>
              <a:t>Design for Hardware Trust</a:t>
            </a:r>
          </a:p>
        </p:txBody>
      </p:sp>
      <p:sp>
        <p:nvSpPr>
          <p:cNvPr id="108547" name="Content Placeholder 2"/>
          <p:cNvSpPr>
            <a:spLocks noGrp="1"/>
          </p:cNvSpPr>
          <p:nvPr>
            <p:ph idx="1"/>
          </p:nvPr>
        </p:nvSpPr>
        <p:spPr/>
        <p:txBody>
          <a:bodyPr/>
          <a:lstStyle/>
          <a:p>
            <a:pPr eaLnBrk="1" hangingPunct="1"/>
            <a:r>
              <a:rPr lang="en-US" altLang="en-US" sz="2500" dirty="0"/>
              <a:t>Since detecting Trojan is extremely challenging, design for hardware trust approaches are proposed to</a:t>
            </a:r>
          </a:p>
          <a:p>
            <a:pPr eaLnBrk="1" hangingPunct="1"/>
            <a:endParaRPr lang="en-US" altLang="en-US" sz="2500" dirty="0"/>
          </a:p>
          <a:p>
            <a:pPr lvl="1" eaLnBrk="1" hangingPunct="1"/>
            <a:r>
              <a:rPr lang="en-US" altLang="en-US" sz="2400" b="1" dirty="0">
                <a:ea typeface="Arial" panose="020B0604020202020204" pitchFamily="34" charset="0"/>
              </a:rPr>
              <a:t>Improve hardware Trojan detection methods</a:t>
            </a:r>
          </a:p>
          <a:p>
            <a:pPr lvl="2" eaLnBrk="1" hangingPunct="1"/>
            <a:r>
              <a:rPr lang="en-US" altLang="en-US" sz="2000" dirty="0">
                <a:ea typeface="Arial" panose="020B0604020202020204" pitchFamily="34" charset="0"/>
              </a:rPr>
              <a:t>Improve sensitive to power and delay</a:t>
            </a:r>
          </a:p>
          <a:p>
            <a:pPr lvl="2" eaLnBrk="1" hangingPunct="1"/>
            <a:r>
              <a:rPr lang="en-US" altLang="en-US" sz="2000" dirty="0">
                <a:ea typeface="Arial" panose="020B0604020202020204" pitchFamily="34" charset="0"/>
              </a:rPr>
              <a:t>Rare event removal</a:t>
            </a:r>
          </a:p>
          <a:p>
            <a:pPr lvl="2" eaLnBrk="1" hangingPunct="1"/>
            <a:endParaRPr lang="en-US" altLang="en-US" sz="2000" dirty="0">
              <a:ea typeface="Arial" panose="020B0604020202020204" pitchFamily="34" charset="0"/>
            </a:endParaRPr>
          </a:p>
          <a:p>
            <a:pPr lvl="1" eaLnBrk="1" hangingPunct="1"/>
            <a:r>
              <a:rPr lang="en-US" altLang="en-US" sz="2400" b="1" dirty="0">
                <a:ea typeface="Arial" panose="020B0604020202020204" pitchFamily="34" charset="0"/>
              </a:rPr>
              <a:t>Prevent hardware Trojan insertion</a:t>
            </a:r>
          </a:p>
          <a:p>
            <a:pPr lvl="2" eaLnBrk="1" hangingPunct="1"/>
            <a:r>
              <a:rPr lang="en-US" altLang="en-US" sz="2000" dirty="0">
                <a:ea typeface="Arial" panose="020B0604020202020204" pitchFamily="34" charset="0"/>
              </a:rPr>
              <a:t>Design obfuscation</a:t>
            </a:r>
          </a:p>
          <a:p>
            <a:pPr eaLnBrk="1" hangingPunct="1">
              <a:buFont typeface="Wingdings" panose="05000000000000000000" pitchFamily="2" charset="2"/>
              <a:buNone/>
            </a:pPr>
            <a:r>
              <a:rPr lang="en-US" altLang="en-US" sz="2400" dirty="0"/>
              <a:t> </a:t>
            </a:r>
          </a:p>
        </p:txBody>
      </p:sp>
      <p:sp>
        <p:nvSpPr>
          <p:cNvPr id="10854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26FB5F03-1A6A-4C51-8BA9-411DDECFCE5D}" type="slidenum">
              <a:rPr lang="en-US" altLang="en-US" sz="1200"/>
              <a:pPr>
                <a:spcBef>
                  <a:spcPct val="0"/>
                </a:spcBef>
                <a:buClrTx/>
                <a:buSzTx/>
                <a:buFontTx/>
                <a:buNone/>
              </a:pPr>
              <a:t>64</a:t>
            </a:fld>
            <a:endParaRPr lang="en-US" altLang="en-US" sz="12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a:xfrm>
            <a:off x="0" y="0"/>
            <a:ext cx="9144000" cy="838200"/>
          </a:xfrm>
        </p:spPr>
        <p:txBody>
          <a:bodyPr/>
          <a:lstStyle/>
          <a:p>
            <a:pPr eaLnBrk="1" hangingPunct="1"/>
            <a:r>
              <a:rPr lang="en-US" altLang="en-US" b="1"/>
              <a:t>Rare Event Removal</a:t>
            </a:r>
          </a:p>
        </p:txBody>
      </p:sp>
      <p:sp>
        <p:nvSpPr>
          <p:cNvPr id="110595" name="Content Placeholder 2"/>
          <p:cNvSpPr>
            <a:spLocks noGrp="1"/>
          </p:cNvSpPr>
          <p:nvPr>
            <p:ph idx="1"/>
          </p:nvPr>
        </p:nvSpPr>
        <p:spPr/>
        <p:txBody>
          <a:bodyPr/>
          <a:lstStyle/>
          <a:p>
            <a:pPr eaLnBrk="1" hangingPunct="1"/>
            <a:r>
              <a:rPr lang="en-US" altLang="en-US" sz="2800" dirty="0"/>
              <a:t>Intelligent attackers will choose low-frequency events to trigger the inserted Trojans.</a:t>
            </a:r>
          </a:p>
          <a:p>
            <a:pPr eaLnBrk="1" hangingPunct="1"/>
            <a:endParaRPr lang="en-US" altLang="en-US" sz="2800" dirty="0"/>
          </a:p>
          <a:p>
            <a:pPr eaLnBrk="1" hangingPunct="1"/>
            <a:r>
              <a:rPr lang="en-US" altLang="en-US" sz="2800" dirty="0"/>
              <a:t>Improving controllability or observability can make rare events scarce, thereby facilitating detecting Trojans inside the design.</a:t>
            </a:r>
          </a:p>
          <a:p>
            <a:pPr lvl="1" eaLnBrk="1" hangingPunct="1"/>
            <a:r>
              <a:rPr lang="en-US" altLang="en-US" sz="2400" dirty="0">
                <a:ea typeface="Arial" panose="020B0604020202020204" pitchFamily="34" charset="0"/>
              </a:rPr>
              <a:t>Design for Trojan test: inserting probing points</a:t>
            </a:r>
          </a:p>
          <a:p>
            <a:pPr lvl="1" eaLnBrk="1" hangingPunct="1"/>
            <a:r>
              <a:rPr lang="en-US" altLang="en-US" sz="2400" dirty="0">
                <a:ea typeface="Arial" panose="020B0604020202020204" pitchFamily="34" charset="0"/>
              </a:rPr>
              <a:t>Inserting dummy scan ﬂip-ﬂops </a:t>
            </a:r>
          </a:p>
        </p:txBody>
      </p:sp>
      <p:sp>
        <p:nvSpPr>
          <p:cNvPr id="11059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2388D421-E8BC-4938-9D7C-527A9F274C50}" type="slidenum">
              <a:rPr lang="en-US" altLang="en-US" sz="1200"/>
              <a:pPr>
                <a:spcBef>
                  <a:spcPct val="0"/>
                </a:spcBef>
                <a:buClrTx/>
                <a:buSzTx/>
                <a:buFontTx/>
                <a:buNone/>
              </a:pPr>
              <a:t>65</a:t>
            </a:fld>
            <a:endParaRPr lang="en-US" altLang="en-US" sz="12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152400" y="119063"/>
            <a:ext cx="8763000" cy="685800"/>
          </a:xfrm>
        </p:spPr>
        <p:txBody>
          <a:bodyPr/>
          <a:lstStyle/>
          <a:p>
            <a:pPr eaLnBrk="1" hangingPunct="1"/>
            <a:r>
              <a:rPr lang="en-US" altLang="en-US" sz="2800" b="1"/>
              <a:t>Increasing Probability of Partial/Full Activation </a:t>
            </a:r>
          </a:p>
        </p:txBody>
      </p:sp>
      <p:sp>
        <p:nvSpPr>
          <p:cNvPr id="112643" name="Content Placeholder 2"/>
          <p:cNvSpPr>
            <a:spLocks noGrp="1"/>
          </p:cNvSpPr>
          <p:nvPr>
            <p:ph idx="1"/>
          </p:nvPr>
        </p:nvSpPr>
        <p:spPr>
          <a:xfrm>
            <a:off x="266700" y="893763"/>
            <a:ext cx="8616950" cy="895350"/>
          </a:xfrm>
        </p:spPr>
        <p:txBody>
          <a:bodyPr/>
          <a:lstStyle/>
          <a:p>
            <a:pPr eaLnBrk="1" hangingPunct="1"/>
            <a:r>
              <a:rPr lang="en-US" altLang="en-US" sz="2400" dirty="0"/>
              <a:t>Inserting dummy FFs on path with very low activation probability</a:t>
            </a:r>
          </a:p>
        </p:txBody>
      </p:sp>
      <p:sp>
        <p:nvSpPr>
          <p:cNvPr id="11264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D3F12D86-50EE-4C86-B021-FAA42A6A0C7F}" type="slidenum">
              <a:rPr lang="en-US" altLang="en-US" sz="1200"/>
              <a:pPr>
                <a:spcBef>
                  <a:spcPct val="0"/>
                </a:spcBef>
                <a:buClrTx/>
                <a:buSzTx/>
                <a:buFontTx/>
                <a:buNone/>
              </a:pPr>
              <a:t>66</a:t>
            </a:fld>
            <a:endParaRPr lang="en-US" altLang="en-US" sz="1200"/>
          </a:p>
        </p:txBody>
      </p:sp>
      <p:pic>
        <p:nvPicPr>
          <p:cNvPr id="1126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628" y="1677988"/>
            <a:ext cx="46990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8450" y="3735388"/>
            <a:ext cx="4810125" cy="24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152400" y="130175"/>
            <a:ext cx="8763000" cy="685800"/>
          </a:xfrm>
        </p:spPr>
        <p:txBody>
          <a:bodyPr/>
          <a:lstStyle/>
          <a:p>
            <a:pPr eaLnBrk="1" hangingPunct="1"/>
            <a:r>
              <a:rPr lang="en-US" altLang="en-US" sz="2800" b="1"/>
              <a:t>Increasing Probability of Partial/Full Activation </a:t>
            </a:r>
          </a:p>
        </p:txBody>
      </p:sp>
      <p:sp>
        <p:nvSpPr>
          <p:cNvPr id="114691" name="Content Placeholder 2"/>
          <p:cNvSpPr>
            <a:spLocks noGrp="1"/>
          </p:cNvSpPr>
          <p:nvPr>
            <p:ph idx="1"/>
          </p:nvPr>
        </p:nvSpPr>
        <p:spPr>
          <a:xfrm>
            <a:off x="190500" y="1054100"/>
            <a:ext cx="8567738" cy="3054350"/>
          </a:xfrm>
        </p:spPr>
        <p:txBody>
          <a:bodyPr/>
          <a:lstStyle/>
          <a:p>
            <a:pPr eaLnBrk="1" hangingPunct="1"/>
            <a:endParaRPr lang="en-US" altLang="en-US" sz="2800" dirty="0"/>
          </a:p>
          <a:p>
            <a:pPr eaLnBrk="1" hangingPunct="1"/>
            <a:r>
              <a:rPr lang="en-US" altLang="en-US" sz="2800" dirty="0"/>
              <a:t>Dummy scan flip-flops are inserted to control hard-to-excite nodes.</a:t>
            </a:r>
          </a:p>
          <a:p>
            <a:pPr eaLnBrk="1" hangingPunct="1"/>
            <a:endParaRPr lang="en-US" altLang="en-US" sz="2800" dirty="0"/>
          </a:p>
          <a:p>
            <a:pPr eaLnBrk="1" hangingPunct="1"/>
            <a:r>
              <a:rPr lang="en-US" altLang="en-US" sz="2800" dirty="0"/>
              <a:t>Usage:</a:t>
            </a:r>
          </a:p>
          <a:p>
            <a:pPr lvl="1" eaLnBrk="1" hangingPunct="1"/>
            <a:r>
              <a:rPr lang="en-US" altLang="en-US" sz="2400" b="1" dirty="0">
                <a:ea typeface="Arial" panose="020B0604020202020204" pitchFamily="34" charset="0"/>
              </a:rPr>
              <a:t>Full activation</a:t>
            </a:r>
            <a:r>
              <a:rPr lang="en-US" altLang="en-US" sz="2400" dirty="0">
                <a:ea typeface="Arial" panose="020B0604020202020204" pitchFamily="34" charset="0"/>
              </a:rPr>
              <a:t>: increase controllability</a:t>
            </a:r>
          </a:p>
          <a:p>
            <a:pPr lvl="1" eaLnBrk="1" hangingPunct="1"/>
            <a:r>
              <a:rPr lang="en-US" altLang="en-US" sz="2400" b="1" dirty="0">
                <a:ea typeface="Arial" panose="020B0604020202020204" pitchFamily="34" charset="0"/>
              </a:rPr>
              <a:t>Power-based</a:t>
            </a:r>
            <a:r>
              <a:rPr lang="en-US" altLang="en-US" sz="2400" dirty="0">
                <a:ea typeface="Arial" panose="020B0604020202020204" pitchFamily="34" charset="0"/>
              </a:rPr>
              <a:t>: generate switching activities</a:t>
            </a:r>
          </a:p>
          <a:p>
            <a:pPr lvl="1" eaLnBrk="1" hangingPunct="1"/>
            <a:r>
              <a:rPr lang="en-US" altLang="en-US" sz="2400" b="1" dirty="0">
                <a:ea typeface="Arial" panose="020B0604020202020204" pitchFamily="34" charset="0"/>
              </a:rPr>
              <a:t>Delay-based</a:t>
            </a:r>
            <a:r>
              <a:rPr lang="en-US" altLang="en-US" sz="2400" dirty="0">
                <a:ea typeface="Arial" panose="020B0604020202020204" pitchFamily="34" charset="0"/>
              </a:rPr>
              <a:t>: activate more paths to improve coverage</a:t>
            </a:r>
          </a:p>
        </p:txBody>
      </p:sp>
      <p:sp>
        <p:nvSpPr>
          <p:cNvPr id="11469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AEEBC1CD-05EC-4CDA-9C3E-E67F060FF79E}" type="slidenum">
              <a:rPr lang="en-US" altLang="en-US" sz="1200"/>
              <a:pPr>
                <a:spcBef>
                  <a:spcPct val="0"/>
                </a:spcBef>
                <a:buClrTx/>
                <a:buSzTx/>
                <a:buFontTx/>
                <a:buNone/>
              </a:pPr>
              <a:t>67</a:t>
            </a:fld>
            <a:endParaRPr lang="en-US" altLang="en-US" sz="1200"/>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a:xfrm>
            <a:off x="0" y="22225"/>
            <a:ext cx="9144000" cy="838200"/>
          </a:xfrm>
        </p:spPr>
        <p:txBody>
          <a:bodyPr/>
          <a:lstStyle/>
          <a:p>
            <a:pPr eaLnBrk="1" hangingPunct="1"/>
            <a:r>
              <a:rPr lang="en-US" altLang="en-US" sz="3600" b="1"/>
              <a:t>Trojan Prevention-Design obfuscation</a:t>
            </a:r>
          </a:p>
        </p:txBody>
      </p:sp>
      <p:sp>
        <p:nvSpPr>
          <p:cNvPr id="116739" name="Content Placeholder 2"/>
          <p:cNvSpPr>
            <a:spLocks noGrp="1"/>
          </p:cNvSpPr>
          <p:nvPr>
            <p:ph idx="1"/>
          </p:nvPr>
        </p:nvSpPr>
        <p:spPr/>
        <p:txBody>
          <a:bodyPr/>
          <a:lstStyle/>
          <a:p>
            <a:pPr eaLnBrk="1" hangingPunct="1"/>
            <a:r>
              <a:rPr lang="en-US" altLang="en-US" sz="2400" dirty="0"/>
              <a:t>The objective is deterring attackers from inserting Trojans inside the design. </a:t>
            </a:r>
          </a:p>
          <a:p>
            <a:pPr eaLnBrk="1" hangingPunct="1"/>
            <a:endParaRPr lang="en-US" altLang="en-US" sz="2400" dirty="0"/>
          </a:p>
          <a:p>
            <a:pPr eaLnBrk="1" hangingPunct="1"/>
            <a:r>
              <a:rPr lang="en-US" altLang="en-US" sz="2400" dirty="0"/>
              <a:t>Design obfuscation means that a design will be transformed to another one which is  functionally equivalent to the original, but in which it is much harder for attackers to obtain complete understanding of the internal logic, making reverse engineering much more difﬁcult to perform. </a:t>
            </a:r>
          </a:p>
          <a:p>
            <a:pPr eaLnBrk="1" hangingPunct="1"/>
            <a:endParaRPr lang="en-US" altLang="en-US" sz="2400" dirty="0"/>
          </a:p>
          <a:p>
            <a:pPr eaLnBrk="1" hangingPunct="1"/>
            <a:r>
              <a:rPr lang="en-US" altLang="en-US" sz="2400" dirty="0"/>
              <a:t>It obfuscates the state transition function to add an obfuscated mode on top of the original functionality (called normal mode).</a:t>
            </a:r>
          </a:p>
        </p:txBody>
      </p:sp>
      <p:sp>
        <p:nvSpPr>
          <p:cNvPr id="11674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4CC9FC6-D31A-4074-85DA-EB697E168297}" type="slidenum">
              <a:rPr lang="en-US" altLang="en-US" sz="1200"/>
              <a:pPr>
                <a:spcBef>
                  <a:spcPct val="0"/>
                </a:spcBef>
                <a:buClrTx/>
                <a:buSzTx/>
                <a:buFontTx/>
                <a:buNone/>
              </a:pPr>
              <a:t>68</a:t>
            </a:fld>
            <a:endParaRPr lang="en-US" altLang="en-US" sz="12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p:nvPr>
        </p:nvSpPr>
        <p:spPr>
          <a:xfrm>
            <a:off x="0" y="0"/>
            <a:ext cx="9144000" cy="838200"/>
          </a:xfrm>
        </p:spPr>
        <p:txBody>
          <a:bodyPr/>
          <a:lstStyle/>
          <a:p>
            <a:pPr eaLnBrk="1" hangingPunct="1"/>
            <a:r>
              <a:rPr lang="en-US" altLang="en-US" b="1"/>
              <a:t>Design obfuscation</a:t>
            </a:r>
          </a:p>
        </p:txBody>
      </p:sp>
      <p:sp>
        <p:nvSpPr>
          <p:cNvPr id="118787" name="Content Placeholder 2"/>
          <p:cNvSpPr>
            <a:spLocks noGrp="1"/>
          </p:cNvSpPr>
          <p:nvPr>
            <p:ph idx="1"/>
          </p:nvPr>
        </p:nvSpPr>
        <p:spPr/>
        <p:txBody>
          <a:bodyPr/>
          <a:lstStyle/>
          <a:p>
            <a:pPr eaLnBrk="1" hangingPunct="1"/>
            <a:r>
              <a:rPr lang="en-US" altLang="en-US" sz="2400"/>
              <a:t>Specified pattern is able to guide the circuit into its normal mode.</a:t>
            </a:r>
          </a:p>
          <a:p>
            <a:pPr eaLnBrk="1" hangingPunct="1"/>
            <a:r>
              <a:rPr lang="en-US" altLang="en-US" sz="2400"/>
              <a:t>The transition arc K3 is the only way the design can enter normal operation mode from the obfuscated mode. </a:t>
            </a:r>
          </a:p>
          <a:p>
            <a:pPr eaLnBrk="1" hangingPunct="1"/>
            <a:endParaRPr lang="en-US" altLang="en-US" sz="2400"/>
          </a:p>
        </p:txBody>
      </p:sp>
      <p:sp>
        <p:nvSpPr>
          <p:cNvPr id="11878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5841701C-35C6-4289-B9FA-B5291CD6DA68}" type="slidenum">
              <a:rPr lang="en-US" altLang="en-US" sz="1200"/>
              <a:pPr>
                <a:spcBef>
                  <a:spcPct val="0"/>
                </a:spcBef>
                <a:buClrTx/>
                <a:buSzTx/>
                <a:buFontTx/>
                <a:buNone/>
              </a:pPr>
              <a:t>69</a:t>
            </a:fld>
            <a:endParaRPr lang="en-US" altLang="en-US" sz="1200"/>
          </a:p>
        </p:txBody>
      </p:sp>
      <p:pic>
        <p:nvPicPr>
          <p:cNvPr id="1187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1263" y="2620963"/>
            <a:ext cx="6361112"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BISA: Built-In Self-Authentication</a:t>
            </a:r>
          </a:p>
        </p:txBody>
      </p:sp>
      <p:sp>
        <p:nvSpPr>
          <p:cNvPr id="3" name="Content Placeholder 2"/>
          <p:cNvSpPr>
            <a:spLocks noGrp="1"/>
          </p:cNvSpPr>
          <p:nvPr>
            <p:ph idx="1"/>
          </p:nvPr>
        </p:nvSpPr>
        <p:spPr>
          <a:xfrm>
            <a:off x="100560" y="1054101"/>
            <a:ext cx="8953500" cy="543600"/>
          </a:xfrm>
        </p:spPr>
        <p:txBody>
          <a:bodyPr/>
          <a:lstStyle/>
          <a:p>
            <a:r>
              <a:rPr lang="en-US" sz="2400" dirty="0">
                <a:solidFill>
                  <a:schemeClr val="tx1"/>
                </a:solidFill>
              </a:rPr>
              <a:t>Filling all unused spaces with a circuit that can easily test itself</a:t>
            </a:r>
            <a:endParaRPr lang="en-US" sz="2000" dirty="0">
              <a:solidFill>
                <a:schemeClr val="tx1"/>
              </a:solidFill>
            </a:endParaRPr>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757600"/>
            <a:ext cx="7281863" cy="2057400"/>
          </a:xfrm>
          <a:prstGeom prst="rect">
            <a:avLst/>
          </a:prstGeom>
          <a:noFill/>
          <a:ln>
            <a:noFill/>
          </a:ln>
          <a:extLst>
            <a:ext uri="{909E8E84-426E-40DD-AFC4-6F175D3DCCD1}">
              <a14:hiddenFill xmlns:a14="http://schemas.microsoft.com/office/drawing/2010/main">
                <a:solidFill>
                  <a:srgbClr val="0066CC"/>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5" name="Oval 19"/>
          <p:cNvSpPr>
            <a:spLocks noChangeArrowheads="1"/>
          </p:cNvSpPr>
          <p:nvPr/>
        </p:nvSpPr>
        <p:spPr bwMode="auto">
          <a:xfrm>
            <a:off x="3086100" y="22148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20"/>
          <p:cNvSpPr>
            <a:spLocks noChangeArrowheads="1"/>
          </p:cNvSpPr>
          <p:nvPr/>
        </p:nvSpPr>
        <p:spPr bwMode="auto">
          <a:xfrm>
            <a:off x="7662863" y="21386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21"/>
          <p:cNvSpPr>
            <a:spLocks noChangeArrowheads="1"/>
          </p:cNvSpPr>
          <p:nvPr/>
        </p:nvSpPr>
        <p:spPr bwMode="auto">
          <a:xfrm>
            <a:off x="7758113" y="180205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22"/>
          <p:cNvSpPr>
            <a:spLocks noChangeArrowheads="1"/>
          </p:cNvSpPr>
          <p:nvPr/>
        </p:nvSpPr>
        <p:spPr bwMode="auto">
          <a:xfrm>
            <a:off x="2133600" y="30530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Oval 23"/>
          <p:cNvSpPr>
            <a:spLocks noChangeArrowheads="1"/>
          </p:cNvSpPr>
          <p:nvPr/>
        </p:nvSpPr>
        <p:spPr bwMode="auto">
          <a:xfrm>
            <a:off x="7754938" y="26720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Oval 24"/>
          <p:cNvSpPr>
            <a:spLocks noChangeArrowheads="1"/>
          </p:cNvSpPr>
          <p:nvPr/>
        </p:nvSpPr>
        <p:spPr bwMode="auto">
          <a:xfrm>
            <a:off x="6172200" y="25196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25"/>
          <p:cNvSpPr>
            <a:spLocks noChangeArrowheads="1"/>
          </p:cNvSpPr>
          <p:nvPr/>
        </p:nvSpPr>
        <p:spPr bwMode="auto">
          <a:xfrm>
            <a:off x="6629400" y="32054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Oval 26"/>
          <p:cNvSpPr>
            <a:spLocks noChangeArrowheads="1"/>
          </p:cNvSpPr>
          <p:nvPr/>
        </p:nvSpPr>
        <p:spPr bwMode="auto">
          <a:xfrm>
            <a:off x="2495550" y="26720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Oval 27"/>
          <p:cNvSpPr>
            <a:spLocks noChangeArrowheads="1"/>
          </p:cNvSpPr>
          <p:nvPr/>
        </p:nvSpPr>
        <p:spPr bwMode="auto">
          <a:xfrm>
            <a:off x="3200400" y="34340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pic>
        <p:nvPicPr>
          <p:cNvPr id="14"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 y="3891200"/>
            <a:ext cx="7281863" cy="2209800"/>
          </a:xfrm>
          <a:prstGeom prst="rect">
            <a:avLst/>
          </a:prstGeom>
          <a:noFill/>
          <a:ln>
            <a:noFill/>
          </a:ln>
          <a:extLst>
            <a:ext uri="{909E8E84-426E-40DD-AFC4-6F175D3DCCD1}">
              <a14:hiddenFill xmlns:a14="http://schemas.microsoft.com/office/drawing/2010/main">
                <a:solidFill>
                  <a:srgbClr val="0066CC"/>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5" name="Oval 29"/>
          <p:cNvSpPr>
            <a:spLocks noChangeArrowheads="1"/>
          </p:cNvSpPr>
          <p:nvPr/>
        </p:nvSpPr>
        <p:spPr bwMode="auto">
          <a:xfrm>
            <a:off x="3101975" y="430395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Oval 30"/>
          <p:cNvSpPr>
            <a:spLocks noChangeArrowheads="1"/>
          </p:cNvSpPr>
          <p:nvPr/>
        </p:nvSpPr>
        <p:spPr bwMode="auto">
          <a:xfrm>
            <a:off x="7678738" y="41960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Oval 31"/>
          <p:cNvSpPr>
            <a:spLocks noChangeArrowheads="1"/>
          </p:cNvSpPr>
          <p:nvPr/>
        </p:nvSpPr>
        <p:spPr bwMode="auto">
          <a:xfrm>
            <a:off x="7773988" y="38912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Oval 32"/>
          <p:cNvSpPr>
            <a:spLocks noChangeArrowheads="1"/>
          </p:cNvSpPr>
          <p:nvPr/>
        </p:nvSpPr>
        <p:spPr bwMode="auto">
          <a:xfrm>
            <a:off x="2111375" y="52628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Oval 33"/>
          <p:cNvSpPr>
            <a:spLocks noChangeArrowheads="1"/>
          </p:cNvSpPr>
          <p:nvPr/>
        </p:nvSpPr>
        <p:spPr bwMode="auto">
          <a:xfrm>
            <a:off x="7770813" y="48818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Oval 34"/>
          <p:cNvSpPr>
            <a:spLocks noChangeArrowheads="1"/>
          </p:cNvSpPr>
          <p:nvPr/>
        </p:nvSpPr>
        <p:spPr bwMode="auto">
          <a:xfrm>
            <a:off x="6191250" y="46532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Oval 35"/>
          <p:cNvSpPr>
            <a:spLocks noChangeArrowheads="1"/>
          </p:cNvSpPr>
          <p:nvPr/>
        </p:nvSpPr>
        <p:spPr bwMode="auto">
          <a:xfrm>
            <a:off x="6681788" y="54914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Oval 36"/>
          <p:cNvSpPr>
            <a:spLocks noChangeArrowheads="1"/>
          </p:cNvSpPr>
          <p:nvPr/>
        </p:nvSpPr>
        <p:spPr bwMode="auto">
          <a:xfrm>
            <a:off x="2511425" y="48818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 name="Oval 37"/>
          <p:cNvSpPr>
            <a:spLocks noChangeArrowheads="1"/>
          </p:cNvSpPr>
          <p:nvPr/>
        </p:nvSpPr>
        <p:spPr bwMode="auto">
          <a:xfrm>
            <a:off x="3203575" y="5643800"/>
            <a:ext cx="533400" cy="381000"/>
          </a:xfrm>
          <a:prstGeom prst="ellipse">
            <a:avLst/>
          </a:prstGeom>
          <a:noFill/>
          <a:ln w="9525" algn="ctr">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2078747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p:cNvSpPr>
          <p:nvPr>
            <p:ph type="title"/>
          </p:nvPr>
        </p:nvSpPr>
        <p:spPr>
          <a:xfrm>
            <a:off x="0" y="0"/>
            <a:ext cx="9144000" cy="838200"/>
          </a:xfrm>
        </p:spPr>
        <p:txBody>
          <a:bodyPr/>
          <a:lstStyle/>
          <a:p>
            <a:pPr eaLnBrk="1" hangingPunct="1"/>
            <a:endParaRPr lang="en-US" altLang="en-US"/>
          </a:p>
        </p:txBody>
      </p:sp>
      <p:sp>
        <p:nvSpPr>
          <p:cNvPr id="120835" name="Content Placeholder 2"/>
          <p:cNvSpPr>
            <a:spLocks noGrp="1"/>
          </p:cNvSpPr>
          <p:nvPr>
            <p:ph idx="1"/>
          </p:nvPr>
        </p:nvSpPr>
        <p:spPr>
          <a:xfrm>
            <a:off x="255588" y="1066800"/>
            <a:ext cx="8750300" cy="5076825"/>
          </a:xfrm>
        </p:spPr>
        <p:txBody>
          <a:bodyPr/>
          <a:lstStyle/>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algn="ctr" eaLnBrk="1" hangingPunct="1">
              <a:buFont typeface="Wingdings" panose="05000000000000000000" pitchFamily="2" charset="2"/>
              <a:buNone/>
            </a:pPr>
            <a:r>
              <a:rPr lang="en-US" altLang="en-US"/>
              <a:t>Question?</a:t>
            </a:r>
          </a:p>
          <a:p>
            <a:pPr eaLnBrk="1" hangingPunct="1"/>
            <a:endParaRPr lang="en-US" altLang="en-US"/>
          </a:p>
          <a:p>
            <a:pPr eaLnBrk="1" hangingPunct="1"/>
            <a:endParaRPr lang="en-US" altLang="en-US"/>
          </a:p>
        </p:txBody>
      </p:sp>
      <p:sp>
        <p:nvSpPr>
          <p:cNvPr id="12083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Tx/>
              <a:buSzTx/>
              <a:buFontTx/>
              <a:buNone/>
            </a:pPr>
            <a:fld id="{8BAE1431-2ED2-49C6-8D28-2893DDD400D5}" type="slidenum">
              <a:rPr lang="en-US" altLang="en-US" sz="1200"/>
              <a:pPr>
                <a:spcBef>
                  <a:spcPct val="0"/>
                </a:spcBef>
                <a:buClrTx/>
                <a:buSzTx/>
                <a:buFontTx/>
                <a:buNone/>
              </a:pPr>
              <a:t>71</a:t>
            </a:fld>
            <a:endParaRPr lang="en-US" altLang="en-US" sz="1200"/>
          </a:p>
        </p:txBody>
      </p:sp>
      <p:pic>
        <p:nvPicPr>
          <p:cNvPr id="120837" name="Picture 7" descr="http://www.sacfla.org/question2-72466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2925" y="950913"/>
            <a:ext cx="28575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9|87.8"/>
</p:tagLst>
</file>

<file path=ppt/tags/tag2.xml><?xml version="1.0" encoding="utf-8"?>
<p:tagLst xmlns:a="http://schemas.openxmlformats.org/drawingml/2006/main" xmlns:r="http://schemas.openxmlformats.org/officeDocument/2006/relationships" xmlns:p="http://schemas.openxmlformats.org/presentationml/2006/main">
  <p:tag name="TIMING" val="|15.9|87.8"/>
</p:tagLst>
</file>

<file path=ppt/theme/theme1.xml><?xml version="1.0" encoding="utf-8"?>
<a:theme xmlns:a="http://schemas.openxmlformats.org/drawingml/2006/main" name="templat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10203790">
  <a:themeElements>
    <a:clrScheme name="1_10203790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fontScheme name="1_1020379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10203790 1">
        <a:dk1>
          <a:srgbClr val="2B2B85"/>
        </a:dk1>
        <a:lt1>
          <a:srgbClr val="FFFFFF"/>
        </a:lt1>
        <a:dk2>
          <a:srgbClr val="00254A"/>
        </a:dk2>
        <a:lt2>
          <a:srgbClr val="C0C0C0"/>
        </a:lt2>
        <a:accent1>
          <a:srgbClr val="0099FF"/>
        </a:accent1>
        <a:accent2>
          <a:srgbClr val="006699"/>
        </a:accent2>
        <a:accent3>
          <a:srgbClr val="AAACB1"/>
        </a:accent3>
        <a:accent4>
          <a:srgbClr val="DADADA"/>
        </a:accent4>
        <a:accent5>
          <a:srgbClr val="AACAFF"/>
        </a:accent5>
        <a:accent6>
          <a:srgbClr val="005C8A"/>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1_10203790 2">
        <a:dk1>
          <a:srgbClr val="3B4B5D"/>
        </a:dk1>
        <a:lt1>
          <a:srgbClr val="FFFFFF"/>
        </a:lt1>
        <a:dk2>
          <a:srgbClr val="466886"/>
        </a:dk2>
        <a:lt2>
          <a:srgbClr val="CCECFF"/>
        </a:lt2>
        <a:accent1>
          <a:srgbClr val="6D9D97"/>
        </a:accent1>
        <a:accent2>
          <a:srgbClr val="53718C"/>
        </a:accent2>
        <a:accent3>
          <a:srgbClr val="B0B9C3"/>
        </a:accent3>
        <a:accent4>
          <a:srgbClr val="DADADA"/>
        </a:accent4>
        <a:accent5>
          <a:srgbClr val="BACCC9"/>
        </a:accent5>
        <a:accent6>
          <a:srgbClr val="4A667E"/>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1_10203790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1_10203790 4">
        <a:dk1>
          <a:srgbClr val="9B69FF"/>
        </a:dk1>
        <a:lt1>
          <a:srgbClr val="FFFFFF"/>
        </a:lt1>
        <a:dk2>
          <a:srgbClr val="666699"/>
        </a:dk2>
        <a:lt2>
          <a:srgbClr val="D9D9FF"/>
        </a:lt2>
        <a:accent1>
          <a:srgbClr val="66CCFF"/>
        </a:accent1>
        <a:accent2>
          <a:srgbClr val="9966FF"/>
        </a:accent2>
        <a:accent3>
          <a:srgbClr val="B8B8CA"/>
        </a:accent3>
        <a:accent4>
          <a:srgbClr val="DADADA"/>
        </a:accent4>
        <a:accent5>
          <a:srgbClr val="B8E2FF"/>
        </a:accent5>
        <a:accent6>
          <a:srgbClr val="8A5CE7"/>
        </a:accent6>
        <a:hlink>
          <a:srgbClr val="0099CC"/>
        </a:hlink>
        <a:folHlink>
          <a:srgbClr val="003399"/>
        </a:folHlink>
      </a:clrScheme>
      <a:clrMap bg1="dk2" tx1="lt1" bg2="dk1" tx2="lt2" accent1="accent1" accent2="accent2" accent3="accent3" accent4="accent4" accent5="accent5" accent6="accent6" hlink="hlink" folHlink="folHlink"/>
    </a:extraClrScheme>
    <a:extraClrScheme>
      <a:clrScheme name="1_10203790 5">
        <a:dk1>
          <a:srgbClr val="008080"/>
        </a:dk1>
        <a:lt1>
          <a:srgbClr val="FFFFFF"/>
        </a:lt1>
        <a:dk2>
          <a:srgbClr val="006666"/>
        </a:dk2>
        <a:lt2>
          <a:srgbClr val="FFFFCC"/>
        </a:lt2>
        <a:accent1>
          <a:srgbClr val="0099FF"/>
        </a:accent1>
        <a:accent2>
          <a:srgbClr val="008080"/>
        </a:accent2>
        <a:accent3>
          <a:srgbClr val="AAB8B8"/>
        </a:accent3>
        <a:accent4>
          <a:srgbClr val="DADADA"/>
        </a:accent4>
        <a:accent5>
          <a:srgbClr val="AACAFF"/>
        </a:accent5>
        <a:accent6>
          <a:srgbClr val="007373"/>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1_10203790 6">
        <a:dk1>
          <a:srgbClr val="CDD9D1"/>
        </a:dk1>
        <a:lt1>
          <a:srgbClr val="FFFFFF"/>
        </a:lt1>
        <a:dk2>
          <a:srgbClr val="A3BBA9"/>
        </a:dk2>
        <a:lt2>
          <a:srgbClr val="007D80"/>
        </a:lt2>
        <a:accent1>
          <a:srgbClr val="9CA8A4"/>
        </a:accent1>
        <a:accent2>
          <a:srgbClr val="CBD7CE"/>
        </a:accent2>
        <a:accent3>
          <a:srgbClr val="CEDAD1"/>
        </a:accent3>
        <a:accent4>
          <a:srgbClr val="DADADA"/>
        </a:accent4>
        <a:accent5>
          <a:srgbClr val="CBD1CF"/>
        </a:accent5>
        <a:accent6>
          <a:srgbClr val="B8C3BA"/>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1_10203790 7">
        <a:dk1>
          <a:srgbClr val="686B5D"/>
        </a:dk1>
        <a:lt1>
          <a:srgbClr val="DCDAD0"/>
        </a:lt1>
        <a:dk2>
          <a:srgbClr val="525040"/>
        </a:dk2>
        <a:lt2>
          <a:srgbClr val="D3D2A6"/>
        </a:lt2>
        <a:accent1>
          <a:srgbClr val="5D8770"/>
        </a:accent1>
        <a:accent2>
          <a:srgbClr val="686B5D"/>
        </a:accent2>
        <a:accent3>
          <a:srgbClr val="B3B3AF"/>
        </a:accent3>
        <a:accent4>
          <a:srgbClr val="BCBAB1"/>
        </a:accent4>
        <a:accent5>
          <a:srgbClr val="B6C3BB"/>
        </a:accent5>
        <a:accent6>
          <a:srgbClr val="5E6053"/>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1_10203790 8">
        <a:dk1>
          <a:srgbClr val="000000"/>
        </a:dk1>
        <a:lt1>
          <a:srgbClr val="EAEAEA"/>
        </a:lt1>
        <a:dk2>
          <a:srgbClr val="000000"/>
        </a:dk2>
        <a:lt2>
          <a:srgbClr val="B2B2B2"/>
        </a:lt2>
        <a:accent1>
          <a:srgbClr val="A4BCC4"/>
        </a:accent1>
        <a:accent2>
          <a:srgbClr val="FFFFFF"/>
        </a:accent2>
        <a:accent3>
          <a:srgbClr val="F3F3F3"/>
        </a:accent3>
        <a:accent4>
          <a:srgbClr val="000000"/>
        </a:accent4>
        <a:accent5>
          <a:srgbClr val="CFDADE"/>
        </a:accent5>
        <a:accent6>
          <a:srgbClr val="E7E7E7"/>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1_10203790 9">
        <a:dk1>
          <a:srgbClr val="000000"/>
        </a:dk1>
        <a:lt1>
          <a:srgbClr val="D7D1B9"/>
        </a:lt1>
        <a:dk2>
          <a:srgbClr val="B39257"/>
        </a:dk2>
        <a:lt2>
          <a:srgbClr val="B1A887"/>
        </a:lt2>
        <a:accent1>
          <a:srgbClr val="FFCC66"/>
        </a:accent1>
        <a:accent2>
          <a:srgbClr val="E6E3AC"/>
        </a:accent2>
        <a:accent3>
          <a:srgbClr val="E8E5D9"/>
        </a:accent3>
        <a:accent4>
          <a:srgbClr val="000000"/>
        </a:accent4>
        <a:accent5>
          <a:srgbClr val="FFE2B8"/>
        </a:accent5>
        <a:accent6>
          <a:srgbClr val="D0CE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10203790">
  <a:themeElements>
    <a:clrScheme name="1_10203790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fontScheme name="1_1020379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10203790 1">
        <a:dk1>
          <a:srgbClr val="2B2B85"/>
        </a:dk1>
        <a:lt1>
          <a:srgbClr val="FFFFFF"/>
        </a:lt1>
        <a:dk2>
          <a:srgbClr val="00254A"/>
        </a:dk2>
        <a:lt2>
          <a:srgbClr val="C0C0C0"/>
        </a:lt2>
        <a:accent1>
          <a:srgbClr val="0099FF"/>
        </a:accent1>
        <a:accent2>
          <a:srgbClr val="006699"/>
        </a:accent2>
        <a:accent3>
          <a:srgbClr val="AAACB1"/>
        </a:accent3>
        <a:accent4>
          <a:srgbClr val="DADADA"/>
        </a:accent4>
        <a:accent5>
          <a:srgbClr val="AACAFF"/>
        </a:accent5>
        <a:accent6>
          <a:srgbClr val="005C8A"/>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1_10203790 2">
        <a:dk1>
          <a:srgbClr val="3B4B5D"/>
        </a:dk1>
        <a:lt1>
          <a:srgbClr val="FFFFFF"/>
        </a:lt1>
        <a:dk2>
          <a:srgbClr val="466886"/>
        </a:dk2>
        <a:lt2>
          <a:srgbClr val="CCECFF"/>
        </a:lt2>
        <a:accent1>
          <a:srgbClr val="6D9D97"/>
        </a:accent1>
        <a:accent2>
          <a:srgbClr val="53718C"/>
        </a:accent2>
        <a:accent3>
          <a:srgbClr val="B0B9C3"/>
        </a:accent3>
        <a:accent4>
          <a:srgbClr val="DADADA"/>
        </a:accent4>
        <a:accent5>
          <a:srgbClr val="BACCC9"/>
        </a:accent5>
        <a:accent6>
          <a:srgbClr val="4A667E"/>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1_10203790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1_10203790 4">
        <a:dk1>
          <a:srgbClr val="9B69FF"/>
        </a:dk1>
        <a:lt1>
          <a:srgbClr val="FFFFFF"/>
        </a:lt1>
        <a:dk2>
          <a:srgbClr val="666699"/>
        </a:dk2>
        <a:lt2>
          <a:srgbClr val="D9D9FF"/>
        </a:lt2>
        <a:accent1>
          <a:srgbClr val="66CCFF"/>
        </a:accent1>
        <a:accent2>
          <a:srgbClr val="9966FF"/>
        </a:accent2>
        <a:accent3>
          <a:srgbClr val="B8B8CA"/>
        </a:accent3>
        <a:accent4>
          <a:srgbClr val="DADADA"/>
        </a:accent4>
        <a:accent5>
          <a:srgbClr val="B8E2FF"/>
        </a:accent5>
        <a:accent6>
          <a:srgbClr val="8A5CE7"/>
        </a:accent6>
        <a:hlink>
          <a:srgbClr val="0099CC"/>
        </a:hlink>
        <a:folHlink>
          <a:srgbClr val="003399"/>
        </a:folHlink>
      </a:clrScheme>
      <a:clrMap bg1="dk2" tx1="lt1" bg2="dk1" tx2="lt2" accent1="accent1" accent2="accent2" accent3="accent3" accent4="accent4" accent5="accent5" accent6="accent6" hlink="hlink" folHlink="folHlink"/>
    </a:extraClrScheme>
    <a:extraClrScheme>
      <a:clrScheme name="1_10203790 5">
        <a:dk1>
          <a:srgbClr val="008080"/>
        </a:dk1>
        <a:lt1>
          <a:srgbClr val="FFFFFF"/>
        </a:lt1>
        <a:dk2>
          <a:srgbClr val="006666"/>
        </a:dk2>
        <a:lt2>
          <a:srgbClr val="FFFFCC"/>
        </a:lt2>
        <a:accent1>
          <a:srgbClr val="0099FF"/>
        </a:accent1>
        <a:accent2>
          <a:srgbClr val="008080"/>
        </a:accent2>
        <a:accent3>
          <a:srgbClr val="AAB8B8"/>
        </a:accent3>
        <a:accent4>
          <a:srgbClr val="DADADA"/>
        </a:accent4>
        <a:accent5>
          <a:srgbClr val="AACAFF"/>
        </a:accent5>
        <a:accent6>
          <a:srgbClr val="007373"/>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1_10203790 6">
        <a:dk1>
          <a:srgbClr val="CDD9D1"/>
        </a:dk1>
        <a:lt1>
          <a:srgbClr val="FFFFFF"/>
        </a:lt1>
        <a:dk2>
          <a:srgbClr val="A3BBA9"/>
        </a:dk2>
        <a:lt2>
          <a:srgbClr val="007D80"/>
        </a:lt2>
        <a:accent1>
          <a:srgbClr val="9CA8A4"/>
        </a:accent1>
        <a:accent2>
          <a:srgbClr val="CBD7CE"/>
        </a:accent2>
        <a:accent3>
          <a:srgbClr val="CEDAD1"/>
        </a:accent3>
        <a:accent4>
          <a:srgbClr val="DADADA"/>
        </a:accent4>
        <a:accent5>
          <a:srgbClr val="CBD1CF"/>
        </a:accent5>
        <a:accent6>
          <a:srgbClr val="B8C3BA"/>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1_10203790 7">
        <a:dk1>
          <a:srgbClr val="686B5D"/>
        </a:dk1>
        <a:lt1>
          <a:srgbClr val="DCDAD0"/>
        </a:lt1>
        <a:dk2>
          <a:srgbClr val="525040"/>
        </a:dk2>
        <a:lt2>
          <a:srgbClr val="D3D2A6"/>
        </a:lt2>
        <a:accent1>
          <a:srgbClr val="5D8770"/>
        </a:accent1>
        <a:accent2>
          <a:srgbClr val="686B5D"/>
        </a:accent2>
        <a:accent3>
          <a:srgbClr val="B3B3AF"/>
        </a:accent3>
        <a:accent4>
          <a:srgbClr val="BCBAB1"/>
        </a:accent4>
        <a:accent5>
          <a:srgbClr val="B6C3BB"/>
        </a:accent5>
        <a:accent6>
          <a:srgbClr val="5E6053"/>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1_10203790 8">
        <a:dk1>
          <a:srgbClr val="000000"/>
        </a:dk1>
        <a:lt1>
          <a:srgbClr val="EAEAEA"/>
        </a:lt1>
        <a:dk2>
          <a:srgbClr val="000000"/>
        </a:dk2>
        <a:lt2>
          <a:srgbClr val="B2B2B2"/>
        </a:lt2>
        <a:accent1>
          <a:srgbClr val="A4BCC4"/>
        </a:accent1>
        <a:accent2>
          <a:srgbClr val="FFFFFF"/>
        </a:accent2>
        <a:accent3>
          <a:srgbClr val="F3F3F3"/>
        </a:accent3>
        <a:accent4>
          <a:srgbClr val="000000"/>
        </a:accent4>
        <a:accent5>
          <a:srgbClr val="CFDADE"/>
        </a:accent5>
        <a:accent6>
          <a:srgbClr val="E7E7E7"/>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1_10203790 9">
        <a:dk1>
          <a:srgbClr val="000000"/>
        </a:dk1>
        <a:lt1>
          <a:srgbClr val="D7D1B9"/>
        </a:lt1>
        <a:dk2>
          <a:srgbClr val="B39257"/>
        </a:dk2>
        <a:lt2>
          <a:srgbClr val="B1A887"/>
        </a:lt2>
        <a:accent1>
          <a:srgbClr val="FFCC66"/>
        </a:accent1>
        <a:accent2>
          <a:srgbClr val="E6E3AC"/>
        </a:accent2>
        <a:accent3>
          <a:srgbClr val="E8E5D9"/>
        </a:accent3>
        <a:accent4>
          <a:srgbClr val="000000"/>
        </a:accent4>
        <a:accent5>
          <a:srgbClr val="FFE2B8"/>
        </a:accent5>
        <a:accent6>
          <a:srgbClr val="D0CE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17156</TotalTime>
  <Words>7204</Words>
  <Application>Microsoft Macintosh PowerPoint</Application>
  <PresentationFormat>On-screen Show (4:3)</PresentationFormat>
  <Paragraphs>1033</Paragraphs>
  <Slides>71</Slides>
  <Notes>63</Notes>
  <HiddenSlides>0</HiddenSlides>
  <MMClips>0</MMClips>
  <ScaleCrop>false</ScaleCrop>
  <HeadingPairs>
    <vt:vector size="8" baseType="variant">
      <vt:variant>
        <vt:lpstr>Fonts Used</vt:lpstr>
      </vt:variant>
      <vt:variant>
        <vt:i4>17</vt:i4>
      </vt:variant>
      <vt:variant>
        <vt:lpstr>Theme</vt:lpstr>
      </vt:variant>
      <vt:variant>
        <vt:i4>3</vt:i4>
      </vt:variant>
      <vt:variant>
        <vt:lpstr>Embedded OLE Servers</vt:lpstr>
      </vt:variant>
      <vt:variant>
        <vt:i4>1</vt:i4>
      </vt:variant>
      <vt:variant>
        <vt:lpstr>Slide Titles</vt:lpstr>
      </vt:variant>
      <vt:variant>
        <vt:i4>71</vt:i4>
      </vt:variant>
    </vt:vector>
  </HeadingPairs>
  <TitlesOfParts>
    <vt:vector size="92" baseType="lpstr">
      <vt:lpstr>MS PGothic</vt:lpstr>
      <vt:lpstr>MS PGothic</vt:lpstr>
      <vt:lpstr>SimSun</vt:lpstr>
      <vt:lpstr>Aharoni</vt:lpstr>
      <vt:lpstr>Arial</vt:lpstr>
      <vt:lpstr>Arial Black</vt:lpstr>
      <vt:lpstr>AvantGarde Bk BT</vt:lpstr>
      <vt:lpstr>Berlin Sans FB</vt:lpstr>
      <vt:lpstr>Calibri</vt:lpstr>
      <vt:lpstr>Courier New</vt:lpstr>
      <vt:lpstr>Garamond</vt:lpstr>
      <vt:lpstr>Helvetica</vt:lpstr>
      <vt:lpstr>Lucida Grande</vt:lpstr>
      <vt:lpstr>Tahoma</vt:lpstr>
      <vt:lpstr>Times New Roman</vt:lpstr>
      <vt:lpstr>Wingdings</vt:lpstr>
      <vt:lpstr>Wingdings 2</vt:lpstr>
      <vt:lpstr>template</vt:lpstr>
      <vt:lpstr>1_10203790</vt:lpstr>
      <vt:lpstr>2_10203790</vt:lpstr>
      <vt:lpstr>Equation</vt:lpstr>
      <vt:lpstr>PowerPoint Presentation</vt:lpstr>
      <vt:lpstr>Threats</vt:lpstr>
      <vt:lpstr>What is Hardware Trojan?</vt:lpstr>
      <vt:lpstr>IC/IP Trust Problem</vt:lpstr>
      <vt:lpstr>Hardware Trojan Threat</vt:lpstr>
      <vt:lpstr>Hardware Trojan Threat</vt:lpstr>
      <vt:lpstr>Issues with Third IP Design</vt:lpstr>
      <vt:lpstr>Issues with Third IP Design</vt:lpstr>
      <vt:lpstr>Hardware Trojan Threat</vt:lpstr>
      <vt:lpstr>Hardware Trojan Threat</vt:lpstr>
      <vt:lpstr>ASIC Design Process – Untrusted Foundry</vt:lpstr>
      <vt:lpstr>Untrusted Designer and Foundry</vt:lpstr>
      <vt:lpstr>HW Trojan Examples / Models</vt:lpstr>
      <vt:lpstr>PowerPoint Presentation</vt:lpstr>
      <vt:lpstr>PowerPoint Presentation</vt:lpstr>
      <vt:lpstr>Silicon Back Door</vt:lpstr>
      <vt:lpstr>Silicon Time Bomb</vt:lpstr>
      <vt:lpstr>Applications and Threats</vt:lpstr>
      <vt:lpstr>Comprehensive Attack Model</vt:lpstr>
      <vt:lpstr>Trojan Taxonomy</vt:lpstr>
      <vt:lpstr>Trojan Taxonomy</vt:lpstr>
      <vt:lpstr>Examples for Layout Level Trojans</vt:lpstr>
      <vt:lpstr>Example: Type</vt:lpstr>
      <vt:lpstr>Example: Size</vt:lpstr>
      <vt:lpstr>Example: Distribution</vt:lpstr>
      <vt:lpstr>Example: Structure</vt:lpstr>
      <vt:lpstr>Trojan Taxonomy: Activation</vt:lpstr>
      <vt:lpstr>Activation: Internally Activated</vt:lpstr>
      <vt:lpstr>Trojan Taxonomy: Action</vt:lpstr>
      <vt:lpstr>Example: Action</vt:lpstr>
      <vt:lpstr>IP Trust &amp; IP Security </vt:lpstr>
      <vt:lpstr>IP Trust</vt:lpstr>
      <vt:lpstr>IP Trust</vt:lpstr>
      <vt:lpstr>Approaches for Pre-synthesis</vt:lpstr>
      <vt:lpstr>Formal Verification</vt:lpstr>
      <vt:lpstr>Coverage Analysis</vt:lpstr>
      <vt:lpstr>Suspicious Parts</vt:lpstr>
      <vt:lpstr>IC Trust</vt:lpstr>
      <vt:lpstr>IC (System) Trust</vt:lpstr>
      <vt:lpstr>Classification of Trojan Detection Approaches</vt:lpstr>
      <vt:lpstr>Classification of Trojan Detection Approaches</vt:lpstr>
      <vt:lpstr>Hardware Trojan Benchmarks</vt:lpstr>
      <vt:lpstr>Logic Testing Approach</vt:lpstr>
      <vt:lpstr>Functional Test Deficiency </vt:lpstr>
      <vt:lpstr>Functional Testing</vt:lpstr>
      <vt:lpstr>MERO</vt:lpstr>
      <vt:lpstr>Comprehensive Attack Model</vt:lpstr>
      <vt:lpstr>PowerPoint Presentation</vt:lpstr>
      <vt:lpstr>Side-Channel Trojan Detection</vt:lpstr>
      <vt:lpstr>Side-channel Signals</vt:lpstr>
      <vt:lpstr>Sensitivity Metric</vt:lpstr>
      <vt:lpstr>Comparing Approaches</vt:lpstr>
      <vt:lpstr>Side-channel Approach</vt:lpstr>
      <vt:lpstr>Trojan Inserted into s38417 Benchmark</vt:lpstr>
      <vt:lpstr>Power Analysis -- Locality</vt:lpstr>
      <vt:lpstr>Current (Charge) Integration Method</vt:lpstr>
      <vt:lpstr>Power Analysis -- Challenges</vt:lpstr>
      <vt:lpstr>Side Channel Analysis -- Delay</vt:lpstr>
      <vt:lpstr>Delay-based Methods</vt:lpstr>
      <vt:lpstr>Clock Sweeping Technique</vt:lpstr>
      <vt:lpstr>Delay Analysis -- Challenges</vt:lpstr>
      <vt:lpstr>Trojan Detection</vt:lpstr>
      <vt:lpstr>Self-similarity in Space &amp; Time – for Trust Verification</vt:lpstr>
      <vt:lpstr>Design for Hardware Trust</vt:lpstr>
      <vt:lpstr>Rare Event Removal</vt:lpstr>
      <vt:lpstr>Increasing Probability of Partial/Full Activation </vt:lpstr>
      <vt:lpstr>Increasing Probability of Partial/Full Activation </vt:lpstr>
      <vt:lpstr>Trojan Prevention-Design obfuscation</vt:lpstr>
      <vt:lpstr>Design obfuscation</vt:lpstr>
      <vt:lpstr>BISA: Built-In Self-Authentication</vt:lpstr>
      <vt:lpstr>PowerPoint Presentation</vt:lpstr>
    </vt:vector>
  </TitlesOfParts>
  <Company>Bellcore</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in the Fourth Dimension</dc:title>
  <dc:creator>pagrawal</dc:creator>
  <cp:lastModifiedBy>Mark Tehranipoor</cp:lastModifiedBy>
  <cp:revision>1093</cp:revision>
  <dcterms:created xsi:type="dcterms:W3CDTF">2000-11-03T02:09:08Z</dcterms:created>
  <dcterms:modified xsi:type="dcterms:W3CDTF">2018-12-15T22:10:52Z</dcterms:modified>
</cp:coreProperties>
</file>