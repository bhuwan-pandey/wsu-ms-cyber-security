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  <p:sldMasterId id="2147483660" r:id="rId2"/>
    <p:sldMasterId id="2147483684" r:id="rId3"/>
    <p:sldMasterId id="2147483672" r:id="rId4"/>
  </p:sldMasterIdLst>
  <p:notesMasterIdLst>
    <p:notesMasterId r:id="rId25"/>
  </p:notesMasterIdLst>
  <p:sldIdLst>
    <p:sldId id="256" r:id="rId5"/>
    <p:sldId id="279" r:id="rId6"/>
    <p:sldId id="303" r:id="rId7"/>
    <p:sldId id="304" r:id="rId8"/>
    <p:sldId id="305" r:id="rId9"/>
    <p:sldId id="301" r:id="rId10"/>
    <p:sldId id="306" r:id="rId11"/>
    <p:sldId id="298" r:id="rId12"/>
    <p:sldId id="307" r:id="rId13"/>
    <p:sldId id="308" r:id="rId14"/>
    <p:sldId id="309" r:id="rId15"/>
    <p:sldId id="297" r:id="rId16"/>
    <p:sldId id="295" r:id="rId17"/>
    <p:sldId id="292" r:id="rId18"/>
    <p:sldId id="310" r:id="rId19"/>
    <p:sldId id="288" r:id="rId20"/>
    <p:sldId id="311" r:id="rId21"/>
    <p:sldId id="312" r:id="rId22"/>
    <p:sldId id="281" r:id="rId23"/>
    <p:sldId id="280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B010B8-2901-4CCC-A16A-F27B21E09D7C}" v="1267" dt="2023-06-29T22:14:08.951"/>
    <p1510:client id="{6A84DAAA-2FDE-45BE-9EA8-0970E52B6BC4}" v="231" dt="2023-06-27T20:33:45.933"/>
    <p1510:client id="{717AE6A1-D167-4684-8513-E9E75ABB422A}" v="200" dt="2023-06-27T21:47:02.236"/>
    <p1510:client id="{933033B7-6B80-4612-8224-EE06B512144B}" v="143" dt="2023-06-27T17:30:06.730"/>
    <p1510:client id="{9B747BE4-0D76-42AF-8F6D-4FA9F3BA1C15}" v="3777" dt="2023-06-28T22:20:27.989"/>
    <p1510:client id="{A77D9F86-0B61-4EF8-A266-CEAB7B5A8D14}" v="1381" dt="2023-06-27T20:18:43.123"/>
    <p1510:client id="{BBBB30DA-5182-4A0B-846D-A62F5C988BD0}" v="411" dt="2023-06-29T17:12:04.587"/>
    <p1510:client id="{CA757C27-F6D1-47A1-BC36-7F5672D81A65}" v="521" dt="2023-06-27T21:35:40.262"/>
    <p1510:client id="{DBB6DC1A-9CBC-4DE8-AC4C-DFCA6C71B76F}" v="1484" dt="2023-06-27T17:04:13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9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ECB29B7-031F-2E6C-B1F5-3ECFC92967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D135F38-E313-3F69-948D-49D8B5E04AC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0F9CA3F-F9D7-D43B-9FE2-C66906C85B2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25117A4-8202-4D27-AEC2-E9D81EE25C3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FF04054-0012-B921-01B5-8FF9C1EA6BA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5A80228-3CC6-5C2D-5031-07E15575F8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7E19979-E4D2-4E72-96DD-0007581C7C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DFC4B18B-64FE-B18D-D64E-14BE667B87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numCol="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3DA27B-95C4-4631-8ED3-1A345DAF02FE}" type="slidenum">
              <a:rPr lang="en-US" smtClean="0"/>
              <a:pPr>
                <a:spcBef>
                  <a:spcPct val="0"/>
                </a:spcBef>
              </a:pPr>
              <a:t>1</a:t>
            </a:fld>
            <a:endParaRPr lang="en-US" dirty="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E1D0791D-CDBC-A74E-FA42-745C5DEDCA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39922D0-477C-C1B7-3F8E-BB120F486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numCol="1"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7D9B3ED9-3B8B-84D0-048A-75FF2B4EB885}"/>
              </a:ext>
            </a:extLst>
          </p:cNvPr>
          <p:cNvSpPr>
            <a:spLocks noChangeArrowheads="1"/>
          </p:cNvSpPr>
          <p:nvPr/>
        </p:nvSpPr>
        <p:spPr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numCol="1"/>
          <a:lstStyle/>
          <a:p>
            <a:endParaRPr lang="en-US" dirty="0"/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88A4168E-4F4A-3F91-E56A-6EA3811EDCDD}"/>
              </a:ext>
            </a:extLst>
          </p:cNvPr>
          <p:cNvSpPr>
            <a:spLocks noChangeShapeType="1"/>
          </p:cNvSpPr>
          <p:nvPr/>
        </p:nvSpPr>
        <p:spPr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numCol="1"/>
          <a:lstStyle/>
          <a:p>
            <a:endParaRPr lang="en-US" dirty="0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 numCol="1"/>
          <a:lstStyle>
            <a:lvl1pPr>
              <a:defRPr sz="5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 numCol="1"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8C967A-453B-D06B-EFF7-9AF6520B78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2B2053-CF89-5D28-94AE-9685099DBB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r>
              <a:rPr lang="en-US" dirty="0"/>
              <a:t>Introduction to Cyber Crime and Security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C8EF21-9A28-4727-BBF3-58B41C2994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 numCol="1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59F85B3-9576-4B88-AC0E-B89BF5D7C1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59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607804A-C647-5EA2-2C60-C7D32C3AC2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7B99F8D5-A808-4918-AF95-1C65737EF9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428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numCol="1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numCol="1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C2D1CA9-E270-2B84-EF63-90FD1E86071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21EA5AD3-7D96-49E2-9585-0E8B473B34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998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F008A0-DD9E-211A-5BC9-EEC94B22B4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49E3EB76-8F0B-4637-B5B3-18636837D5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41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numCol="1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F82E836-D318-5268-E7A0-5BC2E8CBF86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C09D41DE-3D34-46C2-9F5A-427DAE09D17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87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0A8F943-2F87-6E12-DD6C-4E8ACB1AFF0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1051BF7A-1AFA-4046-B13D-CCE92F58A6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4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A687F78-29C0-7C84-D176-7D5E1614B1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F5DF5B85-EFB7-4ADC-BD70-34E38F36A5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71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1F8119-C86B-CAED-D6CD-05AD8157A7B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109ED5BC-8A75-4C2F-84DC-A59309F5ED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0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0EF29A-FC14-DACB-3FEB-2809D82D66F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5A294AA1-72D1-4901-9724-6A5AE9BE83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43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DB11B6C-AF0C-C491-75A6-EE368DEEA7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664AFD5B-2114-4B86-825D-7708350B32D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63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BAD4DBA-F070-CC69-AA6A-79F80664685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79A042AE-4AC6-4C69-885D-21143202F48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14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4830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772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204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36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404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1855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5817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47796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882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51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0715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6050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714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0697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115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933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3628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0664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0638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2294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1146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474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81E1FD-EA48-9105-B231-62F8EDB59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D5E3E05-86D1-F906-6168-C4D70823CD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5036CD50-EA33-E565-75C3-97754F1346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7391400" y="6243638"/>
            <a:ext cx="1295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accent1"/>
                </a:solidFill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D217E4AA-41F4-4752-92E6-517FDA3114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29" name="Freeform 6">
            <a:extLst>
              <a:ext uri="{FF2B5EF4-FFF2-40B4-BE49-F238E27FC236}">
                <a16:creationId xmlns:a16="http://schemas.microsoft.com/office/drawing/2014/main" id="{08F3425D-BE32-074E-42DE-B8617EAAF070}"/>
              </a:ext>
            </a:extLst>
          </p:cNvPr>
          <p:cNvSpPr>
            <a:spLocks noChangeArrowheads="1"/>
          </p:cNvSpPr>
          <p:nvPr/>
        </p:nvSpPr>
        <p:spPr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numCol="1"/>
          <a:lstStyle/>
          <a:p>
            <a:endParaRPr lang="en-US" dirty="0"/>
          </a:p>
        </p:txBody>
      </p:sp>
      <p:sp>
        <p:nvSpPr>
          <p:cNvPr id="1030" name="Rectangle 7">
            <a:extLst>
              <a:ext uri="{FF2B5EF4-FFF2-40B4-BE49-F238E27FC236}">
                <a16:creationId xmlns:a16="http://schemas.microsoft.com/office/drawing/2014/main" id="{8A923645-081C-F076-07C5-E9502EE845BE}"/>
              </a:ext>
            </a:extLst>
          </p:cNvPr>
          <p:cNvSpPr>
            <a:spLocks noChangeArrowheads="1"/>
          </p:cNvSpPr>
          <p:nvPr/>
        </p:nvSpPr>
        <p:spPr>
          <a:xfrm>
            <a:off x="457200" y="6248400"/>
            <a:ext cx="678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numCol="1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solidFill>
                  <a:schemeClr val="accent1"/>
                </a:solidFill>
              </a:rPr>
              <a:t>© 2024 by Pearson Education, Inc.     	      Chapter 5: Operating Systems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accent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accent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accent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accent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accent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73D87-64F2-4614-9BB8-BB99516FDAA2}" type="datetimeFigureOut">
              <a:rPr lang="en-IN" smtClean="0"/>
              <a:t>19-07-2023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21E3C-A787-4265-BB6C-61B0DC3F886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139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52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367DDBF-1295-C740-B3D8-5FB99F9E5D5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936750"/>
          </a:xfrm>
        </p:spPr>
        <p:txBody>
          <a:bodyPr numCol="1"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Security in Computing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Sixth Edition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A7C6BEC-466D-AE53-DB29-9E38A85251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81200" y="3886200"/>
            <a:ext cx="7013275" cy="1752600"/>
          </a:xfrm>
        </p:spPr>
        <p:txBody>
          <a:bodyPr numCol="1"/>
          <a:lstStyle/>
          <a:p>
            <a:pPr algn="r"/>
            <a:r>
              <a:rPr lang="en-IN" dirty="0">
                <a:cs typeface="Arial"/>
              </a:rPr>
              <a:t> Charles P. Pfleeger </a:t>
            </a:r>
            <a:endParaRPr lang="en-US" dirty="0">
              <a:cs typeface="Arial"/>
            </a:endParaRPr>
          </a:p>
          <a:p>
            <a:pPr algn="r"/>
            <a:r>
              <a:rPr lang="en-IN" dirty="0">
                <a:cs typeface="Arial"/>
              </a:rPr>
              <a:t>Shari Lawrence Pfleeger</a:t>
            </a:r>
            <a:endParaRPr lang="en-US" dirty="0">
              <a:cs typeface="Arial"/>
            </a:endParaRPr>
          </a:p>
          <a:p>
            <a:pPr algn="r"/>
            <a:r>
              <a:rPr lang="en-IN" dirty="0">
                <a:cs typeface="Arial"/>
              </a:rPr>
              <a:t>Lizzie Coles-Kemp</a:t>
            </a:r>
            <a:endParaRPr lang="en-US" dirty="0">
              <a:cs typeface="Arial"/>
            </a:endParaRPr>
          </a:p>
        </p:txBody>
      </p:sp>
      <p:sp>
        <p:nvSpPr>
          <p:cNvPr id="4100" name="Text Box 4">
            <a:extLst>
              <a:ext uri="{FF2B5EF4-FFF2-40B4-BE49-F238E27FC236}">
                <a16:creationId xmlns:a16="http://schemas.microsoft.com/office/drawing/2014/main" id="{8A110987-5091-9DB9-442D-F377EE5CC0F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1440" tIns="45720" rIns="91440" bIns="45720" numCol="1" anchor="t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			</a:t>
            </a:r>
            <a:endParaRPr lang="en-US" dirty="0">
              <a:solidFill>
                <a:schemeClr val="tx1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sz="1800" i="1" dirty="0">
                <a:solidFill>
                  <a:schemeClr val="tx1"/>
                </a:solidFill>
                <a:latin typeface="Arial Unicode MS"/>
                <a:ea typeface="Arial Unicode MS"/>
                <a:cs typeface="Arial Unicode MS"/>
              </a:rPr>
              <a:t>Chapter 5: Operating Systems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75D554-DCBD-0C95-713A-5E6AB67E2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73" y="2819400"/>
            <a:ext cx="2590800" cy="2997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1405-67CB-BD09-D4CC-C3B7066B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In This Chapter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BDD-3990-E599-E1E6-32AC351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521"/>
            <a:ext cx="8229600" cy="4530725"/>
          </a:xfrm>
        </p:spPr>
        <p:txBody>
          <a:bodyPr/>
          <a:lstStyle/>
          <a:p>
            <a:pPr marL="257175" indent="-257175">
              <a:buFont typeface="Arial" panose="05000000000000000000" pitchFamily="2" charset="2"/>
              <a:buChar char="•"/>
            </a:pPr>
            <a:endParaRPr lang="en-US" sz="2800" dirty="0">
              <a:cs typeface="Arial"/>
            </a:endParaRPr>
          </a:p>
          <a:p>
            <a:pPr marL="257175" indent="-257175">
              <a:buFont typeface="Arial" panose="05000000000000000000" pitchFamily="2" charset="2"/>
              <a:buChar char="•"/>
            </a:pPr>
            <a:endParaRPr lang="en-US" sz="2800" b="1" dirty="0">
              <a:cs typeface="Arial"/>
            </a:endParaRPr>
          </a:p>
          <a:p>
            <a:pPr marL="257175" indent="-257175">
              <a:spcBef>
                <a:spcPct val="0"/>
              </a:spcBef>
              <a:spcAft>
                <a:spcPts val="1000"/>
              </a:spcAft>
              <a:buFont typeface="Arial,Sans-Serif" panose="05000000000000000000" pitchFamily="2" charset="2"/>
              <a:buChar char="•"/>
            </a:pPr>
            <a:endParaRPr lang="en-US" sz="2800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EB65-011E-EE08-65EC-360872FFE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9F8D5-A808-4918-AF95-1C65737EF99C}" type="slidenum">
              <a:rPr lang="en-US" dirty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3AF2-22BE-E1E3-5A4C-DB11E65BD36C}"/>
              </a:ext>
            </a:extLst>
          </p:cNvPr>
          <p:cNvSpPr txBox="1"/>
          <p:nvPr/>
        </p:nvSpPr>
        <p:spPr>
          <a:xfrm>
            <a:off x="646697" y="1383631"/>
            <a:ext cx="7820526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Operating system structure and design 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Object protection: virtualization, sharing 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Memory protection: registers, paging, segmentation 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Design qualities: modularity, layering, kernelization 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Trusted systems: TCB, reference monitor, trusted path, object reuse, evaluation criteria 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Rootkits: power, design</a:t>
            </a:r>
          </a:p>
          <a:p>
            <a:pPr algn="l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7310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1405-67CB-BD09-D4CC-C3B7066B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Security in Operating Systems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BDD-3990-E599-E1E6-32AC351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521"/>
            <a:ext cx="8229600" cy="4530725"/>
          </a:xfrm>
        </p:spPr>
        <p:txBody>
          <a:bodyPr/>
          <a:lstStyle/>
          <a:p>
            <a:pPr marL="257175" indent="-257175">
              <a:buFont typeface="Arial" panose="05000000000000000000" pitchFamily="2" charset="2"/>
              <a:buChar char="•"/>
            </a:pPr>
            <a:endParaRPr lang="en-US" sz="2800" dirty="0">
              <a:cs typeface="Arial"/>
            </a:endParaRPr>
          </a:p>
          <a:p>
            <a:pPr marL="257175" indent="-257175">
              <a:buFont typeface="Arial" panose="05000000000000000000" pitchFamily="2" charset="2"/>
              <a:buChar char="•"/>
            </a:pPr>
            <a:endParaRPr lang="en-US" sz="2800" b="1" dirty="0">
              <a:cs typeface="Arial"/>
            </a:endParaRPr>
          </a:p>
          <a:p>
            <a:pPr marL="257175" indent="-257175">
              <a:spcBef>
                <a:spcPct val="0"/>
              </a:spcBef>
              <a:spcAft>
                <a:spcPts val="1000"/>
              </a:spcAft>
              <a:buFont typeface="Arial,Sans-Serif" panose="05000000000000000000" pitchFamily="2" charset="2"/>
              <a:buChar char="•"/>
            </a:pPr>
            <a:endParaRPr lang="en-US" sz="2800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EB65-011E-EE08-65EC-360872FFE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9F8D5-A808-4918-AF95-1C65737EF99C}" type="slidenum">
              <a:rPr lang="en-US" dirty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3AF2-22BE-E1E3-5A4C-DB11E65BD36C}"/>
              </a:ext>
            </a:extLst>
          </p:cNvPr>
          <p:cNvSpPr txBox="1"/>
          <p:nvPr/>
        </p:nvSpPr>
        <p:spPr>
          <a:xfrm>
            <a:off x="646697" y="1383631"/>
            <a:ext cx="782052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endParaRPr lang="en-US" sz="2800" dirty="0">
              <a:solidFill>
                <a:schemeClr val="accent1"/>
              </a:solidFill>
              <a:latin typeface="Arial"/>
              <a:cs typeface="Arial"/>
            </a:endParaRPr>
          </a:p>
          <a:p>
            <a:pPr algn="l"/>
            <a:endParaRPr lang="en-US" dirty="0">
              <a:cs typeface="Arial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5C6A5CD-3CB8-10D2-0AED-D16490CF0DEF}"/>
              </a:ext>
            </a:extLst>
          </p:cNvPr>
          <p:cNvSpPr txBox="1"/>
          <p:nvPr/>
        </p:nvSpPr>
        <p:spPr>
          <a:xfrm>
            <a:off x="97048" y="6087735"/>
            <a:ext cx="8915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rgbClr val="0B05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5-1 Operating System Functions</a:t>
            </a:r>
            <a:endParaRPr lang="en-IN" sz="1050" dirty="0">
              <a:solidFill>
                <a:srgbClr val="0B050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10" descr="Diagram&#10;&#10;Description automatically generated">
            <a:extLst>
              <a:ext uri="{FF2B5EF4-FFF2-40B4-BE49-F238E27FC236}">
                <a16:creationId xmlns:a16="http://schemas.microsoft.com/office/drawing/2014/main" id="{6520F78E-92E0-47B1-CC5A-20F60D5A9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325" y="1798837"/>
            <a:ext cx="5129841" cy="370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1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1405-67CB-BD09-D4CC-C3B7066B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Operating Systems 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BDD-3990-E599-E1E6-32AC351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521"/>
            <a:ext cx="8229600" cy="4530725"/>
          </a:xfrm>
        </p:spPr>
        <p:txBody>
          <a:bodyPr/>
          <a:lstStyle/>
          <a:p>
            <a:pPr marL="257175" indent="-257175">
              <a:buFont typeface="Arial" panose="05000000000000000000" pitchFamily="2" charset="2"/>
              <a:buChar char="•"/>
            </a:pPr>
            <a:endParaRPr lang="en-US" sz="2800" dirty="0">
              <a:cs typeface="Arial"/>
            </a:endParaRPr>
          </a:p>
          <a:p>
            <a:pPr marL="257175" indent="-257175">
              <a:buFont typeface="Arial" panose="05000000000000000000" pitchFamily="2" charset="2"/>
              <a:buChar char="•"/>
            </a:pPr>
            <a:endParaRPr lang="en-US" sz="2800" b="1" dirty="0">
              <a:cs typeface="Arial"/>
            </a:endParaRPr>
          </a:p>
          <a:p>
            <a:pPr marL="257175" indent="-257175">
              <a:spcBef>
                <a:spcPct val="0"/>
              </a:spcBef>
              <a:spcAft>
                <a:spcPts val="1000"/>
              </a:spcAft>
              <a:buFont typeface="Arial,Sans-Serif" panose="05000000000000000000" pitchFamily="2" charset="2"/>
              <a:buChar char="•"/>
            </a:pPr>
            <a:endParaRPr lang="en-US" sz="2800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EB65-011E-EE08-65EC-360872FFE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9F8D5-A808-4918-AF95-1C65737EF99C}" type="slidenum">
              <a:rPr lang="en-US" dirty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3AF2-22BE-E1E3-5A4C-DB11E65BD36C}"/>
              </a:ext>
            </a:extLst>
          </p:cNvPr>
          <p:cNvSpPr txBox="1"/>
          <p:nvPr/>
        </p:nvSpPr>
        <p:spPr>
          <a:xfrm>
            <a:off x="560433" y="1311744"/>
            <a:ext cx="7820526" cy="4647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Arial"/>
                <a:cs typeface="Arial"/>
              </a:rPr>
              <a:t>Enforced sharing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Arial"/>
                <a:cs typeface="Arial"/>
              </a:rPr>
              <a:t>Interprocess communication and synchronization</a:t>
            </a:r>
            <a:endParaRPr lang="en-US" sz="24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Arial"/>
                <a:cs typeface="Arial"/>
              </a:rPr>
              <a:t>Protection of critical operating system data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Arial"/>
                <a:cs typeface="Arial"/>
              </a:rPr>
              <a:t>Guaranteed fair service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Arial"/>
                <a:cs typeface="Arial"/>
              </a:rPr>
              <a:t>Interface to hardware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Arial"/>
                <a:cs typeface="Arial"/>
              </a:rPr>
              <a:t>User authentication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Arial"/>
                <a:cs typeface="Arial"/>
              </a:rPr>
              <a:t>Memory protection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Arial"/>
                <a:cs typeface="Arial"/>
              </a:rPr>
              <a:t>File and I/O device access control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Arial"/>
                <a:cs typeface="Arial"/>
              </a:rPr>
              <a:t>Allocation and access control to general objects</a:t>
            </a:r>
          </a:p>
        </p:txBody>
      </p:sp>
    </p:spTree>
    <p:extLst>
      <p:ext uri="{BB962C8B-B14F-4D97-AF65-F5344CB8AC3E}">
        <p14:creationId xmlns:p14="http://schemas.microsoft.com/office/powerpoint/2010/main" val="405610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1405-67CB-BD09-D4CC-C3B7066B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Protected Objects in Multiprogramming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BDD-3990-E599-E1E6-32AC351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521"/>
            <a:ext cx="8229600" cy="4530725"/>
          </a:xfrm>
        </p:spPr>
        <p:txBody>
          <a:bodyPr/>
          <a:lstStyle/>
          <a:p>
            <a:pPr marL="257175" indent="-257175">
              <a:buFont typeface="Arial" panose="05000000000000000000" pitchFamily="2" charset="2"/>
              <a:buChar char="•"/>
            </a:pPr>
            <a:endParaRPr lang="en-US" sz="2800" dirty="0">
              <a:cs typeface="Arial"/>
            </a:endParaRPr>
          </a:p>
          <a:p>
            <a:pPr marL="257175" indent="-257175">
              <a:buFont typeface="Arial" panose="05000000000000000000" pitchFamily="2" charset="2"/>
              <a:buChar char="•"/>
            </a:pPr>
            <a:endParaRPr lang="en-US" sz="2800" b="1" dirty="0">
              <a:cs typeface="Arial"/>
            </a:endParaRPr>
          </a:p>
          <a:p>
            <a:pPr marL="257175" indent="-257175">
              <a:spcBef>
                <a:spcPct val="0"/>
              </a:spcBef>
              <a:spcAft>
                <a:spcPts val="1000"/>
              </a:spcAft>
              <a:buFont typeface="Arial,Sans-Serif" panose="05000000000000000000" pitchFamily="2" charset="2"/>
              <a:buChar char="•"/>
            </a:pPr>
            <a:endParaRPr lang="en-US" sz="2800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EB65-011E-EE08-65EC-360872FFE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9F8D5-A808-4918-AF95-1C65737EF99C}" type="slidenum">
              <a:rPr lang="en-US" dirty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3AF2-22BE-E1E3-5A4C-DB11E65BD36C}"/>
              </a:ext>
            </a:extLst>
          </p:cNvPr>
          <p:cNvSpPr txBox="1"/>
          <p:nvPr/>
        </p:nvSpPr>
        <p:spPr>
          <a:xfrm>
            <a:off x="646697" y="1383631"/>
            <a:ext cx="782052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endParaRPr lang="en-US" sz="2800" dirty="0">
              <a:solidFill>
                <a:schemeClr val="accent1"/>
              </a:solidFill>
              <a:latin typeface="Arial"/>
              <a:cs typeface="Arial"/>
            </a:endParaRPr>
          </a:p>
          <a:p>
            <a:pPr algn="l"/>
            <a:endParaRPr lang="en-US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DAE8E-8F9D-0D89-8332-F5423D20D71F}"/>
              </a:ext>
            </a:extLst>
          </p:cNvPr>
          <p:cNvSpPr txBox="1"/>
          <p:nvPr/>
        </p:nvSpPr>
        <p:spPr>
          <a:xfrm>
            <a:off x="652656" y="1858462"/>
            <a:ext cx="7399421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Memory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Sharable I/O devices, such as disks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Serially reusable I/O devices, such as printers and tape drives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Sharable programs and subprocedures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Networks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Sharable data</a:t>
            </a:r>
          </a:p>
          <a:p>
            <a:pPr algn="l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9550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7048" y="5987094"/>
            <a:ext cx="8915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0B05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5-2 Layered Operating System</a:t>
            </a:r>
            <a:endParaRPr lang="en-IN" sz="1050" dirty="0">
              <a:solidFill>
                <a:srgbClr val="0B050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169B18-9B78-4C63-DEEF-E3E350D8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Layered Operating System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8" descr="Diagram&#10;&#10;Description automatically generated">
            <a:extLst>
              <a:ext uri="{FF2B5EF4-FFF2-40B4-BE49-F238E27FC236}">
                <a16:creationId xmlns:a16="http://schemas.microsoft.com/office/drawing/2014/main" id="{73F2E82E-597D-FD95-0920-B2DB768BC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758" y="1599455"/>
            <a:ext cx="4137803" cy="401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3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1405-67CB-BD09-D4CC-C3B7066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91" y="277813"/>
            <a:ext cx="8775938" cy="11398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Layered Operating Systems (cont'd)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BDD-3990-E599-E1E6-32AC351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521"/>
            <a:ext cx="8229600" cy="4530725"/>
          </a:xfrm>
        </p:spPr>
        <p:txBody>
          <a:bodyPr/>
          <a:lstStyle/>
          <a:p>
            <a:pPr marL="257175" indent="-257175">
              <a:buFont typeface="Arial" panose="05000000000000000000" pitchFamily="2" charset="2"/>
              <a:buChar char="•"/>
            </a:pPr>
            <a:endParaRPr lang="en-US" sz="2800" dirty="0">
              <a:cs typeface="Arial"/>
            </a:endParaRPr>
          </a:p>
          <a:p>
            <a:pPr marL="257175" indent="-257175">
              <a:buFont typeface="Arial" panose="05000000000000000000" pitchFamily="2" charset="2"/>
              <a:buChar char="•"/>
            </a:pPr>
            <a:endParaRPr lang="en-US" sz="2800" b="1" dirty="0">
              <a:cs typeface="Arial"/>
            </a:endParaRPr>
          </a:p>
          <a:p>
            <a:pPr marL="257175" indent="-257175">
              <a:spcBef>
                <a:spcPct val="0"/>
              </a:spcBef>
              <a:spcAft>
                <a:spcPts val="1000"/>
              </a:spcAft>
              <a:buFont typeface="Arial,Sans-Serif" panose="05000000000000000000" pitchFamily="2" charset="2"/>
              <a:buChar char="•"/>
            </a:pPr>
            <a:endParaRPr lang="en-US" sz="2800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EB65-011E-EE08-65EC-360872FFE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9F8D5-A808-4918-AF95-1C65737EF99C}" type="slidenum">
              <a:rPr lang="en-US" dirty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3AF2-22BE-E1E3-5A4C-DB11E65BD36C}"/>
              </a:ext>
            </a:extLst>
          </p:cNvPr>
          <p:cNvSpPr txBox="1"/>
          <p:nvPr/>
        </p:nvSpPr>
        <p:spPr>
          <a:xfrm>
            <a:off x="646697" y="1383631"/>
            <a:ext cx="782052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endParaRPr lang="en-US" sz="2800" dirty="0">
              <a:solidFill>
                <a:schemeClr val="accent1"/>
              </a:solidFill>
              <a:latin typeface="Arial"/>
              <a:cs typeface="Arial"/>
            </a:endParaRPr>
          </a:p>
          <a:p>
            <a:pPr algn="l"/>
            <a:endParaRPr lang="en-US" dirty="0">
              <a:cs typeface="Arial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6488BE0C-AAE0-52D3-9513-47DC2965CD16}"/>
              </a:ext>
            </a:extLst>
          </p:cNvPr>
          <p:cNvSpPr txBox="1"/>
          <p:nvPr/>
        </p:nvSpPr>
        <p:spPr>
          <a:xfrm>
            <a:off x="111425" y="5800188"/>
            <a:ext cx="8915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rgbClr val="0B05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5-3 Authentication Functions Spanning Layers in an Operating System</a:t>
            </a:r>
            <a:endParaRPr lang="en-IN" sz="1050" dirty="0">
              <a:solidFill>
                <a:srgbClr val="0B050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9" descr="Diagram, engineering drawing&#10;&#10;Description automatically generated">
            <a:extLst>
              <a:ext uri="{FF2B5EF4-FFF2-40B4-BE49-F238E27FC236}">
                <a16:creationId xmlns:a16="http://schemas.microsoft.com/office/drawing/2014/main" id="{CA8DD427-16C2-41DD-B2D0-8C3A1AF50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362" y="1864589"/>
            <a:ext cx="5057953" cy="358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72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7048" y="6030226"/>
            <a:ext cx="8915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0B05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5-5 Operating System Loaded in Stages</a:t>
            </a:r>
            <a:endParaRPr lang="en-IN" sz="1050" dirty="0">
              <a:solidFill>
                <a:srgbClr val="0B050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524AE2-A5FB-5DC8-383A-CED3E193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646543" cy="11398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Layered Operating Systems (cont'd)</a:t>
            </a:r>
          </a:p>
          <a:p>
            <a:endParaRPr lang="en-US" dirty="0">
              <a:cs typeface="Arial"/>
            </a:endParaRPr>
          </a:p>
        </p:txBody>
      </p:sp>
      <p:pic>
        <p:nvPicPr>
          <p:cNvPr id="7" name="Picture 7" descr="Diagram&#10;&#10;Description automatically generated">
            <a:extLst>
              <a:ext uri="{FF2B5EF4-FFF2-40B4-BE49-F238E27FC236}">
                <a16:creationId xmlns:a16="http://schemas.microsoft.com/office/drawing/2014/main" id="{6D1E72AD-CBC9-4E8B-98F8-016574086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83" y="2014065"/>
            <a:ext cx="3562709" cy="375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54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1405-67CB-BD09-D4CC-C3B7066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91" y="277813"/>
            <a:ext cx="8775938" cy="11398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Operating System Tools for </a:t>
            </a:r>
            <a:br>
              <a:rPr lang="en-US" dirty="0">
                <a:solidFill>
                  <a:schemeClr val="bg1"/>
                </a:solidFill>
                <a:cs typeface="Arial"/>
              </a:rPr>
            </a:br>
            <a:r>
              <a:rPr lang="en-US" dirty="0">
                <a:solidFill>
                  <a:schemeClr val="bg1"/>
                </a:solidFill>
                <a:cs typeface="Arial"/>
              </a:rPr>
              <a:t>Security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BDD-3990-E599-E1E6-32AC351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521"/>
            <a:ext cx="8229600" cy="4530725"/>
          </a:xfrm>
        </p:spPr>
        <p:txBody>
          <a:bodyPr/>
          <a:lstStyle/>
          <a:p>
            <a:pPr marL="257175" indent="-257175">
              <a:buFont typeface="Arial" panose="05000000000000000000" pitchFamily="2" charset="2"/>
              <a:buChar char="•"/>
            </a:pPr>
            <a:endParaRPr lang="en-US" sz="2800" dirty="0">
              <a:cs typeface="Arial"/>
            </a:endParaRPr>
          </a:p>
          <a:p>
            <a:pPr marL="257175" indent="-257175">
              <a:buFont typeface="Arial" panose="05000000000000000000" pitchFamily="2" charset="2"/>
              <a:buChar char="•"/>
            </a:pPr>
            <a:endParaRPr lang="en-US" sz="2800" b="1" dirty="0">
              <a:cs typeface="Arial"/>
            </a:endParaRPr>
          </a:p>
          <a:p>
            <a:pPr marL="257175" indent="-257175">
              <a:spcBef>
                <a:spcPct val="0"/>
              </a:spcBef>
              <a:spcAft>
                <a:spcPts val="1000"/>
              </a:spcAft>
              <a:buFont typeface="Arial,Sans-Serif" panose="05000000000000000000" pitchFamily="2" charset="2"/>
              <a:buChar char="•"/>
            </a:pPr>
            <a:endParaRPr lang="en-US" sz="2800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EB65-011E-EE08-65EC-360872FFE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9F8D5-A808-4918-AF95-1C65737EF99C}" type="slidenum">
              <a:rPr lang="en-US" dirty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3AF2-22BE-E1E3-5A4C-DB11E65BD36C}"/>
              </a:ext>
            </a:extLst>
          </p:cNvPr>
          <p:cNvSpPr txBox="1"/>
          <p:nvPr/>
        </p:nvSpPr>
        <p:spPr>
          <a:xfrm>
            <a:off x="646697" y="1800574"/>
            <a:ext cx="7820526" cy="4462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Audit log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Virtualization: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742950" lvl="1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Virtual machine</a:t>
            </a:r>
          </a:p>
          <a:p>
            <a:pPr marL="742950" lvl="1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Hypervisor</a:t>
            </a:r>
          </a:p>
          <a:p>
            <a:pPr marL="742950" lvl="1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Sandbox</a:t>
            </a:r>
          </a:p>
          <a:p>
            <a:pPr marL="742950" lvl="1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Honeypot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0" lvl="1" indent="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Separation and sharing</a:t>
            </a:r>
            <a:endParaRPr lang="en-US" sz="2800" dirty="0">
              <a:solidFill>
                <a:srgbClr val="3366CC"/>
              </a:solidFill>
              <a:cs typeface="Arial"/>
            </a:endParaRPr>
          </a:p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7472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1405-67CB-BD09-D4CC-C3B7066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91" y="277813"/>
            <a:ext cx="8775938" cy="11398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Separation in Operating System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BDD-3990-E599-E1E6-32AC351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521"/>
            <a:ext cx="8229600" cy="4530725"/>
          </a:xfrm>
        </p:spPr>
        <p:txBody>
          <a:bodyPr/>
          <a:lstStyle/>
          <a:p>
            <a:pPr marL="257175" indent="-257175">
              <a:buFont typeface="Arial" panose="05000000000000000000" pitchFamily="2" charset="2"/>
              <a:buChar char="•"/>
            </a:pPr>
            <a:endParaRPr lang="en-US" sz="2800" dirty="0">
              <a:cs typeface="Arial"/>
            </a:endParaRPr>
          </a:p>
          <a:p>
            <a:pPr marL="257175" indent="-257175">
              <a:buFont typeface="Arial" panose="05000000000000000000" pitchFamily="2" charset="2"/>
              <a:buChar char="•"/>
            </a:pPr>
            <a:endParaRPr lang="en-US" sz="2800" b="1" dirty="0">
              <a:cs typeface="Arial"/>
            </a:endParaRPr>
          </a:p>
          <a:p>
            <a:pPr marL="257175" indent="-257175">
              <a:spcBef>
                <a:spcPct val="0"/>
              </a:spcBef>
              <a:spcAft>
                <a:spcPts val="1000"/>
              </a:spcAft>
              <a:buFont typeface="Arial,Sans-Serif" panose="05000000000000000000" pitchFamily="2" charset="2"/>
              <a:buChar char="•"/>
            </a:pPr>
            <a:endParaRPr lang="en-US" sz="2800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EB65-011E-EE08-65EC-360872FFE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9F8D5-A808-4918-AF95-1C65737EF99C}" type="slidenum">
              <a:rPr lang="en-US" dirty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3AF2-22BE-E1E3-5A4C-DB11E65BD36C}"/>
              </a:ext>
            </a:extLst>
          </p:cNvPr>
          <p:cNvSpPr txBox="1"/>
          <p:nvPr/>
        </p:nvSpPr>
        <p:spPr>
          <a:xfrm>
            <a:off x="646697" y="1159238"/>
            <a:ext cx="7820526" cy="49859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Arial"/>
                <a:ea typeface="Segoe UI"/>
                <a:cs typeface="Segoe UI"/>
              </a:rPr>
              <a:t>Physical separation</a:t>
            </a:r>
            <a:r>
              <a:rPr lang="en-US" sz="2400" dirty="0">
                <a:solidFill>
                  <a:schemeClr val="accent1"/>
                </a:solidFill>
                <a:latin typeface="Arial"/>
                <a:ea typeface="Segoe UI"/>
                <a:cs typeface="Segoe UI"/>
              </a:rPr>
              <a:t>: Different processes use different physical objects</a:t>
            </a:r>
            <a:endParaRPr lang="en-US" sz="2400" dirty="0">
              <a:solidFill>
                <a:schemeClr val="accent1"/>
              </a:solidFill>
              <a:latin typeface="Arial"/>
              <a:ea typeface="Lucida Bright"/>
              <a:cs typeface="Lucida Bright"/>
            </a:endParaRP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Arial"/>
                <a:ea typeface="Segoe UI"/>
                <a:cs typeface="Segoe UI"/>
              </a:rPr>
              <a:t>Temporal separation</a:t>
            </a:r>
            <a:r>
              <a:rPr lang="en-US" sz="2400" dirty="0">
                <a:solidFill>
                  <a:schemeClr val="accent1"/>
                </a:solidFill>
                <a:latin typeface="Arial"/>
                <a:ea typeface="Segoe UI"/>
                <a:cs typeface="Segoe UI"/>
              </a:rPr>
              <a:t>: Processes having different security requirements are executed at different times</a:t>
            </a:r>
            <a:r>
              <a:rPr lang="en-US" sz="2400" dirty="0">
                <a:solidFill>
                  <a:schemeClr val="accent1"/>
                </a:solidFill>
                <a:latin typeface="Arial"/>
                <a:ea typeface="Lucida Bright"/>
                <a:cs typeface="Lucida Bright"/>
              </a:rPr>
              <a:t> 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Arial"/>
                <a:ea typeface="Segoe UI"/>
                <a:cs typeface="Segoe UI"/>
              </a:rPr>
              <a:t>Logical separation</a:t>
            </a:r>
            <a:r>
              <a:rPr lang="en-US" sz="2400" dirty="0">
                <a:solidFill>
                  <a:schemeClr val="accent1"/>
                </a:solidFill>
                <a:latin typeface="Arial"/>
                <a:ea typeface="Segoe UI"/>
                <a:cs typeface="Segoe UI"/>
              </a:rPr>
              <a:t>: Users operate under the illusion that no other processes exist, as when an operating system constrains a program’s accesses so that the program cannot access objects outside its permitted domain</a:t>
            </a:r>
            <a:r>
              <a:rPr lang="en-US" sz="2400" dirty="0">
                <a:solidFill>
                  <a:schemeClr val="accent1"/>
                </a:solidFill>
                <a:latin typeface="Arial"/>
                <a:ea typeface="Lucida Bright"/>
                <a:cs typeface="Lucida Bright"/>
              </a:rPr>
              <a:t> 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Arial"/>
                <a:ea typeface="Segoe UI"/>
                <a:cs typeface="Segoe UI"/>
              </a:rPr>
              <a:t>Cryptographic separation</a:t>
            </a:r>
            <a:r>
              <a:rPr lang="en-US" sz="2400" dirty="0">
                <a:solidFill>
                  <a:schemeClr val="accent1"/>
                </a:solidFill>
                <a:latin typeface="Arial"/>
                <a:ea typeface="Segoe UI"/>
                <a:cs typeface="Segoe UI"/>
              </a:rPr>
              <a:t>: Processes conceal their data and computations in such a way that they are unintelligible to outside processes</a:t>
            </a:r>
            <a:r>
              <a:rPr lang="en-US" sz="2400" dirty="0">
                <a:solidFill>
                  <a:schemeClr val="accent1"/>
                </a:solidFill>
                <a:latin typeface="Arial"/>
                <a:ea typeface="Lucida Bright"/>
                <a:cs typeface="Lucida Bright"/>
              </a:rPr>
              <a:t> </a:t>
            </a:r>
            <a:endParaRPr lang="en-US" sz="24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8121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1405-67CB-BD09-D4CC-C3B7066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91" y="277813"/>
            <a:ext cx="8775938" cy="11398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Hardware Protection of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BDD-3990-E599-E1E6-32AC351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521"/>
            <a:ext cx="8229600" cy="4530725"/>
          </a:xfrm>
        </p:spPr>
        <p:txBody>
          <a:bodyPr/>
          <a:lstStyle/>
          <a:p>
            <a:pPr marL="257175" indent="-257175">
              <a:buFont typeface="Arial" panose="05000000000000000000" pitchFamily="2" charset="2"/>
              <a:buChar char="•"/>
            </a:pPr>
            <a:endParaRPr lang="en-US" sz="2800" dirty="0">
              <a:cs typeface="Arial"/>
            </a:endParaRPr>
          </a:p>
          <a:p>
            <a:pPr marL="257175" indent="-257175">
              <a:buFont typeface="Arial" panose="05000000000000000000" pitchFamily="2" charset="2"/>
              <a:buChar char="•"/>
            </a:pPr>
            <a:endParaRPr lang="en-US" sz="2800" b="1" dirty="0">
              <a:cs typeface="Arial"/>
            </a:endParaRPr>
          </a:p>
          <a:p>
            <a:pPr marL="257175" indent="-257175">
              <a:spcBef>
                <a:spcPct val="0"/>
              </a:spcBef>
              <a:spcAft>
                <a:spcPts val="1000"/>
              </a:spcAft>
              <a:buFont typeface="Arial,Sans-Serif" panose="05000000000000000000" pitchFamily="2" charset="2"/>
              <a:buChar char="•"/>
            </a:pPr>
            <a:endParaRPr lang="en-US" sz="2800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EB65-011E-EE08-65EC-360872FFE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9F8D5-A808-4918-AF95-1C65737EF99C}" type="slidenum">
              <a:rPr lang="en-US" dirty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3AF2-22BE-E1E3-5A4C-DB11E65BD36C}"/>
              </a:ext>
            </a:extLst>
          </p:cNvPr>
          <p:cNvSpPr txBox="1"/>
          <p:nvPr/>
        </p:nvSpPr>
        <p:spPr>
          <a:xfrm>
            <a:off x="562550" y="1351789"/>
            <a:ext cx="7820526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Fence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Base/bounds registers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Tagged architecture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Virtual memory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Segmentation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Paging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Combined paging with segmentation</a:t>
            </a:r>
          </a:p>
          <a:p>
            <a:pPr marL="0" lvl="1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rgbClr val="3366CC"/>
              </a:solidFill>
              <a:cs typeface="Arial"/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rgbClr val="3366CC"/>
              </a:solidFill>
              <a:cs typeface="Arial"/>
            </a:endParaRPr>
          </a:p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69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7048" y="5972716"/>
            <a:ext cx="8915400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050" dirty="0">
                <a:solidFill>
                  <a:schemeClr val="bg1"/>
                </a:solidFill>
                <a:latin typeface="Arial"/>
                <a:cs typeface="Arial"/>
              </a:rPr>
              <a:t>FIGURE 5-6 Fence Protection</a:t>
            </a:r>
            <a:endParaRPr lang="en-IN" sz="10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27398C-5500-E3EF-2340-2A7467238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Example: Fence Protection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7" descr="Diagram, schematic&#10;&#10;Description automatically generated">
            <a:extLst>
              <a:ext uri="{FF2B5EF4-FFF2-40B4-BE49-F238E27FC236}">
                <a16:creationId xmlns:a16="http://schemas.microsoft.com/office/drawing/2014/main" id="{3B621D04-4C16-8860-3CF9-E70773B28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796" y="1629601"/>
            <a:ext cx="4899803" cy="413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64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7048" y="6030226"/>
            <a:ext cx="8915400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Arial"/>
                <a:cs typeface="Arial"/>
              </a:rPr>
              <a:t>FIGURE 5-8 Base and Bounds Registers</a:t>
            </a:r>
            <a:endParaRPr lang="en-IN" sz="10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A41CE0-4B49-73F2-A4F1-185E58E7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Example: Base and Bounds Registers</a:t>
            </a:r>
          </a:p>
        </p:txBody>
      </p:sp>
      <p:pic>
        <p:nvPicPr>
          <p:cNvPr id="7" name="Picture 7" descr="Diagram, schematic&#10;&#10;Description automatically generated">
            <a:extLst>
              <a:ext uri="{FF2B5EF4-FFF2-40B4-BE49-F238E27FC236}">
                <a16:creationId xmlns:a16="http://schemas.microsoft.com/office/drawing/2014/main" id="{865E4DE7-8478-6313-FFBF-9E15D5289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249" y="2332436"/>
            <a:ext cx="4899803" cy="340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59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7048" y="6058980"/>
            <a:ext cx="8915400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050" dirty="0">
                <a:solidFill>
                  <a:schemeClr val="bg1"/>
                </a:solidFill>
                <a:latin typeface="Arial"/>
                <a:cs typeface="Arial"/>
              </a:rPr>
              <a:t>FIGURE 5-11 Segmentation</a:t>
            </a:r>
            <a:endParaRPr lang="en-IN" sz="10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4D83A6-0A02-06ED-36E3-FD86641DA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Example: Segmentation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7" descr="Diagram&#10;&#10;Description automatically generated">
            <a:extLst>
              <a:ext uri="{FF2B5EF4-FFF2-40B4-BE49-F238E27FC236}">
                <a16:creationId xmlns:a16="http://schemas.microsoft.com/office/drawing/2014/main" id="{B229DF13-B0CA-ACA0-DF3B-5EAC7F524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362" y="1717711"/>
            <a:ext cx="4698520" cy="38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79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1405-67CB-BD09-D4CC-C3B7066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91" y="277813"/>
            <a:ext cx="8775938" cy="113982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/>
                <a:ea typeface="Verdana"/>
                <a:cs typeface="Arial"/>
              </a:rPr>
              <a:t>Security in the Design of Operating Systems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BDD-3990-E599-E1E6-32AC351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521"/>
            <a:ext cx="8229600" cy="4530725"/>
          </a:xfrm>
        </p:spPr>
        <p:txBody>
          <a:bodyPr/>
          <a:lstStyle/>
          <a:p>
            <a:pPr marL="257175" indent="-257175">
              <a:buFont typeface="Arial" panose="05000000000000000000" pitchFamily="2" charset="2"/>
              <a:buChar char="•"/>
            </a:pPr>
            <a:endParaRPr lang="en-US" sz="2800" dirty="0">
              <a:cs typeface="Arial"/>
            </a:endParaRPr>
          </a:p>
          <a:p>
            <a:pPr marL="257175" indent="-257175">
              <a:buFont typeface="Arial" panose="05000000000000000000" pitchFamily="2" charset="2"/>
              <a:buChar char="•"/>
            </a:pPr>
            <a:endParaRPr lang="en-US" sz="2800" b="1" dirty="0">
              <a:cs typeface="Arial"/>
            </a:endParaRPr>
          </a:p>
          <a:p>
            <a:pPr marL="257175" indent="-257175">
              <a:spcBef>
                <a:spcPct val="0"/>
              </a:spcBef>
              <a:spcAft>
                <a:spcPts val="1000"/>
              </a:spcAft>
              <a:buFont typeface="Arial,Sans-Serif" panose="05000000000000000000" pitchFamily="2" charset="2"/>
              <a:buChar char="•"/>
            </a:pPr>
            <a:endParaRPr lang="en-US" sz="2800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EB65-011E-EE08-65EC-360872FFE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9F8D5-A808-4918-AF95-1C65737EF99C}" type="slidenum">
              <a:rPr lang="en-US" dirty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3AF2-22BE-E1E3-5A4C-DB11E65BD36C}"/>
              </a:ext>
            </a:extLst>
          </p:cNvPr>
          <p:cNvSpPr txBox="1"/>
          <p:nvPr/>
        </p:nvSpPr>
        <p:spPr>
          <a:xfrm>
            <a:off x="646697" y="1800574"/>
            <a:ext cx="7820526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Simplicity of design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Layered design</a:t>
            </a:r>
          </a:p>
          <a:p>
            <a:pPr marL="742950" lvl="1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Conventional (nonhierarchical) </a:t>
            </a:r>
          </a:p>
          <a:p>
            <a:pPr marL="742950" lvl="1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Hierarchical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Kernelized design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Reference monitor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Correctness and completeness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Secure design principles</a:t>
            </a:r>
            <a:endParaRPr lang="en-US" sz="2800" dirty="0">
              <a:solidFill>
                <a:srgbClr val="3366CC"/>
              </a:solidFill>
              <a:cs typeface="Arial"/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rgbClr val="3366CC"/>
              </a:solidFill>
              <a:cs typeface="Arial"/>
            </a:endParaRPr>
          </a:p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9170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6003516"/>
            <a:ext cx="8915400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050" dirty="0">
                <a:solidFill>
                  <a:schemeClr val="bg1"/>
                </a:solidFill>
                <a:latin typeface="Arial"/>
                <a:cs typeface="Arial"/>
              </a:rPr>
              <a:t>FIGURE 5-15 Reference Monitor</a:t>
            </a:r>
            <a:endParaRPr lang="en-IN" sz="10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4C5481-3DB5-635E-E1D4-45C33375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Reference Monitor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7" descr="Diagram&#10;&#10;Description automatically generated">
            <a:extLst>
              <a:ext uri="{FF2B5EF4-FFF2-40B4-BE49-F238E27FC236}">
                <a16:creationId xmlns:a16="http://schemas.microsoft.com/office/drawing/2014/main" id="{BDD42EB3-330F-ABCD-0392-1F84ADAE2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183" y="1944063"/>
            <a:ext cx="6438179" cy="36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69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1405-67CB-BD09-D4CC-C3B7066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91" y="277813"/>
            <a:ext cx="8775938" cy="113982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/>
                <a:ea typeface="Verdana"/>
                <a:cs typeface="Arial"/>
              </a:rPr>
              <a:t>Secure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BDD-3990-E599-E1E6-32AC351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521"/>
            <a:ext cx="8229600" cy="4530725"/>
          </a:xfrm>
        </p:spPr>
        <p:txBody>
          <a:bodyPr/>
          <a:lstStyle/>
          <a:p>
            <a:pPr marL="257175" indent="-257175">
              <a:buFont typeface="Arial" panose="05000000000000000000" pitchFamily="2" charset="2"/>
              <a:buChar char="•"/>
            </a:pPr>
            <a:endParaRPr lang="en-US" sz="2800" dirty="0">
              <a:cs typeface="Arial"/>
            </a:endParaRPr>
          </a:p>
          <a:p>
            <a:pPr marL="257175" indent="-257175">
              <a:buFont typeface="Arial" panose="05000000000000000000" pitchFamily="2" charset="2"/>
              <a:buChar char="•"/>
            </a:pPr>
            <a:endParaRPr lang="en-US" sz="2800" b="1" dirty="0">
              <a:cs typeface="Arial"/>
            </a:endParaRPr>
          </a:p>
          <a:p>
            <a:pPr marL="257175" indent="-257175">
              <a:spcBef>
                <a:spcPct val="0"/>
              </a:spcBef>
              <a:spcAft>
                <a:spcPts val="1000"/>
              </a:spcAft>
              <a:buFont typeface="Arial,Sans-Serif" panose="05000000000000000000" pitchFamily="2" charset="2"/>
              <a:buChar char="•"/>
            </a:pPr>
            <a:endParaRPr lang="en-US" sz="2800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EB65-011E-EE08-65EC-360872FFE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9F8D5-A808-4918-AF95-1C65737EF99C}" type="slidenum">
              <a:rPr lang="en-US" dirty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3AF2-22BE-E1E3-5A4C-DB11E65BD36C}"/>
              </a:ext>
            </a:extLst>
          </p:cNvPr>
          <p:cNvSpPr txBox="1"/>
          <p:nvPr/>
        </p:nvSpPr>
        <p:spPr>
          <a:xfrm>
            <a:off x="574810" y="1268612"/>
            <a:ext cx="7820526" cy="73866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 Least privilege </a:t>
            </a:r>
            <a:endParaRPr lang="en-US" dirty="0">
              <a:solidFill>
                <a:schemeClr val="accent1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 Economy of mechanism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 Open design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 Complete mediation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 Permission-based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 Separation of privilege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 Least common mechanism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 Ease of use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0" lvl="1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rgbClr val="3366CC"/>
              </a:solidFill>
              <a:cs typeface="Arial"/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rgbClr val="3366CC"/>
              </a:solidFill>
              <a:cs typeface="Arial"/>
            </a:endParaRPr>
          </a:p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0855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1405-67CB-BD09-D4CC-C3B7066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91" y="277813"/>
            <a:ext cx="8775938" cy="113982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/>
                <a:ea typeface="Verdana"/>
                <a:cs typeface="Arial"/>
              </a:rPr>
              <a:t>Rootkits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FFBDD-3990-E599-E1E6-32AC351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521"/>
            <a:ext cx="8229600" cy="4530725"/>
          </a:xfrm>
        </p:spPr>
        <p:txBody>
          <a:bodyPr/>
          <a:lstStyle/>
          <a:p>
            <a:pPr marL="257175" indent="-257175">
              <a:buFont typeface="Arial" panose="05000000000000000000" pitchFamily="2" charset="2"/>
              <a:buChar char="•"/>
            </a:pPr>
            <a:endParaRPr lang="en-US" sz="2800" dirty="0">
              <a:cs typeface="Arial"/>
            </a:endParaRPr>
          </a:p>
          <a:p>
            <a:pPr marL="257175" indent="-257175">
              <a:buFont typeface="Arial" panose="05000000000000000000" pitchFamily="2" charset="2"/>
              <a:buChar char="•"/>
            </a:pPr>
            <a:endParaRPr lang="en-US" sz="2800" b="1" dirty="0">
              <a:cs typeface="Arial"/>
            </a:endParaRPr>
          </a:p>
          <a:p>
            <a:pPr marL="257175" indent="-257175">
              <a:spcBef>
                <a:spcPct val="0"/>
              </a:spcBef>
              <a:spcAft>
                <a:spcPts val="1000"/>
              </a:spcAft>
              <a:buFont typeface="Arial,Sans-Serif" panose="05000000000000000000" pitchFamily="2" charset="2"/>
              <a:buChar char="•"/>
            </a:pPr>
            <a:endParaRPr lang="en-US" sz="2800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EB65-011E-EE08-65EC-360872FFE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9F8D5-A808-4918-AF95-1C65737EF99C}" type="slidenum">
              <a:rPr lang="en-US" dirty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3AF2-22BE-E1E3-5A4C-DB11E65BD36C}"/>
              </a:ext>
            </a:extLst>
          </p:cNvPr>
          <p:cNvSpPr txBox="1"/>
          <p:nvPr/>
        </p:nvSpPr>
        <p:spPr>
          <a:xfrm>
            <a:off x="574810" y="1268612"/>
            <a:ext cx="7820526" cy="79406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30188" indent="-230188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b="1" dirty="0">
                <a:solidFill>
                  <a:schemeClr val="accent1"/>
                </a:solidFill>
                <a:latin typeface="Arial"/>
                <a:cs typeface="Arial"/>
              </a:rPr>
              <a:t>Root</a:t>
            </a: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 (in Unix): Identity of the most privileged subject</a:t>
            </a:r>
            <a:endParaRPr lang="en-US" sz="2800" dirty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 </a:t>
            </a:r>
            <a:r>
              <a:rPr lang="en-US" sz="2800" b="1" dirty="0">
                <a:solidFill>
                  <a:schemeClr val="accent1"/>
                </a:solidFill>
                <a:latin typeface="Arial"/>
                <a:cs typeface="Arial"/>
              </a:rPr>
              <a:t>Rootkit</a:t>
            </a: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 characteristics:</a:t>
            </a:r>
          </a:p>
          <a:p>
            <a:pPr marL="684213" lvl="1" indent="-227013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Evade detection</a:t>
            </a:r>
          </a:p>
          <a:p>
            <a:pPr marL="684213" lvl="1" indent="-227013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Operate unchecked</a:t>
            </a:r>
          </a:p>
          <a:p>
            <a:pPr marL="684213" lvl="1" indent="-227013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Exploit permissions</a:t>
            </a:r>
          </a:p>
          <a:p>
            <a:pPr marL="684213" lvl="1" indent="-227013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Usurp control</a:t>
            </a:r>
            <a:endParaRPr lang="en-US" sz="2800" dirty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endParaRPr lang="en-US" dirty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endParaRPr lang="en-US" dirty="0">
              <a:solidFill>
                <a:srgbClr val="3366CC"/>
              </a:solidFill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endParaRPr lang="en-US" dirty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endParaRPr lang="en-US" sz="2800" dirty="0">
              <a:solidFill>
                <a:srgbClr val="3366CC"/>
              </a:solidFill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endParaRPr lang="en-US" sz="2800" dirty="0">
              <a:solidFill>
                <a:srgbClr val="3366CC"/>
              </a:solidFill>
              <a:cs typeface="Arial"/>
            </a:endParaRPr>
          </a:p>
          <a:p>
            <a:pPr marL="0" lvl="1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rgbClr val="3366CC"/>
              </a:solidFill>
              <a:cs typeface="Arial"/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rgbClr val="3366CC"/>
              </a:solidFill>
              <a:cs typeface="Arial"/>
            </a:endParaRPr>
          </a:p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0933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293" y="5814565"/>
            <a:ext cx="8915400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050" b="1" dirty="0">
                <a:solidFill>
                  <a:schemeClr val="bg1"/>
                </a:solidFill>
                <a:latin typeface="Arial"/>
                <a:cs typeface="Arial"/>
              </a:rPr>
              <a:t>FIGURE 5-22 Rootkit Filtering File Description Result</a:t>
            </a:r>
            <a:endParaRPr lang="en-IN" sz="105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FB7035-371D-5299-4AF9-FF0E7C37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Example: Rootkit Filtering File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8" descr="Diagram&#10;&#10;Description automatically generated">
            <a:extLst>
              <a:ext uri="{FF2B5EF4-FFF2-40B4-BE49-F238E27FC236}">
                <a16:creationId xmlns:a16="http://schemas.microsoft.com/office/drawing/2014/main" id="{2458B6EE-37E4-6171-C4FA-4A5EF7C1B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872" y="2435241"/>
            <a:ext cx="5906218" cy="263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16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B8657-C1C0-4171-EC69-0F854BB4B2B5}"/>
              </a:ext>
            </a:extLst>
          </p:cNvPr>
          <p:cNvSpPr txBox="1"/>
          <p:nvPr/>
        </p:nvSpPr>
        <p:spPr>
          <a:xfrm>
            <a:off x="416553" y="1157143"/>
            <a:ext cx="8324021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endParaRPr lang="en-US" sz="36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33ECB73C-9A8D-A1EC-68BC-B717CD71A4FD}"/>
              </a:ext>
            </a:extLst>
          </p:cNvPr>
          <p:cNvSpPr txBox="1">
            <a:spLocks/>
          </p:cNvSpPr>
          <p:nvPr/>
        </p:nvSpPr>
        <p:spPr>
          <a:xfrm>
            <a:off x="500445" y="323131"/>
            <a:ext cx="7956093" cy="56754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>
                <a:solidFill>
                  <a:schemeClr val="bg1"/>
                </a:solidFill>
                <a:cs typeface="Arial"/>
              </a:rPr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3F338B-501F-2250-A10D-90890F7D96BC}"/>
              </a:ext>
            </a:extLst>
          </p:cNvPr>
          <p:cNvSpPr txBox="1"/>
          <p:nvPr/>
        </p:nvSpPr>
        <p:spPr>
          <a:xfrm>
            <a:off x="511341" y="1221507"/>
            <a:ext cx="7910763" cy="60324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Survey of operating systems for important security concept development</a:t>
            </a:r>
            <a:endParaRPr lang="en-US" sz="2800" dirty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Operating systems as place of detailed analysis of access control</a:t>
            </a: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Operating system design strategies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Strength of the operating system due to tight integration with hardware, simple design, and security focus</a:t>
            </a:r>
            <a:endParaRPr lang="en-US" sz="2400" dirty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800" dirty="0">
                <a:solidFill>
                  <a:schemeClr val="accent1"/>
                </a:solidFill>
                <a:latin typeface="Arial"/>
                <a:cs typeface="Arial"/>
              </a:rPr>
              <a:t>Advantage of self-contained operating system on a distinct platform</a:t>
            </a:r>
            <a:endParaRPr lang="en-US" dirty="0">
              <a:solidFill>
                <a:schemeClr val="accent1"/>
              </a:solidFill>
              <a:cs typeface="Arial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accent1"/>
              </a:solidFill>
              <a:cs typeface="Arial"/>
            </a:endParaRPr>
          </a:p>
          <a:p>
            <a:endParaRPr lang="en-US" dirty="0">
              <a:solidFill>
                <a:srgbClr val="CCCC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1234284"/>
      </p:ext>
    </p:extLst>
  </p:cSld>
  <p:clrMapOvr>
    <a:masterClrMapping/>
  </p:clrMapOvr>
</p:sld>
</file>

<file path=ppt/theme/theme1.xml><?xml version="1.0" encoding="utf-8"?>
<a:theme xmlns:a="http://schemas.openxmlformats.org/drawingml/2006/main" name="1_Edge">
  <a:themeElements>
    <a:clrScheme name="1_Edge 2">
      <a:dk1>
        <a:srgbClr val="333333"/>
      </a:dk1>
      <a:lt1>
        <a:srgbClr val="CCCCFF"/>
      </a:lt1>
      <a:dk2>
        <a:srgbClr val="0B0506"/>
      </a:dk2>
      <a:lt2>
        <a:srgbClr val="FFFFFF"/>
      </a:lt2>
      <a:accent1>
        <a:srgbClr val="3366CC"/>
      </a:accent1>
      <a:accent2>
        <a:srgbClr val="3333CC"/>
      </a:accent2>
      <a:accent3>
        <a:srgbClr val="AAAAAA"/>
      </a:accent3>
      <a:accent4>
        <a:srgbClr val="AEAEDA"/>
      </a:accent4>
      <a:accent5>
        <a:srgbClr val="ADB8E2"/>
      </a:accent5>
      <a:accent6>
        <a:srgbClr val="2D2DB9"/>
      </a:accent6>
      <a:hlink>
        <a:srgbClr val="808080"/>
      </a:hlink>
      <a:folHlink>
        <a:srgbClr val="666633"/>
      </a:folHlink>
    </a:clrScheme>
    <a:fontScheme name="1_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10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11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500</Words>
  <Application>Microsoft Office PowerPoint</Application>
  <PresentationFormat>On-screen Show (4:3)</PresentationFormat>
  <Paragraphs>133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Arial Unicode MS</vt:lpstr>
      <vt:lpstr>Arial,Sans-Serif</vt:lpstr>
      <vt:lpstr>Calibri</vt:lpstr>
      <vt:lpstr>Calibri Light</vt:lpstr>
      <vt:lpstr>Garamond</vt:lpstr>
      <vt:lpstr>Times New Roman</vt:lpstr>
      <vt:lpstr>Wingdings</vt:lpstr>
      <vt:lpstr>1_Edge</vt:lpstr>
      <vt:lpstr>Office Theme</vt:lpstr>
      <vt:lpstr>office theme</vt:lpstr>
      <vt:lpstr>Office Theme</vt:lpstr>
      <vt:lpstr>Security in Computing Sixth Edition</vt:lpstr>
      <vt:lpstr>In This Chapter</vt:lpstr>
      <vt:lpstr>Security in Operating Systems</vt:lpstr>
      <vt:lpstr>Operating Systems Functions</vt:lpstr>
      <vt:lpstr>Protected Objects in Multiprogramming</vt:lpstr>
      <vt:lpstr>Layered Operating System</vt:lpstr>
      <vt:lpstr>Layered Operating Systems (cont'd)</vt:lpstr>
      <vt:lpstr>Layered Operating Systems (cont'd) </vt:lpstr>
      <vt:lpstr>Operating System Tools for  Security</vt:lpstr>
      <vt:lpstr>Separation in Operating System</vt:lpstr>
      <vt:lpstr>Hardware Protection of Memory</vt:lpstr>
      <vt:lpstr>Example: Fence Protection</vt:lpstr>
      <vt:lpstr>Example: Base and Bounds Registers</vt:lpstr>
      <vt:lpstr>Example: Segmentation</vt:lpstr>
      <vt:lpstr>Security in the Design of Operating Systems</vt:lpstr>
      <vt:lpstr>Reference Monitor</vt:lpstr>
      <vt:lpstr>Secure Design Principles</vt:lpstr>
      <vt:lpstr>Rootkits</vt:lpstr>
      <vt:lpstr>Example: Rootkit Filtering File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 Furfari</dc:creator>
  <cp:lastModifiedBy>Jennifer Frew</cp:lastModifiedBy>
  <cp:revision>1041</cp:revision>
  <dcterms:created xsi:type="dcterms:W3CDTF">2005-02-06T18:24:19Z</dcterms:created>
  <dcterms:modified xsi:type="dcterms:W3CDTF">2023-07-19T13:25:44Z</dcterms:modified>
</cp:coreProperties>
</file>